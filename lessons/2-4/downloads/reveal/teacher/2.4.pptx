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7.xml" ContentType="application/vnd.openxmlformats-officedocument.presentationml.notesSlide+xml"/>
  <Override PartName="/ppt/notesSlides/notesSlide31.xml" ContentType="application/vnd.openxmlformats-officedocument.presentationml.notesSlide+xml"/>
  <Override PartName="/ppt/notesSlides/notesSlide33.xml" ContentType="application/vnd.openxmlformats-officedocument.presentationml.notesSlide+xml"/>
  <Override PartName="/ppt/notesSlides/notesSlide37.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5.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70.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Core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83" r:id="rId5"/>
    <p:sldMasterId id="2147483684" r:id="rId6"/>
    <p:sldMasterId id="2147483685" r:id="rId7"/>
    <p:sldMasterId id="2147483686" r:id="rId8"/>
  </p:sldMasterIdLst>
  <p:notesMasterIdLst>
    <p:notesMasterId r:id="rId9"/>
  </p:notesMasterIdLst>
  <p:sldIdLst>
    <p:sldId id="259" r:id="rId13"/>
    <p:sldId id="269" r:id="rId23"/>
    <p:sldId id="270" r:id="rId24"/>
    <p:sldId id="256" r:id="rId10"/>
    <p:sldId id="257" r:id="rId11"/>
    <p:sldId id="260" r:id="rId14"/>
    <p:sldId id="350" r:id="rId91"/>
    <p:sldId id="349" r:id="rId31"/>
    <p:sldId id="348" r:id="rId47"/>
    <p:sldId id="347" r:id="rId32"/>
    <p:sldId id="346" r:id="rId45"/>
    <p:sldId id="345" r:id="rId44"/>
    <p:sldId id="344" r:id="rId43"/>
    <p:sldId id="343" r:id="rId33"/>
    <p:sldId id="261" r:id="rId15"/>
    <p:sldId id="272" r:id="rId26"/>
    <p:sldId id="274" r:id="rId28"/>
    <p:sldId id="282" r:id="rId36"/>
    <p:sldId id="286" r:id="rId40"/>
    <p:sldId id="288" r:id="rId42"/>
    <p:sldId id="292" r:id="rId46"/>
    <p:sldId id="294" r:id="rId48"/>
    <p:sldId id="301" r:id="rId55"/>
    <p:sldId id="307" r:id="rId61"/>
    <p:sldId id="351" r:id="rId92"/>
    <p:sldId id="342" r:id="rId41"/>
    <p:sldId id="341" r:id="rId34"/>
    <p:sldId id="340" r:id="rId39"/>
    <p:sldId id="335" r:id="rId89"/>
    <p:sldId id="354" r:id="rId95"/>
    <p:sldId id="336" r:id="rId90"/>
    <p:sldId id="308" r:id="rId62"/>
    <p:sldId id="310" r:id="rId64"/>
    <p:sldId id="312" r:id="rId66"/>
    <p:sldId id="325" r:id="rId79"/>
    <p:sldId id="331" r:id="rId85"/>
    <p:sldId id="355" r:id="rId96"/>
    <p:sldId id="352" r:id="rId93"/>
    <p:sldId id="339" r:id="rId38"/>
    <p:sldId id="356" r:id="rId97"/>
    <p:sldId id="338" r:id="rId37"/>
    <p:sldId id="337" r:id="rId35"/>
    <p:sldId id="332" r:id="rId86"/>
    <p:sldId id="357" r:id="rId98"/>
    <p:sldId id="333" r:id="rId87"/>
    <p:sldId id="334" r:id="rId88"/>
    <p:sldId id="353" r:id="rId94"/>
  </p:sldIdLst>
  <p:sldSz cy="6858000" cx="12192000"/>
  <p:notesSz cx="7010400" cy="92360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1512">
          <p15:clr>
            <a:srgbClr val="A4A3A4"/>
          </p15:clr>
        </p15:guide>
        <p15:guide id="2" orient="horz" pos="3024">
          <p15:clr>
            <a:srgbClr val="A4A3A4"/>
          </p15:clr>
        </p15:guide>
        <p15:guide id="3" orient="horz" pos="384">
          <p15:clr>
            <a:srgbClr val="A4A3A4"/>
          </p15:clr>
        </p15:guide>
        <p15:guide id="4" orient="horz" pos="2520">
          <p15:clr>
            <a:srgbClr val="A4A3A4"/>
          </p15:clr>
        </p15:guide>
        <p15:guide id="5" orient="horz" pos="1080">
          <p15:clr>
            <a:srgbClr val="A4A3A4"/>
          </p15:clr>
        </p15:guide>
        <p15:guide id="6" orient="horz" pos="1680">
          <p15:clr>
            <a:srgbClr val="A4A3A4"/>
          </p15:clr>
        </p15:guide>
        <p15:guide id="7" orient="horz" pos="3432">
          <p15:clr>
            <a:srgbClr val="A4A3A4"/>
          </p15:clr>
        </p15:guide>
        <p15:guide id="8" orient="horz" pos="3120">
          <p15:clr>
            <a:srgbClr val="A4A3A4"/>
          </p15:clr>
        </p15:guide>
        <p15:guide id="9" pos="48">
          <p15:clr>
            <a:srgbClr val="A4A3A4"/>
          </p15:clr>
        </p15:guide>
        <p15:guide id="10" pos="384">
          <p15:clr>
            <a:srgbClr val="A4A3A4"/>
          </p15:clr>
        </p15:guide>
        <p15:guide id="11" pos="6480">
          <p15:clr>
            <a:srgbClr val="A4A3A4"/>
          </p15:clr>
        </p15:guide>
        <p15:guide id="12" pos="2597">
          <p15:clr>
            <a:srgbClr val="A4A3A4"/>
          </p15:clr>
        </p15:guide>
        <p15:guide id="13" pos="288">
          <p15:clr>
            <a:srgbClr val="A4A3A4"/>
          </p15:clr>
        </p15:guide>
        <p15:guide id="14" orient="horz" pos="2160">
          <p15:clr>
            <a:srgbClr val="A4A3A4"/>
          </p15:clr>
        </p15:guide>
        <p15:guide id="15" orient="horz" pos="216">
          <p15:clr>
            <a:srgbClr val="A4A3A4"/>
          </p15:clr>
        </p15:guide>
        <p15:guide id="16" orient="horz" pos="936">
          <p15:clr>
            <a:srgbClr val="A4A3A4"/>
          </p15:clr>
        </p15:guide>
        <p15:guide id="17" pos="4368">
          <p15:clr>
            <a:srgbClr val="A4A3A4"/>
          </p15:clr>
        </p15:guide>
        <p15:guide id="18" pos="7296">
          <p15:clr>
            <a:srgbClr val="A4A3A4"/>
          </p15:clr>
        </p15:guide>
        <p15:guide id="19" pos="3288">
          <p15:clr>
            <a:srgbClr val="A4A3A4"/>
          </p15:clr>
        </p15:guide>
        <p15:guide id="20" pos="5904">
          <p15:clr>
            <a:srgbClr val="A4A3A4"/>
          </p15:clr>
        </p15:guide>
        <p15:guide id="21" pos="55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10FCCFC-3430-49C9-8321-1C49667090A9}">
  <a:tblStyle styleId="{910FCCFC-3430-49C9-8321-1C49667090A9}"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512"/>
        <p:guide pos="3024" orient="horz"/>
        <p:guide pos="384" orient="horz"/>
        <p:guide pos="2520" orient="horz"/>
        <p:guide pos="1080" orient="horz"/>
        <p:guide pos="1680" orient="horz"/>
        <p:guide pos="3432" orient="horz"/>
        <p:guide pos="3120" orient="horz"/>
        <p:guide pos="48"/>
        <p:guide pos="384"/>
        <p:guide pos="6480"/>
        <p:guide pos="2597"/>
        <p:guide pos="288"/>
        <p:guide pos="2160" orient="horz"/>
        <p:guide pos="216" orient="horz"/>
        <p:guide pos="936" orient="horz"/>
        <p:guide pos="4368"/>
        <p:guide pos="7296"/>
        <p:guide pos="3288"/>
        <p:guide pos="5904"/>
        <p:guide pos="55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9" Type="http://schemas.openxmlformats.org/officeDocument/2006/relationships/notesMaster" Target="notesMasters/notesMaster1.xml"/><Relationship Id="rId10" Type="http://schemas.openxmlformats.org/officeDocument/2006/relationships/slide" Target="slides/slide4.xml"/><Relationship Id="rId11" Type="http://schemas.openxmlformats.org/officeDocument/2006/relationships/slide" Target="slides/slide5.xml"/><Relationship Id="rId13" Type="http://schemas.openxmlformats.org/officeDocument/2006/relationships/slide" Target="slides/slide1.xml"/><Relationship Id="rId14" Type="http://schemas.openxmlformats.org/officeDocument/2006/relationships/slide" Target="slides/slide6.xml"/><Relationship Id="rId15" Type="http://schemas.openxmlformats.org/officeDocument/2006/relationships/slide" Target="slides/slide15.xml"/><Relationship Id="rId23" Type="http://schemas.openxmlformats.org/officeDocument/2006/relationships/slide" Target="slides/slide2.xml"/><Relationship Id="rId24" Type="http://schemas.openxmlformats.org/officeDocument/2006/relationships/slide" Target="slides/slide3.xml"/><Relationship Id="rId26" Type="http://schemas.openxmlformats.org/officeDocument/2006/relationships/slide" Target="slides/slide16.xml"/><Relationship Id="rId28" Type="http://schemas.openxmlformats.org/officeDocument/2006/relationships/slide" Target="slides/slide17.xml"/><Relationship Id="rId31" Type="http://schemas.openxmlformats.org/officeDocument/2006/relationships/slide" Target="slides/slide8.xml"/><Relationship Id="rId32" Type="http://schemas.openxmlformats.org/officeDocument/2006/relationships/slide" Target="slides/slide10.xml"/><Relationship Id="rId33" Type="http://schemas.openxmlformats.org/officeDocument/2006/relationships/slide" Target="slides/slide14.xml"/><Relationship Id="rId34" Type="http://schemas.openxmlformats.org/officeDocument/2006/relationships/slide" Target="slides/slide27.xml"/><Relationship Id="rId35" Type="http://schemas.openxmlformats.org/officeDocument/2006/relationships/slide" Target="slides/slide39.xml"/><Relationship Id="rId36" Type="http://schemas.openxmlformats.org/officeDocument/2006/relationships/slide" Target="slides/slide18.xml"/><Relationship Id="rId37" Type="http://schemas.openxmlformats.org/officeDocument/2006/relationships/slide" Target="slides/slide38.xml"/><Relationship Id="rId38" Type="http://schemas.openxmlformats.org/officeDocument/2006/relationships/slide" Target="slides/slide37.xml"/><Relationship Id="rId39" Type="http://schemas.openxmlformats.org/officeDocument/2006/relationships/slide" Target="slides/slide28.xml"/><Relationship Id="rId40" Type="http://schemas.openxmlformats.org/officeDocument/2006/relationships/slide" Target="slides/slide19.xml"/><Relationship Id="rId41" Type="http://schemas.openxmlformats.org/officeDocument/2006/relationships/slide" Target="slides/slide26.xml"/><Relationship Id="rId42" Type="http://schemas.openxmlformats.org/officeDocument/2006/relationships/slide" Target="slides/slide20.xml"/><Relationship Id="rId43" Type="http://schemas.openxmlformats.org/officeDocument/2006/relationships/slide" Target="slides/slide13.xml"/><Relationship Id="rId44" Type="http://schemas.openxmlformats.org/officeDocument/2006/relationships/slide" Target="slides/slide12.xml"/><Relationship Id="rId45" Type="http://schemas.openxmlformats.org/officeDocument/2006/relationships/slide" Target="slides/slide11.xml"/><Relationship Id="rId46" Type="http://schemas.openxmlformats.org/officeDocument/2006/relationships/slide" Target="slides/slide21.xml"/><Relationship Id="rId47" Type="http://schemas.openxmlformats.org/officeDocument/2006/relationships/slide" Target="slides/slide9.xml"/><Relationship Id="rId48" Type="http://schemas.openxmlformats.org/officeDocument/2006/relationships/slide" Target="slides/slide22.xml"/><Relationship Id="rId55" Type="http://schemas.openxmlformats.org/officeDocument/2006/relationships/slide" Target="slides/slide23.xml"/><Relationship Id="rId61" Type="http://schemas.openxmlformats.org/officeDocument/2006/relationships/slide" Target="slides/slide24.xml"/><Relationship Id="rId62" Type="http://schemas.openxmlformats.org/officeDocument/2006/relationships/slide" Target="slides/slide31.xml"/><Relationship Id="rId64" Type="http://schemas.openxmlformats.org/officeDocument/2006/relationships/slide" Target="slides/slide32.xml"/><Relationship Id="rId66" Type="http://schemas.openxmlformats.org/officeDocument/2006/relationships/slide" Target="slides/slide33.xml"/><Relationship Id="rId79" Type="http://schemas.openxmlformats.org/officeDocument/2006/relationships/slide" Target="slides/slide34.xml"/><Relationship Id="rId85" Type="http://schemas.openxmlformats.org/officeDocument/2006/relationships/slide" Target="slides/slide35.xml"/><Relationship Id="rId86" Type="http://schemas.openxmlformats.org/officeDocument/2006/relationships/slide" Target="slides/slide40.xml"/><Relationship Id="rId87" Type="http://schemas.openxmlformats.org/officeDocument/2006/relationships/slide" Target="slides/slide41.xml"/><Relationship Id="rId88" Type="http://schemas.openxmlformats.org/officeDocument/2006/relationships/slide" Target="slides/slide42.xml"/><Relationship Id="rId89" Type="http://schemas.openxmlformats.org/officeDocument/2006/relationships/slide" Target="slides/slide29.xml"/><Relationship Id="rId90" Type="http://schemas.openxmlformats.org/officeDocument/2006/relationships/slide" Target="slides/slide30.xml"/><Relationship Id="rId91" Type="http://schemas.openxmlformats.org/officeDocument/2006/relationships/slide" Target="slides/slide7.xml"/><Relationship Id="rId92" Type="http://schemas.openxmlformats.org/officeDocument/2006/relationships/slide" Target="slides/slide25.xml"/><Relationship Id="rId93" Type="http://schemas.openxmlformats.org/officeDocument/2006/relationships/slide" Target="slides/slide36.xml"/><Relationship Id="rId94" Type="http://schemas.openxmlformats.org/officeDocument/2006/relationships/slide" Target="slides/slide43.xml"/><Relationship Id="rId95" Type="http://schemas.openxmlformats.org/officeDocument/2006/relationships/slide" Target="slides/slide44.xml"/><Relationship Id="rId96" Type="http://schemas.openxmlformats.org/officeDocument/2006/relationships/slide" Target="slides/slide45.xml"/><Relationship Id="rId97" Type="http://schemas.openxmlformats.org/officeDocument/2006/relationships/slide" Target="slides/slide46.xml"/><Relationship Id="rId98"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2"/>
            <a:ext cx="3037840" cy="463407"/>
          </a:xfrm>
          <a:prstGeom prst="rect">
            <a:avLst/>
          </a:prstGeom>
          <a:noFill/>
          <a:ln>
            <a:noFill/>
          </a:ln>
        </p:spPr>
        <p:txBody>
          <a:bodyPr anchorCtr="0" anchor="t"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70938" y="2"/>
            <a:ext cx="3037840" cy="463407"/>
          </a:xfrm>
          <a:prstGeom prst="rect">
            <a:avLst/>
          </a:prstGeom>
          <a:noFill/>
          <a:ln>
            <a:noFill/>
          </a:ln>
        </p:spPr>
        <p:txBody>
          <a:bodyPr anchorCtr="0" anchor="t" bIns="46125" lIns="92275" spcFirstLastPara="1" rIns="92275" wrap="square" tIns="4612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772669"/>
            <a:ext cx="3037840" cy="463406"/>
          </a:xfrm>
          <a:prstGeom prst="rect">
            <a:avLst/>
          </a:prstGeom>
          <a:noFill/>
          <a:ln>
            <a:noFill/>
          </a:ln>
        </p:spPr>
        <p:txBody>
          <a:bodyPr anchorCtr="0" anchor="b"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2.4, slide 4 | DIVIDER</a:t>
            </a:r>
          </a:p>
          <a:p xmlns:a="http://schemas.openxmlformats.org/drawingml/2006/main">
            <a:pPr>
              <a:buNone/>
            </a:pPr>
            <a:r>
              <a:rPr lang="en-US" sz="1100"/>
              <a:t>Focus on the existing task: Represent and Describe Data in a Box Plot Session 1</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231" name="Google Shape;231;p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2.4, slide 5 | WORKED</a:t>
            </a:r>
          </a:p>
          <a:p xmlns:a="http://schemas.openxmlformats.org/drawingml/2006/main">
            <a:pPr>
              <a:buNone/>
            </a:pPr>
            <a:r>
              <a:rPr lang="en-US" sz="1100"/>
              <a:t>Focus on the existing task: Use all the numbers in any order with any operation to equal the target number (in red). Give Me Five</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locate minimum, quartiles, median and maximum. Ask which feature of their work supports the claim.</a:t>
            </a:r>
          </a:p>
          <a:p xmlns:a="http://schemas.openxmlformats.org/drawingml/2006/main">
            <a:pPr>
              <a:buNone/>
            </a:pPr>
            <a:r>
              <a:rPr lang="en-US" sz="1100"/>
              <a:t>RESPOND: If this task shows the lesson misconception—assuming a longer box section contains more observations—connect the ordered source data to each boundary of the existing box plot.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Number-sense routine — every voice in. Give quiet think time, then hear from at least three students.</a:t>
            </a:r>
          </a:p>
          <a:p>
            <a:pPr indent="0" lvl="0" marL="0" rtl="0" algn="l">
              <a:lnSpc>
                <a:spcPct val="100000"/>
              </a:lnSpc>
              <a:spcBef>
                <a:spcPts val="0"/>
              </a:spcBef>
              <a:spcAft>
                <a:spcPts val="0"/>
              </a:spcAft>
              <a:buSzPts val="1400"/>
              <a:buNone/>
            </a:pPr>
            <a:r>
              <a:t>Always follow with “How do you know?” — the reasoning is the point, not the answer.</a:t>
            </a:r>
          </a:p>
          <a:p>
            <a:pPr indent="0" lvl="0" marL="0" rtl="0" algn="l">
              <a:lnSpc>
                <a:spcPct val="100000"/>
              </a:lnSpc>
              <a:spcBef>
                <a:spcPts val="0"/>
              </a:spcBef>
              <a:spcAft>
                <a:spcPts val="0"/>
              </a:spcAft>
              <a:buSzPts val="1400"/>
              <a:buNone/>
            </a:pPr>
            <a:r>
              <a:t>There is more than one path; name and celebrate different strategies.</a:t>
            </a:r>
          </a:p>
          <a:p>
            <a:pPr indent="0" lvl="0" marL="0" rtl="0" algn="l">
              <a:lnSpc>
                <a:spcPct val="100000"/>
              </a:lnSpc>
              <a:spcBef>
                <a:spcPts val="0"/>
              </a:spcBef>
              <a:spcAft>
                <a:spcPts val="0"/>
              </a:spcAft>
              <a:buSzPts val="1400"/>
              <a:buNone/>
            </a:pPr>
            <a:r>
              <a:t>UIFR: TEACH 3 · TEACH 5 · TEACH 6.</a:t>
            </a:r>
          </a:p>
        </p:txBody>
      </p:sp>
      <p:sp>
        <p:nvSpPr>
          <p:cNvPr id="238" name="Google Shape;238;p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2.4, slide 1 | WARMUP</a:t>
            </a:r>
          </a:p>
          <a:p xmlns:a="http://schemas.openxmlformats.org/drawingml/2006/main">
            <a:pPr>
              <a:buNone/>
            </a:pPr>
            <a:r>
              <a:rPr lang="en-US" sz="1100"/>
              <a:t>Focus on the existing task: Warm-Up WARM-UP · THINK • TRY • CHECK Do these…</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Warm-Up answers (teacher only): 1) 9   2) 2, 4, 6   3) 35   4) 30 and 40</a:t>
            </a:r>
          </a:p>
          <a:p>
            <a:pPr>
              <a:buNone/>
            </a:pPr>
            <a:r>
              <a:rPr lang="en-US" sz="1100"/>
              <a:t/>
            </a:r>
          </a:p>
          <a:p>
            <a:pPr>
              <a:buNone/>
            </a:pPr>
            <a:r>
              <a:rPr lang="en-US" sz="1100"/>
              <a:t>UIFR FULL | Lesson-specific facilitation</a:t>
            </a:r>
          </a:p>
          <a:p>
            <a:pPr>
              <a:buNone/>
            </a:pPr>
            <a:r>
              <a:rPr lang="en-US" sz="1100"/>
              <a:t>PREPARE 1-2 | Before teaching (UIFR PDF pp. 6-7).</a:t>
            </a:r>
          </a:p>
          <a:p>
            <a:pPr>
              <a:buNone/>
            </a:pPr>
            <a:r>
              <a:rPr lang="en-US" sz="1100"/>
              <a:t>Plan to gather evidence that students can locate minimum, quartiles, median and maximum; compare center and spread in context. Review recent work and today’s warm-up to choose flexible groups and access supports; do not infer needs from identity or perceived ability. Use the existing lesson tasks and stated standards.</a:t>
            </a:r>
          </a:p>
          <a:p>
            <a:pPr>
              <a:buNone/>
            </a:pPr>
            <a:r>
              <a:rPr lang="en-US" sz="1100"/>
              <a:t>Anticipate: assuming a longer box section contains more observations. If observed, connect the ordered source data to each boundary of the existing box plot. Offer oral rehearsal, drawing, pointing, or home-language processing as needed; retain the original mathematical demand. Ask students which support helps and fade it as evidence improves.</a:t>
            </a:r>
          </a:p>
          <a:p>
            <a:pPr>
              <a:buNone/>
            </a:pPr>
            <a:r>
              <a:rPr lang="en-US" sz="1100"/>
              <a:t>TEACH 6-7 | Before the first transition, agree on materials, partner roles, and how to request help. Invite students to restate the routine. Normalize revising an idea, recognize a specific contribution, and check privately when frustration blocks participation. Source: UIFR PDF pp. 13-14.</a:t>
            </a:r>
          </a:p>
        </p:txBody>
      </p:sp>
      <p:sp>
        <p:nvSpPr>
          <p:cNvPr id="256" name="Google Shape;256;p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2.4, slide 6 | GOAL</a:t>
            </a:r>
          </a:p>
          <a:p xmlns:a="http://schemas.openxmlformats.org/drawingml/2006/main">
            <a:pPr>
              <a:buNone/>
            </a:pPr>
            <a:r>
              <a:rPr lang="en-US" sz="1100"/>
              <a:t>Focus on the existing task: Today’s Objectives Represent and Describe Data in…</a:t>
            </a:r>
          </a:p>
          <a:p xmlns:a="http://schemas.openxmlformats.org/drawingml/2006/main">
            <a:pPr>
              <a:buNone/>
            </a:pPr>
            <a:r>
              <a:rPr lang="en-US" sz="1100"/>
              <a:t>CONNECT (T1/4): Ask students to restate the displayed goal or key idea and connect it to earlier work. Relevant lesson evidence: locate minimum, quartiles, median and maximum; compare center and spread in context.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Read the objective together, then have one or two students restate today’s goal in their own words.</a:t>
            </a:r>
          </a:p>
          <a:p>
            <a:pPr indent="0" lvl="0" marL="0" rtl="0" algn="l">
              <a:spcBef>
                <a:spcPts val="0"/>
              </a:spcBef>
              <a:spcAft>
                <a:spcPts val="0"/>
              </a:spcAft>
              <a:buNone/>
            </a:pPr>
            <a:r>
              <a:t>Connect it to what the class learned last lesson.</a:t>
            </a:r>
          </a:p>
          <a:p>
            <a:pPr indent="0" lvl="0" marL="0" rtl="0" algn="l">
              <a:spcBef>
                <a:spcPts val="0"/>
              </a:spcBef>
              <a:spcAft>
                <a:spcPts val="0"/>
              </a:spcAft>
              <a:buNone/>
            </a:pPr>
            <a:r>
              <a:t>Return to this goal at the end of class to check it was met.</a:t>
            </a:r>
          </a:p>
          <a:p>
            <a:pPr indent="0" lvl="0" marL="0" rtl="0" algn="l">
              <a:spcBef>
                <a:spcPts val="0"/>
              </a:spcBef>
              <a:spcAft>
                <a:spcPts val="0"/>
              </a:spcAft>
              <a:buNone/>
            </a:pPr>
            <a:r>
              <a:t>UIFR: TEACH 1.</a:t>
            </a:r>
          </a:p>
          <a:p>
            <a:pPr>
              <a:buNone/>
            </a:pPr>
            <a:r>
              <a:rPr lang="en-US" sz="1100"/>
              <a:t/>
            </a:r>
          </a:p>
          <a:p>
            <a:pPr>
              <a:buNone/>
            </a:pPr>
            <a:r>
              <a:rPr lang="en-US" sz="1100"/>
              <a:t>UIFR FULL | Lesson-specific facilitation</a:t>
            </a:r>
          </a:p>
          <a:p>
            <a:pPr>
              <a:buNone/>
            </a:pPr>
            <a:r>
              <a:rPr lang="en-US" sz="1100"/>
              <a:t>TEACH 1 | Session 1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locate minimum, quartiles, median and maximum; compare center and spread in context. Ask: “Which part of your work would show this?” Revisit that evidence after the task; a confidence rating alone is not evidence of understanding.</a:t>
            </a:r>
          </a:p>
        </p:txBody>
      </p:sp>
      <p:sp>
        <p:nvSpPr>
          <p:cNvPr id="332" name="Google Shape;332;p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6: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2.4, slide 15 | VOCAB</a:t>
            </a:r>
          </a:p>
          <a:p xmlns:a="http://schemas.openxmlformats.org/drawingml/2006/main">
            <a:pPr>
              <a:buNone/>
            </a:pPr>
            <a:r>
              <a:rPr lang="en-US" sz="1100"/>
              <a:t>Focus on the existing task: Vocabulary Today’s Math Words We learn every word…</a:t>
            </a:r>
          </a:p>
          <a:p xmlns:a="http://schemas.openxmlformats.org/drawingml/2006/main">
            <a:pPr>
              <a:buNone/>
            </a:pPr>
            <a:r>
              <a:rPr lang="en-US" sz="1100"/>
              <a:t>ASK (T1/3/5): Where does “the displayed term”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Choral-read each word, its meaning, and what it looks like.</a:t>
            </a:r>
          </a:p>
          <a:p>
            <a:pPr indent="0" lvl="0" marL="0" rtl="0" algn="l">
              <a:spcBef>
                <a:spcPts val="0"/>
              </a:spcBef>
              <a:spcAft>
                <a:spcPts val="0"/>
              </a:spcAft>
              <a:buNone/>
            </a:pPr>
            <a:r>
              <a:t>Students should use these words out loud today — listen for them in partner talk and revoice student ideas with the academic term.</a:t>
            </a:r>
          </a:p>
          <a:p>
            <a:pPr indent="0" lvl="0" marL="0" rtl="0" algn="l">
              <a:spcBef>
                <a:spcPts val="0"/>
              </a:spcBef>
              <a:spcAft>
                <a:spcPts val="0"/>
              </a:spcAft>
              <a:buNone/>
            </a:pPr>
            <a:r>
              <a:t>UIFR: TEACH 1 · TEACH 5.</a:t>
            </a:r>
          </a:p>
        </p:txBody>
      </p:sp>
      <p:sp>
        <p:nvSpPr>
          <p:cNvPr id="354" name="Google Shape;354;p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1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2.4, slide 2 | NOTES</a:t>
            </a:r>
          </a:p>
          <a:p xmlns:a="http://schemas.openxmlformats.org/drawingml/2006/main">
            <a:pPr>
              <a:buNone/>
            </a:pPr>
            <a:r>
              <a:rPr lang="en-US" sz="1100"/>
              <a:t>Focus on the existing task: Today’s Math Notes Section 1: Math Words Copy…</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519" name="Google Shape;519;p1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1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2.4, slide 3 | NOTES</a:t>
            </a:r>
          </a:p>
          <a:p xmlns:a="http://schemas.openxmlformats.org/drawingml/2006/main">
            <a:pPr>
              <a:buNone/>
            </a:pPr>
            <a:r>
              <a:rPr lang="en-US" sz="1100"/>
              <a:t>Focus on the existing task: Today’s Math Notes Section 2: Today’s Math Copy…</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547" name="Google Shape;547;p1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1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2.4, slide 16 | CURIOUS</a:t>
            </a:r>
          </a:p>
          <a:p xmlns:a="http://schemas.openxmlformats.org/drawingml/2006/main">
            <a:pPr>
              <a:buNone/>
            </a:pPr>
            <a:r>
              <a:rPr lang="en-US" sz="1100"/>
              <a:t>Focus on the existing task: What do you notice?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locate minimum, quartiles, median and maximum. Ask which feature of their work supports the claim.</a:t>
            </a:r>
          </a:p>
          <a:p xmlns:a="http://schemas.openxmlformats.org/drawingml/2006/main">
            <a:pPr>
              <a:buNone/>
            </a:pPr>
            <a:r>
              <a:rPr lang="en-US" sz="1100"/>
              <a:t>RESPOND: If this task shows the lesson misconception—assuming a longer box section contains more observations—connect the ordered source data to each boundary of the existing box plot.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Accept all noticings and wonderings — there are no wrong answers here.</a:t>
            </a:r>
          </a:p>
          <a:p>
            <a:pPr indent="0" lvl="0" marL="0" rtl="0" algn="l">
              <a:lnSpc>
                <a:spcPct val="100000"/>
              </a:lnSpc>
              <a:spcBef>
                <a:spcPts val="0"/>
              </a:spcBef>
              <a:spcAft>
                <a:spcPts val="0"/>
              </a:spcAft>
              <a:buSzPts val="1400"/>
              <a:buNone/>
            </a:pPr>
            <a:r>
              <a:t>Give 20–30 seconds of quiet think time before taking responses; mix cold and warm calls so it is not always the same voices.</a:t>
            </a:r>
          </a:p>
          <a:p>
            <a:pPr indent="0" lvl="0" marL="0" rtl="0" algn="l">
              <a:lnSpc>
                <a:spcPct val="100000"/>
              </a:lnSpc>
              <a:spcBef>
                <a:spcPts val="0"/>
              </a:spcBef>
              <a:spcAft>
                <a:spcPts val="0"/>
              </a:spcAft>
              <a:buSzPts val="1400"/>
              <a:buNone/>
            </a:pPr>
            <a:r>
              <a:t>Read the mindset question aloud and let two students respond.</a:t>
            </a:r>
          </a:p>
          <a:p>
            <a:pPr indent="0" lvl="0" marL="0" rtl="0" algn="l">
              <a:lnSpc>
                <a:spcPct val="100000"/>
              </a:lnSpc>
              <a:spcBef>
                <a:spcPts val="0"/>
              </a:spcBef>
              <a:spcAft>
                <a:spcPts val="0"/>
              </a:spcAft>
              <a:buSzPts val="1400"/>
              <a:buNone/>
            </a:pPr>
            <a:r>
              <a:t>UIFR: TEACH 3 · TEACH 7.</a:t>
            </a:r>
          </a:p>
        </p:txBody>
      </p:sp>
      <p:sp>
        <p:nvSpPr>
          <p:cNvPr id="583" name="Google Shape;583;p1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1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2.4, slide 17 | TASK</a:t>
            </a:r>
          </a:p>
          <a:p xmlns:a="http://schemas.openxmlformats.org/drawingml/2006/main">
            <a:pPr>
              <a:buNone/>
            </a:pPr>
            <a:r>
              <a:rPr lang="en-US" sz="1100"/>
              <a:t>Focus on the existing task: The table shows 25 sixth graders’ times to finish a 5-kilometer road race. How can you use a data display to show and explain the distribution of the values in the data set?</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locate minimum, quartiles, median and maximum. Ask which feature of their work supports the claim.</a:t>
            </a:r>
          </a:p>
          <a:p xmlns:a="http://schemas.openxmlformats.org/drawingml/2006/main">
            <a:pPr>
              <a:buNone/>
            </a:pPr>
            <a:r>
              <a:rPr lang="en-US" sz="1100"/>
              <a:t>RESPOND: If this task shows the lesson misconception—assuming a longer box section contains more observations—connect the ordered source data to each boundary of the existing box plot.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the question, then hold the silence — students think or jot before anyone answers.</a:t>
            </a:r>
          </a:p>
          <a:p>
            <a:pPr indent="0" lvl="0" marL="0" rtl="0" algn="l">
              <a:lnSpc>
                <a:spcPct val="100000"/>
              </a:lnSpc>
              <a:spcBef>
                <a:spcPts val="0"/>
              </a:spcBef>
              <a:spcAft>
                <a:spcPts val="0"/>
              </a:spcAft>
              <a:buSzPts val="1400"/>
              <a:buNone/>
            </a:pPr>
            <a:r>
              <a:t>Take two or three responses and press with “Why?” or “How do you know?” before moving on.</a:t>
            </a:r>
          </a:p>
          <a:p>
            <a:pPr indent="0" lvl="0" marL="0" rtl="0" algn="l">
              <a:lnSpc>
                <a:spcPct val="100000"/>
              </a:lnSpc>
              <a:spcBef>
                <a:spcPts val="0"/>
              </a:spcBef>
              <a:spcAft>
                <a:spcPts val="0"/>
              </a:spcAft>
              <a:buSzPts val="1400"/>
              <a:buNone/>
            </a:pPr>
            <a:r>
              <a:t>UIFR: TEACH 3.</a:t>
            </a:r>
          </a:p>
          <a:p>
            <a:pPr>
              <a:buNone/>
            </a:pPr>
            <a:r>
              <a:rPr lang="en-US" sz="1100"/>
              <a:t/>
            </a:r>
          </a:p>
          <a:p>
            <a:pPr>
              <a:buNone/>
            </a:pPr>
            <a:r>
              <a:rPr lang="en-US" sz="1100"/>
              <a:t>UIFR FULL | Lesson-specific facilitation</a:t>
            </a:r>
          </a:p>
          <a:p>
            <a:pPr>
              <a:buNone/>
            </a:pPr>
            <a:r>
              <a:rPr lang="en-US" sz="1100"/>
              <a:t>TEACH 2-3 | Session 1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“What does the length of each section tell us, and what does it not tell us about the number of observations?” Wait for evidence, invite another pathway, and have a student ask a follow-up question. Do not replace students’ reasoning with a sequence of leading steps.</a:t>
            </a:r>
          </a:p>
        </p:txBody>
      </p:sp>
      <p:sp>
        <p:nvSpPr>
          <p:cNvPr id="605" name="Google Shape;605;p1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p2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2.4, slide 18 | REVEAL</a:t>
            </a:r>
          </a:p>
          <a:p xmlns:a="http://schemas.openxmlformats.org/drawingml/2006/main">
            <a:pPr>
              <a:buNone/>
            </a:pPr>
            <a:r>
              <a:rPr lang="en-US" sz="1100"/>
              <a:t>Focus on the existing task: Reveal: Each side has the same number of values. What do you notice about the number of values on either side of the median?</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locate minimum, quartiles, median and maximum. Ask which feature of their work supports the claim.</a:t>
            </a:r>
          </a:p>
          <a:p xmlns:a="http://schemas.openxmlformats.org/drawingml/2006/main">
            <a:pPr>
              <a:buNone/>
            </a:pPr>
            <a:r>
              <a:rPr lang="en-US" sz="1100"/>
              <a:t>RESPOND: If this task shows the lesson misconception—assuming a longer box section contains more observations—connect the ordered source data to each boundary of the existing box plot.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Each side has the same number of values.</a:t>
            </a:r>
          </a:p>
          <a:p>
            <a:pPr indent="0" lvl="0" marL="0" rtl="0" algn="l">
              <a:lnSpc>
                <a:spcPct val="100000"/>
              </a:lnSpc>
              <a:spcBef>
                <a:spcPts val="0"/>
              </a:spcBef>
              <a:spcAft>
                <a:spcPts val="0"/>
              </a:spcAft>
              <a:buSzPts val="1400"/>
              <a:buNone/>
            </a:pPr>
            <a:r>
              <a:t>UIFR: TEACH 3 · TEACH 4.</a:t>
            </a:r>
          </a:p>
        </p:txBody>
      </p:sp>
      <p:sp>
        <p:nvSpPr>
          <p:cNvPr id="682" name="Google Shape;682;p2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p3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2.4, slide 19 | REVEAL</a:t>
            </a:r>
          </a:p>
          <a:p xmlns:a="http://schemas.openxmlformats.org/drawingml/2006/main">
            <a:pPr>
              <a:buNone/>
            </a:pPr>
            <a:r>
              <a:rPr lang="en-US" sz="1100"/>
              <a:t>Focus on the existing task: Let’s find the median of each half of the data set. Reveal: They divide the data into fourths. What do you notice about how the median and medians of each half divide the data?</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locate minimum, quartiles, median and maximum. Ask which feature of their work supports the claim.</a:t>
            </a:r>
          </a:p>
          <a:p xmlns:a="http://schemas.openxmlformats.org/drawingml/2006/main">
            <a:pPr>
              <a:buNone/>
            </a:pPr>
            <a:r>
              <a:rPr lang="en-US" sz="1100"/>
              <a:t>RESPOND: If this task shows the lesson misconception—assuming a longer box section contains more observations—connect the ordered source data to each boundary of the existing box plot.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They divide the data into fourths.</a:t>
            </a:r>
          </a:p>
          <a:p>
            <a:pPr indent="0" lvl="0" marL="0" rtl="0" algn="l">
              <a:lnSpc>
                <a:spcPct val="100000"/>
              </a:lnSpc>
              <a:spcBef>
                <a:spcPts val="0"/>
              </a:spcBef>
              <a:spcAft>
                <a:spcPts val="0"/>
              </a:spcAft>
              <a:buSzPts val="1400"/>
              <a:buNone/>
            </a:pPr>
            <a:r>
              <a:t>UIFR: TEACH 3 · TEACH 4.</a:t>
            </a:r>
          </a:p>
        </p:txBody>
      </p:sp>
      <p:sp>
        <p:nvSpPr>
          <p:cNvPr id="717" name="Google Shape;717;p3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p3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2.4, slide 20 | WORKED</a:t>
            </a:r>
          </a:p>
          <a:p xmlns:a="http://schemas.openxmlformats.org/drawingml/2006/main">
            <a:pPr>
              <a:buNone/>
            </a:pPr>
            <a:r>
              <a:rPr lang="en-US" sz="1100"/>
              <a:t>Focus on the existing task: Now the data is divided into four equal parts by values called quartiles. The median of the lower half is quartile 1. It is another…</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locate minimum, quartiles, median and maximum. Ask which feature of their work supports the claim.</a:t>
            </a:r>
          </a:p>
          <a:p xmlns:a="http://schemas.openxmlformats.org/drawingml/2006/main">
            <a:pPr>
              <a:buNone/>
            </a:pPr>
            <a:r>
              <a:rPr lang="en-US" sz="1100"/>
              <a:t>RESPOND: If this task shows the lesson misconception—assuming a longer box section contains more observations—connect the ordered source data to each boundary of the existing box plot.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733" name="Google Shape;733;p3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3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2.4, slide 21 | WORKED</a:t>
            </a:r>
          </a:p>
          <a:p xmlns:a="http://schemas.openxmlformats.org/drawingml/2006/main">
            <a:pPr>
              <a:buNone/>
            </a:pPr>
            <a:r>
              <a:rPr lang="en-US" sz="1100"/>
              <a:t>Focus on the existing task: A box plot, or a box and whisker plot, is a data display that shows the distribution of the data using five markers.</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locate minimum, quartiles, median and maximum. Ask which feature of their work supports the claim.</a:t>
            </a:r>
          </a:p>
          <a:p xmlns:a="http://schemas.openxmlformats.org/drawingml/2006/main">
            <a:pPr>
              <a:buNone/>
            </a:pPr>
            <a:r>
              <a:rPr lang="en-US" sz="1100"/>
              <a:t>RESPOND: If this task shows the lesson misconception—assuming a longer box section contains more observations—connect the ordered source data to each boundary of the existing box plot.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765" name="Google Shape;765;p3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p3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2.4, slide 22 | REVEAL</a:t>
            </a:r>
          </a:p>
          <a:p xmlns:a="http://schemas.openxmlformats.org/drawingml/2006/main">
            <a:pPr>
              <a:buNone/>
            </a:pPr>
            <a:r>
              <a:rPr lang="en-US" sz="1100"/>
              <a:t>Focus on the existing task: What do you notice about the box of a box plot?</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locate minimum, quartiles, median and maximum. Ask which feature of their work supports the claim.</a:t>
            </a:r>
          </a:p>
          <a:p xmlns:a="http://schemas.openxmlformats.org/drawingml/2006/main">
            <a:pPr>
              <a:buNone/>
            </a:pPr>
            <a:r>
              <a:rPr lang="en-US" sz="1100"/>
              <a:t>RESPOND: If this task shows the lesson misconception—assuming a longer box section contains more observations—connect the ordered source data to each boundary of the existing box plot.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It begins at quartile 1 and ends at quartile 3.</a:t>
            </a:r>
          </a:p>
          <a:p>
            <a:pPr indent="0" lvl="0" marL="0" rtl="0" algn="l">
              <a:lnSpc>
                <a:spcPct val="100000"/>
              </a:lnSpc>
              <a:spcBef>
                <a:spcPts val="0"/>
              </a:spcBef>
              <a:spcAft>
                <a:spcPts val="0"/>
              </a:spcAft>
              <a:buSzPts val="1400"/>
              <a:buNone/>
            </a:pPr>
            <a:r>
              <a:t>UIFR: TEACH 3 · TEACH 4.</a:t>
            </a:r>
          </a:p>
        </p:txBody>
      </p:sp>
      <p:sp>
        <p:nvSpPr>
          <p:cNvPr id="782" name="Google Shape;782;p3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p4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2.4, slide 23 | REVEAL</a:t>
            </a:r>
          </a:p>
          <a:p xmlns:a="http://schemas.openxmlformats.org/drawingml/2006/main">
            <a:pPr>
              <a:buNone/>
            </a:pPr>
            <a:r>
              <a:rPr lang="en-US" sz="1100"/>
              <a:t>Focus on the existing task: Between which two values does the middle half of the data fall?</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locate minimum, quartiles, median and maximum. Ask which feature of their work supports the claim.</a:t>
            </a:r>
          </a:p>
          <a:p xmlns:a="http://schemas.openxmlformats.org/drawingml/2006/main">
            <a:pPr>
              <a:buNone/>
            </a:pPr>
            <a:r>
              <a:rPr lang="en-US" sz="1100"/>
              <a:t>RESPOND: If this task shows the lesson misconception—assuming a longer box section contains more observations—connect the ordered source data to each boundary of the existing box plot.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Students should have shared predictions before this reveal.</a:t>
            </a:r>
          </a:p>
          <a:p>
            <a:pPr indent="0" lvl="0" marL="0" rtl="0" algn="l">
              <a:lnSpc>
                <a:spcPct val="100000"/>
              </a:lnSpc>
              <a:spcBef>
                <a:spcPts val="0"/>
              </a:spcBef>
              <a:spcAft>
                <a:spcPts val="0"/>
              </a:spcAft>
              <a:buSzPts val="1400"/>
              <a:buNone/>
            </a:pPr>
            <a:r>
              <a:t>Have them compare their thinking to what is shown: “Is this the same as what we said? Where is it different?”</a:t>
            </a:r>
          </a:p>
          <a:p>
            <a:pPr indent="0" lvl="0" marL="0" rtl="0" algn="l">
              <a:lnSpc>
                <a:spcPct val="100000"/>
              </a:lnSpc>
              <a:spcBef>
                <a:spcPts val="0"/>
              </a:spcBef>
              <a:spcAft>
                <a:spcPts val="0"/>
              </a:spcAft>
              <a:buSzPts val="1400"/>
              <a:buNone/>
            </a:pPr>
            <a:r>
              <a:t>Press one student to explain the reveal in their own words.</a:t>
            </a:r>
          </a:p>
          <a:p>
            <a:pPr indent="0" lvl="0" marL="0" rtl="0" algn="l">
              <a:lnSpc>
                <a:spcPct val="100000"/>
              </a:lnSpc>
              <a:spcBef>
                <a:spcPts val="0"/>
              </a:spcBef>
              <a:spcAft>
                <a:spcPts val="0"/>
              </a:spcAft>
              <a:buSzPts val="1400"/>
              <a:buNone/>
            </a:pPr>
            <a:r>
              <a:t>UIFR: TEACH 3 · TEACH 4.</a:t>
            </a:r>
          </a:p>
        </p:txBody>
      </p:sp>
      <p:sp>
        <p:nvSpPr>
          <p:cNvPr id="848" name="Google Shape;848;p4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p5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2.4, slide 24 | PRACTICE</a:t>
            </a:r>
          </a:p>
          <a:p xmlns:a="http://schemas.openxmlformats.org/drawingml/2006/main">
            <a:pPr>
              <a:buNone/>
            </a:pPr>
            <a:r>
              <a:rPr lang="en-US" sz="1100"/>
              <a:t>Focus on the existing task: Let’s Explore More Workspace What does the length of the box and whiskers tell you about the spread of the data in the box plot?</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compare center and spread in context. Ask which feature of their work supports the claim.</a:t>
            </a:r>
          </a:p>
          <a:p xmlns:a="http://schemas.openxmlformats.org/drawingml/2006/main">
            <a:pPr>
              <a:buNone/>
            </a:pPr>
            <a:r>
              <a:rPr lang="en-US" sz="1100"/>
              <a:t>RESPOND: If this task shows the lesson misconception—assuming a longer box section contains more observations—connect the ordered source data to each boundary of the existing box plot.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a:p>
            <a:pPr>
              <a:buNone/>
            </a:pPr>
            <a:r>
              <a:rPr lang="en-US" sz="1100"/>
              <a:t/>
            </a:r>
          </a:p>
          <a:p>
            <a:pPr>
              <a:buNone/>
            </a:pPr>
            <a:r>
              <a:rPr lang="en-US" sz="1100"/>
              <a:t>UIFR FULL | Lesson-specific facilitation</a:t>
            </a:r>
          </a:p>
          <a:p>
            <a:pPr>
              <a:buNone/>
            </a:pPr>
            <a:r>
              <a:rPr lang="en-US" sz="1100"/>
              <a:t>TEACH 4-5 | Session 1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assuming a longer box section contains more observations. If it appears, connect the ordered source data to each boundary of the existing box plot; then ask the student to revise the same response and explain the change. If evidence is secure, have students compare a second valid pathway or state why their approach works. Choose the next step from the responses, not a preset pace.</a:t>
            </a:r>
          </a:p>
        </p:txBody>
      </p:sp>
      <p:sp>
        <p:nvSpPr>
          <p:cNvPr id="903" name="Google Shape;903;p5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p5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2.4, slide 31 | DIVIDER</a:t>
            </a:r>
          </a:p>
          <a:p xmlns:a="http://schemas.openxmlformats.org/drawingml/2006/main">
            <a:pPr>
              <a:buNone/>
            </a:pPr>
            <a:r>
              <a:rPr lang="en-US" sz="1100"/>
              <a:t>Focus on the existing task: Session 2 Represent and Describe Data in a Box Plot</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911" name="Google Shape;911;p5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p5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2.4, slide 32 | CURIOUS</a:t>
            </a:r>
          </a:p>
          <a:p xmlns:a="http://schemas.openxmlformats.org/drawingml/2006/main">
            <a:pPr>
              <a:buNone/>
            </a:pPr>
            <a:r>
              <a:rPr lang="en-US" sz="1100"/>
              <a:t>Focus on the existing task: How are they the same?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locate minimum, quartiles, median and maximum. Ask which feature of their work supports the claim.</a:t>
            </a:r>
          </a:p>
          <a:p xmlns:a="http://schemas.openxmlformats.org/drawingml/2006/main">
            <a:pPr>
              <a:buNone/>
            </a:pPr>
            <a:r>
              <a:rPr lang="en-US" sz="1100"/>
              <a:t>RESPOND: If this task shows the lesson misconception—assuming a longer box section contains more observations—connect the ordered source data to each boundary of the existing box plot.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Accept all noticings and wonderings — there are no wrong answers here.</a:t>
            </a:r>
          </a:p>
          <a:p>
            <a:pPr indent="0" lvl="0" marL="0" rtl="0" algn="l">
              <a:lnSpc>
                <a:spcPct val="100000"/>
              </a:lnSpc>
              <a:spcBef>
                <a:spcPts val="0"/>
              </a:spcBef>
              <a:spcAft>
                <a:spcPts val="0"/>
              </a:spcAft>
              <a:buSzPts val="1400"/>
              <a:buNone/>
            </a:pPr>
            <a:r>
              <a:t>Give 20–30 seconds of quiet think time before taking responses; mix cold and warm calls so it is not always the same voices.</a:t>
            </a:r>
          </a:p>
          <a:p>
            <a:pPr indent="0" lvl="0" marL="0" rtl="0" algn="l">
              <a:lnSpc>
                <a:spcPct val="100000"/>
              </a:lnSpc>
              <a:spcBef>
                <a:spcPts val="0"/>
              </a:spcBef>
              <a:spcAft>
                <a:spcPts val="0"/>
              </a:spcAft>
              <a:buSzPts val="1400"/>
              <a:buNone/>
            </a:pPr>
            <a:r>
              <a:t>Read the mindset question aloud and let two students respond.</a:t>
            </a:r>
          </a:p>
          <a:p>
            <a:pPr indent="0" lvl="0" marL="0" rtl="0" algn="l">
              <a:lnSpc>
                <a:spcPct val="100000"/>
              </a:lnSpc>
              <a:spcBef>
                <a:spcPts val="0"/>
              </a:spcBef>
              <a:spcAft>
                <a:spcPts val="0"/>
              </a:spcAft>
              <a:buSzPts val="1400"/>
              <a:buNone/>
            </a:pPr>
            <a:r>
              <a:t>UIFR: TEACH 3 · TEACH 7.</a:t>
            </a:r>
          </a:p>
        </p:txBody>
      </p:sp>
      <p:sp>
        <p:nvSpPr>
          <p:cNvPr id="929" name="Google Shape;929;p5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p5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2.4, slide 33 | TASK</a:t>
            </a:r>
          </a:p>
          <a:p xmlns:a="http://schemas.openxmlformats.org/drawingml/2006/main">
            <a:pPr>
              <a:buNone/>
            </a:pPr>
            <a:r>
              <a:rPr lang="en-US" sz="1100"/>
              <a:t>Focus on the existing task: How do the finish times of the students in the two grades compare?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compare center and spread in context. Ask which feature of their work supports the claim.</a:t>
            </a:r>
          </a:p>
          <a:p xmlns:a="http://schemas.openxmlformats.org/drawingml/2006/main">
            <a:pPr>
              <a:buNone/>
            </a:pPr>
            <a:r>
              <a:rPr lang="en-US" sz="1100"/>
              <a:t>RESPOND: If this task shows the lesson misconception—assuming a longer box section contains more observations—connect the ordered source data to each boundary of the existing box plot.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a:p>
            <a:pPr>
              <a:buNone/>
            </a:pPr>
            <a:r>
              <a:rPr lang="en-US" sz="1100"/>
              <a:t/>
            </a:r>
          </a:p>
          <a:p>
            <a:pPr>
              <a:buNone/>
            </a:pPr>
            <a:r>
              <a:rPr lang="en-US" sz="1100"/>
              <a:t>UIFR FULL | Lesson-specific facilitation</a:t>
            </a:r>
          </a:p>
          <a:p>
            <a:pPr>
              <a:buNone/>
            </a:pPr>
            <a:r>
              <a:rPr lang="en-US" sz="1100"/>
              <a:t>TEACH 2-3 | Session 2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“What does the length of each section tell us, and what does it not tell us about the number of observations?” Wait for evidence, invite another pathway, and have a student ask a follow-up question. Do not replace students’ reasoning with a sequence of leading steps.</a:t>
            </a:r>
          </a:p>
        </p:txBody>
      </p:sp>
      <p:sp>
        <p:nvSpPr>
          <p:cNvPr id="953" name="Google Shape;953;p5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7" name="Shape 1077"/>
        <p:cNvGrpSpPr/>
        <p:nvPr/>
      </p:nvGrpSpPr>
      <p:grpSpPr>
        <a:xfrm>
          <a:off x="0" y="0"/>
          <a:ext cx="0" cy="0"/>
          <a:chOff x="0" y="0"/>
          <a:chExt cx="0" cy="0"/>
        </a:xfrm>
      </p:grpSpPr>
      <p:sp>
        <p:nvSpPr>
          <p:cNvPr id="1078" name="Google Shape;1078;p7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2.4, slide 34 | REVEAL</a:t>
            </a:r>
          </a:p>
          <a:p xmlns:a="http://schemas.openxmlformats.org/drawingml/2006/main">
            <a:pPr>
              <a:buNone/>
            </a:pPr>
            <a:r>
              <a:rPr lang="en-US" sz="1100"/>
              <a:t>Focus on the existing task: Reveal: The median time for Grade 7 is 36 minutes. The median time for Grade 6 is 37 minutes. So, the median time for Grade 7 is 1 minute faster. How do the median times for each grade compare?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locate minimum, quartiles, median and maximum. Ask which feature of their work supports the claim.</a:t>
            </a:r>
          </a:p>
          <a:p xmlns:a="http://schemas.openxmlformats.org/drawingml/2006/main">
            <a:pPr>
              <a:buNone/>
            </a:pPr>
            <a:r>
              <a:rPr lang="en-US" sz="1100"/>
              <a:t>RESPOND: If this task shows the lesson misconception—assuming a longer box section contains more observations—connect the ordered source data to each boundary of the existing box plot.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 median time for Grade 7 is 36 minutes. The median time for Grade 6 is 37 minutes. So, the median time for Grade 7 is 1 minute faster.</a:t>
            </a:r>
          </a:p>
          <a:p>
            <a:pPr indent="0" lvl="0" marL="0" rtl="0" algn="l">
              <a:lnSpc>
                <a:spcPct val="100000"/>
              </a:lnSpc>
              <a:spcBef>
                <a:spcPts val="0"/>
              </a:spcBef>
              <a:spcAft>
                <a:spcPts val="0"/>
              </a:spcAft>
              <a:buSzPts val="1400"/>
              <a:buNone/>
            </a:pPr>
            <a:r>
              <a:t>UIFR: TEACH 3 · TEACH 4.</a:t>
            </a:r>
          </a:p>
        </p:txBody>
      </p:sp>
      <p:sp>
        <p:nvSpPr>
          <p:cNvPr id="1079" name="Google Shape;1079;p7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5" name="Shape 1125"/>
        <p:cNvGrpSpPr/>
        <p:nvPr/>
      </p:nvGrpSpPr>
      <p:grpSpPr>
        <a:xfrm>
          <a:off x="0" y="0"/>
          <a:ext cx="0" cy="0"/>
          <a:chOff x="0" y="0"/>
          <a:chExt cx="0" cy="0"/>
        </a:xfrm>
      </p:grpSpPr>
      <p:sp>
        <p:nvSpPr>
          <p:cNvPr id="1126" name="Google Shape;1126;p7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2.4, slide 35 | PRACTICE</a:t>
            </a:r>
          </a:p>
          <a:p xmlns:a="http://schemas.openxmlformats.org/drawingml/2006/main">
            <a:pPr>
              <a:buNone/>
            </a:pPr>
            <a:r>
              <a:rPr lang="en-US" sz="1100"/>
              <a:t>Focus on the existing task: How do the slowest and fastest finish times compare between the sixth and seventh graders?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compare center and spread in context. Ask which feature of their work supports the claim.</a:t>
            </a:r>
          </a:p>
          <a:p xmlns:a="http://schemas.openxmlformats.org/drawingml/2006/main">
            <a:pPr>
              <a:buNone/>
            </a:pPr>
            <a:r>
              <a:rPr lang="en-US" sz="1100"/>
              <a:t>RESPOND: If this task shows the lesson misconception—assuming a longer box section contains more observations—connect the ordered source data to each boundary of the existing box plot.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a:p>
            <a:pPr>
              <a:buNone/>
            </a:pPr>
            <a:r>
              <a:rPr lang="en-US" sz="1100"/>
              <a:t/>
            </a:r>
          </a:p>
          <a:p>
            <a:pPr>
              <a:buNone/>
            </a:pPr>
            <a:r>
              <a:rPr lang="en-US" sz="1100"/>
              <a:t>UIFR FULL | Lesson-specific facilitation</a:t>
            </a:r>
          </a:p>
          <a:p>
            <a:pPr>
              <a:buNone/>
            </a:pPr>
            <a:r>
              <a:rPr lang="en-US" sz="1100"/>
              <a:t>TEACH 4-5 | Session 2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assuming a longer box section contains more observations. If it appears, connect the ordered source data to each boundary of the existing box plot; then ask the student to revise the same response and explain the change. If evidence is secure, have students compare a second valid pathway or state why their approach works. Choose the next step from the responses, not a preset pace.</a:t>
            </a:r>
          </a:p>
        </p:txBody>
      </p:sp>
      <p:sp>
        <p:nvSpPr>
          <p:cNvPr id="1127" name="Google Shape;1127;p7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3" name="Shape 1133"/>
        <p:cNvGrpSpPr/>
        <p:nvPr/>
      </p:nvGrpSpPr>
      <p:grpSpPr>
        <a:xfrm>
          <a:off x="0" y="0"/>
          <a:ext cx="0" cy="0"/>
          <a:chOff x="0" y="0"/>
          <a:chExt cx="0" cy="0"/>
        </a:xfrm>
      </p:grpSpPr>
      <p:sp>
        <p:nvSpPr>
          <p:cNvPr id="1134" name="Google Shape;1134;p7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2.4, slide 40 | SUMMARIZE</a:t>
            </a:r>
          </a:p>
          <a:p xmlns:a="http://schemas.openxmlformats.org/drawingml/2006/main">
            <a:pPr>
              <a:buNone/>
            </a:pPr>
            <a:r>
              <a:rPr lang="en-US" sz="1100"/>
              <a:t>Focus on the existing task: A box plot, or a box-and-whisker plot, is a type of data display. The data is divided into four parts, called quartiles, with the same…</a:t>
            </a:r>
          </a:p>
          <a:p xmlns:a="http://schemas.openxmlformats.org/drawingml/2006/main">
            <a:pPr>
              <a:buNone/>
            </a:pPr>
            <a:r>
              <a:rPr lang="en-US" sz="1100"/>
              <a:t>CONNECT (T1/4): Ask students to restate the displayed goal or key idea and connect it to earlier work. Relevant lesson evidence: locate minimum, quartiles, median and maximum; compare center and spread in context.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SUMMARIZE  ·  SAY IT IN YOUR OWN WORDS</a:t>
            </a:r>
          </a:p>
        </p:txBody>
      </p:sp>
      <p:sp>
        <p:nvSpPr>
          <p:cNvPr id="1135" name="Google Shape;1135;p7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1" name="Shape 1141"/>
        <p:cNvGrpSpPr/>
        <p:nvPr/>
      </p:nvGrpSpPr>
      <p:grpSpPr>
        <a:xfrm>
          <a:off x="0" y="0"/>
          <a:ext cx="0" cy="0"/>
          <a:chOff x="0" y="0"/>
          <a:chExt cx="0" cy="0"/>
        </a:xfrm>
      </p:grpSpPr>
      <p:sp>
        <p:nvSpPr>
          <p:cNvPr id="1142" name="Google Shape;1142;p7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2.4, slide 41 | APPLY</a:t>
            </a:r>
          </a:p>
          <a:p xmlns:a="http://schemas.openxmlformats.org/drawingml/2006/main">
            <a:pPr>
              <a:buNone/>
            </a:pPr>
            <a:r>
              <a:rPr lang="en-US" sz="1100"/>
              <a:t>Focus on the existing task: The box plots show the average monthly temperatures for the same month in Chicago, IL, and Honolulu, HI. Question: How do the monthly temperatures between the two cities compare?</a:t>
            </a:r>
          </a:p>
          <a:p xmlns:a="http://schemas.openxmlformats.org/drawingml/2006/main">
            <a:pPr>
              <a:buNone/>
            </a:pPr>
            <a:r>
              <a:rPr lang="en-US" sz="1100"/>
              <a:t>LAUNCH (T2/3/5): Use the exact application task independently first. Ask students to justify their choice of method. Collect evidence before a partner discussion or correction.</a:t>
            </a:r>
          </a:p>
          <a:p xmlns:a="http://schemas.openxmlformats.org/drawingml/2006/main">
            <a:pPr>
              <a:buNone/>
            </a:pPr>
            <a:r>
              <a:rPr lang="en-US" sz="1100"/>
              <a:t>LOOK FOR (T4): Where this task addresses it, students can compare center and spread in context. Ask which feature of their work supports the claim.</a:t>
            </a:r>
          </a:p>
          <a:p xmlns:a="http://schemas.openxmlformats.org/drawingml/2006/main">
            <a:pPr>
              <a:buNone/>
            </a:pPr>
            <a:r>
              <a:rPr lang="en-US" sz="1100"/>
              <a:t>RESPOND: If this task shows the lesson misconception—assuming a longer box section contains more observations—connect the ordered source data to each boundary of the existing box plot.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APPLY  ·  PLAN IT • SOLVE IT • PROVE IT</a:t>
            </a:r>
          </a:p>
          <a:p>
            <a:pPr>
              <a:buNone/>
            </a:pPr>
            <a:r>
              <a:rPr lang="en-US" sz="1100"/>
              <a:t/>
            </a:r>
          </a:p>
          <a:p>
            <a:pPr>
              <a:buNone/>
            </a:pPr>
            <a:r>
              <a:rPr lang="en-US" sz="1100"/>
              <a:t>UIFR FULL | Lesson-specific facilitation</a:t>
            </a:r>
          </a:p>
          <a:p>
            <a:pPr>
              <a:buNone/>
            </a:pPr>
            <a:r>
              <a:rPr lang="en-US" sz="1100"/>
              <a:t>TEACH 4 | Independent evidence and revision (UIFR PDF p. 11).</a:t>
            </a:r>
          </a:p>
          <a:p>
            <a:pPr>
              <a:buNone/>
            </a:pPr>
            <a:r>
              <a:rPr lang="en-US" sz="1100"/>
              <a:t>Use the existing application/exit problem as the independent check. If this is a learning-target slide, have students point to and explain their work on the preceding task. Separate initial independent evidence from the revision after feedback.</a:t>
            </a:r>
          </a:p>
          <a:p>
            <a:pPr>
              <a:buNone/>
            </a:pPr>
            <a:r>
              <a:rPr lang="en-US" sz="1100"/>
              <a:t>Check the relevant criteria: locate minimum, quartiles, median and maximum; compare center and spread in context. Respond with one specific next step tied to the work. Students revise and annotate what changed, then identify a criterion they can now demonstrate and one they still need to practice.</a:t>
            </a:r>
          </a:p>
        </p:txBody>
      </p:sp>
      <p:sp>
        <p:nvSpPr>
          <p:cNvPr id="1143" name="Google Shape;1143;p7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p7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2.4, slide 42 | REFLECTION</a:t>
            </a:r>
          </a:p>
          <a:p xmlns:a="http://schemas.openxmlformats.org/drawingml/2006/main">
            <a:pPr>
              <a:buNone/>
            </a:pPr>
            <a:r>
              <a:rPr lang="en-US" sz="1100"/>
              <a:t>Focus on the existing task: I can describe a data set displayed in a box and whisker plot in terms of median, quartiles, and spread. I can attend to precision to…</a:t>
            </a:r>
          </a:p>
          <a:p xmlns:a="http://schemas.openxmlformats.org/drawingml/2006/main">
            <a:pPr>
              <a:buNone/>
            </a:pPr>
            <a:r>
              <a:rPr lang="en-US" sz="1100"/>
              <a:t>CONNECT (T1/4): Ask students to restate the displayed goal or key idea and connect it to earlier work. Relevant lesson evidence: locate minimum, quartiles, median and maximum; compare center and spread in context.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each target; students self-rate with fist-to-five or thumbs.</a:t>
            </a:r>
          </a:p>
          <a:p>
            <a:pPr indent="0" lvl="0" marL="0" rtl="0" algn="l">
              <a:lnSpc>
                <a:spcPct val="100000"/>
              </a:lnSpc>
              <a:spcBef>
                <a:spcPts val="0"/>
              </a:spcBef>
              <a:spcAft>
                <a:spcPts val="0"/>
              </a:spcAft>
              <a:buSzPts val="1400"/>
              <a:buNone/>
            </a:pPr>
            <a:r>
              <a:t>Tie back to the goal from the start of class: did we get there?</a:t>
            </a:r>
          </a:p>
          <a:p>
            <a:pPr indent="0" lvl="0" marL="0" rtl="0" algn="l">
              <a:lnSpc>
                <a:spcPct val="100000"/>
              </a:lnSpc>
              <a:spcBef>
                <a:spcPts val="0"/>
              </a:spcBef>
              <a:spcAft>
                <a:spcPts val="0"/>
              </a:spcAft>
              <a:buSzPts val="1400"/>
              <a:buNone/>
            </a:pPr>
            <a:r>
              <a:t>Note any target that rates low — revisit it tomorrow.</a:t>
            </a:r>
          </a:p>
          <a:p>
            <a:pPr indent="0" lvl="0" marL="0" rtl="0" algn="l">
              <a:lnSpc>
                <a:spcPct val="100000"/>
              </a:lnSpc>
              <a:spcBef>
                <a:spcPts val="0"/>
              </a:spcBef>
              <a:spcAft>
                <a:spcPts val="0"/>
              </a:spcAft>
              <a:buSzPts val="1400"/>
              <a:buNone/>
            </a:pPr>
            <a:r>
              <a:t>UIFR: TEACH 1 · TEACH 4.</a:t>
            </a:r>
          </a:p>
          <a:p>
            <a:pPr>
              <a:buNone/>
            </a:pPr>
            <a:r>
              <a:rPr lang="en-US" sz="1100"/>
              <a:t/>
            </a:r>
          </a:p>
          <a:p>
            <a:pPr>
              <a:buNone/>
            </a:pPr>
            <a:r>
              <a:rPr lang="en-US" sz="1100"/>
              <a:t>UIFR FULL | Lesson-specific facilitation</a:t>
            </a:r>
          </a:p>
          <a:p>
            <a:pPr>
              <a:buNone/>
            </a:pPr>
            <a:r>
              <a:rPr lang="en-US" sz="1100"/>
              <a:t>REFLECT &amp; ADJUST 1-2 | After the lesson (UIFR PDF pp. 15-16).</a:t>
            </a:r>
          </a:p>
          <a:p>
            <a:pPr>
              <a:buNone/>
            </a:pPr>
            <a:r>
              <a:rPr lang="en-US" sz="1100"/>
              <a:t>Sort the existing work by demonstrated reasoning, partial understanding, and the specific misconception: assuming a longer box section contains more observations. Compare the initial response with the revision. Record which teaching move plausibly helped, which did not, and whose participation or access needs a different approach; do not record sensitive student details in this shared deck.</a:t>
            </a:r>
          </a:p>
          <a:p>
            <a:pPr>
              <a:buNone/>
            </a:pPr>
            <a:r>
              <a:rPr lang="en-US" sz="1100"/>
              <a:t>Plan the next lesson from that evidence: if the misconception persists, connect the ordered source data to each boundary of the existing box plot using the current example before returning to the next grade-level task; if understanding is secure, use an existing extension or ask for a general explanation. Check the targeted idea again at the next warm-up.</a:t>
            </a:r>
          </a:p>
          <a:p>
            <a:pPr>
              <a:buNone/>
            </a:pPr>
            <a:r>
              <a:rPr lang="en-US" sz="1100"/>
              <a:t>Ask students what supported their thinking and what would help next time. Identify one change to try and one successful practice to retain. Seek colleague feedback on anonymized work when useful; these prompts support reflection and do not establish an evaluation rating. Source: Baltimore City Public Schools, Updated Instructional Framework Rubric, June 2020 (UIFR_Full.pdf).</a:t>
            </a:r>
          </a:p>
        </p:txBody>
      </p:sp>
      <p:sp>
        <p:nvSpPr>
          <p:cNvPr id="1151" name="Google Shape;1151;p7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2.4, slide 29 | WARMUP</a:t>
            </a:r>
          </a:p>
          <a:p xmlns:a="http://schemas.openxmlformats.org/drawingml/2006/main">
            <a:pPr>
              <a:buNone/>
            </a:pPr>
            <a:r>
              <a:rPr lang="en-US" sz="1100"/>
              <a:t>Focus on the existing task: A 3 B 4 C 5 D 6 2 The central box in a box plot spans from: A Min to Max B Q1 to Q3 C 0 to 100 D Mean to Mode 3 What percent of data lies inside the central box?</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Warm-up routine: students start silently on entry; keep it to about 4 minutes.</a:t>
            </a:r>
          </a:p>
          <a:p>
            <a:r>
              <a:t>Circulate and note who is stuck — use what you see to choose who you check on first today.</a:t>
            </a:r>
          </a:p>
          <a:p>
            <a:r>
              <a:t>Go over answers quickly; ask one student to explain a step, not just say the answer.</a:t>
            </a:r>
          </a:p>
          <a:p>
            <a:r>
              <a:t>UIFR: TEACH 4 · TEACH 6.</a:t>
            </a:r>
          </a:p>
          <a:p>
            <a:pPr>
              <a:buNone/>
            </a:pPr>
            <a:r>
              <a:rPr lang="en-US" sz="1100"/>
              <a:t/>
            </a:r>
          </a:p>
          <a:p>
            <a:pPr>
              <a:buNone/>
            </a:pPr>
            <a:r>
              <a:rPr lang="en-US" sz="1100"/>
              <a:t>UIFR FULL | Lesson-specific facilitation</a:t>
            </a:r>
          </a:p>
          <a:p>
            <a:pPr>
              <a:buNone/>
            </a:pPr>
            <a:r>
              <a:rPr lang="en-US" sz="1100"/>
              <a:t>TEACH 1 | Session 2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locate minimum, quartiles, median and maximum; compare center and spread in context. Ask: “Which part of your work would show this?” Revisit that evidence after the task; a confidence rating alone is not evidence of understanding.</a:t>
            </a: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2.4, slide 30 | NOTES</a:t>
            </a:r>
          </a:p>
          <a:p xmlns:a="http://schemas.openxmlformats.org/drawingml/2006/main">
            <a:pPr>
              <a:buNone/>
            </a:pPr>
            <a:r>
              <a:rPr lang="en-US" sz="1100"/>
              <a:t>Focus on the existing task: Review Notes Review Notes — Session 2 Copy into…</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8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2.4, slide 7 | PRIOR_INSERT</a:t>
            </a:r>
          </a:p>
          <a:p xmlns:a="http://schemas.openxmlformats.org/drawingml/2006/main">
            <a:pPr>
              <a:buNone/>
            </a:pPr>
            <a:r>
              <a:rPr lang="en-US" sz="1100"/>
              <a:t>Focus on the existing task: LESSON 2.4 / OUR LEARNING What will show your learning?</a:t>
            </a:r>
          </a:p>
          <a:p xmlns:a="http://schemas.openxmlformats.org/drawingml/2006/main">
            <a:pPr>
              <a:buNone/>
            </a:pPr>
            <a:r>
              <a:rPr lang="en-US" sz="1100"/>
              <a:t>CONNECT (T1/4): Ask students to restate the displayed goal or key idea and connect it to earlier work. Relevant lesson evidence: locate minimum, quartiles, median and maximum; compare center and spread in context.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2.4, slide 8 | VOCAB</a:t>
            </a:r>
          </a:p>
          <a:p xmlns:a="http://schemas.openxmlformats.org/drawingml/2006/main">
            <a:pPr>
              <a:buNone/>
            </a:pPr>
            <a:r>
              <a:rPr lang="en-US" sz="1100"/>
              <a:t>Focus on the existing task: Vocabulary 1 of 7 Display Data with Box Plots…</a:t>
            </a:r>
          </a:p>
          <a:p xmlns:a="http://schemas.openxmlformats.org/drawingml/2006/main">
            <a:pPr>
              <a:buNone/>
            </a:pPr>
            <a:r>
              <a:rPr lang="en-US" sz="1100"/>
              <a:t>ASK (T1/3/5): Where does “Display Data with Box Plots”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2.4, slide 9 | VOCAB</a:t>
            </a:r>
          </a:p>
          <a:p xmlns:a="http://schemas.openxmlformats.org/drawingml/2006/main">
            <a:pPr>
              <a:buNone/>
            </a:pPr>
            <a:r>
              <a:rPr lang="en-US" sz="1100"/>
              <a:t>Focus on the existing task: Vocabulary 2 of 7 Box Plot A graph that shows…</a:t>
            </a:r>
          </a:p>
          <a:p xmlns:a="http://schemas.openxmlformats.org/drawingml/2006/main">
            <a:pPr>
              <a:buNone/>
            </a:pPr>
            <a:r>
              <a:rPr lang="en-US" sz="1100"/>
              <a:t>ASK (T1/3/5): Where does “Box Plot”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2.4, slide 10 | VOCAB</a:t>
            </a:r>
          </a:p>
          <a:p xmlns:a="http://schemas.openxmlformats.org/drawingml/2006/main">
            <a:pPr>
              <a:buNone/>
            </a:pPr>
            <a:r>
              <a:rPr lang="en-US" sz="1100"/>
              <a:t>Focus on the existing task: Vocabulary 3 of 7 Median The middle number when…</a:t>
            </a:r>
          </a:p>
          <a:p xmlns:a="http://schemas.openxmlformats.org/drawingml/2006/main">
            <a:pPr>
              <a:buNone/>
            </a:pPr>
            <a:r>
              <a:rPr lang="en-US" sz="1100"/>
              <a:t>ASK (T1/3/5): Where does “Median”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2.4, slide 11 | VOCAB</a:t>
            </a:r>
          </a:p>
          <a:p xmlns:a="http://schemas.openxmlformats.org/drawingml/2006/main">
            <a:pPr>
              <a:buNone/>
            </a:pPr>
            <a:r>
              <a:rPr lang="en-US" sz="1100"/>
              <a:t>Focus on the existing task: Vocabulary 4 of 7 Quartile Numbers that split…</a:t>
            </a:r>
          </a:p>
          <a:p xmlns:a="http://schemas.openxmlformats.org/drawingml/2006/main">
            <a:pPr>
              <a:buNone/>
            </a:pPr>
            <a:r>
              <a:rPr lang="en-US" sz="1100"/>
              <a:t>ASK (T1/3/5): Where does “Quartile”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2.4, slide 12 | VOCAB</a:t>
            </a:r>
          </a:p>
          <a:p xmlns:a="http://schemas.openxmlformats.org/drawingml/2006/main">
            <a:pPr>
              <a:buNone/>
            </a:pPr>
            <a:r>
              <a:rPr lang="en-US" sz="1100"/>
              <a:t>Focus on the existing task: Vocabulary 5 of 7 Interquartile Range The spread…</a:t>
            </a:r>
          </a:p>
          <a:p xmlns:a="http://schemas.openxmlformats.org/drawingml/2006/main">
            <a:pPr>
              <a:buNone/>
            </a:pPr>
            <a:r>
              <a:rPr lang="en-US" sz="1100"/>
              <a:t>ASK (T1/3/5): Where does “Interquartile Range”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2.4, slide 13 | VOCAB</a:t>
            </a:r>
          </a:p>
          <a:p xmlns:a="http://schemas.openxmlformats.org/drawingml/2006/main">
            <a:pPr>
              <a:buNone/>
            </a:pPr>
            <a:r>
              <a:rPr lang="en-US" sz="1100"/>
              <a:t>Focus on the existing task: Vocabulary 6 of 7 Data distribution How the data…</a:t>
            </a:r>
          </a:p>
          <a:p xmlns:a="http://schemas.openxmlformats.org/drawingml/2006/main">
            <a:pPr>
              <a:buNone/>
            </a:pPr>
            <a:r>
              <a:rPr lang="en-US" sz="1100"/>
              <a:t>ASK (T1/3/5): Where does “Data distribution”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2.4, slide 14 | VOCAB</a:t>
            </a:r>
          </a:p>
          <a:p xmlns:a="http://schemas.openxmlformats.org/drawingml/2006/main">
            <a:pPr>
              <a:buNone/>
            </a:pPr>
            <a:r>
              <a:rPr lang="en-US" sz="1100"/>
              <a:t>Focus on the existing task: Vocabulary 7 of 7 Variability How spread out the…</a:t>
            </a:r>
          </a:p>
          <a:p xmlns:a="http://schemas.openxmlformats.org/drawingml/2006/main">
            <a:pPr>
              <a:buNone/>
            </a:pPr>
            <a:r>
              <a:rPr lang="en-US" sz="1100"/>
              <a:t>ASK (T1/3/5): Where does “Variability”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9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2.4, slide 25 | PRIOR_INSERT</a:t>
            </a:r>
          </a:p>
          <a:p xmlns:a="http://schemas.openxmlformats.org/drawingml/2006/main">
            <a:pPr>
              <a:buNone/>
            </a:pPr>
            <a:r>
              <a:rPr lang="en-US" sz="1100"/>
              <a:t>Focus on the existing task: Point to evidence in your work. Then compare your approach with a partner’s. TAKE TURNS Explain “I know this because…” Ask “Where does your work show that?</a:t>
            </a:r>
          </a:p>
          <a:p xmlns:a="http://schemas.openxmlformats.org/drawingml/2006/main">
            <a:pPr>
              <a:buNone/>
            </a:pPr>
            <a:r>
              <a:rPr lang="en-US" sz="1100"/>
              <a:t>CONNECT (T1/4): Ask students to restate the displayed goal or key idea and connect it to earlier work. Relevant lesson evidence: locate minimum, quartiles, median and maximum; compare center and spread in context.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9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2.4, slide 26 | REVEAL</a:t>
            </a:r>
          </a:p>
          <a:p xmlns:a="http://schemas.openxmlformats.org/drawingml/2006/main">
            <a:pPr>
              <a:buNone/>
            </a:pPr>
            <a:r>
              <a:rPr lang="en-US" sz="1100"/>
              <a:t>Focus on the existing task: How can you organize the data?</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locate minimum, quartiles, median and maximum. Ask which feature of their work supports the claim.</a:t>
            </a:r>
          </a:p>
          <a:p xmlns:a="http://schemas.openxmlformats.org/drawingml/2006/main">
            <a:pPr>
              <a:buNone/>
            </a:pPr>
            <a:r>
              <a:rPr lang="en-US" sz="1100"/>
              <a:t>RESPOND: If this task shows the lesson misconception—assuming a longer box section contains more observations—connect the ordered source data to each boundary of the existing box plot.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9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2.4, slide 27 | REVEAL</a:t>
            </a:r>
          </a:p>
          <a:p xmlns:a="http://schemas.openxmlformats.org/drawingml/2006/main">
            <a:pPr>
              <a:buNone/>
            </a:pPr>
            <a:r>
              <a:rPr lang="en-US" sz="1100"/>
              <a:t>Focus on the existing task: How can you represent the center of the lower and upper halves of the data?</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locate minimum, quartiles, median and maximum. Ask which feature of their work supports the claim.</a:t>
            </a:r>
          </a:p>
          <a:p xmlns:a="http://schemas.openxmlformats.org/drawingml/2006/main">
            <a:pPr>
              <a:buNone/>
            </a:pPr>
            <a:r>
              <a:rPr lang="en-US" sz="1100"/>
              <a:t>RESPOND: If this task shows the lesson misconception—assuming a longer box section contains more observations—connect the ordered source data to each boundary of the existing box plot.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9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2.4, slide 28 | REVEAL</a:t>
            </a:r>
          </a:p>
          <a:p xmlns:a="http://schemas.openxmlformats.org/drawingml/2006/main">
            <a:pPr>
              <a:buNone/>
            </a:pPr>
            <a:r>
              <a:rPr lang="en-US" sz="1100"/>
              <a:t>Focus on the existing task: What do you notice about the “whiskers”?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locate minimum, quartiles, median and maximum. Ask which feature of their work supports the claim.</a:t>
            </a:r>
          </a:p>
          <a:p xmlns:a="http://schemas.openxmlformats.org/drawingml/2006/main">
            <a:pPr>
              <a:buNone/>
            </a:pPr>
            <a:r>
              <a:rPr lang="en-US" sz="1100"/>
              <a:t>RESPOND: If this task shows the lesson misconception—assuming a longer box section contains more observations—connect the ordered source data to each boundary of the existing box plot.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9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2.4, slide 36 | PRIOR_INSERT</a:t>
            </a:r>
          </a:p>
          <a:p xmlns:a="http://schemas.openxmlformats.org/drawingml/2006/main">
            <a:pPr>
              <a:buNone/>
            </a:pPr>
            <a:r>
              <a:rPr lang="en-US" sz="1100"/>
              <a:t>Focus on the existing task: LESSON 2.4 / CHECK YOUR WORK Pause. Check. Improve. Listen to understand. Ask for evidence. Make room for every voice. CHECK A mistake…</a:t>
            </a:r>
          </a:p>
          <a:p xmlns:a="http://schemas.openxmlformats.org/drawingml/2006/main">
            <a:pPr>
              <a:buNone/>
            </a:pPr>
            <a:r>
              <a:rPr lang="en-US" sz="1100"/>
              <a:t>CONNECT (T1/4): Ask students to restate the displayed goal or key idea and connect it to earlier work. Relevant lesson evidence: locate minimum, quartiles, median and maximum; compare center and spread in context.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9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2.4, slide 37 | REVEAL</a:t>
            </a:r>
          </a:p>
          <a:p xmlns:a="http://schemas.openxmlformats.org/drawingml/2006/main">
            <a:pPr>
              <a:buNone/>
            </a:pPr>
            <a:r>
              <a:rPr lang="en-US" sz="1100"/>
              <a:t>Focus on the existing task: What does each value represent in the data set?</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compare center and spread in context. Ask which feature of their work supports the claim.</a:t>
            </a:r>
          </a:p>
          <a:p xmlns:a="http://schemas.openxmlformats.org/drawingml/2006/main">
            <a:pPr>
              <a:buNone/>
            </a:pPr>
            <a:r>
              <a:rPr lang="en-US" sz="1100"/>
              <a:t>RESPOND: If this task shows the lesson misconception—assuming a longer box section contains more observations—connect the ordered source data to each boundary of the existing box plot.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9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2.4, slide 38 | REVEAL</a:t>
            </a:r>
          </a:p>
          <a:p xmlns:a="http://schemas.openxmlformats.org/drawingml/2006/main">
            <a:pPr>
              <a:buNone/>
            </a:pPr>
            <a:r>
              <a:rPr lang="en-US" sz="1100"/>
              <a:t>Focus on the existing task: How can you use a data display to compare the two data sets?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compare center and spread in context. Ask which feature of their work supports the claim.</a:t>
            </a:r>
          </a:p>
          <a:p xmlns:a="http://schemas.openxmlformats.org/drawingml/2006/main">
            <a:pPr>
              <a:buNone/>
            </a:pPr>
            <a:r>
              <a:rPr lang="en-US" sz="1100"/>
              <a:t>RESPOND: If this task shows the lesson misconception—assuming a longer box section contains more observations—connect the ordered source data to each boundary of the existing box plot.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9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2.4, slide 39 | REVEAL</a:t>
            </a:r>
          </a:p>
          <a:p xmlns:a="http://schemas.openxmlformats.org/drawingml/2006/main">
            <a:pPr>
              <a:buNone/>
            </a:pPr>
            <a:r>
              <a:rPr lang="en-US" sz="1100"/>
              <a:t>Focus on the existing task: How do the times of the slowest runners from each grade compare?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compare center and spread in context. Ask which feature of their work supports the claim.</a:t>
            </a:r>
          </a:p>
          <a:p xmlns:a="http://schemas.openxmlformats.org/drawingml/2006/main">
            <a:pPr>
              <a:buNone/>
            </a:pPr>
            <a:r>
              <a:rPr lang="en-US" sz="1100"/>
              <a:t>RESPOND: If this task shows the lesson misconception—assuming a longer box section contains more observations—connect the ordered source data to each boundary of the existing box plot.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9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2.4, slide 43 | PRIOR_INSERT</a:t>
            </a:r>
          </a:p>
          <a:p xmlns:a="http://schemas.openxmlformats.org/drawingml/2006/main">
            <a:pPr>
              <a:buNone/>
            </a:pPr>
            <a:r>
              <a:rPr lang="en-US" sz="1100"/>
              <a:t>Focus on the existing task: LESSON 2.4 / REFLECT ON YOUR LEARNING Show your progress Listen to understand. Ask for evidence. Make room for every voice. 1 SHOW…</a:t>
            </a:r>
          </a:p>
          <a:p xmlns:a="http://schemas.openxmlformats.org/drawingml/2006/main">
            <a:pPr>
              <a:buNone/>
            </a:pPr>
            <a:r>
              <a:rPr lang="en-US" sz="1100"/>
              <a:t>CONNECT (T1/4): Ask students to restate the displayed goal or key idea and connect it to earlier work. Relevant lesson evidence: locate minimum, quartiles, median and maximum; compare center and spread in context.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hoto">
  <p:cSld name="2_Title Slide Photo">
    <p:spTree>
      <p:nvGrpSpPr>
        <p:cNvPr id="15" name="Shape 15"/>
        <p:cNvGrpSpPr/>
        <p:nvPr/>
      </p:nvGrpSpPr>
      <p:grpSpPr>
        <a:xfrm>
          <a:off x="0" y="0"/>
          <a:ext cx="0" cy="0"/>
          <a:chOff x="0" y="0"/>
          <a:chExt cx="0" cy="0"/>
        </a:xfrm>
      </p:grpSpPr>
    </p:spTree>
  </p:cSld>
  <p:clrMapOvr>
    <a:masterClrMapping/>
  </p:clrMapOvr>
  <p:extLst>
    <p:ext uri="{DCECCB84-F9BA-43D5-87BE-67443E8EF086}">
      <p15:sldGuideLst>
        <p15:guide id="1" orient="horz" pos="9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column">
  <p:cSld name="Content 1-column">
    <p:spTree>
      <p:nvGrpSpPr>
        <p:cNvPr id="16" name="Shape 16"/>
        <p:cNvGrpSpPr/>
        <p:nvPr/>
      </p:nvGrpSpPr>
      <p:grpSpPr>
        <a:xfrm>
          <a:off x="0" y="0"/>
          <a:ext cx="0" cy="0"/>
          <a:chOff x="0" y="0"/>
          <a:chExt cx="0" cy="0"/>
        </a:xfrm>
      </p:grpSpPr>
      <p:sp>
        <p:nvSpPr>
          <p:cNvPr id="17" name="Google Shape;17;p3"/>
          <p:cNvSpPr txBox="1"/>
          <p:nvPr>
            <p:ph idx="12" type="sldNum"/>
          </p:nvPr>
        </p:nvSpPr>
        <p:spPr>
          <a:xfrm>
            <a:off x="10436045" y="6528815"/>
            <a:ext cx="1278151" cy="2286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8" name="Google Shape;18;p3"/>
          <p:cNvSpPr txBox="1"/>
          <p:nvPr/>
        </p:nvSpPr>
        <p:spPr>
          <a:xfrm>
            <a:off x="490549" y="6528816"/>
            <a:ext cx="207264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9" name="Google Shape;19;p3"/>
          <p:cNvSpPr txBox="1"/>
          <p:nvPr>
            <p:ph idx="11" type="ftr"/>
          </p:nvPr>
        </p:nvSpPr>
        <p:spPr>
          <a:xfrm>
            <a:off x="1402828" y="6528816"/>
            <a:ext cx="7315200" cy="2286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orient="horz" pos="3772">
          <p15:clr>
            <a:srgbClr val="FBAE40"/>
          </p15:clr>
        </p15:guide>
        <p15:guide id="2" orient="horz" pos="804">
          <p15:clr>
            <a:srgbClr val="FBAE40"/>
          </p15:clr>
        </p15:guide>
        <p15:guide id="3" pos="384">
          <p15:clr>
            <a:srgbClr val="FBAE40"/>
          </p15:clr>
        </p15:guide>
        <p15:guide id="4" pos="3940">
          <p15:clr>
            <a:srgbClr val="FBAE40"/>
          </p15:clr>
        </p15:guide>
        <p15:guide id="5" pos="40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6" name="Shape 2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9" name="Google Shape;29;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0" name="Google Shape;30;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1" name="Google Shape;31;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2" name="Google Shape;32;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5" name="Google Shape;35;p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36" name="Google Shape;36;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7" name="Google Shape;37;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8" name="Google Shape;38;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1" name="Google Shape;41;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2" name="Google Shape;42;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3" name="Google Shape;43;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4" name="Google Shape;44;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5" name="Google Shape;45;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9"/>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8" name="Google Shape;48;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9" name="Google Shape;49;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0" name="Google Shape;50;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1" name="Google Shape;51;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2" name="Google Shape;52;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3" name="Google Shape;53;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4" name="Google Shape;54;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1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7" name="Google Shape;57;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8" name="Google Shape;58;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9" name="Google Shape;59;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2" name="Google Shape;62;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3" name="Google Shape;63;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6" name="Google Shape;66;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7" name="Google Shape;67;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8" name="Google Shape;68;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9" name="Google Shape;69;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0" name="Google Shape;70;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3" name="Google Shape;73;p13"/>
          <p:cNvSpPr/>
          <p:nvPr>
            <p:ph idx="2" type="pic"/>
          </p:nvPr>
        </p:nvSpPr>
        <p:spPr>
          <a:xfrm>
            <a:off x="5183188" y="987425"/>
            <a:ext cx="6172200" cy="4873625"/>
          </a:xfrm>
          <a:prstGeom prst="rect">
            <a:avLst/>
          </a:prstGeom>
          <a:noFill/>
          <a:ln>
            <a:noFill/>
          </a:ln>
        </p:spPr>
      </p:sp>
      <p:sp>
        <p:nvSpPr>
          <p:cNvPr id="74" name="Google Shape;74;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75" name="Google Shape;75;p1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6" name="Google Shape;76;p1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7" name="Google Shape;77;p1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0" name="Google Shape;80;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1" name="Google Shape;81;p1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2" name="Google Shape;82;p1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3" name="Google Shape;83;p1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15"/>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7" name="Google Shape;87;p1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8" name="Google Shape;88;p1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9" name="Google Shape;89;p1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1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8" name="Google Shape;98;p1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9" name="Google Shape;99;p1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00" name="Shape 100"/>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1" name="Shape 101"/>
        <p:cNvGrpSpPr/>
        <p:nvPr/>
      </p:nvGrpSpPr>
      <p:grpSpPr>
        <a:xfrm>
          <a:off x="0" y="0"/>
          <a:ext cx="0" cy="0"/>
          <a:chOff x="0" y="0"/>
          <a:chExt cx="0" cy="0"/>
        </a:xfrm>
      </p:grpSpPr>
      <p:sp>
        <p:nvSpPr>
          <p:cNvPr id="102" name="Google Shape;102;p1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3" name="Google Shape;103;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4" name="Google Shape;104;p1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5" name="Google Shape;105;p1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6" name="Google Shape;106;p1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7" name="Shape 107"/>
        <p:cNvGrpSpPr/>
        <p:nvPr/>
      </p:nvGrpSpPr>
      <p:grpSpPr>
        <a:xfrm>
          <a:off x="0" y="0"/>
          <a:ext cx="0" cy="0"/>
          <a:chOff x="0" y="0"/>
          <a:chExt cx="0" cy="0"/>
        </a:xfrm>
      </p:grpSpPr>
      <p:sp>
        <p:nvSpPr>
          <p:cNvPr id="108" name="Google Shape;108;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9" name="Google Shape;109;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10" name="Google Shape;110;p2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1" name="Google Shape;111;p2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2" name="Google Shape;112;p2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3" name="Shape 113"/>
        <p:cNvGrpSpPr/>
        <p:nvPr/>
      </p:nvGrpSpPr>
      <p:grpSpPr>
        <a:xfrm>
          <a:off x="0" y="0"/>
          <a:ext cx="0" cy="0"/>
          <a:chOff x="0" y="0"/>
          <a:chExt cx="0" cy="0"/>
        </a:xfrm>
      </p:grpSpPr>
      <p:sp>
        <p:nvSpPr>
          <p:cNvPr id="114" name="Google Shape;114;p2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5" name="Google Shape;115;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6" name="Google Shape;116;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7" name="Google Shape;117;p2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8" name="Google Shape;118;p2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9" name="Google Shape;119;p2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0" name="Shape 120"/>
        <p:cNvGrpSpPr/>
        <p:nvPr/>
      </p:nvGrpSpPr>
      <p:grpSpPr>
        <a:xfrm>
          <a:off x="0" y="0"/>
          <a:ext cx="0" cy="0"/>
          <a:chOff x="0" y="0"/>
          <a:chExt cx="0" cy="0"/>
        </a:xfrm>
      </p:grpSpPr>
      <p:sp>
        <p:nvSpPr>
          <p:cNvPr id="121" name="Google Shape;121;p22"/>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2" name="Google Shape;122;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3" name="Google Shape;123;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4" name="Google Shape;124;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5" name="Google Shape;125;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6" name="Google Shape;126;p2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7" name="Google Shape;127;p2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8" name="Google Shape;128;p2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9" name="Shape 129"/>
        <p:cNvGrpSpPr/>
        <p:nvPr/>
      </p:nvGrpSpPr>
      <p:grpSpPr>
        <a:xfrm>
          <a:off x="0" y="0"/>
          <a:ext cx="0" cy="0"/>
          <a:chOff x="0" y="0"/>
          <a:chExt cx="0" cy="0"/>
        </a:xfrm>
      </p:grpSpPr>
      <p:sp>
        <p:nvSpPr>
          <p:cNvPr id="130" name="Google Shape;130;p23"/>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1" name="Google Shape;131;p2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2" name="Google Shape;132;p2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3" name="Google Shape;133;p2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4" name="Shape 134"/>
        <p:cNvGrpSpPr/>
        <p:nvPr/>
      </p:nvGrpSpPr>
      <p:grpSpPr>
        <a:xfrm>
          <a:off x="0" y="0"/>
          <a:ext cx="0" cy="0"/>
          <a:chOff x="0" y="0"/>
          <a:chExt cx="0" cy="0"/>
        </a:xfrm>
      </p:grpSpPr>
      <p:sp>
        <p:nvSpPr>
          <p:cNvPr id="135" name="Google Shape;135;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6" name="Google Shape;136;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7" name="Google Shape;137;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38" name="Google Shape;138;p2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9" name="Google Shape;139;p2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0" name="Google Shape;140;p2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1" name="Shape 141"/>
        <p:cNvGrpSpPr/>
        <p:nvPr/>
      </p:nvGrpSpPr>
      <p:grpSpPr>
        <a:xfrm>
          <a:off x="0" y="0"/>
          <a:ext cx="0" cy="0"/>
          <a:chOff x="0" y="0"/>
          <a:chExt cx="0" cy="0"/>
        </a:xfrm>
      </p:grpSpPr>
      <p:sp>
        <p:nvSpPr>
          <p:cNvPr id="142" name="Google Shape;142;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3" name="Google Shape;143;p25"/>
          <p:cNvSpPr/>
          <p:nvPr>
            <p:ph idx="2" type="pic"/>
          </p:nvPr>
        </p:nvSpPr>
        <p:spPr>
          <a:xfrm>
            <a:off x="5183188" y="987425"/>
            <a:ext cx="6172200" cy="4873625"/>
          </a:xfrm>
          <a:prstGeom prst="rect">
            <a:avLst/>
          </a:prstGeom>
          <a:noFill/>
          <a:ln>
            <a:noFill/>
          </a:ln>
        </p:spPr>
      </p:sp>
      <p:sp>
        <p:nvSpPr>
          <p:cNvPr id="144" name="Google Shape;144;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45" name="Google Shape;145;p2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6" name="Google Shape;146;p2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7" name="Google Shape;147;p2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8" name="Shape 148"/>
        <p:cNvGrpSpPr/>
        <p:nvPr/>
      </p:nvGrpSpPr>
      <p:grpSpPr>
        <a:xfrm>
          <a:off x="0" y="0"/>
          <a:ext cx="0" cy="0"/>
          <a:chOff x="0" y="0"/>
          <a:chExt cx="0" cy="0"/>
        </a:xfrm>
      </p:grpSpPr>
      <p:sp>
        <p:nvSpPr>
          <p:cNvPr id="149" name="Google Shape;149;p2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0" name="Google Shape;150;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1" name="Google Shape;151;p2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2" name="Google Shape;152;p2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3" name="Google Shape;153;p2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4" name="Shape 154"/>
        <p:cNvGrpSpPr/>
        <p:nvPr/>
      </p:nvGrpSpPr>
      <p:grpSpPr>
        <a:xfrm>
          <a:off x="0" y="0"/>
          <a:ext cx="0" cy="0"/>
          <a:chOff x="0" y="0"/>
          <a:chExt cx="0" cy="0"/>
        </a:xfrm>
      </p:grpSpPr>
      <p:sp>
        <p:nvSpPr>
          <p:cNvPr id="155" name="Google Shape;155;p27"/>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6" name="Google Shape;156;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7" name="Google Shape;157;p2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8" name="Google Shape;158;p2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9" name="Google Shape;159;p2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5" name="Shape 165"/>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6" name="Shape 166"/>
        <p:cNvGrpSpPr/>
        <p:nvPr/>
      </p:nvGrpSpPr>
      <p:grpSpPr>
        <a:xfrm>
          <a:off x="0" y="0"/>
          <a:ext cx="0" cy="0"/>
          <a:chOff x="0" y="0"/>
          <a:chExt cx="0" cy="0"/>
        </a:xfrm>
      </p:grpSpPr>
      <p:sp>
        <p:nvSpPr>
          <p:cNvPr id="167" name="Google Shape;167;p3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68" name="Google Shape;168;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9" name="Google Shape;169;p3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0" name="Google Shape;170;p3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1" name="Google Shape;171;p3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2" name="Shape 172"/>
        <p:cNvGrpSpPr/>
        <p:nvPr/>
      </p:nvGrpSpPr>
      <p:grpSpPr>
        <a:xfrm>
          <a:off x="0" y="0"/>
          <a:ext cx="0" cy="0"/>
          <a:chOff x="0" y="0"/>
          <a:chExt cx="0" cy="0"/>
        </a:xfrm>
      </p:grpSpPr>
      <p:sp>
        <p:nvSpPr>
          <p:cNvPr id="173" name="Google Shape;173;p3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4" name="Google Shape;174;p3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75" name="Google Shape;175;p3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6" name="Google Shape;176;p3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7" name="Google Shape;177;p3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8" name="Shape 178"/>
        <p:cNvGrpSpPr/>
        <p:nvPr/>
      </p:nvGrpSpPr>
      <p:grpSpPr>
        <a:xfrm>
          <a:off x="0" y="0"/>
          <a:ext cx="0" cy="0"/>
          <a:chOff x="0" y="0"/>
          <a:chExt cx="0" cy="0"/>
        </a:xfrm>
      </p:grpSpPr>
      <p:sp>
        <p:nvSpPr>
          <p:cNvPr id="179" name="Google Shape;179;p32"/>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0" name="Google Shape;180;p3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1" name="Google Shape;181;p3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2" name="Google Shape;182;p3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3" name="Google Shape;183;p3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4" name="Google Shape;184;p3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85" name="Shape 185"/>
        <p:cNvGrpSpPr/>
        <p:nvPr/>
      </p:nvGrpSpPr>
      <p:grpSpPr>
        <a:xfrm>
          <a:off x="0" y="0"/>
          <a:ext cx="0" cy="0"/>
          <a:chOff x="0" y="0"/>
          <a:chExt cx="0" cy="0"/>
        </a:xfrm>
      </p:grpSpPr>
      <p:sp>
        <p:nvSpPr>
          <p:cNvPr id="186" name="Google Shape;186;p33"/>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7" name="Google Shape;187;p3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88" name="Google Shape;188;p3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9" name="Google Shape;189;p3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90" name="Google Shape;190;p3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1" name="Google Shape;191;p3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2" name="Google Shape;192;p3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3" name="Google Shape;193;p3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4" name="Shape 194"/>
        <p:cNvGrpSpPr/>
        <p:nvPr/>
      </p:nvGrpSpPr>
      <p:grpSpPr>
        <a:xfrm>
          <a:off x="0" y="0"/>
          <a:ext cx="0" cy="0"/>
          <a:chOff x="0" y="0"/>
          <a:chExt cx="0" cy="0"/>
        </a:xfrm>
      </p:grpSpPr>
      <p:sp>
        <p:nvSpPr>
          <p:cNvPr id="195" name="Google Shape;195;p3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6" name="Google Shape;196;p3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7" name="Google Shape;197;p3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8" name="Google Shape;198;p3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9" name="Shape 199"/>
        <p:cNvGrpSpPr/>
        <p:nvPr/>
      </p:nvGrpSpPr>
      <p:grpSpPr>
        <a:xfrm>
          <a:off x="0" y="0"/>
          <a:ext cx="0" cy="0"/>
          <a:chOff x="0" y="0"/>
          <a:chExt cx="0" cy="0"/>
        </a:xfrm>
      </p:grpSpPr>
      <p:sp>
        <p:nvSpPr>
          <p:cNvPr id="200" name="Google Shape;200;p3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1" name="Google Shape;201;p3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2" name="Google Shape;202;p3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3" name="Shape 203"/>
        <p:cNvGrpSpPr/>
        <p:nvPr/>
      </p:nvGrpSpPr>
      <p:grpSpPr>
        <a:xfrm>
          <a:off x="0" y="0"/>
          <a:ext cx="0" cy="0"/>
          <a:chOff x="0" y="0"/>
          <a:chExt cx="0" cy="0"/>
        </a:xfrm>
      </p:grpSpPr>
      <p:sp>
        <p:nvSpPr>
          <p:cNvPr id="204" name="Google Shape;204;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5" name="Google Shape;205;p3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06" name="Google Shape;206;p3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07" name="Google Shape;207;p3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8" name="Google Shape;208;p3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9" name="Google Shape;209;p3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0" name="Shape 210"/>
        <p:cNvGrpSpPr/>
        <p:nvPr/>
      </p:nvGrpSpPr>
      <p:grpSpPr>
        <a:xfrm>
          <a:off x="0" y="0"/>
          <a:ext cx="0" cy="0"/>
          <a:chOff x="0" y="0"/>
          <a:chExt cx="0" cy="0"/>
        </a:xfrm>
      </p:grpSpPr>
      <p:sp>
        <p:nvSpPr>
          <p:cNvPr id="211" name="Google Shape;211;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2" name="Google Shape;212;p37"/>
          <p:cNvSpPr/>
          <p:nvPr>
            <p:ph idx="2" type="pic"/>
          </p:nvPr>
        </p:nvSpPr>
        <p:spPr>
          <a:xfrm>
            <a:off x="5183188" y="987425"/>
            <a:ext cx="6172200" cy="4873625"/>
          </a:xfrm>
          <a:prstGeom prst="rect">
            <a:avLst/>
          </a:prstGeom>
          <a:noFill/>
          <a:ln>
            <a:noFill/>
          </a:ln>
        </p:spPr>
      </p:sp>
      <p:sp>
        <p:nvSpPr>
          <p:cNvPr id="213" name="Google Shape;213;p3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14" name="Google Shape;214;p3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5" name="Google Shape;215;p3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6" name="Google Shape;216;p3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7" name="Shape 217"/>
        <p:cNvGrpSpPr/>
        <p:nvPr/>
      </p:nvGrpSpPr>
      <p:grpSpPr>
        <a:xfrm>
          <a:off x="0" y="0"/>
          <a:ext cx="0" cy="0"/>
          <a:chOff x="0" y="0"/>
          <a:chExt cx="0" cy="0"/>
        </a:xfrm>
      </p:grpSpPr>
      <p:sp>
        <p:nvSpPr>
          <p:cNvPr id="218" name="Google Shape;218;p3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9" name="Google Shape;219;p3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0" name="Google Shape;220;p3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1" name="Google Shape;221;p3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2" name="Google Shape;222;p3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3" name="Shape 223"/>
        <p:cNvGrpSpPr/>
        <p:nvPr/>
      </p:nvGrpSpPr>
      <p:grpSpPr>
        <a:xfrm>
          <a:off x="0" y="0"/>
          <a:ext cx="0" cy="0"/>
          <a:chOff x="0" y="0"/>
          <a:chExt cx="0" cy="0"/>
        </a:xfrm>
      </p:grpSpPr>
      <p:sp>
        <p:nvSpPr>
          <p:cNvPr id="224" name="Google Shape;224;p39"/>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5" name="Google Shape;225;p3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6" name="Google Shape;226;p3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7" name="Google Shape;227;p3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8" name="Google Shape;228;p3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theme" Target="../theme/theme3.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2.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0" r="0" t="0"/>
          <a:stretch/>
        </p:blipFill>
        <p:spPr>
          <a:xfrm>
            <a:off x="2141884" y="0"/>
            <a:ext cx="10030237" cy="1640714"/>
          </a:xfrm>
          <a:prstGeom prst="rect">
            <a:avLst/>
          </a:prstGeom>
          <a:noFill/>
          <a:ln>
            <a:noFill/>
          </a:ln>
        </p:spPr>
      </p:pic>
      <p:sp>
        <p:nvSpPr>
          <p:cNvPr id="11" name="Google Shape;11;p1"/>
          <p:cNvSpPr txBox="1"/>
          <p:nvPr/>
        </p:nvSpPr>
        <p:spPr>
          <a:xfrm>
            <a:off x="1402828" y="6528816"/>
            <a:ext cx="627096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Copyright © McGraw Hill</a:t>
            </a:r>
            <a:endParaRPr b="0" i="0" sz="1400" u="none" cap="none" strike="noStrike">
              <a:solidFill>
                <a:srgbClr val="000000"/>
              </a:solidFill>
              <a:latin typeface="Arial"/>
              <a:ea typeface="Arial"/>
              <a:cs typeface="Arial"/>
              <a:sym typeface="Arial"/>
            </a:endParaRPr>
          </a:p>
        </p:txBody>
      </p:sp>
      <p:pic>
        <p:nvPicPr>
          <p:cNvPr id="12" name="Google Shape;12;p1"/>
          <p:cNvPicPr preferRelativeResize="0"/>
          <p:nvPr/>
        </p:nvPicPr>
        <p:blipFill rotWithShape="1">
          <a:blip r:embed="rId2">
            <a:alphaModFix/>
          </a:blip>
          <a:srcRect b="0" l="0" r="0" t="0"/>
          <a:stretch/>
        </p:blipFill>
        <p:spPr>
          <a:xfrm>
            <a:off x="1492908" y="5619163"/>
            <a:ext cx="654674" cy="654674"/>
          </a:xfrm>
          <a:prstGeom prst="rect">
            <a:avLst/>
          </a:prstGeom>
          <a:noFill/>
          <a:ln>
            <a:noFill/>
          </a:ln>
        </p:spPr>
      </p:pic>
      <p:cxnSp>
        <p:nvCxnSpPr>
          <p:cNvPr id="13" name="Google Shape;13;p1"/>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4" name="Google Shape;14;p1"/>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59">
          <p15:clr>
            <a:srgbClr val="F26B43"/>
          </p15:clr>
        </p15:guide>
        <p15:guide id="2" orient="horz" pos="360">
          <p15:clr>
            <a:srgbClr val="F26B43"/>
          </p15:clr>
        </p15:guide>
        <p15:guide id="3" pos="3840">
          <p15:clr>
            <a:srgbClr val="F26B43"/>
          </p15:clr>
        </p15:guide>
        <p15:guide id="4" pos="384">
          <p15:clr>
            <a:srgbClr val="F26B43"/>
          </p15:clr>
        </p15:guide>
        <p15:guide id="5" pos="7296">
          <p15:clr>
            <a:srgbClr val="F26B43"/>
          </p15:clr>
        </p15:guide>
        <p15:guide id="6" orient="horz" pos="4211">
          <p15:clr>
            <a:srgbClr val="F26B43"/>
          </p15:clr>
        </p15:guide>
        <p15:guide id="7" pos="1120">
          <p15:clr>
            <a:srgbClr val="F26B43"/>
          </p15:clr>
        </p15:guide>
        <p15:guide id="8" pos="9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 name="Shape 20"/>
        <p:cNvGrpSpPr/>
        <p:nvPr/>
      </p:nvGrpSpPr>
      <p:grpSpPr>
        <a:xfrm>
          <a:off x="0" y="0"/>
          <a:ext cx="0" cy="0"/>
          <a:chOff x="0" y="0"/>
          <a:chExt cx="0" cy="0"/>
        </a:xfrm>
      </p:grpSpPr>
      <p:cxnSp>
        <p:nvCxnSpPr>
          <p:cNvPr id="21" name="Google Shape;21;p4"/>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22" name="Google Shape;22;p4"/>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23" name="Google Shape;23;p4"/>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Represent and Describe Data in Box Plot​</a:t>
            </a:r>
            <a:endParaRPr b="0" i="0" sz="1400" u="none" cap="none" strike="noStrike">
              <a:solidFill>
                <a:srgbClr val="000000"/>
              </a:solidFill>
              <a:latin typeface="Arial"/>
              <a:ea typeface="Arial"/>
              <a:cs typeface="Arial"/>
              <a:sym typeface="Arial"/>
            </a:endParaRPr>
          </a:p>
        </p:txBody>
      </p:sp>
      <p:sp>
        <p:nvSpPr>
          <p:cNvPr id="24" name="Google Shape;24;p4"/>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25" name="Google Shape;25;p4"/>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cxnSp>
        <p:nvCxnSpPr>
          <p:cNvPr id="91" name="Google Shape;91;p16"/>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92" name="Google Shape;92;p16"/>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93" name="Google Shape;93;p16"/>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Represent and Describe Data in Box Plot​</a:t>
            </a:r>
            <a:endParaRPr b="0" i="0" sz="1400" u="none" cap="none" strike="noStrike">
              <a:solidFill>
                <a:srgbClr val="000000"/>
              </a:solidFill>
              <a:latin typeface="Arial"/>
              <a:ea typeface="Arial"/>
              <a:cs typeface="Arial"/>
              <a:sym typeface="Arial"/>
            </a:endParaRPr>
          </a:p>
        </p:txBody>
      </p:sp>
      <p:sp>
        <p:nvSpPr>
          <p:cNvPr id="94" name="Google Shape;94;p16"/>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95" name="Google Shape;95;p16"/>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0" name="Shape 160"/>
        <p:cNvGrpSpPr/>
        <p:nvPr/>
      </p:nvGrpSpPr>
      <p:grpSpPr>
        <a:xfrm>
          <a:off x="0" y="0"/>
          <a:ext cx="0" cy="0"/>
          <a:chOff x="0" y="0"/>
          <a:chExt cx="0" cy="0"/>
        </a:xfrm>
      </p:grpSpPr>
      <p:cxnSp>
        <p:nvCxnSpPr>
          <p:cNvPr id="161" name="Google Shape;161;p28"/>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62" name="Google Shape;162;p28"/>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63" name="Google Shape;163;p28"/>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164" name="Google Shape;164;p28"/>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notesSlide" Target="../notesSlides/notesSlide8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notesSlide" Target="../notesSlides/notesSlide8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notesSlide" Target="../notesSlides/notesSlide8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8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8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8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6.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11.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 Id="rId3"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 Id="rId3" Type="http://schemas.openxmlformats.org/officeDocument/2006/relationships/image" Target="../media/image2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 Id="rId3"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 Id="rId3" Type="http://schemas.openxmlformats.org/officeDocument/2006/relationships/image" Target="../media/image25.png"/><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 Id="rId3" Type="http://schemas.openxmlformats.org/officeDocument/2006/relationships/image" Target="../media/image3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1.png"/><Relationship Id="rId3" Type="http://schemas.openxmlformats.org/officeDocument/2006/relationships/notesSlide" Target="../notesSlides/notesSlide9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23.png"/><Relationship Id="rId3" Type="http://schemas.openxmlformats.org/officeDocument/2006/relationships/notesSlide" Target="../notesSlides/notesSlide9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png"/><Relationship Id="rId3" Type="http://schemas.openxmlformats.org/officeDocument/2006/relationships/image" Target="../media/image27.png"/><Relationship Id="rId4" Type="http://schemas.openxmlformats.org/officeDocument/2006/relationships/notesSlide" Target="../notesSlides/notesSlide9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35.png"/><Relationship Id="rId4" Type="http://schemas.openxmlformats.org/officeDocument/2006/relationships/image" Target="../media/image33.png"/><Relationship Id="rId5" Type="http://schemas.openxmlformats.org/officeDocument/2006/relationships/image" Target="../media/image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 Id="rId3" Type="http://schemas.openxmlformats.org/officeDocument/2006/relationships/image" Target="../media/image3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 Id="rId3" Type="http://schemas.openxmlformats.org/officeDocument/2006/relationships/image" Target="../media/image3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4.png"/><Relationship Id="rId3" Type="http://schemas.openxmlformats.org/officeDocument/2006/relationships/notesSlide" Target="../notesSlides/notesSlide9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 Id="rId3" Type="http://schemas.openxmlformats.org/officeDocument/2006/relationships/image" Target="../media/image2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 Id="rId3" Type="http://schemas.openxmlformats.org/officeDocument/2006/relationships/image" Target="../media/image3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9"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Warm-Up</a:t>
            </a:r>
          </a:p>
        </p:txBody>
      </p:sp>
      <p:sp>
        <p:nvSpPr>
          <p:cNvPr id="260" name="TextBox 2"/>
          <p:cNvSpPr txBox="1"/>
          <p:nvPr/>
        </p:nvSpPr>
        <p:spPr>
          <a:xfrm>
            <a:off x="521207" y="877824"/>
            <a:ext cx="7680960" cy="274320"/>
          </a:xfrm>
          <a:prstGeom prst="rect">
            <a:avLst/>
          </a:prstGeom>
          <a:noFill/>
        </p:spPr>
        <p:txBody>
          <a:bodyPr wrap="square" lIns="0" tIns="0" rIns="0" bIns="0" anchor="t">
            <a:spAutoFit/>
          </a:bodyPr>
          <a:lstStyle/>
          <a:p>
            <a:pPr algn="l"/>
            <a:r>
              <a:rPr sz="1400" b="0">
                <a:solidFill>
                  <a:srgbClr val="5D6872"/>
                </a:solidFill>
                <a:latin typeface="Arial"/>
              </a:rPr>
              <a:t>Lesson 2-4 · Represent and Describe Data in a Box Plot   |   Warm-Up · about 4 minutes</a:t>
            </a:r>
          </a:p>
        </p:txBody>
      </p:sp>
      <p:sp>
        <p:nvSpPr>
          <p:cNvPr id="261"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WARM-UP</a:t>
            </a:r>
            <a:r>
              <a:rPr lang="en-US" sz="1150" b="1" dirty="0">
                <a:solidFill>
                  <a:srgbClr val="2D3A40"/>
                </a:solidFill>
                <a:latin typeface="Arial"/>
              </a:rPr>
              <a:t xml:space="preserve">  ·  THINK • TRY • CHECK</a:t>
            </a:r>
          </a:p>
        </p:txBody>
      </p:sp>
      <p:sp>
        <p:nvSpPr>
          <p:cNvPr id="262" name="TextBox 5"/>
          <p:cNvSpPr txBox="1"/>
          <p:nvPr/>
        </p:nvSpPr>
        <p:spPr>
          <a:xfrm>
            <a:off x="521207" y="1207008"/>
            <a:ext cx="10881360" cy="438912"/>
          </a:xfrm>
          <a:prstGeom prst="rect">
            <a:avLst/>
          </a:prstGeom>
          <a:noFill/>
        </p:spPr>
        <p:txBody>
          <a:bodyPr wrap="square" lIns="0" tIns="0" rIns="0" bIns="0" anchor="t">
            <a:spAutoFit/>
          </a:bodyPr>
          <a:lstStyle/>
          <a:p>
            <a:pPr algn="l"/>
            <a:r>
              <a:rPr sz="1600" b="0">
                <a:solidFill>
                  <a:srgbClr val="5D6872"/>
                </a:solidFill>
                <a:latin typeface="Arial"/>
              </a:rPr>
              <a:t>Try each on your own. Mark an unsure answer; explain and revise when we check.</a:t>
            </a:r>
          </a:p>
        </p:txBody>
      </p:sp>
      <p:sp>
        <p:nvSpPr>
          <p:cNvPr id="263"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266" name="TextBox 9"/>
          <p:cNvSpPr txBox="1"/>
          <p:nvPr/>
        </p:nvSpPr>
        <p:spPr>
          <a:xfrm>
            <a:off x="667512" y="2212848"/>
            <a:ext cx="5111496" cy="1051560"/>
          </a:xfrm>
          <a:prstGeom prst="rect">
            <a:avLst/>
          </a:prstGeom>
          <a:noFill/>
        </p:spPr>
        <p:txBody>
          <a:bodyPr wrap="square" lIns="0" tIns="0" rIns="0" bIns="0" anchor="t">
            <a:spAutoFit/>
          </a:bodyPr>
          <a:lstStyle/>
          <a:p>
            <a:pPr algn="l"/>
            <a:r>
              <a:rPr sz="1800" b="1">
                <a:solidFill>
                  <a:srgbClr val="23282D"/>
                </a:solidFill>
                <a:latin typeface="Arial"/>
              </a:rPr>
              <a:t>Median of 3, 5, 8, 10, 12, 14 = ______</a:t>
            </a:r>
          </a:p>
        </p:txBody>
      </p:sp>
      <p:sp>
        <p:nvSpPr>
          <p:cNvPr id="267"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270" name="TextBox 13"/>
          <p:cNvSpPr txBox="1"/>
          <p:nvPr/>
        </p:nvSpPr>
        <p:spPr>
          <a:xfrm>
            <a:off x="6345936" y="2212848"/>
            <a:ext cx="5102352" cy="1051560"/>
          </a:xfrm>
          <a:prstGeom prst="rect">
            <a:avLst/>
          </a:prstGeom>
          <a:noFill/>
        </p:spPr>
        <p:txBody>
          <a:bodyPr wrap="square" lIns="0" tIns="0" rIns="0" bIns="0" anchor="t">
            <a:spAutoFit/>
          </a:bodyPr>
          <a:lstStyle/>
          <a:p>
            <a:pPr algn="l"/>
            <a:r>
              <a:rPr sz="1800" b="1">
                <a:solidFill>
                  <a:srgbClr val="23282D"/>
                </a:solidFill>
                <a:latin typeface="Arial"/>
              </a:rPr>
              <a:t>Ordered: 2, 4, 6, 8, 10, 12. The lower half is ______</a:t>
            </a:r>
          </a:p>
        </p:txBody>
      </p:sp>
      <p:sp>
        <p:nvSpPr>
          <p:cNvPr id="271"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274" name="TextBox 17"/>
          <p:cNvSpPr txBox="1"/>
          <p:nvPr/>
        </p:nvSpPr>
        <p:spPr>
          <a:xfrm>
            <a:off x="667512" y="4023360"/>
            <a:ext cx="5111496" cy="1143000"/>
          </a:xfrm>
          <a:prstGeom prst="rect">
            <a:avLst/>
          </a:prstGeom>
          <a:noFill/>
        </p:spPr>
        <p:txBody>
          <a:bodyPr wrap="square" lIns="0" tIns="0" rIns="0" bIns="0" anchor="t">
            <a:spAutoFit/>
          </a:bodyPr>
          <a:lstStyle/>
          <a:p>
            <a:pPr algn="l"/>
            <a:r>
              <a:rPr sz="1800" b="1">
                <a:solidFill>
                  <a:srgbClr val="23282D"/>
                </a:solidFill>
                <a:latin typeface="Arial"/>
              </a:rPr>
              <a:t>63 − 28 = ______</a:t>
            </a:r>
          </a:p>
        </p:txBody>
      </p:sp>
      <p:sp>
        <p:nvSpPr>
          <p:cNvPr id="275"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78" name="TextBox 21"/>
          <p:cNvSpPr txBox="1"/>
          <p:nvPr/>
        </p:nvSpPr>
        <p:spPr>
          <a:xfrm>
            <a:off x="6345936" y="4023360"/>
            <a:ext cx="5102352" cy="1143000"/>
          </a:xfrm>
          <a:prstGeom prst="rect">
            <a:avLst/>
          </a:prstGeom>
          <a:noFill/>
        </p:spPr>
        <p:txBody>
          <a:bodyPr wrap="square" lIns="0" tIns="0" rIns="0" bIns="0" anchor="t">
            <a:spAutoFit/>
          </a:bodyPr>
          <a:lstStyle/>
          <a:p>
            <a:pPr algn="l"/>
            <a:r>
              <a:rPr sz="1800" b="1">
                <a:solidFill>
                  <a:srgbClr val="23282D"/>
                </a:solidFill>
                <a:latin typeface="Arial"/>
              </a:rPr>
              <a:t>A line runs 0 to 50 with a tick every 10. 35 sits between ______</a:t>
            </a:r>
          </a:p>
        </p:txBody>
      </p:sp>
      <p:sp>
        <p:nvSpPr>
          <p:cNvPr id="279"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p:nvSpPr>
          <p:cNvPr id="280"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Turn and talk: compare strategies, then defend one.</a:t>
            </a:r>
          </a:p>
        </p:txBody>
      </p:sp>
      <p:sp>
        <p:nvSpPr>
          <p:cNvPr id="28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 / 47</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3" name="Google Shape;523;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24" name="Google Shape;524;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2-4 · Represent and Describe Data in a Box Plot</a:t>
            </a:r>
            <a:endParaRPr/>
          </a:p>
        </p:txBody>
      </p:sp>
      <p:sp>
        <p:nvSpPr>
          <p:cNvPr id="525" name="Google Shape;525;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6" name="Google Shape;526;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27" name="Google Shape;527;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1: Math Words</a:t>
            </a:r>
            <a:endParaRPr/>
          </a:p>
        </p:txBody>
      </p:sp>
      <p:sp>
        <p:nvSpPr>
          <p:cNvPr id="528" name="Google Shape;528;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9" name="Google Shape;529;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30" name="Google Shape;530;p53"/>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2" name="Google Shape;532;p53"/>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33" name="Google Shape;533;p53"/>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Display Data with Box Plots</a:t>
            </a:r>
            <a:endParaRPr/>
          </a:p>
        </p:txBody>
      </p:sp>
      <p:sp>
        <p:nvSpPr>
          <p:cNvPr id="534" name="Google Shape;534;p53"/>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Show a data set’s </a:t>
            </a:r>
            <a:r>
              <a:rPr b="1" i="0" lang="en-US" sz="1450" u="none" cap="none" strike="noStrike">
                <a:solidFill>
                  <a:srgbClr val="475569"/>
                </a:solidFill>
                <a:latin typeface="Arial"/>
                <a:ea typeface="Arial"/>
                <a:cs typeface="Arial"/>
                <a:sym typeface="Arial"/>
              </a:rPr>
              <a:t xml:space="preserve">five-number summary</a:t>
            </a:r>
            <a:r>
              <a:rPr b="0" i="0" lang="en-US" sz="1450" u="none" cap="none" strike="noStrike">
                <a:solidFill>
                  <a:srgbClr val="475569"/>
                </a:solidFill>
                <a:latin typeface="Arial"/>
                <a:ea typeface="Arial"/>
                <a:cs typeface="Arial"/>
                <a:sym typeface="Arial"/>
              </a:rPr>
              <a:t xml:space="preserve"> in a box-and-whisker display</a:t>
            </a:r>
            <a:endParaRPr/>
          </a:p>
        </p:txBody>
      </p:sp>
      <p:sp>
        <p:nvSpPr>
          <p:cNvPr id="535" name="Google Shape;535;p53"/>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7" name="Google Shape;537;p53"/>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38" name="Google Shape;538;p53"/>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Box Plot</a:t>
            </a:r>
            <a:endParaRPr/>
          </a:p>
        </p:txBody>
      </p:sp>
      <p:sp>
        <p:nvSpPr>
          <p:cNvPr id="539" name="Google Shape;539;p53"/>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A graph</a:t>
            </a:r>
            <a:endParaRPr/>
          </a:p>
        </p:txBody>
      </p:sp>
      <p:sp>
        <p:nvSpPr>
          <p:cNvPr id="540" name="Google Shape;540;p53"/>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3"/>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2" name="Google Shape;542;p53"/>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43" name="Google Shape;543;p53"/>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Median</a:t>
            </a:r>
            <a:endParaRPr/>
          </a:p>
        </p:txBody>
      </p:sp>
      <p:sp>
        <p:nvSpPr>
          <p:cNvPr id="544" name="Google Shape;544;p53"/>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The middle number when you put them in order</a:t>
            </a:r>
            <a:endParaRPr/>
          </a:p>
        </p:txBody>
      </p:sp>
      <p:sp>
        <p:nvSpPr>
          <p:cNvPr id="54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 / 47</a:t>
            </a:r>
          </a:p>
        </p:txBody>
      </p:sp>
      <p:grpSp>
        <p:nvGrpSpPr>
          <p:cNvPr id="546" name="TEACH-1-student-move" descr="TEACH 1 · Facilitate clear, standards-based content learning"/>
          <p:cNvGrpSpPr/>
          <p:nvPr/>
        </p:nvGrpSpPr>
        <p:grpSpPr>
          <a:xfrm>
            <a:off x="6187440" y="1682496"/>
            <a:ext cx="5501640" cy="594360"/>
            <a:chOff x="6187440" y="1682496"/>
            <a:chExt cx="5501640" cy="594360"/>
          </a:xfrm>
        </p:grpSpPr>
        <p:sp>
          <p:nvSpPr>
            <p:cNvPr id="547"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8"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49"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5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0" name="Google Shape;550;p54"/>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1" name="Google Shape;551;p5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Today’s Math Notes</a:t>
            </a:r>
            <a:endParaRPr/>
          </a:p>
        </p:txBody>
      </p:sp>
      <p:sp>
        <p:nvSpPr>
          <p:cNvPr id="552" name="Google Shape;552;p5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2-4 · Represent and Describe Data in a Box Plot</a:t>
            </a:r>
            <a:endParaRPr/>
          </a:p>
        </p:txBody>
      </p:sp>
      <p:sp>
        <p:nvSpPr>
          <p:cNvPr id="553" name="Google Shape;553;p5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4" name="Google Shape;554;p5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555" name="Google Shape;555;p54"/>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000" u="none" cap="none" strike="noStrike">
                <a:solidFill>
                  <a:srgbClr val="14223A"/>
                </a:solidFill>
                <a:latin typeface="Arial"/>
                <a:ea typeface="Arial"/>
                <a:cs typeface="Arial"/>
                <a:sym typeface="Arial"/>
              </a:rPr>
              <a:t>Section 2: Today’s Math</a:t>
            </a:r>
            <a:endParaRPr/>
          </a:p>
        </p:txBody>
      </p:sp>
      <p:sp>
        <p:nvSpPr>
          <p:cNvPr id="556" name="Google Shape;556;p54"/>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7" name="Google Shape;557;p54"/>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Copy. Explain. Check.</a:t>
            </a:r>
            <a:endParaRPr/>
          </a:p>
        </p:txBody>
      </p:sp>
      <p:sp>
        <p:nvSpPr>
          <p:cNvPr id="558" name="Google Shape;558;p54"/>
          <p:cNvSpPr/>
          <p:nvPr/>
        </p:nvSpPr>
        <p:spPr>
          <a:xfrm>
            <a:off x="640080" y="2231136"/>
            <a:ext cx="10911809" cy="749808"/>
          </a:xfrm>
          <a:prstGeom prst="roundRect">
            <a:avLst>
              <a:gd fmla="val 70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9" name="Google Shape;559;p54"/>
          <p:cNvSpPr txBox="1"/>
          <p:nvPr/>
        </p:nvSpPr>
        <p:spPr>
          <a:xfrm>
            <a:off x="960120" y="2359152"/>
            <a:ext cx="10271729" cy="493775"/>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1" i="0" lang="en-US" sz="2700" u="none" cap="none" strike="noStrike">
                <a:solidFill>
                  <a:srgbClr val="14223A"/>
                </a:solidFill>
                <a:latin typeface="Arial"/>
                <a:ea typeface="Arial"/>
                <a:cs typeface="Arial"/>
                <a:sym typeface="Arial"/>
              </a:rPr>
              <a:t>Box Plots &amp; 5-Number Summary</a:t>
            </a:r>
            <a:endParaRPr/>
          </a:p>
        </p:txBody>
      </p:sp>
      <p:sp>
        <p:nvSpPr>
          <p:cNvPr id="560" name="Google Shape;560;p54"/>
          <p:cNvSpPr/>
          <p:nvPr/>
        </p:nvSpPr>
        <p:spPr>
          <a:xfrm>
            <a:off x="640080" y="3182112"/>
            <a:ext cx="3749039" cy="603504"/>
          </a:xfrm>
          <a:prstGeom prst="roundRect">
            <a:avLst>
              <a:gd fmla="val 12000" name="adj"/>
            </a:avLst>
          </a:prstGeom>
          <a:solidFill>
            <a:srgbClr val="FFFFFF"/>
          </a:solidFill>
          <a:ln cap="flat" cmpd="sng" w="15875">
            <a:solidFill>
              <a:srgbClr val="C241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1" name="Google Shape;561;p54"/>
          <p:cNvSpPr txBox="1"/>
          <p:nvPr/>
        </p:nvSpPr>
        <p:spPr>
          <a:xfrm>
            <a:off x="768096" y="3264408"/>
            <a:ext cx="3493007" cy="438912"/>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2200" u="none" cap="none" strike="noStrike">
                <a:solidFill>
                  <a:srgbClr val="C2410C"/>
                </a:solidFill>
                <a:latin typeface="Arial"/>
                <a:ea typeface="Arial"/>
                <a:cs typeface="Arial"/>
                <a:sym typeface="Arial"/>
              </a:rPr>
              <a:t>IQR = Q3 − Q1</a:t>
            </a:r>
            <a:endParaRPr/>
          </a:p>
        </p:txBody>
      </p:sp>
      <p:sp>
        <p:nvSpPr>
          <p:cNvPr id="562" name="Google Shape;562;p54"/>
          <p:cNvSpPr/>
          <p:nvPr/>
        </p:nvSpPr>
        <p:spPr>
          <a:xfrm>
            <a:off x="640080" y="4005072"/>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3" name="Google Shape;563;p54"/>
          <p:cNvSpPr/>
          <p:nvPr/>
        </p:nvSpPr>
        <p:spPr>
          <a:xfrm>
            <a:off x="896112" y="4151376"/>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1</a:t>
            </a:r>
            <a:endParaRPr/>
          </a:p>
        </p:txBody>
      </p:sp>
      <p:sp>
        <p:nvSpPr>
          <p:cNvPr id="564" name="Google Shape;564;p54"/>
          <p:cNvSpPr txBox="1"/>
          <p:nvPr/>
        </p:nvSpPr>
        <p:spPr>
          <a:xfrm>
            <a:off x="1371600" y="4087368"/>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1" i="0" lang="en-US" sz="1600" u="none" cap="none" strike="noStrike">
                <a:solidFill>
                  <a:srgbClr val="14223A"/>
                </a:solidFill>
                <a:latin typeface="Arial"/>
                <a:ea typeface="Arial"/>
                <a:cs typeface="Arial"/>
                <a:sym typeface="Arial"/>
              </a:rPr>
              <a:t xml:space="preserve">5-Number Summary: </a:t>
            </a:r>
            <a:r>
              <a:rPr b="1" i="0" lang="en-US" sz="1600" u="none" cap="none" strike="noStrike">
                <a:solidFill>
                  <a:srgbClr val="14223A"/>
                </a:solidFill>
                <a:latin typeface="Arial"/>
                <a:ea typeface="Arial"/>
                <a:cs typeface="Arial"/>
                <a:sym typeface="Arial"/>
              </a:rPr>
              <a:t xml:space="preserve">Minimum</a:t>
            </a:r>
            <a:r>
              <a:rPr b="0" i="0" lang="en-US" sz="1600" u="none" cap="none" strike="noStrike">
                <a:solidFill>
                  <a:srgbClr val="14223A"/>
                </a:solidFill>
                <a:latin typeface="Arial"/>
                <a:ea typeface="Arial"/>
                <a:cs typeface="Arial"/>
                <a:sym typeface="Arial"/>
              </a:rPr>
              <a:t xml:space="preserve">, Lower </a:t>
            </a:r>
            <a:r>
              <a:rPr b="1" i="0" lang="en-US" sz="1600" u="none" cap="none" strike="noStrike">
                <a:solidFill>
                  <a:srgbClr val="14223A"/>
                </a:solidFill>
                <a:latin typeface="Arial"/>
                <a:ea typeface="Arial"/>
                <a:cs typeface="Arial"/>
                <a:sym typeface="Arial"/>
              </a:rPr>
              <a:t xml:space="preserve">Quartile</a:t>
            </a:r>
            <a:r>
              <a:rPr b="0" i="0" lang="en-US" sz="1600" u="none" cap="none" strike="noStrike">
                <a:solidFill>
                  <a:srgbClr val="14223A"/>
                </a:solidFill>
                <a:latin typeface="Arial"/>
                <a:ea typeface="Arial"/>
                <a:cs typeface="Arial"/>
                <a:sym typeface="Arial"/>
              </a:rPr>
              <a:t xml:space="preserve"> (Q1), Median (Q2), Upper Quartile (Q3), Maximum</a:t>
            </a:r>
            <a:endParaRPr/>
          </a:p>
        </p:txBody>
      </p:sp>
      <p:sp>
        <p:nvSpPr>
          <p:cNvPr id="565" name="Google Shape;565;p54"/>
          <p:cNvSpPr/>
          <p:nvPr/>
        </p:nvSpPr>
        <p:spPr>
          <a:xfrm>
            <a:off x="640080" y="4773168"/>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6" name="Google Shape;566;p54"/>
          <p:cNvSpPr/>
          <p:nvPr/>
        </p:nvSpPr>
        <p:spPr>
          <a:xfrm>
            <a:off x="896112" y="4919472"/>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2</a:t>
            </a:r>
            <a:endParaRPr/>
          </a:p>
        </p:txBody>
      </p:sp>
      <p:sp>
        <p:nvSpPr>
          <p:cNvPr id="567" name="Google Shape;567;p54"/>
          <p:cNvSpPr txBox="1"/>
          <p:nvPr/>
        </p:nvSpPr>
        <p:spPr>
          <a:xfrm>
            <a:off x="1371600" y="4855464"/>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1" i="0" lang="en-US" sz="1600" u="none" cap="none" strike="noStrike">
                <a:solidFill>
                  <a:srgbClr val="14223A"/>
                </a:solidFill>
                <a:latin typeface="Arial"/>
                <a:ea typeface="Arial"/>
                <a:cs typeface="Arial"/>
                <a:sym typeface="Arial"/>
              </a:rPr>
              <a:t xml:space="preserve">Draw the Box: </a:t>
            </a:r>
            <a:r>
              <a:rPr b="0" i="0" lang="en-US" sz="1600" u="none" cap="none" strike="noStrike">
                <a:solidFill>
                  <a:srgbClr val="14223A"/>
                </a:solidFill>
                <a:latin typeface="Arial"/>
                <a:ea typeface="Arial"/>
                <a:cs typeface="Arial"/>
                <a:sym typeface="Arial"/>
              </a:rPr>
              <a:t xml:space="preserve">The box spans from </a:t>
            </a:r>
            <a:r>
              <a:rPr b="1" i="0" lang="en-US" sz="1600" u="none" cap="none" strike="noStrike">
                <a:solidFill>
                  <a:srgbClr val="14223A"/>
                </a:solidFill>
                <a:latin typeface="Arial"/>
                <a:ea typeface="Arial"/>
                <a:cs typeface="Arial"/>
                <a:sym typeface="Arial"/>
              </a:rPr>
              <a:t xml:space="preserve">Q1</a:t>
            </a:r>
            <a:r>
              <a:rPr b="0" i="0" lang="en-US" sz="1600" u="none" cap="none" strike="noStrike">
                <a:solidFill>
                  <a:srgbClr val="14223A"/>
                </a:solidFill>
                <a:latin typeface="Arial"/>
                <a:ea typeface="Arial"/>
                <a:cs typeface="Arial"/>
                <a:sym typeface="Arial"/>
              </a:rPr>
              <a:t xml:space="preserve"> to </a:t>
            </a:r>
            <a:r>
              <a:rPr b="1" i="0" lang="en-US" sz="1600" u="none" cap="none" strike="noStrike">
                <a:solidFill>
                  <a:srgbClr val="14223A"/>
                </a:solidFill>
                <a:latin typeface="Arial"/>
                <a:ea typeface="Arial"/>
                <a:cs typeface="Arial"/>
                <a:sym typeface="Arial"/>
              </a:rPr>
              <a:t xml:space="preserve">Q3</a:t>
            </a:r>
            <a:r>
              <a:rPr b="0" i="0" lang="en-US" sz="1600" u="none" cap="none" strike="noStrike">
                <a:solidFill>
                  <a:srgbClr val="14223A"/>
                </a:solidFill>
                <a:latin typeface="Arial"/>
                <a:ea typeface="Arial"/>
                <a:cs typeface="Arial"/>
                <a:sym typeface="Arial"/>
              </a:rPr>
              <a:t xml:space="preserve"> and contains the middle 50% of data</a:t>
            </a:r>
            <a:endParaRPr/>
          </a:p>
        </p:txBody>
      </p:sp>
      <p:sp>
        <p:nvSpPr>
          <p:cNvPr id="568" name="Google Shape;568;p54"/>
          <p:cNvSpPr/>
          <p:nvPr/>
        </p:nvSpPr>
        <p:spPr>
          <a:xfrm>
            <a:off x="640080" y="5541264"/>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9" name="Google Shape;569;p54"/>
          <p:cNvSpPr/>
          <p:nvPr/>
        </p:nvSpPr>
        <p:spPr>
          <a:xfrm>
            <a:off x="896112" y="5687568"/>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3</a:t>
            </a:r>
            <a:endParaRPr/>
          </a:p>
        </p:txBody>
      </p:sp>
      <p:sp>
        <p:nvSpPr>
          <p:cNvPr id="570" name="Google Shape;570;p54"/>
          <p:cNvSpPr txBox="1"/>
          <p:nvPr/>
        </p:nvSpPr>
        <p:spPr>
          <a:xfrm>
            <a:off x="1371600" y="5623560"/>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1" i="0" lang="en-US" sz="1600" u="none" cap="none" strike="noStrike">
                <a:solidFill>
                  <a:srgbClr val="14223A"/>
                </a:solidFill>
                <a:latin typeface="Arial"/>
                <a:ea typeface="Arial"/>
                <a:cs typeface="Arial"/>
                <a:sym typeface="Arial"/>
              </a:rPr>
              <a:t xml:space="preserve">Whiskers: </a:t>
            </a:r>
            <a:r>
              <a:rPr b="0" i="0" lang="en-US" sz="1600" u="none" cap="none" strike="noStrike">
                <a:solidFill>
                  <a:srgbClr val="14223A"/>
                </a:solidFill>
                <a:latin typeface="Arial"/>
                <a:ea typeface="Arial"/>
                <a:cs typeface="Arial"/>
                <a:sym typeface="Arial"/>
              </a:rPr>
              <a:t xml:space="preserve">Draw lines from the box out to the minimum and </a:t>
            </a:r>
            <a:r>
              <a:rPr b="1" i="0" lang="en-US" sz="1600" u="none" cap="none" strike="noStrike">
                <a:solidFill>
                  <a:srgbClr val="14223A"/>
                </a:solidFill>
                <a:latin typeface="Arial"/>
                <a:ea typeface="Arial"/>
                <a:cs typeface="Arial"/>
                <a:sym typeface="Arial"/>
              </a:rPr>
              <a:t xml:space="preserve">maximum</a:t>
            </a:r>
            <a:endParaRPr/>
          </a:p>
        </p:txBody>
      </p:sp>
      <p:sp>
        <p:nvSpPr>
          <p:cNvPr id="57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 / 47</a:t>
            </a:r>
          </a:p>
        </p:txBody>
      </p:sp>
      <p:sp xmlns:p="http://schemas.openxmlformats.org/presentationml/2006/main" xmlns:a="http://schemas.openxmlformats.org/drawingml/2006/main">
        <p:nvSpPr>
          <p:cNvPr id="572" name="TEACH-embedded-student-prompt" descr="Student thinking and response directions"/>
          <p:cNvSpPr txBox="1"/>
          <p:nvPr/>
        </p:nvSpPr>
        <p:spPr>
          <a:xfrm>
            <a:off x="6111240" y="31272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Read, cover, explain. Reopen your notes to</a:t>
            </a:r>
            <a:endParaRPr lang="en-US" sz="2000"/>
          </a:p>
          <a:p>
            <a:pPr>
              <a:lnSpc>
                <a:spcPts val="2400"/>
              </a:lnSpc>
              <a:buNone/>
            </a:pPr>
            <a:r>
              <a:rPr lang="en-US" sz="2000">
                <a:solidFill>
                  <a:srgbClr val="174D60"/>
                </a:solidFill>
                <a:latin typeface="Arial"/>
              </a:rPr>
              <a:t>check and improve your explanation.</a:t>
            </a:r>
            <a:endParaRPr lang="en-US" sz="2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0"/>
          <p:cNvSpPr txBox="1"/>
          <p:nvPr/>
        </p:nvSpPr>
        <p:spPr>
          <a:xfrm>
            <a:off x="1402828" y="2453950"/>
            <a:ext cx="7675071"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Represent and Describe Data in a Box Plot​</a:t>
            </a:r>
            <a:endParaRPr b="0" i="0" sz="1400" u="none" cap="none" strike="noStrike">
              <a:solidFill>
                <a:srgbClr val="000000"/>
              </a:solidFill>
              <a:latin typeface="Arial"/>
              <a:ea typeface="Arial"/>
              <a:cs typeface="Arial"/>
              <a:sym typeface="Arial"/>
            </a:endParaRPr>
          </a:p>
        </p:txBody>
      </p:sp>
      <p:sp>
        <p:nvSpPr>
          <p:cNvPr id="234" name="Google Shape;234;p40"/>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782DA0"/>
                </a:solidFill>
                <a:latin typeface="Arial"/>
                <a:ea typeface="Arial"/>
                <a:cs typeface="Arial"/>
                <a:sym typeface="Arial"/>
              </a:rPr>
              <a:t>Session 1</a:t>
            </a:r>
            <a:endParaRPr b="1" i="0" sz="2800" u="none" cap="none" strike="noStrike">
              <a:solidFill>
                <a:srgbClr val="782DA0"/>
              </a:solidFill>
              <a:latin typeface="Arial"/>
              <a:ea typeface="Arial"/>
              <a:cs typeface="Arial"/>
              <a:sym typeface="Arial"/>
            </a:endParaRPr>
          </a:p>
        </p:txBody>
      </p:sp>
      <p:cxnSp>
        <p:nvCxnSpPr>
          <p:cNvPr id="235" name="Google Shape;235;p40"/>
          <p:cNvCxnSpPr/>
          <p:nvPr/>
        </p:nvCxnSpPr>
        <p:spPr>
          <a:xfrm>
            <a:off x="-1" y="1560382"/>
            <a:ext cx="3166453" cy="0"/>
          </a:xfrm>
          <a:prstGeom prst="straightConnector1">
            <a:avLst/>
          </a:prstGeom>
          <a:noFill/>
          <a:ln cap="flat" cmpd="sng" w="19050">
            <a:solidFill>
              <a:srgbClr val="782DA0"/>
            </a:solidFill>
            <a:prstDash val="solid"/>
            <a:miter lim="80"/>
            <a:headEnd len="sm" w="sm" type="none"/>
            <a:tailEnd len="sm" w="sm" type="none"/>
          </a:ln>
        </p:spPr>
      </p:cxnSp>
      <p:sp>
        <p:nvSpPr>
          <p:cNvPr id="23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 / 47</a:t>
            </a:r>
          </a:p>
        </p:txBody>
      </p:sp>
      <p:grpSp>
        <p:nvGrpSpPr>
          <p:cNvPr id="237" name="TEACH-2-student-move" descr="TEACH 2 · Use strategies and tasks to engage students in rigorous work"/>
          <p:cNvGrpSpPr/>
          <p:nvPr/>
        </p:nvGrpSpPr>
        <p:grpSpPr>
          <a:xfrm>
            <a:off x="502920" y="3867612"/>
            <a:ext cx="11186160" cy="731520"/>
            <a:chOff x="502920" y="3867612"/>
            <a:chExt cx="11186160" cy="731520"/>
          </a:xfrm>
        </p:grpSpPr>
        <p:sp>
          <p:nvSpPr>
            <p:cNvPr id="238" name="TEACH-move-card"/>
            <p:cNvSpPr/>
            <p:nvPr/>
          </p:nvSpPr>
          <p:spPr>
            <a:xfrm>
              <a:off x="502920" y="3867612"/>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239" name="TEACH-move-rule"/>
            <p:cNvSpPr/>
            <p:nvPr/>
          </p:nvSpPr>
          <p:spPr>
            <a:xfrm>
              <a:off x="548640" y="4006601"/>
              <a:ext cx="100584" cy="453542"/>
            </a:xfrm>
            <a:prstGeom prst="roundRect">
              <a:avLst>
                <a:gd name="adj" fmla="val 50000"/>
              </a:avLst>
            </a:prstGeom>
            <a:solidFill>
              <a:srgbClr val="01708C"/>
            </a:solidFill>
            <a:ln>
              <a:noFill/>
            </a:ln>
          </p:spPr>
          <p:txBody>
            <a:bodyPr/>
            <a:lstStyle/>
            <a:p>
              <a:endParaRPr/>
            </a:p>
          </p:txBody>
        </p:sp>
        <p:sp>
          <p:nvSpPr>
            <p:cNvPr id="240" name="TEACH-move-text"/>
            <p:cNvSpPr txBox="1"/>
            <p:nvPr/>
          </p:nvSpPr>
          <p:spPr>
            <a:xfrm>
              <a:off x="822960" y="3867612"/>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PICK YOUR STRATEGY  ·  </a:t>
              </a:r>
              <a:r>
                <a:rPr lang="en-US" sz="1800" dirty="0">
                  <a:solidFill>
                    <a:srgbClr val="13303A"/>
                  </a:solidFill>
                  <a:latin typeface="Arial"/>
                </a:rPr>
                <a:t>Choose your path — picture, table, number line, or equation — and be ready to say why you chose it.</a:t>
              </a:r>
              <a:endParaRPr lang="en-US" sz="1800"/>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cxnSp>
        <p:nvCxnSpPr>
          <p:cNvPr id="240" name="Google Shape;240;p4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241" name="Google Shape;241;p41"/>
          <p:cNvPicPr preferRelativeResize="0"/>
          <p:nvPr/>
        </p:nvPicPr>
        <p:blipFill rotWithShape="1">
          <a:blip r:embed="rId3">
            <a:alphaModFix/>
          </a:blip>
          <a:srcRect b="0" l="0" r="0" t="0"/>
          <a:stretch/>
        </p:blipFill>
        <p:spPr>
          <a:xfrm>
            <a:off x="1691440" y="2398078"/>
            <a:ext cx="6422231" cy="2480310"/>
          </a:xfrm>
          <a:prstGeom prst="rect">
            <a:avLst/>
          </a:prstGeom>
          <a:noFill/>
          <a:ln>
            <a:noFill/>
          </a:ln>
        </p:spPr>
      </p:pic>
      <p:sp>
        <p:nvSpPr>
          <p:cNvPr id="242" name="Google Shape;242;p41"/>
          <p:cNvSpPr txBox="1"/>
          <p:nvPr/>
        </p:nvSpPr>
        <p:spPr>
          <a:xfrm>
            <a:off x="474054" y="936100"/>
            <a:ext cx="7711157" cy="122933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Use all the numbers in any order with any operation to equal the target number (in red). ​</a:t>
            </a:r>
            <a:endParaRPr b="0" i="0" sz="1400" u="none" cap="none" strike="noStrike">
              <a:solidFill>
                <a:srgbClr val="000000"/>
              </a:solidFill>
              <a:latin typeface="Arial"/>
              <a:ea typeface="Arial"/>
              <a:cs typeface="Arial"/>
              <a:sym typeface="Arial"/>
            </a:endParaRPr>
          </a:p>
        </p:txBody>
      </p:sp>
      <p:sp>
        <p:nvSpPr>
          <p:cNvPr id="243" name="Google Shape;243;p41"/>
          <p:cNvSpPr txBox="1"/>
          <p:nvPr/>
        </p:nvSpPr>
        <p:spPr>
          <a:xfrm>
            <a:off x="505579" y="316034"/>
            <a:ext cx="4842276"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Give Me Five</a:t>
            </a:r>
            <a:endParaRPr b="0" i="0" sz="1400" u="none" cap="none" strike="noStrike">
              <a:solidFill>
                <a:srgbClr val="000000"/>
              </a:solidFill>
              <a:latin typeface="Arial"/>
              <a:ea typeface="Arial"/>
              <a:cs typeface="Arial"/>
              <a:sym typeface="Arial"/>
            </a:endParaRPr>
          </a:p>
        </p:txBody>
      </p:sp>
      <p:sp>
        <p:nvSpPr>
          <p:cNvPr id="2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 / 47</a:t>
            </a:r>
          </a:p>
        </p:txBody>
      </p:sp>
      <p:sp xmlns:p="http://schemas.openxmlformats.org/presentationml/2006/main" xmlns:a="http://schemas.openxmlformats.org/drawingml/2006/main">
        <p:nvSpPr>
          <p:cNvPr id="245"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 your reasoning.</a:t>
            </a:r>
            <a:endParaRPr lang="en-US"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5" name="Google Shape;335;p44"/>
          <p:cNvSpPr/>
          <p:nvPr/>
        </p:nvSpPr>
        <p:spPr>
          <a:xfrm>
            <a:off x="0" y="0"/>
            <a:ext cx="12191969" cy="713232"/>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6" name="Google Shape;336;p4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Objectives</a:t>
            </a:r>
            <a:endParaRPr/>
          </a:p>
        </p:txBody>
      </p:sp>
      <p:sp>
        <p:nvSpPr>
          <p:cNvPr id="337" name="Google Shape;337;p4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2-4 · Represent and Describe Data in a Box Plot</a:t>
            </a:r>
            <a:endParaRPr/>
          </a:p>
        </p:txBody>
      </p:sp>
      <p:sp>
        <p:nvSpPr>
          <p:cNvPr id="338" name="Google Shape;338;p4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9" name="Google Shape;339;p4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40" name="Google Shape;340;p44"/>
          <p:cNvSpPr txBox="1"/>
          <p:nvPr/>
        </p:nvSpPr>
        <p:spPr>
          <a:xfrm>
            <a:off x="640080" y="969264"/>
            <a:ext cx="10911809" cy="631952"/>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defRPr/>
            </a:pPr>
            <a:r>
              <a:rPr b="1" i="0" lang="en-US" sz="3800" u="none" cap="none" strike="noStrike">
                <a:solidFill>
                  <a:srgbClr val="14223A"/>
                </a:solidFill>
                <a:latin typeface="Arial"/>
                <a:ea typeface="Arial"/>
                <a:cs typeface="Arial"/>
                <a:sym typeface="Arial"/>
              </a:rPr>
              <a:t>Represent and Describe Data in a Box Plot</a:t>
            </a:r>
            <a:endParaRPr/>
          </a:p>
        </p:txBody>
      </p:sp>
      <p:sp>
        <p:nvSpPr>
          <p:cNvPr id="341" name="Google Shape;341;p44"/>
          <p:cNvSpPr txBox="1"/>
          <p:nvPr/>
        </p:nvSpPr>
        <p:spPr>
          <a:xfrm>
            <a:off x="640080" y="1637792"/>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475569"/>
                </a:solidFill>
                <a:latin typeface="Arial"/>
                <a:ea typeface="Arial"/>
                <a:cs typeface="Arial"/>
                <a:sym typeface="Arial"/>
              </a:rPr>
              <a:t>Maryland Standard 6.DS.5</a:t>
            </a:r>
            <a:endParaRPr/>
          </a:p>
        </p:txBody>
      </p:sp>
      <p:sp>
        <p:nvSpPr>
          <p:cNvPr id="342" name="Google Shape;342;p44"/>
          <p:cNvSpPr/>
          <p:nvPr/>
        </p:nvSpPr>
        <p:spPr>
          <a:xfrm>
            <a:off x="640080" y="2432304"/>
            <a:ext cx="5349240" cy="3621024"/>
          </a:xfrm>
          <a:prstGeom prst="roundRect">
            <a:avLst>
              <a:gd fmla="val 4500" name="adj"/>
            </a:avLst>
          </a:prstGeom>
          <a:solidFill>
            <a:srgbClr val="E3F2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3" name="Google Shape;343;p44"/>
          <p:cNvSpPr/>
          <p:nvPr/>
        </p:nvSpPr>
        <p:spPr>
          <a:xfrm>
            <a:off x="640080" y="2432304"/>
            <a:ext cx="118872" cy="3621024"/>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4" name="Google Shape;344;p44"/>
          <p:cNvSpPr txBox="1"/>
          <p:nvPr/>
        </p:nvSpPr>
        <p:spPr>
          <a:xfrm>
            <a:off x="1097280"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0F766E"/>
                </a:solidFill>
                <a:latin typeface="Arial"/>
                <a:ea typeface="Arial"/>
                <a:cs typeface="Arial"/>
                <a:sym typeface="Arial"/>
              </a:rPr>
              <a:t>CONTENT OBJECTIVE</a:t>
            </a:r>
            <a:endParaRPr/>
          </a:p>
        </p:txBody>
      </p:sp>
      <p:sp>
        <p:nvSpPr>
          <p:cNvPr id="345" name="Google Shape;345;p44"/>
          <p:cNvSpPr txBox="1"/>
          <p:nvPr/>
        </p:nvSpPr>
        <p:spPr>
          <a:xfrm>
            <a:off x="1097280"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Restate the goal in your words</a:t>
            </a:r>
            <a:endParaRPr/>
          </a:p>
        </p:txBody>
      </p:sp>
      <p:sp>
        <p:nvSpPr>
          <p:cNvPr id="346" name="Google Shape;346;p44"/>
          <p:cNvSpPr txBox="1"/>
          <p:nvPr/>
        </p:nvSpPr>
        <p:spPr>
          <a:xfrm>
            <a:off x="1097280"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make and read a box plot to summarize a data set.</a:t>
            </a:r>
            <a:endParaRPr/>
          </a:p>
        </p:txBody>
      </p:sp>
      <p:sp>
        <p:nvSpPr>
          <p:cNvPr id="347" name="Google Shape;347;p44"/>
          <p:cNvSpPr/>
          <p:nvPr/>
        </p:nvSpPr>
        <p:spPr>
          <a:xfrm>
            <a:off x="6382512" y="2432304"/>
            <a:ext cx="5349240" cy="3621024"/>
          </a:xfrm>
          <a:prstGeom prst="roundRect">
            <a:avLst>
              <a:gd fmla="val 45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8" name="Google Shape;348;p44"/>
          <p:cNvSpPr/>
          <p:nvPr/>
        </p:nvSpPr>
        <p:spPr>
          <a:xfrm>
            <a:off x="6382512" y="2432304"/>
            <a:ext cx="118872" cy="3621024"/>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9" name="Google Shape;349;p44"/>
          <p:cNvSpPr txBox="1"/>
          <p:nvPr/>
        </p:nvSpPr>
        <p:spPr>
          <a:xfrm>
            <a:off x="6839712"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C2410C"/>
                </a:solidFill>
                <a:latin typeface="Arial"/>
                <a:ea typeface="Arial"/>
                <a:cs typeface="Arial"/>
                <a:sym typeface="Arial"/>
              </a:rPr>
              <a:t>LANGUAGE OBJECTIVE</a:t>
            </a:r>
            <a:endParaRPr/>
          </a:p>
        </p:txBody>
      </p:sp>
      <p:sp>
        <p:nvSpPr>
          <p:cNvPr id="350" name="Google Shape;350;p44"/>
          <p:cNvSpPr txBox="1"/>
          <p:nvPr/>
        </p:nvSpPr>
        <p:spPr>
          <a:xfrm>
            <a:off x="6839712"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Use these words to explain why</a:t>
            </a:r>
            <a:endParaRPr/>
          </a:p>
        </p:txBody>
      </p:sp>
      <p:sp>
        <p:nvSpPr>
          <p:cNvPr id="351" name="Google Shape;351;p44"/>
          <p:cNvSpPr txBox="1"/>
          <p:nvPr/>
        </p:nvSpPr>
        <p:spPr>
          <a:xfrm>
            <a:off x="6839712"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explain my box plot using the words box plot, median, quartile, and interquartile range.</a:t>
            </a:r>
            <a:endParaRPr/>
          </a:p>
        </p:txBody>
      </p:sp>
      <p:sp>
        <p:nvSpPr>
          <p:cNvPr id="35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6 / 47</a:t>
            </a:r>
          </a:p>
        </p:txBody>
      </p:sp>
      <p:grpSp>
        <p:nvGrpSpPr>
          <p:cNvPr id="353" name="TEACH-1-student-move" descr="TEACH 1 · Facilitate clear, standards-based content learning"/>
          <p:cNvGrpSpPr/>
          <p:nvPr/>
        </p:nvGrpSpPr>
        <p:grpSpPr>
          <a:xfrm>
            <a:off x="502920" y="1993392"/>
            <a:ext cx="11186160" cy="402336"/>
            <a:chOff x="502920" y="1993392"/>
            <a:chExt cx="11186160" cy="402336"/>
          </a:xfrm>
        </p:grpSpPr>
        <p:sp>
          <p:nvSpPr>
            <p:cNvPr id="354" name="TEACH-move-card"/>
            <p:cNvSpPr/>
            <p:nvPr/>
          </p:nvSpPr>
          <p:spPr>
            <a:xfrm>
              <a:off x="502920" y="1993392"/>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355" name="TEACH-move-rule"/>
            <p:cNvSpPr/>
            <p:nvPr/>
          </p:nvSpPr>
          <p:spPr>
            <a:xfrm>
              <a:off x="548640" y="2069836"/>
              <a:ext cx="100584" cy="249448"/>
            </a:xfrm>
            <a:prstGeom prst="roundRect">
              <a:avLst>
                <a:gd name="adj" fmla="val 50000"/>
              </a:avLst>
            </a:prstGeom>
            <a:solidFill>
              <a:srgbClr val="01708C"/>
            </a:solidFill>
            <a:ln>
              <a:noFill/>
            </a:ln>
          </p:spPr>
          <p:txBody>
            <a:bodyPr/>
            <a:lstStyle/>
            <a:p>
              <a:endParaRPr/>
            </a:p>
          </p:txBody>
        </p:sp>
        <p:sp>
          <p:nvSpPr>
            <p:cNvPr id="356" name="TEACH-move-text"/>
            <p:cNvSpPr txBox="1"/>
            <p:nvPr/>
          </p:nvSpPr>
          <p:spPr>
            <a:xfrm>
              <a:off x="822960" y="1993392"/>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CONNECT IT  ·  </a:t>
              </a:r>
              <a:r>
                <a:rPr lang="en-US" sz="1200" dirty="0">
                  <a:solidFill>
                    <a:srgbClr val="13303A"/>
                  </a:solidFill>
                  <a:latin typeface="Arial"/>
                </a:rPr>
                <a:t>What earlier lesson does this build on? Tell a partner in one sentence.</a:t>
              </a:r>
              <a:endParaRPr lang="en-US" sz="1200"/>
            </a:p>
          </p:txBody>
        </p:sp>
      </p:gr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2.4  /  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What will show your learning?</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Oval 4"/>
          <p:cNvSpPr/>
          <p:nvPr/>
        </p:nvSpPr>
        <p:spPr>
          <a:xfrm>
            <a:off x="640080" y="1874519"/>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29384"/>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1</a:t>
            </a:r>
          </a:p>
        </p:txBody>
      </p:sp>
      <p:sp>
        <p:nvSpPr>
          <p:cNvPr id="7" name="TextBox 6"/>
          <p:cNvSpPr txBox="1"/>
          <p:nvPr/>
        </p:nvSpPr>
        <p:spPr>
          <a:xfrm>
            <a:off x="1399032" y="1856231"/>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Locate minimum, quartiles, median and maximum.</a:t>
            </a:r>
          </a:p>
        </p:txBody>
      </p:sp>
      <p:sp>
        <p:nvSpPr>
          <p:cNvPr id="8" name="Oval 7"/>
          <p:cNvSpPr/>
          <p:nvPr/>
        </p:nvSpPr>
        <p:spPr>
          <a:xfrm>
            <a:off x="640080" y="2862072"/>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916936"/>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2</a:t>
            </a:r>
          </a:p>
        </p:txBody>
      </p:sp>
      <p:sp>
        <p:nvSpPr>
          <p:cNvPr id="10" name="TextBox 9"/>
          <p:cNvSpPr txBox="1"/>
          <p:nvPr/>
        </p:nvSpPr>
        <p:spPr>
          <a:xfrm>
            <a:off x="1399032" y="2843784"/>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Compare center and spread in context.</a:t>
            </a:r>
          </a:p>
        </p:txBody>
      </p:sp>
      <p:sp>
        <p:nvSpPr>
          <p:cNvPr id="11" name="Rounded Rectangle 10"/>
          <p:cNvSpPr/>
          <p:nvPr/>
        </p:nvSpPr>
        <p:spPr>
          <a:xfrm>
            <a:off x="594360" y="5120640"/>
            <a:ext cx="10972800" cy="822960"/>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5303520"/>
            <a:ext cx="10469880" cy="438912"/>
          </a:xfrm>
          <a:prstGeom prst="rect">
            <a:avLst/>
          </a:prstGeom>
          <a:noFill/>
        </p:spPr>
        <p:txBody>
          <a:bodyPr wrap="square" lIns="0" rIns="0" tIns="22860" bIns="0">
            <a:spAutoFit/>
          </a:bodyPr>
          <a:lstStyle/>
          <a:p>
            <a:pPr>
              <a:spcAft>
                <a:spcPts val="800"/>
              </a:spcAft>
              <a:defRPr sz="2200" b="0">
                <a:solidFill>
                  <a:srgbClr val="096B69"/>
                </a:solidFill>
                <a:latin typeface="Arial"/>
              </a:defRPr>
            </a:pPr>
            <a:r>
              <a:rPr/>
              <a:t>Tell a partner: Which skill connects to something you already know?</a:t>
            </a:r>
          </a:p>
        </p:txBody>
      </p:sp>
      <p:grpSp>
        <p:nvGrpSpPr>
          <p:cNvPr id="13" name="TEACH-1-student-move" descr="TEACH 1 · Facilitate clear, standards-based content learning"/>
          <p:cNvGrpSpPr/>
          <p:nvPr/>
        </p:nvGrpSpPr>
        <p:grpSpPr>
          <a:xfrm>
            <a:off x="502920" y="5824728"/>
            <a:ext cx="11186160" cy="402336"/>
            <a:chOff x="502920" y="5824728"/>
            <a:chExt cx="11186160" cy="402336"/>
          </a:xfrm>
        </p:grpSpPr>
        <p:sp>
          <p:nvSpPr>
            <p:cNvPr id="14"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5"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6"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SHOW YOUR THINKING  ·  </a:t>
              </a:r>
              <a:r>
                <a:rPr lang="en-US" sz="1200" dirty="0">
                  <a:solidFill>
                    <a:srgbClr val="13303A"/>
                  </a:solidFill>
                  <a:latin typeface="Arial"/>
                </a:rPr>
                <a:t>Show what you know — write it, draw it, or build it. A picture counts as an explanation.</a:t>
              </a:r>
              <a:endParaRPr lang="en-US" sz="1200"/>
            </a:p>
          </p:txBody>
        </p:sp>
      </p:gr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96" name="Google Shape;396;p46"/>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7" name="Google Shape;397;p46"/>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8" name="Google Shape;398;p46"/>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1 of 7</a:t>
            </a:r>
            <a:endParaRPr/>
          </a:p>
        </p:txBody>
      </p:sp>
      <p:sp>
        <p:nvSpPr>
          <p:cNvPr id="399" name="Google Shape;399;p46"/>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2-4 · Represent and Describe Data in a Box Plot</a:t>
            </a:r>
            <a:endParaRPr/>
          </a:p>
        </p:txBody>
      </p:sp>
      <p:sp>
        <p:nvSpPr>
          <p:cNvPr id="400" name="Google Shape;400;p46"/>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1" name="Google Shape;401;p46"/>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02" name="Google Shape;402;p46"/>
          <p:cNvSpPr txBox="1"/>
          <p:nvPr/>
        </p:nvSpPr>
        <p:spPr>
          <a:xfrm>
            <a:off x="640080" y="1977771"/>
            <a:ext cx="10911809" cy="90220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5200" u="none" cap="none" strike="noStrike">
                <a:solidFill>
                  <a:srgbClr val="14223A"/>
                </a:solidFill>
                <a:latin typeface="Arial"/>
                <a:ea typeface="Arial"/>
                <a:cs typeface="Arial"/>
                <a:sym typeface="Arial"/>
              </a:rPr>
              <a:t>Display Data with Box Plots</a:t>
            </a:r>
            <a:endParaRPr/>
          </a:p>
        </p:txBody>
      </p:sp>
      <p:sp>
        <p:nvSpPr>
          <p:cNvPr id="403" name="Google Shape;403;p46"/>
          <p:cNvSpPr/>
          <p:nvPr/>
        </p:nvSpPr>
        <p:spPr>
          <a:xfrm>
            <a:off x="658368" y="2934843"/>
            <a:ext cx="29260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4" name="Google Shape;404;p46"/>
          <p:cNvSpPr txBox="1"/>
          <p:nvPr/>
        </p:nvSpPr>
        <p:spPr>
          <a:xfrm>
            <a:off x="640080" y="3296031"/>
            <a:ext cx="10911809" cy="432054"/>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700" u="none" cap="none" strike="noStrike">
                <a:solidFill>
                  <a:srgbClr val="14223A"/>
                </a:solidFill>
                <a:latin typeface="Arial"/>
                <a:ea typeface="Arial"/>
                <a:cs typeface="Arial"/>
                <a:sym typeface="Arial"/>
              </a:rPr>
              <a:t>Show a data set’s five-number summary in a box-and-whisker display.</a:t>
            </a:r>
            <a:endParaRPr/>
          </a:p>
        </p:txBody>
      </p:sp>
      <p:sp>
        <p:nvSpPr>
          <p:cNvPr id="405" name="Google Shape;405;p46"/>
          <p:cNvSpPr/>
          <p:nvPr/>
        </p:nvSpPr>
        <p:spPr>
          <a:xfrm>
            <a:off x="640080" y="4148709"/>
            <a:ext cx="10911809"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6" name="Google Shape;406;p46"/>
          <p:cNvSpPr/>
          <p:nvPr/>
        </p:nvSpPr>
        <p:spPr>
          <a:xfrm>
            <a:off x="640080" y="4148709"/>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7" name="Google Shape;407;p46"/>
          <p:cNvSpPr txBox="1"/>
          <p:nvPr/>
        </p:nvSpPr>
        <p:spPr>
          <a:xfrm>
            <a:off x="932688" y="4322445"/>
            <a:ext cx="10344881"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08" name="Google Shape;408;p46"/>
          <p:cNvSpPr txBox="1"/>
          <p:nvPr/>
        </p:nvSpPr>
        <p:spPr>
          <a:xfrm>
            <a:off x="932688" y="4624197"/>
            <a:ext cx="10344881"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14223A"/>
                </a:solidFill>
                <a:latin typeface="Arial"/>
                <a:ea typeface="Arial"/>
                <a:cs typeface="Arial"/>
                <a:sym typeface="Arial"/>
              </a:rPr>
              <a:t>minimum | Q1 [ median ] Q3 | maximum</a:t>
            </a:r>
            <a:endParaRPr/>
          </a:p>
        </p:txBody>
      </p:sp>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8 / 47</a:t>
            </a:r>
          </a:p>
        </p:txBody>
      </p:sp>
      <p:sp xmlns:p="http://schemas.openxmlformats.org/presentationml/2006/main" xmlns:a="http://schemas.openxmlformats.org/drawingml/2006/main">
        <p:nvSpPr>
          <p:cNvPr id="409"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“Display Data with Box Plots” to explain the example.</a:t>
            </a:r>
            <a:endParaRPr lang="en-US" sz="2000"/>
          </a:p>
          <a:p>
            <a:pPr>
              <a:lnSpc>
                <a:spcPts val="2400"/>
              </a:lnSpc>
              <a:buNone/>
            </a:pPr>
            <a:r>
              <a:rPr lang="en-US" sz="2000">
                <a:solidFill>
                  <a:srgbClr val="174D60"/>
                </a:solidFill>
                <a:latin typeface="Arial"/>
              </a:rPr>
              <a:t>Point to evidence.</a:t>
            </a:r>
            <a:endParaRPr lang="en-US" sz="200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13" name="Google Shape;413;p47"/>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4" name="Google Shape;414;p47"/>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5" name="Google Shape;415;p47"/>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2 of 7</a:t>
            </a:r>
            <a:endParaRPr/>
          </a:p>
        </p:txBody>
      </p:sp>
      <p:sp>
        <p:nvSpPr>
          <p:cNvPr id="416" name="Google Shape;416;p47"/>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2-4 · Represent and Describe Data in a Box Plot</a:t>
            </a:r>
            <a:endParaRPr/>
          </a:p>
        </p:txBody>
      </p:sp>
      <p:sp>
        <p:nvSpPr>
          <p:cNvPr id="417" name="Google Shape;417;p47"/>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8" name="Google Shape;418;p47"/>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19" name="Google Shape;419;p47"/>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Box Plot</a:t>
            </a:r>
            <a:endParaRPr/>
          </a:p>
        </p:txBody>
      </p:sp>
      <p:sp>
        <p:nvSpPr>
          <p:cNvPr id="420" name="Google Shape;420;p47"/>
          <p:cNvSpPr/>
          <p:nvPr/>
        </p:nvSpPr>
        <p:spPr>
          <a:xfrm>
            <a:off x="658368" y="263880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1" name="Google Shape;421;p47"/>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graph that shows how data is spread using five key numbers.</a:t>
            </a:r>
            <a:endParaRPr/>
          </a:p>
        </p:txBody>
      </p:sp>
      <p:sp>
        <p:nvSpPr>
          <p:cNvPr id="422" name="Google Shape;422;p47"/>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3" name="Google Shape;423;p47"/>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4" name="Google Shape;424;p47"/>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25" name="Google Shape;425;p47"/>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A box from Q1 to Q3 with a line at the median, and whiskers from min to max</a:t>
            </a:r>
            <a:endParaRPr/>
          </a:p>
        </p:txBody>
      </p:sp>
      <p:pic>
        <p:nvPicPr>
          <p:cNvPr descr="box-plot.png" id="426" name="Google Shape;426;p47"/>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9 / 47</a:t>
            </a:r>
          </a:p>
        </p:txBody>
      </p:sp>
      <p:sp xmlns:p="http://schemas.openxmlformats.org/presentationml/2006/main" xmlns:a="http://schemas.openxmlformats.org/drawingml/2006/main">
        <p:nvSpPr>
          <p:cNvPr id="427"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“Box Plot” to explain the example. Point to evidence.</a:t>
            </a:r>
            <a:endParaRPr lang="en-US" sz="20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31" name="Google Shape;431;p48"/>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2" name="Google Shape;432;p48"/>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3" name="Google Shape;433;p48"/>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3 of 7</a:t>
            </a:r>
            <a:endParaRPr/>
          </a:p>
        </p:txBody>
      </p:sp>
      <p:sp>
        <p:nvSpPr>
          <p:cNvPr id="434" name="Google Shape;434;p48"/>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2-4 · Represent and Describe Data in a Box Plot</a:t>
            </a:r>
            <a:endParaRPr/>
          </a:p>
        </p:txBody>
      </p:sp>
      <p:sp>
        <p:nvSpPr>
          <p:cNvPr id="435" name="Google Shape;435;p48"/>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6" name="Google Shape;436;p48"/>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37" name="Google Shape;437;p48"/>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Median</a:t>
            </a:r>
            <a:endParaRPr/>
          </a:p>
        </p:txBody>
      </p:sp>
      <p:sp>
        <p:nvSpPr>
          <p:cNvPr id="438" name="Google Shape;438;p48"/>
          <p:cNvSpPr/>
          <p:nvPr/>
        </p:nvSpPr>
        <p:spPr>
          <a:xfrm>
            <a:off x="658368" y="273786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9" name="Google Shape;439;p48"/>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The middle number when you put them in order.</a:t>
            </a:r>
            <a:endParaRPr/>
          </a:p>
        </p:txBody>
      </p:sp>
      <p:sp>
        <p:nvSpPr>
          <p:cNvPr id="440" name="Google Shape;440;p48"/>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1" name="Google Shape;441;p48"/>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2" name="Google Shape;442;p48"/>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43" name="Google Shape;443;p48"/>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Data: 10, 15, 20, 25, 30 → median is 20 (the 3rd value)</a:t>
            </a:r>
            <a:endParaRPr/>
          </a:p>
        </p:txBody>
      </p:sp>
      <p:pic>
        <p:nvPicPr>
          <p:cNvPr descr="median.png" id="444" name="Google Shape;444;p48"/>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10 / 47</a:t>
            </a:r>
          </a:p>
        </p:txBody>
      </p:sp>
      <p:sp xmlns:p="http://schemas.openxmlformats.org/presentationml/2006/main" xmlns:a="http://schemas.openxmlformats.org/drawingml/2006/main">
        <p:nvSpPr>
          <p:cNvPr id="445"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“Median” to explain the example. Point to evidence.</a:t>
            </a:r>
            <a:endParaRPr lang="en-US" sz="20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49" name="Google Shape;449;p49"/>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0" name="Google Shape;450;p49"/>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1" name="Google Shape;451;p49"/>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4 of 7</a:t>
            </a:r>
            <a:endParaRPr/>
          </a:p>
        </p:txBody>
      </p:sp>
      <p:sp>
        <p:nvSpPr>
          <p:cNvPr id="452" name="Google Shape;452;p49"/>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2-4 · Represent and Describe Data in a Box Plot</a:t>
            </a:r>
            <a:endParaRPr/>
          </a:p>
        </p:txBody>
      </p:sp>
      <p:sp>
        <p:nvSpPr>
          <p:cNvPr id="453" name="Google Shape;453;p49"/>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4" name="Google Shape;454;p49"/>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55" name="Google Shape;455;p49"/>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Quartile</a:t>
            </a:r>
            <a:endParaRPr/>
          </a:p>
        </p:txBody>
      </p:sp>
      <p:sp>
        <p:nvSpPr>
          <p:cNvPr id="456" name="Google Shape;456;p49"/>
          <p:cNvSpPr/>
          <p:nvPr/>
        </p:nvSpPr>
        <p:spPr>
          <a:xfrm>
            <a:off x="658368" y="263880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7" name="Google Shape;457;p49"/>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Numbers that split the data into four equal parts.</a:t>
            </a:r>
            <a:endParaRPr/>
          </a:p>
        </p:txBody>
      </p:sp>
      <p:sp>
        <p:nvSpPr>
          <p:cNvPr id="458" name="Google Shape;458;p49"/>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9" name="Google Shape;459;p49"/>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0" name="Google Shape;460;p49"/>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61" name="Google Shape;461;p49"/>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Data: 2, 4, 6, 8, 10, 12, 14 → Q1 = 4 (median of lower half), Q3 = 12 (median of upper half)</a:t>
            </a:r>
            <a:endParaRPr/>
          </a:p>
        </p:txBody>
      </p:sp>
      <p:pic>
        <p:nvPicPr>
          <p:cNvPr descr="quartile.png" id="462" name="Google Shape;462;p49"/>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11 / 47</a:t>
            </a:r>
          </a:p>
        </p:txBody>
      </p:sp>
      <p:sp xmlns:p="http://schemas.openxmlformats.org/presentationml/2006/main" xmlns:a="http://schemas.openxmlformats.org/drawingml/2006/main">
        <p:nvSpPr>
          <p:cNvPr id="463"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“Quartile” to explain the example. Point to evidence.</a:t>
            </a:r>
            <a:endParaRPr lang="en-US" sz="200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67" name="Google Shape;467;p50"/>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8" name="Google Shape;468;p50"/>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9" name="Google Shape;469;p50"/>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5 of 7</a:t>
            </a:r>
            <a:endParaRPr/>
          </a:p>
        </p:txBody>
      </p:sp>
      <p:sp>
        <p:nvSpPr>
          <p:cNvPr id="470" name="Google Shape;470;p50"/>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2-4 · Represent and Describe Data in a Box Plot</a:t>
            </a:r>
            <a:endParaRPr/>
          </a:p>
        </p:txBody>
      </p:sp>
      <p:sp>
        <p:nvSpPr>
          <p:cNvPr id="471" name="Google Shape;471;p50"/>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2" name="Google Shape;472;p50"/>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73" name="Google Shape;473;p50"/>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Interquartile Range</a:t>
            </a:r>
            <a:endParaRPr/>
          </a:p>
        </p:txBody>
      </p:sp>
      <p:sp>
        <p:nvSpPr>
          <p:cNvPr id="474" name="Google Shape;474;p50"/>
          <p:cNvSpPr/>
          <p:nvPr/>
        </p:nvSpPr>
        <p:spPr>
          <a:xfrm>
            <a:off x="658368" y="2638806"/>
            <a:ext cx="2258568"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5" name="Google Shape;475;p50"/>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The spread of the middle half of the data (Q3 − Q1).</a:t>
            </a:r>
            <a:endParaRPr/>
          </a:p>
        </p:txBody>
      </p:sp>
      <p:sp>
        <p:nvSpPr>
          <p:cNvPr id="476" name="Google Shape;476;p50"/>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7" name="Google Shape;477;p50"/>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8" name="Google Shape;478;p50"/>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79" name="Google Shape;479;p50"/>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If Q1 = 12 and Q3 = 20, then IQR = 20 − 12 = 8 — the middle 50% spans 8 units</a:t>
            </a:r>
            <a:endParaRPr/>
          </a:p>
        </p:txBody>
      </p:sp>
      <p:pic>
        <p:nvPicPr>
          <p:cNvPr descr="interquartile-range.png" id="480" name="Google Shape;480;p50"/>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12 / 47</a:t>
            </a:r>
          </a:p>
        </p:txBody>
      </p:sp>
      <p:sp xmlns:p="http://schemas.openxmlformats.org/presentationml/2006/main" xmlns:a="http://schemas.openxmlformats.org/drawingml/2006/main">
        <p:nvSpPr>
          <p:cNvPr id="481"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“Interquartile Range”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85" name="Google Shape;485;p51"/>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6" name="Google Shape;486;p51"/>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7" name="Google Shape;487;p51"/>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6 of 7</a:t>
            </a:r>
            <a:endParaRPr/>
          </a:p>
        </p:txBody>
      </p:sp>
      <p:sp>
        <p:nvSpPr>
          <p:cNvPr id="488" name="Google Shape;488;p51"/>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2-4 · Represent and Describe Data in a Box Plot</a:t>
            </a:r>
            <a:endParaRPr/>
          </a:p>
        </p:txBody>
      </p:sp>
      <p:sp>
        <p:nvSpPr>
          <p:cNvPr id="489" name="Google Shape;489;p51"/>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0" name="Google Shape;490;p51"/>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91" name="Google Shape;491;p51"/>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Data distribution</a:t>
            </a:r>
            <a:endParaRPr/>
          </a:p>
        </p:txBody>
      </p:sp>
      <p:sp>
        <p:nvSpPr>
          <p:cNvPr id="492" name="Google Shape;492;p51"/>
          <p:cNvSpPr/>
          <p:nvPr/>
        </p:nvSpPr>
        <p:spPr>
          <a:xfrm>
            <a:off x="658368" y="2638806"/>
            <a:ext cx="2020824"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3" name="Google Shape;493;p51"/>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How the data looks: where it sits and how spread out it is.</a:t>
            </a:r>
            <a:endParaRPr/>
          </a:p>
        </p:txBody>
      </p:sp>
      <p:sp>
        <p:nvSpPr>
          <p:cNvPr id="494" name="Google Shape;494;p51"/>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5" name="Google Shape;495;p51"/>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6" name="Google Shape;496;p51"/>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97" name="Google Shape;497;p51"/>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A box plot where the median is centered in the box shows symmetric distribution</a:t>
            </a:r>
            <a:endParaRPr/>
          </a:p>
        </p:txBody>
      </p:sp>
      <p:pic>
        <p:nvPicPr>
          <p:cNvPr descr="distribution.png" id="498" name="Google Shape;498;p51"/>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13 / 47</a:t>
            </a:r>
          </a:p>
        </p:txBody>
      </p:sp>
      <p:sp xmlns:p="http://schemas.openxmlformats.org/presentationml/2006/main" xmlns:a="http://schemas.openxmlformats.org/drawingml/2006/main">
        <p:nvSpPr>
          <p:cNvPr id="499"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“Data distribution”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03" name="Google Shape;503;p52"/>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4" name="Google Shape;504;p52"/>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5" name="Google Shape;505;p52"/>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7 of 7</a:t>
            </a:r>
            <a:endParaRPr/>
          </a:p>
        </p:txBody>
      </p:sp>
      <p:sp>
        <p:nvSpPr>
          <p:cNvPr id="506" name="Google Shape;506;p52"/>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2-4 · Represent and Describe Data in a Box Plot</a:t>
            </a:r>
            <a:endParaRPr/>
          </a:p>
        </p:txBody>
      </p:sp>
      <p:sp>
        <p:nvSpPr>
          <p:cNvPr id="507" name="Google Shape;507;p52"/>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8" name="Google Shape;508;p52"/>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509" name="Google Shape;509;p52"/>
          <p:cNvSpPr txBox="1"/>
          <p:nvPr/>
        </p:nvSpPr>
        <p:spPr>
          <a:xfrm>
            <a:off x="640080" y="197967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Variability</a:t>
            </a:r>
            <a:endParaRPr/>
          </a:p>
        </p:txBody>
      </p:sp>
      <p:sp>
        <p:nvSpPr>
          <p:cNvPr id="510" name="Google Shape;510;p52"/>
          <p:cNvSpPr/>
          <p:nvPr/>
        </p:nvSpPr>
        <p:spPr>
          <a:xfrm>
            <a:off x="658368" y="2814828"/>
            <a:ext cx="1307592"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1" name="Google Shape;511;p52"/>
          <p:cNvSpPr txBox="1"/>
          <p:nvPr/>
        </p:nvSpPr>
        <p:spPr>
          <a:xfrm>
            <a:off x="640080" y="317601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How spread out the numbers are.</a:t>
            </a:r>
            <a:endParaRPr/>
          </a:p>
        </p:txBody>
      </p:sp>
      <p:sp>
        <p:nvSpPr>
          <p:cNvPr id="512" name="Google Shape;512;p52"/>
          <p:cNvSpPr/>
          <p:nvPr/>
        </p:nvSpPr>
        <p:spPr>
          <a:xfrm>
            <a:off x="640080" y="3948684"/>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3" name="Google Shape;513;p52"/>
          <p:cNvSpPr/>
          <p:nvPr/>
        </p:nvSpPr>
        <p:spPr>
          <a:xfrm>
            <a:off x="640080" y="3948684"/>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4" name="Google Shape;514;p52"/>
          <p:cNvSpPr txBox="1"/>
          <p:nvPr/>
        </p:nvSpPr>
        <p:spPr>
          <a:xfrm>
            <a:off x="932688" y="412242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515" name="Google Shape;515;p52"/>
          <p:cNvSpPr txBox="1"/>
          <p:nvPr/>
        </p:nvSpPr>
        <p:spPr>
          <a:xfrm>
            <a:off x="932688" y="4424172"/>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Small IQR = low variability in the middle 50%. Large IQR = high variability</a:t>
            </a:r>
            <a:endParaRPr/>
          </a:p>
        </p:txBody>
      </p:sp>
      <p:pic>
        <p:nvPicPr>
          <p:cNvPr descr="spread.png" id="516" name="Google Shape;516;p52"/>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14 / 47</a:t>
            </a:r>
          </a:p>
        </p:txBody>
      </p:sp>
      <p:sp xmlns:p="http://schemas.openxmlformats.org/presentationml/2006/main" xmlns:a="http://schemas.openxmlformats.org/drawingml/2006/main">
        <p:nvSpPr>
          <p:cNvPr id="517"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“Variability” to explain the example. Point to evidence.</a:t>
            </a:r>
            <a:endParaRPr lang="en-US" sz="20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45"/>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7" name="Google Shape;357;p45"/>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8" name="Google Shape;358;p45"/>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a:t>
            </a:r>
            <a:endParaRPr/>
          </a:p>
        </p:txBody>
      </p:sp>
      <p:sp>
        <p:nvSpPr>
          <p:cNvPr id="359" name="Google Shape;359;p45"/>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2-4 · Represent and Describe Data in a Box Plot</a:t>
            </a:r>
            <a:endParaRPr/>
          </a:p>
        </p:txBody>
      </p:sp>
      <p:sp>
        <p:nvSpPr>
          <p:cNvPr id="360" name="Google Shape;360;p45"/>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1" name="Google Shape;361;p45"/>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362" name="Google Shape;362;p45"/>
          <p:cNvSpPr txBox="1"/>
          <p:nvPr/>
        </p:nvSpPr>
        <p:spPr>
          <a:xfrm>
            <a:off x="640080" y="1005840"/>
            <a:ext cx="10911809" cy="5120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400" u="none" cap="none" strike="noStrike">
                <a:solidFill>
                  <a:srgbClr val="14223A"/>
                </a:solidFill>
                <a:latin typeface="Arial"/>
                <a:ea typeface="Arial"/>
                <a:cs typeface="Arial"/>
                <a:sym typeface="Arial"/>
              </a:rPr>
              <a:t>Today’s Math Words</a:t>
            </a:r>
            <a:endParaRPr/>
          </a:p>
        </p:txBody>
      </p:sp>
      <p:sp>
        <p:nvSpPr>
          <p:cNvPr id="363" name="Google Shape;363;p45"/>
          <p:cNvSpPr txBox="1"/>
          <p:nvPr/>
        </p:nvSpPr>
        <p:spPr>
          <a:xfrm>
            <a:off x="640080" y="1591056"/>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400" u="none" cap="none" strike="noStrike">
                <a:solidFill>
                  <a:srgbClr val="475569"/>
                </a:solidFill>
                <a:latin typeface="Arial"/>
                <a:ea typeface="Arial"/>
                <a:cs typeface="Arial"/>
                <a:sym typeface="Arial"/>
              </a:rPr>
              <a:t>We learn every word — what it means and what it looks like — before we use it.</a:t>
            </a:r>
            <a:endParaRPr/>
          </a:p>
        </p:txBody>
      </p:sp>
      <p:sp>
        <p:nvSpPr>
          <p:cNvPr id="364" name="Google Shape;364;p45"/>
          <p:cNvSpPr/>
          <p:nvPr/>
        </p:nvSpPr>
        <p:spPr>
          <a:xfrm>
            <a:off x="640080" y="210312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5" name="Google Shape;365;p45"/>
          <p:cNvSpPr/>
          <p:nvPr/>
        </p:nvSpPr>
        <p:spPr>
          <a:xfrm>
            <a:off x="640080" y="210312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6" name="Google Shape;366;p45"/>
          <p:cNvSpPr txBox="1"/>
          <p:nvPr/>
        </p:nvSpPr>
        <p:spPr>
          <a:xfrm>
            <a:off x="950976"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Display Data with Box Plots</a:t>
            </a:r>
            <a:endParaRPr/>
          </a:p>
        </p:txBody>
      </p:sp>
      <p:sp>
        <p:nvSpPr>
          <p:cNvPr id="367" name="Google Shape;367;p45"/>
          <p:cNvSpPr txBox="1"/>
          <p:nvPr/>
        </p:nvSpPr>
        <p:spPr>
          <a:xfrm>
            <a:off x="950976" y="257860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00" u="none" cap="none" strike="noStrike">
                <a:solidFill>
                  <a:srgbClr val="475569"/>
                </a:solidFill>
                <a:latin typeface="Arial"/>
                <a:ea typeface="Arial"/>
                <a:cs typeface="Arial"/>
                <a:sym typeface="Arial"/>
              </a:rPr>
              <a:t>Show a data set’s five-number summary in a box-and-whisker display</a:t>
            </a:r>
            <a:endParaRPr/>
          </a:p>
        </p:txBody>
      </p:sp>
      <p:sp>
        <p:nvSpPr>
          <p:cNvPr id="368" name="Google Shape;368;p45"/>
          <p:cNvSpPr/>
          <p:nvPr/>
        </p:nvSpPr>
        <p:spPr>
          <a:xfrm>
            <a:off x="6260576" y="210312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9" name="Google Shape;369;p45"/>
          <p:cNvSpPr/>
          <p:nvPr/>
        </p:nvSpPr>
        <p:spPr>
          <a:xfrm>
            <a:off x="6260576" y="210312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0" name="Google Shape;370;p45"/>
          <p:cNvSpPr txBox="1"/>
          <p:nvPr/>
        </p:nvSpPr>
        <p:spPr>
          <a:xfrm>
            <a:off x="6571472"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Box Plot</a:t>
            </a:r>
            <a:endParaRPr/>
          </a:p>
        </p:txBody>
      </p:sp>
      <p:sp>
        <p:nvSpPr>
          <p:cNvPr id="371" name="Google Shape;371;p45"/>
          <p:cNvSpPr txBox="1"/>
          <p:nvPr/>
        </p:nvSpPr>
        <p:spPr>
          <a:xfrm>
            <a:off x="6571472" y="257860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A graph that shows how data is spread using five key numbers</a:t>
            </a:r>
            <a:endParaRPr/>
          </a:p>
        </p:txBody>
      </p:sp>
      <p:sp>
        <p:nvSpPr>
          <p:cNvPr id="372" name="Google Shape;372;p45"/>
          <p:cNvSpPr/>
          <p:nvPr/>
        </p:nvSpPr>
        <p:spPr>
          <a:xfrm>
            <a:off x="640080" y="3177539"/>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3" name="Google Shape;373;p45"/>
          <p:cNvSpPr/>
          <p:nvPr/>
        </p:nvSpPr>
        <p:spPr>
          <a:xfrm>
            <a:off x="640080" y="3177539"/>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4" name="Google Shape;374;p45"/>
          <p:cNvSpPr txBox="1"/>
          <p:nvPr/>
        </p:nvSpPr>
        <p:spPr>
          <a:xfrm>
            <a:off x="950976" y="331469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Median</a:t>
            </a:r>
            <a:endParaRPr/>
          </a:p>
        </p:txBody>
      </p:sp>
      <p:sp>
        <p:nvSpPr>
          <p:cNvPr id="375" name="Google Shape;375;p45"/>
          <p:cNvSpPr txBox="1"/>
          <p:nvPr/>
        </p:nvSpPr>
        <p:spPr>
          <a:xfrm>
            <a:off x="950976" y="3653027"/>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The middle number when you put them in order</a:t>
            </a:r>
            <a:endParaRPr/>
          </a:p>
        </p:txBody>
      </p:sp>
      <p:sp>
        <p:nvSpPr>
          <p:cNvPr id="376" name="Google Shape;376;p45"/>
          <p:cNvSpPr/>
          <p:nvPr/>
        </p:nvSpPr>
        <p:spPr>
          <a:xfrm>
            <a:off x="6260576" y="3177539"/>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7" name="Google Shape;377;p45"/>
          <p:cNvSpPr/>
          <p:nvPr/>
        </p:nvSpPr>
        <p:spPr>
          <a:xfrm>
            <a:off x="6260576" y="3177539"/>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8" name="Google Shape;378;p45"/>
          <p:cNvSpPr txBox="1"/>
          <p:nvPr/>
        </p:nvSpPr>
        <p:spPr>
          <a:xfrm>
            <a:off x="6571472" y="331469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Quartile</a:t>
            </a:r>
            <a:endParaRPr/>
          </a:p>
        </p:txBody>
      </p:sp>
      <p:sp>
        <p:nvSpPr>
          <p:cNvPr id="379" name="Google Shape;379;p45"/>
          <p:cNvSpPr txBox="1"/>
          <p:nvPr/>
        </p:nvSpPr>
        <p:spPr>
          <a:xfrm>
            <a:off x="6571472" y="3653027"/>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Numbers that split the data into four equal parts</a:t>
            </a:r>
            <a:endParaRPr/>
          </a:p>
        </p:txBody>
      </p:sp>
      <p:sp>
        <p:nvSpPr>
          <p:cNvPr id="380" name="Google Shape;380;p45"/>
          <p:cNvSpPr/>
          <p:nvPr/>
        </p:nvSpPr>
        <p:spPr>
          <a:xfrm>
            <a:off x="640080" y="425196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1" name="Google Shape;381;p45"/>
          <p:cNvSpPr/>
          <p:nvPr/>
        </p:nvSpPr>
        <p:spPr>
          <a:xfrm>
            <a:off x="640080" y="425196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2" name="Google Shape;382;p45"/>
          <p:cNvSpPr txBox="1"/>
          <p:nvPr/>
        </p:nvSpPr>
        <p:spPr>
          <a:xfrm>
            <a:off x="950976" y="438912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Interquartile Range</a:t>
            </a:r>
            <a:endParaRPr/>
          </a:p>
        </p:txBody>
      </p:sp>
      <p:sp>
        <p:nvSpPr>
          <p:cNvPr id="383" name="Google Shape;383;p45"/>
          <p:cNvSpPr txBox="1"/>
          <p:nvPr/>
        </p:nvSpPr>
        <p:spPr>
          <a:xfrm>
            <a:off x="950976" y="472744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The spread of the middle half of the data (Q3 − Q1)</a:t>
            </a:r>
            <a:endParaRPr/>
          </a:p>
        </p:txBody>
      </p:sp>
      <p:sp>
        <p:nvSpPr>
          <p:cNvPr id="384" name="Google Shape;384;p45"/>
          <p:cNvSpPr/>
          <p:nvPr/>
        </p:nvSpPr>
        <p:spPr>
          <a:xfrm>
            <a:off x="6260576" y="425196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5" name="Google Shape;385;p45"/>
          <p:cNvSpPr/>
          <p:nvPr/>
        </p:nvSpPr>
        <p:spPr>
          <a:xfrm>
            <a:off x="6260576" y="425196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6" name="Google Shape;386;p45"/>
          <p:cNvSpPr txBox="1"/>
          <p:nvPr/>
        </p:nvSpPr>
        <p:spPr>
          <a:xfrm>
            <a:off x="6571472" y="438912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Data distribution</a:t>
            </a:r>
            <a:endParaRPr/>
          </a:p>
        </p:txBody>
      </p:sp>
      <p:sp>
        <p:nvSpPr>
          <p:cNvPr id="387" name="Google Shape;387;p45"/>
          <p:cNvSpPr txBox="1"/>
          <p:nvPr/>
        </p:nvSpPr>
        <p:spPr>
          <a:xfrm>
            <a:off x="6571472" y="472744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How the data looks: where it sits and how spread out it is</a:t>
            </a:r>
            <a:endParaRPr/>
          </a:p>
        </p:txBody>
      </p:sp>
      <p:sp>
        <p:nvSpPr>
          <p:cNvPr id="388" name="Google Shape;388;p45"/>
          <p:cNvSpPr/>
          <p:nvPr/>
        </p:nvSpPr>
        <p:spPr>
          <a:xfrm>
            <a:off x="640080" y="532638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9" name="Google Shape;389;p45"/>
          <p:cNvSpPr/>
          <p:nvPr/>
        </p:nvSpPr>
        <p:spPr>
          <a:xfrm>
            <a:off x="640080" y="532638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0" name="Google Shape;390;p45"/>
          <p:cNvSpPr txBox="1"/>
          <p:nvPr/>
        </p:nvSpPr>
        <p:spPr>
          <a:xfrm>
            <a:off x="950976" y="546354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Variability</a:t>
            </a:r>
            <a:endParaRPr/>
          </a:p>
        </p:txBody>
      </p:sp>
      <p:sp>
        <p:nvSpPr>
          <p:cNvPr id="391" name="Google Shape;391;p45"/>
          <p:cNvSpPr txBox="1"/>
          <p:nvPr/>
        </p:nvSpPr>
        <p:spPr>
          <a:xfrm>
            <a:off x="950976" y="580186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How spread out the numbers are</a:t>
            </a:r>
            <a:endParaRPr/>
          </a:p>
        </p:txBody>
      </p:sp>
      <p:sp>
        <p:nvSpPr>
          <p:cNvPr id="39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15 / 47</a:t>
            </a:r>
          </a:p>
        </p:txBody>
      </p:sp>
      <p:sp xmlns:p="http://schemas.openxmlformats.org/presentationml/2006/main" xmlns:a="http://schemas.openxmlformats.org/drawingml/2006/main">
        <p:nvSpPr>
          <p:cNvPr id="393" name="TEACH-embedded-student-prompt" descr="Student thinking and response directions"/>
          <p:cNvSpPr txBox="1"/>
          <p:nvPr/>
        </p:nvSpPr>
        <p:spPr>
          <a:xfrm>
            <a:off x="6111240" y="55046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one math word using the example.</a:t>
            </a:r>
            <a:endParaRPr lang="en-US" sz="2000"/>
          </a:p>
          <a:p>
            <a:pPr>
              <a:lnSpc>
                <a:spcPts val="2400"/>
              </a:lnSpc>
              <a:buNone/>
            </a:pPr>
            <a:r>
              <a:rPr lang="en-US" sz="2000">
                <a:solidFill>
                  <a:srgbClr val="174D60"/>
                </a:solidFill>
                <a:latin typeface="Arial"/>
              </a:rPr>
              <a:t>Partner: point to evidence.</a:t>
            </a:r>
            <a:endParaRPr lang="en-US" sz="2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cxnSp>
        <p:nvCxnSpPr>
          <p:cNvPr id="585" name="Google Shape;585;p5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586" name="Google Shape;586;p56"/>
          <p:cNvPicPr preferRelativeResize="0"/>
          <p:nvPr/>
        </p:nvPicPr>
        <p:blipFill rotWithShape="1">
          <a:blip r:embed="rId3">
            <a:alphaModFix/>
          </a:blip>
          <a:srcRect b="0" l="0" r="0" t="0"/>
          <a:stretch/>
        </p:blipFill>
        <p:spPr>
          <a:xfrm>
            <a:off x="4793942" y="1157117"/>
            <a:ext cx="4211956" cy="3632812"/>
          </a:xfrm>
          <a:prstGeom prst="rect">
            <a:avLst/>
          </a:prstGeom>
          <a:noFill/>
          <a:ln>
            <a:noFill/>
          </a:ln>
        </p:spPr>
      </p:pic>
      <p:sp>
        <p:nvSpPr>
          <p:cNvPr id="587" name="Google Shape;587;p56"/>
          <p:cNvSpPr txBox="1"/>
          <p:nvPr/>
        </p:nvSpPr>
        <p:spPr>
          <a:xfrm>
            <a:off x="474055" y="936100"/>
            <a:ext cx="3904129" cy="122933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 xml:space="preserve">What do you notice?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What do you wonder?</a:t>
            </a:r>
            <a:endParaRPr b="0" i="0" sz="1400" u="none" cap="none" strike="noStrike">
              <a:solidFill>
                <a:srgbClr val="000000"/>
              </a:solidFill>
              <a:latin typeface="Arial"/>
              <a:ea typeface="Arial"/>
              <a:cs typeface="Arial"/>
              <a:sym typeface="Arial"/>
            </a:endParaRPr>
          </a:p>
        </p:txBody>
      </p:sp>
      <p:sp>
        <p:nvSpPr>
          <p:cNvPr id="588" name="Google Shape;588;p56"/>
          <p:cNvSpPr txBox="1"/>
          <p:nvPr/>
        </p:nvSpPr>
        <p:spPr>
          <a:xfrm>
            <a:off x="484560" y="316034"/>
            <a:ext cx="3904129" cy="48622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pic>
        <p:nvPicPr>
          <p:cNvPr id="589" name="Google Shape;589;p56"/>
          <p:cNvPicPr preferRelativeResize="0"/>
          <p:nvPr/>
        </p:nvPicPr>
        <p:blipFill rotWithShape="1">
          <a:blip r:embed="rId4">
            <a:alphaModFix/>
          </a:blip>
          <a:srcRect b="0" l="0" r="0" t="0"/>
          <a:stretch/>
        </p:blipFill>
        <p:spPr>
          <a:xfrm>
            <a:off x="484560" y="5124866"/>
            <a:ext cx="5054600" cy="838200"/>
          </a:xfrm>
          <a:prstGeom prst="rect">
            <a:avLst/>
          </a:prstGeom>
          <a:noFill/>
          <a:ln>
            <a:noFill/>
          </a:ln>
        </p:spPr>
      </p:pic>
      <p:sp>
        <p:nvSpPr>
          <p:cNvPr id="590" name="Google Shape;590;p56"/>
          <p:cNvSpPr txBox="1"/>
          <p:nvPr/>
        </p:nvSpPr>
        <p:spPr>
          <a:xfrm>
            <a:off x="3344577" y="5282184"/>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591" name="Google Shape;591;p56"/>
          <p:cNvSpPr/>
          <p:nvPr/>
        </p:nvSpPr>
        <p:spPr>
          <a:xfrm>
            <a:off x="697756" y="5848749"/>
            <a:ext cx="10741420"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What are some ways you can contribute in math class today?</a:t>
            </a:r>
            <a:endParaRPr b="0" i="0" sz="1400" u="none" cap="none" strike="noStrike">
              <a:solidFill>
                <a:srgbClr val="000000"/>
              </a:solidFill>
              <a:latin typeface="Arial"/>
              <a:ea typeface="Arial"/>
              <a:cs typeface="Arial"/>
              <a:sym typeface="Arial"/>
            </a:endParaRPr>
          </a:p>
        </p:txBody>
      </p:sp>
      <p:sp>
        <p:nvSpPr>
          <p:cNvPr id="59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16 / 47</a:t>
            </a:r>
          </a:p>
        </p:txBody>
      </p:sp>
      <p:sp xmlns:p="http://schemas.openxmlformats.org/presentationml/2006/main" xmlns:a="http://schemas.openxmlformats.org/drawingml/2006/main">
        <p:nvSpPr>
          <p:cNvPr id="593" name="TEACH-embedded-student-prompt" descr="Student thinking and response directions"/>
          <p:cNvSpPr txBox="1"/>
          <p:nvPr/>
        </p:nvSpPr>
        <p:spPr>
          <a:xfrm>
            <a:off x="6111240" y="49560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a:t>
            </a:r>
            <a:endParaRPr lang="en-US" sz="2000"/>
          </a:p>
          <a:p>
            <a:pPr>
              <a:lnSpc>
                <a:spcPts val="2400"/>
              </a:lnSpc>
              <a:buNone/>
            </a:pPr>
            <a:r>
              <a:rPr lang="en-US" sz="2000">
                <a:solidFill>
                  <a:srgbClr val="174D60"/>
                </a:solidFill>
                <a:latin typeface="Arial"/>
              </a:rPr>
              <a:t>build on a classmate’s idea.</a:t>
            </a:r>
            <a:endParaRPr lang="en-US" sz="20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cxnSp>
        <p:nvCxnSpPr>
          <p:cNvPr id="607" name="Google Shape;607;p5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608" name="Google Shape;608;p58"/>
          <p:cNvPicPr preferRelativeResize="0"/>
          <p:nvPr/>
        </p:nvPicPr>
        <p:blipFill rotWithShape="1">
          <a:blip r:embed="rId3">
            <a:alphaModFix/>
          </a:blip>
          <a:srcRect b="0" l="0" r="0" t="0"/>
          <a:stretch/>
        </p:blipFill>
        <p:spPr>
          <a:xfrm>
            <a:off x="7449705" y="1498611"/>
            <a:ext cx="4246875" cy="1800000"/>
          </a:xfrm>
          <a:prstGeom prst="rect">
            <a:avLst/>
          </a:prstGeom>
          <a:noFill/>
          <a:ln>
            <a:noFill/>
          </a:ln>
        </p:spPr>
      </p:pic>
      <p:sp>
        <p:nvSpPr>
          <p:cNvPr id="609" name="Google Shape;609;p58"/>
          <p:cNvSpPr txBox="1"/>
          <p:nvPr/>
        </p:nvSpPr>
        <p:spPr>
          <a:xfrm>
            <a:off x="484564" y="936101"/>
            <a:ext cx="6488891" cy="9306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The table shows 25 sixth graders’ times to finish a 5-kilometer road race.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How can you use a data display to show and explain the distribution of the values in the data set?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1" i="0" sz="2800" u="none" cap="none" strike="noStrike">
              <a:solidFill>
                <a:srgbClr val="262626"/>
              </a:solidFill>
              <a:latin typeface="Arial"/>
              <a:ea typeface="Arial"/>
              <a:cs typeface="Arial"/>
              <a:sym typeface="Arial"/>
            </a:endParaRPr>
          </a:p>
        </p:txBody>
      </p:sp>
      <p:sp>
        <p:nvSpPr>
          <p:cNvPr id="610" name="Google Shape;610;p58"/>
          <p:cNvSpPr txBox="1"/>
          <p:nvPr/>
        </p:nvSpPr>
        <p:spPr>
          <a:xfrm>
            <a:off x="484565"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Running a Road Race</a:t>
            </a:r>
            <a:endParaRPr b="0" i="0" sz="1400" u="none" cap="none" strike="noStrike">
              <a:solidFill>
                <a:srgbClr val="000000"/>
              </a:solidFill>
              <a:latin typeface="Arial"/>
              <a:ea typeface="Arial"/>
              <a:cs typeface="Arial"/>
              <a:sym typeface="Arial"/>
            </a:endParaRPr>
          </a:p>
        </p:txBody>
      </p:sp>
      <p:sp>
        <p:nvSpPr>
          <p:cNvPr id="611" name="Google Shape;611;p58"/>
          <p:cNvSpPr txBox="1"/>
          <p:nvPr/>
        </p:nvSpPr>
        <p:spPr>
          <a:xfrm>
            <a:off x="482286" y="3809954"/>
            <a:ext cx="9892622" cy="102169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lt1"/>
                </a:solidFill>
                <a:highlight>
                  <a:srgbClr val="1E2682"/>
                </a:highlight>
                <a:latin typeface="Arial"/>
                <a:ea typeface="Arial"/>
                <a:cs typeface="Arial"/>
                <a:sym typeface="Arial"/>
              </a:rPr>
              <a:t xml:space="preserve"> Think About It</a:t>
            </a:r>
            <a:r>
              <a:rPr b="1" i="0" lang="en-US" sz="2800" u="none" cap="none" strike="noStrike">
                <a:solidFill>
                  <a:srgbClr val="1E2682"/>
                </a:solidFill>
                <a:highlight>
                  <a:srgbClr val="1E2682"/>
                </a:highlight>
                <a:latin typeface="Arial"/>
                <a:ea typeface="Arial"/>
                <a:cs typeface="Arial"/>
                <a:sym typeface="Arial"/>
              </a:rPr>
              <a:t>:</a:t>
            </a:r>
            <a:r>
              <a:rPr b="1" i="0" lang="en-US" sz="2800" u="none" cap="none" strike="noStrike">
                <a:solidFill>
                  <a:schemeClr val="lt1"/>
                </a:solidFill>
                <a:highlight>
                  <a:srgbClr val="1E2682"/>
                </a:highlight>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595959"/>
                </a:solidFill>
                <a:latin typeface="Arial"/>
                <a:ea typeface="Arial"/>
                <a:cs typeface="Arial"/>
                <a:sym typeface="Arial"/>
              </a:rPr>
              <a:t>Where have you heard or used the word distribution before?</a:t>
            </a:r>
            <a:endParaRPr b="0" i="0" sz="1400" u="none" cap="none" strike="noStrike">
              <a:solidFill>
                <a:srgbClr val="000000"/>
              </a:solidFill>
              <a:latin typeface="Arial"/>
              <a:ea typeface="Arial"/>
              <a:cs typeface="Arial"/>
              <a:sym typeface="Arial"/>
            </a:endParaRPr>
          </a:p>
        </p:txBody>
      </p:sp>
      <p:pic>
        <p:nvPicPr>
          <p:cNvPr descr="Graphical user interface, application, Word&#10;&#10;Description automatically generated" id="612" name="Google Shape;612;p58"/>
          <p:cNvPicPr preferRelativeResize="0"/>
          <p:nvPr/>
        </p:nvPicPr>
        <p:blipFill rotWithShape="1">
          <a:blip r:embed="rId4">
            <a:alphaModFix/>
          </a:blip>
          <a:srcRect b="0" l="0" r="0" t="0"/>
          <a:stretch/>
        </p:blipFill>
        <p:spPr>
          <a:xfrm>
            <a:off x="432805" y="5020435"/>
            <a:ext cx="7073900" cy="841847"/>
          </a:xfrm>
          <a:prstGeom prst="rect">
            <a:avLst/>
          </a:prstGeom>
          <a:noFill/>
          <a:ln>
            <a:noFill/>
          </a:ln>
        </p:spPr>
      </p:pic>
      <p:sp>
        <p:nvSpPr>
          <p:cNvPr id="613" name="Google Shape;613;p58"/>
          <p:cNvSpPr txBox="1"/>
          <p:nvPr/>
        </p:nvSpPr>
        <p:spPr>
          <a:xfrm>
            <a:off x="3150327" y="5177754"/>
            <a:ext cx="6783781" cy="642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Describing Quantities</a:t>
            </a:r>
            <a:endParaRPr b="0" i="0" sz="1400" u="none" cap="none" strike="noStrike">
              <a:solidFill>
                <a:srgbClr val="000000"/>
              </a:solidFill>
              <a:latin typeface="Arial"/>
              <a:ea typeface="Arial"/>
              <a:cs typeface="Arial"/>
              <a:sym typeface="Arial"/>
            </a:endParaRPr>
          </a:p>
        </p:txBody>
      </p:sp>
      <p:sp>
        <p:nvSpPr>
          <p:cNvPr id="614" name="Google Shape;614;p58"/>
          <p:cNvSpPr/>
          <p:nvPr/>
        </p:nvSpPr>
        <p:spPr>
          <a:xfrm>
            <a:off x="622379" y="5835759"/>
            <a:ext cx="10741420"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defRPr/>
            </a:pPr>
            <a:r>
              <a:rPr b="0" i="0" lang="en-US" sz="2600" u="none" cap="none" strike="noStrike">
                <a:solidFill>
                  <a:srgbClr val="595959"/>
                </a:solidFill>
                <a:latin typeface="Arial"/>
                <a:ea typeface="Arial"/>
                <a:cs typeface="Arial"/>
                <a:sym typeface="Arial"/>
              </a:rPr>
              <a:t>What are the important quantities in this problem?</a:t>
            </a:r>
            <a:endParaRPr b="0" i="0" sz="1400" u="none" cap="none" strike="noStrike">
              <a:solidFill>
                <a:srgbClr val="000000"/>
              </a:solidFill>
              <a:latin typeface="Arial"/>
              <a:ea typeface="Arial"/>
              <a:cs typeface="Arial"/>
              <a:sym typeface="Arial"/>
            </a:endParaRPr>
          </a:p>
        </p:txBody>
      </p:sp>
      <p:sp>
        <p:nvSpPr>
          <p:cNvPr id="61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17 / 47</a:t>
            </a:r>
          </a:p>
        </p:txBody>
      </p:sp>
      <p:grpSp>
        <p:nvGrpSpPr>
          <p:cNvPr id="616" name="TEACH-6-student-move" descr="TEACH 6 · Organize and implement routines to support a learning-focused classroom"/>
          <p:cNvGrpSpPr/>
          <p:nvPr/>
        </p:nvGrpSpPr>
        <p:grpSpPr>
          <a:xfrm>
            <a:off x="502920" y="3371042"/>
            <a:ext cx="11186160" cy="402336"/>
            <a:chOff x="502920" y="3371042"/>
            <a:chExt cx="11186160" cy="402336"/>
          </a:xfrm>
        </p:grpSpPr>
        <p:sp>
          <p:nvSpPr>
            <p:cNvPr id="617" name="TEACH-move-card"/>
            <p:cNvSpPr/>
            <p:nvPr/>
          </p:nvSpPr>
          <p:spPr>
            <a:xfrm>
              <a:off x="502920" y="3371042"/>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618" name="TEACH-move-rule"/>
            <p:cNvSpPr/>
            <p:nvPr/>
          </p:nvSpPr>
          <p:spPr>
            <a:xfrm>
              <a:off x="548640" y="3447486"/>
              <a:ext cx="100584" cy="249448"/>
            </a:xfrm>
            <a:prstGeom prst="roundRect">
              <a:avLst>
                <a:gd name="adj" fmla="val 50000"/>
              </a:avLst>
            </a:prstGeom>
            <a:solidFill>
              <a:srgbClr val="01708C"/>
            </a:solidFill>
            <a:ln>
              <a:noFill/>
            </a:ln>
          </p:spPr>
          <p:txBody>
            <a:bodyPr/>
            <a:lstStyle/>
            <a:p>
              <a:endParaRPr/>
            </a:p>
          </p:txBody>
        </p:sp>
        <p:sp>
          <p:nvSpPr>
            <p:cNvPr id="619" name="TEACH-move-text"/>
            <p:cNvSpPr txBox="1"/>
            <p:nvPr/>
          </p:nvSpPr>
          <p:spPr>
            <a:xfrm>
              <a:off x="822960" y="3371042"/>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TRY IT BEFORE YOU’RE SURE  ·  </a:t>
              </a:r>
              <a:r>
                <a:rPr lang="en-US" sz="1200" dirty="0">
                  <a:solidFill>
                    <a:srgbClr val="13303A"/>
                  </a:solidFill>
                  <a:latin typeface="Arial"/>
                </a:rPr>
                <a:t>Start even if you are not sure. A revised answer counts as much as a first-try answer.</a:t>
              </a:r>
              <a:endParaRPr lang="en-US" sz="1200"/>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 name="Shape 683"/>
        <p:cNvGrpSpPr/>
        <p:nvPr/>
      </p:nvGrpSpPr>
      <p:grpSpPr>
        <a:xfrm>
          <a:off x="0" y="0"/>
          <a:ext cx="0" cy="0"/>
          <a:chOff x="0" y="0"/>
          <a:chExt cx="0" cy="0"/>
        </a:xfrm>
      </p:grpSpPr>
      <p:cxnSp>
        <p:nvCxnSpPr>
          <p:cNvPr id="684" name="Google Shape;684;p6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85" name="Google Shape;685;p66"/>
          <p:cNvSpPr txBox="1"/>
          <p:nvPr/>
        </p:nvSpPr>
        <p:spPr>
          <a:xfrm>
            <a:off x="422781" y="5230544"/>
            <a:ext cx="7072732" cy="117933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Each side has the same number of values.</a:t>
            </a:r>
            <a:endParaRPr b="0" i="0" sz="1400" u="none" cap="none" strike="noStrike">
              <a:solidFill>
                <a:srgbClr val="000000"/>
              </a:solidFill>
              <a:latin typeface="Arial"/>
              <a:ea typeface="Arial"/>
              <a:cs typeface="Arial"/>
              <a:sym typeface="Arial"/>
            </a:endParaRPr>
          </a:p>
        </p:txBody>
      </p:sp>
      <p:pic>
        <p:nvPicPr>
          <p:cNvPr id="686" name="Google Shape;686;p66"/>
          <p:cNvPicPr preferRelativeResize="0"/>
          <p:nvPr/>
        </p:nvPicPr>
        <p:blipFill rotWithShape="1">
          <a:blip r:embed="rId3">
            <a:alphaModFix/>
          </a:blip>
          <a:srcRect b="0" l="0" r="0" t="0"/>
          <a:stretch/>
        </p:blipFill>
        <p:spPr>
          <a:xfrm>
            <a:off x="580254" y="2455220"/>
            <a:ext cx="11148038" cy="1397910"/>
          </a:xfrm>
          <a:prstGeom prst="rect">
            <a:avLst/>
          </a:prstGeom>
          <a:noFill/>
          <a:ln>
            <a:noFill/>
          </a:ln>
        </p:spPr>
      </p:pic>
      <p:sp>
        <p:nvSpPr>
          <p:cNvPr id="687" name="Google Shape;687;p66"/>
          <p:cNvSpPr txBox="1"/>
          <p:nvPr/>
        </p:nvSpPr>
        <p:spPr>
          <a:xfrm>
            <a:off x="424179" y="481973"/>
            <a:ext cx="6878761" cy="1048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What do you notice about the number of values on either side of the median?</a:t>
            </a:r>
            <a:endParaRPr b="0" i="0" sz="1400" u="none" cap="none" strike="noStrike">
              <a:solidFill>
                <a:srgbClr val="000000"/>
              </a:solidFill>
              <a:latin typeface="Arial"/>
              <a:ea typeface="Arial"/>
              <a:cs typeface="Arial"/>
              <a:sym typeface="Arial"/>
            </a:endParaRPr>
          </a:p>
        </p:txBody>
      </p:sp>
      <p:sp>
        <p:nvSpPr>
          <p:cNvPr id="68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18 / 47</a:t>
            </a:r>
          </a:p>
        </p:txBody>
      </p:sp>
      <p:sp>
        <p:nvSpPr>
          <p:cNvPr id="689" name="EWL-COVER-1"/>
          <p:cNvSpPr/>
          <p:nvPr/>
        </p:nvSpPr>
        <p:spPr>
          <a:xfrm>
            <a:off x="367917" y="5175680"/>
            <a:ext cx="7182460" cy="1270840"/>
          </a:xfrm>
          <a:prstGeom prst="rect">
            <a:avLst/>
          </a:prstGeom>
          <a:solidFill>
            <a:srgbClr val="FFFFFF"/>
          </a:solidFill>
          <a:ln>
            <a:noFill/>
          </a:ln>
        </p:spPr>
        <p:txBody>
          <a:bodyPr/>
          <a:lstStyle/>
          <a:p/>
        </p:txBody>
      </p:sp>
      <p:sp xmlns:p="http://schemas.openxmlformats.org/presentationml/2006/main" xmlns:a="http://schemas.openxmlformats.org/drawingml/2006/main">
        <p:nvSpPr>
          <p:cNvPr id="690" name="TEACH-embedded-student-prompt" descr="Student thinking and response directions"/>
          <p:cNvSpPr txBox="1"/>
          <p:nvPr/>
        </p:nvSpPr>
        <p:spPr>
          <a:xfrm>
            <a:off x="594360" y="453542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 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8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cxnSp>
        <p:nvCxnSpPr>
          <p:cNvPr id="719" name="Google Shape;719;p7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20" name="Google Shape;720;p70"/>
          <p:cNvSpPr txBox="1"/>
          <p:nvPr/>
        </p:nvSpPr>
        <p:spPr>
          <a:xfrm>
            <a:off x="415553" y="499666"/>
            <a:ext cx="6675360" cy="96897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Let’s find the median of each half of the data set.</a:t>
            </a:r>
            <a:endParaRPr b="1" i="0" sz="2800" u="none" cap="none" strike="noStrike">
              <a:solidFill>
                <a:srgbClr val="262626"/>
              </a:solidFill>
              <a:latin typeface="Arial"/>
              <a:ea typeface="Arial"/>
              <a:cs typeface="Arial"/>
              <a:sym typeface="Arial"/>
            </a:endParaRPr>
          </a:p>
        </p:txBody>
      </p:sp>
      <p:sp>
        <p:nvSpPr>
          <p:cNvPr id="721" name="Google Shape;721;p70"/>
          <p:cNvSpPr txBox="1"/>
          <p:nvPr/>
        </p:nvSpPr>
        <p:spPr>
          <a:xfrm>
            <a:off x="415553" y="5254281"/>
            <a:ext cx="5960624" cy="110405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They divide the data into fourths.</a:t>
            </a:r>
            <a:endParaRPr b="0" i="0" sz="1400" u="none" cap="none" strike="noStrike">
              <a:solidFill>
                <a:srgbClr val="000000"/>
              </a:solidFill>
              <a:latin typeface="Arial"/>
              <a:ea typeface="Arial"/>
              <a:cs typeface="Arial"/>
              <a:sym typeface="Arial"/>
            </a:endParaRPr>
          </a:p>
        </p:txBody>
      </p:sp>
      <p:sp>
        <p:nvSpPr>
          <p:cNvPr id="722" name="Google Shape;722;p70"/>
          <p:cNvSpPr txBox="1"/>
          <p:nvPr/>
        </p:nvSpPr>
        <p:spPr>
          <a:xfrm>
            <a:off x="415553" y="4091688"/>
            <a:ext cx="9666199" cy="92101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What do you notice about how the median and medians of each half divide the data?</a:t>
            </a:r>
            <a:endParaRPr b="0" i="0" sz="1400" u="none" cap="none" strike="noStrike">
              <a:solidFill>
                <a:srgbClr val="000000"/>
              </a:solidFill>
              <a:latin typeface="Arial"/>
              <a:ea typeface="Arial"/>
              <a:cs typeface="Arial"/>
              <a:sym typeface="Arial"/>
            </a:endParaRPr>
          </a:p>
        </p:txBody>
      </p:sp>
      <p:pic>
        <p:nvPicPr>
          <p:cNvPr id="723" name="Google Shape;723;p70"/>
          <p:cNvPicPr preferRelativeResize="0"/>
          <p:nvPr/>
        </p:nvPicPr>
        <p:blipFill rotWithShape="1">
          <a:blip r:embed="rId3">
            <a:alphaModFix/>
          </a:blip>
          <a:srcRect b="0" l="0" r="0" t="0"/>
          <a:stretch/>
        </p:blipFill>
        <p:spPr>
          <a:xfrm>
            <a:off x="548510" y="2433460"/>
            <a:ext cx="10400227" cy="1416652"/>
          </a:xfrm>
          <a:prstGeom prst="rect">
            <a:avLst/>
          </a:prstGeom>
          <a:noFill/>
          <a:ln>
            <a:noFill/>
          </a:ln>
        </p:spPr>
      </p:pic>
      <p:sp>
        <p:nvSpPr>
          <p:cNvPr id="72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19 / 47</a:t>
            </a:r>
          </a:p>
        </p:txBody>
      </p:sp>
      <p:sp>
        <p:nvSpPr>
          <p:cNvPr id="725" name="EWL-COVER-1"/>
          <p:cNvSpPr/>
          <p:nvPr/>
        </p:nvSpPr>
        <p:spPr>
          <a:xfrm>
            <a:off x="360689" y="5199417"/>
            <a:ext cx="6070352" cy="1213781"/>
          </a:xfrm>
          <a:prstGeom prst="rect">
            <a:avLst/>
          </a:prstGeom>
          <a:solidFill>
            <a:srgbClr val="FFFFFF"/>
          </a:solidFill>
          <a:ln>
            <a:noFill/>
          </a:ln>
        </p:spPr>
        <p:txBody>
          <a:bodyPr/>
          <a:lstStyle/>
          <a:p/>
        </p:txBody>
      </p:sp>
      <p:sp xmlns:p="http://schemas.openxmlformats.org/presentationml/2006/main" xmlns:a="http://schemas.openxmlformats.org/drawingml/2006/main">
        <p:nvSpPr>
          <p:cNvPr id="726" name="TEACH-embedded-student-prompt" descr="Student thinking and response directions"/>
          <p:cNvSpPr txBox="1"/>
          <p:nvPr/>
        </p:nvSpPr>
        <p:spPr>
          <a:xfrm>
            <a:off x="594360" y="179222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 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2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cxnSp>
        <p:nvCxnSpPr>
          <p:cNvPr id="735" name="Google Shape;735;p7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36" name="Google Shape;736;p72"/>
          <p:cNvSpPr txBox="1"/>
          <p:nvPr/>
        </p:nvSpPr>
        <p:spPr>
          <a:xfrm>
            <a:off x="484564" y="478901"/>
            <a:ext cx="7011791" cy="106114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 xml:space="preserve">Now the data is divided into four equal parts by values called </a:t>
            </a:r>
            <a:r>
              <a:rPr b="1" i="0" lang="en-US" sz="2800" u="none" cap="none" strike="noStrike">
                <a:solidFill>
                  <a:srgbClr val="23282D"/>
                </a:solidFill>
                <a:highlight>
                  <a:srgbClr val="FFFF00"/>
                </a:highlight>
                <a:latin typeface="Arial"/>
                <a:ea typeface="Arial"/>
                <a:cs typeface="Arial"/>
                <a:sym typeface="Arial"/>
              </a:rPr>
              <a:t>quartiles</a:t>
            </a:r>
            <a:r>
              <a:rPr b="0" i="0" lang="en-US" sz="2800" u="none" cap="none" strike="noStrike">
                <a:solidFill>
                  <a:srgbClr val="23282D"/>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p:txBody>
      </p:sp>
      <p:sp>
        <p:nvSpPr>
          <p:cNvPr id="737" name="Google Shape;737;p72"/>
          <p:cNvSpPr txBox="1"/>
          <p:nvPr/>
        </p:nvSpPr>
        <p:spPr>
          <a:xfrm>
            <a:off x="568787" y="4333582"/>
            <a:ext cx="10283697" cy="20467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23282D"/>
                </a:solidFill>
                <a:latin typeface="Arial"/>
                <a:ea typeface="Arial"/>
                <a:cs typeface="Arial"/>
                <a:sym typeface="Arial"/>
              </a:rPr>
              <a:t>The median of the lower half is quartile 1. It is another marker used to describe a set of data.​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000000"/>
              </a:buClr>
              <a:buSzPts val="2800"/>
              <a:buFont typeface="Arial"/>
              <a:buNone/>
              <a:defRPr/>
            </a:pPr>
            <a:r>
              <a:rPr b="0" i="0" lang="en-US" sz="2800" u="none" cap="none" strike="noStrike">
                <a:solidFill>
                  <a:srgbClr val="23282D"/>
                </a:solidFill>
                <a:latin typeface="Arial"/>
                <a:ea typeface="Arial"/>
                <a:cs typeface="Arial"/>
                <a:sym typeface="Arial"/>
              </a:rPr>
              <a:t>One quarter of the data lies between the lower extreme and the first quartile.​</a:t>
            </a:r>
            <a:endParaRPr b="0" i="0" sz="1400" u="none" cap="none" strike="noStrike">
              <a:solidFill>
                <a:srgbClr val="000000"/>
              </a:solidFill>
              <a:latin typeface="Arial"/>
              <a:ea typeface="Arial"/>
              <a:cs typeface="Arial"/>
              <a:sym typeface="Arial"/>
            </a:endParaRPr>
          </a:p>
        </p:txBody>
      </p:sp>
      <p:pic>
        <p:nvPicPr>
          <p:cNvPr id="738" name="Google Shape;738;p72"/>
          <p:cNvPicPr preferRelativeResize="0"/>
          <p:nvPr/>
        </p:nvPicPr>
        <p:blipFill rotWithShape="1">
          <a:blip r:embed="rId3">
            <a:alphaModFix/>
          </a:blip>
          <a:srcRect b="0" l="0" r="0" t="0"/>
          <a:stretch/>
        </p:blipFill>
        <p:spPr>
          <a:xfrm>
            <a:off x="462884" y="1986544"/>
            <a:ext cx="10389600" cy="1900537"/>
          </a:xfrm>
          <a:prstGeom prst="rect">
            <a:avLst/>
          </a:prstGeom>
          <a:noFill/>
          <a:ln>
            <a:noFill/>
          </a:ln>
        </p:spPr>
      </p:pic>
      <p:sp>
        <p:nvSpPr>
          <p:cNvPr id="73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20 / 47</a:t>
            </a:r>
          </a:p>
        </p:txBody>
      </p:sp>
      <p:grpSp>
        <p:nvGrpSpPr>
          <p:cNvPr id="740" name="TEACH-5-student-move" descr="TEACH 5 · Facilitate student interactions and academic talk"/>
          <p:cNvGrpSpPr/>
          <p:nvPr/>
        </p:nvGrpSpPr>
        <p:grpSpPr>
          <a:xfrm>
            <a:off x="502920" y="3976966"/>
            <a:ext cx="11186160" cy="320040"/>
            <a:chOff x="502920" y="3976966"/>
            <a:chExt cx="11186160" cy="320040"/>
          </a:xfrm>
        </p:grpSpPr>
        <p:sp>
          <p:nvSpPr>
            <p:cNvPr id="741" name="TEACH-move-card"/>
            <p:cNvSpPr/>
            <p:nvPr/>
          </p:nvSpPr>
          <p:spPr>
            <a:xfrm>
              <a:off x="502920" y="3976966"/>
              <a:ext cx="11186160" cy="320040"/>
            </a:xfrm>
            <a:prstGeom prst="roundRect">
              <a:avLst>
                <a:gd name="adj" fmla="val 16000"/>
              </a:avLst>
            </a:prstGeom>
            <a:solidFill>
              <a:srgbClr val="E4F0F5"/>
            </a:solidFill>
            <a:ln w="19050">
              <a:solidFill>
                <a:srgbClr val="8CB8C7"/>
              </a:solidFill>
            </a:ln>
          </p:spPr>
          <p:txBody>
            <a:bodyPr/>
            <a:lstStyle/>
            <a:p>
              <a:endParaRPr/>
            </a:p>
          </p:txBody>
        </p:sp>
        <p:sp>
          <p:nvSpPr>
            <p:cNvPr id="742" name="TEACH-move-rule"/>
            <p:cNvSpPr/>
            <p:nvPr/>
          </p:nvSpPr>
          <p:spPr>
            <a:xfrm>
              <a:off x="548640" y="4037774"/>
              <a:ext cx="100584" cy="198424"/>
            </a:xfrm>
            <a:prstGeom prst="roundRect">
              <a:avLst>
                <a:gd name="adj" fmla="val 50000"/>
              </a:avLst>
            </a:prstGeom>
            <a:solidFill>
              <a:srgbClr val="01708C"/>
            </a:solidFill>
            <a:ln>
              <a:noFill/>
            </a:ln>
          </p:spPr>
          <p:txBody>
            <a:bodyPr/>
            <a:lstStyle/>
            <a:p>
              <a:endParaRPr/>
            </a:p>
          </p:txBody>
        </p:sp>
        <p:sp>
          <p:nvSpPr>
            <p:cNvPr id="743" name="TEACH-move-text"/>
            <p:cNvSpPr txBox="1"/>
            <p:nvPr/>
          </p:nvSpPr>
          <p:spPr>
            <a:xfrm>
              <a:off x="822960" y="3976966"/>
              <a:ext cx="10728960" cy="32004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USE THE MATH WORDS  ·  </a:t>
              </a:r>
              <a:r>
                <a:rPr lang="en-US" sz="1200" dirty="0">
                  <a:solidFill>
                    <a:srgbClr val="13303A"/>
                  </a:solidFill>
                  <a:latin typeface="Arial"/>
                </a:rPr>
                <a:t>Use today’s math words in your explanation — not “it” and “that thing.”</a:t>
              </a:r>
              <a:endParaRPr lang="en-US" sz="1200"/>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cxnSp>
        <p:nvCxnSpPr>
          <p:cNvPr id="767" name="Google Shape;767;p7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768" name="Google Shape;768;p76"/>
          <p:cNvPicPr preferRelativeResize="0"/>
          <p:nvPr/>
        </p:nvPicPr>
        <p:blipFill rotWithShape="1">
          <a:blip r:embed="rId3">
            <a:alphaModFix/>
          </a:blip>
          <a:srcRect b="0" l="0" r="0" t="0"/>
          <a:stretch/>
        </p:blipFill>
        <p:spPr>
          <a:xfrm>
            <a:off x="2030045" y="2441866"/>
            <a:ext cx="7077860" cy="2390849"/>
          </a:xfrm>
          <a:prstGeom prst="rect">
            <a:avLst/>
          </a:prstGeom>
          <a:noFill/>
          <a:ln>
            <a:noFill/>
          </a:ln>
        </p:spPr>
      </p:pic>
      <p:sp>
        <p:nvSpPr>
          <p:cNvPr id="769" name="Google Shape;769;p76"/>
          <p:cNvSpPr txBox="1"/>
          <p:nvPr/>
        </p:nvSpPr>
        <p:spPr>
          <a:xfrm>
            <a:off x="406928" y="435770"/>
            <a:ext cx="6373434" cy="17725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 xml:space="preserve">A </a:t>
            </a:r>
            <a:r>
              <a:rPr b="1" i="0" lang="en-US" sz="2800" u="none" cap="none" strike="noStrike">
                <a:solidFill>
                  <a:srgbClr val="23282D"/>
                </a:solidFill>
                <a:highlight>
                  <a:srgbClr val="FFFF00"/>
                </a:highlight>
                <a:latin typeface="Arial"/>
                <a:ea typeface="Arial"/>
                <a:cs typeface="Arial"/>
                <a:sym typeface="Arial"/>
              </a:rPr>
              <a:t>box plot</a:t>
            </a:r>
            <a:r>
              <a:rPr b="0" i="0" lang="en-US" sz="2800" u="none" cap="none" strike="noStrike">
                <a:solidFill>
                  <a:srgbClr val="23282D"/>
                </a:solidFill>
                <a:latin typeface="Arial"/>
                <a:ea typeface="Arial"/>
                <a:cs typeface="Arial"/>
                <a:sym typeface="Arial"/>
              </a:rPr>
              <a:t>, or a box and whisker plot, is a data display that shows the distribution of the data using five markers.</a:t>
            </a:r>
            <a:endParaRPr b="0" i="0" sz="1400" u="none" cap="none" strike="noStrike">
              <a:solidFill>
                <a:srgbClr val="000000"/>
              </a:solidFill>
              <a:latin typeface="Arial"/>
              <a:ea typeface="Arial"/>
              <a:cs typeface="Arial"/>
              <a:sym typeface="Arial"/>
            </a:endParaRPr>
          </a:p>
        </p:txBody>
      </p:sp>
      <p:sp>
        <p:nvSpPr>
          <p:cNvPr id="77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21 / 47</a:t>
            </a:r>
          </a:p>
        </p:txBody>
      </p:sp>
      <p:sp xmlns:p="http://schemas.openxmlformats.org/presentationml/2006/main" xmlns:a="http://schemas.openxmlformats.org/drawingml/2006/main">
        <p:nvSpPr>
          <p:cNvPr id="771" name="TEACH-embedded-student-prompt" descr="Student thinking and response directions"/>
          <p:cNvSpPr txBox="1"/>
          <p:nvPr/>
        </p:nvSpPr>
        <p:spPr>
          <a:xfrm>
            <a:off x="594360" y="5724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Point to the labeled values that support your comparison of center or spread.</a:t>
            </a:r>
            <a:endParaRPr lang="en-US" sz="20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cxnSp>
        <p:nvCxnSpPr>
          <p:cNvPr id="784" name="Google Shape;784;p7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85" name="Google Shape;785;p78"/>
          <p:cNvSpPr txBox="1"/>
          <p:nvPr/>
        </p:nvSpPr>
        <p:spPr>
          <a:xfrm>
            <a:off x="389674" y="5252718"/>
            <a:ext cx="7294889" cy="88928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What do you notice about the box of a box plot?</a:t>
            </a:r>
            <a:endParaRPr b="0" i="0" sz="1400" u="none" cap="none" strike="noStrike">
              <a:solidFill>
                <a:srgbClr val="000000"/>
              </a:solidFill>
              <a:latin typeface="Arial"/>
              <a:ea typeface="Arial"/>
              <a:cs typeface="Arial"/>
              <a:sym typeface="Arial"/>
            </a:endParaRPr>
          </a:p>
        </p:txBody>
      </p:sp>
      <p:pic>
        <p:nvPicPr>
          <p:cNvPr id="786" name="Google Shape;786;p78"/>
          <p:cNvPicPr preferRelativeResize="0"/>
          <p:nvPr/>
        </p:nvPicPr>
        <p:blipFill rotWithShape="1">
          <a:blip r:embed="rId3">
            <a:alphaModFix/>
          </a:blip>
          <a:srcRect b="0" l="0" r="0" t="0"/>
          <a:stretch/>
        </p:blipFill>
        <p:spPr>
          <a:xfrm>
            <a:off x="560243" y="3538104"/>
            <a:ext cx="6915150" cy="1266825"/>
          </a:xfrm>
          <a:prstGeom prst="rect">
            <a:avLst/>
          </a:prstGeom>
          <a:noFill/>
          <a:ln>
            <a:noFill/>
          </a:ln>
        </p:spPr>
      </p:pic>
      <p:pic>
        <p:nvPicPr>
          <p:cNvPr id="787" name="Google Shape;787;p78"/>
          <p:cNvPicPr preferRelativeResize="0"/>
          <p:nvPr/>
        </p:nvPicPr>
        <p:blipFill rotWithShape="1">
          <a:blip r:embed="rId4">
            <a:alphaModFix/>
          </a:blip>
          <a:srcRect b="0" l="0" r="0" t="0"/>
          <a:stretch/>
        </p:blipFill>
        <p:spPr>
          <a:xfrm>
            <a:off x="484563" y="1976583"/>
            <a:ext cx="7200000" cy="1307623"/>
          </a:xfrm>
          <a:prstGeom prst="rect">
            <a:avLst/>
          </a:prstGeom>
          <a:noFill/>
          <a:ln>
            <a:noFill/>
          </a:ln>
        </p:spPr>
      </p:pic>
      <p:sp>
        <p:nvSpPr>
          <p:cNvPr id="788" name="Google Shape;788;p78"/>
          <p:cNvSpPr txBox="1"/>
          <p:nvPr/>
        </p:nvSpPr>
        <p:spPr>
          <a:xfrm>
            <a:off x="389674" y="489238"/>
            <a:ext cx="6735745" cy="10404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Let’s create a box plot for the data set. First, draw the box of the box plot.</a:t>
            </a:r>
            <a:endParaRPr b="0" i="0" sz="1400" u="none" cap="none" strike="noStrike">
              <a:solidFill>
                <a:srgbClr val="000000"/>
              </a:solidFill>
              <a:latin typeface="Arial"/>
              <a:ea typeface="Arial"/>
              <a:cs typeface="Arial"/>
              <a:sym typeface="Arial"/>
            </a:endParaRPr>
          </a:p>
        </p:txBody>
      </p:sp>
      <p:sp>
        <p:nvSpPr>
          <p:cNvPr id="789" name="Google Shape;789;p78"/>
          <p:cNvSpPr txBox="1"/>
          <p:nvPr/>
        </p:nvSpPr>
        <p:spPr>
          <a:xfrm>
            <a:off x="7684563" y="4804929"/>
            <a:ext cx="4238148"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It begins at quartile 1 and ends at quartile 3.</a:t>
            </a:r>
            <a:endParaRPr b="0" i="0" sz="1400" u="none" cap="none" strike="noStrike">
              <a:solidFill>
                <a:srgbClr val="000000"/>
              </a:solidFill>
              <a:latin typeface="Arial"/>
              <a:ea typeface="Arial"/>
              <a:cs typeface="Arial"/>
              <a:sym typeface="Arial"/>
            </a:endParaRPr>
          </a:p>
        </p:txBody>
      </p:sp>
      <p:sp>
        <p:nvSpPr>
          <p:cNvPr id="79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22 / 47</a:t>
            </a:r>
          </a:p>
        </p:txBody>
      </p:sp>
      <p:sp>
        <p:nvSpPr>
          <p:cNvPr id="791" name="EWL-COVER-1"/>
          <p:cNvSpPr/>
          <p:nvPr/>
        </p:nvSpPr>
        <p:spPr>
          <a:xfrm>
            <a:off x="7629699" y="4750065"/>
            <a:ext cx="4347876" cy="1659768"/>
          </a:xfrm>
          <a:prstGeom prst="rect">
            <a:avLst/>
          </a:prstGeom>
          <a:solidFill>
            <a:srgbClr val="FFFFFF"/>
          </a:solidFill>
          <a:ln>
            <a:noFill/>
          </a:ln>
        </p:spPr>
        <p:txBody>
          <a:bodyPr/>
          <a:lstStyle/>
          <a:p/>
        </p:txBody>
      </p:sp>
      <p:grpSp>
        <p:nvGrpSpPr>
          <p:cNvPr id="792" name="TEACH-3-student-move" descr="TEACH 3 · Use intentional questioning to deepen learning"/>
          <p:cNvGrpSpPr/>
          <p:nvPr/>
        </p:nvGrpSpPr>
        <p:grpSpPr>
          <a:xfrm>
            <a:off x="502920" y="1619967"/>
            <a:ext cx="11186160" cy="320040"/>
            <a:chOff x="502920" y="1619967"/>
            <a:chExt cx="11186160" cy="320040"/>
          </a:xfrm>
        </p:grpSpPr>
        <p:sp>
          <p:nvSpPr>
            <p:cNvPr id="793" name="TEACH-move-card"/>
            <p:cNvSpPr/>
            <p:nvPr/>
          </p:nvSpPr>
          <p:spPr>
            <a:xfrm>
              <a:off x="502920" y="1619967"/>
              <a:ext cx="11186160" cy="320040"/>
            </a:xfrm>
            <a:prstGeom prst="roundRect">
              <a:avLst>
                <a:gd name="adj" fmla="val 16000"/>
              </a:avLst>
            </a:prstGeom>
            <a:solidFill>
              <a:srgbClr val="E4F0F5"/>
            </a:solidFill>
            <a:ln w="19050">
              <a:solidFill>
                <a:srgbClr val="8CB8C7"/>
              </a:solidFill>
            </a:ln>
          </p:spPr>
          <p:txBody>
            <a:bodyPr/>
            <a:lstStyle/>
            <a:p>
              <a:endParaRPr/>
            </a:p>
          </p:txBody>
        </p:sp>
        <p:sp>
          <p:nvSpPr>
            <p:cNvPr id="794" name="TEACH-move-rule"/>
            <p:cNvSpPr/>
            <p:nvPr/>
          </p:nvSpPr>
          <p:spPr>
            <a:xfrm>
              <a:off x="548640" y="1680775"/>
              <a:ext cx="100584" cy="198424"/>
            </a:xfrm>
            <a:prstGeom prst="roundRect">
              <a:avLst>
                <a:gd name="adj" fmla="val 50000"/>
              </a:avLst>
            </a:prstGeom>
            <a:solidFill>
              <a:srgbClr val="01708C"/>
            </a:solidFill>
            <a:ln>
              <a:noFill/>
            </a:ln>
          </p:spPr>
          <p:txBody>
            <a:bodyPr/>
            <a:lstStyle/>
            <a:p>
              <a:endParaRPr/>
            </a:p>
          </p:txBody>
        </p:sp>
        <p:sp>
          <p:nvSpPr>
            <p:cNvPr id="795" name="TEACH-move-text"/>
            <p:cNvSpPr txBox="1"/>
            <p:nvPr/>
          </p:nvSpPr>
          <p:spPr>
            <a:xfrm>
              <a:off x="822960" y="1619967"/>
              <a:ext cx="10728960" cy="32004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HOW DO YOU KNOW?  ·  </a:t>
              </a:r>
              <a:r>
                <a:rPr lang="en-US" sz="1200" dirty="0">
                  <a:solidFill>
                    <a:srgbClr val="13303A"/>
                  </a:solidFill>
                  <a:latin typeface="Arial"/>
                </a:rPr>
                <a:t>Ask your partner “How do you know?” Answer by pointing to your own work.</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9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cxnSp>
        <p:nvCxnSpPr>
          <p:cNvPr id="850" name="Google Shape;850;p85"/>
          <p:cNvCxnSpPr/>
          <p:nvPr/>
        </p:nvCxnSpPr>
        <p:spPr>
          <a:xfrm>
            <a:off x="13225263" y="5903076"/>
            <a:ext cx="0" cy="0"/>
          </a:xfrm>
          <a:prstGeom prst="straightConnector1">
            <a:avLst/>
          </a:prstGeom>
          <a:noFill/>
          <a:ln cap="flat" cmpd="sng" w="9525">
            <a:solidFill>
              <a:schemeClr val="accent1"/>
            </a:solidFill>
            <a:prstDash val="solid"/>
            <a:miter lim="80"/>
            <a:headEnd len="sm" w="sm" type="none"/>
            <a:tailEnd len="sm" w="sm" type="none"/>
          </a:ln>
        </p:spPr>
      </p:cxnSp>
      <p:sp>
        <p:nvSpPr>
          <p:cNvPr id="851" name="Google Shape;851;p85"/>
          <p:cNvSpPr txBox="1"/>
          <p:nvPr/>
        </p:nvSpPr>
        <p:spPr>
          <a:xfrm>
            <a:off x="498051" y="3601663"/>
            <a:ext cx="5866654" cy="14534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Between which two values does the middle half of the data fall?</a:t>
            </a:r>
            <a:endParaRPr b="0" i="0" sz="1400" u="none" cap="none" strike="noStrike">
              <a:solidFill>
                <a:srgbClr val="000000"/>
              </a:solidFill>
              <a:latin typeface="Arial"/>
              <a:ea typeface="Arial"/>
              <a:cs typeface="Arial"/>
              <a:sym typeface="Arial"/>
            </a:endParaRPr>
          </a:p>
        </p:txBody>
      </p:sp>
      <p:pic>
        <p:nvPicPr>
          <p:cNvPr id="852" name="Google Shape;852;p85"/>
          <p:cNvPicPr preferRelativeResize="0"/>
          <p:nvPr/>
        </p:nvPicPr>
        <p:blipFill rotWithShape="1">
          <a:blip r:embed="rId3">
            <a:alphaModFix/>
          </a:blip>
          <a:srcRect b="0" l="0" r="0" t="0"/>
          <a:stretch/>
        </p:blipFill>
        <p:spPr>
          <a:xfrm>
            <a:off x="5631914" y="1655015"/>
            <a:ext cx="6065687" cy="2448000"/>
          </a:xfrm>
          <a:prstGeom prst="rect">
            <a:avLst/>
          </a:prstGeom>
          <a:noFill/>
          <a:ln>
            <a:noFill/>
          </a:ln>
        </p:spPr>
      </p:pic>
      <p:sp>
        <p:nvSpPr>
          <p:cNvPr id="853" name="Google Shape;853;p85"/>
          <p:cNvSpPr txBox="1"/>
          <p:nvPr/>
        </p:nvSpPr>
        <p:spPr>
          <a:xfrm>
            <a:off x="494399" y="349506"/>
            <a:ext cx="5615087" cy="14534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Two quarters, or one half, of the data lie between the first quartile and the third quartile.</a:t>
            </a:r>
            <a:endParaRPr b="0" i="0" sz="1400" u="none" cap="none" strike="noStrike">
              <a:solidFill>
                <a:srgbClr val="000000"/>
              </a:solidFill>
              <a:latin typeface="Arial"/>
              <a:ea typeface="Arial"/>
              <a:cs typeface="Arial"/>
              <a:sym typeface="Arial"/>
            </a:endParaRPr>
          </a:p>
        </p:txBody>
      </p:sp>
      <p:sp>
        <p:nvSpPr>
          <p:cNvPr id="854" name="Google Shape;854;p85"/>
          <p:cNvSpPr txBox="1"/>
          <p:nvPr/>
        </p:nvSpPr>
        <p:spPr>
          <a:xfrm>
            <a:off x="484564" y="5091174"/>
            <a:ext cx="5147350" cy="158090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34.5 minutes and 40 minutes</a:t>
            </a:r>
            <a:endParaRPr b="0" i="0" sz="1400" u="none" cap="none" strike="noStrike">
              <a:solidFill>
                <a:srgbClr val="000000"/>
              </a:solidFill>
              <a:latin typeface="Arial"/>
              <a:ea typeface="Arial"/>
              <a:cs typeface="Arial"/>
              <a:sym typeface="Arial"/>
            </a:endParaRPr>
          </a:p>
        </p:txBody>
      </p:sp>
      <p:sp>
        <p:nvSpPr>
          <p:cNvPr id="85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23 / 47</a:t>
            </a:r>
          </a:p>
        </p:txBody>
      </p:sp>
      <p:sp>
        <p:nvSpPr>
          <p:cNvPr id="856" name="EWL-COVER-1"/>
          <p:cNvSpPr/>
          <p:nvPr/>
        </p:nvSpPr>
        <p:spPr>
          <a:xfrm>
            <a:off x="429700" y="5036310"/>
            <a:ext cx="5257078" cy="1410210"/>
          </a:xfrm>
          <a:prstGeom prst="rect">
            <a:avLst/>
          </a:prstGeom>
          <a:solidFill>
            <a:srgbClr val="FFFFFF"/>
          </a:solidFill>
          <a:ln>
            <a:noFill/>
          </a:ln>
        </p:spPr>
        <p:txBody>
          <a:bodyPr/>
          <a:lstStyle/>
          <a:p/>
        </p:txBody>
      </p:sp>
      <p:sp xmlns:p="http://schemas.openxmlformats.org/presentationml/2006/main" xmlns:a="http://schemas.openxmlformats.org/drawingml/2006/main">
        <p:nvSpPr>
          <p:cNvPr id="857" name="TEACH-embedded-student-prompt" descr="Student thinking and response directions"/>
          <p:cNvSpPr txBox="1"/>
          <p:nvPr/>
        </p:nvSpPr>
        <p:spPr>
          <a:xfrm>
            <a:off x="6111240" y="54132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a:t>
            </a:r>
            <a:endParaRPr lang="en-US" sz="2000"/>
          </a:p>
          <a:p>
            <a:pPr>
              <a:lnSpc>
                <a:spcPts val="2400"/>
              </a:lnSpc>
              <a:buNone/>
            </a:pPr>
            <a:r>
              <a:rPr lang="en-US" sz="2000">
                <a:solidFill>
                  <a:srgbClr val="174D60"/>
                </a:solidFill>
                <a:latin typeface="Arial"/>
              </a:rPr>
              <a:t>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5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4" name="Shape 904"/>
        <p:cNvGrpSpPr/>
        <p:nvPr/>
      </p:nvGrpSpPr>
      <p:grpSpPr>
        <a:xfrm>
          <a:off x="0" y="0"/>
          <a:ext cx="0" cy="0"/>
          <a:chOff x="0" y="0"/>
          <a:chExt cx="0" cy="0"/>
        </a:xfrm>
      </p:grpSpPr>
      <p:sp>
        <p:nvSpPr>
          <p:cNvPr id="905" name="Google Shape;905;p91"/>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906" name="Google Shape;906;p91"/>
          <p:cNvSpPr txBox="1"/>
          <p:nvPr/>
        </p:nvSpPr>
        <p:spPr>
          <a:xfrm>
            <a:off x="5950678" y="5940108"/>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907" name="Google Shape;907;p91"/>
          <p:cNvSpPr/>
          <p:nvPr/>
        </p:nvSpPr>
        <p:spPr>
          <a:xfrm>
            <a:off x="484564" y="2346036"/>
            <a:ext cx="6672983" cy="4026976"/>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908" name="Google Shape;908;p91"/>
          <p:cNvSpPr txBox="1"/>
          <p:nvPr/>
        </p:nvSpPr>
        <p:spPr>
          <a:xfrm>
            <a:off x="484564" y="927528"/>
            <a:ext cx="6672983" cy="1418508"/>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a:pPr>
            <a:r>
              <a:rPr b="0" i="0" lang="en-US" sz="2800" u="none" cap="none" strike="noStrike">
                <a:solidFill>
                  <a:srgbClr val="23282D"/>
                </a:solidFill>
                <a:latin typeface="Arial"/>
                <a:ea typeface="Arial"/>
                <a:cs typeface="Arial"/>
                <a:sym typeface="Arial"/>
              </a:rPr>
              <a:t>What does the length of the box and whiskers tell you about the spread of the data in the box plot?​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0" i="0" sz="2800" u="none" cap="none" strike="noStrike">
              <a:solidFill>
                <a:srgbClr val="262626"/>
              </a:solidFill>
              <a:latin typeface="Arial"/>
              <a:ea typeface="Arial"/>
              <a:cs typeface="Arial"/>
              <a:sym typeface="Arial"/>
            </a:endParaRPr>
          </a:p>
        </p:txBody>
      </p:sp>
      <p:sp>
        <p:nvSpPr>
          <p:cNvPr id="90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24 / 47</a:t>
            </a:r>
          </a:p>
        </p:txBody>
      </p:sp>
      <p:sp xmlns:p="http://schemas.openxmlformats.org/presentationml/2006/main" xmlns:a="http://schemas.openxmlformats.org/drawingml/2006/main">
        <p:nvSpPr>
          <p:cNvPr id="910" name="TEACH-embedded-student-prompt" descr="Student thinking and response directions"/>
          <p:cNvSpPr txBox="1"/>
          <p:nvPr/>
        </p:nvSpPr>
        <p:spPr>
          <a:xfrm>
            <a:off x="7391400" y="510235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first. Point to the labeled</a:t>
            </a:r>
            <a:endParaRPr lang="en-US" sz="2000"/>
          </a:p>
          <a:p>
            <a:pPr>
              <a:lnSpc>
                <a:spcPts val="2400"/>
              </a:lnSpc>
              <a:buNone/>
            </a:pPr>
            <a:r>
              <a:rPr lang="en-US" sz="2000">
                <a:solidFill>
                  <a:srgbClr val="174D60"/>
                </a:solidFill>
                <a:latin typeface="Arial"/>
              </a:rPr>
              <a:t>values that support your</a:t>
            </a:r>
            <a:endParaRPr lang="en-US" sz="2000"/>
          </a:p>
          <a:p>
            <a:pPr>
              <a:lnSpc>
                <a:spcPts val="2400"/>
              </a:lnSpc>
              <a:buNone/>
            </a:pPr>
            <a:r>
              <a:rPr lang="en-US" sz="2000">
                <a:solidFill>
                  <a:srgbClr val="174D60"/>
                </a:solidFill>
                <a:latin typeface="Arial"/>
              </a:rPr>
              <a:t>comparison of center or spread.</a:t>
            </a:r>
            <a:endParaRPr lang="en-US" sz="2000"/>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2.4  /  DISCUSS THE TASK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Explain and compare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TextBox 4"/>
          <p:cNvSpPr txBox="1"/>
          <p:nvPr/>
        </p:nvSpPr>
        <p:spPr>
          <a:xfrm>
            <a:off x="621792" y="1755648"/>
            <a:ext cx="6629400" cy="384048"/>
          </a:xfrm>
          <a:prstGeom prst="rect">
            <a:avLst/>
          </a:prstGeom>
          <a:noFill/>
        </p:spPr>
        <p:txBody>
          <a:bodyPr wrap="square" lIns="0" rIns="0" tIns="22860" bIns="0">
            <a:spAutoFit/>
          </a:bodyPr>
          <a:lstStyle/>
          <a:p>
            <a:pPr>
              <a:spcAft>
                <a:spcPts val="800"/>
              </a:spcAft>
              <a:defRPr sz="2000" b="1">
                <a:solidFill>
                  <a:srgbClr val="096B69"/>
                </a:solidFill>
                <a:latin typeface="Arial"/>
              </a:defRPr>
            </a:pPr>
            <a:r>
              <a:rPr/>
              <a:t>Use the task you just explored.</a:t>
            </a:r>
          </a:p>
        </p:txBody>
      </p:sp>
      <p:sp>
        <p:nvSpPr>
          <p:cNvPr id="6" name="TextBox 5"/>
          <p:cNvSpPr txBox="1"/>
          <p:nvPr/>
        </p:nvSpPr>
        <p:spPr>
          <a:xfrm>
            <a:off x="621792" y="2322576"/>
            <a:ext cx="6583680" cy="2057400"/>
          </a:xfrm>
          <a:prstGeom prst="rect">
            <a:avLst/>
          </a:prstGeom>
          <a:noFill/>
        </p:spPr>
        <p:txBody>
          <a:bodyPr wrap="square" lIns="0" rIns="0" tIns="22860" bIns="0">
            <a:spAutoFit/>
          </a:bodyPr>
          <a:lstStyle/>
          <a:p>
            <a:pPr>
              <a:spcAft>
                <a:spcPts val="800"/>
              </a:spcAft>
              <a:defRPr sz="2900" b="0">
                <a:solidFill>
                  <a:srgbClr val="24384B"/>
                </a:solidFill>
                <a:latin typeface="Arial"/>
              </a:defRPr>
            </a:pPr>
            <a:r>
              <a:rPr/>
              <a:t>What does the length of each section tell us, and what does it not tell us about the number of observations?</a:t>
            </a:r>
          </a:p>
        </p:txBody>
      </p:sp>
      <p:sp>
        <p:nvSpPr>
          <p:cNvPr id="7" name="TextBox 6"/>
          <p:cNvSpPr txBox="1"/>
          <p:nvPr/>
        </p:nvSpPr>
        <p:spPr>
          <a:xfrm>
            <a:off x="621792" y="4590288"/>
            <a:ext cx="6629400" cy="960120"/>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Point to evidence in your work.</a:t>
            </a:r>
          </a:p>
          <a:p>
            <a:pPr>
              <a:spcAft>
                <a:spcPts val="800"/>
              </a:spcAft>
              <a:defRPr sz="2300" b="0">
                <a:solidFill>
                  <a:srgbClr val="24384B"/>
                </a:solidFill>
                <a:latin typeface="Arial"/>
              </a:defRPr>
            </a:pPr>
            <a:r>
              <a:rPr/>
              <a:t>Then compare your approach with a partner’s.</a:t>
            </a:r>
          </a:p>
        </p:txBody>
      </p:sp>
      <p:sp>
        <p:nvSpPr>
          <p:cNvPr id="8" name="Rounded Rectangle 7"/>
          <p:cNvSpPr/>
          <p:nvPr/>
        </p:nvSpPr>
        <p:spPr>
          <a:xfrm>
            <a:off x="7662672" y="1783080"/>
            <a:ext cx="3904487" cy="417880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82712" y="2066543"/>
            <a:ext cx="320040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TAKE TURNS</a:t>
            </a:r>
          </a:p>
        </p:txBody>
      </p:sp>
      <p:sp>
        <p:nvSpPr>
          <p:cNvPr id="10" name="TextBox 9"/>
          <p:cNvSpPr txBox="1"/>
          <p:nvPr/>
        </p:nvSpPr>
        <p:spPr>
          <a:xfrm>
            <a:off x="7982712" y="2715768"/>
            <a:ext cx="3200400" cy="2606040"/>
          </a:xfrm>
          <a:prstGeom prst="rect">
            <a:avLst/>
          </a:prstGeom>
          <a:noFill/>
        </p:spPr>
        <p:txBody>
          <a:bodyPr wrap="square" lIns="0" rIns="0" tIns="22860" bIns="0">
            <a:spAutoFit/>
          </a:bodyPr>
          <a:lstStyle/>
          <a:p>
            <a:pPr>
              <a:spcAft>
                <a:spcPts val="800"/>
              </a:spcAft>
              <a:defRPr sz="2200" b="0">
                <a:solidFill>
                  <a:srgbClr val="24384B"/>
                </a:solidFill>
                <a:latin typeface="Arial"/>
              </a:defRPr>
            </a:pPr>
            <a:r>
              <a:rPr/>
              <a:t>Explain</a:t>
            </a:r>
          </a:p>
          <a:p>
            <a:pPr>
              <a:spcAft>
                <a:spcPts val="800"/>
              </a:spcAft>
              <a:defRPr sz="2200" b="0">
                <a:solidFill>
                  <a:srgbClr val="24384B"/>
                </a:solidFill>
                <a:latin typeface="Arial"/>
              </a:defRPr>
            </a:pPr>
            <a:r>
              <a:rPr/>
              <a:t>“I know this because…”</a:t>
            </a:r>
          </a:p>
          <a:p>
            <a:pPr>
              <a:spcAft>
                <a:spcPts val="800"/>
              </a:spcAft>
              <a:defRPr sz="2200" b="0">
                <a:solidFill>
                  <a:srgbClr val="24384B"/>
                </a:solidFill>
                <a:latin typeface="Arial"/>
              </a:defRPr>
            </a:pPr>
          </a:p>
          <a:p>
            <a:pPr>
              <a:spcAft>
                <a:spcPts val="800"/>
              </a:spcAft>
              <a:defRPr sz="2200" b="0">
                <a:solidFill>
                  <a:srgbClr val="24384B"/>
                </a:solidFill>
                <a:latin typeface="Arial"/>
              </a:defRPr>
            </a:pPr>
            <a:r>
              <a:rPr/>
              <a:t>Ask</a:t>
            </a:r>
          </a:p>
          <a:p>
            <a:pPr>
              <a:spcAft>
                <a:spcPts val="800"/>
              </a:spcAft>
              <a:defRPr sz="2200" b="0">
                <a:solidFill>
                  <a:srgbClr val="24384B"/>
                </a:solidFill>
                <a:latin typeface="Arial"/>
              </a:defRPr>
            </a:pPr>
            <a:r>
              <a:rPr/>
              <a:t>“Where does your work show that?”</a:t>
            </a:r>
          </a:p>
        </p:txBody>
      </p:sp>
      <p:grpSp>
        <p:nvGrpSpPr>
          <p:cNvPr id="11" name="TEACH-3-student-move" descr="TEACH 3 · Use intentional questioning to deepen learning"/>
          <p:cNvGrpSpPr/>
          <p:nvPr/>
        </p:nvGrpSpPr>
        <p:grpSpPr>
          <a:xfrm>
            <a:off x="502920" y="5824728"/>
            <a:ext cx="11186160" cy="402336"/>
            <a:chOff x="502920" y="5824728"/>
            <a:chExt cx="11186160" cy="402336"/>
          </a:xfrm>
        </p:grpSpPr>
        <p:sp>
          <p:nvSpPr>
            <p:cNvPr id="12"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3"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4"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JUSTIFY IT  ·  </a:t>
              </a:r>
              <a:r>
                <a:rPr lang="en-US" sz="1200" dirty="0">
                  <a:solidFill>
                    <a:srgbClr val="13303A"/>
                  </a:solidFill>
                  <a:latin typeface="Arial"/>
                </a:rPr>
                <a:t>Say it like this: “I know ______ because ______.”</a:t>
              </a:r>
              <a:endParaRPr lang="en-US" sz="1200"/>
            </a:p>
          </p:txBody>
        </p:sp>
      </p:gr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627" name="Google Shape;627;p6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628" name="Google Shape;628;p60"/>
          <p:cNvPicPr preferRelativeResize="0"/>
          <p:nvPr/>
        </p:nvPicPr>
        <p:blipFill rotWithShape="1">
          <a:blip r:embed="rId2">
            <a:alphaModFix/>
          </a:blip>
          <a:srcRect b="0" l="0" r="0" t="0"/>
          <a:stretch/>
        </p:blipFill>
        <p:spPr>
          <a:xfrm>
            <a:off x="7449705" y="1498611"/>
            <a:ext cx="4246875" cy="1800000"/>
          </a:xfrm>
          <a:prstGeom prst="rect">
            <a:avLst/>
          </a:prstGeom>
          <a:noFill/>
          <a:ln>
            <a:noFill/>
          </a:ln>
        </p:spPr>
      </p:pic>
      <p:sp>
        <p:nvSpPr>
          <p:cNvPr id="629" name="Google Shape;629;p60"/>
          <p:cNvSpPr txBox="1"/>
          <p:nvPr/>
        </p:nvSpPr>
        <p:spPr>
          <a:xfrm>
            <a:off x="495420" y="487527"/>
            <a:ext cx="6488891" cy="64253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How can you organize the data?</a:t>
            </a:r>
            <a:endParaRPr b="0" i="0" sz="1400" u="none" cap="none" strike="noStrike">
              <a:solidFill>
                <a:srgbClr val="000000"/>
              </a:solidFill>
              <a:latin typeface="Arial"/>
              <a:ea typeface="Arial"/>
              <a:cs typeface="Arial"/>
              <a:sym typeface="Arial"/>
            </a:endParaRPr>
          </a:p>
        </p:txBody>
      </p:sp>
      <p:sp>
        <p:nvSpPr>
          <p:cNvPr id="630" name="Google Shape;630;p60"/>
          <p:cNvSpPr txBox="1"/>
          <p:nvPr/>
        </p:nvSpPr>
        <p:spPr>
          <a:xfrm>
            <a:off x="495420" y="5147455"/>
            <a:ext cx="7803840" cy="118963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order the values from least to greatest.</a:t>
            </a:r>
            <a:endParaRPr b="0" i="0" sz="1400" u="none" cap="none" strike="noStrike">
              <a:solidFill>
                <a:srgbClr val="000000"/>
              </a:solidFill>
              <a:latin typeface="Arial"/>
              <a:ea typeface="Arial"/>
              <a:cs typeface="Arial"/>
              <a:sym typeface="Arial"/>
            </a:endParaRPr>
          </a:p>
        </p:txBody>
      </p:sp>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26 / 47</a:t>
            </a:r>
          </a:p>
        </p:txBody>
      </p:sp>
      <p:sp xmlns:p="http://schemas.openxmlformats.org/presentationml/2006/main" xmlns:a="http://schemas.openxmlformats.org/drawingml/2006/main">
        <p:nvSpPr>
          <p:cNvPr id="631" name="TEACH-embedded-student-prompt" descr="Student thinking and response directions"/>
          <p:cNvSpPr txBox="1"/>
          <p:nvPr/>
        </p:nvSpPr>
        <p:spPr>
          <a:xfrm>
            <a:off x="594360" y="453542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 explanation. Explain any revision you make.</a:t>
            </a:r>
            <a:endParaRPr lang="en-US" sz="2000"/>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701" name="Google Shape;701;p6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02" name="Google Shape;702;p68"/>
          <p:cNvSpPr txBox="1"/>
          <p:nvPr/>
        </p:nvSpPr>
        <p:spPr>
          <a:xfrm>
            <a:off x="484565" y="4129195"/>
            <a:ext cx="8705617" cy="10133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62626"/>
                </a:solidFill>
                <a:latin typeface="Arial"/>
                <a:ea typeface="Arial"/>
                <a:cs typeface="Arial"/>
                <a:sym typeface="Arial"/>
              </a:rPr>
              <a:t>How can you represent the center of the lower and upper halves of the data?</a:t>
            </a:r>
            <a:endParaRPr b="0" i="0" sz="1400" u="none" cap="none" strike="noStrike">
              <a:solidFill>
                <a:srgbClr val="000000"/>
              </a:solidFill>
              <a:latin typeface="Arial"/>
              <a:ea typeface="Arial"/>
              <a:cs typeface="Arial"/>
              <a:sym typeface="Arial"/>
            </a:endParaRPr>
          </a:p>
        </p:txBody>
      </p:sp>
      <p:sp>
        <p:nvSpPr>
          <p:cNvPr id="703" name="Google Shape;703;p68"/>
          <p:cNvSpPr txBox="1"/>
          <p:nvPr/>
        </p:nvSpPr>
        <p:spPr>
          <a:xfrm>
            <a:off x="484565" y="478900"/>
            <a:ext cx="7054922" cy="18847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There are an equal number of values on either side of the median. The median divides the data set into two halves—a lower half and an upper half.</a:t>
            </a:r>
            <a:endParaRPr b="1" i="0" sz="2800" u="none" cap="none" strike="noStrike">
              <a:solidFill>
                <a:srgbClr val="262626"/>
              </a:solidFill>
              <a:latin typeface="Arial"/>
              <a:ea typeface="Arial"/>
              <a:cs typeface="Arial"/>
              <a:sym typeface="Arial"/>
            </a:endParaRPr>
          </a:p>
        </p:txBody>
      </p:sp>
      <p:sp>
        <p:nvSpPr>
          <p:cNvPr id="704" name="Google Shape;704;p68"/>
          <p:cNvSpPr txBox="1"/>
          <p:nvPr/>
        </p:nvSpPr>
        <p:spPr>
          <a:xfrm>
            <a:off x="484565" y="5202961"/>
            <a:ext cx="5960624" cy="123652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find the median of each half.</a:t>
            </a:r>
            <a:endParaRPr b="0" i="0" sz="1400" u="none" cap="none" strike="noStrike">
              <a:solidFill>
                <a:srgbClr val="000000"/>
              </a:solidFill>
              <a:latin typeface="Arial"/>
              <a:ea typeface="Arial"/>
              <a:cs typeface="Arial"/>
              <a:sym typeface="Arial"/>
            </a:endParaRPr>
          </a:p>
        </p:txBody>
      </p:sp>
      <p:pic>
        <p:nvPicPr>
          <p:cNvPr id="705" name="Google Shape;705;p68"/>
          <p:cNvPicPr preferRelativeResize="0"/>
          <p:nvPr/>
        </p:nvPicPr>
        <p:blipFill rotWithShape="1">
          <a:blip r:embed="rId2">
            <a:alphaModFix/>
          </a:blip>
          <a:srcRect b="0" l="0" r="0" t="0"/>
          <a:stretch/>
        </p:blipFill>
        <p:spPr>
          <a:xfrm>
            <a:off x="580254" y="2455220"/>
            <a:ext cx="11148038" cy="1397910"/>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27 / 47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24" name="Google Shape;824;p8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25" name="Google Shape;825;p82"/>
          <p:cNvSpPr txBox="1"/>
          <p:nvPr/>
        </p:nvSpPr>
        <p:spPr>
          <a:xfrm>
            <a:off x="484563" y="5252720"/>
            <a:ext cx="6597722" cy="100143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62626"/>
                </a:solidFill>
                <a:latin typeface="Arial"/>
                <a:ea typeface="Arial"/>
                <a:cs typeface="Arial"/>
                <a:sym typeface="Arial"/>
              </a:rPr>
              <a:t>What do you notice about the “whiskers”?</a:t>
            </a:r>
            <a:endParaRPr b="0" i="0" sz="1400" u="none" cap="none" strike="noStrike">
              <a:solidFill>
                <a:srgbClr val="000000"/>
              </a:solidFill>
              <a:latin typeface="Arial"/>
              <a:ea typeface="Arial"/>
              <a:cs typeface="Arial"/>
              <a:sym typeface="Arial"/>
            </a:endParaRPr>
          </a:p>
        </p:txBody>
      </p:sp>
      <p:pic>
        <p:nvPicPr>
          <p:cNvPr id="826" name="Google Shape;826;p82"/>
          <p:cNvPicPr preferRelativeResize="0"/>
          <p:nvPr/>
        </p:nvPicPr>
        <p:blipFill rotWithShape="1">
          <a:blip r:embed="rId2">
            <a:alphaModFix/>
          </a:blip>
          <a:srcRect b="0" l="0" r="0" t="0"/>
          <a:stretch/>
        </p:blipFill>
        <p:spPr>
          <a:xfrm>
            <a:off x="484563" y="3627180"/>
            <a:ext cx="6915150" cy="1266825"/>
          </a:xfrm>
          <a:prstGeom prst="rect">
            <a:avLst/>
          </a:prstGeom>
          <a:noFill/>
          <a:ln>
            <a:noFill/>
          </a:ln>
        </p:spPr>
      </p:pic>
      <p:sp>
        <p:nvSpPr>
          <p:cNvPr id="827" name="Google Shape;827;p82"/>
          <p:cNvSpPr txBox="1"/>
          <p:nvPr/>
        </p:nvSpPr>
        <p:spPr>
          <a:xfrm>
            <a:off x="389674" y="417792"/>
            <a:ext cx="6287171" cy="14023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A line divides the box at the median. Finally, draw the “whiskers” of the box plot.</a:t>
            </a:r>
            <a:endParaRPr b="0" i="0" sz="1400" u="none" cap="none" strike="noStrike">
              <a:solidFill>
                <a:srgbClr val="000000"/>
              </a:solidFill>
              <a:latin typeface="Arial"/>
              <a:ea typeface="Arial"/>
              <a:cs typeface="Arial"/>
              <a:sym typeface="Arial"/>
            </a:endParaRPr>
          </a:p>
        </p:txBody>
      </p:sp>
      <p:sp>
        <p:nvSpPr>
          <p:cNvPr id="828" name="Google Shape;828;p82"/>
          <p:cNvSpPr txBox="1"/>
          <p:nvPr/>
        </p:nvSpPr>
        <p:spPr>
          <a:xfrm>
            <a:off x="7888565" y="4362696"/>
            <a:ext cx="3991895" cy="189145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They go from the box edge to the lower and upper extremes.</a:t>
            </a:r>
            <a:endParaRPr b="0" i="0" sz="1400" u="none" cap="none" strike="noStrike">
              <a:solidFill>
                <a:srgbClr val="000000"/>
              </a:solidFill>
              <a:latin typeface="Arial"/>
              <a:ea typeface="Arial"/>
              <a:cs typeface="Arial"/>
              <a:sym typeface="Arial"/>
            </a:endParaRPr>
          </a:p>
        </p:txBody>
      </p:sp>
      <p:pic>
        <p:nvPicPr>
          <p:cNvPr id="829" name="Google Shape;829;p82"/>
          <p:cNvPicPr preferRelativeResize="0"/>
          <p:nvPr/>
        </p:nvPicPr>
        <p:blipFill rotWithShape="1">
          <a:blip r:embed="rId3">
            <a:alphaModFix/>
          </a:blip>
          <a:srcRect b="0" l="0" r="0" t="0"/>
          <a:stretch/>
        </p:blipFill>
        <p:spPr>
          <a:xfrm>
            <a:off x="484563" y="1976583"/>
            <a:ext cx="7200000" cy="130762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28 / 47</a:t>
            </a: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2" name="Google Shape;262;p43"/>
          <p:cNvSpPr/>
          <p:nvPr/>
        </p:nvSpPr>
        <p:spPr>
          <a:xfrm>
            <a:off x="0" y="0"/>
            <a:ext cx="12191969" cy="713232"/>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3" name="Google Shape;263;p4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Session 2 Warm-Up</a:t>
            </a:r>
            <a:endParaRPr/>
          </a:p>
        </p:txBody>
      </p:sp>
      <p:sp>
        <p:nvSpPr>
          <p:cNvPr id="264" name="Google Shape;264;p4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2-4 · Represent and Describe Data in a Box Plot</a:t>
            </a:r>
            <a:endParaRPr/>
          </a:p>
        </p:txBody>
      </p:sp>
      <p:sp>
        <p:nvSpPr>
          <p:cNvPr id="265" name="Google Shape;265;p4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Google Shape;266;p4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267" name="Google Shape;267;p43"/>
          <p:cNvSpPr txBox="1"/>
          <p:nvPr/>
        </p:nvSpPr>
        <p:spPr>
          <a:xfrm>
            <a:off x="640080" y="914400"/>
            <a:ext cx="10911809" cy="4754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200" u="none" cap="none" strike="noStrike">
                <a:solidFill>
                  <a:srgbClr val="14223A"/>
                </a:solidFill>
                <a:latin typeface="Arial"/>
                <a:ea typeface="Arial"/>
                <a:cs typeface="Arial"/>
                <a:sym typeface="Arial"/>
              </a:rPr>
              <a:t>Session 2 Warm-Up</a:t>
            </a:r>
            <a:endParaRPr/>
          </a:p>
        </p:txBody>
      </p:sp>
      <p:sp>
        <p:nvSpPr>
          <p:cNvPr id="268" name="Google Shape;268;p43"/>
          <p:cNvSpPr txBox="1"/>
          <p:nvPr/>
        </p:nvSpPr>
        <p:spPr>
          <a:xfrm>
            <a:off x="640080" y="1426464"/>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500" u="none" cap="none" strike="noStrike">
                <a:solidFill>
                  <a:srgbClr val="475569"/>
                </a:solidFill>
                <a:latin typeface="Arial"/>
                <a:ea typeface="Arial"/>
                <a:cs typeface="Arial"/>
                <a:sym typeface="Arial"/>
              </a:rPr>
              <a:t>Quick review from Session 1 · about 4 minutes</a:t>
            </a:r>
            <a:endParaRPr/>
          </a:p>
        </p:txBody>
      </p:sp>
      <p:sp>
        <p:nvSpPr>
          <p:cNvPr id="269" name="Google Shape;269;p43"/>
          <p:cNvSpPr/>
          <p:nvPr/>
        </p:nvSpPr>
        <p:spPr>
          <a:xfrm>
            <a:off x="640080"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43"/>
          <p:cNvSpPr/>
          <p:nvPr/>
        </p:nvSpPr>
        <p:spPr>
          <a:xfrm>
            <a:off x="640080"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1" name="Google Shape;271;p43"/>
          <p:cNvSpPr/>
          <p:nvPr/>
        </p:nvSpPr>
        <p:spPr>
          <a:xfrm>
            <a:off x="914400"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272" name="Google Shape;272;p43"/>
          <p:cNvSpPr txBox="1"/>
          <p:nvPr/>
        </p:nvSpPr>
        <p:spPr>
          <a:xfrm>
            <a:off x="144475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How many values make up a box plot summary?</a:t>
            </a:r>
            <a:endParaRPr/>
          </a:p>
        </p:txBody>
      </p:sp>
      <p:sp>
        <p:nvSpPr>
          <p:cNvPr id="273" name="Google Shape;273;p43"/>
          <p:cNvSpPr/>
          <p:nvPr/>
        </p:nvSpPr>
        <p:spPr>
          <a:xfrm>
            <a:off x="144475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 name="Google Shape;274;p43"/>
          <p:cNvSpPr txBox="1"/>
          <p:nvPr/>
        </p:nvSpPr>
        <p:spPr>
          <a:xfrm>
            <a:off x="157276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75" name="Google Shape;275;p43"/>
          <p:cNvSpPr txBox="1"/>
          <p:nvPr/>
        </p:nvSpPr>
        <p:spPr>
          <a:xfrm>
            <a:off x="184708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3</a:t>
            </a:r>
            <a:endParaRPr/>
          </a:p>
        </p:txBody>
      </p:sp>
      <p:sp>
        <p:nvSpPr>
          <p:cNvPr id="276" name="Google Shape;276;p43"/>
          <p:cNvSpPr/>
          <p:nvPr/>
        </p:nvSpPr>
        <p:spPr>
          <a:xfrm>
            <a:off x="144475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7" name="Google Shape;277;p43"/>
          <p:cNvSpPr txBox="1"/>
          <p:nvPr/>
        </p:nvSpPr>
        <p:spPr>
          <a:xfrm>
            <a:off x="157276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78" name="Google Shape;278;p43"/>
          <p:cNvSpPr txBox="1"/>
          <p:nvPr/>
        </p:nvSpPr>
        <p:spPr>
          <a:xfrm>
            <a:off x="184708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4</a:t>
            </a:r>
            <a:endParaRPr/>
          </a:p>
        </p:txBody>
      </p:sp>
      <p:sp>
        <p:nvSpPr>
          <p:cNvPr id="279" name="Google Shape;279;p43"/>
          <p:cNvSpPr/>
          <p:nvPr/>
        </p:nvSpPr>
        <p:spPr>
          <a:xfrm>
            <a:off x="144475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0" name="Google Shape;280;p43"/>
          <p:cNvSpPr txBox="1"/>
          <p:nvPr/>
        </p:nvSpPr>
        <p:spPr>
          <a:xfrm>
            <a:off x="157276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81" name="Google Shape;281;p43"/>
          <p:cNvSpPr txBox="1"/>
          <p:nvPr/>
        </p:nvSpPr>
        <p:spPr>
          <a:xfrm>
            <a:off x="184708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5</a:t>
            </a:r>
            <a:endParaRPr/>
          </a:p>
        </p:txBody>
      </p:sp>
      <p:sp>
        <p:nvSpPr>
          <p:cNvPr id="282" name="Google Shape;282;p43"/>
          <p:cNvSpPr/>
          <p:nvPr/>
        </p:nvSpPr>
        <p:spPr>
          <a:xfrm>
            <a:off x="144475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3" name="Google Shape;283;p43"/>
          <p:cNvSpPr txBox="1"/>
          <p:nvPr/>
        </p:nvSpPr>
        <p:spPr>
          <a:xfrm>
            <a:off x="157276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284" name="Google Shape;284;p43"/>
          <p:cNvSpPr txBox="1"/>
          <p:nvPr/>
        </p:nvSpPr>
        <p:spPr>
          <a:xfrm>
            <a:off x="184708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6</a:t>
            </a:r>
            <a:endParaRPr/>
          </a:p>
        </p:txBody>
      </p:sp>
      <p:sp>
        <p:nvSpPr>
          <p:cNvPr id="285" name="Google Shape;285;p43"/>
          <p:cNvSpPr/>
          <p:nvPr/>
        </p:nvSpPr>
        <p:spPr>
          <a:xfrm>
            <a:off x="6260576"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6" name="Google Shape;286;p43"/>
          <p:cNvSpPr/>
          <p:nvPr/>
        </p:nvSpPr>
        <p:spPr>
          <a:xfrm>
            <a:off x="6260576"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7" name="Google Shape;287;p43"/>
          <p:cNvSpPr/>
          <p:nvPr/>
        </p:nvSpPr>
        <p:spPr>
          <a:xfrm>
            <a:off x="6534896"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288" name="Google Shape;288;p43"/>
          <p:cNvSpPr txBox="1"/>
          <p:nvPr/>
        </p:nvSpPr>
        <p:spPr>
          <a:xfrm>
            <a:off x="706831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The central box in a box plot spans from:</a:t>
            </a:r>
            <a:endParaRPr/>
          </a:p>
        </p:txBody>
      </p:sp>
      <p:sp>
        <p:nvSpPr>
          <p:cNvPr id="289" name="Google Shape;289;p43"/>
          <p:cNvSpPr/>
          <p:nvPr/>
        </p:nvSpPr>
        <p:spPr>
          <a:xfrm>
            <a:off x="706831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0" name="Google Shape;290;p43"/>
          <p:cNvSpPr txBox="1"/>
          <p:nvPr/>
        </p:nvSpPr>
        <p:spPr>
          <a:xfrm>
            <a:off x="719632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91" name="Google Shape;291;p43"/>
          <p:cNvSpPr txBox="1"/>
          <p:nvPr/>
        </p:nvSpPr>
        <p:spPr>
          <a:xfrm>
            <a:off x="747064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Min to Max</a:t>
            </a:r>
            <a:endParaRPr/>
          </a:p>
        </p:txBody>
      </p:sp>
      <p:sp>
        <p:nvSpPr>
          <p:cNvPr id="292" name="Google Shape;292;p43"/>
          <p:cNvSpPr/>
          <p:nvPr/>
        </p:nvSpPr>
        <p:spPr>
          <a:xfrm>
            <a:off x="706831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3" name="Google Shape;293;p43"/>
          <p:cNvSpPr txBox="1"/>
          <p:nvPr/>
        </p:nvSpPr>
        <p:spPr>
          <a:xfrm>
            <a:off x="719632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94" name="Google Shape;294;p43"/>
          <p:cNvSpPr txBox="1"/>
          <p:nvPr/>
        </p:nvSpPr>
        <p:spPr>
          <a:xfrm>
            <a:off x="747064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Q1 to Q3</a:t>
            </a:r>
            <a:endParaRPr/>
          </a:p>
        </p:txBody>
      </p:sp>
      <p:sp>
        <p:nvSpPr>
          <p:cNvPr id="295" name="Google Shape;295;p43"/>
          <p:cNvSpPr/>
          <p:nvPr/>
        </p:nvSpPr>
        <p:spPr>
          <a:xfrm>
            <a:off x="706831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6" name="Google Shape;296;p43"/>
          <p:cNvSpPr txBox="1"/>
          <p:nvPr/>
        </p:nvSpPr>
        <p:spPr>
          <a:xfrm>
            <a:off x="719632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97" name="Google Shape;297;p43"/>
          <p:cNvSpPr txBox="1"/>
          <p:nvPr/>
        </p:nvSpPr>
        <p:spPr>
          <a:xfrm>
            <a:off x="747064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0 to 100</a:t>
            </a:r>
            <a:endParaRPr/>
          </a:p>
        </p:txBody>
      </p:sp>
      <p:sp>
        <p:nvSpPr>
          <p:cNvPr id="298" name="Google Shape;298;p43"/>
          <p:cNvSpPr/>
          <p:nvPr/>
        </p:nvSpPr>
        <p:spPr>
          <a:xfrm>
            <a:off x="706831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9" name="Google Shape;299;p43"/>
          <p:cNvSpPr txBox="1"/>
          <p:nvPr/>
        </p:nvSpPr>
        <p:spPr>
          <a:xfrm>
            <a:off x="719632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00" name="Google Shape;300;p43"/>
          <p:cNvSpPr txBox="1"/>
          <p:nvPr/>
        </p:nvSpPr>
        <p:spPr>
          <a:xfrm>
            <a:off x="747064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Mean to Mode</a:t>
            </a:r>
            <a:endParaRPr/>
          </a:p>
        </p:txBody>
      </p:sp>
      <p:sp>
        <p:nvSpPr>
          <p:cNvPr id="301" name="Google Shape;301;p43"/>
          <p:cNvSpPr/>
          <p:nvPr/>
        </p:nvSpPr>
        <p:spPr>
          <a:xfrm>
            <a:off x="640080"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2" name="Google Shape;302;p43"/>
          <p:cNvSpPr/>
          <p:nvPr/>
        </p:nvSpPr>
        <p:spPr>
          <a:xfrm>
            <a:off x="640080"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3" name="Google Shape;303;p43"/>
          <p:cNvSpPr/>
          <p:nvPr/>
        </p:nvSpPr>
        <p:spPr>
          <a:xfrm>
            <a:off x="914400"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304" name="Google Shape;304;p43"/>
          <p:cNvSpPr txBox="1"/>
          <p:nvPr/>
        </p:nvSpPr>
        <p:spPr>
          <a:xfrm>
            <a:off x="144475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What percent of data lies inside the central box?</a:t>
            </a:r>
            <a:endParaRPr/>
          </a:p>
        </p:txBody>
      </p:sp>
      <p:sp>
        <p:nvSpPr>
          <p:cNvPr id="305" name="Google Shape;305;p43"/>
          <p:cNvSpPr/>
          <p:nvPr/>
        </p:nvSpPr>
        <p:spPr>
          <a:xfrm>
            <a:off x="144475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43"/>
          <p:cNvSpPr txBox="1"/>
          <p:nvPr/>
        </p:nvSpPr>
        <p:spPr>
          <a:xfrm>
            <a:off x="157276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07" name="Google Shape;307;p43"/>
          <p:cNvSpPr txBox="1"/>
          <p:nvPr/>
        </p:nvSpPr>
        <p:spPr>
          <a:xfrm>
            <a:off x="184708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25%</a:t>
            </a:r>
            <a:endParaRPr/>
          </a:p>
        </p:txBody>
      </p:sp>
      <p:sp>
        <p:nvSpPr>
          <p:cNvPr id="308" name="Google Shape;308;p43"/>
          <p:cNvSpPr/>
          <p:nvPr/>
        </p:nvSpPr>
        <p:spPr>
          <a:xfrm>
            <a:off x="144475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p43"/>
          <p:cNvSpPr txBox="1"/>
          <p:nvPr/>
        </p:nvSpPr>
        <p:spPr>
          <a:xfrm>
            <a:off x="157276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10" name="Google Shape;310;p43"/>
          <p:cNvSpPr txBox="1"/>
          <p:nvPr/>
        </p:nvSpPr>
        <p:spPr>
          <a:xfrm>
            <a:off x="184708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50%</a:t>
            </a:r>
            <a:endParaRPr/>
          </a:p>
        </p:txBody>
      </p:sp>
      <p:sp>
        <p:nvSpPr>
          <p:cNvPr id="311" name="Google Shape;311;p43"/>
          <p:cNvSpPr/>
          <p:nvPr/>
        </p:nvSpPr>
        <p:spPr>
          <a:xfrm>
            <a:off x="144475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2" name="Google Shape;312;p43"/>
          <p:cNvSpPr txBox="1"/>
          <p:nvPr/>
        </p:nvSpPr>
        <p:spPr>
          <a:xfrm>
            <a:off x="157276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13" name="Google Shape;313;p43"/>
          <p:cNvSpPr txBox="1"/>
          <p:nvPr/>
        </p:nvSpPr>
        <p:spPr>
          <a:xfrm>
            <a:off x="184708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75%</a:t>
            </a:r>
            <a:endParaRPr/>
          </a:p>
        </p:txBody>
      </p:sp>
      <p:sp>
        <p:nvSpPr>
          <p:cNvPr id="314" name="Google Shape;314;p43"/>
          <p:cNvSpPr/>
          <p:nvPr/>
        </p:nvSpPr>
        <p:spPr>
          <a:xfrm>
            <a:off x="144475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p43"/>
          <p:cNvSpPr txBox="1"/>
          <p:nvPr/>
        </p:nvSpPr>
        <p:spPr>
          <a:xfrm>
            <a:off x="157276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16" name="Google Shape;316;p43"/>
          <p:cNvSpPr txBox="1"/>
          <p:nvPr/>
        </p:nvSpPr>
        <p:spPr>
          <a:xfrm>
            <a:off x="184708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100%</a:t>
            </a:r>
            <a:endParaRPr/>
          </a:p>
        </p:txBody>
      </p:sp>
      <p:sp>
        <p:nvSpPr>
          <p:cNvPr id="317" name="Google Shape;317;p43"/>
          <p:cNvSpPr/>
          <p:nvPr/>
        </p:nvSpPr>
        <p:spPr>
          <a:xfrm>
            <a:off x="6260576"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43"/>
          <p:cNvSpPr/>
          <p:nvPr/>
        </p:nvSpPr>
        <p:spPr>
          <a:xfrm>
            <a:off x="6260576"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43"/>
          <p:cNvSpPr/>
          <p:nvPr/>
        </p:nvSpPr>
        <p:spPr>
          <a:xfrm>
            <a:off x="6534896"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4</a:t>
            </a:r>
            <a:endParaRPr/>
          </a:p>
        </p:txBody>
      </p:sp>
      <p:sp>
        <p:nvSpPr>
          <p:cNvPr id="320" name="Google Shape;320;p43"/>
          <p:cNvSpPr txBox="1"/>
          <p:nvPr/>
        </p:nvSpPr>
        <p:spPr>
          <a:xfrm>
            <a:off x="706831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The line drawn inside the box represents the:</a:t>
            </a:r>
            <a:endParaRPr/>
          </a:p>
        </p:txBody>
      </p:sp>
      <p:sp>
        <p:nvSpPr>
          <p:cNvPr id="321" name="Google Shape;321;p43"/>
          <p:cNvSpPr/>
          <p:nvPr/>
        </p:nvSpPr>
        <p:spPr>
          <a:xfrm>
            <a:off x="706831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43"/>
          <p:cNvSpPr txBox="1"/>
          <p:nvPr/>
        </p:nvSpPr>
        <p:spPr>
          <a:xfrm>
            <a:off x="719632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23" name="Google Shape;323;p43"/>
          <p:cNvSpPr txBox="1"/>
          <p:nvPr/>
        </p:nvSpPr>
        <p:spPr>
          <a:xfrm>
            <a:off x="747064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Mean</a:t>
            </a:r>
            <a:endParaRPr/>
          </a:p>
        </p:txBody>
      </p:sp>
      <p:sp>
        <p:nvSpPr>
          <p:cNvPr id="324" name="Google Shape;324;p43"/>
          <p:cNvSpPr/>
          <p:nvPr/>
        </p:nvSpPr>
        <p:spPr>
          <a:xfrm>
            <a:off x="706831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5" name="Google Shape;325;p43"/>
          <p:cNvSpPr txBox="1"/>
          <p:nvPr/>
        </p:nvSpPr>
        <p:spPr>
          <a:xfrm>
            <a:off x="719632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26" name="Google Shape;326;p43"/>
          <p:cNvSpPr txBox="1"/>
          <p:nvPr/>
        </p:nvSpPr>
        <p:spPr>
          <a:xfrm>
            <a:off x="747064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Median (Q2)</a:t>
            </a:r>
            <a:endParaRPr/>
          </a:p>
        </p:txBody>
      </p:sp>
      <p:sp>
        <p:nvSpPr>
          <p:cNvPr id="327" name="Google Shape;327;p43"/>
          <p:cNvSpPr/>
          <p:nvPr/>
        </p:nvSpPr>
        <p:spPr>
          <a:xfrm>
            <a:off x="706831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43"/>
          <p:cNvSpPr txBox="1"/>
          <p:nvPr/>
        </p:nvSpPr>
        <p:spPr>
          <a:xfrm>
            <a:off x="719632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29" name="Google Shape;329;p43"/>
          <p:cNvSpPr txBox="1"/>
          <p:nvPr/>
        </p:nvSpPr>
        <p:spPr>
          <a:xfrm>
            <a:off x="747064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Range</a:t>
            </a:r>
            <a:endParaRPr/>
          </a:p>
        </p:txBody>
      </p:sp>
      <p:sp>
        <p:nvSpPr>
          <p:cNvPr id="330" name="Google Shape;330;p43"/>
          <p:cNvSpPr/>
          <p:nvPr/>
        </p:nvSpPr>
        <p:spPr>
          <a:xfrm>
            <a:off x="706831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1" name="Google Shape;331;p43"/>
          <p:cNvSpPr txBox="1"/>
          <p:nvPr/>
        </p:nvSpPr>
        <p:spPr>
          <a:xfrm>
            <a:off x="719632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32" name="Google Shape;332;p43"/>
          <p:cNvSpPr txBox="1"/>
          <p:nvPr/>
        </p:nvSpPr>
        <p:spPr>
          <a:xfrm>
            <a:off x="747064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Minimum</a:t>
            </a:r>
            <a:endParaRPr/>
          </a:p>
        </p:txBody>
      </p:sp>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29 / 47</a:t>
            </a: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Review Notes</a:t>
            </a:r>
            <a:endParaRPr/>
          </a:p>
        </p:txBody>
      </p:sp>
      <p:sp>
        <p:nvSpPr>
          <p:cNvPr id="523" name="Google Shape;523;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2-4 · Represent and Describe Data in a Box Plot</a:t>
            </a:r>
            <a:endParaRPr/>
          </a:p>
        </p:txBody>
      </p:sp>
      <p:sp>
        <p:nvSpPr>
          <p:cNvPr id="524" name="Google Shape;524;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26" name="Google Shape;526;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Review Notes — Session 2</a:t>
            </a:r>
            <a:endParaRPr/>
          </a:p>
        </p:txBody>
      </p:sp>
      <p:sp>
        <p:nvSpPr>
          <p:cNvPr id="527" name="Google Shape;527;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29" name="Google Shape;529;p53"/>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32" name="Google Shape;532;p53"/>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Five-Number Summary</a:t>
            </a:r>
            <a:endParaRPr/>
          </a:p>
        </p:txBody>
      </p:sp>
      <p:sp>
        <p:nvSpPr>
          <p:cNvPr id="533" name="Google Shape;533;p53"/>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Box plots display </a:t>
            </a:r>
            <a:r>
              <a:rPr b="1" i="0" lang="en-US" sz="1450" u="none" cap="none" strike="noStrike">
                <a:solidFill>
                  <a:srgbClr val="475569"/>
                </a:solidFill>
                <a:latin typeface="Arial"/>
                <a:ea typeface="Arial"/>
                <a:cs typeface="Arial"/>
                <a:sym typeface="Arial"/>
              </a:rPr>
              <a:t xml:space="preserve">Minimum</a:t>
            </a:r>
            <a:r>
              <a:rPr b="0" i="0" lang="en-US" sz="1450" u="none" cap="none" strike="noStrike">
                <a:solidFill>
                  <a:srgbClr val="475569"/>
                </a:solidFill>
                <a:latin typeface="Arial"/>
                <a:ea typeface="Arial"/>
                <a:cs typeface="Arial"/>
                <a:sym typeface="Arial"/>
              </a:rPr>
              <a:t xml:space="preserve">, First </a:t>
            </a:r>
            <a:r>
              <a:rPr b="1" i="0" lang="en-US" sz="1450" u="none" cap="none" strike="noStrike">
                <a:solidFill>
                  <a:srgbClr val="475569"/>
                </a:solidFill>
                <a:latin typeface="Arial"/>
                <a:ea typeface="Arial"/>
                <a:cs typeface="Arial"/>
                <a:sym typeface="Arial"/>
              </a:rPr>
              <a:t xml:space="preserve">Quartile</a:t>
            </a:r>
            <a:r>
              <a:rPr b="0" i="0" lang="en-US" sz="1450" u="none" cap="none" strike="noStrike">
                <a:solidFill>
                  <a:srgbClr val="475569"/>
                </a:solidFill>
                <a:latin typeface="Arial"/>
                <a:ea typeface="Arial"/>
                <a:cs typeface="Arial"/>
                <a:sym typeface="Arial"/>
              </a:rPr>
              <a:t xml:space="preserve"> (Q1), Median, Third Quartile (Q3), and Maximum.</a:t>
            </a:r>
            <a:endParaRPr/>
          </a:p>
        </p:txBody>
      </p:sp>
      <p:sp>
        <p:nvSpPr>
          <p:cNvPr id="534" name="Google Shape;534;p53"/>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5" name="Google Shape;535;p53"/>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37" name="Google Shape;537;p53"/>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Quartile Distribution</a:t>
            </a:r>
            <a:endParaRPr/>
          </a:p>
        </p:txBody>
      </p:sp>
      <p:sp>
        <p:nvSpPr>
          <p:cNvPr id="538" name="Google Shape;538;p53"/>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Each whisker and each half of the box holds exactly 25% of all data values.</a:t>
            </a:r>
            <a:endParaRPr/>
          </a:p>
        </p:txBody>
      </p:sp>
      <p:sp>
        <p:nvSpPr>
          <p:cNvPr id="539" name="Google Shape;539;p53"/>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3"/>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3"/>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42" name="Google Shape;542;p53"/>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Interquartile Spread</a:t>
            </a:r>
            <a:endParaRPr/>
          </a:p>
        </p:txBody>
      </p:sp>
      <p:sp>
        <p:nvSpPr>
          <p:cNvPr id="543" name="Google Shape;543;p53"/>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The box length shows the middle 50% of the distribution.</a:t>
            </a:r>
            <a:endParaRPr/>
          </a:p>
        </p:txBody>
      </p:sp>
      <p:sp>
        <p:nvSpPr>
          <p:cNvPr id="5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31 / 47</a:t>
            </a:r>
          </a:p>
        </p:txBody>
      </p:sp>
      <p:grpSp>
        <p:nvGrpSpPr>
          <p:cNvPr id="545" name="TEACH-1-student-move" descr="TEACH 1 · Facilitate clear, standards-based content learning"/>
          <p:cNvGrpSpPr/>
          <p:nvPr/>
        </p:nvGrpSpPr>
        <p:grpSpPr>
          <a:xfrm>
            <a:off x="6187440" y="1682496"/>
            <a:ext cx="5501640" cy="594360"/>
            <a:chOff x="6187440" y="1682496"/>
            <a:chExt cx="5501640" cy="594360"/>
          </a:xfrm>
        </p:grpSpPr>
        <p:sp>
          <p:nvSpPr>
            <p:cNvPr id="546"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7"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48"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WHY IT MATTERS  ·  </a:t>
              </a:r>
              <a:r>
                <a:rPr lang="en-US" sz="1200" dirty="0">
                  <a:solidFill>
                    <a:srgbClr val="13303A"/>
                  </a:solidFill>
                  <a:latin typeface="Arial"/>
                </a:rPr>
                <a:t>Finish this: “This is worth knowing because ______.”</a:t>
              </a:r>
              <a:endParaRPr lang="en-US" sz="1200"/>
            </a:p>
          </p:txBody>
        </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2" name="Shape 912"/>
        <p:cNvGrpSpPr/>
        <p:nvPr/>
      </p:nvGrpSpPr>
      <p:grpSpPr>
        <a:xfrm>
          <a:off x="0" y="0"/>
          <a:ext cx="0" cy="0"/>
          <a:chOff x="0" y="0"/>
          <a:chExt cx="0" cy="0"/>
        </a:xfrm>
      </p:grpSpPr>
      <p:sp>
        <p:nvSpPr>
          <p:cNvPr id="913" name="Google Shape;913;p92"/>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01708C"/>
                </a:solidFill>
                <a:latin typeface="Arial"/>
                <a:ea typeface="Arial"/>
                <a:cs typeface="Arial"/>
                <a:sym typeface="Arial"/>
              </a:rPr>
              <a:t>Session 2</a:t>
            </a:r>
            <a:endParaRPr b="1" i="0" sz="2800" u="none" cap="none" strike="noStrike">
              <a:solidFill>
                <a:srgbClr val="01708C"/>
              </a:solidFill>
              <a:latin typeface="Arial"/>
              <a:ea typeface="Arial"/>
              <a:cs typeface="Arial"/>
              <a:sym typeface="Arial"/>
            </a:endParaRPr>
          </a:p>
        </p:txBody>
      </p:sp>
      <p:cxnSp>
        <p:nvCxnSpPr>
          <p:cNvPr id="914" name="Google Shape;914;p92"/>
          <p:cNvCxnSpPr/>
          <p:nvPr/>
        </p:nvCxnSpPr>
        <p:spPr>
          <a:xfrm>
            <a:off x="-1" y="1560382"/>
            <a:ext cx="3166453" cy="0"/>
          </a:xfrm>
          <a:prstGeom prst="straightConnector1">
            <a:avLst/>
          </a:prstGeom>
          <a:noFill/>
          <a:ln cap="flat" cmpd="sng" w="19050">
            <a:solidFill>
              <a:srgbClr val="01708C"/>
            </a:solidFill>
            <a:prstDash val="solid"/>
            <a:miter lim="80"/>
            <a:headEnd len="sm" w="sm" type="none"/>
            <a:tailEnd len="sm" w="sm" type="none"/>
          </a:ln>
        </p:spPr>
      </p:cxnSp>
      <p:sp>
        <p:nvSpPr>
          <p:cNvPr id="915" name="Google Shape;915;p92"/>
          <p:cNvSpPr txBox="1"/>
          <p:nvPr/>
        </p:nvSpPr>
        <p:spPr>
          <a:xfrm>
            <a:off x="1402828" y="2453950"/>
            <a:ext cx="7675071"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Represent and Describe Data in a Box Plot​</a:t>
            </a:r>
            <a:endParaRPr b="0" i="0" sz="1400" u="none" cap="none" strike="noStrike">
              <a:solidFill>
                <a:srgbClr val="000000"/>
              </a:solidFill>
              <a:latin typeface="Arial"/>
              <a:ea typeface="Arial"/>
              <a:cs typeface="Arial"/>
              <a:sym typeface="Arial"/>
            </a:endParaRPr>
          </a:p>
        </p:txBody>
      </p:sp>
      <p:sp>
        <p:nvSpPr>
          <p:cNvPr id="91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32 / 47</a:t>
            </a:r>
          </a:p>
        </p:txBody>
      </p:sp>
      <p:grpSp>
        <p:nvGrpSpPr>
          <p:cNvPr id="917" name="TEACH-4-student-move" descr="TEACH 4 · Monitor progress and provide feedback"/>
          <p:cNvGrpSpPr/>
          <p:nvPr/>
        </p:nvGrpSpPr>
        <p:grpSpPr>
          <a:xfrm>
            <a:off x="502920" y="3867612"/>
            <a:ext cx="11186160" cy="731520"/>
            <a:chOff x="502920" y="3867612"/>
            <a:chExt cx="11186160" cy="731520"/>
          </a:xfrm>
        </p:grpSpPr>
        <p:sp>
          <p:nvSpPr>
            <p:cNvPr id="918" name="TEACH-move-card"/>
            <p:cNvSpPr/>
            <p:nvPr/>
          </p:nvSpPr>
          <p:spPr>
            <a:xfrm>
              <a:off x="502920" y="3867612"/>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919" name="TEACH-move-rule"/>
            <p:cNvSpPr/>
            <p:nvPr/>
          </p:nvSpPr>
          <p:spPr>
            <a:xfrm>
              <a:off x="548640" y="4006601"/>
              <a:ext cx="100584" cy="453542"/>
            </a:xfrm>
            <a:prstGeom prst="roundRect">
              <a:avLst>
                <a:gd name="adj" fmla="val 50000"/>
              </a:avLst>
            </a:prstGeom>
            <a:solidFill>
              <a:srgbClr val="01708C"/>
            </a:solidFill>
            <a:ln>
              <a:noFill/>
            </a:ln>
          </p:spPr>
          <p:txBody>
            <a:bodyPr/>
            <a:lstStyle/>
            <a:p>
              <a:endParaRPr/>
            </a:p>
          </p:txBody>
        </p:sp>
        <p:sp>
          <p:nvSpPr>
            <p:cNvPr id="920" name="TEACH-move-text"/>
            <p:cNvSpPr txBox="1"/>
            <p:nvPr/>
          </p:nvSpPr>
          <p:spPr>
            <a:xfrm>
              <a:off x="822960" y="3867612"/>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SELF-CHECK  ·  </a:t>
              </a:r>
              <a:r>
                <a:rPr lang="en-US" sz="1800" dirty="0">
                  <a:solidFill>
                    <a:srgbClr val="13303A"/>
                  </a:solidFill>
                  <a:latin typeface="Arial"/>
                </a:rPr>
                <a:t>Mark it: ✓ got it  ·  ~ almost  ·  ? stuck. Then fix one thing before we move on.</a:t>
              </a:r>
              <a:endParaRPr lang="en-US" sz="1800"/>
            </a:p>
          </p:txBody>
        </p: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0" name="Shape 930"/>
        <p:cNvGrpSpPr/>
        <p:nvPr/>
      </p:nvGrpSpPr>
      <p:grpSpPr>
        <a:xfrm>
          <a:off x="0" y="0"/>
          <a:ext cx="0" cy="0"/>
          <a:chOff x="0" y="0"/>
          <a:chExt cx="0" cy="0"/>
        </a:xfrm>
      </p:grpSpPr>
      <p:cxnSp>
        <p:nvCxnSpPr>
          <p:cNvPr id="931" name="Google Shape;931;p9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932" name="Google Shape;932;p94"/>
          <p:cNvPicPr preferRelativeResize="0"/>
          <p:nvPr/>
        </p:nvPicPr>
        <p:blipFill rotWithShape="1">
          <a:blip r:embed="rId3">
            <a:alphaModFix/>
          </a:blip>
          <a:srcRect b="0" l="0" r="0" t="0"/>
          <a:stretch/>
        </p:blipFill>
        <p:spPr>
          <a:xfrm>
            <a:off x="5932581" y="741447"/>
            <a:ext cx="828409" cy="4320000"/>
          </a:xfrm>
          <a:prstGeom prst="rect">
            <a:avLst/>
          </a:prstGeom>
          <a:noFill/>
          <a:ln>
            <a:noFill/>
          </a:ln>
        </p:spPr>
      </p:pic>
      <p:pic>
        <p:nvPicPr>
          <p:cNvPr id="933" name="Google Shape;933;p94"/>
          <p:cNvPicPr preferRelativeResize="0"/>
          <p:nvPr/>
        </p:nvPicPr>
        <p:blipFill rotWithShape="1">
          <a:blip r:embed="rId4">
            <a:alphaModFix/>
          </a:blip>
          <a:srcRect b="0" l="0" r="0" t="0"/>
          <a:stretch/>
        </p:blipFill>
        <p:spPr>
          <a:xfrm>
            <a:off x="835383" y="2529669"/>
            <a:ext cx="4320000" cy="743556"/>
          </a:xfrm>
          <a:prstGeom prst="rect">
            <a:avLst/>
          </a:prstGeom>
          <a:noFill/>
          <a:ln>
            <a:noFill/>
          </a:ln>
        </p:spPr>
      </p:pic>
      <p:sp>
        <p:nvSpPr>
          <p:cNvPr id="934" name="Google Shape;934;p94"/>
          <p:cNvSpPr txBox="1"/>
          <p:nvPr/>
        </p:nvSpPr>
        <p:spPr>
          <a:xfrm>
            <a:off x="474054" y="936100"/>
            <a:ext cx="5216531" cy="13452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How are they the same?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How are they different?</a:t>
            </a:r>
            <a:endParaRPr b="0" i="0" sz="1400" u="none" cap="none" strike="noStrike">
              <a:solidFill>
                <a:srgbClr val="000000"/>
              </a:solidFill>
              <a:latin typeface="Arial"/>
              <a:ea typeface="Arial"/>
              <a:cs typeface="Arial"/>
              <a:sym typeface="Arial"/>
            </a:endParaRPr>
          </a:p>
        </p:txBody>
      </p:sp>
      <p:sp>
        <p:nvSpPr>
          <p:cNvPr id="935" name="Google Shape;935;p94"/>
          <p:cNvSpPr txBox="1"/>
          <p:nvPr/>
        </p:nvSpPr>
        <p:spPr>
          <a:xfrm>
            <a:off x="47405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pic>
        <p:nvPicPr>
          <p:cNvPr id="936" name="Google Shape;936;p94"/>
          <p:cNvPicPr preferRelativeResize="0"/>
          <p:nvPr/>
        </p:nvPicPr>
        <p:blipFill rotWithShape="1">
          <a:blip r:embed="rId5">
            <a:alphaModFix/>
          </a:blip>
          <a:srcRect b="0" l="0" r="0" t="0"/>
          <a:stretch/>
        </p:blipFill>
        <p:spPr>
          <a:xfrm>
            <a:off x="474054" y="5083700"/>
            <a:ext cx="5054600" cy="838200"/>
          </a:xfrm>
          <a:prstGeom prst="rect">
            <a:avLst/>
          </a:prstGeom>
          <a:noFill/>
          <a:ln>
            <a:noFill/>
          </a:ln>
        </p:spPr>
      </p:pic>
      <p:sp>
        <p:nvSpPr>
          <p:cNvPr id="937" name="Google Shape;937;p94"/>
          <p:cNvSpPr txBox="1"/>
          <p:nvPr/>
        </p:nvSpPr>
        <p:spPr>
          <a:xfrm>
            <a:off x="3334071" y="5241018"/>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938" name="Google Shape;938;p94"/>
          <p:cNvSpPr/>
          <p:nvPr/>
        </p:nvSpPr>
        <p:spPr>
          <a:xfrm>
            <a:off x="687250" y="5899023"/>
            <a:ext cx="10741420"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What are some ways you are contributing in math class today?</a:t>
            </a:r>
            <a:endParaRPr b="0" i="0" sz="1400" u="none" cap="none" strike="noStrike">
              <a:solidFill>
                <a:srgbClr val="000000"/>
              </a:solidFill>
              <a:latin typeface="Arial"/>
              <a:ea typeface="Arial"/>
              <a:cs typeface="Arial"/>
              <a:sym typeface="Arial"/>
            </a:endParaRPr>
          </a:p>
        </p:txBody>
      </p:sp>
      <p:sp>
        <p:nvSpPr>
          <p:cNvPr id="93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33 / 47</a:t>
            </a:r>
          </a:p>
        </p:txBody>
      </p:sp>
      <p:sp xmlns:p="http://schemas.openxmlformats.org/presentationml/2006/main" xmlns:a="http://schemas.openxmlformats.org/drawingml/2006/main">
        <p:nvSpPr>
          <p:cNvPr id="940" name="TEACH-embedded-student-prompt" descr="Student thinking and response directions"/>
          <p:cNvSpPr txBox="1"/>
          <p:nvPr/>
        </p:nvSpPr>
        <p:spPr>
          <a:xfrm>
            <a:off x="7391400" y="464515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a:t>
            </a:r>
            <a:endParaRPr lang="en-US" sz="2000"/>
          </a:p>
          <a:p>
            <a:pPr>
              <a:lnSpc>
                <a:spcPts val="2400"/>
              </a:lnSpc>
              <a:buNone/>
            </a:pPr>
            <a:r>
              <a:rPr lang="en-US" sz="2000">
                <a:solidFill>
                  <a:srgbClr val="174D60"/>
                </a:solidFill>
                <a:latin typeface="Arial"/>
              </a:rPr>
              <a:t>question; build on a classmate’s</a:t>
            </a:r>
            <a:endParaRPr lang="en-US" sz="2000"/>
          </a:p>
          <a:p>
            <a:pPr>
              <a:lnSpc>
                <a:spcPts val="2400"/>
              </a:lnSpc>
              <a:buNone/>
            </a:pPr>
            <a:r>
              <a:rPr lang="en-US" sz="2000">
                <a:solidFill>
                  <a:srgbClr val="174D60"/>
                </a:solidFill>
                <a:latin typeface="Arial"/>
              </a:rPr>
              <a:t>idea.</a:t>
            </a:r>
            <a:endParaRPr lang="en-US" sz="20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4" name="Shape 954"/>
        <p:cNvGrpSpPr/>
        <p:nvPr/>
      </p:nvGrpSpPr>
      <p:grpSpPr>
        <a:xfrm>
          <a:off x="0" y="0"/>
          <a:ext cx="0" cy="0"/>
          <a:chOff x="0" y="0"/>
          <a:chExt cx="0" cy="0"/>
        </a:xfrm>
      </p:grpSpPr>
      <p:sp>
        <p:nvSpPr>
          <p:cNvPr id="955" name="Google Shape;955;p96"/>
          <p:cNvSpPr txBox="1"/>
          <p:nvPr/>
        </p:nvSpPr>
        <p:spPr>
          <a:xfrm>
            <a:off x="484564" y="5238214"/>
            <a:ext cx="9564600" cy="92219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How do the finish times of the students in the two grades compare?</a:t>
            </a:r>
            <a:endParaRPr b="0" i="0" sz="1400" u="none" cap="none" strike="noStrike">
              <a:solidFill>
                <a:srgbClr val="000000"/>
              </a:solidFill>
              <a:latin typeface="Arial"/>
              <a:ea typeface="Arial"/>
              <a:cs typeface="Arial"/>
              <a:sym typeface="Arial"/>
            </a:endParaRPr>
          </a:p>
        </p:txBody>
      </p:sp>
      <p:graphicFrame>
        <p:nvGraphicFramePr>
          <p:cNvPr id="956" name="Google Shape;956;p96"/>
          <p:cNvGraphicFramePr/>
          <p:nvPr/>
        </p:nvGraphicFramePr>
        <p:xfrm>
          <a:off x="4454065" y="2410691"/>
          <a:ext cx="3000000" cy="3000000"/>
        </p:xfrm>
        <a:graphic>
          <a:graphicData uri="http://schemas.openxmlformats.org/drawingml/2006/table">
            <a:tbl>
              <a:tblPr bandRow="1" firstRow="1">
                <a:noFill/>
                <a:tableStyleId>{910FCCFC-3430-49C9-8321-1C49667090A9}</a:tableStyleId>
              </a:tblPr>
              <a:tblGrid>
                <a:gridCol w="723700"/>
                <a:gridCol w="723700"/>
                <a:gridCol w="723700"/>
                <a:gridCol w="723700"/>
                <a:gridCol w="723700"/>
              </a:tblGrid>
              <a:tr h="341875">
                <a:tc gridSpan="5">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dk1"/>
                          </a:solidFill>
                          <a:latin typeface="Arial"/>
                          <a:ea typeface="Arial"/>
                          <a:cs typeface="Arial"/>
                          <a:sym typeface="Arial"/>
                        </a:rPr>
                        <a:t>Grade 7 Road Race</a:t>
                      </a:r>
                      <a:endParaRPr sz="1400" u="none" cap="none" strike="noStrike"/>
                    </a:p>
                  </a:txBody>
                  <a:tcPr marT="45725" marB="45725" marR="91450" marL="91450">
                    <a:lnB cap="flat" cmpd="sng" w="12700">
                      <a:solidFill>
                        <a:srgbClr val="D0CECE"/>
                      </a:solidFill>
                      <a:prstDash val="solid"/>
                      <a:round/>
                      <a:headEnd len="sm" w="sm" type="none"/>
                      <a:tailEnd len="sm" w="sm" type="none"/>
                    </a:lnB>
                    <a:solidFill>
                      <a:schemeClr val="lt1"/>
                    </a:solidFill>
                  </a:tcPr>
                </a:tc>
                <a:tc hMerge="1"/>
                <a:tc hMerge="1"/>
                <a:tc hMerge="1"/>
                <a:tc hMerge="1"/>
              </a:tr>
              <a:tr h="368975">
                <a:tc gridSpan="5">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solidFill>
                            <a:schemeClr val="lt1"/>
                          </a:solidFill>
                          <a:latin typeface="Arial"/>
                          <a:ea typeface="Arial"/>
                          <a:cs typeface="Arial"/>
                          <a:sym typeface="Arial"/>
                        </a:rPr>
                        <a:t>Grade 7 Finish Times (minutes)</a:t>
                      </a:r>
                      <a:endParaRPr b="1" sz="1800" u="none" cap="none" strike="noStrike">
                        <a:solidFill>
                          <a:schemeClr val="lt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rgbClr val="695B9A"/>
                    </a:solidFill>
                  </a:tcPr>
                </a:tc>
                <a:tc hMerge="1"/>
                <a:tc hMerge="1"/>
                <a:tc hMerge="1"/>
                <a:tc hMerge="1"/>
              </a:tr>
              <a:tr h="373600">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29</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30</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40</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37</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48</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368975">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35</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38</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31</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37</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35</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368975">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38</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32</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37</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34</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34</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368975">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36</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36</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35</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35</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36</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368975">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40</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34</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41</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33</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39</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bl>
          </a:graphicData>
        </a:graphic>
      </p:graphicFrame>
      <p:graphicFrame>
        <p:nvGraphicFramePr>
          <p:cNvPr id="957" name="Google Shape;957;p96"/>
          <p:cNvGraphicFramePr/>
          <p:nvPr/>
        </p:nvGraphicFramePr>
        <p:xfrm>
          <a:off x="484564" y="2410691"/>
          <a:ext cx="3000000" cy="3000000"/>
        </p:xfrm>
        <a:graphic>
          <a:graphicData uri="http://schemas.openxmlformats.org/drawingml/2006/table">
            <a:tbl>
              <a:tblPr bandRow="1" firstRow="1">
                <a:noFill/>
                <a:tableStyleId>{910FCCFC-3430-49C9-8321-1C49667090A9}</a:tableStyleId>
              </a:tblPr>
              <a:tblGrid>
                <a:gridCol w="725125"/>
                <a:gridCol w="725125"/>
                <a:gridCol w="725125"/>
                <a:gridCol w="725125"/>
                <a:gridCol w="725125"/>
              </a:tblGrid>
              <a:tr h="292300">
                <a:tc gridSpan="5">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dk1"/>
                          </a:solidFill>
                          <a:latin typeface="Arial"/>
                          <a:ea typeface="Arial"/>
                          <a:cs typeface="Arial"/>
                          <a:sym typeface="Arial"/>
                        </a:rPr>
                        <a:t>Grade 6 Road Race</a:t>
                      </a:r>
                      <a:endParaRPr sz="1400" u="none" cap="none" strike="noStrike"/>
                    </a:p>
                  </a:txBody>
                  <a:tcPr marT="45725" marB="45725" marR="91450" marL="91450">
                    <a:lnB cap="flat" cmpd="sng" w="12700">
                      <a:solidFill>
                        <a:srgbClr val="D0CECE"/>
                      </a:solidFill>
                      <a:prstDash val="solid"/>
                      <a:round/>
                      <a:headEnd len="sm" w="sm" type="none"/>
                      <a:tailEnd len="sm" w="sm" type="none"/>
                    </a:lnB>
                    <a:solidFill>
                      <a:schemeClr val="lt1"/>
                    </a:solidFill>
                  </a:tcPr>
                </a:tc>
                <a:tc hMerge="1"/>
                <a:tc hMerge="1"/>
                <a:tc hMerge="1"/>
                <a:tc hMerge="1"/>
              </a:tr>
              <a:tr h="315450">
                <a:tc gridSpan="5">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solidFill>
                            <a:schemeClr val="lt1"/>
                          </a:solidFill>
                          <a:latin typeface="Arial"/>
                          <a:ea typeface="Arial"/>
                          <a:cs typeface="Arial"/>
                          <a:sym typeface="Arial"/>
                        </a:rPr>
                        <a:t>Grade 6 Finish Times (minutes)</a:t>
                      </a:r>
                      <a:endParaRPr b="1" sz="1800" u="none" cap="none" strike="noStrike">
                        <a:solidFill>
                          <a:schemeClr val="lt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rgbClr val="695B9A"/>
                    </a:solidFill>
                  </a:tcPr>
                </a:tc>
                <a:tc hMerge="1"/>
                <a:tc hMerge="1"/>
                <a:tc hMerge="1"/>
                <a:tc hMerge="1"/>
              </a:tr>
              <a:tr h="319425">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35</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37</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39</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40</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33</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315450">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42</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34</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40</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38</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33</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315450">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40</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36</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46</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38</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37</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315450">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35</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34</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34</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38</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29</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315450">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41</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39</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35</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47</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37</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bl>
          </a:graphicData>
        </a:graphic>
      </p:graphicFrame>
      <p:sp>
        <p:nvSpPr>
          <p:cNvPr id="958" name="Google Shape;958;p96"/>
          <p:cNvSpPr txBox="1"/>
          <p:nvPr/>
        </p:nvSpPr>
        <p:spPr>
          <a:xfrm>
            <a:off x="484564" y="936101"/>
            <a:ext cx="6650162" cy="140993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The sixth graders and seventh graders want to compare their finish times in the 5-kilometer road race.</a:t>
            </a:r>
            <a:endParaRPr b="1" i="0" sz="2800" u="none" cap="none" strike="noStrike">
              <a:solidFill>
                <a:srgbClr val="262626"/>
              </a:solidFill>
              <a:latin typeface="Arial"/>
              <a:ea typeface="Arial"/>
              <a:cs typeface="Arial"/>
              <a:sym typeface="Arial"/>
            </a:endParaRPr>
          </a:p>
        </p:txBody>
      </p:sp>
      <p:sp>
        <p:nvSpPr>
          <p:cNvPr id="959" name="Google Shape;959;p96"/>
          <p:cNvSpPr txBox="1"/>
          <p:nvPr/>
        </p:nvSpPr>
        <p:spPr>
          <a:xfrm>
            <a:off x="484565"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Who Ran Faster?</a:t>
            </a:r>
            <a:endParaRPr b="0" i="0" sz="1400" u="none" cap="none" strike="noStrike">
              <a:solidFill>
                <a:srgbClr val="000000"/>
              </a:solidFill>
              <a:latin typeface="Arial"/>
              <a:ea typeface="Arial"/>
              <a:cs typeface="Arial"/>
              <a:sym typeface="Arial"/>
            </a:endParaRPr>
          </a:p>
        </p:txBody>
      </p:sp>
      <p:cxnSp>
        <p:nvCxnSpPr>
          <p:cNvPr id="960" name="Google Shape;960;p9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961" name="Google Shape;961;p96"/>
          <p:cNvPicPr preferRelativeResize="0"/>
          <p:nvPr/>
        </p:nvPicPr>
        <p:blipFill rotWithShape="1">
          <a:blip r:embed="rId3">
            <a:alphaModFix/>
          </a:blip>
          <a:srcRect b="0" l="0" r="0" t="0"/>
          <a:stretch/>
        </p:blipFill>
        <p:spPr>
          <a:xfrm>
            <a:off x="7772399" y="1631818"/>
            <a:ext cx="4308725" cy="714515"/>
          </a:xfrm>
          <a:prstGeom prst="rect">
            <a:avLst/>
          </a:prstGeom>
          <a:noFill/>
          <a:ln>
            <a:noFill/>
          </a:ln>
        </p:spPr>
      </p:pic>
      <p:sp>
        <p:nvSpPr>
          <p:cNvPr id="962" name="Google Shape;962;p96"/>
          <p:cNvSpPr txBox="1"/>
          <p:nvPr/>
        </p:nvSpPr>
        <p:spPr>
          <a:xfrm>
            <a:off x="9910748" y="1720250"/>
            <a:ext cx="2413600" cy="4542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600"/>
              <a:buFont typeface="Arial"/>
              <a:buNone/>
              <a:defRPr/>
            </a:pPr>
            <a:r>
              <a:rPr b="0" i="0" lang="en-US" sz="2600" u="none" cap="none" strike="noStrike">
                <a:solidFill>
                  <a:srgbClr val="23282D"/>
                </a:solidFill>
                <a:latin typeface="Arial"/>
                <a:ea typeface="Arial"/>
                <a:cs typeface="Arial"/>
                <a:sym typeface="Arial"/>
              </a:rPr>
              <a:t>Representing</a:t>
            </a:r>
            <a:endParaRPr b="0" i="0" sz="1400" u="none" cap="none" strike="noStrike">
              <a:solidFill>
                <a:srgbClr val="000000"/>
              </a:solidFill>
              <a:latin typeface="Arial"/>
              <a:ea typeface="Arial"/>
              <a:cs typeface="Arial"/>
              <a:sym typeface="Arial"/>
            </a:endParaRPr>
          </a:p>
        </p:txBody>
      </p:sp>
      <p:sp>
        <p:nvSpPr>
          <p:cNvPr id="963" name="Google Shape;963;p96"/>
          <p:cNvSpPr/>
          <p:nvPr/>
        </p:nvSpPr>
        <p:spPr>
          <a:xfrm>
            <a:off x="8264105" y="2271936"/>
            <a:ext cx="3817019" cy="12926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defRPr/>
            </a:pPr>
            <a:r>
              <a:rPr b="0" i="0" lang="en-US" sz="2600" u="none" cap="none" strike="noStrike">
                <a:solidFill>
                  <a:srgbClr val="595959"/>
                </a:solidFill>
                <a:latin typeface="Arial"/>
                <a:ea typeface="Arial"/>
                <a:cs typeface="Arial"/>
                <a:sym typeface="Arial"/>
              </a:rPr>
              <a:t>How can you represent the relationship between quantities?</a:t>
            </a:r>
            <a:endParaRPr b="0" i="0" sz="1400" u="none" cap="none" strike="noStrike">
              <a:solidFill>
                <a:srgbClr val="000000"/>
              </a:solidFill>
              <a:latin typeface="Arial"/>
              <a:ea typeface="Arial"/>
              <a:cs typeface="Arial"/>
              <a:sym typeface="Arial"/>
            </a:endParaRPr>
          </a:p>
        </p:txBody>
      </p:sp>
      <p:sp>
        <p:nvSpPr>
          <p:cNvPr id="96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34 / 47</a:t>
            </a: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0" name="Shape 1080"/>
        <p:cNvGrpSpPr/>
        <p:nvPr/>
      </p:nvGrpSpPr>
      <p:grpSpPr>
        <a:xfrm>
          <a:off x="0" y="0"/>
          <a:ext cx="0" cy="0"/>
          <a:chOff x="0" y="0"/>
          <a:chExt cx="0" cy="0"/>
        </a:xfrm>
      </p:grpSpPr>
      <p:cxnSp>
        <p:nvCxnSpPr>
          <p:cNvPr id="1081" name="Google Shape;1081;p10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82" name="Google Shape;1082;p109"/>
          <p:cNvSpPr txBox="1"/>
          <p:nvPr/>
        </p:nvSpPr>
        <p:spPr>
          <a:xfrm>
            <a:off x="484563" y="4370036"/>
            <a:ext cx="9014544" cy="191535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median time for Grade 7 is 36 minutes. The median time for Grade 6 is 37 minutes. So, the median time for Grade 7 is 1 minute faster.</a:t>
            </a:r>
            <a:endParaRPr b="0" i="0" sz="1400" u="none" cap="none" strike="noStrike">
              <a:solidFill>
                <a:srgbClr val="000000"/>
              </a:solidFill>
              <a:latin typeface="Arial"/>
              <a:ea typeface="Arial"/>
              <a:cs typeface="Arial"/>
              <a:sym typeface="Arial"/>
            </a:endParaRPr>
          </a:p>
        </p:txBody>
      </p:sp>
      <p:pic>
        <p:nvPicPr>
          <p:cNvPr id="1083" name="Google Shape;1083;p109"/>
          <p:cNvPicPr preferRelativeResize="0"/>
          <p:nvPr/>
        </p:nvPicPr>
        <p:blipFill rotWithShape="1">
          <a:blip r:embed="rId3">
            <a:alphaModFix/>
          </a:blip>
          <a:srcRect b="0" l="0" r="0" t="0"/>
          <a:stretch/>
        </p:blipFill>
        <p:spPr>
          <a:xfrm>
            <a:off x="59364" y="892793"/>
            <a:ext cx="7625170" cy="2868878"/>
          </a:xfrm>
          <a:prstGeom prst="rect">
            <a:avLst/>
          </a:prstGeom>
          <a:noFill/>
          <a:ln>
            <a:noFill/>
          </a:ln>
        </p:spPr>
      </p:pic>
      <p:sp>
        <p:nvSpPr>
          <p:cNvPr id="1084" name="Google Shape;1084;p109"/>
          <p:cNvSpPr txBox="1"/>
          <p:nvPr/>
        </p:nvSpPr>
        <p:spPr>
          <a:xfrm>
            <a:off x="484563" y="3768582"/>
            <a:ext cx="9093546" cy="54488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How do the median times for each grade compare?</a:t>
            </a:r>
            <a:endParaRPr b="0" i="0" sz="1400" u="none" cap="none" strike="noStrike">
              <a:solidFill>
                <a:srgbClr val="000000"/>
              </a:solidFill>
              <a:latin typeface="Arial"/>
              <a:ea typeface="Arial"/>
              <a:cs typeface="Arial"/>
              <a:sym typeface="Arial"/>
            </a:endParaRPr>
          </a:p>
        </p:txBody>
      </p:sp>
      <p:sp>
        <p:nvSpPr>
          <p:cNvPr id="108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35 / 47</a:t>
            </a:r>
          </a:p>
        </p:txBody>
      </p:sp>
      <p:sp>
        <p:nvSpPr>
          <p:cNvPr id="1086" name="EWL-COVER-1"/>
          <p:cNvSpPr/>
          <p:nvPr/>
        </p:nvSpPr>
        <p:spPr>
          <a:xfrm>
            <a:off x="429699" y="4315172"/>
            <a:ext cx="9124272" cy="2025082"/>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08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8" name="Shape 1128"/>
        <p:cNvGrpSpPr/>
        <p:nvPr/>
      </p:nvGrpSpPr>
      <p:grpSpPr>
        <a:xfrm>
          <a:off x="0" y="0"/>
          <a:ext cx="0" cy="0"/>
          <a:chOff x="0" y="0"/>
          <a:chExt cx="0" cy="0"/>
        </a:xfrm>
      </p:grpSpPr>
      <p:cxnSp>
        <p:nvCxnSpPr>
          <p:cNvPr id="1129" name="Google Shape;1129;p11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130" name="Google Shape;1130;p115"/>
          <p:cNvSpPr txBox="1"/>
          <p:nvPr/>
        </p:nvSpPr>
        <p:spPr>
          <a:xfrm>
            <a:off x="484564" y="927527"/>
            <a:ext cx="6211800" cy="135847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How do the slowest and fastest finish times compare between the sixth and seventh graders?</a:t>
            </a:r>
            <a:endParaRPr b="0" i="0" sz="1400" u="none" cap="none" strike="noStrike">
              <a:solidFill>
                <a:srgbClr val="000000"/>
              </a:solidFill>
              <a:latin typeface="Arial"/>
              <a:ea typeface="Arial"/>
              <a:cs typeface="Arial"/>
              <a:sym typeface="Arial"/>
            </a:endParaRPr>
          </a:p>
        </p:txBody>
      </p:sp>
      <p:sp>
        <p:nvSpPr>
          <p:cNvPr id="1131" name="Google Shape;1131;p115"/>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pic>
        <p:nvPicPr>
          <p:cNvPr id="1132" name="Google Shape;1132;p115"/>
          <p:cNvPicPr preferRelativeResize="0"/>
          <p:nvPr/>
        </p:nvPicPr>
        <p:blipFill rotWithShape="1">
          <a:blip r:embed="rId3">
            <a:alphaModFix/>
          </a:blip>
          <a:srcRect b="0" l="0" r="0" t="0"/>
          <a:stretch/>
        </p:blipFill>
        <p:spPr>
          <a:xfrm>
            <a:off x="830178" y="2512732"/>
            <a:ext cx="7062537" cy="3496305"/>
          </a:xfrm>
          <a:prstGeom prst="rect">
            <a:avLst/>
          </a:prstGeom>
          <a:noFill/>
          <a:ln>
            <a:noFill/>
          </a:ln>
        </p:spPr>
      </p:pic>
      <p:sp>
        <p:nvSpPr>
          <p:cNvPr id="11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36 / 47</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2.4  /  CHECK YOUR WORK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Pause. Check. Improve.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011680"/>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CHECK</a:t>
            </a:r>
          </a:p>
        </p:txBody>
      </p:sp>
      <p:sp>
        <p:nvSpPr>
          <p:cNvPr id="7" name="TextBox 6"/>
          <p:cNvSpPr txBox="1"/>
          <p:nvPr/>
        </p:nvSpPr>
        <p:spPr>
          <a:xfrm>
            <a:off x="2340864" y="1975104"/>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A mistake to watch for: assuming a longer box section contains more observations.</a:t>
            </a:r>
          </a:p>
        </p:txBody>
      </p:sp>
      <p:sp>
        <p:nvSpPr>
          <p:cNvPr id="8" name="Rounded Rectangle 7"/>
          <p:cNvSpPr/>
          <p:nvPr/>
        </p:nvSpPr>
        <p:spPr>
          <a:xfrm>
            <a:off x="594360" y="3127248"/>
            <a:ext cx="10972800" cy="1069848"/>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310128"/>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TRY</a:t>
            </a:r>
          </a:p>
        </p:txBody>
      </p:sp>
      <p:sp>
        <p:nvSpPr>
          <p:cNvPr id="10" name="TextBox 9"/>
          <p:cNvSpPr txBox="1"/>
          <p:nvPr/>
        </p:nvSpPr>
        <p:spPr>
          <a:xfrm>
            <a:off x="2340864" y="3273552"/>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Connect the ordered source data to each boundary of the given box plot.</a:t>
            </a:r>
          </a:p>
        </p:txBody>
      </p:sp>
      <p:sp>
        <p:nvSpPr>
          <p:cNvPr id="11" name="Rounded Rectangle 10"/>
          <p:cNvSpPr/>
          <p:nvPr/>
        </p:nvSpPr>
        <p:spPr>
          <a:xfrm>
            <a:off x="594360" y="4425696"/>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4608576"/>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REVISE</a:t>
            </a:r>
          </a:p>
        </p:txBody>
      </p:sp>
      <p:sp>
        <p:nvSpPr>
          <p:cNvPr id="13" name="TextBox 12"/>
          <p:cNvSpPr txBox="1"/>
          <p:nvPr/>
        </p:nvSpPr>
        <p:spPr>
          <a:xfrm>
            <a:off x="2340864" y="4572000"/>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Use that check on the task you just completed. Correct or strengthen one part, and explain why.</a:t>
            </a:r>
          </a:p>
        </p:txBody>
      </p:sp>
      <p:grpSp>
        <p:nvGrpSpPr>
          <p:cNvPr id="14" name="TEACH-4-student-move" descr="TEACH 4 · Monitor progress and provide feedback"/>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REVISE NOW  ·  </a:t>
              </a:r>
              <a:r>
                <a:rPr lang="en-US" sz="1200" dirty="0">
                  <a:solidFill>
                    <a:srgbClr val="13303A"/>
                  </a:solidFill>
                  <a:latin typeface="Arial"/>
                </a:rPr>
                <a:t>Change one answer and write why you changed it. A revision is evidence of learning.</a:t>
              </a:r>
              <a:endParaRPr lang="en-US" sz="1200"/>
            </a:p>
          </p:txBody>
        </p:sp>
      </p:gr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78" name="Google Shape;978;p98"/>
          <p:cNvSpPr txBox="1"/>
          <p:nvPr/>
        </p:nvSpPr>
        <p:spPr>
          <a:xfrm>
            <a:off x="484564" y="5424885"/>
            <a:ext cx="7311900" cy="940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62626"/>
                </a:solidFill>
                <a:latin typeface="Arial"/>
                <a:ea typeface="Arial"/>
                <a:cs typeface="Arial"/>
                <a:sym typeface="Arial"/>
              </a:rPr>
              <a:t>What does each value represent in the data set?</a:t>
            </a:r>
            <a:endParaRPr b="0" i="0" sz="1400" u="none" cap="none" strike="noStrike">
              <a:solidFill>
                <a:srgbClr val="000000"/>
              </a:solidFill>
              <a:latin typeface="Arial"/>
              <a:ea typeface="Arial"/>
              <a:cs typeface="Arial"/>
              <a:sym typeface="Arial"/>
            </a:endParaRPr>
          </a:p>
        </p:txBody>
      </p:sp>
      <p:sp>
        <p:nvSpPr>
          <p:cNvPr id="979" name="Google Shape;979;p98"/>
          <p:cNvSpPr txBox="1"/>
          <p:nvPr/>
        </p:nvSpPr>
        <p:spPr>
          <a:xfrm>
            <a:off x="484564" y="420255"/>
            <a:ext cx="6856516" cy="2210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The sixth graders and seventh graders want to compare their finish times in the 5-kilometer road race. How do the finish times of the students in the two grades compare?</a:t>
            </a:r>
            <a:endParaRPr b="1" i="0" sz="2800" u="none" cap="none" strike="noStrike">
              <a:solidFill>
                <a:srgbClr val="262626"/>
              </a:solidFill>
              <a:latin typeface="Arial"/>
              <a:ea typeface="Arial"/>
              <a:cs typeface="Arial"/>
              <a:sym typeface="Arial"/>
            </a:endParaRPr>
          </a:p>
        </p:txBody>
      </p:sp>
      <p:cxnSp>
        <p:nvCxnSpPr>
          <p:cNvPr id="980" name="Google Shape;980;p9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81" name="Google Shape;981;p98"/>
          <p:cNvSpPr txBox="1"/>
          <p:nvPr/>
        </p:nvSpPr>
        <p:spPr>
          <a:xfrm>
            <a:off x="8416461" y="2719802"/>
            <a:ext cx="3402164" cy="3180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Each data value represents the time it takes one sixth or seventh grader to finish a 5-kilometer race.</a:t>
            </a:r>
            <a:endParaRPr b="0" i="0" sz="1400" u="none" cap="none" strike="noStrike">
              <a:solidFill>
                <a:srgbClr val="000000"/>
              </a:solidFill>
              <a:latin typeface="Arial"/>
              <a:ea typeface="Arial"/>
              <a:cs typeface="Arial"/>
              <a:sym typeface="Arial"/>
            </a:endParaRPr>
          </a:p>
        </p:txBody>
      </p:sp>
      <p:graphicFrame>
        <p:nvGraphicFramePr>
          <p:cNvPr id="982" name="Google Shape;982;p98"/>
          <p:cNvGraphicFramePr/>
          <p:nvPr/>
        </p:nvGraphicFramePr>
        <p:xfrm>
          <a:off x="4454064" y="2719802"/>
          <a:ext cx="3000000" cy="3000000"/>
        </p:xfrm>
        <a:graphic>
          <a:graphicData uri="http://schemas.openxmlformats.org/drawingml/2006/table">
            <a:tbl>
              <a:tblPr bandRow="1" firstRow="1">
                <a:noFill/>
                <a:tableStyleId>{B9DF2C77-29B6-440D-971E-0F89A6C3B4CD}</a:tableStyleId>
              </a:tblPr>
              <a:tblGrid>
                <a:gridCol w="723700"/>
                <a:gridCol w="723700"/>
                <a:gridCol w="723700"/>
                <a:gridCol w="723700"/>
                <a:gridCol w="723700"/>
              </a:tblGrid>
              <a:tr h="341875">
                <a:tc gridSpan="5">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dk1"/>
                          </a:solidFill>
                          <a:latin typeface="Arial"/>
                          <a:ea typeface="Arial"/>
                          <a:cs typeface="Arial"/>
                          <a:sym typeface="Arial"/>
                        </a:rPr>
                        <a:t>Grade 7 Road Race</a:t>
                      </a:r>
                      <a:endParaRPr sz="1400" u="none" cap="none" strike="noStrike"/>
                    </a:p>
                  </a:txBody>
                  <a:tcPr marT="45725" marB="45725" marR="91450" marL="91450">
                    <a:lnB cap="flat" cmpd="sng" w="12700">
                      <a:solidFill>
                        <a:srgbClr val="D0CECE"/>
                      </a:solidFill>
                      <a:prstDash val="solid"/>
                      <a:round/>
                      <a:headEnd len="sm" w="sm" type="none"/>
                      <a:tailEnd len="sm" w="sm" type="none"/>
                    </a:lnB>
                    <a:solidFill>
                      <a:schemeClr val="lt1"/>
                    </a:solidFill>
                  </a:tcPr>
                </a:tc>
                <a:tc hMerge="1"/>
                <a:tc hMerge="1"/>
                <a:tc hMerge="1"/>
                <a:tc hMerge="1"/>
              </a:tr>
              <a:tr h="368975">
                <a:tc gridSpan="5">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solidFill>
                            <a:schemeClr val="lt1"/>
                          </a:solidFill>
                          <a:latin typeface="Arial"/>
                          <a:ea typeface="Arial"/>
                          <a:cs typeface="Arial"/>
                          <a:sym typeface="Arial"/>
                        </a:rPr>
                        <a:t>Grade 7 Finish Times (minutes)</a:t>
                      </a:r>
                      <a:endParaRPr b="1" sz="1800" u="none" cap="none" strike="noStrike">
                        <a:solidFill>
                          <a:schemeClr val="lt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rgbClr val="695B9A"/>
                    </a:solidFill>
                  </a:tcPr>
                </a:tc>
                <a:tc hMerge="1"/>
                <a:tc hMerge="1"/>
                <a:tc hMerge="1"/>
                <a:tc hMerge="1"/>
              </a:tr>
              <a:tr h="373600">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29</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30</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40</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37</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48</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368975">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35</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38</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31</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37</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35</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368975">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38</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32</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37</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34</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34</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368975">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36</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36</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35</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35</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36</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368975">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40</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34</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41</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33</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39</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bl>
          </a:graphicData>
        </a:graphic>
      </p:graphicFrame>
      <p:graphicFrame>
        <p:nvGraphicFramePr>
          <p:cNvPr id="983" name="Google Shape;983;p98"/>
          <p:cNvGraphicFramePr/>
          <p:nvPr/>
        </p:nvGraphicFramePr>
        <p:xfrm>
          <a:off x="484563" y="2719802"/>
          <a:ext cx="3000000" cy="3000000"/>
        </p:xfrm>
        <a:graphic>
          <a:graphicData uri="http://schemas.openxmlformats.org/drawingml/2006/table">
            <a:tbl>
              <a:tblPr bandRow="1" firstRow="1">
                <a:noFill/>
                <a:tableStyleId>{B9DF2C77-29B6-440D-971E-0F89A6C3B4CD}</a:tableStyleId>
              </a:tblPr>
              <a:tblGrid>
                <a:gridCol w="725125"/>
                <a:gridCol w="725125"/>
                <a:gridCol w="725125"/>
                <a:gridCol w="725125"/>
                <a:gridCol w="725125"/>
              </a:tblGrid>
              <a:tr h="292300">
                <a:tc gridSpan="5">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dk1"/>
                          </a:solidFill>
                          <a:latin typeface="Arial"/>
                          <a:ea typeface="Arial"/>
                          <a:cs typeface="Arial"/>
                          <a:sym typeface="Arial"/>
                        </a:rPr>
                        <a:t>Grade 6 Road Race</a:t>
                      </a:r>
                      <a:endParaRPr sz="1400" u="none" cap="none" strike="noStrike"/>
                    </a:p>
                  </a:txBody>
                  <a:tcPr marT="45725" marB="45725" marR="91450" marL="91450">
                    <a:lnB cap="flat" cmpd="sng" w="12700">
                      <a:solidFill>
                        <a:srgbClr val="D0CECE"/>
                      </a:solidFill>
                      <a:prstDash val="solid"/>
                      <a:round/>
                      <a:headEnd len="sm" w="sm" type="none"/>
                      <a:tailEnd len="sm" w="sm" type="none"/>
                    </a:lnB>
                    <a:solidFill>
                      <a:schemeClr val="lt1"/>
                    </a:solidFill>
                  </a:tcPr>
                </a:tc>
                <a:tc hMerge="1"/>
                <a:tc hMerge="1"/>
                <a:tc hMerge="1"/>
                <a:tc hMerge="1"/>
              </a:tr>
              <a:tr h="315450">
                <a:tc gridSpan="5">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solidFill>
                            <a:schemeClr val="lt1"/>
                          </a:solidFill>
                          <a:latin typeface="Arial"/>
                          <a:ea typeface="Arial"/>
                          <a:cs typeface="Arial"/>
                          <a:sym typeface="Arial"/>
                        </a:rPr>
                        <a:t>Grade 6 Finish Times (minutes)</a:t>
                      </a:r>
                      <a:endParaRPr b="1" sz="1800" u="none" cap="none" strike="noStrike">
                        <a:solidFill>
                          <a:schemeClr val="lt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rgbClr val="695B9A"/>
                    </a:solidFill>
                  </a:tcPr>
                </a:tc>
                <a:tc hMerge="1"/>
                <a:tc hMerge="1"/>
                <a:tc hMerge="1"/>
                <a:tc hMerge="1"/>
              </a:tr>
              <a:tr h="319425">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35</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37</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39</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40</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33</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315450">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42</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34</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40</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38</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33</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315450">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40</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36</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46</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38</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37</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315450">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35</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34</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34</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38</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29</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315450">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41</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39</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35</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47</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37</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bl>
          </a:graphicData>
        </a:graphic>
      </p:graphicFrame>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39 / 47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18" name="Google Shape;1018;p102"/>
          <p:cNvSpPr txBox="1"/>
          <p:nvPr/>
        </p:nvSpPr>
        <p:spPr>
          <a:xfrm>
            <a:off x="484563" y="5417669"/>
            <a:ext cx="7698855" cy="940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62626"/>
                </a:solidFill>
                <a:latin typeface="Arial"/>
                <a:ea typeface="Arial"/>
                <a:cs typeface="Arial"/>
                <a:sym typeface="Arial"/>
              </a:rPr>
              <a:t>How can you use a data display to compare the two data sets?</a:t>
            </a:r>
            <a:endParaRPr b="0" i="0" sz="1400" u="none" cap="none" strike="noStrike">
              <a:solidFill>
                <a:srgbClr val="000000"/>
              </a:solidFill>
              <a:latin typeface="Arial"/>
              <a:ea typeface="Arial"/>
              <a:cs typeface="Arial"/>
              <a:sym typeface="Arial"/>
            </a:endParaRPr>
          </a:p>
        </p:txBody>
      </p:sp>
      <p:cxnSp>
        <p:nvCxnSpPr>
          <p:cNvPr id="1019" name="Google Shape;1019;p10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20" name="Google Shape;1020;p102"/>
          <p:cNvSpPr txBox="1"/>
          <p:nvPr/>
        </p:nvSpPr>
        <p:spPr>
          <a:xfrm>
            <a:off x="8527299" y="3429000"/>
            <a:ext cx="3402164" cy="28528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create box plots to make it easier to compare markers for the two data sets.</a:t>
            </a:r>
            <a:endParaRPr b="0" i="0" sz="1400" u="none" cap="none" strike="noStrike">
              <a:solidFill>
                <a:srgbClr val="000000"/>
              </a:solidFill>
              <a:latin typeface="Arial"/>
              <a:ea typeface="Arial"/>
              <a:cs typeface="Arial"/>
              <a:sym typeface="Arial"/>
            </a:endParaRPr>
          </a:p>
        </p:txBody>
      </p:sp>
      <p:graphicFrame>
        <p:nvGraphicFramePr>
          <p:cNvPr id="1021" name="Google Shape;1021;p102"/>
          <p:cNvGraphicFramePr/>
          <p:nvPr/>
        </p:nvGraphicFramePr>
        <p:xfrm>
          <a:off x="4454064" y="2719802"/>
          <a:ext cx="3000000" cy="3000000"/>
        </p:xfrm>
        <a:graphic>
          <a:graphicData uri="http://schemas.openxmlformats.org/drawingml/2006/table">
            <a:tbl>
              <a:tblPr bandRow="1" firstRow="1">
                <a:noFill/>
                <a:tableStyleId>{B9DF2C77-29B6-440D-971E-0F89A6C3B4CD}</a:tableStyleId>
              </a:tblPr>
              <a:tblGrid>
                <a:gridCol w="723700"/>
                <a:gridCol w="723700"/>
                <a:gridCol w="723700"/>
                <a:gridCol w="723700"/>
                <a:gridCol w="723700"/>
              </a:tblGrid>
              <a:tr h="341875">
                <a:tc gridSpan="5">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dk1"/>
                          </a:solidFill>
                          <a:latin typeface="Arial"/>
                          <a:ea typeface="Arial"/>
                          <a:cs typeface="Arial"/>
                          <a:sym typeface="Arial"/>
                        </a:rPr>
                        <a:t>Grade 7 Road Race</a:t>
                      </a:r>
                      <a:endParaRPr sz="1400" u="none" cap="none" strike="noStrike"/>
                    </a:p>
                  </a:txBody>
                  <a:tcPr marT="45725" marB="45725" marR="91450" marL="91450">
                    <a:lnB cap="flat" cmpd="sng" w="12700">
                      <a:solidFill>
                        <a:srgbClr val="D0CECE"/>
                      </a:solidFill>
                      <a:prstDash val="solid"/>
                      <a:round/>
                      <a:headEnd len="sm" w="sm" type="none"/>
                      <a:tailEnd len="sm" w="sm" type="none"/>
                    </a:lnB>
                    <a:solidFill>
                      <a:schemeClr val="lt1"/>
                    </a:solidFill>
                  </a:tcPr>
                </a:tc>
                <a:tc hMerge="1"/>
                <a:tc hMerge="1"/>
                <a:tc hMerge="1"/>
                <a:tc hMerge="1"/>
              </a:tr>
              <a:tr h="368975">
                <a:tc gridSpan="5">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solidFill>
                            <a:schemeClr val="lt1"/>
                          </a:solidFill>
                          <a:latin typeface="Arial"/>
                          <a:ea typeface="Arial"/>
                          <a:cs typeface="Arial"/>
                          <a:sym typeface="Arial"/>
                        </a:rPr>
                        <a:t>Grade 7 Finish Times (minutes)</a:t>
                      </a:r>
                      <a:endParaRPr b="1" sz="1800" u="none" cap="none" strike="noStrike">
                        <a:solidFill>
                          <a:schemeClr val="lt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rgbClr val="695B9A"/>
                    </a:solidFill>
                  </a:tcPr>
                </a:tc>
                <a:tc hMerge="1"/>
                <a:tc hMerge="1"/>
                <a:tc hMerge="1"/>
                <a:tc hMerge="1"/>
              </a:tr>
              <a:tr h="373600">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29</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30</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40</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37</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48</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368975">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35</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38</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31</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37</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35</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368975">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38</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32</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37</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34</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34</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368975">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36</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36</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35</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35</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36</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368975">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40</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34</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41</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33</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39</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bl>
          </a:graphicData>
        </a:graphic>
      </p:graphicFrame>
      <p:graphicFrame>
        <p:nvGraphicFramePr>
          <p:cNvPr id="1022" name="Google Shape;1022;p102"/>
          <p:cNvGraphicFramePr/>
          <p:nvPr/>
        </p:nvGraphicFramePr>
        <p:xfrm>
          <a:off x="484563" y="2719802"/>
          <a:ext cx="3000000" cy="3000000"/>
        </p:xfrm>
        <a:graphic>
          <a:graphicData uri="http://schemas.openxmlformats.org/drawingml/2006/table">
            <a:tbl>
              <a:tblPr bandRow="1" firstRow="1">
                <a:noFill/>
                <a:tableStyleId>{B9DF2C77-29B6-440D-971E-0F89A6C3B4CD}</a:tableStyleId>
              </a:tblPr>
              <a:tblGrid>
                <a:gridCol w="725125"/>
                <a:gridCol w="725125"/>
                <a:gridCol w="725125"/>
                <a:gridCol w="725125"/>
                <a:gridCol w="725125"/>
              </a:tblGrid>
              <a:tr h="292300">
                <a:tc gridSpan="5">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dk1"/>
                          </a:solidFill>
                          <a:latin typeface="Arial"/>
                          <a:ea typeface="Arial"/>
                          <a:cs typeface="Arial"/>
                          <a:sym typeface="Arial"/>
                        </a:rPr>
                        <a:t>Grade 6 Road Race</a:t>
                      </a:r>
                      <a:endParaRPr sz="1400" u="none" cap="none" strike="noStrike"/>
                    </a:p>
                  </a:txBody>
                  <a:tcPr marT="45725" marB="45725" marR="91450" marL="91450">
                    <a:lnB cap="flat" cmpd="sng" w="12700">
                      <a:solidFill>
                        <a:srgbClr val="D0CECE"/>
                      </a:solidFill>
                      <a:prstDash val="solid"/>
                      <a:round/>
                      <a:headEnd len="sm" w="sm" type="none"/>
                      <a:tailEnd len="sm" w="sm" type="none"/>
                    </a:lnB>
                    <a:solidFill>
                      <a:schemeClr val="lt1"/>
                    </a:solidFill>
                  </a:tcPr>
                </a:tc>
                <a:tc hMerge="1"/>
                <a:tc hMerge="1"/>
                <a:tc hMerge="1"/>
                <a:tc hMerge="1"/>
              </a:tr>
              <a:tr h="315450">
                <a:tc gridSpan="5">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solidFill>
                            <a:schemeClr val="lt1"/>
                          </a:solidFill>
                          <a:latin typeface="Arial"/>
                          <a:ea typeface="Arial"/>
                          <a:cs typeface="Arial"/>
                          <a:sym typeface="Arial"/>
                        </a:rPr>
                        <a:t>Grade 6 Finish Times (minutes)</a:t>
                      </a:r>
                      <a:endParaRPr b="1" sz="1800" u="none" cap="none" strike="noStrike">
                        <a:solidFill>
                          <a:schemeClr val="lt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rgbClr val="695B9A"/>
                    </a:solidFill>
                  </a:tcPr>
                </a:tc>
                <a:tc hMerge="1"/>
                <a:tc hMerge="1"/>
                <a:tc hMerge="1"/>
                <a:tc hMerge="1"/>
              </a:tr>
              <a:tr h="319425">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35</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37</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39</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40</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33</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315450">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42</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34</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40</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38</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33</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315450">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40</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36</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46</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38</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37</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315450">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35</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34</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34</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38</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29</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315450">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41</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39</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35</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47</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37</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bl>
          </a:graphicData>
        </a:graphic>
      </p:graphicFrame>
      <p:sp>
        <p:nvSpPr>
          <p:cNvPr id="1023" name="Google Shape;1023;p102"/>
          <p:cNvSpPr txBox="1"/>
          <p:nvPr/>
        </p:nvSpPr>
        <p:spPr>
          <a:xfrm>
            <a:off x="484564" y="425599"/>
            <a:ext cx="6866731" cy="177939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The sixth graders and seventh graders want to compare their finish times in the 5-kilometer road race. How do the finish times of the students in the two grades compare?</a:t>
            </a:r>
            <a:endParaRPr b="1" i="0" sz="2800" u="none" cap="none" strike="noStrike">
              <a:solidFill>
                <a:srgbClr val="262626"/>
              </a:solidFill>
              <a:latin typeface="Arial"/>
              <a:ea typeface="Arial"/>
              <a:cs typeface="Arial"/>
              <a:sym typeface="Arial"/>
            </a:endParaRPr>
          </a:p>
        </p:txBody>
      </p:sp>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41 / 47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65" name="Google Shape;1065;p107"/>
          <p:cNvSpPr txBox="1"/>
          <p:nvPr/>
        </p:nvSpPr>
        <p:spPr>
          <a:xfrm>
            <a:off x="528952" y="3817240"/>
            <a:ext cx="7698855" cy="940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62626"/>
                </a:solidFill>
                <a:latin typeface="Arial"/>
                <a:ea typeface="Arial"/>
                <a:cs typeface="Arial"/>
                <a:sym typeface="Arial"/>
              </a:rPr>
              <a:t>How do the times of the slowest runners from each grade compare?</a:t>
            </a:r>
            <a:endParaRPr b="0" i="0" sz="1400" u="none" cap="none" strike="noStrike">
              <a:solidFill>
                <a:srgbClr val="000000"/>
              </a:solidFill>
              <a:latin typeface="Arial"/>
              <a:ea typeface="Arial"/>
              <a:cs typeface="Arial"/>
              <a:sym typeface="Arial"/>
            </a:endParaRPr>
          </a:p>
        </p:txBody>
      </p:sp>
      <p:cxnSp>
        <p:nvCxnSpPr>
          <p:cNvPr id="1066" name="Google Shape;1066;p10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67" name="Google Shape;1067;p107"/>
          <p:cNvSpPr txBox="1"/>
          <p:nvPr/>
        </p:nvSpPr>
        <p:spPr>
          <a:xfrm>
            <a:off x="528952" y="4819861"/>
            <a:ext cx="9056226" cy="16184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slowest Grade 6 runner (47 minutes) was faster than the slowest Grade 7 runner (48 minutes).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chemeClr val="dk2"/>
              </a:buClr>
              <a:buSzPts val="2800"/>
              <a:buFont typeface="Arial"/>
              <a:buNone/>
              <a:defRPr/>
            </a:pPr>
            <a:r>
              <a:rPr/>
              <a:t/>
            </a:r>
            <a:endParaRPr b="0" i="0" sz="2800" u="none" cap="none" strike="noStrike">
              <a:solidFill>
                <a:srgbClr val="595959"/>
              </a:solidFill>
              <a:latin typeface="Arial"/>
              <a:ea typeface="Arial"/>
              <a:cs typeface="Arial"/>
              <a:sym typeface="Arial"/>
            </a:endParaRPr>
          </a:p>
        </p:txBody>
      </p:sp>
      <p:pic>
        <p:nvPicPr>
          <p:cNvPr id="1068" name="Google Shape;1068;p107"/>
          <p:cNvPicPr preferRelativeResize="0"/>
          <p:nvPr/>
        </p:nvPicPr>
        <p:blipFill rotWithShape="1">
          <a:blip r:embed="rId2">
            <a:alphaModFix/>
          </a:blip>
          <a:srcRect b="0" l="0" r="0" t="0"/>
          <a:stretch/>
        </p:blipFill>
        <p:spPr>
          <a:xfrm>
            <a:off x="59364" y="892793"/>
            <a:ext cx="7625170" cy="2868878"/>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42 / 47</a:t>
            </a: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6" name="Shape 1136"/>
        <p:cNvGrpSpPr/>
        <p:nvPr/>
      </p:nvGrpSpPr>
      <p:grpSpPr>
        <a:xfrm>
          <a:off x="0" y="0"/>
          <a:ext cx="0" cy="0"/>
          <a:chOff x="0" y="0"/>
          <a:chExt cx="0" cy="0"/>
        </a:xfrm>
      </p:grpSpPr>
      <p:pic>
        <p:nvPicPr>
          <p:cNvPr id="1137" name="Google Shape;1137;p116"/>
          <p:cNvPicPr preferRelativeResize="0"/>
          <p:nvPr/>
        </p:nvPicPr>
        <p:blipFill rotWithShape="1">
          <a:blip r:embed="rId3">
            <a:alphaModFix/>
          </a:blip>
          <a:srcRect b="0" l="0" r="0" t="0"/>
          <a:stretch/>
        </p:blipFill>
        <p:spPr>
          <a:xfrm>
            <a:off x="2706255" y="4481064"/>
            <a:ext cx="5077114" cy="1715012"/>
          </a:xfrm>
          <a:prstGeom prst="rect">
            <a:avLst/>
          </a:prstGeom>
          <a:noFill/>
          <a:ln>
            <a:noFill/>
          </a:ln>
        </p:spPr>
      </p:pic>
      <p:sp>
        <p:nvSpPr>
          <p:cNvPr id="1138" name="Google Shape;1138;p116"/>
          <p:cNvSpPr txBox="1"/>
          <p:nvPr/>
        </p:nvSpPr>
        <p:spPr>
          <a:xfrm>
            <a:off x="521450" y="1233922"/>
            <a:ext cx="9416878" cy="302742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A box plot, or a box-and-whisker plot, is a type of data display. The data is divided into four parts, called quartiles, with the same number of data values in each part. It shows the distribution of the values in a data set on a number line and uses five markers to describe the data: the median, quartile 1 and quartile 3, and lower and upper extreme values.</a:t>
            </a:r>
            <a:endParaRPr b="0" i="0" sz="1400" u="none" cap="none" strike="noStrike">
              <a:solidFill>
                <a:srgbClr val="000000"/>
              </a:solidFill>
              <a:latin typeface="Arial"/>
              <a:ea typeface="Arial"/>
              <a:cs typeface="Arial"/>
              <a:sym typeface="Arial"/>
            </a:endParaRPr>
          </a:p>
        </p:txBody>
      </p:sp>
      <p:sp>
        <p:nvSpPr>
          <p:cNvPr id="1139" name="Google Shape;1139;p116"/>
          <p:cNvSpPr txBox="1"/>
          <p:nvPr/>
        </p:nvSpPr>
        <p:spPr>
          <a:xfrm>
            <a:off x="484565" y="316034"/>
            <a:ext cx="6276453" cy="82696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0" i="0" lang="en-US" sz="2800" u="none" cap="none" strike="noStrike">
                <a:solidFill>
                  <a:srgbClr val="782DA0"/>
                </a:solidFill>
                <a:latin typeface="Arial"/>
                <a:ea typeface="Arial"/>
                <a:cs typeface="Arial"/>
                <a:sym typeface="Arial"/>
              </a:rPr>
              <a:t>Summarize:</a:t>
            </a:r>
            <a:r>
              <a:rPr b="1" i="0" lang="en-US" sz="2800" u="none" cap="none" strike="noStrike">
                <a:solidFill>
                  <a:srgbClr val="782DA0"/>
                </a:solidFill>
                <a:latin typeface="Arial"/>
                <a:ea typeface="Arial"/>
                <a:cs typeface="Arial"/>
                <a:sym typeface="Arial"/>
              </a:rPr>
              <a:t xml:space="preserve"> Represent and Describe Data in a Box Plot​</a:t>
            </a:r>
            <a:endParaRPr b="0" i="0" sz="1400" u="none" cap="none" strike="noStrike">
              <a:solidFill>
                <a:srgbClr val="000000"/>
              </a:solidFill>
              <a:latin typeface="Arial"/>
              <a:ea typeface="Arial"/>
              <a:cs typeface="Arial"/>
              <a:sym typeface="Arial"/>
            </a:endParaRPr>
          </a:p>
        </p:txBody>
      </p:sp>
      <p:cxnSp>
        <p:nvCxnSpPr>
          <p:cNvPr id="1140" name="Google Shape;1140;p11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14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43 / 47</a:t>
            </a:r>
          </a:p>
        </p:txBody>
      </p:sp>
      <p:sp>
        <p:nvSpPr>
          <p:cNvPr id="1142"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SUMMARIZE</a:t>
            </a:r>
            <a:r>
              <a:rPr lang="en-US" sz="1200" b="1">
                <a:solidFill>
                  <a:srgbClr val="5D6872"/>
                </a:solidFill>
                <a:latin typeface="Arial"/>
              </a:rPr>
              <a:t xml:space="preserve">  ·  SAY IT IN YOUR OWN WORDS</a:t>
            </a: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4" name="Shape 1144"/>
        <p:cNvGrpSpPr/>
        <p:nvPr/>
      </p:nvGrpSpPr>
      <p:grpSpPr>
        <a:xfrm>
          <a:off x="0" y="0"/>
          <a:ext cx="0" cy="0"/>
          <a:chOff x="0" y="0"/>
          <a:chExt cx="0" cy="0"/>
        </a:xfrm>
      </p:grpSpPr>
      <p:cxnSp>
        <p:nvCxnSpPr>
          <p:cNvPr id="1145" name="Google Shape;1145;p11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1146" name="Google Shape;1146;p117"/>
          <p:cNvPicPr preferRelativeResize="0"/>
          <p:nvPr/>
        </p:nvPicPr>
        <p:blipFill rotWithShape="1">
          <a:blip r:embed="rId3">
            <a:alphaModFix/>
          </a:blip>
          <a:srcRect b="0" l="0" r="0" t="0"/>
          <a:stretch/>
        </p:blipFill>
        <p:spPr>
          <a:xfrm>
            <a:off x="662564" y="3034145"/>
            <a:ext cx="7172325" cy="1676400"/>
          </a:xfrm>
          <a:prstGeom prst="rect">
            <a:avLst/>
          </a:prstGeom>
          <a:noFill/>
          <a:ln>
            <a:noFill/>
          </a:ln>
        </p:spPr>
      </p:pic>
      <p:sp>
        <p:nvSpPr>
          <p:cNvPr id="1147" name="Google Shape;1147;p117"/>
          <p:cNvSpPr txBox="1"/>
          <p:nvPr/>
        </p:nvSpPr>
        <p:spPr>
          <a:xfrm>
            <a:off x="484565" y="1241564"/>
            <a:ext cx="8640962" cy="515923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The box plots show the average monthly temperatures for the same month in Chicago, IL, and Honolulu, HI.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Question:</a:t>
            </a:r>
            <a:r>
              <a:rPr b="0" i="0" lang="en-US" sz="2800" u="none" cap="none" strike="noStrike">
                <a:solidFill>
                  <a:srgbClr val="23282D"/>
                </a:solidFill>
                <a:latin typeface="Arial"/>
                <a:ea typeface="Arial"/>
                <a:cs typeface="Arial"/>
                <a:sym typeface="Arial"/>
              </a:rPr>
              <a:t xml:space="preserve"> How do the monthly temperatures between the two cities compare?​</a:t>
            </a:r>
            <a:endParaRPr b="0" i="0" sz="1400" u="none" cap="none" strike="noStrike">
              <a:solidFill>
                <a:srgbClr val="000000"/>
              </a:solidFill>
              <a:latin typeface="Arial"/>
              <a:ea typeface="Arial"/>
              <a:cs typeface="Arial"/>
              <a:sym typeface="Arial"/>
            </a:endParaRPr>
          </a:p>
        </p:txBody>
      </p:sp>
      <p:sp>
        <p:nvSpPr>
          <p:cNvPr id="1148" name="Google Shape;1148;p117"/>
          <p:cNvSpPr txBox="1"/>
          <p:nvPr/>
        </p:nvSpPr>
        <p:spPr>
          <a:xfrm>
            <a:off x="484565" y="316034"/>
            <a:ext cx="6045544" cy="81080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0" i="0" lang="en-US" sz="2800" u="none" cap="none" strike="noStrike">
                <a:solidFill>
                  <a:srgbClr val="782DA0"/>
                </a:solidFill>
                <a:latin typeface="Arial"/>
                <a:ea typeface="Arial"/>
                <a:cs typeface="Arial"/>
                <a:sym typeface="Arial"/>
              </a:rPr>
              <a:t>Apply:</a:t>
            </a:r>
            <a:r>
              <a:rPr b="1" i="0" lang="en-US" sz="2800" u="none" cap="none" strike="noStrike">
                <a:solidFill>
                  <a:srgbClr val="782DA0"/>
                </a:solidFill>
                <a:latin typeface="Arial"/>
                <a:ea typeface="Arial"/>
                <a:cs typeface="Arial"/>
                <a:sym typeface="Arial"/>
              </a:rPr>
              <a:t xml:space="preserve"> Average Monthly Temperatures</a:t>
            </a:r>
            <a:endParaRPr b="0" i="0" sz="1400" u="none" cap="none" strike="noStrike">
              <a:solidFill>
                <a:srgbClr val="000000"/>
              </a:solidFill>
              <a:latin typeface="Arial"/>
              <a:ea typeface="Arial"/>
              <a:cs typeface="Arial"/>
              <a:sym typeface="Arial"/>
            </a:endParaRPr>
          </a:p>
        </p:txBody>
      </p:sp>
      <p:sp>
        <p:nvSpPr>
          <p:cNvPr id="114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45 / 47</a:t>
            </a:r>
          </a:p>
        </p:txBody>
      </p:sp>
      <p:sp>
        <p:nvSpPr>
          <p:cNvPr id="1150"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APPLY</a:t>
            </a:r>
            <a:r>
              <a:rPr lang="en-US" sz="1200" b="1">
                <a:solidFill>
                  <a:srgbClr val="5D6872"/>
                </a:solidFill>
                <a:latin typeface="Arial"/>
              </a:rPr>
              <a:t xml:space="preserve">  ·  PLAN IT • SOLVE IT • PROVE IT</a:t>
            </a:r>
          </a:p>
        </p:txBody>
      </p:sp>
      <p:grpSp>
        <p:nvGrpSpPr>
          <p:cNvPr id="1151" name="TEACH-3-student-move" descr="TEACH 3 · Use intentional questioning to deepen learning"/>
          <p:cNvGrpSpPr/>
          <p:nvPr/>
        </p:nvGrpSpPr>
        <p:grpSpPr>
          <a:xfrm>
            <a:off x="502920" y="5015590"/>
            <a:ext cx="11186160" cy="402336"/>
            <a:chOff x="502920" y="5472790"/>
            <a:chExt cx="11186160" cy="402336"/>
          </a:xfrm>
        </p:grpSpPr>
        <p:sp>
          <p:nvSpPr>
            <p:cNvPr id="1152" name="TEACH-move-card"/>
            <p:cNvSpPr/>
            <p:nvPr/>
          </p:nvSpPr>
          <p:spPr>
            <a:xfrm>
              <a:off x="502920" y="5472790"/>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153" name="TEACH-move-rule"/>
            <p:cNvSpPr/>
            <p:nvPr/>
          </p:nvSpPr>
          <p:spPr>
            <a:xfrm>
              <a:off x="548640" y="5549234"/>
              <a:ext cx="100584" cy="249448"/>
            </a:xfrm>
            <a:prstGeom prst="roundRect">
              <a:avLst>
                <a:gd name="adj" fmla="val 50000"/>
              </a:avLst>
            </a:prstGeom>
            <a:solidFill>
              <a:srgbClr val="01708C"/>
            </a:solidFill>
            <a:ln>
              <a:noFill/>
            </a:ln>
          </p:spPr>
          <p:txBody>
            <a:bodyPr/>
            <a:lstStyle/>
            <a:p>
              <a:endParaRPr/>
            </a:p>
          </p:txBody>
        </p:sp>
        <p:sp>
          <p:nvSpPr>
            <p:cNvPr id="1154" name="TEACH-move-text"/>
            <p:cNvSpPr txBox="1"/>
            <p:nvPr/>
          </p:nvSpPr>
          <p:spPr>
            <a:xfrm>
              <a:off x="822960" y="5472790"/>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ANOTHER PATHWAY  ·  </a:t>
              </a:r>
              <a:r>
                <a:rPr lang="en-US" sz="1200" dirty="0">
                  <a:solidFill>
                    <a:srgbClr val="13303A"/>
                  </a:solidFill>
                  <a:latin typeface="Arial"/>
                </a:rPr>
                <a:t>Did anyone get there a different way? Put both pathways side by side and compare.</a:t>
              </a:r>
              <a:endParaRPr lang="en-US" sz="1200"/>
            </a:p>
          </p:txBody>
        </p:sp>
      </p:gr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2" name="Shape 1152"/>
        <p:cNvGrpSpPr/>
        <p:nvPr/>
      </p:nvGrpSpPr>
      <p:grpSpPr>
        <a:xfrm>
          <a:off x="0" y="0"/>
          <a:ext cx="0" cy="0"/>
          <a:chOff x="0" y="0"/>
          <a:chExt cx="0" cy="0"/>
        </a:xfrm>
      </p:grpSpPr>
      <p:cxnSp>
        <p:nvCxnSpPr>
          <p:cNvPr id="1153" name="Google Shape;1153;p11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154" name="Google Shape;1154;p118"/>
          <p:cNvSpPr txBox="1"/>
          <p:nvPr/>
        </p:nvSpPr>
        <p:spPr>
          <a:xfrm>
            <a:off x="484564" y="927528"/>
            <a:ext cx="8188919" cy="5305106"/>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262626"/>
              </a:buClr>
              <a:buSzPts val="2800"/>
              <a:buFont typeface="Arial"/>
              <a:buChar char="•"/>
              <a:defRPr/>
            </a:pPr>
            <a:r>
              <a:rPr b="0" i="0" lang="en-US" sz="2800" u="none" cap="none" strike="noStrike">
                <a:solidFill>
                  <a:srgbClr val="23282D"/>
                </a:solidFill>
                <a:latin typeface="Arial"/>
                <a:ea typeface="Arial"/>
                <a:cs typeface="Arial"/>
                <a:sym typeface="Arial"/>
              </a:rPr>
              <a:t xml:space="preserve">I can describe a data set displayed in a box and whisker plot in terms of median, quartiles, and spread.  </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800"/>
              </a:spcBef>
              <a:spcAft>
                <a:spcPts val="0"/>
              </a:spcAft>
              <a:buClr>
                <a:srgbClr val="262626"/>
              </a:buClr>
              <a:buSzPts val="2800"/>
              <a:buFont typeface="Arial"/>
              <a:buChar char="•"/>
              <a:defRPr/>
            </a:pPr>
            <a:r>
              <a:rPr b="0" i="0" lang="en-US" sz="2800" u="none" cap="none" strike="noStrike">
                <a:solidFill>
                  <a:srgbClr val="23282D"/>
                </a:solidFill>
                <a:latin typeface="Arial"/>
                <a:ea typeface="Arial"/>
                <a:cs typeface="Arial"/>
                <a:sym typeface="Arial"/>
              </a:rPr>
              <a:t>I can attend to precision to compare two data sets displayed in box plots in terms of data distribution.</a:t>
            </a:r>
            <a:endParaRPr b="0" i="0" sz="1400" u="none" cap="none" strike="noStrike">
              <a:solidFill>
                <a:srgbClr val="000000"/>
              </a:solidFill>
              <a:latin typeface="Arial"/>
              <a:ea typeface="Arial"/>
              <a:cs typeface="Arial"/>
              <a:sym typeface="Arial"/>
            </a:endParaRPr>
          </a:p>
        </p:txBody>
      </p:sp>
      <p:sp>
        <p:nvSpPr>
          <p:cNvPr id="1155" name="Google Shape;1155;p118"/>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sp>
        <p:nvSpPr>
          <p:cNvPr id="115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46 / 47</a:t>
            </a:r>
          </a:p>
        </p:txBody>
      </p:sp>
      <p:grpSp>
        <p:nvGrpSpPr>
          <p:cNvPr id="1157" name="TEACH-1-student-move" descr="TEACH 1 · Facilitate clear, standards-based content learning"/>
          <p:cNvGrpSpPr/>
          <p:nvPr/>
        </p:nvGrpSpPr>
        <p:grpSpPr>
          <a:xfrm>
            <a:off x="502920" y="5472790"/>
            <a:ext cx="11186160" cy="402336"/>
            <a:chOff x="502920" y="5472790"/>
            <a:chExt cx="11186160" cy="402336"/>
          </a:xfrm>
        </p:grpSpPr>
        <p:sp>
          <p:nvSpPr>
            <p:cNvPr id="1158" name="TEACH-move-card"/>
            <p:cNvSpPr/>
            <p:nvPr/>
          </p:nvSpPr>
          <p:spPr>
            <a:xfrm>
              <a:off x="502920" y="5472790"/>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159" name="TEACH-move-rule"/>
            <p:cNvSpPr/>
            <p:nvPr/>
          </p:nvSpPr>
          <p:spPr>
            <a:xfrm>
              <a:off x="548640" y="5549234"/>
              <a:ext cx="100584" cy="249448"/>
            </a:xfrm>
            <a:prstGeom prst="roundRect">
              <a:avLst>
                <a:gd name="adj" fmla="val 50000"/>
              </a:avLst>
            </a:prstGeom>
            <a:solidFill>
              <a:srgbClr val="01708C"/>
            </a:solidFill>
            <a:ln>
              <a:noFill/>
            </a:ln>
          </p:spPr>
          <p:txBody>
            <a:bodyPr/>
            <a:lstStyle/>
            <a:p>
              <a:endParaRPr/>
            </a:p>
          </p:txBody>
        </p:sp>
        <p:sp>
          <p:nvSpPr>
            <p:cNvPr id="1160" name="TEACH-move-text"/>
            <p:cNvSpPr txBox="1"/>
            <p:nvPr/>
          </p:nvSpPr>
          <p:spPr>
            <a:xfrm>
              <a:off x="822960" y="5472790"/>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NAME THE MATH  ·  </a:t>
              </a:r>
              <a:r>
                <a:rPr lang="en-US" sz="1200" dirty="0">
                  <a:solidFill>
                    <a:srgbClr val="13303A"/>
                  </a:solidFill>
                  <a:latin typeface="Arial"/>
                </a:rPr>
                <a:t>Point to the part of this that is new today, and say what it changes.</a:t>
              </a:r>
              <a:endParaRPr lang="en-US" sz="1200"/>
            </a:p>
          </p:txBody>
        </p:sp>
      </p:gr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2.4  /  REFLECT ON YOUR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Show your progress</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5330952" cy="3136392"/>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36208" y="1828800"/>
            <a:ext cx="5330952" cy="3136392"/>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103120"/>
            <a:ext cx="4709160"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1  SHOW EVIDENCE</a:t>
            </a:r>
          </a:p>
        </p:txBody>
      </p:sp>
      <p:sp>
        <p:nvSpPr>
          <p:cNvPr id="8" name="TextBox 7"/>
          <p:cNvSpPr txBox="1"/>
          <p:nvPr/>
        </p:nvSpPr>
        <p:spPr>
          <a:xfrm>
            <a:off x="886968"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Choose one response. Point to the part that shows your reasoning.</a:t>
            </a:r>
          </a:p>
        </p:txBody>
      </p:sp>
      <p:sp>
        <p:nvSpPr>
          <p:cNvPr id="9" name="TextBox 8"/>
          <p:cNvSpPr txBox="1"/>
          <p:nvPr/>
        </p:nvSpPr>
        <p:spPr>
          <a:xfrm>
            <a:off x="886968"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“My work shows ___ because ___.”</a:t>
            </a:r>
          </a:p>
        </p:txBody>
      </p:sp>
      <p:sp>
        <p:nvSpPr>
          <p:cNvPr id="10" name="TextBox 9"/>
          <p:cNvSpPr txBox="1"/>
          <p:nvPr/>
        </p:nvSpPr>
        <p:spPr>
          <a:xfrm>
            <a:off x="6528816" y="2103120"/>
            <a:ext cx="4700016"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2  CHOOSE A NEXT STEP</a:t>
            </a:r>
          </a:p>
        </p:txBody>
      </p:sp>
      <p:sp>
        <p:nvSpPr>
          <p:cNvPr id="11" name="TextBox 10"/>
          <p:cNvSpPr txBox="1"/>
          <p:nvPr/>
        </p:nvSpPr>
        <p:spPr>
          <a:xfrm>
            <a:off x="6528816"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Name a change you made after feedback—or a question you still have.</a:t>
            </a:r>
          </a:p>
        </p:txBody>
      </p:sp>
      <p:sp>
        <p:nvSpPr>
          <p:cNvPr id="12" name="TextBox 11"/>
          <p:cNvSpPr txBox="1"/>
          <p:nvPr/>
        </p:nvSpPr>
        <p:spPr>
          <a:xfrm>
            <a:off x="6528816"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“Next time, I will ___ to help me ___.”</a:t>
            </a:r>
          </a:p>
        </p:txBody>
      </p:sp>
      <p:sp>
        <p:nvSpPr>
          <p:cNvPr id="13" name="TextBox 12"/>
          <p:cNvSpPr txBox="1"/>
          <p:nvPr/>
        </p:nvSpPr>
        <p:spPr>
          <a:xfrm>
            <a:off x="621792" y="5376672"/>
            <a:ext cx="10954512" cy="685800"/>
          </a:xfrm>
          <a:prstGeom prst="rect">
            <a:avLst/>
          </a:prstGeom>
          <a:noFill/>
        </p:spPr>
        <p:txBody>
          <a:bodyPr wrap="square" lIns="0" rIns="0" tIns="22860" bIns="0">
            <a:spAutoFit/>
          </a:bodyPr>
          <a:lstStyle/>
          <a:p>
            <a:pPr>
              <a:spcAft>
                <a:spcPts val="800"/>
              </a:spcAft>
              <a:defRPr sz="2200" b="1">
                <a:solidFill>
                  <a:srgbClr val="173451"/>
                </a:solidFill>
                <a:latin typeface="Arial"/>
              </a:defRPr>
            </a:pPr>
            <a:r>
              <a:rPr/>
              <a:t>Today’s focus: Locate minimum, quartiles, median and maximum.</a:t>
            </a:r>
          </a:p>
        </p:txBody>
      </p:sp>
      <p:grpSp>
        <p:nvGrpSpPr>
          <p:cNvPr id="14" name="TEACH-7-student-move" descr="TEACH 7 · Cultivate a supportive learning community"/>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CREDIT A CLASSMATE  ·  </a:t>
              </a:r>
              <a:r>
                <a:rPr lang="en-US" sz="1200" dirty="0">
                  <a:solidFill>
                    <a:srgbClr val="13303A"/>
                  </a:solidFill>
                  <a:latin typeface="Arial"/>
                </a:rPr>
                <a:t>Name one classmate whose idea helped you today, and say what they said.</a:t>
              </a:r>
              <a:endParaRPr lang="en-US" sz="1200"/>
            </a:p>
          </p:txBody>
        </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2-4</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moves</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48510"/>
            <a:ext cx="100584" cy="623620"/>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USE YOUR TOOLS  ·  </a:t>
            </a:r>
            <a:r>
              <a:rPr lang="en-US" sz="2000" b="0" dirty="0">
                <a:solidFill>
                  <a:srgbClr val="13303A"/>
                </a:solidFill>
                <a:latin typeface="Arial"/>
              </a:rPr>
              <a:t>Reach for your notes, a model, or a manipulative before you reach for an answer.</a:t>
            </a:r>
          </a:p>
        </p:txBody>
      </p:sp>
      <p:sp>
        <p:nvSpPr>
          <p:cNvPr id="10" name="TEACH-move-card"/>
          <p:cNvSpPr/>
          <p:nvPr/>
        </p:nvSpPr>
        <p:spPr>
          <a:xfrm>
            <a:off x="685800" y="3200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1" name="TEACH-move-rule"/>
          <p:cNvSpPr/>
          <p:nvPr/>
        </p:nvSpPr>
        <p:spPr>
          <a:xfrm>
            <a:off x="731520" y="3391510"/>
            <a:ext cx="100584" cy="623620"/>
          </a:xfrm>
          <a:prstGeom prst="roundRect">
            <a:avLst>
              <a:gd name="adj" fmla="val 50000"/>
            </a:avLst>
          </a:prstGeom>
          <a:solidFill>
            <a:srgbClr val="01708C"/>
          </a:solidFill>
          <a:ln>
            <a:noFill/>
          </a:ln>
        </p:spPr>
        <p:txBody>
          <a:bodyPr/>
          <a:lstStyle/>
          <a:p>
            <a:endParaRPr/>
          </a:p>
        </p:txBody>
      </p:sp>
      <p:sp>
        <p:nvSpPr>
          <p:cNvPr id="12" name="TEACH-3-student-move"/>
          <p:cNvSpPr txBox="1"/>
          <p:nvPr/>
        </p:nvSpPr>
        <p:spPr>
          <a:xfrm>
            <a:off x="1005840" y="3200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ASK THE CLASS  ·  </a:t>
            </a:r>
            <a:r>
              <a:rPr lang="en-US" sz="2000" b="0" dirty="0">
                <a:solidFill>
                  <a:srgbClr val="13303A"/>
                </a:solidFill>
                <a:latin typeface="Arial"/>
              </a:rPr>
              <a:t>Write one question about this that you could ask the class.</a:t>
            </a:r>
          </a:p>
        </p:txBody>
      </p:sp>
      <p:sp>
        <p:nvSpPr>
          <p:cNvPr id="13" name="TEACH-move-card"/>
          <p:cNvSpPr/>
          <p:nvPr/>
        </p:nvSpPr>
        <p:spPr>
          <a:xfrm>
            <a:off x="685800" y="4343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4" name="TEACH-move-rule"/>
          <p:cNvSpPr/>
          <p:nvPr/>
        </p:nvSpPr>
        <p:spPr>
          <a:xfrm>
            <a:off x="731520" y="4534510"/>
            <a:ext cx="100584" cy="623620"/>
          </a:xfrm>
          <a:prstGeom prst="roundRect">
            <a:avLst>
              <a:gd name="adj" fmla="val 50000"/>
            </a:avLst>
          </a:prstGeom>
          <a:solidFill>
            <a:srgbClr val="01708C"/>
          </a:solidFill>
          <a:ln>
            <a:noFill/>
          </a:ln>
        </p:spPr>
        <p:txBody>
          <a:bodyPr/>
          <a:lstStyle/>
          <a:p>
            <a:endParaRPr/>
          </a:p>
        </p:txBody>
      </p:sp>
      <p:sp>
        <p:nvSpPr>
          <p:cNvPr id="15" name="TEACH-6-student-move"/>
          <p:cNvSpPr txBox="1"/>
          <p:nvPr/>
        </p:nvSpPr>
        <p:spPr>
          <a:xfrm>
            <a:off x="1005840" y="4343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 KNOW THE ROUTINE  ·  </a:t>
            </a:r>
            <a:r>
              <a:rPr lang="en-US" sz="2000" b="0" dirty="0">
                <a:solidFill>
                  <a:srgbClr val="13303A"/>
                </a:solidFill>
                <a:latin typeface="Arial"/>
              </a:rPr>
              <a:t>Read  →  plan  →  solve  →  check. Do all four, in that order.</a:t>
            </a:r>
          </a:p>
        </p:txBody>
      </p:sp>
      <p:sp>
        <p:nvSpPr>
          <p:cNvPr id="16"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30 / 47</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2-4</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moves</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48510"/>
            <a:ext cx="100584" cy="623620"/>
          </a:xfrm>
          <a:prstGeom prst="roundRect">
            <a:avLst>
              <a:gd name="adj" fmla="val 50000"/>
            </a:avLst>
          </a:prstGeom>
          <a:solidFill>
            <a:srgbClr val="01708C"/>
          </a:solidFill>
          <a:ln>
            <a:noFill/>
          </a:ln>
        </p:spPr>
        <p:txBody>
          <a:bodyPr/>
          <a:lstStyle/>
          <a:p>
            <a:endParaRPr/>
          </a:p>
        </p:txBody>
      </p:sp>
      <p:sp>
        <p:nvSpPr>
          <p:cNvPr id="9" name="TEACH-3-student-move"/>
          <p:cNvSpPr txBox="1"/>
          <p:nvPr/>
        </p:nvSpPr>
        <p:spPr>
          <a:xfrm>
            <a:off x="1005840" y="2057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PROVE IT  ·  </a:t>
            </a:r>
            <a:r>
              <a:rPr lang="en-US" sz="2000" b="0" dirty="0">
                <a:solidFill>
                  <a:srgbClr val="13303A"/>
                </a:solidFill>
                <a:latin typeface="Arial"/>
              </a:rPr>
              <a:t>Find the evidence in the problem that makes your answer right — not just the answer.</a:t>
            </a:r>
          </a:p>
        </p:txBody>
      </p:sp>
      <p:sp>
        <p:nvSpPr>
          <p:cNvPr id="10" name="TEACH-move-card"/>
          <p:cNvSpPr/>
          <p:nvPr/>
        </p:nvSpPr>
        <p:spPr>
          <a:xfrm>
            <a:off x="685800" y="3200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1" name="TEACH-move-rule"/>
          <p:cNvSpPr/>
          <p:nvPr/>
        </p:nvSpPr>
        <p:spPr>
          <a:xfrm>
            <a:off x="731520" y="3391510"/>
            <a:ext cx="100584" cy="623620"/>
          </a:xfrm>
          <a:prstGeom prst="roundRect">
            <a:avLst>
              <a:gd name="adj" fmla="val 50000"/>
            </a:avLst>
          </a:prstGeom>
          <a:solidFill>
            <a:srgbClr val="01708C"/>
          </a:solidFill>
          <a:ln>
            <a:noFill/>
          </a:ln>
        </p:spPr>
        <p:txBody>
          <a:bodyPr/>
          <a:lstStyle/>
          <a:p>
            <a:endParaRPr/>
          </a:p>
        </p:txBody>
      </p:sp>
      <p:sp>
        <p:nvSpPr>
          <p:cNvPr id="12" name="TEACH-5-student-move"/>
          <p:cNvSpPr txBox="1"/>
          <p:nvPr/>
        </p:nvSpPr>
        <p:spPr>
          <a:xfrm>
            <a:off x="1005840" y="3200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ADD ON  ·  </a:t>
            </a:r>
            <a:r>
              <a:rPr lang="en-US" sz="2000" b="0" dirty="0">
                <a:solidFill>
                  <a:srgbClr val="13303A"/>
                </a:solidFill>
                <a:latin typeface="Arial"/>
              </a:rPr>
              <a:t>Add on: “I agree because ______.”  or  “I see it differently because ______.”</a:t>
            </a:r>
          </a:p>
        </p:txBody>
      </p:sp>
      <p:sp>
        <p:nvSpPr>
          <p:cNvPr id="13" name="TEACH-move-card"/>
          <p:cNvSpPr/>
          <p:nvPr/>
        </p:nvSpPr>
        <p:spPr>
          <a:xfrm>
            <a:off x="685800" y="4343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4" name="TEACH-move-rule"/>
          <p:cNvSpPr/>
          <p:nvPr/>
        </p:nvSpPr>
        <p:spPr>
          <a:xfrm>
            <a:off x="731520" y="4534510"/>
            <a:ext cx="100584" cy="623620"/>
          </a:xfrm>
          <a:prstGeom prst="roundRect">
            <a:avLst>
              <a:gd name="adj" fmla="val 50000"/>
            </a:avLst>
          </a:prstGeom>
          <a:solidFill>
            <a:srgbClr val="01708C"/>
          </a:solidFill>
          <a:ln>
            <a:noFill/>
          </a:ln>
        </p:spPr>
        <p:txBody>
          <a:bodyPr/>
          <a:lstStyle/>
          <a:p>
            <a:endParaRPr/>
          </a:p>
        </p:txBody>
      </p:sp>
      <p:sp>
        <p:nvSpPr>
          <p:cNvPr id="15" name="TEACH-2-student-move"/>
          <p:cNvSpPr txBox="1"/>
          <p:nvPr/>
        </p:nvSpPr>
        <p:spPr>
          <a:xfrm>
            <a:off x="1005840" y="4343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TWO MINUTES SOLO  ·  </a:t>
            </a:r>
            <a:r>
              <a:rPr lang="en-US" sz="2000" b="0" dirty="0">
                <a:solidFill>
                  <a:srgbClr val="13303A"/>
                </a:solidFill>
                <a:latin typeface="Arial"/>
              </a:rPr>
              <a:t>Two minutes on your own, then compare. Bring one thing you tried, even if it did not work.</a:t>
            </a:r>
          </a:p>
        </p:txBody>
      </p:sp>
      <p:sp>
        <p:nvSpPr>
          <p:cNvPr id="16"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37 / 47</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2-4</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4-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SPECIFIC FEEDBACK  ·  </a:t>
            </a:r>
            <a:r>
              <a:rPr lang="en-US" sz="2000" b="0" dirty="0">
                <a:solidFill>
                  <a:srgbClr val="13303A"/>
                </a:solidFill>
                <a:latin typeface="Arial"/>
              </a:rPr>
              <a:t>Trade work. Give one specific comment: “This part is clear because ______.”</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40 / 47</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2-4</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moves</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48510"/>
            <a:ext cx="100584" cy="623620"/>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YOUR CHOICE  ·  </a:t>
            </a:r>
            <a:r>
              <a:rPr lang="en-US" sz="2000" b="0" dirty="0">
                <a:solidFill>
                  <a:srgbClr val="13303A"/>
                </a:solidFill>
                <a:latin typeface="Arial"/>
              </a:rPr>
              <a:t>You choose how to show this — numbers, words, or a diagram. Make your reasoning visible.</a:t>
            </a:r>
          </a:p>
        </p:txBody>
      </p:sp>
      <p:sp>
        <p:nvSpPr>
          <p:cNvPr id="10" name="TEACH-move-card"/>
          <p:cNvSpPr/>
          <p:nvPr/>
        </p:nvSpPr>
        <p:spPr>
          <a:xfrm>
            <a:off x="685800" y="3200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1" name="TEACH-move-rule"/>
          <p:cNvSpPr/>
          <p:nvPr/>
        </p:nvSpPr>
        <p:spPr>
          <a:xfrm>
            <a:off x="731520" y="3391510"/>
            <a:ext cx="100584" cy="623620"/>
          </a:xfrm>
          <a:prstGeom prst="roundRect">
            <a:avLst>
              <a:gd name="adj" fmla="val 50000"/>
            </a:avLst>
          </a:prstGeom>
          <a:solidFill>
            <a:srgbClr val="01708C"/>
          </a:solidFill>
          <a:ln>
            <a:noFill/>
          </a:ln>
        </p:spPr>
        <p:txBody>
          <a:bodyPr/>
          <a:lstStyle/>
          <a:p>
            <a:endParaRPr/>
          </a:p>
        </p:txBody>
      </p:sp>
      <p:sp>
        <p:nvSpPr>
          <p:cNvPr id="12" name="TEACH-3-student-move"/>
          <p:cNvSpPr txBox="1"/>
          <p:nvPr/>
        </p:nvSpPr>
        <p:spPr>
          <a:xfrm>
            <a:off x="1005840" y="3200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HOW DO YOU KNOW?  ·  </a:t>
            </a:r>
            <a:r>
              <a:rPr lang="en-US" sz="2000" b="0" dirty="0">
                <a:solidFill>
                  <a:srgbClr val="13303A"/>
                </a:solidFill>
                <a:latin typeface="Arial"/>
              </a:rPr>
              <a:t>Ask your partner “How do you know?” Answer by pointing to your own work.</a:t>
            </a:r>
          </a:p>
        </p:txBody>
      </p:sp>
      <p:sp>
        <p:nvSpPr>
          <p:cNvPr id="13"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44 / 47</a:t>
            </a:r>
          </a:p>
        </p:txBody>
      </p:sp>
    </p:spTree>
  </p:cSld>
  <p:clrMapOvr>
    <a:masterClrMapping/>
  </p:clrMapOvr>
</p:sld>
</file>

<file path=ppt/theme/theme1.xml><?xml version="1.0" encoding="utf-8"?>
<a:theme xmlns:a="http://schemas.openxmlformats.org/drawingml/2006/main" xmlns:r="http://schemas.openxmlformats.org/officeDocument/2006/relationships" name="Title Slide">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2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Reveal Math Grade 6 · Lesson 2.4 — Represent and Describe Data in a Box Plot</dc:title>
  <dc:creator>Neft Teacher</dc:creator>
  <cp:lastModifiedBy>Neft Teacher</cp:lastModifiedBy>
  <dcterms:created xsi:type="dcterms:W3CDTF">2026-09-30T12:04:43Z</dcterms:created>
  <dcterms:modified xsi:type="dcterms:W3CDTF">2026-09-30T12:04:43Z</dcterms:modified>
</cp:coreProperties>
</file>