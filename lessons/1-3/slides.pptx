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LCM = 24 (the least common multiple is the SMALLEST shared multiple, not just any common multiple)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1FA6A2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🚀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Least Common Multiple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1  ·  Lesson 1-3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least common multiple (LCM) of two numbers by listing or comparing their multiples.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how I found the LCM using the words multiple, common multiple, skip counting, and least common multiple.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Space Station Shift Scheduler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Astronaut Reyes checks the oxygen system every 4 hours. Astronaut Chen checks the water recycler every 6 hours. They both start their shifts at 6:00 AM. When is the next time both astronauts will be checking their systems at the same time?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often does each astronaut check their system?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times will each astronaut be doing checks?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When will both schedules line up at the same time?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Will their schedules ever line up more than once?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Múltiplo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What you get when you multiply a number by 1, 2, 3, and so on.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Lo que obtienes al multiplicar un número por 1, 2, 3, y así.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Multiples of 4: 4, 8, 12, 16, 20 — found by multiplying 4 × 1, 4 × 2, 4 × 3, ...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Least common multiple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Mínimo común múltiplo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The smallest number that two or more numbers both go into.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El número más pequeño al que llegan dos o más números al multiplicar.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Multiples of 4: 4, 8, 12, 16, 20, 24. Multiples of 6: 6, 12, 18, 24. First match: 12 → LCM = 12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Common multiple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Múltiplo común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number that two or more numbers both go into.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 número al que llegan dos o más números al multiplicar.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12, 24, and 36 are all common multiples of both 3 and 4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Skip counting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Conteo salteado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Counting by a number, like 2, 4, 6, to list its multiples.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Contar de un número en un número, como 2, 4, 6, para listar sus múltiplos.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Skip count by 6: 6, 12, 18, 24, 30 — each jump adds 6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Prime factorization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Factorización prima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Writing a number as prime numbers multiplied together. It helps you find the LCM.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Escribir un número como números primos multiplicados. Ayuda a encontrar el mcm.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4 = 2 × 2, 6 = 2 × 3. LCM uses the highest power of each prime: 2² × 3 = 12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18" name="Text 15"/>
          <p:cNvSpPr/>
          <p:nvPr/>
        </p:nvSpPr>
        <p:spPr>
          <a:xfrm>
            <a:off x="411480" y="3520440"/>
            <a:ext cx="8412480" cy="23774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Multiple — example vs. non-example:</a:t>
            </a:r>
            <a:endParaRPr lang="en-US" sz="950" dirty="0"/>
          </a:p>
        </p:txBody>
      </p:sp>
      <p:sp>
        <p:nvSpPr>
          <p:cNvPr id="19" name="Shape 16"/>
          <p:cNvSpPr/>
          <p:nvPr/>
        </p:nvSpPr>
        <p:spPr>
          <a:xfrm>
            <a:off x="41148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Text 17"/>
          <p:cNvSpPr/>
          <p:nvPr/>
        </p:nvSpPr>
        <p:spPr>
          <a:xfrm>
            <a:off x="52120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12 is a multiple of 4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 × 3 = 12.</a:t>
            </a:r>
            <a:endParaRPr lang="en-US" sz="900" dirty="0"/>
          </a:p>
        </p:txBody>
      </p:sp>
      <p:sp>
        <p:nvSpPr>
          <p:cNvPr id="21" name="Shape 18"/>
          <p:cNvSpPr/>
          <p:nvPr/>
        </p:nvSpPr>
        <p:spPr>
          <a:xfrm>
            <a:off x="4663440" y="381304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E7F6F4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19"/>
          <p:cNvSpPr/>
          <p:nvPr/>
        </p:nvSpPr>
        <p:spPr>
          <a:xfrm>
            <a:off x="4773168" y="381304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✓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20 is a multiple of 5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 × 4 = 20.</a:t>
            </a:r>
            <a:endParaRPr lang="en-US" sz="900" dirty="0"/>
          </a:p>
        </p:txBody>
      </p:sp>
      <p:sp>
        <p:nvSpPr>
          <p:cNvPr id="23" name="Shape 20"/>
          <p:cNvSpPr/>
          <p:nvPr/>
        </p:nvSpPr>
        <p:spPr>
          <a:xfrm>
            <a:off x="411480" y="4315968"/>
            <a:ext cx="4114800" cy="457200"/>
          </a:xfrm>
          <a:prstGeom prst="roundRect">
            <a:avLst>
              <a:gd name="adj" fmla="val 10000"/>
            </a:avLst>
          </a:prstGeom>
          <a:solidFill>
            <a:srgbClr val="FDECEA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4" name="Text 21"/>
          <p:cNvSpPr/>
          <p:nvPr/>
        </p:nvSpPr>
        <p:spPr>
          <a:xfrm>
            <a:off x="521208" y="4315968"/>
            <a:ext cx="3895344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C0392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✗ </a:t>
            </a:r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9 is a multiple of 4  </a:t>
            </a:r>
            <a:pPr indent="0" marL="0">
              <a:buNone/>
            </a:pPr>
            <a:r>
              <a:rPr lang="en-US" sz="8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There is no whole number times 4 that equals 9.</a:t>
            </a:r>
            <a:endParaRPr lang="en-US" sz="9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is the least common multiple (LCM)?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Let's find the LCM of 3 and 5. What are the multiples of 3? (3, 6, 9, 12, 15.)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are the multiples of 5? (5, 10, 15.) What is the first number in both lists? (15.)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LCM of 3 and 5 is 15.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Astronaut Reyes checks oxygen every 4 hours and Chen checks water every 6 hours, both starting at 6:00 AM. Why isn't the next shared check simply 10 hours later (4 + 6)?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LCM is the FIRST number that shows up in both numbers' multiple lists.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Here are the first several multiples of 4 and 6 mixed together. Sort them — which are common multiples of BOTH 4 and 6, and which are multiples of only one?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12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24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36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48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236220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245364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413004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22148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8</a:t>
            </a:r>
            <a:endParaRPr lang="en-US" sz="900" dirty="0"/>
          </a:p>
        </p:txBody>
      </p:sp>
      <p:sp>
        <p:nvSpPr>
          <p:cNvPr id="32" name="Shape 30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Common Multiples of 4 and 6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Common Multiples</a:t>
            </a:r>
            <a:endParaRPr lang="en-US" sz="950" dirty="0"/>
          </a:p>
        </p:txBody>
      </p:sp>
      <p:sp>
        <p:nvSpPr>
          <p:cNvPr id="36" name="Shape 34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7" name="Text 35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8" name="Text 36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 skip counted the multiples of 4 and 6. How did you find the least common multiple from your lists?</a:t>
            </a:r>
            <a:endParaRPr lang="en-US" sz="1000" dirty="0"/>
          </a:p>
        </p:txBody>
      </p:sp>
      <p:sp>
        <p:nvSpPr>
          <p:cNvPr id="39" name="Shape 37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Jaylen's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2286000"/>
          </a:xfrm>
          <a:prstGeom prst="roundRect">
            <a:avLst>
              <a:gd name="adj" fmla="val 2000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LCM of 8 and 12: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List multiples of 8 and 12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Multiples of 8: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8, 16, 24, 32, 40, 48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Multiples of 12: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12, 24, 36, 48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Common multiples: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24, 48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777240" y="3474720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5.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Choose LCM: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LCM = 48</a:t>
            </a:r>
            <a:endParaRPr lang="en-US" sz="950" dirty="0"/>
          </a:p>
        </p:txBody>
      </p:sp>
      <p:sp>
        <p:nvSpPr>
          <p:cNvPr id="28" name="Text 26"/>
          <p:cNvSpPr/>
          <p:nvPr/>
        </p:nvSpPr>
        <p:spPr>
          <a:xfrm>
            <a:off x="594360" y="4050792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9" name="Shape 27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0" name="Text 28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2" name="Shape 30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Shape 32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Text 33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6" name="Shape 34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want the LCM of 4 and 6. I skip count the multiples of 4: 4, 8, 12, 16, 20, 24.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Then I skip count the multiples of 6: 6, 12, 18, 24.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look for the first number in BOTH lists. 12 is in both lists, and it comes before 24.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the LCM of 4 and 6 is 12. I check: 12 ÷ 4 = 3 and 12 ÷ 6 = 2, so both go into 12 evenly.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4" name="Shape 32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5" name="Shape 33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Multiple and Least common multiple.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"The LCM is the FIRST number that shows up in both numbers' multiple lists."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Multiple,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Two buses leave the station at 8:00 AM. Bus A returns every 15 minutes and Bus B returns every 20 minutes. When is the next time both buses are at the station together?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LCM of 3 and 5?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LCM of 6 and 8?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Hot dogs come in packs of 8 and buns in packs of 6. How does the LCM help you buy the fewest of each so none are left over?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"The LCM is the FIRST number that shows up in both numbers' multiple lists."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Multiple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1FA6A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Multiple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What is the LCM of 9 and 12?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36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108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3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72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6.NS.4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1  ·  Lesson 1-3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the least common multiple (LCM) of two numbers by listing or comparing their multiples.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1FA6A2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FA6A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1-3: Least Common Multiple</dc:title>
  <dc:subject>6.NS.4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