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6.xml" ContentType="application/vnd.openxmlformats-officedocument.presentationml.notesSlide+xml"/>
  <Override PartName="/ppt/notesSlides/notesSlide18.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6.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4.xml" ContentType="application/vnd.openxmlformats-officedocument.presentationml.notesSlide+xml"/>
  <Override PartName="/ppt/notesSlides/notesSlide45.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1.xml" ContentType="application/vnd.openxmlformats-officedocument.presentationml.notesSlide+xml"/>
  <Override PartName="/ppt/notesSlides/notesSlide53.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viewProps.xml" ContentType="application/vnd.openxmlformats-officedocument.presentationml.viewProps+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docProps/core.xml" ContentType="application/vnd.openxmlformats-package.core-propertie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Core1"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83" r:id="rId5"/>
    <p:sldMasterId id="2147483684" r:id="rId6"/>
    <p:sldMasterId id="2147483685" r:id="rId7"/>
    <p:sldMasterId id="2147483686" r:id="rId8"/>
  </p:sldMasterIdLst>
  <p:notesMasterIdLst>
    <p:notesMasterId r:id="rId9"/>
  </p:notesMasterIdLst>
  <p:sldIdLst>
    <p:sldId id="259" r:id="rId13"/>
    <p:sldId id="268" r:id="rId22"/>
    <p:sldId id="269" r:id="rId23"/>
    <p:sldId id="256" r:id="rId10"/>
    <p:sldId id="257" r:id="rId11"/>
    <p:sldId id="260" r:id="rId14"/>
    <p:sldId id="327" r:id="rId71"/>
    <p:sldId id="326" r:id="rId43"/>
    <p:sldId id="325" r:id="rId42"/>
    <p:sldId id="324" r:id="rId41"/>
    <p:sldId id="323" r:id="rId40"/>
    <p:sldId id="322" r:id="rId39"/>
    <p:sldId id="321" r:id="rId31"/>
    <p:sldId id="261" r:id="rId15"/>
    <p:sldId id="271" r:id="rId25"/>
    <p:sldId id="273" r:id="rId27"/>
    <p:sldId id="275" r:id="rId29"/>
    <p:sldId id="281" r:id="rId35"/>
    <p:sldId id="283" r:id="rId37"/>
    <p:sldId id="331" r:id="rId75"/>
    <p:sldId id="328" r:id="rId72"/>
    <p:sldId id="320" r:id="rId32"/>
    <p:sldId id="315" r:id="rId69"/>
    <p:sldId id="332" r:id="rId76"/>
    <p:sldId id="316" r:id="rId70"/>
    <p:sldId id="284" r:id="rId38"/>
    <p:sldId id="300" r:id="rId54"/>
    <p:sldId id="304" r:id="rId58"/>
    <p:sldId id="306" r:id="rId60"/>
    <p:sldId id="308" r:id="rId62"/>
    <p:sldId id="310" r:id="rId64"/>
    <p:sldId id="311" r:id="rId65"/>
    <p:sldId id="329" r:id="rId73"/>
    <p:sldId id="319" r:id="rId36"/>
    <p:sldId id="318" r:id="rId33"/>
    <p:sldId id="312" r:id="rId66"/>
    <p:sldId id="313" r:id="rId67"/>
    <p:sldId id="333" r:id="rId77"/>
    <p:sldId id="314" r:id="rId68"/>
    <p:sldId id="317" r:id="rId34"/>
    <p:sldId id="330" r:id="rId74"/>
  </p:sldIdLst>
  <p:sldSz cy="6858000" cx="12192000"/>
  <p:notesSz cx="7010400" cy="9236075"/>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pos="1512">
          <p15:clr>
            <a:srgbClr val="A4A3A4"/>
          </p15:clr>
        </p15:guide>
        <p15:guide id="2" orient="horz" pos="3024">
          <p15:clr>
            <a:srgbClr val="A4A3A4"/>
          </p15:clr>
        </p15:guide>
        <p15:guide id="3" orient="horz" pos="384">
          <p15:clr>
            <a:srgbClr val="A4A3A4"/>
          </p15:clr>
        </p15:guide>
        <p15:guide id="4" orient="horz" pos="2520">
          <p15:clr>
            <a:srgbClr val="A4A3A4"/>
          </p15:clr>
        </p15:guide>
        <p15:guide id="5" orient="horz" pos="1080">
          <p15:clr>
            <a:srgbClr val="A4A3A4"/>
          </p15:clr>
        </p15:guide>
        <p15:guide id="6" orient="horz" pos="1680">
          <p15:clr>
            <a:srgbClr val="A4A3A4"/>
          </p15:clr>
        </p15:guide>
        <p15:guide id="7" orient="horz" pos="3432">
          <p15:clr>
            <a:srgbClr val="A4A3A4"/>
          </p15:clr>
        </p15:guide>
        <p15:guide id="8" orient="horz" pos="3120">
          <p15:clr>
            <a:srgbClr val="A4A3A4"/>
          </p15:clr>
        </p15:guide>
        <p15:guide id="9" pos="48">
          <p15:clr>
            <a:srgbClr val="A4A3A4"/>
          </p15:clr>
        </p15:guide>
        <p15:guide id="10" pos="384">
          <p15:clr>
            <a:srgbClr val="A4A3A4"/>
          </p15:clr>
        </p15:guide>
        <p15:guide id="11" pos="6480">
          <p15:clr>
            <a:srgbClr val="A4A3A4"/>
          </p15:clr>
        </p15:guide>
        <p15:guide id="12" pos="2597">
          <p15:clr>
            <a:srgbClr val="A4A3A4"/>
          </p15:clr>
        </p15:guide>
        <p15:guide id="13" pos="288">
          <p15:clr>
            <a:srgbClr val="A4A3A4"/>
          </p15:clr>
        </p15:guide>
        <p15:guide id="14" orient="horz" pos="2160">
          <p15:clr>
            <a:srgbClr val="A4A3A4"/>
          </p15:clr>
        </p15:guide>
        <p15:guide id="15" orient="horz" pos="216">
          <p15:clr>
            <a:srgbClr val="A4A3A4"/>
          </p15:clr>
        </p15:guide>
        <p15:guide id="16" orient="horz" pos="936">
          <p15:clr>
            <a:srgbClr val="A4A3A4"/>
          </p15:clr>
        </p15:guide>
        <p15:guide id="17" pos="4368">
          <p15:clr>
            <a:srgbClr val="A4A3A4"/>
          </p15:clr>
        </p15:guide>
        <p15:guide id="18" pos="7296">
          <p15:clr>
            <a:srgbClr val="A4A3A4"/>
          </p15:clr>
        </p15:guide>
        <p15:guide id="19" pos="3288">
          <p15:clr>
            <a:srgbClr val="A4A3A4"/>
          </p15:clr>
        </p15:guide>
        <p15:guide id="20" pos="5904">
          <p15:clr>
            <a:srgbClr val="A4A3A4"/>
          </p15:clr>
        </p15:guide>
        <p15:guide id="21" pos="5568">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B94F9C98-6244-441F-B98A-B46D3026E86E}">
  <a:tblStyle styleId="{B94F9C98-6244-441F-B98A-B46D3026E86E}" styleName="Table_0">
    <a:wholeTbl>
      <a:tcTxStyle b="off" i="off">
        <a:font>
          <a:latin typeface="Calibri"/>
          <a:ea typeface="Calibri"/>
          <a:cs typeface="Calibri"/>
        </a:font>
        <a:schemeClr val="dk1"/>
      </a:tcTxStyle>
      <a:tcStyle>
        <a:tcBdr>
          <a:left>
            <a:ln cap="flat" cmpd="sng" w="12700">
              <a:solidFill>
                <a:schemeClr val="lt1"/>
              </a:solidFill>
              <a:prstDash val="solid"/>
              <a:round/>
              <a:headEnd len="sm" w="sm" type="none"/>
              <a:tailEnd len="sm" w="sm" type="none"/>
            </a:ln>
          </a:left>
          <a:right>
            <a:ln cap="flat" cmpd="sng" w="12700">
              <a:solidFill>
                <a:schemeClr val="lt1"/>
              </a:solidFill>
              <a:prstDash val="solid"/>
              <a:round/>
              <a:headEnd len="sm" w="sm" type="none"/>
              <a:tailEnd len="sm" w="sm" type="none"/>
            </a:ln>
          </a:right>
          <a:top>
            <a:ln cap="flat" cmpd="sng" w="12700">
              <a:solidFill>
                <a:schemeClr val="lt1"/>
              </a:solidFill>
              <a:prstDash val="solid"/>
              <a:round/>
              <a:headEnd len="sm" w="sm" type="none"/>
              <a:tailEnd len="sm" w="sm" type="none"/>
            </a:ln>
          </a:top>
          <a:bottom>
            <a:ln cap="flat" cmpd="sng" w="12700">
              <a:solidFill>
                <a:schemeClr val="lt1"/>
              </a:solidFill>
              <a:prstDash val="solid"/>
              <a:round/>
              <a:headEnd len="sm" w="sm" type="none"/>
              <a:tailEnd len="sm" w="sm" type="none"/>
            </a:ln>
          </a:bottom>
          <a:insideH>
            <a:ln cap="flat" cmpd="sng" w="12700">
              <a:solidFill>
                <a:schemeClr val="lt1"/>
              </a:solidFill>
              <a:prstDash val="solid"/>
              <a:round/>
              <a:headEnd len="sm" w="sm" type="none"/>
              <a:tailEnd len="sm" w="sm" type="none"/>
            </a:ln>
          </a:insideH>
          <a:insideV>
            <a:ln cap="flat" cmpd="sng" w="12700">
              <a:solidFill>
                <a:schemeClr val="lt1"/>
              </a:solidFill>
              <a:prstDash val="solid"/>
              <a:round/>
              <a:headEnd len="sm" w="sm" type="none"/>
              <a:tailEnd len="sm" w="sm" type="none"/>
            </a:ln>
          </a:insideV>
        </a:tcBdr>
        <a:fill>
          <a:solidFill>
            <a:srgbClr val="E8EBF5"/>
          </a:solidFill>
        </a:fill>
      </a:tcStyle>
    </a:wholeTbl>
    <a:band1H>
      <a:tcTxStyle b="off" i="off"/>
      <a:tcStyle>
        <a:fill>
          <a:solidFill>
            <a:srgbClr val="CDD4EA"/>
          </a:solidFill>
        </a:fill>
      </a:tcStyle>
    </a:band1H>
    <a:band2H>
      <a:tcTxStyle b="off" i="off"/>
    </a:band2H>
    <a:band1V>
      <a:tcTxStyle b="off" i="off"/>
      <a:tcStyle>
        <a:fill>
          <a:solidFill>
            <a:srgbClr val="CDD4EA"/>
          </a:solidFill>
        </a:fill>
      </a:tcStyle>
    </a:band1V>
    <a:band2V>
      <a:tcTxStyle b="off" i="off"/>
    </a:band2V>
    <a:lastCol>
      <a:tcTxStyle b="on" i="off">
        <a:font>
          <a:latin typeface="Calibri"/>
          <a:ea typeface="Calibri"/>
          <a:cs typeface="Calibri"/>
        </a:font>
        <a:schemeClr val="lt1"/>
      </a:tcTxStyle>
      <a:tcStyle>
        <a:fill>
          <a:solidFill>
            <a:schemeClr val="accent1"/>
          </a:solidFill>
        </a:fill>
      </a:tcStyle>
    </a:lastCol>
    <a:firstCol>
      <a:tcTxStyle b="on" i="off">
        <a:font>
          <a:latin typeface="Calibri"/>
          <a:ea typeface="Calibri"/>
          <a:cs typeface="Calibri"/>
        </a:font>
        <a:schemeClr val="lt1"/>
      </a:tcTxStyle>
      <a:tcStyle>
        <a:fill>
          <a:solidFill>
            <a:schemeClr val="accent1"/>
          </a:solidFill>
        </a:fill>
      </a:tcStyle>
    </a:firstCol>
    <a:lastRow>
      <a:tcTxStyle b="on" i="off">
        <a:font>
          <a:latin typeface="Calibri"/>
          <a:ea typeface="Calibri"/>
          <a:cs typeface="Calibri"/>
        </a:font>
        <a:schemeClr val="lt1"/>
      </a:tcTxStyle>
      <a:tcStyle>
        <a:tcBdr>
          <a:top>
            <a:ln cap="flat" cmpd="sng" w="38100">
              <a:solidFill>
                <a:schemeClr val="lt1"/>
              </a:solidFill>
              <a:prstDash val="solid"/>
              <a:round/>
              <a:headEnd len="sm" w="sm" type="none"/>
              <a:tailEnd len="sm" w="sm" type="none"/>
            </a:ln>
          </a:top>
        </a:tcBdr>
        <a:fill>
          <a:solidFill>
            <a:schemeClr val="accent1"/>
          </a:solidFill>
        </a:fill>
      </a:tcStyle>
    </a:lastRow>
    <a:seCell>
      <a:tcTxStyle b="off" i="off"/>
    </a:seCell>
    <a:swCell>
      <a:tcTxStyle b="off" i="off"/>
    </a:swCell>
    <a:firstRow>
      <a:tcTxStyle b="on" i="off">
        <a:font>
          <a:latin typeface="Calibri"/>
          <a:ea typeface="Calibri"/>
          <a:cs typeface="Calibri"/>
        </a:font>
        <a:schemeClr val="lt1"/>
      </a:tcTxStyle>
      <a:tcStyle>
        <a:tcBdr>
          <a:bottom>
            <a:ln cap="flat" cmpd="sng" w="38100">
              <a:solidFill>
                <a:schemeClr val="lt1"/>
              </a:solidFill>
              <a:prstDash val="solid"/>
              <a:round/>
              <a:headEnd len="sm" w="sm" type="none"/>
              <a:tailEnd len="sm" w="sm" type="none"/>
            </a:ln>
          </a:bottom>
        </a:tcBdr>
        <a:fill>
          <a:solidFill>
            <a:schemeClr val="accent1"/>
          </a:solidFill>
        </a:fill>
      </a:tcStyle>
    </a:firstRow>
    <a:neCell>
      <a:tcTxStyle b="off" i="off"/>
    </a:neCell>
    <a:nwCell>
      <a:tcTxStyle b="off" i="off"/>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512"/>
        <p:guide pos="3024" orient="horz"/>
        <p:guide pos="384" orient="horz"/>
        <p:guide pos="2520" orient="horz"/>
        <p:guide pos="1080" orient="horz"/>
        <p:guide pos="1680" orient="horz"/>
        <p:guide pos="3432" orient="horz"/>
        <p:guide pos="3120" orient="horz"/>
        <p:guide pos="48"/>
        <p:guide pos="384"/>
        <p:guide pos="6480"/>
        <p:guide pos="2597"/>
        <p:guide pos="288"/>
        <p:guide pos="2160" orient="horz"/>
        <p:guide pos="216" orient="horz"/>
        <p:guide pos="936" orient="horz"/>
        <p:guide pos="4368"/>
        <p:guide pos="7296"/>
        <p:guide pos="3288"/>
        <p:guide pos="5904"/>
        <p:guide pos="5568"/>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5" Type="http://schemas.openxmlformats.org/officeDocument/2006/relationships/slideMaster" Target="slideMasters/slideMaster1.xml"/><Relationship Id="rId6" Type="http://schemas.openxmlformats.org/officeDocument/2006/relationships/slideMaster" Target="slideMasters/slideMaster2.xml"/><Relationship Id="rId7" Type="http://schemas.openxmlformats.org/officeDocument/2006/relationships/slideMaster" Target="slideMasters/slideMaster3.xml"/><Relationship Id="rId8" Type="http://schemas.openxmlformats.org/officeDocument/2006/relationships/slideMaster" Target="slideMasters/slideMaster4.xml"/><Relationship Id="rId9" Type="http://schemas.openxmlformats.org/officeDocument/2006/relationships/notesMaster" Target="notesMasters/notesMaster1.xml"/><Relationship Id="rId10" Type="http://schemas.openxmlformats.org/officeDocument/2006/relationships/slide" Target="slides/slide4.xml"/><Relationship Id="rId11" Type="http://schemas.openxmlformats.org/officeDocument/2006/relationships/slide" Target="slides/slide5.xml"/><Relationship Id="rId13" Type="http://schemas.openxmlformats.org/officeDocument/2006/relationships/slide" Target="slides/slide1.xml"/><Relationship Id="rId14" Type="http://schemas.openxmlformats.org/officeDocument/2006/relationships/slide" Target="slides/slide6.xml"/><Relationship Id="rId15" Type="http://schemas.openxmlformats.org/officeDocument/2006/relationships/slide" Target="slides/slide14.xml"/><Relationship Id="rId22" Type="http://schemas.openxmlformats.org/officeDocument/2006/relationships/slide" Target="slides/slide2.xml"/><Relationship Id="rId23" Type="http://schemas.openxmlformats.org/officeDocument/2006/relationships/slide" Target="slides/slide3.xml"/><Relationship Id="rId25" Type="http://schemas.openxmlformats.org/officeDocument/2006/relationships/slide" Target="slides/slide15.xml"/><Relationship Id="rId27" Type="http://schemas.openxmlformats.org/officeDocument/2006/relationships/slide" Target="slides/slide16.xml"/><Relationship Id="rId29" Type="http://schemas.openxmlformats.org/officeDocument/2006/relationships/slide" Target="slides/slide17.xml"/><Relationship Id="rId31" Type="http://schemas.openxmlformats.org/officeDocument/2006/relationships/slide" Target="slides/slide13.xml"/><Relationship Id="rId32" Type="http://schemas.openxmlformats.org/officeDocument/2006/relationships/slide" Target="slides/slide21.xml"/><Relationship Id="rId33" Type="http://schemas.openxmlformats.org/officeDocument/2006/relationships/slide" Target="slides/slide33.xml"/><Relationship Id="rId34" Type="http://schemas.openxmlformats.org/officeDocument/2006/relationships/slide" Target="slides/slide37.xml"/><Relationship Id="rId35" Type="http://schemas.openxmlformats.org/officeDocument/2006/relationships/slide" Target="slides/slide18.xml"/><Relationship Id="rId36" Type="http://schemas.openxmlformats.org/officeDocument/2006/relationships/slide" Target="slides/slide32.xml"/><Relationship Id="rId37" Type="http://schemas.openxmlformats.org/officeDocument/2006/relationships/slide" Target="slides/slide19.xml"/><Relationship Id="rId38" Type="http://schemas.openxmlformats.org/officeDocument/2006/relationships/slide" Target="slides/slide24.xml"/><Relationship Id="rId39" Type="http://schemas.openxmlformats.org/officeDocument/2006/relationships/slide" Target="slides/slide12.xml"/><Relationship Id="rId40" Type="http://schemas.openxmlformats.org/officeDocument/2006/relationships/slide" Target="slides/slide11.xml"/><Relationship Id="rId41" Type="http://schemas.openxmlformats.org/officeDocument/2006/relationships/slide" Target="slides/slide10.xml"/><Relationship Id="rId42" Type="http://schemas.openxmlformats.org/officeDocument/2006/relationships/slide" Target="slides/slide9.xml"/><Relationship Id="rId43" Type="http://schemas.openxmlformats.org/officeDocument/2006/relationships/slide" Target="slides/slide8.xml"/><Relationship Id="rId54" Type="http://schemas.openxmlformats.org/officeDocument/2006/relationships/slide" Target="slides/slide25.xml"/><Relationship Id="rId58" Type="http://schemas.openxmlformats.org/officeDocument/2006/relationships/slide" Target="slides/slide26.xml"/><Relationship Id="rId60" Type="http://schemas.openxmlformats.org/officeDocument/2006/relationships/slide" Target="slides/slide27.xml"/><Relationship Id="rId62" Type="http://schemas.openxmlformats.org/officeDocument/2006/relationships/slide" Target="slides/slide28.xml"/><Relationship Id="rId64" Type="http://schemas.openxmlformats.org/officeDocument/2006/relationships/slide" Target="slides/slide29.xml"/><Relationship Id="rId65" Type="http://schemas.openxmlformats.org/officeDocument/2006/relationships/slide" Target="slides/slide30.xml"/><Relationship Id="rId66" Type="http://schemas.openxmlformats.org/officeDocument/2006/relationships/slide" Target="slides/slide34.xml"/><Relationship Id="rId67" Type="http://schemas.openxmlformats.org/officeDocument/2006/relationships/slide" Target="slides/slide35.xml"/><Relationship Id="rId68" Type="http://schemas.openxmlformats.org/officeDocument/2006/relationships/slide" Target="slides/slide36.xml"/><Relationship Id="rId69" Type="http://schemas.openxmlformats.org/officeDocument/2006/relationships/slide" Target="slides/slide22.xml"/><Relationship Id="rId70" Type="http://schemas.openxmlformats.org/officeDocument/2006/relationships/slide" Target="slides/slide23.xml"/><Relationship Id="rId71" Type="http://schemas.openxmlformats.org/officeDocument/2006/relationships/slide" Target="slides/slide7.xml"/><Relationship Id="rId72" Type="http://schemas.openxmlformats.org/officeDocument/2006/relationships/slide" Target="slides/slide20.xml"/><Relationship Id="rId73" Type="http://schemas.openxmlformats.org/officeDocument/2006/relationships/slide" Target="slides/slide31.xml"/><Relationship Id="rId74" Type="http://schemas.openxmlformats.org/officeDocument/2006/relationships/slide" Target="slides/slide38.xml"/><Relationship Id="rId75" Type="http://schemas.openxmlformats.org/officeDocument/2006/relationships/slide" Target="slides/slide39.xml"/><Relationship Id="rId76" Type="http://schemas.openxmlformats.org/officeDocument/2006/relationships/slide" Target="slides/slide40.xml"/><Relationship Id="rId77" Type="http://schemas.openxmlformats.org/officeDocument/2006/relationships/slide" Target="slides/slide4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2"/>
            <a:ext cx="3037840" cy="463407"/>
          </a:xfrm>
          <a:prstGeom prst="rect">
            <a:avLst/>
          </a:prstGeom>
          <a:noFill/>
          <a:ln>
            <a:noFill/>
          </a:ln>
        </p:spPr>
        <p:txBody>
          <a:bodyPr anchorCtr="0" anchor="t" bIns="46125" lIns="92275" spcFirstLastPara="1" rIns="92275" wrap="square" tIns="46125">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970938" y="2"/>
            <a:ext cx="3037840" cy="463407"/>
          </a:xfrm>
          <a:prstGeom prst="rect">
            <a:avLst/>
          </a:prstGeom>
          <a:noFill/>
          <a:ln>
            <a:noFill/>
          </a:ln>
        </p:spPr>
        <p:txBody>
          <a:bodyPr anchorCtr="0" anchor="t" bIns="46125" lIns="92275" spcFirstLastPara="1" rIns="92275" wrap="square" tIns="46125">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772669"/>
            <a:ext cx="3037840" cy="463406"/>
          </a:xfrm>
          <a:prstGeom prst="rect">
            <a:avLst/>
          </a:prstGeom>
          <a:noFill/>
          <a:ln>
            <a:noFill/>
          </a:ln>
        </p:spPr>
        <p:txBody>
          <a:bodyPr anchorCtr="0" anchor="b" bIns="46125" lIns="92275" spcFirstLastPara="1" rIns="92275" wrap="square" tIns="46125">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970938" y="8772669"/>
            <a:ext cx="3037840" cy="463406"/>
          </a:xfrm>
          <a:prstGeom prst="rect">
            <a:avLst/>
          </a:prstGeom>
          <a:noFill/>
          <a:ln>
            <a:noFill/>
          </a:ln>
        </p:spPr>
        <p:txBody>
          <a:bodyPr anchorCtr="0" anchor="b" bIns="46125" lIns="92275" spcFirstLastPara="1" rIns="92275" wrap="square" tIns="46125">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0" name="Shape 230"/>
        <p:cNvGrpSpPr/>
        <p:nvPr/>
      </p:nvGrpSpPr>
      <p:grpSpPr>
        <a:xfrm>
          <a:off x="0" y="0"/>
          <a:ext cx="0" cy="0"/>
          <a:chOff x="0" y="0"/>
          <a:chExt cx="0" cy="0"/>
        </a:xfrm>
      </p:grpSpPr>
      <p:sp>
        <p:nvSpPr>
          <p:cNvPr id="231" name="Google Shape;231;p1: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6.8, slide 4 | DIVIDER</a:t>
            </a:r>
          </a:p>
          <a:p xmlns:a="http://schemas.openxmlformats.org/drawingml/2006/main">
            <a:pPr>
              <a:buNone/>
            </a:pPr>
            <a:r>
              <a:rPr lang="en-US" sz="1100"/>
              <a:t>Focus on the existing task: Generate Equivalent Expressions Session 1</a:t>
            </a:r>
          </a:p>
          <a:p xmlns:a="http://schemas.openxmlformats.org/drawingml/2006/main">
            <a:pPr>
              <a:buNone/>
            </a:pPr>
            <a:r>
              <a:rPr lang="en-US" sz="1100"/>
              <a:t>TRANSITION (T6/7): Students confirm materials, roles, how to request help, and the next response routine. Ask a student to restate it. Keep teacher-only slides hidden.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Transition cue: state what materials are out and what success looks like this session.</a:t>
            </a:r>
          </a:p>
          <a:p>
            <a:pPr indent="0" lvl="0" marL="0" rtl="0" algn="l">
              <a:lnSpc>
                <a:spcPct val="100000"/>
              </a:lnSpc>
              <a:spcBef>
                <a:spcPts val="0"/>
              </a:spcBef>
              <a:spcAft>
                <a:spcPts val="0"/>
              </a:spcAft>
              <a:buSzPts val="1400"/>
              <a:buNone/>
            </a:pPr>
            <a:r>
              <a:t>Keep the changeover under a minute.</a:t>
            </a:r>
          </a:p>
          <a:p>
            <a:pPr indent="0" lvl="0" marL="0" rtl="0" algn="l">
              <a:lnSpc>
                <a:spcPct val="100000"/>
              </a:lnSpc>
              <a:spcBef>
                <a:spcPts val="0"/>
              </a:spcBef>
              <a:spcAft>
                <a:spcPts val="0"/>
              </a:spcAft>
              <a:buSzPts val="1400"/>
              <a:buNone/>
            </a:pPr>
            <a:r>
              <a:t>UIFR: TEACH 6.</a:t>
            </a:r>
          </a:p>
        </p:txBody>
      </p:sp>
      <p:sp>
        <p:nvSpPr>
          <p:cNvPr id="232" name="Google Shape;232;p1: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7" name="Shape 237"/>
        <p:cNvGrpSpPr/>
        <p:nvPr/>
      </p:nvGrpSpPr>
      <p:grpSpPr>
        <a:xfrm>
          <a:off x="0" y="0"/>
          <a:ext cx="0" cy="0"/>
          <a:chOff x="0" y="0"/>
          <a:chExt cx="0" cy="0"/>
        </a:xfrm>
      </p:grpSpPr>
      <p:sp>
        <p:nvSpPr>
          <p:cNvPr id="238" name="Google Shape;238;p2: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6.8, slide 5 | WORKED</a:t>
            </a:r>
          </a:p>
          <a:p xmlns:a="http://schemas.openxmlformats.org/drawingml/2006/main">
            <a:pPr>
              <a:buNone/>
            </a:pPr>
            <a:r>
              <a:rPr lang="en-US" sz="1100"/>
              <a:t>Focus on the existing task: Or You Could</a:t>
            </a:r>
          </a:p>
          <a:p xmlns:a="http://schemas.openxmlformats.org/drawingml/2006/main">
            <a:pPr>
              <a:buNone/>
            </a:pPr>
            <a:r>
              <a:rPr lang="en-US" sz="1100"/>
              <a:t>LAUNCH (T2/3/5): Ask students to explain the displayed idea or example and point to evidence. When a calculation step is shown, ask why it is valid. Have a partner restate the explanation; copying is not the check.</a:t>
            </a:r>
          </a:p>
          <a:p xmlns:a="http://schemas.openxmlformats.org/drawingml/2006/main">
            <a:pPr>
              <a:buNone/>
            </a:pPr>
            <a:r>
              <a:rPr lang="en-US" sz="1100"/>
              <a:t>LOOK FOR (T4): Where this task addresses it, students can rewrite using valid properties. Ask which feature of their work supports the claim.</a:t>
            </a:r>
          </a:p>
          <a:p xmlns:a="http://schemas.openxmlformats.org/drawingml/2006/main">
            <a:pPr>
              <a:buNone/>
            </a:pPr>
            <a:r>
              <a:rPr lang="en-US" sz="1100"/>
              <a:t>RESPOND: If this task shows the lesson misconception—applying commutative reasoning to subtraction or division—mark what changed in the original expression: order, grouping, or an identity element.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Model briefly, then hand the thinking back: ask “Why does this step work?” before showing the next one.</a:t>
            </a:r>
          </a:p>
          <a:p>
            <a:pPr indent="0" lvl="0" marL="0" rtl="0" algn="l">
              <a:lnSpc>
                <a:spcPct val="100000"/>
              </a:lnSpc>
              <a:spcBef>
                <a:spcPts val="0"/>
              </a:spcBef>
              <a:spcAft>
                <a:spcPts val="0"/>
              </a:spcAft>
              <a:buSzPts val="1400"/>
              <a:buNone/>
            </a:pPr>
            <a:r>
              <a:t>Quick check before moving on — thumbs or whiteboards from everyone, not volunteers.</a:t>
            </a:r>
          </a:p>
          <a:p>
            <a:pPr indent="0" lvl="0" marL="0" rtl="0" algn="l">
              <a:lnSpc>
                <a:spcPct val="100000"/>
              </a:lnSpc>
              <a:spcBef>
                <a:spcPts val="0"/>
              </a:spcBef>
              <a:spcAft>
                <a:spcPts val="0"/>
              </a:spcAft>
              <a:buSzPts val="1400"/>
              <a:buNone/>
            </a:pPr>
            <a:r>
              <a:t>UIFR: TEACH 2 · TEACH 3 · TEACH 4.</a:t>
            </a:r>
          </a:p>
        </p:txBody>
      </p:sp>
      <p:sp>
        <p:nvSpPr>
          <p:cNvPr id="239" name="Google Shape;239;p2: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4" name="Shape 254"/>
        <p:cNvGrpSpPr/>
        <p:nvPr/>
      </p:nvGrpSpPr>
      <p:grpSpPr>
        <a:xfrm>
          <a:off x="0" y="0"/>
          <a:ext cx="0" cy="0"/>
          <a:chOff x="0" y="0"/>
          <a:chExt cx="0" cy="0"/>
        </a:xfrm>
      </p:grpSpPr>
      <p:sp>
        <p:nvSpPr>
          <p:cNvPr id="255" name="Google Shape;255;p4:notes"/>
          <p:cNvSpPr txBox="1"/>
          <p:nvPr>
            <p:ph idx="1" type="body"/>
          </p:nvPr>
        </p:nvSpPr>
        <p:spPr>
          <a:xfrm>
            <a:off x="701040" y="4444862"/>
            <a:ext cx="5608320" cy="3636705"/>
          </a:xfrm>
          <a:prstGeom prst="rect">
            <a:avLst/>
          </a:prstGeom>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6.8, slide 1 | WARMUP</a:t>
            </a:r>
          </a:p>
          <a:p xmlns:a="http://schemas.openxmlformats.org/drawingml/2006/main">
            <a:pPr>
              <a:buNone/>
            </a:pPr>
            <a:r>
              <a:rPr lang="en-US" sz="1100"/>
              <a:t>Focus on the existing task: Warm-Up WARM-UP · THINK • TRY • CHECK Do these four on…</a:t>
            </a:r>
          </a:p>
          <a:p xmlns:a="http://schemas.openxmlformats.org/drawingml/2006/main">
            <a:pPr>
              <a:buNone/>
            </a:pPr>
            <a:r>
              <a:rPr lang="en-US" sz="1100"/>
              <a:t>GATHER EVIDENCE (T4/6): Keep the original items. Students try independently, mark an uncertain item, and explain one method before checking. Use the existing key when present.</a:t>
            </a:r>
          </a:p>
          <a:p xmlns:a="http://schemas.openxmlformats.org/drawingml/2006/main">
            <a:pPr>
              <a:buNone/>
            </a:pPr>
            <a:r>
              <a:rPr lang="en-US" sz="1100"/>
              <a:t>RESPOND: Distinguish a calculation slip from a reasoning gap. Give one next step on the same item; have students revise in a second color. Use the responses to choose flexible support for today’s lesson.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spcBef>
                <a:spcPts val="0"/>
              </a:spcBef>
              <a:spcAft>
                <a:spcPts val="0"/>
              </a:spcAft>
              <a:buNone/>
            </a:pPr>
            <a:r>
              <a:t>Warm-Up answers (teacher only): 1) 6   2) 3x + 15   3) 7x   4) 42</a:t>
            </a:r>
          </a:p>
          <a:p>
            <a:pPr>
              <a:buNone/>
            </a:pPr>
            <a:r>
              <a:rPr lang="en-US" sz="1100"/>
              <a:t/>
            </a:r>
          </a:p>
          <a:p>
            <a:pPr>
              <a:buNone/>
            </a:pPr>
            <a:r>
              <a:rPr lang="en-US" sz="1100"/>
              <a:t>UIFR FULL | Lesson-specific facilitation</a:t>
            </a:r>
          </a:p>
          <a:p>
            <a:pPr>
              <a:buNone/>
            </a:pPr>
            <a:r>
              <a:rPr lang="en-US" sz="1100"/>
              <a:t>PREPARE 1-2 | Before teaching (UIFR PDF pp. 6-7).</a:t>
            </a:r>
          </a:p>
          <a:p>
            <a:pPr>
              <a:buNone/>
            </a:pPr>
            <a:r>
              <a:rPr lang="en-US" sz="1100"/>
              <a:t>Plan to gather evidence that students can rewrite using valid properties; preserve value; explain the property at each step. Review recent work and today’s warm-up to choose flexible groups and access supports; do not infer needs from identity or perceived ability. Use the existing lesson tasks and stated standards.</a:t>
            </a:r>
          </a:p>
          <a:p>
            <a:pPr>
              <a:buNone/>
            </a:pPr>
            <a:r>
              <a:rPr lang="en-US" sz="1100"/>
              <a:t>Anticipate: applying commutative reasoning to subtraction or division. If observed, mark what changed in the original expression: order, grouping, or an identity element. Offer oral rehearsal, drawing, pointing, or home-language processing as needed; retain the original mathematical demand. Ask students which support helps and fade it as evidence improves.</a:t>
            </a:r>
          </a:p>
          <a:p>
            <a:pPr>
              <a:buNone/>
            </a:pPr>
            <a:r>
              <a:rPr lang="en-US" sz="1100"/>
              <a:t>TEACH 6-7 | Before the first transition, agree on materials, partner roles, and how to request help. Invite students to restate the routine. Normalize revising an idea, recognize a specific contribution, and check privately when frustration blocks participation. Source: UIFR PDF pp. 13-14.</a:t>
            </a:r>
          </a:p>
        </p:txBody>
      </p:sp>
      <p:sp>
        <p:nvSpPr>
          <p:cNvPr id="256" name="Google Shape;256;p4: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0" name="Shape 330"/>
        <p:cNvGrpSpPr/>
        <p:nvPr/>
      </p:nvGrpSpPr>
      <p:grpSpPr>
        <a:xfrm>
          <a:off x="0" y="0"/>
          <a:ext cx="0" cy="0"/>
          <a:chOff x="0" y="0"/>
          <a:chExt cx="0" cy="0"/>
        </a:xfrm>
      </p:grpSpPr>
      <p:sp>
        <p:nvSpPr>
          <p:cNvPr id="331" name="Google Shape;331;p5:notes"/>
          <p:cNvSpPr txBox="1"/>
          <p:nvPr>
            <p:ph idx="1" type="body"/>
          </p:nvPr>
        </p:nvSpPr>
        <p:spPr>
          <a:xfrm>
            <a:off x="701040" y="4444862"/>
            <a:ext cx="5608320" cy="3636705"/>
          </a:xfrm>
          <a:prstGeom prst="rect">
            <a:avLst/>
          </a:prstGeom>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6.8, slide 6 | GOAL</a:t>
            </a:r>
          </a:p>
          <a:p xmlns:a="http://schemas.openxmlformats.org/drawingml/2006/main">
            <a:pPr>
              <a:buNone/>
            </a:pPr>
            <a:r>
              <a:rPr lang="en-US" sz="1100"/>
              <a:t>Focus on the existing task: Today’s Objectives Generate Equivalent Expressions Maryland…</a:t>
            </a:r>
          </a:p>
          <a:p xmlns:a="http://schemas.openxmlformats.org/drawingml/2006/main">
            <a:pPr>
              <a:buNone/>
            </a:pPr>
            <a:r>
              <a:rPr lang="en-US" sz="1100"/>
              <a:t>CONNECT (T1/4): Ask students to restate the displayed goal or key idea and connect it to earlier work. Relevant lesson evidence: rewrite using valid properties; preserve value; explain the property at each step. Use only the criterion that matches the current session.</a:t>
            </a:r>
          </a:p>
          <a:p xmlns:a="http://schemas.openxmlformats.org/drawingml/2006/main">
            <a:pPr>
              <a:buNone/>
            </a:pPr>
            <a:r>
              <a:rPr lang="en-US" sz="1100"/>
              <a:t>SHOW PROGRESS: Students point to their own existing work, explain what improved after feedback, and name a next step. Pair confidence ratings with actual evidence.</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spcBef>
                <a:spcPts val="0"/>
              </a:spcBef>
              <a:spcAft>
                <a:spcPts val="0"/>
              </a:spcAft>
              <a:buNone/>
            </a:pPr>
            <a:r>
              <a:t>Read the objective together, then have one or two students restate today’s goal in their own words.</a:t>
            </a:r>
          </a:p>
          <a:p>
            <a:pPr indent="0" lvl="0" marL="0" rtl="0" algn="l">
              <a:spcBef>
                <a:spcPts val="0"/>
              </a:spcBef>
              <a:spcAft>
                <a:spcPts val="0"/>
              </a:spcAft>
              <a:buNone/>
            </a:pPr>
            <a:r>
              <a:t>Connect it to what the class learned last lesson.</a:t>
            </a:r>
          </a:p>
          <a:p>
            <a:pPr indent="0" lvl="0" marL="0" rtl="0" algn="l">
              <a:spcBef>
                <a:spcPts val="0"/>
              </a:spcBef>
              <a:spcAft>
                <a:spcPts val="0"/>
              </a:spcAft>
              <a:buNone/>
            </a:pPr>
            <a:r>
              <a:t>Return to this goal at the end of class to check it was met.</a:t>
            </a:r>
          </a:p>
          <a:p>
            <a:pPr indent="0" lvl="0" marL="0" rtl="0" algn="l">
              <a:spcBef>
                <a:spcPts val="0"/>
              </a:spcBef>
              <a:spcAft>
                <a:spcPts val="0"/>
              </a:spcAft>
              <a:buNone/>
            </a:pPr>
            <a:r>
              <a:t>UIFR: TEACH 1.</a:t>
            </a:r>
          </a:p>
          <a:p>
            <a:pPr>
              <a:buNone/>
            </a:pPr>
            <a:r>
              <a:rPr lang="en-US" sz="1100"/>
              <a:t/>
            </a:r>
          </a:p>
          <a:p>
            <a:pPr>
              <a:buNone/>
            </a:pPr>
            <a:r>
              <a:rPr lang="en-US" sz="1100"/>
              <a:t>UIFR FULL | Lesson-specific facilitation</a:t>
            </a:r>
          </a:p>
          <a:p>
            <a:pPr>
              <a:buNone/>
            </a:pPr>
            <a:r>
              <a:rPr lang="en-US" sz="1100"/>
              <a:t>TEACH 1 | Session 1 purpose and evidence (UIFR PDF p. 8).</a:t>
            </a:r>
          </a:p>
          <a:p>
            <a:pPr>
              <a:buNone/>
            </a:pPr>
            <a:r>
              <a:rPr lang="en-US" sz="1100"/>
              <a:t>Have students restate the displayed session goal in their own words and connect it to the existing context or a familiar experience they choose to share. Use the current session goal to select from these lesson-wide evidence criteria; do not frontload a later-session procedure.</a:t>
            </a:r>
          </a:p>
          <a:p>
            <a:pPr>
              <a:buNone/>
            </a:pPr>
            <a:r>
              <a:rPr lang="en-US" sz="1100"/>
              <a:t>Look for: rewrite using valid properties; preserve value; explain the property at each step. Ask: “Which part of your work would show this?” Revisit that evidence after the task; a confidence rating alone is not evidence of understanding.</a:t>
            </a:r>
          </a:p>
        </p:txBody>
      </p:sp>
      <p:sp>
        <p:nvSpPr>
          <p:cNvPr id="332" name="Google Shape;332;p5: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2" name="Shape 352"/>
        <p:cNvGrpSpPr/>
        <p:nvPr/>
      </p:nvGrpSpPr>
      <p:grpSpPr>
        <a:xfrm>
          <a:off x="0" y="0"/>
          <a:ext cx="0" cy="0"/>
          <a:chOff x="0" y="0"/>
          <a:chExt cx="0" cy="0"/>
        </a:xfrm>
      </p:grpSpPr>
      <p:sp>
        <p:nvSpPr>
          <p:cNvPr id="353" name="Google Shape;353;p6:notes"/>
          <p:cNvSpPr txBox="1"/>
          <p:nvPr>
            <p:ph idx="1" type="body"/>
          </p:nvPr>
        </p:nvSpPr>
        <p:spPr>
          <a:xfrm>
            <a:off x="701040" y="4444862"/>
            <a:ext cx="5608320" cy="3636705"/>
          </a:xfrm>
          <a:prstGeom prst="rect">
            <a:avLst/>
          </a:prstGeom>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6.8, slide 14 | VOCAB</a:t>
            </a:r>
          </a:p>
          <a:p xmlns:a="http://schemas.openxmlformats.org/drawingml/2006/main">
            <a:pPr>
              <a:buNone/>
            </a:pPr>
            <a:r>
              <a:rPr lang="en-US" sz="1100"/>
              <a:t>Focus on the existing task: Vocabulary Today’s Math Words We learn every word — what it…</a:t>
            </a:r>
          </a:p>
          <a:p xmlns:a="http://schemas.openxmlformats.org/drawingml/2006/main">
            <a:pPr>
              <a:buNone/>
            </a:pPr>
            <a:r>
              <a:rPr lang="en-US" sz="1100"/>
              <a:t>ASK (T1/3/5): Where does “the displayed term” appear in the example? Explain the meaning without reading the definition. Partner: restate the idea and ask a clarifying question.</a:t>
            </a:r>
          </a:p>
          <a:p xmlns:a="http://schemas.openxmlformats.org/drawingml/2006/main">
            <a:pPr>
              <a:buNone/>
            </a:pPr>
            <a:r>
              <a:rPr lang="en-US" sz="1100"/>
              <a:t>LOOK FOR: A correct connection between the word and a feature of the example. If the student only repeats the definition, invite pointing, sketching or oral rehearsal, then ask for another explanation of this same example.</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spcBef>
                <a:spcPts val="0"/>
              </a:spcBef>
              <a:spcAft>
                <a:spcPts val="0"/>
              </a:spcAft>
              <a:buNone/>
            </a:pPr>
            <a:r>
              <a:t>Choral-read each word, its meaning, and what it looks like.</a:t>
            </a:r>
          </a:p>
          <a:p>
            <a:pPr indent="0" lvl="0" marL="0" rtl="0" algn="l">
              <a:spcBef>
                <a:spcPts val="0"/>
              </a:spcBef>
              <a:spcAft>
                <a:spcPts val="0"/>
              </a:spcAft>
              <a:buNone/>
            </a:pPr>
            <a:r>
              <a:t>Students should use these words out loud today — listen for them in partner talk and revoice student ideas with the academic term.</a:t>
            </a:r>
          </a:p>
          <a:p>
            <a:pPr indent="0" lvl="0" marL="0" rtl="0" algn="l">
              <a:spcBef>
                <a:spcPts val="0"/>
              </a:spcBef>
              <a:spcAft>
                <a:spcPts val="0"/>
              </a:spcAft>
              <a:buNone/>
            </a:pPr>
            <a:r>
              <a:t>UIFR: TEACH 1 · TEACH 5.</a:t>
            </a:r>
          </a:p>
        </p:txBody>
      </p:sp>
      <p:sp>
        <p:nvSpPr>
          <p:cNvPr id="354" name="Google Shape;354;p6: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5" name="Shape 495"/>
        <p:cNvGrpSpPr/>
        <p:nvPr/>
      </p:nvGrpSpPr>
      <p:grpSpPr>
        <a:xfrm>
          <a:off x="0" y="0"/>
          <a:ext cx="0" cy="0"/>
          <a:chOff x="0" y="0"/>
          <a:chExt cx="0" cy="0"/>
        </a:xfrm>
      </p:grpSpPr>
      <p:sp>
        <p:nvSpPr>
          <p:cNvPr id="496" name="Google Shape;496;p13:notes"/>
          <p:cNvSpPr txBox="1"/>
          <p:nvPr>
            <p:ph idx="1" type="body"/>
          </p:nvPr>
        </p:nvSpPr>
        <p:spPr>
          <a:xfrm>
            <a:off x="701040" y="4444862"/>
            <a:ext cx="5608320" cy="3636705"/>
          </a:xfrm>
          <a:prstGeom prst="rect">
            <a:avLst/>
          </a:prstGeom>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6.8, slide 2 | NOTES</a:t>
            </a:r>
          </a:p>
          <a:p xmlns:a="http://schemas.openxmlformats.org/drawingml/2006/main">
            <a:pPr>
              <a:buNone/>
            </a:pPr>
            <a:r>
              <a:rPr lang="en-US" sz="1100"/>
              <a:t>Focus on the existing task: Today’s Math Notes Section 1: Math Words Copy into your…</a:t>
            </a:r>
          </a:p>
          <a:p xmlns:a="http://schemas.openxmlformats.org/drawingml/2006/main">
            <a:pPr>
              <a:buNone/>
            </a:pPr>
            <a:r>
              <a:rPr lang="en-US" sz="1100"/>
              <a:t>ROUTINE (T1/2/4): Read or copy the original notes, cover one line, and explain it using the displayed example. Reopen and correct. Copying alone is not evidence of understanding.</a:t>
            </a:r>
          </a:p>
          <a:p xmlns:a="http://schemas.openxmlformats.org/drawingml/2006/main">
            <a:pPr>
              <a:buNone/>
            </a:pPr>
            <a:r>
              <a:rPr lang="en-US" sz="1100"/>
              <a:t>LOOK FOR: A link between a symbol, quantity or feature and the explanation. If missing, point back to that feature and have the student try again; fade the prompt once they can explain.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spcBef>
                <a:spcPts val="0"/>
              </a:spcBef>
              <a:spcAft>
                <a:spcPts val="0"/>
              </a:spcAft>
              <a:buNone/>
            </a:pPr>
            <a:r>
              <a:t>Copy routine: read one line at a time; students copy, then explain that line to a partner.</a:t>
            </a:r>
          </a:p>
          <a:p>
            <a:pPr indent="0" lvl="0" marL="0" rtl="0" algn="l">
              <a:spcBef>
                <a:spcPts val="0"/>
              </a:spcBef>
              <a:spcAft>
                <a:spcPts val="0"/>
              </a:spcAft>
              <a:buNone/>
            </a:pPr>
            <a:r>
              <a:t>Keep it brisk — the understanding work happens in the examples, not the copying.</a:t>
            </a:r>
          </a:p>
          <a:p>
            <a:pPr indent="0" lvl="0" marL="0" rtl="0" algn="l">
              <a:spcBef>
                <a:spcPts val="0"/>
              </a:spcBef>
              <a:spcAft>
                <a:spcPts val="0"/>
              </a:spcAft>
              <a:buNone/>
            </a:pPr>
            <a:r>
              <a:t>UIFR: TEACH 1 · TEACH 6.</a:t>
            </a:r>
          </a:p>
        </p:txBody>
      </p:sp>
      <p:sp>
        <p:nvSpPr>
          <p:cNvPr id="497" name="Google Shape;497;p13: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3" name="Shape 523"/>
        <p:cNvGrpSpPr/>
        <p:nvPr/>
      </p:nvGrpSpPr>
      <p:grpSpPr>
        <a:xfrm>
          <a:off x="0" y="0"/>
          <a:ext cx="0" cy="0"/>
          <a:chOff x="0" y="0"/>
          <a:chExt cx="0" cy="0"/>
        </a:xfrm>
      </p:grpSpPr>
      <p:sp>
        <p:nvSpPr>
          <p:cNvPr id="524" name="Google Shape;524;p14:notes"/>
          <p:cNvSpPr txBox="1"/>
          <p:nvPr>
            <p:ph idx="1" type="body"/>
          </p:nvPr>
        </p:nvSpPr>
        <p:spPr>
          <a:xfrm>
            <a:off x="701040" y="4444862"/>
            <a:ext cx="5608320" cy="3636705"/>
          </a:xfrm>
          <a:prstGeom prst="rect">
            <a:avLst/>
          </a:prstGeom>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6.8, slide 3 | NOTES</a:t>
            </a:r>
          </a:p>
          <a:p xmlns:a="http://schemas.openxmlformats.org/drawingml/2006/main">
            <a:pPr>
              <a:buNone/>
            </a:pPr>
            <a:r>
              <a:rPr lang="en-US" sz="1100"/>
              <a:t>Focus on the existing task: Today’s Math Notes Section 2: Today’s Math Copy into your…</a:t>
            </a:r>
          </a:p>
          <a:p xmlns:a="http://schemas.openxmlformats.org/drawingml/2006/main">
            <a:pPr>
              <a:buNone/>
            </a:pPr>
            <a:r>
              <a:rPr lang="en-US" sz="1100"/>
              <a:t>ROUTINE (T1/2/4): Read or copy the original notes, cover one line, and explain it using the displayed example. Reopen and correct. Copying alone is not evidence of understanding.</a:t>
            </a:r>
          </a:p>
          <a:p xmlns:a="http://schemas.openxmlformats.org/drawingml/2006/main">
            <a:pPr>
              <a:buNone/>
            </a:pPr>
            <a:r>
              <a:rPr lang="en-US" sz="1100"/>
              <a:t>LOOK FOR: A link between a symbol, quantity or feature and the explanation. If missing, point back to that feature and have the student try again; fade the prompt once they can explain.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spcBef>
                <a:spcPts val="0"/>
              </a:spcBef>
              <a:spcAft>
                <a:spcPts val="0"/>
              </a:spcAft>
              <a:buNone/>
            </a:pPr>
            <a:r>
              <a:t>Copy routine: read one line at a time; students copy, then explain that line to a partner.</a:t>
            </a:r>
          </a:p>
          <a:p>
            <a:pPr indent="0" lvl="0" marL="0" rtl="0" algn="l">
              <a:spcBef>
                <a:spcPts val="0"/>
              </a:spcBef>
              <a:spcAft>
                <a:spcPts val="0"/>
              </a:spcAft>
              <a:buNone/>
            </a:pPr>
            <a:r>
              <a:t>Keep it brisk — the understanding work happens in the examples, not the copying.</a:t>
            </a:r>
          </a:p>
          <a:p>
            <a:pPr indent="0" lvl="0" marL="0" rtl="0" algn="l">
              <a:spcBef>
                <a:spcPts val="0"/>
              </a:spcBef>
              <a:spcAft>
                <a:spcPts val="0"/>
              </a:spcAft>
              <a:buNone/>
            </a:pPr>
            <a:r>
              <a:t>UIFR: TEACH 1 · TEACH 6.</a:t>
            </a:r>
          </a:p>
        </p:txBody>
      </p:sp>
      <p:sp>
        <p:nvSpPr>
          <p:cNvPr id="525" name="Google Shape;525;p14: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1" name="Shape 561"/>
        <p:cNvGrpSpPr/>
        <p:nvPr/>
      </p:nvGrpSpPr>
      <p:grpSpPr>
        <a:xfrm>
          <a:off x="0" y="0"/>
          <a:ext cx="0" cy="0"/>
          <a:chOff x="0" y="0"/>
          <a:chExt cx="0" cy="0"/>
        </a:xfrm>
      </p:grpSpPr>
      <p:sp>
        <p:nvSpPr>
          <p:cNvPr id="562" name="Google Shape;562;p16: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6.8, slide 15 | CURIOUS</a:t>
            </a:r>
          </a:p>
          <a:p xmlns:a="http://schemas.openxmlformats.org/drawingml/2006/main">
            <a:pPr>
              <a:buNone/>
            </a:pPr>
            <a:r>
              <a:rPr lang="en-US" sz="1100"/>
              <a:t>Focus on the existing task: Be Curious What questions can you ask to help you understand someone else’s ideas about math?</a:t>
            </a:r>
          </a:p>
          <a:p xmlns:a="http://schemas.openxmlformats.org/drawingml/2006/main">
            <a:pPr>
              <a:buNone/>
            </a:pPr>
            <a:r>
              <a:rPr lang="en-US" sz="1100"/>
              <a:t>LAUNCH (T2/3/5): Allow quiet observation first. Separate a notice from an inference, invite students’ own questions, and follow the existing launch before teaching a procedure.</a:t>
            </a:r>
          </a:p>
          <a:p xmlns:a="http://schemas.openxmlformats.org/drawingml/2006/main">
            <a:pPr>
              <a:buNone/>
            </a:pPr>
            <a:r>
              <a:rPr lang="en-US" sz="1100"/>
              <a:t>LOOK FOR (T4): Where this task addresses it, students can rewrite using valid properties. Ask which feature of their work supports the claim.</a:t>
            </a:r>
          </a:p>
          <a:p xmlns:a="http://schemas.openxmlformats.org/drawingml/2006/main">
            <a:pPr>
              <a:buNone/>
            </a:pPr>
            <a:r>
              <a:rPr lang="en-US" sz="1100"/>
              <a:t>RESPOND: If this task shows the lesson misconception—applying commutative reasoning to subtraction or division—mark what changed in the original expression: order, grouping, or an identity element.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Accept all noticings and wonderings — there are no wrong answers here.</a:t>
            </a:r>
          </a:p>
          <a:p>
            <a:pPr indent="0" lvl="0" marL="0" rtl="0" algn="l">
              <a:lnSpc>
                <a:spcPct val="100000"/>
              </a:lnSpc>
              <a:spcBef>
                <a:spcPts val="0"/>
              </a:spcBef>
              <a:spcAft>
                <a:spcPts val="0"/>
              </a:spcAft>
              <a:buSzPts val="1400"/>
              <a:buNone/>
            </a:pPr>
            <a:r>
              <a:t>Give 20–30 seconds of quiet think time before taking responses; mix cold and warm calls so it is not always the same voices.</a:t>
            </a:r>
          </a:p>
          <a:p>
            <a:pPr indent="0" lvl="0" marL="0" rtl="0" algn="l">
              <a:lnSpc>
                <a:spcPct val="100000"/>
              </a:lnSpc>
              <a:spcBef>
                <a:spcPts val="0"/>
              </a:spcBef>
              <a:spcAft>
                <a:spcPts val="0"/>
              </a:spcAft>
              <a:buSzPts val="1400"/>
              <a:buNone/>
            </a:pPr>
            <a:r>
              <a:t>Read the mindset question aloud and let two students respond.</a:t>
            </a:r>
          </a:p>
          <a:p>
            <a:pPr indent="0" lvl="0" marL="0" rtl="0" algn="l">
              <a:lnSpc>
                <a:spcPct val="100000"/>
              </a:lnSpc>
              <a:spcBef>
                <a:spcPts val="0"/>
              </a:spcBef>
              <a:spcAft>
                <a:spcPts val="0"/>
              </a:spcAft>
              <a:buSzPts val="1400"/>
              <a:buNone/>
            </a:pPr>
            <a:r>
              <a:t>UIFR: TEACH 3 · TEACH 7.</a:t>
            </a:r>
          </a:p>
        </p:txBody>
      </p:sp>
      <p:sp>
        <p:nvSpPr>
          <p:cNvPr id="563" name="Google Shape;563;p16: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2" name="Shape 582"/>
        <p:cNvGrpSpPr/>
        <p:nvPr/>
      </p:nvGrpSpPr>
      <p:grpSpPr>
        <a:xfrm>
          <a:off x="0" y="0"/>
          <a:ext cx="0" cy="0"/>
          <a:chOff x="0" y="0"/>
          <a:chExt cx="0" cy="0"/>
        </a:xfrm>
      </p:grpSpPr>
      <p:sp>
        <p:nvSpPr>
          <p:cNvPr id="583" name="Google Shape;583;p18: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6.8, slide 16 | TASK</a:t>
            </a:r>
          </a:p>
          <a:p xmlns:a="http://schemas.openxmlformats.org/drawingml/2006/main">
            <a:pPr>
              <a:buNone/>
            </a:pPr>
            <a:r>
              <a:rPr lang="en-US" sz="1100"/>
              <a:t>Focus on the existing task: What other expressions are equivalent to the one shown?</a:t>
            </a:r>
          </a:p>
          <a:p xmlns:a="http://schemas.openxmlformats.org/drawingml/2006/main">
            <a:pPr>
              <a:buNone/>
            </a:pPr>
            <a:r>
              <a:rPr lang="en-US" sz="1100"/>
              <a:t>LAUNCH (T2/3/5): Use the displayed question. Give private thinking time; then A explains while B asks for evidence. Switch roles. Each student records their own reasoning.</a:t>
            </a:r>
          </a:p>
          <a:p xmlns:a="http://schemas.openxmlformats.org/drawingml/2006/main">
            <a:pPr>
              <a:buNone/>
            </a:pPr>
            <a:r>
              <a:rPr lang="en-US" sz="1100"/>
              <a:t>LOOK FOR (T4): Where this task addresses it, students can rewrite using valid properties. Ask which feature of their work supports the claim.</a:t>
            </a:r>
          </a:p>
          <a:p xmlns:a="http://schemas.openxmlformats.org/drawingml/2006/main">
            <a:pPr>
              <a:buNone/>
            </a:pPr>
            <a:r>
              <a:rPr lang="en-US" sz="1100"/>
              <a:t>RESPOND: If this task shows the lesson misconception—applying commutative reasoning to subtraction or division—mark what changed in the original expression: order, grouping, or an identity element.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Model briefly, then hand the thinking back: ask “Why does this step work?” before showing the next one.</a:t>
            </a:r>
          </a:p>
          <a:p>
            <a:pPr indent="0" lvl="0" marL="0" rtl="0" algn="l">
              <a:lnSpc>
                <a:spcPct val="100000"/>
              </a:lnSpc>
              <a:spcBef>
                <a:spcPts val="0"/>
              </a:spcBef>
              <a:spcAft>
                <a:spcPts val="0"/>
              </a:spcAft>
              <a:buSzPts val="1400"/>
              <a:buNone/>
            </a:pPr>
            <a:r>
              <a:t>Quick check before moving on — thumbs or whiteboards from everyone, not volunteers.</a:t>
            </a:r>
          </a:p>
          <a:p>
            <a:pPr indent="0" lvl="0" marL="0" rtl="0" algn="l">
              <a:lnSpc>
                <a:spcPct val="100000"/>
              </a:lnSpc>
              <a:spcBef>
                <a:spcPts val="0"/>
              </a:spcBef>
              <a:spcAft>
                <a:spcPts val="0"/>
              </a:spcAft>
              <a:buSzPts val="1400"/>
              <a:buNone/>
            </a:pPr>
            <a:r>
              <a:t>UIFR: TEACH 2 · TEACH 3 · TEACH 4.</a:t>
            </a:r>
          </a:p>
          <a:p>
            <a:pPr>
              <a:buNone/>
            </a:pPr>
            <a:r>
              <a:rPr lang="en-US" sz="1100"/>
              <a:t/>
            </a:r>
          </a:p>
          <a:p>
            <a:pPr>
              <a:buNone/>
            </a:pPr>
            <a:r>
              <a:rPr lang="en-US" sz="1100"/>
              <a:t>UIFR FULL | Lesson-specific facilitation</a:t>
            </a:r>
          </a:p>
          <a:p>
            <a:pPr>
              <a:buNone/>
            </a:pPr>
            <a:r>
              <a:rPr lang="en-US" sz="1100"/>
              <a:t>TEACH 2-3 | Session 1 task launch (UIFR PDF pp. 9-10).</a:t>
            </a:r>
          </a:p>
          <a:p>
            <a:pPr>
              <a:buNone/>
            </a:pPr>
            <a:r>
              <a:rPr lang="en-US" sz="1100"/>
              <a:t>Use the problem exactly as displayed. Give individual thinking time before discussion or advancing to the explanation. If the answer is already visible, ask students to reconstruct and justify it. Invite a choice of suitable representations and have students explain why their choice helps.</a:t>
            </a:r>
          </a:p>
          <a:p>
            <a:pPr>
              <a:buNone/>
            </a:pPr>
            <a:r>
              <a:rPr lang="en-US" sz="1100"/>
              <a:t>At the point where this concept appears, ask: “What property permits this change, and why does it preserve the value for every allowed input?” Wait for evidence, invite another pathway, and have a student ask a follow-up question. Do not replace students’ reasoning with a sequence of leading steps.</a:t>
            </a:r>
          </a:p>
        </p:txBody>
      </p:sp>
      <p:sp>
        <p:nvSpPr>
          <p:cNvPr id="584" name="Google Shape;584;p18: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2" name="Shape 602"/>
        <p:cNvGrpSpPr/>
        <p:nvPr/>
      </p:nvGrpSpPr>
      <p:grpSpPr>
        <a:xfrm>
          <a:off x="0" y="0"/>
          <a:ext cx="0" cy="0"/>
          <a:chOff x="0" y="0"/>
          <a:chExt cx="0" cy="0"/>
        </a:xfrm>
      </p:grpSpPr>
      <p:sp>
        <p:nvSpPr>
          <p:cNvPr id="603" name="Google Shape;603;p20: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6.8, slide 17 | REVEAL</a:t>
            </a:r>
          </a:p>
          <a:p xmlns:a="http://schemas.openxmlformats.org/drawingml/2006/main">
            <a:pPr>
              <a:buNone/>
            </a:pPr>
            <a:r>
              <a:rPr lang="en-US" sz="1100"/>
              <a:t>Focus on the existing task: What other expressions are equivalent to the one shown?</a:t>
            </a:r>
          </a:p>
          <a:p xmlns:a="http://schemas.openxmlformats.org/drawingml/2006/main">
            <a:pPr>
              <a:buNone/>
            </a:pPr>
            <a:r>
              <a:rPr lang="en-US" sz="1100"/>
              <a:t>LAUNCH (T2/3/5): If an existing answer cover is present, gather an attempt before revealing. If the explanation is already visible, ask students to reconstruct and justify it. Compare reasoning and explain a revision; preserve the reveal sequence.</a:t>
            </a:r>
          </a:p>
          <a:p xmlns:a="http://schemas.openxmlformats.org/drawingml/2006/main">
            <a:pPr>
              <a:buNone/>
            </a:pPr>
            <a:r>
              <a:rPr lang="en-US" sz="1100"/>
              <a:t>LOOK FOR (T4): Where this task addresses it, students can rewrite using valid properties. Ask which feature of their work supports the claim.</a:t>
            </a:r>
          </a:p>
          <a:p xmlns:a="http://schemas.openxmlformats.org/drawingml/2006/main">
            <a:pPr>
              <a:buNone/>
            </a:pPr>
            <a:r>
              <a:rPr lang="en-US" sz="1100"/>
              <a:t>RESPOND: If this task shows the lesson misconception—applying commutative reasoning to subtraction or division—mark what changed in the original expression: order, grouping, or an identity element.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Do not click yet: collect 2–3 student answers with reasons first.</a:t>
            </a:r>
          </a:p>
          <a:p>
            <a:pPr indent="0" lvl="0" marL="0" rtl="0" algn="l">
              <a:lnSpc>
                <a:spcPct val="100000"/>
              </a:lnSpc>
              <a:spcBef>
                <a:spcPts val="0"/>
              </a:spcBef>
              <a:spcAft>
                <a:spcPts val="0"/>
              </a:spcAft>
              <a:buSzPts val="1400"/>
              <a:buNone/>
            </a:pPr>
            <a:r>
              <a:t>Then click to remove the cover and have students compare their thinking to the reveal — “Is this what we said? Where is it different?”</a:t>
            </a:r>
          </a:p>
          <a:p>
            <a:pPr indent="0" lvl="0" marL="0" rtl="0" algn="l">
              <a:lnSpc>
                <a:spcPct val="100000"/>
              </a:lnSpc>
              <a:spcBef>
                <a:spcPts val="0"/>
              </a:spcBef>
              <a:spcAft>
                <a:spcPts val="0"/>
              </a:spcAft>
              <a:buSzPts val="1400"/>
              <a:buNone/>
            </a:pPr>
            <a:r>
              <a:t>Behind the cover: We have found equivalent expressions when simplifying expressions using properties of operations.</a:t>
            </a:r>
          </a:p>
          <a:p>
            <a:pPr indent="0" lvl="0" marL="0" rtl="0" algn="l">
              <a:lnSpc>
                <a:spcPct val="100000"/>
              </a:lnSpc>
              <a:spcBef>
                <a:spcPts val="0"/>
              </a:spcBef>
              <a:spcAft>
                <a:spcPts val="0"/>
              </a:spcAft>
              <a:buSzPts val="1400"/>
              <a:buNone/>
            </a:pPr>
            <a:r>
              <a:t>UIFR: TEACH 3 · TEACH 4.</a:t>
            </a:r>
          </a:p>
        </p:txBody>
      </p:sp>
      <p:sp>
        <p:nvSpPr>
          <p:cNvPr id="604" name="Google Shape;604;p20: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5" name="Shape 655"/>
        <p:cNvGrpSpPr/>
        <p:nvPr/>
      </p:nvGrpSpPr>
      <p:grpSpPr>
        <a:xfrm>
          <a:off x="0" y="0"/>
          <a:ext cx="0" cy="0"/>
          <a:chOff x="0" y="0"/>
          <a:chExt cx="0" cy="0"/>
        </a:xfrm>
      </p:grpSpPr>
      <p:sp>
        <p:nvSpPr>
          <p:cNvPr id="656" name="Google Shape;656;p26: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6.8, slide 18 | COLLABORATE</a:t>
            </a:r>
          </a:p>
          <a:p xmlns:a="http://schemas.openxmlformats.org/drawingml/2006/main">
            <a:pPr>
              <a:buNone/>
            </a:pPr>
            <a:r>
              <a:rPr lang="en-US" sz="1100"/>
              <a:t>Focus on the existing task: Collaborate and Connect Reveal: All the expressions are equivalent. Rewriting an expression using properties of operations does not…</a:t>
            </a:r>
          </a:p>
          <a:p xmlns:a="http://schemas.openxmlformats.org/drawingml/2006/main">
            <a:pPr>
              <a:buNone/>
            </a:pPr>
            <a:r>
              <a:rPr lang="en-US" sz="1100"/>
              <a:t>LAUNCH (T2/3/5): Use the displayed question. Give private thinking time; then A explains while B asks for evidence. Switch roles. Each student records their own reasoning.</a:t>
            </a:r>
          </a:p>
          <a:p xmlns:a="http://schemas.openxmlformats.org/drawingml/2006/main">
            <a:pPr>
              <a:buNone/>
            </a:pPr>
            <a:r>
              <a:rPr lang="en-US" sz="1100"/>
              <a:t>LOOK FOR (T4): Where this task addresses it, students can rewrite using valid properties. Ask which feature of their work supports the claim.</a:t>
            </a:r>
          </a:p>
          <a:p xmlns:a="http://schemas.openxmlformats.org/drawingml/2006/main">
            <a:pPr>
              <a:buNone/>
            </a:pPr>
            <a:r>
              <a:rPr lang="en-US" sz="1100"/>
              <a:t>RESPOND: If this task shows the lesson misconception—applying commutative reasoning to subtraction or division—mark what changed in the original expression: order, grouping, or an identity element.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
            </a:r>
            <a:endParaRPr/>
          </a:p>
          <a:p>
            <a:r>
              <a:rPr lang="en-US"/>
              <a:t>Routine: COLLABORATE  ·  TALK IT THROUGH • AGREE ON A MODEL</a:t>
            </a:r>
          </a:p>
          <a:p>
            <a:pPr>
              <a:buNone/>
            </a:pPr>
            <a:r>
              <a:rPr lang="en-US" sz="1100"/>
              <a:t/>
            </a:r>
          </a:p>
          <a:p>
            <a:pPr>
              <a:buNone/>
            </a:pPr>
            <a:r>
              <a:rPr lang="en-US" sz="1100"/>
              <a:t>UIFR FULL | Lesson-specific facilitation</a:t>
            </a:r>
          </a:p>
          <a:p>
            <a:pPr>
              <a:buNone/>
            </a:pPr>
            <a:r>
              <a:rPr lang="en-US" sz="1100"/>
              <a:t>TEACH 4-5 | Session 1 discussion and checkpoint (UIFR PDF pp. 11-12).</a:t>
            </a:r>
          </a:p>
          <a:p>
            <a:pPr>
              <a:buNone/>
            </a:pPr>
            <a:r>
              <a:rPr lang="en-US" sz="1100"/>
              <a:t>Collect a brief response from every student to the existing prompt before hearing volunteers. Partners take turns explaining and asking for evidence: “I understand ___; what supports ___?” Offer rehearsal or an annotated model for students who need language support. Each student records their own reasoning.</a:t>
            </a:r>
          </a:p>
          <a:p>
            <a:pPr>
              <a:buNone/>
            </a:pPr>
            <a:r>
              <a:rPr lang="en-US" sz="1100"/>
              <a:t>Look specifically for: applying commutative reasoning to subtraction or division. If it appears, mark what changed in the original expression: order, grouping, or an identity element; then ask the student to revise the same response and explain the change. If evidence is secure, have students compare a second valid pathway or state why their approach works. Choose the next step from the responses, not a preset pace.</a:t>
            </a:r>
          </a:p>
        </p:txBody>
      </p:sp>
      <p:sp>
        <p:nvSpPr>
          <p:cNvPr id="657" name="Google Shape;657;p26: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4" name="Shape 674"/>
        <p:cNvGrpSpPr/>
        <p:nvPr/>
      </p:nvGrpSpPr>
      <p:grpSpPr>
        <a:xfrm>
          <a:off x="0" y="0"/>
          <a:ext cx="0" cy="0"/>
          <a:chOff x="0" y="0"/>
          <a:chExt cx="0" cy="0"/>
        </a:xfrm>
      </p:grpSpPr>
      <p:sp>
        <p:nvSpPr>
          <p:cNvPr id="675" name="Google Shape;675;p28: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6.8, slide 19 | PRACTICE</a:t>
            </a:r>
          </a:p>
          <a:p xmlns:a="http://schemas.openxmlformats.org/drawingml/2006/main">
            <a:pPr>
              <a:buNone/>
            </a:pPr>
            <a:r>
              <a:rPr lang="en-US" sz="1100"/>
              <a:t>Focus on the existing task: Let’s Explore More</a:t>
            </a:r>
          </a:p>
          <a:p xmlns:a="http://schemas.openxmlformats.org/drawingml/2006/main">
            <a:pPr>
              <a:buNone/>
            </a:pPr>
            <a:r>
              <a:rPr lang="en-US" sz="1100"/>
              <a:t>LAUNCH (T2/3/5): Use the displayed question. Give private thinking time; then A explains while B asks for evidence. Switch roles. Each student records their own reasoning.</a:t>
            </a:r>
          </a:p>
          <a:p xmlns:a="http://schemas.openxmlformats.org/drawingml/2006/main">
            <a:pPr>
              <a:buNone/>
            </a:pPr>
            <a:r>
              <a:rPr lang="en-US" sz="1100"/>
              <a:t>LOOK FOR (T4): Where this task addresses it, students can rewrite using valid properties. Ask which feature of their work supports the claim.</a:t>
            </a:r>
          </a:p>
          <a:p xmlns:a="http://schemas.openxmlformats.org/drawingml/2006/main">
            <a:pPr>
              <a:buNone/>
            </a:pPr>
            <a:r>
              <a:rPr lang="en-US" sz="1100"/>
              <a:t>RESPOND: If this task shows the lesson misconception—applying commutative reasoning to subtraction or division—mark what changed in the original expression: order, grouping, or an identity element.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Extension for partners or table groups — students choose their approach and use the workspace to show thinking.</a:t>
            </a:r>
          </a:p>
          <a:p>
            <a:pPr indent="0" lvl="0" marL="0" rtl="0" algn="l">
              <a:lnSpc>
                <a:spcPct val="100000"/>
              </a:lnSpc>
              <a:spcBef>
                <a:spcPts val="0"/>
              </a:spcBef>
              <a:spcAft>
                <a:spcPts val="0"/>
              </a:spcAft>
              <a:buSzPts val="1400"/>
              <a:buNone/>
            </a:pPr>
            <a:r>
              <a:t>Push with “Convince me,” and have two groups with different approaches share.</a:t>
            </a:r>
          </a:p>
          <a:p>
            <a:pPr indent="0" lvl="0" marL="0" rtl="0" algn="l">
              <a:lnSpc>
                <a:spcPct val="100000"/>
              </a:lnSpc>
              <a:spcBef>
                <a:spcPts val="0"/>
              </a:spcBef>
              <a:spcAft>
                <a:spcPts val="0"/>
              </a:spcAft>
              <a:buSzPts val="1400"/>
              <a:buNone/>
            </a:pPr>
            <a:r>
              <a:t>This is where students stretch past the worked example.</a:t>
            </a:r>
          </a:p>
          <a:p>
            <a:pPr indent="0" lvl="0" marL="0" rtl="0" algn="l">
              <a:lnSpc>
                <a:spcPct val="100000"/>
              </a:lnSpc>
              <a:spcBef>
                <a:spcPts val="0"/>
              </a:spcBef>
              <a:spcAft>
                <a:spcPts val="0"/>
              </a:spcAft>
              <a:buSzPts val="1400"/>
              <a:buNone/>
            </a:pPr>
            <a:r>
              <a:t>UIFR: TEACH 2 · TEACH 5.</a:t>
            </a:r>
          </a:p>
        </p:txBody>
      </p:sp>
      <p:sp>
        <p:nvSpPr>
          <p:cNvPr id="676" name="Google Shape;676;p28: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0" name="Shape 680"/>
        <p:cNvGrpSpPr/>
        <p:nvPr/>
      </p:nvGrpSpPr>
      <p:grpSpPr>
        <a:xfrm>
          <a:off x="0" y="0"/>
          <a:ext cx="0" cy="0"/>
          <a:chOff x="0" y="0"/>
          <a:chExt cx="0" cy="0"/>
        </a:xfrm>
      </p:grpSpPr>
      <p:sp>
        <p:nvSpPr>
          <p:cNvPr id="681" name="Google Shape;681;p29: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6.8, slide 24 | DIVIDER</a:t>
            </a:r>
          </a:p>
          <a:p xmlns:a="http://schemas.openxmlformats.org/drawingml/2006/main">
            <a:pPr>
              <a:buNone/>
            </a:pPr>
            <a:r>
              <a:rPr lang="en-US" sz="1100"/>
              <a:t>Focus on the existing task: Generate Equivalent Expressions Session 2</a:t>
            </a:r>
          </a:p>
          <a:p xmlns:a="http://schemas.openxmlformats.org/drawingml/2006/main">
            <a:pPr>
              <a:buNone/>
            </a:pPr>
            <a:r>
              <a:rPr lang="en-US" sz="1100"/>
              <a:t>TRANSITION (T6/7): Students confirm materials, roles, how to request help, and the next response routine. Ask a student to restate it. Keep teacher-only slides hidden.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Transition cue: state what materials are out and what success looks like this session.</a:t>
            </a:r>
          </a:p>
          <a:p>
            <a:pPr indent="0" lvl="0" marL="0" rtl="0" algn="l">
              <a:lnSpc>
                <a:spcPct val="100000"/>
              </a:lnSpc>
              <a:spcBef>
                <a:spcPts val="0"/>
              </a:spcBef>
              <a:spcAft>
                <a:spcPts val="0"/>
              </a:spcAft>
              <a:buSzPts val="1400"/>
              <a:buNone/>
            </a:pPr>
            <a:r>
              <a:t>Keep the changeover under a minute.</a:t>
            </a:r>
          </a:p>
          <a:p>
            <a:pPr indent="0" lvl="0" marL="0" rtl="0" algn="l">
              <a:lnSpc>
                <a:spcPct val="100000"/>
              </a:lnSpc>
              <a:spcBef>
                <a:spcPts val="0"/>
              </a:spcBef>
              <a:spcAft>
                <a:spcPts val="0"/>
              </a:spcAft>
              <a:buSzPts val="1400"/>
              <a:buNone/>
            </a:pPr>
            <a:r>
              <a:t>UIFR: TEACH 6.</a:t>
            </a:r>
          </a:p>
        </p:txBody>
      </p:sp>
      <p:sp>
        <p:nvSpPr>
          <p:cNvPr id="682" name="Google Shape;682;p29: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8" name="Shape 818"/>
        <p:cNvGrpSpPr/>
        <p:nvPr/>
      </p:nvGrpSpPr>
      <p:grpSpPr>
        <a:xfrm>
          <a:off x="0" y="0"/>
          <a:ext cx="0" cy="0"/>
          <a:chOff x="0" y="0"/>
          <a:chExt cx="0" cy="0"/>
        </a:xfrm>
      </p:grpSpPr>
      <p:sp>
        <p:nvSpPr>
          <p:cNvPr id="819" name="Google Shape;819;p45: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6.8, slide 25 | REVEAL</a:t>
            </a:r>
          </a:p>
          <a:p xmlns:a="http://schemas.openxmlformats.org/drawingml/2006/main">
            <a:pPr>
              <a:buNone/>
            </a:pPr>
            <a:r>
              <a:rPr lang="en-US" sz="1100"/>
              <a:t>Focus on the existing task: Reveal: How Many Can You Find?</a:t>
            </a:r>
          </a:p>
          <a:p xmlns:a="http://schemas.openxmlformats.org/drawingml/2006/main">
            <a:pPr>
              <a:buNone/>
            </a:pPr>
            <a:r>
              <a:rPr lang="en-US" sz="1100"/>
              <a:t>LAUNCH (T2/3/5): If an existing answer cover is present, gather an attempt before revealing. If the explanation is already visible, ask students to reconstruct and justify it. Compare reasoning and explain a revision; preserve the reveal sequence.</a:t>
            </a:r>
          </a:p>
          <a:p xmlns:a="http://schemas.openxmlformats.org/drawingml/2006/main">
            <a:pPr>
              <a:buNone/>
            </a:pPr>
            <a:r>
              <a:rPr lang="en-US" sz="1100"/>
              <a:t>LOOK FOR (T4): Where this task addresses it, students can rewrite using valid properties. Ask which feature of their work supports the claim.</a:t>
            </a:r>
          </a:p>
          <a:p xmlns:a="http://schemas.openxmlformats.org/drawingml/2006/main">
            <a:pPr>
              <a:buNone/>
            </a:pPr>
            <a:r>
              <a:rPr lang="en-US" sz="1100"/>
              <a:t>RESPOND: If this task shows the lesson misconception—applying commutative reasoning to subtraction or division—mark what changed in the original expression: order, grouping, or an identity element.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Students should have shared predictions before this reveal.</a:t>
            </a:r>
          </a:p>
          <a:p>
            <a:pPr indent="0" lvl="0" marL="0" rtl="0" algn="l">
              <a:lnSpc>
                <a:spcPct val="100000"/>
              </a:lnSpc>
              <a:spcBef>
                <a:spcPts val="0"/>
              </a:spcBef>
              <a:spcAft>
                <a:spcPts val="0"/>
              </a:spcAft>
              <a:buSzPts val="1400"/>
              <a:buNone/>
            </a:pPr>
            <a:r>
              <a:t>Have them compare their thinking to what is shown: “Is this the same as what we said? Where is it different?”</a:t>
            </a:r>
          </a:p>
          <a:p>
            <a:pPr indent="0" lvl="0" marL="0" rtl="0" algn="l">
              <a:lnSpc>
                <a:spcPct val="100000"/>
              </a:lnSpc>
              <a:spcBef>
                <a:spcPts val="0"/>
              </a:spcBef>
              <a:spcAft>
                <a:spcPts val="0"/>
              </a:spcAft>
              <a:buSzPts val="1400"/>
              <a:buNone/>
            </a:pPr>
            <a:r>
              <a:t>Press one student to explain the reveal in their own words.</a:t>
            </a:r>
          </a:p>
          <a:p>
            <a:pPr indent="0" lvl="0" marL="0" rtl="0" algn="l">
              <a:lnSpc>
                <a:spcPct val="100000"/>
              </a:lnSpc>
              <a:spcBef>
                <a:spcPts val="0"/>
              </a:spcBef>
              <a:spcAft>
                <a:spcPts val="0"/>
              </a:spcAft>
              <a:buSzPts val="1400"/>
              <a:buNone/>
            </a:pPr>
            <a:r>
              <a:t>UIFR: TEACH 3 · TEACH 4.</a:t>
            </a:r>
          </a:p>
        </p:txBody>
      </p:sp>
      <p:sp>
        <p:nvSpPr>
          <p:cNvPr id="820" name="Google Shape;820;p45: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4" name="Shape 854"/>
        <p:cNvGrpSpPr/>
        <p:nvPr/>
      </p:nvGrpSpPr>
      <p:grpSpPr>
        <a:xfrm>
          <a:off x="0" y="0"/>
          <a:ext cx="0" cy="0"/>
          <a:chOff x="0" y="0"/>
          <a:chExt cx="0" cy="0"/>
        </a:xfrm>
      </p:grpSpPr>
      <p:sp>
        <p:nvSpPr>
          <p:cNvPr id="855" name="Google Shape;855;p49: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6.8, slide 26 | REVEAL</a:t>
            </a:r>
          </a:p>
          <a:p xmlns:a="http://schemas.openxmlformats.org/drawingml/2006/main">
            <a:pPr>
              <a:buNone/>
            </a:pPr>
            <a:r>
              <a:rPr lang="en-US" sz="1100"/>
              <a:t>Focus on the existing task: The greatest common factor of the four terms is 2. How can you use the GCF to rewrite the expression in a different way?</a:t>
            </a:r>
          </a:p>
          <a:p xmlns:a="http://schemas.openxmlformats.org/drawingml/2006/main">
            <a:pPr>
              <a:buNone/>
            </a:pPr>
            <a:r>
              <a:rPr lang="en-US" sz="1100"/>
              <a:t>LAUNCH (T2/3/5): If an existing answer cover is present, gather an attempt before revealing. If the explanation is already visible, ask students to reconstruct and justify it. Compare reasoning and explain a revision; preserve the reveal sequence.</a:t>
            </a:r>
          </a:p>
          <a:p xmlns:a="http://schemas.openxmlformats.org/drawingml/2006/main">
            <a:pPr>
              <a:buNone/>
            </a:pPr>
            <a:r>
              <a:rPr lang="en-US" sz="1100"/>
              <a:t>LOOK FOR (T4): Where this task addresses it, students can explain the property at each step. Ask which feature of their work supports the claim.</a:t>
            </a:r>
          </a:p>
          <a:p xmlns:a="http://schemas.openxmlformats.org/drawingml/2006/main">
            <a:pPr>
              <a:buNone/>
            </a:pPr>
            <a:r>
              <a:rPr lang="en-US" sz="1100"/>
              <a:t>RESPOND: If this task shows the lesson misconception—applying commutative reasoning to subtraction or division—mark what changed in the original expression: order, grouping, or an identity element.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Do not click yet: collect 2–3 student answers with reasons first.</a:t>
            </a:r>
          </a:p>
          <a:p>
            <a:pPr indent="0" lvl="0" marL="0" rtl="0" algn="l">
              <a:lnSpc>
                <a:spcPct val="100000"/>
              </a:lnSpc>
              <a:spcBef>
                <a:spcPts val="0"/>
              </a:spcBef>
              <a:spcAft>
                <a:spcPts val="0"/>
              </a:spcAft>
              <a:buSzPts val="1400"/>
              <a:buNone/>
            </a:pPr>
            <a:r>
              <a:t>Then click to remove the cover and have students compare their thinking to the reveal — “Is this what we said? Where is it different?”</a:t>
            </a:r>
          </a:p>
          <a:p>
            <a:pPr indent="0" lvl="0" marL="0" rtl="0" algn="l">
              <a:lnSpc>
                <a:spcPct val="100000"/>
              </a:lnSpc>
              <a:spcBef>
                <a:spcPts val="0"/>
              </a:spcBef>
              <a:spcAft>
                <a:spcPts val="0"/>
              </a:spcAft>
              <a:buSzPts val="1400"/>
              <a:buNone/>
            </a:pPr>
            <a:r>
              <a:t>Behind the cover: We can divide each term by the GCF to find the other factor for each term. Then we can use the Distributive Property to write the expression as the product of the GCF and the sum of the other factors.</a:t>
            </a:r>
          </a:p>
          <a:p>
            <a:pPr indent="0" lvl="0" marL="0" rtl="0" algn="l">
              <a:lnSpc>
                <a:spcPct val="100000"/>
              </a:lnSpc>
              <a:spcBef>
                <a:spcPts val="0"/>
              </a:spcBef>
              <a:spcAft>
                <a:spcPts val="0"/>
              </a:spcAft>
              <a:buSzPts val="1400"/>
              <a:buNone/>
            </a:pPr>
            <a:r>
              <a:t>UIFR: TEACH 3 · TEACH 4.</a:t>
            </a:r>
          </a:p>
        </p:txBody>
      </p:sp>
      <p:sp>
        <p:nvSpPr>
          <p:cNvPr id="856" name="Google Shape;856;p49: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2" name="Shape 872"/>
        <p:cNvGrpSpPr/>
        <p:nvPr/>
      </p:nvGrpSpPr>
      <p:grpSpPr>
        <a:xfrm>
          <a:off x="0" y="0"/>
          <a:ext cx="0" cy="0"/>
          <a:chOff x="0" y="0"/>
          <a:chExt cx="0" cy="0"/>
        </a:xfrm>
      </p:grpSpPr>
      <p:sp>
        <p:nvSpPr>
          <p:cNvPr id="873" name="Google Shape;873;p51: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6.8, slide 27 | REVEAL</a:t>
            </a:r>
          </a:p>
          <a:p xmlns:a="http://schemas.openxmlformats.org/drawingml/2006/main">
            <a:pPr>
              <a:buNone/>
            </a:pPr>
            <a:r>
              <a:rPr lang="en-US" sz="1100"/>
              <a:t>Focus on the existing task: Let’s use the Distributive Property to rewrite the expression. Can the expression be further simplified?</a:t>
            </a:r>
          </a:p>
          <a:p xmlns:a="http://schemas.openxmlformats.org/drawingml/2006/main">
            <a:pPr>
              <a:buNone/>
            </a:pPr>
            <a:r>
              <a:rPr lang="en-US" sz="1100"/>
              <a:t>LAUNCH (T2/3/5): If an existing answer cover is present, gather an attempt before revealing. If the explanation is already visible, ask students to reconstruct and justify it. Compare reasoning and explain a revision; preserve the reveal sequence.</a:t>
            </a:r>
          </a:p>
          <a:p xmlns:a="http://schemas.openxmlformats.org/drawingml/2006/main">
            <a:pPr>
              <a:buNone/>
            </a:pPr>
            <a:r>
              <a:rPr lang="en-US" sz="1100"/>
              <a:t>LOOK FOR (T4): Where this task addresses it, students can rewrite using valid properties. Ask which feature of their work supports the claim.</a:t>
            </a:r>
          </a:p>
          <a:p xmlns:a="http://schemas.openxmlformats.org/drawingml/2006/main">
            <a:pPr>
              <a:buNone/>
            </a:pPr>
            <a:r>
              <a:rPr lang="en-US" sz="1100"/>
              <a:t>RESPOND: If this task shows the lesson misconception—applying commutative reasoning to subtraction or division—mark what changed in the original expression: order, grouping, or an identity element.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Do not click yet: collect 2–3 student answers with reasons first.</a:t>
            </a:r>
          </a:p>
          <a:p>
            <a:pPr indent="0" lvl="0" marL="0" rtl="0" algn="l">
              <a:lnSpc>
                <a:spcPct val="100000"/>
              </a:lnSpc>
              <a:spcBef>
                <a:spcPts val="0"/>
              </a:spcBef>
              <a:spcAft>
                <a:spcPts val="0"/>
              </a:spcAft>
              <a:buSzPts val="1400"/>
              <a:buNone/>
            </a:pPr>
            <a:r>
              <a:t>Then click to remove the cover and have students compare their thinking to the reveal — “Is this what we said? Where is it different?”</a:t>
            </a:r>
          </a:p>
          <a:p>
            <a:pPr indent="0" lvl="0" marL="0" rtl="0" algn="l">
              <a:lnSpc>
                <a:spcPct val="100000"/>
              </a:lnSpc>
              <a:spcBef>
                <a:spcPts val="0"/>
              </a:spcBef>
              <a:spcAft>
                <a:spcPts val="0"/>
              </a:spcAft>
              <a:buSzPts val="1400"/>
              <a:buNone/>
            </a:pPr>
            <a:r>
              <a:t>Behind the cover: yes; We can combine the like terms.</a:t>
            </a:r>
          </a:p>
          <a:p>
            <a:pPr indent="0" lvl="0" marL="0" rtl="0" algn="l">
              <a:lnSpc>
                <a:spcPct val="100000"/>
              </a:lnSpc>
              <a:spcBef>
                <a:spcPts val="0"/>
              </a:spcBef>
              <a:spcAft>
                <a:spcPts val="0"/>
              </a:spcAft>
              <a:buSzPts val="1400"/>
              <a:buNone/>
            </a:pPr>
            <a:r>
              <a:t>UIFR: TEACH 3 · TEACH 4.</a:t>
            </a:r>
          </a:p>
        </p:txBody>
      </p:sp>
      <p:sp>
        <p:nvSpPr>
          <p:cNvPr id="874" name="Google Shape;874;p51: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9" name="Shape 889"/>
        <p:cNvGrpSpPr/>
        <p:nvPr/>
      </p:nvGrpSpPr>
      <p:grpSpPr>
        <a:xfrm>
          <a:off x="0" y="0"/>
          <a:ext cx="0" cy="0"/>
          <a:chOff x="0" y="0"/>
          <a:chExt cx="0" cy="0"/>
        </a:xfrm>
      </p:grpSpPr>
      <p:sp>
        <p:nvSpPr>
          <p:cNvPr id="890" name="Google Shape;890;p53: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6.8, slide 28 | TASK</a:t>
            </a:r>
          </a:p>
          <a:p xmlns:a="http://schemas.openxmlformats.org/drawingml/2006/main">
            <a:pPr>
              <a:buNone/>
            </a:pPr>
            <a:r>
              <a:rPr lang="en-US" sz="1100"/>
              <a:t>Focus on the existing task: Think About It: How can you check that all the expressions are equivalent?</a:t>
            </a:r>
          </a:p>
          <a:p xmlns:a="http://schemas.openxmlformats.org/drawingml/2006/main">
            <a:pPr>
              <a:buNone/>
            </a:pPr>
            <a:r>
              <a:rPr lang="en-US" sz="1100"/>
              <a:t>LAUNCH (T2/3/5): Use the displayed question. Give private thinking time; then A explains while B asks for evidence. Switch roles. Each student records their own reasoning.</a:t>
            </a:r>
          </a:p>
          <a:p xmlns:a="http://schemas.openxmlformats.org/drawingml/2006/main">
            <a:pPr>
              <a:buNone/>
            </a:pPr>
            <a:r>
              <a:rPr lang="en-US" sz="1100"/>
              <a:t>LOOK FOR (T4): Where this task addresses it, students can rewrite using valid properties. Ask which feature of their work supports the claim.</a:t>
            </a:r>
          </a:p>
          <a:p xmlns:a="http://schemas.openxmlformats.org/drawingml/2006/main">
            <a:pPr>
              <a:buNone/>
            </a:pPr>
            <a:r>
              <a:rPr lang="en-US" sz="1100"/>
              <a:t>RESPOND: If this task shows the lesson misconception—applying commutative reasoning to subtraction or division—mark what changed in the original expression: order, grouping, or an identity element.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Ask the question, then hold the silence — students think or jot before anyone answers.</a:t>
            </a:r>
          </a:p>
          <a:p>
            <a:pPr indent="0" lvl="0" marL="0" rtl="0" algn="l">
              <a:lnSpc>
                <a:spcPct val="100000"/>
              </a:lnSpc>
              <a:spcBef>
                <a:spcPts val="0"/>
              </a:spcBef>
              <a:spcAft>
                <a:spcPts val="0"/>
              </a:spcAft>
              <a:buSzPts val="1400"/>
              <a:buNone/>
            </a:pPr>
            <a:r>
              <a:t>Take two or three responses and press with “Why?” or “How do you know?” before moving on.</a:t>
            </a:r>
          </a:p>
          <a:p>
            <a:pPr indent="0" lvl="0" marL="0" rtl="0" algn="l">
              <a:lnSpc>
                <a:spcPct val="100000"/>
              </a:lnSpc>
              <a:spcBef>
                <a:spcPts val="0"/>
              </a:spcBef>
              <a:spcAft>
                <a:spcPts val="0"/>
              </a:spcAft>
              <a:buSzPts val="1400"/>
              <a:buNone/>
            </a:pPr>
            <a:r>
              <a:t>UIFR: TEACH 3.</a:t>
            </a:r>
          </a:p>
        </p:txBody>
      </p:sp>
      <p:sp>
        <p:nvSpPr>
          <p:cNvPr id="891" name="Google Shape;891;p53: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8" name="Shape 908"/>
        <p:cNvGrpSpPr/>
        <p:nvPr/>
      </p:nvGrpSpPr>
      <p:grpSpPr>
        <a:xfrm>
          <a:off x="0" y="0"/>
          <a:ext cx="0" cy="0"/>
          <a:chOff x="0" y="0"/>
          <a:chExt cx="0" cy="0"/>
        </a:xfrm>
      </p:grpSpPr>
      <p:sp>
        <p:nvSpPr>
          <p:cNvPr id="909" name="Google Shape;909;p55: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6.8, slide 29 | TASK</a:t>
            </a:r>
          </a:p>
          <a:p xmlns:a="http://schemas.openxmlformats.org/drawingml/2006/main">
            <a:pPr>
              <a:buNone/>
            </a:pPr>
            <a:r>
              <a:rPr lang="en-US" sz="1100"/>
              <a:t>Focus on the existing task: How many equivalent expressions can you generate for the expression shown?</a:t>
            </a:r>
          </a:p>
          <a:p xmlns:a="http://schemas.openxmlformats.org/drawingml/2006/main">
            <a:pPr>
              <a:buNone/>
            </a:pPr>
            <a:r>
              <a:rPr lang="en-US" sz="1100"/>
              <a:t>LAUNCH (T2/3/5): Use the displayed question. Give private thinking time; then A explains while B asks for evidence. Switch roles. Each student records their own reasoning.</a:t>
            </a:r>
          </a:p>
          <a:p xmlns:a="http://schemas.openxmlformats.org/drawingml/2006/main">
            <a:pPr>
              <a:buNone/>
            </a:pPr>
            <a:r>
              <a:rPr lang="en-US" sz="1100"/>
              <a:t>LOOK FOR (T4): Where this task addresses it, students can rewrite using valid properties. Ask which feature of their work supports the claim.</a:t>
            </a:r>
          </a:p>
          <a:p xmlns:a="http://schemas.openxmlformats.org/drawingml/2006/main">
            <a:pPr>
              <a:buNone/>
            </a:pPr>
            <a:r>
              <a:rPr lang="en-US" sz="1100"/>
              <a:t>RESPOND: If this task shows the lesson misconception—applying commutative reasoning to subtraction or division—mark what changed in the original expression: order, grouping, or an identity element.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Model briefly, then hand the thinking back: ask “Why does this step work?” before showing the next one.</a:t>
            </a:r>
          </a:p>
          <a:p>
            <a:pPr indent="0" lvl="0" marL="0" rtl="0" algn="l">
              <a:lnSpc>
                <a:spcPct val="100000"/>
              </a:lnSpc>
              <a:spcBef>
                <a:spcPts val="0"/>
              </a:spcBef>
              <a:spcAft>
                <a:spcPts val="0"/>
              </a:spcAft>
              <a:buSzPts val="1400"/>
              <a:buNone/>
            </a:pPr>
            <a:r>
              <a:t>Quick check before moving on — thumbs or whiteboards from everyone, not volunteers.</a:t>
            </a:r>
          </a:p>
          <a:p>
            <a:pPr indent="0" lvl="0" marL="0" rtl="0" algn="l">
              <a:lnSpc>
                <a:spcPct val="100000"/>
              </a:lnSpc>
              <a:spcBef>
                <a:spcPts val="0"/>
              </a:spcBef>
              <a:spcAft>
                <a:spcPts val="0"/>
              </a:spcAft>
              <a:buSzPts val="1400"/>
              <a:buNone/>
            </a:pPr>
            <a:r>
              <a:t>UIFR: TEACH 2 · TEACH 3 · TEACH 4.</a:t>
            </a:r>
          </a:p>
        </p:txBody>
      </p:sp>
      <p:sp>
        <p:nvSpPr>
          <p:cNvPr id="910" name="Google Shape;910;p55: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0" name="Shape 920"/>
        <p:cNvGrpSpPr/>
        <p:nvPr/>
      </p:nvGrpSpPr>
      <p:grpSpPr>
        <a:xfrm>
          <a:off x="0" y="0"/>
          <a:ext cx="0" cy="0"/>
          <a:chOff x="0" y="0"/>
          <a:chExt cx="0" cy="0"/>
        </a:xfrm>
      </p:grpSpPr>
      <p:sp>
        <p:nvSpPr>
          <p:cNvPr id="921" name="Google Shape;921;p56: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6.8, slide 30 | PRACTICE</a:t>
            </a:r>
          </a:p>
          <a:p xmlns:a="http://schemas.openxmlformats.org/drawingml/2006/main">
            <a:pPr>
              <a:buNone/>
            </a:pPr>
            <a:r>
              <a:rPr lang="en-US" sz="1100"/>
              <a:t>Focus on the existing task: Let’s Explore More How does finding the greatest common factor help to generate an equivalent expression?</a:t>
            </a:r>
          </a:p>
          <a:p xmlns:a="http://schemas.openxmlformats.org/drawingml/2006/main">
            <a:pPr>
              <a:buNone/>
            </a:pPr>
            <a:r>
              <a:rPr lang="en-US" sz="1100"/>
              <a:t>LAUNCH (T2/3/5): Use the displayed question. Give private thinking time; then A explains while B asks for evidence. Switch roles. Each student records their own reasoning.</a:t>
            </a:r>
          </a:p>
          <a:p xmlns:a="http://schemas.openxmlformats.org/drawingml/2006/main">
            <a:pPr>
              <a:buNone/>
            </a:pPr>
            <a:r>
              <a:rPr lang="en-US" sz="1100"/>
              <a:t>LOOK FOR (T4): Where this task addresses it, students can explain the property at each step. Ask which feature of their work supports the claim.</a:t>
            </a:r>
          </a:p>
          <a:p xmlns:a="http://schemas.openxmlformats.org/drawingml/2006/main">
            <a:pPr>
              <a:buNone/>
            </a:pPr>
            <a:r>
              <a:rPr lang="en-US" sz="1100"/>
              <a:t>RESPOND: If this task shows the lesson misconception—applying commutative reasoning to subtraction or division—mark what changed in the original expression: order, grouping, or an identity element.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Extension for partners or table groups — students choose their approach and use the workspace to show thinking.</a:t>
            </a:r>
          </a:p>
          <a:p>
            <a:pPr indent="0" lvl="0" marL="0" rtl="0" algn="l">
              <a:lnSpc>
                <a:spcPct val="100000"/>
              </a:lnSpc>
              <a:spcBef>
                <a:spcPts val="0"/>
              </a:spcBef>
              <a:spcAft>
                <a:spcPts val="0"/>
              </a:spcAft>
              <a:buSzPts val="1400"/>
              <a:buNone/>
            </a:pPr>
            <a:r>
              <a:t>Push with “Convince me,” and have two groups with different approaches share.</a:t>
            </a:r>
          </a:p>
          <a:p>
            <a:pPr indent="0" lvl="0" marL="0" rtl="0" algn="l">
              <a:lnSpc>
                <a:spcPct val="100000"/>
              </a:lnSpc>
              <a:spcBef>
                <a:spcPts val="0"/>
              </a:spcBef>
              <a:spcAft>
                <a:spcPts val="0"/>
              </a:spcAft>
              <a:buSzPts val="1400"/>
              <a:buNone/>
            </a:pPr>
            <a:r>
              <a:t>This is where students stretch past the worked example.</a:t>
            </a:r>
          </a:p>
          <a:p>
            <a:pPr indent="0" lvl="0" marL="0" rtl="0" algn="l">
              <a:lnSpc>
                <a:spcPct val="100000"/>
              </a:lnSpc>
              <a:spcBef>
                <a:spcPts val="0"/>
              </a:spcBef>
              <a:spcAft>
                <a:spcPts val="0"/>
              </a:spcAft>
              <a:buSzPts val="1400"/>
              <a:buNone/>
            </a:pPr>
            <a:r>
              <a:t>UIFR: TEACH 2 · TEACH 5.</a:t>
            </a:r>
          </a:p>
        </p:txBody>
      </p:sp>
      <p:sp>
        <p:nvSpPr>
          <p:cNvPr id="922" name="Google Shape;922;p56: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6" name="Shape 926"/>
        <p:cNvGrpSpPr/>
        <p:nvPr/>
      </p:nvGrpSpPr>
      <p:grpSpPr>
        <a:xfrm>
          <a:off x="0" y="0"/>
          <a:ext cx="0" cy="0"/>
          <a:chOff x="0" y="0"/>
          <a:chExt cx="0" cy="0"/>
        </a:xfrm>
      </p:grpSpPr>
      <p:sp>
        <p:nvSpPr>
          <p:cNvPr id="927" name="Google Shape;927;p57: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6.8, slide 34 | SUMMARIZE</a:t>
            </a:r>
          </a:p>
          <a:p xmlns:a="http://schemas.openxmlformats.org/drawingml/2006/main">
            <a:pPr>
              <a:buNone/>
            </a:pPr>
            <a:r>
              <a:rPr lang="en-US" sz="1100"/>
              <a:t>Focus on the existing task: Summarize: Generate Equivalent Expressions SUMMARIZE · SAY IT IN YOUR OWN WORDS</a:t>
            </a:r>
          </a:p>
          <a:p xmlns:a="http://schemas.openxmlformats.org/drawingml/2006/main">
            <a:pPr>
              <a:buNone/>
            </a:pPr>
            <a:r>
              <a:rPr lang="en-US" sz="1100"/>
              <a:t>CONNECT (T1/4): Ask students to restate the displayed goal or key idea and connect it to earlier work. Relevant lesson evidence: rewrite using valid properties; preserve value; explain the property at each step. Use only the criterion that matches the current session.</a:t>
            </a:r>
          </a:p>
          <a:p xmlns:a="http://schemas.openxmlformats.org/drawingml/2006/main">
            <a:pPr>
              <a:buNone/>
            </a:pPr>
            <a:r>
              <a:rPr lang="en-US" sz="1100"/>
              <a:t>SHOW PROGRESS: Students point to their own existing work, explain what improved after feedback, and name a next step. Pair confidence ratings with actual evidence.</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
            </a:r>
            <a:endParaRPr/>
          </a:p>
          <a:p>
            <a:r>
              <a:rPr lang="en-US"/>
              <a:t>Routine: SUMMARIZE  ·  SAY IT IN YOUR OWN WORDS</a:t>
            </a:r>
          </a:p>
        </p:txBody>
      </p:sp>
      <p:sp>
        <p:nvSpPr>
          <p:cNvPr id="928" name="Google Shape;928;p57: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3" name="Shape 933"/>
        <p:cNvGrpSpPr/>
        <p:nvPr/>
      </p:nvGrpSpPr>
      <p:grpSpPr>
        <a:xfrm>
          <a:off x="0" y="0"/>
          <a:ext cx="0" cy="0"/>
          <a:chOff x="0" y="0"/>
          <a:chExt cx="0" cy="0"/>
        </a:xfrm>
      </p:grpSpPr>
      <p:sp>
        <p:nvSpPr>
          <p:cNvPr id="934" name="Google Shape;934;p58: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6.8, slide 35 | APPLY</a:t>
            </a:r>
          </a:p>
          <a:p xmlns:a="http://schemas.openxmlformats.org/drawingml/2006/main">
            <a:pPr>
              <a:buNone/>
            </a:pPr>
            <a:r>
              <a:rPr lang="en-US" sz="1100"/>
              <a:t>Focus on the existing task: Which combination of comic books would you recommend Diamond buy?</a:t>
            </a:r>
          </a:p>
          <a:p xmlns:a="http://schemas.openxmlformats.org/drawingml/2006/main">
            <a:pPr>
              <a:buNone/>
            </a:pPr>
            <a:r>
              <a:rPr lang="en-US" sz="1100"/>
              <a:t>LAUNCH (T2/3/5): Use the exact application task independently first. Ask students to justify their choice of method. Collect evidence before a partner discussion or correction.</a:t>
            </a:r>
          </a:p>
          <a:p xmlns:a="http://schemas.openxmlformats.org/drawingml/2006/main">
            <a:pPr>
              <a:buNone/>
            </a:pPr>
            <a:r>
              <a:rPr lang="en-US" sz="1100"/>
              <a:t>LOOK FOR (T4): Where this task addresses it, students can explain the property at each step. Ask which feature of their work supports the claim.</a:t>
            </a:r>
          </a:p>
          <a:p xmlns:a="http://schemas.openxmlformats.org/drawingml/2006/main">
            <a:pPr>
              <a:buNone/>
            </a:pPr>
            <a:r>
              <a:rPr lang="en-US" sz="1100"/>
              <a:t>RESPOND: If this task shows the lesson misconception—applying commutative reasoning to subtraction or division—mark what changed in the original expression: order, grouping, or an identity element.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
            </a:r>
            <a:endParaRPr/>
          </a:p>
          <a:p>
            <a:r>
              <a:rPr lang="en-US"/>
              <a:t>Routine: APPLY  ·  PLAN IT • SOLVE IT • PROVE IT</a:t>
            </a:r>
          </a:p>
          <a:p>
            <a:pPr>
              <a:buNone/>
            </a:pPr>
            <a:r>
              <a:rPr lang="en-US" sz="1100"/>
              <a:t/>
            </a:r>
          </a:p>
          <a:p>
            <a:pPr>
              <a:buNone/>
            </a:pPr>
            <a:r>
              <a:rPr lang="en-US" sz="1100"/>
              <a:t>UIFR FULL | Lesson-specific facilitation</a:t>
            </a:r>
          </a:p>
          <a:p>
            <a:pPr>
              <a:buNone/>
            </a:pPr>
            <a:r>
              <a:rPr lang="en-US" sz="1100"/>
              <a:t>TEACH 4 | Independent evidence and revision (UIFR PDF p. 11).</a:t>
            </a:r>
          </a:p>
          <a:p>
            <a:pPr>
              <a:buNone/>
            </a:pPr>
            <a:r>
              <a:rPr lang="en-US" sz="1100"/>
              <a:t>Use the existing application/exit problem as the independent check. If this is a learning-target slide, have students point to and explain their work on the preceding task. Separate initial independent evidence from the revision after feedback.</a:t>
            </a:r>
          </a:p>
          <a:p>
            <a:pPr>
              <a:buNone/>
            </a:pPr>
            <a:r>
              <a:rPr lang="en-US" sz="1100"/>
              <a:t>Check the relevant criteria: rewrite using valid properties; preserve value; explain the property at each step. Respond with one specific next step tied to the work. Students revise and annotate what changed, then identify a criterion they can now demonstrate and one they still need to practice.</a:t>
            </a:r>
          </a:p>
        </p:txBody>
      </p:sp>
      <p:sp>
        <p:nvSpPr>
          <p:cNvPr id="935" name="Google Shape;935;p58: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1" name="Shape 941"/>
        <p:cNvGrpSpPr/>
        <p:nvPr/>
      </p:nvGrpSpPr>
      <p:grpSpPr>
        <a:xfrm>
          <a:off x="0" y="0"/>
          <a:ext cx="0" cy="0"/>
          <a:chOff x="0" y="0"/>
          <a:chExt cx="0" cy="0"/>
        </a:xfrm>
      </p:grpSpPr>
      <p:sp>
        <p:nvSpPr>
          <p:cNvPr id="942" name="Google Shape;942;p59: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6.8, slide 36 | REFLECTION</a:t>
            </a:r>
          </a:p>
          <a:p xmlns:a="http://schemas.openxmlformats.org/drawingml/2006/main">
            <a:pPr>
              <a:buNone/>
            </a:pPr>
            <a:r>
              <a:rPr lang="en-US" sz="1100"/>
              <a:t>Focus on the existing task: I can use repeated reasoning and the properties of operations to generate equivalent expressions. Learning Targets</a:t>
            </a:r>
          </a:p>
          <a:p xmlns:a="http://schemas.openxmlformats.org/drawingml/2006/main">
            <a:pPr>
              <a:buNone/>
            </a:pPr>
            <a:r>
              <a:rPr lang="en-US" sz="1100"/>
              <a:t>CONNECT (T1/4): Ask students to restate the displayed goal or key idea and connect it to earlier work. Relevant lesson evidence: rewrite using valid properties; preserve value; explain the property at each step. Use only the criterion that matches the current session.</a:t>
            </a:r>
          </a:p>
          <a:p xmlns:a="http://schemas.openxmlformats.org/drawingml/2006/main">
            <a:pPr>
              <a:buNone/>
            </a:pPr>
            <a:r>
              <a:rPr lang="en-US" sz="1100"/>
              <a:t>SHOW PROGRESS: Students point to their own existing work, explain what improved after feedback, and name a next step. Pair confidence ratings with actual evidence.</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Read each target; students self-rate with fist-to-five or thumbs.</a:t>
            </a:r>
          </a:p>
          <a:p>
            <a:pPr indent="0" lvl="0" marL="0" rtl="0" algn="l">
              <a:lnSpc>
                <a:spcPct val="100000"/>
              </a:lnSpc>
              <a:spcBef>
                <a:spcPts val="0"/>
              </a:spcBef>
              <a:spcAft>
                <a:spcPts val="0"/>
              </a:spcAft>
              <a:buSzPts val="1400"/>
              <a:buNone/>
            </a:pPr>
            <a:r>
              <a:t>Tie back to the goal from the start of class: did we get there?</a:t>
            </a:r>
          </a:p>
          <a:p>
            <a:pPr indent="0" lvl="0" marL="0" rtl="0" algn="l">
              <a:lnSpc>
                <a:spcPct val="100000"/>
              </a:lnSpc>
              <a:spcBef>
                <a:spcPts val="0"/>
              </a:spcBef>
              <a:spcAft>
                <a:spcPts val="0"/>
              </a:spcAft>
              <a:buSzPts val="1400"/>
              <a:buNone/>
            </a:pPr>
            <a:r>
              <a:t>Note any target that rates low — revisit it tomorrow.</a:t>
            </a:r>
          </a:p>
          <a:p>
            <a:pPr indent="0" lvl="0" marL="0" rtl="0" algn="l">
              <a:lnSpc>
                <a:spcPct val="100000"/>
              </a:lnSpc>
              <a:spcBef>
                <a:spcPts val="0"/>
              </a:spcBef>
              <a:spcAft>
                <a:spcPts val="0"/>
              </a:spcAft>
              <a:buSzPts val="1400"/>
              <a:buNone/>
            </a:pPr>
            <a:r>
              <a:t>UIFR: TEACH 1 · TEACH 4.</a:t>
            </a:r>
          </a:p>
        </p:txBody>
      </p:sp>
      <p:sp>
        <p:nvSpPr>
          <p:cNvPr id="943" name="Google Shape;943;p59: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txBox="1"/>
          <p:nvPr>
            <p:ph idx="1" type="body"/>
          </p:nvPr>
        </p:nvSpPr>
        <p:spPr>
          <a:xfrm>
            <a:off x="701040" y="4444862"/>
            <a:ext cx="5608320" cy="3636705"/>
          </a:xfrm>
          <a:prstGeom prst="rect">
            <a:avLst/>
          </a:prstGeom>
          <a:noFill/>
          <a:ln>
            <a:noFill/>
          </a:ln>
        </p:spPr>
        <p:txBody>
          <a:bodyPr anchor="t" wrap="square">
            <a:noAutofit/>
          </a:bodyPr>
          <a:lstStyle/>
          <a:p xmlns:a="http://schemas.openxmlformats.org/drawingml/2006/main">
            <a:pPr>
              <a:buNone/>
            </a:pPr>
            <a:r>
              <a:rPr lang="en-US" sz="1100"/>
              <a:t>TEACH IN PRACTICE | Embedded facilitation | Lesson 6.8, slide 22 | WARMUP</a:t>
            </a:r>
          </a:p>
          <a:p xmlns:a="http://schemas.openxmlformats.org/drawingml/2006/main">
            <a:pPr>
              <a:buNone/>
            </a:pPr>
            <a:r>
              <a:rPr lang="en-US" sz="1100"/>
              <a:t>Focus on the existing task: Warm-Up Session 2 Warm-Up Check what you remember from Session 1 1 Which property states a(b + c) = ab + ac?</a:t>
            </a:r>
          </a:p>
          <a:p xmlns:a="http://schemas.openxmlformats.org/drawingml/2006/main">
            <a:pPr>
              <a:buNone/>
            </a:pPr>
            <a:r>
              <a:rPr lang="en-US" sz="1100"/>
              <a:t>GATHER EVIDENCE (T4/6): Keep the original items. Students try independently, mark an uncertain item, and explain one method before checking. Use the existing key when present.</a:t>
            </a:r>
          </a:p>
          <a:p xmlns:a="http://schemas.openxmlformats.org/drawingml/2006/main">
            <a:pPr>
              <a:buNone/>
            </a:pPr>
            <a:r>
              <a:rPr lang="en-US" sz="1100"/>
              <a:t>RESPOND: Distinguish a calculation slip from a reasoning gap. Give one next step on the same item; have students revise in a second color. Use the responses to choose flexible support for today’s lesson.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r>
              <a:t>Warm-up routine: students start silently on entry; keep it to about 4 minutes.</a:t>
            </a:r>
          </a:p>
          <a:p>
            <a:r>
              <a:t>Circulate and note who is stuck — use what you see to choose who you check on first today.</a:t>
            </a:r>
          </a:p>
          <a:p>
            <a:r>
              <a:t>Go over answers quickly; ask one student to explain a step, not just say the answer.</a:t>
            </a:r>
          </a:p>
          <a:p>
            <a:r>
              <a:t>UIFR: TEACH 4 · TEACH 6.</a:t>
            </a:r>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txBox="1"/>
          <p:nvPr>
            <p:ph idx="1" type="body"/>
          </p:nvPr>
        </p:nvSpPr>
        <p:spPr>
          <a:xfrm>
            <a:off x="701040" y="4444862"/>
            <a:ext cx="5608320" cy="3636705"/>
          </a:xfrm>
          <a:prstGeom prst="rect">
            <a:avLst/>
          </a:prstGeom>
          <a:noFill/>
          <a:ln>
            <a:noFill/>
          </a:ln>
        </p:spPr>
        <p:txBody>
          <a:bodyPr anchor="t" wrap="square">
            <a:noAutofit/>
          </a:bodyPr>
          <a:lstStyle/>
          <a:p xmlns:a="http://schemas.openxmlformats.org/drawingml/2006/main">
            <a:pPr>
              <a:buNone/>
            </a:pPr>
            <a:r>
              <a:rPr lang="en-US" sz="1100"/>
              <a:t>TEACH IN PRACTICE | Embedded facilitation | Lesson 6.8, slide 23 | NOTES</a:t>
            </a:r>
          </a:p>
          <a:p xmlns:a="http://schemas.openxmlformats.org/drawingml/2006/main">
            <a:pPr>
              <a:buNone/>
            </a:pPr>
            <a:r>
              <a:rPr lang="en-US" sz="1100"/>
              <a:t>Focus on the existing task: Review Notes — Session 2 Session 2: Review Notes Copy into…</a:t>
            </a:r>
          </a:p>
          <a:p xmlns:a="http://schemas.openxmlformats.org/drawingml/2006/main">
            <a:pPr>
              <a:buNone/>
            </a:pPr>
            <a:r>
              <a:rPr lang="en-US" sz="1100"/>
              <a:t>ROUTINE (T1/2/4): Read or copy the original notes, cover one line, and explain it using the displayed example. Reopen and correct. Copying alone is not evidence of understanding.</a:t>
            </a:r>
          </a:p>
          <a:p xmlns:a="http://schemas.openxmlformats.org/drawingml/2006/main">
            <a:pPr>
              <a:buNone/>
            </a:pPr>
            <a:r>
              <a:rPr lang="en-US" sz="1100"/>
              <a:t>LOOK FOR: A link between a symbol, quantity or feature and the explanation. If missing, point back to that feature and have the student try again; fade the prompt once they can explain.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r>
              <a:t>Copy routine: read one line at a time; students copy, then explain that line to a partner.</a:t>
            </a:r>
          </a:p>
          <a:p>
            <a:r>
              <a:t>Keep it brisk — the understanding work happens in the examples, not the copying.</a:t>
            </a:r>
          </a:p>
          <a:p>
            <a:r>
              <a:t>UIFR: TEACH 1 · TEACH 6.</a:t>
            </a:r>
          </a:p>
        </p:txBody>
      </p:sp>
    </p:spTree>
  </p:cSld>
  <p:clrMapOvr>
    <a:masterClrMapping/>
  </p:clrMapOvr>
</p:notes>
</file>

<file path=ppt/notesSlides/notesSlide62.xml><?xml version="1.0" encoding="utf-8"?>
<p:notes xmlns:p="http://schemas.openxmlformats.org/presentationml/2006/main" xmlns:a="http://schemas.openxmlformats.org/drawingml/2006/main">
  <p:cSld>
    <p:spTree>
      <p:nvGrpSpPr>
        <p:cNvPr id="1" name=""/>
        <p:cNvGrpSpPr/>
        <p:nvPr/>
      </p:nvGrpSpPr>
      <p:grpSpPr/>
      <p:sp>
        <p:nvSpPr>
          <p:cNvPr id="2" name="Notes Text"/>
          <p:cNvSpPr txBox="1"/>
          <p:nvPr>
            <p:ph type="body" idx="1"/>
          </p:nvPr>
        </p:nvSpPr>
        <p:spPr/>
        <p:txBody>
          <a:bodyPr/>
          <a:lstStyle/>
          <a:p xmlns:a="http://schemas.openxmlformats.org/drawingml/2006/main">
            <a:pPr>
              <a:buNone/>
            </a:pPr>
            <a:r>
              <a:rPr lang="en-US" sz="1100"/>
              <a:t>TEACH IN PRACTICE | Embedded facilitation | Lesson 6.8, slide 37 | CURIOUS</a:t>
            </a:r>
          </a:p>
          <a:p xmlns:a="http://schemas.openxmlformats.org/drawingml/2006/main">
            <a:pPr>
              <a:buNone/>
            </a:pPr>
            <a:r>
              <a:rPr lang="en-US" sz="1100"/>
              <a:t>Focus on the existing task: Be Curious What questions are you asking to help you understand someone else’s ideas about math?</a:t>
            </a:r>
          </a:p>
          <a:p xmlns:a="http://schemas.openxmlformats.org/drawingml/2006/main">
            <a:pPr>
              <a:buNone/>
            </a:pPr>
            <a:r>
              <a:rPr lang="en-US" sz="1100"/>
              <a:t>LAUNCH (T2/3/5): Allow quiet observation first. Separate a notice from an inference, invite students’ own questions, and follow the existing launch before teaching a procedure.</a:t>
            </a:r>
          </a:p>
          <a:p xmlns:a="http://schemas.openxmlformats.org/drawingml/2006/main">
            <a:pPr>
              <a:buNone/>
            </a:pPr>
            <a:r>
              <a:rPr lang="en-US" sz="1100"/>
              <a:t>LOOK FOR (T4): Where this task addresses it, students can rewrite using valid properties. Ask which feature of their work supports the claim.</a:t>
            </a:r>
          </a:p>
          <a:p xmlns:a="http://schemas.openxmlformats.org/drawingml/2006/main">
            <a:pPr>
              <a:buNone/>
            </a:pPr>
            <a:r>
              <a:rPr lang="en-US" sz="1100"/>
              <a:t>RESPOND: If this task shows the lesson misconception—applying commutative reasoning to subtraction or division—mark what changed in the original expression: order, grouping, or an identity element.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
            <a:pPr>
              <a:buNone/>
            </a:pPr>
            <a:r>
              <a:rPr lang="en-US" sz="1100"/>
              <a:t/>
            </a:r>
          </a:p>
          <a:p>
            <a:pPr>
              <a:buNone/>
            </a:pPr>
            <a:r>
              <a:rPr lang="en-US" sz="1100"/>
              <a:t>UIFR FULL | Lesson-specific facilitation</a:t>
            </a:r>
          </a:p>
          <a:p>
            <a:pPr>
              <a:buNone/>
            </a:pPr>
            <a:r>
              <a:rPr lang="en-US" sz="1100"/>
              <a:t>REFLECT &amp; ADJUST 1-2 | After the lesson (UIFR PDF pp. 15-16).</a:t>
            </a:r>
          </a:p>
          <a:p>
            <a:pPr>
              <a:buNone/>
            </a:pPr>
            <a:r>
              <a:rPr lang="en-US" sz="1100"/>
              <a:t>Sort the existing work by demonstrated reasoning, partial understanding, and the specific misconception: applying commutative reasoning to subtraction or division. Compare the initial response with the revision. Record which teaching move plausibly helped, which did not, and whose participation or access needs a different approach; do not record sensitive student details in this shared deck.</a:t>
            </a:r>
          </a:p>
          <a:p>
            <a:pPr>
              <a:buNone/>
            </a:pPr>
            <a:r>
              <a:rPr lang="en-US" sz="1100"/>
              <a:t>Plan the next lesson from that evidence: if the misconception persists, mark what changed in the original expression: order, grouping, or an identity element using the current example before returning to the next grade-level task; if understanding is secure, use an existing extension or ask for a general explanation. Check the targeted idea again at the next warm-up.</a:t>
            </a:r>
          </a:p>
          <a:p>
            <a:pPr>
              <a:buNone/>
            </a:pPr>
            <a:r>
              <a:rPr lang="en-US" sz="1100"/>
              <a:t>Ask students what supported their thinking and what would help next time. Identify one change to try and one successful practice to retain. Seek colleague feedback on anonymized work when useful; these prompts support reflection and do not establish an evaluation rating. Source: Baltimore City Public Schools, Updated Instructional Framework Rubric, June 2020 (UIFR_Full.pdf).</a:t>
            </a:r>
          </a:p>
        </p:txBody>
      </p:sp>
    </p:spTree>
  </p:cSld>
  <p:clrMapOvr>
    <a:masterClrMapping/>
  </p:clrMapOvr>
</p:notes>
</file>

<file path=ppt/notesSlides/notesSlide63.xml><?xml version="1.0" encoding="utf-8"?>
<p:notes xmlns:p="http://schemas.openxmlformats.org/presentationml/2006/main" xmlns:a="http://schemas.openxmlformats.org/drawingml/2006/main">
  <p:cSld>
    <p:spTree>
      <p:nvGrpSpPr>
        <p:cNvPr id="1" name=""/>
        <p:cNvGrpSpPr/>
        <p:nvPr/>
      </p:nvGrpSpPr>
      <p:grpSpPr/>
      <p:sp>
        <p:nvSpPr>
          <p:cNvPr id="2" name="Notes Text"/>
          <p:cNvSpPr txBox="1"/>
          <p:nvPr>
            <p:ph type="body" idx="1"/>
          </p:nvPr>
        </p:nvSpPr>
        <p:spPr/>
        <p:txBody>
          <a:bodyPr/>
          <a:lstStyle/>
          <a:p xmlns:a="http://schemas.openxmlformats.org/drawingml/2006/main">
            <a:pPr>
              <a:buNone/>
            </a:pPr>
            <a:r>
              <a:rPr lang="en-US" sz="1100"/>
              <a:t>TEACH IN PRACTICE | Embedded facilitation | Lesson 6.8, slide 7 | PRIOR_INSERT</a:t>
            </a:r>
          </a:p>
          <a:p xmlns:a="http://schemas.openxmlformats.org/drawingml/2006/main">
            <a:pPr>
              <a:buNone/>
            </a:pPr>
            <a:r>
              <a:rPr lang="en-US" sz="1100"/>
              <a:t>Focus on the existing task: LESSON 6.8 / OUR LEARNING What will show your learning?</a:t>
            </a:r>
          </a:p>
          <a:p xmlns:a="http://schemas.openxmlformats.org/drawingml/2006/main">
            <a:pPr>
              <a:buNone/>
            </a:pPr>
            <a:r>
              <a:rPr lang="en-US" sz="1100"/>
              <a:t>CONNECT (T1/4): Ask students to restate the displayed goal or key idea and connect it to earlier work. Relevant lesson evidence: rewrite using valid properties; preserve value; explain the property at each step. Use only the criterion that matches the current session.</a:t>
            </a:r>
          </a:p>
          <a:p xmlns:a="http://schemas.openxmlformats.org/drawingml/2006/main">
            <a:pPr>
              <a:buNone/>
            </a:pPr>
            <a:r>
              <a:rPr lang="en-US" sz="1100"/>
              <a:t>SHOW PROGRESS: Students point to their own existing work, explain what improved after feedback, and name a next step. Pair confidence ratings with actual evidence.</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a:t>
            </a:r>
          </a:p>
          <a:p xmlns:a="http://schemas.openxmlformats.org/drawingml/2006/main">
            <a:pPr>
              <a:buNone/>
            </a:pPr>
            <a:r>
              <a:rPr lang="en-US" sz="1100"/>
              <a:t/>
            </a:r>
          </a:p>
          <a:p/>
        </p:txBody>
      </p:sp>
    </p:spTree>
  </p:cSld>
  <p:clrMapOvr>
    <a:masterClrMapping/>
  </p:clrMapOvr>
</p:notes>
</file>

<file path=ppt/notesSlides/notesSlide64.xml><?xml version="1.0" encoding="utf-8"?>
<p:notes xmlns:p="http://schemas.openxmlformats.org/presentationml/2006/main" xmlns:a="http://schemas.openxmlformats.org/drawingml/2006/main">
  <p:cSld>
    <p:spTree>
      <p:nvGrpSpPr>
        <p:cNvPr id="1" name=""/>
        <p:cNvGrpSpPr/>
        <p:nvPr/>
      </p:nvGrpSpPr>
      <p:grpSpPr/>
      <p:sp>
        <p:nvSpPr>
          <p:cNvPr id="2" name="Notes Text"/>
          <p:cNvSpPr txBox="1"/>
          <p:nvPr>
            <p:ph type="body" idx="1"/>
          </p:nvPr>
        </p:nvSpPr>
        <p:spPr/>
        <p:txBody>
          <a:bodyPr/>
          <a:lstStyle/>
          <a:p xmlns:a="http://schemas.openxmlformats.org/drawingml/2006/main">
            <a:pPr>
              <a:buNone/>
            </a:pPr>
            <a:r>
              <a:rPr lang="en-US" sz="1100"/>
              <a:t>TEACH IN PRACTICE | Embedded facilitation | Lesson 6.8, slide 8 | VOCAB</a:t>
            </a:r>
          </a:p>
          <a:p xmlns:a="http://schemas.openxmlformats.org/drawingml/2006/main">
            <a:pPr>
              <a:buNone/>
            </a:pPr>
            <a:r>
              <a:rPr lang="en-US" sz="1100"/>
              <a:t>Focus on the existing task: Vocabulary 1 of 6 Properties of Operations Rules that let…</a:t>
            </a:r>
          </a:p>
          <a:p xmlns:a="http://schemas.openxmlformats.org/drawingml/2006/main">
            <a:pPr>
              <a:buNone/>
            </a:pPr>
            <a:r>
              <a:rPr lang="en-US" sz="1100"/>
              <a:t>ASK (T1/3/5): Where does “Properties of Operations” appear in the example? Explain the meaning without reading the definition. Partner: restate the idea and ask a clarifying question.</a:t>
            </a:r>
          </a:p>
          <a:p xmlns:a="http://schemas.openxmlformats.org/drawingml/2006/main">
            <a:pPr>
              <a:buNone/>
            </a:pPr>
            <a:r>
              <a:rPr lang="en-US" sz="1100"/>
              <a:t>LOOK FOR: A correct connection between the word and a feature of the example. If the student only repeats the definition, invite pointing, sketching or oral rehearsal, then ask for another explanation of this same example.</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a:t>
            </a:r>
          </a:p>
          <a:p xmlns:a="http://schemas.openxmlformats.org/drawingml/2006/main">
            <a:pPr>
              <a:buNone/>
            </a:pPr>
            <a:r>
              <a:rPr lang="en-US" sz="1100"/>
              <a:t/>
            </a:r>
          </a:p>
          <a:p/>
        </p:txBody>
      </p:sp>
    </p:spTree>
  </p:cSld>
  <p:clrMapOvr>
    <a:masterClrMapping/>
  </p:clrMapOvr>
</p:notes>
</file>

<file path=ppt/notesSlides/notesSlide65.xml><?xml version="1.0" encoding="utf-8"?>
<p:notes xmlns:p="http://schemas.openxmlformats.org/presentationml/2006/main" xmlns:a="http://schemas.openxmlformats.org/drawingml/2006/main">
  <p:cSld>
    <p:spTree>
      <p:nvGrpSpPr>
        <p:cNvPr id="1" name=""/>
        <p:cNvGrpSpPr/>
        <p:nvPr/>
      </p:nvGrpSpPr>
      <p:grpSpPr/>
      <p:sp>
        <p:nvSpPr>
          <p:cNvPr id="2" name="Notes Text"/>
          <p:cNvSpPr txBox="1"/>
          <p:nvPr>
            <p:ph type="body" idx="1"/>
          </p:nvPr>
        </p:nvSpPr>
        <p:spPr/>
        <p:txBody>
          <a:bodyPr/>
          <a:lstStyle/>
          <a:p xmlns:a="http://schemas.openxmlformats.org/drawingml/2006/main">
            <a:pPr>
              <a:buNone/>
            </a:pPr>
            <a:r>
              <a:rPr lang="en-US" sz="1100"/>
              <a:t>TEACH IN PRACTICE | Embedded facilitation | Lesson 6.8, slide 9 | VOCAB</a:t>
            </a:r>
          </a:p>
          <a:p xmlns:a="http://schemas.openxmlformats.org/drawingml/2006/main">
            <a:pPr>
              <a:buNone/>
            </a:pPr>
            <a:r>
              <a:rPr lang="en-US" sz="1100"/>
              <a:t>Focus on the existing task: Vocabulary 2 of 6 Commutative Property You can change the…</a:t>
            </a:r>
          </a:p>
          <a:p xmlns:a="http://schemas.openxmlformats.org/drawingml/2006/main">
            <a:pPr>
              <a:buNone/>
            </a:pPr>
            <a:r>
              <a:rPr lang="en-US" sz="1100"/>
              <a:t>ASK (T1/3/5): Where does “Commutative Property” appear in the example? Explain the meaning without reading the definition. Partner: restate the idea and ask a clarifying question.</a:t>
            </a:r>
          </a:p>
          <a:p xmlns:a="http://schemas.openxmlformats.org/drawingml/2006/main">
            <a:pPr>
              <a:buNone/>
            </a:pPr>
            <a:r>
              <a:rPr lang="en-US" sz="1100"/>
              <a:t>LOOK FOR: A correct connection between the word and a feature of the example. If the student only repeats the definition, invite pointing, sketching or oral rehearsal, then ask for another explanation of this same example.</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a:t>
            </a:r>
          </a:p>
          <a:p xmlns:a="http://schemas.openxmlformats.org/drawingml/2006/main">
            <a:pPr>
              <a:buNone/>
            </a:pPr>
            <a:r>
              <a:rPr lang="en-US" sz="1100"/>
              <a:t/>
            </a:r>
          </a:p>
          <a:p/>
        </p:txBody>
      </p:sp>
    </p:spTree>
  </p:cSld>
  <p:clrMapOvr>
    <a:masterClrMapping/>
  </p:clrMapOvr>
</p:notes>
</file>

<file path=ppt/notesSlides/notesSlide66.xml><?xml version="1.0" encoding="utf-8"?>
<p:notes xmlns:p="http://schemas.openxmlformats.org/presentationml/2006/main" xmlns:a="http://schemas.openxmlformats.org/drawingml/2006/main">
  <p:cSld>
    <p:spTree>
      <p:nvGrpSpPr>
        <p:cNvPr id="1" name=""/>
        <p:cNvGrpSpPr/>
        <p:nvPr/>
      </p:nvGrpSpPr>
      <p:grpSpPr/>
      <p:sp>
        <p:nvSpPr>
          <p:cNvPr id="2" name="Notes Text"/>
          <p:cNvSpPr txBox="1"/>
          <p:nvPr>
            <p:ph type="body" idx="1"/>
          </p:nvPr>
        </p:nvSpPr>
        <p:spPr/>
        <p:txBody>
          <a:bodyPr/>
          <a:lstStyle/>
          <a:p xmlns:a="http://schemas.openxmlformats.org/drawingml/2006/main">
            <a:pPr>
              <a:buNone/>
            </a:pPr>
            <a:r>
              <a:rPr lang="en-US" sz="1100"/>
              <a:t>TEACH IN PRACTICE | Embedded facilitation | Lesson 6.8, slide 10 | VOCAB</a:t>
            </a:r>
          </a:p>
          <a:p xmlns:a="http://schemas.openxmlformats.org/drawingml/2006/main">
            <a:pPr>
              <a:buNone/>
            </a:pPr>
            <a:r>
              <a:rPr lang="en-US" sz="1100"/>
              <a:t>Focus on the existing task: Vocabulary 3 of 6 Associative Property You can change the…</a:t>
            </a:r>
          </a:p>
          <a:p xmlns:a="http://schemas.openxmlformats.org/drawingml/2006/main">
            <a:pPr>
              <a:buNone/>
            </a:pPr>
            <a:r>
              <a:rPr lang="en-US" sz="1100"/>
              <a:t>ASK (T1/3/5): Where does “Associative Property” appear in the example? Explain the meaning without reading the definition. Partner: restate the idea and ask a clarifying question.</a:t>
            </a:r>
          </a:p>
          <a:p xmlns:a="http://schemas.openxmlformats.org/drawingml/2006/main">
            <a:pPr>
              <a:buNone/>
            </a:pPr>
            <a:r>
              <a:rPr lang="en-US" sz="1100"/>
              <a:t>LOOK FOR: A correct connection between the word and a feature of the example. If the student only repeats the definition, invite pointing, sketching or oral rehearsal, then ask for another explanation of this same example.</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a:t>
            </a:r>
          </a:p>
          <a:p xmlns:a="http://schemas.openxmlformats.org/drawingml/2006/main">
            <a:pPr>
              <a:buNone/>
            </a:pPr>
            <a:r>
              <a:rPr lang="en-US" sz="1100"/>
              <a:t/>
            </a:r>
          </a:p>
          <a:p/>
        </p:txBody>
      </p:sp>
    </p:spTree>
  </p:cSld>
  <p:clrMapOvr>
    <a:masterClrMapping/>
  </p:clrMapOvr>
</p:notes>
</file>

<file path=ppt/notesSlides/notesSlide67.xml><?xml version="1.0" encoding="utf-8"?>
<p:notes xmlns:p="http://schemas.openxmlformats.org/presentationml/2006/main" xmlns:a="http://schemas.openxmlformats.org/drawingml/2006/main">
  <p:cSld>
    <p:spTree>
      <p:nvGrpSpPr>
        <p:cNvPr id="1" name=""/>
        <p:cNvGrpSpPr/>
        <p:nvPr/>
      </p:nvGrpSpPr>
      <p:grpSpPr/>
      <p:sp>
        <p:nvSpPr>
          <p:cNvPr id="2" name="Notes Text"/>
          <p:cNvSpPr txBox="1"/>
          <p:nvPr>
            <p:ph type="body" idx="1"/>
          </p:nvPr>
        </p:nvSpPr>
        <p:spPr/>
        <p:txBody>
          <a:bodyPr/>
          <a:lstStyle/>
          <a:p xmlns:a="http://schemas.openxmlformats.org/drawingml/2006/main">
            <a:pPr>
              <a:buNone/>
            </a:pPr>
            <a:r>
              <a:rPr lang="en-US" sz="1100"/>
              <a:t>TEACH IN PRACTICE | Embedded facilitation | Lesson 6.8, slide 11 | VOCAB</a:t>
            </a:r>
          </a:p>
          <a:p xmlns:a="http://schemas.openxmlformats.org/drawingml/2006/main">
            <a:pPr>
              <a:buNone/>
            </a:pPr>
            <a:r>
              <a:rPr lang="en-US" sz="1100"/>
              <a:t>Focus on the existing task: Vocabulary 4 of 6 Identity Property Adding 0 or…</a:t>
            </a:r>
          </a:p>
          <a:p xmlns:a="http://schemas.openxmlformats.org/drawingml/2006/main">
            <a:pPr>
              <a:buNone/>
            </a:pPr>
            <a:r>
              <a:rPr lang="en-US" sz="1100"/>
              <a:t>ASK (T1/3/5): Where does “Identity Property” appear in the example? Explain the meaning without reading the definition. Partner: restate the idea and ask a clarifying question.</a:t>
            </a:r>
          </a:p>
          <a:p xmlns:a="http://schemas.openxmlformats.org/drawingml/2006/main">
            <a:pPr>
              <a:buNone/>
            </a:pPr>
            <a:r>
              <a:rPr lang="en-US" sz="1100"/>
              <a:t>LOOK FOR: A correct connection between the word and a feature of the example. If the student only repeats the definition, invite pointing, sketching or oral rehearsal, then ask for another explanation of this same example.</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a:t>
            </a:r>
          </a:p>
          <a:p xmlns:a="http://schemas.openxmlformats.org/drawingml/2006/main">
            <a:pPr>
              <a:buNone/>
            </a:pPr>
            <a:r>
              <a:rPr lang="en-US" sz="1100"/>
              <a:t/>
            </a:r>
          </a:p>
          <a:p/>
        </p:txBody>
      </p:sp>
    </p:spTree>
  </p:cSld>
  <p:clrMapOvr>
    <a:masterClrMapping/>
  </p:clrMapOvr>
</p:notes>
</file>

<file path=ppt/notesSlides/notesSlide68.xml><?xml version="1.0" encoding="utf-8"?>
<p:notes xmlns:p="http://schemas.openxmlformats.org/presentationml/2006/main" xmlns:a="http://schemas.openxmlformats.org/drawingml/2006/main">
  <p:cSld>
    <p:spTree>
      <p:nvGrpSpPr>
        <p:cNvPr id="1" name=""/>
        <p:cNvGrpSpPr/>
        <p:nvPr/>
      </p:nvGrpSpPr>
      <p:grpSpPr/>
      <p:sp>
        <p:nvSpPr>
          <p:cNvPr id="2" name="Notes Text"/>
          <p:cNvSpPr txBox="1"/>
          <p:nvPr>
            <p:ph type="body" idx="1"/>
          </p:nvPr>
        </p:nvSpPr>
        <p:spPr/>
        <p:txBody>
          <a:bodyPr/>
          <a:lstStyle/>
          <a:p xmlns:a="http://schemas.openxmlformats.org/drawingml/2006/main">
            <a:pPr>
              <a:buNone/>
            </a:pPr>
            <a:r>
              <a:rPr lang="en-US" sz="1100"/>
              <a:t>TEACH IN PRACTICE | Embedded facilitation | Lesson 6.8, slide 12 | VOCAB</a:t>
            </a:r>
          </a:p>
          <a:p xmlns:a="http://schemas.openxmlformats.org/drawingml/2006/main">
            <a:pPr>
              <a:buNone/>
            </a:pPr>
            <a:r>
              <a:rPr lang="en-US" sz="1100"/>
              <a:t>Focus on the existing task: Vocabulary 5 of 6 Property A rule that is always true in…</a:t>
            </a:r>
          </a:p>
          <a:p xmlns:a="http://schemas.openxmlformats.org/drawingml/2006/main">
            <a:pPr>
              <a:buNone/>
            </a:pPr>
            <a:r>
              <a:rPr lang="en-US" sz="1100"/>
              <a:t>ASK (T1/3/5): Where does “Property” appear in the example? Explain the meaning without reading the definition. Partner: restate the idea and ask a clarifying question.</a:t>
            </a:r>
          </a:p>
          <a:p xmlns:a="http://schemas.openxmlformats.org/drawingml/2006/main">
            <a:pPr>
              <a:buNone/>
            </a:pPr>
            <a:r>
              <a:rPr lang="en-US" sz="1100"/>
              <a:t>LOOK FOR: A correct connection between the word and a feature of the example. If the student only repeats the definition, invite pointing, sketching or oral rehearsal, then ask for another explanation of this same example.</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a:t>
            </a:r>
          </a:p>
          <a:p xmlns:a="http://schemas.openxmlformats.org/drawingml/2006/main">
            <a:pPr>
              <a:buNone/>
            </a:pPr>
            <a:r>
              <a:rPr lang="en-US" sz="1100"/>
              <a:t/>
            </a:r>
          </a:p>
          <a:p/>
        </p:txBody>
      </p:sp>
    </p:spTree>
  </p:cSld>
  <p:clrMapOvr>
    <a:masterClrMapping/>
  </p:clrMapOvr>
</p:notes>
</file>

<file path=ppt/notesSlides/notesSlide69.xml><?xml version="1.0" encoding="utf-8"?>
<p:notes xmlns:p="http://schemas.openxmlformats.org/presentationml/2006/main" xmlns:a="http://schemas.openxmlformats.org/drawingml/2006/main">
  <p:cSld>
    <p:spTree>
      <p:nvGrpSpPr>
        <p:cNvPr id="1" name=""/>
        <p:cNvGrpSpPr/>
        <p:nvPr/>
      </p:nvGrpSpPr>
      <p:grpSpPr/>
      <p:sp>
        <p:nvSpPr>
          <p:cNvPr id="2" name="Notes Text"/>
          <p:cNvSpPr txBox="1"/>
          <p:nvPr>
            <p:ph type="body" idx="1"/>
          </p:nvPr>
        </p:nvSpPr>
        <p:spPr/>
        <p:txBody>
          <a:bodyPr/>
          <a:lstStyle/>
          <a:p xmlns:a="http://schemas.openxmlformats.org/drawingml/2006/main">
            <a:pPr>
              <a:buNone/>
            </a:pPr>
            <a:r>
              <a:rPr lang="en-US" sz="1100"/>
              <a:t>TEACH IN PRACTICE | Embedded facilitation | Lesson 6.8, slide 13 | VOCAB</a:t>
            </a:r>
          </a:p>
          <a:p xmlns:a="http://schemas.openxmlformats.org/drawingml/2006/main">
            <a:pPr>
              <a:buNone/>
            </a:pPr>
            <a:r>
              <a:rPr lang="en-US" sz="1100"/>
              <a:t>Focus on the existing task: Vocabulary 6 of 6 Distributive Property Multiplying a…</a:t>
            </a:r>
          </a:p>
          <a:p xmlns:a="http://schemas.openxmlformats.org/drawingml/2006/main">
            <a:pPr>
              <a:buNone/>
            </a:pPr>
            <a:r>
              <a:rPr lang="en-US" sz="1100"/>
              <a:t>ASK (T1/3/5): Where does “Distributive Property” appear in the example? Explain the meaning without reading the definition. Partner: restate the idea and ask a clarifying question.</a:t>
            </a:r>
          </a:p>
          <a:p xmlns:a="http://schemas.openxmlformats.org/drawingml/2006/main">
            <a:pPr>
              <a:buNone/>
            </a:pPr>
            <a:r>
              <a:rPr lang="en-US" sz="1100"/>
              <a:t>LOOK FOR: A correct connection between the word and a feature of the example. If the student only repeats the definition, invite pointing, sketching or oral rehearsal, then ask for another explanation of this same example.</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a:t>
            </a:r>
          </a:p>
          <a:p xmlns:a="http://schemas.openxmlformats.org/drawingml/2006/main">
            <a:pPr>
              <a:buNone/>
            </a:pPr>
            <a:r>
              <a:rPr lang="en-US" sz="1100"/>
              <a:t/>
            </a:r>
          </a:p>
          <a:p/>
        </p:txBody>
      </p:sp>
    </p:spTree>
  </p:cSld>
  <p:clrMapOvr>
    <a:masterClrMapping/>
  </p:clrMapOvr>
</p:notes>
</file>

<file path=ppt/notesSlides/notesSlide70.xml><?xml version="1.0" encoding="utf-8"?>
<p:notes xmlns:p="http://schemas.openxmlformats.org/presentationml/2006/main" xmlns:a="http://schemas.openxmlformats.org/drawingml/2006/main">
  <p:cSld>
    <p:spTree>
      <p:nvGrpSpPr>
        <p:cNvPr id="1" name=""/>
        <p:cNvGrpSpPr/>
        <p:nvPr/>
      </p:nvGrpSpPr>
      <p:grpSpPr/>
      <p:sp>
        <p:nvSpPr>
          <p:cNvPr id="2" name="Notes Text"/>
          <p:cNvSpPr txBox="1"/>
          <p:nvPr>
            <p:ph type="body" idx="1"/>
          </p:nvPr>
        </p:nvSpPr>
        <p:spPr/>
        <p:txBody>
          <a:bodyPr/>
          <a:lstStyle/>
          <a:p xmlns:a="http://schemas.openxmlformats.org/drawingml/2006/main">
            <a:pPr>
              <a:buNone/>
            </a:pPr>
            <a:r>
              <a:rPr lang="en-US" sz="1100"/>
              <a:t>TEACH IN PRACTICE | Embedded facilitation | Lesson 6.8, slide 20 | PRIOR_INSERT</a:t>
            </a:r>
          </a:p>
          <a:p xmlns:a="http://schemas.openxmlformats.org/drawingml/2006/main">
            <a:pPr>
              <a:buNone/>
            </a:pPr>
            <a:r>
              <a:rPr lang="en-US" sz="1100"/>
              <a:t>Focus on the existing task: Point to evidence in your work. Then compare your approach with a partner’s. TAKE TURNS Explain “I know this because…” Ask “Where does your work show that?</a:t>
            </a:r>
          </a:p>
          <a:p xmlns:a="http://schemas.openxmlformats.org/drawingml/2006/main">
            <a:pPr>
              <a:buNone/>
            </a:pPr>
            <a:r>
              <a:rPr lang="en-US" sz="1100"/>
              <a:t>CONNECT (T1/4): Ask students to restate the displayed goal or key idea and connect it to earlier work. Relevant lesson evidence: rewrite using valid properties; preserve value; explain the property at each step. Use only the criterion that matches the current session.</a:t>
            </a:r>
          </a:p>
          <a:p xmlns:a="http://schemas.openxmlformats.org/drawingml/2006/main">
            <a:pPr>
              <a:buNone/>
            </a:pPr>
            <a:r>
              <a:rPr lang="en-US" sz="1100"/>
              <a:t>SHOW PROGRESS: Students point to their own existing work, explain what improved after feedback, and name a next step. Pair confidence ratings with actual evidence.</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a:t>
            </a:r>
          </a:p>
          <a:p xmlns:a="http://schemas.openxmlformats.org/drawingml/2006/main">
            <a:pPr>
              <a:buNone/>
            </a:pPr>
            <a:r>
              <a:rPr lang="en-US" sz="1100"/>
              <a:t/>
            </a:r>
          </a:p>
          <a:p/>
        </p:txBody>
      </p:sp>
    </p:spTree>
  </p:cSld>
  <p:clrMapOvr>
    <a:masterClrMapping/>
  </p:clrMapOvr>
</p:notes>
</file>

<file path=ppt/notesSlides/notesSlide71.xml><?xml version="1.0" encoding="utf-8"?>
<p:notes xmlns:p="http://schemas.openxmlformats.org/presentationml/2006/main" xmlns:a="http://schemas.openxmlformats.org/drawingml/2006/main">
  <p:cSld>
    <p:spTree>
      <p:nvGrpSpPr>
        <p:cNvPr id="1" name=""/>
        <p:cNvGrpSpPr/>
        <p:nvPr/>
      </p:nvGrpSpPr>
      <p:grpSpPr/>
      <p:sp>
        <p:nvSpPr>
          <p:cNvPr id="2" name="Notes Text"/>
          <p:cNvSpPr txBox="1"/>
          <p:nvPr>
            <p:ph type="body" idx="1"/>
          </p:nvPr>
        </p:nvSpPr>
        <p:spPr/>
        <p:txBody>
          <a:bodyPr/>
          <a:lstStyle/>
          <a:p xmlns:a="http://schemas.openxmlformats.org/drawingml/2006/main">
            <a:pPr>
              <a:buNone/>
            </a:pPr>
            <a:r>
              <a:rPr lang="en-US" sz="1100"/>
              <a:t>TEACH IN PRACTICE | Embedded facilitation | Lesson 6.8, slide 21 | REVEAL</a:t>
            </a:r>
          </a:p>
          <a:p xmlns:a="http://schemas.openxmlformats.org/drawingml/2006/main">
            <a:pPr>
              <a:buNone/>
            </a:pPr>
            <a:r>
              <a:rPr lang="en-US" sz="1100"/>
              <a:t>Focus on the existing task: What other expressions are equivalent to the one shown?</a:t>
            </a:r>
          </a:p>
          <a:p xmlns:a="http://schemas.openxmlformats.org/drawingml/2006/main">
            <a:pPr>
              <a:buNone/>
            </a:pPr>
            <a:r>
              <a:rPr lang="en-US" sz="1100"/>
              <a:t>LAUNCH (T2/3/5): If an existing answer cover is present, gather an attempt before revealing. If the explanation is already visible, ask students to reconstruct and justify it. Compare reasoning and explain a revision; preserve the reveal sequence.</a:t>
            </a:r>
          </a:p>
          <a:p xmlns:a="http://schemas.openxmlformats.org/drawingml/2006/main">
            <a:pPr>
              <a:buNone/>
            </a:pPr>
            <a:r>
              <a:rPr lang="en-US" sz="1100"/>
              <a:t>LOOK FOR (T4): Where this task addresses it, students can rewrite using valid properties. Ask which feature of their work supports the claim.</a:t>
            </a:r>
          </a:p>
          <a:p xmlns:a="http://schemas.openxmlformats.org/drawingml/2006/main">
            <a:pPr>
              <a:buNone/>
            </a:pPr>
            <a:r>
              <a:rPr lang="en-US" sz="1100"/>
              <a:t>RESPOND: If this task shows the lesson misconception—applying commutative reasoning to subtraction or division—mark what changed in the original expression: order, grouping, or an identity element.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a:t>
            </a:r>
          </a:p>
          <a:p xmlns:a="http://schemas.openxmlformats.org/drawingml/2006/main">
            <a:pPr>
              <a:buNone/>
            </a:pPr>
            <a:r>
              <a:rPr lang="en-US" sz="1100"/>
              <a:t/>
            </a:r>
          </a:p>
          <a:p/>
        </p:txBody>
      </p:sp>
    </p:spTree>
  </p:cSld>
  <p:clrMapOvr>
    <a:masterClrMapping/>
  </p:clrMapOvr>
</p:notes>
</file>

<file path=ppt/notesSlides/notesSlide72.xml><?xml version="1.0" encoding="utf-8"?>
<p:notes xmlns:p="http://schemas.openxmlformats.org/presentationml/2006/main" xmlns:a="http://schemas.openxmlformats.org/drawingml/2006/main">
  <p:cSld>
    <p:spTree>
      <p:nvGrpSpPr>
        <p:cNvPr id="1" name=""/>
        <p:cNvGrpSpPr/>
        <p:nvPr/>
      </p:nvGrpSpPr>
      <p:grpSpPr/>
      <p:sp>
        <p:nvSpPr>
          <p:cNvPr id="2" name="Notes Text"/>
          <p:cNvSpPr txBox="1"/>
          <p:nvPr>
            <p:ph type="body" idx="1"/>
          </p:nvPr>
        </p:nvSpPr>
        <p:spPr/>
        <p:txBody>
          <a:bodyPr/>
          <a:lstStyle/>
          <a:p xmlns:a="http://schemas.openxmlformats.org/drawingml/2006/main">
            <a:pPr>
              <a:buNone/>
            </a:pPr>
            <a:r>
              <a:rPr lang="en-US" sz="1100"/>
              <a:t>TEACH IN PRACTICE | Embedded facilitation | Lesson 6.8, slide 31 | PRIOR_INSERT</a:t>
            </a:r>
          </a:p>
          <a:p xmlns:a="http://schemas.openxmlformats.org/drawingml/2006/main">
            <a:pPr>
              <a:buNone/>
            </a:pPr>
            <a:r>
              <a:rPr lang="en-US" sz="1100"/>
              <a:t>Focus on the existing task: LESSON 6.8 / CHECK YOUR WORK Pause. Check. Improve. Listen to understand. Ask for evidence. Make room for every voice. CHECK A mistake…</a:t>
            </a:r>
          </a:p>
          <a:p xmlns:a="http://schemas.openxmlformats.org/drawingml/2006/main">
            <a:pPr>
              <a:buNone/>
            </a:pPr>
            <a:r>
              <a:rPr lang="en-US" sz="1100"/>
              <a:t>CONNECT (T1/4): Ask students to restate the displayed goal or key idea and connect it to earlier work. Relevant lesson evidence: rewrite using valid properties; preserve value; explain the property at each step. Use only the criterion that matches the current session.</a:t>
            </a:r>
          </a:p>
          <a:p xmlns:a="http://schemas.openxmlformats.org/drawingml/2006/main">
            <a:pPr>
              <a:buNone/>
            </a:pPr>
            <a:r>
              <a:rPr lang="en-US" sz="1100"/>
              <a:t>SHOW PROGRESS: Students point to their own existing work, explain what improved after feedback, and name a next step. Pair confidence ratings with actual evidence.</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a:t>
            </a:r>
          </a:p>
          <a:p xmlns:a="http://schemas.openxmlformats.org/drawingml/2006/main">
            <a:pPr>
              <a:buNone/>
            </a:pPr>
            <a:r>
              <a:rPr lang="en-US" sz="1100"/>
              <a:t/>
            </a:r>
          </a:p>
          <a:p/>
        </p:txBody>
      </p:sp>
    </p:spTree>
  </p:cSld>
  <p:clrMapOvr>
    <a:masterClrMapping/>
  </p:clrMapOvr>
</p:notes>
</file>

<file path=ppt/notesSlides/notesSlide73.xml><?xml version="1.0" encoding="utf-8"?>
<p:notes xmlns:p="http://schemas.openxmlformats.org/presentationml/2006/main" xmlns:a="http://schemas.openxmlformats.org/drawingml/2006/main">
  <p:cSld>
    <p:spTree>
      <p:nvGrpSpPr>
        <p:cNvPr id="1" name=""/>
        <p:cNvGrpSpPr/>
        <p:nvPr/>
      </p:nvGrpSpPr>
      <p:grpSpPr/>
      <p:sp>
        <p:nvSpPr>
          <p:cNvPr id="2" name="Notes Text"/>
          <p:cNvSpPr txBox="1"/>
          <p:nvPr>
            <p:ph type="body" idx="1"/>
          </p:nvPr>
        </p:nvSpPr>
        <p:spPr/>
        <p:txBody>
          <a:bodyPr/>
          <a:lstStyle/>
          <a:p xmlns:a="http://schemas.openxmlformats.org/drawingml/2006/main">
            <a:pPr>
              <a:buNone/>
            </a:pPr>
            <a:r>
              <a:rPr lang="en-US" sz="1100"/>
              <a:t>TEACH IN PRACTICE | Embedded facilitation | Lesson 6.8, slide 32 | REVEAL</a:t>
            </a:r>
          </a:p>
          <a:p xmlns:a="http://schemas.openxmlformats.org/drawingml/2006/main">
            <a:pPr>
              <a:buNone/>
            </a:pPr>
            <a:r>
              <a:rPr lang="en-US" sz="1100"/>
              <a:t>Focus on the existing task: The greatest common factor of the four terms is 2. How can you use the GCF to rewrite the expression in a different way?</a:t>
            </a:r>
          </a:p>
          <a:p xmlns:a="http://schemas.openxmlformats.org/drawingml/2006/main">
            <a:pPr>
              <a:buNone/>
            </a:pPr>
            <a:r>
              <a:rPr lang="en-US" sz="1100"/>
              <a:t>LAUNCH (T2/3/5): If an existing answer cover is present, gather an attempt before revealing. If the explanation is already visible, ask students to reconstruct and justify it. Compare reasoning and explain a revision; preserve the reveal sequence.</a:t>
            </a:r>
          </a:p>
          <a:p xmlns:a="http://schemas.openxmlformats.org/drawingml/2006/main">
            <a:pPr>
              <a:buNone/>
            </a:pPr>
            <a:r>
              <a:rPr lang="en-US" sz="1100"/>
              <a:t>LOOK FOR (T4): Where this task addresses it, students can explain the property at each step. Ask which feature of their work supports the claim.</a:t>
            </a:r>
          </a:p>
          <a:p xmlns:a="http://schemas.openxmlformats.org/drawingml/2006/main">
            <a:pPr>
              <a:buNone/>
            </a:pPr>
            <a:r>
              <a:rPr lang="en-US" sz="1100"/>
              <a:t>RESPOND: If this task shows the lesson misconception—applying commutative reasoning to subtraction or division—mark what changed in the original expression: order, grouping, or an identity element.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a:t>
            </a:r>
          </a:p>
          <a:p xmlns:a="http://schemas.openxmlformats.org/drawingml/2006/main">
            <a:pPr>
              <a:buNone/>
            </a:pPr>
            <a:r>
              <a:rPr lang="en-US" sz="1100"/>
              <a:t/>
            </a:r>
          </a:p>
          <a:p/>
        </p:txBody>
      </p:sp>
    </p:spTree>
  </p:cSld>
  <p:clrMapOvr>
    <a:masterClrMapping/>
  </p:clrMapOvr>
</p:notes>
</file>

<file path=ppt/notesSlides/notesSlide74.xml><?xml version="1.0" encoding="utf-8"?>
<p:notes xmlns:p="http://schemas.openxmlformats.org/presentationml/2006/main" xmlns:a="http://schemas.openxmlformats.org/drawingml/2006/main">
  <p:cSld>
    <p:spTree>
      <p:nvGrpSpPr>
        <p:cNvPr id="1" name=""/>
        <p:cNvGrpSpPr/>
        <p:nvPr/>
      </p:nvGrpSpPr>
      <p:grpSpPr/>
      <p:sp>
        <p:nvSpPr>
          <p:cNvPr id="2" name="Notes Text"/>
          <p:cNvSpPr txBox="1"/>
          <p:nvPr>
            <p:ph type="body" idx="1"/>
          </p:nvPr>
        </p:nvSpPr>
        <p:spPr/>
        <p:txBody>
          <a:bodyPr/>
          <a:lstStyle/>
          <a:p xmlns:a="http://schemas.openxmlformats.org/drawingml/2006/main">
            <a:pPr>
              <a:buNone/>
            </a:pPr>
            <a:r>
              <a:rPr lang="en-US" sz="1100"/>
              <a:t>TEACH IN PRACTICE | Embedded facilitation | Lesson 6.8, slide 33 | REVEAL</a:t>
            </a:r>
          </a:p>
          <a:p xmlns:a="http://schemas.openxmlformats.org/drawingml/2006/main">
            <a:pPr>
              <a:buNone/>
            </a:pPr>
            <a:r>
              <a:rPr lang="en-US" sz="1100"/>
              <a:t>Focus on the existing task: Let’s use the Distributive Property to rewrite the expression. Can the expression be further simplified?</a:t>
            </a:r>
          </a:p>
          <a:p xmlns:a="http://schemas.openxmlformats.org/drawingml/2006/main">
            <a:pPr>
              <a:buNone/>
            </a:pPr>
            <a:r>
              <a:rPr lang="en-US" sz="1100"/>
              <a:t>LAUNCH (T2/3/5): If an existing answer cover is present, gather an attempt before revealing. If the explanation is already visible, ask students to reconstruct and justify it. Compare reasoning and explain a revision; preserve the reveal sequence.</a:t>
            </a:r>
          </a:p>
          <a:p xmlns:a="http://schemas.openxmlformats.org/drawingml/2006/main">
            <a:pPr>
              <a:buNone/>
            </a:pPr>
            <a:r>
              <a:rPr lang="en-US" sz="1100"/>
              <a:t>LOOK FOR (T4): Where this task addresses it, students can rewrite using valid properties. Ask which feature of their work supports the claim.</a:t>
            </a:r>
          </a:p>
          <a:p xmlns:a="http://schemas.openxmlformats.org/drawingml/2006/main">
            <a:pPr>
              <a:buNone/>
            </a:pPr>
            <a:r>
              <a:rPr lang="en-US" sz="1100"/>
              <a:t>RESPOND: If this task shows the lesson misconception—applying commutative reasoning to subtraction or division—mark what changed in the original expression: order, grouping, or an identity element.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a:t>
            </a:r>
          </a:p>
          <a:p xmlns:a="http://schemas.openxmlformats.org/drawingml/2006/main">
            <a:pPr>
              <a:buNone/>
            </a:pPr>
            <a:r>
              <a:rPr lang="en-US" sz="1100"/>
              <a:t/>
            </a:r>
          </a:p>
          <a:p/>
        </p:txBody>
      </p:sp>
    </p:spTree>
  </p:cSld>
  <p:clrMapOvr>
    <a:masterClrMapping/>
  </p:clrMapOvr>
</p:notes>
</file>

<file path=ppt/notesSlides/notesSlide75.xml><?xml version="1.0" encoding="utf-8"?>
<p:notes xmlns:p="http://schemas.openxmlformats.org/presentationml/2006/main" xmlns:a="http://schemas.openxmlformats.org/drawingml/2006/main">
  <p:cSld>
    <p:spTree>
      <p:nvGrpSpPr>
        <p:cNvPr id="1" name=""/>
        <p:cNvGrpSpPr/>
        <p:nvPr/>
      </p:nvGrpSpPr>
      <p:grpSpPr/>
      <p:sp>
        <p:nvSpPr>
          <p:cNvPr id="2" name="Notes Text"/>
          <p:cNvSpPr txBox="1"/>
          <p:nvPr>
            <p:ph type="body" idx="1"/>
          </p:nvPr>
        </p:nvSpPr>
        <p:spPr/>
        <p:txBody>
          <a:bodyPr/>
          <a:lstStyle/>
          <a:p xmlns:a="http://schemas.openxmlformats.org/drawingml/2006/main">
            <a:pPr>
              <a:buNone/>
            </a:pPr>
            <a:r>
              <a:rPr lang="en-US" sz="1100"/>
              <a:t>TEACH IN PRACTICE | Embedded facilitation | Lesson 6.8, slide 38 | PRIOR_INSERT</a:t>
            </a:r>
          </a:p>
          <a:p xmlns:a="http://schemas.openxmlformats.org/drawingml/2006/main">
            <a:pPr>
              <a:buNone/>
            </a:pPr>
            <a:r>
              <a:rPr lang="en-US" sz="1100"/>
              <a:t>Focus on the existing task: LESSON 6.8 / REFLECT ON YOUR LEARNING Show your progress Listen to understand. Ask for evidence. Make room for every voice. 1 SHOW…</a:t>
            </a:r>
          </a:p>
          <a:p xmlns:a="http://schemas.openxmlformats.org/drawingml/2006/main">
            <a:pPr>
              <a:buNone/>
            </a:pPr>
            <a:r>
              <a:rPr lang="en-US" sz="1100"/>
              <a:t>CONNECT (T1/4): Ask students to restate the displayed goal or key idea and connect it to earlier work. Relevant lesson evidence: rewrite using valid properties; preserve value; explain the property at each step. Use only the criterion that matches the current session.</a:t>
            </a:r>
          </a:p>
          <a:p xmlns:a="http://schemas.openxmlformats.org/drawingml/2006/main">
            <a:pPr>
              <a:buNone/>
            </a:pPr>
            <a:r>
              <a:rPr lang="en-US" sz="1100"/>
              <a:t>SHOW PROGRESS: Students point to their own existing work, explain what improved after feedback, and name a next step. Pair confidence ratings with actual evidence.</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a:t>
            </a:r>
          </a:p>
          <a:p xmlns:a="http://schemas.openxmlformats.org/drawingml/2006/main">
            <a:pPr>
              <a:buNone/>
            </a:pPr>
            <a:r>
              <a:rPr lang="en-US" sz="1100"/>
              <a:t/>
            </a:r>
          </a:p>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_Title Slide Photo">
  <p:cSld name="2_Title Slide Photo">
    <p:spTree>
      <p:nvGrpSpPr>
        <p:cNvPr id="15" name="Shape 15"/>
        <p:cNvGrpSpPr/>
        <p:nvPr/>
      </p:nvGrpSpPr>
      <p:grpSpPr>
        <a:xfrm>
          <a:off x="0" y="0"/>
          <a:ext cx="0" cy="0"/>
          <a:chOff x="0" y="0"/>
          <a:chExt cx="0" cy="0"/>
        </a:xfrm>
      </p:grpSpPr>
    </p:spTree>
  </p:cSld>
  <p:clrMapOvr>
    <a:masterClrMapping/>
  </p:clrMapOvr>
  <p:extLst>
    <p:ext uri="{DCECCB84-F9BA-43D5-87BE-67443E8EF086}">
      <p15:sldGuideLst>
        <p15:guide id="1" orient="horz" pos="96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1-column">
  <p:cSld name="Content 1-column">
    <p:spTree>
      <p:nvGrpSpPr>
        <p:cNvPr id="16" name="Shape 16"/>
        <p:cNvGrpSpPr/>
        <p:nvPr/>
      </p:nvGrpSpPr>
      <p:grpSpPr>
        <a:xfrm>
          <a:off x="0" y="0"/>
          <a:ext cx="0" cy="0"/>
          <a:chOff x="0" y="0"/>
          <a:chExt cx="0" cy="0"/>
        </a:xfrm>
      </p:grpSpPr>
      <p:sp>
        <p:nvSpPr>
          <p:cNvPr id="17" name="Google Shape;17;p3"/>
          <p:cNvSpPr txBox="1"/>
          <p:nvPr>
            <p:ph idx="12" type="sldNum"/>
          </p:nvPr>
        </p:nvSpPr>
        <p:spPr>
          <a:xfrm>
            <a:off x="10436045" y="6528815"/>
            <a:ext cx="1278151" cy="228600"/>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900"/>
              <a:buFont typeface="Arial"/>
              <a:buNone/>
              <a:defRPr b="0" i="0" sz="9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900"/>
              <a:buFont typeface="Arial"/>
              <a:buNone/>
              <a:defRPr b="0" i="0" sz="9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900"/>
              <a:buFont typeface="Arial"/>
              <a:buNone/>
              <a:defRPr b="0" i="0" sz="9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900"/>
              <a:buFont typeface="Arial"/>
              <a:buNone/>
              <a:defRPr b="0" i="0" sz="9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900"/>
              <a:buFont typeface="Arial"/>
              <a:buNone/>
              <a:defRPr b="0" i="0" sz="9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900"/>
              <a:buFont typeface="Arial"/>
              <a:buNone/>
              <a:defRPr b="0" i="0" sz="9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900"/>
              <a:buFont typeface="Arial"/>
              <a:buNone/>
              <a:defRPr b="0" i="0" sz="9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900"/>
              <a:buFont typeface="Arial"/>
              <a:buNone/>
              <a:defRPr b="0" i="0" sz="9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900"/>
              <a:buFont typeface="Arial"/>
              <a:buNone/>
              <a:defRPr b="0" i="0" sz="9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
        <p:nvSpPr>
          <p:cNvPr id="18" name="Google Shape;18;p3"/>
          <p:cNvSpPr txBox="1"/>
          <p:nvPr/>
        </p:nvSpPr>
        <p:spPr>
          <a:xfrm>
            <a:off x="490549" y="6528816"/>
            <a:ext cx="2072640" cy="2286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900"/>
              <a:buFont typeface="Arial"/>
              <a:buNone/>
            </a:pPr>
            <a:r>
              <a:rPr b="1" i="0" lang="en-US" sz="900" u="none" cap="none" strike="noStrike">
                <a:solidFill>
                  <a:schemeClr val="dk2"/>
                </a:solidFill>
                <a:latin typeface="Arial"/>
                <a:ea typeface="Arial"/>
                <a:cs typeface="Arial"/>
                <a:sym typeface="Arial"/>
              </a:rPr>
              <a:t>McGraw Hill  |</a:t>
            </a:r>
            <a:endParaRPr b="0" i="0" sz="900" u="none" cap="none" strike="noStrike">
              <a:solidFill>
                <a:schemeClr val="dk2"/>
              </a:solidFill>
              <a:latin typeface="Arial"/>
              <a:ea typeface="Arial"/>
              <a:cs typeface="Arial"/>
              <a:sym typeface="Arial"/>
            </a:endParaRPr>
          </a:p>
        </p:txBody>
      </p:sp>
      <p:sp>
        <p:nvSpPr>
          <p:cNvPr id="19" name="Google Shape;19;p3"/>
          <p:cNvSpPr txBox="1"/>
          <p:nvPr>
            <p:ph idx="11" type="ftr"/>
          </p:nvPr>
        </p:nvSpPr>
        <p:spPr>
          <a:xfrm>
            <a:off x="1402828" y="6528816"/>
            <a:ext cx="7315200" cy="228600"/>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900" u="none" cap="none" strike="noStrike">
                <a:solidFill>
                  <a:schemeClr val="dk2"/>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Tree>
  </p:cSld>
  <p:clrMapOvr>
    <a:masterClrMapping/>
  </p:clrMapOvr>
  <p:extLst>
    <p:ext uri="{DCECCB84-F9BA-43D5-87BE-67443E8EF086}">
      <p15:sldGuideLst>
        <p15:guide id="1" orient="horz" pos="3772">
          <p15:clr>
            <a:srgbClr val="FBAE40"/>
          </p15:clr>
        </p15:guide>
        <p15:guide id="2" orient="horz" pos="804">
          <p15:clr>
            <a:srgbClr val="FBAE40"/>
          </p15:clr>
        </p15:guide>
        <p15:guide id="3" pos="384">
          <p15:clr>
            <a:srgbClr val="FBAE40"/>
          </p15:clr>
        </p15:guide>
        <p15:guide id="4" pos="3940">
          <p15:clr>
            <a:srgbClr val="FBAE40"/>
          </p15:clr>
        </p15:guide>
        <p15:guide id="5" pos="4040">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Slide">
    <p:spTree>
      <p:nvGrpSpPr>
        <p:cNvPr id="26" name="Shape 26"/>
        <p:cNvGrpSpPr/>
        <p:nvPr/>
      </p:nvGrpSpPr>
      <p:grpSpPr>
        <a:xfrm>
          <a:off x="0" y="0"/>
          <a:ext cx="0" cy="0"/>
          <a:chOff x="0" y="0"/>
          <a:chExt cx="0" cy="0"/>
        </a:xfrm>
      </p:grpSpPr>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7" name="Shape 27"/>
        <p:cNvGrpSpPr/>
        <p:nvPr/>
      </p:nvGrpSpPr>
      <p:grpSpPr>
        <a:xfrm>
          <a:off x="0" y="0"/>
          <a:ext cx="0" cy="0"/>
          <a:chOff x="0" y="0"/>
          <a:chExt cx="0" cy="0"/>
        </a:xfrm>
      </p:grpSpPr>
      <p:sp>
        <p:nvSpPr>
          <p:cNvPr id="28" name="Google Shape;28;p6"/>
          <p:cNvSpPr txBox="1"/>
          <p:nvPr>
            <p:ph type="title"/>
          </p:nvPr>
        </p:nvSpPr>
        <p:spPr>
          <a:xfrm>
            <a:off x="838200" y="365125"/>
            <a:ext cx="105156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29" name="Google Shape;29;p6"/>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30" name="Google Shape;30;p6"/>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31" name="Google Shape;31;p6"/>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32" name="Google Shape;32;p6"/>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33" name="Shape 33"/>
        <p:cNvGrpSpPr/>
        <p:nvPr/>
      </p:nvGrpSpPr>
      <p:grpSpPr>
        <a:xfrm>
          <a:off x="0" y="0"/>
          <a:ext cx="0" cy="0"/>
          <a:chOff x="0" y="0"/>
          <a:chExt cx="0" cy="0"/>
        </a:xfrm>
      </p:grpSpPr>
      <p:sp>
        <p:nvSpPr>
          <p:cNvPr id="34" name="Google Shape;34;p7"/>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Autofit/>
          </a:bodyPr>
          <a:lstStyle>
            <a:lvl1pPr lvl="0" marR="0" rtl="0" algn="l">
              <a:lnSpc>
                <a:spcPct val="90000"/>
              </a:lnSpc>
              <a:spcBef>
                <a:spcPts val="0"/>
              </a:spcBef>
              <a:spcAft>
                <a:spcPts val="0"/>
              </a:spcAft>
              <a:buClr>
                <a:schemeClr val="dk1"/>
              </a:buClr>
              <a:buSzPts val="6000"/>
              <a:buFont typeface="Calibri"/>
              <a:buNone/>
              <a:defRPr b="0" i="0" sz="60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35" name="Google Shape;35;p7"/>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rgbClr val="888888"/>
              </a:buClr>
              <a:buSzPts val="2400"/>
              <a:buFont typeface="Arial"/>
              <a:buNone/>
              <a:defRPr b="0" i="0" sz="2400" u="none" cap="none" strike="noStrike">
                <a:solidFill>
                  <a:srgbClr val="888888"/>
                </a:solidFill>
                <a:latin typeface="Calibri"/>
                <a:ea typeface="Calibri"/>
                <a:cs typeface="Calibri"/>
                <a:sym typeface="Calibri"/>
              </a:defRPr>
            </a:lvl1pPr>
            <a:lvl2pPr indent="-228600" lvl="1" marL="914400" marR="0" rtl="0" algn="l">
              <a:lnSpc>
                <a:spcPct val="90000"/>
              </a:lnSpc>
              <a:spcBef>
                <a:spcPts val="500"/>
              </a:spcBef>
              <a:spcAft>
                <a:spcPts val="0"/>
              </a:spcAft>
              <a:buClr>
                <a:srgbClr val="888888"/>
              </a:buClr>
              <a:buSzPts val="2000"/>
              <a:buFont typeface="Arial"/>
              <a:buNone/>
              <a:defRPr b="0" i="0" sz="2000" u="none" cap="none" strike="noStrike">
                <a:solidFill>
                  <a:srgbClr val="888888"/>
                </a:solidFill>
                <a:latin typeface="Calibri"/>
                <a:ea typeface="Calibri"/>
                <a:cs typeface="Calibri"/>
                <a:sym typeface="Calibri"/>
              </a:defRPr>
            </a:lvl2pPr>
            <a:lvl3pPr indent="-228600" lvl="2" marL="1371600" marR="0" rtl="0" algn="l">
              <a:lnSpc>
                <a:spcPct val="90000"/>
              </a:lnSpc>
              <a:spcBef>
                <a:spcPts val="500"/>
              </a:spcBef>
              <a:spcAft>
                <a:spcPts val="0"/>
              </a:spcAft>
              <a:buClr>
                <a:srgbClr val="888888"/>
              </a:buClr>
              <a:buSzPts val="1800"/>
              <a:buFont typeface="Arial"/>
              <a:buNone/>
              <a:defRPr b="0" i="0" sz="1800" u="none" cap="none" strike="noStrike">
                <a:solidFill>
                  <a:srgbClr val="888888"/>
                </a:solidFill>
                <a:latin typeface="Calibri"/>
                <a:ea typeface="Calibri"/>
                <a:cs typeface="Calibri"/>
                <a:sym typeface="Calibri"/>
              </a:defRPr>
            </a:lvl3pPr>
            <a:lvl4pPr indent="-228600" lvl="3" marL="18288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4pPr>
            <a:lvl5pPr indent="-228600" lvl="4" marL="22860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5pPr>
            <a:lvl6pPr indent="-228600" lvl="5" marL="27432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6pPr>
            <a:lvl7pPr indent="-228600" lvl="6" marL="32004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7pPr>
            <a:lvl8pPr indent="-228600" lvl="7" marL="36576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8pPr>
            <a:lvl9pPr indent="-228600" lvl="8" marL="41148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9pPr>
          </a:lstStyle>
          <a:p/>
        </p:txBody>
      </p:sp>
      <p:sp>
        <p:nvSpPr>
          <p:cNvPr id="36" name="Google Shape;36;p7"/>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37" name="Google Shape;37;p7"/>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38" name="Google Shape;38;p7"/>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9" name="Shape 39"/>
        <p:cNvGrpSpPr/>
        <p:nvPr/>
      </p:nvGrpSpPr>
      <p:grpSpPr>
        <a:xfrm>
          <a:off x="0" y="0"/>
          <a:ext cx="0" cy="0"/>
          <a:chOff x="0" y="0"/>
          <a:chExt cx="0" cy="0"/>
        </a:xfrm>
      </p:grpSpPr>
      <p:sp>
        <p:nvSpPr>
          <p:cNvPr id="40" name="Google Shape;40;p8"/>
          <p:cNvSpPr txBox="1"/>
          <p:nvPr>
            <p:ph type="title"/>
          </p:nvPr>
        </p:nvSpPr>
        <p:spPr>
          <a:xfrm>
            <a:off x="838200" y="365125"/>
            <a:ext cx="105156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41" name="Google Shape;41;p8"/>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42" name="Google Shape;42;p8"/>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43" name="Google Shape;43;p8"/>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4" name="Google Shape;44;p8"/>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5" name="Google Shape;45;p8"/>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6" name="Shape 46"/>
        <p:cNvGrpSpPr/>
        <p:nvPr/>
      </p:nvGrpSpPr>
      <p:grpSpPr>
        <a:xfrm>
          <a:off x="0" y="0"/>
          <a:ext cx="0" cy="0"/>
          <a:chOff x="0" y="0"/>
          <a:chExt cx="0" cy="0"/>
        </a:xfrm>
      </p:grpSpPr>
      <p:sp>
        <p:nvSpPr>
          <p:cNvPr id="47" name="Google Shape;47;p9"/>
          <p:cNvSpPr txBox="1"/>
          <p:nvPr>
            <p:ph type="title"/>
          </p:nvPr>
        </p:nvSpPr>
        <p:spPr>
          <a:xfrm>
            <a:off x="839788" y="365125"/>
            <a:ext cx="105156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48" name="Google Shape;48;p9"/>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2400"/>
              <a:buFont typeface="Arial"/>
              <a:buNone/>
              <a:defRPr b="1" i="0" sz="2400" u="none" cap="none" strike="noStrike">
                <a:solidFill>
                  <a:schemeClr val="dk1"/>
                </a:solidFill>
                <a:latin typeface="Calibri"/>
                <a:ea typeface="Calibri"/>
                <a:cs typeface="Calibri"/>
                <a:sym typeface="Calibri"/>
              </a:defRPr>
            </a:lvl1pPr>
            <a:lvl2pPr indent="-228600" lvl="1" marL="914400" marR="0" rtl="0" algn="l">
              <a:lnSpc>
                <a:spcPct val="90000"/>
              </a:lnSpc>
              <a:spcBef>
                <a:spcPts val="500"/>
              </a:spcBef>
              <a:spcAft>
                <a:spcPts val="0"/>
              </a:spcAft>
              <a:buClr>
                <a:schemeClr val="dk1"/>
              </a:buClr>
              <a:buSzPts val="2000"/>
              <a:buFont typeface="Arial"/>
              <a:buNone/>
              <a:defRPr b="1" i="0" sz="2000" u="none" cap="none" strike="noStrike">
                <a:solidFill>
                  <a:schemeClr val="dk1"/>
                </a:solidFill>
                <a:latin typeface="Calibri"/>
                <a:ea typeface="Calibri"/>
                <a:cs typeface="Calibri"/>
                <a:sym typeface="Calibri"/>
              </a:defRPr>
            </a:lvl2pPr>
            <a:lvl3pPr indent="-228600" lvl="2" marL="1371600" marR="0" rtl="0" algn="l">
              <a:lnSpc>
                <a:spcPct val="90000"/>
              </a:lnSpc>
              <a:spcBef>
                <a:spcPts val="500"/>
              </a:spcBef>
              <a:spcAft>
                <a:spcPts val="0"/>
              </a:spcAft>
              <a:buClr>
                <a:schemeClr val="dk1"/>
              </a:buClr>
              <a:buSzPts val="1800"/>
              <a:buFont typeface="Arial"/>
              <a:buNone/>
              <a:defRPr b="1" i="0" sz="1800" u="none" cap="none" strike="noStrike">
                <a:solidFill>
                  <a:schemeClr val="dk1"/>
                </a:solidFill>
                <a:latin typeface="Calibri"/>
                <a:ea typeface="Calibri"/>
                <a:cs typeface="Calibri"/>
                <a:sym typeface="Calibri"/>
              </a:defRPr>
            </a:lvl3pPr>
            <a:lvl4pPr indent="-228600" lvl="3" marL="18288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4pPr>
            <a:lvl5pPr indent="-228600" lvl="4" marL="22860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5pPr>
            <a:lvl6pPr indent="-228600" lvl="5" marL="27432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6pPr>
            <a:lvl7pPr indent="-228600" lvl="6" marL="32004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7pPr>
            <a:lvl8pPr indent="-228600" lvl="7" marL="36576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8pPr>
            <a:lvl9pPr indent="-228600" lvl="8" marL="41148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9pPr>
          </a:lstStyle>
          <a:p/>
        </p:txBody>
      </p:sp>
      <p:sp>
        <p:nvSpPr>
          <p:cNvPr id="49" name="Google Shape;49;p9"/>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50" name="Google Shape;50;p9"/>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2400"/>
              <a:buFont typeface="Arial"/>
              <a:buNone/>
              <a:defRPr b="1" i="0" sz="2400" u="none" cap="none" strike="noStrike">
                <a:solidFill>
                  <a:schemeClr val="dk1"/>
                </a:solidFill>
                <a:latin typeface="Calibri"/>
                <a:ea typeface="Calibri"/>
                <a:cs typeface="Calibri"/>
                <a:sym typeface="Calibri"/>
              </a:defRPr>
            </a:lvl1pPr>
            <a:lvl2pPr indent="-228600" lvl="1" marL="914400" marR="0" rtl="0" algn="l">
              <a:lnSpc>
                <a:spcPct val="90000"/>
              </a:lnSpc>
              <a:spcBef>
                <a:spcPts val="500"/>
              </a:spcBef>
              <a:spcAft>
                <a:spcPts val="0"/>
              </a:spcAft>
              <a:buClr>
                <a:schemeClr val="dk1"/>
              </a:buClr>
              <a:buSzPts val="2000"/>
              <a:buFont typeface="Arial"/>
              <a:buNone/>
              <a:defRPr b="1" i="0" sz="2000" u="none" cap="none" strike="noStrike">
                <a:solidFill>
                  <a:schemeClr val="dk1"/>
                </a:solidFill>
                <a:latin typeface="Calibri"/>
                <a:ea typeface="Calibri"/>
                <a:cs typeface="Calibri"/>
                <a:sym typeface="Calibri"/>
              </a:defRPr>
            </a:lvl2pPr>
            <a:lvl3pPr indent="-228600" lvl="2" marL="1371600" marR="0" rtl="0" algn="l">
              <a:lnSpc>
                <a:spcPct val="90000"/>
              </a:lnSpc>
              <a:spcBef>
                <a:spcPts val="500"/>
              </a:spcBef>
              <a:spcAft>
                <a:spcPts val="0"/>
              </a:spcAft>
              <a:buClr>
                <a:schemeClr val="dk1"/>
              </a:buClr>
              <a:buSzPts val="1800"/>
              <a:buFont typeface="Arial"/>
              <a:buNone/>
              <a:defRPr b="1" i="0" sz="1800" u="none" cap="none" strike="noStrike">
                <a:solidFill>
                  <a:schemeClr val="dk1"/>
                </a:solidFill>
                <a:latin typeface="Calibri"/>
                <a:ea typeface="Calibri"/>
                <a:cs typeface="Calibri"/>
                <a:sym typeface="Calibri"/>
              </a:defRPr>
            </a:lvl3pPr>
            <a:lvl4pPr indent="-228600" lvl="3" marL="18288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4pPr>
            <a:lvl5pPr indent="-228600" lvl="4" marL="22860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5pPr>
            <a:lvl6pPr indent="-228600" lvl="5" marL="27432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6pPr>
            <a:lvl7pPr indent="-228600" lvl="6" marL="32004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7pPr>
            <a:lvl8pPr indent="-228600" lvl="7" marL="36576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8pPr>
            <a:lvl9pPr indent="-228600" lvl="8" marL="41148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9pPr>
          </a:lstStyle>
          <a:p/>
        </p:txBody>
      </p:sp>
      <p:sp>
        <p:nvSpPr>
          <p:cNvPr id="51" name="Google Shape;51;p9"/>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52" name="Google Shape;52;p9"/>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3" name="Google Shape;53;p9"/>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4" name="Google Shape;54;p9"/>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5" name="Shape 55"/>
        <p:cNvGrpSpPr/>
        <p:nvPr/>
      </p:nvGrpSpPr>
      <p:grpSpPr>
        <a:xfrm>
          <a:off x="0" y="0"/>
          <a:ext cx="0" cy="0"/>
          <a:chOff x="0" y="0"/>
          <a:chExt cx="0" cy="0"/>
        </a:xfrm>
      </p:grpSpPr>
      <p:sp>
        <p:nvSpPr>
          <p:cNvPr id="56" name="Google Shape;56;p10"/>
          <p:cNvSpPr txBox="1"/>
          <p:nvPr>
            <p:ph type="title"/>
          </p:nvPr>
        </p:nvSpPr>
        <p:spPr>
          <a:xfrm>
            <a:off x="838200" y="365125"/>
            <a:ext cx="105156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57" name="Google Shape;57;p10"/>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8" name="Google Shape;58;p10"/>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9" name="Google Shape;59;p10"/>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60" name="Shape 60"/>
        <p:cNvGrpSpPr/>
        <p:nvPr/>
      </p:nvGrpSpPr>
      <p:grpSpPr>
        <a:xfrm>
          <a:off x="0" y="0"/>
          <a:ext cx="0" cy="0"/>
          <a:chOff x="0" y="0"/>
          <a:chExt cx="0" cy="0"/>
        </a:xfrm>
      </p:grpSpPr>
      <p:sp>
        <p:nvSpPr>
          <p:cNvPr id="61" name="Google Shape;61;p11"/>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62" name="Google Shape;62;p11"/>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63" name="Google Shape;63;p11"/>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64" name="Shape 64"/>
        <p:cNvGrpSpPr/>
        <p:nvPr/>
      </p:nvGrpSpPr>
      <p:grpSpPr>
        <a:xfrm>
          <a:off x="0" y="0"/>
          <a:ext cx="0" cy="0"/>
          <a:chOff x="0" y="0"/>
          <a:chExt cx="0" cy="0"/>
        </a:xfrm>
      </p:grpSpPr>
      <p:sp>
        <p:nvSpPr>
          <p:cNvPr id="65" name="Google Shape;65;p12"/>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Autofit/>
          </a:bodyPr>
          <a:lstStyle>
            <a:lvl1pPr lvl="0" marR="0" rtl="0" algn="l">
              <a:lnSpc>
                <a:spcPct val="90000"/>
              </a:lnSpc>
              <a:spcBef>
                <a:spcPts val="0"/>
              </a:spcBef>
              <a:spcAft>
                <a:spcPts val="0"/>
              </a:spcAft>
              <a:buClr>
                <a:schemeClr val="dk1"/>
              </a:buClr>
              <a:buSzPts val="3200"/>
              <a:buFont typeface="Calibri"/>
              <a:buNone/>
              <a:defRPr b="0" i="0" sz="3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66" name="Google Shape;66;p12"/>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Autofit/>
          </a:bodyPr>
          <a:lstStyle>
            <a:lvl1pPr indent="-431800" lvl="0" marL="457200" marR="0" rtl="0" algn="l">
              <a:lnSpc>
                <a:spcPct val="90000"/>
              </a:lnSpc>
              <a:spcBef>
                <a:spcPts val="100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lnSpc>
                <a:spcPct val="90000"/>
              </a:lnSpc>
              <a:spcBef>
                <a:spcPts val="5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67" name="Google Shape;67;p12"/>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1600"/>
              <a:buFont typeface="Arial"/>
              <a:buNone/>
              <a:defRPr b="0" i="0" sz="1600" u="none" cap="none" strike="noStrike">
                <a:solidFill>
                  <a:schemeClr val="dk1"/>
                </a:solidFill>
                <a:latin typeface="Calibri"/>
                <a:ea typeface="Calibri"/>
                <a:cs typeface="Calibri"/>
                <a:sym typeface="Calibri"/>
              </a:defRPr>
            </a:lvl1pPr>
            <a:lvl2pPr indent="-228600" lvl="1" marL="914400" marR="0" rtl="0" algn="l">
              <a:lnSpc>
                <a:spcPct val="90000"/>
              </a:lnSpc>
              <a:spcBef>
                <a:spcPts val="500"/>
              </a:spcBef>
              <a:spcAft>
                <a:spcPts val="0"/>
              </a:spcAft>
              <a:buClr>
                <a:schemeClr val="dk1"/>
              </a:buClr>
              <a:buSzPts val="1400"/>
              <a:buFont typeface="Arial"/>
              <a:buNone/>
              <a:defRPr b="0" i="0" sz="1400" u="none" cap="none" strike="noStrike">
                <a:solidFill>
                  <a:schemeClr val="dk1"/>
                </a:solidFill>
                <a:latin typeface="Calibri"/>
                <a:ea typeface="Calibri"/>
                <a:cs typeface="Calibri"/>
                <a:sym typeface="Calibri"/>
              </a:defRPr>
            </a:lvl2pPr>
            <a:lvl3pPr indent="-228600" lvl="2" marL="1371600" marR="0" rtl="0" algn="l">
              <a:lnSpc>
                <a:spcPct val="90000"/>
              </a:lnSpc>
              <a:spcBef>
                <a:spcPts val="500"/>
              </a:spcBef>
              <a:spcAft>
                <a:spcPts val="0"/>
              </a:spcAft>
              <a:buClr>
                <a:schemeClr val="dk1"/>
              </a:buClr>
              <a:buSzPts val="12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4pPr>
            <a:lvl5pPr indent="-228600" lvl="4" marL="22860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5pPr>
            <a:lvl6pPr indent="-228600" lvl="5" marL="27432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6pPr>
            <a:lvl7pPr indent="-228600" lvl="6" marL="32004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7pPr>
            <a:lvl8pPr indent="-228600" lvl="7" marL="36576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8pPr>
            <a:lvl9pPr indent="-228600" lvl="8" marL="41148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9pPr>
          </a:lstStyle>
          <a:p/>
        </p:txBody>
      </p:sp>
      <p:sp>
        <p:nvSpPr>
          <p:cNvPr id="68" name="Google Shape;68;p12"/>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69" name="Google Shape;69;p12"/>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70" name="Google Shape;70;p12"/>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71" name="Shape 71"/>
        <p:cNvGrpSpPr/>
        <p:nvPr/>
      </p:nvGrpSpPr>
      <p:grpSpPr>
        <a:xfrm>
          <a:off x="0" y="0"/>
          <a:ext cx="0" cy="0"/>
          <a:chOff x="0" y="0"/>
          <a:chExt cx="0" cy="0"/>
        </a:xfrm>
      </p:grpSpPr>
      <p:sp>
        <p:nvSpPr>
          <p:cNvPr id="72" name="Google Shape;72;p13"/>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Autofit/>
          </a:bodyPr>
          <a:lstStyle>
            <a:lvl1pPr lvl="0" marR="0" rtl="0" algn="l">
              <a:lnSpc>
                <a:spcPct val="90000"/>
              </a:lnSpc>
              <a:spcBef>
                <a:spcPts val="0"/>
              </a:spcBef>
              <a:spcAft>
                <a:spcPts val="0"/>
              </a:spcAft>
              <a:buClr>
                <a:schemeClr val="dk1"/>
              </a:buClr>
              <a:buSzPts val="3200"/>
              <a:buFont typeface="Calibri"/>
              <a:buNone/>
              <a:defRPr b="0" i="0" sz="3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73" name="Google Shape;73;p13"/>
          <p:cNvSpPr/>
          <p:nvPr>
            <p:ph idx="2" type="pic"/>
          </p:nvPr>
        </p:nvSpPr>
        <p:spPr>
          <a:xfrm>
            <a:off x="5183188" y="987425"/>
            <a:ext cx="6172200" cy="4873625"/>
          </a:xfrm>
          <a:prstGeom prst="rect">
            <a:avLst/>
          </a:prstGeom>
          <a:noFill/>
          <a:ln>
            <a:noFill/>
          </a:ln>
        </p:spPr>
      </p:sp>
      <p:sp>
        <p:nvSpPr>
          <p:cNvPr id="74" name="Google Shape;74;p13"/>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1600"/>
              <a:buFont typeface="Arial"/>
              <a:buNone/>
              <a:defRPr b="0" i="0" sz="1600" u="none" cap="none" strike="noStrike">
                <a:solidFill>
                  <a:schemeClr val="dk1"/>
                </a:solidFill>
                <a:latin typeface="Calibri"/>
                <a:ea typeface="Calibri"/>
                <a:cs typeface="Calibri"/>
                <a:sym typeface="Calibri"/>
              </a:defRPr>
            </a:lvl1pPr>
            <a:lvl2pPr indent="-228600" lvl="1" marL="914400" marR="0" rtl="0" algn="l">
              <a:lnSpc>
                <a:spcPct val="90000"/>
              </a:lnSpc>
              <a:spcBef>
                <a:spcPts val="500"/>
              </a:spcBef>
              <a:spcAft>
                <a:spcPts val="0"/>
              </a:spcAft>
              <a:buClr>
                <a:schemeClr val="dk1"/>
              </a:buClr>
              <a:buSzPts val="1400"/>
              <a:buFont typeface="Arial"/>
              <a:buNone/>
              <a:defRPr b="0" i="0" sz="1400" u="none" cap="none" strike="noStrike">
                <a:solidFill>
                  <a:schemeClr val="dk1"/>
                </a:solidFill>
                <a:latin typeface="Calibri"/>
                <a:ea typeface="Calibri"/>
                <a:cs typeface="Calibri"/>
                <a:sym typeface="Calibri"/>
              </a:defRPr>
            </a:lvl2pPr>
            <a:lvl3pPr indent="-228600" lvl="2" marL="1371600" marR="0" rtl="0" algn="l">
              <a:lnSpc>
                <a:spcPct val="90000"/>
              </a:lnSpc>
              <a:spcBef>
                <a:spcPts val="500"/>
              </a:spcBef>
              <a:spcAft>
                <a:spcPts val="0"/>
              </a:spcAft>
              <a:buClr>
                <a:schemeClr val="dk1"/>
              </a:buClr>
              <a:buSzPts val="12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4pPr>
            <a:lvl5pPr indent="-228600" lvl="4" marL="22860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5pPr>
            <a:lvl6pPr indent="-228600" lvl="5" marL="27432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6pPr>
            <a:lvl7pPr indent="-228600" lvl="6" marL="32004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7pPr>
            <a:lvl8pPr indent="-228600" lvl="7" marL="36576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8pPr>
            <a:lvl9pPr indent="-228600" lvl="8" marL="41148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9pPr>
          </a:lstStyle>
          <a:p/>
        </p:txBody>
      </p:sp>
      <p:sp>
        <p:nvSpPr>
          <p:cNvPr id="75" name="Google Shape;75;p13"/>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76" name="Google Shape;76;p13"/>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77" name="Google Shape;77;p13"/>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8" name="Shape 78"/>
        <p:cNvGrpSpPr/>
        <p:nvPr/>
      </p:nvGrpSpPr>
      <p:grpSpPr>
        <a:xfrm>
          <a:off x="0" y="0"/>
          <a:ext cx="0" cy="0"/>
          <a:chOff x="0" y="0"/>
          <a:chExt cx="0" cy="0"/>
        </a:xfrm>
      </p:grpSpPr>
      <p:sp>
        <p:nvSpPr>
          <p:cNvPr id="79" name="Google Shape;79;p14"/>
          <p:cNvSpPr txBox="1"/>
          <p:nvPr>
            <p:ph type="title"/>
          </p:nvPr>
        </p:nvSpPr>
        <p:spPr>
          <a:xfrm>
            <a:off x="838200" y="365125"/>
            <a:ext cx="105156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80" name="Google Shape;80;p14"/>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81" name="Google Shape;81;p14"/>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2" name="Google Shape;82;p14"/>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3" name="Google Shape;83;p14"/>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84" name="Shape 84"/>
        <p:cNvGrpSpPr/>
        <p:nvPr/>
      </p:nvGrpSpPr>
      <p:grpSpPr>
        <a:xfrm>
          <a:off x="0" y="0"/>
          <a:ext cx="0" cy="0"/>
          <a:chOff x="0" y="0"/>
          <a:chExt cx="0" cy="0"/>
        </a:xfrm>
      </p:grpSpPr>
      <p:sp>
        <p:nvSpPr>
          <p:cNvPr id="85" name="Google Shape;85;p15"/>
          <p:cNvSpPr txBox="1"/>
          <p:nvPr>
            <p:ph type="title"/>
          </p:nvPr>
        </p:nvSpPr>
        <p:spPr>
          <a:xfrm rot="5400000">
            <a:off x="7133431" y="1956594"/>
            <a:ext cx="5811838" cy="2628900"/>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86" name="Google Shape;86;p15"/>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87" name="Google Shape;87;p15"/>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8" name="Google Shape;88;p15"/>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9" name="Google Shape;89;p15"/>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96" name="Shape 96"/>
        <p:cNvGrpSpPr/>
        <p:nvPr/>
      </p:nvGrpSpPr>
      <p:grpSpPr>
        <a:xfrm>
          <a:off x="0" y="0"/>
          <a:ext cx="0" cy="0"/>
          <a:chOff x="0" y="0"/>
          <a:chExt cx="0" cy="0"/>
        </a:xfrm>
      </p:grpSpPr>
      <p:sp>
        <p:nvSpPr>
          <p:cNvPr id="97" name="Google Shape;97;p17"/>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98" name="Google Shape;98;p17"/>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99" name="Google Shape;99;p17"/>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Slide">
    <p:spTree>
      <p:nvGrpSpPr>
        <p:cNvPr id="100" name="Shape 100"/>
        <p:cNvGrpSpPr/>
        <p:nvPr/>
      </p:nvGrpSpPr>
      <p:grpSpPr>
        <a:xfrm>
          <a:off x="0" y="0"/>
          <a:ext cx="0" cy="0"/>
          <a:chOff x="0" y="0"/>
          <a:chExt cx="0" cy="0"/>
        </a:xfrm>
      </p:grpSpPr>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01" name="Shape 101"/>
        <p:cNvGrpSpPr/>
        <p:nvPr/>
      </p:nvGrpSpPr>
      <p:grpSpPr>
        <a:xfrm>
          <a:off x="0" y="0"/>
          <a:ext cx="0" cy="0"/>
          <a:chOff x="0" y="0"/>
          <a:chExt cx="0" cy="0"/>
        </a:xfrm>
      </p:grpSpPr>
      <p:sp>
        <p:nvSpPr>
          <p:cNvPr id="102" name="Google Shape;102;p19"/>
          <p:cNvSpPr txBox="1"/>
          <p:nvPr>
            <p:ph type="title"/>
          </p:nvPr>
        </p:nvSpPr>
        <p:spPr>
          <a:xfrm>
            <a:off x="838200" y="365125"/>
            <a:ext cx="105156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03" name="Google Shape;103;p19"/>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04" name="Google Shape;104;p19"/>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05" name="Google Shape;105;p19"/>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06" name="Google Shape;106;p19"/>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07" name="Shape 107"/>
        <p:cNvGrpSpPr/>
        <p:nvPr/>
      </p:nvGrpSpPr>
      <p:grpSpPr>
        <a:xfrm>
          <a:off x="0" y="0"/>
          <a:ext cx="0" cy="0"/>
          <a:chOff x="0" y="0"/>
          <a:chExt cx="0" cy="0"/>
        </a:xfrm>
      </p:grpSpPr>
      <p:sp>
        <p:nvSpPr>
          <p:cNvPr id="108" name="Google Shape;108;p20"/>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Autofit/>
          </a:bodyPr>
          <a:lstStyle>
            <a:lvl1pPr lvl="0" marR="0" rtl="0" algn="l">
              <a:lnSpc>
                <a:spcPct val="90000"/>
              </a:lnSpc>
              <a:spcBef>
                <a:spcPts val="0"/>
              </a:spcBef>
              <a:spcAft>
                <a:spcPts val="0"/>
              </a:spcAft>
              <a:buClr>
                <a:schemeClr val="dk1"/>
              </a:buClr>
              <a:buSzPts val="6000"/>
              <a:buFont typeface="Calibri"/>
              <a:buNone/>
              <a:defRPr b="0" i="0" sz="60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09" name="Google Shape;109;p20"/>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rgbClr val="888888"/>
              </a:buClr>
              <a:buSzPts val="2400"/>
              <a:buFont typeface="Arial"/>
              <a:buNone/>
              <a:defRPr b="0" i="0" sz="2400" u="none" cap="none" strike="noStrike">
                <a:solidFill>
                  <a:srgbClr val="888888"/>
                </a:solidFill>
                <a:latin typeface="Calibri"/>
                <a:ea typeface="Calibri"/>
                <a:cs typeface="Calibri"/>
                <a:sym typeface="Calibri"/>
              </a:defRPr>
            </a:lvl1pPr>
            <a:lvl2pPr indent="-228600" lvl="1" marL="914400" marR="0" rtl="0" algn="l">
              <a:lnSpc>
                <a:spcPct val="90000"/>
              </a:lnSpc>
              <a:spcBef>
                <a:spcPts val="500"/>
              </a:spcBef>
              <a:spcAft>
                <a:spcPts val="0"/>
              </a:spcAft>
              <a:buClr>
                <a:srgbClr val="888888"/>
              </a:buClr>
              <a:buSzPts val="2000"/>
              <a:buFont typeface="Arial"/>
              <a:buNone/>
              <a:defRPr b="0" i="0" sz="2000" u="none" cap="none" strike="noStrike">
                <a:solidFill>
                  <a:srgbClr val="888888"/>
                </a:solidFill>
                <a:latin typeface="Calibri"/>
                <a:ea typeface="Calibri"/>
                <a:cs typeface="Calibri"/>
                <a:sym typeface="Calibri"/>
              </a:defRPr>
            </a:lvl2pPr>
            <a:lvl3pPr indent="-228600" lvl="2" marL="1371600" marR="0" rtl="0" algn="l">
              <a:lnSpc>
                <a:spcPct val="90000"/>
              </a:lnSpc>
              <a:spcBef>
                <a:spcPts val="500"/>
              </a:spcBef>
              <a:spcAft>
                <a:spcPts val="0"/>
              </a:spcAft>
              <a:buClr>
                <a:srgbClr val="888888"/>
              </a:buClr>
              <a:buSzPts val="1800"/>
              <a:buFont typeface="Arial"/>
              <a:buNone/>
              <a:defRPr b="0" i="0" sz="1800" u="none" cap="none" strike="noStrike">
                <a:solidFill>
                  <a:srgbClr val="888888"/>
                </a:solidFill>
                <a:latin typeface="Calibri"/>
                <a:ea typeface="Calibri"/>
                <a:cs typeface="Calibri"/>
                <a:sym typeface="Calibri"/>
              </a:defRPr>
            </a:lvl3pPr>
            <a:lvl4pPr indent="-228600" lvl="3" marL="18288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4pPr>
            <a:lvl5pPr indent="-228600" lvl="4" marL="22860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5pPr>
            <a:lvl6pPr indent="-228600" lvl="5" marL="27432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6pPr>
            <a:lvl7pPr indent="-228600" lvl="6" marL="32004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7pPr>
            <a:lvl8pPr indent="-228600" lvl="7" marL="36576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8pPr>
            <a:lvl9pPr indent="-228600" lvl="8" marL="41148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9pPr>
          </a:lstStyle>
          <a:p/>
        </p:txBody>
      </p:sp>
      <p:sp>
        <p:nvSpPr>
          <p:cNvPr id="110" name="Google Shape;110;p20"/>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11" name="Google Shape;111;p20"/>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12" name="Google Shape;112;p20"/>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113" name="Shape 113"/>
        <p:cNvGrpSpPr/>
        <p:nvPr/>
      </p:nvGrpSpPr>
      <p:grpSpPr>
        <a:xfrm>
          <a:off x="0" y="0"/>
          <a:ext cx="0" cy="0"/>
          <a:chOff x="0" y="0"/>
          <a:chExt cx="0" cy="0"/>
        </a:xfrm>
      </p:grpSpPr>
      <p:sp>
        <p:nvSpPr>
          <p:cNvPr id="114" name="Google Shape;114;p21"/>
          <p:cNvSpPr txBox="1"/>
          <p:nvPr>
            <p:ph type="title"/>
          </p:nvPr>
        </p:nvSpPr>
        <p:spPr>
          <a:xfrm>
            <a:off x="838200" y="365125"/>
            <a:ext cx="105156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15" name="Google Shape;115;p21"/>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16" name="Google Shape;116;p21"/>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17" name="Google Shape;117;p21"/>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18" name="Google Shape;118;p21"/>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19" name="Google Shape;119;p21"/>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120" name="Shape 120"/>
        <p:cNvGrpSpPr/>
        <p:nvPr/>
      </p:nvGrpSpPr>
      <p:grpSpPr>
        <a:xfrm>
          <a:off x="0" y="0"/>
          <a:ext cx="0" cy="0"/>
          <a:chOff x="0" y="0"/>
          <a:chExt cx="0" cy="0"/>
        </a:xfrm>
      </p:grpSpPr>
      <p:sp>
        <p:nvSpPr>
          <p:cNvPr id="121" name="Google Shape;121;p22"/>
          <p:cNvSpPr txBox="1"/>
          <p:nvPr>
            <p:ph type="title"/>
          </p:nvPr>
        </p:nvSpPr>
        <p:spPr>
          <a:xfrm>
            <a:off x="839788" y="365125"/>
            <a:ext cx="105156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22" name="Google Shape;122;p22"/>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2400"/>
              <a:buFont typeface="Arial"/>
              <a:buNone/>
              <a:defRPr b="1" i="0" sz="2400" u="none" cap="none" strike="noStrike">
                <a:solidFill>
                  <a:schemeClr val="dk1"/>
                </a:solidFill>
                <a:latin typeface="Calibri"/>
                <a:ea typeface="Calibri"/>
                <a:cs typeface="Calibri"/>
                <a:sym typeface="Calibri"/>
              </a:defRPr>
            </a:lvl1pPr>
            <a:lvl2pPr indent="-228600" lvl="1" marL="914400" marR="0" rtl="0" algn="l">
              <a:lnSpc>
                <a:spcPct val="90000"/>
              </a:lnSpc>
              <a:spcBef>
                <a:spcPts val="500"/>
              </a:spcBef>
              <a:spcAft>
                <a:spcPts val="0"/>
              </a:spcAft>
              <a:buClr>
                <a:schemeClr val="dk1"/>
              </a:buClr>
              <a:buSzPts val="2000"/>
              <a:buFont typeface="Arial"/>
              <a:buNone/>
              <a:defRPr b="1" i="0" sz="2000" u="none" cap="none" strike="noStrike">
                <a:solidFill>
                  <a:schemeClr val="dk1"/>
                </a:solidFill>
                <a:latin typeface="Calibri"/>
                <a:ea typeface="Calibri"/>
                <a:cs typeface="Calibri"/>
                <a:sym typeface="Calibri"/>
              </a:defRPr>
            </a:lvl2pPr>
            <a:lvl3pPr indent="-228600" lvl="2" marL="1371600" marR="0" rtl="0" algn="l">
              <a:lnSpc>
                <a:spcPct val="90000"/>
              </a:lnSpc>
              <a:spcBef>
                <a:spcPts val="500"/>
              </a:spcBef>
              <a:spcAft>
                <a:spcPts val="0"/>
              </a:spcAft>
              <a:buClr>
                <a:schemeClr val="dk1"/>
              </a:buClr>
              <a:buSzPts val="1800"/>
              <a:buFont typeface="Arial"/>
              <a:buNone/>
              <a:defRPr b="1" i="0" sz="1800" u="none" cap="none" strike="noStrike">
                <a:solidFill>
                  <a:schemeClr val="dk1"/>
                </a:solidFill>
                <a:latin typeface="Calibri"/>
                <a:ea typeface="Calibri"/>
                <a:cs typeface="Calibri"/>
                <a:sym typeface="Calibri"/>
              </a:defRPr>
            </a:lvl3pPr>
            <a:lvl4pPr indent="-228600" lvl="3" marL="18288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4pPr>
            <a:lvl5pPr indent="-228600" lvl="4" marL="22860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5pPr>
            <a:lvl6pPr indent="-228600" lvl="5" marL="27432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6pPr>
            <a:lvl7pPr indent="-228600" lvl="6" marL="32004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7pPr>
            <a:lvl8pPr indent="-228600" lvl="7" marL="36576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8pPr>
            <a:lvl9pPr indent="-228600" lvl="8" marL="41148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9pPr>
          </a:lstStyle>
          <a:p/>
        </p:txBody>
      </p:sp>
      <p:sp>
        <p:nvSpPr>
          <p:cNvPr id="123" name="Google Shape;123;p22"/>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24" name="Google Shape;124;p22"/>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2400"/>
              <a:buFont typeface="Arial"/>
              <a:buNone/>
              <a:defRPr b="1" i="0" sz="2400" u="none" cap="none" strike="noStrike">
                <a:solidFill>
                  <a:schemeClr val="dk1"/>
                </a:solidFill>
                <a:latin typeface="Calibri"/>
                <a:ea typeface="Calibri"/>
                <a:cs typeface="Calibri"/>
                <a:sym typeface="Calibri"/>
              </a:defRPr>
            </a:lvl1pPr>
            <a:lvl2pPr indent="-228600" lvl="1" marL="914400" marR="0" rtl="0" algn="l">
              <a:lnSpc>
                <a:spcPct val="90000"/>
              </a:lnSpc>
              <a:spcBef>
                <a:spcPts val="500"/>
              </a:spcBef>
              <a:spcAft>
                <a:spcPts val="0"/>
              </a:spcAft>
              <a:buClr>
                <a:schemeClr val="dk1"/>
              </a:buClr>
              <a:buSzPts val="2000"/>
              <a:buFont typeface="Arial"/>
              <a:buNone/>
              <a:defRPr b="1" i="0" sz="2000" u="none" cap="none" strike="noStrike">
                <a:solidFill>
                  <a:schemeClr val="dk1"/>
                </a:solidFill>
                <a:latin typeface="Calibri"/>
                <a:ea typeface="Calibri"/>
                <a:cs typeface="Calibri"/>
                <a:sym typeface="Calibri"/>
              </a:defRPr>
            </a:lvl2pPr>
            <a:lvl3pPr indent="-228600" lvl="2" marL="1371600" marR="0" rtl="0" algn="l">
              <a:lnSpc>
                <a:spcPct val="90000"/>
              </a:lnSpc>
              <a:spcBef>
                <a:spcPts val="500"/>
              </a:spcBef>
              <a:spcAft>
                <a:spcPts val="0"/>
              </a:spcAft>
              <a:buClr>
                <a:schemeClr val="dk1"/>
              </a:buClr>
              <a:buSzPts val="1800"/>
              <a:buFont typeface="Arial"/>
              <a:buNone/>
              <a:defRPr b="1" i="0" sz="1800" u="none" cap="none" strike="noStrike">
                <a:solidFill>
                  <a:schemeClr val="dk1"/>
                </a:solidFill>
                <a:latin typeface="Calibri"/>
                <a:ea typeface="Calibri"/>
                <a:cs typeface="Calibri"/>
                <a:sym typeface="Calibri"/>
              </a:defRPr>
            </a:lvl3pPr>
            <a:lvl4pPr indent="-228600" lvl="3" marL="18288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4pPr>
            <a:lvl5pPr indent="-228600" lvl="4" marL="22860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5pPr>
            <a:lvl6pPr indent="-228600" lvl="5" marL="27432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6pPr>
            <a:lvl7pPr indent="-228600" lvl="6" marL="32004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7pPr>
            <a:lvl8pPr indent="-228600" lvl="7" marL="36576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8pPr>
            <a:lvl9pPr indent="-228600" lvl="8" marL="41148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9pPr>
          </a:lstStyle>
          <a:p/>
        </p:txBody>
      </p:sp>
      <p:sp>
        <p:nvSpPr>
          <p:cNvPr id="125" name="Google Shape;125;p22"/>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26" name="Google Shape;126;p22"/>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27" name="Google Shape;127;p22"/>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28" name="Google Shape;128;p22"/>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29" name="Shape 129"/>
        <p:cNvGrpSpPr/>
        <p:nvPr/>
      </p:nvGrpSpPr>
      <p:grpSpPr>
        <a:xfrm>
          <a:off x="0" y="0"/>
          <a:ext cx="0" cy="0"/>
          <a:chOff x="0" y="0"/>
          <a:chExt cx="0" cy="0"/>
        </a:xfrm>
      </p:grpSpPr>
      <p:sp>
        <p:nvSpPr>
          <p:cNvPr id="130" name="Google Shape;130;p23"/>
          <p:cNvSpPr txBox="1"/>
          <p:nvPr>
            <p:ph type="title"/>
          </p:nvPr>
        </p:nvSpPr>
        <p:spPr>
          <a:xfrm>
            <a:off x="838200" y="365125"/>
            <a:ext cx="105156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31" name="Google Shape;131;p23"/>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32" name="Google Shape;132;p23"/>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33" name="Google Shape;133;p23"/>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134" name="Shape 134"/>
        <p:cNvGrpSpPr/>
        <p:nvPr/>
      </p:nvGrpSpPr>
      <p:grpSpPr>
        <a:xfrm>
          <a:off x="0" y="0"/>
          <a:ext cx="0" cy="0"/>
          <a:chOff x="0" y="0"/>
          <a:chExt cx="0" cy="0"/>
        </a:xfrm>
      </p:grpSpPr>
      <p:sp>
        <p:nvSpPr>
          <p:cNvPr id="135" name="Google Shape;135;p24"/>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Autofit/>
          </a:bodyPr>
          <a:lstStyle>
            <a:lvl1pPr lvl="0" marR="0" rtl="0" algn="l">
              <a:lnSpc>
                <a:spcPct val="90000"/>
              </a:lnSpc>
              <a:spcBef>
                <a:spcPts val="0"/>
              </a:spcBef>
              <a:spcAft>
                <a:spcPts val="0"/>
              </a:spcAft>
              <a:buClr>
                <a:schemeClr val="dk1"/>
              </a:buClr>
              <a:buSzPts val="3200"/>
              <a:buFont typeface="Calibri"/>
              <a:buNone/>
              <a:defRPr b="0" i="0" sz="3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36" name="Google Shape;136;p24"/>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Autofit/>
          </a:bodyPr>
          <a:lstStyle>
            <a:lvl1pPr indent="-431800" lvl="0" marL="457200" marR="0" rtl="0" algn="l">
              <a:lnSpc>
                <a:spcPct val="90000"/>
              </a:lnSpc>
              <a:spcBef>
                <a:spcPts val="100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lnSpc>
                <a:spcPct val="90000"/>
              </a:lnSpc>
              <a:spcBef>
                <a:spcPts val="5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137" name="Google Shape;137;p24"/>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1600"/>
              <a:buFont typeface="Arial"/>
              <a:buNone/>
              <a:defRPr b="0" i="0" sz="1600" u="none" cap="none" strike="noStrike">
                <a:solidFill>
                  <a:schemeClr val="dk1"/>
                </a:solidFill>
                <a:latin typeface="Calibri"/>
                <a:ea typeface="Calibri"/>
                <a:cs typeface="Calibri"/>
                <a:sym typeface="Calibri"/>
              </a:defRPr>
            </a:lvl1pPr>
            <a:lvl2pPr indent="-228600" lvl="1" marL="914400" marR="0" rtl="0" algn="l">
              <a:lnSpc>
                <a:spcPct val="90000"/>
              </a:lnSpc>
              <a:spcBef>
                <a:spcPts val="500"/>
              </a:spcBef>
              <a:spcAft>
                <a:spcPts val="0"/>
              </a:spcAft>
              <a:buClr>
                <a:schemeClr val="dk1"/>
              </a:buClr>
              <a:buSzPts val="1400"/>
              <a:buFont typeface="Arial"/>
              <a:buNone/>
              <a:defRPr b="0" i="0" sz="1400" u="none" cap="none" strike="noStrike">
                <a:solidFill>
                  <a:schemeClr val="dk1"/>
                </a:solidFill>
                <a:latin typeface="Calibri"/>
                <a:ea typeface="Calibri"/>
                <a:cs typeface="Calibri"/>
                <a:sym typeface="Calibri"/>
              </a:defRPr>
            </a:lvl2pPr>
            <a:lvl3pPr indent="-228600" lvl="2" marL="1371600" marR="0" rtl="0" algn="l">
              <a:lnSpc>
                <a:spcPct val="90000"/>
              </a:lnSpc>
              <a:spcBef>
                <a:spcPts val="500"/>
              </a:spcBef>
              <a:spcAft>
                <a:spcPts val="0"/>
              </a:spcAft>
              <a:buClr>
                <a:schemeClr val="dk1"/>
              </a:buClr>
              <a:buSzPts val="12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4pPr>
            <a:lvl5pPr indent="-228600" lvl="4" marL="22860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5pPr>
            <a:lvl6pPr indent="-228600" lvl="5" marL="27432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6pPr>
            <a:lvl7pPr indent="-228600" lvl="6" marL="32004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7pPr>
            <a:lvl8pPr indent="-228600" lvl="7" marL="36576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8pPr>
            <a:lvl9pPr indent="-228600" lvl="8" marL="41148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9pPr>
          </a:lstStyle>
          <a:p/>
        </p:txBody>
      </p:sp>
      <p:sp>
        <p:nvSpPr>
          <p:cNvPr id="138" name="Google Shape;138;p24"/>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39" name="Google Shape;139;p24"/>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40" name="Google Shape;140;p24"/>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141" name="Shape 141"/>
        <p:cNvGrpSpPr/>
        <p:nvPr/>
      </p:nvGrpSpPr>
      <p:grpSpPr>
        <a:xfrm>
          <a:off x="0" y="0"/>
          <a:ext cx="0" cy="0"/>
          <a:chOff x="0" y="0"/>
          <a:chExt cx="0" cy="0"/>
        </a:xfrm>
      </p:grpSpPr>
      <p:sp>
        <p:nvSpPr>
          <p:cNvPr id="142" name="Google Shape;142;p25"/>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Autofit/>
          </a:bodyPr>
          <a:lstStyle>
            <a:lvl1pPr lvl="0" marR="0" rtl="0" algn="l">
              <a:lnSpc>
                <a:spcPct val="90000"/>
              </a:lnSpc>
              <a:spcBef>
                <a:spcPts val="0"/>
              </a:spcBef>
              <a:spcAft>
                <a:spcPts val="0"/>
              </a:spcAft>
              <a:buClr>
                <a:schemeClr val="dk1"/>
              </a:buClr>
              <a:buSzPts val="3200"/>
              <a:buFont typeface="Calibri"/>
              <a:buNone/>
              <a:defRPr b="0" i="0" sz="3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43" name="Google Shape;143;p25"/>
          <p:cNvSpPr/>
          <p:nvPr>
            <p:ph idx="2" type="pic"/>
          </p:nvPr>
        </p:nvSpPr>
        <p:spPr>
          <a:xfrm>
            <a:off x="5183188" y="987425"/>
            <a:ext cx="6172200" cy="4873625"/>
          </a:xfrm>
          <a:prstGeom prst="rect">
            <a:avLst/>
          </a:prstGeom>
          <a:noFill/>
          <a:ln>
            <a:noFill/>
          </a:ln>
        </p:spPr>
      </p:sp>
      <p:sp>
        <p:nvSpPr>
          <p:cNvPr id="144" name="Google Shape;144;p25"/>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1600"/>
              <a:buFont typeface="Arial"/>
              <a:buNone/>
              <a:defRPr b="0" i="0" sz="1600" u="none" cap="none" strike="noStrike">
                <a:solidFill>
                  <a:schemeClr val="dk1"/>
                </a:solidFill>
                <a:latin typeface="Calibri"/>
                <a:ea typeface="Calibri"/>
                <a:cs typeface="Calibri"/>
                <a:sym typeface="Calibri"/>
              </a:defRPr>
            </a:lvl1pPr>
            <a:lvl2pPr indent="-228600" lvl="1" marL="914400" marR="0" rtl="0" algn="l">
              <a:lnSpc>
                <a:spcPct val="90000"/>
              </a:lnSpc>
              <a:spcBef>
                <a:spcPts val="500"/>
              </a:spcBef>
              <a:spcAft>
                <a:spcPts val="0"/>
              </a:spcAft>
              <a:buClr>
                <a:schemeClr val="dk1"/>
              </a:buClr>
              <a:buSzPts val="1400"/>
              <a:buFont typeface="Arial"/>
              <a:buNone/>
              <a:defRPr b="0" i="0" sz="1400" u="none" cap="none" strike="noStrike">
                <a:solidFill>
                  <a:schemeClr val="dk1"/>
                </a:solidFill>
                <a:latin typeface="Calibri"/>
                <a:ea typeface="Calibri"/>
                <a:cs typeface="Calibri"/>
                <a:sym typeface="Calibri"/>
              </a:defRPr>
            </a:lvl2pPr>
            <a:lvl3pPr indent="-228600" lvl="2" marL="1371600" marR="0" rtl="0" algn="l">
              <a:lnSpc>
                <a:spcPct val="90000"/>
              </a:lnSpc>
              <a:spcBef>
                <a:spcPts val="500"/>
              </a:spcBef>
              <a:spcAft>
                <a:spcPts val="0"/>
              </a:spcAft>
              <a:buClr>
                <a:schemeClr val="dk1"/>
              </a:buClr>
              <a:buSzPts val="12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4pPr>
            <a:lvl5pPr indent="-228600" lvl="4" marL="22860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5pPr>
            <a:lvl6pPr indent="-228600" lvl="5" marL="27432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6pPr>
            <a:lvl7pPr indent="-228600" lvl="6" marL="32004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7pPr>
            <a:lvl8pPr indent="-228600" lvl="7" marL="36576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8pPr>
            <a:lvl9pPr indent="-228600" lvl="8" marL="41148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9pPr>
          </a:lstStyle>
          <a:p/>
        </p:txBody>
      </p:sp>
      <p:sp>
        <p:nvSpPr>
          <p:cNvPr id="145" name="Google Shape;145;p25"/>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46" name="Google Shape;146;p25"/>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47" name="Google Shape;147;p25"/>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148" name="Shape 148"/>
        <p:cNvGrpSpPr/>
        <p:nvPr/>
      </p:nvGrpSpPr>
      <p:grpSpPr>
        <a:xfrm>
          <a:off x="0" y="0"/>
          <a:ext cx="0" cy="0"/>
          <a:chOff x="0" y="0"/>
          <a:chExt cx="0" cy="0"/>
        </a:xfrm>
      </p:grpSpPr>
      <p:sp>
        <p:nvSpPr>
          <p:cNvPr id="149" name="Google Shape;149;p26"/>
          <p:cNvSpPr txBox="1"/>
          <p:nvPr>
            <p:ph type="title"/>
          </p:nvPr>
        </p:nvSpPr>
        <p:spPr>
          <a:xfrm>
            <a:off x="838200" y="365125"/>
            <a:ext cx="105156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50" name="Google Shape;150;p26"/>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51" name="Google Shape;151;p26"/>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52" name="Google Shape;152;p26"/>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53" name="Google Shape;153;p26"/>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154" name="Shape 154"/>
        <p:cNvGrpSpPr/>
        <p:nvPr/>
      </p:nvGrpSpPr>
      <p:grpSpPr>
        <a:xfrm>
          <a:off x="0" y="0"/>
          <a:ext cx="0" cy="0"/>
          <a:chOff x="0" y="0"/>
          <a:chExt cx="0" cy="0"/>
        </a:xfrm>
      </p:grpSpPr>
      <p:sp>
        <p:nvSpPr>
          <p:cNvPr id="155" name="Google Shape;155;p27"/>
          <p:cNvSpPr txBox="1"/>
          <p:nvPr>
            <p:ph type="title"/>
          </p:nvPr>
        </p:nvSpPr>
        <p:spPr>
          <a:xfrm rot="5400000">
            <a:off x="7133431" y="1956594"/>
            <a:ext cx="5811838" cy="2628900"/>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56" name="Google Shape;156;p27"/>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57" name="Google Shape;157;p27"/>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58" name="Google Shape;158;p27"/>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59" name="Google Shape;159;p27"/>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Slide">
    <p:spTree>
      <p:nvGrpSpPr>
        <p:cNvPr id="166" name="Shape 166"/>
        <p:cNvGrpSpPr/>
        <p:nvPr/>
      </p:nvGrpSpPr>
      <p:grpSpPr>
        <a:xfrm>
          <a:off x="0" y="0"/>
          <a:ext cx="0" cy="0"/>
          <a:chOff x="0" y="0"/>
          <a:chExt cx="0" cy="0"/>
        </a:xfrm>
      </p:grpSpPr>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67" name="Shape 167"/>
        <p:cNvGrpSpPr/>
        <p:nvPr/>
      </p:nvGrpSpPr>
      <p:grpSpPr>
        <a:xfrm>
          <a:off x="0" y="0"/>
          <a:ext cx="0" cy="0"/>
          <a:chOff x="0" y="0"/>
          <a:chExt cx="0" cy="0"/>
        </a:xfrm>
      </p:grpSpPr>
      <p:sp>
        <p:nvSpPr>
          <p:cNvPr id="168" name="Google Shape;168;p30"/>
          <p:cNvSpPr txBox="1"/>
          <p:nvPr>
            <p:ph type="title"/>
          </p:nvPr>
        </p:nvSpPr>
        <p:spPr>
          <a:xfrm>
            <a:off x="838200" y="365125"/>
            <a:ext cx="105156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69" name="Google Shape;169;p30"/>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70" name="Google Shape;170;p30"/>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71" name="Google Shape;171;p30"/>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72" name="Google Shape;172;p30"/>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73" name="Shape 173"/>
        <p:cNvGrpSpPr/>
        <p:nvPr/>
      </p:nvGrpSpPr>
      <p:grpSpPr>
        <a:xfrm>
          <a:off x="0" y="0"/>
          <a:ext cx="0" cy="0"/>
          <a:chOff x="0" y="0"/>
          <a:chExt cx="0" cy="0"/>
        </a:xfrm>
      </p:grpSpPr>
      <p:sp>
        <p:nvSpPr>
          <p:cNvPr id="174" name="Google Shape;174;p31"/>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Autofit/>
          </a:bodyPr>
          <a:lstStyle>
            <a:lvl1pPr lvl="0" marR="0" rtl="0" algn="l">
              <a:lnSpc>
                <a:spcPct val="90000"/>
              </a:lnSpc>
              <a:spcBef>
                <a:spcPts val="0"/>
              </a:spcBef>
              <a:spcAft>
                <a:spcPts val="0"/>
              </a:spcAft>
              <a:buClr>
                <a:schemeClr val="dk1"/>
              </a:buClr>
              <a:buSzPts val="6000"/>
              <a:buFont typeface="Calibri"/>
              <a:buNone/>
              <a:defRPr b="0" i="0" sz="60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75" name="Google Shape;175;p31"/>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rgbClr val="888888"/>
              </a:buClr>
              <a:buSzPts val="2400"/>
              <a:buFont typeface="Arial"/>
              <a:buNone/>
              <a:defRPr b="0" i="0" sz="2400" u="none" cap="none" strike="noStrike">
                <a:solidFill>
                  <a:srgbClr val="888888"/>
                </a:solidFill>
                <a:latin typeface="Calibri"/>
                <a:ea typeface="Calibri"/>
                <a:cs typeface="Calibri"/>
                <a:sym typeface="Calibri"/>
              </a:defRPr>
            </a:lvl1pPr>
            <a:lvl2pPr indent="-228600" lvl="1" marL="914400" marR="0" rtl="0" algn="l">
              <a:lnSpc>
                <a:spcPct val="90000"/>
              </a:lnSpc>
              <a:spcBef>
                <a:spcPts val="500"/>
              </a:spcBef>
              <a:spcAft>
                <a:spcPts val="0"/>
              </a:spcAft>
              <a:buClr>
                <a:srgbClr val="888888"/>
              </a:buClr>
              <a:buSzPts val="2000"/>
              <a:buFont typeface="Arial"/>
              <a:buNone/>
              <a:defRPr b="0" i="0" sz="2000" u="none" cap="none" strike="noStrike">
                <a:solidFill>
                  <a:srgbClr val="888888"/>
                </a:solidFill>
                <a:latin typeface="Calibri"/>
                <a:ea typeface="Calibri"/>
                <a:cs typeface="Calibri"/>
                <a:sym typeface="Calibri"/>
              </a:defRPr>
            </a:lvl2pPr>
            <a:lvl3pPr indent="-228600" lvl="2" marL="1371600" marR="0" rtl="0" algn="l">
              <a:lnSpc>
                <a:spcPct val="90000"/>
              </a:lnSpc>
              <a:spcBef>
                <a:spcPts val="500"/>
              </a:spcBef>
              <a:spcAft>
                <a:spcPts val="0"/>
              </a:spcAft>
              <a:buClr>
                <a:srgbClr val="888888"/>
              </a:buClr>
              <a:buSzPts val="1800"/>
              <a:buFont typeface="Arial"/>
              <a:buNone/>
              <a:defRPr b="0" i="0" sz="1800" u="none" cap="none" strike="noStrike">
                <a:solidFill>
                  <a:srgbClr val="888888"/>
                </a:solidFill>
                <a:latin typeface="Calibri"/>
                <a:ea typeface="Calibri"/>
                <a:cs typeface="Calibri"/>
                <a:sym typeface="Calibri"/>
              </a:defRPr>
            </a:lvl3pPr>
            <a:lvl4pPr indent="-228600" lvl="3" marL="18288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4pPr>
            <a:lvl5pPr indent="-228600" lvl="4" marL="22860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5pPr>
            <a:lvl6pPr indent="-228600" lvl="5" marL="27432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6pPr>
            <a:lvl7pPr indent="-228600" lvl="6" marL="32004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7pPr>
            <a:lvl8pPr indent="-228600" lvl="7" marL="36576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8pPr>
            <a:lvl9pPr indent="-228600" lvl="8" marL="41148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9pPr>
          </a:lstStyle>
          <a:p/>
        </p:txBody>
      </p:sp>
      <p:sp>
        <p:nvSpPr>
          <p:cNvPr id="176" name="Google Shape;176;p31"/>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77" name="Google Shape;177;p31"/>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78" name="Google Shape;178;p31"/>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179" name="Shape 179"/>
        <p:cNvGrpSpPr/>
        <p:nvPr/>
      </p:nvGrpSpPr>
      <p:grpSpPr>
        <a:xfrm>
          <a:off x="0" y="0"/>
          <a:ext cx="0" cy="0"/>
          <a:chOff x="0" y="0"/>
          <a:chExt cx="0" cy="0"/>
        </a:xfrm>
      </p:grpSpPr>
      <p:sp>
        <p:nvSpPr>
          <p:cNvPr id="180" name="Google Shape;180;p32"/>
          <p:cNvSpPr txBox="1"/>
          <p:nvPr>
            <p:ph type="title"/>
          </p:nvPr>
        </p:nvSpPr>
        <p:spPr>
          <a:xfrm>
            <a:off x="838200" y="365125"/>
            <a:ext cx="105156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81" name="Google Shape;181;p32"/>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82" name="Google Shape;182;p32"/>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83" name="Google Shape;183;p32"/>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84" name="Google Shape;184;p32"/>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85" name="Google Shape;185;p32"/>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186" name="Shape 186"/>
        <p:cNvGrpSpPr/>
        <p:nvPr/>
      </p:nvGrpSpPr>
      <p:grpSpPr>
        <a:xfrm>
          <a:off x="0" y="0"/>
          <a:ext cx="0" cy="0"/>
          <a:chOff x="0" y="0"/>
          <a:chExt cx="0" cy="0"/>
        </a:xfrm>
      </p:grpSpPr>
      <p:sp>
        <p:nvSpPr>
          <p:cNvPr id="187" name="Google Shape;187;p33"/>
          <p:cNvSpPr txBox="1"/>
          <p:nvPr>
            <p:ph type="title"/>
          </p:nvPr>
        </p:nvSpPr>
        <p:spPr>
          <a:xfrm>
            <a:off x="839788" y="365125"/>
            <a:ext cx="105156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88" name="Google Shape;188;p33"/>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2400"/>
              <a:buFont typeface="Arial"/>
              <a:buNone/>
              <a:defRPr b="1" i="0" sz="2400" u="none" cap="none" strike="noStrike">
                <a:solidFill>
                  <a:schemeClr val="dk1"/>
                </a:solidFill>
                <a:latin typeface="Calibri"/>
                <a:ea typeface="Calibri"/>
                <a:cs typeface="Calibri"/>
                <a:sym typeface="Calibri"/>
              </a:defRPr>
            </a:lvl1pPr>
            <a:lvl2pPr indent="-228600" lvl="1" marL="914400" marR="0" rtl="0" algn="l">
              <a:lnSpc>
                <a:spcPct val="90000"/>
              </a:lnSpc>
              <a:spcBef>
                <a:spcPts val="500"/>
              </a:spcBef>
              <a:spcAft>
                <a:spcPts val="0"/>
              </a:spcAft>
              <a:buClr>
                <a:schemeClr val="dk1"/>
              </a:buClr>
              <a:buSzPts val="2000"/>
              <a:buFont typeface="Arial"/>
              <a:buNone/>
              <a:defRPr b="1" i="0" sz="2000" u="none" cap="none" strike="noStrike">
                <a:solidFill>
                  <a:schemeClr val="dk1"/>
                </a:solidFill>
                <a:latin typeface="Calibri"/>
                <a:ea typeface="Calibri"/>
                <a:cs typeface="Calibri"/>
                <a:sym typeface="Calibri"/>
              </a:defRPr>
            </a:lvl2pPr>
            <a:lvl3pPr indent="-228600" lvl="2" marL="1371600" marR="0" rtl="0" algn="l">
              <a:lnSpc>
                <a:spcPct val="90000"/>
              </a:lnSpc>
              <a:spcBef>
                <a:spcPts val="500"/>
              </a:spcBef>
              <a:spcAft>
                <a:spcPts val="0"/>
              </a:spcAft>
              <a:buClr>
                <a:schemeClr val="dk1"/>
              </a:buClr>
              <a:buSzPts val="1800"/>
              <a:buFont typeface="Arial"/>
              <a:buNone/>
              <a:defRPr b="1" i="0" sz="1800" u="none" cap="none" strike="noStrike">
                <a:solidFill>
                  <a:schemeClr val="dk1"/>
                </a:solidFill>
                <a:latin typeface="Calibri"/>
                <a:ea typeface="Calibri"/>
                <a:cs typeface="Calibri"/>
                <a:sym typeface="Calibri"/>
              </a:defRPr>
            </a:lvl3pPr>
            <a:lvl4pPr indent="-228600" lvl="3" marL="18288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4pPr>
            <a:lvl5pPr indent="-228600" lvl="4" marL="22860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5pPr>
            <a:lvl6pPr indent="-228600" lvl="5" marL="27432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6pPr>
            <a:lvl7pPr indent="-228600" lvl="6" marL="32004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7pPr>
            <a:lvl8pPr indent="-228600" lvl="7" marL="36576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8pPr>
            <a:lvl9pPr indent="-228600" lvl="8" marL="41148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9pPr>
          </a:lstStyle>
          <a:p/>
        </p:txBody>
      </p:sp>
      <p:sp>
        <p:nvSpPr>
          <p:cNvPr id="189" name="Google Shape;189;p33"/>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90" name="Google Shape;190;p33"/>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2400"/>
              <a:buFont typeface="Arial"/>
              <a:buNone/>
              <a:defRPr b="1" i="0" sz="2400" u="none" cap="none" strike="noStrike">
                <a:solidFill>
                  <a:schemeClr val="dk1"/>
                </a:solidFill>
                <a:latin typeface="Calibri"/>
                <a:ea typeface="Calibri"/>
                <a:cs typeface="Calibri"/>
                <a:sym typeface="Calibri"/>
              </a:defRPr>
            </a:lvl1pPr>
            <a:lvl2pPr indent="-228600" lvl="1" marL="914400" marR="0" rtl="0" algn="l">
              <a:lnSpc>
                <a:spcPct val="90000"/>
              </a:lnSpc>
              <a:spcBef>
                <a:spcPts val="500"/>
              </a:spcBef>
              <a:spcAft>
                <a:spcPts val="0"/>
              </a:spcAft>
              <a:buClr>
                <a:schemeClr val="dk1"/>
              </a:buClr>
              <a:buSzPts val="2000"/>
              <a:buFont typeface="Arial"/>
              <a:buNone/>
              <a:defRPr b="1" i="0" sz="2000" u="none" cap="none" strike="noStrike">
                <a:solidFill>
                  <a:schemeClr val="dk1"/>
                </a:solidFill>
                <a:latin typeface="Calibri"/>
                <a:ea typeface="Calibri"/>
                <a:cs typeface="Calibri"/>
                <a:sym typeface="Calibri"/>
              </a:defRPr>
            </a:lvl2pPr>
            <a:lvl3pPr indent="-228600" lvl="2" marL="1371600" marR="0" rtl="0" algn="l">
              <a:lnSpc>
                <a:spcPct val="90000"/>
              </a:lnSpc>
              <a:spcBef>
                <a:spcPts val="500"/>
              </a:spcBef>
              <a:spcAft>
                <a:spcPts val="0"/>
              </a:spcAft>
              <a:buClr>
                <a:schemeClr val="dk1"/>
              </a:buClr>
              <a:buSzPts val="1800"/>
              <a:buFont typeface="Arial"/>
              <a:buNone/>
              <a:defRPr b="1" i="0" sz="1800" u="none" cap="none" strike="noStrike">
                <a:solidFill>
                  <a:schemeClr val="dk1"/>
                </a:solidFill>
                <a:latin typeface="Calibri"/>
                <a:ea typeface="Calibri"/>
                <a:cs typeface="Calibri"/>
                <a:sym typeface="Calibri"/>
              </a:defRPr>
            </a:lvl3pPr>
            <a:lvl4pPr indent="-228600" lvl="3" marL="18288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4pPr>
            <a:lvl5pPr indent="-228600" lvl="4" marL="22860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5pPr>
            <a:lvl6pPr indent="-228600" lvl="5" marL="27432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6pPr>
            <a:lvl7pPr indent="-228600" lvl="6" marL="32004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7pPr>
            <a:lvl8pPr indent="-228600" lvl="7" marL="36576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8pPr>
            <a:lvl9pPr indent="-228600" lvl="8" marL="41148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9pPr>
          </a:lstStyle>
          <a:p/>
        </p:txBody>
      </p:sp>
      <p:sp>
        <p:nvSpPr>
          <p:cNvPr id="191" name="Google Shape;191;p33"/>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92" name="Google Shape;192;p33"/>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93" name="Google Shape;193;p33"/>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94" name="Google Shape;194;p33"/>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95" name="Shape 195"/>
        <p:cNvGrpSpPr/>
        <p:nvPr/>
      </p:nvGrpSpPr>
      <p:grpSpPr>
        <a:xfrm>
          <a:off x="0" y="0"/>
          <a:ext cx="0" cy="0"/>
          <a:chOff x="0" y="0"/>
          <a:chExt cx="0" cy="0"/>
        </a:xfrm>
      </p:grpSpPr>
      <p:sp>
        <p:nvSpPr>
          <p:cNvPr id="196" name="Google Shape;196;p34"/>
          <p:cNvSpPr txBox="1"/>
          <p:nvPr>
            <p:ph type="title"/>
          </p:nvPr>
        </p:nvSpPr>
        <p:spPr>
          <a:xfrm>
            <a:off x="838200" y="365125"/>
            <a:ext cx="105156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97" name="Google Shape;197;p34"/>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98" name="Google Shape;198;p34"/>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99" name="Google Shape;199;p34"/>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200" name="Shape 200"/>
        <p:cNvGrpSpPr/>
        <p:nvPr/>
      </p:nvGrpSpPr>
      <p:grpSpPr>
        <a:xfrm>
          <a:off x="0" y="0"/>
          <a:ext cx="0" cy="0"/>
          <a:chOff x="0" y="0"/>
          <a:chExt cx="0" cy="0"/>
        </a:xfrm>
      </p:grpSpPr>
      <p:sp>
        <p:nvSpPr>
          <p:cNvPr id="201" name="Google Shape;201;p35"/>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202" name="Google Shape;202;p35"/>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203" name="Google Shape;203;p35"/>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204" name="Shape 204"/>
        <p:cNvGrpSpPr/>
        <p:nvPr/>
      </p:nvGrpSpPr>
      <p:grpSpPr>
        <a:xfrm>
          <a:off x="0" y="0"/>
          <a:ext cx="0" cy="0"/>
          <a:chOff x="0" y="0"/>
          <a:chExt cx="0" cy="0"/>
        </a:xfrm>
      </p:grpSpPr>
      <p:sp>
        <p:nvSpPr>
          <p:cNvPr id="205" name="Google Shape;205;p36"/>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Autofit/>
          </a:bodyPr>
          <a:lstStyle>
            <a:lvl1pPr lvl="0" marR="0" rtl="0" algn="l">
              <a:lnSpc>
                <a:spcPct val="90000"/>
              </a:lnSpc>
              <a:spcBef>
                <a:spcPts val="0"/>
              </a:spcBef>
              <a:spcAft>
                <a:spcPts val="0"/>
              </a:spcAft>
              <a:buClr>
                <a:schemeClr val="dk1"/>
              </a:buClr>
              <a:buSzPts val="3200"/>
              <a:buFont typeface="Calibri"/>
              <a:buNone/>
              <a:defRPr b="0" i="0" sz="3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206" name="Google Shape;206;p36"/>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Autofit/>
          </a:bodyPr>
          <a:lstStyle>
            <a:lvl1pPr indent="-431800" lvl="0" marL="457200" marR="0" rtl="0" algn="l">
              <a:lnSpc>
                <a:spcPct val="90000"/>
              </a:lnSpc>
              <a:spcBef>
                <a:spcPts val="100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lnSpc>
                <a:spcPct val="90000"/>
              </a:lnSpc>
              <a:spcBef>
                <a:spcPts val="5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207" name="Google Shape;207;p36"/>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1600"/>
              <a:buFont typeface="Arial"/>
              <a:buNone/>
              <a:defRPr b="0" i="0" sz="1600" u="none" cap="none" strike="noStrike">
                <a:solidFill>
                  <a:schemeClr val="dk1"/>
                </a:solidFill>
                <a:latin typeface="Calibri"/>
                <a:ea typeface="Calibri"/>
                <a:cs typeface="Calibri"/>
                <a:sym typeface="Calibri"/>
              </a:defRPr>
            </a:lvl1pPr>
            <a:lvl2pPr indent="-228600" lvl="1" marL="914400" marR="0" rtl="0" algn="l">
              <a:lnSpc>
                <a:spcPct val="90000"/>
              </a:lnSpc>
              <a:spcBef>
                <a:spcPts val="500"/>
              </a:spcBef>
              <a:spcAft>
                <a:spcPts val="0"/>
              </a:spcAft>
              <a:buClr>
                <a:schemeClr val="dk1"/>
              </a:buClr>
              <a:buSzPts val="1400"/>
              <a:buFont typeface="Arial"/>
              <a:buNone/>
              <a:defRPr b="0" i="0" sz="1400" u="none" cap="none" strike="noStrike">
                <a:solidFill>
                  <a:schemeClr val="dk1"/>
                </a:solidFill>
                <a:latin typeface="Calibri"/>
                <a:ea typeface="Calibri"/>
                <a:cs typeface="Calibri"/>
                <a:sym typeface="Calibri"/>
              </a:defRPr>
            </a:lvl2pPr>
            <a:lvl3pPr indent="-228600" lvl="2" marL="1371600" marR="0" rtl="0" algn="l">
              <a:lnSpc>
                <a:spcPct val="90000"/>
              </a:lnSpc>
              <a:spcBef>
                <a:spcPts val="500"/>
              </a:spcBef>
              <a:spcAft>
                <a:spcPts val="0"/>
              </a:spcAft>
              <a:buClr>
                <a:schemeClr val="dk1"/>
              </a:buClr>
              <a:buSzPts val="12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4pPr>
            <a:lvl5pPr indent="-228600" lvl="4" marL="22860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5pPr>
            <a:lvl6pPr indent="-228600" lvl="5" marL="27432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6pPr>
            <a:lvl7pPr indent="-228600" lvl="6" marL="32004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7pPr>
            <a:lvl8pPr indent="-228600" lvl="7" marL="36576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8pPr>
            <a:lvl9pPr indent="-228600" lvl="8" marL="41148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9pPr>
          </a:lstStyle>
          <a:p/>
        </p:txBody>
      </p:sp>
      <p:sp>
        <p:nvSpPr>
          <p:cNvPr id="208" name="Google Shape;208;p36"/>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209" name="Google Shape;209;p36"/>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210" name="Google Shape;210;p36"/>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211" name="Shape 211"/>
        <p:cNvGrpSpPr/>
        <p:nvPr/>
      </p:nvGrpSpPr>
      <p:grpSpPr>
        <a:xfrm>
          <a:off x="0" y="0"/>
          <a:ext cx="0" cy="0"/>
          <a:chOff x="0" y="0"/>
          <a:chExt cx="0" cy="0"/>
        </a:xfrm>
      </p:grpSpPr>
      <p:sp>
        <p:nvSpPr>
          <p:cNvPr id="212" name="Google Shape;212;p37"/>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Autofit/>
          </a:bodyPr>
          <a:lstStyle>
            <a:lvl1pPr lvl="0" marR="0" rtl="0" algn="l">
              <a:lnSpc>
                <a:spcPct val="90000"/>
              </a:lnSpc>
              <a:spcBef>
                <a:spcPts val="0"/>
              </a:spcBef>
              <a:spcAft>
                <a:spcPts val="0"/>
              </a:spcAft>
              <a:buClr>
                <a:schemeClr val="dk1"/>
              </a:buClr>
              <a:buSzPts val="3200"/>
              <a:buFont typeface="Calibri"/>
              <a:buNone/>
              <a:defRPr b="0" i="0" sz="3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213" name="Google Shape;213;p37"/>
          <p:cNvSpPr/>
          <p:nvPr>
            <p:ph idx="2" type="pic"/>
          </p:nvPr>
        </p:nvSpPr>
        <p:spPr>
          <a:xfrm>
            <a:off x="5183188" y="987425"/>
            <a:ext cx="6172200" cy="4873625"/>
          </a:xfrm>
          <a:prstGeom prst="rect">
            <a:avLst/>
          </a:prstGeom>
          <a:noFill/>
          <a:ln>
            <a:noFill/>
          </a:ln>
        </p:spPr>
      </p:sp>
      <p:sp>
        <p:nvSpPr>
          <p:cNvPr id="214" name="Google Shape;214;p37"/>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1600"/>
              <a:buFont typeface="Arial"/>
              <a:buNone/>
              <a:defRPr b="0" i="0" sz="1600" u="none" cap="none" strike="noStrike">
                <a:solidFill>
                  <a:schemeClr val="dk1"/>
                </a:solidFill>
                <a:latin typeface="Calibri"/>
                <a:ea typeface="Calibri"/>
                <a:cs typeface="Calibri"/>
                <a:sym typeface="Calibri"/>
              </a:defRPr>
            </a:lvl1pPr>
            <a:lvl2pPr indent="-228600" lvl="1" marL="914400" marR="0" rtl="0" algn="l">
              <a:lnSpc>
                <a:spcPct val="90000"/>
              </a:lnSpc>
              <a:spcBef>
                <a:spcPts val="500"/>
              </a:spcBef>
              <a:spcAft>
                <a:spcPts val="0"/>
              </a:spcAft>
              <a:buClr>
                <a:schemeClr val="dk1"/>
              </a:buClr>
              <a:buSzPts val="1400"/>
              <a:buFont typeface="Arial"/>
              <a:buNone/>
              <a:defRPr b="0" i="0" sz="1400" u="none" cap="none" strike="noStrike">
                <a:solidFill>
                  <a:schemeClr val="dk1"/>
                </a:solidFill>
                <a:latin typeface="Calibri"/>
                <a:ea typeface="Calibri"/>
                <a:cs typeface="Calibri"/>
                <a:sym typeface="Calibri"/>
              </a:defRPr>
            </a:lvl2pPr>
            <a:lvl3pPr indent="-228600" lvl="2" marL="1371600" marR="0" rtl="0" algn="l">
              <a:lnSpc>
                <a:spcPct val="90000"/>
              </a:lnSpc>
              <a:spcBef>
                <a:spcPts val="500"/>
              </a:spcBef>
              <a:spcAft>
                <a:spcPts val="0"/>
              </a:spcAft>
              <a:buClr>
                <a:schemeClr val="dk1"/>
              </a:buClr>
              <a:buSzPts val="12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4pPr>
            <a:lvl5pPr indent="-228600" lvl="4" marL="22860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5pPr>
            <a:lvl6pPr indent="-228600" lvl="5" marL="27432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6pPr>
            <a:lvl7pPr indent="-228600" lvl="6" marL="32004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7pPr>
            <a:lvl8pPr indent="-228600" lvl="7" marL="36576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8pPr>
            <a:lvl9pPr indent="-228600" lvl="8" marL="41148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9pPr>
          </a:lstStyle>
          <a:p/>
        </p:txBody>
      </p:sp>
      <p:sp>
        <p:nvSpPr>
          <p:cNvPr id="215" name="Google Shape;215;p37"/>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216" name="Google Shape;216;p37"/>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217" name="Google Shape;217;p37"/>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218" name="Shape 218"/>
        <p:cNvGrpSpPr/>
        <p:nvPr/>
      </p:nvGrpSpPr>
      <p:grpSpPr>
        <a:xfrm>
          <a:off x="0" y="0"/>
          <a:ext cx="0" cy="0"/>
          <a:chOff x="0" y="0"/>
          <a:chExt cx="0" cy="0"/>
        </a:xfrm>
      </p:grpSpPr>
      <p:sp>
        <p:nvSpPr>
          <p:cNvPr id="219" name="Google Shape;219;p38"/>
          <p:cNvSpPr txBox="1"/>
          <p:nvPr>
            <p:ph type="title"/>
          </p:nvPr>
        </p:nvSpPr>
        <p:spPr>
          <a:xfrm>
            <a:off x="838200" y="365125"/>
            <a:ext cx="105156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220" name="Google Shape;220;p38"/>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221" name="Google Shape;221;p38"/>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222" name="Google Shape;222;p38"/>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223" name="Google Shape;223;p38"/>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224" name="Shape 224"/>
        <p:cNvGrpSpPr/>
        <p:nvPr/>
      </p:nvGrpSpPr>
      <p:grpSpPr>
        <a:xfrm>
          <a:off x="0" y="0"/>
          <a:ext cx="0" cy="0"/>
          <a:chOff x="0" y="0"/>
          <a:chExt cx="0" cy="0"/>
        </a:xfrm>
      </p:grpSpPr>
      <p:sp>
        <p:nvSpPr>
          <p:cNvPr id="225" name="Google Shape;225;p39"/>
          <p:cNvSpPr txBox="1"/>
          <p:nvPr>
            <p:ph type="title"/>
          </p:nvPr>
        </p:nvSpPr>
        <p:spPr>
          <a:xfrm rot="5400000">
            <a:off x="7133431" y="1956594"/>
            <a:ext cx="5811838" cy="2628900"/>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226" name="Google Shape;226;p39"/>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227" name="Google Shape;227;p39"/>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228" name="Google Shape;228;p39"/>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229" name="Google Shape;229;p39"/>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image" Target="../media/image2.png"/><Relationship Id="rId2" Type="http://schemas.openxmlformats.org/officeDocument/2006/relationships/image" Target="../media/image1.png"/><Relationship Id="rId3" Type="http://schemas.openxmlformats.org/officeDocument/2006/relationships/slideLayout" Target="../slideLayouts/slideLayout1.xml"/><Relationship Id="rId4" Type="http://schemas.openxmlformats.org/officeDocument/2006/relationships/slideLayout" Target="../slideLayouts/slideLayout2.xml"/><Relationship Id="rId5" Type="http://schemas.openxmlformats.org/officeDocument/2006/relationships/theme" Target="../theme/theme2.xml"/></Relationships>
</file>

<file path=ppt/slideMasters/_rels/slideMaster2.xml.rels><?xml version='1.0' encoding='UTF-8' standalone='yes'?>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3.xml"/><Relationship Id="rId3" Type="http://schemas.openxmlformats.org/officeDocument/2006/relationships/slideLayout" Target="../slideLayouts/slideLayout4.xml"/><Relationship Id="rId4" Type="http://schemas.openxmlformats.org/officeDocument/2006/relationships/slideLayout" Target="../slideLayouts/slideLayout5.xml"/><Relationship Id="rId5" Type="http://schemas.openxmlformats.org/officeDocument/2006/relationships/slideLayout" Target="../slideLayouts/slideLayout6.xml"/><Relationship Id="rId6" Type="http://schemas.openxmlformats.org/officeDocument/2006/relationships/slideLayout" Target="../slideLayouts/slideLayout7.xml"/><Relationship Id="rId7" Type="http://schemas.openxmlformats.org/officeDocument/2006/relationships/slideLayout" Target="../slideLayouts/slideLayout8.xml"/><Relationship Id="rId8" Type="http://schemas.openxmlformats.org/officeDocument/2006/relationships/slideLayout" Target="../slideLayouts/slideLayout9.xml"/><Relationship Id="rId9" Type="http://schemas.openxmlformats.org/officeDocument/2006/relationships/slideLayout" Target="../slideLayouts/slideLayout10.xml"/><Relationship Id="rId10" Type="http://schemas.openxmlformats.org/officeDocument/2006/relationships/slideLayout" Target="../slideLayouts/slideLayout11.xml"/><Relationship Id="rId11" Type="http://schemas.openxmlformats.org/officeDocument/2006/relationships/slideLayout" Target="../slideLayouts/slideLayout12.xml"/><Relationship Id="rId12" Type="http://schemas.openxmlformats.org/officeDocument/2006/relationships/slideLayout" Target="../slideLayouts/slideLayout13.xml"/><Relationship Id="rId13" Type="http://schemas.openxmlformats.org/officeDocument/2006/relationships/theme" Target="../theme/theme4.xml"/></Relationships>
</file>

<file path=ppt/slideMasters/_rels/slideMaster3.xml.rels><?xml version='1.0' encoding='UTF-8' standalone='yes'?>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14.xml"/><Relationship Id="rId3" Type="http://schemas.openxmlformats.org/officeDocument/2006/relationships/slideLayout" Target="../slideLayouts/slideLayout15.xml"/><Relationship Id="rId4" Type="http://schemas.openxmlformats.org/officeDocument/2006/relationships/slideLayout" Target="../slideLayouts/slideLayout16.xml"/><Relationship Id="rId5" Type="http://schemas.openxmlformats.org/officeDocument/2006/relationships/slideLayout" Target="../slideLayouts/slideLayout17.xml"/><Relationship Id="rId6" Type="http://schemas.openxmlformats.org/officeDocument/2006/relationships/slideLayout" Target="../slideLayouts/slideLayout18.xml"/><Relationship Id="rId7" Type="http://schemas.openxmlformats.org/officeDocument/2006/relationships/slideLayout" Target="../slideLayouts/slideLayout19.xml"/><Relationship Id="rId8" Type="http://schemas.openxmlformats.org/officeDocument/2006/relationships/slideLayout" Target="../slideLayouts/slideLayout20.xml"/><Relationship Id="rId9" Type="http://schemas.openxmlformats.org/officeDocument/2006/relationships/slideLayout" Target="../slideLayouts/slideLayout21.xml"/><Relationship Id="rId10" Type="http://schemas.openxmlformats.org/officeDocument/2006/relationships/slideLayout" Target="../slideLayouts/slideLayout22.xml"/><Relationship Id="rId11" Type="http://schemas.openxmlformats.org/officeDocument/2006/relationships/slideLayout" Target="../slideLayouts/slideLayout23.xml"/><Relationship Id="rId12" Type="http://schemas.openxmlformats.org/officeDocument/2006/relationships/slideLayout" Target="../slideLayouts/slideLayout24.xml"/><Relationship Id="rId13" Type="http://schemas.openxmlformats.org/officeDocument/2006/relationships/theme" Target="../theme/theme5.xml"/></Relationships>
</file>

<file path=ppt/slideMasters/_rels/slideMaster4.xml.rels><?xml version='1.0' encoding='UTF-8' standalone='yes'?>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25.xml"/><Relationship Id="rId3" Type="http://schemas.openxmlformats.org/officeDocument/2006/relationships/slideLayout" Target="../slideLayouts/slideLayout26.xml"/><Relationship Id="rId4" Type="http://schemas.openxmlformats.org/officeDocument/2006/relationships/slideLayout" Target="../slideLayouts/slideLayout27.xml"/><Relationship Id="rId5" Type="http://schemas.openxmlformats.org/officeDocument/2006/relationships/slideLayout" Target="../slideLayouts/slideLayout28.xml"/><Relationship Id="rId6" Type="http://schemas.openxmlformats.org/officeDocument/2006/relationships/slideLayout" Target="../slideLayouts/slideLayout29.xml"/><Relationship Id="rId7" Type="http://schemas.openxmlformats.org/officeDocument/2006/relationships/slideLayout" Target="../slideLayouts/slideLayout30.xml"/><Relationship Id="rId8" Type="http://schemas.openxmlformats.org/officeDocument/2006/relationships/slideLayout" Target="../slideLayouts/slideLayout31.xml"/><Relationship Id="rId9" Type="http://schemas.openxmlformats.org/officeDocument/2006/relationships/slideLayout" Target="../slideLayouts/slideLayout32.xml"/><Relationship Id="rId10" Type="http://schemas.openxmlformats.org/officeDocument/2006/relationships/slideLayout" Target="../slideLayouts/slideLayout33.xml"/><Relationship Id="rId11" Type="http://schemas.openxmlformats.org/officeDocument/2006/relationships/slideLayout" Target="../slideLayouts/slideLayout34.xml"/><Relationship Id="rId12" Type="http://schemas.openxmlformats.org/officeDocument/2006/relationships/slideLayout" Target="../slideLayouts/slideLayout35.xml"/><Relationship Id="rId1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pic>
        <p:nvPicPr>
          <p:cNvPr id="10" name="Google Shape;10;p1"/>
          <p:cNvPicPr preferRelativeResize="0"/>
          <p:nvPr/>
        </p:nvPicPr>
        <p:blipFill rotWithShape="1">
          <a:blip r:embed="rId1">
            <a:alphaModFix/>
          </a:blip>
          <a:srcRect b="0" l="0" r="0" t="0"/>
          <a:stretch/>
        </p:blipFill>
        <p:spPr>
          <a:xfrm>
            <a:off x="2141884" y="0"/>
            <a:ext cx="10030237" cy="1640714"/>
          </a:xfrm>
          <a:prstGeom prst="rect">
            <a:avLst/>
          </a:prstGeom>
          <a:noFill/>
          <a:ln>
            <a:noFill/>
          </a:ln>
        </p:spPr>
      </p:pic>
      <p:sp>
        <p:nvSpPr>
          <p:cNvPr id="11" name="Google Shape;11;p1"/>
          <p:cNvSpPr txBox="1"/>
          <p:nvPr/>
        </p:nvSpPr>
        <p:spPr>
          <a:xfrm>
            <a:off x="1402828" y="6528816"/>
            <a:ext cx="6270960" cy="2286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900"/>
              <a:buFont typeface="Arial"/>
              <a:buNone/>
            </a:pPr>
            <a:r>
              <a:rPr b="0" i="0" lang="en-US" sz="900" u="none" cap="none" strike="noStrike">
                <a:solidFill>
                  <a:schemeClr val="dk2"/>
                </a:solidFill>
                <a:latin typeface="Arial"/>
                <a:ea typeface="Arial"/>
                <a:cs typeface="Arial"/>
                <a:sym typeface="Arial"/>
              </a:rPr>
              <a:t>Copyright © McGraw Hill</a:t>
            </a:r>
            <a:endParaRPr b="0" i="0" sz="1400" u="none" cap="none" strike="noStrike">
              <a:solidFill>
                <a:srgbClr val="000000"/>
              </a:solidFill>
              <a:latin typeface="Arial"/>
              <a:ea typeface="Arial"/>
              <a:cs typeface="Arial"/>
              <a:sym typeface="Arial"/>
            </a:endParaRPr>
          </a:p>
        </p:txBody>
      </p:sp>
      <p:pic>
        <p:nvPicPr>
          <p:cNvPr id="12" name="Google Shape;12;p1"/>
          <p:cNvPicPr preferRelativeResize="0"/>
          <p:nvPr/>
        </p:nvPicPr>
        <p:blipFill rotWithShape="1">
          <a:blip r:embed="rId2">
            <a:alphaModFix/>
          </a:blip>
          <a:srcRect b="0" l="0" r="0" t="0"/>
          <a:stretch/>
        </p:blipFill>
        <p:spPr>
          <a:xfrm>
            <a:off x="1492908" y="5619163"/>
            <a:ext cx="654674" cy="654674"/>
          </a:xfrm>
          <a:prstGeom prst="rect">
            <a:avLst/>
          </a:prstGeom>
          <a:noFill/>
          <a:ln>
            <a:noFill/>
          </a:ln>
        </p:spPr>
      </p:pic>
      <p:cxnSp>
        <p:nvCxnSpPr>
          <p:cNvPr id="13" name="Google Shape;13;p1"/>
          <p:cNvCxnSpPr/>
          <p:nvPr/>
        </p:nvCxnSpPr>
        <p:spPr>
          <a:xfrm>
            <a:off x="0" y="6432698"/>
            <a:ext cx="12192000" cy="0"/>
          </a:xfrm>
          <a:prstGeom prst="straightConnector1">
            <a:avLst/>
          </a:prstGeom>
          <a:noFill/>
          <a:ln cap="flat" cmpd="sng" w="22225">
            <a:solidFill>
              <a:srgbClr val="BFBFBF"/>
            </a:solidFill>
            <a:prstDash val="solid"/>
            <a:miter lim="80"/>
            <a:headEnd len="sm" w="sm" type="none"/>
            <a:tailEnd len="sm" w="sm" type="none"/>
          </a:ln>
        </p:spPr>
      </p:cxnSp>
      <p:sp>
        <p:nvSpPr>
          <p:cNvPr id="14" name="Google Shape;14;p1"/>
          <p:cNvSpPr txBox="1"/>
          <p:nvPr/>
        </p:nvSpPr>
        <p:spPr>
          <a:xfrm>
            <a:off x="9064487" y="6399634"/>
            <a:ext cx="3107634" cy="478243"/>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000000"/>
              </a:buClr>
              <a:buSzPts val="800"/>
              <a:buFont typeface="Arial"/>
              <a:buNone/>
            </a:pPr>
            <a:r>
              <a:rPr b="0" i="0" lang="en-US" sz="800" u="none" cap="none" strike="noStrike">
                <a:solidFill>
                  <a:srgbClr val="3F3F3F"/>
                </a:solidFill>
                <a:latin typeface="Arial"/>
                <a:ea typeface="Arial"/>
                <a:cs typeface="Arial"/>
                <a:sym typeface="Arial"/>
              </a:rPr>
              <a:t>This material may be reproduced for licensed classroom use only and may not be further reproduced or distributed.</a:t>
            </a:r>
            <a:endParaRPr b="0" i="0" sz="1400" u="none" cap="none" strike="noStrike">
              <a:solidFill>
                <a:srgbClr val="000000"/>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sldLayoutIdLst>
    <p:sldLayoutId id="2147483648" r:id="rId3"/>
    <p:sldLayoutId id="2147483649" r:id="rId4"/>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extLst>
    <p:ext uri="{27BBF7A9-308A-43DC-89C8-2F10F3537804}">
      <p15:sldGuideLst>
        <p15:guide id="1" orient="horz" pos="2159">
          <p15:clr>
            <a:srgbClr val="F26B43"/>
          </p15:clr>
        </p15:guide>
        <p15:guide id="2" orient="horz" pos="360">
          <p15:clr>
            <a:srgbClr val="F26B43"/>
          </p15:clr>
        </p15:guide>
        <p15:guide id="3" pos="3840">
          <p15:clr>
            <a:srgbClr val="F26B43"/>
          </p15:clr>
        </p15:guide>
        <p15:guide id="4" pos="384">
          <p15:clr>
            <a:srgbClr val="F26B43"/>
          </p15:clr>
        </p15:guide>
        <p15:guide id="5" pos="7296">
          <p15:clr>
            <a:srgbClr val="F26B43"/>
          </p15:clr>
        </p15:guide>
        <p15:guide id="6" orient="horz" pos="4211">
          <p15:clr>
            <a:srgbClr val="F26B43"/>
          </p15:clr>
        </p15:guide>
        <p15:guide id="7" pos="1120">
          <p15:clr>
            <a:srgbClr val="F26B43"/>
          </p15:clr>
        </p15:guide>
        <p15:guide id="8" pos="936">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0" name="Shape 20"/>
        <p:cNvGrpSpPr/>
        <p:nvPr/>
      </p:nvGrpSpPr>
      <p:grpSpPr>
        <a:xfrm>
          <a:off x="0" y="0"/>
          <a:ext cx="0" cy="0"/>
          <a:chOff x="0" y="0"/>
          <a:chExt cx="0" cy="0"/>
        </a:xfrm>
      </p:grpSpPr>
      <p:cxnSp>
        <p:nvCxnSpPr>
          <p:cNvPr id="21" name="Google Shape;21;p4"/>
          <p:cNvCxnSpPr/>
          <p:nvPr/>
        </p:nvCxnSpPr>
        <p:spPr>
          <a:xfrm>
            <a:off x="0" y="6432698"/>
            <a:ext cx="12192000" cy="0"/>
          </a:xfrm>
          <a:prstGeom prst="straightConnector1">
            <a:avLst/>
          </a:prstGeom>
          <a:noFill/>
          <a:ln cap="flat" cmpd="sng" w="22225">
            <a:solidFill>
              <a:srgbClr val="BFBFBF"/>
            </a:solidFill>
            <a:prstDash val="solid"/>
            <a:miter lim="80"/>
            <a:headEnd len="sm" w="sm" type="none"/>
            <a:tailEnd len="sm" w="sm" type="none"/>
          </a:ln>
        </p:spPr>
      </p:cxnSp>
      <p:sp>
        <p:nvSpPr>
          <p:cNvPr id="22" name="Google Shape;22;p4"/>
          <p:cNvSpPr txBox="1"/>
          <p:nvPr/>
        </p:nvSpPr>
        <p:spPr>
          <a:xfrm>
            <a:off x="9064487" y="6399634"/>
            <a:ext cx="3107634" cy="478243"/>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000000"/>
              </a:buClr>
              <a:buSzPts val="800"/>
              <a:buFont typeface="Arial"/>
              <a:buNone/>
            </a:pPr>
            <a:r>
              <a:rPr b="0" i="0" lang="en-US" sz="800" u="none" cap="none" strike="noStrike">
                <a:solidFill>
                  <a:srgbClr val="3F3F3F"/>
                </a:solidFill>
                <a:latin typeface="Arial"/>
                <a:ea typeface="Arial"/>
                <a:cs typeface="Arial"/>
                <a:sym typeface="Arial"/>
              </a:rPr>
              <a:t>This material may be reproduced for licensed classroom use only and may not be further reproduced or distributed.</a:t>
            </a:r>
            <a:endParaRPr b="0" i="0" sz="1400" u="none" cap="none" strike="noStrike">
              <a:solidFill>
                <a:srgbClr val="000000"/>
              </a:solidFill>
              <a:latin typeface="Arial"/>
              <a:ea typeface="Arial"/>
              <a:cs typeface="Arial"/>
              <a:sym typeface="Arial"/>
            </a:endParaRPr>
          </a:p>
        </p:txBody>
      </p:sp>
      <p:pic>
        <p:nvPicPr>
          <p:cNvPr id="23" name="Google Shape;23;p4"/>
          <p:cNvPicPr preferRelativeResize="0"/>
          <p:nvPr/>
        </p:nvPicPr>
        <p:blipFill rotWithShape="1">
          <a:blip r:embed="rId1">
            <a:alphaModFix/>
          </a:blip>
          <a:srcRect b="0" l="0" r="0" t="0"/>
          <a:stretch/>
        </p:blipFill>
        <p:spPr>
          <a:xfrm>
            <a:off x="4896996" y="0"/>
            <a:ext cx="7295004" cy="1193294"/>
          </a:xfrm>
          <a:prstGeom prst="rect">
            <a:avLst/>
          </a:prstGeom>
          <a:noFill/>
          <a:ln>
            <a:noFill/>
          </a:ln>
        </p:spPr>
      </p:pic>
      <p:sp>
        <p:nvSpPr>
          <p:cNvPr id="24" name="Google Shape;24;p4"/>
          <p:cNvSpPr txBox="1"/>
          <p:nvPr/>
        </p:nvSpPr>
        <p:spPr>
          <a:xfrm>
            <a:off x="490549" y="6528815"/>
            <a:ext cx="1036320" cy="324667"/>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900"/>
              <a:buFont typeface="Arial"/>
              <a:buNone/>
            </a:pPr>
            <a:r>
              <a:rPr b="1" i="0" lang="en-US" sz="900" u="none" cap="none" strike="noStrike">
                <a:solidFill>
                  <a:schemeClr val="dk2"/>
                </a:solidFill>
                <a:latin typeface="Arial"/>
                <a:ea typeface="Arial"/>
                <a:cs typeface="Arial"/>
                <a:sym typeface="Arial"/>
              </a:rPr>
              <a:t>McGraw Hill  |</a:t>
            </a:r>
            <a:endParaRPr b="0" i="0" sz="900" u="none" cap="none" strike="noStrike">
              <a:solidFill>
                <a:schemeClr val="dk2"/>
              </a:solidFill>
              <a:latin typeface="Arial"/>
              <a:ea typeface="Arial"/>
              <a:cs typeface="Arial"/>
              <a:sym typeface="Arial"/>
            </a:endParaRPr>
          </a:p>
        </p:txBody>
      </p:sp>
      <p:sp>
        <p:nvSpPr>
          <p:cNvPr id="25" name="Google Shape;25;p4"/>
          <p:cNvSpPr txBox="1"/>
          <p:nvPr/>
        </p:nvSpPr>
        <p:spPr>
          <a:xfrm>
            <a:off x="1385464" y="6528815"/>
            <a:ext cx="4694822" cy="324681"/>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900"/>
              <a:buFont typeface="Arial"/>
              <a:buNone/>
            </a:pPr>
            <a:r>
              <a:rPr b="0" i="0" lang="en-US" sz="900" u="none" cap="none" strike="noStrike">
                <a:solidFill>
                  <a:schemeClr val="dk2"/>
                </a:solidFill>
                <a:latin typeface="Arial"/>
                <a:ea typeface="Arial"/>
                <a:cs typeface="Arial"/>
                <a:sym typeface="Arial"/>
              </a:rPr>
              <a:t>Generate Equivalent Expressions</a:t>
            </a:r>
            <a:endParaRPr b="0" i="0" sz="1400" u="none" cap="none" strike="noStrike">
              <a:solidFill>
                <a:srgbClr val="000000"/>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sldLayoutIdLst>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0" name="Shape 90"/>
        <p:cNvGrpSpPr/>
        <p:nvPr/>
      </p:nvGrpSpPr>
      <p:grpSpPr>
        <a:xfrm>
          <a:off x="0" y="0"/>
          <a:ext cx="0" cy="0"/>
          <a:chOff x="0" y="0"/>
          <a:chExt cx="0" cy="0"/>
        </a:xfrm>
      </p:grpSpPr>
      <p:cxnSp>
        <p:nvCxnSpPr>
          <p:cNvPr id="91" name="Google Shape;91;p16"/>
          <p:cNvCxnSpPr/>
          <p:nvPr/>
        </p:nvCxnSpPr>
        <p:spPr>
          <a:xfrm>
            <a:off x="0" y="6432698"/>
            <a:ext cx="12192000" cy="0"/>
          </a:xfrm>
          <a:prstGeom prst="straightConnector1">
            <a:avLst/>
          </a:prstGeom>
          <a:noFill/>
          <a:ln cap="flat" cmpd="sng" w="22225">
            <a:solidFill>
              <a:srgbClr val="BFBFBF"/>
            </a:solidFill>
            <a:prstDash val="solid"/>
            <a:miter lim="80"/>
            <a:headEnd len="sm" w="sm" type="none"/>
            <a:tailEnd len="sm" w="sm" type="none"/>
          </a:ln>
        </p:spPr>
      </p:cxnSp>
      <p:sp>
        <p:nvSpPr>
          <p:cNvPr id="92" name="Google Shape;92;p16"/>
          <p:cNvSpPr txBox="1"/>
          <p:nvPr/>
        </p:nvSpPr>
        <p:spPr>
          <a:xfrm>
            <a:off x="490549" y="6528815"/>
            <a:ext cx="1036320" cy="324667"/>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900"/>
              <a:buFont typeface="Arial"/>
              <a:buNone/>
            </a:pPr>
            <a:r>
              <a:rPr b="1" i="0" lang="en-US" sz="900" u="none" cap="none" strike="noStrike">
                <a:solidFill>
                  <a:schemeClr val="dk2"/>
                </a:solidFill>
                <a:latin typeface="Arial"/>
                <a:ea typeface="Arial"/>
                <a:cs typeface="Arial"/>
                <a:sym typeface="Arial"/>
              </a:rPr>
              <a:t>McGraw Hill  |</a:t>
            </a:r>
            <a:endParaRPr b="0" i="0" sz="900" u="none" cap="none" strike="noStrike">
              <a:solidFill>
                <a:schemeClr val="dk2"/>
              </a:solidFill>
              <a:latin typeface="Arial"/>
              <a:ea typeface="Arial"/>
              <a:cs typeface="Arial"/>
              <a:sym typeface="Arial"/>
            </a:endParaRPr>
          </a:p>
        </p:txBody>
      </p:sp>
      <p:sp>
        <p:nvSpPr>
          <p:cNvPr id="93" name="Google Shape;93;p16"/>
          <p:cNvSpPr txBox="1"/>
          <p:nvPr/>
        </p:nvSpPr>
        <p:spPr>
          <a:xfrm>
            <a:off x="1385464" y="6528815"/>
            <a:ext cx="4694822" cy="324681"/>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900"/>
              <a:buFont typeface="Arial"/>
              <a:buNone/>
            </a:pPr>
            <a:r>
              <a:rPr b="0" i="0" lang="en-US" sz="900" u="none" cap="none" strike="noStrike">
                <a:solidFill>
                  <a:schemeClr val="dk2"/>
                </a:solidFill>
                <a:latin typeface="Arial"/>
                <a:ea typeface="Arial"/>
                <a:cs typeface="Arial"/>
                <a:sym typeface="Arial"/>
              </a:rPr>
              <a:t>Generate Equivalent Expressions</a:t>
            </a:r>
            <a:endParaRPr b="0" i="0" sz="1400" u="none" cap="none" strike="noStrike">
              <a:solidFill>
                <a:srgbClr val="000000"/>
              </a:solidFill>
              <a:latin typeface="Arial"/>
              <a:ea typeface="Arial"/>
              <a:cs typeface="Arial"/>
              <a:sym typeface="Arial"/>
            </a:endParaRPr>
          </a:p>
        </p:txBody>
      </p:sp>
      <p:sp>
        <p:nvSpPr>
          <p:cNvPr id="94" name="Google Shape;94;p16"/>
          <p:cNvSpPr txBox="1"/>
          <p:nvPr/>
        </p:nvSpPr>
        <p:spPr>
          <a:xfrm>
            <a:off x="9064487" y="6399634"/>
            <a:ext cx="3107634" cy="478243"/>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000000"/>
              </a:buClr>
              <a:buSzPts val="800"/>
              <a:buFont typeface="Arial"/>
              <a:buNone/>
            </a:pPr>
            <a:r>
              <a:rPr b="0" i="0" lang="en-US" sz="800" u="none" cap="none" strike="noStrike">
                <a:solidFill>
                  <a:srgbClr val="3F3F3F"/>
                </a:solidFill>
                <a:latin typeface="Arial"/>
                <a:ea typeface="Arial"/>
                <a:cs typeface="Arial"/>
                <a:sym typeface="Arial"/>
              </a:rPr>
              <a:t>This material may be reproduced for licensed classroom use only and may not be further reproduced or distributed.</a:t>
            </a:r>
            <a:endParaRPr b="0" i="0" sz="1400" u="none" cap="none" strike="noStrike">
              <a:solidFill>
                <a:srgbClr val="000000"/>
              </a:solidFill>
              <a:latin typeface="Arial"/>
              <a:ea typeface="Arial"/>
              <a:cs typeface="Arial"/>
              <a:sym typeface="Arial"/>
            </a:endParaRPr>
          </a:p>
        </p:txBody>
      </p:sp>
      <p:pic>
        <p:nvPicPr>
          <p:cNvPr id="95" name="Google Shape;95;p16"/>
          <p:cNvPicPr preferRelativeResize="0"/>
          <p:nvPr/>
        </p:nvPicPr>
        <p:blipFill rotWithShape="1">
          <a:blip r:embed="rId1">
            <a:alphaModFix/>
          </a:blip>
          <a:srcRect b="0" l="0" r="0" t="0"/>
          <a:stretch/>
        </p:blipFill>
        <p:spPr>
          <a:xfrm>
            <a:off x="4896996" y="0"/>
            <a:ext cx="7295004" cy="1193294"/>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61" r:id="rId2"/>
    <p:sldLayoutId id="2147483662" r:id="rId3"/>
    <p:sldLayoutId id="2147483663" r:id="rId4"/>
    <p:sldLayoutId id="2147483664" r:id="rId5"/>
    <p:sldLayoutId id="2147483665" r:id="rId6"/>
    <p:sldLayoutId id="2147483666" r:id="rId7"/>
    <p:sldLayoutId id="2147483667" r:id="rId8"/>
    <p:sldLayoutId id="2147483668" r:id="rId9"/>
    <p:sldLayoutId id="2147483669" r:id="rId10"/>
    <p:sldLayoutId id="2147483670" r:id="rId11"/>
    <p:sldLayoutId id="2147483671"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4.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60" name="Shape 160"/>
        <p:cNvGrpSpPr/>
        <p:nvPr/>
      </p:nvGrpSpPr>
      <p:grpSpPr>
        <a:xfrm>
          <a:off x="0" y="0"/>
          <a:ext cx="0" cy="0"/>
          <a:chOff x="0" y="0"/>
          <a:chExt cx="0" cy="0"/>
        </a:xfrm>
      </p:grpSpPr>
      <p:cxnSp>
        <p:nvCxnSpPr>
          <p:cNvPr id="161" name="Google Shape;161;p28"/>
          <p:cNvCxnSpPr/>
          <p:nvPr/>
        </p:nvCxnSpPr>
        <p:spPr>
          <a:xfrm>
            <a:off x="0" y="6432698"/>
            <a:ext cx="12192000" cy="0"/>
          </a:xfrm>
          <a:prstGeom prst="straightConnector1">
            <a:avLst/>
          </a:prstGeom>
          <a:noFill/>
          <a:ln cap="flat" cmpd="sng" w="22225">
            <a:solidFill>
              <a:srgbClr val="BFBFBF"/>
            </a:solidFill>
            <a:prstDash val="solid"/>
            <a:miter lim="80"/>
            <a:headEnd len="sm" w="sm" type="none"/>
            <a:tailEnd len="sm" w="sm" type="none"/>
          </a:ln>
        </p:spPr>
      </p:cxnSp>
      <p:sp>
        <p:nvSpPr>
          <p:cNvPr id="162" name="Google Shape;162;p28"/>
          <p:cNvSpPr txBox="1"/>
          <p:nvPr/>
        </p:nvSpPr>
        <p:spPr>
          <a:xfrm>
            <a:off x="490549" y="6528815"/>
            <a:ext cx="1036320" cy="324667"/>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900"/>
              <a:buFont typeface="Arial"/>
              <a:buNone/>
            </a:pPr>
            <a:r>
              <a:rPr b="1" i="0" lang="en-US" sz="900" u="none" cap="none" strike="noStrike">
                <a:solidFill>
                  <a:schemeClr val="dk2"/>
                </a:solidFill>
                <a:latin typeface="Arial"/>
                <a:ea typeface="Arial"/>
                <a:cs typeface="Arial"/>
                <a:sym typeface="Arial"/>
              </a:rPr>
              <a:t>McGraw Hill  |</a:t>
            </a:r>
            <a:endParaRPr b="0" i="0" sz="900" u="none" cap="none" strike="noStrike">
              <a:solidFill>
                <a:schemeClr val="dk2"/>
              </a:solidFill>
              <a:latin typeface="Arial"/>
              <a:ea typeface="Arial"/>
              <a:cs typeface="Arial"/>
              <a:sym typeface="Arial"/>
            </a:endParaRPr>
          </a:p>
        </p:txBody>
      </p:sp>
      <p:sp>
        <p:nvSpPr>
          <p:cNvPr id="163" name="Google Shape;163;p28"/>
          <p:cNvSpPr txBox="1"/>
          <p:nvPr/>
        </p:nvSpPr>
        <p:spPr>
          <a:xfrm>
            <a:off x="9064487" y="6399634"/>
            <a:ext cx="3107634" cy="478243"/>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000000"/>
              </a:buClr>
              <a:buSzPts val="800"/>
              <a:buFont typeface="Arial"/>
              <a:buNone/>
            </a:pPr>
            <a:r>
              <a:rPr b="0" i="0" lang="en-US" sz="800" u="none" cap="none" strike="noStrike">
                <a:solidFill>
                  <a:srgbClr val="3F3F3F"/>
                </a:solidFill>
                <a:latin typeface="Arial"/>
                <a:ea typeface="Arial"/>
                <a:cs typeface="Arial"/>
                <a:sym typeface="Arial"/>
              </a:rPr>
              <a:t>This material may be reproduced for licensed classroom use only and may not be further reproduced or distributed.</a:t>
            </a:r>
            <a:endParaRPr b="0" i="0" sz="1400" u="none" cap="none" strike="noStrike">
              <a:solidFill>
                <a:srgbClr val="000000"/>
              </a:solidFill>
              <a:latin typeface="Arial"/>
              <a:ea typeface="Arial"/>
              <a:cs typeface="Arial"/>
              <a:sym typeface="Arial"/>
            </a:endParaRPr>
          </a:p>
        </p:txBody>
      </p:sp>
      <p:pic>
        <p:nvPicPr>
          <p:cNvPr id="164" name="Google Shape;164;p28"/>
          <p:cNvPicPr preferRelativeResize="0"/>
          <p:nvPr/>
        </p:nvPicPr>
        <p:blipFill rotWithShape="1">
          <a:blip r:embed="rId1">
            <a:alphaModFix/>
          </a:blip>
          <a:srcRect b="0" l="0" r="0" t="0"/>
          <a:stretch/>
        </p:blipFill>
        <p:spPr>
          <a:xfrm>
            <a:off x="4896996" y="0"/>
            <a:ext cx="7295004" cy="1193294"/>
          </a:xfrm>
          <a:prstGeom prst="rect">
            <a:avLst/>
          </a:prstGeom>
          <a:noFill/>
          <a:ln>
            <a:noFill/>
          </a:ln>
        </p:spPr>
      </p:pic>
      <p:sp>
        <p:nvSpPr>
          <p:cNvPr id="165" name="Google Shape;165;p28"/>
          <p:cNvSpPr txBox="1"/>
          <p:nvPr/>
        </p:nvSpPr>
        <p:spPr>
          <a:xfrm>
            <a:off x="1385464" y="6528815"/>
            <a:ext cx="4694822" cy="324681"/>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900"/>
              <a:buFont typeface="Arial"/>
              <a:buNone/>
            </a:pPr>
            <a:r>
              <a:rPr b="0" i="0" lang="en-US" sz="900" u="none" cap="none" strike="noStrike">
                <a:solidFill>
                  <a:schemeClr val="dk2"/>
                </a:solidFill>
                <a:latin typeface="Arial"/>
                <a:ea typeface="Arial"/>
                <a:cs typeface="Arial"/>
                <a:sym typeface="Arial"/>
              </a:rPr>
              <a:t>Generate Equivalent Expressions</a:t>
            </a:r>
            <a:endParaRPr b="0" i="0" sz="1400" u="none" cap="none" strike="noStrike">
              <a:solidFill>
                <a:srgbClr val="000000"/>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sldLayoutIdLst>
    <p:sldLayoutId id="2147483672" r:id="rId2"/>
    <p:sldLayoutId id="2147483673" r:id="rId3"/>
    <p:sldLayoutId id="2147483674" r:id="rId4"/>
    <p:sldLayoutId id="2147483675" r:id="rId5"/>
    <p:sldLayoutId id="2147483676" r:id="rId6"/>
    <p:sldLayoutId id="2147483677" r:id="rId7"/>
    <p:sldLayoutId id="2147483678" r:id="rId8"/>
    <p:sldLayoutId id="2147483679" r:id="rId9"/>
    <p:sldLayoutId id="2147483680" r:id="rId10"/>
    <p:sldLayoutId id="2147483681" r:id="rId11"/>
    <p:sldLayoutId id="2147483682"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5.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4.png"/><Relationship Id="rId3" Type="http://schemas.openxmlformats.org/officeDocument/2006/relationships/notesSlide" Target="../notesSlides/notesSlide65.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3.png"/><Relationship Id="rId3" Type="http://schemas.openxmlformats.org/officeDocument/2006/relationships/notesSlide" Target="../notesSlides/notesSlide6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1.png"/><Relationship Id="rId3" Type="http://schemas.openxmlformats.org/officeDocument/2006/relationships/notesSlide" Target="../notesSlides/notesSlide6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9.png"/><Relationship Id="rId3" Type="http://schemas.openxmlformats.org/officeDocument/2006/relationships/notesSlide" Target="../notesSlides/notesSlide68.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8.png"/><Relationship Id="rId3" Type="http://schemas.openxmlformats.org/officeDocument/2006/relationships/notesSlide" Target="../notesSlides/notesSlide69.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image" Target="../media/image6.png"/><Relationship Id="rId4" Type="http://schemas.openxmlformats.org/officeDocument/2006/relationships/image" Target="../media/image4.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8.xml"/><Relationship Id="rId3" Type="http://schemas.openxmlformats.org/officeDocument/2006/relationships/image" Target="../media/image3.png"/><Relationship Id="rId4" Type="http://schemas.openxmlformats.org/officeDocument/2006/relationships/image" Target="../media/image12.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0.xml"/><Relationship Id="rId3" Type="http://schemas.openxmlformats.org/officeDocument/2006/relationships/image" Target="../media/image12.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6.xml"/><Relationship Id="rId3" Type="http://schemas.openxmlformats.org/officeDocument/2006/relationships/image" Target="../media/image22.png"/><Relationship Id="rId4" Type="http://schemas.openxmlformats.org/officeDocument/2006/relationships/image" Target="../media/image10.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 Id="rId3" Type="http://schemas.openxmlformats.org/officeDocument/2006/relationships/image" Target="../media/image28.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image" Target="../media/image12.png"/><Relationship Id="rId3" Type="http://schemas.openxmlformats.org/officeDocument/2006/relationships/notesSlide" Target="../notesSlides/notesSlide7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0.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45.xml"/><Relationship Id="rId3" Type="http://schemas.openxmlformats.org/officeDocument/2006/relationships/image" Target="../media/image24.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49.xml"/><Relationship Id="rId3" Type="http://schemas.openxmlformats.org/officeDocument/2006/relationships/image" Target="../media/image24.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51.xml"/><Relationship Id="rId3" Type="http://schemas.openxmlformats.org/officeDocument/2006/relationships/image" Target="../media/image32.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53.xml"/><Relationship Id="rId3" Type="http://schemas.openxmlformats.org/officeDocument/2006/relationships/image" Target="../media/image38.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55.xml"/><Relationship Id="rId3" Type="http://schemas.openxmlformats.org/officeDocument/2006/relationships/image" Target="../media/image3.png"/><Relationship Id="rId4" Type="http://schemas.openxmlformats.org/officeDocument/2006/relationships/image" Target="../media/image36.png"/><Relationship Id="rId5" Type="http://schemas.openxmlformats.org/officeDocument/2006/relationships/image" Target="../media/image24.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6.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4.png"/><Relationship Id="rId3" Type="http://schemas.openxmlformats.org/officeDocument/2006/relationships/notesSlide" Target="../notesSlides/notesSlide73.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32.png"/><Relationship Id="rId3" Type="http://schemas.openxmlformats.org/officeDocument/2006/relationships/notesSlide" Target="../notesSlides/notesSlide74.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7.xml"/><Relationship Id="rId3" Type="http://schemas.openxmlformats.org/officeDocument/2006/relationships/image" Target="../media/image37.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8.xml"/><Relationship Id="rId3" Type="http://schemas.openxmlformats.org/officeDocument/2006/relationships/image" Target="../media/image34.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9.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7.png"/><Relationship Id="rId3" Type="http://schemas.openxmlformats.org/officeDocument/2006/relationships/image" Target="../media/image4.png"/><Relationship Id="rId4" Type="http://schemas.openxmlformats.org/officeDocument/2006/relationships/notesSlide" Target="../notesSlides/notesSlide6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5.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7" name="Shape 257"/>
        <p:cNvGrpSpPr/>
        <p:nvPr/>
      </p:nvGrpSpPr>
      <p:grpSpPr>
        <a:xfrm>
          <a:off x="0" y="0"/>
          <a:ext cx="0" cy="0"/>
          <a:chOff x="0" y="0"/>
          <a:chExt cx="0" cy="0"/>
        </a:xfrm>
      </p:grpSpPr>
      <p:sp>
        <p:nvSpPr>
          <p:cNvPr id="258" name="Google Shape;258;p43"/>
          <p:cNvSpPr/>
          <p:nvPr/>
        </p:nvSpPr>
        <p:spPr>
          <a:xfrm>
            <a:off x="0" y="0"/>
            <a:ext cx="12191969" cy="685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59" name="TextBox 1"/>
          <p:cNvSpPr txBox="1"/>
          <p:nvPr/>
        </p:nvSpPr>
        <p:spPr>
          <a:xfrm>
            <a:off x="502920" y="310896"/>
            <a:ext cx="7315200" cy="502920"/>
          </a:xfrm>
          <a:prstGeom prst="rect">
            <a:avLst/>
          </a:prstGeom>
          <a:noFill/>
        </p:spPr>
        <p:txBody>
          <a:bodyPr wrap="square" lIns="0" tIns="0" rIns="0" bIns="0" anchor="t">
            <a:spAutoFit/>
          </a:bodyPr>
          <a:lstStyle/>
          <a:p>
            <a:pPr algn="l"/>
            <a:r>
              <a:rPr sz="2750" b="1">
                <a:solidFill>
                  <a:srgbClr val="782DA0"/>
                </a:solidFill>
                <a:latin typeface="Arial"/>
              </a:rPr>
              <a:t>Warm-Up</a:t>
            </a:r>
          </a:p>
        </p:txBody>
      </p:sp>
      <p:sp>
        <p:nvSpPr>
          <p:cNvPr id="260" name="TextBox 2"/>
          <p:cNvSpPr txBox="1"/>
          <p:nvPr/>
        </p:nvSpPr>
        <p:spPr>
          <a:xfrm>
            <a:off x="521207" y="877824"/>
            <a:ext cx="7680960" cy="274320"/>
          </a:xfrm>
          <a:prstGeom prst="rect">
            <a:avLst/>
          </a:prstGeom>
          <a:noFill/>
        </p:spPr>
        <p:txBody>
          <a:bodyPr wrap="square" lIns="0" tIns="0" rIns="0" bIns="0" anchor="t">
            <a:spAutoFit/>
          </a:bodyPr>
          <a:lstStyle/>
          <a:p>
            <a:pPr algn="l"/>
            <a:r>
              <a:rPr sz="1400" b="0">
                <a:solidFill>
                  <a:srgbClr val="5D6872"/>
                </a:solidFill>
                <a:latin typeface="Arial"/>
              </a:rPr>
              <a:t>Lesson 6-8 · Generate Equivalent Expressions   |   Warm-Up · about 4 minutes</a:t>
            </a:r>
          </a:p>
        </p:txBody>
      </p:sp>
      <p:sp>
        <p:nvSpPr>
          <p:cNvPr id="261" name="UIFR_Routine_Label"/>
          <p:cNvSpPr txBox="1"/>
          <p:nvPr/>
        </p:nvSpPr>
        <p:spPr>
          <a:xfrm>
            <a:off x="502920" y="54864"/>
            <a:ext cx="6236208" cy="237744"/>
          </a:xfrm>
          <a:prstGeom prst="rect">
            <a:avLst/>
          </a:prstGeom>
          <a:noFill/>
        </p:spPr>
        <p:txBody>
          <a:bodyPr wrap="square" lIns="0" rIns="0" tIns="0" bIns="0" anchor="ctr">
            <a:noAutofit/>
          </a:bodyPr>
          <a:lstStyle/>
          <a:p>
            <a:pPr algn="l"/>
            <a:r>
              <a:rPr lang="en-US" sz="1150" b="1" dirty="0">
                <a:solidFill>
                  <a:srgbClr val="2D3A40"/>
                </a:solidFill>
                <a:latin typeface="Arial"/>
              </a:rPr>
              <a:t>WARM-UP</a:t>
            </a:r>
            <a:r>
              <a:rPr lang="en-US" sz="1150" b="1" dirty="0">
                <a:solidFill>
                  <a:srgbClr val="2D3A40"/>
                </a:solidFill>
                <a:latin typeface="Arial"/>
              </a:rPr>
              <a:t xml:space="preserve">  ·  THINK • TRY • CHECK</a:t>
            </a:r>
          </a:p>
        </p:txBody>
      </p:sp>
      <p:sp>
        <p:nvSpPr>
          <p:cNvPr id="262" name="TextBox 5"/>
          <p:cNvSpPr txBox="1"/>
          <p:nvPr/>
        </p:nvSpPr>
        <p:spPr>
          <a:xfrm>
            <a:off x="521207" y="1207008"/>
            <a:ext cx="10881360" cy="438912"/>
          </a:xfrm>
          <a:prstGeom prst="rect">
            <a:avLst/>
          </a:prstGeom>
          <a:noFill/>
        </p:spPr>
        <p:txBody>
          <a:bodyPr wrap="square" lIns="0" tIns="0" rIns="0" bIns="0" anchor="t">
            <a:spAutoFit/>
          </a:bodyPr>
          <a:lstStyle/>
          <a:p>
            <a:pPr algn="l"/>
            <a:r>
              <a:rPr sz="1600" b="0">
                <a:solidFill>
                  <a:srgbClr val="5D6872"/>
                </a:solidFill>
                <a:latin typeface="Arial"/>
              </a:rPr>
              <a:t>Try each on your own. Mark an unsure answer; explain and revise when we check.</a:t>
            </a:r>
          </a:p>
        </p:txBody>
      </p:sp>
      <p:sp>
        <p:nvSpPr>
          <p:cNvPr id="263" name="Rounded Rectangle 6"/>
          <p:cNvSpPr/>
          <p:nvPr/>
        </p:nvSpPr>
        <p:spPr>
          <a:xfrm>
            <a:off x="502920" y="1783080"/>
            <a:ext cx="5422392" cy="1572768"/>
          </a:xfrm>
          <a:prstGeom prst="roundRect">
            <a:avLst/>
          </a:prstGeom>
          <a:solidFill>
            <a:srgbClr val="ECF7F6"/>
          </a:solidFill>
          <a:ln w="15240">
            <a:solidFill>
              <a:srgbClr val="D6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4" name="Rectangle 7"/>
          <p:cNvSpPr/>
          <p:nvPr/>
        </p:nvSpPr>
        <p:spPr>
          <a:xfrm>
            <a:off x="502920" y="1783080"/>
            <a:ext cx="73152" cy="1572768"/>
          </a:xfrm>
          <a:prstGeom prst="rect">
            <a:avLst/>
          </a:prstGeom>
          <a:solidFill>
            <a:srgbClr val="0170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5" name="TextBox 8"/>
          <p:cNvSpPr txBox="1"/>
          <p:nvPr/>
        </p:nvSpPr>
        <p:spPr>
          <a:xfrm>
            <a:off x="667512" y="1892807"/>
            <a:ext cx="5129783" cy="228600"/>
          </a:xfrm>
          <a:prstGeom prst="rect">
            <a:avLst/>
          </a:prstGeom>
          <a:noFill/>
        </p:spPr>
        <p:txBody>
          <a:bodyPr wrap="square" lIns="0" tIns="0" rIns="0" bIns="0" anchor="t">
            <a:spAutoFit/>
          </a:bodyPr>
          <a:lstStyle/>
          <a:p>
            <a:pPr algn="l"/>
            <a:r>
              <a:rPr sz="1400" b="1">
                <a:solidFill>
                  <a:srgbClr val="01708C"/>
                </a:solidFill>
                <a:latin typeface="Arial"/>
              </a:rPr>
              <a:t>QUESTION 1</a:t>
            </a:r>
          </a:p>
        </p:txBody>
      </p:sp>
      <p:sp>
        <p:nvSpPr>
          <p:cNvPr id="266" name="TextBox 9"/>
          <p:cNvSpPr txBox="1"/>
          <p:nvPr/>
        </p:nvSpPr>
        <p:spPr>
          <a:xfrm>
            <a:off x="667512" y="2212848"/>
            <a:ext cx="5111496" cy="1051560"/>
          </a:xfrm>
          <a:prstGeom prst="rect">
            <a:avLst/>
          </a:prstGeom>
          <a:noFill/>
        </p:spPr>
        <p:txBody>
          <a:bodyPr wrap="square" lIns="0" tIns="0" rIns="0" bIns="0" anchor="t">
            <a:spAutoFit/>
          </a:bodyPr>
          <a:lstStyle/>
          <a:p>
            <a:pPr algn="l"/>
            <a:r>
              <a:rPr sz="1800" b="1">
                <a:solidFill>
                  <a:srgbClr val="23282D"/>
                </a:solidFill>
                <a:latin typeface="Arial"/>
              </a:rPr>
              <a:t>The GCF of 18 and 24 is ______</a:t>
            </a:r>
          </a:p>
        </p:txBody>
      </p:sp>
      <p:sp>
        <p:nvSpPr>
          <p:cNvPr id="267" name="Rounded Rectangle 10"/>
          <p:cNvSpPr/>
          <p:nvPr/>
        </p:nvSpPr>
        <p:spPr>
          <a:xfrm>
            <a:off x="6181344" y="1783080"/>
            <a:ext cx="5413248" cy="1572768"/>
          </a:xfrm>
          <a:prstGeom prst="roundRect">
            <a:avLst/>
          </a:prstGeom>
          <a:solidFill>
            <a:srgbClr val="FDF0E8"/>
          </a:solidFill>
          <a:ln w="15240">
            <a:solidFill>
              <a:srgbClr val="D6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8" name="Rectangle 11"/>
          <p:cNvSpPr/>
          <p:nvPr/>
        </p:nvSpPr>
        <p:spPr>
          <a:xfrm>
            <a:off x="6181344" y="1783080"/>
            <a:ext cx="73152" cy="1572768"/>
          </a:xfrm>
          <a:prstGeom prst="rect">
            <a:avLst/>
          </a:prstGeom>
          <a:solidFill>
            <a:srgbClr val="C8430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9" name="TextBox 12"/>
          <p:cNvSpPr txBox="1"/>
          <p:nvPr/>
        </p:nvSpPr>
        <p:spPr>
          <a:xfrm>
            <a:off x="6345936" y="1892807"/>
            <a:ext cx="5120640" cy="228600"/>
          </a:xfrm>
          <a:prstGeom prst="rect">
            <a:avLst/>
          </a:prstGeom>
          <a:noFill/>
        </p:spPr>
        <p:txBody>
          <a:bodyPr wrap="square" lIns="0" tIns="0" rIns="0" bIns="0" anchor="t">
            <a:spAutoFit/>
          </a:bodyPr>
          <a:lstStyle/>
          <a:p>
            <a:pPr algn="l"/>
            <a:r>
              <a:rPr sz="1400" b="1">
                <a:solidFill>
                  <a:srgbClr val="C8430E"/>
                </a:solidFill>
                <a:latin typeface="Arial"/>
              </a:rPr>
              <a:t>QUESTION 2</a:t>
            </a:r>
          </a:p>
        </p:txBody>
      </p:sp>
      <p:sp>
        <p:nvSpPr>
          <p:cNvPr id="270" name="TextBox 13"/>
          <p:cNvSpPr txBox="1"/>
          <p:nvPr/>
        </p:nvSpPr>
        <p:spPr>
          <a:xfrm>
            <a:off x="6345936" y="2212848"/>
            <a:ext cx="5102352" cy="1051560"/>
          </a:xfrm>
          <a:prstGeom prst="rect">
            <a:avLst/>
          </a:prstGeom>
          <a:noFill/>
        </p:spPr>
        <p:txBody>
          <a:bodyPr wrap="square" lIns="0" tIns="0" rIns="0" bIns="0" anchor="t">
            <a:spAutoFit/>
          </a:bodyPr>
          <a:lstStyle/>
          <a:p>
            <a:pPr algn="l"/>
            <a:r>
              <a:rPr sz="1800" b="1">
                <a:solidFill>
                  <a:srgbClr val="23282D"/>
                </a:solidFill>
                <a:latin typeface="Arial"/>
              </a:rPr>
              <a:t>3(x + 5) = ______</a:t>
            </a:r>
          </a:p>
        </p:txBody>
      </p:sp>
      <p:sp>
        <p:nvSpPr>
          <p:cNvPr id="271" name="Rounded Rectangle 14"/>
          <p:cNvSpPr/>
          <p:nvPr/>
        </p:nvSpPr>
        <p:spPr>
          <a:xfrm>
            <a:off x="502920" y="3593592"/>
            <a:ext cx="5422392" cy="1664208"/>
          </a:xfrm>
          <a:prstGeom prst="roundRect">
            <a:avLst/>
          </a:prstGeom>
          <a:solidFill>
            <a:srgbClr val="EBF5FB"/>
          </a:solidFill>
          <a:ln w="15240">
            <a:solidFill>
              <a:srgbClr val="D6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2" name="Rectangle 15"/>
          <p:cNvSpPr/>
          <p:nvPr/>
        </p:nvSpPr>
        <p:spPr>
          <a:xfrm>
            <a:off x="502920" y="3593592"/>
            <a:ext cx="73152" cy="1664208"/>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3" name="TextBox 16"/>
          <p:cNvSpPr txBox="1"/>
          <p:nvPr/>
        </p:nvSpPr>
        <p:spPr>
          <a:xfrm>
            <a:off x="667512" y="3703320"/>
            <a:ext cx="5129783" cy="228600"/>
          </a:xfrm>
          <a:prstGeom prst="rect">
            <a:avLst/>
          </a:prstGeom>
          <a:noFill/>
        </p:spPr>
        <p:txBody>
          <a:bodyPr wrap="square" lIns="0" tIns="0" rIns="0" bIns="0" anchor="t">
            <a:spAutoFit/>
          </a:bodyPr>
          <a:lstStyle/>
          <a:p>
            <a:pPr algn="l"/>
            <a:r>
              <a:rPr sz="1400" b="1">
                <a:solidFill>
                  <a:srgbClr val="0070C0"/>
                </a:solidFill>
                <a:latin typeface="Arial"/>
              </a:rPr>
              <a:t>QUESTION 3</a:t>
            </a:r>
          </a:p>
        </p:txBody>
      </p:sp>
      <p:sp>
        <p:nvSpPr>
          <p:cNvPr id="274" name="TextBox 17"/>
          <p:cNvSpPr txBox="1"/>
          <p:nvPr/>
        </p:nvSpPr>
        <p:spPr>
          <a:xfrm>
            <a:off x="667512" y="4023360"/>
            <a:ext cx="5111496" cy="1143000"/>
          </a:xfrm>
          <a:prstGeom prst="rect">
            <a:avLst/>
          </a:prstGeom>
          <a:noFill/>
        </p:spPr>
        <p:txBody>
          <a:bodyPr wrap="square" lIns="0" tIns="0" rIns="0" bIns="0" anchor="t">
            <a:spAutoFit/>
          </a:bodyPr>
          <a:lstStyle/>
          <a:p>
            <a:pPr algn="l"/>
            <a:r>
              <a:rPr sz="1800" b="1">
                <a:solidFill>
                  <a:srgbClr val="23282D"/>
                </a:solidFill>
                <a:latin typeface="Arial"/>
              </a:rPr>
              <a:t>5x + 2x = ______</a:t>
            </a:r>
          </a:p>
        </p:txBody>
      </p:sp>
      <p:sp>
        <p:nvSpPr>
          <p:cNvPr id="275" name="Rounded Rectangle 18"/>
          <p:cNvSpPr/>
          <p:nvPr/>
        </p:nvSpPr>
        <p:spPr>
          <a:xfrm>
            <a:off x="6181344" y="3593592"/>
            <a:ext cx="5413248" cy="1664208"/>
          </a:xfrm>
          <a:prstGeom prst="roundRect">
            <a:avLst/>
          </a:prstGeom>
          <a:solidFill>
            <a:srgbClr val="EDF8F3"/>
          </a:solidFill>
          <a:ln w="15240">
            <a:solidFill>
              <a:srgbClr val="D6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6" name="Rectangle 19"/>
          <p:cNvSpPr/>
          <p:nvPr/>
        </p:nvSpPr>
        <p:spPr>
          <a:xfrm>
            <a:off x="6181344" y="3593592"/>
            <a:ext cx="73152" cy="1664208"/>
          </a:xfrm>
          <a:prstGeom prst="rect">
            <a:avLst/>
          </a:prstGeom>
          <a:solidFill>
            <a:srgbClr val="008A6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7" name="TextBox 20"/>
          <p:cNvSpPr txBox="1"/>
          <p:nvPr/>
        </p:nvSpPr>
        <p:spPr>
          <a:xfrm>
            <a:off x="6345936" y="3703320"/>
            <a:ext cx="5120640" cy="228600"/>
          </a:xfrm>
          <a:prstGeom prst="rect">
            <a:avLst/>
          </a:prstGeom>
          <a:noFill/>
        </p:spPr>
        <p:txBody>
          <a:bodyPr wrap="square" lIns="0" tIns="0" rIns="0" bIns="0" anchor="t">
            <a:spAutoFit/>
          </a:bodyPr>
          <a:lstStyle/>
          <a:p>
            <a:pPr algn="l"/>
            <a:r>
              <a:rPr sz="1400" b="1">
                <a:solidFill>
                  <a:srgbClr val="008A62"/>
                </a:solidFill>
                <a:latin typeface="Arial"/>
              </a:rPr>
              <a:t>QUESTION 4</a:t>
            </a:r>
          </a:p>
        </p:txBody>
      </p:sp>
      <p:sp>
        <p:nvSpPr>
          <p:cNvPr id="278" name="TextBox 21"/>
          <p:cNvSpPr txBox="1"/>
          <p:nvPr/>
        </p:nvSpPr>
        <p:spPr>
          <a:xfrm>
            <a:off x="6345936" y="4023360"/>
            <a:ext cx="5102352" cy="1143000"/>
          </a:xfrm>
          <a:prstGeom prst="rect">
            <a:avLst/>
          </a:prstGeom>
          <a:noFill/>
        </p:spPr>
        <p:txBody>
          <a:bodyPr wrap="square" lIns="0" tIns="0" rIns="0" bIns="0" anchor="t">
            <a:spAutoFit/>
          </a:bodyPr>
          <a:lstStyle/>
          <a:p>
            <a:pPr algn="l"/>
            <a:r>
              <a:rPr sz="1800" b="1">
                <a:solidFill>
                  <a:srgbClr val="23282D"/>
                </a:solidFill>
                <a:latin typeface="Arial"/>
              </a:rPr>
              <a:t>6(4 + 3) = ______</a:t>
            </a:r>
          </a:p>
        </p:txBody>
      </p:sp>
      <p:sp>
        <p:nvSpPr>
          <p:cNvPr id="279" name="Rounded Rectangle 22"/>
          <p:cNvSpPr/>
          <p:nvPr/>
        </p:nvSpPr>
        <p:spPr>
          <a:xfrm>
            <a:off x="502920" y="5532120"/>
            <a:ext cx="11091672" cy="502920"/>
          </a:xfrm>
          <a:prstGeom prst="roundRect">
            <a:avLst/>
          </a:prstGeom>
          <a:solidFill>
            <a:srgbClr val="FCFCFD"/>
          </a:solidFill>
          <a:ln w="12700">
            <a:solidFill>
              <a:srgbClr val="D6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1E2682"/>
                </a:solidFill>
                <a:latin typeface="Arial"/>
              </a:rPr>
              <a:t>TALK IT OVER:  “I got ______ because ______.”   •   Compare with a partner before we check as a class.</a:t>
            </a:r>
          </a:p>
        </p:txBody>
      </p:sp>
      <p:sp>
        <p:nvSpPr>
          <p:cNvPr id="280" name="UIFR Level 4 Move"/>
          <p:cNvSpPr txBox="1"/>
          <p:nvPr/>
        </p:nvSpPr>
        <p:spPr>
          <a:xfrm>
            <a:off x="6876288" y="73152"/>
            <a:ext cx="4416552" cy="365760"/>
          </a:xfrm>
          <a:prstGeom prst="roundRect">
            <a:avLst/>
          </a:prstGeom>
          <a:solidFill>
            <a:srgbClr val="1E2682"/>
          </a:solidFill>
          <a:ln>
            <a:noFill/>
          </a:ln>
        </p:spPr>
        <p:txBody>
          <a:bodyPr wrap="square" lIns="0" rIns="0" tIns="0" bIns="0" anchor="ctr">
            <a:noAutofit/>
          </a:bodyPr>
          <a:lstStyle/>
          <a:p>
            <a:pPr algn="ctr"/>
            <a:r>
              <a:rPr lang="en-US" sz="1000" b="1" dirty="0">
                <a:solidFill>
                  <a:srgbClr val="FFFFFF"/>
                </a:solidFill>
                <a:latin typeface="Arial"/>
              </a:rPr>
              <a:t>Turn and talk: compare strategies, then defend one.</a:t>
            </a:r>
          </a:p>
        </p:txBody>
      </p:sp>
      <p:sp>
        <p:nvSpPr>
          <p:cNvPr id="281"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1 / 41</a:t>
            </a: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8" name="Shape 498"/>
        <p:cNvGrpSpPr/>
        <p:nvPr/>
      </p:nvGrpSpPr>
      <p:grpSpPr>
        <a:xfrm>
          <a:off x="0" y="0"/>
          <a:ext cx="0" cy="0"/>
          <a:chOff x="0" y="0"/>
          <a:chExt cx="0" cy="0"/>
        </a:xfrm>
      </p:grpSpPr>
      <p:sp>
        <p:nvSpPr>
          <p:cNvPr id="499" name="Google Shape;499;p52"/>
          <p:cNvSpPr/>
          <p:nvPr/>
        </p:nvSpPr>
        <p:spPr>
          <a:xfrm>
            <a:off x="0" y="0"/>
            <a:ext cx="12191969" cy="685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00" name="Google Shape;500;p52"/>
          <p:cNvSpPr/>
          <p:nvPr/>
        </p:nvSpPr>
        <p:spPr>
          <a:xfrm>
            <a:off x="0" y="0"/>
            <a:ext cx="12191969" cy="713232"/>
          </a:xfrm>
          <a:prstGeom prst="rect">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01" name="Google Shape;501;p52"/>
          <p:cNvSpPr txBox="1"/>
          <p:nvPr/>
        </p:nvSpPr>
        <p:spPr>
          <a:xfrm>
            <a:off x="502920" y="146304"/>
            <a:ext cx="6766560" cy="420624"/>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2000" u="none" cap="none" strike="noStrike">
                <a:solidFill>
                  <a:srgbClr val="FFFFFF"/>
                </a:solidFill>
                <a:latin typeface="Arial"/>
                <a:ea typeface="Arial"/>
                <a:cs typeface="Arial"/>
                <a:sym typeface="Arial"/>
              </a:rPr>
              <a:t>Today’s Math Notes</a:t>
            </a:r>
            <a:endParaRPr/>
          </a:p>
        </p:txBody>
      </p:sp>
      <p:sp>
        <p:nvSpPr>
          <p:cNvPr id="502" name="Google Shape;502;p52"/>
          <p:cNvSpPr txBox="1"/>
          <p:nvPr/>
        </p:nvSpPr>
        <p:spPr>
          <a:xfrm>
            <a:off x="7223760" y="128016"/>
            <a:ext cx="4462272" cy="457200"/>
          </a:xfrm>
          <a:prstGeom prst="rect">
            <a:avLst/>
          </a:prstGeom>
          <a:noFill/>
          <a:ln>
            <a:noFill/>
          </a:ln>
        </p:spPr>
        <p:txBody>
          <a:bodyPr anchorCtr="0" anchor="ctr" bIns="0" lIns="0" spcFirstLastPara="1" rIns="0" wrap="square" tIns="0">
            <a:spAutoFit/>
          </a:bodyPr>
          <a:lstStyle/>
          <a:p>
            <a:pPr indent="0" lvl="0" marL="0" marR="0" rtl="0" algn="r">
              <a:lnSpc>
                <a:spcPct val="100000"/>
              </a:lnSpc>
              <a:spcBef>
                <a:spcPts val="0"/>
              </a:spcBef>
              <a:spcAft>
                <a:spcPts val="0"/>
              </a:spcAft>
              <a:buNone/>
              <a:defRPr/>
            </a:pPr>
            <a:r>
              <a:rPr b="0" i="0" lang="en-US" sz="1400" u="none" cap="none" strike="noStrike">
                <a:solidFill>
                  <a:srgbClr val="FFFFFF"/>
                </a:solidFill>
                <a:latin typeface="Arial"/>
                <a:ea typeface="Arial"/>
                <a:cs typeface="Arial"/>
                <a:sym typeface="Arial"/>
              </a:rPr>
              <a:t>Lesson 6-8 · Generate Equivalent Expressions</a:t>
            </a:r>
            <a:endParaRPr/>
          </a:p>
        </p:txBody>
      </p:sp>
      <p:sp>
        <p:nvSpPr>
          <p:cNvPr id="503" name="Google Shape;503;p52"/>
          <p:cNvSpPr/>
          <p:nvPr/>
        </p:nvSpPr>
        <p:spPr>
          <a:xfrm>
            <a:off x="502920" y="6382512"/>
            <a:ext cx="11186129" cy="10972"/>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04" name="Google Shape;504;p52"/>
          <p:cNvSpPr txBox="1"/>
          <p:nvPr/>
        </p:nvSpPr>
        <p:spPr>
          <a:xfrm>
            <a:off x="502920" y="6455664"/>
            <a:ext cx="11186129" cy="25603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0" i="0" lang="en-US" sz="1000" u="none" cap="none" strike="noStrike">
                <a:solidFill>
                  <a:srgbClr val="475569"/>
                </a:solidFill>
                <a:latin typeface="Arial"/>
                <a:ea typeface="Arial"/>
                <a:cs typeface="Arial"/>
                <a:sym typeface="Arial"/>
              </a:rPr>
              <a:t>eduwonderlab.com  ·  Neft Teacher</a:t>
            </a:r>
            <a:endParaRPr/>
          </a:p>
        </p:txBody>
      </p:sp>
      <p:sp>
        <p:nvSpPr>
          <p:cNvPr id="505" name="Google Shape;505;p52"/>
          <p:cNvSpPr txBox="1"/>
          <p:nvPr/>
        </p:nvSpPr>
        <p:spPr>
          <a:xfrm>
            <a:off x="640080" y="987552"/>
            <a:ext cx="10911809" cy="45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1" i="0" lang="en-US" sz="3000" u="none" cap="none" strike="noStrike">
                <a:solidFill>
                  <a:srgbClr val="14223A"/>
                </a:solidFill>
                <a:latin typeface="Arial"/>
                <a:ea typeface="Arial"/>
                <a:cs typeface="Arial"/>
                <a:sym typeface="Arial"/>
              </a:rPr>
              <a:t>Section 1: Math Words</a:t>
            </a:r>
            <a:endParaRPr/>
          </a:p>
        </p:txBody>
      </p:sp>
      <p:sp>
        <p:nvSpPr>
          <p:cNvPr id="506" name="Google Shape;506;p52"/>
          <p:cNvSpPr/>
          <p:nvPr/>
        </p:nvSpPr>
        <p:spPr>
          <a:xfrm>
            <a:off x="640080" y="1572768"/>
            <a:ext cx="3246120" cy="384048"/>
          </a:xfrm>
          <a:prstGeom prst="roundRect">
            <a:avLst>
              <a:gd fmla="val 30000" name="adj"/>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07" name="Google Shape;507;p52"/>
          <p:cNvSpPr txBox="1"/>
          <p:nvPr/>
        </p:nvSpPr>
        <p:spPr>
          <a:xfrm>
            <a:off x="868680" y="1636776"/>
            <a:ext cx="3017520"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1" i="0" lang="en-US" sz="1400" u="none" cap="none" strike="noStrike">
                <a:solidFill>
                  <a:srgbClr val="FFFFFF"/>
                </a:solidFill>
                <a:latin typeface="Arial"/>
                <a:ea typeface="Arial"/>
                <a:cs typeface="Arial"/>
                <a:sym typeface="Arial"/>
              </a:rPr>
              <a:t>Copy. Explain. Check.</a:t>
            </a:r>
            <a:endParaRPr/>
          </a:p>
        </p:txBody>
      </p:sp>
      <p:sp>
        <p:nvSpPr>
          <p:cNvPr id="508" name="Google Shape;508;p52"/>
          <p:cNvSpPr/>
          <p:nvPr/>
        </p:nvSpPr>
        <p:spPr>
          <a:xfrm>
            <a:off x="640080" y="2212848"/>
            <a:ext cx="10911809" cy="1188720"/>
          </a:xfrm>
          <a:prstGeom prst="roundRect">
            <a:avLst>
              <a:gd fmla="val 8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09" name="Google Shape;509;p52"/>
          <p:cNvSpPr/>
          <p:nvPr/>
        </p:nvSpPr>
        <p:spPr>
          <a:xfrm>
            <a:off x="640080" y="2212848"/>
            <a:ext cx="91440" cy="1188720"/>
          </a:xfrm>
          <a:prstGeom prst="rect">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10" name="Google Shape;510;p52"/>
          <p:cNvSpPr/>
          <p:nvPr/>
        </p:nvSpPr>
        <p:spPr>
          <a:xfrm>
            <a:off x="896112" y="2633472"/>
            <a:ext cx="347472" cy="347472"/>
          </a:xfrm>
          <a:prstGeom prst="ellipse">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en-US" sz="1400" u="none" cap="none" strike="noStrike">
                <a:solidFill>
                  <a:srgbClr val="FFFFFF"/>
                </a:solidFill>
                <a:latin typeface="Arial"/>
                <a:ea typeface="Arial"/>
                <a:cs typeface="Arial"/>
                <a:sym typeface="Arial"/>
              </a:rPr>
              <a:t>1</a:t>
            </a:r>
            <a:endParaRPr/>
          </a:p>
        </p:txBody>
      </p:sp>
      <p:sp>
        <p:nvSpPr>
          <p:cNvPr id="511" name="Google Shape;511;p52"/>
          <p:cNvSpPr txBox="1"/>
          <p:nvPr/>
        </p:nvSpPr>
        <p:spPr>
          <a:xfrm>
            <a:off x="1389888" y="2359152"/>
            <a:ext cx="9860249" cy="310896"/>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1" i="0" lang="en-US" sz="1800" u="none" cap="none" strike="noStrike">
                <a:solidFill>
                  <a:srgbClr val="14223A"/>
                </a:solidFill>
                <a:latin typeface="Arial"/>
                <a:ea typeface="Arial"/>
                <a:cs typeface="Arial"/>
                <a:sym typeface="Arial"/>
              </a:rPr>
              <a:t>Properties of Operations</a:t>
            </a:r>
            <a:endParaRPr/>
          </a:p>
        </p:txBody>
      </p:sp>
      <p:sp>
        <p:nvSpPr>
          <p:cNvPr id="512" name="Google Shape;512;p52"/>
          <p:cNvSpPr txBox="1"/>
          <p:nvPr/>
        </p:nvSpPr>
        <p:spPr>
          <a:xfrm>
            <a:off x="1389888" y="2706624"/>
            <a:ext cx="9860249" cy="585216"/>
          </a:xfrm>
          <a:prstGeom prst="rect">
            <a:avLst/>
          </a:prstGeom>
          <a:noFill/>
          <a:ln>
            <a:noFill/>
          </a:ln>
        </p:spPr>
        <p:txBody>
          <a:bodyPr anchorCtr="0" anchor="t" bIns="0" lIns="0" spcFirstLastPara="1" rIns="0" wrap="square" tIns="0">
            <a:spAutoFit/>
          </a:bodyPr>
          <a:lstStyle/>
          <a:p>
            <a:pPr indent="0" lvl="0" marL="0" marR="0" rtl="0" algn="l">
              <a:lnSpc>
                <a:spcPct val="118000"/>
              </a:lnSpc>
              <a:spcBef>
                <a:spcPts val="0"/>
              </a:spcBef>
              <a:spcAft>
                <a:spcPts val="0"/>
              </a:spcAft>
              <a:buNone/>
              <a:defRPr/>
            </a:pPr>
            <a:r>
              <a:rPr b="0" i="0" lang="en-US" sz="1450" u="none" cap="none" strike="noStrike">
                <a:solidFill>
                  <a:srgbClr val="475569"/>
                </a:solidFill>
                <a:latin typeface="Arial"/>
                <a:ea typeface="Arial"/>
                <a:cs typeface="Arial"/>
                <a:sym typeface="Arial"/>
              </a:rPr>
              <a:t>Rules</a:t>
            </a:r>
            <a:endParaRPr/>
          </a:p>
        </p:txBody>
      </p:sp>
      <p:sp>
        <p:nvSpPr>
          <p:cNvPr id="513" name="Google Shape;513;p52"/>
          <p:cNvSpPr/>
          <p:nvPr/>
        </p:nvSpPr>
        <p:spPr>
          <a:xfrm>
            <a:off x="640080" y="3584448"/>
            <a:ext cx="10911809" cy="1188720"/>
          </a:xfrm>
          <a:prstGeom prst="roundRect">
            <a:avLst>
              <a:gd fmla="val 8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14" name="Google Shape;514;p52"/>
          <p:cNvSpPr/>
          <p:nvPr/>
        </p:nvSpPr>
        <p:spPr>
          <a:xfrm>
            <a:off x="640080" y="3584448"/>
            <a:ext cx="91440" cy="1188720"/>
          </a:xfrm>
          <a:prstGeom prst="rect">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15" name="Google Shape;515;p52"/>
          <p:cNvSpPr/>
          <p:nvPr/>
        </p:nvSpPr>
        <p:spPr>
          <a:xfrm>
            <a:off x="896112" y="4005072"/>
            <a:ext cx="347472" cy="347472"/>
          </a:xfrm>
          <a:prstGeom prst="ellipse">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en-US" sz="1400" u="none" cap="none" strike="noStrike">
                <a:solidFill>
                  <a:srgbClr val="FFFFFF"/>
                </a:solidFill>
                <a:latin typeface="Arial"/>
                <a:ea typeface="Arial"/>
                <a:cs typeface="Arial"/>
                <a:sym typeface="Arial"/>
              </a:rPr>
              <a:t>2</a:t>
            </a:r>
            <a:endParaRPr/>
          </a:p>
        </p:txBody>
      </p:sp>
      <p:sp>
        <p:nvSpPr>
          <p:cNvPr id="516" name="Google Shape;516;p52"/>
          <p:cNvSpPr txBox="1"/>
          <p:nvPr/>
        </p:nvSpPr>
        <p:spPr>
          <a:xfrm>
            <a:off x="1389888" y="3730752"/>
            <a:ext cx="9860249" cy="310896"/>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1" i="0" lang="en-US" sz="1800" u="none" cap="none" strike="noStrike">
                <a:solidFill>
                  <a:srgbClr val="14223A"/>
                </a:solidFill>
                <a:latin typeface="Arial"/>
                <a:ea typeface="Arial"/>
                <a:cs typeface="Arial"/>
                <a:sym typeface="Arial"/>
              </a:rPr>
              <a:t>Commutative Property</a:t>
            </a:r>
            <a:endParaRPr/>
          </a:p>
        </p:txBody>
      </p:sp>
      <p:sp>
        <p:nvSpPr>
          <p:cNvPr id="517" name="Google Shape;517;p52"/>
          <p:cNvSpPr txBox="1"/>
          <p:nvPr/>
        </p:nvSpPr>
        <p:spPr>
          <a:xfrm>
            <a:off x="1389888" y="4078224"/>
            <a:ext cx="9860249" cy="585216"/>
          </a:xfrm>
          <a:prstGeom prst="rect">
            <a:avLst/>
          </a:prstGeom>
          <a:noFill/>
          <a:ln>
            <a:noFill/>
          </a:ln>
        </p:spPr>
        <p:txBody>
          <a:bodyPr anchorCtr="0" anchor="t" bIns="0" lIns="0" spcFirstLastPara="1" rIns="0" wrap="square" tIns="0">
            <a:spAutoFit/>
          </a:bodyPr>
          <a:lstStyle/>
          <a:p>
            <a:pPr indent="0" lvl="0" marL="0" marR="0" rtl="0" algn="l">
              <a:lnSpc>
                <a:spcPct val="118000"/>
              </a:lnSpc>
              <a:spcBef>
                <a:spcPts val="0"/>
              </a:spcBef>
              <a:spcAft>
                <a:spcPts val="0"/>
              </a:spcAft>
              <a:buNone/>
              <a:defRPr/>
            </a:pPr>
            <a:r>
              <a:rPr b="0" i="0" lang="en-US" sz="1450" u="none" cap="none" strike="noStrike">
                <a:solidFill>
                  <a:srgbClr val="475569"/>
                </a:solidFill>
                <a:latin typeface="Arial"/>
                <a:ea typeface="Arial"/>
                <a:cs typeface="Arial"/>
                <a:sym typeface="Arial"/>
              </a:rPr>
              <a:t>You can change the order and get the same answer</a:t>
            </a:r>
            <a:endParaRPr/>
          </a:p>
        </p:txBody>
      </p:sp>
      <p:sp>
        <p:nvSpPr>
          <p:cNvPr id="518" name="Google Shape;518;p52"/>
          <p:cNvSpPr/>
          <p:nvPr/>
        </p:nvSpPr>
        <p:spPr>
          <a:xfrm>
            <a:off x="640080" y="4956048"/>
            <a:ext cx="10911809" cy="1188720"/>
          </a:xfrm>
          <a:prstGeom prst="roundRect">
            <a:avLst>
              <a:gd fmla="val 8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19" name="Google Shape;519;p52"/>
          <p:cNvSpPr/>
          <p:nvPr/>
        </p:nvSpPr>
        <p:spPr>
          <a:xfrm>
            <a:off x="640080" y="4956048"/>
            <a:ext cx="91440" cy="1188720"/>
          </a:xfrm>
          <a:prstGeom prst="rect">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20" name="Google Shape;520;p52"/>
          <p:cNvSpPr/>
          <p:nvPr/>
        </p:nvSpPr>
        <p:spPr>
          <a:xfrm>
            <a:off x="896112" y="5376672"/>
            <a:ext cx="347472" cy="347472"/>
          </a:xfrm>
          <a:prstGeom prst="ellipse">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en-US" sz="1400" u="none" cap="none" strike="noStrike">
                <a:solidFill>
                  <a:srgbClr val="FFFFFF"/>
                </a:solidFill>
                <a:latin typeface="Arial"/>
                <a:ea typeface="Arial"/>
                <a:cs typeface="Arial"/>
                <a:sym typeface="Arial"/>
              </a:rPr>
              <a:t>3</a:t>
            </a:r>
            <a:endParaRPr/>
          </a:p>
        </p:txBody>
      </p:sp>
      <p:sp>
        <p:nvSpPr>
          <p:cNvPr id="521" name="Google Shape;521;p52"/>
          <p:cNvSpPr txBox="1"/>
          <p:nvPr/>
        </p:nvSpPr>
        <p:spPr>
          <a:xfrm>
            <a:off x="1389888" y="5102352"/>
            <a:ext cx="9860249" cy="310896"/>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1" i="0" lang="en-US" sz="1800" u="none" cap="none" strike="noStrike">
                <a:solidFill>
                  <a:srgbClr val="14223A"/>
                </a:solidFill>
                <a:latin typeface="Arial"/>
                <a:ea typeface="Arial"/>
                <a:cs typeface="Arial"/>
                <a:sym typeface="Arial"/>
              </a:rPr>
              <a:t>Associative Property</a:t>
            </a:r>
            <a:endParaRPr/>
          </a:p>
        </p:txBody>
      </p:sp>
      <p:sp>
        <p:nvSpPr>
          <p:cNvPr id="522" name="Google Shape;522;p52"/>
          <p:cNvSpPr txBox="1"/>
          <p:nvPr/>
        </p:nvSpPr>
        <p:spPr>
          <a:xfrm>
            <a:off x="1389888" y="5449824"/>
            <a:ext cx="9860249" cy="585216"/>
          </a:xfrm>
          <a:prstGeom prst="rect">
            <a:avLst/>
          </a:prstGeom>
          <a:noFill/>
          <a:ln>
            <a:noFill/>
          </a:ln>
        </p:spPr>
        <p:txBody>
          <a:bodyPr anchorCtr="0" anchor="t" bIns="0" lIns="0" spcFirstLastPara="1" rIns="0" wrap="square" tIns="0">
            <a:spAutoFit/>
          </a:bodyPr>
          <a:lstStyle/>
          <a:p>
            <a:pPr indent="0" lvl="0" marL="0" marR="0" rtl="0" algn="l">
              <a:lnSpc>
                <a:spcPct val="118000"/>
              </a:lnSpc>
              <a:spcBef>
                <a:spcPts val="0"/>
              </a:spcBef>
              <a:spcAft>
                <a:spcPts val="0"/>
              </a:spcAft>
              <a:buNone/>
              <a:defRPr/>
            </a:pPr>
            <a:r>
              <a:rPr b="0" i="0" lang="en-US" sz="1450" u="none" cap="none" strike="noStrike">
                <a:solidFill>
                  <a:srgbClr val="475569"/>
                </a:solidFill>
                <a:latin typeface="Arial"/>
                <a:ea typeface="Arial"/>
                <a:cs typeface="Arial"/>
                <a:sym typeface="Arial"/>
              </a:rPr>
              <a:t>You can change the grouping and get the same answer</a:t>
            </a:r>
            <a:endParaRPr/>
          </a:p>
        </p:txBody>
      </p:sp>
      <p:sp>
        <p:nvSpPr>
          <p:cNvPr id="523"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2 / 41</a:t>
            </a:r>
          </a:p>
        </p:txBody>
      </p:sp>
      <p:grpSp>
        <p:nvGrpSpPr>
          <p:cNvPr id="524" name="TEACH-1-student-move" descr="TEACH 1 · Facilitate clear, standards-based content learning"/>
          <p:cNvGrpSpPr/>
          <p:nvPr/>
        </p:nvGrpSpPr>
        <p:grpSpPr>
          <a:xfrm>
            <a:off x="6187440" y="1682496"/>
            <a:ext cx="5501640" cy="594360"/>
            <a:chOff x="6187440" y="1682496"/>
            <a:chExt cx="5501640" cy="594360"/>
          </a:xfrm>
        </p:grpSpPr>
        <p:sp>
          <p:nvSpPr>
            <p:cNvPr id="525" name="TEACH-move-card"/>
            <p:cNvSpPr/>
            <p:nvPr/>
          </p:nvSpPr>
          <p:spPr>
            <a:xfrm>
              <a:off x="6187440" y="1682496"/>
              <a:ext cx="5501640" cy="594360"/>
            </a:xfrm>
            <a:prstGeom prst="roundRect">
              <a:avLst>
                <a:gd name="adj" fmla="val 16000"/>
              </a:avLst>
            </a:prstGeom>
            <a:solidFill>
              <a:srgbClr val="E4F0F5"/>
            </a:solidFill>
            <a:ln w="19050">
              <a:solidFill>
                <a:srgbClr val="8CB8C7"/>
              </a:solidFill>
            </a:ln>
          </p:spPr>
          <p:txBody>
            <a:bodyPr/>
            <a:lstStyle/>
            <a:p>
              <a:endParaRPr/>
            </a:p>
          </p:txBody>
        </p:sp>
        <p:sp>
          <p:nvSpPr>
            <p:cNvPr id="526" name="TEACH-move-rule"/>
            <p:cNvSpPr/>
            <p:nvPr/>
          </p:nvSpPr>
          <p:spPr>
            <a:xfrm>
              <a:off x="6233160" y="1795424"/>
              <a:ext cx="100584" cy="368504"/>
            </a:xfrm>
            <a:prstGeom prst="roundRect">
              <a:avLst>
                <a:gd name="adj" fmla="val 50000"/>
              </a:avLst>
            </a:prstGeom>
            <a:solidFill>
              <a:srgbClr val="01708C"/>
            </a:solidFill>
            <a:ln>
              <a:noFill/>
            </a:ln>
          </p:spPr>
          <p:txBody>
            <a:bodyPr/>
            <a:lstStyle/>
            <a:p>
              <a:endParaRPr/>
            </a:p>
          </p:txBody>
        </p:sp>
        <p:sp>
          <p:nvSpPr>
            <p:cNvPr id="527" name="TEACH-move-text"/>
            <p:cNvSpPr txBox="1"/>
            <p:nvPr/>
          </p:nvSpPr>
          <p:spPr>
            <a:xfrm>
              <a:off x="6507480" y="1682496"/>
              <a:ext cx="5044440" cy="594360"/>
            </a:xfrm>
            <a:prstGeom prst="rect">
              <a:avLst/>
            </a:prstGeom>
            <a:noFill/>
            <a:ln>
              <a:noFill/>
            </a:ln>
          </p:spPr>
          <p:txBody>
            <a:bodyPr wrap="square" lIns="0" tIns="0" rIns="0" bIns="0" anchor="ctr">
              <a:noAutofit/>
            </a:bodyPr>
            <a:lstStyle/>
            <a:p>
              <a:pPr algn="l">
                <a:buNone/>
              </a:pPr>
              <a:r>
                <a:rPr lang="en-US" sz="1200" b="1" dirty="0">
                  <a:solidFill>
                    <a:srgbClr val="01708C"/>
                  </a:solidFill>
                  <a:latin typeface="Arial"/>
                </a:rPr>
                <a:t>SAY THE GOAL  ·  </a:t>
              </a:r>
              <a:r>
                <a:rPr lang="en-US" sz="1200" dirty="0">
                  <a:solidFill>
                    <a:srgbClr val="13303A"/>
                  </a:solidFill>
                  <a:latin typeface="Arial"/>
                </a:rPr>
                <a:t>Say today’s goal in your own words, then name one place this shows up outside math class.</a:t>
              </a:r>
              <a:endParaRPr lang="en-US" sz="1200"/>
            </a:p>
          </p:txBody>
        </p:sp>
      </p:gr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6" name="Shape 526"/>
        <p:cNvGrpSpPr/>
        <p:nvPr/>
      </p:nvGrpSpPr>
      <p:grpSpPr>
        <a:xfrm>
          <a:off x="0" y="0"/>
          <a:ext cx="0" cy="0"/>
          <a:chOff x="0" y="0"/>
          <a:chExt cx="0" cy="0"/>
        </a:xfrm>
      </p:grpSpPr>
      <p:sp>
        <p:nvSpPr>
          <p:cNvPr id="527" name="Google Shape;527;p53"/>
          <p:cNvSpPr/>
          <p:nvPr/>
        </p:nvSpPr>
        <p:spPr>
          <a:xfrm>
            <a:off x="0" y="0"/>
            <a:ext cx="12191969" cy="685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28" name="Google Shape;528;p53"/>
          <p:cNvSpPr/>
          <p:nvPr/>
        </p:nvSpPr>
        <p:spPr>
          <a:xfrm>
            <a:off x="0" y="0"/>
            <a:ext cx="12191969" cy="713232"/>
          </a:xfrm>
          <a:prstGeom prst="rect">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29" name="Google Shape;529;p53"/>
          <p:cNvSpPr txBox="1"/>
          <p:nvPr/>
        </p:nvSpPr>
        <p:spPr>
          <a:xfrm>
            <a:off x="502920" y="146304"/>
            <a:ext cx="6766560" cy="420624"/>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2000" u="none" cap="none" strike="noStrike">
                <a:solidFill>
                  <a:srgbClr val="FFFFFF"/>
                </a:solidFill>
                <a:latin typeface="Arial"/>
                <a:ea typeface="Arial"/>
                <a:cs typeface="Arial"/>
                <a:sym typeface="Arial"/>
              </a:rPr>
              <a:t>Today’s Math Notes</a:t>
            </a:r>
            <a:endParaRPr/>
          </a:p>
        </p:txBody>
      </p:sp>
      <p:sp>
        <p:nvSpPr>
          <p:cNvPr id="530" name="Google Shape;530;p53"/>
          <p:cNvSpPr txBox="1"/>
          <p:nvPr/>
        </p:nvSpPr>
        <p:spPr>
          <a:xfrm>
            <a:off x="7223760" y="128016"/>
            <a:ext cx="4462272" cy="457200"/>
          </a:xfrm>
          <a:prstGeom prst="rect">
            <a:avLst/>
          </a:prstGeom>
          <a:noFill/>
          <a:ln>
            <a:noFill/>
          </a:ln>
        </p:spPr>
        <p:txBody>
          <a:bodyPr anchorCtr="0" anchor="ctr" bIns="0" lIns="0" spcFirstLastPara="1" rIns="0" wrap="square" tIns="0">
            <a:spAutoFit/>
          </a:bodyPr>
          <a:lstStyle/>
          <a:p>
            <a:pPr indent="0" lvl="0" marL="0" marR="0" rtl="0" algn="r">
              <a:lnSpc>
                <a:spcPct val="100000"/>
              </a:lnSpc>
              <a:spcBef>
                <a:spcPts val="0"/>
              </a:spcBef>
              <a:spcAft>
                <a:spcPts val="0"/>
              </a:spcAft>
              <a:buNone/>
              <a:defRPr/>
            </a:pPr>
            <a:r>
              <a:rPr b="0" i="0" lang="en-US" sz="1400" u="none" cap="none" strike="noStrike">
                <a:solidFill>
                  <a:srgbClr val="FFFFFF"/>
                </a:solidFill>
                <a:latin typeface="Arial"/>
                <a:ea typeface="Arial"/>
                <a:cs typeface="Arial"/>
                <a:sym typeface="Arial"/>
              </a:rPr>
              <a:t>Lesson 6-8 · Generate Equivalent Expressions</a:t>
            </a:r>
            <a:endParaRPr/>
          </a:p>
        </p:txBody>
      </p:sp>
      <p:sp>
        <p:nvSpPr>
          <p:cNvPr id="531" name="Google Shape;531;p53"/>
          <p:cNvSpPr/>
          <p:nvPr/>
        </p:nvSpPr>
        <p:spPr>
          <a:xfrm>
            <a:off x="502920" y="6382512"/>
            <a:ext cx="11186129" cy="10972"/>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32" name="Google Shape;532;p53"/>
          <p:cNvSpPr txBox="1"/>
          <p:nvPr/>
        </p:nvSpPr>
        <p:spPr>
          <a:xfrm>
            <a:off x="502920" y="6455664"/>
            <a:ext cx="11186129" cy="25603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0" i="0" lang="en-US" sz="1000" u="none" cap="none" strike="noStrike">
                <a:solidFill>
                  <a:srgbClr val="475569"/>
                </a:solidFill>
                <a:latin typeface="Arial"/>
                <a:ea typeface="Arial"/>
                <a:cs typeface="Arial"/>
                <a:sym typeface="Arial"/>
              </a:rPr>
              <a:t>eduwonderlab.com  ·  Neft Teacher</a:t>
            </a:r>
            <a:endParaRPr/>
          </a:p>
        </p:txBody>
      </p:sp>
      <p:sp>
        <p:nvSpPr>
          <p:cNvPr id="533" name="Google Shape;533;p53"/>
          <p:cNvSpPr txBox="1"/>
          <p:nvPr/>
        </p:nvSpPr>
        <p:spPr>
          <a:xfrm>
            <a:off x="640080" y="987552"/>
            <a:ext cx="10911809" cy="45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1" i="0" lang="en-US" sz="3000" u="none" cap="none" strike="noStrike">
                <a:solidFill>
                  <a:srgbClr val="14223A"/>
                </a:solidFill>
                <a:latin typeface="Arial"/>
                <a:ea typeface="Arial"/>
                <a:cs typeface="Arial"/>
                <a:sym typeface="Arial"/>
              </a:rPr>
              <a:t>Section 2: Today’s Math</a:t>
            </a:r>
            <a:endParaRPr/>
          </a:p>
        </p:txBody>
      </p:sp>
      <p:sp>
        <p:nvSpPr>
          <p:cNvPr id="534" name="Google Shape;534;p53"/>
          <p:cNvSpPr/>
          <p:nvPr/>
        </p:nvSpPr>
        <p:spPr>
          <a:xfrm>
            <a:off x="640080" y="1572768"/>
            <a:ext cx="3246120" cy="384048"/>
          </a:xfrm>
          <a:prstGeom prst="roundRect">
            <a:avLst>
              <a:gd fmla="val 30000" name="adj"/>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35" name="Google Shape;535;p53"/>
          <p:cNvSpPr txBox="1"/>
          <p:nvPr/>
        </p:nvSpPr>
        <p:spPr>
          <a:xfrm>
            <a:off x="868680" y="1636776"/>
            <a:ext cx="3017520"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1" i="0" lang="en-US" sz="1400" u="none" cap="none" strike="noStrike">
                <a:solidFill>
                  <a:srgbClr val="FFFFFF"/>
                </a:solidFill>
                <a:latin typeface="Arial"/>
                <a:ea typeface="Arial"/>
                <a:cs typeface="Arial"/>
                <a:sym typeface="Arial"/>
              </a:rPr>
              <a:t>Copy. Explain. Check.</a:t>
            </a:r>
            <a:endParaRPr/>
          </a:p>
        </p:txBody>
      </p:sp>
      <p:sp>
        <p:nvSpPr>
          <p:cNvPr id="536" name="Google Shape;536;p53"/>
          <p:cNvSpPr/>
          <p:nvPr/>
        </p:nvSpPr>
        <p:spPr>
          <a:xfrm>
            <a:off x="640080" y="2231136"/>
            <a:ext cx="10911809" cy="749808"/>
          </a:xfrm>
          <a:prstGeom prst="roundRect">
            <a:avLst>
              <a:gd fmla="val 7000" name="adj"/>
            </a:avLst>
          </a:prstGeom>
          <a:solidFill>
            <a:srgbClr val="FDEEE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37" name="Google Shape;537;p53"/>
          <p:cNvSpPr txBox="1"/>
          <p:nvPr/>
        </p:nvSpPr>
        <p:spPr>
          <a:xfrm>
            <a:off x="960120" y="2359152"/>
            <a:ext cx="10271729" cy="493775"/>
          </a:xfrm>
          <a:prstGeom prst="rect">
            <a:avLst/>
          </a:prstGeom>
          <a:noFill/>
          <a:ln>
            <a:noFill/>
          </a:ln>
        </p:spPr>
        <p:txBody>
          <a:bodyPr anchorCtr="0" anchor="ctr" bIns="0" lIns="0" spcFirstLastPara="1" rIns="0" wrap="square" tIns="0">
            <a:spAutoFit/>
          </a:bodyPr>
          <a:lstStyle/>
          <a:p>
            <a:pPr indent="0" lvl="0" marL="0" marR="0" rtl="0" algn="l">
              <a:lnSpc>
                <a:spcPct val="116000"/>
              </a:lnSpc>
              <a:spcBef>
                <a:spcPts val="0"/>
              </a:spcBef>
              <a:spcAft>
                <a:spcPts val="0"/>
              </a:spcAft>
              <a:buNone/>
              <a:defRPr/>
            </a:pPr>
            <a:r>
              <a:rPr b="1" i="0" lang="en-US" sz="2700" u="none" cap="none" strike="noStrike">
                <a:solidFill>
                  <a:srgbClr val="14223A"/>
                </a:solidFill>
                <a:latin typeface="Arial"/>
                <a:ea typeface="Arial"/>
                <a:cs typeface="Arial"/>
                <a:sym typeface="Arial"/>
              </a:rPr>
              <a:t>Properties of Operations</a:t>
            </a:r>
            <a:endParaRPr/>
          </a:p>
        </p:txBody>
      </p:sp>
      <p:sp>
        <p:nvSpPr>
          <p:cNvPr id="538" name="Google Shape;538;p53"/>
          <p:cNvSpPr/>
          <p:nvPr/>
        </p:nvSpPr>
        <p:spPr>
          <a:xfrm>
            <a:off x="640080" y="3182112"/>
            <a:ext cx="3749039" cy="603504"/>
          </a:xfrm>
          <a:prstGeom prst="roundRect">
            <a:avLst>
              <a:gd fmla="val 12000" name="adj"/>
            </a:avLst>
          </a:prstGeom>
          <a:solidFill>
            <a:srgbClr val="FFFFFF"/>
          </a:solidFill>
          <a:ln cap="flat" cmpd="sng" w="15875">
            <a:solidFill>
              <a:srgbClr val="C2410C"/>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39" name="Google Shape;539;p53"/>
          <p:cNvSpPr txBox="1"/>
          <p:nvPr/>
        </p:nvSpPr>
        <p:spPr>
          <a:xfrm>
            <a:off x="768096" y="3264408"/>
            <a:ext cx="3493007" cy="438912"/>
          </a:xfrm>
          <a:prstGeom prst="rect">
            <a:avLst/>
          </a:prstGeom>
          <a:noFill/>
          <a:ln>
            <a:noFill/>
          </a:ln>
        </p:spPr>
        <p:txBody>
          <a:bodyPr anchorCtr="0" anchor="ctr" bIns="0" lIns="0" spcFirstLastPara="1" rIns="0" wrap="square" tIns="0">
            <a:spAutoFit/>
          </a:bodyPr>
          <a:lstStyle/>
          <a:p>
            <a:pPr indent="0" lvl="0" marL="0" marR="0" rtl="0" algn="ctr">
              <a:lnSpc>
                <a:spcPct val="100000"/>
              </a:lnSpc>
              <a:spcBef>
                <a:spcPts val="0"/>
              </a:spcBef>
              <a:spcAft>
                <a:spcPts val="0"/>
              </a:spcAft>
              <a:buNone/>
              <a:defRPr/>
            </a:pPr>
            <a:r>
              <a:rPr b="1" i="0" lang="en-US" sz="2150" u="none" cap="none" strike="noStrike">
                <a:solidFill>
                  <a:srgbClr val="C2410C"/>
                </a:solidFill>
                <a:latin typeface="Arial"/>
                <a:ea typeface="Arial"/>
                <a:cs typeface="Arial"/>
                <a:sym typeface="Arial"/>
              </a:rPr>
              <a:t>Commutative: a + b = b + a</a:t>
            </a:r>
            <a:endParaRPr/>
          </a:p>
        </p:txBody>
      </p:sp>
      <p:sp>
        <p:nvSpPr>
          <p:cNvPr id="540" name="Google Shape;540;p53"/>
          <p:cNvSpPr/>
          <p:nvPr/>
        </p:nvSpPr>
        <p:spPr>
          <a:xfrm>
            <a:off x="4663440" y="3182112"/>
            <a:ext cx="3749039" cy="603504"/>
          </a:xfrm>
          <a:prstGeom prst="roundRect">
            <a:avLst>
              <a:gd fmla="val 12000" name="adj"/>
            </a:avLst>
          </a:prstGeom>
          <a:solidFill>
            <a:srgbClr val="FFFFFF"/>
          </a:solidFill>
          <a:ln cap="flat" cmpd="sng" w="15875">
            <a:solidFill>
              <a:srgbClr val="C2410C"/>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41" name="Google Shape;541;p53"/>
          <p:cNvSpPr txBox="1"/>
          <p:nvPr/>
        </p:nvSpPr>
        <p:spPr>
          <a:xfrm>
            <a:off x="4791455" y="3264408"/>
            <a:ext cx="3493007" cy="438912"/>
          </a:xfrm>
          <a:prstGeom prst="rect">
            <a:avLst/>
          </a:prstGeom>
          <a:noFill/>
          <a:ln>
            <a:noFill/>
          </a:ln>
        </p:spPr>
        <p:txBody>
          <a:bodyPr anchorCtr="0" anchor="ctr" bIns="0" lIns="0" spcFirstLastPara="1" rIns="0" wrap="square" tIns="0">
            <a:spAutoFit/>
          </a:bodyPr>
          <a:lstStyle/>
          <a:p>
            <a:pPr indent="0" lvl="0" marL="0" marR="0" rtl="0" algn="ctr">
              <a:lnSpc>
                <a:spcPct val="100000"/>
              </a:lnSpc>
              <a:spcBef>
                <a:spcPts val="0"/>
              </a:spcBef>
              <a:spcAft>
                <a:spcPts val="0"/>
              </a:spcAft>
              <a:buNone/>
              <a:defRPr/>
            </a:pPr>
            <a:r>
              <a:rPr b="1" i="0" lang="en-US" sz="1650" u="none" cap="none" strike="noStrike">
                <a:solidFill>
                  <a:srgbClr val="C2410C"/>
                </a:solidFill>
                <a:latin typeface="Arial"/>
                <a:ea typeface="Arial"/>
                <a:cs typeface="Arial"/>
                <a:sym typeface="Arial"/>
              </a:rPr>
              <a:t>Associative: (a + b) + c = a + (b + c)</a:t>
            </a:r>
            <a:endParaRPr/>
          </a:p>
        </p:txBody>
      </p:sp>
      <p:sp>
        <p:nvSpPr>
          <p:cNvPr id="542" name="Google Shape;542;p53"/>
          <p:cNvSpPr/>
          <p:nvPr/>
        </p:nvSpPr>
        <p:spPr>
          <a:xfrm>
            <a:off x="640080" y="4005072"/>
            <a:ext cx="10911809" cy="621792"/>
          </a:xfrm>
          <a:prstGeom prst="roundRect">
            <a:avLst>
              <a:gd fmla="val 8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43" name="Google Shape;543;p53"/>
          <p:cNvSpPr/>
          <p:nvPr/>
        </p:nvSpPr>
        <p:spPr>
          <a:xfrm>
            <a:off x="896112" y="4151376"/>
            <a:ext cx="329184" cy="329184"/>
          </a:xfrm>
          <a:prstGeom prst="ellipse">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en-US" sz="1300" u="none" cap="none" strike="noStrike">
                <a:solidFill>
                  <a:srgbClr val="FFFFFF"/>
                </a:solidFill>
                <a:latin typeface="Arial"/>
                <a:ea typeface="Arial"/>
                <a:cs typeface="Arial"/>
                <a:sym typeface="Arial"/>
              </a:rPr>
              <a:t>1</a:t>
            </a:r>
            <a:endParaRPr/>
          </a:p>
        </p:txBody>
      </p:sp>
      <p:sp>
        <p:nvSpPr>
          <p:cNvPr id="544" name="Google Shape;544;p53"/>
          <p:cNvSpPr txBox="1"/>
          <p:nvPr/>
        </p:nvSpPr>
        <p:spPr>
          <a:xfrm>
            <a:off x="1371600" y="4087368"/>
            <a:ext cx="10043129" cy="457200"/>
          </a:xfrm>
          <a:prstGeom prst="rect">
            <a:avLst/>
          </a:prstGeom>
          <a:noFill/>
          <a:ln>
            <a:noFill/>
          </a:ln>
        </p:spPr>
        <p:txBody>
          <a:bodyPr anchorCtr="0" anchor="ctr" bIns="0" lIns="0" spcFirstLastPara="1" rIns="0" wrap="square" tIns="0">
            <a:spAutoFit/>
          </a:bodyPr>
          <a:lstStyle/>
          <a:p>
            <a:pPr indent="0" lvl="0" marL="0" marR="0" rtl="0" algn="l">
              <a:lnSpc>
                <a:spcPct val="116000"/>
              </a:lnSpc>
              <a:spcBef>
                <a:spcPts val="0"/>
              </a:spcBef>
              <a:spcAft>
                <a:spcPts val="0"/>
              </a:spcAft>
              <a:buNone/>
              <a:defRPr/>
            </a:pPr>
            <a:r>
              <a:rPr b="1" i="0" lang="en-US" sz="1600" u="none" cap="none" strike="noStrike">
                <a:solidFill>
                  <a:srgbClr val="14223A"/>
                </a:solidFill>
                <a:latin typeface="Arial"/>
                <a:ea typeface="Arial"/>
                <a:cs typeface="Arial"/>
                <a:sym typeface="Arial"/>
              </a:rPr>
              <a:t>Commutative Property: </a:t>
            </a:r>
            <a:r>
              <a:rPr b="0" i="0" lang="en-US" sz="1600" u="none" cap="none" strike="noStrike">
                <a:solidFill>
                  <a:srgbClr val="14223A"/>
                </a:solidFill>
                <a:latin typeface="Arial"/>
                <a:ea typeface="Arial"/>
                <a:cs typeface="Arial"/>
                <a:sym typeface="Arial"/>
              </a:rPr>
              <a:t xml:space="preserve">Order does not change </a:t>
            </a:r>
            <a:r>
              <a:rPr b="1" i="0" lang="en-US" sz="1600" u="none" cap="none" strike="noStrike">
                <a:solidFill>
                  <a:srgbClr val="14223A"/>
                </a:solidFill>
                <a:latin typeface="Arial"/>
                <a:ea typeface="Arial"/>
                <a:cs typeface="Arial"/>
                <a:sym typeface="Arial"/>
              </a:rPr>
              <a:t xml:space="preserve">sum</a:t>
            </a:r>
            <a:r>
              <a:rPr b="0" i="0" lang="en-US" sz="1600" u="none" cap="none" strike="noStrike">
                <a:solidFill>
                  <a:srgbClr val="14223A"/>
                </a:solidFill>
                <a:latin typeface="Arial"/>
                <a:ea typeface="Arial"/>
                <a:cs typeface="Arial"/>
                <a:sym typeface="Arial"/>
              </a:rPr>
              <a:t xml:space="preserve"> or </a:t>
            </a:r>
            <a:r>
              <a:rPr b="1" i="0" lang="en-US" sz="1600" u="none" cap="none" strike="noStrike">
                <a:solidFill>
                  <a:srgbClr val="14223A"/>
                </a:solidFill>
                <a:latin typeface="Arial"/>
                <a:ea typeface="Arial"/>
                <a:cs typeface="Arial"/>
                <a:sym typeface="Arial"/>
              </a:rPr>
              <a:t xml:space="preserve">product</a:t>
            </a:r>
            <a:endParaRPr/>
          </a:p>
        </p:txBody>
      </p:sp>
      <p:sp>
        <p:nvSpPr>
          <p:cNvPr id="545" name="Google Shape;545;p53"/>
          <p:cNvSpPr/>
          <p:nvPr/>
        </p:nvSpPr>
        <p:spPr>
          <a:xfrm>
            <a:off x="640080" y="4773168"/>
            <a:ext cx="10911809" cy="621792"/>
          </a:xfrm>
          <a:prstGeom prst="roundRect">
            <a:avLst>
              <a:gd fmla="val 8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46" name="Google Shape;546;p53"/>
          <p:cNvSpPr/>
          <p:nvPr/>
        </p:nvSpPr>
        <p:spPr>
          <a:xfrm>
            <a:off x="896112" y="4919472"/>
            <a:ext cx="329184" cy="329184"/>
          </a:xfrm>
          <a:prstGeom prst="ellipse">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en-US" sz="1300" u="none" cap="none" strike="noStrike">
                <a:solidFill>
                  <a:srgbClr val="FFFFFF"/>
                </a:solidFill>
                <a:latin typeface="Arial"/>
                <a:ea typeface="Arial"/>
                <a:cs typeface="Arial"/>
                <a:sym typeface="Arial"/>
              </a:rPr>
              <a:t>2</a:t>
            </a:r>
            <a:endParaRPr/>
          </a:p>
        </p:txBody>
      </p:sp>
      <p:sp>
        <p:nvSpPr>
          <p:cNvPr id="547" name="Google Shape;547;p53"/>
          <p:cNvSpPr txBox="1"/>
          <p:nvPr/>
        </p:nvSpPr>
        <p:spPr>
          <a:xfrm>
            <a:off x="1371600" y="4855464"/>
            <a:ext cx="10043129" cy="457200"/>
          </a:xfrm>
          <a:prstGeom prst="rect">
            <a:avLst/>
          </a:prstGeom>
          <a:noFill/>
          <a:ln>
            <a:noFill/>
          </a:ln>
        </p:spPr>
        <p:txBody>
          <a:bodyPr anchorCtr="0" anchor="ctr" bIns="0" lIns="0" spcFirstLastPara="1" rIns="0" wrap="square" tIns="0">
            <a:spAutoFit/>
          </a:bodyPr>
          <a:lstStyle/>
          <a:p>
            <a:pPr indent="0" lvl="0" marL="0" marR="0" rtl="0" algn="l">
              <a:lnSpc>
                <a:spcPct val="116000"/>
              </a:lnSpc>
              <a:spcBef>
                <a:spcPts val="0"/>
              </a:spcBef>
              <a:spcAft>
                <a:spcPts val="0"/>
              </a:spcAft>
              <a:buNone/>
              <a:defRPr/>
            </a:pPr>
            <a:r>
              <a:rPr b="1" i="0" lang="en-US" sz="1600" u="none" cap="none" strike="noStrike">
                <a:solidFill>
                  <a:srgbClr val="14223A"/>
                </a:solidFill>
                <a:latin typeface="Arial"/>
                <a:ea typeface="Arial"/>
                <a:cs typeface="Arial"/>
                <a:sym typeface="Arial"/>
              </a:rPr>
              <a:t>Associative Property: </a:t>
            </a:r>
            <a:r>
              <a:rPr b="0" i="0" lang="en-US" sz="1600" u="none" cap="none" strike="noStrike">
                <a:solidFill>
                  <a:srgbClr val="14223A"/>
                </a:solidFill>
                <a:latin typeface="Arial"/>
                <a:ea typeface="Arial"/>
                <a:cs typeface="Arial"/>
                <a:sym typeface="Arial"/>
              </a:rPr>
              <a:t>Grouping does not change sum or product</a:t>
            </a:r>
            <a:endParaRPr/>
          </a:p>
        </p:txBody>
      </p:sp>
      <p:sp>
        <p:nvSpPr>
          <p:cNvPr id="548" name="Google Shape;548;p53"/>
          <p:cNvSpPr/>
          <p:nvPr/>
        </p:nvSpPr>
        <p:spPr>
          <a:xfrm>
            <a:off x="640080" y="5541264"/>
            <a:ext cx="10911809" cy="621792"/>
          </a:xfrm>
          <a:prstGeom prst="roundRect">
            <a:avLst>
              <a:gd fmla="val 8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49" name="Google Shape;549;p53"/>
          <p:cNvSpPr/>
          <p:nvPr/>
        </p:nvSpPr>
        <p:spPr>
          <a:xfrm>
            <a:off x="896112" y="5687568"/>
            <a:ext cx="329184" cy="329184"/>
          </a:xfrm>
          <a:prstGeom prst="ellipse">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en-US" sz="1300" u="none" cap="none" strike="noStrike">
                <a:solidFill>
                  <a:srgbClr val="FFFFFF"/>
                </a:solidFill>
                <a:latin typeface="Arial"/>
                <a:ea typeface="Arial"/>
                <a:cs typeface="Arial"/>
                <a:sym typeface="Arial"/>
              </a:rPr>
              <a:t>3</a:t>
            </a:r>
            <a:endParaRPr/>
          </a:p>
        </p:txBody>
      </p:sp>
      <p:sp>
        <p:nvSpPr>
          <p:cNvPr id="550" name="Google Shape;550;p53"/>
          <p:cNvSpPr txBox="1"/>
          <p:nvPr/>
        </p:nvSpPr>
        <p:spPr>
          <a:xfrm>
            <a:off x="1371600" y="5623560"/>
            <a:ext cx="10043129" cy="457200"/>
          </a:xfrm>
          <a:prstGeom prst="rect">
            <a:avLst/>
          </a:prstGeom>
          <a:noFill/>
          <a:ln>
            <a:noFill/>
          </a:ln>
        </p:spPr>
        <p:txBody>
          <a:bodyPr anchorCtr="0" anchor="ctr" bIns="0" lIns="0" spcFirstLastPara="1" rIns="0" wrap="square" tIns="0">
            <a:spAutoFit/>
          </a:bodyPr>
          <a:lstStyle/>
          <a:p>
            <a:pPr indent="0" lvl="0" marL="0" marR="0" rtl="0" algn="l">
              <a:lnSpc>
                <a:spcPct val="116000"/>
              </a:lnSpc>
              <a:spcBef>
                <a:spcPts val="0"/>
              </a:spcBef>
              <a:spcAft>
                <a:spcPts val="0"/>
              </a:spcAft>
              <a:buNone/>
              <a:defRPr/>
            </a:pPr>
            <a:r>
              <a:rPr b="1" i="0" lang="en-US" sz="1600" u="none" cap="none" strike="noStrike">
                <a:solidFill>
                  <a:srgbClr val="14223A"/>
                </a:solidFill>
                <a:latin typeface="Arial"/>
                <a:ea typeface="Arial"/>
                <a:cs typeface="Arial"/>
                <a:sym typeface="Arial"/>
              </a:rPr>
              <a:t>Identity Property: </a:t>
            </a:r>
            <a:r>
              <a:rPr b="0" i="0" lang="en-US" sz="1600" u="none" cap="none" strike="noStrike">
                <a:solidFill>
                  <a:srgbClr val="14223A"/>
                </a:solidFill>
                <a:latin typeface="Arial"/>
                <a:ea typeface="Arial"/>
                <a:cs typeface="Arial"/>
                <a:sym typeface="Arial"/>
              </a:rPr>
              <a:t>a + 0 = a; a · 1 = a</a:t>
            </a:r>
            <a:endParaRPr/>
          </a:p>
        </p:txBody>
      </p:sp>
      <p:sp>
        <p:nvSpPr>
          <p:cNvPr id="551"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3 / 41</a:t>
            </a:r>
          </a:p>
        </p:txBody>
      </p:sp>
      <p:grpSp>
        <p:nvGrpSpPr>
          <p:cNvPr id="552" name="TEACH-1-student-move" descr="TEACH 1 · Facilitate clear, standards-based content learning"/>
          <p:cNvGrpSpPr/>
          <p:nvPr/>
        </p:nvGrpSpPr>
        <p:grpSpPr>
          <a:xfrm>
            <a:off x="6187440" y="1682496"/>
            <a:ext cx="5501640" cy="594360"/>
            <a:chOff x="6187440" y="1682496"/>
            <a:chExt cx="5501640" cy="594360"/>
          </a:xfrm>
        </p:grpSpPr>
        <p:sp>
          <p:nvSpPr>
            <p:cNvPr id="553" name="TEACH-move-card"/>
            <p:cNvSpPr/>
            <p:nvPr/>
          </p:nvSpPr>
          <p:spPr>
            <a:xfrm>
              <a:off x="6187440" y="1682496"/>
              <a:ext cx="5501640" cy="594360"/>
            </a:xfrm>
            <a:prstGeom prst="roundRect">
              <a:avLst>
                <a:gd name="adj" fmla="val 16000"/>
              </a:avLst>
            </a:prstGeom>
            <a:solidFill>
              <a:srgbClr val="E4F0F5"/>
            </a:solidFill>
            <a:ln w="19050">
              <a:solidFill>
                <a:srgbClr val="8CB8C7"/>
              </a:solidFill>
            </a:ln>
          </p:spPr>
          <p:txBody>
            <a:bodyPr/>
            <a:lstStyle/>
            <a:p>
              <a:endParaRPr/>
            </a:p>
          </p:txBody>
        </p:sp>
        <p:sp>
          <p:nvSpPr>
            <p:cNvPr id="554" name="TEACH-move-rule"/>
            <p:cNvSpPr/>
            <p:nvPr/>
          </p:nvSpPr>
          <p:spPr>
            <a:xfrm>
              <a:off x="6233160" y="1795424"/>
              <a:ext cx="100584" cy="368504"/>
            </a:xfrm>
            <a:prstGeom prst="roundRect">
              <a:avLst>
                <a:gd name="adj" fmla="val 50000"/>
              </a:avLst>
            </a:prstGeom>
            <a:solidFill>
              <a:srgbClr val="01708C"/>
            </a:solidFill>
            <a:ln>
              <a:noFill/>
            </a:ln>
          </p:spPr>
          <p:txBody>
            <a:bodyPr/>
            <a:lstStyle/>
            <a:p>
              <a:endParaRPr/>
            </a:p>
          </p:txBody>
        </p:sp>
        <p:sp>
          <p:nvSpPr>
            <p:cNvPr id="555" name="TEACH-move-text"/>
            <p:cNvSpPr txBox="1"/>
            <p:nvPr/>
          </p:nvSpPr>
          <p:spPr>
            <a:xfrm>
              <a:off x="6507480" y="1682496"/>
              <a:ext cx="5044440" cy="594360"/>
            </a:xfrm>
            <a:prstGeom prst="rect">
              <a:avLst/>
            </a:prstGeom>
            <a:noFill/>
            <a:ln>
              <a:noFill/>
            </a:ln>
          </p:spPr>
          <p:txBody>
            <a:bodyPr wrap="square" lIns="0" tIns="0" rIns="0" bIns="0" anchor="ctr">
              <a:noAutofit/>
            </a:bodyPr>
            <a:lstStyle/>
            <a:p>
              <a:pPr algn="l">
                <a:buNone/>
              </a:pPr>
              <a:r>
                <a:rPr lang="en-US" sz="1200" b="1" dirty="0">
                  <a:solidFill>
                    <a:srgbClr val="01708C"/>
                  </a:solidFill>
                  <a:latin typeface="Arial"/>
                </a:rPr>
                <a:t>CONNECT IT  ·  </a:t>
              </a:r>
              <a:r>
                <a:rPr lang="en-US" sz="1200" dirty="0">
                  <a:solidFill>
                    <a:srgbClr val="13303A"/>
                  </a:solidFill>
                  <a:latin typeface="Arial"/>
                </a:rPr>
                <a:t>What earlier lesson does this build on? Tell a partner in one sentence.</a:t>
              </a:r>
              <a:endParaRPr lang="en-US" sz="1200"/>
            </a:p>
          </p:txBody>
        </p:sp>
      </p:gr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3" name="Shape 233"/>
        <p:cNvGrpSpPr/>
        <p:nvPr/>
      </p:nvGrpSpPr>
      <p:grpSpPr>
        <a:xfrm>
          <a:off x="0" y="0"/>
          <a:ext cx="0" cy="0"/>
          <a:chOff x="0" y="0"/>
          <a:chExt cx="0" cy="0"/>
        </a:xfrm>
      </p:grpSpPr>
      <p:sp>
        <p:nvSpPr>
          <p:cNvPr id="234" name="Google Shape;234;p40"/>
          <p:cNvSpPr txBox="1"/>
          <p:nvPr/>
        </p:nvSpPr>
        <p:spPr>
          <a:xfrm>
            <a:off x="1402828" y="2453950"/>
            <a:ext cx="9144000" cy="2176463"/>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3600"/>
              <a:buFont typeface="Arial"/>
              <a:buNone/>
              <a:defRPr/>
            </a:pPr>
            <a:r>
              <a:rPr b="1" i="0" lang="en-US" sz="3600" u="none" cap="none" strike="noStrike">
                <a:solidFill>
                  <a:schemeClr val="dk1"/>
                </a:solidFill>
                <a:latin typeface="Arial"/>
                <a:ea typeface="Arial"/>
                <a:cs typeface="Arial"/>
                <a:sym typeface="Arial"/>
              </a:rPr>
              <a:t>Generate Equivalent Expressions</a:t>
            </a:r>
            <a:endParaRPr b="0" i="0" sz="1400" u="none" cap="none" strike="noStrike">
              <a:solidFill>
                <a:srgbClr val="000000"/>
              </a:solidFill>
              <a:latin typeface="Arial"/>
              <a:ea typeface="Arial"/>
              <a:cs typeface="Arial"/>
              <a:sym typeface="Arial"/>
            </a:endParaRPr>
          </a:p>
        </p:txBody>
      </p:sp>
      <p:sp>
        <p:nvSpPr>
          <p:cNvPr id="235" name="Google Shape;235;p40"/>
          <p:cNvSpPr/>
          <p:nvPr/>
        </p:nvSpPr>
        <p:spPr>
          <a:xfrm>
            <a:off x="1402828" y="1037162"/>
            <a:ext cx="1763624" cy="52322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defRPr/>
            </a:pPr>
            <a:r>
              <a:rPr b="0" i="0" lang="en-US" sz="2800" u="none" cap="none" strike="noStrike">
                <a:solidFill>
                  <a:srgbClr val="782DA0"/>
                </a:solidFill>
                <a:latin typeface="Arial"/>
                <a:ea typeface="Arial"/>
                <a:cs typeface="Arial"/>
                <a:sym typeface="Arial"/>
              </a:rPr>
              <a:t>Session 1</a:t>
            </a:r>
            <a:endParaRPr b="1" i="0" sz="2800" u="none" cap="none" strike="noStrike">
              <a:solidFill>
                <a:srgbClr val="782DA0"/>
              </a:solidFill>
              <a:latin typeface="Arial"/>
              <a:ea typeface="Arial"/>
              <a:cs typeface="Arial"/>
              <a:sym typeface="Arial"/>
            </a:endParaRPr>
          </a:p>
        </p:txBody>
      </p:sp>
      <p:cxnSp>
        <p:nvCxnSpPr>
          <p:cNvPr id="236" name="Google Shape;236;p40"/>
          <p:cNvCxnSpPr/>
          <p:nvPr/>
        </p:nvCxnSpPr>
        <p:spPr>
          <a:xfrm>
            <a:off x="-1" y="1560382"/>
            <a:ext cx="3166453" cy="0"/>
          </a:xfrm>
          <a:prstGeom prst="straightConnector1">
            <a:avLst/>
          </a:prstGeom>
          <a:noFill/>
          <a:ln cap="flat" cmpd="sng" w="19050">
            <a:solidFill>
              <a:srgbClr val="782DA0"/>
            </a:solidFill>
            <a:prstDash val="solid"/>
            <a:miter lim="80"/>
            <a:headEnd len="sm" w="sm" type="none"/>
            <a:tailEnd len="sm" w="sm" type="none"/>
          </a:ln>
        </p:spPr>
      </p:cxnSp>
      <p:sp>
        <p:nvSpPr>
          <p:cNvPr id="237"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4 / 41</a:t>
            </a:r>
          </a:p>
        </p:txBody>
      </p:sp>
      <p:grpSp>
        <p:nvGrpSpPr>
          <p:cNvPr id="238" name="TEACH-6-student-move" descr="TEACH 6 · Organize and implement routines to support a learning-focused classroom"/>
          <p:cNvGrpSpPr/>
          <p:nvPr/>
        </p:nvGrpSpPr>
        <p:grpSpPr>
          <a:xfrm>
            <a:off x="502920" y="3201929"/>
            <a:ext cx="11186160" cy="731520"/>
            <a:chOff x="502920" y="3201929"/>
            <a:chExt cx="11186160" cy="731520"/>
          </a:xfrm>
        </p:grpSpPr>
        <p:sp>
          <p:nvSpPr>
            <p:cNvPr id="239" name="TEACH-move-card"/>
            <p:cNvSpPr/>
            <p:nvPr/>
          </p:nvSpPr>
          <p:spPr>
            <a:xfrm>
              <a:off x="502920" y="3201929"/>
              <a:ext cx="11186160" cy="731520"/>
            </a:xfrm>
            <a:prstGeom prst="roundRect">
              <a:avLst>
                <a:gd name="adj" fmla="val 16000"/>
              </a:avLst>
            </a:prstGeom>
            <a:solidFill>
              <a:srgbClr val="E4F0F5"/>
            </a:solidFill>
            <a:ln w="19050">
              <a:solidFill>
                <a:srgbClr val="8CB8C7"/>
              </a:solidFill>
            </a:ln>
          </p:spPr>
          <p:txBody>
            <a:bodyPr/>
            <a:lstStyle/>
            <a:p>
              <a:endParaRPr/>
            </a:p>
          </p:txBody>
        </p:sp>
        <p:sp>
          <p:nvSpPr>
            <p:cNvPr id="240" name="TEACH-move-rule"/>
            <p:cNvSpPr/>
            <p:nvPr/>
          </p:nvSpPr>
          <p:spPr>
            <a:xfrm>
              <a:off x="548640" y="3340918"/>
              <a:ext cx="100584" cy="453542"/>
            </a:xfrm>
            <a:prstGeom prst="roundRect">
              <a:avLst>
                <a:gd name="adj" fmla="val 50000"/>
              </a:avLst>
            </a:prstGeom>
            <a:solidFill>
              <a:srgbClr val="01708C"/>
            </a:solidFill>
            <a:ln>
              <a:noFill/>
            </a:ln>
          </p:spPr>
          <p:txBody>
            <a:bodyPr/>
            <a:lstStyle/>
            <a:p>
              <a:endParaRPr/>
            </a:p>
          </p:txBody>
        </p:sp>
        <p:sp>
          <p:nvSpPr>
            <p:cNvPr id="241" name="TEACH-move-text"/>
            <p:cNvSpPr txBox="1"/>
            <p:nvPr/>
          </p:nvSpPr>
          <p:spPr>
            <a:xfrm>
              <a:off x="822960" y="3201929"/>
              <a:ext cx="10728960" cy="731520"/>
            </a:xfrm>
            <a:prstGeom prst="rect">
              <a:avLst/>
            </a:prstGeom>
            <a:noFill/>
            <a:ln>
              <a:noFill/>
            </a:ln>
          </p:spPr>
          <p:txBody>
            <a:bodyPr wrap="square" lIns="0" tIns="0" rIns="0" bIns="0" anchor="ctr">
              <a:noAutofit/>
            </a:bodyPr>
            <a:lstStyle/>
            <a:p>
              <a:pPr algn="l">
                <a:buNone/>
              </a:pPr>
              <a:r>
                <a:rPr lang="en-US" sz="1800" b="1" dirty="0">
                  <a:solidFill>
                    <a:srgbClr val="01708C"/>
                  </a:solidFill>
                  <a:latin typeface="Arial"/>
                </a:rPr>
                <a:t>TRY IT BEFORE YOU’RE SURE  ·  </a:t>
              </a:r>
              <a:r>
                <a:rPr lang="en-US" sz="1800" dirty="0">
                  <a:solidFill>
                    <a:srgbClr val="13303A"/>
                  </a:solidFill>
                  <a:latin typeface="Arial"/>
                </a:rPr>
                <a:t>Start even if you are not sure. A revised answer counts as much as a first-try answer.</a:t>
              </a:r>
              <a:endParaRPr lang="en-US" sz="1800"/>
            </a:p>
          </p:txBody>
        </p:sp>
      </p:gr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0" name="Shape 240"/>
        <p:cNvGrpSpPr/>
        <p:nvPr/>
      </p:nvGrpSpPr>
      <p:grpSpPr>
        <a:xfrm>
          <a:off x="0" y="0"/>
          <a:ext cx="0" cy="0"/>
          <a:chOff x="0" y="0"/>
          <a:chExt cx="0" cy="0"/>
        </a:xfrm>
      </p:grpSpPr>
      <p:cxnSp>
        <p:nvCxnSpPr>
          <p:cNvPr id="241" name="Google Shape;241;p41"/>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242" name="Google Shape;242;p41"/>
          <p:cNvSpPr txBox="1"/>
          <p:nvPr/>
        </p:nvSpPr>
        <p:spPr>
          <a:xfrm>
            <a:off x="505579" y="316034"/>
            <a:ext cx="4842276" cy="66112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82DA0"/>
              </a:buClr>
              <a:buSzPts val="2800"/>
              <a:buFont typeface="Arial"/>
              <a:buNone/>
            </a:pPr>
            <a:r>
              <a:rPr b="1" i="0" lang="en-US" sz="2800" u="none" cap="none" strike="noStrike">
                <a:solidFill>
                  <a:srgbClr val="782DA0"/>
                </a:solidFill>
                <a:latin typeface="Arial"/>
                <a:ea typeface="Arial"/>
                <a:cs typeface="Arial"/>
                <a:sym typeface="Arial"/>
              </a:rPr>
              <a:t>Or You Could</a:t>
            </a:r>
            <a:endParaRPr b="0" i="0" sz="1400" u="none" cap="none" strike="noStrike">
              <a:solidFill>
                <a:srgbClr val="000000"/>
              </a:solidFill>
              <a:latin typeface="Arial"/>
              <a:ea typeface="Arial"/>
              <a:cs typeface="Arial"/>
              <a:sym typeface="Arial"/>
            </a:endParaRPr>
          </a:p>
        </p:txBody>
      </p:sp>
      <p:sp>
        <p:nvSpPr>
          <p:cNvPr id="243" name="Google Shape;243;p41"/>
          <p:cNvSpPr txBox="1"/>
          <p:nvPr/>
        </p:nvSpPr>
        <p:spPr>
          <a:xfrm>
            <a:off x="507712" y="1349431"/>
            <a:ext cx="7156623" cy="2299856"/>
          </a:xfrm>
          <a:prstGeom prst="rect">
            <a:avLst/>
          </a:pr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23282D"/>
                </a:solidFill>
                <a:latin typeface="Arial"/>
                <a:ea typeface="Calibri"/>
                <a:cs typeface="Calibri"/>
                <a:sym typeface="Calibri"/>
              </a:rPr>
              <a:t> </a:t>
            </a:r>
            <a:endParaRPr b="0" i="0" sz="1400" u="none" cap="none" strike="noStrike">
              <a:solidFill>
                <a:srgbClr val="000000"/>
              </a:solidFill>
              <a:latin typeface="Arial"/>
              <a:ea typeface="Arial"/>
              <a:cs typeface="Arial"/>
              <a:sym typeface="Arial"/>
            </a:endParaRPr>
          </a:p>
        </p:txBody>
      </p:sp>
      <p:sp>
        <p:nvSpPr>
          <p:cNvPr id="244"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5 / 41</a:t>
            </a:r>
          </a:p>
        </p:txBody>
      </p:sp>
      <p:sp xmlns:p="http://schemas.openxmlformats.org/presentationml/2006/main" xmlns:a="http://schemas.openxmlformats.org/drawingml/2006/main">
        <p:nvSpPr>
          <p:cNvPr id="245" name="TEACH-embedded-student-prompt" descr="Student thinking and response directions"/>
          <p:cNvSpPr txBox="1"/>
          <p:nvPr/>
        </p:nvSpPr>
        <p:spPr>
          <a:xfrm>
            <a:off x="594360" y="5815584"/>
            <a:ext cx="11094720" cy="457200"/>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Explain how the information shown supports your reasoning.</a:t>
            </a:r>
            <a:endParaRPr lang="en-US" sz="2000"/>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3" name="Shape 333"/>
        <p:cNvGrpSpPr/>
        <p:nvPr/>
      </p:nvGrpSpPr>
      <p:grpSpPr>
        <a:xfrm>
          <a:off x="0" y="0"/>
          <a:ext cx="0" cy="0"/>
          <a:chOff x="0" y="0"/>
          <a:chExt cx="0" cy="0"/>
        </a:xfrm>
      </p:grpSpPr>
      <p:sp>
        <p:nvSpPr>
          <p:cNvPr id="334" name="Google Shape;334;p44"/>
          <p:cNvSpPr/>
          <p:nvPr/>
        </p:nvSpPr>
        <p:spPr>
          <a:xfrm>
            <a:off x="0" y="0"/>
            <a:ext cx="12191969" cy="685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35" name="Google Shape;335;p44"/>
          <p:cNvSpPr/>
          <p:nvPr/>
        </p:nvSpPr>
        <p:spPr>
          <a:xfrm>
            <a:off x="0" y="0"/>
            <a:ext cx="12191969" cy="713232"/>
          </a:xfrm>
          <a:prstGeom prst="rect">
            <a:avLst/>
          </a:prstGeom>
          <a:solidFill>
            <a:srgbClr val="0F766E"/>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36" name="Google Shape;336;p44"/>
          <p:cNvSpPr txBox="1"/>
          <p:nvPr/>
        </p:nvSpPr>
        <p:spPr>
          <a:xfrm>
            <a:off x="502920" y="146304"/>
            <a:ext cx="6766560" cy="420624"/>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2000" u="none" cap="none" strike="noStrike">
                <a:solidFill>
                  <a:srgbClr val="FFFFFF"/>
                </a:solidFill>
                <a:latin typeface="Arial"/>
                <a:ea typeface="Arial"/>
                <a:cs typeface="Arial"/>
                <a:sym typeface="Arial"/>
              </a:rPr>
              <a:t>Today’s Objectives</a:t>
            </a:r>
            <a:endParaRPr/>
          </a:p>
        </p:txBody>
      </p:sp>
      <p:sp>
        <p:nvSpPr>
          <p:cNvPr id="337" name="Google Shape;337;p44"/>
          <p:cNvSpPr txBox="1"/>
          <p:nvPr/>
        </p:nvSpPr>
        <p:spPr>
          <a:xfrm>
            <a:off x="7223760" y="128016"/>
            <a:ext cx="4462272" cy="457200"/>
          </a:xfrm>
          <a:prstGeom prst="rect">
            <a:avLst/>
          </a:prstGeom>
          <a:noFill/>
          <a:ln>
            <a:noFill/>
          </a:ln>
        </p:spPr>
        <p:txBody>
          <a:bodyPr anchorCtr="0" anchor="ctr" bIns="0" lIns="0" spcFirstLastPara="1" rIns="0" wrap="square" tIns="0">
            <a:spAutoFit/>
          </a:bodyPr>
          <a:lstStyle/>
          <a:p>
            <a:pPr indent="0" lvl="0" marL="0" marR="0" rtl="0" algn="r">
              <a:lnSpc>
                <a:spcPct val="100000"/>
              </a:lnSpc>
              <a:spcBef>
                <a:spcPts val="0"/>
              </a:spcBef>
              <a:spcAft>
                <a:spcPts val="0"/>
              </a:spcAft>
              <a:buNone/>
              <a:defRPr/>
            </a:pPr>
            <a:r>
              <a:rPr b="0" i="0" lang="en-US" sz="1400" u="none" cap="none" strike="noStrike">
                <a:solidFill>
                  <a:srgbClr val="FFFFFF"/>
                </a:solidFill>
                <a:latin typeface="Arial"/>
                <a:ea typeface="Arial"/>
                <a:cs typeface="Arial"/>
                <a:sym typeface="Arial"/>
              </a:rPr>
              <a:t>Lesson 6-8 · Generate Equivalent Expressions</a:t>
            </a:r>
            <a:endParaRPr/>
          </a:p>
        </p:txBody>
      </p:sp>
      <p:sp>
        <p:nvSpPr>
          <p:cNvPr id="338" name="Google Shape;338;p44"/>
          <p:cNvSpPr/>
          <p:nvPr/>
        </p:nvSpPr>
        <p:spPr>
          <a:xfrm>
            <a:off x="502920" y="6382512"/>
            <a:ext cx="11186129" cy="10972"/>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39" name="Google Shape;339;p44"/>
          <p:cNvSpPr txBox="1"/>
          <p:nvPr/>
        </p:nvSpPr>
        <p:spPr>
          <a:xfrm>
            <a:off x="502920" y="6455664"/>
            <a:ext cx="11186129" cy="25603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0" i="0" lang="en-US" sz="1000" u="none" cap="none" strike="noStrike">
                <a:solidFill>
                  <a:srgbClr val="475569"/>
                </a:solidFill>
                <a:latin typeface="Arial"/>
                <a:ea typeface="Arial"/>
                <a:cs typeface="Arial"/>
                <a:sym typeface="Arial"/>
              </a:rPr>
              <a:t>eduwonderlab.com  ·  Neft Teacher</a:t>
            </a:r>
            <a:endParaRPr/>
          </a:p>
        </p:txBody>
      </p:sp>
      <p:sp>
        <p:nvSpPr>
          <p:cNvPr id="340" name="Google Shape;340;p44"/>
          <p:cNvSpPr txBox="1"/>
          <p:nvPr/>
        </p:nvSpPr>
        <p:spPr>
          <a:xfrm>
            <a:off x="640080" y="969264"/>
            <a:ext cx="10911809" cy="631952"/>
          </a:xfrm>
          <a:prstGeom prst="rect">
            <a:avLst/>
          </a:prstGeom>
          <a:noFill/>
          <a:ln>
            <a:noFill/>
          </a:ln>
        </p:spPr>
        <p:txBody>
          <a:bodyPr anchorCtr="0" anchor="t" bIns="0" lIns="0" spcFirstLastPara="1" rIns="0" wrap="square" tIns="0">
            <a:spAutoFit/>
          </a:bodyPr>
          <a:lstStyle/>
          <a:p>
            <a:pPr indent="0" lvl="0" marL="0" marR="0" rtl="0" algn="l">
              <a:lnSpc>
                <a:spcPct val="112000"/>
              </a:lnSpc>
              <a:spcBef>
                <a:spcPts val="0"/>
              </a:spcBef>
              <a:spcAft>
                <a:spcPts val="0"/>
              </a:spcAft>
              <a:buNone/>
              <a:defRPr/>
            </a:pPr>
            <a:r>
              <a:rPr b="1" i="0" lang="en-US" sz="3800" u="none" cap="none" strike="noStrike">
                <a:solidFill>
                  <a:srgbClr val="14223A"/>
                </a:solidFill>
                <a:latin typeface="Arial"/>
                <a:ea typeface="Arial"/>
                <a:cs typeface="Arial"/>
                <a:sym typeface="Arial"/>
              </a:rPr>
              <a:t>Generate Equivalent Expressions</a:t>
            </a:r>
            <a:endParaRPr/>
          </a:p>
        </p:txBody>
      </p:sp>
      <p:sp>
        <p:nvSpPr>
          <p:cNvPr id="341" name="Google Shape;341;p44"/>
          <p:cNvSpPr txBox="1"/>
          <p:nvPr/>
        </p:nvSpPr>
        <p:spPr>
          <a:xfrm>
            <a:off x="640080" y="1637792"/>
            <a:ext cx="10911809"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1" i="0" lang="en-US" sz="1400" u="none" cap="none" strike="noStrike">
                <a:solidFill>
                  <a:srgbClr val="475569"/>
                </a:solidFill>
                <a:latin typeface="Arial"/>
                <a:ea typeface="Arial"/>
                <a:cs typeface="Arial"/>
                <a:sym typeface="Arial"/>
              </a:rPr>
              <a:t>Maryland Standard 6.AT.7</a:t>
            </a:r>
            <a:endParaRPr/>
          </a:p>
        </p:txBody>
      </p:sp>
      <p:sp>
        <p:nvSpPr>
          <p:cNvPr id="342" name="Google Shape;342;p44"/>
          <p:cNvSpPr/>
          <p:nvPr/>
        </p:nvSpPr>
        <p:spPr>
          <a:xfrm>
            <a:off x="640080" y="2432304"/>
            <a:ext cx="5349240" cy="3621024"/>
          </a:xfrm>
          <a:prstGeom prst="roundRect">
            <a:avLst>
              <a:gd fmla="val 4500" name="adj"/>
            </a:avLst>
          </a:prstGeom>
          <a:solidFill>
            <a:srgbClr val="E3F2F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43" name="Google Shape;343;p44"/>
          <p:cNvSpPr/>
          <p:nvPr/>
        </p:nvSpPr>
        <p:spPr>
          <a:xfrm>
            <a:off x="640080" y="2432304"/>
            <a:ext cx="118872" cy="3621024"/>
          </a:xfrm>
          <a:prstGeom prst="rect">
            <a:avLst/>
          </a:prstGeom>
          <a:solidFill>
            <a:srgbClr val="0F766E"/>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44" name="Google Shape;344;p44"/>
          <p:cNvSpPr txBox="1"/>
          <p:nvPr/>
        </p:nvSpPr>
        <p:spPr>
          <a:xfrm>
            <a:off x="1097280" y="2798064"/>
            <a:ext cx="4480559"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1" i="0" lang="en-US" sz="1400" u="none" cap="none" strike="noStrike">
                <a:solidFill>
                  <a:srgbClr val="0F766E"/>
                </a:solidFill>
                <a:latin typeface="Arial"/>
                <a:ea typeface="Arial"/>
                <a:cs typeface="Arial"/>
                <a:sym typeface="Arial"/>
              </a:rPr>
              <a:t>CONTENT OBJECTIVE</a:t>
            </a:r>
            <a:endParaRPr/>
          </a:p>
        </p:txBody>
      </p:sp>
      <p:sp>
        <p:nvSpPr>
          <p:cNvPr id="345" name="Google Shape;345;p44"/>
          <p:cNvSpPr txBox="1"/>
          <p:nvPr/>
        </p:nvSpPr>
        <p:spPr>
          <a:xfrm>
            <a:off x="1097280" y="3127248"/>
            <a:ext cx="4480559" cy="25603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0" i="1" lang="en-US" sz="1400" u="none" cap="none" strike="noStrike">
                <a:solidFill>
                  <a:srgbClr val="475569"/>
                </a:solidFill>
                <a:latin typeface="Arial"/>
                <a:ea typeface="Arial"/>
                <a:cs typeface="Arial"/>
                <a:sym typeface="Arial"/>
              </a:rPr>
              <a:t>Restate the goal in your words</a:t>
            </a:r>
            <a:endParaRPr/>
          </a:p>
        </p:txBody>
      </p:sp>
      <p:sp>
        <p:nvSpPr>
          <p:cNvPr id="346" name="Google Shape;346;p44"/>
          <p:cNvSpPr txBox="1"/>
          <p:nvPr/>
        </p:nvSpPr>
        <p:spPr>
          <a:xfrm>
            <a:off x="1097280" y="3602736"/>
            <a:ext cx="4480559" cy="2048256"/>
          </a:xfrm>
          <a:prstGeom prst="rect">
            <a:avLst/>
          </a:prstGeom>
          <a:noFill/>
          <a:ln>
            <a:noFill/>
          </a:ln>
        </p:spPr>
        <p:txBody>
          <a:bodyPr anchorCtr="0" anchor="t" bIns="0" lIns="0" spcFirstLastPara="1" rIns="0" wrap="square" tIns="0">
            <a:spAutoFit/>
          </a:bodyPr>
          <a:lstStyle/>
          <a:p>
            <a:pPr indent="0" lvl="0" marL="0" marR="0" rtl="0" algn="l">
              <a:lnSpc>
                <a:spcPct val="124000"/>
              </a:lnSpc>
              <a:spcBef>
                <a:spcPts val="0"/>
              </a:spcBef>
              <a:spcAft>
                <a:spcPts val="0"/>
              </a:spcAft>
              <a:buNone/>
              <a:defRPr/>
            </a:pPr>
            <a:r>
              <a:rPr b="1" i="0" lang="en-US" sz="2500" u="none" cap="none" strike="noStrike">
                <a:solidFill>
                  <a:srgbClr val="14223A"/>
                </a:solidFill>
                <a:latin typeface="Arial"/>
                <a:ea typeface="Arial"/>
                <a:cs typeface="Arial"/>
                <a:sym typeface="Arial"/>
              </a:rPr>
              <a:t>I can use the commutative, associative, and identity properties to rewrite expressions.</a:t>
            </a:r>
            <a:endParaRPr/>
          </a:p>
        </p:txBody>
      </p:sp>
      <p:sp>
        <p:nvSpPr>
          <p:cNvPr id="347" name="Google Shape;347;p44"/>
          <p:cNvSpPr/>
          <p:nvPr/>
        </p:nvSpPr>
        <p:spPr>
          <a:xfrm>
            <a:off x="6382512" y="2432304"/>
            <a:ext cx="5349240" cy="3621024"/>
          </a:xfrm>
          <a:prstGeom prst="roundRect">
            <a:avLst>
              <a:gd fmla="val 4500" name="adj"/>
            </a:avLst>
          </a:prstGeom>
          <a:solidFill>
            <a:srgbClr val="FDEEE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48" name="Google Shape;348;p44"/>
          <p:cNvSpPr/>
          <p:nvPr/>
        </p:nvSpPr>
        <p:spPr>
          <a:xfrm>
            <a:off x="6382512" y="2432304"/>
            <a:ext cx="118872" cy="3621024"/>
          </a:xfrm>
          <a:prstGeom prst="rect">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49" name="Google Shape;349;p44"/>
          <p:cNvSpPr txBox="1"/>
          <p:nvPr/>
        </p:nvSpPr>
        <p:spPr>
          <a:xfrm>
            <a:off x="6839712" y="2798064"/>
            <a:ext cx="4480559"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1" i="0" lang="en-US" sz="1400" u="none" cap="none" strike="noStrike">
                <a:solidFill>
                  <a:srgbClr val="C2410C"/>
                </a:solidFill>
                <a:latin typeface="Arial"/>
                <a:ea typeface="Arial"/>
                <a:cs typeface="Arial"/>
                <a:sym typeface="Arial"/>
              </a:rPr>
              <a:t>LANGUAGE OBJECTIVE</a:t>
            </a:r>
            <a:endParaRPr/>
          </a:p>
        </p:txBody>
      </p:sp>
      <p:sp>
        <p:nvSpPr>
          <p:cNvPr id="350" name="Google Shape;350;p44"/>
          <p:cNvSpPr txBox="1"/>
          <p:nvPr/>
        </p:nvSpPr>
        <p:spPr>
          <a:xfrm>
            <a:off x="6839712" y="3127248"/>
            <a:ext cx="4480559" cy="25603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0" i="1" lang="en-US" sz="1400" u="none" cap="none" strike="noStrike">
                <a:solidFill>
                  <a:srgbClr val="475569"/>
                </a:solidFill>
                <a:latin typeface="Arial"/>
                <a:ea typeface="Arial"/>
                <a:cs typeface="Arial"/>
                <a:sym typeface="Arial"/>
              </a:rPr>
              <a:t>Use these words to explain why</a:t>
            </a:r>
            <a:endParaRPr/>
          </a:p>
        </p:txBody>
      </p:sp>
      <p:sp>
        <p:nvSpPr>
          <p:cNvPr id="351" name="Google Shape;351;p44"/>
          <p:cNvSpPr txBox="1"/>
          <p:nvPr/>
        </p:nvSpPr>
        <p:spPr>
          <a:xfrm>
            <a:off x="6839712" y="3602736"/>
            <a:ext cx="4480559" cy="2048256"/>
          </a:xfrm>
          <a:prstGeom prst="rect">
            <a:avLst/>
          </a:prstGeom>
          <a:noFill/>
          <a:ln>
            <a:noFill/>
          </a:ln>
        </p:spPr>
        <p:txBody>
          <a:bodyPr anchorCtr="0" anchor="t" bIns="0" lIns="0" spcFirstLastPara="1" rIns="0" wrap="square" tIns="0">
            <a:spAutoFit/>
          </a:bodyPr>
          <a:lstStyle/>
          <a:p>
            <a:pPr indent="0" lvl="0" marL="0" marR="0" rtl="0" algn="l">
              <a:lnSpc>
                <a:spcPct val="124000"/>
              </a:lnSpc>
              <a:spcBef>
                <a:spcPts val="0"/>
              </a:spcBef>
              <a:spcAft>
                <a:spcPts val="0"/>
              </a:spcAft>
              <a:buNone/>
              <a:defRPr/>
            </a:pPr>
            <a:r>
              <a:rPr b="1" i="0" lang="en-US" sz="2500" u="none" cap="none" strike="noStrike">
                <a:solidFill>
                  <a:srgbClr val="14223A"/>
                </a:solidFill>
                <a:latin typeface="Arial"/>
                <a:ea typeface="Arial"/>
                <a:cs typeface="Arial"/>
                <a:sym typeface="Arial"/>
              </a:rPr>
              <a:t>I can explain my reasoning using the words commutative property, associative property, and identity property.</a:t>
            </a:r>
            <a:endParaRPr/>
          </a:p>
        </p:txBody>
      </p:sp>
      <p:sp>
        <p:nvSpPr>
          <p:cNvPr id="352"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6 / 41</a:t>
            </a:r>
          </a:p>
        </p:txBody>
      </p:sp>
      <p:grpSp>
        <p:nvGrpSpPr>
          <p:cNvPr id="353" name="TEACH-1-student-move" descr="TEACH 1 · Facilitate clear, standards-based content learning"/>
          <p:cNvGrpSpPr/>
          <p:nvPr/>
        </p:nvGrpSpPr>
        <p:grpSpPr>
          <a:xfrm>
            <a:off x="502920" y="1993392"/>
            <a:ext cx="11186160" cy="402336"/>
            <a:chOff x="502920" y="1993392"/>
            <a:chExt cx="11186160" cy="402336"/>
          </a:xfrm>
        </p:grpSpPr>
        <p:sp>
          <p:nvSpPr>
            <p:cNvPr id="354" name="TEACH-move-card"/>
            <p:cNvSpPr/>
            <p:nvPr/>
          </p:nvSpPr>
          <p:spPr>
            <a:xfrm>
              <a:off x="502920" y="1993392"/>
              <a:ext cx="11186160" cy="402336"/>
            </a:xfrm>
            <a:prstGeom prst="roundRect">
              <a:avLst>
                <a:gd name="adj" fmla="val 16000"/>
              </a:avLst>
            </a:prstGeom>
            <a:solidFill>
              <a:srgbClr val="E4F0F5"/>
            </a:solidFill>
            <a:ln w="19050">
              <a:solidFill>
                <a:srgbClr val="8CB8C7"/>
              </a:solidFill>
            </a:ln>
          </p:spPr>
          <p:txBody>
            <a:bodyPr/>
            <a:lstStyle/>
            <a:p>
              <a:endParaRPr/>
            </a:p>
          </p:txBody>
        </p:sp>
        <p:sp>
          <p:nvSpPr>
            <p:cNvPr id="355" name="TEACH-move-rule"/>
            <p:cNvSpPr/>
            <p:nvPr/>
          </p:nvSpPr>
          <p:spPr>
            <a:xfrm>
              <a:off x="548640" y="2069836"/>
              <a:ext cx="100584" cy="249448"/>
            </a:xfrm>
            <a:prstGeom prst="roundRect">
              <a:avLst>
                <a:gd name="adj" fmla="val 50000"/>
              </a:avLst>
            </a:prstGeom>
            <a:solidFill>
              <a:srgbClr val="01708C"/>
            </a:solidFill>
            <a:ln>
              <a:noFill/>
            </a:ln>
          </p:spPr>
          <p:txBody>
            <a:bodyPr/>
            <a:lstStyle/>
            <a:p>
              <a:endParaRPr/>
            </a:p>
          </p:txBody>
        </p:sp>
        <p:sp>
          <p:nvSpPr>
            <p:cNvPr id="356" name="TEACH-move-text"/>
            <p:cNvSpPr txBox="1"/>
            <p:nvPr/>
          </p:nvSpPr>
          <p:spPr>
            <a:xfrm>
              <a:off x="822960" y="1993392"/>
              <a:ext cx="10728960" cy="402336"/>
            </a:xfrm>
            <a:prstGeom prst="rect">
              <a:avLst/>
            </a:prstGeom>
            <a:noFill/>
            <a:ln>
              <a:noFill/>
            </a:ln>
          </p:spPr>
          <p:txBody>
            <a:bodyPr wrap="square" lIns="0" tIns="0" rIns="0" bIns="0" anchor="ctr">
              <a:noAutofit/>
            </a:bodyPr>
            <a:lstStyle/>
            <a:p>
              <a:pPr algn="l">
                <a:buNone/>
              </a:pPr>
              <a:r>
                <a:rPr lang="en-US" sz="1200" b="1" dirty="0">
                  <a:solidFill>
                    <a:srgbClr val="01708C"/>
                  </a:solidFill>
                  <a:latin typeface="Arial"/>
                </a:rPr>
                <a:t>SHOW YOUR THINKING  ·  </a:t>
              </a:r>
              <a:r>
                <a:rPr lang="en-US" sz="1200" dirty="0">
                  <a:solidFill>
                    <a:srgbClr val="13303A"/>
                  </a:solidFill>
                  <a:latin typeface="Arial"/>
                </a:rPr>
                <a:t>Show what you know — write it, draw it, or build it. A picture counts as an explanation.</a:t>
              </a:r>
              <a:endParaRPr lang="en-US" sz="1200"/>
            </a:p>
          </p:txBody>
        </p:sp>
      </p:gr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showMasterSp="0" show="1">
  <p:cSld>
    <p:bg>
      <p:bgPr>
        <a:solidFill>
          <a:srgbClr val="FFFFFF"/>
        </a:solidFill>
        <a:effectLst/>
      </p:bgPr>
    </p:bg>
    <p:spTree>
      <p:nvGrpSpPr>
        <p:cNvPr id="1" name=""/>
        <p:cNvGrpSpPr/>
        <p:nvPr/>
      </p:nvGrpSpPr>
      <p:grpSpPr/>
      <p:sp>
        <p:nvSpPr>
          <p:cNvPr id="2" name="TextBox 1"/>
          <p:cNvSpPr txBox="1"/>
          <p:nvPr/>
        </p:nvSpPr>
        <p:spPr>
          <a:xfrm>
            <a:off x="594360" y="347472"/>
            <a:ext cx="10972800" cy="301752"/>
          </a:xfrm>
          <a:prstGeom prst="rect">
            <a:avLst/>
          </a:prstGeom>
          <a:noFill/>
        </p:spPr>
        <p:txBody>
          <a:bodyPr wrap="square" lIns="0" rIns="0" tIns="22860" bIns="0">
            <a:spAutoFit/>
          </a:bodyPr>
          <a:lstStyle/>
          <a:p>
            <a:pPr>
              <a:spcAft>
                <a:spcPts val="800"/>
              </a:spcAft>
              <a:defRPr sz="1300" b="1">
                <a:solidFill>
                  <a:srgbClr val="096B69"/>
                </a:solidFill>
                <a:latin typeface="Arial"/>
              </a:defRPr>
            </a:pPr>
            <a:r>
              <a:rPr/>
              <a:t>LESSON 6.8  /  OUR LEARNING</a:t>
            </a:r>
          </a:p>
        </p:txBody>
      </p:sp>
      <p:sp>
        <p:nvSpPr>
          <p:cNvPr id="3" name="TextBox 2"/>
          <p:cNvSpPr txBox="1"/>
          <p:nvPr/>
        </p:nvSpPr>
        <p:spPr>
          <a:xfrm>
            <a:off x="594360" y="914400"/>
            <a:ext cx="10972800" cy="640080"/>
          </a:xfrm>
          <a:prstGeom prst="rect">
            <a:avLst/>
          </a:prstGeom>
          <a:noFill/>
        </p:spPr>
        <p:txBody>
          <a:bodyPr wrap="square" lIns="0" rIns="0" tIns="22860" bIns="0">
            <a:spAutoFit/>
          </a:bodyPr>
          <a:lstStyle/>
          <a:p>
            <a:pPr>
              <a:spcAft>
                <a:spcPts val="800"/>
              </a:spcAft>
              <a:defRPr sz="3600" b="1">
                <a:solidFill>
                  <a:srgbClr val="173451"/>
                </a:solidFill>
                <a:latin typeface="Arial"/>
              </a:defRPr>
            </a:pPr>
            <a:r>
              <a:rPr/>
              <a:t>What will show your learning?</a:t>
            </a:r>
          </a:p>
        </p:txBody>
      </p:sp>
      <p:sp>
        <p:nvSpPr>
          <p:cNvPr id="4" name="TextBox 3"/>
          <p:cNvSpPr txBox="1"/>
          <p:nvPr/>
        </p:nvSpPr>
        <p:spPr>
          <a:xfrm>
            <a:off x="594360" y="6263640"/>
            <a:ext cx="10789920" cy="274320"/>
          </a:xfrm>
          <a:prstGeom prst="rect">
            <a:avLst/>
          </a:prstGeom>
          <a:noFill/>
        </p:spPr>
        <p:txBody>
          <a:bodyPr wrap="square" lIns="0" rIns="0" tIns="22860" bIns="0">
            <a:spAutoFit/>
          </a:bodyPr>
          <a:lstStyle/>
          <a:p>
            <a:pPr>
              <a:spcAft>
                <a:spcPts val="800"/>
              </a:spcAft>
              <a:defRPr sz="1300" b="0">
                <a:solidFill>
                  <a:srgbClr val="506478"/>
                </a:solidFill>
                <a:latin typeface="Arial"/>
              </a:defRPr>
            </a:pPr>
            <a:r>
              <a:rPr/>
              <a:t>Listen to understand. Ask for evidence. Make room for every voice.</a:t>
            </a:r>
          </a:p>
        </p:txBody>
      </p:sp>
      <p:sp>
        <p:nvSpPr>
          <p:cNvPr id="5" name="Oval 4"/>
          <p:cNvSpPr/>
          <p:nvPr/>
        </p:nvSpPr>
        <p:spPr>
          <a:xfrm>
            <a:off x="640080" y="1874519"/>
            <a:ext cx="502920" cy="502920"/>
          </a:xfrm>
          <a:prstGeom prst="ellipse">
            <a:avLst/>
          </a:prstGeom>
          <a:solidFill>
            <a:srgbClr val="096B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95528" y="1929384"/>
            <a:ext cx="219456" cy="338328"/>
          </a:xfrm>
          <a:prstGeom prst="rect">
            <a:avLst/>
          </a:prstGeom>
          <a:noFill/>
        </p:spPr>
        <p:txBody>
          <a:bodyPr wrap="square" lIns="0" rIns="0" tIns="22860" bIns="0">
            <a:spAutoFit/>
          </a:bodyPr>
          <a:lstStyle/>
          <a:p>
            <a:pPr>
              <a:spcAft>
                <a:spcPts val="800"/>
              </a:spcAft>
              <a:defRPr sz="2000" b="1">
                <a:solidFill>
                  <a:srgbClr val="FFFFFF"/>
                </a:solidFill>
                <a:latin typeface="Arial"/>
              </a:defRPr>
            </a:pPr>
            <a:r>
              <a:rPr/>
              <a:t>1</a:t>
            </a:r>
          </a:p>
        </p:txBody>
      </p:sp>
      <p:sp>
        <p:nvSpPr>
          <p:cNvPr id="7" name="TextBox 6"/>
          <p:cNvSpPr txBox="1"/>
          <p:nvPr/>
        </p:nvSpPr>
        <p:spPr>
          <a:xfrm>
            <a:off x="1399032" y="1856231"/>
            <a:ext cx="10012680" cy="841248"/>
          </a:xfrm>
          <a:prstGeom prst="rect">
            <a:avLst/>
          </a:prstGeom>
          <a:noFill/>
        </p:spPr>
        <p:txBody>
          <a:bodyPr wrap="square" lIns="0" rIns="0" tIns="22860" bIns="0">
            <a:spAutoFit/>
          </a:bodyPr>
          <a:lstStyle/>
          <a:p>
            <a:pPr>
              <a:spcAft>
                <a:spcPts val="800"/>
              </a:spcAft>
              <a:defRPr sz="2500" b="0">
                <a:solidFill>
                  <a:srgbClr val="24384B"/>
                </a:solidFill>
                <a:latin typeface="Arial"/>
              </a:defRPr>
            </a:pPr>
            <a:r>
              <a:rPr/>
              <a:t>Rewrite using valid properties.</a:t>
            </a:r>
          </a:p>
        </p:txBody>
      </p:sp>
      <p:sp>
        <p:nvSpPr>
          <p:cNvPr id="8" name="Oval 7"/>
          <p:cNvSpPr/>
          <p:nvPr/>
        </p:nvSpPr>
        <p:spPr>
          <a:xfrm>
            <a:off x="640080" y="2862072"/>
            <a:ext cx="502920" cy="502920"/>
          </a:xfrm>
          <a:prstGeom prst="ellipse">
            <a:avLst/>
          </a:prstGeom>
          <a:solidFill>
            <a:srgbClr val="096B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95528" y="2916936"/>
            <a:ext cx="219456" cy="338328"/>
          </a:xfrm>
          <a:prstGeom prst="rect">
            <a:avLst/>
          </a:prstGeom>
          <a:noFill/>
        </p:spPr>
        <p:txBody>
          <a:bodyPr wrap="square" lIns="0" rIns="0" tIns="22860" bIns="0">
            <a:spAutoFit/>
          </a:bodyPr>
          <a:lstStyle/>
          <a:p>
            <a:pPr>
              <a:spcAft>
                <a:spcPts val="800"/>
              </a:spcAft>
              <a:defRPr sz="2000" b="1">
                <a:solidFill>
                  <a:srgbClr val="FFFFFF"/>
                </a:solidFill>
                <a:latin typeface="Arial"/>
              </a:defRPr>
            </a:pPr>
            <a:r>
              <a:rPr/>
              <a:t>2</a:t>
            </a:r>
          </a:p>
        </p:txBody>
      </p:sp>
      <p:sp>
        <p:nvSpPr>
          <p:cNvPr id="10" name="TextBox 9"/>
          <p:cNvSpPr txBox="1"/>
          <p:nvPr/>
        </p:nvSpPr>
        <p:spPr>
          <a:xfrm>
            <a:off x="1399032" y="2843784"/>
            <a:ext cx="10012680" cy="841248"/>
          </a:xfrm>
          <a:prstGeom prst="rect">
            <a:avLst/>
          </a:prstGeom>
          <a:noFill/>
        </p:spPr>
        <p:txBody>
          <a:bodyPr wrap="square" lIns="0" rIns="0" tIns="22860" bIns="0">
            <a:spAutoFit/>
          </a:bodyPr>
          <a:lstStyle/>
          <a:p>
            <a:pPr>
              <a:spcAft>
                <a:spcPts val="800"/>
              </a:spcAft>
              <a:defRPr sz="2500" b="0">
                <a:solidFill>
                  <a:srgbClr val="24384B"/>
                </a:solidFill>
                <a:latin typeface="Arial"/>
              </a:defRPr>
            </a:pPr>
            <a:r>
              <a:rPr/>
              <a:t>Preserve value.</a:t>
            </a:r>
          </a:p>
        </p:txBody>
      </p:sp>
      <p:sp>
        <p:nvSpPr>
          <p:cNvPr id="11" name="Oval 10"/>
          <p:cNvSpPr/>
          <p:nvPr/>
        </p:nvSpPr>
        <p:spPr>
          <a:xfrm>
            <a:off x="640080" y="3849624"/>
            <a:ext cx="502920" cy="502920"/>
          </a:xfrm>
          <a:prstGeom prst="ellipse">
            <a:avLst/>
          </a:prstGeom>
          <a:solidFill>
            <a:srgbClr val="096B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95528" y="3904487"/>
            <a:ext cx="219456" cy="338328"/>
          </a:xfrm>
          <a:prstGeom prst="rect">
            <a:avLst/>
          </a:prstGeom>
          <a:noFill/>
        </p:spPr>
        <p:txBody>
          <a:bodyPr wrap="square" lIns="0" rIns="0" tIns="22860" bIns="0">
            <a:spAutoFit/>
          </a:bodyPr>
          <a:lstStyle/>
          <a:p>
            <a:pPr>
              <a:spcAft>
                <a:spcPts val="800"/>
              </a:spcAft>
              <a:defRPr sz="2000" b="1">
                <a:solidFill>
                  <a:srgbClr val="FFFFFF"/>
                </a:solidFill>
                <a:latin typeface="Arial"/>
              </a:defRPr>
            </a:pPr>
            <a:r>
              <a:rPr/>
              <a:t>3</a:t>
            </a:r>
          </a:p>
        </p:txBody>
      </p:sp>
      <p:sp>
        <p:nvSpPr>
          <p:cNvPr id="13" name="TextBox 12"/>
          <p:cNvSpPr txBox="1"/>
          <p:nvPr/>
        </p:nvSpPr>
        <p:spPr>
          <a:xfrm>
            <a:off x="1399032" y="3831336"/>
            <a:ext cx="10012680" cy="841248"/>
          </a:xfrm>
          <a:prstGeom prst="rect">
            <a:avLst/>
          </a:prstGeom>
          <a:noFill/>
        </p:spPr>
        <p:txBody>
          <a:bodyPr wrap="square" lIns="0" rIns="0" tIns="22860" bIns="0">
            <a:spAutoFit/>
          </a:bodyPr>
          <a:lstStyle/>
          <a:p>
            <a:pPr>
              <a:spcAft>
                <a:spcPts val="800"/>
              </a:spcAft>
              <a:defRPr sz="2500" b="0">
                <a:solidFill>
                  <a:srgbClr val="24384B"/>
                </a:solidFill>
                <a:latin typeface="Arial"/>
              </a:defRPr>
            </a:pPr>
            <a:r>
              <a:rPr/>
              <a:t>Explain the property at each step.</a:t>
            </a:r>
          </a:p>
        </p:txBody>
      </p:sp>
      <p:sp>
        <p:nvSpPr>
          <p:cNvPr id="14" name="Rounded Rectangle 13"/>
          <p:cNvSpPr/>
          <p:nvPr/>
        </p:nvSpPr>
        <p:spPr>
          <a:xfrm>
            <a:off x="594360" y="5120640"/>
            <a:ext cx="10972800" cy="822960"/>
          </a:xfrm>
          <a:prstGeom prst="roundRect">
            <a:avLst/>
          </a:prstGeom>
          <a:solidFill>
            <a:srgbClr val="EDF6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50392" y="5303520"/>
            <a:ext cx="10469880" cy="438912"/>
          </a:xfrm>
          <a:prstGeom prst="rect">
            <a:avLst/>
          </a:prstGeom>
          <a:noFill/>
        </p:spPr>
        <p:txBody>
          <a:bodyPr wrap="square" lIns="0" rIns="0" tIns="22860" bIns="0">
            <a:spAutoFit/>
          </a:bodyPr>
          <a:lstStyle/>
          <a:p>
            <a:pPr>
              <a:spcAft>
                <a:spcPts val="800"/>
              </a:spcAft>
              <a:defRPr sz="2200" b="0">
                <a:solidFill>
                  <a:srgbClr val="096B69"/>
                </a:solidFill>
                <a:latin typeface="Arial"/>
              </a:defRPr>
            </a:pPr>
            <a:r>
              <a:rPr/>
              <a:t>Tell a partner: Which skill connects to something you already know?</a:t>
            </a:r>
          </a:p>
        </p:txBody>
      </p:sp>
      <p:grpSp>
        <p:nvGrpSpPr>
          <p:cNvPr id="16" name="TEACH-1-student-move" descr="TEACH 1 · Facilitate clear, standards-based content learning"/>
          <p:cNvGrpSpPr/>
          <p:nvPr/>
        </p:nvGrpSpPr>
        <p:grpSpPr>
          <a:xfrm>
            <a:off x="502920" y="5824728"/>
            <a:ext cx="11186160" cy="402336"/>
            <a:chOff x="502920" y="5824728"/>
            <a:chExt cx="11186160" cy="402336"/>
          </a:xfrm>
        </p:grpSpPr>
        <p:sp>
          <p:nvSpPr>
            <p:cNvPr id="17" name="TEACH-move-card"/>
            <p:cNvSpPr/>
            <p:nvPr/>
          </p:nvSpPr>
          <p:spPr>
            <a:xfrm>
              <a:off x="502920" y="5824728"/>
              <a:ext cx="11186160" cy="402336"/>
            </a:xfrm>
            <a:prstGeom prst="roundRect">
              <a:avLst>
                <a:gd name="adj" fmla="val 16000"/>
              </a:avLst>
            </a:prstGeom>
            <a:solidFill>
              <a:srgbClr val="E4F0F5"/>
            </a:solidFill>
            <a:ln w="19050">
              <a:solidFill>
                <a:srgbClr val="8CB8C7"/>
              </a:solidFill>
            </a:ln>
          </p:spPr>
          <p:txBody>
            <a:bodyPr/>
            <a:lstStyle/>
            <a:p>
              <a:endParaRPr/>
            </a:p>
          </p:txBody>
        </p:sp>
        <p:sp>
          <p:nvSpPr>
            <p:cNvPr id="18" name="TEACH-move-rule"/>
            <p:cNvSpPr/>
            <p:nvPr/>
          </p:nvSpPr>
          <p:spPr>
            <a:xfrm>
              <a:off x="548640" y="5901172"/>
              <a:ext cx="100584" cy="249448"/>
            </a:xfrm>
            <a:prstGeom prst="roundRect">
              <a:avLst>
                <a:gd name="adj" fmla="val 50000"/>
              </a:avLst>
            </a:prstGeom>
            <a:solidFill>
              <a:srgbClr val="01708C"/>
            </a:solidFill>
            <a:ln>
              <a:noFill/>
            </a:ln>
          </p:spPr>
          <p:txBody>
            <a:bodyPr/>
            <a:lstStyle/>
            <a:p>
              <a:endParaRPr/>
            </a:p>
          </p:txBody>
        </p:sp>
        <p:sp>
          <p:nvSpPr>
            <p:cNvPr id="19" name="TEACH-move-text"/>
            <p:cNvSpPr txBox="1"/>
            <p:nvPr/>
          </p:nvSpPr>
          <p:spPr>
            <a:xfrm>
              <a:off x="822960" y="5824728"/>
              <a:ext cx="10728960" cy="402336"/>
            </a:xfrm>
            <a:prstGeom prst="rect">
              <a:avLst/>
            </a:prstGeom>
            <a:noFill/>
            <a:ln>
              <a:noFill/>
            </a:ln>
          </p:spPr>
          <p:txBody>
            <a:bodyPr wrap="square" lIns="0" tIns="0" rIns="0" bIns="0" anchor="ctr">
              <a:noAutofit/>
            </a:bodyPr>
            <a:lstStyle/>
            <a:p>
              <a:pPr algn="l">
                <a:buNone/>
              </a:pPr>
              <a:r>
                <a:rPr lang="en-US" sz="1200" b="1" dirty="0">
                  <a:solidFill>
                    <a:srgbClr val="01708C"/>
                  </a:solidFill>
                  <a:latin typeface="Arial"/>
                </a:rPr>
                <a:t>WHY IT MATTERS  ·  </a:t>
              </a:r>
              <a:r>
                <a:rPr lang="en-US" sz="1200" dirty="0">
                  <a:solidFill>
                    <a:srgbClr val="13303A"/>
                  </a:solidFill>
                  <a:latin typeface="Arial"/>
                </a:rPr>
                <a:t>Finish this: “This is worth knowing because ______.”</a:t>
              </a:r>
              <a:endParaRPr lang="en-US" sz="1200"/>
            </a:p>
          </p:txBody>
        </p:sp>
      </p:gr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92" name="Google Shape;392;p46"/>
          <p:cNvSpPr/>
          <p:nvPr/>
        </p:nvSpPr>
        <p:spPr>
          <a:xfrm>
            <a:off x="0" y="0"/>
            <a:ext cx="12191969" cy="685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93" name="Google Shape;393;p46"/>
          <p:cNvSpPr/>
          <p:nvPr/>
        </p:nvSpPr>
        <p:spPr>
          <a:xfrm>
            <a:off x="0" y="0"/>
            <a:ext cx="12191969" cy="713232"/>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94" name="Google Shape;394;p46"/>
          <p:cNvSpPr txBox="1"/>
          <p:nvPr/>
        </p:nvSpPr>
        <p:spPr>
          <a:xfrm>
            <a:off x="502920" y="146304"/>
            <a:ext cx="6766560" cy="420624"/>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2000" u="none" cap="none" strike="noStrike">
                <a:solidFill>
                  <a:srgbClr val="FFFFFF"/>
                </a:solidFill>
                <a:latin typeface="Arial"/>
                <a:ea typeface="Arial"/>
                <a:cs typeface="Arial"/>
                <a:sym typeface="Arial"/>
              </a:rPr>
              <a:t>Vocabulary  1 of 6</a:t>
            </a:r>
            <a:endParaRPr/>
          </a:p>
        </p:txBody>
      </p:sp>
      <p:sp>
        <p:nvSpPr>
          <p:cNvPr id="395" name="Google Shape;395;p46"/>
          <p:cNvSpPr txBox="1"/>
          <p:nvPr/>
        </p:nvSpPr>
        <p:spPr>
          <a:xfrm>
            <a:off x="7223760" y="128016"/>
            <a:ext cx="4462272" cy="457200"/>
          </a:xfrm>
          <a:prstGeom prst="rect">
            <a:avLst/>
          </a:prstGeom>
          <a:noFill/>
          <a:ln>
            <a:noFill/>
          </a:ln>
        </p:spPr>
        <p:txBody>
          <a:bodyPr anchorCtr="0" anchor="ctr" bIns="0" lIns="0" spcFirstLastPara="1" rIns="0" wrap="square" tIns="0">
            <a:spAutoFit/>
          </a:bodyPr>
          <a:lstStyle/>
          <a:p>
            <a:pPr indent="0" lvl="0" marL="0" marR="0" rtl="0" algn="r">
              <a:lnSpc>
                <a:spcPct val="100000"/>
              </a:lnSpc>
              <a:spcBef>
                <a:spcPts val="0"/>
              </a:spcBef>
              <a:spcAft>
                <a:spcPts val="0"/>
              </a:spcAft>
              <a:buNone/>
              <a:defRPr/>
            </a:pPr>
            <a:r>
              <a:rPr b="0" i="0" lang="en-US" sz="1200" u="none" cap="none" strike="noStrike">
                <a:solidFill>
                  <a:srgbClr val="FFFFFF"/>
                </a:solidFill>
                <a:latin typeface="Arial"/>
                <a:ea typeface="Arial"/>
                <a:cs typeface="Arial"/>
                <a:sym typeface="Arial"/>
              </a:rPr>
              <a:t>Lesson 6-8 · Generate Equivalent Expressions</a:t>
            </a:r>
            <a:endParaRPr/>
          </a:p>
        </p:txBody>
      </p:sp>
      <p:sp>
        <p:nvSpPr>
          <p:cNvPr id="396" name="Google Shape;396;p46"/>
          <p:cNvSpPr/>
          <p:nvPr/>
        </p:nvSpPr>
        <p:spPr>
          <a:xfrm>
            <a:off x="502920" y="6382512"/>
            <a:ext cx="11186129" cy="10972"/>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97" name="Google Shape;397;p46"/>
          <p:cNvSpPr txBox="1"/>
          <p:nvPr/>
        </p:nvSpPr>
        <p:spPr>
          <a:xfrm>
            <a:off x="502920" y="6455664"/>
            <a:ext cx="11186129" cy="25603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0" i="0" lang="en-US" sz="1000" u="none" cap="none" strike="noStrike">
                <a:solidFill>
                  <a:srgbClr val="475569"/>
                </a:solidFill>
                <a:latin typeface="Arial"/>
                <a:ea typeface="Arial"/>
                <a:cs typeface="Arial"/>
                <a:sym typeface="Arial"/>
              </a:rPr>
              <a:t>eduwonderlab.com  ·  Neft Teacher</a:t>
            </a:r>
            <a:endParaRPr/>
          </a:p>
        </p:txBody>
      </p:sp>
      <p:sp>
        <p:nvSpPr>
          <p:cNvPr id="398" name="Google Shape;398;p46"/>
          <p:cNvSpPr txBox="1"/>
          <p:nvPr/>
        </p:nvSpPr>
        <p:spPr>
          <a:xfrm>
            <a:off x="640080" y="1761743"/>
            <a:ext cx="10911809" cy="902208"/>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defRPr/>
            </a:pPr>
            <a:r>
              <a:rPr b="1" i="0" lang="en-US" sz="5200" u="none" cap="none" strike="noStrike">
                <a:solidFill>
                  <a:srgbClr val="14223A"/>
                </a:solidFill>
                <a:latin typeface="Arial"/>
                <a:ea typeface="Arial"/>
                <a:cs typeface="Arial"/>
                <a:sym typeface="Arial"/>
              </a:rPr>
              <a:t>Properties of Operations</a:t>
            </a:r>
            <a:endParaRPr/>
          </a:p>
        </p:txBody>
      </p:sp>
      <p:sp>
        <p:nvSpPr>
          <p:cNvPr id="399" name="Google Shape;399;p46"/>
          <p:cNvSpPr/>
          <p:nvPr/>
        </p:nvSpPr>
        <p:spPr>
          <a:xfrm>
            <a:off x="658368" y="2718816"/>
            <a:ext cx="2852928" cy="68580"/>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00" name="Google Shape;400;p46"/>
          <p:cNvSpPr txBox="1"/>
          <p:nvPr/>
        </p:nvSpPr>
        <p:spPr>
          <a:xfrm>
            <a:off x="640080" y="3080004"/>
            <a:ext cx="10911809" cy="864108"/>
          </a:xfrm>
          <a:prstGeom prst="rect">
            <a:avLst/>
          </a:prstGeom>
          <a:noFill/>
          <a:ln>
            <a:noFill/>
          </a:ln>
        </p:spPr>
        <p:txBody>
          <a:bodyPr anchorCtr="0" anchor="t" bIns="0" lIns="0" spcFirstLastPara="1" rIns="0" wrap="square" tIns="0">
            <a:spAutoFit/>
          </a:bodyPr>
          <a:lstStyle/>
          <a:p>
            <a:pPr indent="0" lvl="0" marL="0" marR="0" rtl="0" algn="l">
              <a:lnSpc>
                <a:spcPct val="126000"/>
              </a:lnSpc>
              <a:spcBef>
                <a:spcPts val="0"/>
              </a:spcBef>
              <a:spcAft>
                <a:spcPts val="0"/>
              </a:spcAft>
              <a:buNone/>
              <a:defRPr/>
            </a:pPr>
            <a:r>
              <a:rPr b="0" i="0" lang="en-US" sz="2700" u="none" cap="none" strike="noStrike">
                <a:solidFill>
                  <a:srgbClr val="14223A"/>
                </a:solidFill>
                <a:latin typeface="Arial"/>
                <a:ea typeface="Arial"/>
                <a:cs typeface="Arial"/>
                <a:sym typeface="Arial"/>
              </a:rPr>
              <a:t>Rules that let you reorder or regroup numbers without changing an expression’s value.</a:t>
            </a:r>
            <a:endParaRPr/>
          </a:p>
        </p:txBody>
      </p:sp>
      <p:sp>
        <p:nvSpPr>
          <p:cNvPr id="401" name="Google Shape;401;p46"/>
          <p:cNvSpPr/>
          <p:nvPr/>
        </p:nvSpPr>
        <p:spPr>
          <a:xfrm>
            <a:off x="640080" y="4364736"/>
            <a:ext cx="10911809" cy="1051560"/>
          </a:xfrm>
          <a:prstGeom prst="roundRect">
            <a:avLst>
              <a:gd fmla="val 7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02" name="Google Shape;402;p46"/>
          <p:cNvSpPr/>
          <p:nvPr/>
        </p:nvSpPr>
        <p:spPr>
          <a:xfrm>
            <a:off x="640080" y="4364736"/>
            <a:ext cx="91440" cy="1051560"/>
          </a:xfrm>
          <a:prstGeom prst="rect">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03" name="Google Shape;403;p46"/>
          <p:cNvSpPr txBox="1"/>
          <p:nvPr/>
        </p:nvSpPr>
        <p:spPr>
          <a:xfrm>
            <a:off x="932688" y="4538472"/>
            <a:ext cx="10344881" cy="237744"/>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1" i="0" lang="en-US" sz="1150" u="none" cap="none" strike="noStrike">
                <a:solidFill>
                  <a:srgbClr val="C2410C"/>
                </a:solidFill>
                <a:latin typeface="Arial"/>
                <a:ea typeface="Arial"/>
                <a:cs typeface="Arial"/>
                <a:sym typeface="Arial"/>
              </a:rPr>
              <a:t>EXAMPLE · EXPLAIN WHY IT FITS</a:t>
            </a:r>
            <a:endParaRPr/>
          </a:p>
        </p:txBody>
      </p:sp>
      <p:sp>
        <p:nvSpPr>
          <p:cNvPr id="404" name="Google Shape;404;p46"/>
          <p:cNvSpPr txBox="1"/>
          <p:nvPr/>
        </p:nvSpPr>
        <p:spPr>
          <a:xfrm>
            <a:off x="932688" y="4840224"/>
            <a:ext cx="10344881" cy="429767"/>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defRPr/>
            </a:pPr>
            <a:r>
              <a:rPr b="0" i="0" lang="en-US" sz="2100" u="none" cap="none" strike="noStrike">
                <a:solidFill>
                  <a:srgbClr val="14223A"/>
                </a:solidFill>
                <a:latin typeface="Arial"/>
                <a:ea typeface="Arial"/>
                <a:cs typeface="Arial"/>
                <a:sym typeface="Arial"/>
              </a:rPr>
              <a:t>3 + 5 = 5 + 3 (commutative property).</a:t>
            </a:r>
            <a:endParaRPr/>
          </a:p>
        </p:txBody>
      </p:sp>
      <p:sp>
        <p:nvSpPr>
          <p:cNvPr id="330"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8 / 41</a:t>
            </a:r>
          </a:p>
        </p:txBody>
      </p:sp>
      <p:grpSp>
        <p:nvGrpSpPr>
          <p:cNvPr id="405" name="TEACH-5-student-move" descr="TEACH 5 · Facilitate student interactions and academic talk"/>
          <p:cNvGrpSpPr/>
          <p:nvPr/>
        </p:nvGrpSpPr>
        <p:grpSpPr>
          <a:xfrm>
            <a:off x="502920" y="5751576"/>
            <a:ext cx="11186160" cy="548640"/>
            <a:chOff x="502920" y="5751576"/>
            <a:chExt cx="11186160" cy="548640"/>
          </a:xfrm>
        </p:grpSpPr>
        <p:sp>
          <p:nvSpPr>
            <p:cNvPr id="406" name="TEACH-move-card"/>
            <p:cNvSpPr/>
            <p:nvPr/>
          </p:nvSpPr>
          <p:spPr>
            <a:xfrm>
              <a:off x="502920" y="5751576"/>
              <a:ext cx="11186160" cy="548640"/>
            </a:xfrm>
            <a:prstGeom prst="roundRect">
              <a:avLst>
                <a:gd name="adj" fmla="val 16000"/>
              </a:avLst>
            </a:prstGeom>
            <a:solidFill>
              <a:srgbClr val="E4F0F5"/>
            </a:solidFill>
            <a:ln w="19050">
              <a:solidFill>
                <a:srgbClr val="8CB8C7"/>
              </a:solidFill>
            </a:ln>
          </p:spPr>
          <p:txBody>
            <a:bodyPr/>
            <a:lstStyle/>
            <a:p>
              <a:endParaRPr/>
            </a:p>
          </p:txBody>
        </p:sp>
        <p:sp>
          <p:nvSpPr>
            <p:cNvPr id="407" name="TEACH-move-rule"/>
            <p:cNvSpPr/>
            <p:nvPr/>
          </p:nvSpPr>
          <p:spPr>
            <a:xfrm>
              <a:off x="548640" y="5855818"/>
              <a:ext cx="100584" cy="340156"/>
            </a:xfrm>
            <a:prstGeom prst="roundRect">
              <a:avLst>
                <a:gd name="adj" fmla="val 50000"/>
              </a:avLst>
            </a:prstGeom>
            <a:solidFill>
              <a:srgbClr val="01708C"/>
            </a:solidFill>
            <a:ln>
              <a:noFill/>
            </a:ln>
          </p:spPr>
          <p:txBody>
            <a:bodyPr/>
            <a:lstStyle/>
            <a:p>
              <a:endParaRPr/>
            </a:p>
          </p:txBody>
        </p:sp>
        <p:sp>
          <p:nvSpPr>
            <p:cNvPr id="408" name="TEACH-move-text"/>
            <p:cNvSpPr txBox="1"/>
            <p:nvPr/>
          </p:nvSpPr>
          <p:spPr>
            <a:xfrm>
              <a:off x="822960" y="5751576"/>
              <a:ext cx="10728960" cy="548640"/>
            </a:xfrm>
            <a:prstGeom prst="rect">
              <a:avLst/>
            </a:prstGeom>
            <a:noFill/>
            <a:ln>
              <a:noFill/>
            </a:ln>
          </p:spPr>
          <p:txBody>
            <a:bodyPr wrap="square" lIns="0" tIns="0" rIns="0" bIns="0" anchor="ctr">
              <a:noAutofit/>
            </a:bodyPr>
            <a:lstStyle/>
            <a:p>
              <a:pPr algn="l">
                <a:buNone/>
              </a:pPr>
              <a:r>
                <a:rPr lang="en-US" sz="1400" b="1" dirty="0">
                  <a:solidFill>
                    <a:srgbClr val="01708C"/>
                  </a:solidFill>
                  <a:latin typeface="Arial"/>
                </a:rPr>
                <a:t>USE THE MATH WORDS  ·  </a:t>
              </a:r>
              <a:r>
                <a:rPr lang="en-US" sz="1400" dirty="0">
                  <a:solidFill>
                    <a:srgbClr val="13303A"/>
                  </a:solidFill>
                  <a:latin typeface="Arial"/>
                </a:rPr>
                <a:t>Use today’s math words in your explanation — not “it” and “that thing.”</a:t>
              </a:r>
              <a:endParaRPr lang="en-US" sz="1400"/>
            </a:p>
          </p:txBody>
        </p:sp>
      </p:gr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09" name="Google Shape;409;p47"/>
          <p:cNvSpPr/>
          <p:nvPr/>
        </p:nvSpPr>
        <p:spPr>
          <a:xfrm>
            <a:off x="0" y="0"/>
            <a:ext cx="12191969" cy="685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10" name="Google Shape;410;p47"/>
          <p:cNvSpPr/>
          <p:nvPr/>
        </p:nvSpPr>
        <p:spPr>
          <a:xfrm>
            <a:off x="0" y="0"/>
            <a:ext cx="12191969" cy="713232"/>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11" name="Google Shape;411;p47"/>
          <p:cNvSpPr txBox="1"/>
          <p:nvPr/>
        </p:nvSpPr>
        <p:spPr>
          <a:xfrm>
            <a:off x="502920" y="146304"/>
            <a:ext cx="6766560" cy="420624"/>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1" i="0" lang="en-US" sz="2000" u="none" cap="none" strike="noStrike">
                <a:solidFill>
                  <a:srgbClr val="FFFFFF"/>
                </a:solidFill>
                <a:latin typeface="Arial"/>
                <a:ea typeface="Arial"/>
                <a:cs typeface="Arial"/>
                <a:sym typeface="Arial"/>
              </a:rPr>
              <a:t>Vocabulary  2 of 6</a:t>
            </a:r>
            <a:endParaRPr/>
          </a:p>
        </p:txBody>
      </p:sp>
      <p:sp>
        <p:nvSpPr>
          <p:cNvPr id="412" name="Google Shape;412;p47"/>
          <p:cNvSpPr txBox="1"/>
          <p:nvPr/>
        </p:nvSpPr>
        <p:spPr>
          <a:xfrm>
            <a:off x="7223760" y="128016"/>
            <a:ext cx="4462272" cy="457200"/>
          </a:xfrm>
          <a:prstGeom prst="rect">
            <a:avLst/>
          </a:prstGeom>
          <a:noFill/>
          <a:ln>
            <a:noFill/>
          </a:ln>
        </p:spPr>
        <p:txBody>
          <a:bodyPr anchorCtr="0" anchor="ctr" bIns="0" lIns="0" spcFirstLastPara="1" rIns="0" wrap="square" tIns="0">
            <a:spAutoFit/>
          </a:bodyPr>
          <a:lstStyle/>
          <a:p>
            <a:pPr indent="0" lvl="0" marL="0" marR="0" rtl="0" algn="r">
              <a:lnSpc>
                <a:spcPct val="100000"/>
              </a:lnSpc>
              <a:spcBef>
                <a:spcPts val="0"/>
              </a:spcBef>
              <a:spcAft>
                <a:spcPts val="0"/>
              </a:spcAft>
              <a:buNone/>
            </a:pPr>
            <a:r>
              <a:rPr b="0" i="0" lang="en-US" sz="1200" u="none" cap="none" strike="noStrike">
                <a:solidFill>
                  <a:srgbClr val="FFFFFF"/>
                </a:solidFill>
                <a:latin typeface="Arial"/>
                <a:ea typeface="Arial"/>
                <a:cs typeface="Arial"/>
                <a:sym typeface="Arial"/>
              </a:rPr>
              <a:t>Lesson 6-8 · Generate Equivalent Expressions</a:t>
            </a:r>
            <a:endParaRPr/>
          </a:p>
        </p:txBody>
      </p:sp>
      <p:sp>
        <p:nvSpPr>
          <p:cNvPr id="413" name="Google Shape;413;p47"/>
          <p:cNvSpPr/>
          <p:nvPr/>
        </p:nvSpPr>
        <p:spPr>
          <a:xfrm>
            <a:off x="502920" y="6382512"/>
            <a:ext cx="11186129" cy="10972"/>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14" name="Google Shape;414;p47"/>
          <p:cNvSpPr txBox="1"/>
          <p:nvPr/>
        </p:nvSpPr>
        <p:spPr>
          <a:xfrm>
            <a:off x="502920" y="6455664"/>
            <a:ext cx="11186129" cy="25603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1000" u="none" cap="none" strike="noStrike">
                <a:solidFill>
                  <a:srgbClr val="475569"/>
                </a:solidFill>
                <a:latin typeface="Arial"/>
                <a:ea typeface="Arial"/>
                <a:cs typeface="Arial"/>
                <a:sym typeface="Arial"/>
              </a:rPr>
              <a:t>eduwonderlab.com  ·  Neft Teacher</a:t>
            </a:r>
            <a:endParaRPr/>
          </a:p>
        </p:txBody>
      </p:sp>
      <p:sp>
        <p:nvSpPr>
          <p:cNvPr id="415" name="Google Shape;415;p47"/>
          <p:cNvSpPr txBox="1"/>
          <p:nvPr/>
        </p:nvSpPr>
        <p:spPr>
          <a:xfrm>
            <a:off x="640080" y="1811274"/>
            <a:ext cx="5897880" cy="765048"/>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1" i="0" lang="en-US" sz="4300" u="none" cap="none" strike="noStrike">
                <a:solidFill>
                  <a:srgbClr val="14223A"/>
                </a:solidFill>
                <a:latin typeface="Arial"/>
                <a:ea typeface="Arial"/>
                <a:cs typeface="Arial"/>
                <a:sym typeface="Arial"/>
              </a:rPr>
              <a:t>Commutative Property</a:t>
            </a:r>
            <a:endParaRPr/>
          </a:p>
        </p:txBody>
      </p:sp>
      <p:sp>
        <p:nvSpPr>
          <p:cNvPr id="416" name="Google Shape;416;p47"/>
          <p:cNvSpPr/>
          <p:nvPr/>
        </p:nvSpPr>
        <p:spPr>
          <a:xfrm>
            <a:off x="658368" y="2631186"/>
            <a:ext cx="2377440" cy="68580"/>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17" name="Google Shape;417;p47"/>
          <p:cNvSpPr txBox="1"/>
          <p:nvPr/>
        </p:nvSpPr>
        <p:spPr>
          <a:xfrm>
            <a:off x="640080" y="2992374"/>
            <a:ext cx="5897880" cy="704088"/>
          </a:xfrm>
          <a:prstGeom prst="rect">
            <a:avLst/>
          </a:prstGeom>
          <a:noFill/>
          <a:ln>
            <a:noFill/>
          </a:ln>
        </p:spPr>
        <p:txBody>
          <a:bodyPr anchorCtr="0" anchor="t" bIns="0" lIns="0" spcFirstLastPara="1" rIns="0" wrap="square" tIns="0">
            <a:spAutoFit/>
          </a:bodyPr>
          <a:lstStyle/>
          <a:p>
            <a:pPr indent="0" lvl="0" marL="0" marR="0" rtl="0" algn="l">
              <a:lnSpc>
                <a:spcPct val="126000"/>
              </a:lnSpc>
              <a:spcBef>
                <a:spcPts val="0"/>
              </a:spcBef>
              <a:spcAft>
                <a:spcPts val="0"/>
              </a:spcAft>
              <a:buNone/>
            </a:pPr>
            <a:r>
              <a:rPr b="0" i="0" lang="en-US" sz="2200" u="none" cap="none" strike="noStrike">
                <a:solidFill>
                  <a:srgbClr val="14223A"/>
                </a:solidFill>
                <a:latin typeface="Arial"/>
                <a:ea typeface="Arial"/>
                <a:cs typeface="Arial"/>
                <a:sym typeface="Arial"/>
              </a:rPr>
              <a:t>You can change the order and get the same answer.</a:t>
            </a:r>
            <a:endParaRPr/>
          </a:p>
        </p:txBody>
      </p:sp>
      <p:sp>
        <p:nvSpPr>
          <p:cNvPr id="418" name="Google Shape;418;p47"/>
          <p:cNvSpPr/>
          <p:nvPr/>
        </p:nvSpPr>
        <p:spPr>
          <a:xfrm>
            <a:off x="640080" y="4117086"/>
            <a:ext cx="5897880" cy="1249680"/>
          </a:xfrm>
          <a:prstGeom prst="roundRect">
            <a:avLst>
              <a:gd fmla="val 7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19" name="Google Shape;419;p47"/>
          <p:cNvSpPr/>
          <p:nvPr/>
        </p:nvSpPr>
        <p:spPr>
          <a:xfrm>
            <a:off x="640080" y="4117086"/>
            <a:ext cx="91440" cy="1249680"/>
          </a:xfrm>
          <a:prstGeom prst="rect">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20" name="Google Shape;420;p47"/>
          <p:cNvSpPr txBox="1"/>
          <p:nvPr/>
        </p:nvSpPr>
        <p:spPr>
          <a:xfrm>
            <a:off x="932688" y="4290822"/>
            <a:ext cx="5330952" cy="237744"/>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150" u="none" cap="none" strike="noStrike">
                <a:solidFill>
                  <a:srgbClr val="C2410C"/>
                </a:solidFill>
                <a:latin typeface="Arial"/>
                <a:ea typeface="Arial"/>
                <a:cs typeface="Arial"/>
                <a:sym typeface="Arial"/>
              </a:rPr>
              <a:t>EXAMPLE · EXPLAIN WHY IT FITS</a:t>
            </a:r>
            <a:endParaRPr/>
          </a:p>
        </p:txBody>
      </p:sp>
      <p:sp>
        <p:nvSpPr>
          <p:cNvPr id="421" name="Google Shape;421;p47"/>
          <p:cNvSpPr txBox="1"/>
          <p:nvPr/>
        </p:nvSpPr>
        <p:spPr>
          <a:xfrm>
            <a:off x="932688" y="4592574"/>
            <a:ext cx="5330952" cy="627888"/>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0" i="0" lang="en-US" sz="1700" u="none" cap="none" strike="noStrike">
                <a:solidFill>
                  <a:srgbClr val="14223A"/>
                </a:solidFill>
                <a:latin typeface="Arial"/>
                <a:ea typeface="Arial"/>
                <a:cs typeface="Arial"/>
                <a:sym typeface="Arial"/>
              </a:rPr>
              <a:t>3 + 7 = 7 + 3 = 10 both ways; 4 × 5 = 5 × 4 = 20 both ways — order does not matter</a:t>
            </a:r>
            <a:endParaRPr/>
          </a:p>
        </p:txBody>
      </p:sp>
      <p:pic>
        <p:nvPicPr>
          <p:cNvPr descr="commutative-property.png" id="422" name="Google Shape;422;p47"/>
          <p:cNvPicPr preferRelativeResize="0"/>
          <p:nvPr/>
        </p:nvPicPr>
        <p:blipFill rotWithShape="1">
          <a:blip r:embed="rId2">
            <a:alphaModFix/>
          </a:blip>
          <a:srcRect b="0" l="0" r="0" t="0"/>
          <a:stretch/>
        </p:blipFill>
        <p:spPr>
          <a:xfrm>
            <a:off x="6903720" y="1853738"/>
            <a:ext cx="4572000" cy="3424843"/>
          </a:xfrm>
          <a:prstGeom prst="rect">
            <a:avLst/>
          </a:prstGeom>
          <a:noFill/>
          <a:ln>
            <a:noFill/>
          </a:ln>
        </p:spPr>
      </p:pic>
      <p:sp>
        <p:nvSpPr>
          <p:cNvPr id="330"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9 / 41</a:t>
            </a:r>
          </a:p>
        </p:txBody>
      </p:sp>
      <p:sp xmlns:p="http://schemas.openxmlformats.org/presentationml/2006/main" xmlns:a="http://schemas.openxmlformats.org/drawingml/2006/main">
        <p:nvSpPr>
          <p:cNvPr id="423" name="TEACH-embedded-student-prompt" descr="Student thinking and response directions"/>
          <p:cNvSpPr txBox="1"/>
          <p:nvPr/>
        </p:nvSpPr>
        <p:spPr>
          <a:xfrm>
            <a:off x="4099560" y="5504688"/>
            <a:ext cx="7498080" cy="768096"/>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Use “Commutative Property” to explain the example. Point to</a:t>
            </a:r>
            <a:endParaRPr lang="en-US" sz="2000"/>
          </a:p>
          <a:p>
            <a:pPr>
              <a:lnSpc>
                <a:spcPts val="2400"/>
              </a:lnSpc>
              <a:buNone/>
            </a:pPr>
            <a:r>
              <a:rPr lang="en-US" sz="2000">
                <a:solidFill>
                  <a:srgbClr val="174D60"/>
                </a:solidFill>
                <a:latin typeface="Arial"/>
              </a:rPr>
              <a:t>evidence.</a:t>
            </a:r>
            <a:endParaRPr lang="en-US" sz="2000"/>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27" name="Google Shape;427;p48"/>
          <p:cNvSpPr/>
          <p:nvPr/>
        </p:nvSpPr>
        <p:spPr>
          <a:xfrm>
            <a:off x="0" y="0"/>
            <a:ext cx="12191969" cy="685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28" name="Google Shape;428;p48"/>
          <p:cNvSpPr/>
          <p:nvPr/>
        </p:nvSpPr>
        <p:spPr>
          <a:xfrm>
            <a:off x="0" y="0"/>
            <a:ext cx="12191969" cy="713232"/>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29" name="Google Shape;429;p48"/>
          <p:cNvSpPr txBox="1"/>
          <p:nvPr/>
        </p:nvSpPr>
        <p:spPr>
          <a:xfrm>
            <a:off x="502920" y="146304"/>
            <a:ext cx="6766560" cy="420624"/>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1" i="0" lang="en-US" sz="2000" u="none" cap="none" strike="noStrike">
                <a:solidFill>
                  <a:srgbClr val="FFFFFF"/>
                </a:solidFill>
                <a:latin typeface="Arial"/>
                <a:ea typeface="Arial"/>
                <a:cs typeface="Arial"/>
                <a:sym typeface="Arial"/>
              </a:rPr>
              <a:t>Vocabulary  3 of 6</a:t>
            </a:r>
            <a:endParaRPr/>
          </a:p>
        </p:txBody>
      </p:sp>
      <p:sp>
        <p:nvSpPr>
          <p:cNvPr id="430" name="Google Shape;430;p48"/>
          <p:cNvSpPr txBox="1"/>
          <p:nvPr/>
        </p:nvSpPr>
        <p:spPr>
          <a:xfrm>
            <a:off x="7223760" y="128016"/>
            <a:ext cx="4462272" cy="457200"/>
          </a:xfrm>
          <a:prstGeom prst="rect">
            <a:avLst/>
          </a:prstGeom>
          <a:noFill/>
          <a:ln>
            <a:noFill/>
          </a:ln>
        </p:spPr>
        <p:txBody>
          <a:bodyPr anchorCtr="0" anchor="ctr" bIns="0" lIns="0" spcFirstLastPara="1" rIns="0" wrap="square" tIns="0">
            <a:spAutoFit/>
          </a:bodyPr>
          <a:lstStyle/>
          <a:p>
            <a:pPr indent="0" lvl="0" marL="0" marR="0" rtl="0" algn="r">
              <a:lnSpc>
                <a:spcPct val="100000"/>
              </a:lnSpc>
              <a:spcBef>
                <a:spcPts val="0"/>
              </a:spcBef>
              <a:spcAft>
                <a:spcPts val="0"/>
              </a:spcAft>
              <a:buNone/>
            </a:pPr>
            <a:r>
              <a:rPr b="0" i="0" lang="en-US" sz="1200" u="none" cap="none" strike="noStrike">
                <a:solidFill>
                  <a:srgbClr val="FFFFFF"/>
                </a:solidFill>
                <a:latin typeface="Arial"/>
                <a:ea typeface="Arial"/>
                <a:cs typeface="Arial"/>
                <a:sym typeface="Arial"/>
              </a:rPr>
              <a:t>Lesson 6-8 · Generate Equivalent Expressions</a:t>
            </a:r>
            <a:endParaRPr/>
          </a:p>
        </p:txBody>
      </p:sp>
      <p:sp>
        <p:nvSpPr>
          <p:cNvPr id="431" name="Google Shape;431;p48"/>
          <p:cNvSpPr/>
          <p:nvPr/>
        </p:nvSpPr>
        <p:spPr>
          <a:xfrm>
            <a:off x="502920" y="6382512"/>
            <a:ext cx="11186129" cy="10972"/>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32" name="Google Shape;432;p48"/>
          <p:cNvSpPr txBox="1"/>
          <p:nvPr/>
        </p:nvSpPr>
        <p:spPr>
          <a:xfrm>
            <a:off x="502920" y="6455664"/>
            <a:ext cx="11186129" cy="25603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1000" u="none" cap="none" strike="noStrike">
                <a:solidFill>
                  <a:srgbClr val="475569"/>
                </a:solidFill>
                <a:latin typeface="Arial"/>
                <a:ea typeface="Arial"/>
                <a:cs typeface="Arial"/>
                <a:sym typeface="Arial"/>
              </a:rPr>
              <a:t>eduwonderlab.com  ·  Neft Teacher</a:t>
            </a:r>
            <a:endParaRPr/>
          </a:p>
        </p:txBody>
      </p:sp>
      <p:sp>
        <p:nvSpPr>
          <p:cNvPr id="433" name="Google Shape;433;p48"/>
          <p:cNvSpPr txBox="1"/>
          <p:nvPr/>
        </p:nvSpPr>
        <p:spPr>
          <a:xfrm>
            <a:off x="640080" y="1803654"/>
            <a:ext cx="5897880" cy="780288"/>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1" i="0" lang="en-US" sz="4400" u="none" cap="none" strike="noStrike">
                <a:solidFill>
                  <a:srgbClr val="14223A"/>
                </a:solidFill>
                <a:latin typeface="Arial"/>
                <a:ea typeface="Arial"/>
                <a:cs typeface="Arial"/>
                <a:sym typeface="Arial"/>
              </a:rPr>
              <a:t>Associative Property</a:t>
            </a:r>
            <a:endParaRPr/>
          </a:p>
        </p:txBody>
      </p:sp>
      <p:sp>
        <p:nvSpPr>
          <p:cNvPr id="434" name="Google Shape;434;p48"/>
          <p:cNvSpPr/>
          <p:nvPr/>
        </p:nvSpPr>
        <p:spPr>
          <a:xfrm>
            <a:off x="658368" y="2638806"/>
            <a:ext cx="2377440" cy="68580"/>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35" name="Google Shape;435;p48"/>
          <p:cNvSpPr txBox="1"/>
          <p:nvPr/>
        </p:nvSpPr>
        <p:spPr>
          <a:xfrm>
            <a:off x="640080" y="2999994"/>
            <a:ext cx="5897880" cy="704088"/>
          </a:xfrm>
          <a:prstGeom prst="rect">
            <a:avLst/>
          </a:prstGeom>
          <a:noFill/>
          <a:ln>
            <a:noFill/>
          </a:ln>
        </p:spPr>
        <p:txBody>
          <a:bodyPr anchorCtr="0" anchor="t" bIns="0" lIns="0" spcFirstLastPara="1" rIns="0" wrap="square" tIns="0">
            <a:spAutoFit/>
          </a:bodyPr>
          <a:lstStyle/>
          <a:p>
            <a:pPr indent="0" lvl="0" marL="0" marR="0" rtl="0" algn="l">
              <a:lnSpc>
                <a:spcPct val="126000"/>
              </a:lnSpc>
              <a:spcBef>
                <a:spcPts val="0"/>
              </a:spcBef>
              <a:spcAft>
                <a:spcPts val="0"/>
              </a:spcAft>
              <a:buNone/>
            </a:pPr>
            <a:r>
              <a:rPr b="0" i="0" lang="en-US" sz="2200" u="none" cap="none" strike="noStrike">
                <a:solidFill>
                  <a:srgbClr val="14223A"/>
                </a:solidFill>
                <a:latin typeface="Arial"/>
                <a:ea typeface="Arial"/>
                <a:cs typeface="Arial"/>
                <a:sym typeface="Arial"/>
              </a:rPr>
              <a:t>You can change the grouping and get the same answer.</a:t>
            </a:r>
            <a:endParaRPr/>
          </a:p>
        </p:txBody>
      </p:sp>
      <p:sp>
        <p:nvSpPr>
          <p:cNvPr id="436" name="Google Shape;436;p48"/>
          <p:cNvSpPr/>
          <p:nvPr/>
        </p:nvSpPr>
        <p:spPr>
          <a:xfrm>
            <a:off x="640080" y="4124706"/>
            <a:ext cx="5897880" cy="1249680"/>
          </a:xfrm>
          <a:prstGeom prst="roundRect">
            <a:avLst>
              <a:gd fmla="val 7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37" name="Google Shape;437;p48"/>
          <p:cNvSpPr/>
          <p:nvPr/>
        </p:nvSpPr>
        <p:spPr>
          <a:xfrm>
            <a:off x="640080" y="4124706"/>
            <a:ext cx="91440" cy="1249680"/>
          </a:xfrm>
          <a:prstGeom prst="rect">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38" name="Google Shape;438;p48"/>
          <p:cNvSpPr txBox="1"/>
          <p:nvPr/>
        </p:nvSpPr>
        <p:spPr>
          <a:xfrm>
            <a:off x="932688" y="4298442"/>
            <a:ext cx="5330952" cy="237744"/>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150" u="none" cap="none" strike="noStrike">
                <a:solidFill>
                  <a:srgbClr val="C2410C"/>
                </a:solidFill>
                <a:latin typeface="Arial"/>
                <a:ea typeface="Arial"/>
                <a:cs typeface="Arial"/>
                <a:sym typeface="Arial"/>
              </a:rPr>
              <a:t>EXAMPLE · EXPLAIN WHY IT FITS</a:t>
            </a:r>
            <a:endParaRPr/>
          </a:p>
        </p:txBody>
      </p:sp>
      <p:sp>
        <p:nvSpPr>
          <p:cNvPr id="439" name="Google Shape;439;p48"/>
          <p:cNvSpPr txBox="1"/>
          <p:nvPr/>
        </p:nvSpPr>
        <p:spPr>
          <a:xfrm>
            <a:off x="932688" y="4600194"/>
            <a:ext cx="5330952" cy="627888"/>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0" i="0" lang="en-US" sz="1700" u="none" cap="none" strike="noStrike">
                <a:solidFill>
                  <a:srgbClr val="14223A"/>
                </a:solidFill>
                <a:latin typeface="Arial"/>
                <a:ea typeface="Arial"/>
                <a:cs typeface="Arial"/>
                <a:sym typeface="Arial"/>
              </a:rPr>
              <a:t>(2 + 3) + 4 = 5 + 4 = 9 and 2 + (3 + 4) = 2 + 7 = 9 — same answer, different grouping</a:t>
            </a:r>
            <a:endParaRPr/>
          </a:p>
        </p:txBody>
      </p:sp>
      <p:pic>
        <p:nvPicPr>
          <p:cNvPr descr="associative-property.png" id="440" name="Google Shape;440;p48"/>
          <p:cNvPicPr preferRelativeResize="0"/>
          <p:nvPr/>
        </p:nvPicPr>
        <p:blipFill rotWithShape="1">
          <a:blip r:embed="rId2">
            <a:alphaModFix/>
          </a:blip>
          <a:srcRect b="0" l="0" r="0" t="0"/>
          <a:stretch/>
        </p:blipFill>
        <p:spPr>
          <a:xfrm>
            <a:off x="6903720" y="1853738"/>
            <a:ext cx="4572000" cy="3424843"/>
          </a:xfrm>
          <a:prstGeom prst="rect">
            <a:avLst/>
          </a:prstGeom>
          <a:noFill/>
          <a:ln>
            <a:noFill/>
          </a:ln>
        </p:spPr>
      </p:pic>
      <p:sp>
        <p:nvSpPr>
          <p:cNvPr id="330"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10 / 41</a:t>
            </a:r>
          </a:p>
        </p:txBody>
      </p:sp>
      <p:sp xmlns:p="http://schemas.openxmlformats.org/presentationml/2006/main" xmlns:a="http://schemas.openxmlformats.org/drawingml/2006/main">
        <p:nvSpPr>
          <p:cNvPr id="441" name="TEACH-embedded-student-prompt" descr="Student thinking and response directions"/>
          <p:cNvSpPr txBox="1"/>
          <p:nvPr/>
        </p:nvSpPr>
        <p:spPr>
          <a:xfrm>
            <a:off x="4099560" y="5504688"/>
            <a:ext cx="7498080" cy="768096"/>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Use “Associative Property” to explain the example. Point to</a:t>
            </a:r>
            <a:endParaRPr lang="en-US" sz="2000"/>
          </a:p>
          <a:p>
            <a:pPr>
              <a:lnSpc>
                <a:spcPts val="2400"/>
              </a:lnSpc>
              <a:buNone/>
            </a:pPr>
            <a:r>
              <a:rPr lang="en-US" sz="2000">
                <a:solidFill>
                  <a:srgbClr val="174D60"/>
                </a:solidFill>
                <a:latin typeface="Arial"/>
              </a:rPr>
              <a:t>evidence.</a:t>
            </a:r>
            <a:endParaRPr lang="en-US" sz="2000"/>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45" name="Google Shape;445;p49"/>
          <p:cNvSpPr/>
          <p:nvPr/>
        </p:nvSpPr>
        <p:spPr>
          <a:xfrm>
            <a:off x="0" y="0"/>
            <a:ext cx="12191969" cy="685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46" name="Google Shape;446;p49"/>
          <p:cNvSpPr/>
          <p:nvPr/>
        </p:nvSpPr>
        <p:spPr>
          <a:xfrm>
            <a:off x="0" y="0"/>
            <a:ext cx="12191969" cy="713232"/>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47" name="Google Shape;447;p49"/>
          <p:cNvSpPr txBox="1"/>
          <p:nvPr/>
        </p:nvSpPr>
        <p:spPr>
          <a:xfrm>
            <a:off x="502920" y="146304"/>
            <a:ext cx="6766560" cy="420624"/>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1" i="0" lang="en-US" sz="2000" u="none" cap="none" strike="noStrike">
                <a:solidFill>
                  <a:srgbClr val="FFFFFF"/>
                </a:solidFill>
                <a:latin typeface="Arial"/>
                <a:ea typeface="Arial"/>
                <a:cs typeface="Arial"/>
                <a:sym typeface="Arial"/>
              </a:rPr>
              <a:t>Vocabulary  4 of 6</a:t>
            </a:r>
            <a:endParaRPr/>
          </a:p>
        </p:txBody>
      </p:sp>
      <p:sp>
        <p:nvSpPr>
          <p:cNvPr id="448" name="Google Shape;448;p49"/>
          <p:cNvSpPr txBox="1"/>
          <p:nvPr/>
        </p:nvSpPr>
        <p:spPr>
          <a:xfrm>
            <a:off x="7223760" y="128016"/>
            <a:ext cx="4462272" cy="457200"/>
          </a:xfrm>
          <a:prstGeom prst="rect">
            <a:avLst/>
          </a:prstGeom>
          <a:noFill/>
          <a:ln>
            <a:noFill/>
          </a:ln>
        </p:spPr>
        <p:txBody>
          <a:bodyPr anchorCtr="0" anchor="ctr" bIns="0" lIns="0" spcFirstLastPara="1" rIns="0" wrap="square" tIns="0">
            <a:spAutoFit/>
          </a:bodyPr>
          <a:lstStyle/>
          <a:p>
            <a:pPr indent="0" lvl="0" marL="0" marR="0" rtl="0" algn="r">
              <a:lnSpc>
                <a:spcPct val="100000"/>
              </a:lnSpc>
              <a:spcBef>
                <a:spcPts val="0"/>
              </a:spcBef>
              <a:spcAft>
                <a:spcPts val="0"/>
              </a:spcAft>
              <a:buNone/>
            </a:pPr>
            <a:r>
              <a:rPr b="0" i="0" lang="en-US" sz="1200" u="none" cap="none" strike="noStrike">
                <a:solidFill>
                  <a:srgbClr val="FFFFFF"/>
                </a:solidFill>
                <a:latin typeface="Arial"/>
                <a:ea typeface="Arial"/>
                <a:cs typeface="Arial"/>
                <a:sym typeface="Arial"/>
              </a:rPr>
              <a:t>Lesson 6-8 · Generate Equivalent Expressions</a:t>
            </a:r>
            <a:endParaRPr/>
          </a:p>
        </p:txBody>
      </p:sp>
      <p:sp>
        <p:nvSpPr>
          <p:cNvPr id="449" name="Google Shape;449;p49"/>
          <p:cNvSpPr/>
          <p:nvPr/>
        </p:nvSpPr>
        <p:spPr>
          <a:xfrm>
            <a:off x="502920" y="6382512"/>
            <a:ext cx="11186129" cy="10972"/>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50" name="Google Shape;450;p49"/>
          <p:cNvSpPr txBox="1"/>
          <p:nvPr/>
        </p:nvSpPr>
        <p:spPr>
          <a:xfrm>
            <a:off x="502920" y="6455664"/>
            <a:ext cx="11186129" cy="25603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1000" u="none" cap="none" strike="noStrike">
                <a:solidFill>
                  <a:srgbClr val="475569"/>
                </a:solidFill>
                <a:latin typeface="Arial"/>
                <a:ea typeface="Arial"/>
                <a:cs typeface="Arial"/>
                <a:sym typeface="Arial"/>
              </a:rPr>
              <a:t>eduwonderlab.com  ·  Neft Teacher</a:t>
            </a:r>
            <a:endParaRPr/>
          </a:p>
        </p:txBody>
      </p:sp>
      <p:sp>
        <p:nvSpPr>
          <p:cNvPr id="451" name="Google Shape;451;p49"/>
          <p:cNvSpPr txBox="1"/>
          <p:nvPr/>
        </p:nvSpPr>
        <p:spPr>
          <a:xfrm>
            <a:off x="640080" y="1803654"/>
            <a:ext cx="5897880" cy="780288"/>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1" i="0" lang="en-US" sz="4400" u="none" cap="none" strike="noStrike">
                <a:solidFill>
                  <a:srgbClr val="14223A"/>
                </a:solidFill>
                <a:latin typeface="Arial"/>
                <a:ea typeface="Arial"/>
                <a:cs typeface="Arial"/>
                <a:sym typeface="Arial"/>
              </a:rPr>
              <a:t>Identity Property</a:t>
            </a:r>
            <a:endParaRPr/>
          </a:p>
        </p:txBody>
      </p:sp>
      <p:sp>
        <p:nvSpPr>
          <p:cNvPr id="452" name="Google Shape;452;p49"/>
          <p:cNvSpPr/>
          <p:nvPr/>
        </p:nvSpPr>
        <p:spPr>
          <a:xfrm>
            <a:off x="658368" y="2638806"/>
            <a:ext cx="2020824" cy="68580"/>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53" name="Google Shape;453;p49"/>
          <p:cNvSpPr txBox="1"/>
          <p:nvPr/>
        </p:nvSpPr>
        <p:spPr>
          <a:xfrm>
            <a:off x="640080" y="2999994"/>
            <a:ext cx="5897880" cy="704088"/>
          </a:xfrm>
          <a:prstGeom prst="rect">
            <a:avLst/>
          </a:prstGeom>
          <a:noFill/>
          <a:ln>
            <a:noFill/>
          </a:ln>
        </p:spPr>
        <p:txBody>
          <a:bodyPr anchorCtr="0" anchor="t" bIns="0" lIns="0" spcFirstLastPara="1" rIns="0" wrap="square" tIns="0">
            <a:spAutoFit/>
          </a:bodyPr>
          <a:lstStyle/>
          <a:p>
            <a:pPr indent="0" lvl="0" marL="0" marR="0" rtl="0" algn="l">
              <a:lnSpc>
                <a:spcPct val="126000"/>
              </a:lnSpc>
              <a:spcBef>
                <a:spcPts val="0"/>
              </a:spcBef>
              <a:spcAft>
                <a:spcPts val="0"/>
              </a:spcAft>
              <a:buNone/>
            </a:pPr>
            <a:r>
              <a:rPr b="0" i="0" lang="en-US" sz="2200" u="none" cap="none" strike="noStrike">
                <a:solidFill>
                  <a:srgbClr val="14223A"/>
                </a:solidFill>
                <a:latin typeface="Arial"/>
                <a:ea typeface="Arial"/>
                <a:cs typeface="Arial"/>
                <a:sym typeface="Arial"/>
              </a:rPr>
              <a:t>Adding 0 or multiplying by 1 keeps the same value.</a:t>
            </a:r>
            <a:endParaRPr/>
          </a:p>
        </p:txBody>
      </p:sp>
      <p:sp>
        <p:nvSpPr>
          <p:cNvPr id="454" name="Google Shape;454;p49"/>
          <p:cNvSpPr/>
          <p:nvPr/>
        </p:nvSpPr>
        <p:spPr>
          <a:xfrm>
            <a:off x="640080" y="4124706"/>
            <a:ext cx="5897880" cy="1249680"/>
          </a:xfrm>
          <a:prstGeom prst="roundRect">
            <a:avLst>
              <a:gd fmla="val 7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55" name="Google Shape;455;p49"/>
          <p:cNvSpPr/>
          <p:nvPr/>
        </p:nvSpPr>
        <p:spPr>
          <a:xfrm>
            <a:off x="640080" y="4124706"/>
            <a:ext cx="91440" cy="1249680"/>
          </a:xfrm>
          <a:prstGeom prst="rect">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56" name="Google Shape;456;p49"/>
          <p:cNvSpPr txBox="1"/>
          <p:nvPr/>
        </p:nvSpPr>
        <p:spPr>
          <a:xfrm>
            <a:off x="932688" y="4298442"/>
            <a:ext cx="5330952" cy="237744"/>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150" u="none" cap="none" strike="noStrike">
                <a:solidFill>
                  <a:srgbClr val="C2410C"/>
                </a:solidFill>
                <a:latin typeface="Arial"/>
                <a:ea typeface="Arial"/>
                <a:cs typeface="Arial"/>
                <a:sym typeface="Arial"/>
              </a:rPr>
              <a:t>EXAMPLE · EXPLAIN WHY IT FITS</a:t>
            </a:r>
            <a:endParaRPr/>
          </a:p>
        </p:txBody>
      </p:sp>
      <p:sp>
        <p:nvSpPr>
          <p:cNvPr id="457" name="Google Shape;457;p49"/>
          <p:cNvSpPr txBox="1"/>
          <p:nvPr/>
        </p:nvSpPr>
        <p:spPr>
          <a:xfrm>
            <a:off x="932688" y="4600194"/>
            <a:ext cx="5330952" cy="627888"/>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0" i="0" lang="en-US" sz="1700" u="none" cap="none" strike="noStrike">
                <a:solidFill>
                  <a:srgbClr val="14223A"/>
                </a:solidFill>
                <a:latin typeface="Arial"/>
                <a:ea typeface="Arial"/>
                <a:cs typeface="Arial"/>
                <a:sym typeface="Arial"/>
              </a:rPr>
              <a:t>9 + 0 = 9 (zero is the identity for addition); 6 × 1 = 6 (one is the identity for multiplication)</a:t>
            </a:r>
            <a:endParaRPr/>
          </a:p>
        </p:txBody>
      </p:sp>
      <p:pic>
        <p:nvPicPr>
          <p:cNvPr descr="identity-property.png" id="458" name="Google Shape;458;p49"/>
          <p:cNvPicPr preferRelativeResize="0"/>
          <p:nvPr/>
        </p:nvPicPr>
        <p:blipFill rotWithShape="1">
          <a:blip r:embed="rId2">
            <a:alphaModFix/>
          </a:blip>
          <a:srcRect b="0" l="0" r="0" t="0"/>
          <a:stretch/>
        </p:blipFill>
        <p:spPr>
          <a:xfrm>
            <a:off x="6903720" y="1853738"/>
            <a:ext cx="4572000" cy="3424843"/>
          </a:xfrm>
          <a:prstGeom prst="rect">
            <a:avLst/>
          </a:prstGeom>
          <a:noFill/>
          <a:ln>
            <a:noFill/>
          </a:ln>
        </p:spPr>
      </p:pic>
      <p:sp>
        <p:nvSpPr>
          <p:cNvPr id="330"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11 / 41</a:t>
            </a:r>
          </a:p>
        </p:txBody>
      </p:sp>
      <p:sp xmlns:p="http://schemas.openxmlformats.org/presentationml/2006/main" xmlns:a="http://schemas.openxmlformats.org/drawingml/2006/main">
        <p:nvSpPr>
          <p:cNvPr id="459" name="TEACH-embedded-student-prompt" descr="Student thinking and response directions"/>
          <p:cNvSpPr txBox="1"/>
          <p:nvPr/>
        </p:nvSpPr>
        <p:spPr>
          <a:xfrm>
            <a:off x="4099560" y="5504688"/>
            <a:ext cx="7498080" cy="768096"/>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Use “Identity Property” to explain the example. Point to</a:t>
            </a:r>
            <a:endParaRPr lang="en-US" sz="2000"/>
          </a:p>
          <a:p>
            <a:pPr>
              <a:lnSpc>
                <a:spcPts val="2400"/>
              </a:lnSpc>
              <a:buNone/>
            </a:pPr>
            <a:r>
              <a:rPr lang="en-US" sz="2000">
                <a:solidFill>
                  <a:srgbClr val="174D60"/>
                </a:solidFill>
                <a:latin typeface="Arial"/>
              </a:rPr>
              <a:t>evidence.</a:t>
            </a:r>
            <a:endParaRPr lang="en-US" sz="2000"/>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63" name="Google Shape;463;p50"/>
          <p:cNvSpPr/>
          <p:nvPr/>
        </p:nvSpPr>
        <p:spPr>
          <a:xfrm>
            <a:off x="0" y="0"/>
            <a:ext cx="12191969" cy="685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64" name="Google Shape;464;p50"/>
          <p:cNvSpPr/>
          <p:nvPr/>
        </p:nvSpPr>
        <p:spPr>
          <a:xfrm>
            <a:off x="0" y="0"/>
            <a:ext cx="12191969" cy="713232"/>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65" name="Google Shape;465;p50"/>
          <p:cNvSpPr txBox="1"/>
          <p:nvPr/>
        </p:nvSpPr>
        <p:spPr>
          <a:xfrm>
            <a:off x="502920" y="146304"/>
            <a:ext cx="6766560" cy="420624"/>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1" i="0" lang="en-US" sz="2000" u="none" cap="none" strike="noStrike">
                <a:solidFill>
                  <a:srgbClr val="FFFFFF"/>
                </a:solidFill>
                <a:latin typeface="Arial"/>
                <a:ea typeface="Arial"/>
                <a:cs typeface="Arial"/>
                <a:sym typeface="Arial"/>
              </a:rPr>
              <a:t>Vocabulary  5 of 6</a:t>
            </a:r>
            <a:endParaRPr/>
          </a:p>
        </p:txBody>
      </p:sp>
      <p:sp>
        <p:nvSpPr>
          <p:cNvPr id="466" name="Google Shape;466;p50"/>
          <p:cNvSpPr txBox="1"/>
          <p:nvPr/>
        </p:nvSpPr>
        <p:spPr>
          <a:xfrm>
            <a:off x="7223760" y="128016"/>
            <a:ext cx="4462272" cy="457200"/>
          </a:xfrm>
          <a:prstGeom prst="rect">
            <a:avLst/>
          </a:prstGeom>
          <a:noFill/>
          <a:ln>
            <a:noFill/>
          </a:ln>
        </p:spPr>
        <p:txBody>
          <a:bodyPr anchorCtr="0" anchor="ctr" bIns="0" lIns="0" spcFirstLastPara="1" rIns="0" wrap="square" tIns="0">
            <a:spAutoFit/>
          </a:bodyPr>
          <a:lstStyle/>
          <a:p>
            <a:pPr indent="0" lvl="0" marL="0" marR="0" rtl="0" algn="r">
              <a:lnSpc>
                <a:spcPct val="100000"/>
              </a:lnSpc>
              <a:spcBef>
                <a:spcPts val="0"/>
              </a:spcBef>
              <a:spcAft>
                <a:spcPts val="0"/>
              </a:spcAft>
              <a:buNone/>
            </a:pPr>
            <a:r>
              <a:rPr b="0" i="0" lang="en-US" sz="1200" u="none" cap="none" strike="noStrike">
                <a:solidFill>
                  <a:srgbClr val="FFFFFF"/>
                </a:solidFill>
                <a:latin typeface="Arial"/>
                <a:ea typeface="Arial"/>
                <a:cs typeface="Arial"/>
                <a:sym typeface="Arial"/>
              </a:rPr>
              <a:t>Lesson 6-8 · Generate Equivalent Expressions</a:t>
            </a:r>
            <a:endParaRPr/>
          </a:p>
        </p:txBody>
      </p:sp>
      <p:sp>
        <p:nvSpPr>
          <p:cNvPr id="467" name="Google Shape;467;p50"/>
          <p:cNvSpPr/>
          <p:nvPr/>
        </p:nvSpPr>
        <p:spPr>
          <a:xfrm>
            <a:off x="502920" y="6382512"/>
            <a:ext cx="11186129" cy="10972"/>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68" name="Google Shape;468;p50"/>
          <p:cNvSpPr txBox="1"/>
          <p:nvPr/>
        </p:nvSpPr>
        <p:spPr>
          <a:xfrm>
            <a:off x="502920" y="6455664"/>
            <a:ext cx="11186129" cy="25603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1000" u="none" cap="none" strike="noStrike">
                <a:solidFill>
                  <a:srgbClr val="475569"/>
                </a:solidFill>
                <a:latin typeface="Arial"/>
                <a:ea typeface="Arial"/>
                <a:cs typeface="Arial"/>
                <a:sym typeface="Arial"/>
              </a:rPr>
              <a:t>eduwonderlab.com  ·  Neft Teacher</a:t>
            </a:r>
            <a:endParaRPr/>
          </a:p>
        </p:txBody>
      </p:sp>
      <p:sp>
        <p:nvSpPr>
          <p:cNvPr id="469" name="Google Shape;469;p50"/>
          <p:cNvSpPr txBox="1"/>
          <p:nvPr/>
        </p:nvSpPr>
        <p:spPr>
          <a:xfrm>
            <a:off x="640080" y="1979676"/>
            <a:ext cx="5897880" cy="780288"/>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1" i="0" lang="en-US" sz="4400" u="none" cap="none" strike="noStrike">
                <a:solidFill>
                  <a:srgbClr val="14223A"/>
                </a:solidFill>
                <a:latin typeface="Arial"/>
                <a:ea typeface="Arial"/>
                <a:cs typeface="Arial"/>
                <a:sym typeface="Arial"/>
              </a:rPr>
              <a:t>Property</a:t>
            </a:r>
            <a:endParaRPr/>
          </a:p>
        </p:txBody>
      </p:sp>
      <p:sp>
        <p:nvSpPr>
          <p:cNvPr id="470" name="Google Shape;470;p50"/>
          <p:cNvSpPr/>
          <p:nvPr/>
        </p:nvSpPr>
        <p:spPr>
          <a:xfrm>
            <a:off x="658368" y="2814828"/>
            <a:ext cx="1097280" cy="68580"/>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71" name="Google Shape;471;p50"/>
          <p:cNvSpPr txBox="1"/>
          <p:nvPr/>
        </p:nvSpPr>
        <p:spPr>
          <a:xfrm>
            <a:off x="640080" y="3176016"/>
            <a:ext cx="5897880" cy="365760"/>
          </a:xfrm>
          <a:prstGeom prst="rect">
            <a:avLst/>
          </a:prstGeom>
          <a:noFill/>
          <a:ln>
            <a:noFill/>
          </a:ln>
        </p:spPr>
        <p:txBody>
          <a:bodyPr anchorCtr="0" anchor="t" bIns="0" lIns="0" spcFirstLastPara="1" rIns="0" wrap="square" tIns="0">
            <a:spAutoFit/>
          </a:bodyPr>
          <a:lstStyle/>
          <a:p>
            <a:pPr indent="0" lvl="0" marL="0" marR="0" rtl="0" algn="l">
              <a:lnSpc>
                <a:spcPct val="126000"/>
              </a:lnSpc>
              <a:spcBef>
                <a:spcPts val="0"/>
              </a:spcBef>
              <a:spcAft>
                <a:spcPts val="0"/>
              </a:spcAft>
              <a:buNone/>
            </a:pPr>
            <a:r>
              <a:rPr b="0" i="0" lang="en-US" sz="2200" u="none" cap="none" strike="noStrike">
                <a:solidFill>
                  <a:srgbClr val="14223A"/>
                </a:solidFill>
                <a:latin typeface="Arial"/>
                <a:ea typeface="Arial"/>
                <a:cs typeface="Arial"/>
                <a:sym typeface="Arial"/>
              </a:rPr>
              <a:t>A rule that is always true in math.</a:t>
            </a:r>
            <a:endParaRPr/>
          </a:p>
        </p:txBody>
      </p:sp>
      <p:sp>
        <p:nvSpPr>
          <p:cNvPr id="472" name="Google Shape;472;p50"/>
          <p:cNvSpPr/>
          <p:nvPr/>
        </p:nvSpPr>
        <p:spPr>
          <a:xfrm>
            <a:off x="640080" y="3948684"/>
            <a:ext cx="5897880" cy="1249680"/>
          </a:xfrm>
          <a:prstGeom prst="roundRect">
            <a:avLst>
              <a:gd fmla="val 7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73" name="Google Shape;473;p50"/>
          <p:cNvSpPr/>
          <p:nvPr/>
        </p:nvSpPr>
        <p:spPr>
          <a:xfrm>
            <a:off x="640080" y="3948684"/>
            <a:ext cx="91440" cy="1249680"/>
          </a:xfrm>
          <a:prstGeom prst="rect">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74" name="Google Shape;474;p50"/>
          <p:cNvSpPr txBox="1"/>
          <p:nvPr/>
        </p:nvSpPr>
        <p:spPr>
          <a:xfrm>
            <a:off x="932688" y="4122420"/>
            <a:ext cx="5330952" cy="237744"/>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150" u="none" cap="none" strike="noStrike">
                <a:solidFill>
                  <a:srgbClr val="C2410C"/>
                </a:solidFill>
                <a:latin typeface="Arial"/>
                <a:ea typeface="Arial"/>
                <a:cs typeface="Arial"/>
                <a:sym typeface="Arial"/>
              </a:rPr>
              <a:t>EXAMPLE · EXPLAIN WHY IT FITS</a:t>
            </a:r>
            <a:endParaRPr/>
          </a:p>
        </p:txBody>
      </p:sp>
      <p:sp>
        <p:nvSpPr>
          <p:cNvPr id="475" name="Google Shape;475;p50"/>
          <p:cNvSpPr txBox="1"/>
          <p:nvPr/>
        </p:nvSpPr>
        <p:spPr>
          <a:xfrm>
            <a:off x="932688" y="4424172"/>
            <a:ext cx="5330952" cy="627888"/>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0" i="0" lang="en-US" sz="1700" u="none" cap="none" strike="noStrike">
                <a:solidFill>
                  <a:srgbClr val="14223A"/>
                </a:solidFill>
                <a:latin typeface="Arial"/>
                <a:ea typeface="Arial"/>
                <a:cs typeface="Arial"/>
                <a:sym typeface="Arial"/>
              </a:rPr>
              <a:t>Commutative works for + and ×, but NOT for − or ÷ (since 5 − 3 = 2 but 3 − 5 = −2)</a:t>
            </a:r>
            <a:endParaRPr/>
          </a:p>
        </p:txBody>
      </p:sp>
      <p:pic>
        <p:nvPicPr>
          <p:cNvPr descr="operation.png" id="476" name="Google Shape;476;p50"/>
          <p:cNvPicPr preferRelativeResize="0"/>
          <p:nvPr/>
        </p:nvPicPr>
        <p:blipFill rotWithShape="1">
          <a:blip r:embed="rId2">
            <a:alphaModFix/>
          </a:blip>
          <a:srcRect b="0" l="0" r="0" t="0"/>
          <a:stretch/>
        </p:blipFill>
        <p:spPr>
          <a:xfrm>
            <a:off x="6903720" y="1853738"/>
            <a:ext cx="4572000" cy="3424843"/>
          </a:xfrm>
          <a:prstGeom prst="rect">
            <a:avLst/>
          </a:prstGeom>
          <a:noFill/>
          <a:ln>
            <a:noFill/>
          </a:ln>
        </p:spPr>
      </p:pic>
      <p:sp>
        <p:nvSpPr>
          <p:cNvPr id="330"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12 / 41</a:t>
            </a:r>
          </a:p>
        </p:txBody>
      </p:sp>
      <p:sp xmlns:p="http://schemas.openxmlformats.org/presentationml/2006/main" xmlns:a="http://schemas.openxmlformats.org/drawingml/2006/main">
        <p:nvSpPr>
          <p:cNvPr id="477" name="TEACH-embedded-student-prompt" descr="Student thinking and response directions"/>
          <p:cNvSpPr txBox="1"/>
          <p:nvPr/>
        </p:nvSpPr>
        <p:spPr>
          <a:xfrm>
            <a:off x="4099560" y="5815584"/>
            <a:ext cx="7498080" cy="457200"/>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Use “Property” to explain the example. Point to evidence.</a:t>
            </a:r>
            <a:endParaRPr lang="en-US" sz="2000"/>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81" name="Google Shape;481;p51"/>
          <p:cNvSpPr/>
          <p:nvPr/>
        </p:nvSpPr>
        <p:spPr>
          <a:xfrm>
            <a:off x="0" y="0"/>
            <a:ext cx="12191969" cy="685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82" name="Google Shape;482;p51"/>
          <p:cNvSpPr/>
          <p:nvPr/>
        </p:nvSpPr>
        <p:spPr>
          <a:xfrm>
            <a:off x="0" y="0"/>
            <a:ext cx="12191969" cy="713232"/>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83" name="Google Shape;483;p51"/>
          <p:cNvSpPr txBox="1"/>
          <p:nvPr/>
        </p:nvSpPr>
        <p:spPr>
          <a:xfrm>
            <a:off x="502920" y="146304"/>
            <a:ext cx="6766560" cy="420624"/>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1" i="0" lang="en-US" sz="2000" u="none" cap="none" strike="noStrike">
                <a:solidFill>
                  <a:srgbClr val="FFFFFF"/>
                </a:solidFill>
                <a:latin typeface="Arial"/>
                <a:ea typeface="Arial"/>
                <a:cs typeface="Arial"/>
                <a:sym typeface="Arial"/>
              </a:rPr>
              <a:t>Vocabulary  6 of 6</a:t>
            </a:r>
            <a:endParaRPr/>
          </a:p>
        </p:txBody>
      </p:sp>
      <p:sp>
        <p:nvSpPr>
          <p:cNvPr id="484" name="Google Shape;484;p51"/>
          <p:cNvSpPr txBox="1"/>
          <p:nvPr/>
        </p:nvSpPr>
        <p:spPr>
          <a:xfrm>
            <a:off x="7223760" y="128016"/>
            <a:ext cx="4462272" cy="457200"/>
          </a:xfrm>
          <a:prstGeom prst="rect">
            <a:avLst/>
          </a:prstGeom>
          <a:noFill/>
          <a:ln>
            <a:noFill/>
          </a:ln>
        </p:spPr>
        <p:txBody>
          <a:bodyPr anchorCtr="0" anchor="ctr" bIns="0" lIns="0" spcFirstLastPara="1" rIns="0" wrap="square" tIns="0">
            <a:spAutoFit/>
          </a:bodyPr>
          <a:lstStyle/>
          <a:p>
            <a:pPr indent="0" lvl="0" marL="0" marR="0" rtl="0" algn="r">
              <a:lnSpc>
                <a:spcPct val="100000"/>
              </a:lnSpc>
              <a:spcBef>
                <a:spcPts val="0"/>
              </a:spcBef>
              <a:spcAft>
                <a:spcPts val="0"/>
              </a:spcAft>
              <a:buNone/>
            </a:pPr>
            <a:r>
              <a:rPr b="0" i="0" lang="en-US" sz="1200" u="none" cap="none" strike="noStrike">
                <a:solidFill>
                  <a:srgbClr val="FFFFFF"/>
                </a:solidFill>
                <a:latin typeface="Arial"/>
                <a:ea typeface="Arial"/>
                <a:cs typeface="Arial"/>
                <a:sym typeface="Arial"/>
              </a:rPr>
              <a:t>Lesson 6-8 · Generate Equivalent Expressions</a:t>
            </a:r>
            <a:endParaRPr/>
          </a:p>
        </p:txBody>
      </p:sp>
      <p:sp>
        <p:nvSpPr>
          <p:cNvPr id="485" name="Google Shape;485;p51"/>
          <p:cNvSpPr/>
          <p:nvPr/>
        </p:nvSpPr>
        <p:spPr>
          <a:xfrm>
            <a:off x="502920" y="6382512"/>
            <a:ext cx="11186129" cy="10972"/>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86" name="Google Shape;486;p51"/>
          <p:cNvSpPr txBox="1"/>
          <p:nvPr/>
        </p:nvSpPr>
        <p:spPr>
          <a:xfrm>
            <a:off x="502920" y="6455664"/>
            <a:ext cx="11186129" cy="25603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1000" u="none" cap="none" strike="noStrike">
                <a:solidFill>
                  <a:srgbClr val="475569"/>
                </a:solidFill>
                <a:latin typeface="Arial"/>
                <a:ea typeface="Arial"/>
                <a:cs typeface="Arial"/>
                <a:sym typeface="Arial"/>
              </a:rPr>
              <a:t>eduwonderlab.com  ·  Neft Teacher</a:t>
            </a:r>
            <a:endParaRPr/>
          </a:p>
        </p:txBody>
      </p:sp>
      <p:sp>
        <p:nvSpPr>
          <p:cNvPr id="487" name="Google Shape;487;p51"/>
          <p:cNvSpPr txBox="1"/>
          <p:nvPr/>
        </p:nvSpPr>
        <p:spPr>
          <a:xfrm>
            <a:off x="640080" y="1803654"/>
            <a:ext cx="5897880" cy="780288"/>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1" i="0" lang="en-US" sz="4400" u="none" cap="none" strike="noStrike">
                <a:solidFill>
                  <a:srgbClr val="14223A"/>
                </a:solidFill>
                <a:latin typeface="Arial"/>
                <a:ea typeface="Arial"/>
                <a:cs typeface="Arial"/>
                <a:sym typeface="Arial"/>
              </a:rPr>
              <a:t>Distributive Property</a:t>
            </a:r>
            <a:endParaRPr/>
          </a:p>
        </p:txBody>
      </p:sp>
      <p:sp>
        <p:nvSpPr>
          <p:cNvPr id="488" name="Google Shape;488;p51"/>
          <p:cNvSpPr/>
          <p:nvPr/>
        </p:nvSpPr>
        <p:spPr>
          <a:xfrm>
            <a:off x="658368" y="2638806"/>
            <a:ext cx="2496312" cy="68580"/>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89" name="Google Shape;489;p51"/>
          <p:cNvSpPr txBox="1"/>
          <p:nvPr/>
        </p:nvSpPr>
        <p:spPr>
          <a:xfrm>
            <a:off x="640080" y="2999994"/>
            <a:ext cx="5897880" cy="704088"/>
          </a:xfrm>
          <a:prstGeom prst="rect">
            <a:avLst/>
          </a:prstGeom>
          <a:noFill/>
          <a:ln>
            <a:noFill/>
          </a:ln>
        </p:spPr>
        <p:txBody>
          <a:bodyPr anchorCtr="0" anchor="t" bIns="0" lIns="0" spcFirstLastPara="1" rIns="0" wrap="square" tIns="0">
            <a:spAutoFit/>
          </a:bodyPr>
          <a:lstStyle/>
          <a:p>
            <a:pPr indent="0" lvl="0" marL="0" marR="0" rtl="0" algn="l">
              <a:lnSpc>
                <a:spcPct val="126000"/>
              </a:lnSpc>
              <a:spcBef>
                <a:spcPts val="0"/>
              </a:spcBef>
              <a:spcAft>
                <a:spcPts val="0"/>
              </a:spcAft>
              <a:buNone/>
            </a:pPr>
            <a:r>
              <a:rPr b="0" i="0" lang="en-US" sz="2200" u="none" cap="none" strike="noStrike">
                <a:solidFill>
                  <a:srgbClr val="14223A"/>
                </a:solidFill>
                <a:latin typeface="Arial"/>
                <a:ea typeface="Arial"/>
                <a:cs typeface="Arial"/>
                <a:sym typeface="Arial"/>
              </a:rPr>
              <a:t>Multiplying a number by everything inside the parentheses: a(b + c) = ab + ac.</a:t>
            </a:r>
            <a:endParaRPr/>
          </a:p>
        </p:txBody>
      </p:sp>
      <p:sp>
        <p:nvSpPr>
          <p:cNvPr id="490" name="Google Shape;490;p51"/>
          <p:cNvSpPr/>
          <p:nvPr/>
        </p:nvSpPr>
        <p:spPr>
          <a:xfrm>
            <a:off x="640080" y="4124706"/>
            <a:ext cx="5897880" cy="1249680"/>
          </a:xfrm>
          <a:prstGeom prst="roundRect">
            <a:avLst>
              <a:gd fmla="val 7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91" name="Google Shape;491;p51"/>
          <p:cNvSpPr/>
          <p:nvPr/>
        </p:nvSpPr>
        <p:spPr>
          <a:xfrm>
            <a:off x="640080" y="4124706"/>
            <a:ext cx="91440" cy="1249680"/>
          </a:xfrm>
          <a:prstGeom prst="rect">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92" name="Google Shape;492;p51"/>
          <p:cNvSpPr txBox="1"/>
          <p:nvPr/>
        </p:nvSpPr>
        <p:spPr>
          <a:xfrm>
            <a:off x="932688" y="4298442"/>
            <a:ext cx="5330952" cy="237744"/>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150" u="none" cap="none" strike="noStrike">
                <a:solidFill>
                  <a:srgbClr val="C2410C"/>
                </a:solidFill>
                <a:latin typeface="Arial"/>
                <a:ea typeface="Arial"/>
                <a:cs typeface="Arial"/>
                <a:sym typeface="Arial"/>
              </a:rPr>
              <a:t>EXAMPLE · EXPLAIN WHY IT FITS</a:t>
            </a:r>
            <a:endParaRPr/>
          </a:p>
        </p:txBody>
      </p:sp>
      <p:sp>
        <p:nvSpPr>
          <p:cNvPr id="493" name="Google Shape;493;p51"/>
          <p:cNvSpPr txBox="1"/>
          <p:nvPr/>
        </p:nvSpPr>
        <p:spPr>
          <a:xfrm>
            <a:off x="932688" y="4600194"/>
            <a:ext cx="5330952" cy="627888"/>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0" i="0" lang="en-US" sz="1700" u="none" cap="none" strike="noStrike">
                <a:solidFill>
                  <a:srgbClr val="14223A"/>
                </a:solidFill>
                <a:latin typeface="Arial"/>
                <a:ea typeface="Arial"/>
                <a:cs typeface="Arial"/>
                <a:sym typeface="Arial"/>
              </a:rPr>
              <a:t>5(7 + 2) = 5 × 7 + 5 × 2 = 35 + 10 = 45; and 5 × 9 = 45 — same answer either way</a:t>
            </a:r>
            <a:endParaRPr/>
          </a:p>
        </p:txBody>
      </p:sp>
      <p:pic>
        <p:nvPicPr>
          <p:cNvPr descr="distributive-property.png" id="494" name="Google Shape;494;p51"/>
          <p:cNvPicPr preferRelativeResize="0"/>
          <p:nvPr/>
        </p:nvPicPr>
        <p:blipFill rotWithShape="1">
          <a:blip r:embed="rId2">
            <a:alphaModFix/>
          </a:blip>
          <a:srcRect b="0" l="0" r="0" t="0"/>
          <a:stretch/>
        </p:blipFill>
        <p:spPr>
          <a:xfrm>
            <a:off x="6903720" y="1853738"/>
            <a:ext cx="4572000" cy="3424843"/>
          </a:xfrm>
          <a:prstGeom prst="rect">
            <a:avLst/>
          </a:prstGeom>
          <a:noFill/>
          <a:ln>
            <a:noFill/>
          </a:ln>
        </p:spPr>
      </p:pic>
      <p:sp>
        <p:nvSpPr>
          <p:cNvPr id="330"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13 / 41</a:t>
            </a:r>
          </a:p>
        </p:txBody>
      </p:sp>
      <p:sp xmlns:p="http://schemas.openxmlformats.org/presentationml/2006/main" xmlns:a="http://schemas.openxmlformats.org/drawingml/2006/main">
        <p:nvSpPr>
          <p:cNvPr id="495" name="TEACH-embedded-student-prompt" descr="Student thinking and response directions"/>
          <p:cNvSpPr txBox="1"/>
          <p:nvPr/>
        </p:nvSpPr>
        <p:spPr>
          <a:xfrm>
            <a:off x="4099560" y="5504688"/>
            <a:ext cx="7498080" cy="768096"/>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Use “Distributive Property” to explain the example. Point to</a:t>
            </a:r>
            <a:endParaRPr lang="en-US" sz="2000"/>
          </a:p>
          <a:p>
            <a:pPr>
              <a:lnSpc>
                <a:spcPts val="2400"/>
              </a:lnSpc>
              <a:buNone/>
            </a:pPr>
            <a:r>
              <a:rPr lang="en-US" sz="2000">
                <a:solidFill>
                  <a:srgbClr val="174D60"/>
                </a:solidFill>
                <a:latin typeface="Arial"/>
              </a:rPr>
              <a:t>evidence.</a:t>
            </a:r>
            <a:endParaRPr lang="en-US" sz="2000"/>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5" name="Shape 355"/>
        <p:cNvGrpSpPr/>
        <p:nvPr/>
      </p:nvGrpSpPr>
      <p:grpSpPr>
        <a:xfrm>
          <a:off x="0" y="0"/>
          <a:ext cx="0" cy="0"/>
          <a:chOff x="0" y="0"/>
          <a:chExt cx="0" cy="0"/>
        </a:xfrm>
      </p:grpSpPr>
      <p:sp>
        <p:nvSpPr>
          <p:cNvPr id="356" name="Google Shape;356;p45"/>
          <p:cNvSpPr/>
          <p:nvPr/>
        </p:nvSpPr>
        <p:spPr>
          <a:xfrm>
            <a:off x="0" y="0"/>
            <a:ext cx="12191969" cy="685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57" name="Google Shape;357;p45"/>
          <p:cNvSpPr/>
          <p:nvPr/>
        </p:nvSpPr>
        <p:spPr>
          <a:xfrm>
            <a:off x="0" y="0"/>
            <a:ext cx="12191969" cy="713232"/>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58" name="Google Shape;358;p45"/>
          <p:cNvSpPr txBox="1"/>
          <p:nvPr/>
        </p:nvSpPr>
        <p:spPr>
          <a:xfrm>
            <a:off x="502920" y="146304"/>
            <a:ext cx="6766560" cy="420624"/>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2000" u="none" cap="none" strike="noStrike">
                <a:solidFill>
                  <a:srgbClr val="FFFFFF"/>
                </a:solidFill>
                <a:latin typeface="Arial"/>
                <a:ea typeface="Arial"/>
                <a:cs typeface="Arial"/>
                <a:sym typeface="Arial"/>
              </a:rPr>
              <a:t>Vocabulary</a:t>
            </a:r>
            <a:endParaRPr/>
          </a:p>
        </p:txBody>
      </p:sp>
      <p:sp>
        <p:nvSpPr>
          <p:cNvPr id="359" name="Google Shape;359;p45"/>
          <p:cNvSpPr txBox="1"/>
          <p:nvPr/>
        </p:nvSpPr>
        <p:spPr>
          <a:xfrm>
            <a:off x="7223760" y="128016"/>
            <a:ext cx="4462272" cy="457200"/>
          </a:xfrm>
          <a:prstGeom prst="rect">
            <a:avLst/>
          </a:prstGeom>
          <a:noFill/>
          <a:ln>
            <a:noFill/>
          </a:ln>
        </p:spPr>
        <p:txBody>
          <a:bodyPr anchorCtr="0" anchor="ctr" bIns="0" lIns="0" spcFirstLastPara="1" rIns="0" wrap="square" tIns="0">
            <a:spAutoFit/>
          </a:bodyPr>
          <a:lstStyle/>
          <a:p>
            <a:pPr indent="0" lvl="0" marL="0" marR="0" rtl="0" algn="r">
              <a:lnSpc>
                <a:spcPct val="100000"/>
              </a:lnSpc>
              <a:spcBef>
                <a:spcPts val="0"/>
              </a:spcBef>
              <a:spcAft>
                <a:spcPts val="0"/>
              </a:spcAft>
              <a:buNone/>
              <a:defRPr/>
            </a:pPr>
            <a:r>
              <a:rPr b="0" i="0" lang="en-US" sz="1400" u="none" cap="none" strike="noStrike">
                <a:solidFill>
                  <a:srgbClr val="FFFFFF"/>
                </a:solidFill>
                <a:latin typeface="Arial"/>
                <a:ea typeface="Arial"/>
                <a:cs typeface="Arial"/>
                <a:sym typeface="Arial"/>
              </a:rPr>
              <a:t>Lesson 6-8 · Generate Equivalent Expressions</a:t>
            </a:r>
            <a:endParaRPr/>
          </a:p>
        </p:txBody>
      </p:sp>
      <p:sp>
        <p:nvSpPr>
          <p:cNvPr id="360" name="Google Shape;360;p45"/>
          <p:cNvSpPr/>
          <p:nvPr/>
        </p:nvSpPr>
        <p:spPr>
          <a:xfrm>
            <a:off x="502920" y="6382512"/>
            <a:ext cx="11186129" cy="10972"/>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61" name="Google Shape;361;p45"/>
          <p:cNvSpPr txBox="1"/>
          <p:nvPr/>
        </p:nvSpPr>
        <p:spPr>
          <a:xfrm>
            <a:off x="502920" y="6455664"/>
            <a:ext cx="11186129" cy="25603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0" i="0" lang="en-US" sz="1000" u="none" cap="none" strike="noStrike">
                <a:solidFill>
                  <a:srgbClr val="475569"/>
                </a:solidFill>
                <a:latin typeface="Arial"/>
                <a:ea typeface="Arial"/>
                <a:cs typeface="Arial"/>
                <a:sym typeface="Arial"/>
              </a:rPr>
              <a:t>eduwonderlab.com  ·  Neft Teacher</a:t>
            </a:r>
            <a:endParaRPr/>
          </a:p>
        </p:txBody>
      </p:sp>
      <p:sp>
        <p:nvSpPr>
          <p:cNvPr id="362" name="Google Shape;362;p45"/>
          <p:cNvSpPr txBox="1"/>
          <p:nvPr/>
        </p:nvSpPr>
        <p:spPr>
          <a:xfrm>
            <a:off x="640080" y="1005840"/>
            <a:ext cx="10911809" cy="512064"/>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1" i="0" lang="en-US" sz="3400" u="none" cap="none" strike="noStrike">
                <a:solidFill>
                  <a:srgbClr val="14223A"/>
                </a:solidFill>
                <a:latin typeface="Arial"/>
                <a:ea typeface="Arial"/>
                <a:cs typeface="Arial"/>
                <a:sym typeface="Arial"/>
              </a:rPr>
              <a:t>Today’s Math Words</a:t>
            </a:r>
            <a:endParaRPr/>
          </a:p>
        </p:txBody>
      </p:sp>
      <p:sp>
        <p:nvSpPr>
          <p:cNvPr id="363" name="Google Shape;363;p45"/>
          <p:cNvSpPr txBox="1"/>
          <p:nvPr/>
        </p:nvSpPr>
        <p:spPr>
          <a:xfrm>
            <a:off x="640080" y="1591056"/>
            <a:ext cx="10911809"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0" i="1" lang="en-US" sz="1400" u="none" cap="none" strike="noStrike">
                <a:solidFill>
                  <a:srgbClr val="475569"/>
                </a:solidFill>
                <a:latin typeface="Arial"/>
                <a:ea typeface="Arial"/>
                <a:cs typeface="Arial"/>
                <a:sym typeface="Arial"/>
              </a:rPr>
              <a:t>We learn every word — what it means and what it looks like — before we use it.</a:t>
            </a:r>
            <a:endParaRPr/>
          </a:p>
        </p:txBody>
      </p:sp>
      <p:sp>
        <p:nvSpPr>
          <p:cNvPr id="364" name="Google Shape;364;p45"/>
          <p:cNvSpPr/>
          <p:nvPr/>
        </p:nvSpPr>
        <p:spPr>
          <a:xfrm>
            <a:off x="640080" y="2103120"/>
            <a:ext cx="5291312" cy="1115568"/>
          </a:xfrm>
          <a:prstGeom prst="roundRect">
            <a:avLst>
              <a:gd fmla="val 9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65" name="Google Shape;365;p45"/>
          <p:cNvSpPr/>
          <p:nvPr/>
        </p:nvSpPr>
        <p:spPr>
          <a:xfrm>
            <a:off x="640080" y="2103120"/>
            <a:ext cx="91440" cy="1115568"/>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66" name="Google Shape;366;p45"/>
          <p:cNvSpPr txBox="1"/>
          <p:nvPr/>
        </p:nvSpPr>
        <p:spPr>
          <a:xfrm>
            <a:off x="950976" y="2240279"/>
            <a:ext cx="4724384" cy="310896"/>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defRPr/>
            </a:pPr>
            <a:r>
              <a:rPr b="1" i="0" lang="en-US" sz="1700" u="none" cap="none" strike="noStrike">
                <a:solidFill>
                  <a:srgbClr val="14223A"/>
                </a:solidFill>
                <a:latin typeface="Arial"/>
                <a:ea typeface="Arial"/>
                <a:cs typeface="Arial"/>
                <a:sym typeface="Arial"/>
              </a:rPr>
              <a:t>Properties of Operations</a:t>
            </a:r>
            <a:endParaRPr/>
          </a:p>
        </p:txBody>
      </p:sp>
      <p:sp>
        <p:nvSpPr>
          <p:cNvPr id="367" name="Google Shape;367;p45"/>
          <p:cNvSpPr txBox="1"/>
          <p:nvPr/>
        </p:nvSpPr>
        <p:spPr>
          <a:xfrm>
            <a:off x="950976" y="2578608"/>
            <a:ext cx="4724384" cy="548640"/>
          </a:xfrm>
          <a:prstGeom prst="rect">
            <a:avLst/>
          </a:prstGeom>
          <a:noFill/>
          <a:ln>
            <a:noFill/>
          </a:ln>
        </p:spPr>
        <p:txBody>
          <a:bodyPr anchorCtr="0" anchor="t" bIns="0" lIns="0" spcFirstLastPara="1" rIns="0" wrap="square" tIns="0">
            <a:spAutoFit/>
          </a:bodyPr>
          <a:lstStyle/>
          <a:p>
            <a:pPr indent="0" lvl="0" marL="0" marR="0" rtl="0" algn="l">
              <a:lnSpc>
                <a:spcPct val="116000"/>
              </a:lnSpc>
              <a:spcBef>
                <a:spcPts val="0"/>
              </a:spcBef>
              <a:spcAft>
                <a:spcPts val="0"/>
              </a:spcAft>
              <a:buNone/>
              <a:defRPr/>
            </a:pPr>
            <a:r>
              <a:rPr b="0" i="0" lang="en-US" sz="1250" u="none" cap="none" strike="noStrike">
                <a:solidFill>
                  <a:srgbClr val="475569"/>
                </a:solidFill>
                <a:latin typeface="Arial"/>
                <a:ea typeface="Arial"/>
                <a:cs typeface="Arial"/>
                <a:sym typeface="Arial"/>
              </a:rPr>
              <a:t>Rules that let you reorder or regroup numbers without changing an expression’s value</a:t>
            </a:r>
            <a:endParaRPr/>
          </a:p>
        </p:txBody>
      </p:sp>
      <p:sp>
        <p:nvSpPr>
          <p:cNvPr id="368" name="Google Shape;368;p45"/>
          <p:cNvSpPr/>
          <p:nvPr/>
        </p:nvSpPr>
        <p:spPr>
          <a:xfrm>
            <a:off x="6260576" y="2103120"/>
            <a:ext cx="5291312" cy="1115568"/>
          </a:xfrm>
          <a:prstGeom prst="roundRect">
            <a:avLst>
              <a:gd fmla="val 9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69" name="Google Shape;369;p45"/>
          <p:cNvSpPr/>
          <p:nvPr/>
        </p:nvSpPr>
        <p:spPr>
          <a:xfrm>
            <a:off x="6260576" y="2103120"/>
            <a:ext cx="91440" cy="1115568"/>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70" name="Google Shape;370;p45"/>
          <p:cNvSpPr txBox="1"/>
          <p:nvPr/>
        </p:nvSpPr>
        <p:spPr>
          <a:xfrm>
            <a:off x="6571472" y="2240279"/>
            <a:ext cx="4724384" cy="310896"/>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defRPr/>
            </a:pPr>
            <a:r>
              <a:rPr b="1" i="0" lang="en-US" sz="1700" u="none" cap="none" strike="noStrike">
                <a:solidFill>
                  <a:srgbClr val="14223A"/>
                </a:solidFill>
                <a:latin typeface="Arial"/>
                <a:ea typeface="Arial"/>
                <a:cs typeface="Arial"/>
                <a:sym typeface="Arial"/>
              </a:rPr>
              <a:t>Commutative Property</a:t>
            </a:r>
            <a:endParaRPr/>
          </a:p>
        </p:txBody>
      </p:sp>
      <p:sp>
        <p:nvSpPr>
          <p:cNvPr id="371" name="Google Shape;371;p45"/>
          <p:cNvSpPr txBox="1"/>
          <p:nvPr/>
        </p:nvSpPr>
        <p:spPr>
          <a:xfrm>
            <a:off x="6571472" y="2578608"/>
            <a:ext cx="4724384" cy="548640"/>
          </a:xfrm>
          <a:prstGeom prst="rect">
            <a:avLst/>
          </a:prstGeom>
          <a:noFill/>
          <a:ln>
            <a:noFill/>
          </a:ln>
        </p:spPr>
        <p:txBody>
          <a:bodyPr anchorCtr="0" anchor="t" bIns="0" lIns="0" spcFirstLastPara="1" rIns="0" wrap="square" tIns="0">
            <a:spAutoFit/>
          </a:bodyPr>
          <a:lstStyle/>
          <a:p>
            <a:pPr indent="0" lvl="0" marL="0" marR="0" rtl="0" algn="l">
              <a:lnSpc>
                <a:spcPct val="116000"/>
              </a:lnSpc>
              <a:spcBef>
                <a:spcPts val="0"/>
              </a:spcBef>
              <a:spcAft>
                <a:spcPts val="0"/>
              </a:spcAft>
              <a:buNone/>
              <a:defRPr/>
            </a:pPr>
            <a:r>
              <a:rPr b="0" i="0" lang="en-US" sz="1400" u="none" cap="none" strike="noStrike">
                <a:solidFill>
                  <a:srgbClr val="475569"/>
                </a:solidFill>
                <a:latin typeface="Arial"/>
                <a:ea typeface="Arial"/>
                <a:cs typeface="Arial"/>
                <a:sym typeface="Arial"/>
              </a:rPr>
              <a:t>You can change the order and get the same answer</a:t>
            </a:r>
            <a:endParaRPr/>
          </a:p>
        </p:txBody>
      </p:sp>
      <p:sp>
        <p:nvSpPr>
          <p:cNvPr id="372" name="Google Shape;372;p45"/>
          <p:cNvSpPr/>
          <p:nvPr/>
        </p:nvSpPr>
        <p:spPr>
          <a:xfrm>
            <a:off x="640080" y="3401568"/>
            <a:ext cx="5291312" cy="1115568"/>
          </a:xfrm>
          <a:prstGeom prst="roundRect">
            <a:avLst>
              <a:gd fmla="val 9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73" name="Google Shape;373;p45"/>
          <p:cNvSpPr/>
          <p:nvPr/>
        </p:nvSpPr>
        <p:spPr>
          <a:xfrm>
            <a:off x="640080" y="3401568"/>
            <a:ext cx="91440" cy="1115568"/>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74" name="Google Shape;374;p45"/>
          <p:cNvSpPr txBox="1"/>
          <p:nvPr/>
        </p:nvSpPr>
        <p:spPr>
          <a:xfrm>
            <a:off x="950976" y="3538727"/>
            <a:ext cx="4724384" cy="310896"/>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defRPr/>
            </a:pPr>
            <a:r>
              <a:rPr b="1" i="0" lang="en-US" sz="1700" u="none" cap="none" strike="noStrike">
                <a:solidFill>
                  <a:srgbClr val="14223A"/>
                </a:solidFill>
                <a:latin typeface="Arial"/>
                <a:ea typeface="Arial"/>
                <a:cs typeface="Arial"/>
                <a:sym typeface="Arial"/>
              </a:rPr>
              <a:t>Associative Property</a:t>
            </a:r>
            <a:endParaRPr/>
          </a:p>
        </p:txBody>
      </p:sp>
      <p:sp>
        <p:nvSpPr>
          <p:cNvPr id="375" name="Google Shape;375;p45"/>
          <p:cNvSpPr txBox="1"/>
          <p:nvPr/>
        </p:nvSpPr>
        <p:spPr>
          <a:xfrm>
            <a:off x="950976" y="3877056"/>
            <a:ext cx="4724384" cy="548640"/>
          </a:xfrm>
          <a:prstGeom prst="rect">
            <a:avLst/>
          </a:prstGeom>
          <a:noFill/>
          <a:ln>
            <a:noFill/>
          </a:ln>
        </p:spPr>
        <p:txBody>
          <a:bodyPr anchorCtr="0" anchor="t" bIns="0" lIns="0" spcFirstLastPara="1" rIns="0" wrap="square" tIns="0">
            <a:spAutoFit/>
          </a:bodyPr>
          <a:lstStyle/>
          <a:p>
            <a:pPr indent="0" lvl="0" marL="0" marR="0" rtl="0" algn="l">
              <a:lnSpc>
                <a:spcPct val="116000"/>
              </a:lnSpc>
              <a:spcBef>
                <a:spcPts val="0"/>
              </a:spcBef>
              <a:spcAft>
                <a:spcPts val="0"/>
              </a:spcAft>
              <a:buNone/>
              <a:defRPr/>
            </a:pPr>
            <a:r>
              <a:rPr b="0" i="0" lang="en-US" sz="1400" u="none" cap="none" strike="noStrike">
                <a:solidFill>
                  <a:srgbClr val="475569"/>
                </a:solidFill>
                <a:latin typeface="Arial"/>
                <a:ea typeface="Arial"/>
                <a:cs typeface="Arial"/>
                <a:sym typeface="Arial"/>
              </a:rPr>
              <a:t>You can change the grouping and get the same answer</a:t>
            </a:r>
            <a:endParaRPr/>
          </a:p>
        </p:txBody>
      </p:sp>
      <p:sp>
        <p:nvSpPr>
          <p:cNvPr id="376" name="Google Shape;376;p45"/>
          <p:cNvSpPr/>
          <p:nvPr/>
        </p:nvSpPr>
        <p:spPr>
          <a:xfrm>
            <a:off x="6260576" y="3401568"/>
            <a:ext cx="5291312" cy="1115568"/>
          </a:xfrm>
          <a:prstGeom prst="roundRect">
            <a:avLst>
              <a:gd fmla="val 9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77" name="Google Shape;377;p45"/>
          <p:cNvSpPr/>
          <p:nvPr/>
        </p:nvSpPr>
        <p:spPr>
          <a:xfrm>
            <a:off x="6260576" y="3401568"/>
            <a:ext cx="91440" cy="1115568"/>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78" name="Google Shape;378;p45"/>
          <p:cNvSpPr txBox="1"/>
          <p:nvPr/>
        </p:nvSpPr>
        <p:spPr>
          <a:xfrm>
            <a:off x="6571472" y="3538727"/>
            <a:ext cx="4724384" cy="310896"/>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defRPr/>
            </a:pPr>
            <a:r>
              <a:rPr b="1" i="0" lang="en-US" sz="1700" u="none" cap="none" strike="noStrike">
                <a:solidFill>
                  <a:srgbClr val="14223A"/>
                </a:solidFill>
                <a:latin typeface="Arial"/>
                <a:ea typeface="Arial"/>
                <a:cs typeface="Arial"/>
                <a:sym typeface="Arial"/>
              </a:rPr>
              <a:t>Identity Property</a:t>
            </a:r>
            <a:endParaRPr/>
          </a:p>
        </p:txBody>
      </p:sp>
      <p:sp>
        <p:nvSpPr>
          <p:cNvPr id="379" name="Google Shape;379;p45"/>
          <p:cNvSpPr txBox="1"/>
          <p:nvPr/>
        </p:nvSpPr>
        <p:spPr>
          <a:xfrm>
            <a:off x="6571472" y="3877056"/>
            <a:ext cx="4724384" cy="548640"/>
          </a:xfrm>
          <a:prstGeom prst="rect">
            <a:avLst/>
          </a:prstGeom>
          <a:noFill/>
          <a:ln>
            <a:noFill/>
          </a:ln>
        </p:spPr>
        <p:txBody>
          <a:bodyPr anchorCtr="0" anchor="t" bIns="0" lIns="0" spcFirstLastPara="1" rIns="0" wrap="square" tIns="0">
            <a:spAutoFit/>
          </a:bodyPr>
          <a:lstStyle/>
          <a:p>
            <a:pPr indent="0" lvl="0" marL="0" marR="0" rtl="0" algn="l">
              <a:lnSpc>
                <a:spcPct val="116000"/>
              </a:lnSpc>
              <a:spcBef>
                <a:spcPts val="0"/>
              </a:spcBef>
              <a:spcAft>
                <a:spcPts val="0"/>
              </a:spcAft>
              <a:buNone/>
              <a:defRPr/>
            </a:pPr>
            <a:r>
              <a:rPr b="0" i="0" lang="en-US" sz="1400" u="none" cap="none" strike="noStrike">
                <a:solidFill>
                  <a:srgbClr val="475569"/>
                </a:solidFill>
                <a:latin typeface="Arial"/>
                <a:ea typeface="Arial"/>
                <a:cs typeface="Arial"/>
                <a:sym typeface="Arial"/>
              </a:rPr>
              <a:t>Adding 0 or multiplying by 1 keeps the same value</a:t>
            </a:r>
            <a:endParaRPr/>
          </a:p>
        </p:txBody>
      </p:sp>
      <p:sp>
        <p:nvSpPr>
          <p:cNvPr id="380" name="Google Shape;380;p45"/>
          <p:cNvSpPr/>
          <p:nvPr/>
        </p:nvSpPr>
        <p:spPr>
          <a:xfrm>
            <a:off x="640080" y="4700016"/>
            <a:ext cx="5291312" cy="1115568"/>
          </a:xfrm>
          <a:prstGeom prst="roundRect">
            <a:avLst>
              <a:gd fmla="val 9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81" name="Google Shape;381;p45"/>
          <p:cNvSpPr/>
          <p:nvPr/>
        </p:nvSpPr>
        <p:spPr>
          <a:xfrm>
            <a:off x="640080" y="4700016"/>
            <a:ext cx="91440" cy="1115568"/>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82" name="Google Shape;382;p45"/>
          <p:cNvSpPr txBox="1"/>
          <p:nvPr/>
        </p:nvSpPr>
        <p:spPr>
          <a:xfrm>
            <a:off x="950976" y="4837176"/>
            <a:ext cx="4724384" cy="310896"/>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defRPr/>
            </a:pPr>
            <a:r>
              <a:rPr b="1" i="0" lang="en-US" sz="1700" u="none" cap="none" strike="noStrike">
                <a:solidFill>
                  <a:srgbClr val="14223A"/>
                </a:solidFill>
                <a:latin typeface="Arial"/>
                <a:ea typeface="Arial"/>
                <a:cs typeface="Arial"/>
                <a:sym typeface="Arial"/>
              </a:rPr>
              <a:t>Property</a:t>
            </a:r>
            <a:endParaRPr/>
          </a:p>
        </p:txBody>
      </p:sp>
      <p:sp>
        <p:nvSpPr>
          <p:cNvPr id="383" name="Google Shape;383;p45"/>
          <p:cNvSpPr txBox="1"/>
          <p:nvPr/>
        </p:nvSpPr>
        <p:spPr>
          <a:xfrm>
            <a:off x="950976" y="5175504"/>
            <a:ext cx="4724384" cy="548640"/>
          </a:xfrm>
          <a:prstGeom prst="rect">
            <a:avLst/>
          </a:prstGeom>
          <a:noFill/>
          <a:ln>
            <a:noFill/>
          </a:ln>
        </p:spPr>
        <p:txBody>
          <a:bodyPr anchorCtr="0" anchor="t" bIns="0" lIns="0" spcFirstLastPara="1" rIns="0" wrap="square" tIns="0">
            <a:spAutoFit/>
          </a:bodyPr>
          <a:lstStyle/>
          <a:p>
            <a:pPr indent="0" lvl="0" marL="0" marR="0" rtl="0" algn="l">
              <a:lnSpc>
                <a:spcPct val="116000"/>
              </a:lnSpc>
              <a:spcBef>
                <a:spcPts val="0"/>
              </a:spcBef>
              <a:spcAft>
                <a:spcPts val="0"/>
              </a:spcAft>
              <a:buNone/>
              <a:defRPr/>
            </a:pPr>
            <a:r>
              <a:rPr b="0" i="0" lang="en-US" sz="1400" u="none" cap="none" strike="noStrike">
                <a:solidFill>
                  <a:srgbClr val="475569"/>
                </a:solidFill>
                <a:latin typeface="Arial"/>
                <a:ea typeface="Arial"/>
                <a:cs typeface="Arial"/>
                <a:sym typeface="Arial"/>
              </a:rPr>
              <a:t>A rule that is always true in math</a:t>
            </a:r>
            <a:endParaRPr/>
          </a:p>
        </p:txBody>
      </p:sp>
      <p:sp>
        <p:nvSpPr>
          <p:cNvPr id="384" name="Google Shape;384;p45"/>
          <p:cNvSpPr/>
          <p:nvPr/>
        </p:nvSpPr>
        <p:spPr>
          <a:xfrm>
            <a:off x="6260576" y="4700016"/>
            <a:ext cx="5291312" cy="1115568"/>
          </a:xfrm>
          <a:prstGeom prst="roundRect">
            <a:avLst>
              <a:gd fmla="val 9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85" name="Google Shape;385;p45"/>
          <p:cNvSpPr/>
          <p:nvPr/>
        </p:nvSpPr>
        <p:spPr>
          <a:xfrm>
            <a:off x="6260576" y="4700016"/>
            <a:ext cx="91440" cy="1115568"/>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86" name="Google Shape;386;p45"/>
          <p:cNvSpPr txBox="1"/>
          <p:nvPr/>
        </p:nvSpPr>
        <p:spPr>
          <a:xfrm>
            <a:off x="6571472" y="4837176"/>
            <a:ext cx="4724384" cy="310896"/>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defRPr/>
            </a:pPr>
            <a:r>
              <a:rPr b="1" i="0" lang="en-US" sz="1700" u="none" cap="none" strike="noStrike">
                <a:solidFill>
                  <a:srgbClr val="14223A"/>
                </a:solidFill>
                <a:latin typeface="Arial"/>
                <a:ea typeface="Arial"/>
                <a:cs typeface="Arial"/>
                <a:sym typeface="Arial"/>
              </a:rPr>
              <a:t>Distributive Property</a:t>
            </a:r>
            <a:endParaRPr/>
          </a:p>
        </p:txBody>
      </p:sp>
      <p:sp>
        <p:nvSpPr>
          <p:cNvPr id="387" name="Google Shape;387;p45"/>
          <p:cNvSpPr txBox="1"/>
          <p:nvPr/>
        </p:nvSpPr>
        <p:spPr>
          <a:xfrm>
            <a:off x="6571472" y="5175504"/>
            <a:ext cx="4724384" cy="548640"/>
          </a:xfrm>
          <a:prstGeom prst="rect">
            <a:avLst/>
          </a:prstGeom>
          <a:noFill/>
          <a:ln>
            <a:noFill/>
          </a:ln>
        </p:spPr>
        <p:txBody>
          <a:bodyPr anchorCtr="0" anchor="t" bIns="0" lIns="0" spcFirstLastPara="1" rIns="0" wrap="square" tIns="0">
            <a:spAutoFit/>
          </a:bodyPr>
          <a:lstStyle/>
          <a:p>
            <a:pPr indent="0" lvl="0" marL="0" marR="0" rtl="0" algn="l">
              <a:lnSpc>
                <a:spcPct val="116000"/>
              </a:lnSpc>
              <a:spcBef>
                <a:spcPts val="0"/>
              </a:spcBef>
              <a:spcAft>
                <a:spcPts val="0"/>
              </a:spcAft>
              <a:buNone/>
              <a:defRPr/>
            </a:pPr>
            <a:r>
              <a:rPr b="0" i="0" lang="en-US" sz="1250" u="none" cap="none" strike="noStrike">
                <a:solidFill>
                  <a:srgbClr val="475569"/>
                </a:solidFill>
                <a:latin typeface="Arial"/>
                <a:ea typeface="Arial"/>
                <a:cs typeface="Arial"/>
                <a:sym typeface="Arial"/>
              </a:rPr>
              <a:t>Multiplying a number by everything inside the parentheses: a(b + c) = ab + ac</a:t>
            </a:r>
            <a:endParaRPr/>
          </a:p>
        </p:txBody>
      </p:sp>
      <p:sp>
        <p:nvSpPr>
          <p:cNvPr id="388"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14 / 41</a:t>
            </a:r>
          </a:p>
        </p:txBody>
      </p:sp>
      <p:grpSp>
        <p:nvGrpSpPr>
          <p:cNvPr id="389" name="TEACH-5-student-move" descr="TEACH 5 · Facilitate student interactions and academic talk"/>
          <p:cNvGrpSpPr/>
          <p:nvPr/>
        </p:nvGrpSpPr>
        <p:grpSpPr>
          <a:xfrm>
            <a:off x="502920" y="5852160"/>
            <a:ext cx="11186160" cy="457200"/>
            <a:chOff x="502920" y="5852160"/>
            <a:chExt cx="11186160" cy="457200"/>
          </a:xfrm>
        </p:grpSpPr>
        <p:sp>
          <p:nvSpPr>
            <p:cNvPr id="390" name="TEACH-move-card"/>
            <p:cNvSpPr/>
            <p:nvPr/>
          </p:nvSpPr>
          <p:spPr>
            <a:xfrm>
              <a:off x="502920" y="5852160"/>
              <a:ext cx="11186160" cy="457200"/>
            </a:xfrm>
            <a:prstGeom prst="roundRect">
              <a:avLst>
                <a:gd name="adj" fmla="val 16000"/>
              </a:avLst>
            </a:prstGeom>
            <a:solidFill>
              <a:srgbClr val="E4F0F5"/>
            </a:solidFill>
            <a:ln w="19050">
              <a:solidFill>
                <a:srgbClr val="8CB8C7"/>
              </a:solidFill>
            </a:ln>
          </p:spPr>
          <p:txBody>
            <a:bodyPr/>
            <a:lstStyle/>
            <a:p>
              <a:endParaRPr/>
            </a:p>
          </p:txBody>
        </p:sp>
        <p:sp>
          <p:nvSpPr>
            <p:cNvPr id="391" name="TEACH-move-rule"/>
            <p:cNvSpPr/>
            <p:nvPr/>
          </p:nvSpPr>
          <p:spPr>
            <a:xfrm>
              <a:off x="548640" y="5939028"/>
              <a:ext cx="100584" cy="283464"/>
            </a:xfrm>
            <a:prstGeom prst="roundRect">
              <a:avLst>
                <a:gd name="adj" fmla="val 50000"/>
              </a:avLst>
            </a:prstGeom>
            <a:solidFill>
              <a:srgbClr val="01708C"/>
            </a:solidFill>
            <a:ln>
              <a:noFill/>
            </a:ln>
          </p:spPr>
          <p:txBody>
            <a:bodyPr/>
            <a:lstStyle/>
            <a:p>
              <a:endParaRPr/>
            </a:p>
          </p:txBody>
        </p:sp>
        <p:sp>
          <p:nvSpPr>
            <p:cNvPr id="392" name="TEACH-move-text"/>
            <p:cNvSpPr txBox="1"/>
            <p:nvPr/>
          </p:nvSpPr>
          <p:spPr>
            <a:xfrm>
              <a:off x="822960" y="5852160"/>
              <a:ext cx="10728960" cy="457200"/>
            </a:xfrm>
            <a:prstGeom prst="rect">
              <a:avLst/>
            </a:prstGeom>
            <a:noFill/>
            <a:ln>
              <a:noFill/>
            </a:ln>
          </p:spPr>
          <p:txBody>
            <a:bodyPr wrap="square" lIns="0" tIns="0" rIns="0" bIns="0" anchor="ctr">
              <a:noAutofit/>
            </a:bodyPr>
            <a:lstStyle/>
            <a:p>
              <a:pPr algn="l">
                <a:buNone/>
              </a:pPr>
              <a:r>
                <a:rPr lang="en-US" sz="1400" b="1" dirty="0">
                  <a:solidFill>
                    <a:srgbClr val="01708C"/>
                  </a:solidFill>
                  <a:latin typeface="Arial"/>
                </a:rPr>
                <a:t>ADD ON  ·  </a:t>
              </a:r>
              <a:r>
                <a:rPr lang="en-US" sz="1400" dirty="0">
                  <a:solidFill>
                    <a:srgbClr val="13303A"/>
                  </a:solidFill>
                  <a:latin typeface="Arial"/>
                </a:rPr>
                <a:t>Add on: “I agree because ______.”  or  “I see it differently because ______.”</a:t>
              </a:r>
              <a:endParaRPr lang="en-US" sz="1400"/>
            </a:p>
          </p:txBody>
        </p:sp>
      </p:gr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4" name="Shape 564"/>
        <p:cNvGrpSpPr/>
        <p:nvPr/>
      </p:nvGrpSpPr>
      <p:grpSpPr>
        <a:xfrm>
          <a:off x="0" y="0"/>
          <a:ext cx="0" cy="0"/>
          <a:chOff x="0" y="0"/>
          <a:chExt cx="0" cy="0"/>
        </a:xfrm>
      </p:grpSpPr>
      <p:cxnSp>
        <p:nvCxnSpPr>
          <p:cNvPr id="565" name="Google Shape;565;p55"/>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566" name="Google Shape;566;p55"/>
          <p:cNvSpPr txBox="1"/>
          <p:nvPr/>
        </p:nvSpPr>
        <p:spPr>
          <a:xfrm>
            <a:off x="484560" y="316034"/>
            <a:ext cx="3904129" cy="66112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00B050"/>
              </a:buClr>
              <a:buSzPts val="2800"/>
              <a:buFont typeface="Arial"/>
              <a:buNone/>
            </a:pPr>
            <a:r>
              <a:rPr b="1" i="0" lang="en-US" sz="2800" u="none" cap="none" strike="noStrike">
                <a:solidFill>
                  <a:srgbClr val="00B050"/>
                </a:solidFill>
                <a:latin typeface="Arial"/>
                <a:ea typeface="Arial"/>
                <a:cs typeface="Arial"/>
                <a:sym typeface="Arial"/>
              </a:rPr>
              <a:t>Be Curious</a:t>
            </a:r>
            <a:endParaRPr b="0" i="0" sz="1400" u="none" cap="none" strike="noStrike">
              <a:solidFill>
                <a:srgbClr val="000000"/>
              </a:solidFill>
              <a:latin typeface="Arial"/>
              <a:ea typeface="Arial"/>
              <a:cs typeface="Arial"/>
              <a:sym typeface="Arial"/>
            </a:endParaRPr>
          </a:p>
        </p:txBody>
      </p:sp>
      <p:sp>
        <p:nvSpPr>
          <p:cNvPr id="567" name="Google Shape;567;p55"/>
          <p:cNvSpPr/>
          <p:nvPr/>
        </p:nvSpPr>
        <p:spPr>
          <a:xfrm>
            <a:off x="649775" y="5468195"/>
            <a:ext cx="11046802" cy="892552"/>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600"/>
              <a:buFont typeface="Arial"/>
              <a:buNone/>
            </a:pPr>
            <a:r>
              <a:rPr b="0" i="0" lang="en-US" sz="2600" u="none" cap="none" strike="noStrike">
                <a:solidFill>
                  <a:srgbClr val="595959"/>
                </a:solidFill>
                <a:latin typeface="Arial"/>
                <a:ea typeface="Arial"/>
                <a:cs typeface="Arial"/>
                <a:sym typeface="Arial"/>
              </a:rPr>
              <a:t>What questions can you ask to help you understand someone else’s ideas about math?</a:t>
            </a:r>
            <a:endParaRPr b="0" i="0" sz="1400" u="none" cap="none" strike="noStrike">
              <a:solidFill>
                <a:srgbClr val="000000"/>
              </a:solidFill>
              <a:latin typeface="Arial"/>
              <a:ea typeface="Arial"/>
              <a:cs typeface="Arial"/>
              <a:sym typeface="Arial"/>
            </a:endParaRPr>
          </a:p>
        </p:txBody>
      </p:sp>
      <p:sp>
        <p:nvSpPr>
          <p:cNvPr id="568" name="Google Shape;568;p55"/>
          <p:cNvSpPr txBox="1"/>
          <p:nvPr/>
        </p:nvSpPr>
        <p:spPr>
          <a:xfrm>
            <a:off x="474056" y="936100"/>
            <a:ext cx="3914633" cy="1125456"/>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62626"/>
              </a:buClr>
              <a:buSzPts val="2800"/>
              <a:buFont typeface="Arial"/>
              <a:buNone/>
            </a:pPr>
            <a:r>
              <a:rPr b="0" i="0" lang="en-US" sz="2800" u="none" cap="none" strike="noStrike">
                <a:solidFill>
                  <a:srgbClr val="23282D"/>
                </a:solidFill>
                <a:latin typeface="Arial"/>
                <a:ea typeface="Arial"/>
                <a:cs typeface="Arial"/>
                <a:sym typeface="Arial"/>
              </a:rPr>
              <a:t>What do you notice?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800"/>
              </a:spcBef>
              <a:spcAft>
                <a:spcPts val="0"/>
              </a:spcAft>
              <a:buClr>
                <a:srgbClr val="262626"/>
              </a:buClr>
              <a:buSzPts val="2800"/>
              <a:buFont typeface="Arial"/>
              <a:buNone/>
            </a:pPr>
            <a:r>
              <a:rPr b="0" i="0" lang="en-US" sz="2800" u="none" cap="none" strike="noStrike">
                <a:solidFill>
                  <a:srgbClr val="23282D"/>
                </a:solidFill>
                <a:latin typeface="Arial"/>
                <a:ea typeface="Arial"/>
                <a:cs typeface="Arial"/>
                <a:sym typeface="Arial"/>
              </a:rPr>
              <a:t>What do you wonder?​</a:t>
            </a:r>
            <a:endParaRPr b="0" i="0" sz="1400" u="none" cap="none" strike="noStrike">
              <a:solidFill>
                <a:srgbClr val="000000"/>
              </a:solidFill>
              <a:latin typeface="Arial"/>
              <a:ea typeface="Arial"/>
              <a:cs typeface="Arial"/>
              <a:sym typeface="Arial"/>
            </a:endParaRPr>
          </a:p>
        </p:txBody>
      </p:sp>
      <p:pic>
        <p:nvPicPr>
          <p:cNvPr id="569" name="Google Shape;569;p55"/>
          <p:cNvPicPr preferRelativeResize="0"/>
          <p:nvPr/>
        </p:nvPicPr>
        <p:blipFill rotWithShape="1">
          <a:blip r:embed="rId3">
            <a:alphaModFix/>
          </a:blip>
          <a:srcRect b="0" l="0" r="0" t="0"/>
          <a:stretch/>
        </p:blipFill>
        <p:spPr>
          <a:xfrm>
            <a:off x="4388689" y="1498828"/>
            <a:ext cx="5760000" cy="2880000"/>
          </a:xfrm>
          <a:prstGeom prst="rect">
            <a:avLst/>
          </a:prstGeom>
          <a:noFill/>
          <a:ln>
            <a:noFill/>
          </a:ln>
        </p:spPr>
      </p:pic>
      <p:pic>
        <p:nvPicPr>
          <p:cNvPr id="570" name="Google Shape;570;p55"/>
          <p:cNvPicPr preferRelativeResize="0"/>
          <p:nvPr/>
        </p:nvPicPr>
        <p:blipFill rotWithShape="1">
          <a:blip r:embed="rId4">
            <a:alphaModFix/>
          </a:blip>
          <a:srcRect b="0" l="0" r="0" t="0"/>
          <a:stretch/>
        </p:blipFill>
        <p:spPr>
          <a:xfrm>
            <a:off x="481450" y="4633495"/>
            <a:ext cx="5054600" cy="838200"/>
          </a:xfrm>
          <a:prstGeom prst="rect">
            <a:avLst/>
          </a:prstGeom>
          <a:noFill/>
          <a:ln>
            <a:noFill/>
          </a:ln>
        </p:spPr>
      </p:pic>
      <p:sp>
        <p:nvSpPr>
          <p:cNvPr id="571" name="Google Shape;571;p55"/>
          <p:cNvSpPr txBox="1"/>
          <p:nvPr/>
        </p:nvSpPr>
        <p:spPr>
          <a:xfrm>
            <a:off x="3341467" y="4790813"/>
            <a:ext cx="2194584" cy="639716"/>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62626"/>
              </a:buClr>
              <a:buSzPts val="2800"/>
              <a:buFont typeface="Arial"/>
              <a:buNone/>
            </a:pPr>
            <a:r>
              <a:rPr b="0" i="0" lang="en-US" sz="2800" u="none" cap="none" strike="noStrike">
                <a:solidFill>
                  <a:srgbClr val="23282D"/>
                </a:solidFill>
                <a:latin typeface="Arial"/>
                <a:ea typeface="Arial"/>
                <a:cs typeface="Arial"/>
                <a:sym typeface="Arial"/>
              </a:rPr>
              <a:t>Mindset</a:t>
            </a:r>
            <a:endParaRPr b="0" i="0" sz="1400" u="none" cap="none" strike="noStrike">
              <a:solidFill>
                <a:srgbClr val="000000"/>
              </a:solidFill>
              <a:latin typeface="Arial"/>
              <a:ea typeface="Arial"/>
              <a:cs typeface="Arial"/>
              <a:sym typeface="Arial"/>
            </a:endParaRPr>
          </a:p>
        </p:txBody>
      </p:sp>
      <p:sp>
        <p:nvSpPr>
          <p:cNvPr id="572"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15 / 41</a:t>
            </a:r>
          </a:p>
        </p:txBody>
      </p:sp>
      <p:sp xmlns:p="http://schemas.openxmlformats.org/presentationml/2006/main" xmlns:a="http://schemas.openxmlformats.org/drawingml/2006/main">
        <p:nvSpPr>
          <p:cNvPr id="573" name="TEACH-embedded-student-prompt" descr="Student thinking and response directions"/>
          <p:cNvSpPr txBox="1"/>
          <p:nvPr/>
        </p:nvSpPr>
        <p:spPr>
          <a:xfrm>
            <a:off x="6111240" y="4590288"/>
            <a:ext cx="5486400" cy="768096"/>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Think first. Share a notice and a question;</a:t>
            </a:r>
            <a:endParaRPr lang="en-US" sz="2000"/>
          </a:p>
          <a:p>
            <a:pPr>
              <a:lnSpc>
                <a:spcPts val="2400"/>
              </a:lnSpc>
              <a:buNone/>
            </a:pPr>
            <a:r>
              <a:rPr lang="en-US" sz="2000">
                <a:solidFill>
                  <a:srgbClr val="174D60"/>
                </a:solidFill>
                <a:latin typeface="Arial"/>
              </a:rPr>
              <a:t>build on a classmate’s idea.</a:t>
            </a:r>
            <a:endParaRPr lang="en-US" sz="2000"/>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5" name="Shape 585"/>
        <p:cNvGrpSpPr/>
        <p:nvPr/>
      </p:nvGrpSpPr>
      <p:grpSpPr>
        <a:xfrm>
          <a:off x="0" y="0"/>
          <a:ext cx="0" cy="0"/>
          <a:chOff x="0" y="0"/>
          <a:chExt cx="0" cy="0"/>
        </a:xfrm>
      </p:grpSpPr>
      <p:cxnSp>
        <p:nvCxnSpPr>
          <p:cNvPr id="586" name="Google Shape;586;p57"/>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587" name="Google Shape;587;p57"/>
          <p:cNvSpPr txBox="1"/>
          <p:nvPr/>
        </p:nvSpPr>
        <p:spPr>
          <a:xfrm>
            <a:off x="484565" y="936099"/>
            <a:ext cx="8243798" cy="1009079"/>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62626"/>
              </a:buClr>
              <a:buSzPts val="2800"/>
              <a:buFont typeface="Arial"/>
              <a:buNone/>
            </a:pPr>
            <a:r>
              <a:rPr b="1" i="0" lang="en-US" sz="2800" u="none" cap="none" strike="noStrike">
                <a:solidFill>
                  <a:srgbClr val="23282D"/>
                </a:solidFill>
                <a:latin typeface="Arial"/>
                <a:ea typeface="Arial"/>
                <a:cs typeface="Arial"/>
                <a:sym typeface="Arial"/>
              </a:rPr>
              <a:t>What other expressions are equivalent to the one shown?</a:t>
            </a:r>
            <a:endParaRPr b="0" i="0" sz="1400" u="none" cap="none" strike="noStrike">
              <a:solidFill>
                <a:srgbClr val="000000"/>
              </a:solidFill>
              <a:latin typeface="Arial"/>
              <a:ea typeface="Arial"/>
              <a:cs typeface="Arial"/>
              <a:sym typeface="Arial"/>
            </a:endParaRPr>
          </a:p>
        </p:txBody>
      </p:sp>
      <p:sp>
        <p:nvSpPr>
          <p:cNvPr id="588" name="Google Shape;588;p57"/>
          <p:cNvSpPr txBox="1"/>
          <p:nvPr/>
        </p:nvSpPr>
        <p:spPr>
          <a:xfrm>
            <a:off x="484565" y="316034"/>
            <a:ext cx="5641027" cy="620065"/>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030A0"/>
              </a:buClr>
              <a:buSzPts val="2800"/>
              <a:buFont typeface="Arial"/>
              <a:buNone/>
            </a:pPr>
            <a:r>
              <a:rPr b="1" i="0" lang="en-US" sz="2800" u="none" cap="none" strike="noStrike">
                <a:solidFill>
                  <a:srgbClr val="782DA0"/>
                </a:solidFill>
                <a:latin typeface="Arial"/>
                <a:ea typeface="Arial"/>
                <a:cs typeface="Arial"/>
                <a:sym typeface="Arial"/>
              </a:rPr>
              <a:t>Find Another</a:t>
            </a:r>
            <a:endParaRPr b="0" i="0" sz="1400" u="none" cap="none" strike="noStrike">
              <a:solidFill>
                <a:srgbClr val="000000"/>
              </a:solidFill>
              <a:latin typeface="Arial"/>
              <a:ea typeface="Arial"/>
              <a:cs typeface="Arial"/>
              <a:sym typeface="Arial"/>
            </a:endParaRPr>
          </a:p>
        </p:txBody>
      </p:sp>
      <p:pic>
        <p:nvPicPr>
          <p:cNvPr id="589" name="Google Shape;589;p57"/>
          <p:cNvPicPr preferRelativeResize="0"/>
          <p:nvPr/>
        </p:nvPicPr>
        <p:blipFill rotWithShape="1">
          <a:blip r:embed="rId3">
            <a:alphaModFix/>
          </a:blip>
          <a:srcRect b="0" l="0" r="0" t="0"/>
          <a:stretch/>
        </p:blipFill>
        <p:spPr>
          <a:xfrm>
            <a:off x="484565" y="4660302"/>
            <a:ext cx="7073900" cy="838200"/>
          </a:xfrm>
          <a:prstGeom prst="rect">
            <a:avLst/>
          </a:prstGeom>
          <a:noFill/>
          <a:ln>
            <a:noFill/>
          </a:ln>
        </p:spPr>
      </p:pic>
      <p:sp>
        <p:nvSpPr>
          <p:cNvPr id="590" name="Google Shape;590;p57"/>
          <p:cNvSpPr txBox="1"/>
          <p:nvPr/>
        </p:nvSpPr>
        <p:spPr>
          <a:xfrm>
            <a:off x="3188231" y="4817620"/>
            <a:ext cx="3713529" cy="639716"/>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62626"/>
              </a:buClr>
              <a:buSzPts val="2800"/>
              <a:buFont typeface="Arial"/>
              <a:buNone/>
            </a:pPr>
            <a:r>
              <a:rPr b="0" i="0" lang="en-US" sz="2800" u="none" cap="none" strike="noStrike">
                <a:solidFill>
                  <a:srgbClr val="23282D"/>
                </a:solidFill>
                <a:latin typeface="Arial"/>
                <a:ea typeface="Arial"/>
                <a:cs typeface="Arial"/>
                <a:sym typeface="Arial"/>
              </a:rPr>
              <a:t>Looking for Structure</a:t>
            </a:r>
            <a:endParaRPr b="0" i="0" sz="1400" u="none" cap="none" strike="noStrike">
              <a:solidFill>
                <a:srgbClr val="000000"/>
              </a:solidFill>
              <a:latin typeface="Arial"/>
              <a:ea typeface="Arial"/>
              <a:cs typeface="Arial"/>
              <a:sym typeface="Arial"/>
            </a:endParaRPr>
          </a:p>
        </p:txBody>
      </p:sp>
      <p:sp>
        <p:nvSpPr>
          <p:cNvPr id="591" name="Google Shape;591;p57"/>
          <p:cNvSpPr/>
          <p:nvPr/>
        </p:nvSpPr>
        <p:spPr>
          <a:xfrm>
            <a:off x="660284" y="5475625"/>
            <a:ext cx="8517605" cy="892552"/>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600"/>
              <a:buFont typeface="Arial"/>
              <a:buNone/>
            </a:pPr>
            <a:r>
              <a:rPr b="0" i="0" lang="en-US" sz="2600" u="none" cap="none" strike="noStrike">
                <a:solidFill>
                  <a:srgbClr val="595959"/>
                </a:solidFill>
                <a:latin typeface="Arial"/>
                <a:ea typeface="Arial"/>
                <a:cs typeface="Arial"/>
                <a:sym typeface="Arial"/>
              </a:rPr>
              <a:t>How can you change the form to make the expression easier to work with?</a:t>
            </a:r>
            <a:endParaRPr b="0" i="0" sz="1400" u="none" cap="none" strike="noStrike">
              <a:solidFill>
                <a:srgbClr val="000000"/>
              </a:solidFill>
              <a:latin typeface="Arial"/>
              <a:ea typeface="Arial"/>
              <a:cs typeface="Arial"/>
              <a:sym typeface="Arial"/>
            </a:endParaRPr>
          </a:p>
        </p:txBody>
      </p:sp>
      <p:pic>
        <p:nvPicPr>
          <p:cNvPr id="592" name="Google Shape;592;p57"/>
          <p:cNvPicPr preferRelativeResize="0"/>
          <p:nvPr/>
        </p:nvPicPr>
        <p:blipFill rotWithShape="1">
          <a:blip r:embed="rId4">
            <a:alphaModFix/>
          </a:blip>
          <a:srcRect b="0" l="0" r="0" t="0"/>
          <a:stretch/>
        </p:blipFill>
        <p:spPr>
          <a:xfrm>
            <a:off x="8517135" y="1304175"/>
            <a:ext cx="3333750" cy="3810000"/>
          </a:xfrm>
          <a:prstGeom prst="rect">
            <a:avLst/>
          </a:prstGeom>
          <a:noFill/>
          <a:ln>
            <a:noFill/>
          </a:ln>
        </p:spPr>
      </p:pic>
      <p:sp>
        <p:nvSpPr>
          <p:cNvPr id="593"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16 / 41</a:t>
            </a:r>
          </a:p>
        </p:txBody>
      </p:sp>
      <p:sp xmlns:p="http://schemas.openxmlformats.org/presentationml/2006/main" xmlns:a="http://schemas.openxmlformats.org/drawingml/2006/main">
        <p:nvSpPr>
          <p:cNvPr id="594" name="TEACH-embedded-student-prompt" descr="Student thinking and response directions"/>
          <p:cNvSpPr txBox="1"/>
          <p:nvPr/>
        </p:nvSpPr>
        <p:spPr>
          <a:xfrm>
            <a:off x="594360" y="3767328"/>
            <a:ext cx="7498080" cy="768096"/>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Think and record first. Which part of your work supports your</a:t>
            </a:r>
            <a:endParaRPr lang="en-US" sz="2000"/>
          </a:p>
          <a:p>
            <a:pPr>
              <a:lnSpc>
                <a:spcPts val="2400"/>
              </a:lnSpc>
              <a:buNone/>
            </a:pPr>
            <a:r>
              <a:rPr lang="en-US" sz="2000">
                <a:solidFill>
                  <a:srgbClr val="174D60"/>
                </a:solidFill>
                <a:latin typeface="Arial"/>
              </a:rPr>
              <a:t>answer?</a:t>
            </a:r>
            <a:endParaRPr lang="en-US" sz="2000"/>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5" name="Shape 605"/>
        <p:cNvGrpSpPr/>
        <p:nvPr/>
      </p:nvGrpSpPr>
      <p:grpSpPr>
        <a:xfrm>
          <a:off x="0" y="0"/>
          <a:ext cx="0" cy="0"/>
          <a:chOff x="0" y="0"/>
          <a:chExt cx="0" cy="0"/>
        </a:xfrm>
      </p:grpSpPr>
      <p:cxnSp>
        <p:nvCxnSpPr>
          <p:cNvPr id="606" name="Google Shape;606;p59"/>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607" name="Google Shape;607;p59"/>
          <p:cNvSpPr txBox="1"/>
          <p:nvPr/>
        </p:nvSpPr>
        <p:spPr>
          <a:xfrm>
            <a:off x="484565" y="936099"/>
            <a:ext cx="8243798" cy="3453894"/>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62626"/>
              </a:buClr>
              <a:buSzPts val="2800"/>
              <a:buFont typeface="Arial"/>
              <a:buNone/>
              <a:defRPr/>
            </a:pPr>
            <a:r>
              <a:rPr b="0" i="0" lang="en-US" sz="2800" u="none" cap="none" strike="noStrike">
                <a:solidFill>
                  <a:srgbClr val="23282D"/>
                </a:solidFill>
                <a:latin typeface="Arial"/>
                <a:ea typeface="Arial"/>
                <a:cs typeface="Arial"/>
                <a:sym typeface="Arial"/>
              </a:rPr>
              <a:t>What other expressions are equivalent to the one shown?</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800"/>
              </a:spcBef>
              <a:spcAft>
                <a:spcPts val="0"/>
              </a:spcAft>
              <a:buClr>
                <a:schemeClr val="dk2"/>
              </a:buClr>
              <a:buSzPts val="2800"/>
              <a:buFont typeface="Arial"/>
              <a:buNone/>
              <a:defRPr/>
            </a:pPr>
            <a:r>
              <a:rPr/>
              <a:t/>
            </a:r>
            <a:endParaRPr b="0" i="0" sz="2800" u="none" cap="none" strike="noStrike">
              <a:solidFill>
                <a:srgbClr val="262626"/>
              </a:solidFill>
              <a:latin typeface="Arial"/>
              <a:ea typeface="Arial"/>
              <a:cs typeface="Arial"/>
              <a:sym typeface="Arial"/>
            </a:endParaRPr>
          </a:p>
          <a:p>
            <a:pPr indent="0" lvl="0" marL="0" marR="0" rtl="0" algn="l">
              <a:lnSpc>
                <a:spcPct val="100000"/>
              </a:lnSpc>
              <a:spcBef>
                <a:spcPts val="1800"/>
              </a:spcBef>
              <a:spcAft>
                <a:spcPts val="0"/>
              </a:spcAft>
              <a:buClr>
                <a:schemeClr val="dk2"/>
              </a:buClr>
              <a:buSzPts val="2800"/>
              <a:buFont typeface="Arial"/>
              <a:buNone/>
              <a:defRPr/>
            </a:pPr>
            <a:r>
              <a:rPr/>
              <a:t/>
            </a:r>
            <a:endParaRPr b="0" i="0" sz="2800" u="none" cap="none" strike="noStrike">
              <a:solidFill>
                <a:srgbClr val="262626"/>
              </a:solidFill>
              <a:latin typeface="Arial"/>
              <a:ea typeface="Arial"/>
              <a:cs typeface="Arial"/>
              <a:sym typeface="Arial"/>
            </a:endParaRPr>
          </a:p>
          <a:p>
            <a:pPr indent="0" lvl="0" marL="0" marR="0" rtl="0" algn="l">
              <a:lnSpc>
                <a:spcPct val="100000"/>
              </a:lnSpc>
              <a:spcBef>
                <a:spcPts val="1800"/>
              </a:spcBef>
              <a:spcAft>
                <a:spcPts val="0"/>
              </a:spcAft>
              <a:buClr>
                <a:srgbClr val="262626"/>
              </a:buClr>
              <a:buSzPts val="2800"/>
              <a:buFont typeface="Arial"/>
              <a:buNone/>
              <a:defRPr/>
            </a:pPr>
            <a:r>
              <a:rPr b="1" i="0" lang="en-US" sz="2800" u="none" cap="none" strike="noStrike">
                <a:solidFill>
                  <a:srgbClr val="23282D"/>
                </a:solidFill>
                <a:latin typeface="Arial"/>
                <a:ea typeface="Arial"/>
                <a:cs typeface="Arial"/>
                <a:sym typeface="Arial"/>
              </a:rPr>
              <a:t>When have you found equivalent expressions before?</a:t>
            </a:r>
            <a:endParaRPr b="0" i="0" sz="1400" u="none" cap="none" strike="noStrike">
              <a:solidFill>
                <a:srgbClr val="000000"/>
              </a:solidFill>
              <a:latin typeface="Arial"/>
              <a:ea typeface="Arial"/>
              <a:cs typeface="Arial"/>
              <a:sym typeface="Arial"/>
            </a:endParaRPr>
          </a:p>
        </p:txBody>
      </p:sp>
      <p:pic>
        <p:nvPicPr>
          <p:cNvPr id="608" name="Google Shape;608;p59"/>
          <p:cNvPicPr preferRelativeResize="0"/>
          <p:nvPr/>
        </p:nvPicPr>
        <p:blipFill rotWithShape="1">
          <a:blip r:embed="rId3">
            <a:alphaModFix/>
          </a:blip>
          <a:srcRect b="0" l="0" r="0" t="0"/>
          <a:stretch/>
        </p:blipFill>
        <p:spPr>
          <a:xfrm>
            <a:off x="8517135" y="1304175"/>
            <a:ext cx="3333750" cy="3810000"/>
          </a:xfrm>
          <a:prstGeom prst="rect">
            <a:avLst/>
          </a:prstGeom>
          <a:noFill/>
          <a:ln>
            <a:noFill/>
          </a:ln>
        </p:spPr>
      </p:pic>
      <p:sp>
        <p:nvSpPr>
          <p:cNvPr id="609" name="Google Shape;609;p59"/>
          <p:cNvSpPr txBox="1"/>
          <p:nvPr/>
        </p:nvSpPr>
        <p:spPr>
          <a:xfrm>
            <a:off x="486000" y="4649955"/>
            <a:ext cx="11364885" cy="1483951"/>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70C0"/>
              </a:buClr>
              <a:buSzPts val="2800"/>
              <a:buFont typeface="Arial"/>
              <a:buNone/>
              <a:defRPr/>
            </a:pPr>
            <a:r>
              <a:rPr b="1" i="0" lang="en-US" sz="2800" u="none" cap="none" strike="noStrike">
                <a:solidFill>
                  <a:srgbClr val="0070C0"/>
                </a:solidFill>
                <a:highlight>
                  <a:srgbClr val="E0E0E0"/>
                </a:highlight>
                <a:latin typeface="Arial"/>
                <a:ea typeface="Arial"/>
                <a:cs typeface="Arial"/>
                <a:sym typeface="Arial"/>
              </a:rPr>
              <a:t> Reveal</a:t>
            </a:r>
            <a:r>
              <a:rPr b="1" i="0" lang="en-US" sz="2800" u="none" cap="none" strike="noStrike">
                <a:solidFill>
                  <a:srgbClr val="E0E0E0"/>
                </a:solidFill>
                <a:highlight>
                  <a:srgbClr val="E0E0E0"/>
                </a:highlight>
                <a:latin typeface="Arial"/>
                <a:ea typeface="Arial"/>
                <a:cs typeface="Arial"/>
                <a:sym typeface="Arial"/>
              </a:rPr>
              <a:t>:</a:t>
            </a:r>
            <a:r>
              <a:rPr b="1" i="0" lang="en-US" sz="2800" u="none" cap="none" strike="noStrike">
                <a:solidFill>
                  <a:srgbClr val="0070C0"/>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200"/>
              </a:spcBef>
              <a:spcAft>
                <a:spcPts val="0"/>
              </a:spcAft>
              <a:buClr>
                <a:srgbClr val="595959"/>
              </a:buClr>
              <a:buSzPts val="2800"/>
              <a:buFont typeface="Arial"/>
              <a:buNone/>
              <a:defRPr/>
            </a:pPr>
            <a:r>
              <a:rPr b="0" i="0" lang="en-US" sz="2800" u="none" cap="none" strike="noStrike">
                <a:solidFill>
                  <a:srgbClr val="595959"/>
                </a:solidFill>
                <a:latin typeface="Arial"/>
                <a:ea typeface="Arial"/>
                <a:cs typeface="Arial"/>
                <a:sym typeface="Arial"/>
              </a:rPr>
              <a:t>We have found equivalent expressions when simplifying expressions using properties of operations.</a:t>
            </a:r>
            <a:endParaRPr b="0" i="0" sz="1400" u="none" cap="none" strike="noStrike">
              <a:solidFill>
                <a:srgbClr val="000000"/>
              </a:solidFill>
              <a:latin typeface="Arial"/>
              <a:ea typeface="Arial"/>
              <a:cs typeface="Arial"/>
              <a:sym typeface="Arial"/>
            </a:endParaRPr>
          </a:p>
        </p:txBody>
      </p:sp>
      <p:sp>
        <p:nvSpPr>
          <p:cNvPr id="610" name="Google Shape;610;p59"/>
          <p:cNvSpPr txBox="1"/>
          <p:nvPr/>
        </p:nvSpPr>
        <p:spPr>
          <a:xfrm>
            <a:off x="484565" y="316034"/>
            <a:ext cx="5641027" cy="620065"/>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030A0"/>
              </a:buClr>
              <a:buSzPts val="2800"/>
              <a:buFont typeface="Arial"/>
              <a:buNone/>
              <a:defRPr/>
            </a:pPr>
            <a:r>
              <a:rPr b="1" i="0" lang="en-US" sz="2800" u="none" cap="none" strike="noStrike">
                <a:solidFill>
                  <a:srgbClr val="782DA0"/>
                </a:solidFill>
                <a:latin typeface="Arial"/>
                <a:ea typeface="Arial"/>
                <a:cs typeface="Arial"/>
                <a:sym typeface="Arial"/>
              </a:rPr>
              <a:t>Find Another</a:t>
            </a:r>
            <a:endParaRPr b="0" i="0" sz="1400" u="none" cap="none" strike="noStrike">
              <a:solidFill>
                <a:srgbClr val="000000"/>
              </a:solidFill>
              <a:latin typeface="Arial"/>
              <a:ea typeface="Arial"/>
              <a:cs typeface="Arial"/>
              <a:sym typeface="Arial"/>
            </a:endParaRPr>
          </a:p>
        </p:txBody>
      </p:sp>
      <p:sp>
        <p:nvSpPr>
          <p:cNvPr id="611"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17 / 41</a:t>
            </a:r>
          </a:p>
        </p:txBody>
      </p:sp>
      <p:sp>
        <p:nvSpPr>
          <p:cNvPr id="612" name="EWL-COVER-1"/>
          <p:cNvSpPr/>
          <p:nvPr/>
        </p:nvSpPr>
        <p:spPr>
          <a:xfrm>
            <a:off x="431136" y="4595091"/>
            <a:ext cx="11474613" cy="1593679"/>
          </a:xfrm>
          <a:prstGeom prst="rect">
            <a:avLst/>
          </a:prstGeom>
          <a:solidFill>
            <a:srgbClr val="FFFFFF"/>
          </a:solidFill>
          <a:ln>
            <a:noFill/>
          </a:ln>
        </p:spPr>
        <p:txBody>
          <a:bodyPr/>
          <a:lstStyle/>
          <a:p/>
        </p:txBody>
      </p:sp>
      <p:grpSp>
        <p:nvGrpSpPr>
          <p:cNvPr id="613" name="TEACH-3-student-move" descr="TEACH 3 · Use intentional questioning to deepen learning"/>
          <p:cNvGrpSpPr/>
          <p:nvPr/>
        </p:nvGrpSpPr>
        <p:grpSpPr>
          <a:xfrm>
            <a:off x="502920" y="2779499"/>
            <a:ext cx="5501640" cy="594360"/>
            <a:chOff x="502920" y="3973299"/>
            <a:chExt cx="5501640" cy="594360"/>
          </a:xfrm>
        </p:grpSpPr>
        <p:sp>
          <p:nvSpPr>
            <p:cNvPr id="614" name="TEACH-move-card"/>
            <p:cNvSpPr/>
            <p:nvPr/>
          </p:nvSpPr>
          <p:spPr>
            <a:xfrm>
              <a:off x="502920" y="3973299"/>
              <a:ext cx="5501640" cy="594360"/>
            </a:xfrm>
            <a:prstGeom prst="roundRect">
              <a:avLst>
                <a:gd name="adj" fmla="val 16000"/>
              </a:avLst>
            </a:prstGeom>
            <a:solidFill>
              <a:srgbClr val="E4F0F5"/>
            </a:solidFill>
            <a:ln w="19050">
              <a:solidFill>
                <a:srgbClr val="8CB8C7"/>
              </a:solidFill>
            </a:ln>
          </p:spPr>
          <p:txBody>
            <a:bodyPr/>
            <a:lstStyle/>
            <a:p>
              <a:endParaRPr/>
            </a:p>
          </p:txBody>
        </p:sp>
        <p:sp>
          <p:nvSpPr>
            <p:cNvPr id="615" name="TEACH-move-rule"/>
            <p:cNvSpPr/>
            <p:nvPr/>
          </p:nvSpPr>
          <p:spPr>
            <a:xfrm>
              <a:off x="548640" y="4086227"/>
              <a:ext cx="100584" cy="368504"/>
            </a:xfrm>
            <a:prstGeom prst="roundRect">
              <a:avLst>
                <a:gd name="adj" fmla="val 50000"/>
              </a:avLst>
            </a:prstGeom>
            <a:solidFill>
              <a:srgbClr val="01708C"/>
            </a:solidFill>
            <a:ln>
              <a:noFill/>
            </a:ln>
          </p:spPr>
          <p:txBody>
            <a:bodyPr/>
            <a:lstStyle/>
            <a:p>
              <a:endParaRPr/>
            </a:p>
          </p:txBody>
        </p:sp>
        <p:sp>
          <p:nvSpPr>
            <p:cNvPr id="616" name="TEACH-move-text"/>
            <p:cNvSpPr txBox="1"/>
            <p:nvPr/>
          </p:nvSpPr>
          <p:spPr>
            <a:xfrm>
              <a:off x="822960" y="3973299"/>
              <a:ext cx="5044440" cy="594360"/>
            </a:xfrm>
            <a:prstGeom prst="rect">
              <a:avLst/>
            </a:prstGeom>
            <a:noFill/>
            <a:ln>
              <a:noFill/>
            </a:ln>
          </p:spPr>
          <p:txBody>
            <a:bodyPr wrap="square" lIns="0" tIns="0" rIns="0" bIns="0" anchor="ctr">
              <a:noAutofit/>
            </a:bodyPr>
            <a:lstStyle/>
            <a:p>
              <a:pPr algn="l">
                <a:buNone/>
              </a:pPr>
              <a:r>
                <a:rPr lang="en-US" sz="1200" b="1" dirty="0">
                  <a:solidFill>
                    <a:srgbClr val="01708C"/>
                  </a:solidFill>
                  <a:latin typeface="Arial"/>
                </a:rPr>
                <a:t>HOW DO YOU KNOW?  ·  </a:t>
              </a:r>
              <a:r>
                <a:rPr lang="en-US" sz="1200" dirty="0">
                  <a:solidFill>
                    <a:srgbClr val="13303A"/>
                  </a:solidFill>
                  <a:latin typeface="Arial"/>
                </a:rPr>
                <a:t>Ask your partner “How do you know?” Answer by pointing to your own work.</a:t>
              </a:r>
              <a:endParaRPr lang="en-US" sz="1200"/>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612"/>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8" name="Shape 658"/>
        <p:cNvGrpSpPr/>
        <p:nvPr/>
      </p:nvGrpSpPr>
      <p:grpSpPr>
        <a:xfrm>
          <a:off x="0" y="0"/>
          <a:ext cx="0" cy="0"/>
          <a:chOff x="0" y="0"/>
          <a:chExt cx="0" cy="0"/>
        </a:xfrm>
      </p:grpSpPr>
      <p:cxnSp>
        <p:nvCxnSpPr>
          <p:cNvPr id="659" name="Google Shape;659;p65"/>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660" name="Google Shape;660;p65"/>
          <p:cNvSpPr txBox="1"/>
          <p:nvPr/>
        </p:nvSpPr>
        <p:spPr>
          <a:xfrm>
            <a:off x="868697" y="316800"/>
            <a:ext cx="5227303" cy="540659"/>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030A0"/>
              </a:buClr>
              <a:buSzPts val="2800"/>
              <a:buFont typeface="Arial"/>
              <a:buNone/>
              <a:defRPr/>
            </a:pPr>
            <a:r>
              <a:rPr b="1" i="0" lang="en-US" sz="2800" u="none" cap="none" strike="noStrike">
                <a:solidFill>
                  <a:srgbClr val="782DA0"/>
                </a:solidFill>
                <a:latin typeface="Arial"/>
                <a:ea typeface="Arial"/>
                <a:cs typeface="Arial"/>
                <a:sym typeface="Arial"/>
              </a:rPr>
              <a:t>Collaborate and Connect</a:t>
            </a:r>
            <a:endParaRPr b="0" i="0" sz="1400" u="none" cap="none" strike="noStrike">
              <a:solidFill>
                <a:srgbClr val="000000"/>
              </a:solidFill>
              <a:latin typeface="Arial"/>
              <a:ea typeface="Arial"/>
              <a:cs typeface="Arial"/>
              <a:sym typeface="Arial"/>
            </a:endParaRPr>
          </a:p>
        </p:txBody>
      </p:sp>
      <p:sp>
        <p:nvSpPr>
          <p:cNvPr id="661" name="Google Shape;661;p65"/>
          <p:cNvSpPr/>
          <p:nvPr/>
        </p:nvSpPr>
        <p:spPr>
          <a:xfrm>
            <a:off x="486000" y="936000"/>
            <a:ext cx="9230655" cy="3970318"/>
          </a:xfrm>
          <a:prstGeom prst="rect">
            <a:avLst/>
          </a:prstGeom>
          <a:blipFill rotWithShape="1">
            <a:blip r:embed="rId3">
              <a:alphaModFix/>
            </a:blip>
            <a:stretch>
              <a:fillRect b="-3379" l="-1387" r="0" t="-169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23282D"/>
                </a:solidFill>
                <a:latin typeface="Arial"/>
                <a:ea typeface="Calibri"/>
                <a:cs typeface="Calibri"/>
                <a:sym typeface="Calibri"/>
              </a:rPr>
              <a:t> </a:t>
            </a:r>
            <a:endParaRPr b="0" i="0" sz="1400" u="none" cap="none" strike="noStrike">
              <a:solidFill>
                <a:srgbClr val="000000"/>
              </a:solidFill>
              <a:latin typeface="Arial"/>
              <a:ea typeface="Arial"/>
              <a:cs typeface="Arial"/>
              <a:sym typeface="Arial"/>
            </a:endParaRPr>
          </a:p>
        </p:txBody>
      </p:sp>
      <p:pic>
        <p:nvPicPr>
          <p:cNvPr id="662" name="Google Shape;662;p65"/>
          <p:cNvPicPr preferRelativeResize="0"/>
          <p:nvPr/>
        </p:nvPicPr>
        <p:blipFill rotWithShape="1">
          <a:blip r:embed="rId4">
            <a:alphaModFix/>
          </a:blip>
          <a:srcRect b="0" l="0" r="0" t="0"/>
          <a:stretch/>
        </p:blipFill>
        <p:spPr>
          <a:xfrm>
            <a:off x="515062" y="358216"/>
            <a:ext cx="353635" cy="340537"/>
          </a:xfrm>
          <a:prstGeom prst="rect">
            <a:avLst/>
          </a:prstGeom>
          <a:noFill/>
          <a:ln>
            <a:noFill/>
          </a:ln>
        </p:spPr>
      </p:pic>
      <p:sp>
        <p:nvSpPr>
          <p:cNvPr id="663" name="Google Shape;663;p65"/>
          <p:cNvSpPr txBox="1"/>
          <p:nvPr/>
        </p:nvSpPr>
        <p:spPr>
          <a:xfrm>
            <a:off x="531479" y="4840199"/>
            <a:ext cx="11364885" cy="1482091"/>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70C0"/>
              </a:buClr>
              <a:buSzPts val="2800"/>
              <a:buFont typeface="Arial"/>
              <a:buNone/>
              <a:defRPr/>
            </a:pPr>
            <a:r>
              <a:rPr b="1" i="0" lang="en-US" sz="2800" u="none" cap="none" strike="noStrike">
                <a:solidFill>
                  <a:srgbClr val="0070C0"/>
                </a:solidFill>
                <a:highlight>
                  <a:srgbClr val="E0E0E0"/>
                </a:highlight>
                <a:latin typeface="Arial"/>
                <a:ea typeface="Arial"/>
                <a:cs typeface="Arial"/>
                <a:sym typeface="Arial"/>
              </a:rPr>
              <a:t> Reveal</a:t>
            </a:r>
            <a:r>
              <a:rPr b="1" i="0" lang="en-US" sz="2800" u="none" cap="none" strike="noStrike">
                <a:solidFill>
                  <a:srgbClr val="E0E0E0"/>
                </a:solidFill>
                <a:highlight>
                  <a:srgbClr val="E0E0E0"/>
                </a:highlight>
                <a:latin typeface="Arial"/>
                <a:ea typeface="Arial"/>
                <a:cs typeface="Arial"/>
                <a:sym typeface="Arial"/>
              </a:rPr>
              <a:t>:</a:t>
            </a:r>
            <a:r>
              <a:rPr b="1" i="0" lang="en-US" sz="2800" u="none" cap="none" strike="noStrike">
                <a:solidFill>
                  <a:srgbClr val="0070C0"/>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200"/>
              </a:spcBef>
              <a:spcAft>
                <a:spcPts val="0"/>
              </a:spcAft>
              <a:buClr>
                <a:srgbClr val="595959"/>
              </a:buClr>
              <a:buSzPts val="2800"/>
              <a:buFont typeface="Arial"/>
              <a:buNone/>
              <a:defRPr/>
            </a:pPr>
            <a:r>
              <a:rPr b="0" i="0" lang="en-US" sz="2800" u="none" cap="none" strike="noStrike">
                <a:solidFill>
                  <a:srgbClr val="595959"/>
                </a:solidFill>
                <a:latin typeface="Arial"/>
                <a:ea typeface="Arial"/>
                <a:cs typeface="Arial"/>
                <a:sym typeface="Arial"/>
              </a:rPr>
              <a:t>All the expressions are equivalent. Rewriting an expression using properties of operations does not change the value of an expression.</a:t>
            </a:r>
            <a:endParaRPr b="0" i="0" sz="1400" u="none" cap="none" strike="noStrike">
              <a:solidFill>
                <a:srgbClr val="000000"/>
              </a:solidFill>
              <a:latin typeface="Arial"/>
              <a:ea typeface="Arial"/>
              <a:cs typeface="Arial"/>
              <a:sym typeface="Arial"/>
            </a:endParaRPr>
          </a:p>
        </p:txBody>
      </p:sp>
      <p:graphicFrame>
        <p:nvGraphicFramePr>
          <p:cNvPr id="664" name="Google Shape;664;p65"/>
          <p:cNvGraphicFramePr/>
          <p:nvPr/>
        </p:nvGraphicFramePr>
        <p:xfrm>
          <a:off x="515062" y="1961495"/>
          <a:ext cx="3000000" cy="3000000"/>
        </p:xfrm>
        <a:graphic>
          <a:graphicData uri="http://schemas.openxmlformats.org/drawingml/2006/table">
            <a:tbl>
              <a:tblPr bandRow="1" firstRow="1">
                <a:noFill/>
                <a:tableStyleId>{B94F9C98-6244-441F-B98A-B46D3026E86E}</a:tableStyleId>
              </a:tblPr>
              <a:tblGrid>
                <a:gridCol w="2707900"/>
                <a:gridCol w="6696400"/>
              </a:tblGrid>
              <a:tr h="944875">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2800"/>
                        <a:buFont typeface="Arial"/>
                        <a:buNone/>
                      </a:pPr>
                      <a:r>
                        <a:rPr b="0" lang="en-US" sz="2800" u="none" cap="none" strike="noStrike">
                          <a:solidFill>
                            <a:schemeClr val="dk1"/>
                          </a:solidFill>
                          <a:latin typeface="Arial"/>
                          <a:ea typeface="Arial"/>
                          <a:cs typeface="Arial"/>
                          <a:sym typeface="Arial"/>
                        </a:rPr>
                        <a:t>Distribute 3 to each term in parentheses.</a:t>
                      </a:r>
                      <a:endParaRPr b="0" sz="2800" u="none" cap="none" strike="noStrike">
                        <a:solidFill>
                          <a:schemeClr val="dk1"/>
                        </a:solidFill>
                        <a:latin typeface="Arial"/>
                        <a:ea typeface="Arial"/>
                        <a:cs typeface="Arial"/>
                        <a:sym typeface="Arial"/>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chemeClr val="lt1"/>
                    </a:solidFill>
                  </a:tcPr>
                </a:tc>
              </a:tr>
              <a:tr h="518150">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2800"/>
                        <a:buFont typeface="Arial"/>
                        <a:buNone/>
                      </a:pPr>
                      <a:r>
                        <a:rPr b="0" lang="en-US" sz="2800" u="none" cap="none" strike="noStrike">
                          <a:solidFill>
                            <a:schemeClr val="dk1"/>
                          </a:solidFill>
                          <a:latin typeface="Arial"/>
                          <a:ea typeface="Arial"/>
                          <a:cs typeface="Arial"/>
                          <a:sym typeface="Arial"/>
                        </a:rPr>
                        <a:t>Reorder so like terms are together.​</a:t>
                      </a:r>
                      <a:endParaRPr b="0" i="1" sz="2800" u="none" cap="none" strike="noStrike">
                        <a:solidFill>
                          <a:schemeClr val="dk1"/>
                        </a:solidFill>
                        <a:latin typeface="Arial"/>
                        <a:ea typeface="Arial"/>
                        <a:cs typeface="Arial"/>
                        <a:sym typeface="Arial"/>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chemeClr val="lt1"/>
                    </a:solidFill>
                  </a:tcPr>
                </a:tc>
              </a:tr>
              <a:tr h="518150">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2800"/>
                        <a:buFont typeface="Arial"/>
                        <a:buNone/>
                      </a:pPr>
                      <a:r>
                        <a:rPr b="0" lang="en-US" sz="2800" u="none" cap="none" strike="noStrike">
                          <a:solidFill>
                            <a:schemeClr val="dk1"/>
                          </a:solidFill>
                          <a:latin typeface="Arial"/>
                          <a:ea typeface="Arial"/>
                          <a:cs typeface="Arial"/>
                          <a:sym typeface="Arial"/>
                        </a:rPr>
                        <a:t>Combine like terms.​</a:t>
                      </a:r>
                      <a:endParaRPr b="0" sz="2800" u="none" cap="none" strike="noStrike">
                        <a:solidFill>
                          <a:schemeClr val="dk1"/>
                        </a:solidFill>
                        <a:latin typeface="Arial"/>
                        <a:ea typeface="Arial"/>
                        <a:cs typeface="Arial"/>
                        <a:sym typeface="Arial"/>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chemeClr val="lt1"/>
                    </a:solidFill>
                  </a:tcPr>
                </a:tc>
              </a:tr>
            </a:tbl>
          </a:graphicData>
        </a:graphic>
      </p:graphicFrame>
      <p:sp>
        <p:nvSpPr>
          <p:cNvPr id="665"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18 / 41</a:t>
            </a:r>
          </a:p>
        </p:txBody>
      </p:sp>
      <p:sp>
        <p:nvSpPr>
          <p:cNvPr id="666" name="EWL-COVER-1"/>
          <p:cNvSpPr/>
          <p:nvPr/>
        </p:nvSpPr>
        <p:spPr>
          <a:xfrm>
            <a:off x="476615" y="4785335"/>
            <a:ext cx="11474613" cy="1591819"/>
          </a:xfrm>
          <a:prstGeom prst="rect">
            <a:avLst/>
          </a:prstGeom>
          <a:solidFill>
            <a:srgbClr val="FFFFFF"/>
          </a:solidFill>
          <a:ln>
            <a:noFill/>
          </a:ln>
        </p:spPr>
        <p:txBody>
          <a:bodyPr/>
          <a:lstStyle/>
          <a:p/>
        </p:txBody>
      </p:sp>
      <p:sp>
        <p:nvSpPr>
          <p:cNvPr id="667" name="EWL-Routine"/>
          <p:cNvSpPr>
            <a:spLocks noGrp="1"/>
          </p:cNvSpPr>
          <p:nvPr/>
        </p:nvSpPr>
        <p:spPr>
          <a:xfrm>
            <a:off x="502920" y="54864"/>
            <a:ext cx="6035040" cy="237744"/>
          </a:xfrm>
          <a:prstGeom prst="rect">
            <a:avLst/>
          </a:prstGeom>
          <a:noFill/>
        </p:spPr>
        <p:txBody>
          <a:bodyPr lIns="0" rIns="0" tIns="0" bIns="0" wrap="square" anchor="ctr">
            <a:noAutofit/>
          </a:bodyPr>
          <a:lstStyle/>
          <a:p>
            <a:pPr algn="l">
              <a:defRPr/>
            </a:pPr>
            <a:r>
              <a:rPr lang="en-US" sz="1200" b="1">
                <a:solidFill>
                  <a:srgbClr val="1E2682"/>
                </a:solidFill>
                <a:latin typeface="Arial"/>
              </a:rPr>
              <a:t>COLLABORATE</a:t>
            </a:r>
            <a:r>
              <a:rPr lang="en-US" sz="1200" b="1">
                <a:solidFill>
                  <a:srgbClr val="5D6872"/>
                </a:solidFill>
                <a:latin typeface="Arial"/>
              </a:rPr>
              <a:t>  ·  TALK IT THROUGH • AGREE ON A MODEL</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666"/>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7" name="Shape 677"/>
        <p:cNvGrpSpPr/>
        <p:nvPr/>
      </p:nvGrpSpPr>
      <p:grpSpPr>
        <a:xfrm>
          <a:off x="0" y="0"/>
          <a:ext cx="0" cy="0"/>
          <a:chOff x="0" y="0"/>
          <a:chExt cx="0" cy="0"/>
        </a:xfrm>
      </p:grpSpPr>
      <p:sp>
        <p:nvSpPr>
          <p:cNvPr id="678" name="Google Shape;678;p67"/>
          <p:cNvSpPr txBox="1"/>
          <p:nvPr/>
        </p:nvSpPr>
        <p:spPr>
          <a:xfrm>
            <a:off x="484565" y="316034"/>
            <a:ext cx="5492675" cy="537406"/>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82DA0"/>
              </a:buClr>
              <a:buSzPts val="2800"/>
              <a:buFont typeface="Arial"/>
              <a:buNone/>
              <a:defRPr/>
            </a:pPr>
            <a:r>
              <a:rPr b="1" i="0" lang="en-US" sz="2800" u="none" cap="none" strike="noStrike">
                <a:solidFill>
                  <a:srgbClr val="782DA0"/>
                </a:solidFill>
                <a:latin typeface="Arial"/>
                <a:ea typeface="Arial"/>
                <a:cs typeface="Arial"/>
                <a:sym typeface="Arial"/>
              </a:rPr>
              <a:t>Let’s Explore More</a:t>
            </a:r>
            <a:endParaRPr b="0" i="0" sz="1400" u="none" cap="none" strike="noStrike">
              <a:solidFill>
                <a:srgbClr val="000000"/>
              </a:solidFill>
              <a:latin typeface="Arial"/>
              <a:ea typeface="Arial"/>
              <a:cs typeface="Arial"/>
              <a:sym typeface="Arial"/>
            </a:endParaRPr>
          </a:p>
        </p:txBody>
      </p:sp>
      <p:sp>
        <p:nvSpPr>
          <p:cNvPr id="679" name="Google Shape;679;p67"/>
          <p:cNvSpPr txBox="1"/>
          <p:nvPr/>
        </p:nvSpPr>
        <p:spPr>
          <a:xfrm>
            <a:off x="495445" y="936000"/>
            <a:ext cx="7691293" cy="5172972"/>
          </a:xfrm>
          <a:prstGeom prst="rect">
            <a:avLst/>
          </a:prstGeom>
          <a:blipFill rotWithShape="1">
            <a:blip r:embed="rId3">
              <a:alphaModFix/>
            </a:blip>
            <a:stretch>
              <a:fillRect b="0" l="-1426" r="0" t="-1297"/>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23282D"/>
                </a:solidFill>
                <a:latin typeface="Arial"/>
                <a:ea typeface="Calibri"/>
                <a:cs typeface="Calibri"/>
                <a:sym typeface="Calibri"/>
              </a:rPr>
              <a:t> </a:t>
            </a:r>
            <a:endParaRPr b="0" i="0" sz="1400" u="none" cap="none" strike="noStrike">
              <a:solidFill>
                <a:srgbClr val="000000"/>
              </a:solidFill>
              <a:latin typeface="Arial"/>
              <a:ea typeface="Arial"/>
              <a:cs typeface="Arial"/>
              <a:sym typeface="Arial"/>
            </a:endParaRPr>
          </a:p>
        </p:txBody>
      </p:sp>
      <p:sp>
        <p:nvSpPr>
          <p:cNvPr id="680"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19 / 41</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showMasterSp="0" show="1">
  <p:cSld>
    <p:bg>
      <p:bgPr>
        <a:solidFill>
          <a:srgbClr val="FFFFFF"/>
        </a:solidFill>
        <a:effectLst/>
      </p:bgPr>
    </p:bg>
    <p:spTree>
      <p:nvGrpSpPr>
        <p:cNvPr id="1" name=""/>
        <p:cNvGrpSpPr/>
        <p:nvPr/>
      </p:nvGrpSpPr>
      <p:grpSpPr/>
      <p:sp>
        <p:nvSpPr>
          <p:cNvPr id="2" name="TextBox 1"/>
          <p:cNvSpPr txBox="1"/>
          <p:nvPr/>
        </p:nvSpPr>
        <p:spPr>
          <a:xfrm>
            <a:off x="594360" y="347472"/>
            <a:ext cx="10972800" cy="301752"/>
          </a:xfrm>
          <a:prstGeom prst="rect">
            <a:avLst/>
          </a:prstGeom>
          <a:noFill/>
        </p:spPr>
        <p:txBody>
          <a:bodyPr wrap="square" lIns="0" rIns="0" tIns="22860" bIns="0">
            <a:spAutoFit/>
          </a:bodyPr>
          <a:lstStyle/>
          <a:p>
            <a:pPr>
              <a:spcAft>
                <a:spcPts val="800"/>
              </a:spcAft>
              <a:defRPr sz="1300" b="1">
                <a:solidFill>
                  <a:srgbClr val="096B69"/>
                </a:solidFill>
                <a:latin typeface="Arial"/>
              </a:defRPr>
            </a:pPr>
            <a:r>
              <a:rPr/>
              <a:t>LESSON 6.8  /  DISCUSS THE TASK</a:t>
            </a:r>
          </a:p>
        </p:txBody>
      </p:sp>
      <p:sp>
        <p:nvSpPr>
          <p:cNvPr id="3" name="TextBox 2"/>
          <p:cNvSpPr txBox="1"/>
          <p:nvPr/>
        </p:nvSpPr>
        <p:spPr>
          <a:xfrm>
            <a:off x="594360" y="914400"/>
            <a:ext cx="10972800" cy="640080"/>
          </a:xfrm>
          <a:prstGeom prst="rect">
            <a:avLst/>
          </a:prstGeom>
          <a:noFill/>
        </p:spPr>
        <p:txBody>
          <a:bodyPr wrap="square" lIns="0" rIns="0" tIns="22860" bIns="0">
            <a:spAutoFit/>
          </a:bodyPr>
          <a:lstStyle/>
          <a:p>
            <a:pPr>
              <a:spcAft>
                <a:spcPts val="800"/>
              </a:spcAft>
              <a:defRPr sz="3600" b="1">
                <a:solidFill>
                  <a:srgbClr val="173451"/>
                </a:solidFill>
                <a:latin typeface="Arial"/>
              </a:defRPr>
            </a:pPr>
            <a:r>
              <a:rPr/>
              <a:t>Explain and compare</a:t>
            </a:r>
          </a:p>
        </p:txBody>
      </p:sp>
      <p:sp>
        <p:nvSpPr>
          <p:cNvPr id="4" name="TextBox 3"/>
          <p:cNvSpPr txBox="1"/>
          <p:nvPr/>
        </p:nvSpPr>
        <p:spPr>
          <a:xfrm>
            <a:off x="594360" y="6263640"/>
            <a:ext cx="10789920" cy="274320"/>
          </a:xfrm>
          <a:prstGeom prst="rect">
            <a:avLst/>
          </a:prstGeom>
          <a:noFill/>
        </p:spPr>
        <p:txBody>
          <a:bodyPr wrap="square" lIns="0" rIns="0" tIns="22860" bIns="0">
            <a:spAutoFit/>
          </a:bodyPr>
          <a:lstStyle/>
          <a:p>
            <a:pPr>
              <a:spcAft>
                <a:spcPts val="800"/>
              </a:spcAft>
              <a:defRPr sz="1300" b="0">
                <a:solidFill>
                  <a:srgbClr val="506478"/>
                </a:solidFill>
                <a:latin typeface="Arial"/>
              </a:defRPr>
            </a:pPr>
            <a:r>
              <a:rPr/>
              <a:t>Listen to understand. Ask for evidence. Make room for every voice.</a:t>
            </a:r>
          </a:p>
        </p:txBody>
      </p:sp>
      <p:sp>
        <p:nvSpPr>
          <p:cNvPr id="5" name="TextBox 4"/>
          <p:cNvSpPr txBox="1"/>
          <p:nvPr/>
        </p:nvSpPr>
        <p:spPr>
          <a:xfrm>
            <a:off x="621792" y="1755648"/>
            <a:ext cx="6629400" cy="384048"/>
          </a:xfrm>
          <a:prstGeom prst="rect">
            <a:avLst/>
          </a:prstGeom>
          <a:noFill/>
        </p:spPr>
        <p:txBody>
          <a:bodyPr wrap="square" lIns="0" rIns="0" tIns="22860" bIns="0">
            <a:spAutoFit/>
          </a:bodyPr>
          <a:lstStyle/>
          <a:p>
            <a:pPr>
              <a:spcAft>
                <a:spcPts val="800"/>
              </a:spcAft>
              <a:defRPr sz="2000" b="1">
                <a:solidFill>
                  <a:srgbClr val="096B69"/>
                </a:solidFill>
                <a:latin typeface="Arial"/>
              </a:defRPr>
            </a:pPr>
            <a:r>
              <a:rPr/>
              <a:t>Use the task you just explored.</a:t>
            </a:r>
          </a:p>
        </p:txBody>
      </p:sp>
      <p:sp>
        <p:nvSpPr>
          <p:cNvPr id="6" name="TextBox 5"/>
          <p:cNvSpPr txBox="1"/>
          <p:nvPr/>
        </p:nvSpPr>
        <p:spPr>
          <a:xfrm>
            <a:off x="621792" y="2322576"/>
            <a:ext cx="6583680" cy="2057400"/>
          </a:xfrm>
          <a:prstGeom prst="rect">
            <a:avLst/>
          </a:prstGeom>
          <a:noFill/>
        </p:spPr>
        <p:txBody>
          <a:bodyPr wrap="square" lIns="0" rIns="0" tIns="22860" bIns="0">
            <a:spAutoFit/>
          </a:bodyPr>
          <a:lstStyle/>
          <a:p>
            <a:pPr>
              <a:spcAft>
                <a:spcPts val="800"/>
              </a:spcAft>
              <a:defRPr sz="2900" b="0">
                <a:solidFill>
                  <a:srgbClr val="24384B"/>
                </a:solidFill>
                <a:latin typeface="Arial"/>
              </a:defRPr>
            </a:pPr>
            <a:r>
              <a:rPr/>
              <a:t>What property permits this change, and why does it preserve the value for every allowed input?</a:t>
            </a:r>
          </a:p>
        </p:txBody>
      </p:sp>
      <p:sp>
        <p:nvSpPr>
          <p:cNvPr id="7" name="TextBox 6"/>
          <p:cNvSpPr txBox="1"/>
          <p:nvPr/>
        </p:nvSpPr>
        <p:spPr>
          <a:xfrm>
            <a:off x="621792" y="4590288"/>
            <a:ext cx="6629400" cy="960120"/>
          </a:xfrm>
          <a:prstGeom prst="rect">
            <a:avLst/>
          </a:prstGeom>
          <a:noFill/>
        </p:spPr>
        <p:txBody>
          <a:bodyPr wrap="square" lIns="0" rIns="0" tIns="22860" bIns="0">
            <a:spAutoFit/>
          </a:bodyPr>
          <a:lstStyle/>
          <a:p>
            <a:pPr>
              <a:spcAft>
                <a:spcPts val="800"/>
              </a:spcAft>
              <a:defRPr sz="2300" b="0">
                <a:solidFill>
                  <a:srgbClr val="24384B"/>
                </a:solidFill>
                <a:latin typeface="Arial"/>
              </a:defRPr>
            </a:pPr>
            <a:r>
              <a:rPr/>
              <a:t>Point to evidence in your work.</a:t>
            </a:r>
          </a:p>
          <a:p>
            <a:pPr>
              <a:spcAft>
                <a:spcPts val="800"/>
              </a:spcAft>
              <a:defRPr sz="2300" b="0">
                <a:solidFill>
                  <a:srgbClr val="24384B"/>
                </a:solidFill>
                <a:latin typeface="Arial"/>
              </a:defRPr>
            </a:pPr>
            <a:r>
              <a:rPr/>
              <a:t>Then compare your approach with a partner’s.</a:t>
            </a:r>
          </a:p>
        </p:txBody>
      </p:sp>
      <p:sp>
        <p:nvSpPr>
          <p:cNvPr id="8" name="Rounded Rectangle 7"/>
          <p:cNvSpPr/>
          <p:nvPr/>
        </p:nvSpPr>
        <p:spPr>
          <a:xfrm>
            <a:off x="7662672" y="1783080"/>
            <a:ext cx="3904487" cy="4178808"/>
          </a:xfrm>
          <a:prstGeom prst="roundRect">
            <a:avLst/>
          </a:prstGeom>
          <a:solidFill>
            <a:srgbClr val="EDF6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982712" y="2066543"/>
            <a:ext cx="3200400" cy="365760"/>
          </a:xfrm>
          <a:prstGeom prst="rect">
            <a:avLst/>
          </a:prstGeom>
          <a:noFill/>
        </p:spPr>
        <p:txBody>
          <a:bodyPr wrap="square" lIns="0" rIns="0" tIns="22860" bIns="0">
            <a:spAutoFit/>
          </a:bodyPr>
          <a:lstStyle/>
          <a:p>
            <a:pPr>
              <a:spcAft>
                <a:spcPts val="800"/>
              </a:spcAft>
              <a:defRPr sz="1700" b="1">
                <a:solidFill>
                  <a:srgbClr val="096B69"/>
                </a:solidFill>
                <a:latin typeface="Arial"/>
              </a:defRPr>
            </a:pPr>
            <a:r>
              <a:rPr/>
              <a:t>TAKE TURNS</a:t>
            </a:r>
          </a:p>
        </p:txBody>
      </p:sp>
      <p:sp>
        <p:nvSpPr>
          <p:cNvPr id="10" name="TextBox 9"/>
          <p:cNvSpPr txBox="1"/>
          <p:nvPr/>
        </p:nvSpPr>
        <p:spPr>
          <a:xfrm>
            <a:off x="7982712" y="2715768"/>
            <a:ext cx="3200400" cy="2606040"/>
          </a:xfrm>
          <a:prstGeom prst="rect">
            <a:avLst/>
          </a:prstGeom>
          <a:noFill/>
        </p:spPr>
        <p:txBody>
          <a:bodyPr wrap="square" lIns="0" rIns="0" tIns="22860" bIns="0">
            <a:spAutoFit/>
          </a:bodyPr>
          <a:lstStyle/>
          <a:p>
            <a:pPr>
              <a:spcAft>
                <a:spcPts val="800"/>
              </a:spcAft>
              <a:defRPr sz="2200" b="0">
                <a:solidFill>
                  <a:srgbClr val="24384B"/>
                </a:solidFill>
                <a:latin typeface="Arial"/>
              </a:defRPr>
            </a:pPr>
            <a:r>
              <a:rPr/>
              <a:t>Explain</a:t>
            </a:r>
          </a:p>
          <a:p>
            <a:pPr>
              <a:spcAft>
                <a:spcPts val="800"/>
              </a:spcAft>
              <a:defRPr sz="2200" b="0">
                <a:solidFill>
                  <a:srgbClr val="24384B"/>
                </a:solidFill>
                <a:latin typeface="Arial"/>
              </a:defRPr>
            </a:pPr>
            <a:r>
              <a:rPr/>
              <a:t>“I know this because…”</a:t>
            </a:r>
          </a:p>
          <a:p>
            <a:pPr>
              <a:spcAft>
                <a:spcPts val="800"/>
              </a:spcAft>
              <a:defRPr sz="2200" b="0">
                <a:solidFill>
                  <a:srgbClr val="24384B"/>
                </a:solidFill>
                <a:latin typeface="Arial"/>
              </a:defRPr>
            </a:pPr>
          </a:p>
          <a:p>
            <a:pPr>
              <a:spcAft>
                <a:spcPts val="800"/>
              </a:spcAft>
              <a:defRPr sz="2200" b="0">
                <a:solidFill>
                  <a:srgbClr val="24384B"/>
                </a:solidFill>
                <a:latin typeface="Arial"/>
              </a:defRPr>
            </a:pPr>
            <a:r>
              <a:rPr/>
              <a:t>Ask</a:t>
            </a:r>
          </a:p>
          <a:p>
            <a:pPr>
              <a:spcAft>
                <a:spcPts val="800"/>
              </a:spcAft>
              <a:defRPr sz="2200" b="0">
                <a:solidFill>
                  <a:srgbClr val="24384B"/>
                </a:solidFill>
                <a:latin typeface="Arial"/>
              </a:defRPr>
            </a:pPr>
            <a:r>
              <a:rPr/>
              <a:t>“Where does your work show that?”</a:t>
            </a:r>
          </a:p>
        </p:txBody>
      </p:sp>
      <p:grpSp>
        <p:nvGrpSpPr>
          <p:cNvPr id="11" name="TEACH-3-student-move" descr="TEACH 3 · Use intentional questioning to deepen learning"/>
          <p:cNvGrpSpPr/>
          <p:nvPr/>
        </p:nvGrpSpPr>
        <p:grpSpPr>
          <a:xfrm>
            <a:off x="502920" y="5824728"/>
            <a:ext cx="11186160" cy="402336"/>
            <a:chOff x="502920" y="5824728"/>
            <a:chExt cx="11186160" cy="402336"/>
          </a:xfrm>
        </p:grpSpPr>
        <p:sp>
          <p:nvSpPr>
            <p:cNvPr id="12" name="TEACH-move-card"/>
            <p:cNvSpPr/>
            <p:nvPr/>
          </p:nvSpPr>
          <p:spPr>
            <a:xfrm>
              <a:off x="502920" y="5824728"/>
              <a:ext cx="11186160" cy="402336"/>
            </a:xfrm>
            <a:prstGeom prst="roundRect">
              <a:avLst>
                <a:gd name="adj" fmla="val 16000"/>
              </a:avLst>
            </a:prstGeom>
            <a:solidFill>
              <a:srgbClr val="E4F0F5"/>
            </a:solidFill>
            <a:ln w="19050">
              <a:solidFill>
                <a:srgbClr val="8CB8C7"/>
              </a:solidFill>
            </a:ln>
          </p:spPr>
          <p:txBody>
            <a:bodyPr/>
            <a:lstStyle/>
            <a:p>
              <a:endParaRPr/>
            </a:p>
          </p:txBody>
        </p:sp>
        <p:sp>
          <p:nvSpPr>
            <p:cNvPr id="13" name="TEACH-move-rule"/>
            <p:cNvSpPr/>
            <p:nvPr/>
          </p:nvSpPr>
          <p:spPr>
            <a:xfrm>
              <a:off x="548640" y="5901172"/>
              <a:ext cx="100584" cy="249448"/>
            </a:xfrm>
            <a:prstGeom prst="roundRect">
              <a:avLst>
                <a:gd name="adj" fmla="val 50000"/>
              </a:avLst>
            </a:prstGeom>
            <a:solidFill>
              <a:srgbClr val="01708C"/>
            </a:solidFill>
            <a:ln>
              <a:noFill/>
            </a:ln>
          </p:spPr>
          <p:txBody>
            <a:bodyPr/>
            <a:lstStyle/>
            <a:p>
              <a:endParaRPr/>
            </a:p>
          </p:txBody>
        </p:sp>
        <p:sp>
          <p:nvSpPr>
            <p:cNvPr id="14" name="TEACH-move-text"/>
            <p:cNvSpPr txBox="1"/>
            <p:nvPr/>
          </p:nvSpPr>
          <p:spPr>
            <a:xfrm>
              <a:off x="822960" y="5824728"/>
              <a:ext cx="10728960" cy="402336"/>
            </a:xfrm>
            <a:prstGeom prst="rect">
              <a:avLst/>
            </a:prstGeom>
            <a:noFill/>
            <a:ln>
              <a:noFill/>
            </a:ln>
          </p:spPr>
          <p:txBody>
            <a:bodyPr wrap="square" lIns="0" tIns="0" rIns="0" bIns="0" anchor="ctr">
              <a:noAutofit/>
            </a:bodyPr>
            <a:lstStyle/>
            <a:p>
              <a:pPr algn="l">
                <a:buNone/>
              </a:pPr>
              <a:r>
                <a:rPr lang="en-US" sz="1200" b="1" dirty="0">
                  <a:solidFill>
                    <a:srgbClr val="01708C"/>
                  </a:solidFill>
                  <a:latin typeface="Arial"/>
                </a:rPr>
                <a:t>JUSTIFY IT  ·  </a:t>
              </a:r>
              <a:r>
                <a:rPr lang="en-US" sz="1200" dirty="0">
                  <a:solidFill>
                    <a:srgbClr val="13303A"/>
                  </a:solidFill>
                  <a:latin typeface="Arial"/>
                </a:rPr>
                <a:t>Say it like this: “I know ______ because ______.”</a:t>
              </a:r>
              <a:endParaRPr lang="en-US" sz="1200"/>
            </a:p>
          </p:txBody>
        </p:sp>
      </p:gr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cxnSp>
        <p:nvCxnSpPr>
          <p:cNvPr id="606" name="Google Shape;606;p59"/>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607" name="Google Shape;607;p59"/>
          <p:cNvSpPr txBox="1"/>
          <p:nvPr/>
        </p:nvSpPr>
        <p:spPr>
          <a:xfrm>
            <a:off x="484565" y="936099"/>
            <a:ext cx="8243798" cy="3453894"/>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62626"/>
              </a:buClr>
              <a:buSzPts val="2800"/>
              <a:buFont typeface="Arial"/>
              <a:buNone/>
              <a:defRPr/>
            </a:pPr>
            <a:r>
              <a:rPr b="0" i="0" lang="en-US" sz="2800" u="none" cap="none" strike="noStrike">
                <a:solidFill>
                  <a:srgbClr val="262626"/>
                </a:solidFill>
                <a:latin typeface="Arial"/>
                <a:ea typeface="Arial"/>
                <a:cs typeface="Arial"/>
                <a:sym typeface="Arial"/>
              </a:rPr>
              <a:t>What other expressions are equivalent to the one shown?</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800"/>
              </a:spcBef>
              <a:spcAft>
                <a:spcPts val="0"/>
              </a:spcAft>
              <a:buClr>
                <a:schemeClr val="dk2"/>
              </a:buClr>
              <a:buSzPts val="2800"/>
              <a:buFont typeface="Arial"/>
              <a:buNone/>
              <a:defRPr/>
            </a:pPr>
            <a:r>
              <a:rPr/>
              <a:t/>
            </a:r>
            <a:endParaRPr b="0" i="0" sz="2800" u="none" cap="none" strike="noStrike">
              <a:solidFill>
                <a:srgbClr val="262626"/>
              </a:solidFill>
              <a:latin typeface="Arial"/>
              <a:ea typeface="Arial"/>
              <a:cs typeface="Arial"/>
              <a:sym typeface="Arial"/>
            </a:endParaRPr>
          </a:p>
          <a:p>
            <a:pPr indent="0" lvl="0" marL="0" marR="0" rtl="0" algn="l">
              <a:lnSpc>
                <a:spcPct val="100000"/>
              </a:lnSpc>
              <a:spcBef>
                <a:spcPts val="1800"/>
              </a:spcBef>
              <a:spcAft>
                <a:spcPts val="0"/>
              </a:spcAft>
              <a:buClr>
                <a:schemeClr val="dk2"/>
              </a:buClr>
              <a:buSzPts val="2800"/>
              <a:buFont typeface="Arial"/>
              <a:buNone/>
              <a:defRPr/>
            </a:pPr>
            <a:r>
              <a:rPr/>
              <a:t/>
            </a:r>
            <a:endParaRPr b="0" i="0" sz="2800" u="none" cap="none" strike="noStrike">
              <a:solidFill>
                <a:srgbClr val="262626"/>
              </a:solidFill>
              <a:latin typeface="Arial"/>
              <a:ea typeface="Arial"/>
              <a:cs typeface="Arial"/>
              <a:sym typeface="Arial"/>
            </a:endParaRPr>
          </a:p>
          <a:p>
            <a:pPr indent="0" lvl="0" marL="0" marR="0" rtl="0" algn="l">
              <a:lnSpc>
                <a:spcPct val="100000"/>
              </a:lnSpc>
              <a:spcBef>
                <a:spcPts val="1800"/>
              </a:spcBef>
              <a:spcAft>
                <a:spcPts val="0"/>
              </a:spcAft>
              <a:buClr>
                <a:srgbClr val="262626"/>
              </a:buClr>
              <a:buSzPts val="2800"/>
              <a:buFont typeface="Arial"/>
              <a:buNone/>
              <a:defRPr/>
            </a:pPr>
            <a:r>
              <a:rPr b="1" i="0" lang="en-US" sz="2800" u="none" cap="none" strike="noStrike">
                <a:solidFill>
                  <a:srgbClr val="262626"/>
                </a:solidFill>
                <a:latin typeface="Arial"/>
                <a:ea typeface="Arial"/>
                <a:cs typeface="Arial"/>
                <a:sym typeface="Arial"/>
              </a:rPr>
              <a:t>When have you found equivalent expressions before?</a:t>
            </a:r>
            <a:endParaRPr b="0" i="0" sz="1400" u="none" cap="none" strike="noStrike">
              <a:solidFill>
                <a:srgbClr val="000000"/>
              </a:solidFill>
              <a:latin typeface="Arial"/>
              <a:ea typeface="Arial"/>
              <a:cs typeface="Arial"/>
              <a:sym typeface="Arial"/>
            </a:endParaRPr>
          </a:p>
        </p:txBody>
      </p:sp>
      <p:pic>
        <p:nvPicPr>
          <p:cNvPr id="608" name="Google Shape;608;p59"/>
          <p:cNvPicPr preferRelativeResize="0"/>
          <p:nvPr/>
        </p:nvPicPr>
        <p:blipFill rotWithShape="1">
          <a:blip r:embed="rId2">
            <a:alphaModFix/>
          </a:blip>
          <a:srcRect b="0" l="0" r="0" t="0"/>
          <a:stretch/>
        </p:blipFill>
        <p:spPr>
          <a:xfrm>
            <a:off x="8517135" y="1304175"/>
            <a:ext cx="3333750" cy="3810000"/>
          </a:xfrm>
          <a:prstGeom prst="rect">
            <a:avLst/>
          </a:prstGeom>
          <a:noFill/>
          <a:ln>
            <a:noFill/>
          </a:ln>
        </p:spPr>
      </p:pic>
      <p:sp>
        <p:nvSpPr>
          <p:cNvPr id="609" name="Google Shape;609;p59"/>
          <p:cNvSpPr txBox="1"/>
          <p:nvPr/>
        </p:nvSpPr>
        <p:spPr>
          <a:xfrm>
            <a:off x="486000" y="4649955"/>
            <a:ext cx="11364885" cy="1483951"/>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70C0"/>
              </a:buClr>
              <a:buSzPts val="2800"/>
              <a:buFont typeface="Arial"/>
              <a:buNone/>
              <a:defRPr/>
            </a:pPr>
            <a:r>
              <a:rPr b="1" i="0" lang="en-US" sz="2800" u="none" cap="none" strike="noStrike">
                <a:solidFill>
                  <a:srgbClr val="0070C0"/>
                </a:solidFill>
                <a:highlight>
                  <a:srgbClr val="E0E0E0"/>
                </a:highlight>
                <a:latin typeface="Arial"/>
                <a:ea typeface="Arial"/>
                <a:cs typeface="Arial"/>
                <a:sym typeface="Arial"/>
              </a:rPr>
              <a:t> Reveal</a:t>
            </a:r>
            <a:r>
              <a:rPr b="1" i="0" lang="en-US" sz="2800" u="none" cap="none" strike="noStrike">
                <a:solidFill>
                  <a:srgbClr val="E0E0E0"/>
                </a:solidFill>
                <a:highlight>
                  <a:srgbClr val="E0E0E0"/>
                </a:highlight>
                <a:latin typeface="Arial"/>
                <a:ea typeface="Arial"/>
                <a:cs typeface="Arial"/>
                <a:sym typeface="Arial"/>
              </a:rPr>
              <a:t>:</a:t>
            </a:r>
            <a:r>
              <a:rPr b="1" i="0" lang="en-US" sz="2800" u="none" cap="none" strike="noStrike">
                <a:solidFill>
                  <a:srgbClr val="0070C0"/>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200"/>
              </a:spcBef>
              <a:spcAft>
                <a:spcPts val="0"/>
              </a:spcAft>
              <a:buClr>
                <a:srgbClr val="595959"/>
              </a:buClr>
              <a:buSzPts val="2800"/>
              <a:buFont typeface="Arial"/>
              <a:buNone/>
              <a:defRPr/>
            </a:pPr>
            <a:r>
              <a:rPr b="0" i="0" lang="en-US" sz="2800" u="none" cap="none" strike="noStrike">
                <a:solidFill>
                  <a:srgbClr val="595959"/>
                </a:solidFill>
                <a:latin typeface="Arial"/>
                <a:ea typeface="Arial"/>
                <a:cs typeface="Arial"/>
                <a:sym typeface="Arial"/>
              </a:rPr>
              <a:t>We have found equivalent expressions when simplifying expressions using properties of operations.</a:t>
            </a:r>
            <a:endParaRPr b="0" i="0" sz="1400" u="none" cap="none" strike="noStrike">
              <a:solidFill>
                <a:srgbClr val="000000"/>
              </a:solidFill>
              <a:latin typeface="Arial"/>
              <a:ea typeface="Arial"/>
              <a:cs typeface="Arial"/>
              <a:sym typeface="Arial"/>
            </a:endParaRPr>
          </a:p>
        </p:txBody>
      </p:sp>
      <p:sp>
        <p:nvSpPr>
          <p:cNvPr id="610" name="Google Shape;610;p59"/>
          <p:cNvSpPr txBox="1"/>
          <p:nvPr/>
        </p:nvSpPr>
        <p:spPr>
          <a:xfrm>
            <a:off x="484565" y="316034"/>
            <a:ext cx="5641027" cy="620065"/>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030A0"/>
              </a:buClr>
              <a:buSzPts val="2800"/>
              <a:buFont typeface="Arial"/>
              <a:buNone/>
              <a:defRPr/>
            </a:pPr>
            <a:r>
              <a:rPr b="1" i="0" lang="en-US" sz="2800" u="none" cap="none" strike="noStrike">
                <a:solidFill>
                  <a:srgbClr val="7030A0"/>
                </a:solidFill>
                <a:latin typeface="Arial"/>
                <a:ea typeface="Arial"/>
                <a:cs typeface="Arial"/>
                <a:sym typeface="Arial"/>
              </a:rPr>
              <a:t>Find Another</a:t>
            </a:r>
            <a:endParaRPr b="0" i="0" sz="1400" u="none" cap="none" strike="noStrike">
              <a:solidFill>
                <a:srgbClr val="000000"/>
              </a:solidFill>
              <a:latin typeface="Arial"/>
              <a:ea typeface="Arial"/>
              <a:cs typeface="Arial"/>
              <a:sym typeface="Arial"/>
            </a:endParaRPr>
          </a:p>
        </p:txBody>
      </p:sp>
      <p:sp>
        <p:nvSpPr>
          <p:cNvPr id="330"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22 / 41</a:t>
            </a:r>
          </a:p>
        </p:txBody>
      </p:sp>
      <p:grpSp>
        <p:nvGrpSpPr>
          <p:cNvPr id="611" name="TEACH-5-student-move" descr="TEACH 5 · Facilitate student interactions and academic talk"/>
          <p:cNvGrpSpPr/>
          <p:nvPr/>
        </p:nvGrpSpPr>
        <p:grpSpPr>
          <a:xfrm>
            <a:off x="502920" y="2779499"/>
            <a:ext cx="5501640" cy="594360"/>
            <a:chOff x="502920" y="3973299"/>
            <a:chExt cx="5501640" cy="594360"/>
          </a:xfrm>
        </p:grpSpPr>
        <p:sp>
          <p:nvSpPr>
            <p:cNvPr id="612" name="TEACH-move-card"/>
            <p:cNvSpPr/>
            <p:nvPr/>
          </p:nvSpPr>
          <p:spPr>
            <a:xfrm>
              <a:off x="502920" y="3973299"/>
              <a:ext cx="5501640" cy="594360"/>
            </a:xfrm>
            <a:prstGeom prst="roundRect">
              <a:avLst>
                <a:gd name="adj" fmla="val 16000"/>
              </a:avLst>
            </a:prstGeom>
            <a:solidFill>
              <a:srgbClr val="E4F0F5"/>
            </a:solidFill>
            <a:ln w="19050">
              <a:solidFill>
                <a:srgbClr val="8CB8C7"/>
              </a:solidFill>
            </a:ln>
          </p:spPr>
          <p:txBody>
            <a:bodyPr/>
            <a:lstStyle/>
            <a:p>
              <a:endParaRPr/>
            </a:p>
          </p:txBody>
        </p:sp>
        <p:sp>
          <p:nvSpPr>
            <p:cNvPr id="613" name="TEACH-move-rule"/>
            <p:cNvSpPr/>
            <p:nvPr/>
          </p:nvSpPr>
          <p:spPr>
            <a:xfrm>
              <a:off x="548640" y="4086227"/>
              <a:ext cx="100584" cy="368504"/>
            </a:xfrm>
            <a:prstGeom prst="roundRect">
              <a:avLst>
                <a:gd name="adj" fmla="val 50000"/>
              </a:avLst>
            </a:prstGeom>
            <a:solidFill>
              <a:srgbClr val="01708C"/>
            </a:solidFill>
            <a:ln>
              <a:noFill/>
            </a:ln>
          </p:spPr>
          <p:txBody>
            <a:bodyPr/>
            <a:lstStyle/>
            <a:p>
              <a:endParaRPr/>
            </a:p>
          </p:txBody>
        </p:sp>
        <p:sp>
          <p:nvSpPr>
            <p:cNvPr id="614" name="TEACH-move-text"/>
            <p:cNvSpPr txBox="1"/>
            <p:nvPr/>
          </p:nvSpPr>
          <p:spPr>
            <a:xfrm>
              <a:off x="822960" y="3973299"/>
              <a:ext cx="5044440" cy="594360"/>
            </a:xfrm>
            <a:prstGeom prst="rect">
              <a:avLst/>
            </a:prstGeom>
            <a:noFill/>
            <a:ln>
              <a:noFill/>
            </a:ln>
          </p:spPr>
          <p:txBody>
            <a:bodyPr wrap="square" lIns="0" tIns="0" rIns="0" bIns="0" anchor="ctr">
              <a:noAutofit/>
            </a:bodyPr>
            <a:lstStyle/>
            <a:p>
              <a:pPr algn="l">
                <a:buNone/>
              </a:pPr>
              <a:r>
                <a:rPr lang="en-US" sz="1200" b="1" dirty="0">
                  <a:solidFill>
                    <a:srgbClr val="01708C"/>
                  </a:solidFill>
                  <a:latin typeface="Arial"/>
                </a:rPr>
                <a:t>TAKE TURNS  ·  </a:t>
              </a:r>
              <a:r>
                <a:rPr lang="en-US" sz="1200" dirty="0">
                  <a:solidFill>
                    <a:srgbClr val="13303A"/>
                  </a:solidFill>
                  <a:latin typeface="Arial"/>
                </a:rPr>
                <a:t>One explains, one asks a question. Then switch, so both of you talk.</a:t>
              </a:r>
              <a:endParaRPr lang="en-US" sz="1200"/>
            </a:p>
          </p:txBody>
        </p:sp>
      </p:gr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0" name="Shape 260"/>
        <p:cNvGrpSpPr/>
        <p:nvPr/>
      </p:nvGrpSpPr>
      <p:grpSpPr>
        <a:xfrm>
          <a:off x="0" y="0"/>
          <a:ext cx="0" cy="0"/>
          <a:chOff x="0" y="0"/>
          <a:chExt cx="0" cy="0"/>
        </a:xfrm>
      </p:grpSpPr>
      <p:sp>
        <p:nvSpPr>
          <p:cNvPr id="261" name="Google Shape;261;p43"/>
          <p:cNvSpPr/>
          <p:nvPr/>
        </p:nvSpPr>
        <p:spPr>
          <a:xfrm>
            <a:off x="0" y="0"/>
            <a:ext cx="12191969" cy="685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62" name="Google Shape;262;p43"/>
          <p:cNvSpPr/>
          <p:nvPr/>
        </p:nvSpPr>
        <p:spPr>
          <a:xfrm>
            <a:off x="0" y="0"/>
            <a:ext cx="12191969" cy="713232"/>
          </a:xfrm>
          <a:prstGeom prst="rect">
            <a:avLst/>
          </a:prstGeom>
          <a:solidFill>
            <a:srgbClr val="33415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63" name="Google Shape;263;p43"/>
          <p:cNvSpPr txBox="1"/>
          <p:nvPr/>
        </p:nvSpPr>
        <p:spPr>
          <a:xfrm>
            <a:off x="502920" y="146304"/>
            <a:ext cx="6766560" cy="420624"/>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2000" u="none" cap="none" strike="noStrike">
                <a:solidFill>
                  <a:srgbClr val="FFFFFF"/>
                </a:solidFill>
                <a:latin typeface="Arial"/>
                <a:ea typeface="Arial"/>
                <a:cs typeface="Arial"/>
                <a:sym typeface="Arial"/>
              </a:rPr>
              <a:t>Warm-Up</a:t>
            </a:r>
            <a:endParaRPr/>
          </a:p>
        </p:txBody>
      </p:sp>
      <p:sp>
        <p:nvSpPr>
          <p:cNvPr id="264" name="Google Shape;264;p43"/>
          <p:cNvSpPr txBox="1"/>
          <p:nvPr/>
        </p:nvSpPr>
        <p:spPr>
          <a:xfrm>
            <a:off x="7223760" y="128016"/>
            <a:ext cx="4462272" cy="457200"/>
          </a:xfrm>
          <a:prstGeom prst="rect">
            <a:avLst/>
          </a:prstGeom>
          <a:noFill/>
          <a:ln>
            <a:noFill/>
          </a:ln>
        </p:spPr>
        <p:txBody>
          <a:bodyPr anchorCtr="0" anchor="ctr" bIns="0" lIns="0" spcFirstLastPara="1" rIns="0" wrap="square" tIns="0">
            <a:spAutoFit/>
          </a:bodyPr>
          <a:lstStyle/>
          <a:p>
            <a:pPr indent="0" lvl="0" marL="0" marR="0" rtl="0" algn="r">
              <a:lnSpc>
                <a:spcPct val="100000"/>
              </a:lnSpc>
              <a:spcBef>
                <a:spcPts val="0"/>
              </a:spcBef>
              <a:spcAft>
                <a:spcPts val="0"/>
              </a:spcAft>
              <a:buNone/>
              <a:defRPr/>
            </a:pPr>
            <a:r>
              <a:rPr b="0" i="0" lang="en-US" sz="1400" u="none" cap="none" strike="noStrike">
                <a:solidFill>
                  <a:srgbClr val="FFFFFF"/>
                </a:solidFill>
                <a:latin typeface="Arial"/>
                <a:ea typeface="Arial"/>
                <a:cs typeface="Arial"/>
                <a:sym typeface="Arial"/>
              </a:rPr>
              <a:t>Lesson 6-8 · Generate Equivalent Expressions</a:t>
            </a:r>
            <a:endParaRPr/>
          </a:p>
        </p:txBody>
      </p:sp>
      <p:sp>
        <p:nvSpPr>
          <p:cNvPr id="265" name="Google Shape;265;p43"/>
          <p:cNvSpPr/>
          <p:nvPr/>
        </p:nvSpPr>
        <p:spPr>
          <a:xfrm>
            <a:off x="502920" y="6382512"/>
            <a:ext cx="11186129" cy="10972"/>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66" name="Google Shape;266;p43"/>
          <p:cNvSpPr txBox="1"/>
          <p:nvPr/>
        </p:nvSpPr>
        <p:spPr>
          <a:xfrm>
            <a:off x="502920" y="6455664"/>
            <a:ext cx="11186129" cy="25603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0" i="0" lang="en-US" sz="1000" u="none" cap="none" strike="noStrike">
                <a:solidFill>
                  <a:srgbClr val="475569"/>
                </a:solidFill>
                <a:latin typeface="Arial"/>
                <a:ea typeface="Arial"/>
                <a:cs typeface="Arial"/>
                <a:sym typeface="Arial"/>
              </a:rPr>
              <a:t>eduwonderlab.com  ·  Neft Teacher</a:t>
            </a:r>
            <a:endParaRPr/>
          </a:p>
        </p:txBody>
      </p:sp>
      <p:sp>
        <p:nvSpPr>
          <p:cNvPr id="267" name="Google Shape;267;p43"/>
          <p:cNvSpPr txBox="1"/>
          <p:nvPr/>
        </p:nvSpPr>
        <p:spPr>
          <a:xfrm>
            <a:off x="640080" y="914400"/>
            <a:ext cx="10911809" cy="475488"/>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1" i="0" lang="en-US" sz="3200" u="none" cap="none" strike="noStrike">
                <a:solidFill>
                  <a:srgbClr val="14223A"/>
                </a:solidFill>
                <a:latin typeface="Arial"/>
                <a:ea typeface="Arial"/>
                <a:cs typeface="Arial"/>
                <a:sym typeface="Arial"/>
              </a:rPr>
              <a:t>Session 2 Warm-Up</a:t>
            </a:r>
            <a:endParaRPr/>
          </a:p>
        </p:txBody>
      </p:sp>
      <p:sp>
        <p:nvSpPr>
          <p:cNvPr id="268" name="Google Shape;268;p43"/>
          <p:cNvSpPr txBox="1"/>
          <p:nvPr/>
        </p:nvSpPr>
        <p:spPr>
          <a:xfrm>
            <a:off x="640080" y="1426464"/>
            <a:ext cx="10911809"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0" i="1" lang="en-US" sz="1500" u="none" cap="none" strike="noStrike">
                <a:solidFill>
                  <a:srgbClr val="475569"/>
                </a:solidFill>
                <a:latin typeface="Arial"/>
                <a:ea typeface="Arial"/>
                <a:cs typeface="Arial"/>
                <a:sym typeface="Arial"/>
              </a:rPr>
              <a:t>Try alone. Explain one. Then revise.</a:t>
            </a:r>
            <a:endParaRPr/>
          </a:p>
        </p:txBody>
      </p:sp>
      <p:sp>
        <p:nvSpPr>
          <p:cNvPr id="269" name="Google Shape;269;p43"/>
          <p:cNvSpPr/>
          <p:nvPr/>
        </p:nvSpPr>
        <p:spPr>
          <a:xfrm>
            <a:off x="640080" y="1828800"/>
            <a:ext cx="5291312" cy="2066544"/>
          </a:xfrm>
          <a:prstGeom prst="roundRect">
            <a:avLst>
              <a:gd fmla="val 6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70" name="Google Shape;270;p43"/>
          <p:cNvSpPr/>
          <p:nvPr/>
        </p:nvSpPr>
        <p:spPr>
          <a:xfrm>
            <a:off x="640080" y="1828800"/>
            <a:ext cx="91440" cy="2066544"/>
          </a:xfrm>
          <a:prstGeom prst="rect">
            <a:avLst/>
          </a:prstGeom>
          <a:solidFill>
            <a:srgbClr val="33415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71" name="Google Shape;271;p43"/>
          <p:cNvSpPr/>
          <p:nvPr/>
        </p:nvSpPr>
        <p:spPr>
          <a:xfrm>
            <a:off x="914400" y="2066543"/>
            <a:ext cx="365760" cy="365760"/>
          </a:xfrm>
          <a:prstGeom prst="ellipse">
            <a:avLst/>
          </a:prstGeom>
          <a:solidFill>
            <a:srgbClr val="33415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en-US" sz="1400" u="none" cap="none" strike="noStrike">
                <a:solidFill>
                  <a:srgbClr val="FFFFFF"/>
                </a:solidFill>
                <a:latin typeface="Arial"/>
                <a:ea typeface="Arial"/>
                <a:cs typeface="Arial"/>
                <a:sym typeface="Arial"/>
              </a:rPr>
              <a:t>1</a:t>
            </a:r>
            <a:endParaRPr/>
          </a:p>
        </p:txBody>
      </p:sp>
      <p:sp>
        <p:nvSpPr>
          <p:cNvPr id="272" name="Google Shape;272;p43"/>
          <p:cNvSpPr txBox="1"/>
          <p:nvPr/>
        </p:nvSpPr>
        <p:spPr>
          <a:xfrm>
            <a:off x="1444752" y="2048256"/>
            <a:ext cx="4389120" cy="45720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defRPr/>
            </a:pPr>
            <a:r>
              <a:rPr b="1" i="0" lang="en-US" sz="1400" u="none" cap="none" strike="noStrike">
                <a:solidFill>
                  <a:srgbClr val="14223A"/>
                </a:solidFill>
                <a:latin typeface="Arial"/>
                <a:ea typeface="Arial"/>
                <a:cs typeface="Arial"/>
                <a:sym typeface="Arial"/>
              </a:rPr>
              <a:t>Which property states a(b + c) = ab + ac?</a:t>
            </a:r>
            <a:endParaRPr/>
          </a:p>
        </p:txBody>
      </p:sp>
      <p:sp>
        <p:nvSpPr>
          <p:cNvPr id="273" name="Google Shape;273;p43"/>
          <p:cNvSpPr/>
          <p:nvPr/>
        </p:nvSpPr>
        <p:spPr>
          <a:xfrm>
            <a:off x="1444752" y="2532888"/>
            <a:ext cx="274320" cy="256032"/>
          </a:xfrm>
          <a:prstGeom prst="roundRect">
            <a:avLst>
              <a:gd fmla="val 16000" name="adj"/>
            </a:avLst>
          </a:prstGeom>
          <a:solidFill>
            <a:srgbClr val="FFFFFF"/>
          </a:solidFill>
          <a:ln cap="flat" cmpd="sng" w="1587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74" name="Google Shape;274;p43"/>
          <p:cNvSpPr txBox="1"/>
          <p:nvPr/>
        </p:nvSpPr>
        <p:spPr>
          <a:xfrm>
            <a:off x="1572768" y="2560320"/>
            <a:ext cx="237744" cy="20116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1100" u="none" cap="none" strike="noStrike">
                <a:solidFill>
                  <a:srgbClr val="334155"/>
                </a:solidFill>
                <a:latin typeface="Arial"/>
                <a:ea typeface="Arial"/>
                <a:cs typeface="Arial"/>
                <a:sym typeface="Arial"/>
              </a:rPr>
              <a:t>A</a:t>
            </a:r>
            <a:endParaRPr/>
          </a:p>
        </p:txBody>
      </p:sp>
      <p:sp>
        <p:nvSpPr>
          <p:cNvPr id="275" name="Google Shape;275;p43"/>
          <p:cNvSpPr txBox="1"/>
          <p:nvPr/>
        </p:nvSpPr>
        <p:spPr>
          <a:xfrm>
            <a:off x="1847088" y="2560320"/>
            <a:ext cx="3931920" cy="256032"/>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0" i="0" lang="en-US" sz="1400" u="none" cap="none" strike="noStrike">
                <a:solidFill>
                  <a:srgbClr val="14223A"/>
                </a:solidFill>
                <a:latin typeface="Arial"/>
                <a:ea typeface="Arial"/>
                <a:cs typeface="Arial"/>
                <a:sym typeface="Arial"/>
              </a:rPr>
              <a:t>Commutative</a:t>
            </a:r>
            <a:endParaRPr/>
          </a:p>
        </p:txBody>
      </p:sp>
      <p:sp>
        <p:nvSpPr>
          <p:cNvPr id="276" name="Google Shape;276;p43"/>
          <p:cNvSpPr/>
          <p:nvPr/>
        </p:nvSpPr>
        <p:spPr>
          <a:xfrm>
            <a:off x="1444752" y="2852928"/>
            <a:ext cx="274320" cy="256032"/>
          </a:xfrm>
          <a:prstGeom prst="roundRect">
            <a:avLst>
              <a:gd fmla="val 16000" name="adj"/>
            </a:avLst>
          </a:prstGeom>
          <a:solidFill>
            <a:srgbClr val="FFFFFF"/>
          </a:solidFill>
          <a:ln cap="flat" cmpd="sng" w="1587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77" name="Google Shape;277;p43"/>
          <p:cNvSpPr txBox="1"/>
          <p:nvPr/>
        </p:nvSpPr>
        <p:spPr>
          <a:xfrm>
            <a:off x="1572768" y="2880360"/>
            <a:ext cx="237744" cy="20116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1100" u="none" cap="none" strike="noStrike">
                <a:solidFill>
                  <a:srgbClr val="334155"/>
                </a:solidFill>
                <a:latin typeface="Arial"/>
                <a:ea typeface="Arial"/>
                <a:cs typeface="Arial"/>
                <a:sym typeface="Arial"/>
              </a:rPr>
              <a:t>B</a:t>
            </a:r>
            <a:endParaRPr/>
          </a:p>
        </p:txBody>
      </p:sp>
      <p:sp>
        <p:nvSpPr>
          <p:cNvPr id="278" name="Google Shape;278;p43"/>
          <p:cNvSpPr txBox="1"/>
          <p:nvPr/>
        </p:nvSpPr>
        <p:spPr>
          <a:xfrm>
            <a:off x="1847088" y="2880360"/>
            <a:ext cx="3931920" cy="256032"/>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0" i="0" lang="en-US" sz="1400" u="none" cap="none" strike="noStrike">
                <a:solidFill>
                  <a:srgbClr val="14223A"/>
                </a:solidFill>
                <a:latin typeface="Arial"/>
                <a:ea typeface="Arial"/>
                <a:cs typeface="Arial"/>
                <a:sym typeface="Arial"/>
              </a:rPr>
              <a:t>Distributive Property</a:t>
            </a:r>
            <a:endParaRPr/>
          </a:p>
        </p:txBody>
      </p:sp>
      <p:sp>
        <p:nvSpPr>
          <p:cNvPr id="279" name="Google Shape;279;p43"/>
          <p:cNvSpPr/>
          <p:nvPr/>
        </p:nvSpPr>
        <p:spPr>
          <a:xfrm>
            <a:off x="1444752" y="3172968"/>
            <a:ext cx="274320" cy="256032"/>
          </a:xfrm>
          <a:prstGeom prst="roundRect">
            <a:avLst>
              <a:gd fmla="val 16000" name="adj"/>
            </a:avLst>
          </a:prstGeom>
          <a:solidFill>
            <a:srgbClr val="FFFFFF"/>
          </a:solidFill>
          <a:ln cap="flat" cmpd="sng" w="1587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80" name="Google Shape;280;p43"/>
          <p:cNvSpPr txBox="1"/>
          <p:nvPr/>
        </p:nvSpPr>
        <p:spPr>
          <a:xfrm>
            <a:off x="1572768" y="3200400"/>
            <a:ext cx="237744" cy="20116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1100" u="none" cap="none" strike="noStrike">
                <a:solidFill>
                  <a:srgbClr val="334155"/>
                </a:solidFill>
                <a:latin typeface="Arial"/>
                <a:ea typeface="Arial"/>
                <a:cs typeface="Arial"/>
                <a:sym typeface="Arial"/>
              </a:rPr>
              <a:t>C</a:t>
            </a:r>
            <a:endParaRPr/>
          </a:p>
        </p:txBody>
      </p:sp>
      <p:sp>
        <p:nvSpPr>
          <p:cNvPr id="281" name="Google Shape;281;p43"/>
          <p:cNvSpPr txBox="1"/>
          <p:nvPr/>
        </p:nvSpPr>
        <p:spPr>
          <a:xfrm>
            <a:off x="1847088" y="3200400"/>
            <a:ext cx="3931920" cy="256032"/>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0" i="0" lang="en-US" sz="1400" u="none" cap="none" strike="noStrike">
                <a:solidFill>
                  <a:srgbClr val="14223A"/>
                </a:solidFill>
                <a:latin typeface="Arial"/>
                <a:ea typeface="Arial"/>
                <a:cs typeface="Arial"/>
                <a:sym typeface="Arial"/>
              </a:rPr>
              <a:t>Identity</a:t>
            </a:r>
            <a:endParaRPr/>
          </a:p>
        </p:txBody>
      </p:sp>
      <p:sp>
        <p:nvSpPr>
          <p:cNvPr id="282" name="Google Shape;282;p43"/>
          <p:cNvSpPr/>
          <p:nvPr/>
        </p:nvSpPr>
        <p:spPr>
          <a:xfrm>
            <a:off x="1444752" y="3493008"/>
            <a:ext cx="274320" cy="256032"/>
          </a:xfrm>
          <a:prstGeom prst="roundRect">
            <a:avLst>
              <a:gd fmla="val 16000" name="adj"/>
            </a:avLst>
          </a:prstGeom>
          <a:solidFill>
            <a:srgbClr val="FFFFFF"/>
          </a:solidFill>
          <a:ln cap="flat" cmpd="sng" w="1587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83" name="Google Shape;283;p43"/>
          <p:cNvSpPr txBox="1"/>
          <p:nvPr/>
        </p:nvSpPr>
        <p:spPr>
          <a:xfrm>
            <a:off x="1572768" y="3520440"/>
            <a:ext cx="237744" cy="20116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1100" u="none" cap="none" strike="noStrike">
                <a:solidFill>
                  <a:srgbClr val="334155"/>
                </a:solidFill>
                <a:latin typeface="Arial"/>
                <a:ea typeface="Arial"/>
                <a:cs typeface="Arial"/>
                <a:sym typeface="Arial"/>
              </a:rPr>
              <a:t>D</a:t>
            </a:r>
            <a:endParaRPr/>
          </a:p>
        </p:txBody>
      </p:sp>
      <p:sp>
        <p:nvSpPr>
          <p:cNvPr id="284" name="Google Shape;284;p43"/>
          <p:cNvSpPr txBox="1"/>
          <p:nvPr/>
        </p:nvSpPr>
        <p:spPr>
          <a:xfrm>
            <a:off x="1847088" y="3520440"/>
            <a:ext cx="3931920" cy="256032"/>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0" i="0" lang="en-US" sz="1400" u="none" cap="none" strike="noStrike">
                <a:solidFill>
                  <a:srgbClr val="14223A"/>
                </a:solidFill>
                <a:latin typeface="Arial"/>
                <a:ea typeface="Arial"/>
                <a:cs typeface="Arial"/>
                <a:sym typeface="Arial"/>
              </a:rPr>
              <a:t>Associative</a:t>
            </a:r>
            <a:endParaRPr/>
          </a:p>
        </p:txBody>
      </p:sp>
      <p:sp>
        <p:nvSpPr>
          <p:cNvPr id="285" name="Google Shape;285;p43"/>
          <p:cNvSpPr/>
          <p:nvPr/>
        </p:nvSpPr>
        <p:spPr>
          <a:xfrm>
            <a:off x="6260576" y="1828800"/>
            <a:ext cx="5291312" cy="2066544"/>
          </a:xfrm>
          <a:prstGeom prst="roundRect">
            <a:avLst>
              <a:gd fmla="val 6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86" name="Google Shape;286;p43"/>
          <p:cNvSpPr/>
          <p:nvPr/>
        </p:nvSpPr>
        <p:spPr>
          <a:xfrm>
            <a:off x="6260576" y="1828800"/>
            <a:ext cx="91440" cy="2066544"/>
          </a:xfrm>
          <a:prstGeom prst="rect">
            <a:avLst/>
          </a:prstGeom>
          <a:solidFill>
            <a:srgbClr val="33415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87" name="Google Shape;287;p43"/>
          <p:cNvSpPr/>
          <p:nvPr/>
        </p:nvSpPr>
        <p:spPr>
          <a:xfrm>
            <a:off x="6534896" y="2066543"/>
            <a:ext cx="365760" cy="365760"/>
          </a:xfrm>
          <a:prstGeom prst="ellipse">
            <a:avLst/>
          </a:prstGeom>
          <a:solidFill>
            <a:srgbClr val="33415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en-US" sz="1400" u="none" cap="none" strike="noStrike">
                <a:solidFill>
                  <a:srgbClr val="FFFFFF"/>
                </a:solidFill>
                <a:latin typeface="Arial"/>
                <a:ea typeface="Arial"/>
                <a:cs typeface="Arial"/>
                <a:sym typeface="Arial"/>
              </a:rPr>
              <a:t>2</a:t>
            </a:r>
            <a:endParaRPr/>
          </a:p>
        </p:txBody>
      </p:sp>
      <p:sp>
        <p:nvSpPr>
          <p:cNvPr id="288" name="Google Shape;288;p43"/>
          <p:cNvSpPr txBox="1"/>
          <p:nvPr/>
        </p:nvSpPr>
        <p:spPr>
          <a:xfrm>
            <a:off x="7068312" y="2048256"/>
            <a:ext cx="4389120" cy="45720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defRPr/>
            </a:pPr>
            <a:r>
              <a:rPr b="1" i="0" lang="en-US" sz="1400" u="none" cap="none" strike="noStrike">
                <a:solidFill>
                  <a:srgbClr val="14223A"/>
                </a:solidFill>
                <a:latin typeface="Arial"/>
                <a:ea typeface="Arial"/>
                <a:cs typeface="Arial"/>
                <a:sym typeface="Arial"/>
              </a:rPr>
              <a:t>Expand 4(x + 5):</a:t>
            </a:r>
            <a:endParaRPr/>
          </a:p>
        </p:txBody>
      </p:sp>
      <p:sp>
        <p:nvSpPr>
          <p:cNvPr id="289" name="Google Shape;289;p43"/>
          <p:cNvSpPr/>
          <p:nvPr/>
        </p:nvSpPr>
        <p:spPr>
          <a:xfrm>
            <a:off x="7068312" y="2532888"/>
            <a:ext cx="274320" cy="256032"/>
          </a:xfrm>
          <a:prstGeom prst="roundRect">
            <a:avLst>
              <a:gd fmla="val 16000" name="adj"/>
            </a:avLst>
          </a:prstGeom>
          <a:solidFill>
            <a:srgbClr val="FFFFFF"/>
          </a:solidFill>
          <a:ln cap="flat" cmpd="sng" w="1587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90" name="Google Shape;290;p43"/>
          <p:cNvSpPr txBox="1"/>
          <p:nvPr/>
        </p:nvSpPr>
        <p:spPr>
          <a:xfrm>
            <a:off x="7196328" y="2560320"/>
            <a:ext cx="237744" cy="20116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1100" u="none" cap="none" strike="noStrike">
                <a:solidFill>
                  <a:srgbClr val="334155"/>
                </a:solidFill>
                <a:latin typeface="Arial"/>
                <a:ea typeface="Arial"/>
                <a:cs typeface="Arial"/>
                <a:sym typeface="Arial"/>
              </a:rPr>
              <a:t>A</a:t>
            </a:r>
            <a:endParaRPr/>
          </a:p>
        </p:txBody>
      </p:sp>
      <p:sp>
        <p:nvSpPr>
          <p:cNvPr id="291" name="Google Shape;291;p43"/>
          <p:cNvSpPr txBox="1"/>
          <p:nvPr/>
        </p:nvSpPr>
        <p:spPr>
          <a:xfrm>
            <a:off x="7470648" y="2560320"/>
            <a:ext cx="3931920" cy="256032"/>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0" i="0" lang="en-US" sz="1400" u="none" cap="none" strike="noStrike">
                <a:solidFill>
                  <a:srgbClr val="14223A"/>
                </a:solidFill>
                <a:latin typeface="Arial"/>
                <a:ea typeface="Arial"/>
                <a:cs typeface="Arial"/>
                <a:sym typeface="Arial"/>
              </a:rPr>
              <a:t>4x + 5</a:t>
            </a:r>
            <a:endParaRPr/>
          </a:p>
        </p:txBody>
      </p:sp>
      <p:sp>
        <p:nvSpPr>
          <p:cNvPr id="292" name="Google Shape;292;p43"/>
          <p:cNvSpPr/>
          <p:nvPr/>
        </p:nvSpPr>
        <p:spPr>
          <a:xfrm>
            <a:off x="7068312" y="2852928"/>
            <a:ext cx="274320" cy="256032"/>
          </a:xfrm>
          <a:prstGeom prst="roundRect">
            <a:avLst>
              <a:gd fmla="val 16000" name="adj"/>
            </a:avLst>
          </a:prstGeom>
          <a:solidFill>
            <a:srgbClr val="FFFFFF"/>
          </a:solidFill>
          <a:ln cap="flat" cmpd="sng" w="1587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93" name="Google Shape;293;p43"/>
          <p:cNvSpPr txBox="1"/>
          <p:nvPr/>
        </p:nvSpPr>
        <p:spPr>
          <a:xfrm>
            <a:off x="7196328" y="2880360"/>
            <a:ext cx="237744" cy="20116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1100" u="none" cap="none" strike="noStrike">
                <a:solidFill>
                  <a:srgbClr val="334155"/>
                </a:solidFill>
                <a:latin typeface="Arial"/>
                <a:ea typeface="Arial"/>
                <a:cs typeface="Arial"/>
                <a:sym typeface="Arial"/>
              </a:rPr>
              <a:t>B</a:t>
            </a:r>
            <a:endParaRPr/>
          </a:p>
        </p:txBody>
      </p:sp>
      <p:sp>
        <p:nvSpPr>
          <p:cNvPr id="294" name="Google Shape;294;p43"/>
          <p:cNvSpPr txBox="1"/>
          <p:nvPr/>
        </p:nvSpPr>
        <p:spPr>
          <a:xfrm>
            <a:off x="7470648" y="2880360"/>
            <a:ext cx="3931920" cy="256032"/>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0" i="0" lang="en-US" sz="1400" u="none" cap="none" strike="noStrike">
                <a:solidFill>
                  <a:srgbClr val="14223A"/>
                </a:solidFill>
                <a:latin typeface="Arial"/>
                <a:ea typeface="Arial"/>
                <a:cs typeface="Arial"/>
                <a:sym typeface="Arial"/>
              </a:rPr>
              <a:t>4x + 20</a:t>
            </a:r>
            <a:endParaRPr/>
          </a:p>
        </p:txBody>
      </p:sp>
      <p:sp>
        <p:nvSpPr>
          <p:cNvPr id="295" name="Google Shape;295;p43"/>
          <p:cNvSpPr/>
          <p:nvPr/>
        </p:nvSpPr>
        <p:spPr>
          <a:xfrm>
            <a:off x="7068312" y="3172968"/>
            <a:ext cx="274320" cy="256032"/>
          </a:xfrm>
          <a:prstGeom prst="roundRect">
            <a:avLst>
              <a:gd fmla="val 16000" name="adj"/>
            </a:avLst>
          </a:prstGeom>
          <a:solidFill>
            <a:srgbClr val="FFFFFF"/>
          </a:solidFill>
          <a:ln cap="flat" cmpd="sng" w="1587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96" name="Google Shape;296;p43"/>
          <p:cNvSpPr txBox="1"/>
          <p:nvPr/>
        </p:nvSpPr>
        <p:spPr>
          <a:xfrm>
            <a:off x="7196328" y="3200400"/>
            <a:ext cx="237744" cy="20116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1100" u="none" cap="none" strike="noStrike">
                <a:solidFill>
                  <a:srgbClr val="334155"/>
                </a:solidFill>
                <a:latin typeface="Arial"/>
                <a:ea typeface="Arial"/>
                <a:cs typeface="Arial"/>
                <a:sym typeface="Arial"/>
              </a:rPr>
              <a:t>C</a:t>
            </a:r>
            <a:endParaRPr/>
          </a:p>
        </p:txBody>
      </p:sp>
      <p:sp>
        <p:nvSpPr>
          <p:cNvPr id="297" name="Google Shape;297;p43"/>
          <p:cNvSpPr txBox="1"/>
          <p:nvPr/>
        </p:nvSpPr>
        <p:spPr>
          <a:xfrm>
            <a:off x="7470648" y="3200400"/>
            <a:ext cx="3931920" cy="256032"/>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0" i="0" lang="en-US" sz="1400" u="none" cap="none" strike="noStrike">
                <a:solidFill>
                  <a:srgbClr val="14223A"/>
                </a:solidFill>
                <a:latin typeface="Arial"/>
                <a:ea typeface="Arial"/>
                <a:cs typeface="Arial"/>
                <a:sym typeface="Arial"/>
              </a:rPr>
              <a:t>20x</a:t>
            </a:r>
            <a:endParaRPr/>
          </a:p>
        </p:txBody>
      </p:sp>
      <p:sp>
        <p:nvSpPr>
          <p:cNvPr id="298" name="Google Shape;298;p43"/>
          <p:cNvSpPr/>
          <p:nvPr/>
        </p:nvSpPr>
        <p:spPr>
          <a:xfrm>
            <a:off x="7068312" y="3493008"/>
            <a:ext cx="274320" cy="256032"/>
          </a:xfrm>
          <a:prstGeom prst="roundRect">
            <a:avLst>
              <a:gd fmla="val 16000" name="adj"/>
            </a:avLst>
          </a:prstGeom>
          <a:solidFill>
            <a:srgbClr val="FFFFFF"/>
          </a:solidFill>
          <a:ln cap="flat" cmpd="sng" w="1587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99" name="Google Shape;299;p43"/>
          <p:cNvSpPr txBox="1"/>
          <p:nvPr/>
        </p:nvSpPr>
        <p:spPr>
          <a:xfrm>
            <a:off x="7196328" y="3520440"/>
            <a:ext cx="237744" cy="20116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1100" u="none" cap="none" strike="noStrike">
                <a:solidFill>
                  <a:srgbClr val="334155"/>
                </a:solidFill>
                <a:latin typeface="Arial"/>
                <a:ea typeface="Arial"/>
                <a:cs typeface="Arial"/>
                <a:sym typeface="Arial"/>
              </a:rPr>
              <a:t>D</a:t>
            </a:r>
            <a:endParaRPr/>
          </a:p>
        </p:txBody>
      </p:sp>
      <p:sp>
        <p:nvSpPr>
          <p:cNvPr id="300" name="Google Shape;300;p43"/>
          <p:cNvSpPr txBox="1"/>
          <p:nvPr/>
        </p:nvSpPr>
        <p:spPr>
          <a:xfrm>
            <a:off x="7470648" y="3520440"/>
            <a:ext cx="3931920" cy="256032"/>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0" i="0" lang="en-US" sz="1400" u="none" cap="none" strike="noStrike">
                <a:solidFill>
                  <a:srgbClr val="14223A"/>
                </a:solidFill>
                <a:latin typeface="Arial"/>
                <a:ea typeface="Arial"/>
                <a:cs typeface="Arial"/>
                <a:sym typeface="Arial"/>
              </a:rPr>
              <a:t>x + 20</a:t>
            </a:r>
            <a:endParaRPr/>
          </a:p>
        </p:txBody>
      </p:sp>
      <p:sp>
        <p:nvSpPr>
          <p:cNvPr id="301" name="Google Shape;301;p43"/>
          <p:cNvSpPr/>
          <p:nvPr/>
        </p:nvSpPr>
        <p:spPr>
          <a:xfrm>
            <a:off x="640080" y="4133088"/>
            <a:ext cx="5291312" cy="2066544"/>
          </a:xfrm>
          <a:prstGeom prst="roundRect">
            <a:avLst>
              <a:gd fmla="val 6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02" name="Google Shape;302;p43"/>
          <p:cNvSpPr/>
          <p:nvPr/>
        </p:nvSpPr>
        <p:spPr>
          <a:xfrm>
            <a:off x="640080" y="4133088"/>
            <a:ext cx="91440" cy="2066544"/>
          </a:xfrm>
          <a:prstGeom prst="rect">
            <a:avLst/>
          </a:prstGeom>
          <a:solidFill>
            <a:srgbClr val="33415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03" name="Google Shape;303;p43"/>
          <p:cNvSpPr/>
          <p:nvPr/>
        </p:nvSpPr>
        <p:spPr>
          <a:xfrm>
            <a:off x="914400" y="4370832"/>
            <a:ext cx="365760" cy="365760"/>
          </a:xfrm>
          <a:prstGeom prst="ellipse">
            <a:avLst/>
          </a:prstGeom>
          <a:solidFill>
            <a:srgbClr val="33415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en-US" sz="1400" u="none" cap="none" strike="noStrike">
                <a:solidFill>
                  <a:srgbClr val="FFFFFF"/>
                </a:solidFill>
                <a:latin typeface="Arial"/>
                <a:ea typeface="Arial"/>
                <a:cs typeface="Arial"/>
                <a:sym typeface="Arial"/>
              </a:rPr>
              <a:t>3</a:t>
            </a:r>
            <a:endParaRPr/>
          </a:p>
        </p:txBody>
      </p:sp>
      <p:sp>
        <p:nvSpPr>
          <p:cNvPr id="304" name="Google Shape;304;p43"/>
          <p:cNvSpPr txBox="1"/>
          <p:nvPr/>
        </p:nvSpPr>
        <p:spPr>
          <a:xfrm>
            <a:off x="1444752" y="4352544"/>
            <a:ext cx="4389120" cy="45720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defRPr/>
            </a:pPr>
            <a:r>
              <a:rPr b="1" i="0" lang="en-US" sz="1400" u="none" cap="none" strike="noStrike">
                <a:solidFill>
                  <a:srgbClr val="14223A"/>
                </a:solidFill>
                <a:latin typeface="Arial"/>
                <a:ea typeface="Arial"/>
                <a:cs typeface="Arial"/>
                <a:sym typeface="Arial"/>
              </a:rPr>
              <a:t>Factor 18x + 12 using the GCF 6:</a:t>
            </a:r>
            <a:endParaRPr/>
          </a:p>
        </p:txBody>
      </p:sp>
      <p:sp>
        <p:nvSpPr>
          <p:cNvPr id="305" name="Google Shape;305;p43"/>
          <p:cNvSpPr/>
          <p:nvPr/>
        </p:nvSpPr>
        <p:spPr>
          <a:xfrm>
            <a:off x="1444752" y="4837176"/>
            <a:ext cx="274320" cy="256032"/>
          </a:xfrm>
          <a:prstGeom prst="roundRect">
            <a:avLst>
              <a:gd fmla="val 16000" name="adj"/>
            </a:avLst>
          </a:prstGeom>
          <a:solidFill>
            <a:srgbClr val="FFFFFF"/>
          </a:solidFill>
          <a:ln cap="flat" cmpd="sng" w="1587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06" name="Google Shape;306;p43"/>
          <p:cNvSpPr txBox="1"/>
          <p:nvPr/>
        </p:nvSpPr>
        <p:spPr>
          <a:xfrm>
            <a:off x="1572768" y="4864608"/>
            <a:ext cx="237744" cy="20116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1100" u="none" cap="none" strike="noStrike">
                <a:solidFill>
                  <a:srgbClr val="334155"/>
                </a:solidFill>
                <a:latin typeface="Arial"/>
                <a:ea typeface="Arial"/>
                <a:cs typeface="Arial"/>
                <a:sym typeface="Arial"/>
              </a:rPr>
              <a:t>A</a:t>
            </a:r>
            <a:endParaRPr/>
          </a:p>
        </p:txBody>
      </p:sp>
      <p:sp>
        <p:nvSpPr>
          <p:cNvPr id="307" name="Google Shape;307;p43"/>
          <p:cNvSpPr txBox="1"/>
          <p:nvPr/>
        </p:nvSpPr>
        <p:spPr>
          <a:xfrm>
            <a:off x="1847088" y="4864608"/>
            <a:ext cx="3931920" cy="256032"/>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0" i="0" lang="en-US" sz="1400" u="none" cap="none" strike="noStrike">
                <a:solidFill>
                  <a:srgbClr val="14223A"/>
                </a:solidFill>
                <a:latin typeface="Arial"/>
                <a:ea typeface="Arial"/>
                <a:cs typeface="Arial"/>
                <a:sym typeface="Arial"/>
              </a:rPr>
              <a:t>6(3x + 2)</a:t>
            </a:r>
            <a:endParaRPr/>
          </a:p>
        </p:txBody>
      </p:sp>
      <p:sp>
        <p:nvSpPr>
          <p:cNvPr id="308" name="Google Shape;308;p43"/>
          <p:cNvSpPr/>
          <p:nvPr/>
        </p:nvSpPr>
        <p:spPr>
          <a:xfrm>
            <a:off x="1444752" y="5157216"/>
            <a:ext cx="274320" cy="256032"/>
          </a:xfrm>
          <a:prstGeom prst="roundRect">
            <a:avLst>
              <a:gd fmla="val 16000" name="adj"/>
            </a:avLst>
          </a:prstGeom>
          <a:solidFill>
            <a:srgbClr val="FFFFFF"/>
          </a:solidFill>
          <a:ln cap="flat" cmpd="sng" w="1587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09" name="Google Shape;309;p43"/>
          <p:cNvSpPr txBox="1"/>
          <p:nvPr/>
        </p:nvSpPr>
        <p:spPr>
          <a:xfrm>
            <a:off x="1572768" y="5184648"/>
            <a:ext cx="237744" cy="20116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1100" u="none" cap="none" strike="noStrike">
                <a:solidFill>
                  <a:srgbClr val="334155"/>
                </a:solidFill>
                <a:latin typeface="Arial"/>
                <a:ea typeface="Arial"/>
                <a:cs typeface="Arial"/>
                <a:sym typeface="Arial"/>
              </a:rPr>
              <a:t>B</a:t>
            </a:r>
            <a:endParaRPr/>
          </a:p>
        </p:txBody>
      </p:sp>
      <p:sp>
        <p:nvSpPr>
          <p:cNvPr id="310" name="Google Shape;310;p43"/>
          <p:cNvSpPr txBox="1"/>
          <p:nvPr/>
        </p:nvSpPr>
        <p:spPr>
          <a:xfrm>
            <a:off x="1847088" y="5184648"/>
            <a:ext cx="3931920" cy="256032"/>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0" i="0" lang="en-US" sz="1400" u="none" cap="none" strike="noStrike">
                <a:solidFill>
                  <a:srgbClr val="14223A"/>
                </a:solidFill>
                <a:latin typeface="Arial"/>
                <a:ea typeface="Arial"/>
                <a:cs typeface="Arial"/>
                <a:sym typeface="Arial"/>
              </a:rPr>
              <a:t>3(6x + 4)</a:t>
            </a:r>
            <a:endParaRPr/>
          </a:p>
        </p:txBody>
      </p:sp>
      <p:sp>
        <p:nvSpPr>
          <p:cNvPr id="311" name="Google Shape;311;p43"/>
          <p:cNvSpPr/>
          <p:nvPr/>
        </p:nvSpPr>
        <p:spPr>
          <a:xfrm>
            <a:off x="1444752" y="5477256"/>
            <a:ext cx="274320" cy="256032"/>
          </a:xfrm>
          <a:prstGeom prst="roundRect">
            <a:avLst>
              <a:gd fmla="val 16000" name="adj"/>
            </a:avLst>
          </a:prstGeom>
          <a:solidFill>
            <a:srgbClr val="FFFFFF"/>
          </a:solidFill>
          <a:ln cap="flat" cmpd="sng" w="1587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12" name="Google Shape;312;p43"/>
          <p:cNvSpPr txBox="1"/>
          <p:nvPr/>
        </p:nvSpPr>
        <p:spPr>
          <a:xfrm>
            <a:off x="1572768" y="5504688"/>
            <a:ext cx="237744" cy="20116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1100" u="none" cap="none" strike="noStrike">
                <a:solidFill>
                  <a:srgbClr val="334155"/>
                </a:solidFill>
                <a:latin typeface="Arial"/>
                <a:ea typeface="Arial"/>
                <a:cs typeface="Arial"/>
                <a:sym typeface="Arial"/>
              </a:rPr>
              <a:t>C</a:t>
            </a:r>
            <a:endParaRPr/>
          </a:p>
        </p:txBody>
      </p:sp>
      <p:sp>
        <p:nvSpPr>
          <p:cNvPr id="313" name="Google Shape;313;p43"/>
          <p:cNvSpPr txBox="1"/>
          <p:nvPr/>
        </p:nvSpPr>
        <p:spPr>
          <a:xfrm>
            <a:off x="1847088" y="5504688"/>
            <a:ext cx="3931920" cy="256032"/>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0" i="0" lang="en-US" sz="1400" u="none" cap="none" strike="noStrike">
                <a:solidFill>
                  <a:srgbClr val="14223A"/>
                </a:solidFill>
                <a:latin typeface="Arial"/>
                <a:ea typeface="Arial"/>
                <a:cs typeface="Arial"/>
                <a:sym typeface="Arial"/>
              </a:rPr>
              <a:t>6(12x + 6)</a:t>
            </a:r>
            <a:endParaRPr/>
          </a:p>
        </p:txBody>
      </p:sp>
      <p:sp>
        <p:nvSpPr>
          <p:cNvPr id="314" name="Google Shape;314;p43"/>
          <p:cNvSpPr/>
          <p:nvPr/>
        </p:nvSpPr>
        <p:spPr>
          <a:xfrm>
            <a:off x="1444752" y="5797296"/>
            <a:ext cx="274320" cy="256032"/>
          </a:xfrm>
          <a:prstGeom prst="roundRect">
            <a:avLst>
              <a:gd fmla="val 16000" name="adj"/>
            </a:avLst>
          </a:prstGeom>
          <a:solidFill>
            <a:srgbClr val="FFFFFF"/>
          </a:solidFill>
          <a:ln cap="flat" cmpd="sng" w="1587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15" name="Google Shape;315;p43"/>
          <p:cNvSpPr txBox="1"/>
          <p:nvPr/>
        </p:nvSpPr>
        <p:spPr>
          <a:xfrm>
            <a:off x="1572768" y="5824728"/>
            <a:ext cx="237744" cy="20116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1100" u="none" cap="none" strike="noStrike">
                <a:solidFill>
                  <a:srgbClr val="334155"/>
                </a:solidFill>
                <a:latin typeface="Arial"/>
                <a:ea typeface="Arial"/>
                <a:cs typeface="Arial"/>
                <a:sym typeface="Arial"/>
              </a:rPr>
              <a:t>D</a:t>
            </a:r>
            <a:endParaRPr/>
          </a:p>
        </p:txBody>
      </p:sp>
      <p:sp>
        <p:nvSpPr>
          <p:cNvPr id="316" name="Google Shape;316;p43"/>
          <p:cNvSpPr txBox="1"/>
          <p:nvPr/>
        </p:nvSpPr>
        <p:spPr>
          <a:xfrm>
            <a:off x="1847088" y="5824728"/>
            <a:ext cx="3931920" cy="256032"/>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0" i="0" lang="en-US" sz="1400" u="none" cap="none" strike="noStrike">
                <a:solidFill>
                  <a:srgbClr val="14223A"/>
                </a:solidFill>
                <a:latin typeface="Arial"/>
                <a:ea typeface="Arial"/>
                <a:cs typeface="Arial"/>
                <a:sym typeface="Arial"/>
              </a:rPr>
              <a:t>2(9x + 6)</a:t>
            </a:r>
            <a:endParaRPr/>
          </a:p>
        </p:txBody>
      </p:sp>
      <p:sp>
        <p:nvSpPr>
          <p:cNvPr id="317" name="Google Shape;317;p43"/>
          <p:cNvSpPr/>
          <p:nvPr/>
        </p:nvSpPr>
        <p:spPr>
          <a:xfrm>
            <a:off x="6260576" y="4133088"/>
            <a:ext cx="5291312" cy="2066544"/>
          </a:xfrm>
          <a:prstGeom prst="roundRect">
            <a:avLst>
              <a:gd fmla="val 6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18" name="Google Shape;318;p43"/>
          <p:cNvSpPr/>
          <p:nvPr/>
        </p:nvSpPr>
        <p:spPr>
          <a:xfrm>
            <a:off x="6260576" y="4133088"/>
            <a:ext cx="91440" cy="2066544"/>
          </a:xfrm>
          <a:prstGeom prst="rect">
            <a:avLst/>
          </a:prstGeom>
          <a:solidFill>
            <a:srgbClr val="33415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19" name="Google Shape;319;p43"/>
          <p:cNvSpPr/>
          <p:nvPr/>
        </p:nvSpPr>
        <p:spPr>
          <a:xfrm>
            <a:off x="6534896" y="4370832"/>
            <a:ext cx="365760" cy="365760"/>
          </a:xfrm>
          <a:prstGeom prst="ellipse">
            <a:avLst/>
          </a:prstGeom>
          <a:solidFill>
            <a:srgbClr val="33415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en-US" sz="1400" u="none" cap="none" strike="noStrike">
                <a:solidFill>
                  <a:srgbClr val="FFFFFF"/>
                </a:solidFill>
                <a:latin typeface="Arial"/>
                <a:ea typeface="Arial"/>
                <a:cs typeface="Arial"/>
                <a:sym typeface="Arial"/>
              </a:rPr>
              <a:t>4</a:t>
            </a:r>
            <a:endParaRPr/>
          </a:p>
        </p:txBody>
      </p:sp>
      <p:sp>
        <p:nvSpPr>
          <p:cNvPr id="320" name="Google Shape;320;p43"/>
          <p:cNvSpPr txBox="1"/>
          <p:nvPr/>
        </p:nvSpPr>
        <p:spPr>
          <a:xfrm>
            <a:off x="7068312" y="4352544"/>
            <a:ext cx="4389120" cy="45720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defRPr/>
            </a:pPr>
            <a:r>
              <a:rPr b="1" i="0" lang="en-US" sz="1400" u="none" cap="none" strike="noStrike">
                <a:solidFill>
                  <a:srgbClr val="14223A"/>
                </a:solidFill>
                <a:latin typeface="Arial"/>
                <a:ea typeface="Arial"/>
                <a:cs typeface="Arial"/>
                <a:sym typeface="Arial"/>
              </a:rPr>
              <a:t>Combine like terms in 5x + 3 + 2x:</a:t>
            </a:r>
            <a:endParaRPr/>
          </a:p>
        </p:txBody>
      </p:sp>
      <p:sp>
        <p:nvSpPr>
          <p:cNvPr id="321" name="Google Shape;321;p43"/>
          <p:cNvSpPr/>
          <p:nvPr/>
        </p:nvSpPr>
        <p:spPr>
          <a:xfrm>
            <a:off x="7068312" y="4837176"/>
            <a:ext cx="274320" cy="256032"/>
          </a:xfrm>
          <a:prstGeom prst="roundRect">
            <a:avLst>
              <a:gd fmla="val 16000" name="adj"/>
            </a:avLst>
          </a:prstGeom>
          <a:solidFill>
            <a:srgbClr val="FFFFFF"/>
          </a:solidFill>
          <a:ln cap="flat" cmpd="sng" w="1587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22" name="Google Shape;322;p43"/>
          <p:cNvSpPr txBox="1"/>
          <p:nvPr/>
        </p:nvSpPr>
        <p:spPr>
          <a:xfrm>
            <a:off x="7196328" y="4864608"/>
            <a:ext cx="237744" cy="20116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1100" u="none" cap="none" strike="noStrike">
                <a:solidFill>
                  <a:srgbClr val="334155"/>
                </a:solidFill>
                <a:latin typeface="Arial"/>
                <a:ea typeface="Arial"/>
                <a:cs typeface="Arial"/>
                <a:sym typeface="Arial"/>
              </a:rPr>
              <a:t>A</a:t>
            </a:r>
            <a:endParaRPr/>
          </a:p>
        </p:txBody>
      </p:sp>
      <p:sp>
        <p:nvSpPr>
          <p:cNvPr id="323" name="Google Shape;323;p43"/>
          <p:cNvSpPr txBox="1"/>
          <p:nvPr/>
        </p:nvSpPr>
        <p:spPr>
          <a:xfrm>
            <a:off x="7470648" y="4864608"/>
            <a:ext cx="3931920" cy="256032"/>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0" i="0" lang="en-US" sz="1400" u="none" cap="none" strike="noStrike">
                <a:solidFill>
                  <a:srgbClr val="14223A"/>
                </a:solidFill>
                <a:latin typeface="Arial"/>
                <a:ea typeface="Arial"/>
                <a:cs typeface="Arial"/>
                <a:sym typeface="Arial"/>
              </a:rPr>
              <a:t>10x</a:t>
            </a:r>
            <a:endParaRPr/>
          </a:p>
        </p:txBody>
      </p:sp>
      <p:sp>
        <p:nvSpPr>
          <p:cNvPr id="324" name="Google Shape;324;p43"/>
          <p:cNvSpPr/>
          <p:nvPr/>
        </p:nvSpPr>
        <p:spPr>
          <a:xfrm>
            <a:off x="7068312" y="5157216"/>
            <a:ext cx="274320" cy="256032"/>
          </a:xfrm>
          <a:prstGeom prst="roundRect">
            <a:avLst>
              <a:gd fmla="val 16000" name="adj"/>
            </a:avLst>
          </a:prstGeom>
          <a:solidFill>
            <a:srgbClr val="FFFFFF"/>
          </a:solidFill>
          <a:ln cap="flat" cmpd="sng" w="1587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25" name="Google Shape;325;p43"/>
          <p:cNvSpPr txBox="1"/>
          <p:nvPr/>
        </p:nvSpPr>
        <p:spPr>
          <a:xfrm>
            <a:off x="7196328" y="5184648"/>
            <a:ext cx="237744" cy="20116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1100" u="none" cap="none" strike="noStrike">
                <a:solidFill>
                  <a:srgbClr val="334155"/>
                </a:solidFill>
                <a:latin typeface="Arial"/>
                <a:ea typeface="Arial"/>
                <a:cs typeface="Arial"/>
                <a:sym typeface="Arial"/>
              </a:rPr>
              <a:t>B</a:t>
            </a:r>
            <a:endParaRPr/>
          </a:p>
        </p:txBody>
      </p:sp>
      <p:sp>
        <p:nvSpPr>
          <p:cNvPr id="326" name="Google Shape;326;p43"/>
          <p:cNvSpPr txBox="1"/>
          <p:nvPr/>
        </p:nvSpPr>
        <p:spPr>
          <a:xfrm>
            <a:off x="7470648" y="5184648"/>
            <a:ext cx="3931920" cy="256032"/>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0" i="0" lang="en-US" sz="1400" u="none" cap="none" strike="noStrike">
                <a:solidFill>
                  <a:srgbClr val="14223A"/>
                </a:solidFill>
                <a:latin typeface="Arial"/>
                <a:ea typeface="Arial"/>
                <a:cs typeface="Arial"/>
                <a:sym typeface="Arial"/>
              </a:rPr>
              <a:t>7x + 3</a:t>
            </a:r>
            <a:endParaRPr/>
          </a:p>
        </p:txBody>
      </p:sp>
      <p:sp>
        <p:nvSpPr>
          <p:cNvPr id="327" name="Google Shape;327;p43"/>
          <p:cNvSpPr/>
          <p:nvPr/>
        </p:nvSpPr>
        <p:spPr>
          <a:xfrm>
            <a:off x="7068312" y="5477256"/>
            <a:ext cx="274320" cy="256032"/>
          </a:xfrm>
          <a:prstGeom prst="roundRect">
            <a:avLst>
              <a:gd fmla="val 16000" name="adj"/>
            </a:avLst>
          </a:prstGeom>
          <a:solidFill>
            <a:srgbClr val="FFFFFF"/>
          </a:solidFill>
          <a:ln cap="flat" cmpd="sng" w="1587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28" name="Google Shape;328;p43"/>
          <p:cNvSpPr txBox="1"/>
          <p:nvPr/>
        </p:nvSpPr>
        <p:spPr>
          <a:xfrm>
            <a:off x="7196328" y="5504688"/>
            <a:ext cx="237744" cy="20116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1100" u="none" cap="none" strike="noStrike">
                <a:solidFill>
                  <a:srgbClr val="334155"/>
                </a:solidFill>
                <a:latin typeface="Arial"/>
                <a:ea typeface="Arial"/>
                <a:cs typeface="Arial"/>
                <a:sym typeface="Arial"/>
              </a:rPr>
              <a:t>C</a:t>
            </a:r>
            <a:endParaRPr/>
          </a:p>
        </p:txBody>
      </p:sp>
      <p:sp>
        <p:nvSpPr>
          <p:cNvPr id="329" name="Google Shape;329;p43"/>
          <p:cNvSpPr txBox="1"/>
          <p:nvPr/>
        </p:nvSpPr>
        <p:spPr>
          <a:xfrm>
            <a:off x="7470648" y="5504688"/>
            <a:ext cx="3931920" cy="256032"/>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0" i="0" lang="en-US" sz="1400" u="none" cap="none" strike="noStrike">
                <a:solidFill>
                  <a:srgbClr val="14223A"/>
                </a:solidFill>
                <a:latin typeface="Arial"/>
                <a:ea typeface="Arial"/>
                <a:cs typeface="Arial"/>
                <a:sym typeface="Arial"/>
              </a:rPr>
              <a:t>7x + 2</a:t>
            </a:r>
            <a:endParaRPr/>
          </a:p>
        </p:txBody>
      </p:sp>
      <p:sp>
        <p:nvSpPr>
          <p:cNvPr id="330" name="Google Shape;330;p43"/>
          <p:cNvSpPr/>
          <p:nvPr/>
        </p:nvSpPr>
        <p:spPr>
          <a:xfrm>
            <a:off x="7068312" y="5797296"/>
            <a:ext cx="274320" cy="256032"/>
          </a:xfrm>
          <a:prstGeom prst="roundRect">
            <a:avLst>
              <a:gd fmla="val 16000" name="adj"/>
            </a:avLst>
          </a:prstGeom>
          <a:solidFill>
            <a:srgbClr val="FFFFFF"/>
          </a:solidFill>
          <a:ln cap="flat" cmpd="sng" w="1587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31" name="Google Shape;331;p43"/>
          <p:cNvSpPr txBox="1"/>
          <p:nvPr/>
        </p:nvSpPr>
        <p:spPr>
          <a:xfrm>
            <a:off x="7196328" y="5824728"/>
            <a:ext cx="237744" cy="20116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1100" u="none" cap="none" strike="noStrike">
                <a:solidFill>
                  <a:srgbClr val="334155"/>
                </a:solidFill>
                <a:latin typeface="Arial"/>
                <a:ea typeface="Arial"/>
                <a:cs typeface="Arial"/>
                <a:sym typeface="Arial"/>
              </a:rPr>
              <a:t>D</a:t>
            </a:r>
            <a:endParaRPr/>
          </a:p>
        </p:txBody>
      </p:sp>
      <p:sp>
        <p:nvSpPr>
          <p:cNvPr id="332" name="Google Shape;332;p43"/>
          <p:cNvSpPr txBox="1"/>
          <p:nvPr/>
        </p:nvSpPr>
        <p:spPr>
          <a:xfrm>
            <a:off x="7470648" y="5824728"/>
            <a:ext cx="3931920" cy="256032"/>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0" i="0" lang="en-US" sz="1400" u="none" cap="none" strike="noStrike">
                <a:solidFill>
                  <a:srgbClr val="14223A"/>
                </a:solidFill>
                <a:latin typeface="Arial"/>
                <a:ea typeface="Arial"/>
                <a:cs typeface="Arial"/>
                <a:sym typeface="Arial"/>
              </a:rPr>
              <a:t>5x + 5</a:t>
            </a:r>
            <a:endParaRPr/>
          </a:p>
        </p:txBody>
      </p:sp>
      <p:sp>
        <p:nvSpPr>
          <p:cNvPr id="333"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23 / 41</a:t>
            </a: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9" name="Shape 519"/>
        <p:cNvGrpSpPr/>
        <p:nvPr/>
      </p:nvGrpSpPr>
      <p:grpSpPr>
        <a:xfrm>
          <a:off x="0" y="0"/>
          <a:ext cx="0" cy="0"/>
          <a:chOff x="0" y="0"/>
          <a:chExt cx="0" cy="0"/>
        </a:xfrm>
      </p:grpSpPr>
      <p:sp>
        <p:nvSpPr>
          <p:cNvPr id="520" name="Google Shape;520;p53"/>
          <p:cNvSpPr/>
          <p:nvPr/>
        </p:nvSpPr>
        <p:spPr>
          <a:xfrm>
            <a:off x="0" y="0"/>
            <a:ext cx="12191969" cy="685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21" name="Google Shape;521;p53"/>
          <p:cNvSpPr/>
          <p:nvPr/>
        </p:nvSpPr>
        <p:spPr>
          <a:xfrm>
            <a:off x="0" y="0"/>
            <a:ext cx="12191969" cy="713232"/>
          </a:xfrm>
          <a:prstGeom prst="rect">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22" name="Google Shape;522;p53"/>
          <p:cNvSpPr txBox="1"/>
          <p:nvPr/>
        </p:nvSpPr>
        <p:spPr>
          <a:xfrm>
            <a:off x="502920" y="146304"/>
            <a:ext cx="6766560" cy="420624"/>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2000" u="none" cap="none" strike="noStrike">
                <a:solidFill>
                  <a:srgbClr val="FFFFFF"/>
                </a:solidFill>
                <a:latin typeface="Arial"/>
                <a:ea typeface="Arial"/>
                <a:cs typeface="Arial"/>
                <a:sym typeface="Arial"/>
              </a:rPr>
              <a:t>Review Notes — Session 2</a:t>
            </a:r>
            <a:endParaRPr/>
          </a:p>
        </p:txBody>
      </p:sp>
      <p:sp>
        <p:nvSpPr>
          <p:cNvPr id="523" name="Google Shape;523;p53"/>
          <p:cNvSpPr txBox="1"/>
          <p:nvPr/>
        </p:nvSpPr>
        <p:spPr>
          <a:xfrm>
            <a:off x="7223760" y="128016"/>
            <a:ext cx="4462272" cy="457200"/>
          </a:xfrm>
          <a:prstGeom prst="rect">
            <a:avLst/>
          </a:prstGeom>
          <a:noFill/>
          <a:ln>
            <a:noFill/>
          </a:ln>
        </p:spPr>
        <p:txBody>
          <a:bodyPr anchorCtr="0" anchor="ctr" bIns="0" lIns="0" spcFirstLastPara="1" rIns="0" wrap="square" tIns="0">
            <a:spAutoFit/>
          </a:bodyPr>
          <a:lstStyle/>
          <a:p>
            <a:pPr indent="0" lvl="0" marL="0" marR="0" rtl="0" algn="r">
              <a:lnSpc>
                <a:spcPct val="100000"/>
              </a:lnSpc>
              <a:spcBef>
                <a:spcPts val="0"/>
              </a:spcBef>
              <a:spcAft>
                <a:spcPts val="0"/>
              </a:spcAft>
              <a:buNone/>
              <a:defRPr/>
            </a:pPr>
            <a:r>
              <a:rPr b="0" i="0" lang="en-US" sz="1400" u="none" cap="none" strike="noStrike">
                <a:solidFill>
                  <a:srgbClr val="FFFFFF"/>
                </a:solidFill>
                <a:latin typeface="Arial"/>
                <a:ea typeface="Arial"/>
                <a:cs typeface="Arial"/>
                <a:sym typeface="Arial"/>
              </a:rPr>
              <a:t>Lesson 6-8 · Generate Equivalent Expressions</a:t>
            </a:r>
            <a:endParaRPr/>
          </a:p>
        </p:txBody>
      </p:sp>
      <p:sp>
        <p:nvSpPr>
          <p:cNvPr id="524" name="Google Shape;524;p53"/>
          <p:cNvSpPr/>
          <p:nvPr/>
        </p:nvSpPr>
        <p:spPr>
          <a:xfrm>
            <a:off x="502920" y="6382512"/>
            <a:ext cx="11186129" cy="10972"/>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25" name="Google Shape;525;p53"/>
          <p:cNvSpPr txBox="1"/>
          <p:nvPr/>
        </p:nvSpPr>
        <p:spPr>
          <a:xfrm>
            <a:off x="502920" y="6455664"/>
            <a:ext cx="11186129" cy="25603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0" i="0" lang="en-US" sz="1000" u="none" cap="none" strike="noStrike">
                <a:solidFill>
                  <a:srgbClr val="475569"/>
                </a:solidFill>
                <a:latin typeface="Arial"/>
                <a:ea typeface="Arial"/>
                <a:cs typeface="Arial"/>
                <a:sym typeface="Arial"/>
              </a:rPr>
              <a:t>eduwonderlab.com  ·  Neft Teacher</a:t>
            </a:r>
            <a:endParaRPr/>
          </a:p>
        </p:txBody>
      </p:sp>
      <p:sp>
        <p:nvSpPr>
          <p:cNvPr id="526" name="Google Shape;526;p53"/>
          <p:cNvSpPr txBox="1"/>
          <p:nvPr/>
        </p:nvSpPr>
        <p:spPr>
          <a:xfrm>
            <a:off x="640080" y="987552"/>
            <a:ext cx="10911809" cy="45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1" i="0" lang="en-US" sz="3000" u="none" cap="none" strike="noStrike">
                <a:solidFill>
                  <a:srgbClr val="14223A"/>
                </a:solidFill>
                <a:latin typeface="Arial"/>
                <a:ea typeface="Arial"/>
                <a:cs typeface="Arial"/>
                <a:sym typeface="Arial"/>
              </a:rPr>
              <a:t>Session 2: Review Notes</a:t>
            </a:r>
            <a:endParaRPr/>
          </a:p>
        </p:txBody>
      </p:sp>
      <p:sp>
        <p:nvSpPr>
          <p:cNvPr id="527" name="Google Shape;527;p53"/>
          <p:cNvSpPr/>
          <p:nvPr/>
        </p:nvSpPr>
        <p:spPr>
          <a:xfrm>
            <a:off x="640080" y="1572768"/>
            <a:ext cx="3246120" cy="384048"/>
          </a:xfrm>
          <a:prstGeom prst="roundRect">
            <a:avLst>
              <a:gd fmla="val 30000" name="adj"/>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28" name="Google Shape;528;p53"/>
          <p:cNvSpPr txBox="1"/>
          <p:nvPr/>
        </p:nvSpPr>
        <p:spPr>
          <a:xfrm>
            <a:off x="868680" y="1636776"/>
            <a:ext cx="3017520"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1" i="0" lang="en-US" sz="1400" u="none" cap="none" strike="noStrike">
                <a:solidFill>
                  <a:srgbClr val="FFFFFF"/>
                </a:solidFill>
                <a:latin typeface="Arial"/>
                <a:ea typeface="Arial"/>
                <a:cs typeface="Arial"/>
                <a:sym typeface="Arial"/>
              </a:rPr>
              <a:t>Copy. Explain. Check.</a:t>
            </a:r>
            <a:endParaRPr/>
          </a:p>
        </p:txBody>
      </p:sp>
      <p:sp>
        <p:nvSpPr>
          <p:cNvPr id="529" name="Google Shape;529;p53"/>
          <p:cNvSpPr/>
          <p:nvPr/>
        </p:nvSpPr>
        <p:spPr>
          <a:xfrm>
            <a:off x="640080" y="2212848"/>
            <a:ext cx="10911809" cy="1188720"/>
          </a:xfrm>
          <a:prstGeom prst="roundRect">
            <a:avLst>
              <a:gd fmla="val 8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30" name="Google Shape;530;p53"/>
          <p:cNvSpPr/>
          <p:nvPr/>
        </p:nvSpPr>
        <p:spPr>
          <a:xfrm>
            <a:off x="640080" y="2212848"/>
            <a:ext cx="91440" cy="1188720"/>
          </a:xfrm>
          <a:prstGeom prst="rect">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31" name="Google Shape;531;p53"/>
          <p:cNvSpPr/>
          <p:nvPr/>
        </p:nvSpPr>
        <p:spPr>
          <a:xfrm>
            <a:off x="896112" y="2633472"/>
            <a:ext cx="347472" cy="347472"/>
          </a:xfrm>
          <a:prstGeom prst="ellipse">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en-US" sz="1400" u="none" cap="none" strike="noStrike">
                <a:solidFill>
                  <a:srgbClr val="FFFFFF"/>
                </a:solidFill>
                <a:latin typeface="Arial"/>
                <a:ea typeface="Arial"/>
                <a:cs typeface="Arial"/>
                <a:sym typeface="Arial"/>
              </a:rPr>
              <a:t>1</a:t>
            </a:r>
            <a:endParaRPr/>
          </a:p>
        </p:txBody>
      </p:sp>
      <p:sp>
        <p:nvSpPr>
          <p:cNvPr id="532" name="Google Shape;532;p53"/>
          <p:cNvSpPr txBox="1"/>
          <p:nvPr/>
        </p:nvSpPr>
        <p:spPr>
          <a:xfrm>
            <a:off x="1389888" y="2359152"/>
            <a:ext cx="9860249" cy="310896"/>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1" i="0" lang="en-US" sz="1800" u="none" cap="none" strike="noStrike">
                <a:solidFill>
                  <a:srgbClr val="14223A"/>
                </a:solidFill>
                <a:latin typeface="Arial"/>
                <a:ea typeface="Arial"/>
                <a:cs typeface="Arial"/>
                <a:sym typeface="Arial"/>
              </a:rPr>
              <a:t>Distributive Property</a:t>
            </a:r>
            <a:endParaRPr/>
          </a:p>
        </p:txBody>
      </p:sp>
      <p:sp>
        <p:nvSpPr>
          <p:cNvPr id="533" name="Google Shape;533;p53"/>
          <p:cNvSpPr txBox="1"/>
          <p:nvPr/>
        </p:nvSpPr>
        <p:spPr>
          <a:xfrm>
            <a:off x="1389888" y="2706624"/>
            <a:ext cx="9860249" cy="585216"/>
          </a:xfrm>
          <a:prstGeom prst="rect">
            <a:avLst/>
          </a:prstGeom>
          <a:noFill/>
          <a:ln>
            <a:noFill/>
          </a:ln>
        </p:spPr>
        <p:txBody>
          <a:bodyPr anchorCtr="0" anchor="t" bIns="0" lIns="0" spcFirstLastPara="1" rIns="0" wrap="square" tIns="0">
            <a:spAutoFit/>
          </a:bodyPr>
          <a:lstStyle/>
          <a:p>
            <a:pPr indent="0" lvl="0" marL="0" marR="0" rtl="0" algn="l">
              <a:lnSpc>
                <a:spcPct val="118000"/>
              </a:lnSpc>
              <a:spcBef>
                <a:spcPts val="0"/>
              </a:spcBef>
              <a:spcAft>
                <a:spcPts val="0"/>
              </a:spcAft>
              <a:buNone/>
              <a:defRPr/>
            </a:pPr>
            <a:r>
              <a:rPr b="0" i="0" lang="en-US" sz="1450" u="none" cap="none" strike="noStrike">
                <a:solidFill>
                  <a:srgbClr val="475569"/>
                </a:solidFill>
                <a:latin typeface="Arial"/>
                <a:ea typeface="Arial"/>
                <a:cs typeface="Arial"/>
                <a:sym typeface="Arial"/>
              </a:rPr>
              <a:t>Multiply the term outside the parentheses by every term inside: a(b + c) = ab + ac.</a:t>
            </a:r>
            <a:endParaRPr/>
          </a:p>
        </p:txBody>
      </p:sp>
      <p:sp>
        <p:nvSpPr>
          <p:cNvPr id="534" name="Google Shape;534;p53"/>
          <p:cNvSpPr/>
          <p:nvPr/>
        </p:nvSpPr>
        <p:spPr>
          <a:xfrm>
            <a:off x="640080" y="3584448"/>
            <a:ext cx="10911809" cy="1188720"/>
          </a:xfrm>
          <a:prstGeom prst="roundRect">
            <a:avLst>
              <a:gd fmla="val 8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35" name="Google Shape;535;p53"/>
          <p:cNvSpPr/>
          <p:nvPr/>
        </p:nvSpPr>
        <p:spPr>
          <a:xfrm>
            <a:off x="640080" y="3584448"/>
            <a:ext cx="91440" cy="1188720"/>
          </a:xfrm>
          <a:prstGeom prst="rect">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36" name="Google Shape;536;p53"/>
          <p:cNvSpPr/>
          <p:nvPr/>
        </p:nvSpPr>
        <p:spPr>
          <a:xfrm>
            <a:off x="896112" y="4005072"/>
            <a:ext cx="347472" cy="347472"/>
          </a:xfrm>
          <a:prstGeom prst="ellipse">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en-US" sz="1400" u="none" cap="none" strike="noStrike">
                <a:solidFill>
                  <a:srgbClr val="FFFFFF"/>
                </a:solidFill>
                <a:latin typeface="Arial"/>
                <a:ea typeface="Arial"/>
                <a:cs typeface="Arial"/>
                <a:sym typeface="Arial"/>
              </a:rPr>
              <a:t>2</a:t>
            </a:r>
            <a:endParaRPr/>
          </a:p>
        </p:txBody>
      </p:sp>
      <p:sp>
        <p:nvSpPr>
          <p:cNvPr id="537" name="Google Shape;537;p53"/>
          <p:cNvSpPr txBox="1"/>
          <p:nvPr/>
        </p:nvSpPr>
        <p:spPr>
          <a:xfrm>
            <a:off x="1389888" y="3730752"/>
            <a:ext cx="9860249" cy="310896"/>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1" i="0" lang="en-US" sz="1800" u="none" cap="none" strike="noStrike">
                <a:solidFill>
                  <a:srgbClr val="14223A"/>
                </a:solidFill>
                <a:latin typeface="Arial"/>
                <a:ea typeface="Arial"/>
                <a:cs typeface="Arial"/>
                <a:sym typeface="Arial"/>
              </a:rPr>
              <a:t>Factoring Expressions</a:t>
            </a:r>
            <a:endParaRPr/>
          </a:p>
        </p:txBody>
      </p:sp>
      <p:sp>
        <p:nvSpPr>
          <p:cNvPr id="538" name="Google Shape;538;p53"/>
          <p:cNvSpPr txBox="1"/>
          <p:nvPr/>
        </p:nvSpPr>
        <p:spPr>
          <a:xfrm>
            <a:off x="1389888" y="4078224"/>
            <a:ext cx="9860249" cy="585216"/>
          </a:xfrm>
          <a:prstGeom prst="rect">
            <a:avLst/>
          </a:prstGeom>
          <a:noFill/>
          <a:ln>
            <a:noFill/>
          </a:ln>
        </p:spPr>
        <p:txBody>
          <a:bodyPr anchorCtr="0" anchor="t" bIns="0" lIns="0" spcFirstLastPara="1" rIns="0" wrap="square" tIns="0">
            <a:spAutoFit/>
          </a:bodyPr>
          <a:lstStyle/>
          <a:p>
            <a:pPr indent="0" lvl="0" marL="0" marR="0" rtl="0" algn="l">
              <a:lnSpc>
                <a:spcPct val="118000"/>
              </a:lnSpc>
              <a:spcBef>
                <a:spcPts val="0"/>
              </a:spcBef>
              <a:spcAft>
                <a:spcPts val="0"/>
              </a:spcAft>
              <a:buNone/>
              <a:defRPr/>
            </a:pPr>
            <a:r>
              <a:rPr b="0" i="0" lang="en-US" sz="1450" u="none" cap="none" strike="noStrike">
                <a:solidFill>
                  <a:srgbClr val="475569"/>
                </a:solidFill>
                <a:latin typeface="Arial"/>
                <a:ea typeface="Arial"/>
                <a:cs typeface="Arial"/>
                <a:sym typeface="Arial"/>
              </a:rPr>
              <a:t xml:space="preserve">Identify the </a:t>
            </a:r>
            <a:r>
              <a:rPr b="1" i="0" lang="en-US" sz="1450" u="none" cap="none" strike="noStrike">
                <a:solidFill>
                  <a:srgbClr val="475569"/>
                </a:solidFill>
                <a:latin typeface="Arial"/>
                <a:ea typeface="Arial"/>
                <a:cs typeface="Arial"/>
                <a:sym typeface="Arial"/>
              </a:rPr>
              <a:t xml:space="preserve">GCF</a:t>
            </a:r>
            <a:r>
              <a:rPr b="0" i="0" lang="en-US" sz="1450" u="none" cap="none" strike="noStrike">
                <a:solidFill>
                  <a:srgbClr val="475569"/>
                </a:solidFill>
                <a:latin typeface="Arial"/>
                <a:ea typeface="Arial"/>
                <a:cs typeface="Arial"/>
                <a:sym typeface="Arial"/>
              </a:rPr>
              <a:t xml:space="preserve"> of the terms, </a:t>
            </a:r>
            <a:r>
              <a:rPr b="1" i="0" lang="en-US" sz="1450" u="none" cap="none" strike="noStrike">
                <a:solidFill>
                  <a:srgbClr val="475569"/>
                </a:solidFill>
                <a:latin typeface="Arial"/>
                <a:ea typeface="Arial"/>
                <a:cs typeface="Arial"/>
                <a:sym typeface="Arial"/>
              </a:rPr>
              <a:t xml:space="preserve">factor</a:t>
            </a:r>
            <a:r>
              <a:rPr b="0" i="0" lang="en-US" sz="1450" u="none" cap="none" strike="noStrike">
                <a:solidFill>
                  <a:srgbClr val="475569"/>
                </a:solidFill>
                <a:latin typeface="Arial"/>
                <a:ea typeface="Arial"/>
                <a:cs typeface="Arial"/>
                <a:sym typeface="Arial"/>
              </a:rPr>
              <a:t xml:space="preserve"> it outside parentheses, and write quotients inside.</a:t>
            </a:r>
            <a:endParaRPr/>
          </a:p>
        </p:txBody>
      </p:sp>
      <p:sp>
        <p:nvSpPr>
          <p:cNvPr id="539" name="Google Shape;539;p53"/>
          <p:cNvSpPr/>
          <p:nvPr/>
        </p:nvSpPr>
        <p:spPr>
          <a:xfrm>
            <a:off x="640080" y="4956048"/>
            <a:ext cx="10911809" cy="1188720"/>
          </a:xfrm>
          <a:prstGeom prst="roundRect">
            <a:avLst>
              <a:gd fmla="val 8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40" name="Google Shape;540;p53"/>
          <p:cNvSpPr/>
          <p:nvPr/>
        </p:nvSpPr>
        <p:spPr>
          <a:xfrm>
            <a:off x="640080" y="4956048"/>
            <a:ext cx="91440" cy="1188720"/>
          </a:xfrm>
          <a:prstGeom prst="rect">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41" name="Google Shape;541;p53"/>
          <p:cNvSpPr/>
          <p:nvPr/>
        </p:nvSpPr>
        <p:spPr>
          <a:xfrm>
            <a:off x="896112" y="5376672"/>
            <a:ext cx="347472" cy="347472"/>
          </a:xfrm>
          <a:prstGeom prst="ellipse">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en-US" sz="1400" u="none" cap="none" strike="noStrike">
                <a:solidFill>
                  <a:srgbClr val="FFFFFF"/>
                </a:solidFill>
                <a:latin typeface="Arial"/>
                <a:ea typeface="Arial"/>
                <a:cs typeface="Arial"/>
                <a:sym typeface="Arial"/>
              </a:rPr>
              <a:t>3</a:t>
            </a:r>
            <a:endParaRPr/>
          </a:p>
        </p:txBody>
      </p:sp>
      <p:sp>
        <p:nvSpPr>
          <p:cNvPr id="542" name="Google Shape;542;p53"/>
          <p:cNvSpPr txBox="1"/>
          <p:nvPr/>
        </p:nvSpPr>
        <p:spPr>
          <a:xfrm>
            <a:off x="1389888" y="5102352"/>
            <a:ext cx="9860249" cy="310896"/>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1" i="0" lang="en-US" sz="1800" u="none" cap="none" strike="noStrike">
                <a:solidFill>
                  <a:srgbClr val="14223A"/>
                </a:solidFill>
                <a:latin typeface="Arial"/>
                <a:ea typeface="Arial"/>
                <a:cs typeface="Arial"/>
                <a:sym typeface="Arial"/>
              </a:rPr>
              <a:t>Combining Like Terms</a:t>
            </a:r>
            <a:endParaRPr/>
          </a:p>
        </p:txBody>
      </p:sp>
      <p:sp>
        <p:nvSpPr>
          <p:cNvPr id="543" name="Google Shape;543;p53"/>
          <p:cNvSpPr txBox="1"/>
          <p:nvPr/>
        </p:nvSpPr>
        <p:spPr>
          <a:xfrm>
            <a:off x="1389888" y="5449824"/>
            <a:ext cx="9860249" cy="585216"/>
          </a:xfrm>
          <a:prstGeom prst="rect">
            <a:avLst/>
          </a:prstGeom>
          <a:noFill/>
          <a:ln>
            <a:noFill/>
          </a:ln>
        </p:spPr>
        <p:txBody>
          <a:bodyPr anchorCtr="0" anchor="t" bIns="0" lIns="0" spcFirstLastPara="1" rIns="0" wrap="square" tIns="0">
            <a:spAutoFit/>
          </a:bodyPr>
          <a:lstStyle/>
          <a:p>
            <a:pPr indent="0" lvl="0" marL="0" marR="0" rtl="0" algn="l">
              <a:lnSpc>
                <a:spcPct val="118000"/>
              </a:lnSpc>
              <a:spcBef>
                <a:spcPts val="0"/>
              </a:spcBef>
              <a:spcAft>
                <a:spcPts val="0"/>
              </a:spcAft>
              <a:buNone/>
              <a:defRPr/>
            </a:pPr>
            <a:r>
              <a:rPr b="0" i="0" lang="en-US" sz="1450" u="none" cap="none" strike="noStrike">
                <a:solidFill>
                  <a:srgbClr val="475569"/>
                </a:solidFill>
                <a:latin typeface="Arial"/>
                <a:ea typeface="Arial"/>
                <a:cs typeface="Arial"/>
                <a:sym typeface="Arial"/>
              </a:rPr>
              <a:t xml:space="preserve">Terms sharing identical variable parts can be combined by adding their </a:t>
            </a:r>
            <a:r>
              <a:rPr b="1" i="0" lang="en-US" sz="1450" u="none" cap="none" strike="noStrike">
                <a:solidFill>
                  <a:srgbClr val="475569"/>
                </a:solidFill>
                <a:latin typeface="Arial"/>
                <a:ea typeface="Arial"/>
                <a:cs typeface="Arial"/>
                <a:sym typeface="Arial"/>
              </a:rPr>
              <a:t xml:space="preserve">coefficients</a:t>
            </a:r>
            <a:r>
              <a:rPr b="0" i="0" lang="en-US" sz="1450" u="none" cap="none" strike="noStrike">
                <a:solidFill>
                  <a:srgbClr val="475569"/>
                </a:solidFill>
                <a:latin typeface="Arial"/>
                <a:ea typeface="Arial"/>
                <a:cs typeface="Arial"/>
                <a:sym typeface="Arial"/>
              </a:rPr>
              <a:t xml:space="preserve">.</a:t>
            </a:r>
            <a:endParaRPr/>
          </a:p>
        </p:txBody>
      </p:sp>
      <p:sp>
        <p:nvSpPr>
          <p:cNvPr id="544"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25 / 41</a:t>
            </a:r>
          </a:p>
        </p:txBody>
      </p:sp>
      <p:grpSp>
        <p:nvGrpSpPr>
          <p:cNvPr id="545" name="TEACH-1-student-move" descr="TEACH 1 · Facilitate clear, standards-based content learning"/>
          <p:cNvGrpSpPr/>
          <p:nvPr/>
        </p:nvGrpSpPr>
        <p:grpSpPr>
          <a:xfrm>
            <a:off x="6187440" y="1682496"/>
            <a:ext cx="5501640" cy="594360"/>
            <a:chOff x="6187440" y="1682496"/>
            <a:chExt cx="5501640" cy="594360"/>
          </a:xfrm>
        </p:grpSpPr>
        <p:sp>
          <p:nvSpPr>
            <p:cNvPr id="546" name="TEACH-move-card"/>
            <p:cNvSpPr/>
            <p:nvPr/>
          </p:nvSpPr>
          <p:spPr>
            <a:xfrm>
              <a:off x="6187440" y="1682496"/>
              <a:ext cx="5501640" cy="594360"/>
            </a:xfrm>
            <a:prstGeom prst="roundRect">
              <a:avLst>
                <a:gd name="adj" fmla="val 16000"/>
              </a:avLst>
            </a:prstGeom>
            <a:solidFill>
              <a:srgbClr val="E4F0F5"/>
            </a:solidFill>
            <a:ln w="19050">
              <a:solidFill>
                <a:srgbClr val="8CB8C7"/>
              </a:solidFill>
            </a:ln>
          </p:spPr>
          <p:txBody>
            <a:bodyPr/>
            <a:lstStyle/>
            <a:p>
              <a:endParaRPr/>
            </a:p>
          </p:txBody>
        </p:sp>
        <p:sp>
          <p:nvSpPr>
            <p:cNvPr id="547" name="TEACH-move-rule"/>
            <p:cNvSpPr/>
            <p:nvPr/>
          </p:nvSpPr>
          <p:spPr>
            <a:xfrm>
              <a:off x="6233160" y="1795424"/>
              <a:ext cx="100584" cy="368504"/>
            </a:xfrm>
            <a:prstGeom prst="roundRect">
              <a:avLst>
                <a:gd name="adj" fmla="val 50000"/>
              </a:avLst>
            </a:prstGeom>
            <a:solidFill>
              <a:srgbClr val="01708C"/>
            </a:solidFill>
            <a:ln>
              <a:noFill/>
            </a:ln>
          </p:spPr>
          <p:txBody>
            <a:bodyPr/>
            <a:lstStyle/>
            <a:p>
              <a:endParaRPr/>
            </a:p>
          </p:txBody>
        </p:sp>
        <p:sp>
          <p:nvSpPr>
            <p:cNvPr id="548" name="TEACH-move-text"/>
            <p:cNvSpPr txBox="1"/>
            <p:nvPr/>
          </p:nvSpPr>
          <p:spPr>
            <a:xfrm>
              <a:off x="6507480" y="1682496"/>
              <a:ext cx="5044440" cy="594360"/>
            </a:xfrm>
            <a:prstGeom prst="rect">
              <a:avLst/>
            </a:prstGeom>
            <a:noFill/>
            <a:ln>
              <a:noFill/>
            </a:ln>
          </p:spPr>
          <p:txBody>
            <a:bodyPr wrap="square" lIns="0" tIns="0" rIns="0" bIns="0" anchor="ctr">
              <a:noAutofit/>
            </a:bodyPr>
            <a:lstStyle/>
            <a:p>
              <a:pPr algn="l">
                <a:buNone/>
              </a:pPr>
              <a:r>
                <a:rPr lang="en-US" sz="1200" b="1" dirty="0">
                  <a:solidFill>
                    <a:srgbClr val="01708C"/>
                  </a:solidFill>
                  <a:latin typeface="Arial"/>
                </a:rPr>
                <a:t>NAME THE MATH  ·  </a:t>
              </a:r>
              <a:r>
                <a:rPr lang="en-US" sz="1200" dirty="0">
                  <a:solidFill>
                    <a:srgbClr val="13303A"/>
                  </a:solidFill>
                  <a:latin typeface="Arial"/>
                </a:rPr>
                <a:t>Point to the part of this that is new today, and say what it changes.</a:t>
              </a:r>
              <a:endParaRPr lang="en-US" sz="1200"/>
            </a:p>
          </p:txBody>
        </p:sp>
      </p:gr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3" name="Shape 683"/>
        <p:cNvGrpSpPr/>
        <p:nvPr/>
      </p:nvGrpSpPr>
      <p:grpSpPr>
        <a:xfrm>
          <a:off x="0" y="0"/>
          <a:ext cx="0" cy="0"/>
          <a:chOff x="0" y="0"/>
          <a:chExt cx="0" cy="0"/>
        </a:xfrm>
      </p:grpSpPr>
      <p:sp>
        <p:nvSpPr>
          <p:cNvPr id="684" name="Google Shape;684;p68"/>
          <p:cNvSpPr txBox="1"/>
          <p:nvPr/>
        </p:nvSpPr>
        <p:spPr>
          <a:xfrm>
            <a:off x="1402828" y="2453950"/>
            <a:ext cx="9144000" cy="2176463"/>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3600"/>
              <a:buFont typeface="Arial"/>
              <a:buNone/>
              <a:defRPr/>
            </a:pPr>
            <a:r>
              <a:rPr b="1" i="0" lang="en-US" sz="3600" u="none" cap="none" strike="noStrike">
                <a:solidFill>
                  <a:schemeClr val="dk1"/>
                </a:solidFill>
                <a:latin typeface="Arial"/>
                <a:ea typeface="Arial"/>
                <a:cs typeface="Arial"/>
                <a:sym typeface="Arial"/>
              </a:rPr>
              <a:t>Generate Equivalent Expressions</a:t>
            </a:r>
            <a:endParaRPr b="0" i="0" sz="1400" u="none" cap="none" strike="noStrike">
              <a:solidFill>
                <a:srgbClr val="000000"/>
              </a:solidFill>
              <a:latin typeface="Arial"/>
              <a:ea typeface="Arial"/>
              <a:cs typeface="Arial"/>
              <a:sym typeface="Arial"/>
            </a:endParaRPr>
          </a:p>
        </p:txBody>
      </p:sp>
      <p:sp>
        <p:nvSpPr>
          <p:cNvPr id="685" name="Google Shape;685;p68"/>
          <p:cNvSpPr/>
          <p:nvPr/>
        </p:nvSpPr>
        <p:spPr>
          <a:xfrm>
            <a:off x="1402828" y="1037162"/>
            <a:ext cx="1763624" cy="52322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defRPr/>
            </a:pPr>
            <a:r>
              <a:rPr b="0" i="0" lang="en-US" sz="2800" u="none" cap="none" strike="noStrike">
                <a:solidFill>
                  <a:srgbClr val="01708C"/>
                </a:solidFill>
                <a:latin typeface="Arial"/>
                <a:ea typeface="Arial"/>
                <a:cs typeface="Arial"/>
                <a:sym typeface="Arial"/>
              </a:rPr>
              <a:t>Session 2</a:t>
            </a:r>
            <a:endParaRPr b="1" i="0" sz="2800" u="none" cap="none" strike="noStrike">
              <a:solidFill>
                <a:srgbClr val="01708C"/>
              </a:solidFill>
              <a:latin typeface="Arial"/>
              <a:ea typeface="Arial"/>
              <a:cs typeface="Arial"/>
              <a:sym typeface="Arial"/>
            </a:endParaRPr>
          </a:p>
        </p:txBody>
      </p:sp>
      <p:cxnSp>
        <p:nvCxnSpPr>
          <p:cNvPr id="686" name="Google Shape;686;p68"/>
          <p:cNvCxnSpPr/>
          <p:nvPr/>
        </p:nvCxnSpPr>
        <p:spPr>
          <a:xfrm>
            <a:off x="-1" y="1560382"/>
            <a:ext cx="3166453" cy="0"/>
          </a:xfrm>
          <a:prstGeom prst="straightConnector1">
            <a:avLst/>
          </a:prstGeom>
          <a:noFill/>
          <a:ln cap="flat" cmpd="sng" w="19050">
            <a:solidFill>
              <a:srgbClr val="01708C"/>
            </a:solidFill>
            <a:prstDash val="solid"/>
            <a:miter lim="80"/>
            <a:headEnd len="sm" w="sm" type="none"/>
            <a:tailEnd len="sm" w="sm" type="none"/>
          </a:ln>
        </p:spPr>
      </p:cxnSp>
      <p:sp>
        <p:nvSpPr>
          <p:cNvPr id="687"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26 / 41</a:t>
            </a:r>
          </a:p>
        </p:txBody>
      </p:sp>
      <p:grpSp>
        <p:nvGrpSpPr>
          <p:cNvPr id="688" name="TEACH-4-student-move" descr="TEACH 4 · Monitor progress and provide feedback"/>
          <p:cNvGrpSpPr/>
          <p:nvPr/>
        </p:nvGrpSpPr>
        <p:grpSpPr>
          <a:xfrm>
            <a:off x="502920" y="3201929"/>
            <a:ext cx="11186160" cy="731520"/>
            <a:chOff x="502920" y="3201929"/>
            <a:chExt cx="11186160" cy="731520"/>
          </a:xfrm>
        </p:grpSpPr>
        <p:sp>
          <p:nvSpPr>
            <p:cNvPr id="689" name="TEACH-move-card"/>
            <p:cNvSpPr/>
            <p:nvPr/>
          </p:nvSpPr>
          <p:spPr>
            <a:xfrm>
              <a:off x="502920" y="3201929"/>
              <a:ext cx="11186160" cy="731520"/>
            </a:xfrm>
            <a:prstGeom prst="roundRect">
              <a:avLst>
                <a:gd name="adj" fmla="val 16000"/>
              </a:avLst>
            </a:prstGeom>
            <a:solidFill>
              <a:srgbClr val="E4F0F5"/>
            </a:solidFill>
            <a:ln w="19050">
              <a:solidFill>
                <a:srgbClr val="8CB8C7"/>
              </a:solidFill>
            </a:ln>
          </p:spPr>
          <p:txBody>
            <a:bodyPr/>
            <a:lstStyle/>
            <a:p>
              <a:endParaRPr/>
            </a:p>
          </p:txBody>
        </p:sp>
        <p:sp>
          <p:nvSpPr>
            <p:cNvPr id="690" name="TEACH-move-rule"/>
            <p:cNvSpPr/>
            <p:nvPr/>
          </p:nvSpPr>
          <p:spPr>
            <a:xfrm>
              <a:off x="548640" y="3340918"/>
              <a:ext cx="100584" cy="453542"/>
            </a:xfrm>
            <a:prstGeom prst="roundRect">
              <a:avLst>
                <a:gd name="adj" fmla="val 50000"/>
              </a:avLst>
            </a:prstGeom>
            <a:solidFill>
              <a:srgbClr val="01708C"/>
            </a:solidFill>
            <a:ln>
              <a:noFill/>
            </a:ln>
          </p:spPr>
          <p:txBody>
            <a:bodyPr/>
            <a:lstStyle/>
            <a:p>
              <a:endParaRPr/>
            </a:p>
          </p:txBody>
        </p:sp>
        <p:sp>
          <p:nvSpPr>
            <p:cNvPr id="691" name="TEACH-move-text"/>
            <p:cNvSpPr txBox="1"/>
            <p:nvPr/>
          </p:nvSpPr>
          <p:spPr>
            <a:xfrm>
              <a:off x="822960" y="3201929"/>
              <a:ext cx="10728960" cy="731520"/>
            </a:xfrm>
            <a:prstGeom prst="rect">
              <a:avLst/>
            </a:prstGeom>
            <a:noFill/>
            <a:ln>
              <a:noFill/>
            </a:ln>
          </p:spPr>
          <p:txBody>
            <a:bodyPr wrap="square" lIns="0" tIns="0" rIns="0" bIns="0" anchor="ctr">
              <a:noAutofit/>
            </a:bodyPr>
            <a:lstStyle/>
            <a:p>
              <a:pPr algn="l">
                <a:buNone/>
              </a:pPr>
              <a:r>
                <a:rPr lang="en-US" sz="1800" b="1" dirty="0">
                  <a:solidFill>
                    <a:srgbClr val="01708C"/>
                  </a:solidFill>
                  <a:latin typeface="Arial"/>
                </a:rPr>
                <a:t>SELF-CHECK  ·  </a:t>
              </a:r>
              <a:r>
                <a:rPr lang="en-US" sz="1800" dirty="0">
                  <a:solidFill>
                    <a:srgbClr val="13303A"/>
                  </a:solidFill>
                  <a:latin typeface="Arial"/>
                </a:rPr>
                <a:t>Mark it: ✓ got it  ·  ~ almost  ·  ? stuck. Then fix one thing before we move on.</a:t>
              </a:r>
              <a:endParaRPr lang="en-US" sz="1800"/>
            </a:p>
          </p:txBody>
        </p:sp>
      </p:gr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1" name="Shape 821"/>
        <p:cNvGrpSpPr/>
        <p:nvPr/>
      </p:nvGrpSpPr>
      <p:grpSpPr>
        <a:xfrm>
          <a:off x="0" y="0"/>
          <a:ext cx="0" cy="0"/>
          <a:chOff x="0" y="0"/>
          <a:chExt cx="0" cy="0"/>
        </a:xfrm>
      </p:grpSpPr>
      <p:cxnSp>
        <p:nvCxnSpPr>
          <p:cNvPr id="822" name="Google Shape;822;p84"/>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823" name="Google Shape;823;p84"/>
          <p:cNvSpPr txBox="1"/>
          <p:nvPr/>
        </p:nvSpPr>
        <p:spPr>
          <a:xfrm>
            <a:off x="484564" y="936101"/>
            <a:ext cx="7299786" cy="3694088"/>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62626"/>
              </a:buClr>
              <a:buSzPts val="2800"/>
              <a:buFont typeface="Arial"/>
              <a:buNone/>
              <a:defRPr/>
            </a:pPr>
            <a:r>
              <a:rPr b="0" i="0" lang="en-US" sz="2800" u="none" cap="none" strike="noStrike">
                <a:solidFill>
                  <a:srgbClr val="23282D"/>
                </a:solidFill>
                <a:latin typeface="Arial"/>
                <a:ea typeface="Arial"/>
                <a:cs typeface="Arial"/>
                <a:sym typeface="Arial"/>
              </a:rPr>
              <a:t>Let’s use the properties of operations to find an equivalent expression another way.</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800"/>
              </a:spcBef>
              <a:spcAft>
                <a:spcPts val="0"/>
              </a:spcAft>
              <a:buClr>
                <a:srgbClr val="262626"/>
              </a:buClr>
              <a:buSzPts val="2800"/>
              <a:buFont typeface="Arial"/>
              <a:buNone/>
              <a:defRPr/>
            </a:pPr>
            <a:r>
              <a:rPr b="0" i="0" lang="en-US" sz="2800" u="none" cap="none" strike="noStrike">
                <a:solidFill>
                  <a:srgbClr val="23282D"/>
                </a:solidFill>
                <a:latin typeface="Arial"/>
                <a:ea typeface="Arial"/>
                <a:cs typeface="Arial"/>
                <a:sym typeface="Arial"/>
              </a:rPr>
              <a:t>You have learned how to use a common factor to use the Distributive Property in reverse.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800"/>
              </a:spcBef>
              <a:spcAft>
                <a:spcPts val="0"/>
              </a:spcAft>
              <a:buClr>
                <a:srgbClr val="262626"/>
              </a:buClr>
              <a:buSzPts val="2800"/>
              <a:buFont typeface="Arial"/>
              <a:buNone/>
              <a:defRPr/>
            </a:pPr>
            <a:r>
              <a:rPr b="1" i="0" lang="en-US" sz="2800" u="none" cap="none" strike="noStrike">
                <a:solidFill>
                  <a:srgbClr val="23282D"/>
                </a:solidFill>
                <a:latin typeface="Arial"/>
                <a:ea typeface="Arial"/>
                <a:cs typeface="Arial"/>
                <a:sym typeface="Arial"/>
              </a:rPr>
              <a:t>How can you determine whether all four terms have a common factor?</a:t>
            </a:r>
            <a:endParaRPr b="0" i="0" sz="1400" u="none" cap="none" strike="noStrike">
              <a:solidFill>
                <a:srgbClr val="000000"/>
              </a:solidFill>
              <a:latin typeface="Arial"/>
              <a:ea typeface="Arial"/>
              <a:cs typeface="Arial"/>
              <a:sym typeface="Arial"/>
            </a:endParaRPr>
          </a:p>
        </p:txBody>
      </p:sp>
      <p:sp>
        <p:nvSpPr>
          <p:cNvPr id="824" name="Google Shape;824;p84"/>
          <p:cNvSpPr txBox="1"/>
          <p:nvPr/>
        </p:nvSpPr>
        <p:spPr>
          <a:xfrm>
            <a:off x="531479" y="4826043"/>
            <a:ext cx="11172841" cy="1591383"/>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70C0"/>
              </a:buClr>
              <a:buSzPts val="2800"/>
              <a:buFont typeface="Arial"/>
              <a:buNone/>
              <a:defRPr/>
            </a:pPr>
            <a:r>
              <a:rPr b="1" i="0" lang="en-US" sz="2800" u="none" cap="none" strike="noStrike">
                <a:solidFill>
                  <a:srgbClr val="0070C0"/>
                </a:solidFill>
                <a:highlight>
                  <a:srgbClr val="E0E0E0"/>
                </a:highlight>
                <a:latin typeface="Arial"/>
                <a:ea typeface="Arial"/>
                <a:cs typeface="Arial"/>
                <a:sym typeface="Arial"/>
              </a:rPr>
              <a:t> Reveal</a:t>
            </a:r>
            <a:r>
              <a:rPr b="1" i="0" lang="en-US" sz="2800" u="none" cap="none" strike="noStrike">
                <a:solidFill>
                  <a:srgbClr val="E0E0E0"/>
                </a:solidFill>
                <a:highlight>
                  <a:srgbClr val="E0E0E0"/>
                </a:highlight>
                <a:latin typeface="Arial"/>
                <a:ea typeface="Arial"/>
                <a:cs typeface="Arial"/>
                <a:sym typeface="Arial"/>
              </a:rPr>
              <a:t>:</a:t>
            </a:r>
            <a:r>
              <a:rPr b="1" i="0" lang="en-US" sz="2800" u="none" cap="none" strike="noStrike">
                <a:solidFill>
                  <a:srgbClr val="0070C0"/>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p:txBody>
      </p:sp>
      <p:pic>
        <p:nvPicPr>
          <p:cNvPr id="825" name="Google Shape;825;p84"/>
          <p:cNvPicPr preferRelativeResize="0"/>
          <p:nvPr/>
        </p:nvPicPr>
        <p:blipFill rotWithShape="1">
          <a:blip r:embed="rId3">
            <a:alphaModFix/>
          </a:blip>
          <a:srcRect b="0" l="0" r="0" t="0"/>
          <a:stretch/>
        </p:blipFill>
        <p:spPr>
          <a:xfrm>
            <a:off x="8428787" y="1461422"/>
            <a:ext cx="3190875" cy="3762375"/>
          </a:xfrm>
          <a:prstGeom prst="rect">
            <a:avLst/>
          </a:prstGeom>
          <a:noFill/>
          <a:ln>
            <a:noFill/>
          </a:ln>
        </p:spPr>
      </p:pic>
      <p:sp>
        <p:nvSpPr>
          <p:cNvPr id="826" name="Google Shape;826;p84"/>
          <p:cNvSpPr txBox="1"/>
          <p:nvPr/>
        </p:nvSpPr>
        <p:spPr>
          <a:xfrm>
            <a:off x="484565" y="316034"/>
            <a:ext cx="5301093" cy="620067"/>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030A0"/>
              </a:buClr>
              <a:buSzPts val="2800"/>
              <a:buFont typeface="Arial"/>
              <a:buNone/>
              <a:defRPr/>
            </a:pPr>
            <a:r>
              <a:rPr b="1" i="0" lang="en-US" sz="2800" u="none" cap="none" strike="noStrike">
                <a:solidFill>
                  <a:srgbClr val="782DA0"/>
                </a:solidFill>
                <a:latin typeface="Arial"/>
                <a:ea typeface="Arial"/>
                <a:cs typeface="Arial"/>
                <a:sym typeface="Arial"/>
              </a:rPr>
              <a:t>How Many Can You Find?</a:t>
            </a:r>
            <a:endParaRPr b="0" i="0" sz="1400" u="none" cap="none" strike="noStrike">
              <a:solidFill>
                <a:srgbClr val="000000"/>
              </a:solidFill>
              <a:latin typeface="Arial"/>
              <a:ea typeface="Arial"/>
              <a:cs typeface="Arial"/>
              <a:sym typeface="Arial"/>
            </a:endParaRPr>
          </a:p>
        </p:txBody>
      </p:sp>
      <p:sp>
        <p:nvSpPr>
          <p:cNvPr id="827"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27 / 41</a:t>
            </a:r>
          </a:p>
        </p:txBody>
      </p:sp>
      <p:grpSp>
        <p:nvGrpSpPr>
          <p:cNvPr id="828" name="TEACH-2-student-move" descr="TEACH 2 · Use strategies and tasks to engage students in rigorous work"/>
          <p:cNvGrpSpPr/>
          <p:nvPr/>
        </p:nvGrpSpPr>
        <p:grpSpPr>
          <a:xfrm>
            <a:off x="502920" y="5472790"/>
            <a:ext cx="11186160" cy="402336"/>
            <a:chOff x="502920" y="5472790"/>
            <a:chExt cx="11186160" cy="402336"/>
          </a:xfrm>
        </p:grpSpPr>
        <p:sp>
          <p:nvSpPr>
            <p:cNvPr id="829" name="TEACH-move-card"/>
            <p:cNvSpPr/>
            <p:nvPr/>
          </p:nvSpPr>
          <p:spPr>
            <a:xfrm>
              <a:off x="502920" y="5472790"/>
              <a:ext cx="11186160" cy="402336"/>
            </a:xfrm>
            <a:prstGeom prst="roundRect">
              <a:avLst>
                <a:gd name="adj" fmla="val 16000"/>
              </a:avLst>
            </a:prstGeom>
            <a:solidFill>
              <a:srgbClr val="E4F0F5"/>
            </a:solidFill>
            <a:ln w="19050">
              <a:solidFill>
                <a:srgbClr val="8CB8C7"/>
              </a:solidFill>
            </a:ln>
          </p:spPr>
          <p:txBody>
            <a:bodyPr/>
            <a:lstStyle/>
            <a:p>
              <a:endParaRPr/>
            </a:p>
          </p:txBody>
        </p:sp>
        <p:sp>
          <p:nvSpPr>
            <p:cNvPr id="830" name="TEACH-move-rule"/>
            <p:cNvSpPr/>
            <p:nvPr/>
          </p:nvSpPr>
          <p:spPr>
            <a:xfrm>
              <a:off x="548640" y="5549234"/>
              <a:ext cx="100584" cy="249448"/>
            </a:xfrm>
            <a:prstGeom prst="roundRect">
              <a:avLst>
                <a:gd name="adj" fmla="val 50000"/>
              </a:avLst>
            </a:prstGeom>
            <a:solidFill>
              <a:srgbClr val="01708C"/>
            </a:solidFill>
            <a:ln>
              <a:noFill/>
            </a:ln>
          </p:spPr>
          <p:txBody>
            <a:bodyPr/>
            <a:lstStyle/>
            <a:p>
              <a:endParaRPr/>
            </a:p>
          </p:txBody>
        </p:sp>
        <p:sp>
          <p:nvSpPr>
            <p:cNvPr id="831" name="TEACH-move-text"/>
            <p:cNvSpPr txBox="1"/>
            <p:nvPr/>
          </p:nvSpPr>
          <p:spPr>
            <a:xfrm>
              <a:off x="822960" y="5472790"/>
              <a:ext cx="10728960" cy="402336"/>
            </a:xfrm>
            <a:prstGeom prst="rect">
              <a:avLst/>
            </a:prstGeom>
            <a:noFill/>
            <a:ln>
              <a:noFill/>
            </a:ln>
          </p:spPr>
          <p:txBody>
            <a:bodyPr wrap="square" lIns="0" tIns="0" rIns="0" bIns="0" anchor="ctr">
              <a:noAutofit/>
            </a:bodyPr>
            <a:lstStyle/>
            <a:p>
              <a:pPr algn="l">
                <a:buNone/>
              </a:pPr>
              <a:r>
                <a:rPr lang="en-US" sz="1200" b="1" dirty="0">
                  <a:solidFill>
                    <a:srgbClr val="01708C"/>
                  </a:solidFill>
                  <a:latin typeface="Arial"/>
                </a:rPr>
                <a:t>PICK YOUR STRATEGY  ·  </a:t>
              </a:r>
              <a:r>
                <a:rPr lang="en-US" sz="1200" dirty="0">
                  <a:solidFill>
                    <a:srgbClr val="13303A"/>
                  </a:solidFill>
                  <a:latin typeface="Arial"/>
                </a:rPr>
                <a:t>Choose your path — picture, table, number line, or equation — and be ready to say why you chose it.</a:t>
              </a:r>
              <a:endParaRPr lang="en-US" sz="1200"/>
            </a:p>
          </p:txBody>
        </p:sp>
      </p:gr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7" name="Shape 857"/>
        <p:cNvGrpSpPr/>
        <p:nvPr/>
      </p:nvGrpSpPr>
      <p:grpSpPr>
        <a:xfrm>
          <a:off x="0" y="0"/>
          <a:ext cx="0" cy="0"/>
          <a:chOff x="0" y="0"/>
          <a:chExt cx="0" cy="0"/>
        </a:xfrm>
      </p:grpSpPr>
      <p:cxnSp>
        <p:nvCxnSpPr>
          <p:cNvPr id="858" name="Google Shape;858;p88"/>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859" name="Google Shape;859;p88"/>
          <p:cNvSpPr txBox="1"/>
          <p:nvPr/>
        </p:nvSpPr>
        <p:spPr>
          <a:xfrm>
            <a:off x="484564" y="936102"/>
            <a:ext cx="7919603" cy="2721498"/>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62626"/>
              </a:buClr>
              <a:buSzPts val="2800"/>
              <a:buFont typeface="Arial"/>
              <a:buNone/>
              <a:defRPr/>
            </a:pPr>
            <a:r>
              <a:rPr b="0" i="0" lang="en-US" sz="2800" u="none" cap="none" strike="noStrike">
                <a:solidFill>
                  <a:srgbClr val="23282D"/>
                </a:solidFill>
                <a:latin typeface="Arial"/>
                <a:ea typeface="Arial"/>
                <a:cs typeface="Arial"/>
                <a:sym typeface="Arial"/>
              </a:rPr>
              <a:t>The greatest common factor of the four terms is 2.</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800"/>
              </a:spcBef>
              <a:spcAft>
                <a:spcPts val="0"/>
              </a:spcAft>
              <a:buClr>
                <a:schemeClr val="dk2"/>
              </a:buClr>
              <a:buSzPts val="2800"/>
              <a:buFont typeface="Arial"/>
              <a:buNone/>
              <a:defRPr/>
            </a:pPr>
            <a:r>
              <a:rPr/>
              <a:t/>
            </a:r>
            <a:endParaRPr b="0" i="0" sz="2800" u="none" cap="none" strike="noStrike">
              <a:solidFill>
                <a:srgbClr val="262626"/>
              </a:solidFill>
              <a:latin typeface="Arial"/>
              <a:ea typeface="Arial"/>
              <a:cs typeface="Arial"/>
              <a:sym typeface="Arial"/>
            </a:endParaRPr>
          </a:p>
          <a:p>
            <a:pPr indent="0" lvl="0" marL="0" marR="0" rtl="0" algn="l">
              <a:lnSpc>
                <a:spcPct val="100000"/>
              </a:lnSpc>
              <a:spcBef>
                <a:spcPts val="1800"/>
              </a:spcBef>
              <a:spcAft>
                <a:spcPts val="0"/>
              </a:spcAft>
              <a:buClr>
                <a:srgbClr val="262626"/>
              </a:buClr>
              <a:buSzPts val="2800"/>
              <a:buFont typeface="Arial"/>
              <a:buNone/>
              <a:defRPr/>
            </a:pPr>
            <a:r>
              <a:rPr b="1" i="0" lang="en-US" sz="2800" u="none" cap="none" strike="noStrike">
                <a:solidFill>
                  <a:srgbClr val="23282D"/>
                </a:solidFill>
                <a:latin typeface="Arial"/>
                <a:ea typeface="Arial"/>
                <a:cs typeface="Arial"/>
                <a:sym typeface="Arial"/>
              </a:rPr>
              <a:t>How can you use the GCF to rewrite the expression in a different way?</a:t>
            </a:r>
            <a:endParaRPr b="0" i="0" sz="1400" u="none" cap="none" strike="noStrike">
              <a:solidFill>
                <a:srgbClr val="000000"/>
              </a:solidFill>
              <a:latin typeface="Arial"/>
              <a:ea typeface="Arial"/>
              <a:cs typeface="Arial"/>
              <a:sym typeface="Arial"/>
            </a:endParaRPr>
          </a:p>
        </p:txBody>
      </p:sp>
      <p:sp>
        <p:nvSpPr>
          <p:cNvPr id="860" name="Google Shape;860;p88"/>
          <p:cNvSpPr txBox="1"/>
          <p:nvPr/>
        </p:nvSpPr>
        <p:spPr>
          <a:xfrm>
            <a:off x="531479" y="4447353"/>
            <a:ext cx="11447161" cy="1923891"/>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70C0"/>
              </a:buClr>
              <a:buSzPts val="2800"/>
              <a:buFont typeface="Arial"/>
              <a:buNone/>
              <a:defRPr/>
            </a:pPr>
            <a:r>
              <a:rPr b="1" i="0" lang="en-US" sz="2800" u="none" cap="none" strike="noStrike">
                <a:solidFill>
                  <a:srgbClr val="0070C0"/>
                </a:solidFill>
                <a:highlight>
                  <a:srgbClr val="E0E0E0"/>
                </a:highlight>
                <a:latin typeface="Arial"/>
                <a:ea typeface="Arial"/>
                <a:cs typeface="Arial"/>
                <a:sym typeface="Arial"/>
              </a:rPr>
              <a:t> Reveal</a:t>
            </a:r>
            <a:r>
              <a:rPr b="1" i="0" lang="en-US" sz="2800" u="none" cap="none" strike="noStrike">
                <a:solidFill>
                  <a:srgbClr val="E0E0E0"/>
                </a:solidFill>
                <a:highlight>
                  <a:srgbClr val="E0E0E0"/>
                </a:highlight>
                <a:latin typeface="Arial"/>
                <a:ea typeface="Arial"/>
                <a:cs typeface="Arial"/>
                <a:sym typeface="Arial"/>
              </a:rPr>
              <a:t>:</a:t>
            </a:r>
            <a:r>
              <a:rPr b="1" i="0" lang="en-US" sz="2800" u="none" cap="none" strike="noStrike">
                <a:solidFill>
                  <a:srgbClr val="0070C0"/>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200"/>
              </a:spcBef>
              <a:spcAft>
                <a:spcPts val="0"/>
              </a:spcAft>
              <a:buClr>
                <a:srgbClr val="595959"/>
              </a:buClr>
              <a:buSzPts val="2800"/>
              <a:buFont typeface="Arial"/>
              <a:buNone/>
              <a:defRPr/>
            </a:pPr>
            <a:r>
              <a:rPr b="0" i="0" lang="en-US" sz="2800" u="none" cap="none" strike="noStrike">
                <a:solidFill>
                  <a:srgbClr val="595959"/>
                </a:solidFill>
                <a:latin typeface="Arial"/>
                <a:ea typeface="Arial"/>
                <a:cs typeface="Arial"/>
                <a:sym typeface="Arial"/>
              </a:rPr>
              <a:t>We can divide each term by the GCF to find the other factor for each term. Then we can use the Distributive Property to write the expression as the product of the GCF and the sum of the other factors.</a:t>
            </a:r>
            <a:endParaRPr b="0" i="1" sz="2800" u="none" cap="none" strike="noStrike">
              <a:solidFill>
                <a:srgbClr val="595959"/>
              </a:solidFill>
              <a:latin typeface="Arial"/>
              <a:ea typeface="Arial"/>
              <a:cs typeface="Arial"/>
              <a:sym typeface="Arial"/>
            </a:endParaRPr>
          </a:p>
        </p:txBody>
      </p:sp>
      <p:pic>
        <p:nvPicPr>
          <p:cNvPr id="861" name="Google Shape;861;p88"/>
          <p:cNvPicPr preferRelativeResize="0"/>
          <p:nvPr/>
        </p:nvPicPr>
        <p:blipFill rotWithShape="1">
          <a:blip r:embed="rId3">
            <a:alphaModFix/>
          </a:blip>
          <a:srcRect b="0" l="0" r="0" t="0"/>
          <a:stretch/>
        </p:blipFill>
        <p:spPr>
          <a:xfrm>
            <a:off x="8428787" y="1212042"/>
            <a:ext cx="3190875" cy="3762375"/>
          </a:xfrm>
          <a:prstGeom prst="rect">
            <a:avLst/>
          </a:prstGeom>
          <a:noFill/>
          <a:ln>
            <a:noFill/>
          </a:ln>
        </p:spPr>
      </p:pic>
      <p:sp>
        <p:nvSpPr>
          <p:cNvPr id="862" name="Google Shape;862;p88"/>
          <p:cNvSpPr txBox="1"/>
          <p:nvPr/>
        </p:nvSpPr>
        <p:spPr>
          <a:xfrm>
            <a:off x="484565" y="316034"/>
            <a:ext cx="5301093" cy="620067"/>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030A0"/>
              </a:buClr>
              <a:buSzPts val="2800"/>
              <a:buFont typeface="Arial"/>
              <a:buNone/>
              <a:defRPr/>
            </a:pPr>
            <a:r>
              <a:rPr b="1" i="0" lang="en-US" sz="2800" u="none" cap="none" strike="noStrike">
                <a:solidFill>
                  <a:srgbClr val="782DA0"/>
                </a:solidFill>
                <a:latin typeface="Arial"/>
                <a:ea typeface="Arial"/>
                <a:cs typeface="Arial"/>
                <a:sym typeface="Arial"/>
              </a:rPr>
              <a:t>How Many Can You Find?</a:t>
            </a:r>
            <a:endParaRPr b="0" i="0" sz="1400" u="none" cap="none" strike="noStrike">
              <a:solidFill>
                <a:srgbClr val="000000"/>
              </a:solidFill>
              <a:latin typeface="Arial"/>
              <a:ea typeface="Arial"/>
              <a:cs typeface="Arial"/>
              <a:sym typeface="Arial"/>
            </a:endParaRPr>
          </a:p>
        </p:txBody>
      </p:sp>
      <p:sp>
        <p:nvSpPr>
          <p:cNvPr id="863"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28 / 41</a:t>
            </a:r>
          </a:p>
        </p:txBody>
      </p:sp>
      <p:sp>
        <p:nvSpPr>
          <p:cNvPr id="864" name="EWL-COVER-1"/>
          <p:cNvSpPr/>
          <p:nvPr/>
        </p:nvSpPr>
        <p:spPr>
          <a:xfrm>
            <a:off x="476615" y="4392489"/>
            <a:ext cx="11556889" cy="2033619"/>
          </a:xfrm>
          <a:prstGeom prst="rect">
            <a:avLst/>
          </a:prstGeom>
          <a:solidFill>
            <a:srgbClr val="FFFFFF"/>
          </a:solidFill>
          <a:ln>
            <a:noFill/>
          </a:ln>
        </p:spPr>
        <p:txBody>
          <a:bodyPr/>
          <a:lstStyle/>
          <a:p/>
        </p:txBody>
      </p:sp>
      <p:grpSp>
        <p:nvGrpSpPr>
          <p:cNvPr id="865" name="TEACH-3-student-move" descr="TEACH 3 · Use intentional questioning to deepen learning"/>
          <p:cNvGrpSpPr/>
          <p:nvPr/>
        </p:nvGrpSpPr>
        <p:grpSpPr>
          <a:xfrm>
            <a:off x="502920" y="3770697"/>
            <a:ext cx="5501640" cy="594360"/>
            <a:chOff x="502920" y="3770697"/>
            <a:chExt cx="5501640" cy="594360"/>
          </a:xfrm>
        </p:grpSpPr>
        <p:sp>
          <p:nvSpPr>
            <p:cNvPr id="866" name="TEACH-move-card"/>
            <p:cNvSpPr/>
            <p:nvPr/>
          </p:nvSpPr>
          <p:spPr>
            <a:xfrm>
              <a:off x="502920" y="3770697"/>
              <a:ext cx="5501640" cy="594360"/>
            </a:xfrm>
            <a:prstGeom prst="roundRect">
              <a:avLst>
                <a:gd name="adj" fmla="val 16000"/>
              </a:avLst>
            </a:prstGeom>
            <a:solidFill>
              <a:srgbClr val="E4F0F5"/>
            </a:solidFill>
            <a:ln w="19050">
              <a:solidFill>
                <a:srgbClr val="8CB8C7"/>
              </a:solidFill>
            </a:ln>
          </p:spPr>
          <p:txBody>
            <a:bodyPr/>
            <a:lstStyle/>
            <a:p>
              <a:endParaRPr/>
            </a:p>
          </p:txBody>
        </p:sp>
        <p:sp>
          <p:nvSpPr>
            <p:cNvPr id="867" name="TEACH-move-rule"/>
            <p:cNvSpPr/>
            <p:nvPr/>
          </p:nvSpPr>
          <p:spPr>
            <a:xfrm>
              <a:off x="548640" y="3883625"/>
              <a:ext cx="100584" cy="368504"/>
            </a:xfrm>
            <a:prstGeom prst="roundRect">
              <a:avLst>
                <a:gd name="adj" fmla="val 50000"/>
              </a:avLst>
            </a:prstGeom>
            <a:solidFill>
              <a:srgbClr val="01708C"/>
            </a:solidFill>
            <a:ln>
              <a:noFill/>
            </a:ln>
          </p:spPr>
          <p:txBody>
            <a:bodyPr/>
            <a:lstStyle/>
            <a:p>
              <a:endParaRPr/>
            </a:p>
          </p:txBody>
        </p:sp>
        <p:sp>
          <p:nvSpPr>
            <p:cNvPr id="868" name="TEACH-move-text"/>
            <p:cNvSpPr txBox="1"/>
            <p:nvPr/>
          </p:nvSpPr>
          <p:spPr>
            <a:xfrm>
              <a:off x="822960" y="3770697"/>
              <a:ext cx="5044440" cy="594360"/>
            </a:xfrm>
            <a:prstGeom prst="rect">
              <a:avLst/>
            </a:prstGeom>
            <a:noFill/>
            <a:ln>
              <a:noFill/>
            </a:ln>
          </p:spPr>
          <p:txBody>
            <a:bodyPr wrap="square" lIns="0" tIns="0" rIns="0" bIns="0" anchor="ctr">
              <a:noAutofit/>
            </a:bodyPr>
            <a:lstStyle/>
            <a:p>
              <a:pPr algn="l">
                <a:buNone/>
              </a:pPr>
              <a:r>
                <a:rPr lang="en-US" sz="1200" b="1" dirty="0">
                  <a:solidFill>
                    <a:srgbClr val="01708C"/>
                  </a:solidFill>
                  <a:latin typeface="Arial"/>
                </a:rPr>
                <a:t>ANOTHER PATHWAY  ·  </a:t>
              </a:r>
              <a:r>
                <a:rPr lang="en-US" sz="1200" dirty="0">
                  <a:solidFill>
                    <a:srgbClr val="13303A"/>
                  </a:solidFill>
                  <a:latin typeface="Arial"/>
                </a:rPr>
                <a:t>Did anyone get there a different way? Put both pathways side by side and compare.</a:t>
              </a:r>
              <a:endParaRPr lang="en-US" sz="1200"/>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864"/>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5" name="Shape 875"/>
        <p:cNvGrpSpPr/>
        <p:nvPr/>
      </p:nvGrpSpPr>
      <p:grpSpPr>
        <a:xfrm>
          <a:off x="0" y="0"/>
          <a:ext cx="0" cy="0"/>
          <a:chOff x="0" y="0"/>
          <a:chExt cx="0" cy="0"/>
        </a:xfrm>
      </p:grpSpPr>
      <p:cxnSp>
        <p:nvCxnSpPr>
          <p:cNvPr id="876" name="Google Shape;876;p90"/>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877" name="Google Shape;877;p90"/>
          <p:cNvSpPr txBox="1"/>
          <p:nvPr/>
        </p:nvSpPr>
        <p:spPr>
          <a:xfrm>
            <a:off x="484565" y="936101"/>
            <a:ext cx="7416424" cy="4126349"/>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62626"/>
              </a:buClr>
              <a:buSzPts val="2800"/>
              <a:buFont typeface="Arial"/>
              <a:buNone/>
            </a:pPr>
            <a:r>
              <a:rPr b="0" i="0" lang="en-US" sz="2800" u="none" cap="none" strike="noStrike">
                <a:solidFill>
                  <a:srgbClr val="23282D"/>
                </a:solidFill>
                <a:latin typeface="Arial"/>
                <a:ea typeface="Arial"/>
                <a:cs typeface="Arial"/>
                <a:sym typeface="Arial"/>
              </a:rPr>
              <a:t>Let’s use the Distributive Property to rewrite the expression.</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800"/>
              </a:spcBef>
              <a:spcAft>
                <a:spcPts val="0"/>
              </a:spcAft>
              <a:buClr>
                <a:schemeClr val="dk2"/>
              </a:buClr>
              <a:buSzPts val="2800"/>
              <a:buFont typeface="Arial"/>
              <a:buNone/>
            </a:pPr>
            <a:r>
              <a:t/>
            </a:r>
            <a:endParaRPr b="0" i="0" sz="2800" u="none" cap="none" strike="noStrike">
              <a:solidFill>
                <a:srgbClr val="262626"/>
              </a:solidFill>
              <a:latin typeface="Arial"/>
              <a:ea typeface="Arial"/>
              <a:cs typeface="Arial"/>
              <a:sym typeface="Arial"/>
            </a:endParaRPr>
          </a:p>
          <a:p>
            <a:pPr indent="0" lvl="0" marL="0" marR="0" rtl="0" algn="l">
              <a:lnSpc>
                <a:spcPct val="100000"/>
              </a:lnSpc>
              <a:spcBef>
                <a:spcPts val="1800"/>
              </a:spcBef>
              <a:spcAft>
                <a:spcPts val="0"/>
              </a:spcAft>
              <a:buClr>
                <a:schemeClr val="dk2"/>
              </a:buClr>
              <a:buSzPts val="2800"/>
              <a:buFont typeface="Arial"/>
              <a:buNone/>
            </a:pPr>
            <a:r>
              <a:t/>
            </a:r>
            <a:endParaRPr b="1" i="0" sz="2800" u="none" cap="none" strike="noStrike">
              <a:solidFill>
                <a:srgbClr val="262626"/>
              </a:solidFill>
              <a:latin typeface="Arial"/>
              <a:ea typeface="Arial"/>
              <a:cs typeface="Arial"/>
              <a:sym typeface="Arial"/>
            </a:endParaRPr>
          </a:p>
          <a:p>
            <a:pPr indent="0" lvl="0" marL="0" marR="0" rtl="0" algn="l">
              <a:lnSpc>
                <a:spcPct val="100000"/>
              </a:lnSpc>
              <a:spcBef>
                <a:spcPts val="1800"/>
              </a:spcBef>
              <a:spcAft>
                <a:spcPts val="0"/>
              </a:spcAft>
              <a:buClr>
                <a:schemeClr val="dk2"/>
              </a:buClr>
              <a:buSzPts val="2800"/>
              <a:buFont typeface="Arial"/>
              <a:buNone/>
            </a:pPr>
            <a:r>
              <a:t/>
            </a:r>
            <a:endParaRPr b="1" i="0" sz="2800" u="none" cap="none" strike="noStrike">
              <a:solidFill>
                <a:srgbClr val="262626"/>
              </a:solidFill>
              <a:latin typeface="Arial"/>
              <a:ea typeface="Arial"/>
              <a:cs typeface="Arial"/>
              <a:sym typeface="Arial"/>
            </a:endParaRPr>
          </a:p>
          <a:p>
            <a:pPr indent="0" lvl="0" marL="0" marR="0" rtl="0" algn="l">
              <a:lnSpc>
                <a:spcPct val="100000"/>
              </a:lnSpc>
              <a:spcBef>
                <a:spcPts val="1800"/>
              </a:spcBef>
              <a:spcAft>
                <a:spcPts val="0"/>
              </a:spcAft>
              <a:buClr>
                <a:srgbClr val="262626"/>
              </a:buClr>
              <a:buSzPts val="2800"/>
              <a:buFont typeface="Arial"/>
              <a:buNone/>
            </a:pPr>
            <a:r>
              <a:rPr b="1" i="0" lang="en-US" sz="2800" u="none" cap="none" strike="noStrike">
                <a:solidFill>
                  <a:srgbClr val="23282D"/>
                </a:solidFill>
                <a:latin typeface="Arial"/>
                <a:ea typeface="Arial"/>
                <a:cs typeface="Arial"/>
                <a:sym typeface="Arial"/>
              </a:rPr>
              <a:t>Can the expression be further simplified? If so, how?</a:t>
            </a:r>
            <a:endParaRPr b="0" i="0" sz="1400" u="none" cap="none" strike="noStrike">
              <a:solidFill>
                <a:srgbClr val="000000"/>
              </a:solidFill>
              <a:latin typeface="Arial"/>
              <a:ea typeface="Arial"/>
              <a:cs typeface="Arial"/>
              <a:sym typeface="Arial"/>
            </a:endParaRPr>
          </a:p>
        </p:txBody>
      </p:sp>
      <p:sp>
        <p:nvSpPr>
          <p:cNvPr id="878" name="Google Shape;878;p90"/>
          <p:cNvSpPr txBox="1"/>
          <p:nvPr/>
        </p:nvSpPr>
        <p:spPr>
          <a:xfrm>
            <a:off x="531480" y="5243527"/>
            <a:ext cx="6409648" cy="110924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70C0"/>
              </a:buClr>
              <a:buSzPts val="2800"/>
              <a:buFont typeface="Arial"/>
              <a:buNone/>
            </a:pPr>
            <a:r>
              <a:rPr b="1" i="0" lang="en-US" sz="2800" u="none" cap="none" strike="noStrike">
                <a:solidFill>
                  <a:srgbClr val="0070C0"/>
                </a:solidFill>
                <a:highlight>
                  <a:srgbClr val="E0E0E0"/>
                </a:highlight>
                <a:latin typeface="Arial"/>
                <a:ea typeface="Arial"/>
                <a:cs typeface="Arial"/>
                <a:sym typeface="Arial"/>
              </a:rPr>
              <a:t> Reveal</a:t>
            </a:r>
            <a:r>
              <a:rPr b="1" i="0" lang="en-US" sz="2800" u="none" cap="none" strike="noStrike">
                <a:solidFill>
                  <a:srgbClr val="E0E0E0"/>
                </a:solidFill>
                <a:highlight>
                  <a:srgbClr val="E0E0E0"/>
                </a:highlight>
                <a:latin typeface="Arial"/>
                <a:ea typeface="Arial"/>
                <a:cs typeface="Arial"/>
                <a:sym typeface="Arial"/>
              </a:rPr>
              <a:t>:</a:t>
            </a:r>
            <a:r>
              <a:rPr b="1" i="0" lang="en-US" sz="2800" u="none" cap="none" strike="noStrike">
                <a:solidFill>
                  <a:srgbClr val="0070C0"/>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200"/>
              </a:spcBef>
              <a:spcAft>
                <a:spcPts val="0"/>
              </a:spcAft>
              <a:buClr>
                <a:srgbClr val="595959"/>
              </a:buClr>
              <a:buSzPts val="2800"/>
              <a:buFont typeface="Arial"/>
              <a:buNone/>
            </a:pPr>
            <a:r>
              <a:rPr b="0" i="0" lang="en-US" sz="2800" u="none" cap="none" strike="noStrike">
                <a:solidFill>
                  <a:srgbClr val="595959"/>
                </a:solidFill>
                <a:latin typeface="Arial"/>
                <a:ea typeface="Arial"/>
                <a:cs typeface="Arial"/>
                <a:sym typeface="Arial"/>
              </a:rPr>
              <a:t>yes; We can combine the like terms.</a:t>
            </a:r>
            <a:endParaRPr b="0" i="1" sz="2800" u="none" cap="none" strike="noStrike">
              <a:solidFill>
                <a:srgbClr val="595959"/>
              </a:solidFill>
              <a:latin typeface="Arial"/>
              <a:ea typeface="Arial"/>
              <a:cs typeface="Arial"/>
              <a:sym typeface="Arial"/>
            </a:endParaRPr>
          </a:p>
        </p:txBody>
      </p:sp>
      <p:pic>
        <p:nvPicPr>
          <p:cNvPr id="879" name="Google Shape;879;p90"/>
          <p:cNvPicPr preferRelativeResize="0"/>
          <p:nvPr/>
        </p:nvPicPr>
        <p:blipFill rotWithShape="1">
          <a:blip r:embed="rId3">
            <a:alphaModFix/>
          </a:blip>
          <a:srcRect b="0" l="0" r="0" t="0"/>
          <a:stretch/>
        </p:blipFill>
        <p:spPr>
          <a:xfrm>
            <a:off x="2315527" y="2448011"/>
            <a:ext cx="4257675" cy="981075"/>
          </a:xfrm>
          <a:prstGeom prst="rect">
            <a:avLst/>
          </a:prstGeom>
          <a:noFill/>
          <a:ln>
            <a:noFill/>
          </a:ln>
        </p:spPr>
      </p:pic>
      <p:sp>
        <p:nvSpPr>
          <p:cNvPr id="880" name="Google Shape;880;p90"/>
          <p:cNvSpPr txBox="1"/>
          <p:nvPr/>
        </p:nvSpPr>
        <p:spPr>
          <a:xfrm>
            <a:off x="484565" y="316034"/>
            <a:ext cx="5301093" cy="620067"/>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030A0"/>
              </a:buClr>
              <a:buSzPts val="2800"/>
              <a:buFont typeface="Arial"/>
              <a:buNone/>
            </a:pPr>
            <a:r>
              <a:rPr b="1" i="0" lang="en-US" sz="2800" u="none" cap="none" strike="noStrike">
                <a:solidFill>
                  <a:srgbClr val="782DA0"/>
                </a:solidFill>
                <a:latin typeface="Arial"/>
                <a:ea typeface="Arial"/>
                <a:cs typeface="Arial"/>
                <a:sym typeface="Arial"/>
              </a:rPr>
              <a:t>How Many Can You Find?</a:t>
            </a:r>
            <a:endParaRPr b="0" i="0" sz="1400" u="none" cap="none" strike="noStrike">
              <a:solidFill>
                <a:srgbClr val="000000"/>
              </a:solidFill>
              <a:latin typeface="Arial"/>
              <a:ea typeface="Arial"/>
              <a:cs typeface="Arial"/>
              <a:sym typeface="Arial"/>
            </a:endParaRPr>
          </a:p>
        </p:txBody>
      </p:sp>
      <p:sp>
        <p:nvSpPr>
          <p:cNvPr id="881"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29 / 41</a:t>
            </a:r>
          </a:p>
        </p:txBody>
      </p:sp>
      <p:sp>
        <p:nvSpPr>
          <p:cNvPr id="882" name="EWL-COVER-1"/>
          <p:cNvSpPr/>
          <p:nvPr/>
        </p:nvSpPr>
        <p:spPr>
          <a:xfrm>
            <a:off x="476616" y="5188663"/>
            <a:ext cx="6519376" cy="1218973"/>
          </a:xfrm>
          <a:prstGeom prst="rect">
            <a:avLst/>
          </a:prstGeom>
          <a:solidFill>
            <a:srgbClr val="FFFFFF"/>
          </a:solidFill>
          <a:ln>
            <a:noFill/>
          </a:ln>
        </p:spPr>
        <p:txBody>
          <a:bodyPr/>
          <a:lstStyle/>
          <a:p/>
        </p:txBody>
      </p:sp>
      <p:sp xmlns:p="http://schemas.openxmlformats.org/presentationml/2006/main" xmlns:a="http://schemas.openxmlformats.org/drawingml/2006/main">
        <p:nvSpPr>
          <p:cNvPr id="883" name="TEACH-embedded-student-prompt" descr="Student thinking and response directions"/>
          <p:cNvSpPr txBox="1"/>
          <p:nvPr/>
        </p:nvSpPr>
        <p:spPr>
          <a:xfrm>
            <a:off x="7391400" y="5193792"/>
            <a:ext cx="4206240" cy="1078992"/>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Record your reasoning before the</a:t>
            </a:r>
            <a:endParaRPr lang="en-US" sz="2000"/>
          </a:p>
          <a:p>
            <a:pPr>
              <a:lnSpc>
                <a:spcPts val="2400"/>
              </a:lnSpc>
              <a:buNone/>
            </a:pPr>
            <a:r>
              <a:rPr lang="en-US" sz="2000">
                <a:solidFill>
                  <a:srgbClr val="174D60"/>
                </a:solidFill>
                <a:latin typeface="Arial"/>
              </a:rPr>
              <a:t>reveal. Compare, then explain</a:t>
            </a:r>
            <a:endParaRPr lang="en-US" sz="2000"/>
          </a:p>
          <a:p>
            <a:pPr>
              <a:lnSpc>
                <a:spcPts val="2400"/>
              </a:lnSpc>
              <a:buNone/>
            </a:pPr>
            <a:r>
              <a:rPr lang="en-US" sz="2000">
                <a:solidFill>
                  <a:srgbClr val="174D60"/>
                </a:solidFill>
                <a:latin typeface="Arial"/>
              </a:rPr>
              <a:t>any revision.</a:t>
            </a:r>
            <a:endParaRPr lang="en-US" sz="20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882"/>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2" name="Shape 892"/>
        <p:cNvGrpSpPr/>
        <p:nvPr/>
      </p:nvGrpSpPr>
      <p:grpSpPr>
        <a:xfrm>
          <a:off x="0" y="0"/>
          <a:ext cx="0" cy="0"/>
          <a:chOff x="0" y="0"/>
          <a:chExt cx="0" cy="0"/>
        </a:xfrm>
      </p:grpSpPr>
      <p:cxnSp>
        <p:nvCxnSpPr>
          <p:cNvPr id="893" name="Google Shape;893;p92"/>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894" name="Google Shape;894;p92"/>
          <p:cNvSpPr txBox="1"/>
          <p:nvPr/>
        </p:nvSpPr>
        <p:spPr>
          <a:xfrm>
            <a:off x="484565" y="5180269"/>
            <a:ext cx="10729304" cy="1107856"/>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lt1"/>
              </a:buClr>
              <a:buSzPts val="2800"/>
              <a:buFont typeface="Arial"/>
              <a:buNone/>
            </a:pPr>
            <a:r>
              <a:rPr b="1" i="0" lang="en-US" sz="2800" u="none" cap="none" strike="noStrike">
                <a:solidFill>
                  <a:schemeClr val="lt1"/>
                </a:solidFill>
                <a:highlight>
                  <a:srgbClr val="1E2682"/>
                </a:highlight>
                <a:latin typeface="Arial"/>
                <a:ea typeface="Arial"/>
                <a:cs typeface="Arial"/>
                <a:sym typeface="Arial"/>
              </a:rPr>
              <a:t> Think About It</a:t>
            </a:r>
            <a:r>
              <a:rPr b="1" i="0" lang="en-US" sz="2800" u="none" cap="none" strike="noStrike">
                <a:solidFill>
                  <a:srgbClr val="1E2682"/>
                </a:solidFill>
                <a:highlight>
                  <a:srgbClr val="1E2682"/>
                </a:highlight>
                <a:latin typeface="Arial"/>
                <a:ea typeface="Arial"/>
                <a:cs typeface="Arial"/>
                <a:sym typeface="Arial"/>
              </a:rPr>
              <a:t>:</a:t>
            </a:r>
            <a:r>
              <a:rPr b="1" i="0" lang="en-US" sz="2800" u="none" cap="none" strike="noStrike">
                <a:solidFill>
                  <a:schemeClr val="lt1"/>
                </a:solidFill>
                <a:highlight>
                  <a:srgbClr val="1E2682"/>
                </a:highlight>
                <a:latin typeface="Arial"/>
                <a:ea typeface="Arial"/>
                <a:cs typeface="Arial"/>
                <a:sym typeface="Arial"/>
              </a:rPr>
              <a:t>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200"/>
              </a:spcBef>
              <a:spcAft>
                <a:spcPts val="0"/>
              </a:spcAft>
              <a:buClr>
                <a:srgbClr val="595959"/>
              </a:buClr>
              <a:buSzPts val="2800"/>
              <a:buFont typeface="Arial"/>
              <a:buNone/>
            </a:pPr>
            <a:r>
              <a:rPr b="0" i="0" lang="en-US" sz="2800" u="none" cap="none" strike="noStrike">
                <a:solidFill>
                  <a:srgbClr val="595959"/>
                </a:solidFill>
                <a:latin typeface="Arial"/>
                <a:ea typeface="Arial"/>
                <a:cs typeface="Arial"/>
                <a:sym typeface="Arial"/>
              </a:rPr>
              <a:t>How can you check that all the expressions are equivalent?</a:t>
            </a:r>
            <a:endParaRPr b="0" i="1" sz="2800" u="none" cap="none" strike="noStrike">
              <a:solidFill>
                <a:srgbClr val="595959"/>
              </a:solidFill>
              <a:latin typeface="Arial"/>
              <a:ea typeface="Arial"/>
              <a:cs typeface="Arial"/>
              <a:sym typeface="Arial"/>
            </a:endParaRPr>
          </a:p>
        </p:txBody>
      </p:sp>
      <p:sp>
        <p:nvSpPr>
          <p:cNvPr id="895" name="Google Shape;895;p92"/>
          <p:cNvSpPr txBox="1"/>
          <p:nvPr/>
        </p:nvSpPr>
        <p:spPr>
          <a:xfrm>
            <a:off x="484564" y="936101"/>
            <a:ext cx="7919603" cy="3120509"/>
          </a:xfrm>
          <a:prstGeom prst="rect">
            <a:avLst/>
          </a:prstGeom>
          <a:blipFill rotWithShape="1">
            <a:blip r:embed="rId3">
              <a:alphaModFix/>
            </a:blip>
            <a:stretch>
              <a:fillRect b="0" l="-1538" r="0" t="-2153"/>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23282D"/>
                </a:solidFill>
                <a:latin typeface="Arial"/>
                <a:ea typeface="Calibri"/>
                <a:cs typeface="Calibri"/>
                <a:sym typeface="Calibri"/>
              </a:rPr>
              <a:t> </a:t>
            </a:r>
            <a:endParaRPr b="0" i="0" sz="1400" u="none" cap="none" strike="noStrike">
              <a:solidFill>
                <a:srgbClr val="000000"/>
              </a:solidFill>
              <a:latin typeface="Arial"/>
              <a:ea typeface="Arial"/>
              <a:cs typeface="Arial"/>
              <a:sym typeface="Arial"/>
            </a:endParaRPr>
          </a:p>
        </p:txBody>
      </p:sp>
      <p:sp>
        <p:nvSpPr>
          <p:cNvPr id="896" name="Google Shape;896;p92"/>
          <p:cNvSpPr txBox="1"/>
          <p:nvPr/>
        </p:nvSpPr>
        <p:spPr>
          <a:xfrm>
            <a:off x="484565" y="316034"/>
            <a:ext cx="5301093" cy="620067"/>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030A0"/>
              </a:buClr>
              <a:buSzPts val="2800"/>
              <a:buFont typeface="Arial"/>
              <a:buNone/>
            </a:pPr>
            <a:r>
              <a:rPr b="1" i="0" lang="en-US" sz="2800" u="none" cap="none" strike="noStrike">
                <a:solidFill>
                  <a:srgbClr val="782DA0"/>
                </a:solidFill>
                <a:latin typeface="Arial"/>
                <a:ea typeface="Arial"/>
                <a:cs typeface="Arial"/>
                <a:sym typeface="Arial"/>
              </a:rPr>
              <a:t>How Many Can You Find?</a:t>
            </a:r>
            <a:endParaRPr b="0" i="0" sz="1400" u="none" cap="none" strike="noStrike">
              <a:solidFill>
                <a:srgbClr val="000000"/>
              </a:solidFill>
              <a:latin typeface="Arial"/>
              <a:ea typeface="Arial"/>
              <a:cs typeface="Arial"/>
              <a:sym typeface="Arial"/>
            </a:endParaRPr>
          </a:p>
        </p:txBody>
      </p:sp>
      <p:sp>
        <p:nvSpPr>
          <p:cNvPr id="897"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30 / 41</a:t>
            </a:r>
          </a:p>
        </p:txBody>
      </p:sp>
      <p:sp xmlns:p="http://schemas.openxmlformats.org/presentationml/2006/main" xmlns:a="http://schemas.openxmlformats.org/drawingml/2006/main">
        <p:nvSpPr>
          <p:cNvPr id="898" name="TEACH-embedded-student-prompt" descr="Student thinking and response directions"/>
          <p:cNvSpPr txBox="1"/>
          <p:nvPr/>
        </p:nvSpPr>
        <p:spPr>
          <a:xfrm>
            <a:off x="594360" y="4535424"/>
            <a:ext cx="11094720" cy="457200"/>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Think and record first. Which part of your work supports your answer?</a:t>
            </a:r>
            <a:endParaRPr lang="en-US" sz="2000"/>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1" name="Shape 911"/>
        <p:cNvGrpSpPr/>
        <p:nvPr/>
      </p:nvGrpSpPr>
      <p:grpSpPr>
        <a:xfrm>
          <a:off x="0" y="0"/>
          <a:ext cx="0" cy="0"/>
          <a:chOff x="0" y="0"/>
          <a:chExt cx="0" cy="0"/>
        </a:xfrm>
      </p:grpSpPr>
      <p:cxnSp>
        <p:nvCxnSpPr>
          <p:cNvPr id="912" name="Google Shape;912;p94"/>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913" name="Google Shape;913;p94"/>
          <p:cNvSpPr txBox="1"/>
          <p:nvPr/>
        </p:nvSpPr>
        <p:spPr>
          <a:xfrm>
            <a:off x="484564" y="936101"/>
            <a:ext cx="7299786" cy="1050642"/>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62626"/>
              </a:buClr>
              <a:buSzPts val="2800"/>
              <a:buFont typeface="Arial"/>
              <a:buNone/>
            </a:pPr>
            <a:r>
              <a:rPr b="1" i="0" lang="en-US" sz="2800" u="none" cap="none" strike="noStrike">
                <a:solidFill>
                  <a:srgbClr val="23282D"/>
                </a:solidFill>
                <a:latin typeface="Arial"/>
                <a:ea typeface="Arial"/>
                <a:cs typeface="Arial"/>
                <a:sym typeface="Arial"/>
              </a:rPr>
              <a:t>How many equivalent expressions can you generate for the expression shown?</a:t>
            </a:r>
            <a:endParaRPr b="0" i="0" sz="1400" u="none" cap="none" strike="noStrike">
              <a:solidFill>
                <a:srgbClr val="000000"/>
              </a:solidFill>
              <a:latin typeface="Arial"/>
              <a:ea typeface="Arial"/>
              <a:cs typeface="Arial"/>
              <a:sym typeface="Arial"/>
            </a:endParaRPr>
          </a:p>
        </p:txBody>
      </p:sp>
      <p:pic>
        <p:nvPicPr>
          <p:cNvPr id="914" name="Google Shape;914;p94"/>
          <p:cNvPicPr preferRelativeResize="0"/>
          <p:nvPr/>
        </p:nvPicPr>
        <p:blipFill rotWithShape="1">
          <a:blip r:embed="rId3">
            <a:alphaModFix/>
          </a:blip>
          <a:srcRect b="0" l="0" r="0" t="0"/>
          <a:stretch/>
        </p:blipFill>
        <p:spPr>
          <a:xfrm>
            <a:off x="474056" y="5029719"/>
            <a:ext cx="7073900" cy="838200"/>
          </a:xfrm>
          <a:prstGeom prst="rect">
            <a:avLst/>
          </a:prstGeom>
          <a:noFill/>
          <a:ln>
            <a:noFill/>
          </a:ln>
        </p:spPr>
      </p:pic>
      <p:sp>
        <p:nvSpPr>
          <p:cNvPr id="915" name="Google Shape;915;p94"/>
          <p:cNvSpPr txBox="1"/>
          <p:nvPr/>
        </p:nvSpPr>
        <p:spPr>
          <a:xfrm>
            <a:off x="3177722" y="5187037"/>
            <a:ext cx="4070976" cy="639716"/>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62626"/>
              </a:buClr>
              <a:buSzPts val="2800"/>
              <a:buFont typeface="Arial"/>
              <a:buNone/>
            </a:pPr>
            <a:r>
              <a:rPr b="0" i="0" lang="en-US" sz="2800" u="none" cap="none" strike="noStrike">
                <a:solidFill>
                  <a:srgbClr val="23282D"/>
                </a:solidFill>
                <a:latin typeface="Arial"/>
                <a:ea typeface="Arial"/>
                <a:cs typeface="Arial"/>
                <a:sym typeface="Arial"/>
              </a:rPr>
              <a:t>Looking for Structure</a:t>
            </a:r>
            <a:endParaRPr b="0" i="0" sz="1400" u="none" cap="none" strike="noStrike">
              <a:solidFill>
                <a:srgbClr val="000000"/>
              </a:solidFill>
              <a:latin typeface="Arial"/>
              <a:ea typeface="Arial"/>
              <a:cs typeface="Arial"/>
              <a:sym typeface="Arial"/>
            </a:endParaRPr>
          </a:p>
        </p:txBody>
      </p:sp>
      <p:sp>
        <p:nvSpPr>
          <p:cNvPr id="916" name="Google Shape;916;p94"/>
          <p:cNvSpPr/>
          <p:nvPr/>
        </p:nvSpPr>
        <p:spPr>
          <a:xfrm>
            <a:off x="649774" y="5845042"/>
            <a:ext cx="11303927" cy="492443"/>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600"/>
              <a:buFont typeface="Arial"/>
              <a:buNone/>
            </a:pPr>
            <a:r>
              <a:rPr b="0" i="0" lang="en-US" sz="2600" u="none" cap="none" strike="noStrike">
                <a:solidFill>
                  <a:srgbClr val="595959"/>
                </a:solidFill>
                <a:latin typeface="Arial"/>
                <a:ea typeface="Arial"/>
                <a:cs typeface="Arial"/>
                <a:sym typeface="Arial"/>
              </a:rPr>
              <a:t>How can you use mathematical properties to uncover structure?</a:t>
            </a:r>
            <a:endParaRPr b="0" i="0" sz="1400" u="none" cap="none" strike="noStrike">
              <a:solidFill>
                <a:srgbClr val="000000"/>
              </a:solidFill>
              <a:latin typeface="Arial"/>
              <a:ea typeface="Arial"/>
              <a:cs typeface="Arial"/>
              <a:sym typeface="Arial"/>
            </a:endParaRPr>
          </a:p>
        </p:txBody>
      </p:sp>
      <p:sp>
        <p:nvSpPr>
          <p:cNvPr id="917" name="Google Shape;917;p94"/>
          <p:cNvSpPr/>
          <p:nvPr/>
        </p:nvSpPr>
        <p:spPr>
          <a:xfrm>
            <a:off x="484564" y="2316099"/>
            <a:ext cx="7063392" cy="1384995"/>
          </a:xfrm>
          <a:prstGeom prst="rect">
            <a:avLst/>
          </a:prstGeom>
          <a:blipFill rotWithShape="1">
            <a:blip r:embed="rId4">
              <a:alphaModFix/>
            </a:blip>
            <a:stretch>
              <a:fillRect b="-10917" l="-1637" r="-258" t="-4367"/>
            </a:stretch>
          </a:blipFill>
          <a:ln cap="flat" cmpd="sng" w="9525">
            <a:solidFill>
              <a:srgbClr val="7030A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23282D"/>
                </a:solidFill>
                <a:latin typeface="Arial"/>
                <a:ea typeface="Calibri"/>
                <a:cs typeface="Calibri"/>
                <a:sym typeface="Calibri"/>
              </a:rPr>
              <a:t> </a:t>
            </a:r>
            <a:endParaRPr b="0" i="0" sz="1400" u="none" cap="none" strike="noStrike">
              <a:solidFill>
                <a:srgbClr val="000000"/>
              </a:solidFill>
              <a:latin typeface="Arial"/>
              <a:ea typeface="Arial"/>
              <a:cs typeface="Arial"/>
              <a:sym typeface="Arial"/>
            </a:endParaRPr>
          </a:p>
        </p:txBody>
      </p:sp>
      <p:pic>
        <p:nvPicPr>
          <p:cNvPr id="918" name="Google Shape;918;p94"/>
          <p:cNvPicPr preferRelativeResize="0"/>
          <p:nvPr/>
        </p:nvPicPr>
        <p:blipFill rotWithShape="1">
          <a:blip r:embed="rId5">
            <a:alphaModFix/>
          </a:blip>
          <a:srcRect b="0" l="0" r="0" t="0"/>
          <a:stretch/>
        </p:blipFill>
        <p:spPr>
          <a:xfrm>
            <a:off x="8428787" y="1461422"/>
            <a:ext cx="3190875" cy="3762375"/>
          </a:xfrm>
          <a:prstGeom prst="rect">
            <a:avLst/>
          </a:prstGeom>
          <a:noFill/>
          <a:ln>
            <a:noFill/>
          </a:ln>
        </p:spPr>
      </p:pic>
      <p:sp>
        <p:nvSpPr>
          <p:cNvPr id="919" name="Google Shape;919;p94"/>
          <p:cNvSpPr txBox="1"/>
          <p:nvPr/>
        </p:nvSpPr>
        <p:spPr>
          <a:xfrm>
            <a:off x="484565" y="316034"/>
            <a:ext cx="5301093" cy="620067"/>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030A0"/>
              </a:buClr>
              <a:buSzPts val="2800"/>
              <a:buFont typeface="Arial"/>
              <a:buNone/>
            </a:pPr>
            <a:r>
              <a:rPr b="1" i="0" lang="en-US" sz="2800" u="none" cap="none" strike="noStrike">
                <a:solidFill>
                  <a:srgbClr val="782DA0"/>
                </a:solidFill>
                <a:latin typeface="Arial"/>
                <a:ea typeface="Arial"/>
                <a:cs typeface="Arial"/>
                <a:sym typeface="Arial"/>
              </a:rPr>
              <a:t>How Many Can You Find?</a:t>
            </a:r>
            <a:endParaRPr b="0" i="0" sz="1400" u="none" cap="none" strike="noStrike">
              <a:solidFill>
                <a:srgbClr val="000000"/>
              </a:solidFill>
              <a:latin typeface="Arial"/>
              <a:ea typeface="Arial"/>
              <a:cs typeface="Arial"/>
              <a:sym typeface="Arial"/>
            </a:endParaRPr>
          </a:p>
        </p:txBody>
      </p:sp>
      <p:sp>
        <p:nvSpPr>
          <p:cNvPr id="920"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31 / 41</a:t>
            </a:r>
          </a:p>
        </p:txBody>
      </p:sp>
      <p:sp xmlns:p="http://schemas.openxmlformats.org/presentationml/2006/main" xmlns:a="http://schemas.openxmlformats.org/drawingml/2006/main">
        <p:nvSpPr>
          <p:cNvPr id="921" name="TEACH-embedded-student-prompt" descr="Student thinking and response directions"/>
          <p:cNvSpPr txBox="1"/>
          <p:nvPr/>
        </p:nvSpPr>
        <p:spPr>
          <a:xfrm>
            <a:off x="594360" y="4133088"/>
            <a:ext cx="7498080" cy="768096"/>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Think and record first. Which part of your work supports your</a:t>
            </a:r>
            <a:endParaRPr lang="en-US" sz="2000"/>
          </a:p>
          <a:p>
            <a:pPr>
              <a:lnSpc>
                <a:spcPts val="2400"/>
              </a:lnSpc>
              <a:buNone/>
            </a:pPr>
            <a:r>
              <a:rPr lang="en-US" sz="2000">
                <a:solidFill>
                  <a:srgbClr val="174D60"/>
                </a:solidFill>
                <a:latin typeface="Arial"/>
              </a:rPr>
              <a:t>answer?</a:t>
            </a:r>
            <a:endParaRPr lang="en-US" sz="2000"/>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3" name="Shape 923"/>
        <p:cNvGrpSpPr/>
        <p:nvPr/>
      </p:nvGrpSpPr>
      <p:grpSpPr>
        <a:xfrm>
          <a:off x="0" y="0"/>
          <a:ext cx="0" cy="0"/>
          <a:chOff x="0" y="0"/>
          <a:chExt cx="0" cy="0"/>
        </a:xfrm>
      </p:grpSpPr>
      <p:sp>
        <p:nvSpPr>
          <p:cNvPr id="924" name="Google Shape;924;p95"/>
          <p:cNvSpPr txBox="1"/>
          <p:nvPr/>
        </p:nvSpPr>
        <p:spPr>
          <a:xfrm>
            <a:off x="484565" y="316034"/>
            <a:ext cx="5492675" cy="537406"/>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82DA0"/>
              </a:buClr>
              <a:buSzPts val="2800"/>
              <a:buFont typeface="Arial"/>
              <a:buNone/>
              <a:defRPr/>
            </a:pPr>
            <a:r>
              <a:rPr b="1" i="0" lang="en-US" sz="2800" u="none" cap="none" strike="noStrike">
                <a:solidFill>
                  <a:srgbClr val="782DA0"/>
                </a:solidFill>
                <a:latin typeface="Arial"/>
                <a:ea typeface="Arial"/>
                <a:cs typeface="Arial"/>
                <a:sym typeface="Arial"/>
              </a:rPr>
              <a:t>Let’s Explore More</a:t>
            </a:r>
            <a:endParaRPr b="0" i="0" sz="1400" u="none" cap="none" strike="noStrike">
              <a:solidFill>
                <a:srgbClr val="000000"/>
              </a:solidFill>
              <a:latin typeface="Arial"/>
              <a:ea typeface="Arial"/>
              <a:cs typeface="Arial"/>
              <a:sym typeface="Arial"/>
            </a:endParaRPr>
          </a:p>
        </p:txBody>
      </p:sp>
      <p:sp>
        <p:nvSpPr>
          <p:cNvPr id="925" name="Google Shape;925;p95"/>
          <p:cNvSpPr txBox="1"/>
          <p:nvPr/>
        </p:nvSpPr>
        <p:spPr>
          <a:xfrm>
            <a:off x="495446" y="936000"/>
            <a:ext cx="7288906" cy="5158790"/>
          </a:xfrm>
          <a:prstGeom prst="rect">
            <a:avLst/>
          </a:prstGeom>
          <a:noFill/>
          <a:ln>
            <a:noFill/>
          </a:ln>
        </p:spPr>
        <p:txBody>
          <a:bodyPr anchorCtr="0" anchor="t" bIns="45700" lIns="91425" spcFirstLastPara="1" rIns="91425" wrap="square" tIns="45700">
            <a:noAutofit/>
          </a:bodyPr>
          <a:lstStyle/>
          <a:p>
            <a:pPr indent="-514350" lvl="0" marL="514350" marR="0" rtl="0" algn="l">
              <a:lnSpc>
                <a:spcPct val="100000"/>
              </a:lnSpc>
              <a:spcBef>
                <a:spcPts val="0"/>
              </a:spcBef>
              <a:spcAft>
                <a:spcPts val="0"/>
              </a:spcAft>
              <a:buClr>
                <a:srgbClr val="262626"/>
              </a:buClr>
              <a:buSzPts val="2800"/>
              <a:buFont typeface="Arial"/>
              <a:buAutoNum type="alphaLcPeriod"/>
              <a:defRPr/>
            </a:pPr>
            <a:r>
              <a:rPr b="0" i="0" lang="en-US" sz="2800" u="none" cap="none" strike="noStrike">
                <a:solidFill>
                  <a:srgbClr val="23282D"/>
                </a:solidFill>
                <a:latin typeface="Arial"/>
                <a:ea typeface="Arial"/>
                <a:cs typeface="Arial"/>
                <a:sym typeface="Arial"/>
              </a:rPr>
              <a:t>How does finding the greatest common factor help to generate an equivalent expression?</a:t>
            </a:r>
            <a:endParaRPr b="0" i="0" sz="1400" u="none" cap="none" strike="noStrike">
              <a:solidFill>
                <a:srgbClr val="000000"/>
              </a:solidFill>
              <a:latin typeface="Arial"/>
              <a:ea typeface="Arial"/>
              <a:cs typeface="Arial"/>
              <a:sym typeface="Arial"/>
            </a:endParaRPr>
          </a:p>
          <a:p>
            <a:pPr indent="-336550" lvl="0" marL="514350" marR="0" rtl="0" algn="l">
              <a:lnSpc>
                <a:spcPct val="100000"/>
              </a:lnSpc>
              <a:spcBef>
                <a:spcPts val="1800"/>
              </a:spcBef>
              <a:spcAft>
                <a:spcPts val="0"/>
              </a:spcAft>
              <a:buClr>
                <a:schemeClr val="dk2"/>
              </a:buClr>
              <a:buSzPts val="2800"/>
              <a:buFont typeface="Arial"/>
              <a:buNone/>
              <a:defRPr/>
            </a:pPr>
            <a:r>
              <a:rPr/>
              <a:t/>
            </a:r>
            <a:endParaRPr b="0" i="0" sz="2800" u="none" cap="none" strike="noStrike">
              <a:solidFill>
                <a:srgbClr val="262626"/>
              </a:solidFill>
              <a:latin typeface="Arial"/>
              <a:ea typeface="Arial"/>
              <a:cs typeface="Arial"/>
              <a:sym typeface="Arial"/>
            </a:endParaRPr>
          </a:p>
          <a:p>
            <a:pPr indent="-336550" lvl="0" marL="514350" marR="0" rtl="0" algn="l">
              <a:lnSpc>
                <a:spcPct val="100000"/>
              </a:lnSpc>
              <a:spcBef>
                <a:spcPts val="1800"/>
              </a:spcBef>
              <a:spcAft>
                <a:spcPts val="0"/>
              </a:spcAft>
              <a:buClr>
                <a:schemeClr val="dk2"/>
              </a:buClr>
              <a:buSzPts val="2800"/>
              <a:buFont typeface="Arial"/>
              <a:buNone/>
              <a:defRPr/>
            </a:pPr>
            <a:r>
              <a:rPr/>
              <a:t/>
            </a:r>
            <a:endParaRPr b="0" i="0" sz="2800" u="none" cap="none" strike="noStrike">
              <a:solidFill>
                <a:srgbClr val="262626"/>
              </a:solidFill>
              <a:latin typeface="Arial"/>
              <a:ea typeface="Arial"/>
              <a:cs typeface="Arial"/>
              <a:sym typeface="Arial"/>
            </a:endParaRPr>
          </a:p>
          <a:p>
            <a:pPr indent="-514350" lvl="0" marL="514350" marR="0" rtl="0" algn="l">
              <a:lnSpc>
                <a:spcPct val="100000"/>
              </a:lnSpc>
              <a:spcBef>
                <a:spcPts val="1800"/>
              </a:spcBef>
              <a:spcAft>
                <a:spcPts val="0"/>
              </a:spcAft>
              <a:buClr>
                <a:srgbClr val="262626"/>
              </a:buClr>
              <a:buSzPts val="2800"/>
              <a:buFont typeface="Arial"/>
              <a:buAutoNum type="alphaLcPeriod"/>
              <a:defRPr/>
            </a:pPr>
            <a:r>
              <a:rPr b="0" i="0" lang="en-US" sz="2800" u="none" cap="none" strike="noStrike">
                <a:solidFill>
                  <a:srgbClr val="23282D"/>
                </a:solidFill>
                <a:latin typeface="Arial"/>
                <a:ea typeface="Arial"/>
                <a:cs typeface="Arial"/>
                <a:sym typeface="Arial"/>
              </a:rPr>
              <a:t>Are there other equivalent expressions not represented in the problem? Explain.</a:t>
            </a:r>
            <a:endParaRPr b="0" i="0" sz="1400" u="none" cap="none" strike="noStrike">
              <a:solidFill>
                <a:srgbClr val="000000"/>
              </a:solidFill>
              <a:latin typeface="Arial"/>
              <a:ea typeface="Arial"/>
              <a:cs typeface="Arial"/>
              <a:sym typeface="Arial"/>
            </a:endParaRPr>
          </a:p>
        </p:txBody>
      </p:sp>
      <p:sp>
        <p:nvSpPr>
          <p:cNvPr id="926"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32 / 41</a:t>
            </a:r>
          </a:p>
        </p:txBody>
      </p:sp>
      <p:grpSp>
        <p:nvGrpSpPr>
          <p:cNvPr id="927" name="TEACH-2-student-move" descr="TEACH 2 · Use strategies and tasks to engage students in rigorous work"/>
          <p:cNvGrpSpPr/>
          <p:nvPr/>
        </p:nvGrpSpPr>
        <p:grpSpPr>
          <a:xfrm>
            <a:off x="502920" y="4790500"/>
            <a:ext cx="11186160" cy="731520"/>
            <a:chOff x="502920" y="4790500"/>
            <a:chExt cx="11186160" cy="731520"/>
          </a:xfrm>
        </p:grpSpPr>
        <p:sp>
          <p:nvSpPr>
            <p:cNvPr id="928" name="TEACH-move-card"/>
            <p:cNvSpPr/>
            <p:nvPr/>
          </p:nvSpPr>
          <p:spPr>
            <a:xfrm>
              <a:off x="502920" y="4790500"/>
              <a:ext cx="11186160" cy="731520"/>
            </a:xfrm>
            <a:prstGeom prst="roundRect">
              <a:avLst>
                <a:gd name="adj" fmla="val 16000"/>
              </a:avLst>
            </a:prstGeom>
            <a:solidFill>
              <a:srgbClr val="E4F0F5"/>
            </a:solidFill>
            <a:ln w="19050">
              <a:solidFill>
                <a:srgbClr val="8CB8C7"/>
              </a:solidFill>
            </a:ln>
          </p:spPr>
          <p:txBody>
            <a:bodyPr/>
            <a:lstStyle/>
            <a:p>
              <a:endParaRPr/>
            </a:p>
          </p:txBody>
        </p:sp>
        <p:sp>
          <p:nvSpPr>
            <p:cNvPr id="929" name="TEACH-move-rule"/>
            <p:cNvSpPr/>
            <p:nvPr/>
          </p:nvSpPr>
          <p:spPr>
            <a:xfrm>
              <a:off x="548640" y="4929489"/>
              <a:ext cx="100584" cy="453542"/>
            </a:xfrm>
            <a:prstGeom prst="roundRect">
              <a:avLst>
                <a:gd name="adj" fmla="val 50000"/>
              </a:avLst>
            </a:prstGeom>
            <a:solidFill>
              <a:srgbClr val="01708C"/>
            </a:solidFill>
            <a:ln>
              <a:noFill/>
            </a:ln>
          </p:spPr>
          <p:txBody>
            <a:bodyPr/>
            <a:lstStyle/>
            <a:p>
              <a:endParaRPr/>
            </a:p>
          </p:txBody>
        </p:sp>
        <p:sp>
          <p:nvSpPr>
            <p:cNvPr id="930" name="TEACH-move-text"/>
            <p:cNvSpPr txBox="1"/>
            <p:nvPr/>
          </p:nvSpPr>
          <p:spPr>
            <a:xfrm>
              <a:off x="822960" y="4790500"/>
              <a:ext cx="10728960" cy="731520"/>
            </a:xfrm>
            <a:prstGeom prst="rect">
              <a:avLst/>
            </a:prstGeom>
            <a:noFill/>
            <a:ln>
              <a:noFill/>
            </a:ln>
          </p:spPr>
          <p:txBody>
            <a:bodyPr wrap="square" lIns="0" tIns="0" rIns="0" bIns="0" anchor="ctr">
              <a:noAutofit/>
            </a:bodyPr>
            <a:lstStyle/>
            <a:p>
              <a:pPr algn="l">
                <a:buNone/>
              </a:pPr>
              <a:r>
                <a:rPr lang="en-US" sz="1800" b="1" dirty="0">
                  <a:solidFill>
                    <a:srgbClr val="01708C"/>
                  </a:solidFill>
                  <a:latin typeface="Arial"/>
                </a:rPr>
                <a:t>STRUGGLE FIRST  ·  </a:t>
              </a:r>
              <a:r>
                <a:rPr lang="en-US" sz="1800" dirty="0">
                  <a:solidFill>
                    <a:srgbClr val="13303A"/>
                  </a:solidFill>
                  <a:latin typeface="Arial"/>
                </a:rPr>
                <a:t>Work on your own first. Stuck is allowed — try a second strategy before you ask.</a:t>
              </a:r>
              <a:endParaRPr lang="en-US" sz="1800"/>
            </a:p>
          </p:txBody>
        </p:sp>
      </p:gr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showMasterSp="0" show="1">
  <p:cSld>
    <p:bg>
      <p:bgPr>
        <a:solidFill>
          <a:srgbClr val="FFFFFF"/>
        </a:solidFill>
        <a:effectLst/>
      </p:bgPr>
    </p:bg>
    <p:spTree>
      <p:nvGrpSpPr>
        <p:cNvPr id="1" name=""/>
        <p:cNvGrpSpPr/>
        <p:nvPr/>
      </p:nvGrpSpPr>
      <p:grpSpPr/>
      <p:sp>
        <p:nvSpPr>
          <p:cNvPr id="2" name="TextBox 1"/>
          <p:cNvSpPr txBox="1"/>
          <p:nvPr/>
        </p:nvSpPr>
        <p:spPr>
          <a:xfrm>
            <a:off x="594360" y="347472"/>
            <a:ext cx="10972800" cy="301752"/>
          </a:xfrm>
          <a:prstGeom prst="rect">
            <a:avLst/>
          </a:prstGeom>
          <a:noFill/>
        </p:spPr>
        <p:txBody>
          <a:bodyPr wrap="square" lIns="0" rIns="0" tIns="22860" bIns="0">
            <a:spAutoFit/>
          </a:bodyPr>
          <a:lstStyle/>
          <a:p>
            <a:pPr>
              <a:spcAft>
                <a:spcPts val="800"/>
              </a:spcAft>
              <a:defRPr sz="1300" b="1">
                <a:solidFill>
                  <a:srgbClr val="096B69"/>
                </a:solidFill>
                <a:latin typeface="Arial"/>
              </a:defRPr>
            </a:pPr>
            <a:r>
              <a:rPr/>
              <a:t>LESSON 6.8  /  CHECK YOUR WORK</a:t>
            </a:r>
          </a:p>
        </p:txBody>
      </p:sp>
      <p:sp>
        <p:nvSpPr>
          <p:cNvPr id="3" name="TextBox 2"/>
          <p:cNvSpPr txBox="1"/>
          <p:nvPr/>
        </p:nvSpPr>
        <p:spPr>
          <a:xfrm>
            <a:off x="594360" y="914400"/>
            <a:ext cx="10972800" cy="640080"/>
          </a:xfrm>
          <a:prstGeom prst="rect">
            <a:avLst/>
          </a:prstGeom>
          <a:noFill/>
        </p:spPr>
        <p:txBody>
          <a:bodyPr wrap="square" lIns="0" rIns="0" tIns="22860" bIns="0">
            <a:spAutoFit/>
          </a:bodyPr>
          <a:lstStyle/>
          <a:p>
            <a:pPr>
              <a:spcAft>
                <a:spcPts val="800"/>
              </a:spcAft>
              <a:defRPr sz="3600" b="1">
                <a:solidFill>
                  <a:srgbClr val="173451"/>
                </a:solidFill>
                <a:latin typeface="Arial"/>
              </a:defRPr>
            </a:pPr>
            <a:r>
              <a:rPr/>
              <a:t>Pause. Check. Improve.</a:t>
            </a:r>
          </a:p>
        </p:txBody>
      </p:sp>
      <p:sp>
        <p:nvSpPr>
          <p:cNvPr id="4" name="TextBox 3"/>
          <p:cNvSpPr txBox="1"/>
          <p:nvPr/>
        </p:nvSpPr>
        <p:spPr>
          <a:xfrm>
            <a:off x="594360" y="6263640"/>
            <a:ext cx="10789920" cy="274320"/>
          </a:xfrm>
          <a:prstGeom prst="rect">
            <a:avLst/>
          </a:prstGeom>
          <a:noFill/>
        </p:spPr>
        <p:txBody>
          <a:bodyPr wrap="square" lIns="0" rIns="0" tIns="22860" bIns="0">
            <a:spAutoFit/>
          </a:bodyPr>
          <a:lstStyle/>
          <a:p>
            <a:pPr>
              <a:spcAft>
                <a:spcPts val="800"/>
              </a:spcAft>
              <a:defRPr sz="1300" b="0">
                <a:solidFill>
                  <a:srgbClr val="506478"/>
                </a:solidFill>
                <a:latin typeface="Arial"/>
              </a:defRPr>
            </a:pPr>
            <a:r>
              <a:rPr/>
              <a:t>Listen to understand. Ask for evidence. Make room for every voice.</a:t>
            </a:r>
          </a:p>
        </p:txBody>
      </p:sp>
      <p:sp>
        <p:nvSpPr>
          <p:cNvPr id="5" name="Rounded Rectangle 4"/>
          <p:cNvSpPr/>
          <p:nvPr/>
        </p:nvSpPr>
        <p:spPr>
          <a:xfrm>
            <a:off x="594360" y="1828800"/>
            <a:ext cx="10972800" cy="1069848"/>
          </a:xfrm>
          <a:prstGeom prst="roundRect">
            <a:avLst/>
          </a:prstGeom>
          <a:solidFill>
            <a:srgbClr val="EDF6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41248" y="2011680"/>
            <a:ext cx="1280160" cy="365760"/>
          </a:xfrm>
          <a:prstGeom prst="rect">
            <a:avLst/>
          </a:prstGeom>
          <a:noFill/>
        </p:spPr>
        <p:txBody>
          <a:bodyPr wrap="square" lIns="0" rIns="0" tIns="22860" bIns="0">
            <a:spAutoFit/>
          </a:bodyPr>
          <a:lstStyle/>
          <a:p>
            <a:pPr>
              <a:spcAft>
                <a:spcPts val="800"/>
              </a:spcAft>
              <a:defRPr sz="1700" b="1">
                <a:solidFill>
                  <a:srgbClr val="096B69"/>
                </a:solidFill>
                <a:latin typeface="Arial"/>
              </a:defRPr>
            </a:pPr>
            <a:r>
              <a:rPr/>
              <a:t>CHECK</a:t>
            </a:r>
          </a:p>
        </p:txBody>
      </p:sp>
      <p:sp>
        <p:nvSpPr>
          <p:cNvPr id="7" name="TextBox 6"/>
          <p:cNvSpPr txBox="1"/>
          <p:nvPr/>
        </p:nvSpPr>
        <p:spPr>
          <a:xfrm>
            <a:off x="2340864" y="1975104"/>
            <a:ext cx="8933688" cy="832104"/>
          </a:xfrm>
          <a:prstGeom prst="rect">
            <a:avLst/>
          </a:prstGeom>
          <a:noFill/>
        </p:spPr>
        <p:txBody>
          <a:bodyPr wrap="square" lIns="0" rIns="0" tIns="22860" bIns="0">
            <a:spAutoFit/>
          </a:bodyPr>
          <a:lstStyle/>
          <a:p>
            <a:pPr>
              <a:spcAft>
                <a:spcPts val="800"/>
              </a:spcAft>
              <a:defRPr sz="2300" b="0">
                <a:solidFill>
                  <a:srgbClr val="24384B"/>
                </a:solidFill>
                <a:latin typeface="Arial"/>
              </a:defRPr>
            </a:pPr>
            <a:r>
              <a:rPr/>
              <a:t>A mistake to watch for: applying commutative reasoning to subtraction or division.</a:t>
            </a:r>
          </a:p>
        </p:txBody>
      </p:sp>
      <p:sp>
        <p:nvSpPr>
          <p:cNvPr id="8" name="Rounded Rectangle 7"/>
          <p:cNvSpPr/>
          <p:nvPr/>
        </p:nvSpPr>
        <p:spPr>
          <a:xfrm>
            <a:off x="594360" y="3127248"/>
            <a:ext cx="10972800" cy="1069848"/>
          </a:xfrm>
          <a:prstGeom prst="roundRect">
            <a:avLst/>
          </a:prstGeom>
          <a:solidFill>
            <a:srgbClr val="F1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41248" y="3310128"/>
            <a:ext cx="1280160" cy="365760"/>
          </a:xfrm>
          <a:prstGeom prst="rect">
            <a:avLst/>
          </a:prstGeom>
          <a:noFill/>
        </p:spPr>
        <p:txBody>
          <a:bodyPr wrap="square" lIns="0" rIns="0" tIns="22860" bIns="0">
            <a:spAutoFit/>
          </a:bodyPr>
          <a:lstStyle/>
          <a:p>
            <a:pPr>
              <a:spcAft>
                <a:spcPts val="800"/>
              </a:spcAft>
              <a:defRPr sz="1700" b="1">
                <a:solidFill>
                  <a:srgbClr val="096B69"/>
                </a:solidFill>
                <a:latin typeface="Arial"/>
              </a:defRPr>
            </a:pPr>
            <a:r>
              <a:rPr/>
              <a:t>TRY</a:t>
            </a:r>
          </a:p>
        </p:txBody>
      </p:sp>
      <p:sp>
        <p:nvSpPr>
          <p:cNvPr id="10" name="TextBox 9"/>
          <p:cNvSpPr txBox="1"/>
          <p:nvPr/>
        </p:nvSpPr>
        <p:spPr>
          <a:xfrm>
            <a:off x="2340864" y="3273552"/>
            <a:ext cx="8933688" cy="832104"/>
          </a:xfrm>
          <a:prstGeom prst="rect">
            <a:avLst/>
          </a:prstGeom>
          <a:noFill/>
        </p:spPr>
        <p:txBody>
          <a:bodyPr wrap="square" lIns="0" rIns="0" tIns="22860" bIns="0">
            <a:spAutoFit/>
          </a:bodyPr>
          <a:lstStyle/>
          <a:p>
            <a:pPr>
              <a:spcAft>
                <a:spcPts val="800"/>
              </a:spcAft>
              <a:defRPr sz="2300" b="0">
                <a:solidFill>
                  <a:srgbClr val="24384B"/>
                </a:solidFill>
                <a:latin typeface="Arial"/>
              </a:defRPr>
            </a:pPr>
            <a:r>
              <a:rPr/>
              <a:t>Mark what changed in the given expression: order, grouping, or an identity element.</a:t>
            </a:r>
          </a:p>
        </p:txBody>
      </p:sp>
      <p:sp>
        <p:nvSpPr>
          <p:cNvPr id="11" name="Rounded Rectangle 10"/>
          <p:cNvSpPr/>
          <p:nvPr/>
        </p:nvSpPr>
        <p:spPr>
          <a:xfrm>
            <a:off x="594360" y="4425696"/>
            <a:ext cx="10972800" cy="1069848"/>
          </a:xfrm>
          <a:prstGeom prst="roundRect">
            <a:avLst/>
          </a:prstGeom>
          <a:solidFill>
            <a:srgbClr val="EDF6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41248" y="4608576"/>
            <a:ext cx="1280160" cy="365760"/>
          </a:xfrm>
          <a:prstGeom prst="rect">
            <a:avLst/>
          </a:prstGeom>
          <a:noFill/>
        </p:spPr>
        <p:txBody>
          <a:bodyPr wrap="square" lIns="0" rIns="0" tIns="22860" bIns="0">
            <a:spAutoFit/>
          </a:bodyPr>
          <a:lstStyle/>
          <a:p>
            <a:pPr>
              <a:spcAft>
                <a:spcPts val="800"/>
              </a:spcAft>
              <a:defRPr sz="1700" b="1">
                <a:solidFill>
                  <a:srgbClr val="096B69"/>
                </a:solidFill>
                <a:latin typeface="Arial"/>
              </a:defRPr>
            </a:pPr>
            <a:r>
              <a:rPr/>
              <a:t>REVISE</a:t>
            </a:r>
          </a:p>
        </p:txBody>
      </p:sp>
      <p:sp>
        <p:nvSpPr>
          <p:cNvPr id="13" name="TextBox 12"/>
          <p:cNvSpPr txBox="1"/>
          <p:nvPr/>
        </p:nvSpPr>
        <p:spPr>
          <a:xfrm>
            <a:off x="2340864" y="4572000"/>
            <a:ext cx="8933688" cy="832104"/>
          </a:xfrm>
          <a:prstGeom prst="rect">
            <a:avLst/>
          </a:prstGeom>
          <a:noFill/>
        </p:spPr>
        <p:txBody>
          <a:bodyPr wrap="square" lIns="0" rIns="0" tIns="22860" bIns="0">
            <a:spAutoFit/>
          </a:bodyPr>
          <a:lstStyle/>
          <a:p>
            <a:pPr>
              <a:spcAft>
                <a:spcPts val="800"/>
              </a:spcAft>
              <a:defRPr sz="2300" b="0">
                <a:solidFill>
                  <a:srgbClr val="24384B"/>
                </a:solidFill>
                <a:latin typeface="Arial"/>
              </a:defRPr>
            </a:pPr>
            <a:r>
              <a:rPr/>
              <a:t>Use that check on the task you just completed. Correct or strengthen one part, and explain why.</a:t>
            </a:r>
          </a:p>
        </p:txBody>
      </p:sp>
      <p:grpSp>
        <p:nvGrpSpPr>
          <p:cNvPr id="14" name="TEACH-4-student-move" descr="TEACH 4 · Monitor progress and provide feedback"/>
          <p:cNvGrpSpPr/>
          <p:nvPr/>
        </p:nvGrpSpPr>
        <p:grpSpPr>
          <a:xfrm>
            <a:off x="502920" y="5824728"/>
            <a:ext cx="11186160" cy="402336"/>
            <a:chOff x="502920" y="5824728"/>
            <a:chExt cx="11186160" cy="402336"/>
          </a:xfrm>
        </p:grpSpPr>
        <p:sp>
          <p:nvSpPr>
            <p:cNvPr id="15" name="TEACH-move-card"/>
            <p:cNvSpPr/>
            <p:nvPr/>
          </p:nvSpPr>
          <p:spPr>
            <a:xfrm>
              <a:off x="502920" y="5824728"/>
              <a:ext cx="11186160" cy="402336"/>
            </a:xfrm>
            <a:prstGeom prst="roundRect">
              <a:avLst>
                <a:gd name="adj" fmla="val 16000"/>
              </a:avLst>
            </a:prstGeom>
            <a:solidFill>
              <a:srgbClr val="E4F0F5"/>
            </a:solidFill>
            <a:ln w="19050">
              <a:solidFill>
                <a:srgbClr val="8CB8C7"/>
              </a:solidFill>
            </a:ln>
          </p:spPr>
          <p:txBody>
            <a:bodyPr/>
            <a:lstStyle/>
            <a:p>
              <a:endParaRPr/>
            </a:p>
          </p:txBody>
        </p:sp>
        <p:sp>
          <p:nvSpPr>
            <p:cNvPr id="16" name="TEACH-move-rule"/>
            <p:cNvSpPr/>
            <p:nvPr/>
          </p:nvSpPr>
          <p:spPr>
            <a:xfrm>
              <a:off x="548640" y="5901172"/>
              <a:ext cx="100584" cy="249448"/>
            </a:xfrm>
            <a:prstGeom prst="roundRect">
              <a:avLst>
                <a:gd name="adj" fmla="val 50000"/>
              </a:avLst>
            </a:prstGeom>
            <a:solidFill>
              <a:srgbClr val="01708C"/>
            </a:solidFill>
            <a:ln>
              <a:noFill/>
            </a:ln>
          </p:spPr>
          <p:txBody>
            <a:bodyPr/>
            <a:lstStyle/>
            <a:p>
              <a:endParaRPr/>
            </a:p>
          </p:txBody>
        </p:sp>
        <p:sp>
          <p:nvSpPr>
            <p:cNvPr id="17" name="TEACH-move-text"/>
            <p:cNvSpPr txBox="1"/>
            <p:nvPr/>
          </p:nvSpPr>
          <p:spPr>
            <a:xfrm>
              <a:off x="822960" y="5824728"/>
              <a:ext cx="10728960" cy="402336"/>
            </a:xfrm>
            <a:prstGeom prst="rect">
              <a:avLst/>
            </a:prstGeom>
            <a:noFill/>
            <a:ln>
              <a:noFill/>
            </a:ln>
          </p:spPr>
          <p:txBody>
            <a:bodyPr wrap="square" lIns="0" tIns="0" rIns="0" bIns="0" anchor="ctr">
              <a:noAutofit/>
            </a:bodyPr>
            <a:lstStyle/>
            <a:p>
              <a:pPr algn="l">
                <a:buNone/>
              </a:pPr>
              <a:r>
                <a:rPr lang="en-US" sz="1200" b="1" dirty="0">
                  <a:solidFill>
                    <a:srgbClr val="01708C"/>
                  </a:solidFill>
                  <a:latin typeface="Arial"/>
                </a:rPr>
                <a:t>REVISE NOW  ·  </a:t>
              </a:r>
              <a:r>
                <a:rPr lang="en-US" sz="1200" dirty="0">
                  <a:solidFill>
                    <a:srgbClr val="13303A"/>
                  </a:solidFill>
                  <a:latin typeface="Arial"/>
                </a:rPr>
                <a:t>Change one answer and write why you changed it. A revision is evidence of learning.</a:t>
              </a:r>
              <a:endParaRPr lang="en-US" sz="1200"/>
            </a:p>
          </p:txBody>
        </p:sp>
      </p:gr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cxnSp>
        <p:nvCxnSpPr>
          <p:cNvPr id="858" name="Google Shape;858;p88"/>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859" name="Google Shape;859;p88"/>
          <p:cNvSpPr txBox="1"/>
          <p:nvPr/>
        </p:nvSpPr>
        <p:spPr>
          <a:xfrm>
            <a:off x="484564" y="936102"/>
            <a:ext cx="7919603" cy="2721498"/>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62626"/>
              </a:buClr>
              <a:buSzPts val="2800"/>
              <a:buFont typeface="Arial"/>
              <a:buNone/>
              <a:defRPr/>
            </a:pPr>
            <a:r>
              <a:rPr b="0" i="0" lang="en-US" sz="2800" u="none" cap="none" strike="noStrike">
                <a:solidFill>
                  <a:srgbClr val="262626"/>
                </a:solidFill>
                <a:latin typeface="Arial"/>
                <a:ea typeface="Arial"/>
                <a:cs typeface="Arial"/>
                <a:sym typeface="Arial"/>
              </a:rPr>
              <a:t>The greatest common factor of the four terms is 2.</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800"/>
              </a:spcBef>
              <a:spcAft>
                <a:spcPts val="0"/>
              </a:spcAft>
              <a:buClr>
                <a:schemeClr val="dk2"/>
              </a:buClr>
              <a:buSzPts val="2800"/>
              <a:buFont typeface="Arial"/>
              <a:buNone/>
              <a:defRPr/>
            </a:pPr>
            <a:r>
              <a:rPr/>
              <a:t/>
            </a:r>
            <a:endParaRPr b="0" i="0" sz="2800" u="none" cap="none" strike="noStrike">
              <a:solidFill>
                <a:srgbClr val="262626"/>
              </a:solidFill>
              <a:latin typeface="Arial"/>
              <a:ea typeface="Arial"/>
              <a:cs typeface="Arial"/>
              <a:sym typeface="Arial"/>
            </a:endParaRPr>
          </a:p>
          <a:p>
            <a:pPr indent="0" lvl="0" marL="0" marR="0" rtl="0" algn="l">
              <a:lnSpc>
                <a:spcPct val="100000"/>
              </a:lnSpc>
              <a:spcBef>
                <a:spcPts val="1800"/>
              </a:spcBef>
              <a:spcAft>
                <a:spcPts val="0"/>
              </a:spcAft>
              <a:buClr>
                <a:srgbClr val="262626"/>
              </a:buClr>
              <a:buSzPts val="2800"/>
              <a:buFont typeface="Arial"/>
              <a:buNone/>
              <a:defRPr/>
            </a:pPr>
            <a:r>
              <a:rPr b="1" i="0" lang="en-US" sz="2800" u="none" cap="none" strike="noStrike">
                <a:solidFill>
                  <a:srgbClr val="262626"/>
                </a:solidFill>
                <a:latin typeface="Arial"/>
                <a:ea typeface="Arial"/>
                <a:cs typeface="Arial"/>
                <a:sym typeface="Arial"/>
              </a:rPr>
              <a:t>How can you use the GCF to rewrite the expression in a different way?</a:t>
            </a:r>
            <a:endParaRPr b="0" i="0" sz="1400" u="none" cap="none" strike="noStrike">
              <a:solidFill>
                <a:srgbClr val="000000"/>
              </a:solidFill>
              <a:latin typeface="Arial"/>
              <a:ea typeface="Arial"/>
              <a:cs typeface="Arial"/>
              <a:sym typeface="Arial"/>
            </a:endParaRPr>
          </a:p>
        </p:txBody>
      </p:sp>
      <p:sp>
        <p:nvSpPr>
          <p:cNvPr id="860" name="Google Shape;860;p88"/>
          <p:cNvSpPr txBox="1"/>
          <p:nvPr/>
        </p:nvSpPr>
        <p:spPr>
          <a:xfrm>
            <a:off x="531479" y="4447353"/>
            <a:ext cx="11447161" cy="1923891"/>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70C0"/>
              </a:buClr>
              <a:buSzPts val="2800"/>
              <a:buFont typeface="Arial"/>
              <a:buNone/>
              <a:defRPr/>
            </a:pPr>
            <a:r>
              <a:rPr b="1" i="0" lang="en-US" sz="2800" u="none" cap="none" strike="noStrike">
                <a:solidFill>
                  <a:srgbClr val="0070C0"/>
                </a:solidFill>
                <a:highlight>
                  <a:srgbClr val="E0E0E0"/>
                </a:highlight>
                <a:latin typeface="Arial"/>
                <a:ea typeface="Arial"/>
                <a:cs typeface="Arial"/>
                <a:sym typeface="Arial"/>
              </a:rPr>
              <a:t> Reveal</a:t>
            </a:r>
            <a:r>
              <a:rPr b="1" i="0" lang="en-US" sz="2800" u="none" cap="none" strike="noStrike">
                <a:solidFill>
                  <a:srgbClr val="E0E0E0"/>
                </a:solidFill>
                <a:highlight>
                  <a:srgbClr val="E0E0E0"/>
                </a:highlight>
                <a:latin typeface="Arial"/>
                <a:ea typeface="Arial"/>
                <a:cs typeface="Arial"/>
                <a:sym typeface="Arial"/>
              </a:rPr>
              <a:t>:</a:t>
            </a:r>
            <a:r>
              <a:rPr b="1" i="0" lang="en-US" sz="2800" u="none" cap="none" strike="noStrike">
                <a:solidFill>
                  <a:srgbClr val="0070C0"/>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200"/>
              </a:spcBef>
              <a:spcAft>
                <a:spcPts val="0"/>
              </a:spcAft>
              <a:buClr>
                <a:srgbClr val="595959"/>
              </a:buClr>
              <a:buSzPts val="2800"/>
              <a:buFont typeface="Arial"/>
              <a:buNone/>
              <a:defRPr/>
            </a:pPr>
            <a:r>
              <a:rPr b="0" i="0" lang="en-US" sz="2800" u="none" cap="none" strike="noStrike">
                <a:solidFill>
                  <a:srgbClr val="595959"/>
                </a:solidFill>
                <a:latin typeface="Arial"/>
                <a:ea typeface="Arial"/>
                <a:cs typeface="Arial"/>
                <a:sym typeface="Arial"/>
              </a:rPr>
              <a:t>We can divide each term by the GCF to find the other factor for each term. Then we can use the Distributive Property to write the expression as the product of the GCF and the sum of the other factors.</a:t>
            </a:r>
            <a:endParaRPr b="0" i="1" sz="2800" u="none" cap="none" strike="noStrike">
              <a:solidFill>
                <a:srgbClr val="595959"/>
              </a:solidFill>
              <a:latin typeface="Arial"/>
              <a:ea typeface="Arial"/>
              <a:cs typeface="Arial"/>
              <a:sym typeface="Arial"/>
            </a:endParaRPr>
          </a:p>
        </p:txBody>
      </p:sp>
      <p:pic>
        <p:nvPicPr>
          <p:cNvPr id="861" name="Google Shape;861;p88"/>
          <p:cNvPicPr preferRelativeResize="0"/>
          <p:nvPr/>
        </p:nvPicPr>
        <p:blipFill rotWithShape="1">
          <a:blip r:embed="rId2">
            <a:alphaModFix/>
          </a:blip>
          <a:srcRect b="0" l="0" r="0" t="0"/>
          <a:stretch/>
        </p:blipFill>
        <p:spPr>
          <a:xfrm>
            <a:off x="8428787" y="1212042"/>
            <a:ext cx="3190875" cy="3762375"/>
          </a:xfrm>
          <a:prstGeom prst="rect">
            <a:avLst/>
          </a:prstGeom>
          <a:noFill/>
          <a:ln>
            <a:noFill/>
          </a:ln>
        </p:spPr>
      </p:pic>
      <p:sp>
        <p:nvSpPr>
          <p:cNvPr id="862" name="Google Shape;862;p88"/>
          <p:cNvSpPr txBox="1"/>
          <p:nvPr/>
        </p:nvSpPr>
        <p:spPr>
          <a:xfrm>
            <a:off x="484565" y="316034"/>
            <a:ext cx="5301093" cy="620067"/>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030A0"/>
              </a:buClr>
              <a:buSzPts val="2800"/>
              <a:buFont typeface="Arial"/>
              <a:buNone/>
              <a:defRPr/>
            </a:pPr>
            <a:r>
              <a:rPr b="1" i="0" lang="en-US" sz="2800" u="none" cap="none" strike="noStrike">
                <a:solidFill>
                  <a:srgbClr val="7030A0"/>
                </a:solidFill>
                <a:latin typeface="Arial"/>
                <a:ea typeface="Arial"/>
                <a:cs typeface="Arial"/>
                <a:sym typeface="Arial"/>
              </a:rPr>
              <a:t>How Many Can You Find?</a:t>
            </a:r>
            <a:endParaRPr b="0" i="0" sz="1400" u="none" cap="none" strike="noStrike">
              <a:solidFill>
                <a:srgbClr val="000000"/>
              </a:solidFill>
              <a:latin typeface="Arial"/>
              <a:ea typeface="Arial"/>
              <a:cs typeface="Arial"/>
              <a:sym typeface="Arial"/>
            </a:endParaRPr>
          </a:p>
        </p:txBody>
      </p:sp>
      <p:sp>
        <p:nvSpPr>
          <p:cNvPr id="330"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34 / 41</a:t>
            </a:r>
          </a:p>
        </p:txBody>
      </p:sp>
      <p:grpSp>
        <p:nvGrpSpPr>
          <p:cNvPr id="863" name="TEACH-2-student-move" descr="TEACH 2 · Use strategies and tasks to engage students in rigorous work"/>
          <p:cNvGrpSpPr/>
          <p:nvPr/>
        </p:nvGrpSpPr>
        <p:grpSpPr>
          <a:xfrm>
            <a:off x="502920" y="3770697"/>
            <a:ext cx="5501640" cy="594360"/>
            <a:chOff x="502920" y="3770697"/>
            <a:chExt cx="5501640" cy="594360"/>
          </a:xfrm>
        </p:grpSpPr>
        <p:sp>
          <p:nvSpPr>
            <p:cNvPr id="864" name="TEACH-move-card"/>
            <p:cNvSpPr/>
            <p:nvPr/>
          </p:nvSpPr>
          <p:spPr>
            <a:xfrm>
              <a:off x="502920" y="3770697"/>
              <a:ext cx="5501640" cy="594360"/>
            </a:xfrm>
            <a:prstGeom prst="roundRect">
              <a:avLst>
                <a:gd name="adj" fmla="val 16000"/>
              </a:avLst>
            </a:prstGeom>
            <a:solidFill>
              <a:srgbClr val="E4F0F5"/>
            </a:solidFill>
            <a:ln w="19050">
              <a:solidFill>
                <a:srgbClr val="8CB8C7"/>
              </a:solidFill>
            </a:ln>
          </p:spPr>
          <p:txBody>
            <a:bodyPr/>
            <a:lstStyle/>
            <a:p>
              <a:endParaRPr/>
            </a:p>
          </p:txBody>
        </p:sp>
        <p:sp>
          <p:nvSpPr>
            <p:cNvPr id="865" name="TEACH-move-rule"/>
            <p:cNvSpPr/>
            <p:nvPr/>
          </p:nvSpPr>
          <p:spPr>
            <a:xfrm>
              <a:off x="548640" y="3883625"/>
              <a:ext cx="100584" cy="368504"/>
            </a:xfrm>
            <a:prstGeom prst="roundRect">
              <a:avLst>
                <a:gd name="adj" fmla="val 50000"/>
              </a:avLst>
            </a:prstGeom>
            <a:solidFill>
              <a:srgbClr val="01708C"/>
            </a:solidFill>
            <a:ln>
              <a:noFill/>
            </a:ln>
          </p:spPr>
          <p:txBody>
            <a:bodyPr/>
            <a:lstStyle/>
            <a:p>
              <a:endParaRPr/>
            </a:p>
          </p:txBody>
        </p:sp>
        <p:sp>
          <p:nvSpPr>
            <p:cNvPr id="866" name="TEACH-move-text"/>
            <p:cNvSpPr txBox="1"/>
            <p:nvPr/>
          </p:nvSpPr>
          <p:spPr>
            <a:xfrm>
              <a:off x="822960" y="3770697"/>
              <a:ext cx="5044440" cy="594360"/>
            </a:xfrm>
            <a:prstGeom prst="rect">
              <a:avLst/>
            </a:prstGeom>
            <a:noFill/>
            <a:ln>
              <a:noFill/>
            </a:ln>
          </p:spPr>
          <p:txBody>
            <a:bodyPr wrap="square" lIns="0" tIns="0" rIns="0" bIns="0" anchor="ctr">
              <a:noAutofit/>
            </a:bodyPr>
            <a:lstStyle/>
            <a:p>
              <a:pPr algn="l">
                <a:buNone/>
              </a:pPr>
              <a:r>
                <a:rPr lang="en-US" sz="1200" b="1" dirty="0">
                  <a:solidFill>
                    <a:srgbClr val="01708C"/>
                  </a:solidFill>
                  <a:latin typeface="Arial"/>
                </a:rPr>
                <a:t>USE YOUR TOOLS  ·  </a:t>
              </a:r>
              <a:r>
                <a:rPr lang="en-US" sz="1200" dirty="0">
                  <a:solidFill>
                    <a:srgbClr val="13303A"/>
                  </a:solidFill>
                  <a:latin typeface="Arial"/>
                </a:rPr>
                <a:t>Reach for your notes, a model, or a manipulative before you reach for an answer.</a:t>
              </a:r>
              <a:endParaRPr lang="en-US" sz="1200"/>
            </a:p>
          </p:txBody>
        </p:sp>
      </p:gr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cxnSp>
        <p:nvCxnSpPr>
          <p:cNvPr id="876" name="Google Shape;876;p90"/>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877" name="Google Shape;877;p90"/>
          <p:cNvSpPr txBox="1"/>
          <p:nvPr/>
        </p:nvSpPr>
        <p:spPr>
          <a:xfrm>
            <a:off x="484565" y="936101"/>
            <a:ext cx="7416424" cy="4126349"/>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62626"/>
              </a:buClr>
              <a:buSzPts val="2800"/>
              <a:buFont typeface="Arial"/>
              <a:buNone/>
            </a:pPr>
            <a:r>
              <a:rPr b="0" i="0" lang="en-US" sz="2800" u="none" cap="none" strike="noStrike">
                <a:solidFill>
                  <a:srgbClr val="262626"/>
                </a:solidFill>
                <a:latin typeface="Arial"/>
                <a:ea typeface="Arial"/>
                <a:cs typeface="Arial"/>
                <a:sym typeface="Arial"/>
              </a:rPr>
              <a:t>Let’s use the Distributive Property to rewrite the expression.</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800"/>
              </a:spcBef>
              <a:spcAft>
                <a:spcPts val="0"/>
              </a:spcAft>
              <a:buClr>
                <a:schemeClr val="dk2"/>
              </a:buClr>
              <a:buSzPts val="2800"/>
              <a:buFont typeface="Arial"/>
              <a:buNone/>
            </a:pPr>
            <a:r>
              <a:t/>
            </a:r>
            <a:endParaRPr b="0" i="0" sz="2800" u="none" cap="none" strike="noStrike">
              <a:solidFill>
                <a:srgbClr val="262626"/>
              </a:solidFill>
              <a:latin typeface="Arial"/>
              <a:ea typeface="Arial"/>
              <a:cs typeface="Arial"/>
              <a:sym typeface="Arial"/>
            </a:endParaRPr>
          </a:p>
          <a:p>
            <a:pPr indent="0" lvl="0" marL="0" marR="0" rtl="0" algn="l">
              <a:lnSpc>
                <a:spcPct val="100000"/>
              </a:lnSpc>
              <a:spcBef>
                <a:spcPts val="1800"/>
              </a:spcBef>
              <a:spcAft>
                <a:spcPts val="0"/>
              </a:spcAft>
              <a:buClr>
                <a:schemeClr val="dk2"/>
              </a:buClr>
              <a:buSzPts val="2800"/>
              <a:buFont typeface="Arial"/>
              <a:buNone/>
            </a:pPr>
            <a:r>
              <a:t/>
            </a:r>
            <a:endParaRPr b="1" i="0" sz="2800" u="none" cap="none" strike="noStrike">
              <a:solidFill>
                <a:srgbClr val="262626"/>
              </a:solidFill>
              <a:latin typeface="Arial"/>
              <a:ea typeface="Arial"/>
              <a:cs typeface="Arial"/>
              <a:sym typeface="Arial"/>
            </a:endParaRPr>
          </a:p>
          <a:p>
            <a:pPr indent="0" lvl="0" marL="0" marR="0" rtl="0" algn="l">
              <a:lnSpc>
                <a:spcPct val="100000"/>
              </a:lnSpc>
              <a:spcBef>
                <a:spcPts val="1800"/>
              </a:spcBef>
              <a:spcAft>
                <a:spcPts val="0"/>
              </a:spcAft>
              <a:buClr>
                <a:schemeClr val="dk2"/>
              </a:buClr>
              <a:buSzPts val="2800"/>
              <a:buFont typeface="Arial"/>
              <a:buNone/>
            </a:pPr>
            <a:r>
              <a:t/>
            </a:r>
            <a:endParaRPr b="1" i="0" sz="2800" u="none" cap="none" strike="noStrike">
              <a:solidFill>
                <a:srgbClr val="262626"/>
              </a:solidFill>
              <a:latin typeface="Arial"/>
              <a:ea typeface="Arial"/>
              <a:cs typeface="Arial"/>
              <a:sym typeface="Arial"/>
            </a:endParaRPr>
          </a:p>
          <a:p>
            <a:pPr indent="0" lvl="0" marL="0" marR="0" rtl="0" algn="l">
              <a:lnSpc>
                <a:spcPct val="100000"/>
              </a:lnSpc>
              <a:spcBef>
                <a:spcPts val="1800"/>
              </a:spcBef>
              <a:spcAft>
                <a:spcPts val="0"/>
              </a:spcAft>
              <a:buClr>
                <a:srgbClr val="262626"/>
              </a:buClr>
              <a:buSzPts val="2800"/>
              <a:buFont typeface="Arial"/>
              <a:buNone/>
            </a:pPr>
            <a:r>
              <a:rPr b="1" i="0" lang="en-US" sz="2800" u="none" cap="none" strike="noStrike">
                <a:solidFill>
                  <a:srgbClr val="262626"/>
                </a:solidFill>
                <a:latin typeface="Arial"/>
                <a:ea typeface="Arial"/>
                <a:cs typeface="Arial"/>
                <a:sym typeface="Arial"/>
              </a:rPr>
              <a:t>Can the expression be further simplified? If so, how?</a:t>
            </a:r>
            <a:endParaRPr b="0" i="0" sz="1400" u="none" cap="none" strike="noStrike">
              <a:solidFill>
                <a:srgbClr val="000000"/>
              </a:solidFill>
              <a:latin typeface="Arial"/>
              <a:ea typeface="Arial"/>
              <a:cs typeface="Arial"/>
              <a:sym typeface="Arial"/>
            </a:endParaRPr>
          </a:p>
        </p:txBody>
      </p:sp>
      <p:sp>
        <p:nvSpPr>
          <p:cNvPr id="878" name="Google Shape;878;p90"/>
          <p:cNvSpPr txBox="1"/>
          <p:nvPr/>
        </p:nvSpPr>
        <p:spPr>
          <a:xfrm>
            <a:off x="531480" y="5243527"/>
            <a:ext cx="6409648" cy="110924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70C0"/>
              </a:buClr>
              <a:buSzPts val="2800"/>
              <a:buFont typeface="Arial"/>
              <a:buNone/>
            </a:pPr>
            <a:r>
              <a:rPr b="1" i="0" lang="en-US" sz="2800" u="none" cap="none" strike="noStrike">
                <a:solidFill>
                  <a:srgbClr val="0070C0"/>
                </a:solidFill>
                <a:highlight>
                  <a:srgbClr val="E0E0E0"/>
                </a:highlight>
                <a:latin typeface="Arial"/>
                <a:ea typeface="Arial"/>
                <a:cs typeface="Arial"/>
                <a:sym typeface="Arial"/>
              </a:rPr>
              <a:t> Reveal</a:t>
            </a:r>
            <a:r>
              <a:rPr b="1" i="0" lang="en-US" sz="2800" u="none" cap="none" strike="noStrike">
                <a:solidFill>
                  <a:srgbClr val="E0E0E0"/>
                </a:solidFill>
                <a:highlight>
                  <a:srgbClr val="E0E0E0"/>
                </a:highlight>
                <a:latin typeface="Arial"/>
                <a:ea typeface="Arial"/>
                <a:cs typeface="Arial"/>
                <a:sym typeface="Arial"/>
              </a:rPr>
              <a:t>:</a:t>
            </a:r>
            <a:r>
              <a:rPr b="1" i="0" lang="en-US" sz="2800" u="none" cap="none" strike="noStrike">
                <a:solidFill>
                  <a:srgbClr val="0070C0"/>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200"/>
              </a:spcBef>
              <a:spcAft>
                <a:spcPts val="0"/>
              </a:spcAft>
              <a:buClr>
                <a:srgbClr val="595959"/>
              </a:buClr>
              <a:buSzPts val="2800"/>
              <a:buFont typeface="Arial"/>
              <a:buNone/>
            </a:pPr>
            <a:r>
              <a:rPr b="0" i="0" lang="en-US" sz="2800" u="none" cap="none" strike="noStrike">
                <a:solidFill>
                  <a:srgbClr val="595959"/>
                </a:solidFill>
                <a:latin typeface="Arial"/>
                <a:ea typeface="Arial"/>
                <a:cs typeface="Arial"/>
                <a:sym typeface="Arial"/>
              </a:rPr>
              <a:t>yes; We can combine the like terms.</a:t>
            </a:r>
            <a:endParaRPr b="0" i="1" sz="2800" u="none" cap="none" strike="noStrike">
              <a:solidFill>
                <a:srgbClr val="595959"/>
              </a:solidFill>
              <a:latin typeface="Arial"/>
              <a:ea typeface="Arial"/>
              <a:cs typeface="Arial"/>
              <a:sym typeface="Arial"/>
            </a:endParaRPr>
          </a:p>
        </p:txBody>
      </p:sp>
      <p:pic>
        <p:nvPicPr>
          <p:cNvPr id="879" name="Google Shape;879;p90"/>
          <p:cNvPicPr preferRelativeResize="0"/>
          <p:nvPr/>
        </p:nvPicPr>
        <p:blipFill rotWithShape="1">
          <a:blip r:embed="rId2">
            <a:alphaModFix/>
          </a:blip>
          <a:srcRect b="0" l="0" r="0" t="0"/>
          <a:stretch/>
        </p:blipFill>
        <p:spPr>
          <a:xfrm>
            <a:off x="2315527" y="2448011"/>
            <a:ext cx="4257675" cy="981075"/>
          </a:xfrm>
          <a:prstGeom prst="rect">
            <a:avLst/>
          </a:prstGeom>
          <a:noFill/>
          <a:ln>
            <a:noFill/>
          </a:ln>
        </p:spPr>
      </p:pic>
      <p:sp>
        <p:nvSpPr>
          <p:cNvPr id="880" name="Google Shape;880;p90"/>
          <p:cNvSpPr txBox="1"/>
          <p:nvPr/>
        </p:nvSpPr>
        <p:spPr>
          <a:xfrm>
            <a:off x="484565" y="316034"/>
            <a:ext cx="5301093" cy="620067"/>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030A0"/>
              </a:buClr>
              <a:buSzPts val="2800"/>
              <a:buFont typeface="Arial"/>
              <a:buNone/>
            </a:pPr>
            <a:r>
              <a:rPr b="1" i="0" lang="en-US" sz="2800" u="none" cap="none" strike="noStrike">
                <a:solidFill>
                  <a:srgbClr val="7030A0"/>
                </a:solidFill>
                <a:latin typeface="Arial"/>
                <a:ea typeface="Arial"/>
                <a:cs typeface="Arial"/>
                <a:sym typeface="Arial"/>
              </a:rPr>
              <a:t>How Many Can You Find?</a:t>
            </a:r>
            <a:endParaRPr b="0" i="0" sz="1400" u="none" cap="none" strike="noStrike">
              <a:solidFill>
                <a:srgbClr val="000000"/>
              </a:solidFill>
              <a:latin typeface="Arial"/>
              <a:ea typeface="Arial"/>
              <a:cs typeface="Arial"/>
              <a:sym typeface="Arial"/>
            </a:endParaRPr>
          </a:p>
        </p:txBody>
      </p:sp>
      <p:sp>
        <p:nvSpPr>
          <p:cNvPr id="330"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35 / 41</a:t>
            </a:r>
          </a:p>
        </p:txBody>
      </p:sp>
      <p:sp xmlns:p="http://schemas.openxmlformats.org/presentationml/2006/main" xmlns:a="http://schemas.openxmlformats.org/drawingml/2006/main">
        <p:nvSpPr>
          <p:cNvPr id="881" name="TEACH-embedded-student-prompt" descr="Student thinking and response directions"/>
          <p:cNvSpPr txBox="1"/>
          <p:nvPr/>
        </p:nvSpPr>
        <p:spPr>
          <a:xfrm>
            <a:off x="7391400" y="5193792"/>
            <a:ext cx="4206240" cy="1078992"/>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Compare your reasoning with the</a:t>
            </a:r>
            <a:endParaRPr lang="en-US" sz="2000"/>
          </a:p>
          <a:p>
            <a:pPr>
              <a:lnSpc>
                <a:spcPts val="2400"/>
              </a:lnSpc>
              <a:buNone/>
            </a:pPr>
            <a:r>
              <a:rPr lang="en-US" sz="2000">
                <a:solidFill>
                  <a:srgbClr val="174D60"/>
                </a:solidFill>
                <a:latin typeface="Arial"/>
              </a:rPr>
              <a:t>explanation. Explain any revision</a:t>
            </a:r>
            <a:endParaRPr lang="en-US" sz="2000"/>
          </a:p>
          <a:p>
            <a:pPr>
              <a:lnSpc>
                <a:spcPts val="2400"/>
              </a:lnSpc>
              <a:buNone/>
            </a:pPr>
            <a:r>
              <a:rPr lang="en-US" sz="2000">
                <a:solidFill>
                  <a:srgbClr val="174D60"/>
                </a:solidFill>
                <a:latin typeface="Arial"/>
              </a:rPr>
              <a:t>you make.</a:t>
            </a:r>
            <a:endParaRPr lang="en-US" sz="2000"/>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9" name="Shape 929"/>
        <p:cNvGrpSpPr/>
        <p:nvPr/>
      </p:nvGrpSpPr>
      <p:grpSpPr>
        <a:xfrm>
          <a:off x="0" y="0"/>
          <a:ext cx="0" cy="0"/>
          <a:chOff x="0" y="0"/>
          <a:chExt cx="0" cy="0"/>
        </a:xfrm>
      </p:grpSpPr>
      <p:cxnSp>
        <p:nvCxnSpPr>
          <p:cNvPr id="930" name="Google Shape;930;p96"/>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931" name="Google Shape;931;p96"/>
          <p:cNvSpPr txBox="1"/>
          <p:nvPr/>
        </p:nvSpPr>
        <p:spPr>
          <a:xfrm>
            <a:off x="484565" y="316033"/>
            <a:ext cx="5600351" cy="1213509"/>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82DA0"/>
              </a:buClr>
              <a:buSzPts val="2800"/>
              <a:buFont typeface="Arial"/>
              <a:buNone/>
            </a:pPr>
            <a:r>
              <a:rPr b="0" i="0" lang="en-US" sz="2800" u="none" cap="none" strike="noStrike">
                <a:solidFill>
                  <a:srgbClr val="782DA0"/>
                </a:solidFill>
                <a:latin typeface="Arial"/>
                <a:ea typeface="Arial"/>
                <a:cs typeface="Arial"/>
                <a:sym typeface="Arial"/>
              </a:rPr>
              <a:t>Summarize:</a:t>
            </a:r>
            <a:r>
              <a:rPr b="1" i="0" lang="en-US" sz="2800" u="none" cap="none" strike="noStrike">
                <a:solidFill>
                  <a:srgbClr val="782DA0"/>
                </a:solidFill>
                <a:latin typeface="Arial"/>
                <a:ea typeface="Arial"/>
                <a:cs typeface="Arial"/>
                <a:sym typeface="Arial"/>
              </a:rPr>
              <a:t> Generate Equivalent Expressions</a:t>
            </a:r>
            <a:endParaRPr b="1" i="0" sz="1500" u="none" cap="none" strike="noStrike">
              <a:solidFill>
                <a:srgbClr val="782DA0"/>
              </a:solidFill>
              <a:latin typeface="Arial"/>
              <a:ea typeface="Arial"/>
              <a:cs typeface="Arial"/>
              <a:sym typeface="Arial"/>
            </a:endParaRPr>
          </a:p>
        </p:txBody>
      </p:sp>
      <p:sp>
        <p:nvSpPr>
          <p:cNvPr id="932" name="Google Shape;932;p96"/>
          <p:cNvSpPr/>
          <p:nvPr/>
        </p:nvSpPr>
        <p:spPr>
          <a:xfrm>
            <a:off x="484564" y="1296000"/>
            <a:ext cx="8726111" cy="2677656"/>
          </a:xfrm>
          <a:prstGeom prst="rect">
            <a:avLst/>
          </a:prstGeom>
          <a:blipFill rotWithShape="1">
            <a:blip r:embed="rId3">
              <a:alphaModFix/>
            </a:blip>
            <a:stretch>
              <a:fillRect b="-5467" l="-1397" r="0" t="-2506"/>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23282D"/>
                </a:solidFill>
                <a:latin typeface="Arial"/>
                <a:ea typeface="Calibri"/>
                <a:cs typeface="Calibri"/>
                <a:sym typeface="Calibri"/>
              </a:rPr>
              <a:t> </a:t>
            </a:r>
            <a:endParaRPr b="0" i="0" sz="1400" u="none" cap="none" strike="noStrike">
              <a:solidFill>
                <a:srgbClr val="000000"/>
              </a:solidFill>
              <a:latin typeface="Arial"/>
              <a:ea typeface="Arial"/>
              <a:cs typeface="Arial"/>
              <a:sym typeface="Arial"/>
            </a:endParaRPr>
          </a:p>
        </p:txBody>
      </p:sp>
      <p:sp>
        <p:nvSpPr>
          <p:cNvPr id="933"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36 / 41</a:t>
            </a:r>
          </a:p>
        </p:txBody>
      </p:sp>
      <p:sp>
        <p:nvSpPr>
          <p:cNvPr id="934" name="EWL-Routine"/>
          <p:cNvSpPr>
            <a:spLocks noGrp="1"/>
          </p:cNvSpPr>
          <p:nvPr/>
        </p:nvSpPr>
        <p:spPr>
          <a:xfrm>
            <a:off x="502920" y="54864"/>
            <a:ext cx="6035040" cy="237744"/>
          </a:xfrm>
          <a:prstGeom prst="rect">
            <a:avLst/>
          </a:prstGeom>
          <a:noFill/>
        </p:spPr>
        <p:txBody>
          <a:bodyPr lIns="0" rIns="0" tIns="0" bIns="0" wrap="square" anchor="ctr">
            <a:noAutofit/>
          </a:bodyPr>
          <a:lstStyle/>
          <a:p>
            <a:pPr algn="l"/>
            <a:r>
              <a:rPr lang="en-US" sz="1200" b="1">
                <a:solidFill>
                  <a:srgbClr val="1E2682"/>
                </a:solidFill>
                <a:latin typeface="Arial"/>
              </a:rPr>
              <a:t>SUMMARIZE</a:t>
            </a:r>
            <a:r>
              <a:rPr lang="en-US" sz="1200" b="1">
                <a:solidFill>
                  <a:srgbClr val="5D6872"/>
                </a:solidFill>
                <a:latin typeface="Arial"/>
              </a:rPr>
              <a:t>  ·  SAY IT IN YOUR OWN WORDS</a:t>
            </a:r>
          </a:p>
        </p:txBody>
      </p:sp>
      <p:sp xmlns:p="http://schemas.openxmlformats.org/presentationml/2006/main" xmlns:a="http://schemas.openxmlformats.org/drawingml/2006/main">
        <p:nvSpPr>
          <p:cNvPr id="935" name="TEACH-embedded-student-prompt" descr="Student thinking and response directions"/>
          <p:cNvSpPr txBox="1"/>
          <p:nvPr/>
        </p:nvSpPr>
        <p:spPr>
          <a:xfrm>
            <a:off x="594360" y="5815584"/>
            <a:ext cx="11094720" cy="457200"/>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Explain the key idea without reading. Use today’s example as evidence.</a:t>
            </a:r>
            <a:endParaRPr lang="en-US" sz="2000"/>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6" name="Shape 936"/>
        <p:cNvGrpSpPr/>
        <p:nvPr/>
      </p:nvGrpSpPr>
      <p:grpSpPr>
        <a:xfrm>
          <a:off x="0" y="0"/>
          <a:ext cx="0" cy="0"/>
          <a:chOff x="0" y="0"/>
          <a:chExt cx="0" cy="0"/>
        </a:xfrm>
      </p:grpSpPr>
      <p:cxnSp>
        <p:nvCxnSpPr>
          <p:cNvPr id="937" name="Google Shape;937;p97"/>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938" name="Google Shape;938;p97"/>
          <p:cNvSpPr txBox="1"/>
          <p:nvPr/>
        </p:nvSpPr>
        <p:spPr>
          <a:xfrm>
            <a:off x="484563" y="854376"/>
            <a:ext cx="8418713" cy="5435172"/>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62626"/>
              </a:buClr>
              <a:buSzPts val="2400"/>
              <a:buFont typeface="Arial"/>
              <a:buNone/>
              <a:defRPr/>
            </a:pPr>
            <a:r>
              <a:rPr b="0" i="0" lang="en-US" sz="2400" u="none" cap="none" strike="noStrike">
                <a:solidFill>
                  <a:srgbClr val="23282D"/>
                </a:solidFill>
                <a:latin typeface="Arial"/>
                <a:ea typeface="Arial"/>
                <a:cs typeface="Arial"/>
                <a:sym typeface="Arial"/>
              </a:rPr>
              <a:t>Diamond wants to buy some vintage comic books from an online retailer. The price of a comic book is based on its condition, as shown. Diamond plans to buy some comic books that are in good and near mint condition and protective covers for $0.50 for each comic book. The retailer charges $9.99 for shipping.</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800"/>
              </a:spcBef>
              <a:spcAft>
                <a:spcPts val="0"/>
              </a:spcAft>
              <a:buClr>
                <a:srgbClr val="262626"/>
              </a:buClr>
              <a:buSzPts val="2400"/>
              <a:buFont typeface="Arial"/>
              <a:buNone/>
              <a:defRPr/>
            </a:pPr>
            <a:r>
              <a:rPr b="1" i="0" lang="en-US" sz="2400" u="none" cap="none" strike="noStrike">
                <a:solidFill>
                  <a:srgbClr val="23282D"/>
                </a:solidFill>
                <a:latin typeface="Arial"/>
                <a:ea typeface="Arial"/>
                <a:cs typeface="Arial"/>
                <a:sym typeface="Arial"/>
              </a:rPr>
              <a:t>Question:</a:t>
            </a:r>
            <a:r>
              <a:rPr b="0" i="0" lang="en-US" sz="2400" u="none" cap="none" strike="noStrike">
                <a:solidFill>
                  <a:srgbClr val="23282D"/>
                </a:solidFill>
                <a:latin typeface="Arial"/>
                <a:ea typeface="Arial"/>
                <a:cs typeface="Arial"/>
                <a:sym typeface="Arial"/>
              </a:rPr>
              <a:t> How could Diamond use an algebraic expression to find and compare the costs of different amounts of good and near mint condition comic books? Which combination of comic books would you recommend Diamond buy?</a:t>
            </a:r>
            <a:endParaRPr b="0" i="0" sz="1400" u="none" cap="none" strike="noStrike">
              <a:solidFill>
                <a:srgbClr val="000000"/>
              </a:solidFill>
              <a:latin typeface="Arial"/>
              <a:ea typeface="Arial"/>
              <a:cs typeface="Arial"/>
              <a:sym typeface="Arial"/>
            </a:endParaRPr>
          </a:p>
          <a:p>
            <a:pPr indent="-457200" lvl="0" marL="457200" marR="0" rtl="0" algn="l">
              <a:lnSpc>
                <a:spcPct val="100000"/>
              </a:lnSpc>
              <a:spcBef>
                <a:spcPts val="600"/>
              </a:spcBef>
              <a:spcAft>
                <a:spcPts val="0"/>
              </a:spcAft>
              <a:buClr>
                <a:srgbClr val="262626"/>
              </a:buClr>
              <a:buSzPts val="2400"/>
              <a:buFont typeface="Arial"/>
              <a:buChar char="•"/>
              <a:defRPr/>
            </a:pPr>
            <a:r>
              <a:rPr b="0" i="0" lang="en-US" sz="2400" u="none" cap="none" strike="noStrike">
                <a:solidFill>
                  <a:srgbClr val="23282D"/>
                </a:solidFill>
                <a:latin typeface="Arial"/>
                <a:ea typeface="Arial"/>
                <a:cs typeface="Arial"/>
                <a:sym typeface="Arial"/>
              </a:rPr>
              <a:t>three near mint and two good comic books</a:t>
            </a:r>
            <a:endParaRPr b="0" i="0" sz="1400" u="none" cap="none" strike="noStrike">
              <a:solidFill>
                <a:srgbClr val="000000"/>
              </a:solidFill>
              <a:latin typeface="Arial"/>
              <a:ea typeface="Arial"/>
              <a:cs typeface="Arial"/>
              <a:sym typeface="Arial"/>
            </a:endParaRPr>
          </a:p>
          <a:p>
            <a:pPr indent="-457200" lvl="0" marL="457200" marR="0" rtl="0" algn="l">
              <a:lnSpc>
                <a:spcPct val="100000"/>
              </a:lnSpc>
              <a:spcBef>
                <a:spcPts val="600"/>
              </a:spcBef>
              <a:spcAft>
                <a:spcPts val="0"/>
              </a:spcAft>
              <a:buClr>
                <a:srgbClr val="262626"/>
              </a:buClr>
              <a:buSzPts val="2400"/>
              <a:buFont typeface="Arial"/>
              <a:buChar char="•"/>
              <a:defRPr/>
            </a:pPr>
            <a:r>
              <a:rPr b="0" i="0" lang="en-US" sz="2400" u="none" cap="none" strike="noStrike">
                <a:solidFill>
                  <a:srgbClr val="23282D"/>
                </a:solidFill>
                <a:latin typeface="Arial"/>
                <a:ea typeface="Arial"/>
                <a:cs typeface="Arial"/>
                <a:sym typeface="Arial"/>
              </a:rPr>
              <a:t>two near mint and six good comic books</a:t>
            </a:r>
            <a:endParaRPr b="0" i="0" sz="1400" u="none" cap="none" strike="noStrike">
              <a:solidFill>
                <a:srgbClr val="000000"/>
              </a:solidFill>
              <a:latin typeface="Arial"/>
              <a:ea typeface="Arial"/>
              <a:cs typeface="Arial"/>
              <a:sym typeface="Arial"/>
            </a:endParaRPr>
          </a:p>
          <a:p>
            <a:pPr indent="-457200" lvl="0" marL="457200" marR="0" rtl="0" algn="l">
              <a:lnSpc>
                <a:spcPct val="100000"/>
              </a:lnSpc>
              <a:spcBef>
                <a:spcPts val="600"/>
              </a:spcBef>
              <a:spcAft>
                <a:spcPts val="0"/>
              </a:spcAft>
              <a:buClr>
                <a:srgbClr val="262626"/>
              </a:buClr>
              <a:buSzPts val="2400"/>
              <a:buFont typeface="Arial"/>
              <a:buChar char="•"/>
              <a:defRPr/>
            </a:pPr>
            <a:r>
              <a:rPr b="0" i="0" lang="en-US" sz="2400" u="none" cap="none" strike="noStrike">
                <a:solidFill>
                  <a:srgbClr val="23282D"/>
                </a:solidFill>
                <a:latin typeface="Arial"/>
                <a:ea typeface="Arial"/>
                <a:cs typeface="Arial"/>
                <a:sym typeface="Arial"/>
              </a:rPr>
              <a:t>one near mint and ten good comic books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800"/>
              </a:spcBef>
              <a:spcAft>
                <a:spcPts val="0"/>
              </a:spcAft>
              <a:buClr>
                <a:schemeClr val="dk2"/>
              </a:buClr>
              <a:buSzPts val="2800"/>
              <a:buFont typeface="Arial"/>
              <a:buNone/>
              <a:defRPr/>
            </a:pPr>
            <a:r>
              <a:rPr/>
              <a:t/>
            </a:r>
            <a:endParaRPr b="0" i="0" sz="2800" u="none" cap="none" strike="noStrike">
              <a:solidFill>
                <a:srgbClr val="262626"/>
              </a:solidFill>
              <a:latin typeface="Arial"/>
              <a:ea typeface="Arial"/>
              <a:cs typeface="Arial"/>
              <a:sym typeface="Arial"/>
            </a:endParaRPr>
          </a:p>
        </p:txBody>
      </p:sp>
      <p:sp>
        <p:nvSpPr>
          <p:cNvPr id="939" name="Google Shape;939;p97"/>
          <p:cNvSpPr txBox="1"/>
          <p:nvPr/>
        </p:nvSpPr>
        <p:spPr>
          <a:xfrm>
            <a:off x="484565" y="316034"/>
            <a:ext cx="5791544" cy="611494"/>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82DA0"/>
              </a:buClr>
              <a:buSzPts val="2800"/>
              <a:buFont typeface="Arial"/>
              <a:buNone/>
              <a:defRPr/>
            </a:pPr>
            <a:r>
              <a:rPr b="0" i="0" lang="en-US" sz="2800" u="none" cap="none" strike="noStrike">
                <a:solidFill>
                  <a:srgbClr val="782DA0"/>
                </a:solidFill>
                <a:latin typeface="Arial"/>
                <a:ea typeface="Arial"/>
                <a:cs typeface="Arial"/>
                <a:sym typeface="Arial"/>
              </a:rPr>
              <a:t>Apply:</a:t>
            </a:r>
            <a:r>
              <a:rPr b="1" i="0" lang="en-US" sz="2800" u="none" cap="none" strike="noStrike">
                <a:solidFill>
                  <a:srgbClr val="782DA0"/>
                </a:solidFill>
                <a:latin typeface="Arial"/>
                <a:ea typeface="Arial"/>
                <a:cs typeface="Arial"/>
                <a:sym typeface="Arial"/>
              </a:rPr>
              <a:t> Vintage Comic Books</a:t>
            </a:r>
            <a:endParaRPr b="1" i="0" sz="1500" u="none" cap="none" strike="noStrike">
              <a:solidFill>
                <a:srgbClr val="782DA0"/>
              </a:solidFill>
              <a:latin typeface="Arial"/>
              <a:ea typeface="Arial"/>
              <a:cs typeface="Arial"/>
              <a:sym typeface="Arial"/>
            </a:endParaRPr>
          </a:p>
        </p:txBody>
      </p:sp>
      <p:pic>
        <p:nvPicPr>
          <p:cNvPr id="940" name="Google Shape;940;p97"/>
          <p:cNvPicPr preferRelativeResize="0"/>
          <p:nvPr/>
        </p:nvPicPr>
        <p:blipFill rotWithShape="1">
          <a:blip r:embed="rId3">
            <a:alphaModFix/>
          </a:blip>
          <a:srcRect b="0" l="0" r="0" t="0"/>
          <a:stretch/>
        </p:blipFill>
        <p:spPr>
          <a:xfrm>
            <a:off x="8903276" y="1454381"/>
            <a:ext cx="3020861" cy="3600000"/>
          </a:xfrm>
          <a:prstGeom prst="rect">
            <a:avLst/>
          </a:prstGeom>
          <a:noFill/>
          <a:ln>
            <a:noFill/>
          </a:ln>
        </p:spPr>
      </p:pic>
      <p:sp>
        <p:nvSpPr>
          <p:cNvPr id="941"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37 / 41</a:t>
            </a:r>
          </a:p>
        </p:txBody>
      </p:sp>
      <p:sp>
        <p:nvSpPr>
          <p:cNvPr id="942" name="EWL-Routine"/>
          <p:cNvSpPr>
            <a:spLocks noGrp="1"/>
          </p:cNvSpPr>
          <p:nvPr/>
        </p:nvSpPr>
        <p:spPr>
          <a:xfrm>
            <a:off x="502920" y="54864"/>
            <a:ext cx="6035040" cy="237744"/>
          </a:xfrm>
          <a:prstGeom prst="rect">
            <a:avLst/>
          </a:prstGeom>
          <a:noFill/>
        </p:spPr>
        <p:txBody>
          <a:bodyPr lIns="0" rIns="0" tIns="0" bIns="0" wrap="square" anchor="ctr">
            <a:noAutofit/>
          </a:bodyPr>
          <a:lstStyle/>
          <a:p>
            <a:pPr algn="l">
              <a:defRPr/>
            </a:pPr>
            <a:r>
              <a:rPr lang="en-US" sz="1200" b="1">
                <a:solidFill>
                  <a:srgbClr val="1E2682"/>
                </a:solidFill>
                <a:latin typeface="Arial"/>
              </a:rPr>
              <a:t>APPLY</a:t>
            </a:r>
            <a:r>
              <a:rPr lang="en-US" sz="1200" b="1">
                <a:solidFill>
                  <a:srgbClr val="5D6872"/>
                </a:solidFill>
                <a:latin typeface="Arial"/>
              </a:rPr>
              <a:t>  ·  PLAN IT • SOLVE IT • PROVE IT</a:t>
            </a: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4" name="Shape 944"/>
        <p:cNvGrpSpPr/>
        <p:nvPr/>
      </p:nvGrpSpPr>
      <p:grpSpPr>
        <a:xfrm>
          <a:off x="0" y="0"/>
          <a:ext cx="0" cy="0"/>
          <a:chOff x="0" y="0"/>
          <a:chExt cx="0" cy="0"/>
        </a:xfrm>
      </p:grpSpPr>
      <p:cxnSp>
        <p:nvCxnSpPr>
          <p:cNvPr id="945" name="Google Shape;945;p98"/>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946" name="Google Shape;946;p98"/>
          <p:cNvSpPr txBox="1"/>
          <p:nvPr/>
        </p:nvSpPr>
        <p:spPr>
          <a:xfrm>
            <a:off x="484564" y="927528"/>
            <a:ext cx="8188919" cy="5305106"/>
          </a:xfrm>
          <a:prstGeom prst="rect">
            <a:avLst/>
          </a:prstGeom>
          <a:noFill/>
          <a:ln>
            <a:noFill/>
          </a:ln>
        </p:spPr>
        <p:txBody>
          <a:bodyPr anchorCtr="0" anchor="t" bIns="45700" lIns="91425" spcFirstLastPara="1" rIns="91425" wrap="square" tIns="45700">
            <a:noAutofit/>
          </a:bodyPr>
          <a:lstStyle/>
          <a:p>
            <a:pPr indent="-457200" lvl="0" marL="457200" marR="0" rtl="0" algn="l">
              <a:lnSpc>
                <a:spcPct val="100000"/>
              </a:lnSpc>
              <a:spcBef>
                <a:spcPts val="0"/>
              </a:spcBef>
              <a:spcAft>
                <a:spcPts val="0"/>
              </a:spcAft>
              <a:buClr>
                <a:srgbClr val="262626"/>
              </a:buClr>
              <a:buSzPts val="2800"/>
              <a:buFont typeface="Arial"/>
              <a:buChar char="•"/>
              <a:defRPr/>
            </a:pPr>
            <a:r>
              <a:rPr b="0" i="0" lang="en-US" sz="2800" u="none" cap="none" strike="noStrike">
                <a:solidFill>
                  <a:srgbClr val="23282D"/>
                </a:solidFill>
                <a:latin typeface="Arial"/>
                <a:ea typeface="Arial"/>
                <a:cs typeface="Arial"/>
                <a:sym typeface="Arial"/>
              </a:rPr>
              <a:t>I can use repeated reasoning and the properties of operations to generate equivalent expressions.</a:t>
            </a:r>
            <a:endParaRPr b="0" i="0" sz="1400" u="none" cap="none" strike="noStrike">
              <a:solidFill>
                <a:srgbClr val="000000"/>
              </a:solidFill>
              <a:latin typeface="Arial"/>
              <a:ea typeface="Arial"/>
              <a:cs typeface="Arial"/>
              <a:sym typeface="Arial"/>
            </a:endParaRPr>
          </a:p>
        </p:txBody>
      </p:sp>
      <p:sp>
        <p:nvSpPr>
          <p:cNvPr id="947" name="Google Shape;947;p98"/>
          <p:cNvSpPr txBox="1"/>
          <p:nvPr/>
        </p:nvSpPr>
        <p:spPr>
          <a:xfrm>
            <a:off x="484565" y="316034"/>
            <a:ext cx="5492675" cy="537406"/>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82DA0"/>
              </a:buClr>
              <a:buSzPts val="2800"/>
              <a:buFont typeface="Arial"/>
              <a:buNone/>
              <a:defRPr/>
            </a:pPr>
            <a:r>
              <a:rPr b="1" i="0" lang="en-US" sz="2800" u="none" cap="none" strike="noStrike">
                <a:solidFill>
                  <a:srgbClr val="782DA0"/>
                </a:solidFill>
                <a:latin typeface="Arial"/>
                <a:ea typeface="Arial"/>
                <a:cs typeface="Arial"/>
                <a:sym typeface="Arial"/>
              </a:rPr>
              <a:t>Learning Targets</a:t>
            </a:r>
            <a:endParaRPr b="0" i="0" sz="1400" u="none" cap="none" strike="noStrike">
              <a:solidFill>
                <a:srgbClr val="000000"/>
              </a:solidFill>
              <a:latin typeface="Arial"/>
              <a:ea typeface="Arial"/>
              <a:cs typeface="Arial"/>
              <a:sym typeface="Arial"/>
            </a:endParaRPr>
          </a:p>
        </p:txBody>
      </p:sp>
      <p:sp>
        <p:nvSpPr>
          <p:cNvPr id="948"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39 / 41</a:t>
            </a:r>
          </a:p>
        </p:txBody>
      </p:sp>
      <p:grpSp>
        <p:nvGrpSpPr>
          <p:cNvPr id="949" name="TEACH-1-student-move" descr="TEACH 1 · Facilitate clear, standards-based content learning"/>
          <p:cNvGrpSpPr/>
          <p:nvPr/>
        </p:nvGrpSpPr>
        <p:grpSpPr>
          <a:xfrm>
            <a:off x="502920" y="5472790"/>
            <a:ext cx="11186160" cy="402336"/>
            <a:chOff x="502920" y="5472790"/>
            <a:chExt cx="11186160" cy="402336"/>
          </a:xfrm>
        </p:grpSpPr>
        <p:sp>
          <p:nvSpPr>
            <p:cNvPr id="950" name="TEACH-move-card"/>
            <p:cNvSpPr/>
            <p:nvPr/>
          </p:nvSpPr>
          <p:spPr>
            <a:xfrm>
              <a:off x="502920" y="5472790"/>
              <a:ext cx="11186160" cy="402336"/>
            </a:xfrm>
            <a:prstGeom prst="roundRect">
              <a:avLst>
                <a:gd name="adj" fmla="val 16000"/>
              </a:avLst>
            </a:prstGeom>
            <a:solidFill>
              <a:srgbClr val="E4F0F5"/>
            </a:solidFill>
            <a:ln w="19050">
              <a:solidFill>
                <a:srgbClr val="8CB8C7"/>
              </a:solidFill>
            </a:ln>
          </p:spPr>
          <p:txBody>
            <a:bodyPr/>
            <a:lstStyle/>
            <a:p>
              <a:endParaRPr/>
            </a:p>
          </p:txBody>
        </p:sp>
        <p:sp>
          <p:nvSpPr>
            <p:cNvPr id="951" name="TEACH-move-rule"/>
            <p:cNvSpPr/>
            <p:nvPr/>
          </p:nvSpPr>
          <p:spPr>
            <a:xfrm>
              <a:off x="548640" y="5549234"/>
              <a:ext cx="100584" cy="249448"/>
            </a:xfrm>
            <a:prstGeom prst="roundRect">
              <a:avLst>
                <a:gd name="adj" fmla="val 50000"/>
              </a:avLst>
            </a:prstGeom>
            <a:solidFill>
              <a:srgbClr val="01708C"/>
            </a:solidFill>
            <a:ln>
              <a:noFill/>
            </a:ln>
          </p:spPr>
          <p:txBody>
            <a:bodyPr/>
            <a:lstStyle/>
            <a:p>
              <a:endParaRPr/>
            </a:p>
          </p:txBody>
        </p:sp>
        <p:sp>
          <p:nvSpPr>
            <p:cNvPr id="952" name="TEACH-move-text"/>
            <p:cNvSpPr txBox="1"/>
            <p:nvPr/>
          </p:nvSpPr>
          <p:spPr>
            <a:xfrm>
              <a:off x="822960" y="5472790"/>
              <a:ext cx="10728960" cy="402336"/>
            </a:xfrm>
            <a:prstGeom prst="rect">
              <a:avLst/>
            </a:prstGeom>
            <a:noFill/>
            <a:ln>
              <a:noFill/>
            </a:ln>
          </p:spPr>
          <p:txBody>
            <a:bodyPr wrap="square" lIns="0" tIns="0" rIns="0" bIns="0" anchor="ctr">
              <a:noAutofit/>
            </a:bodyPr>
            <a:lstStyle/>
            <a:p>
              <a:pPr algn="l">
                <a:buNone/>
              </a:pPr>
              <a:r>
                <a:rPr lang="en-US" sz="1200" b="1" dirty="0">
                  <a:solidFill>
                    <a:srgbClr val="01708C"/>
                  </a:solidFill>
                  <a:latin typeface="Arial"/>
                </a:rPr>
                <a:t>SAY THE GOAL  ·  </a:t>
              </a:r>
              <a:r>
                <a:rPr lang="en-US" sz="1200" dirty="0">
                  <a:solidFill>
                    <a:srgbClr val="13303A"/>
                  </a:solidFill>
                  <a:latin typeface="Arial"/>
                </a:rPr>
                <a:t>Say today’s goal in your own words, then name one place this shows up outside math class.</a:t>
              </a:r>
              <a:endParaRPr lang="en-US" sz="1200"/>
            </a:p>
          </p:txBody>
        </p:sp>
      </p:gr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cxnSp>
        <p:nvCxnSpPr>
          <p:cNvPr id="701" name="Google Shape;701;p70"/>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702" name="Google Shape;702;p70"/>
          <p:cNvSpPr txBox="1"/>
          <p:nvPr/>
        </p:nvSpPr>
        <p:spPr>
          <a:xfrm>
            <a:off x="474055" y="316034"/>
            <a:ext cx="3904129" cy="66112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00B050"/>
              </a:buClr>
              <a:buSzPts val="2800"/>
              <a:buFont typeface="Arial"/>
              <a:buNone/>
            </a:pPr>
            <a:r>
              <a:rPr b="1" i="0" lang="en-US" sz="2800" u="none" cap="none" strike="noStrike">
                <a:solidFill>
                  <a:srgbClr val="00B050"/>
                </a:solidFill>
                <a:latin typeface="Arial"/>
                <a:ea typeface="Arial"/>
                <a:cs typeface="Arial"/>
                <a:sym typeface="Arial"/>
              </a:rPr>
              <a:t>Be Curious</a:t>
            </a:r>
            <a:endParaRPr b="0" i="0" sz="1400" u="none" cap="none" strike="noStrike">
              <a:solidFill>
                <a:srgbClr val="000000"/>
              </a:solidFill>
              <a:latin typeface="Arial"/>
              <a:ea typeface="Arial"/>
              <a:cs typeface="Arial"/>
              <a:sym typeface="Arial"/>
            </a:endParaRPr>
          </a:p>
        </p:txBody>
      </p:sp>
      <p:sp>
        <p:nvSpPr>
          <p:cNvPr id="703" name="Google Shape;703;p70"/>
          <p:cNvSpPr/>
          <p:nvPr/>
        </p:nvSpPr>
        <p:spPr>
          <a:xfrm>
            <a:off x="649774" y="5468194"/>
            <a:ext cx="10065851" cy="892552"/>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600"/>
              <a:buFont typeface="Arial"/>
              <a:buNone/>
            </a:pPr>
            <a:r>
              <a:rPr b="0" i="0" lang="en-US" sz="2600" u="none" cap="none" strike="noStrike">
                <a:solidFill>
                  <a:srgbClr val="595959"/>
                </a:solidFill>
                <a:latin typeface="Arial"/>
                <a:ea typeface="Arial"/>
                <a:cs typeface="Arial"/>
                <a:sym typeface="Arial"/>
              </a:rPr>
              <a:t>What questions are you asking to help you understand someone else’s ideas about math?</a:t>
            </a:r>
            <a:endParaRPr b="0" i="0" sz="1400" u="none" cap="none" strike="noStrike">
              <a:solidFill>
                <a:srgbClr val="000000"/>
              </a:solidFill>
              <a:latin typeface="Arial"/>
              <a:ea typeface="Arial"/>
              <a:cs typeface="Arial"/>
              <a:sym typeface="Arial"/>
            </a:endParaRPr>
          </a:p>
        </p:txBody>
      </p:sp>
      <p:sp>
        <p:nvSpPr>
          <p:cNvPr id="704" name="Google Shape;704;p70"/>
          <p:cNvSpPr txBox="1"/>
          <p:nvPr/>
        </p:nvSpPr>
        <p:spPr>
          <a:xfrm>
            <a:off x="474056" y="936101"/>
            <a:ext cx="4405516" cy="593441"/>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62626"/>
              </a:buClr>
              <a:buSzPts val="2800"/>
              <a:buFont typeface="Arial"/>
              <a:buNone/>
            </a:pPr>
            <a:r>
              <a:rPr b="0" i="0" lang="en-US" sz="2800" u="none" cap="none" strike="noStrike">
                <a:solidFill>
                  <a:srgbClr val="262626"/>
                </a:solidFill>
                <a:latin typeface="Arial"/>
                <a:ea typeface="Arial"/>
                <a:cs typeface="Arial"/>
                <a:sym typeface="Arial"/>
              </a:rPr>
              <a:t>Which doesn’t belong?</a:t>
            </a:r>
            <a:endParaRPr b="0" i="0" sz="1400" u="none" cap="none" strike="noStrike">
              <a:solidFill>
                <a:srgbClr val="000000"/>
              </a:solidFill>
              <a:latin typeface="Arial"/>
              <a:ea typeface="Arial"/>
              <a:cs typeface="Arial"/>
              <a:sym typeface="Arial"/>
            </a:endParaRPr>
          </a:p>
        </p:txBody>
      </p:sp>
      <p:sp>
        <p:nvSpPr>
          <p:cNvPr id="705" name="Google Shape;705;p70"/>
          <p:cNvSpPr/>
          <p:nvPr/>
        </p:nvSpPr>
        <p:spPr>
          <a:xfrm>
            <a:off x="474054" y="1861331"/>
            <a:ext cx="8798533" cy="2496357"/>
          </a:xfrm>
          <a:prstGeom prst="snip1Rect">
            <a:avLst>
              <a:gd fmla="val 16667" name="adj"/>
            </a:avLst>
          </a:prstGeom>
          <a:blipFill rotWithShape="1">
            <a:blip r:embed="rId2">
              <a:alphaModFix/>
            </a:blip>
            <a:stretch>
              <a:fillRect b="0" l="0" r="0" t="0"/>
            </a:stretch>
          </a:blipFill>
          <a:ln cap="flat" cmpd="sng" w="9525">
            <a:solidFill>
              <a:srgbClr val="00B05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Calibri"/>
                <a:ea typeface="Calibri"/>
                <a:cs typeface="Calibri"/>
                <a:sym typeface="Calibri"/>
              </a:rPr>
              <a:t> </a:t>
            </a:r>
            <a:endParaRPr b="0" i="0" sz="1400" u="none" cap="none" strike="noStrike">
              <a:solidFill>
                <a:srgbClr val="000000"/>
              </a:solidFill>
              <a:latin typeface="Arial"/>
              <a:ea typeface="Arial"/>
              <a:cs typeface="Arial"/>
              <a:sym typeface="Arial"/>
            </a:endParaRPr>
          </a:p>
        </p:txBody>
      </p:sp>
      <p:pic>
        <p:nvPicPr>
          <p:cNvPr id="706" name="Google Shape;706;p70"/>
          <p:cNvPicPr preferRelativeResize="0"/>
          <p:nvPr/>
        </p:nvPicPr>
        <p:blipFill rotWithShape="1">
          <a:blip r:embed="rId3">
            <a:alphaModFix/>
          </a:blip>
          <a:srcRect b="0" l="0" r="0" t="0"/>
          <a:stretch/>
        </p:blipFill>
        <p:spPr>
          <a:xfrm>
            <a:off x="481450" y="4677730"/>
            <a:ext cx="5054600" cy="838200"/>
          </a:xfrm>
          <a:prstGeom prst="rect">
            <a:avLst/>
          </a:prstGeom>
          <a:noFill/>
          <a:ln>
            <a:noFill/>
          </a:ln>
        </p:spPr>
      </p:pic>
      <p:sp>
        <p:nvSpPr>
          <p:cNvPr id="707" name="Google Shape;707;p70"/>
          <p:cNvSpPr txBox="1"/>
          <p:nvPr/>
        </p:nvSpPr>
        <p:spPr>
          <a:xfrm>
            <a:off x="3341467" y="4835048"/>
            <a:ext cx="2194584" cy="639716"/>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62626"/>
              </a:buClr>
              <a:buSzPts val="2800"/>
              <a:buFont typeface="Arial"/>
              <a:buNone/>
            </a:pPr>
            <a:r>
              <a:rPr b="0" i="0" lang="en-US" sz="2800" u="none" cap="none" strike="noStrike">
                <a:solidFill>
                  <a:srgbClr val="262626"/>
                </a:solidFill>
                <a:latin typeface="Arial"/>
                <a:ea typeface="Arial"/>
                <a:cs typeface="Arial"/>
                <a:sym typeface="Arial"/>
              </a:rPr>
              <a:t>Mindset</a:t>
            </a:r>
            <a:endParaRPr b="0" i="0" sz="1400" u="none" cap="none" strike="noStrike">
              <a:solidFill>
                <a:srgbClr val="000000"/>
              </a:solidFill>
              <a:latin typeface="Arial"/>
              <a:ea typeface="Arial"/>
              <a:cs typeface="Arial"/>
              <a:sym typeface="Arial"/>
            </a:endParaRPr>
          </a:p>
        </p:txBody>
      </p:sp>
      <p:sp>
        <p:nvSpPr>
          <p:cNvPr id="330"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40 / 41</a:t>
            </a:r>
          </a:p>
        </p:txBody>
      </p:sp>
      <p:sp xmlns:p="http://schemas.openxmlformats.org/presentationml/2006/main" xmlns:a="http://schemas.openxmlformats.org/drawingml/2006/main">
        <p:nvSpPr>
          <p:cNvPr id="708" name="TEACH-embedded-student-prompt" descr="Student thinking and response directions"/>
          <p:cNvSpPr txBox="1"/>
          <p:nvPr/>
        </p:nvSpPr>
        <p:spPr>
          <a:xfrm>
            <a:off x="6111240" y="4590288"/>
            <a:ext cx="5486400" cy="768096"/>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Think first. Share a notice and a question;</a:t>
            </a:r>
            <a:endParaRPr lang="en-US" sz="2000"/>
          </a:p>
          <a:p>
            <a:pPr>
              <a:lnSpc>
                <a:spcPts val="2400"/>
              </a:lnSpc>
              <a:buNone/>
            </a:pPr>
            <a:r>
              <a:rPr lang="en-US" sz="2000">
                <a:solidFill>
                  <a:srgbClr val="174D60"/>
                </a:solidFill>
                <a:latin typeface="Arial"/>
              </a:rPr>
              <a:t>build on a classmate’s idea.</a:t>
            </a:r>
            <a:endParaRPr lang="en-US" sz="2000"/>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showMasterSp="0" show="1">
  <p:cSld>
    <p:bg>
      <p:bgPr>
        <a:solidFill>
          <a:srgbClr val="FFFFFF"/>
        </a:solidFill>
        <a:effectLst/>
      </p:bgPr>
    </p:bg>
    <p:spTree>
      <p:nvGrpSpPr>
        <p:cNvPr id="1" name=""/>
        <p:cNvGrpSpPr/>
        <p:nvPr/>
      </p:nvGrpSpPr>
      <p:grpSpPr/>
      <p:sp>
        <p:nvSpPr>
          <p:cNvPr id="2" name="TextBox 1"/>
          <p:cNvSpPr txBox="1"/>
          <p:nvPr/>
        </p:nvSpPr>
        <p:spPr>
          <a:xfrm>
            <a:off x="594360" y="347472"/>
            <a:ext cx="10972800" cy="301752"/>
          </a:xfrm>
          <a:prstGeom prst="rect">
            <a:avLst/>
          </a:prstGeom>
          <a:noFill/>
        </p:spPr>
        <p:txBody>
          <a:bodyPr wrap="square" lIns="0" rIns="0" tIns="22860" bIns="0">
            <a:spAutoFit/>
          </a:bodyPr>
          <a:lstStyle/>
          <a:p>
            <a:pPr>
              <a:spcAft>
                <a:spcPts val="800"/>
              </a:spcAft>
              <a:defRPr sz="1300" b="1">
                <a:solidFill>
                  <a:srgbClr val="096B69"/>
                </a:solidFill>
                <a:latin typeface="Arial"/>
              </a:defRPr>
            </a:pPr>
            <a:r>
              <a:rPr/>
              <a:t>LESSON 6.8  /  REFLECT ON YOUR LEARNING</a:t>
            </a:r>
          </a:p>
        </p:txBody>
      </p:sp>
      <p:sp>
        <p:nvSpPr>
          <p:cNvPr id="3" name="TextBox 2"/>
          <p:cNvSpPr txBox="1"/>
          <p:nvPr/>
        </p:nvSpPr>
        <p:spPr>
          <a:xfrm>
            <a:off x="594360" y="914400"/>
            <a:ext cx="10972800" cy="640080"/>
          </a:xfrm>
          <a:prstGeom prst="rect">
            <a:avLst/>
          </a:prstGeom>
          <a:noFill/>
        </p:spPr>
        <p:txBody>
          <a:bodyPr wrap="square" lIns="0" rIns="0" tIns="22860" bIns="0">
            <a:spAutoFit/>
          </a:bodyPr>
          <a:lstStyle/>
          <a:p>
            <a:pPr>
              <a:spcAft>
                <a:spcPts val="800"/>
              </a:spcAft>
              <a:defRPr sz="3600" b="1">
                <a:solidFill>
                  <a:srgbClr val="173451"/>
                </a:solidFill>
                <a:latin typeface="Arial"/>
              </a:defRPr>
            </a:pPr>
            <a:r>
              <a:rPr/>
              <a:t>Show your progress</a:t>
            </a:r>
          </a:p>
        </p:txBody>
      </p:sp>
      <p:sp>
        <p:nvSpPr>
          <p:cNvPr id="4" name="TextBox 3"/>
          <p:cNvSpPr txBox="1"/>
          <p:nvPr/>
        </p:nvSpPr>
        <p:spPr>
          <a:xfrm>
            <a:off x="594360" y="6263640"/>
            <a:ext cx="10789920" cy="274320"/>
          </a:xfrm>
          <a:prstGeom prst="rect">
            <a:avLst/>
          </a:prstGeom>
          <a:noFill/>
        </p:spPr>
        <p:txBody>
          <a:bodyPr wrap="square" lIns="0" rIns="0" tIns="22860" bIns="0">
            <a:spAutoFit/>
          </a:bodyPr>
          <a:lstStyle/>
          <a:p>
            <a:pPr>
              <a:spcAft>
                <a:spcPts val="800"/>
              </a:spcAft>
              <a:defRPr sz="1300" b="0">
                <a:solidFill>
                  <a:srgbClr val="506478"/>
                </a:solidFill>
                <a:latin typeface="Arial"/>
              </a:defRPr>
            </a:pPr>
            <a:r>
              <a:rPr/>
              <a:t>Listen to understand. Ask for evidence. Make room for every voice.</a:t>
            </a:r>
          </a:p>
        </p:txBody>
      </p:sp>
      <p:sp>
        <p:nvSpPr>
          <p:cNvPr id="5" name="Rounded Rectangle 4"/>
          <p:cNvSpPr/>
          <p:nvPr/>
        </p:nvSpPr>
        <p:spPr>
          <a:xfrm>
            <a:off x="594360" y="1828800"/>
            <a:ext cx="5330952" cy="3136392"/>
          </a:xfrm>
          <a:prstGeom prst="roundRect">
            <a:avLst/>
          </a:prstGeom>
          <a:solidFill>
            <a:srgbClr val="EDF6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236208" y="1828800"/>
            <a:ext cx="5330952" cy="3136392"/>
          </a:xfrm>
          <a:prstGeom prst="roundRect">
            <a:avLst/>
          </a:prstGeom>
          <a:solidFill>
            <a:srgbClr val="F1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86968" y="2103120"/>
            <a:ext cx="4709160" cy="365760"/>
          </a:xfrm>
          <a:prstGeom prst="rect">
            <a:avLst/>
          </a:prstGeom>
          <a:noFill/>
        </p:spPr>
        <p:txBody>
          <a:bodyPr wrap="square" lIns="0" rIns="0" tIns="22860" bIns="0">
            <a:spAutoFit/>
          </a:bodyPr>
          <a:lstStyle/>
          <a:p>
            <a:pPr>
              <a:spcAft>
                <a:spcPts val="800"/>
              </a:spcAft>
              <a:defRPr sz="1800" b="1">
                <a:solidFill>
                  <a:srgbClr val="096B69"/>
                </a:solidFill>
                <a:latin typeface="Arial"/>
              </a:defRPr>
            </a:pPr>
            <a:r>
              <a:rPr/>
              <a:t>1  SHOW EVIDENCE</a:t>
            </a:r>
          </a:p>
        </p:txBody>
      </p:sp>
      <p:sp>
        <p:nvSpPr>
          <p:cNvPr id="8" name="TextBox 7"/>
          <p:cNvSpPr txBox="1"/>
          <p:nvPr/>
        </p:nvSpPr>
        <p:spPr>
          <a:xfrm>
            <a:off x="886968" y="2743200"/>
            <a:ext cx="4617720" cy="1353312"/>
          </a:xfrm>
          <a:prstGeom prst="rect">
            <a:avLst/>
          </a:prstGeom>
          <a:noFill/>
        </p:spPr>
        <p:txBody>
          <a:bodyPr wrap="square" lIns="0" rIns="0" tIns="22860" bIns="0">
            <a:spAutoFit/>
          </a:bodyPr>
          <a:lstStyle/>
          <a:p>
            <a:pPr>
              <a:spcAft>
                <a:spcPts val="800"/>
              </a:spcAft>
              <a:defRPr sz="2600" b="0">
                <a:solidFill>
                  <a:srgbClr val="24384B"/>
                </a:solidFill>
                <a:latin typeface="Arial"/>
              </a:defRPr>
            </a:pPr>
            <a:r>
              <a:rPr/>
              <a:t>Choose one response. Point to the part that shows your reasoning.</a:t>
            </a:r>
          </a:p>
        </p:txBody>
      </p:sp>
      <p:sp>
        <p:nvSpPr>
          <p:cNvPr id="9" name="TextBox 8"/>
          <p:cNvSpPr txBox="1"/>
          <p:nvPr/>
        </p:nvSpPr>
        <p:spPr>
          <a:xfrm>
            <a:off x="886968" y="4224528"/>
            <a:ext cx="4617720" cy="502920"/>
          </a:xfrm>
          <a:prstGeom prst="rect">
            <a:avLst/>
          </a:prstGeom>
          <a:noFill/>
        </p:spPr>
        <p:txBody>
          <a:bodyPr wrap="square" lIns="0" rIns="0" tIns="22860" bIns="0">
            <a:spAutoFit/>
          </a:bodyPr>
          <a:lstStyle/>
          <a:p>
            <a:pPr>
              <a:spcAft>
                <a:spcPts val="800"/>
              </a:spcAft>
              <a:defRPr sz="1900" b="0">
                <a:solidFill>
                  <a:srgbClr val="506478"/>
                </a:solidFill>
                <a:latin typeface="Arial"/>
              </a:defRPr>
            </a:pPr>
            <a:r>
              <a:rPr/>
              <a:t>“My work shows ___ because ___.”</a:t>
            </a:r>
          </a:p>
        </p:txBody>
      </p:sp>
      <p:sp>
        <p:nvSpPr>
          <p:cNvPr id="10" name="TextBox 9"/>
          <p:cNvSpPr txBox="1"/>
          <p:nvPr/>
        </p:nvSpPr>
        <p:spPr>
          <a:xfrm>
            <a:off x="6528816" y="2103120"/>
            <a:ext cx="4700016" cy="365760"/>
          </a:xfrm>
          <a:prstGeom prst="rect">
            <a:avLst/>
          </a:prstGeom>
          <a:noFill/>
        </p:spPr>
        <p:txBody>
          <a:bodyPr wrap="square" lIns="0" rIns="0" tIns="22860" bIns="0">
            <a:spAutoFit/>
          </a:bodyPr>
          <a:lstStyle/>
          <a:p>
            <a:pPr>
              <a:spcAft>
                <a:spcPts val="800"/>
              </a:spcAft>
              <a:defRPr sz="1800" b="1">
                <a:solidFill>
                  <a:srgbClr val="096B69"/>
                </a:solidFill>
                <a:latin typeface="Arial"/>
              </a:defRPr>
            </a:pPr>
            <a:r>
              <a:rPr/>
              <a:t>2  CHOOSE A NEXT STEP</a:t>
            </a:r>
          </a:p>
        </p:txBody>
      </p:sp>
      <p:sp>
        <p:nvSpPr>
          <p:cNvPr id="11" name="TextBox 10"/>
          <p:cNvSpPr txBox="1"/>
          <p:nvPr/>
        </p:nvSpPr>
        <p:spPr>
          <a:xfrm>
            <a:off x="6528816" y="2743200"/>
            <a:ext cx="4617720" cy="1353312"/>
          </a:xfrm>
          <a:prstGeom prst="rect">
            <a:avLst/>
          </a:prstGeom>
          <a:noFill/>
        </p:spPr>
        <p:txBody>
          <a:bodyPr wrap="square" lIns="0" rIns="0" tIns="22860" bIns="0">
            <a:spAutoFit/>
          </a:bodyPr>
          <a:lstStyle/>
          <a:p>
            <a:pPr>
              <a:spcAft>
                <a:spcPts val="800"/>
              </a:spcAft>
              <a:defRPr sz="2600" b="0">
                <a:solidFill>
                  <a:srgbClr val="24384B"/>
                </a:solidFill>
                <a:latin typeface="Arial"/>
              </a:defRPr>
            </a:pPr>
            <a:r>
              <a:rPr/>
              <a:t>Name a change you made after feedback—or a question you still have.</a:t>
            </a:r>
          </a:p>
        </p:txBody>
      </p:sp>
      <p:sp>
        <p:nvSpPr>
          <p:cNvPr id="12" name="TextBox 11"/>
          <p:cNvSpPr txBox="1"/>
          <p:nvPr/>
        </p:nvSpPr>
        <p:spPr>
          <a:xfrm>
            <a:off x="6528816" y="4224528"/>
            <a:ext cx="4617720" cy="502920"/>
          </a:xfrm>
          <a:prstGeom prst="rect">
            <a:avLst/>
          </a:prstGeom>
          <a:noFill/>
        </p:spPr>
        <p:txBody>
          <a:bodyPr wrap="square" lIns="0" rIns="0" tIns="22860" bIns="0">
            <a:spAutoFit/>
          </a:bodyPr>
          <a:lstStyle/>
          <a:p>
            <a:pPr>
              <a:spcAft>
                <a:spcPts val="800"/>
              </a:spcAft>
              <a:defRPr sz="1900" b="0">
                <a:solidFill>
                  <a:srgbClr val="506478"/>
                </a:solidFill>
                <a:latin typeface="Arial"/>
              </a:defRPr>
            </a:pPr>
            <a:r>
              <a:rPr/>
              <a:t>“Next time, I will ___ to help me ___.”</a:t>
            </a:r>
          </a:p>
        </p:txBody>
      </p:sp>
      <p:sp>
        <p:nvSpPr>
          <p:cNvPr id="13" name="TextBox 12"/>
          <p:cNvSpPr txBox="1"/>
          <p:nvPr/>
        </p:nvSpPr>
        <p:spPr>
          <a:xfrm>
            <a:off x="621792" y="5376672"/>
            <a:ext cx="10954512" cy="685800"/>
          </a:xfrm>
          <a:prstGeom prst="rect">
            <a:avLst/>
          </a:prstGeom>
          <a:noFill/>
        </p:spPr>
        <p:txBody>
          <a:bodyPr wrap="square" lIns="0" rIns="0" tIns="22860" bIns="0">
            <a:spAutoFit/>
          </a:bodyPr>
          <a:lstStyle/>
          <a:p>
            <a:pPr>
              <a:spcAft>
                <a:spcPts val="800"/>
              </a:spcAft>
              <a:defRPr sz="2200" b="1">
                <a:solidFill>
                  <a:srgbClr val="173451"/>
                </a:solidFill>
                <a:latin typeface="Arial"/>
              </a:defRPr>
            </a:pPr>
            <a:r>
              <a:rPr/>
              <a:t>Today’s focus: Rewrite using valid properties.</a:t>
            </a:r>
          </a:p>
        </p:txBody>
      </p:sp>
      <p:grpSp>
        <p:nvGrpSpPr>
          <p:cNvPr id="14" name="TEACH-7-student-move" descr="TEACH 7 · Cultivate a supportive learning community"/>
          <p:cNvGrpSpPr/>
          <p:nvPr/>
        </p:nvGrpSpPr>
        <p:grpSpPr>
          <a:xfrm>
            <a:off x="502920" y="5824728"/>
            <a:ext cx="11186160" cy="402336"/>
            <a:chOff x="502920" y="5824728"/>
            <a:chExt cx="11186160" cy="402336"/>
          </a:xfrm>
        </p:grpSpPr>
        <p:sp>
          <p:nvSpPr>
            <p:cNvPr id="15" name="TEACH-move-card"/>
            <p:cNvSpPr/>
            <p:nvPr/>
          </p:nvSpPr>
          <p:spPr>
            <a:xfrm>
              <a:off x="502920" y="5824728"/>
              <a:ext cx="11186160" cy="402336"/>
            </a:xfrm>
            <a:prstGeom prst="roundRect">
              <a:avLst>
                <a:gd name="adj" fmla="val 16000"/>
              </a:avLst>
            </a:prstGeom>
            <a:solidFill>
              <a:srgbClr val="E4F0F5"/>
            </a:solidFill>
            <a:ln w="19050">
              <a:solidFill>
                <a:srgbClr val="8CB8C7"/>
              </a:solidFill>
            </a:ln>
          </p:spPr>
          <p:txBody>
            <a:bodyPr/>
            <a:lstStyle/>
            <a:p>
              <a:endParaRPr/>
            </a:p>
          </p:txBody>
        </p:sp>
        <p:sp>
          <p:nvSpPr>
            <p:cNvPr id="16" name="TEACH-move-rule"/>
            <p:cNvSpPr/>
            <p:nvPr/>
          </p:nvSpPr>
          <p:spPr>
            <a:xfrm>
              <a:off x="548640" y="5901172"/>
              <a:ext cx="100584" cy="249448"/>
            </a:xfrm>
            <a:prstGeom prst="roundRect">
              <a:avLst>
                <a:gd name="adj" fmla="val 50000"/>
              </a:avLst>
            </a:prstGeom>
            <a:solidFill>
              <a:srgbClr val="01708C"/>
            </a:solidFill>
            <a:ln>
              <a:noFill/>
            </a:ln>
          </p:spPr>
          <p:txBody>
            <a:bodyPr/>
            <a:lstStyle/>
            <a:p>
              <a:endParaRPr/>
            </a:p>
          </p:txBody>
        </p:sp>
        <p:sp>
          <p:nvSpPr>
            <p:cNvPr id="17" name="TEACH-move-text"/>
            <p:cNvSpPr txBox="1"/>
            <p:nvPr/>
          </p:nvSpPr>
          <p:spPr>
            <a:xfrm>
              <a:off x="822960" y="5824728"/>
              <a:ext cx="10728960" cy="402336"/>
            </a:xfrm>
            <a:prstGeom prst="rect">
              <a:avLst/>
            </a:prstGeom>
            <a:noFill/>
            <a:ln>
              <a:noFill/>
            </a:ln>
          </p:spPr>
          <p:txBody>
            <a:bodyPr wrap="square" lIns="0" tIns="0" rIns="0" bIns="0" anchor="ctr">
              <a:noAutofit/>
            </a:bodyPr>
            <a:lstStyle/>
            <a:p>
              <a:pPr algn="l">
                <a:buNone/>
              </a:pPr>
              <a:r>
                <a:rPr lang="en-US" sz="1200" b="1" dirty="0">
                  <a:solidFill>
                    <a:srgbClr val="01708C"/>
                  </a:solidFill>
                  <a:latin typeface="Arial"/>
                </a:rPr>
                <a:t>CREDIT A CLASSMATE  ·  </a:t>
              </a:r>
              <a:r>
                <a:rPr lang="en-US" sz="1200" dirty="0">
                  <a:solidFill>
                    <a:srgbClr val="13303A"/>
                  </a:solidFill>
                  <a:latin typeface="Arial"/>
                </a:rPr>
                <a:t>Name one classmate whose idea helped you today, and say what they said.</a:t>
              </a:r>
              <a:endParaRPr lang="en-US" sz="1200"/>
            </a:p>
          </p:txBody>
        </p:sp>
      </p:gr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EWL-CompanionRule"/>
          <p:cNvSpPr/>
          <p:nvPr/>
        </p:nvSpPr>
        <p:spPr>
          <a:xfrm>
            <a:off x="0" y="0"/>
            <a:ext cx="12192000" cy="118872"/>
          </a:xfrm>
          <a:prstGeom prst="rect">
            <a:avLst/>
          </a:prstGeom>
          <a:solidFill>
            <a:srgbClr val="01708C"/>
          </a:solidFill>
          <a:ln>
            <a:noFill/>
          </a:ln>
        </p:spPr>
        <p:txBody>
          <a:bodyPr/>
          <a:lstStyle/>
          <a:p>
            <a:endParaRPr/>
          </a:p>
        </p:txBody>
      </p:sp>
      <p:sp>
        <p:nvSpPr>
          <p:cNvPr id="3" name="EWL-CompanionEyebrow"/>
          <p:cNvSpPr txBox="1"/>
          <p:nvPr/>
        </p:nvSpPr>
        <p:spPr>
          <a:xfrm>
            <a:off x="685800" y="594360"/>
            <a:ext cx="5410200" cy="274320"/>
          </a:xfrm>
          <a:prstGeom prst="rect">
            <a:avLst/>
          </a:prstGeom>
          <a:noFill/>
          <a:ln>
            <a:noFill/>
          </a:ln>
        </p:spPr>
        <p:txBody>
          <a:bodyPr wrap="square" lIns="0" tIns="0" rIns="0" bIns="0" anchor="ctr">
            <a:noAutofit/>
          </a:bodyPr>
          <a:lstStyle/>
          <a:p>
            <a:pPr algn="l">
              <a:buNone/>
            </a:pPr>
            <a:r>
              <a:rPr lang="en-US" sz="1400" b="1" spc="160" dirty="0">
                <a:solidFill>
                  <a:srgbClr val="01708C"/>
                </a:solidFill>
                <a:latin typeface="Arial"/>
              </a:rPr>
              <a:t>STUDENT MOVES</a:t>
            </a:r>
          </a:p>
        </p:txBody>
      </p:sp>
      <p:sp>
        <p:nvSpPr>
          <p:cNvPr id="4" name="EWL-CompanionLesson"/>
          <p:cNvSpPr txBox="1"/>
          <p:nvPr/>
        </p:nvSpPr>
        <p:spPr>
          <a:xfrm>
            <a:off x="6096000" y="594360"/>
            <a:ext cx="5410200" cy="274320"/>
          </a:xfrm>
          <a:prstGeom prst="rect">
            <a:avLst/>
          </a:prstGeom>
          <a:noFill/>
          <a:ln>
            <a:noFill/>
          </a:ln>
        </p:spPr>
        <p:txBody>
          <a:bodyPr wrap="square" lIns="0" tIns="0" rIns="0" bIns="0" anchor="ctr">
            <a:noAutofit/>
          </a:bodyPr>
          <a:lstStyle/>
          <a:p>
            <a:pPr algn="r">
              <a:buNone/>
            </a:pPr>
            <a:r>
              <a:rPr lang="en-US" sz="1400" b="0" dirty="0">
                <a:solidFill>
                  <a:srgbClr val="5A6670"/>
                </a:solidFill>
                <a:latin typeface="Arial"/>
              </a:rPr>
              <a:t>Lesson 6-8</a:t>
            </a:r>
          </a:p>
        </p:txBody>
      </p:sp>
      <p:sp>
        <p:nvSpPr>
          <p:cNvPr id="5" name="EWL-CompanionTitle"/>
          <p:cNvSpPr txBox="1"/>
          <p:nvPr/>
        </p:nvSpPr>
        <p:spPr>
          <a:xfrm>
            <a:off x="685800" y="868680"/>
            <a:ext cx="10820400" cy="731520"/>
          </a:xfrm>
          <a:prstGeom prst="rect">
            <a:avLst/>
          </a:prstGeom>
          <a:noFill/>
          <a:ln>
            <a:noFill/>
          </a:ln>
        </p:spPr>
        <p:txBody>
          <a:bodyPr wrap="square" lIns="0" tIns="0" rIns="0" bIns="0" anchor="ctr">
            <a:noAutofit/>
          </a:bodyPr>
          <a:lstStyle/>
          <a:p>
            <a:pPr algn="l">
              <a:buNone/>
            </a:pPr>
            <a:r>
              <a:rPr lang="en-US" sz="4000" b="1" dirty="0">
                <a:solidFill>
                  <a:srgbClr val="13303A"/>
                </a:solidFill>
                <a:latin typeface="Arial"/>
              </a:rPr>
              <a:t>Your moves</a:t>
            </a:r>
          </a:p>
        </p:txBody>
      </p:sp>
      <p:sp>
        <p:nvSpPr>
          <p:cNvPr id="6" name="EWL-CompanionHair"/>
          <p:cNvSpPr/>
          <p:nvPr/>
        </p:nvSpPr>
        <p:spPr>
          <a:xfrm>
            <a:off x="685800" y="1737360"/>
            <a:ext cx="10820400" cy="19050"/>
          </a:xfrm>
          <a:prstGeom prst="rect">
            <a:avLst/>
          </a:prstGeom>
          <a:solidFill>
            <a:srgbClr val="8CB8C7"/>
          </a:solidFill>
          <a:ln>
            <a:noFill/>
          </a:ln>
        </p:spPr>
        <p:txBody>
          <a:bodyPr/>
          <a:lstStyle/>
          <a:p>
            <a:endParaRPr/>
          </a:p>
        </p:txBody>
      </p:sp>
      <p:sp>
        <p:nvSpPr>
          <p:cNvPr id="7" name="TEACH-move-card"/>
          <p:cNvSpPr/>
          <p:nvPr/>
        </p:nvSpPr>
        <p:spPr>
          <a:xfrm>
            <a:off x="685800" y="2057400"/>
            <a:ext cx="10820400" cy="1005840"/>
          </a:xfrm>
          <a:prstGeom prst="roundRect">
            <a:avLst>
              <a:gd name="adj" fmla="val 12000"/>
            </a:avLst>
          </a:prstGeom>
          <a:solidFill>
            <a:srgbClr val="E4F0F5"/>
          </a:solidFill>
          <a:ln w="19050">
            <a:solidFill>
              <a:srgbClr val="8CB8C7"/>
            </a:solidFill>
          </a:ln>
        </p:spPr>
        <p:txBody>
          <a:bodyPr/>
          <a:lstStyle/>
          <a:p>
            <a:endParaRPr/>
          </a:p>
        </p:txBody>
      </p:sp>
      <p:sp>
        <p:nvSpPr>
          <p:cNvPr id="8" name="TEACH-move-rule"/>
          <p:cNvSpPr/>
          <p:nvPr/>
        </p:nvSpPr>
        <p:spPr>
          <a:xfrm>
            <a:off x="731520" y="2248510"/>
            <a:ext cx="100584" cy="623620"/>
          </a:xfrm>
          <a:prstGeom prst="roundRect">
            <a:avLst>
              <a:gd name="adj" fmla="val 50000"/>
            </a:avLst>
          </a:prstGeom>
          <a:solidFill>
            <a:srgbClr val="01708C"/>
          </a:solidFill>
          <a:ln>
            <a:noFill/>
          </a:ln>
        </p:spPr>
        <p:txBody>
          <a:bodyPr/>
          <a:lstStyle/>
          <a:p>
            <a:endParaRPr/>
          </a:p>
        </p:txBody>
      </p:sp>
      <p:sp>
        <p:nvSpPr>
          <p:cNvPr id="9" name="TEACH-5-student-move"/>
          <p:cNvSpPr txBox="1"/>
          <p:nvPr/>
        </p:nvSpPr>
        <p:spPr>
          <a:xfrm>
            <a:off x="1005840" y="2057400"/>
            <a:ext cx="10271760" cy="1005840"/>
          </a:xfrm>
          <a:prstGeom prst="rect">
            <a:avLst/>
          </a:prstGeom>
          <a:noFill/>
          <a:ln>
            <a:noFill/>
          </a:ln>
        </p:spPr>
        <p:txBody>
          <a:bodyPr wrap="square" lIns="0" tIns="0" rIns="0" bIns="0" anchor="ctr">
            <a:noAutofit/>
          </a:bodyPr>
          <a:lstStyle/>
          <a:p>
            <a:pPr algn="l">
              <a:buNone/>
            </a:pPr>
            <a:r>
              <a:rPr lang="en-US" sz="2000" b="1" dirty="0">
                <a:solidFill>
                  <a:srgbClr val="01708C"/>
                </a:solidFill>
                <a:latin typeface="Arial"/>
              </a:rPr>
              <a:t>RESTATE FIRST  ·  </a:t>
            </a:r>
            <a:r>
              <a:rPr lang="en-US" sz="2000" b="0" dirty="0">
                <a:solidFill>
                  <a:srgbClr val="13303A"/>
                </a:solidFill>
                <a:latin typeface="Arial"/>
              </a:rPr>
              <a:t>Restate your partner’s idea in your own words before you give yours.</a:t>
            </a:r>
          </a:p>
        </p:txBody>
      </p:sp>
      <p:sp>
        <p:nvSpPr>
          <p:cNvPr id="10" name="TEACH-move-card"/>
          <p:cNvSpPr/>
          <p:nvPr/>
        </p:nvSpPr>
        <p:spPr>
          <a:xfrm>
            <a:off x="685800" y="3200400"/>
            <a:ext cx="10820400" cy="1005840"/>
          </a:xfrm>
          <a:prstGeom prst="roundRect">
            <a:avLst>
              <a:gd name="adj" fmla="val 12000"/>
            </a:avLst>
          </a:prstGeom>
          <a:solidFill>
            <a:srgbClr val="E4F0F5"/>
          </a:solidFill>
          <a:ln w="19050">
            <a:solidFill>
              <a:srgbClr val="8CB8C7"/>
            </a:solidFill>
          </a:ln>
        </p:spPr>
        <p:txBody>
          <a:bodyPr/>
          <a:lstStyle/>
          <a:p>
            <a:endParaRPr/>
          </a:p>
        </p:txBody>
      </p:sp>
      <p:sp>
        <p:nvSpPr>
          <p:cNvPr id="11" name="TEACH-move-rule"/>
          <p:cNvSpPr/>
          <p:nvPr/>
        </p:nvSpPr>
        <p:spPr>
          <a:xfrm>
            <a:off x="731520" y="3391510"/>
            <a:ext cx="100584" cy="623620"/>
          </a:xfrm>
          <a:prstGeom prst="roundRect">
            <a:avLst>
              <a:gd name="adj" fmla="val 50000"/>
            </a:avLst>
          </a:prstGeom>
          <a:solidFill>
            <a:srgbClr val="01708C"/>
          </a:solidFill>
          <a:ln>
            <a:noFill/>
          </a:ln>
        </p:spPr>
        <p:txBody>
          <a:bodyPr/>
          <a:lstStyle/>
          <a:p>
            <a:endParaRPr/>
          </a:p>
        </p:txBody>
      </p:sp>
      <p:sp>
        <p:nvSpPr>
          <p:cNvPr id="12" name="TEACH-2-student-move"/>
          <p:cNvSpPr txBox="1"/>
          <p:nvPr/>
        </p:nvSpPr>
        <p:spPr>
          <a:xfrm>
            <a:off x="1005840" y="3200400"/>
            <a:ext cx="10271760" cy="1005840"/>
          </a:xfrm>
          <a:prstGeom prst="rect">
            <a:avLst/>
          </a:prstGeom>
          <a:noFill/>
          <a:ln>
            <a:noFill/>
          </a:ln>
        </p:spPr>
        <p:txBody>
          <a:bodyPr wrap="square" lIns="0" tIns="0" rIns="0" bIns="0" anchor="ctr">
            <a:noAutofit/>
          </a:bodyPr>
          <a:lstStyle/>
          <a:p>
            <a:pPr algn="l">
              <a:buNone/>
            </a:pPr>
            <a:r>
              <a:rPr lang="en-US" sz="2000" b="1" dirty="0">
                <a:solidFill>
                  <a:srgbClr val="01708C"/>
                </a:solidFill>
                <a:latin typeface="Arial"/>
              </a:rPr>
              <a:t>TWO MINUTES SOLO  ·  </a:t>
            </a:r>
            <a:r>
              <a:rPr lang="en-US" sz="2000" b="0" dirty="0">
                <a:solidFill>
                  <a:srgbClr val="13303A"/>
                </a:solidFill>
                <a:latin typeface="Arial"/>
              </a:rPr>
              <a:t>Two minutes on your own, then compare. Bring one thing you tried, even if it did not work.</a:t>
            </a:r>
          </a:p>
        </p:txBody>
      </p:sp>
      <p:sp>
        <p:nvSpPr>
          <p:cNvPr id="13" name="EWL-SlideNumber"/>
          <p:cNvSpPr txBox="1"/>
          <p:nvPr/>
        </p:nvSpPr>
        <p:spPr>
          <a:xfrm>
            <a:off x="5577840" y="6492240"/>
            <a:ext cx="1033272" cy="256032"/>
          </a:xfrm>
          <a:prstGeom prst="rect">
            <a:avLst/>
          </a:prstGeom>
          <a:noFill/>
          <a:ln>
            <a:noFill/>
          </a:ln>
        </p:spPr>
        <p:txBody>
          <a:bodyPr wrap="square" lIns="0" tIns="0" rIns="0" bIns="0" anchor="ctr">
            <a:noAutofit/>
          </a:bodyPr>
          <a:lstStyle/>
          <a:p>
            <a:pPr algn="ctr">
              <a:buNone/>
            </a:pPr>
            <a:r>
              <a:rPr lang="en-US" sz="1100" b="0" dirty="0">
                <a:solidFill>
                  <a:srgbClr val="5D6872"/>
                </a:solidFill>
                <a:latin typeface="Arial"/>
              </a:rPr>
              <a:t>20 / 41</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EWL-CompanionRule"/>
          <p:cNvSpPr/>
          <p:nvPr/>
        </p:nvSpPr>
        <p:spPr>
          <a:xfrm>
            <a:off x="0" y="0"/>
            <a:ext cx="12192000" cy="118872"/>
          </a:xfrm>
          <a:prstGeom prst="rect">
            <a:avLst/>
          </a:prstGeom>
          <a:solidFill>
            <a:srgbClr val="01708C"/>
          </a:solidFill>
          <a:ln>
            <a:noFill/>
          </a:ln>
        </p:spPr>
        <p:txBody>
          <a:bodyPr/>
          <a:lstStyle/>
          <a:p>
            <a:endParaRPr/>
          </a:p>
        </p:txBody>
      </p:sp>
      <p:sp>
        <p:nvSpPr>
          <p:cNvPr id="3" name="EWL-CompanionEyebrow"/>
          <p:cNvSpPr txBox="1"/>
          <p:nvPr/>
        </p:nvSpPr>
        <p:spPr>
          <a:xfrm>
            <a:off x="685800" y="594360"/>
            <a:ext cx="5410200" cy="274320"/>
          </a:xfrm>
          <a:prstGeom prst="rect">
            <a:avLst/>
          </a:prstGeom>
          <a:noFill/>
          <a:ln>
            <a:noFill/>
          </a:ln>
        </p:spPr>
        <p:txBody>
          <a:bodyPr wrap="square" lIns="0" tIns="0" rIns="0" bIns="0" anchor="ctr">
            <a:noAutofit/>
          </a:bodyPr>
          <a:lstStyle/>
          <a:p>
            <a:pPr algn="l">
              <a:buNone/>
            </a:pPr>
            <a:r>
              <a:rPr lang="en-US" sz="1400" b="1" spc="160" dirty="0">
                <a:solidFill>
                  <a:srgbClr val="01708C"/>
                </a:solidFill>
                <a:latin typeface="Arial"/>
              </a:rPr>
              <a:t>STUDENT MOVES</a:t>
            </a:r>
          </a:p>
        </p:txBody>
      </p:sp>
      <p:sp>
        <p:nvSpPr>
          <p:cNvPr id="4" name="EWL-CompanionLesson"/>
          <p:cNvSpPr txBox="1"/>
          <p:nvPr/>
        </p:nvSpPr>
        <p:spPr>
          <a:xfrm>
            <a:off x="6096000" y="594360"/>
            <a:ext cx="5410200" cy="274320"/>
          </a:xfrm>
          <a:prstGeom prst="rect">
            <a:avLst/>
          </a:prstGeom>
          <a:noFill/>
          <a:ln>
            <a:noFill/>
          </a:ln>
        </p:spPr>
        <p:txBody>
          <a:bodyPr wrap="square" lIns="0" tIns="0" rIns="0" bIns="0" anchor="ctr">
            <a:noAutofit/>
          </a:bodyPr>
          <a:lstStyle/>
          <a:p>
            <a:pPr algn="r">
              <a:buNone/>
            </a:pPr>
            <a:r>
              <a:rPr lang="en-US" sz="1400" b="0" dirty="0">
                <a:solidFill>
                  <a:srgbClr val="5A6670"/>
                </a:solidFill>
                <a:latin typeface="Arial"/>
              </a:rPr>
              <a:t>Lesson 6-8</a:t>
            </a:r>
          </a:p>
        </p:txBody>
      </p:sp>
      <p:sp>
        <p:nvSpPr>
          <p:cNvPr id="5" name="EWL-CompanionTitle"/>
          <p:cNvSpPr txBox="1"/>
          <p:nvPr/>
        </p:nvSpPr>
        <p:spPr>
          <a:xfrm>
            <a:off x="685800" y="868680"/>
            <a:ext cx="10820400" cy="731520"/>
          </a:xfrm>
          <a:prstGeom prst="rect">
            <a:avLst/>
          </a:prstGeom>
          <a:noFill/>
          <a:ln>
            <a:noFill/>
          </a:ln>
        </p:spPr>
        <p:txBody>
          <a:bodyPr wrap="square" lIns="0" tIns="0" rIns="0" bIns="0" anchor="ctr">
            <a:noAutofit/>
          </a:bodyPr>
          <a:lstStyle/>
          <a:p>
            <a:pPr algn="l">
              <a:buNone/>
            </a:pPr>
            <a:r>
              <a:rPr lang="en-US" sz="4000" b="1" dirty="0">
                <a:solidFill>
                  <a:srgbClr val="13303A"/>
                </a:solidFill>
                <a:latin typeface="Arial"/>
              </a:rPr>
              <a:t>Your move</a:t>
            </a:r>
          </a:p>
        </p:txBody>
      </p:sp>
      <p:sp>
        <p:nvSpPr>
          <p:cNvPr id="6" name="EWL-CompanionHair"/>
          <p:cNvSpPr/>
          <p:nvPr/>
        </p:nvSpPr>
        <p:spPr>
          <a:xfrm>
            <a:off x="685800" y="1737360"/>
            <a:ext cx="10820400" cy="19050"/>
          </a:xfrm>
          <a:prstGeom prst="rect">
            <a:avLst/>
          </a:prstGeom>
          <a:solidFill>
            <a:srgbClr val="8CB8C7"/>
          </a:solidFill>
          <a:ln>
            <a:noFill/>
          </a:ln>
        </p:spPr>
        <p:txBody>
          <a:bodyPr/>
          <a:lstStyle/>
          <a:p>
            <a:endParaRPr/>
          </a:p>
        </p:txBody>
      </p:sp>
      <p:sp>
        <p:nvSpPr>
          <p:cNvPr id="7" name="TEACH-move-card"/>
          <p:cNvSpPr/>
          <p:nvPr/>
        </p:nvSpPr>
        <p:spPr>
          <a:xfrm>
            <a:off x="685800" y="2057400"/>
            <a:ext cx="10820400" cy="1188720"/>
          </a:xfrm>
          <a:prstGeom prst="roundRect">
            <a:avLst>
              <a:gd name="adj" fmla="val 12000"/>
            </a:avLst>
          </a:prstGeom>
          <a:solidFill>
            <a:srgbClr val="E4F0F5"/>
          </a:solidFill>
          <a:ln w="19050">
            <a:solidFill>
              <a:srgbClr val="8CB8C7"/>
            </a:solidFill>
          </a:ln>
        </p:spPr>
        <p:txBody>
          <a:bodyPr/>
          <a:lstStyle/>
          <a:p>
            <a:endParaRPr/>
          </a:p>
        </p:txBody>
      </p:sp>
      <p:sp>
        <p:nvSpPr>
          <p:cNvPr id="8" name="TEACH-move-rule"/>
          <p:cNvSpPr/>
          <p:nvPr/>
        </p:nvSpPr>
        <p:spPr>
          <a:xfrm>
            <a:off x="731520" y="2283257"/>
            <a:ext cx="100584" cy="737006"/>
          </a:xfrm>
          <a:prstGeom prst="roundRect">
            <a:avLst>
              <a:gd name="adj" fmla="val 50000"/>
            </a:avLst>
          </a:prstGeom>
          <a:solidFill>
            <a:srgbClr val="01708C"/>
          </a:solidFill>
          <a:ln>
            <a:noFill/>
          </a:ln>
        </p:spPr>
        <p:txBody>
          <a:bodyPr/>
          <a:lstStyle/>
          <a:p>
            <a:endParaRPr/>
          </a:p>
        </p:txBody>
      </p:sp>
      <p:sp>
        <p:nvSpPr>
          <p:cNvPr id="9" name="TEACH-6-student-move"/>
          <p:cNvSpPr txBox="1"/>
          <p:nvPr/>
        </p:nvSpPr>
        <p:spPr>
          <a:xfrm>
            <a:off x="1005840" y="2057400"/>
            <a:ext cx="10271760" cy="1188720"/>
          </a:xfrm>
          <a:prstGeom prst="rect">
            <a:avLst/>
          </a:prstGeom>
          <a:noFill/>
          <a:ln>
            <a:noFill/>
          </a:ln>
        </p:spPr>
        <p:txBody>
          <a:bodyPr wrap="square" lIns="0" tIns="0" rIns="0" bIns="0" anchor="ctr">
            <a:noAutofit/>
          </a:bodyPr>
          <a:lstStyle/>
          <a:p>
            <a:pPr algn="l">
              <a:buNone/>
            </a:pPr>
            <a:r>
              <a:rPr lang="en-US" sz="2000" b="1" dirty="0">
                <a:solidFill>
                  <a:srgbClr val="01708C"/>
                </a:solidFill>
                <a:latin typeface="Arial"/>
              </a:rPr>
              <a:t>YOU KNOW THE ROUTINE  ·  </a:t>
            </a:r>
            <a:r>
              <a:rPr lang="en-US" sz="2000" b="0" dirty="0">
                <a:solidFill>
                  <a:srgbClr val="13303A"/>
                </a:solidFill>
                <a:latin typeface="Arial"/>
              </a:rPr>
              <a:t>Read  →  plan  →  solve  →  check. Do all four, in that order.</a:t>
            </a:r>
          </a:p>
        </p:txBody>
      </p:sp>
      <p:sp>
        <p:nvSpPr>
          <p:cNvPr id="10" name="EWL-SlideNumber"/>
          <p:cNvSpPr txBox="1"/>
          <p:nvPr/>
        </p:nvSpPr>
        <p:spPr>
          <a:xfrm>
            <a:off x="5577840" y="6492240"/>
            <a:ext cx="1033272" cy="256032"/>
          </a:xfrm>
          <a:prstGeom prst="rect">
            <a:avLst/>
          </a:prstGeom>
          <a:noFill/>
          <a:ln>
            <a:noFill/>
          </a:ln>
        </p:spPr>
        <p:txBody>
          <a:bodyPr wrap="square" lIns="0" tIns="0" rIns="0" bIns="0" anchor="ctr">
            <a:noAutofit/>
          </a:bodyPr>
          <a:lstStyle/>
          <a:p>
            <a:pPr algn="ctr">
              <a:buNone/>
            </a:pPr>
            <a:r>
              <a:rPr lang="en-US" sz="1100" b="0" dirty="0">
                <a:solidFill>
                  <a:srgbClr val="5D6872"/>
                </a:solidFill>
                <a:latin typeface="Arial"/>
              </a:rPr>
              <a:t>24 / 41</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EWL-CompanionRule"/>
          <p:cNvSpPr/>
          <p:nvPr/>
        </p:nvSpPr>
        <p:spPr>
          <a:xfrm>
            <a:off x="0" y="0"/>
            <a:ext cx="12192000" cy="118872"/>
          </a:xfrm>
          <a:prstGeom prst="rect">
            <a:avLst/>
          </a:prstGeom>
          <a:solidFill>
            <a:srgbClr val="01708C"/>
          </a:solidFill>
          <a:ln>
            <a:noFill/>
          </a:ln>
        </p:spPr>
        <p:txBody>
          <a:bodyPr/>
          <a:lstStyle/>
          <a:p>
            <a:endParaRPr/>
          </a:p>
        </p:txBody>
      </p:sp>
      <p:sp>
        <p:nvSpPr>
          <p:cNvPr id="3" name="EWL-CompanionEyebrow"/>
          <p:cNvSpPr txBox="1"/>
          <p:nvPr/>
        </p:nvSpPr>
        <p:spPr>
          <a:xfrm>
            <a:off x="685800" y="594360"/>
            <a:ext cx="5410200" cy="274320"/>
          </a:xfrm>
          <a:prstGeom prst="rect">
            <a:avLst/>
          </a:prstGeom>
          <a:noFill/>
          <a:ln>
            <a:noFill/>
          </a:ln>
        </p:spPr>
        <p:txBody>
          <a:bodyPr wrap="square" lIns="0" tIns="0" rIns="0" bIns="0" anchor="ctr">
            <a:noAutofit/>
          </a:bodyPr>
          <a:lstStyle/>
          <a:p>
            <a:pPr algn="l">
              <a:buNone/>
            </a:pPr>
            <a:r>
              <a:rPr lang="en-US" sz="1400" b="1" spc="160" dirty="0">
                <a:solidFill>
                  <a:srgbClr val="01708C"/>
                </a:solidFill>
                <a:latin typeface="Arial"/>
              </a:rPr>
              <a:t>STUDENT MOVES</a:t>
            </a:r>
          </a:p>
        </p:txBody>
      </p:sp>
      <p:sp>
        <p:nvSpPr>
          <p:cNvPr id="4" name="EWL-CompanionLesson"/>
          <p:cNvSpPr txBox="1"/>
          <p:nvPr/>
        </p:nvSpPr>
        <p:spPr>
          <a:xfrm>
            <a:off x="6096000" y="594360"/>
            <a:ext cx="5410200" cy="274320"/>
          </a:xfrm>
          <a:prstGeom prst="rect">
            <a:avLst/>
          </a:prstGeom>
          <a:noFill/>
          <a:ln>
            <a:noFill/>
          </a:ln>
        </p:spPr>
        <p:txBody>
          <a:bodyPr wrap="square" lIns="0" tIns="0" rIns="0" bIns="0" anchor="ctr">
            <a:noAutofit/>
          </a:bodyPr>
          <a:lstStyle/>
          <a:p>
            <a:pPr algn="r">
              <a:buNone/>
            </a:pPr>
            <a:r>
              <a:rPr lang="en-US" sz="1400" b="0" dirty="0">
                <a:solidFill>
                  <a:srgbClr val="5A6670"/>
                </a:solidFill>
                <a:latin typeface="Arial"/>
              </a:rPr>
              <a:t>Lesson 6-8</a:t>
            </a:r>
          </a:p>
        </p:txBody>
      </p:sp>
      <p:sp>
        <p:nvSpPr>
          <p:cNvPr id="5" name="EWL-CompanionTitle"/>
          <p:cNvSpPr txBox="1"/>
          <p:nvPr/>
        </p:nvSpPr>
        <p:spPr>
          <a:xfrm>
            <a:off x="685800" y="868680"/>
            <a:ext cx="10820400" cy="731520"/>
          </a:xfrm>
          <a:prstGeom prst="rect">
            <a:avLst/>
          </a:prstGeom>
          <a:noFill/>
          <a:ln>
            <a:noFill/>
          </a:ln>
        </p:spPr>
        <p:txBody>
          <a:bodyPr wrap="square" lIns="0" tIns="0" rIns="0" bIns="0" anchor="ctr">
            <a:noAutofit/>
          </a:bodyPr>
          <a:lstStyle/>
          <a:p>
            <a:pPr algn="l">
              <a:buNone/>
            </a:pPr>
            <a:r>
              <a:rPr lang="en-US" sz="4000" b="1" dirty="0">
                <a:solidFill>
                  <a:srgbClr val="13303A"/>
                </a:solidFill>
                <a:latin typeface="Arial"/>
              </a:rPr>
              <a:t>Your move</a:t>
            </a:r>
          </a:p>
        </p:txBody>
      </p:sp>
      <p:sp>
        <p:nvSpPr>
          <p:cNvPr id="6" name="EWL-CompanionHair"/>
          <p:cNvSpPr/>
          <p:nvPr/>
        </p:nvSpPr>
        <p:spPr>
          <a:xfrm>
            <a:off x="685800" y="1737360"/>
            <a:ext cx="10820400" cy="19050"/>
          </a:xfrm>
          <a:prstGeom prst="rect">
            <a:avLst/>
          </a:prstGeom>
          <a:solidFill>
            <a:srgbClr val="8CB8C7"/>
          </a:solidFill>
          <a:ln>
            <a:noFill/>
          </a:ln>
        </p:spPr>
        <p:txBody>
          <a:bodyPr/>
          <a:lstStyle/>
          <a:p>
            <a:endParaRPr/>
          </a:p>
        </p:txBody>
      </p:sp>
      <p:sp>
        <p:nvSpPr>
          <p:cNvPr id="7" name="TEACH-move-card"/>
          <p:cNvSpPr/>
          <p:nvPr/>
        </p:nvSpPr>
        <p:spPr>
          <a:xfrm>
            <a:off x="685800" y="2057400"/>
            <a:ext cx="10820400" cy="1188720"/>
          </a:xfrm>
          <a:prstGeom prst="roundRect">
            <a:avLst>
              <a:gd name="adj" fmla="val 12000"/>
            </a:avLst>
          </a:prstGeom>
          <a:solidFill>
            <a:srgbClr val="E4F0F5"/>
          </a:solidFill>
          <a:ln w="19050">
            <a:solidFill>
              <a:srgbClr val="8CB8C7"/>
            </a:solidFill>
          </a:ln>
        </p:spPr>
        <p:txBody>
          <a:bodyPr/>
          <a:lstStyle/>
          <a:p>
            <a:endParaRPr/>
          </a:p>
        </p:txBody>
      </p:sp>
      <p:sp>
        <p:nvSpPr>
          <p:cNvPr id="8" name="TEACH-move-rule"/>
          <p:cNvSpPr/>
          <p:nvPr/>
        </p:nvSpPr>
        <p:spPr>
          <a:xfrm>
            <a:off x="731520" y="2283257"/>
            <a:ext cx="100584" cy="737006"/>
          </a:xfrm>
          <a:prstGeom prst="roundRect">
            <a:avLst>
              <a:gd name="adj" fmla="val 50000"/>
            </a:avLst>
          </a:prstGeom>
          <a:solidFill>
            <a:srgbClr val="01708C"/>
          </a:solidFill>
          <a:ln>
            <a:noFill/>
          </a:ln>
        </p:spPr>
        <p:txBody>
          <a:bodyPr/>
          <a:lstStyle/>
          <a:p>
            <a:endParaRPr/>
          </a:p>
        </p:txBody>
      </p:sp>
      <p:sp>
        <p:nvSpPr>
          <p:cNvPr id="9" name="TEACH-2-student-move"/>
          <p:cNvSpPr txBox="1"/>
          <p:nvPr/>
        </p:nvSpPr>
        <p:spPr>
          <a:xfrm>
            <a:off x="1005840" y="2057400"/>
            <a:ext cx="10271760" cy="1188720"/>
          </a:xfrm>
          <a:prstGeom prst="rect">
            <a:avLst/>
          </a:prstGeom>
          <a:noFill/>
          <a:ln>
            <a:noFill/>
          </a:ln>
        </p:spPr>
        <p:txBody>
          <a:bodyPr wrap="square" lIns="0" tIns="0" rIns="0" bIns="0" anchor="ctr">
            <a:noAutofit/>
          </a:bodyPr>
          <a:lstStyle/>
          <a:p>
            <a:pPr algn="l">
              <a:buNone/>
            </a:pPr>
            <a:r>
              <a:rPr lang="en-US" sz="2000" b="1" dirty="0">
                <a:solidFill>
                  <a:srgbClr val="01708C"/>
                </a:solidFill>
                <a:latin typeface="Arial"/>
              </a:rPr>
              <a:t>YOUR CHOICE  ·  </a:t>
            </a:r>
            <a:r>
              <a:rPr lang="en-US" sz="2000" b="0" dirty="0">
                <a:solidFill>
                  <a:srgbClr val="13303A"/>
                </a:solidFill>
                <a:latin typeface="Arial"/>
              </a:rPr>
              <a:t>You choose how to show this — numbers, words, or a diagram. Make your reasoning visible.</a:t>
            </a:r>
          </a:p>
        </p:txBody>
      </p:sp>
      <p:sp>
        <p:nvSpPr>
          <p:cNvPr id="10" name="EWL-SlideNumber"/>
          <p:cNvSpPr txBox="1"/>
          <p:nvPr/>
        </p:nvSpPr>
        <p:spPr>
          <a:xfrm>
            <a:off x="5577840" y="6492240"/>
            <a:ext cx="1033272" cy="256032"/>
          </a:xfrm>
          <a:prstGeom prst="rect">
            <a:avLst/>
          </a:prstGeom>
          <a:noFill/>
          <a:ln>
            <a:noFill/>
          </a:ln>
        </p:spPr>
        <p:txBody>
          <a:bodyPr wrap="square" lIns="0" tIns="0" rIns="0" bIns="0" anchor="ctr">
            <a:noAutofit/>
          </a:bodyPr>
          <a:lstStyle/>
          <a:p>
            <a:pPr algn="ctr">
              <a:buNone/>
            </a:pPr>
            <a:r>
              <a:rPr lang="en-US" sz="1100" b="0" dirty="0">
                <a:solidFill>
                  <a:srgbClr val="5D6872"/>
                </a:solidFill>
                <a:latin typeface="Arial"/>
              </a:rPr>
              <a:t>38 / 41</a:t>
            </a:r>
          </a:p>
        </p:txBody>
      </p:sp>
    </p:spTree>
  </p:cSld>
  <p:clrMapOvr>
    <a:masterClrMapping/>
  </p:clrMapOvr>
</p:sld>
</file>

<file path=ppt/theme/theme1.xml><?xml version="1.0" encoding="utf-8"?>
<a:theme xmlns:a="http://schemas.openxmlformats.org/drawingml/2006/main" xmlns:r="http://schemas.openxmlformats.org/officeDocument/2006/relationships" name="1_Custom Design">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Title Slide">
  <a:themeElements>
    <a:clrScheme name="Marquee">
      <a:dk1>
        <a:srgbClr val="000000"/>
      </a:dk1>
      <a:lt1>
        <a:srgbClr val="FFFFFF"/>
      </a:lt1>
      <a:dk2>
        <a:srgbClr val="5E5E5E"/>
      </a:dk2>
      <a:lt2>
        <a:srgbClr val="DDDDDD"/>
      </a:lt2>
      <a:accent1>
        <a:srgbClr val="418AB3"/>
      </a:accent1>
      <a:accent2>
        <a:srgbClr val="A6B727"/>
      </a:accent2>
      <a:accent3>
        <a:srgbClr val="F69200"/>
      </a:accent3>
      <a:accent4>
        <a:srgbClr val="838383"/>
      </a:accent4>
      <a:accent5>
        <a:srgbClr val="FEC306"/>
      </a:accent5>
      <a:accent6>
        <a:srgbClr val="DF5327"/>
      </a:accent6>
      <a:hlink>
        <a:srgbClr val="F59E00"/>
      </a:hlink>
      <a:folHlink>
        <a:srgbClr val="B2B2B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4.xml><?xml version="1.0" encoding="utf-8"?>
<a:theme xmlns:a="http://schemas.openxmlformats.org/drawingml/2006/main" xmlns:r="http://schemas.openxmlformats.org/officeDocument/2006/relationships" name="2_Custom Design">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5.xml><?xml version="1.0" encoding="utf-8"?>
<a:theme xmlns:a="http://schemas.openxmlformats.org/drawingml/2006/main" xmlns:r="http://schemas.openxmlformats.org/officeDocument/2006/relationships" name="Custom Design">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Reveal Math Grade 6 · Lesson 6.8 — Generate Equivalent Expressions</dc:title>
  <dc:creator>Neft Teacher</dc:creator>
  <cp:lastModifiedBy>Neft Teacher</cp:lastModifiedBy>
  <dcterms:created xsi:type="dcterms:W3CDTF">2026-09-30T12:04:43Z</dcterms:created>
  <dcterms:modified xsi:type="dcterms:W3CDTF">2026-09-30T12:04:43Z</dcterms:modified>
</cp:coreProperties>
</file>