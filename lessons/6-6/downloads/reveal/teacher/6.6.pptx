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6.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slides/slide42.xml" ContentType="application/vnd.openxmlformats-officedocument.presentationml.slide+xml"/>
  <Override PartName="/ppt/slides/slide43.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2" r:id="rId5"/>
    <p:sldMasterId id="2147483673" r:id="rId6"/>
    <p:sldMasterId id="2147483674" r:id="rId7"/>
  </p:sldMasterIdLst>
  <p:notesMasterIdLst>
    <p:notesMasterId r:id="rId8"/>
  </p:notesMasterIdLst>
  <p:sldIdLst>
    <p:sldId id="259" r:id="rId12"/>
    <p:sldId id="268" r:id="rId21"/>
    <p:sldId id="269" r:id="rId22"/>
    <p:sldId id="256" r:id="rId9"/>
    <p:sldId id="257" r:id="rId10"/>
    <p:sldId id="260" r:id="rId13"/>
    <p:sldId id="335" r:id="rId79"/>
    <p:sldId id="334" r:id="rId45"/>
    <p:sldId id="333" r:id="rId44"/>
    <p:sldId id="332" r:id="rId43"/>
    <p:sldId id="331" r:id="rId42"/>
    <p:sldId id="330" r:id="rId41"/>
    <p:sldId id="329" r:id="rId34"/>
    <p:sldId id="261" r:id="rId14"/>
    <p:sldId id="271" r:id="rId24"/>
    <p:sldId id="276" r:id="rId29"/>
    <p:sldId id="284" r:id="rId37"/>
    <p:sldId id="285" r:id="rId38"/>
    <p:sldId id="339" r:id="rId83"/>
    <p:sldId id="287" r:id="rId40"/>
    <p:sldId id="293" r:id="rId46"/>
    <p:sldId id="295" r:id="rId48"/>
    <p:sldId id="296" r:id="rId49"/>
    <p:sldId id="336" r:id="rId80"/>
    <p:sldId id="328" r:id="rId39"/>
    <p:sldId id="327" r:id="rId35"/>
    <p:sldId id="324" r:id="rId77"/>
    <p:sldId id="340" r:id="rId84"/>
    <p:sldId id="325" r:id="rId78"/>
    <p:sldId id="297" r:id="rId50"/>
    <p:sldId id="301" r:id="rId54"/>
    <p:sldId id="304" r:id="rId57"/>
    <p:sldId id="305" r:id="rId58"/>
    <p:sldId id="306" r:id="rId59"/>
    <p:sldId id="318" r:id="rId71"/>
    <p:sldId id="319" r:id="rId72"/>
    <p:sldId id="337" r:id="rId81"/>
    <p:sldId id="320" r:id="rId73"/>
    <p:sldId id="321" r:id="rId74"/>
    <p:sldId id="322" r:id="rId75"/>
    <p:sldId id="323" r:id="rId76"/>
    <p:sldId id="326" r:id="rId36"/>
    <p:sldId id="338" r:id="rId82"/>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D74FCF-4040-4FE7-BE99-5D612572E347}">
  <a:tblStyle styleId="{27D74FCF-4040-4FE7-BE99-5D612572E34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4.xml"/><Relationship Id="rId21" Type="http://schemas.openxmlformats.org/officeDocument/2006/relationships/slide" Target="slides/slide2.xml"/><Relationship Id="rId22" Type="http://schemas.openxmlformats.org/officeDocument/2006/relationships/slide" Target="slides/slide3.xml"/><Relationship Id="rId24" Type="http://schemas.openxmlformats.org/officeDocument/2006/relationships/slide" Target="slides/slide15.xml"/><Relationship Id="rId29" Type="http://schemas.openxmlformats.org/officeDocument/2006/relationships/slide" Target="slides/slide16.xml"/><Relationship Id="rId34" Type="http://schemas.openxmlformats.org/officeDocument/2006/relationships/slide" Target="slides/slide13.xml"/><Relationship Id="rId35" Type="http://schemas.openxmlformats.org/officeDocument/2006/relationships/slide" Target="slides/slide25.xml"/><Relationship Id="rId36" Type="http://schemas.openxmlformats.org/officeDocument/2006/relationships/slide" Target="slides/slide40.xml"/><Relationship Id="rId37" Type="http://schemas.openxmlformats.org/officeDocument/2006/relationships/slide" Target="slides/slide17.xml"/><Relationship Id="rId38" Type="http://schemas.openxmlformats.org/officeDocument/2006/relationships/slide" Target="slides/slide18.xml"/><Relationship Id="rId39" Type="http://schemas.openxmlformats.org/officeDocument/2006/relationships/slide" Target="slides/slide24.xml"/><Relationship Id="rId40" Type="http://schemas.openxmlformats.org/officeDocument/2006/relationships/slide" Target="slides/slide19.xml"/><Relationship Id="rId41" Type="http://schemas.openxmlformats.org/officeDocument/2006/relationships/slide" Target="slides/slide12.xml"/><Relationship Id="rId42" Type="http://schemas.openxmlformats.org/officeDocument/2006/relationships/slide" Target="slides/slide11.xml"/><Relationship Id="rId43" Type="http://schemas.openxmlformats.org/officeDocument/2006/relationships/slide" Target="slides/slide10.xml"/><Relationship Id="rId44" Type="http://schemas.openxmlformats.org/officeDocument/2006/relationships/slide" Target="slides/slide9.xml"/><Relationship Id="rId45" Type="http://schemas.openxmlformats.org/officeDocument/2006/relationships/slide" Target="slides/slide8.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8.xml"/><Relationship Id="rId54"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71" Type="http://schemas.openxmlformats.org/officeDocument/2006/relationships/slide" Target="slides/slide33.xml"/><Relationship Id="rId72" Type="http://schemas.openxmlformats.org/officeDocument/2006/relationships/slide" Target="slides/slide34.xml"/><Relationship Id="rId73" Type="http://schemas.openxmlformats.org/officeDocument/2006/relationships/slide" Target="slides/slide36.xml"/><Relationship Id="rId74" Type="http://schemas.openxmlformats.org/officeDocument/2006/relationships/slide" Target="slides/slide37.xml"/><Relationship Id="rId75" Type="http://schemas.openxmlformats.org/officeDocument/2006/relationships/slide" Target="slides/slide38.xml"/><Relationship Id="rId76" Type="http://schemas.openxmlformats.org/officeDocument/2006/relationships/slide" Target="slides/slide39.xml"/><Relationship Id="rId77" Type="http://schemas.openxmlformats.org/officeDocument/2006/relationships/slide" Target="slides/slide26.xml"/><Relationship Id="rId78" Type="http://schemas.openxmlformats.org/officeDocument/2006/relationships/slide" Target="slides/slide27.xml"/><Relationship Id="rId79" Type="http://schemas.openxmlformats.org/officeDocument/2006/relationships/slide" Target="slides/slide7.xml"/><Relationship Id="rId80" Type="http://schemas.openxmlformats.org/officeDocument/2006/relationships/slide" Target="slides/slide23.xml"/><Relationship Id="rId81" Type="http://schemas.openxmlformats.org/officeDocument/2006/relationships/slide" Target="slides/slide35.xml"/><Relationship Id="rId82" Type="http://schemas.openxmlformats.org/officeDocument/2006/relationships/slide" Target="slides/slide41.xml"/><Relationship Id="rId83" Type="http://schemas.openxmlformats.org/officeDocument/2006/relationships/slide" Target="slides/slide42.xml"/><Relationship Id="rId84"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4 | DIVIDER</a:t>
            </a:r>
          </a:p>
          <a:p xmlns:a="http://schemas.openxmlformats.org/drawingml/2006/main">
            <a:pPr>
              <a:buNone/>
            </a:pPr>
            <a:r>
              <a:rPr lang="en-US" sz="1100"/>
              <a:t>Focus on the existing task: Session 1 Identify Equivalent Algebraic Expressions</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162" name="Google Shape;162;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5 | WORKED</a:t>
            </a:r>
          </a:p>
          <a:p xmlns:a="http://schemas.openxmlformats.org/drawingml/2006/main">
            <a:pPr>
              <a:buNone/>
            </a:pPr>
            <a:r>
              <a:rPr lang="en-US" sz="1100"/>
              <a:t>Focus on the existing task: On You Could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170" name="Google Shape;170;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7x   2) 14   3) 27   4) yes, both are 14</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use properties and like terms to justify equivalence; distinguish evidence from proof. Review recent work and today’s warm-up to choose flexible groups and access supports; do not infer needs from identity or perceived ability. Use the existing lesson tasks and stated standards.</a:t>
            </a:r>
          </a:p>
          <a:p>
            <a:pPr>
              <a:buNone/>
            </a:pPr>
            <a:r>
              <a:rPr lang="en-US" sz="1100"/>
              <a:t>Anticipate: claiming expressions are equivalent because one tested value matches. If observed, mark like terms and name the property used for each rewrite.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186" name="Google Shape;18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6 | GOAL</a:t>
            </a:r>
          </a:p>
          <a:p xmlns:a="http://schemas.openxmlformats.org/drawingml/2006/main">
            <a:pPr>
              <a:buNone/>
            </a:pPr>
            <a:r>
              <a:rPr lang="en-US" sz="1100"/>
              <a:t>Focus on the existing task: Today’s Objectives Identify Equivalent Algebraic…</a:t>
            </a:r>
          </a:p>
          <a:p xmlns:a="http://schemas.openxmlformats.org/drawingml/2006/main">
            <a:pPr>
              <a:buNone/>
            </a:pPr>
            <a:r>
              <a:rPr lang="en-US" sz="1100"/>
              <a:t>CONNECT (T1/4): Ask students to restate the displayed goal or key idea and connect it to earlier work. Relevant lesson evidence: use properties and like terms to justify equivalence; distinguish evidence from proof.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properties and like terms to justify equivalence; distinguish evidence from proof. Ask: “Which part of your work would show this?” Revisit that evidence after the task; a confidence rating alone is not evidence of understanding.</a:t>
            </a:r>
          </a:p>
        </p:txBody>
      </p:sp>
      <p:sp>
        <p:nvSpPr>
          <p:cNvPr id="262" name="Google Shape;26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14 | VOCAB</a:t>
            </a:r>
          </a:p>
          <a:p xmlns:a="http://schemas.openxmlformats.org/drawingml/2006/main">
            <a:pPr>
              <a:buNone/>
            </a:pPr>
            <a:r>
              <a:rPr lang="en-US" sz="1100"/>
              <a:t>Focus on the existing task: Vocabulary Today’s Math Words We learn every word…</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284" name="Google Shape;28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2 | NOTES</a:t>
            </a:r>
          </a:p>
          <a:p xmlns:a="http://schemas.openxmlformats.org/drawingml/2006/main">
            <a:pPr>
              <a:buNone/>
            </a:pPr>
            <a:r>
              <a:rPr lang="en-US" sz="1100"/>
              <a:t>Focus on the existing task: Today’s Math Notes Section 1: Math Words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27" name="Google Shape;427;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55" name="Google Shape;455;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15 | CURIOUS</a:t>
            </a:r>
          </a:p>
          <a:p xmlns:a="http://schemas.openxmlformats.org/drawingml/2006/main">
            <a:pPr>
              <a:buNone/>
            </a:pPr>
            <a:r>
              <a:rPr lang="en-US" sz="1100"/>
              <a:t>Focus on the existing task: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489" name="Google Shape;489;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16 | REVEAL</a:t>
            </a:r>
          </a:p>
          <a:p xmlns:a="http://schemas.openxmlformats.org/drawingml/2006/main">
            <a:pPr>
              <a:buNone/>
            </a:pPr>
            <a:r>
              <a:rPr lang="en-US" sz="1100"/>
              <a:t>Focus on the existing task: Reveal: Are They the Same?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should these expressions agree for every allowed value, rather than only the value you tried?” Wait for evidence, invite another pathway, and have a student ask a follow-up question. Do not replace students’ reasoning with a sequence of leading steps.</a:t>
            </a:r>
          </a:p>
        </p:txBody>
      </p:sp>
      <p:sp>
        <p:nvSpPr>
          <p:cNvPr id="536" name="Google Shape;536;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17 | REVEAL</a:t>
            </a:r>
          </a:p>
          <a:p xmlns:a="http://schemas.openxmlformats.org/drawingml/2006/main">
            <a:pPr>
              <a:buNone/>
            </a:pPr>
            <a:r>
              <a:rPr lang="en-US" sz="1100"/>
              <a:t>Focus on the existing task: Reveal: Are They the Same?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611" name="Google Shape;611;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18 | REVEAL</a:t>
            </a:r>
          </a:p>
          <a:p xmlns:a="http://schemas.openxmlformats.org/drawingml/2006/main">
            <a:pPr>
              <a:buNone/>
            </a:pPr>
            <a:r>
              <a:rPr lang="en-US" sz="1100"/>
              <a:t>Focus on the existing task: Are They the Same?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There is multiplication and addition.</a:t>
            </a:r>
          </a:p>
          <a:p>
            <a:pPr indent="0" lvl="0" marL="0" rtl="0" algn="l">
              <a:lnSpc>
                <a:spcPct val="100000"/>
              </a:lnSpc>
              <a:spcBef>
                <a:spcPts val="0"/>
              </a:spcBef>
              <a:spcAft>
                <a:spcPts val="0"/>
              </a:spcAft>
              <a:buSzPts val="1400"/>
              <a:buNone/>
            </a:pPr>
            <a:r>
              <a:t>UIFR: TEACH 3 · TEACH 4.</a:t>
            </a:r>
          </a:p>
        </p:txBody>
      </p:sp>
      <p:sp>
        <p:nvSpPr>
          <p:cNvPr id="622" name="Google Shape;622;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19 | REVEAL</a:t>
            </a:r>
          </a:p>
          <a:p xmlns:a="http://schemas.openxmlformats.org/drawingml/2006/main">
            <a:pPr>
              <a:buNone/>
            </a:pPr>
            <a:r>
              <a:rPr lang="en-US" sz="1100"/>
              <a:t>Focus on the existing task: Reveal: We can add 30 and 4 together because they are both constants. Are there any like terms in the expression?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add 30 and 4 together because they are both constants.</a:t>
            </a:r>
          </a:p>
          <a:p>
            <a:pPr indent="0" lvl="0" marL="0" rtl="0" algn="l">
              <a:lnSpc>
                <a:spcPct val="100000"/>
              </a:lnSpc>
              <a:spcBef>
                <a:spcPts val="0"/>
              </a:spcBef>
              <a:spcAft>
                <a:spcPts val="0"/>
              </a:spcAft>
              <a:buSzPts val="1400"/>
              <a:buNone/>
            </a:pPr>
            <a:r>
              <a:t>UIFR: TEACH 3 · TEACH 4.</a:t>
            </a:r>
          </a:p>
        </p:txBody>
      </p:sp>
      <p:sp>
        <p:nvSpPr>
          <p:cNvPr id="643" name="Google Shape;643;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20 | REVEAL</a:t>
            </a:r>
          </a:p>
          <a:p xmlns:a="http://schemas.openxmlformats.org/drawingml/2006/main">
            <a:pPr>
              <a:buNone/>
            </a:pPr>
            <a:r>
              <a:rPr lang="en-US" sz="1100"/>
              <a:t>Focus on the existing task: Let’s compare the simplified expressions. Are the original expressions equivalent?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Yes, when the expressions are simplified, they are the same expression.</a:t>
            </a:r>
          </a:p>
          <a:p>
            <a:pPr indent="0" lvl="0" marL="0" rtl="0" algn="l">
              <a:lnSpc>
                <a:spcPct val="100000"/>
              </a:lnSpc>
              <a:spcBef>
                <a:spcPts val="0"/>
              </a:spcBef>
              <a:spcAft>
                <a:spcPts val="0"/>
              </a:spcAft>
              <a:buSzPts val="1400"/>
              <a:buNone/>
            </a:pPr>
            <a:r>
              <a:t>UIFR: TEACH 3 · TEACH 4.</a:t>
            </a:r>
          </a:p>
        </p:txBody>
      </p:sp>
      <p:sp>
        <p:nvSpPr>
          <p:cNvPr id="705" name="Google Shape;705;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21 | TASK</a:t>
            </a:r>
          </a:p>
          <a:p xmlns:a="http://schemas.openxmlformats.org/drawingml/2006/main">
            <a:pPr>
              <a:buNone/>
            </a:pPr>
            <a:r>
              <a:rPr lang="en-US" sz="1100"/>
              <a:t>Focus on the existing task: Persevering How could you check your answer?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26" name="Google Shape;726;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22 | PRACTICE</a:t>
            </a:r>
          </a:p>
          <a:p xmlns:a="http://schemas.openxmlformats.org/drawingml/2006/main">
            <a:pPr>
              <a:buNone/>
            </a:pPr>
            <a:r>
              <a:rPr lang="en-US" sz="1100"/>
              <a:t>Focus on the existing task: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claiming expressions are equivalent because one tested value matches. If it appears, mark like terms and name the property used for each rewrite; then ask the student to revise the same response and explain the change. If evidence is secure, have students compare a second valid pathway or state why their approach works. Choose the next step from the responses, not a preset pace.</a:t>
            </a:r>
          </a:p>
        </p:txBody>
      </p:sp>
      <p:sp>
        <p:nvSpPr>
          <p:cNvPr id="738" name="Google Shape;738;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28 | DIVIDER</a:t>
            </a:r>
          </a:p>
          <a:p xmlns:a="http://schemas.openxmlformats.org/drawingml/2006/main">
            <a:pPr>
              <a:buNone/>
            </a:pPr>
            <a:r>
              <a:rPr lang="en-US" sz="1100"/>
              <a:t>Focus on the existing task: Session 2 Identify Equivalent Algebraic Expressions</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44" name="Google Shape;744;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29 | REVEAL</a:t>
            </a:r>
          </a:p>
          <a:p xmlns:a="http://schemas.openxmlformats.org/drawingml/2006/main">
            <a:pPr>
              <a:buNone/>
            </a:pPr>
            <a:r>
              <a:rPr lang="en-US" sz="1100"/>
              <a:t>Focus on the existing task: Are the two expressions shown equivalent?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781" name="Google Shape;781;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30 | REVEAL</a:t>
            </a:r>
          </a:p>
          <a:p xmlns:a="http://schemas.openxmlformats.org/drawingml/2006/main">
            <a:pPr>
              <a:buNone/>
            </a:pPr>
            <a:r>
              <a:rPr lang="en-US" sz="1100"/>
              <a:t>Focus on the existing task: Reveal: We can use the Substitution Property of Equality. How can you evaluate the expressions for a given value of the variable?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the Substitution Property of Equality.</a:t>
            </a:r>
          </a:p>
          <a:p>
            <a:pPr indent="0" lvl="0" marL="0" rtl="0" algn="l">
              <a:lnSpc>
                <a:spcPct val="100000"/>
              </a:lnSpc>
              <a:spcBef>
                <a:spcPts val="0"/>
              </a:spcBef>
              <a:spcAft>
                <a:spcPts val="0"/>
              </a:spcAft>
              <a:buSzPts val="1400"/>
              <a:buNone/>
            </a:pPr>
            <a:r>
              <a:t>UIFR: TEACH 3 · TEACH 4.</a:t>
            </a:r>
          </a:p>
        </p:txBody>
      </p:sp>
      <p:sp>
        <p:nvSpPr>
          <p:cNvPr id="808" name="Google Shape;808;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31 | REVEAL</a:t>
            </a:r>
          </a:p>
          <a:p xmlns:a="http://schemas.openxmlformats.org/drawingml/2006/main">
            <a:pPr>
              <a:buNone/>
            </a:pPr>
            <a:r>
              <a:rPr lang="en-US" sz="1100"/>
              <a:t>Focus on the existing task: When the expressions are evaluated for a given value of the variable, what must be true about the values of the simplified expressions if they are equivalent?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817" name="Google Shape;817;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32 | REVEAL</a:t>
            </a:r>
          </a:p>
          <a:p xmlns:a="http://schemas.openxmlformats.org/drawingml/2006/main">
            <a:pPr>
              <a:buNone/>
            </a:pPr>
            <a:r>
              <a:rPr lang="en-US" sz="1100"/>
              <a:t>Focus on the existing task: Reveal: The values of the simplified expressions should be the same. When the expressions are evaluated for a given value of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values of the simplified expressions should be the same.</a:t>
            </a:r>
          </a:p>
          <a:p>
            <a:pPr indent="0" lvl="0" marL="0" rtl="0" algn="l">
              <a:lnSpc>
                <a:spcPct val="100000"/>
              </a:lnSpc>
              <a:spcBef>
                <a:spcPts val="0"/>
              </a:spcBef>
              <a:spcAft>
                <a:spcPts val="0"/>
              </a:spcAft>
              <a:buSzPts val="1400"/>
              <a:buNone/>
            </a:pPr>
            <a:r>
              <a:t>UIFR: TEACH 3 · TEACH 4.</a:t>
            </a:r>
          </a:p>
        </p:txBody>
      </p:sp>
      <p:sp>
        <p:nvSpPr>
          <p:cNvPr id="826" name="Google Shape;826;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33 | TASK</a:t>
            </a:r>
          </a:p>
          <a:p xmlns:a="http://schemas.openxmlformats.org/drawingml/2006/main">
            <a:pPr>
              <a:buNone/>
            </a:pPr>
            <a:r>
              <a:rPr lang="en-US" sz="1100"/>
              <a:t>Focus on the existing task: The two expressions are not equivalent. Planning What is another approach to solving this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61" name="Google Shape;961;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34 | PRACTICE</a:t>
            </a:r>
          </a:p>
          <a:p xmlns:a="http://schemas.openxmlformats.org/drawingml/2006/main">
            <a:pPr>
              <a:buNone/>
            </a:pPr>
            <a:r>
              <a:rPr lang="en-US" sz="1100"/>
              <a:t>Focus on the existing task: Let’s Explore More Try substituting 3 more values for the variable x in each expression. What do you notice?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73" name="Google Shape;973;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6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36 | SUMMARIZE</a:t>
            </a:r>
          </a:p>
          <a:p xmlns:a="http://schemas.openxmlformats.org/drawingml/2006/main">
            <a:pPr>
              <a:buNone/>
            </a:pPr>
            <a:r>
              <a:rPr lang="en-US" sz="1100"/>
              <a:t>Focus on the existing task: You can use different strategies to determine whether two algebraic expressions are equivalent. Summarize These expressions are…</a:t>
            </a:r>
          </a:p>
          <a:p xmlns:a="http://schemas.openxmlformats.org/drawingml/2006/main">
            <a:pPr>
              <a:buNone/>
            </a:pPr>
            <a:r>
              <a:rPr lang="en-US" sz="1100"/>
              <a:t>CONNECT (T1/4): Ask students to restate the displayed goal or key idea and connect it to earlier work. Relevant lesson evidence: use properties and like terms to justify equivalence; distinguish evidence from proof.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80" name="Google Shape;980;p6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6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37 | SUMMARIZE</a:t>
            </a:r>
          </a:p>
          <a:p xmlns:a="http://schemas.openxmlformats.org/drawingml/2006/main">
            <a:pPr>
              <a:buNone/>
            </a:pPr>
            <a:r>
              <a:rPr lang="en-US" sz="1100"/>
              <a:t>Focus on the existing task: Summarize Properties of Operations SUMMARIZE · SAY IT IN YOUR OWN WORDS</a:t>
            </a:r>
          </a:p>
          <a:p xmlns:a="http://schemas.openxmlformats.org/drawingml/2006/main">
            <a:pPr>
              <a:buNone/>
            </a:pPr>
            <a:r>
              <a:rPr lang="en-US" sz="1100"/>
              <a:t>CONNECT (T1/4): Ask students to restate the displayed goal or key idea and connect it to earlier work. Relevant lesson evidence: use properties and like terms to justify equivalence; distinguish evidence from proof.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01" name="Google Shape;1001;p6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6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38 | APPLY</a:t>
            </a:r>
          </a:p>
          <a:p xmlns:a="http://schemas.openxmlformats.org/drawingml/2006/main">
            <a:pPr>
              <a:buNone/>
            </a:pPr>
            <a:r>
              <a:rPr lang="en-US" sz="1100"/>
              <a:t>Focus on the existing task: Anwar’s quiz bowl team must correctly answer the question shown to earn ten bonus points in their match. Question: How should Anwar’s team respond if they want to earn the ten bonus points?</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use properties and like terms to justify equivalence; distinguish evidence from proof. Respond with one specific next step tied to the work. Students revise and annotate what changed, then identify a criterion they can now demonstrate and one they still need to practice.</a:t>
            </a:r>
          </a:p>
        </p:txBody>
      </p:sp>
      <p:sp>
        <p:nvSpPr>
          <p:cNvPr id="1011" name="Google Shape;1011;p6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6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6.6, slide 39 | REFLECTION</a:t>
            </a:r>
          </a:p>
          <a:p xmlns:a="http://schemas.openxmlformats.org/drawingml/2006/main">
            <a:pPr>
              <a:buNone/>
            </a:pPr>
            <a:r>
              <a:rPr lang="en-US" sz="1100"/>
              <a:t>Focus on the existing task: I can attend to precision to identify whether two expressions are equivalent. Learning Targets</a:t>
            </a:r>
          </a:p>
          <a:p xmlns:a="http://schemas.openxmlformats.org/drawingml/2006/main">
            <a:pPr>
              <a:buNone/>
            </a:pPr>
            <a:r>
              <a:rPr lang="en-US" sz="1100"/>
              <a:t>CONNECT (T1/4): Ask students to restate the displayed goal or key idea and connect it to earlier work. Relevant lesson evidence: use properties and like terms to justify equivalence; distinguish evidence from proof.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019" name="Google Shape;1019;p6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6.6, slide 26 | WARMUP</a:t>
            </a:r>
          </a:p>
          <a:p xmlns:a="http://schemas.openxmlformats.org/drawingml/2006/main">
            <a:pPr>
              <a:buNone/>
            </a:pPr>
            <a:r>
              <a:rPr lang="en-US" sz="1100"/>
              <a:t>Focus on the existing task: A x³ B 3x C x + 3 D 3 + x 3 Which property states that a + b = b + a?</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6.6, slide 27 | NOTES</a:t>
            </a:r>
          </a:p>
          <a:p xmlns:a="http://schemas.openxmlformats.org/drawingml/2006/main">
            <a:pPr>
              <a:buNone/>
            </a:pPr>
            <a:r>
              <a:rPr lang="en-US" sz="1100"/>
              <a:t>Focus on the existing task: Review Notes — Session 2 Session 2: Review Notes…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40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claiming expressions are equivalent because one tested value matches.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mark like terms and name the property used for each rewrite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7 | PRIOR_INSERT</a:t>
            </a:r>
          </a:p>
          <a:p xmlns:a="http://schemas.openxmlformats.org/drawingml/2006/main">
            <a:pPr>
              <a:buNone/>
            </a:pPr>
            <a:r>
              <a:rPr lang="en-US" sz="1100"/>
              <a:t>Focus on the existing task: LESSON 6.6 / OUR LEARNING What will show your learning?</a:t>
            </a:r>
          </a:p>
          <a:p xmlns:a="http://schemas.openxmlformats.org/drawingml/2006/main">
            <a:pPr>
              <a:buNone/>
            </a:pPr>
            <a:r>
              <a:rPr lang="en-US" sz="1100"/>
              <a:t>CONNECT (T1/4): Ask students to restate the displayed goal or key idea and connect it to earlier work. Relevant lesson evidence: use properties and like terms to justify equivalence; distinguish evidence from proof.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8 | VOCAB</a:t>
            </a:r>
          </a:p>
          <a:p xmlns:a="http://schemas.openxmlformats.org/drawingml/2006/main">
            <a:pPr>
              <a:buNone/>
            </a:pPr>
            <a:r>
              <a:rPr lang="en-US" sz="1100"/>
              <a:t>Focus on the existing task: Vocabulary 1 of 6 Equivalent Expressions…</a:t>
            </a:r>
          </a:p>
          <a:p xmlns:a="http://schemas.openxmlformats.org/drawingml/2006/main">
            <a:pPr>
              <a:buNone/>
            </a:pPr>
            <a:r>
              <a:rPr lang="en-US" sz="1100"/>
              <a:t>ASK (T1/3/5): Where does “Equivalent Expressions”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9 | VOCAB</a:t>
            </a:r>
          </a:p>
          <a:p xmlns:a="http://schemas.openxmlformats.org/drawingml/2006/main">
            <a:pPr>
              <a:buNone/>
            </a:pPr>
            <a:r>
              <a:rPr lang="en-US" sz="1100"/>
              <a:t>Focus on the existing task: Vocabulary 2 of 6 Equivalent Expressions that…</a:t>
            </a:r>
          </a:p>
          <a:p xmlns:a="http://schemas.openxmlformats.org/drawingml/2006/main">
            <a:pPr>
              <a:buNone/>
            </a:pPr>
            <a:r>
              <a:rPr lang="en-US" sz="1100"/>
              <a:t>ASK (T1/3/5): Where does “Equivalent”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10 | VOCAB</a:t>
            </a:r>
          </a:p>
          <a:p xmlns:a="http://schemas.openxmlformats.org/drawingml/2006/main">
            <a:pPr>
              <a:buNone/>
            </a:pPr>
            <a:r>
              <a:rPr lang="en-US" sz="1100"/>
              <a:t>Focus on the existing task: Vocabulary 3 of 6 Simplify To rewrite an…</a:t>
            </a:r>
          </a:p>
          <a:p xmlns:a="http://schemas.openxmlformats.org/drawingml/2006/main">
            <a:pPr>
              <a:buNone/>
            </a:pPr>
            <a:r>
              <a:rPr lang="en-US" sz="1100"/>
              <a:t>ASK (T1/3/5): Where does “Simplify”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11 | VOCAB</a:t>
            </a:r>
          </a:p>
          <a:p xmlns:a="http://schemas.openxmlformats.org/drawingml/2006/main">
            <a:pPr>
              <a:buNone/>
            </a:pPr>
            <a:r>
              <a:rPr lang="en-US" sz="1100"/>
              <a:t>Focus on the existing task: Vocabulary 4 of 6 Like Terms Terms with the same…</a:t>
            </a:r>
          </a:p>
          <a:p xmlns:a="http://schemas.openxmlformats.org/drawingml/2006/main">
            <a:pPr>
              <a:buNone/>
            </a:pPr>
            <a:r>
              <a:rPr lang="en-US" sz="1100"/>
              <a:t>ASK (T1/3/5): Where does “Like Terms”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12 | VOCAB</a:t>
            </a:r>
          </a:p>
          <a:p xmlns:a="http://schemas.openxmlformats.org/drawingml/2006/main">
            <a:pPr>
              <a:buNone/>
            </a:pPr>
            <a:r>
              <a:rPr lang="en-US" sz="1100"/>
              <a:t>Focus on the existing task: Vocabulary 5 of 6 Combine To add or subtract…</a:t>
            </a:r>
          </a:p>
          <a:p xmlns:a="http://schemas.openxmlformats.org/drawingml/2006/main">
            <a:pPr>
              <a:buNone/>
            </a:pPr>
            <a:r>
              <a:rPr lang="en-US" sz="1100"/>
              <a:t>ASK (T1/3/5): Where does “Combine”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13 | VOCAB</a:t>
            </a:r>
          </a:p>
          <a:p xmlns:a="http://schemas.openxmlformats.org/drawingml/2006/main">
            <a:pPr>
              <a:buNone/>
            </a:pPr>
            <a:r>
              <a:rPr lang="en-US" sz="1100"/>
              <a:t>Focus on the existing task: Vocabulary 6 of 6 Coefficient The number in…</a:t>
            </a:r>
          </a:p>
          <a:p xmlns:a="http://schemas.openxmlformats.org/drawingml/2006/main">
            <a:pPr>
              <a:buNone/>
            </a:pPr>
            <a:r>
              <a:rPr lang="en-US" sz="1100"/>
              <a:t>ASK (T1/3/5): Where does “Coefficient”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23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use properties and like terms to justify equivalence; distinguish evidence from proof.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24 | REVEAL</a:t>
            </a:r>
          </a:p>
          <a:p xmlns:a="http://schemas.openxmlformats.org/drawingml/2006/main">
            <a:pPr>
              <a:buNone/>
            </a:pPr>
            <a:r>
              <a:rPr lang="en-US" sz="1100"/>
              <a:t>Focus on the existing task: Reveal: They are both are algebraic expressions. The expressions contain some common numbers, operations, and variables, but are grouped or ordered differently. Are the expressions shown equivalent?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25 | REVEAL</a:t>
            </a:r>
          </a:p>
          <a:p xmlns:a="http://schemas.openxmlformats.org/drawingml/2006/main">
            <a:pPr>
              <a:buNone/>
            </a:pPr>
            <a:r>
              <a:rPr lang="en-US" sz="1100"/>
              <a:t>Focus on the existing task: Let’s compare the simplified expressions. Are the original expressions equivalent?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properties and like terms to justify equivalence. Ask which feature of their work supports the claim.</a:t>
            </a:r>
          </a:p>
          <a:p xmlns:a="http://schemas.openxmlformats.org/drawingml/2006/main">
            <a:pPr>
              <a:buNone/>
            </a:pPr>
            <a:r>
              <a:rPr lang="en-US" sz="1100"/>
              <a:t>RESPOND: If this task shows the lesson misconception—claiming expressions are equivalent because one tested value matches—mark like terms and name the property used for each rewrite.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35 | PRIOR_INSERT</a:t>
            </a:r>
          </a:p>
          <a:p xmlns:a="http://schemas.openxmlformats.org/drawingml/2006/main">
            <a:pPr>
              <a:buNone/>
            </a:pPr>
            <a:r>
              <a:rPr lang="en-US" sz="1100"/>
              <a:t>Focus on the existing task: LESSON 6.6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use properties and like terms to justify equivalence; distinguish evidence from proof.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6.6, slide 41 | PRIOR_INSERT</a:t>
            </a:r>
          </a:p>
          <a:p xmlns:a="http://schemas.openxmlformats.org/drawingml/2006/main">
            <a:pPr>
              <a:buNone/>
            </a:pPr>
            <a:r>
              <a:rPr lang="en-US" sz="1100"/>
              <a:t>Focus on the existing task: LESSON 6.6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use properties and like terms to justify equivalence; distinguish evidence from proof.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8" name="Google Shape;28;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 name="Shape 3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6" name="Shape 9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1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9" name="Google Shape;9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0" name="Google Shape;100;p1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1" name="Google Shape;101;p1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2" name="Google Shape;102;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5" name="Google Shape;105;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06" name="Google Shape;106;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7" name="Google Shape;107;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8" name="Google Shape;108;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p2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1" name="Google Shape;111;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3" name="Google Shape;113;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4" name="Google Shape;114;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5" name="Google Shape;115;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sp>
        <p:nvSpPr>
          <p:cNvPr id="117" name="Google Shape;117;p21"/>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8" name="Google Shape;118;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19" name="Google Shape;119;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 name="Google Shape;120;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1" name="Google Shape;121;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2" name="Google Shape;122;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3" name="Google Shape;123;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4" name="Google Shape;124;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2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7" name="Google Shape;127;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9" name="Google Shape;129;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4" name="Google Shape;24;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5" name="Google Shape;25;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Identify Equivalent Algebraic Expressions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4" name="Google Shape;94;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95" name="Google Shape;95;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Identify Equivalent Algebraic Expressions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7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jp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1.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1.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8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31.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image" Target="../media/image50.png"/><Relationship Id="rId4" Type="http://schemas.openxmlformats.org/officeDocument/2006/relationships/image" Target="../media/image56.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2.png"/><Relationship Id="rId8" Type="http://schemas.openxmlformats.org/officeDocument/2006/relationships/image" Target="../media/image64.png"/><Relationship Id="rId9" Type="http://schemas.openxmlformats.org/officeDocument/2006/relationships/image" Target="../media/image58.png"/><Relationship Id="rId10" Type="http://schemas.openxmlformats.org/officeDocument/2006/relationships/image" Target="../media/image63.png"/><Relationship Id="rId11" Type="http://schemas.openxmlformats.org/officeDocument/2006/relationships/image" Target="../media/image65.png"/><Relationship Id="rId12" Type="http://schemas.openxmlformats.org/officeDocument/2006/relationships/image" Target="../media/image6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6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6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7.png"/><Relationship Id="rId4" Type="http://schemas.openxmlformats.org/officeDocument/2006/relationships/notesSlide" Target="../notesSlides/notesSlide7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19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6-6 · Identify Equivalent Algebraic Expressions   |   Warm-Up · about 4 minutes</a:t>
            </a:r>
          </a:p>
        </p:txBody>
      </p:sp>
      <p:sp>
        <p:nvSpPr>
          <p:cNvPr id="19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19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19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9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5x + 2x = ______</a:t>
            </a:r>
          </a:p>
        </p:txBody>
      </p:sp>
      <p:sp>
        <p:nvSpPr>
          <p:cNvPr id="19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0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Evaluate 2x + 6 when x = 4. ______</a:t>
            </a:r>
          </a:p>
        </p:txBody>
      </p:sp>
      <p:sp>
        <p:nvSpPr>
          <p:cNvPr id="20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0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3(4 + 5) = ______</a:t>
            </a:r>
          </a:p>
        </p:txBody>
      </p:sp>
      <p:sp>
        <p:nvSpPr>
          <p:cNvPr id="20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0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Is 2(4 + 3) equal to 2 × 4 + 2 × 3? ______</a:t>
            </a:r>
          </a:p>
        </p:txBody>
      </p:sp>
      <p:sp>
        <p:nvSpPr>
          <p:cNvPr id="20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1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1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43</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0"/>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32" name="Google Shape;432;p4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433" name="Google Shape;433;p4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35" name="Google Shape;435;p40"/>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36" name="Google Shape;436;p40"/>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0"/>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38" name="Google Shape;438;p40"/>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0"/>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0"/>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41" name="Google Shape;441;p40"/>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Equivalent Expressions</a:t>
            </a:r>
            <a:endParaRPr/>
          </a:p>
        </p:txBody>
      </p:sp>
      <p:sp>
        <p:nvSpPr>
          <p:cNvPr id="442" name="Google Shape;442;p40"/>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Expressions</a:t>
            </a:r>
            <a:endParaRPr/>
          </a:p>
        </p:txBody>
      </p:sp>
      <p:sp>
        <p:nvSpPr>
          <p:cNvPr id="443" name="Google Shape;443;p40"/>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0"/>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0"/>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446" name="Google Shape;446;p40"/>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Equivalent</a:t>
            </a:r>
            <a:endParaRPr/>
          </a:p>
        </p:txBody>
      </p:sp>
      <p:sp>
        <p:nvSpPr>
          <p:cNvPr id="447" name="Google Shape;447;p40"/>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Expressions that always have the same value</a:t>
            </a:r>
            <a:endParaRPr/>
          </a:p>
        </p:txBody>
      </p:sp>
      <p:sp>
        <p:nvSpPr>
          <p:cNvPr id="448" name="Google Shape;448;p40"/>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0"/>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0"/>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451" name="Google Shape;451;p40"/>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Simplify</a:t>
            </a:r>
            <a:endParaRPr/>
          </a:p>
        </p:txBody>
      </p:sp>
      <p:sp>
        <p:nvSpPr>
          <p:cNvPr id="452" name="Google Shape;452;p40"/>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To rewrite an </a:t>
            </a:r>
            <a:r>
              <a:rPr b="1" i="0" lang="en-US" sz="1450" u="none" cap="none" strike="noStrike">
                <a:solidFill>
                  <a:srgbClr val="475569"/>
                </a:solidFill>
                <a:latin typeface="Arial"/>
                <a:ea typeface="Arial"/>
                <a:cs typeface="Arial"/>
                <a:sym typeface="Arial"/>
              </a:rPr>
              <a:t xml:space="preserve">expression</a:t>
            </a:r>
            <a:r>
              <a:rPr b="0" i="0" lang="en-US" sz="1450" u="none" cap="none" strike="noStrike">
                <a:solidFill>
                  <a:srgbClr val="475569"/>
                </a:solidFill>
                <a:latin typeface="Arial"/>
                <a:ea typeface="Arial"/>
                <a:cs typeface="Arial"/>
                <a:sym typeface="Arial"/>
              </a:rPr>
              <a:t xml:space="preserve"> in a shorter form</a:t>
            </a:r>
            <a:endParaRPr/>
          </a:p>
        </p:txBody>
      </p:sp>
      <p:sp>
        <p:nvSpPr>
          <p:cNvPr id="4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43</a:t>
            </a:r>
          </a:p>
        </p:txBody>
      </p:sp>
      <p:grpSp>
        <p:nvGrpSpPr>
          <p:cNvPr id="454" name="TEACH-1-student-move" descr="TEACH 1 · Facilitate clear, standards-based content learning"/>
          <p:cNvGrpSpPr/>
          <p:nvPr/>
        </p:nvGrpSpPr>
        <p:grpSpPr>
          <a:xfrm>
            <a:off x="6187440" y="1682496"/>
            <a:ext cx="5501640" cy="594360"/>
            <a:chOff x="6187440" y="1682496"/>
            <a:chExt cx="5501640" cy="594360"/>
          </a:xfrm>
        </p:grpSpPr>
        <p:sp>
          <p:nvSpPr>
            <p:cNvPr id="455"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456"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457"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1"/>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60" name="Google Shape;460;p4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461" name="Google Shape;461;p4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4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63" name="Google Shape;463;p41"/>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464" name="Google Shape;464;p41"/>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41"/>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66" name="Google Shape;466;p41"/>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41"/>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Equivalent Algebraic Expressions</a:t>
            </a:r>
            <a:endParaRPr/>
          </a:p>
        </p:txBody>
      </p:sp>
      <p:sp>
        <p:nvSpPr>
          <p:cNvPr id="468" name="Google Shape;468;p41"/>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41"/>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470" name="Google Shape;470;p41"/>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Equivalent expressions</a:t>
            </a:r>
            <a:r>
              <a:rPr b="0" i="0" lang="en-US" sz="1600" u="none" cap="none" strike="noStrike">
                <a:solidFill>
                  <a:srgbClr val="14223A"/>
                </a:solidFill>
                <a:latin typeface="Arial"/>
                <a:ea typeface="Arial"/>
                <a:cs typeface="Arial"/>
                <a:sym typeface="Arial"/>
              </a:rPr>
              <a:t xml:space="preserve"> produce the same value for any </a:t>
            </a:r>
            <a:r>
              <a:rPr b="1" i="0" lang="en-US" sz="1600" u="none" cap="none" strike="noStrike">
                <a:solidFill>
                  <a:srgbClr val="14223A"/>
                </a:solidFill>
                <a:latin typeface="Arial"/>
                <a:ea typeface="Arial"/>
                <a:cs typeface="Arial"/>
                <a:sym typeface="Arial"/>
              </a:rPr>
              <a:t xml:space="preserve">substitution</a:t>
            </a:r>
            <a:r>
              <a:rPr b="0" i="0" lang="en-US" sz="1600" u="none" cap="none" strike="noStrike">
                <a:solidFill>
                  <a:srgbClr val="14223A"/>
                </a:solidFill>
                <a:latin typeface="Arial"/>
                <a:ea typeface="Arial"/>
                <a:cs typeface="Arial"/>
                <a:sym typeface="Arial"/>
              </a:rPr>
              <a:t xml:space="preserve"> of the variable</a:t>
            </a:r>
            <a:endParaRPr/>
          </a:p>
        </p:txBody>
      </p:sp>
      <p:sp>
        <p:nvSpPr>
          <p:cNvPr id="471" name="Google Shape;471;p41"/>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41"/>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473" name="Google Shape;473;p41"/>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Simplify</a:t>
            </a:r>
            <a:r>
              <a:rPr b="0" i="0" lang="en-US" sz="1600" u="none" cap="none" strike="noStrike">
                <a:solidFill>
                  <a:srgbClr val="14223A"/>
                </a:solidFill>
                <a:latin typeface="Arial"/>
                <a:ea typeface="Arial"/>
                <a:cs typeface="Arial"/>
                <a:sym typeface="Arial"/>
              </a:rPr>
              <a:t xml:space="preserve"> </a:t>
            </a:r>
            <a:r>
              <a:rPr b="1" i="0" lang="en-US" sz="1600" u="none" cap="none" strike="noStrike">
                <a:solidFill>
                  <a:srgbClr val="14223A"/>
                </a:solidFill>
                <a:latin typeface="Arial"/>
                <a:ea typeface="Arial"/>
                <a:cs typeface="Arial"/>
                <a:sym typeface="Arial"/>
              </a:rPr>
              <a:t xml:space="preserve">expressions</a:t>
            </a:r>
            <a:r>
              <a:rPr b="0" i="0" lang="en-US" sz="1600" u="none" cap="none" strike="noStrike">
                <a:solidFill>
                  <a:srgbClr val="14223A"/>
                </a:solidFill>
                <a:latin typeface="Arial"/>
                <a:ea typeface="Arial"/>
                <a:cs typeface="Arial"/>
                <a:sym typeface="Arial"/>
              </a:rPr>
              <a:t xml:space="preserve"> using algebraic properties (Distributive, Commutative, Associative)</a:t>
            </a:r>
            <a:endParaRPr/>
          </a:p>
        </p:txBody>
      </p:sp>
      <p:sp>
        <p:nvSpPr>
          <p:cNvPr id="474" name="Google Shape;474;p41"/>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41"/>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476" name="Google Shape;476;p41"/>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Test equivalence by substituting two different test numbers</a:t>
            </a:r>
            <a:endParaRPr/>
          </a:p>
        </p:txBody>
      </p:sp>
      <p:sp>
        <p:nvSpPr>
          <p:cNvPr id="4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43</a:t>
            </a:r>
          </a:p>
        </p:txBody>
      </p:sp>
      <p:grpSp>
        <p:nvGrpSpPr>
          <p:cNvPr id="478" name="TEACH-1-student-move" descr="TEACH 1 · Facilitate clear, standards-based content learning"/>
          <p:cNvGrpSpPr/>
          <p:nvPr/>
        </p:nvGrpSpPr>
        <p:grpSpPr>
          <a:xfrm>
            <a:off x="502920" y="5111496"/>
            <a:ext cx="11186160" cy="402336"/>
            <a:chOff x="502920" y="5111496"/>
            <a:chExt cx="11186160" cy="402336"/>
          </a:xfrm>
        </p:grpSpPr>
        <p:sp>
          <p:nvSpPr>
            <p:cNvPr id="479"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480"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481"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Arial"/>
              <a:buNone/>
            </a:pPr>
            <a:r>
              <a:t/>
            </a:r>
            <a:endParaRPr b="1" i="0" sz="3600" u="none" cap="none" strike="noStrike">
              <a:solidFill>
                <a:schemeClr val="dk1"/>
              </a:solidFill>
              <a:latin typeface="Arial"/>
              <a:ea typeface="Arial"/>
              <a:cs typeface="Arial"/>
              <a:sym typeface="Arial"/>
            </a:endParaRPr>
          </a:p>
        </p:txBody>
      </p:sp>
      <p:sp>
        <p:nvSpPr>
          <p:cNvPr id="165" name="Google Shape;165;p28"/>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166" name="Google Shape;166;p28"/>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167" name="Google Shape;167;p28"/>
          <p:cNvSpPr txBox="1"/>
          <p:nvPr/>
        </p:nvSpPr>
        <p:spPr>
          <a:xfrm>
            <a:off x="1555228" y="26063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Identify Equivalent Algebraic Expressions</a:t>
            </a:r>
            <a:endParaRPr b="0" i="0" sz="1400" u="none" cap="none" strike="noStrike">
              <a:solidFill>
                <a:srgbClr val="000000"/>
              </a:solidFill>
              <a:latin typeface="Arial"/>
              <a:ea typeface="Arial"/>
              <a:cs typeface="Arial"/>
              <a:sym typeface="Arial"/>
            </a:endParaRPr>
          </a:p>
        </p:txBody>
      </p:sp>
      <p:sp>
        <p:nvSpPr>
          <p:cNvPr id="1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43</a:t>
            </a:r>
          </a:p>
        </p:txBody>
      </p:sp>
      <p:grpSp>
        <p:nvGrpSpPr>
          <p:cNvPr id="169" name="TEACH-2-student-move" descr="TEACH 2 · Use strategies and tasks to engage students in rigorous work"/>
          <p:cNvGrpSpPr/>
          <p:nvPr/>
        </p:nvGrpSpPr>
        <p:grpSpPr>
          <a:xfrm>
            <a:off x="502920" y="4712709"/>
            <a:ext cx="11186160" cy="731520"/>
            <a:chOff x="502920" y="4712709"/>
            <a:chExt cx="11186160" cy="731520"/>
          </a:xfrm>
        </p:grpSpPr>
        <p:sp>
          <p:nvSpPr>
            <p:cNvPr id="170" name="TEACH-move-card"/>
            <p:cNvSpPr/>
            <p:nvPr/>
          </p:nvSpPr>
          <p:spPr>
            <a:xfrm>
              <a:off x="502920" y="471270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171" name="TEACH-move-rule"/>
            <p:cNvSpPr/>
            <p:nvPr/>
          </p:nvSpPr>
          <p:spPr>
            <a:xfrm>
              <a:off x="548640" y="4851698"/>
              <a:ext cx="100584" cy="453542"/>
            </a:xfrm>
            <a:prstGeom prst="roundRect">
              <a:avLst>
                <a:gd name="adj" fmla="val 50000"/>
              </a:avLst>
            </a:prstGeom>
            <a:solidFill>
              <a:srgbClr val="01708C"/>
            </a:solidFill>
            <a:ln>
              <a:noFill/>
            </a:ln>
          </p:spPr>
          <p:txBody>
            <a:bodyPr/>
            <a:lstStyle/>
            <a:p>
              <a:endParaRPr/>
            </a:p>
          </p:txBody>
        </p:sp>
        <p:sp>
          <p:nvSpPr>
            <p:cNvPr id="172" name="TEACH-move-text"/>
            <p:cNvSpPr txBox="1"/>
            <p:nvPr/>
          </p:nvSpPr>
          <p:spPr>
            <a:xfrm>
              <a:off x="822960" y="471270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cxnSp>
        <p:nvCxnSpPr>
          <p:cNvPr id="172" name="Google Shape;172;p2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73" name="Google Shape;173;p29"/>
          <p:cNvSpPr txBox="1"/>
          <p:nvPr/>
        </p:nvSpPr>
        <p:spPr>
          <a:xfrm>
            <a:off x="505579"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On You Could</a:t>
            </a:r>
            <a:endParaRPr b="0" i="0" sz="1400" u="none" cap="none" strike="noStrike">
              <a:solidFill>
                <a:srgbClr val="000000"/>
              </a:solidFill>
              <a:latin typeface="Arial"/>
              <a:ea typeface="Arial"/>
              <a:cs typeface="Arial"/>
              <a:sym typeface="Arial"/>
            </a:endParaRPr>
          </a:p>
        </p:txBody>
      </p:sp>
      <p:sp>
        <p:nvSpPr>
          <p:cNvPr id="174" name="Google Shape;174;p29"/>
          <p:cNvSpPr txBox="1"/>
          <p:nvPr/>
        </p:nvSpPr>
        <p:spPr>
          <a:xfrm>
            <a:off x="507712" y="1349430"/>
            <a:ext cx="5726833" cy="1277392"/>
          </a:xfrm>
          <a:prstGeom prst="rect">
            <a:avLst/>
          </a:prstGeom>
          <a:blipFill rotWithShape="1">
            <a:blip r:embed="rId3">
              <a:alphaModFix/>
            </a:blip>
            <a:stretch>
              <a:fillRect b="-34286"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43</a:t>
            </a:r>
          </a:p>
        </p:txBody>
      </p:sp>
      <p:sp xmlns:p="http://schemas.openxmlformats.org/presentationml/2006/main" xmlns:a="http://schemas.openxmlformats.org/drawingml/2006/main">
        <p:nvSpPr>
          <p:cNvPr id="176"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5" name="Google Shape;265;p32"/>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3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267" name="Google Shape;267;p3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268" name="Google Shape;268;p3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9" name="Google Shape;269;p3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70" name="Google Shape;270;p32"/>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Identify Equivalent Algebraic Expressions</a:t>
            </a:r>
            <a:endParaRPr/>
          </a:p>
        </p:txBody>
      </p:sp>
      <p:sp>
        <p:nvSpPr>
          <p:cNvPr id="271" name="Google Shape;271;p32"/>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6.AT.7</a:t>
            </a:r>
            <a:endParaRPr/>
          </a:p>
        </p:txBody>
      </p:sp>
      <p:sp>
        <p:nvSpPr>
          <p:cNvPr id="272" name="Google Shape;272;p32"/>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 name="Google Shape;273;p32"/>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32"/>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275" name="Google Shape;275;p32"/>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276" name="Google Shape;276;p32"/>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show that two expressions are equivalent by simplifying and combining like terms.</a:t>
            </a:r>
            <a:endParaRPr/>
          </a:p>
        </p:txBody>
      </p:sp>
      <p:sp>
        <p:nvSpPr>
          <p:cNvPr id="277" name="Google Shape;277;p32"/>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8" name="Google Shape;278;p32"/>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9" name="Google Shape;279;p32"/>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280" name="Google Shape;280;p32"/>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281" name="Google Shape;281;p32"/>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work using the words equivalent, simplify, like terms, and combine.</a:t>
            </a:r>
            <a:endParaRPr/>
          </a:p>
        </p:txBody>
      </p:sp>
      <p:sp>
        <p:nvSpPr>
          <p:cNvPr id="2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43</a:t>
            </a:r>
          </a:p>
        </p:txBody>
      </p:sp>
      <p:grpSp>
        <p:nvGrpSpPr>
          <p:cNvPr id="283" name="TEACH-1-student-move" descr="TEACH 1 · Facilitate clear, standards-based content learning"/>
          <p:cNvGrpSpPr/>
          <p:nvPr/>
        </p:nvGrpSpPr>
        <p:grpSpPr>
          <a:xfrm>
            <a:off x="502920" y="1993392"/>
            <a:ext cx="11186160" cy="402336"/>
            <a:chOff x="502920" y="1993392"/>
            <a:chExt cx="11186160" cy="402336"/>
          </a:xfrm>
        </p:grpSpPr>
        <p:sp>
          <p:nvSpPr>
            <p:cNvPr id="28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28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28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6.6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properties and like terms to justify equivalence.</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Distinguish evidence from proof.</a:t>
            </a:r>
          </a:p>
        </p:txBody>
      </p:sp>
      <p:sp>
        <p:nvSpPr>
          <p:cNvPr id="11" name="Rounded Rectangle 10"/>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3" name="TEACH-1-student-move" descr="TEACH 1 · Facilitate clear, standards-based content learning"/>
          <p:cNvGrpSpPr/>
          <p:nvPr/>
        </p:nvGrpSpPr>
        <p:grpSpPr>
          <a:xfrm>
            <a:off x="502920" y="5824728"/>
            <a:ext cx="11186160" cy="402336"/>
            <a:chOff x="502920" y="5824728"/>
            <a:chExt cx="11186160" cy="402336"/>
          </a:xfrm>
        </p:grpSpPr>
        <p:sp>
          <p:nvSpPr>
            <p:cNvPr id="14"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5"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6"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22" name="Google Shape;322;p3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34"/>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3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25" name="Google Shape;325;p3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326" name="Google Shape;326;p3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7" name="Google Shape;327;p3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28" name="Google Shape;328;p34"/>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Equivalent Expressions</a:t>
            </a:r>
            <a:endParaRPr/>
          </a:p>
        </p:txBody>
      </p:sp>
      <p:sp>
        <p:nvSpPr>
          <p:cNvPr id="329" name="Google Shape;329;p34"/>
          <p:cNvSpPr/>
          <p:nvPr/>
        </p:nvSpPr>
        <p:spPr>
          <a:xfrm>
            <a:off x="658368" y="2718816"/>
            <a:ext cx="261518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34"/>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Expressions that look different but have the same value for every allowed variable value.</a:t>
            </a:r>
            <a:endParaRPr/>
          </a:p>
        </p:txBody>
      </p:sp>
      <p:sp>
        <p:nvSpPr>
          <p:cNvPr id="331" name="Google Shape;331;p34"/>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34"/>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34"/>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334" name="Google Shape;334;p34"/>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2(x + 3) and 2x + 6 are equivalent.</a:t>
            </a:r>
            <a:endParaRPr/>
          </a:p>
        </p:txBody>
      </p:sp>
      <p:sp>
        <p:nvSpPr>
          <p:cNvPr id="2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43</a:t>
            </a:r>
          </a:p>
        </p:txBody>
      </p:sp>
      <p:grpSp>
        <p:nvGrpSpPr>
          <p:cNvPr id="335" name="TEACH-5-student-move" descr="TEACH 5 · Facilitate student interactions and academic talk"/>
          <p:cNvGrpSpPr/>
          <p:nvPr/>
        </p:nvGrpSpPr>
        <p:grpSpPr>
          <a:xfrm>
            <a:off x="502920" y="5751576"/>
            <a:ext cx="11186160" cy="548640"/>
            <a:chOff x="502920" y="5751576"/>
            <a:chExt cx="11186160" cy="548640"/>
          </a:xfrm>
        </p:grpSpPr>
        <p:sp>
          <p:nvSpPr>
            <p:cNvPr id="336"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337"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338"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39" name="Google Shape;339;p3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3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3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342" name="Google Shape;342;p3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343" name="Google Shape;343;p3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3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45" name="Google Shape;345;p35"/>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Equivalent</a:t>
            </a:r>
            <a:endParaRPr/>
          </a:p>
        </p:txBody>
      </p:sp>
      <p:sp>
        <p:nvSpPr>
          <p:cNvPr id="346" name="Google Shape;346;p35"/>
          <p:cNvSpPr/>
          <p:nvPr/>
        </p:nvSpPr>
        <p:spPr>
          <a:xfrm>
            <a:off x="658368" y="2814828"/>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35"/>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Expressions that always have the same value.</a:t>
            </a:r>
            <a:endParaRPr/>
          </a:p>
        </p:txBody>
      </p:sp>
      <p:sp>
        <p:nvSpPr>
          <p:cNvPr id="348" name="Google Shape;348;p35"/>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35"/>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35"/>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51" name="Google Shape;351;p35"/>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2x + 4 and 2(x + 2): when x = 3, both = 10; when x = 7, both = 18 — always the same</a:t>
            </a:r>
            <a:endParaRPr/>
          </a:p>
        </p:txBody>
      </p:sp>
      <p:pic>
        <p:nvPicPr>
          <p:cNvPr descr="like-terms.png" id="352" name="Google Shape;352;p35"/>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43</a:t>
            </a:r>
          </a:p>
        </p:txBody>
      </p:sp>
      <p:sp xmlns:p="http://schemas.openxmlformats.org/presentationml/2006/main" xmlns:a="http://schemas.openxmlformats.org/drawingml/2006/main">
        <p:nvSpPr>
          <p:cNvPr id="35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“Equivalent”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7" name="Google Shape;357;p3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3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3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360" name="Google Shape;360;p3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361" name="Google Shape;361;p3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3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3" name="Google Shape;363;p36"/>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Simplify</a:t>
            </a:r>
            <a:endParaRPr/>
          </a:p>
        </p:txBody>
      </p:sp>
      <p:sp>
        <p:nvSpPr>
          <p:cNvPr id="364" name="Google Shape;364;p36"/>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36"/>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rewrite an expression in a shorter form that is still equal to the original.</a:t>
            </a:r>
            <a:endParaRPr/>
          </a:p>
        </p:txBody>
      </p:sp>
      <p:sp>
        <p:nvSpPr>
          <p:cNvPr id="366" name="Google Shape;366;p36"/>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36"/>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36"/>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69" name="Google Shape;369;p36"/>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3x + 2x + 5 simplifies to 5x + 5 — fewer terms, same value</a:t>
            </a:r>
            <a:endParaRPr/>
          </a:p>
        </p:txBody>
      </p:sp>
      <p:pic>
        <p:nvPicPr>
          <p:cNvPr descr="like-terms.png" id="370" name="Google Shape;370;p3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43</a:t>
            </a:r>
          </a:p>
        </p:txBody>
      </p:sp>
      <p:sp xmlns:p="http://schemas.openxmlformats.org/presentationml/2006/main" xmlns:a="http://schemas.openxmlformats.org/drawingml/2006/main">
        <p:nvSpPr>
          <p:cNvPr id="37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“Simplify”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75" name="Google Shape;375;p3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3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3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378" name="Google Shape;378;p3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379" name="Google Shape;379;p3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3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81" name="Google Shape;381;p3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Like Terms</a:t>
            </a:r>
            <a:endParaRPr/>
          </a:p>
        </p:txBody>
      </p:sp>
      <p:sp>
        <p:nvSpPr>
          <p:cNvPr id="382" name="Google Shape;382;p37"/>
          <p:cNvSpPr/>
          <p:nvPr/>
        </p:nvSpPr>
        <p:spPr>
          <a:xfrm>
            <a:off x="658368" y="263880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3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Terms with the same letter raised to the same power, like 2x and 5x.</a:t>
            </a:r>
            <a:endParaRPr/>
          </a:p>
        </p:txBody>
      </p:sp>
      <p:sp>
        <p:nvSpPr>
          <p:cNvPr id="384" name="Google Shape;384;p3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3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3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87" name="Google Shape;387;p3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3x and 7x are like terms (both x); 3x and 3y are NOT (x vs y); 3x and 3x² are NOT (x vs x²)</a:t>
            </a:r>
            <a:endParaRPr/>
          </a:p>
        </p:txBody>
      </p:sp>
      <p:pic>
        <p:nvPicPr>
          <p:cNvPr descr="like-terms.png" id="388" name="Google Shape;388;p3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43</a:t>
            </a:r>
          </a:p>
        </p:txBody>
      </p:sp>
      <p:sp xmlns:p="http://schemas.openxmlformats.org/presentationml/2006/main" xmlns:a="http://schemas.openxmlformats.org/drawingml/2006/main">
        <p:nvSpPr>
          <p:cNvPr id="38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“Like Terms”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3" name="Google Shape;393;p3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3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3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396" name="Google Shape;396;p3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397" name="Google Shape;397;p3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3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9" name="Google Shape;399;p3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Combine</a:t>
            </a:r>
            <a:endParaRPr/>
          </a:p>
        </p:txBody>
      </p:sp>
      <p:sp>
        <p:nvSpPr>
          <p:cNvPr id="400" name="Google Shape;400;p38"/>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3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add or subtract terms with the same letter into one.</a:t>
            </a:r>
            <a:endParaRPr/>
          </a:p>
        </p:txBody>
      </p:sp>
      <p:sp>
        <p:nvSpPr>
          <p:cNvPr id="402" name="Google Shape;402;p3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3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3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5" name="Google Shape;405;p3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4n + 3n = 7n — add the coefficients (4 + 3 = 7) and keep the variable (n)</a:t>
            </a:r>
            <a:endParaRPr/>
          </a:p>
        </p:txBody>
      </p:sp>
      <p:pic>
        <p:nvPicPr>
          <p:cNvPr descr="add.png" id="406" name="Google Shape;406;p3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43</a:t>
            </a:r>
          </a:p>
        </p:txBody>
      </p:sp>
      <p:sp xmlns:p="http://schemas.openxmlformats.org/presentationml/2006/main" xmlns:a="http://schemas.openxmlformats.org/drawingml/2006/main">
        <p:nvSpPr>
          <p:cNvPr id="40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“Combine”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1" name="Google Shape;411;p3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3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3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14" name="Google Shape;414;p3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415" name="Google Shape;415;p3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3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7" name="Google Shape;417;p39"/>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Coefficient</a:t>
            </a:r>
            <a:endParaRPr/>
          </a:p>
        </p:txBody>
      </p:sp>
      <p:sp>
        <p:nvSpPr>
          <p:cNvPr id="418" name="Google Shape;418;p39"/>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39"/>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number in front of a letter, like the 3 in 3x.</a:t>
            </a:r>
            <a:endParaRPr/>
          </a:p>
        </p:txBody>
      </p:sp>
      <p:sp>
        <p:nvSpPr>
          <p:cNvPr id="420" name="Google Shape;420;p39"/>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39"/>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39"/>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3" name="Google Shape;423;p39"/>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5x + 3, the coefficient of x is 5 — when x = 2, the 5x part equals 10</a:t>
            </a:r>
            <a:endParaRPr/>
          </a:p>
        </p:txBody>
      </p:sp>
      <p:pic>
        <p:nvPicPr>
          <p:cNvPr descr="coefficient.png" id="424" name="Google Shape;424;p3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43</a:t>
            </a:r>
          </a:p>
        </p:txBody>
      </p:sp>
      <p:sp xmlns:p="http://schemas.openxmlformats.org/presentationml/2006/main" xmlns:a="http://schemas.openxmlformats.org/drawingml/2006/main">
        <p:nvSpPr>
          <p:cNvPr id="42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“Coefficient” to explain the example.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3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8" name="Google Shape;288;p3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289" name="Google Shape;289;p3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290" name="Google Shape;290;p3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1" name="Google Shape;291;p3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92" name="Google Shape;292;p33"/>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293" name="Google Shape;293;p33"/>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294" name="Google Shape;294;p33"/>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5" name="Google Shape;295;p33"/>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33"/>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Equivalent Expressions</a:t>
            </a:r>
            <a:endParaRPr/>
          </a:p>
        </p:txBody>
      </p:sp>
      <p:sp>
        <p:nvSpPr>
          <p:cNvPr id="297" name="Google Shape;297;p33"/>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Expressions that look different but have the same value for every allowed variable value</a:t>
            </a:r>
            <a:endParaRPr/>
          </a:p>
        </p:txBody>
      </p:sp>
      <p:sp>
        <p:nvSpPr>
          <p:cNvPr id="298" name="Google Shape;298;p33"/>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33"/>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0" name="Google Shape;300;p33"/>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Equivalent</a:t>
            </a:r>
            <a:endParaRPr/>
          </a:p>
        </p:txBody>
      </p:sp>
      <p:sp>
        <p:nvSpPr>
          <p:cNvPr id="301" name="Google Shape;301;p33"/>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Expressions that always have the same value</a:t>
            </a:r>
            <a:endParaRPr/>
          </a:p>
        </p:txBody>
      </p:sp>
      <p:sp>
        <p:nvSpPr>
          <p:cNvPr id="302" name="Google Shape;302;p33"/>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33"/>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33"/>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Simplify</a:t>
            </a:r>
            <a:endParaRPr/>
          </a:p>
        </p:txBody>
      </p:sp>
      <p:sp>
        <p:nvSpPr>
          <p:cNvPr id="305" name="Google Shape;305;p33"/>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To rewrite an expression in a shorter form that is still equal to the original</a:t>
            </a:r>
            <a:endParaRPr/>
          </a:p>
        </p:txBody>
      </p:sp>
      <p:sp>
        <p:nvSpPr>
          <p:cNvPr id="306" name="Google Shape;306;p33"/>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33"/>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33"/>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Like Terms</a:t>
            </a:r>
            <a:endParaRPr/>
          </a:p>
        </p:txBody>
      </p:sp>
      <p:sp>
        <p:nvSpPr>
          <p:cNvPr id="309" name="Google Shape;309;p33"/>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Terms with the same letter raised to the same power, like 2x and 5x</a:t>
            </a:r>
            <a:endParaRPr/>
          </a:p>
        </p:txBody>
      </p:sp>
      <p:sp>
        <p:nvSpPr>
          <p:cNvPr id="310" name="Google Shape;310;p33"/>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33"/>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33"/>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Combine</a:t>
            </a:r>
            <a:endParaRPr/>
          </a:p>
        </p:txBody>
      </p:sp>
      <p:sp>
        <p:nvSpPr>
          <p:cNvPr id="313" name="Google Shape;313;p33"/>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To add or subtract terms with the same letter into one</a:t>
            </a:r>
            <a:endParaRPr/>
          </a:p>
        </p:txBody>
      </p:sp>
      <p:sp>
        <p:nvSpPr>
          <p:cNvPr id="314" name="Google Shape;314;p33"/>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33"/>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33"/>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Coefficient</a:t>
            </a:r>
            <a:endParaRPr/>
          </a:p>
        </p:txBody>
      </p:sp>
      <p:sp>
        <p:nvSpPr>
          <p:cNvPr id="317" name="Google Shape;317;p33"/>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number in front of a letter, like the 3 in 3x</a:t>
            </a:r>
            <a:endParaRPr/>
          </a:p>
        </p:txBody>
      </p:sp>
      <p:sp>
        <p:nvSpPr>
          <p:cNvPr id="3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43</a:t>
            </a:r>
          </a:p>
        </p:txBody>
      </p:sp>
      <p:grpSp>
        <p:nvGrpSpPr>
          <p:cNvPr id="319" name="TEACH-5-student-move" descr="TEACH 5 · Facilitate student interactions and academic talk"/>
          <p:cNvGrpSpPr/>
          <p:nvPr/>
        </p:nvGrpSpPr>
        <p:grpSpPr>
          <a:xfrm>
            <a:off x="502920" y="5852160"/>
            <a:ext cx="11186160" cy="457200"/>
            <a:chOff x="502920" y="5852160"/>
            <a:chExt cx="11186160" cy="457200"/>
          </a:xfrm>
        </p:grpSpPr>
        <p:sp>
          <p:nvSpPr>
            <p:cNvPr id="320"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21"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22"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cxnSp>
        <p:nvCxnSpPr>
          <p:cNvPr id="491" name="Google Shape;491;p4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492" name="Google Shape;492;p43"/>
          <p:cNvSpPr txBox="1"/>
          <p:nvPr/>
        </p:nvSpPr>
        <p:spPr>
          <a:xfrm>
            <a:off x="474055" y="936100"/>
            <a:ext cx="4227341"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sp>
        <p:nvSpPr>
          <p:cNvPr id="493" name="Google Shape;493;p43"/>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494" name="Google Shape;494;p43"/>
          <p:cNvPicPr preferRelativeResize="0"/>
          <p:nvPr/>
        </p:nvPicPr>
        <p:blipFill rotWithShape="1">
          <a:blip r:embed="rId3">
            <a:alphaModFix/>
          </a:blip>
          <a:srcRect b="0" l="0" r="0" t="0"/>
          <a:stretch/>
        </p:blipFill>
        <p:spPr>
          <a:xfrm>
            <a:off x="5250725" y="1358286"/>
            <a:ext cx="5338565" cy="3560822"/>
          </a:xfrm>
          <a:prstGeom prst="rect">
            <a:avLst/>
          </a:prstGeom>
          <a:noFill/>
          <a:ln>
            <a:noFill/>
          </a:ln>
        </p:spPr>
      </p:pic>
      <p:pic>
        <p:nvPicPr>
          <p:cNvPr id="495" name="Google Shape;495;p43"/>
          <p:cNvPicPr preferRelativeResize="0"/>
          <p:nvPr/>
        </p:nvPicPr>
        <p:blipFill rotWithShape="1">
          <a:blip r:embed="rId4">
            <a:alphaModFix/>
          </a:blip>
          <a:srcRect b="0" l="0" r="0" t="0"/>
          <a:stretch/>
        </p:blipFill>
        <p:spPr>
          <a:xfrm>
            <a:off x="484560" y="5083700"/>
            <a:ext cx="5054600" cy="838200"/>
          </a:xfrm>
          <a:prstGeom prst="rect">
            <a:avLst/>
          </a:prstGeom>
          <a:noFill/>
          <a:ln>
            <a:noFill/>
          </a:ln>
        </p:spPr>
      </p:pic>
      <p:sp>
        <p:nvSpPr>
          <p:cNvPr id="496" name="Google Shape;496;p43"/>
          <p:cNvSpPr txBox="1"/>
          <p:nvPr/>
        </p:nvSpPr>
        <p:spPr>
          <a:xfrm>
            <a:off x="3344577"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497" name="Google Shape;497;p43"/>
          <p:cNvSpPr/>
          <p:nvPr/>
        </p:nvSpPr>
        <p:spPr>
          <a:xfrm>
            <a:off x="697756" y="5816727"/>
            <a:ext cx="1074142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595959"/>
                </a:solidFill>
                <a:latin typeface="Arial"/>
                <a:ea typeface="Arial"/>
                <a:cs typeface="Arial"/>
                <a:sym typeface="Arial"/>
              </a:rPr>
              <a:t>How do you know when you are frustrated in math class?</a:t>
            </a:r>
            <a:endParaRPr b="0" i="0" sz="1400" u="none" cap="none" strike="noStrike">
              <a:solidFill>
                <a:srgbClr val="000000"/>
              </a:solidFill>
              <a:latin typeface="Arial"/>
              <a:ea typeface="Arial"/>
              <a:cs typeface="Arial"/>
              <a:sym typeface="Arial"/>
            </a:endParaRPr>
          </a:p>
        </p:txBody>
      </p:sp>
      <p:sp>
        <p:nvSpPr>
          <p:cNvPr id="49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43</a:t>
            </a:r>
          </a:p>
        </p:txBody>
      </p:sp>
      <p:sp xmlns:p="http://schemas.openxmlformats.org/presentationml/2006/main" xmlns:a="http://schemas.openxmlformats.org/drawingml/2006/main">
        <p:nvSpPr>
          <p:cNvPr id="499" name="TEACH-embedded-student-prompt" descr="Student thinking and response directions"/>
          <p:cNvSpPr txBox="1"/>
          <p:nvPr/>
        </p:nvSpPr>
        <p:spPr>
          <a:xfrm>
            <a:off x="594360" y="38221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cxnSp>
        <p:nvCxnSpPr>
          <p:cNvPr id="538" name="Google Shape;538;p4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539" name="Google Shape;539;p48"/>
          <p:cNvPicPr preferRelativeResize="0"/>
          <p:nvPr/>
        </p:nvPicPr>
        <p:blipFill rotWithShape="1">
          <a:blip r:embed="rId3">
            <a:alphaModFix/>
          </a:blip>
          <a:srcRect b="0" l="0" r="0" t="0"/>
          <a:stretch/>
        </p:blipFill>
        <p:spPr>
          <a:xfrm>
            <a:off x="7920756" y="1740066"/>
            <a:ext cx="3286125" cy="1762125"/>
          </a:xfrm>
          <a:prstGeom prst="rect">
            <a:avLst/>
          </a:prstGeom>
          <a:noFill/>
          <a:ln>
            <a:noFill/>
          </a:ln>
        </p:spPr>
      </p:pic>
      <p:sp>
        <p:nvSpPr>
          <p:cNvPr id="540" name="Google Shape;540;p48"/>
          <p:cNvSpPr txBox="1"/>
          <p:nvPr/>
        </p:nvSpPr>
        <p:spPr>
          <a:xfrm>
            <a:off x="505580" y="876185"/>
            <a:ext cx="6818246" cy="21954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We can generate equivalent expressions by simplifying. If the two expressions are equal once they are simplified, then they are equivalent expressions.</a:t>
            </a:r>
            <a:endParaRPr b="1" i="0" sz="2200" u="none" cap="none" strike="noStrike">
              <a:solidFill>
                <a:srgbClr val="262626"/>
              </a:solidFill>
              <a:latin typeface="Arial"/>
              <a:ea typeface="Arial"/>
              <a:cs typeface="Arial"/>
              <a:sym typeface="Arial"/>
            </a:endParaRPr>
          </a:p>
        </p:txBody>
      </p:sp>
      <p:sp>
        <p:nvSpPr>
          <p:cNvPr id="541" name="Google Shape;541;p48"/>
          <p:cNvSpPr txBox="1"/>
          <p:nvPr/>
        </p:nvSpPr>
        <p:spPr>
          <a:xfrm>
            <a:off x="505580" y="4009355"/>
            <a:ext cx="11001476" cy="9397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tools or strategies have you used to rewrite or simplify expressions in the past?</a:t>
            </a:r>
            <a:endParaRPr b="1" i="0" sz="2200" u="none" cap="none" strike="noStrike">
              <a:solidFill>
                <a:srgbClr val="262626"/>
              </a:solidFill>
              <a:latin typeface="Arial"/>
              <a:ea typeface="Arial"/>
              <a:cs typeface="Arial"/>
              <a:sym typeface="Arial"/>
            </a:endParaRPr>
          </a:p>
        </p:txBody>
      </p:sp>
      <p:sp>
        <p:nvSpPr>
          <p:cNvPr id="542" name="Google Shape;542;p48"/>
          <p:cNvSpPr txBox="1"/>
          <p:nvPr/>
        </p:nvSpPr>
        <p:spPr>
          <a:xfrm>
            <a:off x="505580" y="5188848"/>
            <a:ext cx="6818246" cy="101714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43" name="Google Shape;543;p48"/>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Are They the Same?</a:t>
            </a:r>
            <a:endParaRPr b="0" i="0" sz="1400" u="none" cap="none" strike="noStrike">
              <a:solidFill>
                <a:srgbClr val="000000"/>
              </a:solidFill>
              <a:latin typeface="Arial"/>
              <a:ea typeface="Arial"/>
              <a:cs typeface="Arial"/>
              <a:sym typeface="Arial"/>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43</a:t>
            </a:r>
          </a:p>
        </p:txBody>
      </p:sp>
      <p:grpSp>
        <p:nvGrpSpPr>
          <p:cNvPr id="545" name="TEACH-6-student-move" descr="TEACH 6 · Organize and implement routines to support a learning-focused classroom"/>
          <p:cNvGrpSpPr/>
          <p:nvPr/>
        </p:nvGrpSpPr>
        <p:grpSpPr>
          <a:xfrm>
            <a:off x="502920" y="5743177"/>
            <a:ext cx="11186160" cy="457200"/>
            <a:chOff x="502920" y="5743177"/>
            <a:chExt cx="11186160" cy="457200"/>
          </a:xfrm>
        </p:grpSpPr>
        <p:sp>
          <p:nvSpPr>
            <p:cNvPr id="546" name="TEACH-move-card"/>
            <p:cNvSpPr/>
            <p:nvPr/>
          </p:nvSpPr>
          <p:spPr>
            <a:xfrm>
              <a:off x="502920" y="5743177"/>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548640" y="5830045"/>
              <a:ext cx="100584" cy="28346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822960" y="5743177"/>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TRY IT BEFORE YOU’RE SURE  ·  </a:t>
              </a:r>
              <a:r>
                <a:rPr lang="en-US" sz="1400" dirty="0">
                  <a:solidFill>
                    <a:srgbClr val="13303A"/>
                  </a:solidFill>
                  <a:latin typeface="Arial"/>
                </a:rPr>
                <a:t>Start even if you are not sure. A revised answer counts as much as a first-try answer.</a:t>
              </a:r>
              <a:endParaRPr lang="en-US" sz="14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cxnSp>
        <p:nvCxnSpPr>
          <p:cNvPr id="613" name="Google Shape;613;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4" name="Google Shape;614;p56"/>
          <p:cNvSpPr txBox="1"/>
          <p:nvPr/>
        </p:nvSpPr>
        <p:spPr>
          <a:xfrm>
            <a:off x="484565" y="822917"/>
            <a:ext cx="6818246" cy="25524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To determine if these expressions are equivalent, we can simplify the expressions using properties of operations and draw a conclusion.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look at the first expression.</a:t>
            </a:r>
            <a:endParaRPr b="1" i="0" sz="2200" u="none" cap="none" strike="noStrike">
              <a:solidFill>
                <a:srgbClr val="262626"/>
              </a:solidFill>
              <a:latin typeface="Arial"/>
              <a:ea typeface="Arial"/>
              <a:cs typeface="Arial"/>
              <a:sym typeface="Arial"/>
            </a:endParaRPr>
          </a:p>
        </p:txBody>
      </p:sp>
      <p:pic>
        <p:nvPicPr>
          <p:cNvPr id="615" name="Google Shape;615;p56"/>
          <p:cNvPicPr preferRelativeResize="0"/>
          <p:nvPr/>
        </p:nvPicPr>
        <p:blipFill rotWithShape="1">
          <a:blip r:embed="rId3">
            <a:alphaModFix/>
          </a:blip>
          <a:srcRect b="0" l="0" r="0" t="0"/>
          <a:stretch/>
        </p:blipFill>
        <p:spPr>
          <a:xfrm>
            <a:off x="7920756" y="1740066"/>
            <a:ext cx="3286125" cy="1762125"/>
          </a:xfrm>
          <a:prstGeom prst="rect">
            <a:avLst/>
          </a:prstGeom>
          <a:noFill/>
          <a:ln>
            <a:noFill/>
          </a:ln>
        </p:spPr>
      </p:pic>
      <p:sp>
        <p:nvSpPr>
          <p:cNvPr id="616" name="Google Shape;616;p56"/>
          <p:cNvSpPr txBox="1"/>
          <p:nvPr/>
        </p:nvSpPr>
        <p:spPr>
          <a:xfrm>
            <a:off x="505580" y="3588542"/>
            <a:ext cx="6818246" cy="492443"/>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17" name="Google Shape;617;p56"/>
          <p:cNvSpPr txBox="1"/>
          <p:nvPr/>
        </p:nvSpPr>
        <p:spPr>
          <a:xfrm>
            <a:off x="484565" y="4294170"/>
            <a:ext cx="8325605" cy="103020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do you notice about the operations in the expression?</a:t>
            </a:r>
            <a:endParaRPr b="0" i="0" sz="1400" u="none" cap="none" strike="noStrike">
              <a:solidFill>
                <a:srgbClr val="000000"/>
              </a:solidFill>
              <a:latin typeface="Arial"/>
              <a:ea typeface="Arial"/>
              <a:cs typeface="Arial"/>
              <a:sym typeface="Arial"/>
            </a:endParaRPr>
          </a:p>
        </p:txBody>
      </p:sp>
      <p:sp>
        <p:nvSpPr>
          <p:cNvPr id="618" name="Google Shape;618;p56"/>
          <p:cNvSpPr txBox="1"/>
          <p:nvPr/>
        </p:nvSpPr>
        <p:spPr>
          <a:xfrm>
            <a:off x="484565" y="5240249"/>
            <a:ext cx="5960624" cy="8761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19" name="Google Shape;619;p5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Are They the Same?</a:t>
            </a:r>
            <a:endParaRPr b="0" i="0" sz="1400" u="none" cap="none" strike="noStrike">
              <a:solidFill>
                <a:srgbClr val="000000"/>
              </a:solidFill>
              <a:latin typeface="Arial"/>
              <a:ea typeface="Arial"/>
              <a:cs typeface="Arial"/>
              <a:sym typeface="Arial"/>
            </a:endParaRPr>
          </a:p>
        </p:txBody>
      </p:sp>
      <p:sp>
        <p:nvSpPr>
          <p:cNvPr id="62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43</a:t>
            </a:r>
          </a:p>
        </p:txBody>
      </p:sp>
      <p:grpSp>
        <p:nvGrpSpPr>
          <p:cNvPr id="621" name="TEACH-3-student-move" descr="TEACH 3 · Use intentional questioning to deepen learning"/>
          <p:cNvGrpSpPr/>
          <p:nvPr/>
        </p:nvGrpSpPr>
        <p:grpSpPr>
          <a:xfrm>
            <a:off x="502920" y="5794578"/>
            <a:ext cx="11186160" cy="457200"/>
            <a:chOff x="502920" y="5794578"/>
            <a:chExt cx="11186160" cy="457200"/>
          </a:xfrm>
        </p:grpSpPr>
        <p:sp>
          <p:nvSpPr>
            <p:cNvPr id="622" name="TEACH-move-card"/>
            <p:cNvSpPr/>
            <p:nvPr/>
          </p:nvSpPr>
          <p:spPr>
            <a:xfrm>
              <a:off x="502920" y="5794578"/>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623" name="TEACH-move-rule"/>
            <p:cNvSpPr/>
            <p:nvPr/>
          </p:nvSpPr>
          <p:spPr>
            <a:xfrm>
              <a:off x="548640" y="5881446"/>
              <a:ext cx="100584" cy="283464"/>
            </a:xfrm>
            <a:prstGeom prst="roundRect">
              <a:avLst>
                <a:gd name="adj" fmla="val 50000"/>
              </a:avLst>
            </a:prstGeom>
            <a:solidFill>
              <a:srgbClr val="01708C"/>
            </a:solidFill>
            <a:ln>
              <a:noFill/>
            </a:ln>
          </p:spPr>
          <p:txBody>
            <a:bodyPr/>
            <a:lstStyle/>
            <a:p>
              <a:endParaRPr/>
            </a:p>
          </p:txBody>
        </p:sp>
        <p:sp>
          <p:nvSpPr>
            <p:cNvPr id="624" name="TEACH-move-text"/>
            <p:cNvSpPr txBox="1"/>
            <p:nvPr/>
          </p:nvSpPr>
          <p:spPr>
            <a:xfrm>
              <a:off x="822960" y="5794578"/>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HOW DO YOU KNOW?  ·  </a:t>
              </a:r>
              <a:r>
                <a:rPr lang="en-US" sz="1400" dirty="0">
                  <a:solidFill>
                    <a:srgbClr val="13303A"/>
                  </a:solidFill>
                  <a:latin typeface="Arial"/>
                </a:rPr>
                <a:t>Ask your partner “How do you know?” Answer by pointing to your own work.</a:t>
              </a:r>
              <a:endParaRPr lang="en-US" sz="14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cxnSp>
        <p:nvCxnSpPr>
          <p:cNvPr id="624" name="Google Shape;624;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25" name="Google Shape;625;p57"/>
          <p:cNvPicPr preferRelativeResize="0"/>
          <p:nvPr/>
        </p:nvPicPr>
        <p:blipFill rotWithShape="1">
          <a:blip r:embed="rId3">
            <a:alphaModFix/>
          </a:blip>
          <a:srcRect b="0" l="0" r="0" t="0"/>
          <a:stretch/>
        </p:blipFill>
        <p:spPr>
          <a:xfrm>
            <a:off x="7920756" y="1740066"/>
            <a:ext cx="3286125" cy="1762125"/>
          </a:xfrm>
          <a:prstGeom prst="rect">
            <a:avLst/>
          </a:prstGeom>
          <a:noFill/>
          <a:ln>
            <a:noFill/>
          </a:ln>
        </p:spPr>
      </p:pic>
      <p:sp>
        <p:nvSpPr>
          <p:cNvPr id="626" name="Google Shape;626;p57"/>
          <p:cNvSpPr txBox="1"/>
          <p:nvPr/>
        </p:nvSpPr>
        <p:spPr>
          <a:xfrm>
            <a:off x="484565" y="5240249"/>
            <a:ext cx="5960624" cy="10984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There is multiplication and addition.</a:t>
            </a:r>
            <a:endParaRPr b="0" i="0" sz="1400" u="none" cap="none" strike="noStrike">
              <a:solidFill>
                <a:srgbClr val="000000"/>
              </a:solidFill>
              <a:latin typeface="Arial"/>
              <a:ea typeface="Arial"/>
              <a:cs typeface="Arial"/>
              <a:sym typeface="Arial"/>
            </a:endParaRPr>
          </a:p>
        </p:txBody>
      </p:sp>
      <p:sp>
        <p:nvSpPr>
          <p:cNvPr id="627" name="Google Shape;627;p57"/>
          <p:cNvSpPr txBox="1"/>
          <p:nvPr/>
        </p:nvSpPr>
        <p:spPr>
          <a:xfrm>
            <a:off x="484565" y="822917"/>
            <a:ext cx="6818246" cy="25524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To determine if these expressions are equivalent, we can simplify the expressions using properties of operations and draw a conclusion.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look at the first expression.</a:t>
            </a:r>
            <a:endParaRPr b="1" i="0" sz="2200" u="none" cap="none" strike="noStrike">
              <a:solidFill>
                <a:srgbClr val="262626"/>
              </a:solidFill>
              <a:latin typeface="Arial"/>
              <a:ea typeface="Arial"/>
              <a:cs typeface="Arial"/>
              <a:sym typeface="Arial"/>
            </a:endParaRPr>
          </a:p>
        </p:txBody>
      </p:sp>
      <p:sp>
        <p:nvSpPr>
          <p:cNvPr id="628" name="Google Shape;628;p57"/>
          <p:cNvSpPr txBox="1"/>
          <p:nvPr/>
        </p:nvSpPr>
        <p:spPr>
          <a:xfrm>
            <a:off x="505580" y="3588542"/>
            <a:ext cx="6818246" cy="492443"/>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29" name="Google Shape;629;p57"/>
          <p:cNvSpPr txBox="1"/>
          <p:nvPr/>
        </p:nvSpPr>
        <p:spPr>
          <a:xfrm>
            <a:off x="484565" y="4294170"/>
            <a:ext cx="8325605" cy="103020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do you notice about the operations in the expression?</a:t>
            </a:r>
            <a:endParaRPr b="0" i="0" sz="1400" u="none" cap="none" strike="noStrike">
              <a:solidFill>
                <a:srgbClr val="000000"/>
              </a:solidFill>
              <a:latin typeface="Arial"/>
              <a:ea typeface="Arial"/>
              <a:cs typeface="Arial"/>
              <a:sym typeface="Arial"/>
            </a:endParaRPr>
          </a:p>
        </p:txBody>
      </p:sp>
      <p:sp>
        <p:nvSpPr>
          <p:cNvPr id="630" name="Google Shape;630;p57"/>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Are They the Same?</a:t>
            </a:r>
            <a:endParaRPr b="0" i="0" sz="1400" u="none" cap="none" strike="noStrike">
              <a:solidFill>
                <a:srgbClr val="000000"/>
              </a:solidFill>
              <a:latin typeface="Arial"/>
              <a:ea typeface="Arial"/>
              <a:cs typeface="Arial"/>
              <a:sym typeface="Arial"/>
            </a:endParaRPr>
          </a:p>
        </p:txBody>
      </p:sp>
      <p:sp>
        <p:nvSpPr>
          <p:cNvPr id="6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43</a:t>
            </a:r>
          </a:p>
        </p:txBody>
      </p:sp>
      <p:sp>
        <p:nvSpPr>
          <p:cNvPr id="632" name="EWL-COVER-1"/>
          <p:cNvSpPr/>
          <p:nvPr/>
        </p:nvSpPr>
        <p:spPr>
          <a:xfrm>
            <a:off x="429701" y="5185385"/>
            <a:ext cx="6070352" cy="120813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632"/>
                                  </p:tgtEl>
                                  <p:attrNameLst>
                                    <p:attrName>style.visibility</p:attrName>
                                  </p:attrNameLst>
                                </p:cBhvr>
                                <p:to>
                                  <p:strVal val="hidden"/>
                                </p:to>
                              </p:set>
                            </p:childTnLst>
                          </p:cTn>
                        </p:par>
                      </p:childTnLst>
                    </p:cTn>
                  </p:par>
                </p:childTnLst>
              </p:cTn>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cxnSp>
        <p:nvCxnSpPr>
          <p:cNvPr id="645" name="Google Shape;645;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6" name="Google Shape;646;p59"/>
          <p:cNvSpPr txBox="1"/>
          <p:nvPr/>
        </p:nvSpPr>
        <p:spPr>
          <a:xfrm>
            <a:off x="505580" y="5235378"/>
            <a:ext cx="10580236" cy="10987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add 30 and 4 together because they are both constants.</a:t>
            </a:r>
            <a:endParaRPr b="0" i="0" sz="1400" u="none" cap="none" strike="noStrike">
              <a:solidFill>
                <a:srgbClr val="000000"/>
              </a:solidFill>
              <a:latin typeface="Arial"/>
              <a:ea typeface="Arial"/>
              <a:cs typeface="Arial"/>
              <a:sym typeface="Arial"/>
            </a:endParaRPr>
          </a:p>
        </p:txBody>
      </p:sp>
      <p:sp>
        <p:nvSpPr>
          <p:cNvPr id="647" name="Google Shape;647;p59"/>
          <p:cNvSpPr txBox="1"/>
          <p:nvPr/>
        </p:nvSpPr>
        <p:spPr>
          <a:xfrm>
            <a:off x="484565" y="936000"/>
            <a:ext cx="6617709" cy="1413753"/>
          </a:xfrm>
          <a:prstGeom prst="rect">
            <a:avLst/>
          </a:prstGeom>
          <a:blipFill rotWithShape="1">
            <a:blip r:embed="rId3">
              <a:alphaModFix/>
            </a:blip>
            <a:stretch>
              <a:fillRect b="-9523" l="-1842" r="0" t="-47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648" name="Google Shape;648;p59"/>
          <p:cNvPicPr preferRelativeResize="0"/>
          <p:nvPr/>
        </p:nvPicPr>
        <p:blipFill rotWithShape="1">
          <a:blip r:embed="rId4">
            <a:alphaModFix/>
          </a:blip>
          <a:srcRect b="0" l="0" r="0" t="0"/>
          <a:stretch/>
        </p:blipFill>
        <p:spPr>
          <a:xfrm>
            <a:off x="2898977" y="2506182"/>
            <a:ext cx="2100000" cy="1260000"/>
          </a:xfrm>
          <a:prstGeom prst="rect">
            <a:avLst/>
          </a:prstGeom>
          <a:noFill/>
          <a:ln>
            <a:noFill/>
          </a:ln>
        </p:spPr>
      </p:pic>
      <p:sp>
        <p:nvSpPr>
          <p:cNvPr id="649" name="Google Shape;649;p59"/>
          <p:cNvSpPr txBox="1"/>
          <p:nvPr/>
        </p:nvSpPr>
        <p:spPr>
          <a:xfrm>
            <a:off x="484565" y="4080081"/>
            <a:ext cx="9363039" cy="95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Are there any like terms in the expression? If so, how can you combine them?</a:t>
            </a:r>
            <a:endParaRPr b="1" i="0" sz="2200" u="none" cap="none" strike="noStrike">
              <a:solidFill>
                <a:srgbClr val="262626"/>
              </a:solidFill>
              <a:latin typeface="Arial"/>
              <a:ea typeface="Arial"/>
              <a:cs typeface="Arial"/>
              <a:sym typeface="Arial"/>
            </a:endParaRPr>
          </a:p>
        </p:txBody>
      </p:sp>
      <p:sp>
        <p:nvSpPr>
          <p:cNvPr id="650" name="Google Shape;650;p59"/>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Are They the Same?</a:t>
            </a:r>
            <a:endParaRPr b="0" i="0" sz="1400" u="none" cap="none" strike="noStrike">
              <a:solidFill>
                <a:srgbClr val="000000"/>
              </a:solidFill>
              <a:latin typeface="Arial"/>
              <a:ea typeface="Arial"/>
              <a:cs typeface="Arial"/>
              <a:sym typeface="Arial"/>
            </a:endParaRPr>
          </a:p>
        </p:txBody>
      </p:sp>
      <p:sp>
        <p:nvSpPr>
          <p:cNvPr id="6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43</a:t>
            </a:r>
          </a:p>
        </p:txBody>
      </p:sp>
      <p:sp>
        <p:nvSpPr>
          <p:cNvPr id="652" name="EWL-COVER-1"/>
          <p:cNvSpPr/>
          <p:nvPr/>
        </p:nvSpPr>
        <p:spPr>
          <a:xfrm>
            <a:off x="450716" y="5180514"/>
            <a:ext cx="10689964" cy="1208476"/>
          </a:xfrm>
          <a:prstGeom prst="rect">
            <a:avLst/>
          </a:prstGeom>
          <a:solidFill>
            <a:srgbClr val="FFFFFF"/>
          </a:solidFill>
          <a:ln>
            <a:noFill/>
          </a:ln>
        </p:spPr>
        <p:txBody>
          <a:bodyPr/>
          <a:lstStyle/>
          <a:p/>
        </p:txBody>
      </p:sp>
      <p:sp xmlns:p="http://schemas.openxmlformats.org/presentationml/2006/main" xmlns:a="http://schemas.openxmlformats.org/drawingml/2006/main">
        <p:nvSpPr>
          <p:cNvPr id="653"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cxnSp>
        <p:nvCxnSpPr>
          <p:cNvPr id="707" name="Google Shape;707;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graphicFrame>
        <p:nvGraphicFramePr>
          <p:cNvPr id="708" name="Google Shape;708;p65"/>
          <p:cNvGraphicFramePr/>
          <p:nvPr/>
        </p:nvGraphicFramePr>
        <p:xfrm>
          <a:off x="484565" y="1259627"/>
          <a:ext cx="3000000" cy="3000000"/>
        </p:xfrm>
        <a:graphic>
          <a:graphicData uri="http://schemas.openxmlformats.org/drawingml/2006/table">
            <a:tbl>
              <a:tblPr bandRow="1" firstRow="1">
                <a:noFill/>
                <a:tableStyleId>{27D74FCF-4040-4FE7-BE99-5D612572E347}</a:tableStyleId>
              </a:tblPr>
              <a:tblGrid>
                <a:gridCol w="4064000"/>
                <a:gridCol w="4064000"/>
              </a:tblGrid>
              <a:tr h="6642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152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152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1525">
                <a:tc>
                  <a:txBody>
                    <a:bodyPr/>
                    <a:lstStyle/>
                    <a:p>
                      <a:pPr indent="0" lvl="0" marL="0" marR="0" rtl="0" algn="l">
                        <a:lnSpc>
                          <a:spcPct val="150000"/>
                        </a:lnSpc>
                        <a:spcBef>
                          <a:spcPts val="0"/>
                        </a:spcBef>
                        <a:spcAft>
                          <a:spcPts val="0"/>
                        </a:spcAft>
                        <a:buClr>
                          <a:srgbClr val="000000"/>
                        </a:buClr>
                        <a:buSzPts val="2800"/>
                        <a:buFont typeface="Arial"/>
                        <a:buNone/>
                      </a:pPr>
                      <a:r>
                        <a:t/>
                      </a:r>
                      <a:endParaRPr b="0" sz="2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709" name="Google Shape;709;p65"/>
          <p:cNvSpPr txBox="1"/>
          <p:nvPr/>
        </p:nvSpPr>
        <p:spPr>
          <a:xfrm>
            <a:off x="484565" y="936000"/>
            <a:ext cx="7141186" cy="6200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compare the simplified expressions.</a:t>
            </a:r>
            <a:endParaRPr b="1" i="0" sz="2200" u="none" cap="none" strike="noStrike">
              <a:solidFill>
                <a:srgbClr val="262626"/>
              </a:solidFill>
              <a:latin typeface="Arial"/>
              <a:ea typeface="Arial"/>
              <a:cs typeface="Arial"/>
              <a:sym typeface="Arial"/>
            </a:endParaRPr>
          </a:p>
        </p:txBody>
      </p:sp>
      <p:sp>
        <p:nvSpPr>
          <p:cNvPr id="710" name="Google Shape;710;p65"/>
          <p:cNvSpPr txBox="1"/>
          <p:nvPr/>
        </p:nvSpPr>
        <p:spPr>
          <a:xfrm>
            <a:off x="484565" y="4209498"/>
            <a:ext cx="11174035" cy="6942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Are the original expressions equivalent? Explain how you know.</a:t>
            </a:r>
            <a:endParaRPr b="1" i="0" sz="2200" u="none" cap="none" strike="noStrike">
              <a:solidFill>
                <a:srgbClr val="262626"/>
              </a:solidFill>
              <a:latin typeface="Arial"/>
              <a:ea typeface="Arial"/>
              <a:cs typeface="Arial"/>
              <a:sym typeface="Arial"/>
            </a:endParaRPr>
          </a:p>
        </p:txBody>
      </p:sp>
      <p:sp>
        <p:nvSpPr>
          <p:cNvPr id="711" name="Google Shape;711;p65"/>
          <p:cNvSpPr txBox="1"/>
          <p:nvPr/>
        </p:nvSpPr>
        <p:spPr>
          <a:xfrm>
            <a:off x="568229" y="4837025"/>
            <a:ext cx="10414845" cy="1506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Yes, when the expressions are simplified, they are the same expression.</a:t>
            </a:r>
            <a:endParaRPr b="0" i="0" sz="1400" u="none" cap="none" strike="noStrike">
              <a:solidFill>
                <a:srgbClr val="000000"/>
              </a:solidFill>
              <a:latin typeface="Arial"/>
              <a:ea typeface="Arial"/>
              <a:cs typeface="Arial"/>
              <a:sym typeface="Arial"/>
            </a:endParaRPr>
          </a:p>
        </p:txBody>
      </p:sp>
      <p:sp>
        <p:nvSpPr>
          <p:cNvPr id="712" name="Google Shape;712;p65"/>
          <p:cNvSpPr txBox="1"/>
          <p:nvPr/>
        </p:nvSpPr>
        <p:spPr>
          <a:xfrm>
            <a:off x="486000"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Are They the Same?</a:t>
            </a:r>
            <a:endParaRPr b="0" i="0" sz="1400" u="none" cap="none" strike="noStrike">
              <a:solidFill>
                <a:srgbClr val="000000"/>
              </a:solidFill>
              <a:latin typeface="Arial"/>
              <a:ea typeface="Arial"/>
              <a:cs typeface="Arial"/>
              <a:sym typeface="Arial"/>
            </a:endParaRPr>
          </a:p>
        </p:txBody>
      </p:sp>
      <p:sp>
        <p:nvSpPr>
          <p:cNvPr id="7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43</a:t>
            </a:r>
          </a:p>
        </p:txBody>
      </p:sp>
      <p:sp>
        <p:nvSpPr>
          <p:cNvPr id="714" name="EWL-COVER-1"/>
          <p:cNvSpPr/>
          <p:nvPr/>
        </p:nvSpPr>
        <p:spPr>
          <a:xfrm>
            <a:off x="513365" y="4782161"/>
            <a:ext cx="10524573" cy="1616353"/>
          </a:xfrm>
          <a:prstGeom prst="rect">
            <a:avLst/>
          </a:prstGeom>
          <a:solidFill>
            <a:srgbClr val="FFFFFF"/>
          </a:solidFill>
          <a:ln>
            <a:noFill/>
          </a:ln>
        </p:spPr>
        <p:txBody>
          <a:bodyPr/>
          <a:lstStyle/>
          <a:p/>
        </p:txBody>
      </p:sp>
      <p:sp xmlns:p="http://schemas.openxmlformats.org/presentationml/2006/main" xmlns:a="http://schemas.openxmlformats.org/drawingml/2006/main">
        <p:nvSpPr>
          <p:cNvPr id="715" name="TEACH-embedded-student-prompt" descr="Student thinking and response directions"/>
          <p:cNvSpPr txBox="1"/>
          <p:nvPr/>
        </p:nvSpPr>
        <p:spPr>
          <a:xfrm>
            <a:off x="4099560" y="331012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cxnSp>
        <p:nvCxnSpPr>
          <p:cNvPr id="728" name="Google Shape;728;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29" name="Google Shape;729;p67"/>
          <p:cNvPicPr preferRelativeResize="0"/>
          <p:nvPr/>
        </p:nvPicPr>
        <p:blipFill rotWithShape="1">
          <a:blip r:embed="rId3">
            <a:alphaModFix/>
          </a:blip>
          <a:srcRect b="0" l="0" r="0" t="0"/>
          <a:stretch/>
        </p:blipFill>
        <p:spPr>
          <a:xfrm>
            <a:off x="7920756" y="1740066"/>
            <a:ext cx="3286125" cy="1762125"/>
          </a:xfrm>
          <a:prstGeom prst="rect">
            <a:avLst/>
          </a:prstGeom>
          <a:noFill/>
          <a:ln>
            <a:noFill/>
          </a:ln>
        </p:spPr>
      </p:pic>
      <p:pic>
        <p:nvPicPr>
          <p:cNvPr id="730" name="Google Shape;730;p67"/>
          <p:cNvPicPr preferRelativeResize="0"/>
          <p:nvPr/>
        </p:nvPicPr>
        <p:blipFill rotWithShape="1">
          <a:blip r:embed="rId4">
            <a:alphaModFix/>
          </a:blip>
          <a:srcRect b="0" l="0" r="0" t="0"/>
          <a:stretch/>
        </p:blipFill>
        <p:spPr>
          <a:xfrm>
            <a:off x="505580" y="4763209"/>
            <a:ext cx="5054600" cy="838200"/>
          </a:xfrm>
          <a:prstGeom prst="rect">
            <a:avLst/>
          </a:prstGeom>
          <a:noFill/>
          <a:ln>
            <a:noFill/>
          </a:ln>
        </p:spPr>
      </p:pic>
      <p:sp>
        <p:nvSpPr>
          <p:cNvPr id="731" name="Google Shape;731;p67"/>
          <p:cNvSpPr txBox="1"/>
          <p:nvPr/>
        </p:nvSpPr>
        <p:spPr>
          <a:xfrm>
            <a:off x="3365597" y="4920527"/>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Persevering</a:t>
            </a:r>
            <a:endParaRPr b="0" i="0" sz="1400" u="none" cap="none" strike="noStrike">
              <a:solidFill>
                <a:srgbClr val="000000"/>
              </a:solidFill>
              <a:latin typeface="Arial"/>
              <a:ea typeface="Arial"/>
              <a:cs typeface="Arial"/>
              <a:sym typeface="Arial"/>
            </a:endParaRPr>
          </a:p>
        </p:txBody>
      </p:sp>
      <p:sp>
        <p:nvSpPr>
          <p:cNvPr id="732" name="Google Shape;732;p67"/>
          <p:cNvSpPr/>
          <p:nvPr/>
        </p:nvSpPr>
        <p:spPr>
          <a:xfrm>
            <a:off x="718776" y="5578532"/>
            <a:ext cx="1074142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595959"/>
                </a:solidFill>
                <a:latin typeface="Arial"/>
                <a:ea typeface="Arial"/>
                <a:cs typeface="Arial"/>
                <a:sym typeface="Arial"/>
              </a:rPr>
              <a:t>How could you check your answer?</a:t>
            </a:r>
            <a:endParaRPr b="0" i="0" sz="1400" u="none" cap="none" strike="noStrike">
              <a:solidFill>
                <a:srgbClr val="000000"/>
              </a:solidFill>
              <a:latin typeface="Arial"/>
              <a:ea typeface="Arial"/>
              <a:cs typeface="Arial"/>
              <a:sym typeface="Arial"/>
            </a:endParaRPr>
          </a:p>
        </p:txBody>
      </p:sp>
      <p:sp>
        <p:nvSpPr>
          <p:cNvPr id="733" name="Google Shape;733;p67"/>
          <p:cNvSpPr txBox="1"/>
          <p:nvPr/>
        </p:nvSpPr>
        <p:spPr>
          <a:xfrm>
            <a:off x="485999" y="936000"/>
            <a:ext cx="7105425" cy="10255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Are the expressions shown equivalent?</a:t>
            </a:r>
            <a:endParaRPr b="0" i="0" sz="1400" u="none" cap="none" strike="noStrike">
              <a:solidFill>
                <a:srgbClr val="000000"/>
              </a:solidFill>
              <a:latin typeface="Arial"/>
              <a:ea typeface="Arial"/>
              <a:cs typeface="Arial"/>
              <a:sym typeface="Arial"/>
            </a:endParaRPr>
          </a:p>
        </p:txBody>
      </p:sp>
      <p:sp>
        <p:nvSpPr>
          <p:cNvPr id="734" name="Google Shape;734;p67"/>
          <p:cNvSpPr txBox="1"/>
          <p:nvPr/>
        </p:nvSpPr>
        <p:spPr>
          <a:xfrm>
            <a:off x="505580" y="2621128"/>
            <a:ext cx="6854627" cy="95410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When simplified, the two expressions are equivalent.</a:t>
            </a:r>
            <a:endParaRPr b="0" i="0" sz="1400" u="none" cap="none" strike="noStrike">
              <a:solidFill>
                <a:srgbClr val="000000"/>
              </a:solidFill>
              <a:latin typeface="Arial"/>
              <a:ea typeface="Arial"/>
              <a:cs typeface="Arial"/>
              <a:sym typeface="Arial"/>
            </a:endParaRPr>
          </a:p>
        </p:txBody>
      </p:sp>
      <p:sp>
        <p:nvSpPr>
          <p:cNvPr id="735" name="Google Shape;735;p67"/>
          <p:cNvSpPr txBox="1"/>
          <p:nvPr/>
        </p:nvSpPr>
        <p:spPr>
          <a:xfrm>
            <a:off x="486000"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Are They the Same?</a:t>
            </a:r>
            <a:endParaRPr b="0" i="0" sz="1400" u="none" cap="none" strike="noStrike">
              <a:solidFill>
                <a:srgbClr val="000000"/>
              </a:solidFill>
              <a:latin typeface="Arial"/>
              <a:ea typeface="Arial"/>
              <a:cs typeface="Arial"/>
              <a:sym typeface="Arial"/>
            </a:endParaRPr>
          </a:p>
        </p:txBody>
      </p:sp>
      <p:sp>
        <p:nvSpPr>
          <p:cNvPr id="7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43</a:t>
            </a:r>
          </a:p>
        </p:txBody>
      </p:sp>
      <p:sp xmlns:p="http://schemas.openxmlformats.org/presentationml/2006/main" xmlns:a="http://schemas.openxmlformats.org/drawingml/2006/main">
        <p:nvSpPr>
          <p:cNvPr id="737"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6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41" name="Google Shape;741;p68"/>
          <p:cNvSpPr txBox="1"/>
          <p:nvPr/>
        </p:nvSpPr>
        <p:spPr>
          <a:xfrm>
            <a:off x="495445" y="1256109"/>
            <a:ext cx="9562956" cy="5161316"/>
          </a:xfrm>
          <a:prstGeom prst="rect">
            <a:avLst/>
          </a:prstGeom>
          <a:blipFill rotWithShape="1">
            <a:blip r:embed="rId3">
              <a:alphaModFix/>
            </a:blip>
            <a:stretch>
              <a:fillRect b="0" l="-1147" r="0" t="-118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43</a:t>
            </a:r>
          </a:p>
        </p:txBody>
      </p:sp>
      <p:grpSp>
        <p:nvGrpSpPr>
          <p:cNvPr id="743" name="TEACH-2-student-move" descr="TEACH 2 · Use strategies and tasks to engage students in rigorous work"/>
          <p:cNvGrpSpPr/>
          <p:nvPr/>
        </p:nvGrpSpPr>
        <p:grpSpPr>
          <a:xfrm>
            <a:off x="502920" y="899493"/>
            <a:ext cx="11186160" cy="320040"/>
            <a:chOff x="502920" y="899493"/>
            <a:chExt cx="11186160" cy="320040"/>
          </a:xfrm>
        </p:grpSpPr>
        <p:sp>
          <p:nvSpPr>
            <p:cNvPr id="744" name="TEACH-move-card"/>
            <p:cNvSpPr/>
            <p:nvPr/>
          </p:nvSpPr>
          <p:spPr>
            <a:xfrm>
              <a:off x="502920" y="899493"/>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745" name="TEACH-move-rule"/>
            <p:cNvSpPr/>
            <p:nvPr/>
          </p:nvSpPr>
          <p:spPr>
            <a:xfrm>
              <a:off x="548640" y="960301"/>
              <a:ext cx="100584" cy="198424"/>
            </a:xfrm>
            <a:prstGeom prst="roundRect">
              <a:avLst>
                <a:gd name="adj" fmla="val 50000"/>
              </a:avLst>
            </a:prstGeom>
            <a:solidFill>
              <a:srgbClr val="01708C"/>
            </a:solidFill>
            <a:ln>
              <a:noFill/>
            </a:ln>
          </p:spPr>
          <p:txBody>
            <a:bodyPr/>
            <a:lstStyle/>
            <a:p>
              <a:endParaRPr/>
            </a:p>
          </p:txBody>
        </p:sp>
        <p:sp>
          <p:nvSpPr>
            <p:cNvPr id="746" name="TEACH-move-text"/>
            <p:cNvSpPr txBox="1"/>
            <p:nvPr/>
          </p:nvSpPr>
          <p:spPr>
            <a:xfrm>
              <a:off x="822960" y="899493"/>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6.6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Why should these expressions agree for every allowed value, rather than only the value you tried?</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29" name="Google Shape;529;p4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530" name="Google Shape;530;p47"/>
          <p:cNvPicPr preferRelativeResize="0"/>
          <p:nvPr/>
        </p:nvPicPr>
        <p:blipFill rotWithShape="1">
          <a:blip r:embed="rId2">
            <a:alphaModFix/>
          </a:blip>
          <a:srcRect b="0" l="0" r="0" t="0"/>
          <a:stretch/>
        </p:blipFill>
        <p:spPr>
          <a:xfrm>
            <a:off x="7920756" y="1740066"/>
            <a:ext cx="3286125" cy="1762125"/>
          </a:xfrm>
          <a:prstGeom prst="rect">
            <a:avLst/>
          </a:prstGeom>
          <a:noFill/>
          <a:ln>
            <a:noFill/>
          </a:ln>
        </p:spPr>
      </p:pic>
      <p:sp>
        <p:nvSpPr>
          <p:cNvPr id="531" name="Google Shape;531;p47"/>
          <p:cNvSpPr txBox="1"/>
          <p:nvPr/>
        </p:nvSpPr>
        <p:spPr>
          <a:xfrm>
            <a:off x="505580" y="4347735"/>
            <a:ext cx="10847364" cy="20779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They are both are algebraic expressions. The expressions contain some common numbers, operations, and variables, but are grouped or ordered differently.</a:t>
            </a:r>
            <a:endParaRPr b="0" i="0" sz="1400" u="none" cap="none" strike="noStrike">
              <a:solidFill>
                <a:srgbClr val="000000"/>
              </a:solidFill>
              <a:latin typeface="Arial"/>
              <a:ea typeface="Arial"/>
              <a:cs typeface="Arial"/>
              <a:sym typeface="Arial"/>
            </a:endParaRPr>
          </a:p>
        </p:txBody>
      </p:sp>
      <p:sp>
        <p:nvSpPr>
          <p:cNvPr id="532" name="Google Shape;532;p47"/>
          <p:cNvSpPr txBox="1"/>
          <p:nvPr/>
        </p:nvSpPr>
        <p:spPr>
          <a:xfrm>
            <a:off x="505580" y="1044859"/>
            <a:ext cx="6818246" cy="1762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Are the expressions shown equivalent?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do you notice about the expressions?</a:t>
            </a:r>
            <a:endParaRPr b="1" i="0" sz="2200" u="none" cap="none" strike="noStrike">
              <a:solidFill>
                <a:srgbClr val="262626"/>
              </a:solidFill>
              <a:latin typeface="Arial"/>
              <a:ea typeface="Arial"/>
              <a:cs typeface="Arial"/>
              <a:sym typeface="Arial"/>
            </a:endParaRPr>
          </a:p>
        </p:txBody>
      </p:sp>
      <p:sp>
        <p:nvSpPr>
          <p:cNvPr id="533" name="Google Shape;533;p47"/>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Are They the Same?</a:t>
            </a:r>
            <a:endParaRPr b="0" i="0" sz="1400" u="none" cap="none" strike="noStrike">
              <a:solidFill>
                <a:srgbClr val="000000"/>
              </a:solidFill>
              <a:latin typeface="Arial"/>
              <a:ea typeface="Arial"/>
              <a:cs typeface="Arial"/>
              <a:sym typeface="Arial"/>
            </a:endParaRPr>
          </a:p>
        </p:txBody>
      </p:sp>
      <p:sp>
        <p:nvSpPr>
          <p:cNvPr id="2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43</a:t>
            </a:r>
          </a:p>
        </p:txBody>
      </p:sp>
      <p:sp xmlns:p="http://schemas.openxmlformats.org/presentationml/2006/main" xmlns:a="http://schemas.openxmlformats.org/drawingml/2006/main">
        <p:nvSpPr>
          <p:cNvPr id="534" name="TEACH-embedded-student-prompt" descr="Student thinking and response directions"/>
          <p:cNvSpPr txBox="1"/>
          <p:nvPr/>
        </p:nvSpPr>
        <p:spPr>
          <a:xfrm>
            <a:off x="594360" y="37124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07" name="Google Shape;707;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graphicFrame>
        <p:nvGraphicFramePr>
          <p:cNvPr id="708" name="Google Shape;708;p65"/>
          <p:cNvGraphicFramePr/>
          <p:nvPr/>
        </p:nvGraphicFramePr>
        <p:xfrm>
          <a:off x="484565" y="1259627"/>
          <a:ext cx="3000000" cy="3000000"/>
        </p:xfrm>
        <a:graphic>
          <a:graphicData uri="http://schemas.openxmlformats.org/drawingml/2006/table">
            <a:tbl>
              <a:tblPr bandRow="1" firstRow="1">
                <a:noFill/>
                <a:tableStyleId>{A8BE1B10-21F5-4771-90D7-BCA33AD445F5}</a:tableStyleId>
              </a:tblPr>
              <a:tblGrid>
                <a:gridCol w="4064000"/>
                <a:gridCol w="4064000"/>
              </a:tblGrid>
              <a:tr h="6642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152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152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1525">
                <a:tc>
                  <a:txBody>
                    <a:bodyPr/>
                    <a:lstStyle/>
                    <a:p>
                      <a:pPr indent="0" lvl="0" marL="0" marR="0" rtl="0" algn="l">
                        <a:lnSpc>
                          <a:spcPct val="150000"/>
                        </a:lnSpc>
                        <a:spcBef>
                          <a:spcPts val="0"/>
                        </a:spcBef>
                        <a:spcAft>
                          <a:spcPts val="0"/>
                        </a:spcAft>
                        <a:buClr>
                          <a:srgbClr val="000000"/>
                        </a:buClr>
                        <a:buSzPts val="2800"/>
                        <a:buFont typeface="Arial"/>
                        <a:buNone/>
                      </a:pPr>
                      <a:r>
                        <a:t/>
                      </a:r>
                      <a:endParaRPr b="0" sz="2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709" name="Google Shape;709;p65"/>
          <p:cNvSpPr txBox="1"/>
          <p:nvPr/>
        </p:nvSpPr>
        <p:spPr>
          <a:xfrm>
            <a:off x="484565" y="936000"/>
            <a:ext cx="7141186" cy="6200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compare the simplified expressions.</a:t>
            </a:r>
            <a:endParaRPr b="1" i="0" sz="2200" u="none" cap="none" strike="noStrike">
              <a:solidFill>
                <a:srgbClr val="262626"/>
              </a:solidFill>
              <a:latin typeface="Arial"/>
              <a:ea typeface="Arial"/>
              <a:cs typeface="Arial"/>
              <a:sym typeface="Arial"/>
            </a:endParaRPr>
          </a:p>
        </p:txBody>
      </p:sp>
      <p:sp>
        <p:nvSpPr>
          <p:cNvPr id="710" name="Google Shape;710;p65"/>
          <p:cNvSpPr txBox="1"/>
          <p:nvPr/>
        </p:nvSpPr>
        <p:spPr>
          <a:xfrm>
            <a:off x="484565" y="4209498"/>
            <a:ext cx="11174035" cy="6942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Are the original expressions equivalent? Explain how you know.</a:t>
            </a:r>
            <a:endParaRPr b="1" i="0" sz="2200" u="none" cap="none" strike="noStrike">
              <a:solidFill>
                <a:srgbClr val="262626"/>
              </a:solidFill>
              <a:latin typeface="Arial"/>
              <a:ea typeface="Arial"/>
              <a:cs typeface="Arial"/>
              <a:sym typeface="Arial"/>
            </a:endParaRPr>
          </a:p>
        </p:txBody>
      </p:sp>
      <p:sp>
        <p:nvSpPr>
          <p:cNvPr id="711" name="Google Shape;711;p65"/>
          <p:cNvSpPr txBox="1"/>
          <p:nvPr/>
        </p:nvSpPr>
        <p:spPr>
          <a:xfrm>
            <a:off x="568229" y="4837025"/>
            <a:ext cx="10414845" cy="1506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Yes, when the expressions are simplified, they are the same expression.</a:t>
            </a:r>
            <a:endParaRPr b="0" i="0" sz="1400" u="none" cap="none" strike="noStrike">
              <a:solidFill>
                <a:srgbClr val="000000"/>
              </a:solidFill>
              <a:latin typeface="Arial"/>
              <a:ea typeface="Arial"/>
              <a:cs typeface="Arial"/>
              <a:sym typeface="Arial"/>
            </a:endParaRPr>
          </a:p>
        </p:txBody>
      </p:sp>
      <p:sp>
        <p:nvSpPr>
          <p:cNvPr id="712" name="Google Shape;712;p65"/>
          <p:cNvSpPr txBox="1"/>
          <p:nvPr/>
        </p:nvSpPr>
        <p:spPr>
          <a:xfrm>
            <a:off x="486000"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Are They the Same?</a:t>
            </a:r>
            <a:endParaRPr b="0" i="0" sz="1400" u="none" cap="none" strike="noStrike">
              <a:solidFill>
                <a:srgbClr val="000000"/>
              </a:solidFill>
              <a:latin typeface="Arial"/>
              <a:ea typeface="Arial"/>
              <a:cs typeface="Arial"/>
              <a:sym typeface="Arial"/>
            </a:endParaRPr>
          </a:p>
        </p:txBody>
      </p:sp>
      <p:sp>
        <p:nvSpPr>
          <p:cNvPr id="2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43</a:t>
            </a:r>
          </a:p>
        </p:txBody>
      </p:sp>
      <p:grpSp>
        <p:nvGrpSpPr>
          <p:cNvPr id="713" name="TEACH-5-student-move" descr="TEACH 5 · Facilitate student interactions and academic talk"/>
          <p:cNvGrpSpPr/>
          <p:nvPr/>
        </p:nvGrpSpPr>
        <p:grpSpPr>
          <a:xfrm>
            <a:off x="6187440" y="3532842"/>
            <a:ext cx="5501640" cy="594360"/>
            <a:chOff x="6187440" y="3532842"/>
            <a:chExt cx="5501640" cy="594360"/>
          </a:xfrm>
        </p:grpSpPr>
        <p:sp>
          <p:nvSpPr>
            <p:cNvPr id="714" name="TEACH-move-card"/>
            <p:cNvSpPr/>
            <p:nvPr/>
          </p:nvSpPr>
          <p:spPr>
            <a:xfrm>
              <a:off x="6187440" y="3532842"/>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15" name="TEACH-move-rule"/>
            <p:cNvSpPr/>
            <p:nvPr/>
          </p:nvSpPr>
          <p:spPr>
            <a:xfrm>
              <a:off x="6233160" y="3645770"/>
              <a:ext cx="100584" cy="368504"/>
            </a:xfrm>
            <a:prstGeom prst="roundRect">
              <a:avLst>
                <a:gd name="adj" fmla="val 50000"/>
              </a:avLst>
            </a:prstGeom>
            <a:solidFill>
              <a:srgbClr val="01708C"/>
            </a:solidFill>
            <a:ln>
              <a:noFill/>
            </a:ln>
          </p:spPr>
          <p:txBody>
            <a:bodyPr/>
            <a:lstStyle/>
            <a:p>
              <a:endParaRPr/>
            </a:p>
          </p:txBody>
        </p:sp>
        <p:sp>
          <p:nvSpPr>
            <p:cNvPr id="716" name="TEACH-move-text"/>
            <p:cNvSpPr txBox="1"/>
            <p:nvPr/>
          </p:nvSpPr>
          <p:spPr>
            <a:xfrm>
              <a:off x="6507480" y="3532842"/>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Expressions that have the same value for any variable input are:</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Opposites</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Equivalent expressions</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Inequalities</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Constants</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expression is equivalent to x + x + x?</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x³</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3x</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+ 3</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 + x</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property states that a + b = b + a?</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Associative</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Commutative Property</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Distributive</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Identity</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Test equivalence of 2(x + 3) and 2x + 6 using x = 4:</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the first equals 14</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Both equal 14</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They are different</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Both equal 20</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43</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6-6 · Identify Equivalent Algebraic Expressions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Equivalent Expressions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Two </a:t>
            </a:r>
            <a:r>
              <a:rPr b="1" i="0" lang="en-US" sz="1450" u="none" cap="none" strike="noStrike">
                <a:solidFill>
                  <a:srgbClr val="475569"/>
                </a:solidFill>
                <a:latin typeface="Arial"/>
                <a:ea typeface="Arial"/>
                <a:cs typeface="Arial"/>
                <a:sym typeface="Arial"/>
              </a:rPr>
              <a:t xml:space="preserve">expressions</a:t>
            </a:r>
            <a:r>
              <a:rPr b="0" i="0" lang="en-US" sz="1450" u="none" cap="none" strike="noStrike">
                <a:solidFill>
                  <a:srgbClr val="475569"/>
                </a:solidFill>
                <a:latin typeface="Arial"/>
                <a:ea typeface="Arial"/>
                <a:cs typeface="Arial"/>
                <a:sym typeface="Arial"/>
              </a:rPr>
              <a:t xml:space="preserve"> are </a:t>
            </a:r>
            <a:r>
              <a:rPr b="1" i="0" lang="en-US" sz="1450" u="none" cap="none" strike="noStrike">
                <a:solidFill>
                  <a:srgbClr val="475569"/>
                </a:solidFill>
                <a:latin typeface="Arial"/>
                <a:ea typeface="Arial"/>
                <a:cs typeface="Arial"/>
                <a:sym typeface="Arial"/>
              </a:rPr>
              <a:t xml:space="preserve">equivalent</a:t>
            </a:r>
            <a:r>
              <a:rPr b="0" i="0" lang="en-US" sz="1450" u="none" cap="none" strike="noStrike">
                <a:solidFill>
                  <a:srgbClr val="475569"/>
                </a:solidFill>
                <a:latin typeface="Arial"/>
                <a:ea typeface="Arial"/>
                <a:cs typeface="Arial"/>
                <a:sym typeface="Arial"/>
              </a:rPr>
              <a:t xml:space="preserve"> if they yield the exact same output for every substitution.</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Commutative &amp; Associative</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Order (</a:t>
            </a:r>
            <a:r>
              <a:rPr b="1" i="0" lang="en-US" sz="1450" u="none" cap="none" strike="noStrike">
                <a:solidFill>
                  <a:srgbClr val="475569"/>
                </a:solidFill>
                <a:latin typeface="Arial"/>
                <a:ea typeface="Arial"/>
                <a:cs typeface="Arial"/>
                <a:sym typeface="Arial"/>
              </a:rPr>
              <a:t xml:space="preserve">commutative</a:t>
            </a:r>
            <a:r>
              <a:rPr b="0" i="0" lang="en-US" sz="1450" u="none" cap="none" strike="noStrike">
                <a:solidFill>
                  <a:srgbClr val="475569"/>
                </a:solidFill>
                <a:latin typeface="Arial"/>
                <a:ea typeface="Arial"/>
                <a:cs typeface="Arial"/>
                <a:sym typeface="Arial"/>
              </a:rPr>
              <a:t xml:space="preserve">) and grouping (</a:t>
            </a:r>
            <a:r>
              <a:rPr b="1" i="0" lang="en-US" sz="1450" u="none" cap="none" strike="noStrike">
                <a:solidFill>
                  <a:srgbClr val="475569"/>
                </a:solidFill>
                <a:latin typeface="Arial"/>
                <a:ea typeface="Arial"/>
                <a:cs typeface="Arial"/>
                <a:sym typeface="Arial"/>
              </a:rPr>
              <a:t xml:space="preserve">associative</a:t>
            </a:r>
            <a:r>
              <a:rPr b="0" i="0" lang="en-US" sz="1450" u="none" cap="none" strike="noStrike">
                <a:solidFill>
                  <a:srgbClr val="475569"/>
                </a:solidFill>
                <a:latin typeface="Arial"/>
                <a:ea typeface="Arial"/>
                <a:cs typeface="Arial"/>
                <a:sym typeface="Arial"/>
              </a:rPr>
              <a:t xml:space="preserve">) can change for addition and multiplication.</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Testing Equivalence</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Substitute</a:t>
            </a:r>
            <a:r>
              <a:rPr b="0" i="0" lang="en-US" sz="1450" u="none" cap="none" strike="noStrike">
                <a:solidFill>
                  <a:srgbClr val="475569"/>
                </a:solidFill>
                <a:latin typeface="Arial"/>
                <a:ea typeface="Arial"/>
                <a:cs typeface="Arial"/>
                <a:sym typeface="Arial"/>
              </a:rPr>
              <a:t xml:space="preserve"> several test values into both expressions to verify that outputs remain equal.</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43</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69"/>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Arial"/>
              <a:buNone/>
            </a:pPr>
            <a:r>
              <a:t/>
            </a:r>
            <a:endParaRPr b="1" i="0" sz="3600" u="none" cap="none" strike="noStrike">
              <a:solidFill>
                <a:schemeClr val="dk1"/>
              </a:solidFill>
              <a:latin typeface="Arial"/>
              <a:ea typeface="Arial"/>
              <a:cs typeface="Arial"/>
              <a:sym typeface="Arial"/>
            </a:endParaRPr>
          </a:p>
        </p:txBody>
      </p:sp>
      <p:sp>
        <p:nvSpPr>
          <p:cNvPr id="747" name="Google Shape;747;p69"/>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48" name="Google Shape;748;p69"/>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49" name="Google Shape;749;p69"/>
          <p:cNvSpPr txBox="1"/>
          <p:nvPr/>
        </p:nvSpPr>
        <p:spPr>
          <a:xfrm>
            <a:off x="1555228" y="26063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Identify Equivalent Algebraic Expressions</a:t>
            </a:r>
            <a:endParaRPr b="0" i="0" sz="1400" u="none" cap="none" strike="noStrike">
              <a:solidFill>
                <a:srgbClr val="000000"/>
              </a:solidFill>
              <a:latin typeface="Arial"/>
              <a:ea typeface="Arial"/>
              <a:cs typeface="Arial"/>
              <a:sym typeface="Arial"/>
            </a:endParaRPr>
          </a:p>
        </p:txBody>
      </p:sp>
      <p:sp>
        <p:nvSpPr>
          <p:cNvPr id="7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43</a:t>
            </a:r>
          </a:p>
        </p:txBody>
      </p:sp>
      <p:grpSp>
        <p:nvGrpSpPr>
          <p:cNvPr id="751" name="TEACH-4-student-move" descr="TEACH 4 · Monitor progress and provide feedback"/>
          <p:cNvGrpSpPr/>
          <p:nvPr/>
        </p:nvGrpSpPr>
        <p:grpSpPr>
          <a:xfrm>
            <a:off x="502920" y="4712709"/>
            <a:ext cx="11186160" cy="731520"/>
            <a:chOff x="502920" y="4712709"/>
            <a:chExt cx="11186160" cy="731520"/>
          </a:xfrm>
        </p:grpSpPr>
        <p:sp>
          <p:nvSpPr>
            <p:cNvPr id="752" name="TEACH-move-card"/>
            <p:cNvSpPr/>
            <p:nvPr/>
          </p:nvSpPr>
          <p:spPr>
            <a:xfrm>
              <a:off x="502920" y="471270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53" name="TEACH-move-rule"/>
            <p:cNvSpPr/>
            <p:nvPr/>
          </p:nvSpPr>
          <p:spPr>
            <a:xfrm>
              <a:off x="548640" y="4851698"/>
              <a:ext cx="100584" cy="453542"/>
            </a:xfrm>
            <a:prstGeom prst="roundRect">
              <a:avLst>
                <a:gd name="adj" fmla="val 50000"/>
              </a:avLst>
            </a:prstGeom>
            <a:solidFill>
              <a:srgbClr val="01708C"/>
            </a:solidFill>
            <a:ln>
              <a:noFill/>
            </a:ln>
          </p:spPr>
          <p:txBody>
            <a:bodyPr/>
            <a:lstStyle/>
            <a:p>
              <a:endParaRPr/>
            </a:p>
          </p:txBody>
        </p:sp>
        <p:sp>
          <p:nvSpPr>
            <p:cNvPr id="754" name="TEACH-move-text"/>
            <p:cNvSpPr txBox="1"/>
            <p:nvPr/>
          </p:nvSpPr>
          <p:spPr>
            <a:xfrm>
              <a:off x="822960" y="471270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cxnSp>
        <p:nvCxnSpPr>
          <p:cNvPr id="783" name="Google Shape;783;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4" name="Google Shape;784;p73"/>
          <p:cNvSpPr txBox="1"/>
          <p:nvPr/>
        </p:nvSpPr>
        <p:spPr>
          <a:xfrm>
            <a:off x="486000" y="936000"/>
            <a:ext cx="6673617" cy="2247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Are the two expressions shown equivalent?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you notice about the two expressions?</a:t>
            </a:r>
            <a:endParaRPr b="0" i="0" sz="1400" u="none" cap="none" strike="noStrike">
              <a:solidFill>
                <a:srgbClr val="000000"/>
              </a:solidFill>
              <a:latin typeface="Arial"/>
              <a:ea typeface="Arial"/>
              <a:cs typeface="Arial"/>
              <a:sym typeface="Arial"/>
            </a:endParaRPr>
          </a:p>
        </p:txBody>
      </p:sp>
      <p:pic>
        <p:nvPicPr>
          <p:cNvPr id="785" name="Google Shape;785;p73"/>
          <p:cNvPicPr preferRelativeResize="0"/>
          <p:nvPr/>
        </p:nvPicPr>
        <p:blipFill rotWithShape="1">
          <a:blip r:embed="rId3">
            <a:alphaModFix/>
          </a:blip>
          <a:srcRect b="0" l="0" r="0" t="0"/>
          <a:stretch/>
        </p:blipFill>
        <p:spPr>
          <a:xfrm>
            <a:off x="7655764" y="1485967"/>
            <a:ext cx="3143250" cy="3571875"/>
          </a:xfrm>
          <a:prstGeom prst="rect">
            <a:avLst/>
          </a:prstGeom>
          <a:noFill/>
          <a:ln>
            <a:noFill/>
          </a:ln>
        </p:spPr>
      </p:pic>
      <p:sp>
        <p:nvSpPr>
          <p:cNvPr id="786" name="Google Shape;786;p73"/>
          <p:cNvSpPr txBox="1"/>
          <p:nvPr/>
        </p:nvSpPr>
        <p:spPr>
          <a:xfrm>
            <a:off x="519071" y="5173954"/>
            <a:ext cx="10464003" cy="11878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sp>
        <p:nvSpPr>
          <p:cNvPr id="787" name="Google Shape;787;p73"/>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Another Way</a:t>
            </a:r>
            <a:endParaRPr b="0" i="0" sz="1400" u="none" cap="none" strike="noStrike">
              <a:solidFill>
                <a:srgbClr val="000000"/>
              </a:solidFill>
              <a:latin typeface="Arial"/>
              <a:ea typeface="Arial"/>
              <a:cs typeface="Arial"/>
              <a:sym typeface="Arial"/>
            </a:endParaRPr>
          </a:p>
        </p:txBody>
      </p:sp>
      <p:sp>
        <p:nvSpPr>
          <p:cNvPr id="7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43</a:t>
            </a:r>
          </a:p>
        </p:txBody>
      </p:sp>
      <p:sp xmlns:p="http://schemas.openxmlformats.org/presentationml/2006/main" xmlns:a="http://schemas.openxmlformats.org/drawingml/2006/main">
        <p:nvSpPr>
          <p:cNvPr id="789" name="TEACH-embedded-student-prompt" descr="Student thinking and response directions"/>
          <p:cNvSpPr txBox="1"/>
          <p:nvPr/>
        </p:nvSpPr>
        <p:spPr>
          <a:xfrm>
            <a:off x="594360" y="42245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cxnSp>
        <p:nvCxnSpPr>
          <p:cNvPr id="810" name="Google Shape;810;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11" name="Google Shape;811;p76"/>
          <p:cNvPicPr preferRelativeResize="0"/>
          <p:nvPr/>
        </p:nvPicPr>
        <p:blipFill rotWithShape="1">
          <a:blip r:embed="rId3">
            <a:alphaModFix/>
          </a:blip>
          <a:srcRect b="0" l="0" r="0" t="0"/>
          <a:stretch/>
        </p:blipFill>
        <p:spPr>
          <a:xfrm>
            <a:off x="7655764" y="1485967"/>
            <a:ext cx="3143250" cy="3571875"/>
          </a:xfrm>
          <a:prstGeom prst="rect">
            <a:avLst/>
          </a:prstGeom>
          <a:noFill/>
          <a:ln>
            <a:noFill/>
          </a:ln>
        </p:spPr>
      </p:pic>
      <p:sp>
        <p:nvSpPr>
          <p:cNvPr id="812" name="Google Shape;812;p76"/>
          <p:cNvSpPr txBox="1"/>
          <p:nvPr/>
        </p:nvSpPr>
        <p:spPr>
          <a:xfrm>
            <a:off x="519071" y="5275744"/>
            <a:ext cx="8460542" cy="10861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the Substitution Property of Equality.</a:t>
            </a:r>
            <a:endParaRPr b="0" i="0" sz="1400" u="none" cap="none" strike="noStrike">
              <a:solidFill>
                <a:srgbClr val="000000"/>
              </a:solidFill>
              <a:latin typeface="Arial"/>
              <a:ea typeface="Arial"/>
              <a:cs typeface="Arial"/>
              <a:sym typeface="Arial"/>
            </a:endParaRPr>
          </a:p>
        </p:txBody>
      </p:sp>
      <p:sp>
        <p:nvSpPr>
          <p:cNvPr id="813" name="Google Shape;813;p76"/>
          <p:cNvSpPr txBox="1"/>
          <p:nvPr/>
        </p:nvSpPr>
        <p:spPr>
          <a:xfrm>
            <a:off x="486000" y="936000"/>
            <a:ext cx="6673617" cy="1496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evaluate the expressions for a given value of the variable?</a:t>
            </a:r>
            <a:endParaRPr b="0" i="0" sz="1400" u="none" cap="none" strike="noStrike">
              <a:solidFill>
                <a:srgbClr val="000000"/>
              </a:solidFill>
              <a:latin typeface="Arial"/>
              <a:ea typeface="Arial"/>
              <a:cs typeface="Arial"/>
              <a:sym typeface="Arial"/>
            </a:endParaRPr>
          </a:p>
        </p:txBody>
      </p:sp>
      <p:sp>
        <p:nvSpPr>
          <p:cNvPr id="814" name="Google Shape;814;p76"/>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Another Way</a:t>
            </a:r>
            <a:endParaRPr b="0" i="0" sz="1400" u="none" cap="none" strike="noStrike">
              <a:solidFill>
                <a:srgbClr val="000000"/>
              </a:solidFill>
              <a:latin typeface="Arial"/>
              <a:ea typeface="Arial"/>
              <a:cs typeface="Arial"/>
              <a:sym typeface="Arial"/>
            </a:endParaRPr>
          </a:p>
        </p:txBody>
      </p:sp>
      <p:sp>
        <p:nvSpPr>
          <p:cNvPr id="8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43</a:t>
            </a:r>
          </a:p>
        </p:txBody>
      </p:sp>
      <p:sp>
        <p:nvSpPr>
          <p:cNvPr id="816" name="EWL-COVER-1"/>
          <p:cNvSpPr/>
          <p:nvPr/>
        </p:nvSpPr>
        <p:spPr>
          <a:xfrm>
            <a:off x="464207" y="5220880"/>
            <a:ext cx="8570270" cy="1195832"/>
          </a:xfrm>
          <a:prstGeom prst="rect">
            <a:avLst/>
          </a:prstGeom>
          <a:solidFill>
            <a:srgbClr val="FFFFFF"/>
          </a:solidFill>
          <a:ln>
            <a:noFill/>
          </a:ln>
        </p:spPr>
        <p:txBody>
          <a:bodyPr/>
          <a:lstStyle/>
          <a:p/>
        </p:txBody>
      </p:sp>
      <p:sp xmlns:p="http://schemas.openxmlformats.org/presentationml/2006/main" xmlns:a="http://schemas.openxmlformats.org/drawingml/2006/main">
        <p:nvSpPr>
          <p:cNvPr id="817" name="TEACH-embedded-student-prompt" descr="Student thinking and response directions"/>
          <p:cNvSpPr txBox="1"/>
          <p:nvPr/>
        </p:nvSpPr>
        <p:spPr>
          <a:xfrm>
            <a:off x="594360" y="43159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cxnSp>
        <p:nvCxnSpPr>
          <p:cNvPr id="819" name="Google Shape;819;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0" name="Google Shape;820;p77"/>
          <p:cNvSpPr txBox="1"/>
          <p:nvPr/>
        </p:nvSpPr>
        <p:spPr>
          <a:xfrm>
            <a:off x="486000" y="936000"/>
            <a:ext cx="6673617" cy="24195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When the expressions are evaluated for a given value of the variable, what must be true about the values of the simplified expressions if they are equivalent?</a:t>
            </a:r>
            <a:endParaRPr b="0" i="0" sz="1400" u="none" cap="none" strike="noStrike">
              <a:solidFill>
                <a:srgbClr val="000000"/>
              </a:solidFill>
              <a:latin typeface="Arial"/>
              <a:ea typeface="Arial"/>
              <a:cs typeface="Arial"/>
              <a:sym typeface="Arial"/>
            </a:endParaRPr>
          </a:p>
        </p:txBody>
      </p:sp>
      <p:pic>
        <p:nvPicPr>
          <p:cNvPr id="821" name="Google Shape;821;p77"/>
          <p:cNvPicPr preferRelativeResize="0"/>
          <p:nvPr/>
        </p:nvPicPr>
        <p:blipFill rotWithShape="1">
          <a:blip r:embed="rId3">
            <a:alphaModFix/>
          </a:blip>
          <a:srcRect b="0" l="0" r="0" t="0"/>
          <a:stretch/>
        </p:blipFill>
        <p:spPr>
          <a:xfrm>
            <a:off x="7655764" y="1485967"/>
            <a:ext cx="3143250" cy="3571875"/>
          </a:xfrm>
          <a:prstGeom prst="rect">
            <a:avLst/>
          </a:prstGeom>
          <a:noFill/>
          <a:ln>
            <a:noFill/>
          </a:ln>
        </p:spPr>
      </p:pic>
      <p:sp>
        <p:nvSpPr>
          <p:cNvPr id="822" name="Google Shape;822;p77"/>
          <p:cNvSpPr txBox="1"/>
          <p:nvPr/>
        </p:nvSpPr>
        <p:spPr>
          <a:xfrm>
            <a:off x="519071" y="5245467"/>
            <a:ext cx="9898925" cy="11163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sp>
        <p:nvSpPr>
          <p:cNvPr id="823" name="Google Shape;823;p77"/>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Another Way</a:t>
            </a:r>
            <a:endParaRPr b="0" i="0" sz="1400" u="none" cap="none" strike="noStrike">
              <a:solidFill>
                <a:srgbClr val="000000"/>
              </a:solidFill>
              <a:latin typeface="Arial"/>
              <a:ea typeface="Arial"/>
              <a:cs typeface="Arial"/>
              <a:sym typeface="Arial"/>
            </a:endParaRPr>
          </a:p>
        </p:txBody>
      </p:sp>
      <p:sp>
        <p:nvSpPr>
          <p:cNvPr id="8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43</a:t>
            </a:r>
          </a:p>
        </p:txBody>
      </p:sp>
      <p:sp xmlns:p="http://schemas.openxmlformats.org/presentationml/2006/main" xmlns:a="http://schemas.openxmlformats.org/drawingml/2006/main">
        <p:nvSpPr>
          <p:cNvPr id="825" name="TEACH-embedded-student-prompt" descr="Student thinking and response directions"/>
          <p:cNvSpPr txBox="1"/>
          <p:nvPr/>
        </p:nvSpPr>
        <p:spPr>
          <a:xfrm>
            <a:off x="594360" y="43159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cxnSp>
        <p:nvCxnSpPr>
          <p:cNvPr id="828" name="Google Shape;828;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29" name="Google Shape;829;p78"/>
          <p:cNvPicPr preferRelativeResize="0"/>
          <p:nvPr/>
        </p:nvPicPr>
        <p:blipFill rotWithShape="1">
          <a:blip r:embed="rId3">
            <a:alphaModFix/>
          </a:blip>
          <a:srcRect b="0" l="0" r="0" t="0"/>
          <a:stretch/>
        </p:blipFill>
        <p:spPr>
          <a:xfrm>
            <a:off x="7655764" y="1485967"/>
            <a:ext cx="3143250" cy="3571875"/>
          </a:xfrm>
          <a:prstGeom prst="rect">
            <a:avLst/>
          </a:prstGeom>
          <a:noFill/>
          <a:ln>
            <a:noFill/>
          </a:ln>
        </p:spPr>
      </p:pic>
      <p:sp>
        <p:nvSpPr>
          <p:cNvPr id="830" name="Google Shape;830;p78"/>
          <p:cNvSpPr txBox="1"/>
          <p:nvPr/>
        </p:nvSpPr>
        <p:spPr>
          <a:xfrm>
            <a:off x="519071" y="5245467"/>
            <a:ext cx="9898925" cy="11163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values of the simplified expressions should be the same.</a:t>
            </a:r>
            <a:endParaRPr b="0" i="0" sz="1400" u="none" cap="none" strike="noStrike">
              <a:solidFill>
                <a:srgbClr val="000000"/>
              </a:solidFill>
              <a:latin typeface="Arial"/>
              <a:ea typeface="Arial"/>
              <a:cs typeface="Arial"/>
              <a:sym typeface="Arial"/>
            </a:endParaRPr>
          </a:p>
        </p:txBody>
      </p:sp>
      <p:sp>
        <p:nvSpPr>
          <p:cNvPr id="831" name="Google Shape;831;p78"/>
          <p:cNvSpPr txBox="1"/>
          <p:nvPr/>
        </p:nvSpPr>
        <p:spPr>
          <a:xfrm>
            <a:off x="486000" y="936000"/>
            <a:ext cx="6673617" cy="24195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When the expressions are evaluated for a given value of the variable, what must be true about the values of the simplified expressions if they are equivalent?</a:t>
            </a:r>
            <a:endParaRPr b="0" i="0" sz="1400" u="none" cap="none" strike="noStrike">
              <a:solidFill>
                <a:srgbClr val="000000"/>
              </a:solidFill>
              <a:latin typeface="Arial"/>
              <a:ea typeface="Arial"/>
              <a:cs typeface="Arial"/>
              <a:sym typeface="Arial"/>
            </a:endParaRPr>
          </a:p>
        </p:txBody>
      </p:sp>
      <p:sp>
        <p:nvSpPr>
          <p:cNvPr id="832" name="Google Shape;832;p78"/>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Another Way</a:t>
            </a:r>
            <a:endParaRPr b="0" i="0" sz="1400" u="none" cap="none" strike="noStrike">
              <a:solidFill>
                <a:srgbClr val="000000"/>
              </a:solidFill>
              <a:latin typeface="Arial"/>
              <a:ea typeface="Arial"/>
              <a:cs typeface="Arial"/>
              <a:sym typeface="Arial"/>
            </a:endParaRPr>
          </a:p>
        </p:txBody>
      </p:sp>
      <p:sp>
        <p:nvSpPr>
          <p:cNvPr id="8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43</a:t>
            </a:r>
          </a:p>
        </p:txBody>
      </p:sp>
      <p:sp>
        <p:nvSpPr>
          <p:cNvPr id="834" name="EWL-COVER-1"/>
          <p:cNvSpPr/>
          <p:nvPr/>
        </p:nvSpPr>
        <p:spPr>
          <a:xfrm>
            <a:off x="464207" y="5190603"/>
            <a:ext cx="10008653" cy="1226109"/>
          </a:xfrm>
          <a:prstGeom prst="rect">
            <a:avLst/>
          </a:prstGeom>
          <a:solidFill>
            <a:srgbClr val="FFFFFF"/>
          </a:solidFill>
          <a:ln>
            <a:noFill/>
          </a:ln>
        </p:spPr>
        <p:txBody>
          <a:bodyPr/>
          <a:lstStyle/>
          <a:p/>
        </p:txBody>
      </p:sp>
      <p:sp xmlns:p="http://schemas.openxmlformats.org/presentationml/2006/main" xmlns:a="http://schemas.openxmlformats.org/drawingml/2006/main">
        <p:nvSpPr>
          <p:cNvPr id="835" name="TEACH-embedded-student-prompt" descr="Student thinking and response directions"/>
          <p:cNvSpPr txBox="1"/>
          <p:nvPr/>
        </p:nvSpPr>
        <p:spPr>
          <a:xfrm>
            <a:off x="594360" y="42245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834"/>
                                  </p:tgtEl>
                                  <p:attrNameLst>
                                    <p:attrName>style.visibility</p:attrName>
                                  </p:attrNameLst>
                                </p:cBhvr>
                                <p:to>
                                  <p:strVal val="hidden"/>
                                </p:to>
                              </p:set>
                            </p:childTnLst>
                          </p:cTn>
                        </p:par>
                      </p:childTnLst>
                    </p:cTn>
                  </p:par>
                </p:childTnLst>
              </p:cTn>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cxnSp>
        <p:nvCxnSpPr>
          <p:cNvPr id="963" name="Google Shape;963;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64" name="Google Shape;964;p90"/>
          <p:cNvPicPr preferRelativeResize="0"/>
          <p:nvPr/>
        </p:nvPicPr>
        <p:blipFill rotWithShape="1">
          <a:blip r:embed="rId3">
            <a:alphaModFix/>
          </a:blip>
          <a:srcRect b="0" l="0" r="0" t="0"/>
          <a:stretch/>
        </p:blipFill>
        <p:spPr>
          <a:xfrm>
            <a:off x="7655764" y="1485967"/>
            <a:ext cx="3143250" cy="3571875"/>
          </a:xfrm>
          <a:prstGeom prst="rect">
            <a:avLst/>
          </a:prstGeom>
          <a:noFill/>
          <a:ln>
            <a:noFill/>
          </a:ln>
        </p:spPr>
      </p:pic>
      <p:sp>
        <p:nvSpPr>
          <p:cNvPr id="965" name="Google Shape;965;p90"/>
          <p:cNvSpPr txBox="1"/>
          <p:nvPr/>
        </p:nvSpPr>
        <p:spPr>
          <a:xfrm>
            <a:off x="519071" y="2516443"/>
            <a:ext cx="6854627" cy="523220"/>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The two expressions are not equivalent.</a:t>
            </a:r>
            <a:endParaRPr b="0" i="0" sz="1400" u="none" cap="none" strike="noStrike">
              <a:solidFill>
                <a:srgbClr val="000000"/>
              </a:solidFill>
              <a:latin typeface="Arial"/>
              <a:ea typeface="Arial"/>
              <a:cs typeface="Arial"/>
              <a:sym typeface="Arial"/>
            </a:endParaRPr>
          </a:p>
        </p:txBody>
      </p:sp>
      <p:pic>
        <p:nvPicPr>
          <p:cNvPr id="966" name="Google Shape;966;p90"/>
          <p:cNvPicPr preferRelativeResize="0"/>
          <p:nvPr/>
        </p:nvPicPr>
        <p:blipFill rotWithShape="1">
          <a:blip r:embed="rId4">
            <a:alphaModFix/>
          </a:blip>
          <a:srcRect b="0" l="0" r="0" t="0"/>
          <a:stretch/>
        </p:blipFill>
        <p:spPr>
          <a:xfrm>
            <a:off x="568229" y="4909857"/>
            <a:ext cx="5054600" cy="838200"/>
          </a:xfrm>
          <a:prstGeom prst="rect">
            <a:avLst/>
          </a:prstGeom>
          <a:noFill/>
          <a:ln>
            <a:noFill/>
          </a:ln>
        </p:spPr>
      </p:pic>
      <p:sp>
        <p:nvSpPr>
          <p:cNvPr id="967" name="Google Shape;967;p90"/>
          <p:cNvSpPr txBox="1"/>
          <p:nvPr/>
        </p:nvSpPr>
        <p:spPr>
          <a:xfrm>
            <a:off x="3428246" y="5067175"/>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Planning</a:t>
            </a:r>
            <a:endParaRPr b="0" i="0" sz="1400" u="none" cap="none" strike="noStrike">
              <a:solidFill>
                <a:srgbClr val="000000"/>
              </a:solidFill>
              <a:latin typeface="Arial"/>
              <a:ea typeface="Arial"/>
              <a:cs typeface="Arial"/>
              <a:sym typeface="Arial"/>
            </a:endParaRPr>
          </a:p>
        </p:txBody>
      </p:sp>
      <p:sp>
        <p:nvSpPr>
          <p:cNvPr id="968" name="Google Shape;968;p90"/>
          <p:cNvSpPr/>
          <p:nvPr/>
        </p:nvSpPr>
        <p:spPr>
          <a:xfrm>
            <a:off x="781425" y="5725180"/>
            <a:ext cx="1074142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595959"/>
                </a:solidFill>
                <a:latin typeface="Arial"/>
                <a:ea typeface="Arial"/>
                <a:cs typeface="Arial"/>
                <a:sym typeface="Arial"/>
              </a:rPr>
              <a:t>What is another approach to solving this problem?</a:t>
            </a:r>
            <a:endParaRPr b="0" i="0" sz="1400" u="none" cap="none" strike="noStrike">
              <a:solidFill>
                <a:srgbClr val="000000"/>
              </a:solidFill>
              <a:latin typeface="Arial"/>
              <a:ea typeface="Arial"/>
              <a:cs typeface="Arial"/>
              <a:sym typeface="Arial"/>
            </a:endParaRPr>
          </a:p>
        </p:txBody>
      </p:sp>
      <p:sp>
        <p:nvSpPr>
          <p:cNvPr id="969" name="Google Shape;969;p90"/>
          <p:cNvSpPr txBox="1"/>
          <p:nvPr/>
        </p:nvSpPr>
        <p:spPr>
          <a:xfrm>
            <a:off x="486000" y="936000"/>
            <a:ext cx="6673617" cy="9898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Are the two expressions shown equivalent?</a:t>
            </a:r>
            <a:endParaRPr b="0" i="0" sz="1400" u="none" cap="none" strike="noStrike">
              <a:solidFill>
                <a:srgbClr val="000000"/>
              </a:solidFill>
              <a:latin typeface="Arial"/>
              <a:ea typeface="Arial"/>
              <a:cs typeface="Arial"/>
              <a:sym typeface="Arial"/>
            </a:endParaRPr>
          </a:p>
        </p:txBody>
      </p:sp>
      <p:sp>
        <p:nvSpPr>
          <p:cNvPr id="970" name="Google Shape;970;p90"/>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Another Way</a:t>
            </a:r>
            <a:endParaRPr b="0" i="0" sz="1400" u="none" cap="none" strike="noStrike">
              <a:solidFill>
                <a:srgbClr val="000000"/>
              </a:solidFill>
              <a:latin typeface="Arial"/>
              <a:ea typeface="Arial"/>
              <a:cs typeface="Arial"/>
              <a:sym typeface="Arial"/>
            </a:endParaRPr>
          </a:p>
        </p:txBody>
      </p:sp>
      <p:sp>
        <p:nvSpPr>
          <p:cNvPr id="9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43</a:t>
            </a:r>
          </a:p>
        </p:txBody>
      </p:sp>
      <p:sp xmlns:p="http://schemas.openxmlformats.org/presentationml/2006/main" xmlns:a="http://schemas.openxmlformats.org/drawingml/2006/main">
        <p:nvSpPr>
          <p:cNvPr id="972" name="TEACH-embedded-student-prompt" descr="Student thinking and response directions"/>
          <p:cNvSpPr txBox="1"/>
          <p:nvPr/>
        </p:nvSpPr>
        <p:spPr>
          <a:xfrm>
            <a:off x="594360" y="39502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9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76" name="Google Shape;976;p91"/>
          <p:cNvSpPr txBox="1"/>
          <p:nvPr/>
        </p:nvSpPr>
        <p:spPr>
          <a:xfrm>
            <a:off x="495444" y="936000"/>
            <a:ext cx="8058621" cy="5161316"/>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Arial"/>
              <a:buAutoNum type="alphaLcPeriod"/>
              <a:defRPr/>
            </a:pPr>
            <a:r>
              <a:rPr b="0" i="0" lang="en-US" sz="2800" u="none" cap="none" strike="noStrike">
                <a:solidFill>
                  <a:srgbClr val="23282D"/>
                </a:solidFill>
                <a:latin typeface="Arial"/>
                <a:ea typeface="Arial"/>
                <a:cs typeface="Arial"/>
                <a:sym typeface="Arial"/>
              </a:rPr>
              <a:t>Try substituting 3 more values for the variable </a:t>
            </a:r>
            <a:r>
              <a:rPr b="0" i="1" lang="en-US" sz="2800" u="none" cap="none" strike="noStrike">
                <a:solidFill>
                  <a:srgbClr val="23282D"/>
                </a:solidFill>
                <a:latin typeface="Arial"/>
                <a:ea typeface="Arial"/>
                <a:cs typeface="Arial"/>
                <a:sym typeface="Arial"/>
              </a:rPr>
              <a:t>x</a:t>
            </a:r>
            <a:r>
              <a:rPr b="0" i="0" lang="en-US" sz="2800" u="none" cap="none" strike="noStrike">
                <a:solidFill>
                  <a:srgbClr val="23282D"/>
                </a:solidFill>
                <a:latin typeface="Arial"/>
                <a:ea typeface="Arial"/>
                <a:cs typeface="Arial"/>
                <a:sym typeface="Arial"/>
              </a:rPr>
              <a:t> in each expression. What do you notice?</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514350" lvl="0" marL="514350" marR="0" rtl="0" algn="l">
              <a:lnSpc>
                <a:spcPct val="100000"/>
              </a:lnSpc>
              <a:spcBef>
                <a:spcPts val="1800"/>
              </a:spcBef>
              <a:spcAft>
                <a:spcPts val="0"/>
              </a:spcAft>
              <a:buClr>
                <a:srgbClr val="262626"/>
              </a:buClr>
              <a:buSzPts val="2800"/>
              <a:buFont typeface="Arial"/>
              <a:buAutoNum type="alphaLcPeriod"/>
              <a:defRPr/>
            </a:pPr>
            <a:r>
              <a:rPr b="0" i="0" lang="en-US" sz="2800" u="none" cap="none" strike="noStrike">
                <a:solidFill>
                  <a:srgbClr val="23282D"/>
                </a:solidFill>
                <a:latin typeface="Arial"/>
                <a:ea typeface="Arial"/>
                <a:cs typeface="Arial"/>
                <a:sym typeface="Arial"/>
              </a:rPr>
              <a:t>Why is it not necessary to substitute more than one value into an expression if the first try is not equivalent?</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pic>
        <p:nvPicPr>
          <p:cNvPr id="977" name="Google Shape;977;p91"/>
          <p:cNvPicPr preferRelativeResize="0"/>
          <p:nvPr/>
        </p:nvPicPr>
        <p:blipFill rotWithShape="1">
          <a:blip r:embed="rId3">
            <a:alphaModFix/>
          </a:blip>
          <a:srcRect b="0" l="0" r="0" t="0"/>
          <a:stretch/>
        </p:blipFill>
        <p:spPr>
          <a:xfrm>
            <a:off x="8835635" y="1396219"/>
            <a:ext cx="3143250" cy="3571875"/>
          </a:xfrm>
          <a:prstGeom prst="rect">
            <a:avLst/>
          </a:prstGeom>
          <a:noFill/>
          <a:ln>
            <a:noFill/>
          </a:ln>
        </p:spPr>
      </p:pic>
      <p:sp>
        <p:nvSpPr>
          <p:cNvPr id="9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43</a:t>
            </a:r>
          </a:p>
        </p:txBody>
      </p:sp>
      <p:grpSp>
        <p:nvGrpSpPr>
          <p:cNvPr id="979" name="TEACH-3-student-move" descr="TEACH 3 · Use intentional questioning to deepen learning"/>
          <p:cNvGrpSpPr/>
          <p:nvPr/>
        </p:nvGrpSpPr>
        <p:grpSpPr>
          <a:xfrm>
            <a:off x="502920" y="5123342"/>
            <a:ext cx="11186160" cy="731520"/>
            <a:chOff x="502920" y="5123342"/>
            <a:chExt cx="11186160" cy="731520"/>
          </a:xfrm>
        </p:grpSpPr>
        <p:sp>
          <p:nvSpPr>
            <p:cNvPr id="980" name="TEACH-move-card"/>
            <p:cNvSpPr/>
            <p:nvPr/>
          </p:nvSpPr>
          <p:spPr>
            <a:xfrm>
              <a:off x="502920" y="512334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981" name="TEACH-move-rule"/>
            <p:cNvSpPr/>
            <p:nvPr/>
          </p:nvSpPr>
          <p:spPr>
            <a:xfrm>
              <a:off x="548640" y="5262331"/>
              <a:ext cx="100584" cy="453542"/>
            </a:xfrm>
            <a:prstGeom prst="roundRect">
              <a:avLst>
                <a:gd name="adj" fmla="val 50000"/>
              </a:avLst>
            </a:prstGeom>
            <a:solidFill>
              <a:srgbClr val="01708C"/>
            </a:solidFill>
            <a:ln>
              <a:noFill/>
            </a:ln>
          </p:spPr>
          <p:txBody>
            <a:bodyPr/>
            <a:lstStyle/>
            <a:p>
              <a:endParaRPr/>
            </a:p>
          </p:txBody>
        </p:sp>
        <p:sp>
          <p:nvSpPr>
            <p:cNvPr id="982" name="TEACH-move-text"/>
            <p:cNvSpPr txBox="1"/>
            <p:nvPr/>
          </p:nvSpPr>
          <p:spPr>
            <a:xfrm>
              <a:off x="822960" y="512334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ANOTHER PATHWAY  ·  </a:t>
              </a:r>
              <a:r>
                <a:rPr lang="en-US" sz="1800" dirty="0">
                  <a:solidFill>
                    <a:srgbClr val="13303A"/>
                  </a:solidFill>
                  <a:latin typeface="Arial"/>
                </a:rPr>
                <a:t>Did anyone get there a different way? Put both pathways side by side and compare.</a:t>
              </a:r>
              <a:endParaRPr lang="en-US" sz="1800"/>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6.6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claiming expressions are equivalent because one tested value matches.</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Mark like terms and name the property used for each rewrite.</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cxnSp>
        <p:nvCxnSpPr>
          <p:cNvPr id="982" name="Google Shape;982;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3" name="Google Shape;983;p92"/>
          <p:cNvSpPr txBox="1"/>
          <p:nvPr/>
        </p:nvSpPr>
        <p:spPr>
          <a:xfrm>
            <a:off x="484562" y="872111"/>
            <a:ext cx="8497206" cy="13948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You can use different strategies to determine whether two algebraic expressions are equivalent.</a:t>
            </a:r>
            <a:endParaRPr b="0" i="0" sz="1400" u="none" cap="none" strike="noStrike">
              <a:solidFill>
                <a:srgbClr val="000000"/>
              </a:solidFill>
              <a:latin typeface="Arial"/>
              <a:ea typeface="Arial"/>
              <a:cs typeface="Arial"/>
              <a:sym typeface="Arial"/>
            </a:endParaRPr>
          </a:p>
        </p:txBody>
      </p:sp>
      <p:sp>
        <p:nvSpPr>
          <p:cNvPr id="984" name="Google Shape;984;p92"/>
          <p:cNvSpPr txBox="1"/>
          <p:nvPr/>
        </p:nvSpPr>
        <p:spPr>
          <a:xfrm>
            <a:off x="484565" y="316034"/>
            <a:ext cx="6276453" cy="44309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endParaRPr b="1" i="0" sz="2800" u="none" cap="none" strike="noStrike">
              <a:solidFill>
                <a:srgbClr val="782DA0"/>
              </a:solidFill>
              <a:latin typeface="Arial"/>
              <a:ea typeface="Arial"/>
              <a:cs typeface="Arial"/>
              <a:sym typeface="Arial"/>
            </a:endParaRPr>
          </a:p>
        </p:txBody>
      </p:sp>
      <p:sp>
        <p:nvSpPr>
          <p:cNvPr id="985" name="Google Shape;985;p92"/>
          <p:cNvSpPr txBox="1"/>
          <p:nvPr/>
        </p:nvSpPr>
        <p:spPr>
          <a:xfrm>
            <a:off x="484562" y="3950457"/>
            <a:ext cx="2569190" cy="50033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86" name="Google Shape;986;p92"/>
          <p:cNvSpPr txBox="1"/>
          <p:nvPr/>
        </p:nvSpPr>
        <p:spPr>
          <a:xfrm>
            <a:off x="3211809" y="4559466"/>
            <a:ext cx="2191110" cy="5003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87" name="Google Shape;987;p92"/>
          <p:cNvSpPr txBox="1"/>
          <p:nvPr/>
        </p:nvSpPr>
        <p:spPr>
          <a:xfrm>
            <a:off x="484562" y="4565225"/>
            <a:ext cx="1837427" cy="500332"/>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88" name="Google Shape;988;p92"/>
          <p:cNvSpPr txBox="1"/>
          <p:nvPr/>
        </p:nvSpPr>
        <p:spPr>
          <a:xfrm>
            <a:off x="3290281" y="3944698"/>
            <a:ext cx="2569190" cy="500332"/>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89" name="Google Shape;989;p92"/>
          <p:cNvSpPr txBox="1"/>
          <p:nvPr/>
        </p:nvSpPr>
        <p:spPr>
          <a:xfrm>
            <a:off x="484562" y="5335110"/>
            <a:ext cx="6627437" cy="500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These expressions are equivalent.</a:t>
            </a:r>
            <a:endParaRPr b="0" i="0" sz="1400" u="none" cap="none" strike="noStrike">
              <a:solidFill>
                <a:srgbClr val="000000"/>
              </a:solidFill>
              <a:latin typeface="Arial"/>
              <a:ea typeface="Arial"/>
              <a:cs typeface="Arial"/>
              <a:sym typeface="Arial"/>
            </a:endParaRPr>
          </a:p>
        </p:txBody>
      </p:sp>
      <p:sp>
        <p:nvSpPr>
          <p:cNvPr id="990" name="Google Shape;990;p92"/>
          <p:cNvSpPr txBox="1"/>
          <p:nvPr/>
        </p:nvSpPr>
        <p:spPr>
          <a:xfrm>
            <a:off x="484562" y="1883924"/>
            <a:ext cx="5611438"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23282D"/>
                </a:solidFill>
                <a:latin typeface="Arial"/>
                <a:ea typeface="Arial"/>
                <a:cs typeface="Arial"/>
                <a:sym typeface="Arial"/>
              </a:rPr>
              <a:t>Simplify each expression using properties of operations. An expression is simplified when it has no like terms or parentheses.</a:t>
            </a:r>
            <a:endParaRPr b="0" i="0" sz="1400" u="none" cap="none" strike="noStrike">
              <a:solidFill>
                <a:srgbClr val="000000"/>
              </a:solidFill>
              <a:latin typeface="Arial"/>
              <a:ea typeface="Arial"/>
              <a:cs typeface="Arial"/>
              <a:sym typeface="Arial"/>
            </a:endParaRPr>
          </a:p>
        </p:txBody>
      </p:sp>
      <p:sp>
        <p:nvSpPr>
          <p:cNvPr id="991" name="Google Shape;991;p92"/>
          <p:cNvSpPr txBox="1"/>
          <p:nvPr/>
        </p:nvSpPr>
        <p:spPr>
          <a:xfrm>
            <a:off x="6761018" y="1883924"/>
            <a:ext cx="5066351" cy="500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Evaluate each expression for the same value.</a:t>
            </a:r>
            <a:endParaRPr b="0" i="0" sz="1400" u="none" cap="none" strike="noStrike">
              <a:solidFill>
                <a:srgbClr val="000000"/>
              </a:solidFill>
              <a:latin typeface="Arial"/>
              <a:ea typeface="Arial"/>
              <a:cs typeface="Arial"/>
              <a:sym typeface="Arial"/>
            </a:endParaRPr>
          </a:p>
        </p:txBody>
      </p:sp>
      <p:sp>
        <p:nvSpPr>
          <p:cNvPr id="992" name="Google Shape;992;p92"/>
          <p:cNvSpPr txBox="1"/>
          <p:nvPr/>
        </p:nvSpPr>
        <p:spPr>
          <a:xfrm>
            <a:off x="6761018" y="2846477"/>
            <a:ext cx="1675137" cy="916084"/>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3" name="Google Shape;993;p92"/>
          <p:cNvSpPr txBox="1"/>
          <p:nvPr/>
        </p:nvSpPr>
        <p:spPr>
          <a:xfrm>
            <a:off x="9565446" y="3674949"/>
            <a:ext cx="2420191" cy="916083"/>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4" name="Google Shape;994;p92"/>
          <p:cNvSpPr txBox="1"/>
          <p:nvPr/>
        </p:nvSpPr>
        <p:spPr>
          <a:xfrm>
            <a:off x="6761018" y="3674949"/>
            <a:ext cx="1837427" cy="885497"/>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5" name="Google Shape;995;p92"/>
          <p:cNvSpPr txBox="1"/>
          <p:nvPr/>
        </p:nvSpPr>
        <p:spPr>
          <a:xfrm>
            <a:off x="9553002" y="2846478"/>
            <a:ext cx="1961072" cy="916083"/>
          </a:xfrm>
          <a:prstGeom prst="rect">
            <a:avLst/>
          </a:pr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6" name="Google Shape;996;p92"/>
          <p:cNvSpPr txBox="1"/>
          <p:nvPr/>
        </p:nvSpPr>
        <p:spPr>
          <a:xfrm>
            <a:off x="9592713" y="4445030"/>
            <a:ext cx="1210574" cy="857655"/>
          </a:xfrm>
          <a:prstGeom prst="rect">
            <a:avLst/>
          </a:pr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7" name="Google Shape;997;p92"/>
          <p:cNvSpPr txBox="1"/>
          <p:nvPr/>
        </p:nvSpPr>
        <p:spPr>
          <a:xfrm>
            <a:off x="6761018" y="4443322"/>
            <a:ext cx="1124309" cy="885497"/>
          </a:xfrm>
          <a:prstGeom prst="rect">
            <a:avLst/>
          </a:pr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8" name="Google Shape;998;p92"/>
          <p:cNvSpPr txBox="1"/>
          <p:nvPr/>
        </p:nvSpPr>
        <p:spPr>
          <a:xfrm>
            <a:off x="6761018" y="5328819"/>
            <a:ext cx="5430982" cy="500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These expressions are not equivalent.</a:t>
            </a:r>
            <a:endParaRPr b="0" i="0" sz="1400" u="none" cap="none" strike="noStrike">
              <a:solidFill>
                <a:srgbClr val="000000"/>
              </a:solidFill>
              <a:latin typeface="Arial"/>
              <a:ea typeface="Arial"/>
              <a:cs typeface="Arial"/>
              <a:sym typeface="Arial"/>
            </a:endParaRPr>
          </a:p>
        </p:txBody>
      </p:sp>
      <p:sp>
        <p:nvSpPr>
          <p:cNvPr id="99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43</a:t>
            </a:r>
          </a:p>
        </p:txBody>
      </p:sp>
      <p:sp>
        <p:nvSpPr>
          <p:cNvPr id="100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grpSp>
        <p:nvGrpSpPr>
          <p:cNvPr id="1001" name="TEACH-2-student-move" descr="TEACH 2 · Use strategies and tasks to engage students in rigorous work"/>
          <p:cNvGrpSpPr/>
          <p:nvPr/>
        </p:nvGrpSpPr>
        <p:grpSpPr>
          <a:xfrm>
            <a:off x="502920" y="5872018"/>
            <a:ext cx="11186160" cy="402336"/>
            <a:chOff x="502920" y="5872018"/>
            <a:chExt cx="11186160" cy="402336"/>
          </a:xfrm>
        </p:grpSpPr>
        <p:sp>
          <p:nvSpPr>
            <p:cNvPr id="1002" name="TEACH-move-card"/>
            <p:cNvSpPr/>
            <p:nvPr/>
          </p:nvSpPr>
          <p:spPr>
            <a:xfrm>
              <a:off x="502920" y="587201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03" name="TEACH-move-rule"/>
            <p:cNvSpPr/>
            <p:nvPr/>
          </p:nvSpPr>
          <p:spPr>
            <a:xfrm>
              <a:off x="548640" y="5948462"/>
              <a:ext cx="100584" cy="249448"/>
            </a:xfrm>
            <a:prstGeom prst="roundRect">
              <a:avLst>
                <a:gd name="adj" fmla="val 50000"/>
              </a:avLst>
            </a:prstGeom>
            <a:solidFill>
              <a:srgbClr val="01708C"/>
            </a:solidFill>
            <a:ln>
              <a:noFill/>
            </a:ln>
          </p:spPr>
          <p:txBody>
            <a:bodyPr/>
            <a:lstStyle/>
            <a:p>
              <a:endParaRPr/>
            </a:p>
          </p:txBody>
        </p:sp>
        <p:sp>
          <p:nvSpPr>
            <p:cNvPr id="1004" name="TEACH-move-text"/>
            <p:cNvSpPr txBox="1"/>
            <p:nvPr/>
          </p:nvSpPr>
          <p:spPr>
            <a:xfrm>
              <a:off x="822960" y="587201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cxnSp>
        <p:nvCxnSpPr>
          <p:cNvPr id="1003" name="Google Shape;1003;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4" name="Google Shape;1004;p93"/>
          <p:cNvSpPr txBox="1"/>
          <p:nvPr/>
        </p:nvSpPr>
        <p:spPr>
          <a:xfrm>
            <a:off x="484565" y="316034"/>
            <a:ext cx="6276453" cy="44309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a:t>
            </a:r>
            <a:endParaRPr b="1" i="0" sz="1500" u="none" cap="none" strike="noStrike">
              <a:solidFill>
                <a:srgbClr val="782DA0"/>
              </a:solidFill>
              <a:latin typeface="Arial"/>
              <a:ea typeface="Arial"/>
              <a:cs typeface="Arial"/>
              <a:sym typeface="Arial"/>
            </a:endParaRPr>
          </a:p>
        </p:txBody>
      </p:sp>
      <p:sp>
        <p:nvSpPr>
          <p:cNvPr id="1005" name="Google Shape;1005;p93"/>
          <p:cNvSpPr txBox="1"/>
          <p:nvPr/>
        </p:nvSpPr>
        <p:spPr>
          <a:xfrm>
            <a:off x="484565" y="2170345"/>
            <a:ext cx="2471643" cy="629516"/>
          </a:xfrm>
          <a:prstGeom prst="rect">
            <a:avLst/>
          </a:prstGeom>
          <a:blipFill rotWithShape="1">
            <a:blip r:embed="rId3">
              <a:alphaModFix/>
            </a:blip>
            <a:stretch>
              <a:fillRect b="-171840" l="-4926" r="0" t="-970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6" name="Google Shape;1006;p93"/>
          <p:cNvSpPr txBox="1"/>
          <p:nvPr/>
        </p:nvSpPr>
        <p:spPr>
          <a:xfrm>
            <a:off x="484565" y="1098115"/>
            <a:ext cx="7555258" cy="500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Properties of Operations</a:t>
            </a:r>
            <a:endParaRPr b="0" i="0" sz="1400" u="none" cap="none" strike="noStrike">
              <a:solidFill>
                <a:srgbClr val="000000"/>
              </a:solidFill>
              <a:latin typeface="Arial"/>
              <a:ea typeface="Arial"/>
              <a:cs typeface="Arial"/>
              <a:sym typeface="Arial"/>
            </a:endParaRPr>
          </a:p>
        </p:txBody>
      </p:sp>
      <p:sp>
        <p:nvSpPr>
          <p:cNvPr id="1007" name="Google Shape;1007;p93"/>
          <p:cNvSpPr txBox="1"/>
          <p:nvPr/>
        </p:nvSpPr>
        <p:spPr>
          <a:xfrm>
            <a:off x="3666175" y="2170345"/>
            <a:ext cx="4310612" cy="629516"/>
          </a:xfrm>
          <a:prstGeom prst="rect">
            <a:avLst/>
          </a:prstGeom>
          <a:blipFill rotWithShape="1">
            <a:blip r:embed="rId4">
              <a:alphaModFix/>
            </a:blip>
            <a:stretch>
              <a:fillRect b="-181549" l="-2825" r="0" t="-970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8" name="Google Shape;1008;p93"/>
          <p:cNvSpPr txBox="1"/>
          <p:nvPr/>
        </p:nvSpPr>
        <p:spPr>
          <a:xfrm>
            <a:off x="8311917" y="2170345"/>
            <a:ext cx="3615486" cy="629516"/>
          </a:xfrm>
          <a:prstGeom prst="rect">
            <a:avLst/>
          </a:prstGeom>
          <a:blipFill rotWithShape="1">
            <a:blip r:embed="rId5">
              <a:alphaModFix/>
            </a:blip>
            <a:stretch>
              <a:fillRect b="-181549" l="-3541" r="0" t="-970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43</a:t>
            </a:r>
          </a:p>
        </p:txBody>
      </p:sp>
      <p:sp>
        <p:nvSpPr>
          <p:cNvPr id="101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  SAY IT IN YOUR OWN WORDS</a:t>
            </a:r>
          </a:p>
        </p:txBody>
      </p:sp>
      <p:sp xmlns:p="http://schemas.openxmlformats.org/presentationml/2006/main" xmlns:a="http://schemas.openxmlformats.org/drawingml/2006/main">
        <p:nvSpPr>
          <p:cNvPr id="1011"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cxnSp>
        <p:nvCxnSpPr>
          <p:cNvPr id="1013" name="Google Shape;1013;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14" name="Google Shape;1014;p94"/>
          <p:cNvSpPr txBox="1"/>
          <p:nvPr/>
        </p:nvSpPr>
        <p:spPr>
          <a:xfrm>
            <a:off x="484564" y="927528"/>
            <a:ext cx="6719800" cy="52144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Anwar’s quiz bowl team must correctly answer the question shown to earn ten bonus points in their match.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How should Anwar’s team respond if they want to earn the ten bonus points?</a:t>
            </a:r>
            <a:endParaRPr b="0" i="0" sz="1400" u="none" cap="none" strike="noStrike">
              <a:solidFill>
                <a:srgbClr val="000000"/>
              </a:solidFill>
              <a:latin typeface="Arial"/>
              <a:ea typeface="Arial"/>
              <a:cs typeface="Arial"/>
              <a:sym typeface="Arial"/>
            </a:endParaRPr>
          </a:p>
        </p:txBody>
      </p:sp>
      <p:sp>
        <p:nvSpPr>
          <p:cNvPr id="1015" name="Google Shape;1015;p9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 </a:t>
            </a:r>
            <a:r>
              <a:rPr b="1" i="0" lang="en-US" sz="2800" u="none" cap="none" strike="noStrike">
                <a:solidFill>
                  <a:srgbClr val="782DA0"/>
                </a:solidFill>
                <a:latin typeface="Arial"/>
                <a:ea typeface="Arial"/>
                <a:cs typeface="Arial"/>
                <a:sym typeface="Arial"/>
              </a:rPr>
              <a:t>Bonus Points</a:t>
            </a:r>
            <a:endParaRPr b="0" i="0" sz="1400" u="none" cap="none" strike="noStrike">
              <a:solidFill>
                <a:srgbClr val="000000"/>
              </a:solidFill>
              <a:latin typeface="Arial"/>
              <a:ea typeface="Arial"/>
              <a:cs typeface="Arial"/>
              <a:sym typeface="Arial"/>
            </a:endParaRPr>
          </a:p>
        </p:txBody>
      </p:sp>
      <p:pic>
        <p:nvPicPr>
          <p:cNvPr id="1016" name="Google Shape;1016;p94"/>
          <p:cNvPicPr preferRelativeResize="0"/>
          <p:nvPr/>
        </p:nvPicPr>
        <p:blipFill rotWithShape="1">
          <a:blip r:embed="rId3">
            <a:alphaModFix/>
          </a:blip>
          <a:srcRect b="0" l="0" r="0" t="0"/>
          <a:stretch/>
        </p:blipFill>
        <p:spPr>
          <a:xfrm>
            <a:off x="7204364" y="1636683"/>
            <a:ext cx="4219885" cy="2980294"/>
          </a:xfrm>
          <a:prstGeom prst="rect">
            <a:avLst/>
          </a:prstGeom>
          <a:noFill/>
          <a:ln>
            <a:noFill/>
          </a:ln>
        </p:spPr>
      </p:pic>
      <p:sp>
        <p:nvSpPr>
          <p:cNvPr id="10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43</a:t>
            </a:r>
          </a:p>
        </p:txBody>
      </p:sp>
      <p:sp>
        <p:nvSpPr>
          <p:cNvPr id="101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  PLAN IT • SOLVE IT • PROVE IT</a:t>
            </a:r>
          </a:p>
        </p:txBody>
      </p:sp>
      <p:sp xmlns:p="http://schemas.openxmlformats.org/presentationml/2006/main" xmlns:a="http://schemas.openxmlformats.org/drawingml/2006/main">
        <p:nvSpPr>
          <p:cNvPr id="1019"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cxnSp>
        <p:nvCxnSpPr>
          <p:cNvPr id="1021" name="Google Shape;1021;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22" name="Google Shape;1022;p95"/>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attend to precision to identify whether two expressions are equivalent.</a:t>
            </a:r>
            <a:endParaRPr b="0" i="0" sz="1400" u="none" cap="none" strike="noStrike">
              <a:solidFill>
                <a:srgbClr val="000000"/>
              </a:solidFill>
              <a:latin typeface="Arial"/>
              <a:ea typeface="Arial"/>
              <a:cs typeface="Arial"/>
              <a:sym typeface="Arial"/>
            </a:endParaRPr>
          </a:p>
        </p:txBody>
      </p:sp>
      <p:sp>
        <p:nvSpPr>
          <p:cNvPr id="1023" name="Google Shape;1023;p9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10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43</a:t>
            </a:r>
          </a:p>
        </p:txBody>
      </p:sp>
      <p:grpSp>
        <p:nvGrpSpPr>
          <p:cNvPr id="1025" name="TEACH-1-student-move" descr="TEACH 1 · Facilitate clear, standards-based content learning"/>
          <p:cNvGrpSpPr/>
          <p:nvPr/>
        </p:nvGrpSpPr>
        <p:grpSpPr>
          <a:xfrm>
            <a:off x="502920" y="5472790"/>
            <a:ext cx="11186160" cy="402336"/>
            <a:chOff x="502920" y="5472790"/>
            <a:chExt cx="11186160" cy="402336"/>
          </a:xfrm>
        </p:grpSpPr>
        <p:sp>
          <p:nvSpPr>
            <p:cNvPr id="1026"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27"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28"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64" name="Google Shape;764;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5" name="Google Shape;765;p71"/>
          <p:cNvSpPr txBox="1"/>
          <p:nvPr/>
        </p:nvSpPr>
        <p:spPr>
          <a:xfrm>
            <a:off x="474055" y="936101"/>
            <a:ext cx="3683878" cy="14164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766" name="Google Shape;766;p71"/>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767" name="Google Shape;767;p71"/>
          <p:cNvPicPr preferRelativeResize="0"/>
          <p:nvPr/>
        </p:nvPicPr>
        <p:blipFill rotWithShape="1">
          <a:blip r:embed="rId2">
            <a:alphaModFix/>
          </a:blip>
          <a:srcRect b="0" l="0" r="0" t="0"/>
          <a:stretch/>
        </p:blipFill>
        <p:spPr>
          <a:xfrm>
            <a:off x="4862376" y="1460650"/>
            <a:ext cx="4533734" cy="3024000"/>
          </a:xfrm>
          <a:prstGeom prst="rect">
            <a:avLst/>
          </a:prstGeom>
          <a:noFill/>
          <a:ln>
            <a:noFill/>
          </a:ln>
        </p:spPr>
      </p:pic>
      <p:pic>
        <p:nvPicPr>
          <p:cNvPr id="768" name="Google Shape;768;p71"/>
          <p:cNvPicPr preferRelativeResize="0"/>
          <p:nvPr/>
        </p:nvPicPr>
        <p:blipFill rotWithShape="1">
          <a:blip r:embed="rId3">
            <a:alphaModFix/>
          </a:blip>
          <a:srcRect b="0" l="0" r="0" t="0"/>
          <a:stretch/>
        </p:blipFill>
        <p:spPr>
          <a:xfrm>
            <a:off x="474055" y="4978250"/>
            <a:ext cx="5054600" cy="838200"/>
          </a:xfrm>
          <a:prstGeom prst="rect">
            <a:avLst/>
          </a:prstGeom>
          <a:noFill/>
          <a:ln>
            <a:noFill/>
          </a:ln>
        </p:spPr>
      </p:pic>
      <p:sp>
        <p:nvSpPr>
          <p:cNvPr id="769" name="Google Shape;769;p71"/>
          <p:cNvSpPr txBox="1"/>
          <p:nvPr/>
        </p:nvSpPr>
        <p:spPr>
          <a:xfrm>
            <a:off x="3334072" y="513556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70" name="Google Shape;770;p71"/>
          <p:cNvSpPr/>
          <p:nvPr/>
        </p:nvSpPr>
        <p:spPr>
          <a:xfrm>
            <a:off x="687251" y="579357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do you know when you are frustrated in math class?</a:t>
            </a:r>
            <a:endParaRPr b="0" i="0" sz="1400" u="none" cap="none" strike="noStrike">
              <a:solidFill>
                <a:srgbClr val="000000"/>
              </a:solidFill>
              <a:latin typeface="Arial"/>
              <a:ea typeface="Arial"/>
              <a:cs typeface="Arial"/>
              <a:sym typeface="Arial"/>
            </a:endParaRPr>
          </a:p>
        </p:txBody>
      </p:sp>
      <p:sp>
        <p:nvSpPr>
          <p:cNvPr id="2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43</a:t>
            </a:r>
          </a:p>
        </p:txBody>
      </p:sp>
      <p:sp xmlns:p="http://schemas.openxmlformats.org/presentationml/2006/main" xmlns:a="http://schemas.openxmlformats.org/drawingml/2006/main">
        <p:nvSpPr>
          <p:cNvPr id="771" name="TEACH-embedded-student-prompt" descr="Student thinking and response directions"/>
          <p:cNvSpPr txBox="1"/>
          <p:nvPr/>
        </p:nvSpPr>
        <p:spPr>
          <a:xfrm>
            <a:off x="6111240" y="48646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6.6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Use properties and like terms to justify equivalence.</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19 / 43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6-6</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28 / 43</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6.6 — Identify Equivalent Algebraic Expressions</dc:title>
  <dc:creator>Neft Teacher</dc:creator>
  <cp:lastModifiedBy>Neft Teacher</cp:lastModifiedBy>
  <dcterms:created xsi:type="dcterms:W3CDTF">2026-09-30T12:04:43Z</dcterms:created>
  <dcterms:modified xsi:type="dcterms:W3CDTF">2026-09-30T12:04:43Z</dcterms:modified>
</cp:coreProperties>
</file>