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5"/>
    <p:sldMasterId id="2147483673" r:id="rId6"/>
    <p:sldMasterId id="2147483674" r:id="rId7"/>
  </p:sldMasterIdLst>
  <p:notesMasterIdLst>
    <p:notesMasterId r:id="rId8"/>
  </p:notesMasterIdLst>
  <p:sldIdLst>
    <p:sldId id="259" r:id="rId12"/>
    <p:sldId id="269" r:id="rId22"/>
    <p:sldId id="270" r:id="rId23"/>
    <p:sldId id="256" r:id="rId9"/>
    <p:sldId id="257" r:id="rId10"/>
    <p:sldId id="260" r:id="rId13"/>
    <p:sldId id="324" r:id="rId66"/>
    <p:sldId id="323" r:id="rId49"/>
    <p:sldId id="322" r:id="rId28"/>
    <p:sldId id="321" r:id="rId47"/>
    <p:sldId id="320" r:id="rId30"/>
    <p:sldId id="319" r:id="rId45"/>
    <p:sldId id="318" r:id="rId44"/>
    <p:sldId id="317" r:id="rId43"/>
    <p:sldId id="316" r:id="rId32"/>
    <p:sldId id="261" r:id="rId14"/>
    <p:sldId id="274" r:id="rId27"/>
    <p:sldId id="276" r:id="rId29"/>
    <p:sldId id="278" r:id="rId31"/>
    <p:sldId id="280" r:id="rId33"/>
    <p:sldId id="281" r:id="rId34"/>
    <p:sldId id="283" r:id="rId36"/>
    <p:sldId id="285" r:id="rId38"/>
    <p:sldId id="328" r:id="rId70"/>
    <p:sldId id="287" r:id="rId40"/>
    <p:sldId id="288" r:id="rId41"/>
    <p:sldId id="325" r:id="rId67"/>
    <p:sldId id="315" r:id="rId35"/>
    <p:sldId id="314" r:id="rId37"/>
    <p:sldId id="311" r:id="rId64"/>
    <p:sldId id="329" r:id="rId71"/>
    <p:sldId id="312" r:id="rId65"/>
    <p:sldId id="310" r:id="rId42"/>
    <p:sldId id="293" r:id="rId46"/>
    <p:sldId id="295" r:id="rId48"/>
    <p:sldId id="330" r:id="rId72"/>
    <p:sldId id="298" r:id="rId51"/>
    <p:sldId id="300" r:id="rId53"/>
    <p:sldId id="302" r:id="rId55"/>
    <p:sldId id="304" r:id="rId57"/>
    <p:sldId id="305" r:id="rId58"/>
    <p:sldId id="331" r:id="rId73"/>
    <p:sldId id="306" r:id="rId59"/>
    <p:sldId id="307" r:id="rId60"/>
    <p:sldId id="326" r:id="rId68"/>
    <p:sldId id="308" r:id="rId61"/>
    <p:sldId id="332" r:id="rId74"/>
    <p:sldId id="309" r:id="rId62"/>
    <p:sldId id="313" r:id="rId39"/>
    <p:sldId id="327" r:id="rId6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CC5298-C452-4833-BA59-05FD1977CD2F}">
  <a:tblStyle styleId="{DFCC5298-C452-4833-BA59-05FD1977CD2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6.xml"/><Relationship Id="rId22" Type="http://schemas.openxmlformats.org/officeDocument/2006/relationships/slide" Target="slides/slide2.xml"/><Relationship Id="rId23" Type="http://schemas.openxmlformats.org/officeDocument/2006/relationships/slide" Target="slides/slide3.xml"/><Relationship Id="rId27" Type="http://schemas.openxmlformats.org/officeDocument/2006/relationships/slide" Target="slides/slide17.xml"/><Relationship Id="rId28" Type="http://schemas.openxmlformats.org/officeDocument/2006/relationships/slide" Target="slides/slide9.xml"/><Relationship Id="rId29" Type="http://schemas.openxmlformats.org/officeDocument/2006/relationships/slide" Target="slides/slide18.xml"/><Relationship Id="rId30" Type="http://schemas.openxmlformats.org/officeDocument/2006/relationships/slide" Target="slides/slide11.xml"/><Relationship Id="rId31" Type="http://schemas.openxmlformats.org/officeDocument/2006/relationships/slide" Target="slides/slide19.xml"/><Relationship Id="rId32" Type="http://schemas.openxmlformats.org/officeDocument/2006/relationships/slide" Target="slides/slide15.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7.xml"/><Relationship Id="rId36" Type="http://schemas.openxmlformats.org/officeDocument/2006/relationships/slide" Target="slides/slide22.xml"/><Relationship Id="rId37" Type="http://schemas.openxmlformats.org/officeDocument/2006/relationships/slide" Target="slides/slide28.xml"/><Relationship Id="rId38" Type="http://schemas.openxmlformats.org/officeDocument/2006/relationships/slide" Target="slides/slide23.xml"/><Relationship Id="rId39" Type="http://schemas.openxmlformats.org/officeDocument/2006/relationships/slide" Target="slides/slide44.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31.xml"/><Relationship Id="rId43" Type="http://schemas.openxmlformats.org/officeDocument/2006/relationships/slide" Target="slides/slide14.xml"/><Relationship Id="rId44" Type="http://schemas.openxmlformats.org/officeDocument/2006/relationships/slide" Target="slides/slide13.xml"/><Relationship Id="rId45" Type="http://schemas.openxmlformats.org/officeDocument/2006/relationships/slide" Target="slides/slide12.xml"/><Relationship Id="rId46" Type="http://schemas.openxmlformats.org/officeDocument/2006/relationships/slide" Target="slides/slide32.xml"/><Relationship Id="rId47" Type="http://schemas.openxmlformats.org/officeDocument/2006/relationships/slide" Target="slides/slide10.xml"/><Relationship Id="rId48" Type="http://schemas.openxmlformats.org/officeDocument/2006/relationships/slide" Target="slides/slide33.xml"/><Relationship Id="rId49" Type="http://schemas.openxmlformats.org/officeDocument/2006/relationships/slide" Target="slides/slide8.xml"/><Relationship Id="rId51" Type="http://schemas.openxmlformats.org/officeDocument/2006/relationships/slide" Target="slides/slide34.xml"/><Relationship Id="rId53" Type="http://schemas.openxmlformats.org/officeDocument/2006/relationships/slide" Target="slides/slide35.xml"/><Relationship Id="rId55" Type="http://schemas.openxmlformats.org/officeDocument/2006/relationships/slide" Target="slides/slide36.xml"/><Relationship Id="rId57" Type="http://schemas.openxmlformats.org/officeDocument/2006/relationships/slide" Target="slides/slide37.xml"/><Relationship Id="rId58" Type="http://schemas.openxmlformats.org/officeDocument/2006/relationships/slide" Target="slides/slide38.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2.xml"/><Relationship Id="rId62" Type="http://schemas.openxmlformats.org/officeDocument/2006/relationships/slide" Target="slides/slide43.xml"/><Relationship Id="rId64" Type="http://schemas.openxmlformats.org/officeDocument/2006/relationships/slide" Target="slides/slide29.xml"/><Relationship Id="rId65" Type="http://schemas.openxmlformats.org/officeDocument/2006/relationships/slide" Target="slides/slide30.xml"/><Relationship Id="rId66" Type="http://schemas.openxmlformats.org/officeDocument/2006/relationships/slide" Target="slides/slide7.xml"/><Relationship Id="rId67" Type="http://schemas.openxmlformats.org/officeDocument/2006/relationships/slide" Target="slides/slide26.xml"/><Relationship Id="rId68" Type="http://schemas.openxmlformats.org/officeDocument/2006/relationships/slide" Target="slides/slide41.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4 | DIVIDER</a:t>
            </a:r>
          </a:p>
          <a:p xmlns:a="http://schemas.openxmlformats.org/drawingml/2006/main">
            <a:pPr>
              <a:buNone/>
            </a:pPr>
            <a:r>
              <a:rPr lang="en-US" sz="1100"/>
              <a:t>Focus on the existing task: Determine Surface Area of Pyramids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162" name="Google Shape;162;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5 | TASK</a:t>
            </a:r>
          </a:p>
          <a:p xmlns:a="http://schemas.openxmlformats.org/drawingml/2006/main">
            <a:pPr>
              <a:buNone/>
            </a:pPr>
            <a:r>
              <a:rPr lang="en-US" sz="1100"/>
              <a:t>Focus on the existing task: This or That Would you rather have THIS or THAT hours of recess?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169" name="Google Shape;169;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24 square inches   2) 49 square centimeters   3) 96 square inches   4) the slant height, 10 inches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include the base and each triangular face; use face height correctly; report square units. Review recent work and today’s warm-up to choose flexible groups and access supports; do not infer needs from identity or perceived ability. Use the existing lesson tasks and stated standards.</a:t>
            </a:r>
          </a:p>
          <a:p>
            <a:pPr>
              <a:buNone/>
            </a:pPr>
            <a:r>
              <a:rPr lang="en-US" sz="1100"/>
              <a:t>Anticipate: using vertical pyramid height in place of a triangular face height. If observed, mark the perpendicular height within each triangle on the existing net.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188" name="Google Shape;188;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6 | GOAL</a:t>
            </a:r>
          </a:p>
          <a:p xmlns:a="http://schemas.openxmlformats.org/drawingml/2006/main">
            <a:pPr>
              <a:buNone/>
            </a:pPr>
            <a:r>
              <a:rPr lang="en-US" sz="1100"/>
              <a:t>Focus on the existing task: Today’s Objectives Determine Surface Area of Pyramids…</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include the base and each triangular face; use face height correctly; report square units. Ask: “Which part of your work would show this?” Revisit that evidence after the task; a confidence rating alone is not evidence of understanding.</a:t>
            </a:r>
          </a:p>
        </p:txBody>
      </p:sp>
      <p:sp>
        <p:nvSpPr>
          <p:cNvPr id="264" name="Google Shape;264;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16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286" name="Google Shape;286;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52" name="Google Shape;452;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80" name="Google Shape;480;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17 | TASK</a:t>
            </a:r>
          </a:p>
          <a:p xmlns:a="http://schemas.openxmlformats.org/drawingml/2006/main">
            <a:pPr>
              <a:buNone/>
            </a:pPr>
            <a:r>
              <a:rPr lang="en-US" sz="1100"/>
              <a:t>Focus on the existing task: What is the surface area of the right square pyramid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report square units.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height belongs to each triangular face, and how does the net help you identify it?” Wait for evidence, invite another pathway, and have a student ask a follow-up question. Do not replace students’ reasoning with a sequence of leading steps.</a:t>
            </a:r>
          </a:p>
        </p:txBody>
      </p:sp>
      <p:sp>
        <p:nvSpPr>
          <p:cNvPr id="536" name="Google Shape;536;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18 | REVEAL</a:t>
            </a:r>
          </a:p>
          <a:p xmlns:a="http://schemas.openxmlformats.org/drawingml/2006/main">
            <a:pPr>
              <a:buNone/>
            </a:pPr>
            <a:r>
              <a:rPr lang="en-US" sz="1100"/>
              <a:t>Focus on the existing task: What is the surface area of the right square pyramid shown?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report square units.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sum of the areas of all the faces.</a:t>
            </a:r>
          </a:p>
          <a:p>
            <a:pPr indent="0" lvl="0" marL="0" rtl="0" algn="l">
              <a:lnSpc>
                <a:spcPct val="100000"/>
              </a:lnSpc>
              <a:spcBef>
                <a:spcPts val="0"/>
              </a:spcBef>
              <a:spcAft>
                <a:spcPts val="0"/>
              </a:spcAft>
              <a:buSzPts val="1400"/>
              <a:buNone/>
            </a:pPr>
            <a:r>
              <a:t>UIFR: TEACH 3 · TEACH 4.</a:t>
            </a:r>
          </a:p>
        </p:txBody>
      </p:sp>
      <p:sp>
        <p:nvSpPr>
          <p:cNvPr id="555" name="Google Shape;555;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19 | REVEAL</a:t>
            </a:r>
          </a:p>
          <a:p xmlns:a="http://schemas.openxmlformats.org/drawingml/2006/main">
            <a:pPr>
              <a:buNone/>
            </a:pPr>
            <a:r>
              <a:rPr lang="en-US" sz="1100"/>
              <a:t>Focus on the existing task: To determine the surface area of a three-dimensional figure, find the area of each face and add the areas. What tool or representation can you use to help you determine the surface area of the pyramid?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we can use is a net.</a:t>
            </a:r>
          </a:p>
          <a:p>
            <a:pPr indent="0" lvl="0" marL="0" rtl="0" algn="l">
              <a:lnSpc>
                <a:spcPct val="100000"/>
              </a:lnSpc>
              <a:spcBef>
                <a:spcPts val="0"/>
              </a:spcBef>
              <a:spcAft>
                <a:spcPts val="0"/>
              </a:spcAft>
              <a:buSzPts val="1400"/>
              <a:buNone/>
            </a:pPr>
            <a:r>
              <a:t>UIFR: TEACH 3 · TEACH 4.</a:t>
            </a:r>
          </a:p>
        </p:txBody>
      </p:sp>
      <p:sp>
        <p:nvSpPr>
          <p:cNvPr id="575" name="Google Shape;575;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20 | REVEAL</a:t>
            </a:r>
          </a:p>
          <a:p xmlns:a="http://schemas.openxmlformats.org/drawingml/2006/main">
            <a:pPr>
              <a:buNone/>
            </a:pPr>
            <a:r>
              <a:rPr lang="en-US" sz="1100"/>
              <a:t>Focus on the existing task: How can you create a net of the right square pyramid?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draw a square with four congruent triangles connected to each side of the square.</a:t>
            </a:r>
          </a:p>
          <a:p>
            <a:pPr indent="0" lvl="0" marL="0" rtl="0" algn="l">
              <a:lnSpc>
                <a:spcPct val="100000"/>
              </a:lnSpc>
              <a:spcBef>
                <a:spcPts val="0"/>
              </a:spcBef>
              <a:spcAft>
                <a:spcPts val="0"/>
              </a:spcAft>
              <a:buSzPts val="1400"/>
              <a:buNone/>
            </a:pPr>
            <a:r>
              <a:t>UIFR: TEACH 3 · TEACH 4.</a:t>
            </a:r>
          </a:p>
        </p:txBody>
      </p:sp>
      <p:sp>
        <p:nvSpPr>
          <p:cNvPr id="594" name="Google Shape;594;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21 | COLLABORATE</a:t>
            </a:r>
          </a:p>
          <a:p xmlns:a="http://schemas.openxmlformats.org/drawingml/2006/main">
            <a:pPr>
              <a:buNone/>
            </a:pPr>
            <a:r>
              <a:rPr lang="en-US" sz="1100"/>
              <a:t>Focus on the existing task: The pyramid has 5 faces: a square base and 4 triangular faces. So, the net is a square with four congruent triangles connected to each side. What is the area of the square base?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vertical pyramid height in place of a triangular face height. If it appears, mark the perpendicular height within each triangle on the existing net; then ask the student to revise the same response and explain the change. If evidence is secure, have students compare a second valid pathway or state why their approach works. Choose the next step from the responses, not a preset pace.</a:t>
            </a:r>
          </a:p>
        </p:txBody>
      </p:sp>
      <p:sp>
        <p:nvSpPr>
          <p:cNvPr id="603" name="Google Shape;603;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22 | TASK</a:t>
            </a:r>
          </a:p>
          <a:p xmlns:a="http://schemas.openxmlformats.org/drawingml/2006/main">
            <a:pPr>
              <a:buNone/>
            </a:pPr>
            <a:r>
              <a:rPr lang="en-US" sz="1100"/>
              <a:t>Focus on the existing task: Think About It: Why is the area of one triangular face multiplied by 4?</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22" name="Google Shape;622;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23 | TASK</a:t>
            </a:r>
          </a:p>
          <a:p xmlns:a="http://schemas.openxmlformats.org/drawingml/2006/main">
            <a:pPr>
              <a:buNone/>
            </a:pPr>
            <a:r>
              <a:rPr lang="en-US" sz="1100"/>
              <a:t>Focus on the existing task: How can you find the surface area?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41" name="Google Shape;641;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24 | TASK</a:t>
            </a:r>
          </a:p>
          <a:p xmlns:a="http://schemas.openxmlformats.org/drawingml/2006/main">
            <a:pPr>
              <a:buNone/>
            </a:pPr>
            <a:r>
              <a:rPr lang="en-US" sz="1100"/>
              <a:t>Focus on the existing task: What is the surface area of the right square pyramid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report square units.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62" name="Google Shape;662;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25 | PRACTICE</a:t>
            </a:r>
          </a:p>
          <a:p xmlns:a="http://schemas.openxmlformats.org/drawingml/2006/main">
            <a:pPr>
              <a:buNone/>
            </a:pPr>
            <a:r>
              <a:rPr lang="en-US" sz="1100"/>
              <a:t>Focus on the existing task: Why are the heights of the triangles in a right square pyramid congruent?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674" name="Google Shape;674;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31 | DIVIDER</a:t>
            </a:r>
          </a:p>
          <a:p xmlns:a="http://schemas.openxmlformats.org/drawingml/2006/main">
            <a:pPr>
              <a:buNone/>
            </a:pPr>
            <a:r>
              <a:rPr lang="en-US" sz="1100"/>
              <a:t>Focus on the existing task: Determine Surface Area of Pyramids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682" name="Google Shape;682;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32 | TASK</a:t>
            </a:r>
          </a:p>
          <a:p xmlns:a="http://schemas.openxmlformats.org/drawingml/2006/main">
            <a:pPr>
              <a:buNone/>
            </a:pPr>
            <a:r>
              <a:rPr lang="en-US" sz="1100"/>
              <a:t>Focus on the existing task: Explaining What words, representations, or formulas can you use to explain your thinking to your classmates?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words, representations, or formulas can you use to explain your thinking to your classmates?</a:t>
            </a:r>
          </a:p>
          <a:p>
            <a:pPr indent="0" lvl="0" marL="0" rtl="0" algn="l">
              <a:lnSpc>
                <a:spcPct val="100000"/>
              </a:lnSpc>
              <a:spcBef>
                <a:spcPts val="0"/>
              </a:spcBef>
              <a:spcAft>
                <a:spcPts val="0"/>
              </a:spcAft>
              <a:buSzPts val="1400"/>
              <a:buNone/>
            </a:pPr>
            <a:r>
              <a:t>UIFR: TEACH 1 · TEACH 3.</a:t>
            </a:r>
          </a:p>
        </p:txBody>
      </p:sp>
      <p:sp>
        <p:nvSpPr>
          <p:cNvPr id="726" name="Google Shape;726;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33 | REVEAL</a:t>
            </a:r>
          </a:p>
          <a:p xmlns:a="http://schemas.openxmlformats.org/drawingml/2006/main">
            <a:pPr>
              <a:buNone/>
            </a:pPr>
            <a:r>
              <a:rPr lang="en-US" sz="1100"/>
              <a:t>Focus on the existing task: Maria will cover each of the faces, but not the base, of the frame with canvas to create a three-dimensional painting. The three faces have the same dimensions. How much canvas will Maria need?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find the surface area of a pyramid, not including the base.</a:t>
            </a:r>
          </a:p>
          <a:p>
            <a:pPr indent="0" lvl="0" marL="0" rtl="0" algn="l">
              <a:lnSpc>
                <a:spcPct val="100000"/>
              </a:lnSpc>
              <a:spcBef>
                <a:spcPts val="0"/>
              </a:spcBef>
              <a:spcAft>
                <a:spcPts val="0"/>
              </a:spcAft>
              <a:buSzPts val="1400"/>
              <a:buNone/>
            </a:pPr>
            <a:r>
              <a:t>UIFR: TEACH 3 · TEACH 4.</a:t>
            </a:r>
          </a:p>
        </p:txBody>
      </p:sp>
      <p:sp>
        <p:nvSpPr>
          <p:cNvPr id="746" name="Google Shape;746;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34 | REVEAL</a:t>
            </a:r>
          </a:p>
          <a:p xmlns:a="http://schemas.openxmlformats.org/drawingml/2006/main">
            <a:pPr>
              <a:buNone/>
            </a:pPr>
            <a:r>
              <a:rPr lang="en-US" sz="1100"/>
              <a:t>Focus on the existing task: Reveal: It will have one triangle in the center with 3 congruent triangles connected to each side. We need to find the surface area of…</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will have one triangle in the center with 3 congruent triangles connected to each side.</a:t>
            </a:r>
          </a:p>
          <a:p>
            <a:pPr indent="0" lvl="0" marL="0" rtl="0" algn="l">
              <a:lnSpc>
                <a:spcPct val="100000"/>
              </a:lnSpc>
              <a:spcBef>
                <a:spcPts val="0"/>
              </a:spcBef>
              <a:spcAft>
                <a:spcPts val="0"/>
              </a:spcAft>
              <a:buSzPts val="1400"/>
              <a:buNone/>
            </a:pPr>
            <a:r>
              <a:t>UIFR: TEACH 3 · TEACH 4.</a:t>
            </a:r>
          </a:p>
        </p:txBody>
      </p:sp>
      <p:sp>
        <p:nvSpPr>
          <p:cNvPr id="774" name="Google Shape;774;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35 | COLLABORATE</a:t>
            </a:r>
          </a:p>
          <a:p xmlns:a="http://schemas.openxmlformats.org/drawingml/2006/main">
            <a:pPr>
              <a:buNone/>
            </a:pPr>
            <a:r>
              <a:rPr lang="en-US" sz="1100"/>
              <a:t>Focus on the existing task: Let’s make a net to represent the pyramid. The three faces have the same dimensions. What will be the dimensions of the triangles that form the net?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796" name="Google Shape;796;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36 | REVEAL</a:t>
            </a:r>
          </a:p>
          <a:p xmlns:a="http://schemas.openxmlformats.org/drawingml/2006/main">
            <a:pPr>
              <a:buNone/>
            </a:pPr>
            <a:r>
              <a:rPr lang="en-US" sz="1100"/>
              <a:t>Focus on the existing task: Reveal: She will only cover the 3 congruent triangles, not the triangle in the middle. The base is an equilateral triangle, and each…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She will only cover the 3 congruent triangles, not the triangle in the middle.</a:t>
            </a:r>
          </a:p>
          <a:p>
            <a:pPr indent="0" lvl="0" marL="0" rtl="0" algn="l">
              <a:lnSpc>
                <a:spcPct val="100000"/>
              </a:lnSpc>
              <a:spcBef>
                <a:spcPts val="0"/>
              </a:spcBef>
              <a:spcAft>
                <a:spcPts val="0"/>
              </a:spcAft>
              <a:buSzPts val="1400"/>
              <a:buNone/>
            </a:pPr>
            <a:r>
              <a:t>UIFR: TEACH 3 · TEACH 4.</a:t>
            </a:r>
          </a:p>
        </p:txBody>
      </p:sp>
      <p:sp>
        <p:nvSpPr>
          <p:cNvPr id="819" name="Google Shape;819;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37 | TASK</a:t>
            </a:r>
          </a:p>
          <a:p xmlns:a="http://schemas.openxmlformats.org/drawingml/2006/main">
            <a:pPr>
              <a:buNone/>
            </a:pPr>
            <a:r>
              <a:rPr lang="en-US" sz="1100"/>
              <a:t>Focus on the existing task: Maria will only cover the 3 congruent triangles that represent the lateral faces of the pyramid. The lateral faces are the faces that are…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39" name="Google Shape;839;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38 | WORKED</a:t>
            </a:r>
          </a:p>
          <a:p xmlns:a="http://schemas.openxmlformats.org/drawingml/2006/main">
            <a:pPr>
              <a:buNone/>
            </a:pPr>
            <a:r>
              <a:rPr lang="en-US" sz="1100"/>
              <a:t>Focus on the existing task: Let’s find the area of the lateral faces that will be covered with canvas. Maria’s Unique Artwork</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48" name="Google Shape;848;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39 | TASK</a:t>
            </a:r>
          </a:p>
          <a:p xmlns:a="http://schemas.openxmlformats.org/drawingml/2006/main">
            <a:pPr>
              <a:buNone/>
            </a:pPr>
            <a:r>
              <a:rPr lang="en-US" sz="1100"/>
              <a:t>Focus on the existing task: Maria will cover each of the faces, but not the base of the frame with canvas to create a three-dimensional painting. The three faces have the same dimensions. How much canvas will Maria need?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Apply task — students try it independently first, then partners compare answers and reasoning.</a:t>
            </a:r>
          </a:p>
          <a:p>
            <a:pPr indent="0" lvl="0" marL="0" rtl="0" algn="l">
              <a:lnSpc>
                <a:spcPct val="100000"/>
              </a:lnSpc>
              <a:spcBef>
                <a:spcPts val="0"/>
              </a:spcBef>
              <a:spcAft>
                <a:spcPts val="0"/>
              </a:spcAft>
              <a:buSzPts val="1400"/>
              <a:buNone/>
            </a:pPr>
            <a:r>
              <a:t>Collect a quick pulse (thumbs or whiteboards) before the close; this tells you who needs a second look tomorrow.</a:t>
            </a:r>
          </a:p>
          <a:p>
            <a:pPr indent="0" lvl="0" marL="0" rtl="0" algn="l">
              <a:lnSpc>
                <a:spcPct val="100000"/>
              </a:lnSpc>
              <a:spcBef>
                <a:spcPts val="0"/>
              </a:spcBef>
              <a:spcAft>
                <a:spcPts val="0"/>
              </a:spcAft>
              <a:buSzPts val="1400"/>
              <a:buNone/>
            </a:pPr>
            <a:r>
              <a:t>UIFR: TEACH 2 · TEACH 4.</a:t>
            </a:r>
          </a:p>
        </p:txBody>
      </p:sp>
      <p:sp>
        <p:nvSpPr>
          <p:cNvPr id="860" name="Google Shape;860;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40 | PRACTICE</a:t>
            </a:r>
          </a:p>
          <a:p xmlns:a="http://schemas.openxmlformats.org/drawingml/2006/main">
            <a:pPr>
              <a:buNone/>
            </a:pPr>
            <a:r>
              <a:rPr lang="en-US" sz="1100"/>
              <a:t>Focus on the existing task: If the base of a pyramid were a regular octagon, how many lateral faces would the pyramid have?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70" name="Google Shape;870;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42 | SUMMARIZE</a:t>
            </a:r>
          </a:p>
          <a:p xmlns:a="http://schemas.openxmlformats.org/drawingml/2006/main">
            <a:pPr>
              <a:buNone/>
            </a:pPr>
            <a:r>
              <a:rPr lang="en-US" sz="1100"/>
              <a:t>Focus on the existing task: To determine the surface area of a pyramid, find the area of each face and add the areas. A net can help you visualize the faces.…</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878" name="Google Shape;878;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5.8, slide 43 | APPLY</a:t>
            </a:r>
          </a:p>
          <a:p xmlns:a="http://schemas.openxmlformats.org/drawingml/2006/main">
            <a:pPr>
              <a:buNone/>
            </a:pPr>
            <a:r>
              <a:rPr lang="en-US" sz="1100"/>
              <a:t>Focus on the existing task: Apply: The Louvre Pyramid APPLY · PLAN IT • SOLVE IT • PROVE IT</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include the base and each triangular face; use face height correctly; report square units. Respond with one specific next step tied to the work. Students revise and annotate what changed, then identify a criterion they can now demonstrate and one they still need to practice.</a:t>
            </a:r>
          </a:p>
        </p:txBody>
      </p:sp>
      <p:sp>
        <p:nvSpPr>
          <p:cNvPr id="887" name="Google Shape;887;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5.8, slide 29 | WARMUP</a:t>
            </a:r>
          </a:p>
          <a:p xmlns:a="http://schemas.openxmlformats.org/drawingml/2006/main">
            <a:pPr>
              <a:buNone/>
            </a:pPr>
            <a:r>
              <a:rPr lang="en-US" sz="1100"/>
              <a:t>Focus on the existing task: Warm-Up Session 2 Warm-Up Check what you remember from…</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5.8, slide 30 | NOTES</a:t>
            </a:r>
          </a:p>
          <a:p xmlns:a="http://schemas.openxmlformats.org/drawingml/2006/main">
            <a:pPr>
              <a:buNone/>
            </a:pPr>
            <a:r>
              <a:rPr lang="en-US" sz="1100"/>
              <a:t>Focus on the existing task: Review Notes — Session 2 Session 2: Review Notes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44 | REFLECTION</a:t>
            </a:r>
          </a:p>
          <a:p xmlns:a="http://schemas.openxmlformats.org/drawingml/2006/main">
            <a:pPr>
              <a:buNone/>
            </a:pPr>
            <a:r>
              <a:rPr lang="en-US" sz="1100"/>
              <a:t>Focus on the existing task: Learning Targets I can use nets and formulas to find the surface area of square pyramids. I can use nets and formulas to find the surface…</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vertical pyramid height in place of a triangular face height.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the perpendicular height within each triangle on the existing net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7 | PRIOR_INSERT</a:t>
            </a:r>
          </a:p>
          <a:p xmlns:a="http://schemas.openxmlformats.org/drawingml/2006/main">
            <a:pPr>
              <a:buNone/>
            </a:pPr>
            <a:r>
              <a:rPr lang="en-US" sz="1100"/>
              <a:t>Focus on the existing task: LESSON 5.8 / OUR LEARNING What will show your learning?</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8 | VOCAB</a:t>
            </a:r>
          </a:p>
          <a:p xmlns:a="http://schemas.openxmlformats.org/drawingml/2006/main">
            <a:pPr>
              <a:buNone/>
            </a:pPr>
            <a:r>
              <a:rPr lang="en-US" sz="1100"/>
              <a:t>Focus on the existing task: Vocabulary 1 of 7 Surface Area of Pyramids The total…</a:t>
            </a:r>
          </a:p>
          <a:p xmlns:a="http://schemas.openxmlformats.org/drawingml/2006/main">
            <a:pPr>
              <a:buNone/>
            </a:pPr>
            <a:r>
              <a:rPr lang="en-US" sz="1100"/>
              <a:t>ASK (T1/3/5): Where does “Surface Area of Pyramids”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9 | VOCAB</a:t>
            </a:r>
          </a:p>
          <a:p xmlns:a="http://schemas.openxmlformats.org/drawingml/2006/main">
            <a:pPr>
              <a:buNone/>
            </a:pPr>
            <a:r>
              <a:rPr lang="en-US" sz="1100"/>
              <a:t>Focus on the existing task: Vocabulary 2 of 7 Pyramid A solid with a flat bottom…</a:t>
            </a:r>
          </a:p>
          <a:p xmlns:a="http://schemas.openxmlformats.org/drawingml/2006/main">
            <a:pPr>
              <a:buNone/>
            </a:pPr>
            <a:r>
              <a:rPr lang="en-US" sz="1100"/>
              <a:t>ASK (T1/3/5): Where does “Pyramid”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10 | VOCAB</a:t>
            </a:r>
          </a:p>
          <a:p xmlns:a="http://schemas.openxmlformats.org/drawingml/2006/main">
            <a:pPr>
              <a:buNone/>
            </a:pPr>
            <a:r>
              <a:rPr lang="en-US" sz="1100"/>
              <a:t>Focus on the existing task: Vocabulary 3 of 7 Slant height The height of a side…</a:t>
            </a:r>
          </a:p>
          <a:p xmlns:a="http://schemas.openxmlformats.org/drawingml/2006/main">
            <a:pPr>
              <a:buNone/>
            </a:pPr>
            <a:r>
              <a:rPr lang="en-US" sz="1100"/>
              <a:t>ASK (T1/3/5): Where does “Slant height”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11 | VOCAB</a:t>
            </a:r>
          </a:p>
          <a:p xmlns:a="http://schemas.openxmlformats.org/drawingml/2006/main">
            <a:pPr>
              <a:buNone/>
            </a:pPr>
            <a:r>
              <a:rPr lang="en-US" sz="1100"/>
              <a:t>Focus on the existing task: Vocabulary 4 of 7 Lateral face A triangle side of a…</a:t>
            </a:r>
          </a:p>
          <a:p xmlns:a="http://schemas.openxmlformats.org/drawingml/2006/main">
            <a:pPr>
              <a:buNone/>
            </a:pPr>
            <a:r>
              <a:rPr lang="en-US" sz="1100"/>
              <a:t>ASK (T1/3/5): Where does “Lateral face”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12 | VOCAB</a:t>
            </a:r>
          </a:p>
          <a:p xmlns:a="http://schemas.openxmlformats.org/drawingml/2006/main">
            <a:pPr>
              <a:buNone/>
            </a:pPr>
            <a:r>
              <a:rPr lang="en-US" sz="1100"/>
              <a:t>Focus on the existing task: Vocabulary 5 of 7 Base The flat bottom of a pyramid.…</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13 | VOCAB</a:t>
            </a:r>
          </a:p>
          <a:p xmlns:a="http://schemas.openxmlformats.org/drawingml/2006/main">
            <a:pPr>
              <a:buNone/>
            </a:pPr>
            <a:r>
              <a:rPr lang="en-US" sz="1100"/>
              <a:t>Focus on the existing task: Vocabulary 6 of 7 Apex The point at the top of a…</a:t>
            </a:r>
          </a:p>
          <a:p xmlns:a="http://schemas.openxmlformats.org/drawingml/2006/main">
            <a:pPr>
              <a:buNone/>
            </a:pPr>
            <a:r>
              <a:rPr lang="en-US" sz="1100"/>
              <a:t>ASK (T1/3/5): Where does “Apex”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14 | VOCAB</a:t>
            </a:r>
          </a:p>
          <a:p xmlns:a="http://schemas.openxmlformats.org/drawingml/2006/main">
            <a:pPr>
              <a:buNone/>
            </a:pPr>
            <a:r>
              <a:rPr lang="en-US" sz="1100"/>
              <a:t>Focus on the existing task: Vocabulary 7 of 7 Lateral area The total area of just…</a:t>
            </a:r>
          </a:p>
          <a:p xmlns:a="http://schemas.openxmlformats.org/drawingml/2006/main">
            <a:pPr>
              <a:buNone/>
            </a:pPr>
            <a:r>
              <a:rPr lang="en-US" sz="1100"/>
              <a:t>ASK (T1/3/5): Where does “Lateral area”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15 | CURIOUS</a:t>
            </a:r>
          </a:p>
          <a:p xmlns:a="http://schemas.openxmlformats.org/drawingml/2006/main">
            <a:pPr>
              <a:buNone/>
            </a:pPr>
            <a:r>
              <a:rPr lang="en-US" sz="1100"/>
              <a:t>Focus on the existing task: What helps you make sense of a math or non-math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26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27 | REVEAL</a:t>
            </a:r>
          </a:p>
          <a:p xmlns:a="http://schemas.openxmlformats.org/drawingml/2006/main">
            <a:pPr>
              <a:buNone/>
            </a:pPr>
            <a:r>
              <a:rPr lang="en-US" sz="1100"/>
              <a:t>Focus on the existing task: How can you create a net of the right square pyramid?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28 | CURIOUS</a:t>
            </a:r>
          </a:p>
          <a:p xmlns:a="http://schemas.openxmlformats.org/drawingml/2006/main">
            <a:pPr>
              <a:buNone/>
            </a:pPr>
            <a:r>
              <a:rPr lang="en-US" sz="1100"/>
              <a:t>Focus on the existing task: What is helping you make sense of a math or non-math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include the base and each triangular face. Ask which feature of their work supports the claim.</a:t>
            </a:r>
          </a:p>
          <a:p xmlns:a="http://schemas.openxmlformats.org/drawingml/2006/main">
            <a:pPr>
              <a:buNone/>
            </a:pPr>
            <a:r>
              <a:rPr lang="en-US" sz="1100"/>
              <a:t>RESPOND: If this task shows the lesson misconception—using vertical pyramid height in place of a triangular face height—mark the perpendicular height within each triangle on the existing net.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41 | PRIOR_INSERT</a:t>
            </a:r>
          </a:p>
          <a:p xmlns:a="http://schemas.openxmlformats.org/drawingml/2006/main">
            <a:pPr>
              <a:buNone/>
            </a:pPr>
            <a:r>
              <a:rPr lang="en-US" sz="1100"/>
              <a:t>Focus on the existing task: LESSON 5.8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5.8, slide 45 | PRIOR_INSERT</a:t>
            </a:r>
          </a:p>
          <a:p xmlns:a="http://schemas.openxmlformats.org/drawingml/2006/main">
            <a:pPr>
              <a:buNone/>
            </a:pPr>
            <a:r>
              <a:rPr lang="en-US" sz="1100"/>
              <a:t>Focus on the existing task: LESSON 5.8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include the base and each triangular face; use face height correctly; report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8" name="Google Shape;28;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6" name="Shape 9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1" name="Google Shape;101;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2" name="Google Shape;102;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06" name="Google Shape;106;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8" name="Google Shape;108;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1" name="Google Shape;11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4" name="Google Shape;114;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5" name="Google Shape;115;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21"/>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8" name="Google Shape;11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19" name="Google Shape;11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1" name="Google Shape;12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2" name="Google Shape;122;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4" name="Google Shape;124;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 name="Google Shape;127;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Surface Area of Pyramids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Surface Area of Pyramids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jpg"/><Relationship Id="rId3" Type="http://schemas.openxmlformats.org/officeDocument/2006/relationships/image" Target="../media/image3.png"/><Relationship Id="rId4" Type="http://schemas.openxmlformats.org/officeDocument/2006/relationships/notesSlide" Target="../notesSlides/notesSlide6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6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7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30.png"/><Relationship Id="rId6" Type="http://schemas.openxmlformats.org/officeDocument/2006/relationships/image" Target="../media/image29.png"/><Relationship Id="rId7"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9.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1.png"/><Relationship Id="rId4" Type="http://schemas.openxmlformats.org/officeDocument/2006/relationships/image" Target="../media/image1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192"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5-8 · Determine Surface Area of Pyramids   |   Warm-Up · about 4 minutes</a:t>
            </a:r>
          </a:p>
        </p:txBody>
      </p:sp>
      <p:sp>
        <p:nvSpPr>
          <p:cNvPr id="193"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194"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195"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98"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A triangle has base 6 in and height 8 in. Area = ______</a:t>
            </a:r>
          </a:p>
        </p:txBody>
      </p:sp>
      <p:sp>
        <p:nvSpPr>
          <p:cNvPr id="199"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02"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square base has sides of 7 cm. Its area = ______</a:t>
            </a:r>
          </a:p>
        </p:txBody>
      </p:sp>
      <p:sp>
        <p:nvSpPr>
          <p:cNvPr id="203"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06"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One triangular face is 24 square in. Four identical faces cover ______</a:t>
            </a:r>
          </a:p>
        </p:txBody>
      </p:sp>
      <p:sp>
        <p:nvSpPr>
          <p:cNvPr id="207"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10"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Pyramid: slant height 10 in, vertical height 8 in.</a:t>
            </a:r>
          </a:p>
          <a:p>
            <a:pPr algn="l"/>
            <a:r>
              <a:rPr sz="1800" b="1">
                <a:solidFill>
                  <a:srgbClr val="23282D"/>
                </a:solidFill>
                <a:latin typeface="Arial"/>
              </a:rPr>
              <a:t>For one face’s area, use ______</a:t>
            </a:r>
          </a:p>
        </p:txBody>
      </p:sp>
      <p:sp>
        <p:nvSpPr>
          <p:cNvPr id="211"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12"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57" name="Google Shape;457;p4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458" name="Google Shape;458;p4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60" name="Google Shape;460;p4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61" name="Google Shape;461;p4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63" name="Google Shape;463;p4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4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4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66" name="Google Shape;466;p4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Surface Area of Pyramids</a:t>
            </a:r>
            <a:endParaRPr/>
          </a:p>
        </p:txBody>
      </p:sp>
      <p:sp>
        <p:nvSpPr>
          <p:cNvPr id="467" name="Google Shape;467;p4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total </a:t>
            </a: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of a </a:t>
            </a:r>
            <a:r>
              <a:rPr b="1" i="0" lang="en-US" sz="1450" u="none" cap="none" strike="noStrike">
                <a:solidFill>
                  <a:srgbClr val="475569"/>
                </a:solidFill>
                <a:latin typeface="Arial"/>
                <a:ea typeface="Arial"/>
                <a:cs typeface="Arial"/>
                <a:sym typeface="Arial"/>
              </a:rPr>
              <a:t xml:space="preserve">pyramid</a:t>
            </a:r>
            <a:r>
              <a:rPr b="0" i="0" lang="en-US" sz="1450" u="none" cap="none" strike="noStrike">
                <a:solidFill>
                  <a:srgbClr val="475569"/>
                </a:solidFill>
                <a:latin typeface="Arial"/>
                <a:ea typeface="Arial"/>
                <a:cs typeface="Arial"/>
                <a:sym typeface="Arial"/>
              </a:rPr>
              <a:t xml:space="preserve">’s base and triangular faces</a:t>
            </a:r>
            <a:endParaRPr/>
          </a:p>
        </p:txBody>
      </p:sp>
      <p:sp>
        <p:nvSpPr>
          <p:cNvPr id="468" name="Google Shape;468;p4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4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4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71" name="Google Shape;471;p4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Pyramid</a:t>
            </a:r>
            <a:endParaRPr/>
          </a:p>
        </p:txBody>
      </p:sp>
      <p:sp>
        <p:nvSpPr>
          <p:cNvPr id="472" name="Google Shape;472;p4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solid with a flat bottom and triangle sides</a:t>
            </a:r>
            <a:endParaRPr/>
          </a:p>
        </p:txBody>
      </p:sp>
      <p:sp>
        <p:nvSpPr>
          <p:cNvPr id="473" name="Google Shape;473;p4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4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4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476" name="Google Shape;476;p4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Slant height</a:t>
            </a:r>
            <a:endParaRPr/>
          </a:p>
        </p:txBody>
      </p:sp>
      <p:sp>
        <p:nvSpPr>
          <p:cNvPr id="477" name="Google Shape;477;p4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height of a side triangle, measured along its slanted face</a:t>
            </a:r>
            <a:endParaRPr/>
          </a:p>
        </p:txBody>
      </p:sp>
      <p:sp>
        <p:nvSpPr>
          <p:cNvPr id="4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50</a:t>
            </a:r>
          </a:p>
        </p:txBody>
      </p:sp>
      <p:grpSp>
        <p:nvGrpSpPr>
          <p:cNvPr id="479" name="TEACH-1-student-move" descr="TEACH 1 · Facilitate clear, standards-based content learning"/>
          <p:cNvGrpSpPr/>
          <p:nvPr/>
        </p:nvGrpSpPr>
        <p:grpSpPr>
          <a:xfrm>
            <a:off x="6187440" y="1682496"/>
            <a:ext cx="5501640" cy="594360"/>
            <a:chOff x="6187440" y="1682496"/>
            <a:chExt cx="5501640" cy="594360"/>
          </a:xfrm>
        </p:grpSpPr>
        <p:sp>
          <p:nvSpPr>
            <p:cNvPr id="480"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481"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482"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4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4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485" name="Google Shape;485;p4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486" name="Google Shape;486;p4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4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4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489" name="Google Shape;489;p4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4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491" name="Google Shape;491;p4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4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Surface Area of Pyramids</a:t>
            </a:r>
            <a:endParaRPr/>
          </a:p>
        </p:txBody>
      </p:sp>
      <p:sp>
        <p:nvSpPr>
          <p:cNvPr id="493" name="Google Shape;493;p4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4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Surface Area = Base Area + Sum of Triangular Lateral Faces</a:t>
            </a:r>
            <a:endParaRPr/>
          </a:p>
        </p:txBody>
      </p:sp>
      <p:sp>
        <p:nvSpPr>
          <p:cNvPr id="495" name="Google Shape;495;p4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4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497" name="Google Shape;497;p4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Calculate </a:t>
            </a:r>
            <a:r>
              <a:rPr b="1" i="0" lang="en-US" sz="1600" u="none" cap="none" strike="noStrike">
                <a:solidFill>
                  <a:srgbClr val="14223A"/>
                </a:solidFill>
                <a:latin typeface="Arial"/>
                <a:ea typeface="Arial"/>
                <a:cs typeface="Arial"/>
                <a:sym typeface="Arial"/>
              </a:rPr>
              <a:t xml:space="preserve">area</a:t>
            </a:r>
            <a:r>
              <a:rPr b="0" i="0" lang="en-US" sz="1600" u="none" cap="none" strike="noStrike">
                <a:solidFill>
                  <a:srgbClr val="14223A"/>
                </a:solidFill>
                <a:latin typeface="Arial"/>
                <a:ea typeface="Arial"/>
                <a:cs typeface="Arial"/>
                <a:sym typeface="Arial"/>
              </a:rPr>
              <a:t xml:space="preserve"> of </a:t>
            </a:r>
            <a:r>
              <a:rPr b="1" i="0" lang="en-US" sz="1600" u="none" cap="none" strike="noStrike">
                <a:solidFill>
                  <a:srgbClr val="14223A"/>
                </a:solidFill>
                <a:latin typeface="Arial"/>
                <a:ea typeface="Arial"/>
                <a:cs typeface="Arial"/>
                <a:sym typeface="Arial"/>
              </a:rPr>
              <a:t xml:space="preserve">base</a:t>
            </a:r>
            <a:r>
              <a:rPr b="0" i="0" lang="en-US" sz="1600" u="none" cap="none" strike="noStrike">
                <a:solidFill>
                  <a:srgbClr val="14223A"/>
                </a:solidFill>
                <a:latin typeface="Arial"/>
                <a:ea typeface="Arial"/>
                <a:cs typeface="Arial"/>
                <a:sym typeface="Arial"/>
              </a:rPr>
              <a:t xml:space="preserve"> polygon (square, rectangle, or triangle)</a:t>
            </a:r>
            <a:endParaRPr/>
          </a:p>
        </p:txBody>
      </p:sp>
      <p:sp>
        <p:nvSpPr>
          <p:cNvPr id="498" name="Google Shape;498;p4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4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00" name="Google Shape;500;p4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Calculate area of each </a:t>
            </a:r>
            <a:r>
              <a:rPr b="1" i="0" lang="en-US" sz="1600" u="none" cap="none" strike="noStrike">
                <a:solidFill>
                  <a:srgbClr val="14223A"/>
                </a:solidFill>
                <a:latin typeface="Arial"/>
                <a:ea typeface="Arial"/>
                <a:cs typeface="Arial"/>
                <a:sym typeface="Arial"/>
              </a:rPr>
              <a:t xml:space="preserve">triangular</a:t>
            </a:r>
            <a:r>
              <a:rPr b="0" i="0" lang="en-US" sz="1600" u="none" cap="none" strike="noStrike">
                <a:solidFill>
                  <a:srgbClr val="14223A"/>
                </a:solidFill>
                <a:latin typeface="Arial"/>
                <a:ea typeface="Arial"/>
                <a:cs typeface="Arial"/>
                <a:sym typeface="Arial"/>
              </a:rPr>
              <a:t xml:space="preserve"> face using ½ × base × </a:t>
            </a:r>
            <a:r>
              <a:rPr b="1" i="0" lang="en-US" sz="1600" u="none" cap="none" strike="noStrike">
                <a:solidFill>
                  <a:srgbClr val="14223A"/>
                </a:solidFill>
                <a:latin typeface="Arial"/>
                <a:ea typeface="Arial"/>
                <a:cs typeface="Arial"/>
                <a:sym typeface="Arial"/>
              </a:rPr>
              <a:t xml:space="preserve">slant height</a:t>
            </a:r>
            <a:endParaRPr/>
          </a:p>
        </p:txBody>
      </p:sp>
      <p:sp>
        <p:nvSpPr>
          <p:cNvPr id="501" name="Google Shape;501;p4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4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03" name="Google Shape;503;p4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Add the base area and all triangular face areas together</a:t>
            </a:r>
            <a:endParaRPr/>
          </a:p>
        </p:txBody>
      </p:sp>
      <p:sp>
        <p:nvSpPr>
          <p:cNvPr id="5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50</a:t>
            </a:r>
          </a:p>
        </p:txBody>
      </p:sp>
      <p:sp xmlns:p="http://schemas.openxmlformats.org/presentationml/2006/main" xmlns:a="http://schemas.openxmlformats.org/drawingml/2006/main">
        <p:nvSpPr>
          <p:cNvPr id="505"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Surface Area of Pyramids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3600"/>
              <a:buFont typeface="Arial"/>
              <a:buNone/>
              <a:defRPr/>
            </a:pPr>
            <a:r>
              <a:rPr/>
              <a:t/>
            </a:r>
            <a:endParaRPr b="1" i="0" sz="3600" u="none" cap="none" strike="noStrike">
              <a:solidFill>
                <a:schemeClr val="dk1"/>
              </a:solidFill>
              <a:latin typeface="Arial"/>
              <a:ea typeface="Arial"/>
              <a:cs typeface="Arial"/>
              <a:sym typeface="Arial"/>
            </a:endParaRPr>
          </a:p>
        </p:txBody>
      </p:sp>
      <p:sp>
        <p:nvSpPr>
          <p:cNvPr id="165" name="Google Shape;165;p28"/>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166" name="Google Shape;166;p28"/>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16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50</a:t>
            </a:r>
          </a:p>
        </p:txBody>
      </p:sp>
      <p:grpSp>
        <p:nvGrpSpPr>
          <p:cNvPr id="168" name="TEACH-2-student-move" descr="TEACH 2 · Use strategies and tasks to engage students in rigorous work"/>
          <p:cNvGrpSpPr/>
          <p:nvPr/>
        </p:nvGrpSpPr>
        <p:grpSpPr>
          <a:xfrm>
            <a:off x="502920" y="3534770"/>
            <a:ext cx="11186160" cy="731520"/>
            <a:chOff x="502920" y="3534770"/>
            <a:chExt cx="11186160" cy="731520"/>
          </a:xfrm>
        </p:grpSpPr>
        <p:sp>
          <p:nvSpPr>
            <p:cNvPr id="169" name="TEACH-move-card"/>
            <p:cNvSpPr/>
            <p:nvPr/>
          </p:nvSpPr>
          <p:spPr>
            <a:xfrm>
              <a:off x="502920" y="353477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70" name="TEACH-move-rule"/>
            <p:cNvSpPr/>
            <p:nvPr/>
          </p:nvSpPr>
          <p:spPr>
            <a:xfrm>
              <a:off x="548640" y="3673759"/>
              <a:ext cx="100584" cy="453542"/>
            </a:xfrm>
            <a:prstGeom prst="roundRect">
              <a:avLst>
                <a:gd name="adj" fmla="val 50000"/>
              </a:avLst>
            </a:prstGeom>
            <a:solidFill>
              <a:srgbClr val="01708C"/>
            </a:solidFill>
            <a:ln>
              <a:noFill/>
            </a:ln>
          </p:spPr>
          <p:txBody>
            <a:bodyPr/>
            <a:lstStyle/>
            <a:p>
              <a:endParaRPr/>
            </a:p>
          </p:txBody>
        </p:sp>
        <p:sp>
          <p:nvSpPr>
            <p:cNvPr id="171" name="TEACH-move-text"/>
            <p:cNvSpPr txBox="1"/>
            <p:nvPr/>
          </p:nvSpPr>
          <p:spPr>
            <a:xfrm>
              <a:off x="822960" y="353477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cxnSp>
        <p:nvCxnSpPr>
          <p:cNvPr id="171" name="Google Shape;171;p2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72" name="Google Shape;172;p29"/>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173" name="Google Shape;173;p29"/>
          <p:cNvSpPr txBox="1"/>
          <p:nvPr/>
        </p:nvSpPr>
        <p:spPr>
          <a:xfrm>
            <a:off x="484560" y="936101"/>
            <a:ext cx="7719988" cy="11793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hours of recess?</a:t>
            </a:r>
            <a:endParaRPr b="0" i="0" sz="1400" u="none" cap="none" strike="noStrike">
              <a:solidFill>
                <a:srgbClr val="000000"/>
              </a:solidFill>
              <a:latin typeface="Arial"/>
              <a:ea typeface="Arial"/>
              <a:cs typeface="Arial"/>
              <a:sym typeface="Arial"/>
            </a:endParaRPr>
          </a:p>
        </p:txBody>
      </p:sp>
      <p:graphicFrame>
        <p:nvGraphicFramePr>
          <p:cNvPr id="174" name="Google Shape;174;p29"/>
          <p:cNvGraphicFramePr/>
          <p:nvPr/>
        </p:nvGraphicFramePr>
        <p:xfrm>
          <a:off x="579638" y="2854351"/>
          <a:ext cx="3000000" cy="3000000"/>
        </p:xfrm>
        <a:graphic>
          <a:graphicData uri="http://schemas.openxmlformats.org/drawingml/2006/table">
            <a:tbl>
              <a:tblPr bandRow="1" firstRow="1">
                <a:noFill/>
                <a:tableStyleId>{DFCC5298-C452-4833-BA59-05FD1977CD2F}</a:tableStyleId>
              </a:tblPr>
              <a:tblGrid>
                <a:gridCol w="3906150"/>
                <a:gridCol w="4064000"/>
              </a:tblGrid>
              <a:tr h="51815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rPr>
                        <a:t>THAT</a:t>
                      </a:r>
                      <a:endParaRPr b="1" sz="2800" u="none" cap="none" strike="noStrike">
                        <a:solidFill>
                          <a:schemeClr val="lt1"/>
                        </a:solidFill>
                        <a:latin typeface="Arial"/>
                        <a:ea typeface="Arial"/>
                        <a:cs typeface="Arial"/>
                        <a:sym typeface="Arial"/>
                      </a:endParaRPr>
                    </a:p>
                  </a:txBody>
                  <a:tcPr marT="45725" marB="45725" marR="91450" marL="91450">
                    <a:lnB cap="flat" cmpd="sng" w="12700">
                      <a:solidFill>
                        <a:schemeClr val="dk1"/>
                      </a:solidFill>
                      <a:prstDash val="solid"/>
                      <a:round/>
                      <a:headEnd len="sm" w="sm" type="none"/>
                      <a:tailEnd len="sm" w="sm" type="none"/>
                    </a:lnB>
                    <a:solidFill>
                      <a:srgbClr val="695B9A"/>
                    </a:solidFill>
                  </a:tcPr>
                </a:tc>
              </a:tr>
              <a:tr h="6960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77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6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5" name="Google Shape;175;p29"/>
          <p:cNvSpPr/>
          <p:nvPr/>
        </p:nvSpPr>
        <p:spPr>
          <a:xfrm>
            <a:off x="1763698" y="2356124"/>
            <a:ext cx="5447311"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Hours of Recess</a:t>
            </a:r>
            <a:endParaRPr b="0" i="0" sz="1400" u="none" cap="none" strike="noStrike">
              <a:solidFill>
                <a:srgbClr val="000000"/>
              </a:solidFill>
              <a:latin typeface="Arial"/>
              <a:ea typeface="Arial"/>
              <a:cs typeface="Arial"/>
              <a:sym typeface="Arial"/>
            </a:endParaRPr>
          </a:p>
        </p:txBody>
      </p:sp>
      <p:sp>
        <p:nvSpPr>
          <p:cNvPr id="17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50</a:t>
            </a:r>
          </a:p>
        </p:txBody>
      </p:sp>
      <p:sp xmlns:p="http://schemas.openxmlformats.org/presentationml/2006/main" xmlns:a="http://schemas.openxmlformats.org/drawingml/2006/main">
        <p:nvSpPr>
          <p:cNvPr id="177" name="TEACH-embedded-student-prompt" descr="Student thinking and response directions"/>
          <p:cNvSpPr txBox="1"/>
          <p:nvPr/>
        </p:nvSpPr>
        <p:spPr>
          <a:xfrm>
            <a:off x="40995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32"/>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3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269" name="Google Shape;269;p3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270" name="Google Shape;270;p3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3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72" name="Google Shape;272;p32"/>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Determine Surface Area of Pyramids</a:t>
            </a:r>
            <a:endParaRPr/>
          </a:p>
        </p:txBody>
      </p:sp>
      <p:sp>
        <p:nvSpPr>
          <p:cNvPr id="273" name="Google Shape;273;p32"/>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6.GR.4</a:t>
            </a:r>
            <a:endParaRPr/>
          </a:p>
        </p:txBody>
      </p:sp>
      <p:sp>
        <p:nvSpPr>
          <p:cNvPr id="274" name="Google Shape;274;p32"/>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32"/>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2"/>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277" name="Google Shape;277;p32"/>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278" name="Google Shape;278;p32"/>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surface area of a pyramid by adding the base area and the lateral faces.</a:t>
            </a:r>
            <a:endParaRPr/>
          </a:p>
        </p:txBody>
      </p:sp>
      <p:sp>
        <p:nvSpPr>
          <p:cNvPr id="279" name="Google Shape;279;p32"/>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32"/>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32"/>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282" name="Google Shape;282;p32"/>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283" name="Google Shape;283;p32"/>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pyramid, slant height, lateral face, and base.</a:t>
            </a:r>
            <a:endParaRPr/>
          </a:p>
        </p:txBody>
      </p:sp>
      <p:sp>
        <p:nvSpPr>
          <p:cNvPr id="2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50</a:t>
            </a:r>
          </a:p>
        </p:txBody>
      </p:sp>
      <p:grpSp>
        <p:nvGrpSpPr>
          <p:cNvPr id="285" name="TEACH-1-student-move" descr="TEACH 1 · Facilitate clear, standards-based content learning"/>
          <p:cNvGrpSpPr/>
          <p:nvPr/>
        </p:nvGrpSpPr>
        <p:grpSpPr>
          <a:xfrm>
            <a:off x="502920" y="1993392"/>
            <a:ext cx="11186160" cy="402336"/>
            <a:chOff x="502920" y="1993392"/>
            <a:chExt cx="11186160" cy="402336"/>
          </a:xfrm>
        </p:grpSpPr>
        <p:sp>
          <p:nvSpPr>
            <p:cNvPr id="286"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87"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288"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5.8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Include the base and each triangular face.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face height correctly.</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Report square units.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8" name="Google Shape;328;p3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3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3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31" name="Google Shape;331;p3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332" name="Google Shape;332;p3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3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4" name="Google Shape;334;p34"/>
          <p:cNvSpPr txBox="1"/>
          <p:nvPr/>
        </p:nvSpPr>
        <p:spPr>
          <a:xfrm>
            <a:off x="640080" y="128625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Surface Area of Pyramids</a:t>
            </a:r>
            <a:endParaRPr/>
          </a:p>
        </p:txBody>
      </p:sp>
      <p:sp>
        <p:nvSpPr>
          <p:cNvPr id="335" name="Google Shape;335;p34"/>
          <p:cNvSpPr/>
          <p:nvPr/>
        </p:nvSpPr>
        <p:spPr>
          <a:xfrm>
            <a:off x="658368" y="2804159"/>
            <a:ext cx="285292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34"/>
          <p:cNvSpPr txBox="1"/>
          <p:nvPr/>
        </p:nvSpPr>
        <p:spPr>
          <a:xfrm>
            <a:off x="640080" y="316534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total area of a pyramid’s base and triangular faces. Formula: SA = B + lateral area.</a:t>
            </a:r>
            <a:endParaRPr/>
          </a:p>
        </p:txBody>
      </p:sp>
      <p:sp>
        <p:nvSpPr>
          <p:cNvPr id="337" name="Google Shape;337;p34"/>
          <p:cNvSpPr/>
          <p:nvPr/>
        </p:nvSpPr>
        <p:spPr>
          <a:xfrm>
            <a:off x="640080" y="464210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34"/>
          <p:cNvSpPr/>
          <p:nvPr/>
        </p:nvSpPr>
        <p:spPr>
          <a:xfrm>
            <a:off x="640080" y="464210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34"/>
          <p:cNvSpPr txBox="1"/>
          <p:nvPr/>
        </p:nvSpPr>
        <p:spPr>
          <a:xfrm>
            <a:off x="932688" y="481584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40" name="Google Shape;340;p34"/>
          <p:cNvSpPr txBox="1"/>
          <p:nvPr/>
        </p:nvSpPr>
        <p:spPr>
          <a:xfrm>
            <a:off x="932688" y="5117591"/>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Square base 6×6 with 4 triangles of ½ × 6 × 5: 36 + 60 = 96 square units</a:t>
            </a:r>
            <a:endParaRPr/>
          </a:p>
        </p:txBody>
      </p:sp>
      <p:pic>
        <p:nvPicPr>
          <p:cNvPr descr="surface-area-of-pyramids.png" id="341" name="Google Shape;341;p3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50</a:t>
            </a:r>
          </a:p>
        </p:txBody>
      </p:sp>
      <p:grpSp>
        <p:nvGrpSpPr>
          <p:cNvPr id="342" name="TEACH-5-student-move" descr="TEACH 5 · Facilitate student interactions and academic talk"/>
          <p:cNvGrpSpPr/>
          <p:nvPr/>
        </p:nvGrpSpPr>
        <p:grpSpPr>
          <a:xfrm>
            <a:off x="502920" y="847343"/>
            <a:ext cx="11186160" cy="402336"/>
            <a:chOff x="502920" y="847343"/>
            <a:chExt cx="11186160" cy="402336"/>
          </a:xfrm>
        </p:grpSpPr>
        <p:sp>
          <p:nvSpPr>
            <p:cNvPr id="343" name="TEACH-move-card"/>
            <p:cNvSpPr/>
            <p:nvPr/>
          </p:nvSpPr>
          <p:spPr>
            <a:xfrm>
              <a:off x="502920" y="84734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44" name="TEACH-move-rule"/>
            <p:cNvSpPr/>
            <p:nvPr/>
          </p:nvSpPr>
          <p:spPr>
            <a:xfrm>
              <a:off x="548640" y="923787"/>
              <a:ext cx="100584" cy="249448"/>
            </a:xfrm>
            <a:prstGeom prst="roundRect">
              <a:avLst>
                <a:gd name="adj" fmla="val 50000"/>
              </a:avLst>
            </a:prstGeom>
            <a:solidFill>
              <a:srgbClr val="01708C"/>
            </a:solidFill>
            <a:ln>
              <a:noFill/>
            </a:ln>
          </p:spPr>
          <p:txBody>
            <a:bodyPr/>
            <a:lstStyle/>
            <a:p>
              <a:endParaRPr/>
            </a:p>
          </p:txBody>
        </p:sp>
        <p:sp>
          <p:nvSpPr>
            <p:cNvPr id="345" name="TEACH-move-text"/>
            <p:cNvSpPr txBox="1"/>
            <p:nvPr/>
          </p:nvSpPr>
          <p:spPr>
            <a:xfrm>
              <a:off x="822960" y="84734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46" name="Google Shape;346;p3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3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3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349" name="Google Shape;349;p3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350" name="Google Shape;350;p3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3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52" name="Google Shape;352;p35"/>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Pyramid</a:t>
            </a:r>
            <a:endParaRPr/>
          </a:p>
        </p:txBody>
      </p:sp>
      <p:sp>
        <p:nvSpPr>
          <p:cNvPr id="353" name="Google Shape;353;p35"/>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35"/>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solid with a flat bottom and triangle sides that meet at one point on top.</a:t>
            </a:r>
            <a:endParaRPr/>
          </a:p>
        </p:txBody>
      </p:sp>
      <p:sp>
        <p:nvSpPr>
          <p:cNvPr id="355" name="Google Shape;355;p35"/>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35"/>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35"/>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58" name="Google Shape;358;p35"/>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Like the Great Pyramid of Giza — a square on the bottom, 4 triangles slanting up to a point</a:t>
            </a:r>
            <a:endParaRPr/>
          </a:p>
        </p:txBody>
      </p:sp>
      <p:pic>
        <p:nvPicPr>
          <p:cNvPr descr="pyramid.png" id="359" name="Google Shape;359;p35"/>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50</a:t>
            </a:r>
          </a:p>
        </p:txBody>
      </p:sp>
      <p:sp xmlns:p="http://schemas.openxmlformats.org/presentationml/2006/main" xmlns:a="http://schemas.openxmlformats.org/drawingml/2006/main">
        <p:nvSpPr>
          <p:cNvPr id="36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“Pyramid”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4" name="Google Shape;364;p3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3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3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367" name="Google Shape;367;p3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368" name="Google Shape;368;p3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3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70" name="Google Shape;370;p36"/>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Slant height</a:t>
            </a:r>
            <a:endParaRPr/>
          </a:p>
        </p:txBody>
      </p:sp>
      <p:sp>
        <p:nvSpPr>
          <p:cNvPr id="371" name="Google Shape;371;p36"/>
          <p:cNvSpPr/>
          <p:nvPr/>
        </p:nvSpPr>
        <p:spPr>
          <a:xfrm>
            <a:off x="658368" y="25092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36"/>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height of a side triangle, measured along its slanted face.</a:t>
            </a:r>
            <a:endParaRPr/>
          </a:p>
        </p:txBody>
      </p:sp>
      <p:sp>
        <p:nvSpPr>
          <p:cNvPr id="373" name="Google Shape;373;p36"/>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36"/>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36"/>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76" name="Google Shape;376;p36"/>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you slide your finger from the bottom edge up the triangle face to the top point — that distance is the slant height</a:t>
            </a:r>
            <a:endParaRPr/>
          </a:p>
        </p:txBody>
      </p:sp>
      <p:pic>
        <p:nvPicPr>
          <p:cNvPr descr="slant-height-pyramid.png" id="377" name="Google Shape;377;p3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50</a:t>
            </a:r>
          </a:p>
        </p:txBody>
      </p:sp>
      <p:sp xmlns:p="http://schemas.openxmlformats.org/presentationml/2006/main" xmlns:a="http://schemas.openxmlformats.org/drawingml/2006/main">
        <p:nvSpPr>
          <p:cNvPr id="37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“Slant height”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2" name="Google Shape;382;p3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3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3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385" name="Google Shape;385;p3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386" name="Google Shape;386;p3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3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88" name="Google Shape;388;p37"/>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Lateral face</a:t>
            </a:r>
            <a:endParaRPr/>
          </a:p>
        </p:txBody>
      </p:sp>
      <p:sp>
        <p:nvSpPr>
          <p:cNvPr id="389" name="Google Shape;389;p37"/>
          <p:cNvSpPr/>
          <p:nvPr/>
        </p:nvSpPr>
        <p:spPr>
          <a:xfrm>
            <a:off x="658368" y="281482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37"/>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triangle side of a pyramid, not the bottom.</a:t>
            </a:r>
            <a:endParaRPr/>
          </a:p>
        </p:txBody>
      </p:sp>
      <p:sp>
        <p:nvSpPr>
          <p:cNvPr id="391" name="Google Shape;391;p37"/>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37"/>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37"/>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94" name="Google Shape;394;p37"/>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square pyramid has 4 lateral faces — one triangle for each side of the square base</a:t>
            </a:r>
            <a:endParaRPr/>
          </a:p>
        </p:txBody>
      </p:sp>
      <p:pic>
        <p:nvPicPr>
          <p:cNvPr descr="surface-area.png" id="395" name="Google Shape;395;p3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50</a:t>
            </a:r>
          </a:p>
        </p:txBody>
      </p:sp>
      <p:sp xmlns:p="http://schemas.openxmlformats.org/presentationml/2006/main" xmlns:a="http://schemas.openxmlformats.org/drawingml/2006/main">
        <p:nvSpPr>
          <p:cNvPr id="39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“Lateral face”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0" name="Google Shape;400;p3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3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03" name="Google Shape;403;p3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404" name="Google Shape;404;p3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3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6" name="Google Shape;406;p3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07" name="Google Shape;407;p38"/>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3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flat bottom of a pyramid.</a:t>
            </a:r>
            <a:endParaRPr/>
          </a:p>
        </p:txBody>
      </p:sp>
      <p:sp>
        <p:nvSpPr>
          <p:cNvPr id="409" name="Google Shape;409;p3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3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3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2" name="Google Shape;412;p3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square pyramid sits on a square base; base area = side × side</a:t>
            </a:r>
            <a:endParaRPr/>
          </a:p>
        </p:txBody>
      </p:sp>
      <p:pic>
        <p:nvPicPr>
          <p:cNvPr descr="pyramid-base.png" id="413" name="Google Shape;413;p3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50</a:t>
            </a:r>
          </a:p>
        </p:txBody>
      </p:sp>
      <p:sp xmlns:p="http://schemas.openxmlformats.org/presentationml/2006/main" xmlns:a="http://schemas.openxmlformats.org/drawingml/2006/main">
        <p:nvSpPr>
          <p:cNvPr id="41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8" name="Google Shape;418;p3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3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3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21" name="Google Shape;421;p3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422" name="Google Shape;422;p3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3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4" name="Google Shape;424;p3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Apex</a:t>
            </a:r>
            <a:endParaRPr/>
          </a:p>
        </p:txBody>
      </p:sp>
      <p:sp>
        <p:nvSpPr>
          <p:cNvPr id="425" name="Google Shape;425;p3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3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point at the top of a pyramid where the sides meet.</a:t>
            </a:r>
            <a:endParaRPr/>
          </a:p>
        </p:txBody>
      </p:sp>
      <p:sp>
        <p:nvSpPr>
          <p:cNvPr id="427" name="Google Shape;427;p3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3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3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0" name="Google Shape;430;p3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pointy top of a pyramid — all the slanted edges connect here</a:t>
            </a:r>
            <a:endParaRPr/>
          </a:p>
        </p:txBody>
      </p:sp>
      <p:pic>
        <p:nvPicPr>
          <p:cNvPr descr="pyramid.png" id="431" name="Google Shape;431;p3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50</a:t>
            </a:r>
          </a:p>
        </p:txBody>
      </p:sp>
      <p:sp xmlns:p="http://schemas.openxmlformats.org/presentationml/2006/main" xmlns:a="http://schemas.openxmlformats.org/drawingml/2006/main">
        <p:nvSpPr>
          <p:cNvPr id="43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“Apex”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6" name="Google Shape;436;p4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439" name="Google Shape;439;p4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5-8 · Determine Surface Area of Pyramids</a:t>
            </a:r>
            <a:endParaRPr/>
          </a:p>
        </p:txBody>
      </p:sp>
      <p:sp>
        <p:nvSpPr>
          <p:cNvPr id="440" name="Google Shape;440;p4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2" name="Google Shape;442;p4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Lateral area</a:t>
            </a:r>
            <a:endParaRPr/>
          </a:p>
        </p:txBody>
      </p:sp>
      <p:sp>
        <p:nvSpPr>
          <p:cNvPr id="443" name="Google Shape;443;p40"/>
          <p:cNvSpPr/>
          <p:nvPr/>
        </p:nvSpPr>
        <p:spPr>
          <a:xfrm>
            <a:off x="658368" y="263880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total area of just the side triangles, not the bottom.</a:t>
            </a:r>
            <a:endParaRPr/>
          </a:p>
        </p:txBody>
      </p:sp>
      <p:sp>
        <p:nvSpPr>
          <p:cNvPr id="445" name="Google Shape;445;p4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4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8" name="Google Shape;448;p4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For a square pyramid: lateral area = 4 × (½ × base edge × slant height)</a:t>
            </a:r>
            <a:endParaRPr/>
          </a:p>
        </p:txBody>
      </p:sp>
      <p:pic>
        <p:nvPicPr>
          <p:cNvPr descr="surface-area.png" id="449" name="Google Shape;449;p4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50</a:t>
            </a:r>
          </a:p>
        </p:txBody>
      </p:sp>
      <p:sp xmlns:p="http://schemas.openxmlformats.org/presentationml/2006/main" xmlns:a="http://schemas.openxmlformats.org/drawingml/2006/main">
        <p:nvSpPr>
          <p:cNvPr id="45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“Lateral area” to explain 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18" name="Google Shape;518;p4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19" name="Google Shape;519;p44"/>
          <p:cNvSpPr/>
          <p:nvPr/>
        </p:nvSpPr>
        <p:spPr>
          <a:xfrm>
            <a:off x="732643" y="5798621"/>
            <a:ext cx="987752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helps you make sense of a math or non-math problem?</a:t>
            </a:r>
            <a:endParaRPr b="0" i="0" sz="1400" u="none" cap="none" strike="noStrike">
              <a:solidFill>
                <a:srgbClr val="000000"/>
              </a:solidFill>
              <a:latin typeface="Arial"/>
              <a:ea typeface="Arial"/>
              <a:cs typeface="Arial"/>
              <a:sym typeface="Arial"/>
            </a:endParaRPr>
          </a:p>
        </p:txBody>
      </p:sp>
      <p:pic>
        <p:nvPicPr>
          <p:cNvPr descr="A picture containing sky, outdoor, building, big&#10;&#10;Description automatically generated" id="520" name="Google Shape;520;p44"/>
          <p:cNvPicPr preferRelativeResize="0"/>
          <p:nvPr/>
        </p:nvPicPr>
        <p:blipFill rotWithShape="1">
          <a:blip r:embed="rId2">
            <a:alphaModFix/>
          </a:blip>
          <a:srcRect b="0" l="0" r="0" t="0"/>
          <a:stretch/>
        </p:blipFill>
        <p:spPr>
          <a:xfrm>
            <a:off x="5206666" y="1606893"/>
            <a:ext cx="4689088" cy="3240816"/>
          </a:xfrm>
          <a:prstGeom prst="rect">
            <a:avLst/>
          </a:prstGeom>
          <a:noFill/>
          <a:ln>
            <a:noFill/>
          </a:ln>
        </p:spPr>
      </p:pic>
      <p:sp>
        <p:nvSpPr>
          <p:cNvPr id="521" name="Google Shape;521;p4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22" name="Google Shape;522;p44"/>
          <p:cNvSpPr txBox="1"/>
          <p:nvPr/>
        </p:nvSpPr>
        <p:spPr>
          <a:xfrm>
            <a:off x="484560" y="936100"/>
            <a:ext cx="452215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id="523" name="Google Shape;523;p44"/>
          <p:cNvPicPr preferRelativeResize="0"/>
          <p:nvPr/>
        </p:nvPicPr>
        <p:blipFill rotWithShape="1">
          <a:blip r:embed="rId3">
            <a:alphaModFix/>
          </a:blip>
          <a:srcRect b="0" l="0" r="0" t="0"/>
          <a:stretch/>
        </p:blipFill>
        <p:spPr>
          <a:xfrm>
            <a:off x="484560" y="4960421"/>
            <a:ext cx="5054600" cy="838200"/>
          </a:xfrm>
          <a:prstGeom prst="rect">
            <a:avLst/>
          </a:prstGeom>
          <a:noFill/>
          <a:ln>
            <a:noFill/>
          </a:ln>
        </p:spPr>
      </p:pic>
      <p:sp>
        <p:nvSpPr>
          <p:cNvPr id="524" name="Google Shape;524;p44"/>
          <p:cNvSpPr txBox="1"/>
          <p:nvPr/>
        </p:nvSpPr>
        <p:spPr>
          <a:xfrm>
            <a:off x="3344577" y="511773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50</a:t>
            </a:r>
          </a:p>
        </p:txBody>
      </p:sp>
      <p:sp xmlns:p="http://schemas.openxmlformats.org/presentationml/2006/main" xmlns:a="http://schemas.openxmlformats.org/drawingml/2006/main">
        <p:nvSpPr>
          <p:cNvPr id="525" name="TEACH-embedded-student-prompt" descr="Student thinking and response directions"/>
          <p:cNvSpPr txBox="1"/>
          <p:nvPr/>
        </p:nvSpPr>
        <p:spPr>
          <a:xfrm>
            <a:off x="594360" y="37307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3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3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291" name="Google Shape;291;p3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292" name="Google Shape;292;p3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3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294" name="Google Shape;294;p33"/>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295" name="Google Shape;295;p33"/>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296" name="Google Shape;296;p33"/>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33"/>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33"/>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Surface Area of Pyramids</a:t>
            </a:r>
            <a:endParaRPr/>
          </a:p>
        </p:txBody>
      </p:sp>
      <p:sp>
        <p:nvSpPr>
          <p:cNvPr id="299" name="Google Shape;299;p33"/>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total area of a pyramid’s base and triangular faces</a:t>
            </a:r>
            <a:endParaRPr/>
          </a:p>
        </p:txBody>
      </p:sp>
      <p:sp>
        <p:nvSpPr>
          <p:cNvPr id="300" name="Google Shape;300;p33"/>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33"/>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3"/>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Pyramid</a:t>
            </a:r>
            <a:endParaRPr/>
          </a:p>
        </p:txBody>
      </p:sp>
      <p:sp>
        <p:nvSpPr>
          <p:cNvPr id="303" name="Google Shape;303;p33"/>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50" u="none" cap="none" strike="noStrike">
                <a:solidFill>
                  <a:srgbClr val="475569"/>
                </a:solidFill>
                <a:latin typeface="Arial"/>
                <a:ea typeface="Arial"/>
                <a:cs typeface="Arial"/>
                <a:sym typeface="Arial"/>
              </a:rPr>
              <a:t>A solid with a flat bottom and triangle sides that meet at one point on top</a:t>
            </a:r>
            <a:endParaRPr/>
          </a:p>
        </p:txBody>
      </p:sp>
      <p:sp>
        <p:nvSpPr>
          <p:cNvPr id="304" name="Google Shape;304;p33"/>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33"/>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33"/>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Slant height</a:t>
            </a:r>
            <a:endParaRPr/>
          </a:p>
        </p:txBody>
      </p:sp>
      <p:sp>
        <p:nvSpPr>
          <p:cNvPr id="307" name="Google Shape;307;p33"/>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height of a side triangle, measured along its slanted face</a:t>
            </a:r>
            <a:endParaRPr/>
          </a:p>
        </p:txBody>
      </p:sp>
      <p:sp>
        <p:nvSpPr>
          <p:cNvPr id="308" name="Google Shape;308;p33"/>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3"/>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33"/>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Lateral face</a:t>
            </a:r>
            <a:endParaRPr/>
          </a:p>
        </p:txBody>
      </p:sp>
      <p:sp>
        <p:nvSpPr>
          <p:cNvPr id="311" name="Google Shape;311;p33"/>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triangle side of a pyramid, not the bottom</a:t>
            </a:r>
            <a:endParaRPr/>
          </a:p>
        </p:txBody>
      </p:sp>
      <p:sp>
        <p:nvSpPr>
          <p:cNvPr id="312" name="Google Shape;312;p33"/>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33"/>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33"/>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Base</a:t>
            </a:r>
            <a:endParaRPr/>
          </a:p>
        </p:txBody>
      </p:sp>
      <p:sp>
        <p:nvSpPr>
          <p:cNvPr id="315" name="Google Shape;315;p33"/>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flat bottom of a pyramid</a:t>
            </a:r>
            <a:endParaRPr/>
          </a:p>
        </p:txBody>
      </p:sp>
      <p:sp>
        <p:nvSpPr>
          <p:cNvPr id="316" name="Google Shape;316;p33"/>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33"/>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33"/>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Apex</a:t>
            </a:r>
            <a:endParaRPr/>
          </a:p>
        </p:txBody>
      </p:sp>
      <p:sp>
        <p:nvSpPr>
          <p:cNvPr id="319" name="Google Shape;319;p33"/>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point at the top of a pyramid where the sides meet</a:t>
            </a:r>
            <a:endParaRPr/>
          </a:p>
        </p:txBody>
      </p:sp>
      <p:sp>
        <p:nvSpPr>
          <p:cNvPr id="320" name="Google Shape;320;p33"/>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33"/>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33"/>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Lateral area</a:t>
            </a:r>
            <a:endParaRPr/>
          </a:p>
        </p:txBody>
      </p:sp>
      <p:sp>
        <p:nvSpPr>
          <p:cNvPr id="323" name="Google Shape;323;p33"/>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total area of just the side triangles, not the bottom</a:t>
            </a:r>
            <a:endParaRPr/>
          </a:p>
        </p:txBody>
      </p:sp>
      <p:sp>
        <p:nvSpPr>
          <p:cNvPr id="3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50</a:t>
            </a:r>
          </a:p>
        </p:txBody>
      </p:sp>
      <p:sp xmlns:p="http://schemas.openxmlformats.org/presentationml/2006/main" xmlns:a="http://schemas.openxmlformats.org/drawingml/2006/main">
        <p:nvSpPr>
          <p:cNvPr id="325"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cxnSp>
        <p:nvCxnSpPr>
          <p:cNvPr id="538" name="Google Shape;538;p4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39" name="Google Shape;539;p46"/>
          <p:cNvSpPr txBox="1"/>
          <p:nvPr/>
        </p:nvSpPr>
        <p:spPr>
          <a:xfrm>
            <a:off x="484565" y="936101"/>
            <a:ext cx="6789071" cy="149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surface area of the right square pyramid shown?</a:t>
            </a:r>
            <a:endParaRPr b="0" i="0" sz="1400" u="none" cap="none" strike="noStrike">
              <a:solidFill>
                <a:srgbClr val="000000"/>
              </a:solidFill>
              <a:latin typeface="Arial"/>
              <a:ea typeface="Arial"/>
              <a:cs typeface="Arial"/>
              <a:sym typeface="Arial"/>
            </a:endParaRPr>
          </a:p>
        </p:txBody>
      </p:sp>
      <p:sp>
        <p:nvSpPr>
          <p:cNvPr id="540" name="Google Shape;540;p46"/>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541" name="Google Shape;541;p46"/>
          <p:cNvSpPr txBox="1"/>
          <p:nvPr/>
        </p:nvSpPr>
        <p:spPr>
          <a:xfrm>
            <a:off x="484565" y="5217851"/>
            <a:ext cx="7114720" cy="11740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is surface area related to area?</a:t>
            </a:r>
            <a:endParaRPr b="0" i="0" sz="2800" u="none" cap="none" strike="noStrike">
              <a:solidFill>
                <a:srgbClr val="595959"/>
              </a:solidFill>
              <a:latin typeface="Arial"/>
              <a:ea typeface="Arial"/>
              <a:cs typeface="Arial"/>
              <a:sym typeface="Arial"/>
            </a:endParaRPr>
          </a:p>
        </p:txBody>
      </p:sp>
      <p:pic>
        <p:nvPicPr>
          <p:cNvPr id="542" name="Google Shape;542;p46"/>
          <p:cNvPicPr preferRelativeResize="0"/>
          <p:nvPr/>
        </p:nvPicPr>
        <p:blipFill rotWithShape="1">
          <a:blip r:embed="rId3">
            <a:alphaModFix/>
          </a:blip>
          <a:srcRect b="0" l="0" r="0" t="0"/>
          <a:stretch/>
        </p:blipFill>
        <p:spPr>
          <a:xfrm>
            <a:off x="8348786" y="1931188"/>
            <a:ext cx="2914650" cy="2076450"/>
          </a:xfrm>
          <a:prstGeom prst="rect">
            <a:avLst/>
          </a:prstGeom>
          <a:noFill/>
          <a:ln>
            <a:noFill/>
          </a:ln>
        </p:spPr>
      </p:pic>
      <p:sp>
        <p:nvSpPr>
          <p:cNvPr id="5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50</a:t>
            </a:r>
          </a:p>
        </p:txBody>
      </p:sp>
      <p:sp xmlns:p="http://schemas.openxmlformats.org/presentationml/2006/main" xmlns:a="http://schemas.openxmlformats.org/drawingml/2006/main">
        <p:nvSpPr>
          <p:cNvPr id="544"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cxnSp>
        <p:nvCxnSpPr>
          <p:cNvPr id="557" name="Google Shape;557;p4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8" name="Google Shape;558;p48"/>
          <p:cNvSpPr txBox="1"/>
          <p:nvPr/>
        </p:nvSpPr>
        <p:spPr>
          <a:xfrm>
            <a:off x="484567" y="936101"/>
            <a:ext cx="7347729"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is the surface area of the right square pyramid shown?​</a:t>
            </a:r>
            <a:endParaRPr b="0" i="0" sz="1400" u="none" cap="none" strike="noStrike">
              <a:solidFill>
                <a:srgbClr val="000000"/>
              </a:solidFill>
              <a:latin typeface="Arial"/>
              <a:ea typeface="Arial"/>
              <a:cs typeface="Arial"/>
              <a:sym typeface="Arial"/>
            </a:endParaRPr>
          </a:p>
        </p:txBody>
      </p:sp>
      <p:sp>
        <p:nvSpPr>
          <p:cNvPr id="559" name="Google Shape;559;p48"/>
          <p:cNvSpPr/>
          <p:nvPr/>
        </p:nvSpPr>
        <p:spPr>
          <a:xfrm>
            <a:off x="463443" y="4046906"/>
            <a:ext cx="742100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find the surface area of a three-dimensional figure?</a:t>
            </a:r>
            <a:endParaRPr b="1" i="0" sz="2800" u="none" cap="none" strike="noStrike">
              <a:solidFill>
                <a:schemeClr val="dk1"/>
              </a:solidFill>
              <a:latin typeface="Arial"/>
              <a:ea typeface="Arial"/>
              <a:cs typeface="Arial"/>
              <a:sym typeface="Arial"/>
            </a:endParaRPr>
          </a:p>
        </p:txBody>
      </p:sp>
      <p:sp>
        <p:nvSpPr>
          <p:cNvPr id="560" name="Google Shape;560;p48"/>
          <p:cNvSpPr txBox="1"/>
          <p:nvPr/>
        </p:nvSpPr>
        <p:spPr>
          <a:xfrm>
            <a:off x="463443" y="5302854"/>
            <a:ext cx="8268816" cy="1151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sum of the areas of all the faces.</a:t>
            </a:r>
            <a:endParaRPr b="0" i="0" sz="2800" u="none" cap="none" strike="noStrike">
              <a:solidFill>
                <a:srgbClr val="595959"/>
              </a:solidFill>
              <a:latin typeface="Arial"/>
              <a:ea typeface="Arial"/>
              <a:cs typeface="Arial"/>
              <a:sym typeface="Arial"/>
            </a:endParaRPr>
          </a:p>
        </p:txBody>
      </p:sp>
      <p:pic>
        <p:nvPicPr>
          <p:cNvPr id="561" name="Google Shape;561;p48"/>
          <p:cNvPicPr preferRelativeResize="0"/>
          <p:nvPr/>
        </p:nvPicPr>
        <p:blipFill rotWithShape="1">
          <a:blip r:embed="rId3">
            <a:alphaModFix/>
          </a:blip>
          <a:srcRect b="0" l="0" r="0" t="0"/>
          <a:stretch/>
        </p:blipFill>
        <p:spPr>
          <a:xfrm>
            <a:off x="8348786" y="1931188"/>
            <a:ext cx="2914650" cy="2076450"/>
          </a:xfrm>
          <a:prstGeom prst="rect">
            <a:avLst/>
          </a:prstGeom>
          <a:noFill/>
          <a:ln>
            <a:noFill/>
          </a:ln>
        </p:spPr>
      </p:pic>
      <p:sp>
        <p:nvSpPr>
          <p:cNvPr id="562" name="Google Shape;562;p48"/>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5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50</a:t>
            </a:r>
          </a:p>
        </p:txBody>
      </p:sp>
      <p:sp>
        <p:nvSpPr>
          <p:cNvPr id="564" name="EWL-COVER-1"/>
          <p:cNvSpPr/>
          <p:nvPr/>
        </p:nvSpPr>
        <p:spPr>
          <a:xfrm>
            <a:off x="408579" y="5247990"/>
            <a:ext cx="8378544" cy="1198530"/>
          </a:xfrm>
          <a:prstGeom prst="rect">
            <a:avLst/>
          </a:prstGeom>
          <a:solidFill>
            <a:srgbClr val="FFFFFF"/>
          </a:solidFill>
          <a:ln>
            <a:noFill/>
          </a:ln>
        </p:spPr>
        <p:txBody>
          <a:bodyPr/>
          <a:lstStyle/>
          <a:p/>
        </p:txBody>
      </p:sp>
      <p:sp xmlns:p="http://schemas.openxmlformats.org/presentationml/2006/main" xmlns:a="http://schemas.openxmlformats.org/drawingml/2006/main">
        <p:nvSpPr>
          <p:cNvPr id="565" name="TEACH-embedded-student-prompt" descr="Student thinking and response directions"/>
          <p:cNvSpPr txBox="1"/>
          <p:nvPr/>
        </p:nvSpPr>
        <p:spPr>
          <a:xfrm>
            <a:off x="594360" y="3127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cxnSp>
        <p:nvCxnSpPr>
          <p:cNvPr id="577" name="Google Shape;577;p5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8" name="Google Shape;578;p50"/>
          <p:cNvSpPr txBox="1"/>
          <p:nvPr/>
        </p:nvSpPr>
        <p:spPr>
          <a:xfrm>
            <a:off x="463443" y="977154"/>
            <a:ext cx="6194052" cy="13840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To determine the surface area of a three-dimensional figure, find the area of each face and add the areas.</a:t>
            </a:r>
            <a:endParaRPr b="0" i="0" sz="1400" u="none" cap="none" strike="noStrike">
              <a:solidFill>
                <a:srgbClr val="000000"/>
              </a:solidFill>
              <a:latin typeface="Arial"/>
              <a:ea typeface="Arial"/>
              <a:cs typeface="Arial"/>
              <a:sym typeface="Arial"/>
            </a:endParaRPr>
          </a:p>
        </p:txBody>
      </p:sp>
      <p:sp>
        <p:nvSpPr>
          <p:cNvPr id="579" name="Google Shape;579;p50"/>
          <p:cNvSpPr/>
          <p:nvPr/>
        </p:nvSpPr>
        <p:spPr>
          <a:xfrm>
            <a:off x="463443" y="3429000"/>
            <a:ext cx="689632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tool or representation can you use to help you determine the surface area of the pyramid?</a:t>
            </a:r>
            <a:endParaRPr b="1" i="0" sz="2800" u="none" cap="none" strike="noStrike">
              <a:solidFill>
                <a:schemeClr val="dk1"/>
              </a:solidFill>
              <a:latin typeface="Arial"/>
              <a:ea typeface="Arial"/>
              <a:cs typeface="Arial"/>
              <a:sym typeface="Arial"/>
            </a:endParaRPr>
          </a:p>
        </p:txBody>
      </p:sp>
      <p:sp>
        <p:nvSpPr>
          <p:cNvPr id="580" name="Google Shape;580;p50"/>
          <p:cNvSpPr txBox="1"/>
          <p:nvPr/>
        </p:nvSpPr>
        <p:spPr>
          <a:xfrm>
            <a:off x="463443" y="5186781"/>
            <a:ext cx="5960624" cy="12317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we can use is a net.</a:t>
            </a:r>
            <a:endParaRPr b="0" i="0" sz="2800" u="none" cap="none" strike="noStrike">
              <a:solidFill>
                <a:srgbClr val="595959"/>
              </a:solidFill>
              <a:latin typeface="Arial"/>
              <a:ea typeface="Arial"/>
              <a:cs typeface="Arial"/>
              <a:sym typeface="Arial"/>
            </a:endParaRPr>
          </a:p>
        </p:txBody>
      </p:sp>
      <p:pic>
        <p:nvPicPr>
          <p:cNvPr id="581" name="Google Shape;581;p50"/>
          <p:cNvPicPr preferRelativeResize="0"/>
          <p:nvPr/>
        </p:nvPicPr>
        <p:blipFill rotWithShape="1">
          <a:blip r:embed="rId3">
            <a:alphaModFix/>
          </a:blip>
          <a:srcRect b="0" l="0" r="0" t="0"/>
          <a:stretch/>
        </p:blipFill>
        <p:spPr>
          <a:xfrm>
            <a:off x="8348786" y="1931188"/>
            <a:ext cx="2914650" cy="2076450"/>
          </a:xfrm>
          <a:prstGeom prst="rect">
            <a:avLst/>
          </a:prstGeom>
          <a:noFill/>
          <a:ln>
            <a:noFill/>
          </a:ln>
        </p:spPr>
      </p:pic>
      <p:sp>
        <p:nvSpPr>
          <p:cNvPr id="582" name="Google Shape;582;p50"/>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5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50</a:t>
            </a:r>
          </a:p>
        </p:txBody>
      </p:sp>
      <p:sp>
        <p:nvSpPr>
          <p:cNvPr id="584" name="EWL-COVER-1"/>
          <p:cNvSpPr/>
          <p:nvPr/>
        </p:nvSpPr>
        <p:spPr>
          <a:xfrm>
            <a:off x="408579" y="5131917"/>
            <a:ext cx="6070352" cy="1314603"/>
          </a:xfrm>
          <a:prstGeom prst="rect">
            <a:avLst/>
          </a:prstGeom>
          <a:solidFill>
            <a:srgbClr val="FFFFFF"/>
          </a:solidFill>
          <a:ln>
            <a:noFill/>
          </a:ln>
        </p:spPr>
        <p:txBody>
          <a:bodyPr/>
          <a:lstStyle/>
          <a:p/>
        </p:txBody>
      </p:sp>
      <p:sp xmlns:p="http://schemas.openxmlformats.org/presentationml/2006/main" xmlns:a="http://schemas.openxmlformats.org/drawingml/2006/main">
        <p:nvSpPr>
          <p:cNvPr id="585" name="TEACH-embedded-student-prompt" descr="Student thinking and response directions"/>
          <p:cNvSpPr txBox="1"/>
          <p:nvPr/>
        </p:nvSpPr>
        <p:spPr>
          <a:xfrm>
            <a:off x="594360" y="24871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cxnSp>
        <p:nvCxnSpPr>
          <p:cNvPr id="596" name="Google Shape;596;p5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7" name="Google Shape;597;p52"/>
          <p:cNvSpPr txBox="1"/>
          <p:nvPr/>
        </p:nvSpPr>
        <p:spPr>
          <a:xfrm>
            <a:off x="484567" y="936101"/>
            <a:ext cx="6996888"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create a net of the right square pyramid?</a:t>
            </a:r>
            <a:endParaRPr b="1" i="0" sz="2800" u="none" cap="none" strike="noStrike">
              <a:solidFill>
                <a:schemeClr val="dk1"/>
              </a:solidFill>
              <a:latin typeface="Arial"/>
              <a:ea typeface="Arial"/>
              <a:cs typeface="Arial"/>
              <a:sym typeface="Arial"/>
            </a:endParaRPr>
          </a:p>
        </p:txBody>
      </p:sp>
      <p:sp>
        <p:nvSpPr>
          <p:cNvPr id="598" name="Google Shape;598;p52"/>
          <p:cNvSpPr txBox="1"/>
          <p:nvPr/>
        </p:nvSpPr>
        <p:spPr>
          <a:xfrm>
            <a:off x="484567" y="4880718"/>
            <a:ext cx="8473002"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draw a square with four congruent triangles connected to each side of the square.</a:t>
            </a:r>
            <a:endParaRPr b="0" i="0" sz="2800" u="none" cap="none" strike="noStrike">
              <a:solidFill>
                <a:srgbClr val="595959"/>
              </a:solidFill>
              <a:latin typeface="Arial"/>
              <a:ea typeface="Arial"/>
              <a:cs typeface="Arial"/>
              <a:sym typeface="Arial"/>
            </a:endParaRPr>
          </a:p>
        </p:txBody>
      </p:sp>
      <p:pic>
        <p:nvPicPr>
          <p:cNvPr id="599" name="Google Shape;599;p52"/>
          <p:cNvPicPr preferRelativeResize="0"/>
          <p:nvPr/>
        </p:nvPicPr>
        <p:blipFill rotWithShape="1">
          <a:blip r:embed="rId3">
            <a:alphaModFix/>
          </a:blip>
          <a:srcRect b="0" l="0" r="0" t="0"/>
          <a:stretch/>
        </p:blipFill>
        <p:spPr>
          <a:xfrm>
            <a:off x="8348786" y="1931188"/>
            <a:ext cx="2914650" cy="2076450"/>
          </a:xfrm>
          <a:prstGeom prst="rect">
            <a:avLst/>
          </a:prstGeom>
          <a:noFill/>
          <a:ln>
            <a:noFill/>
          </a:ln>
        </p:spPr>
      </p:pic>
      <p:sp>
        <p:nvSpPr>
          <p:cNvPr id="600" name="Google Shape;600;p52"/>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60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50</a:t>
            </a:r>
          </a:p>
        </p:txBody>
      </p:sp>
      <p:sp>
        <p:nvSpPr>
          <p:cNvPr id="602" name="EWL-COVER-1"/>
          <p:cNvSpPr/>
          <p:nvPr/>
        </p:nvSpPr>
        <p:spPr>
          <a:xfrm>
            <a:off x="429703" y="4825854"/>
            <a:ext cx="8582730" cy="1620666"/>
          </a:xfrm>
          <a:prstGeom prst="rect">
            <a:avLst/>
          </a:prstGeom>
          <a:solidFill>
            <a:srgbClr val="FFFFFF"/>
          </a:solidFill>
          <a:ln>
            <a:noFill/>
          </a:ln>
        </p:spPr>
        <p:txBody>
          <a:bodyPr/>
          <a:lstStyle/>
          <a:p/>
        </p:txBody>
      </p:sp>
      <p:sp xmlns:p="http://schemas.openxmlformats.org/presentationml/2006/main" xmlns:a="http://schemas.openxmlformats.org/drawingml/2006/main">
        <p:nvSpPr>
          <p:cNvPr id="603"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5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53"/>
          <p:cNvSpPr/>
          <p:nvPr/>
        </p:nvSpPr>
        <p:spPr>
          <a:xfrm>
            <a:off x="486001" y="936000"/>
            <a:ext cx="6548783" cy="31085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pyramid has 5 faces: a square base and 4 triangular faces. So, the net is a square with four congruent triangles connected to each side.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area of the square base? of the triangular faces? </a:t>
            </a:r>
            <a:endParaRPr b="0" i="0" sz="2800" u="none" cap="none" strike="noStrike">
              <a:solidFill>
                <a:schemeClr val="dk1"/>
              </a:solidFill>
              <a:latin typeface="Arial"/>
              <a:ea typeface="Arial"/>
              <a:cs typeface="Arial"/>
              <a:sym typeface="Arial"/>
            </a:endParaRPr>
          </a:p>
        </p:txBody>
      </p:sp>
      <p:sp>
        <p:nvSpPr>
          <p:cNvPr id="607" name="Google Shape;607;p53"/>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08" name="Google Shape;608;p53"/>
          <p:cNvPicPr preferRelativeResize="0"/>
          <p:nvPr/>
        </p:nvPicPr>
        <p:blipFill rotWithShape="1">
          <a:blip r:embed="rId3">
            <a:alphaModFix/>
          </a:blip>
          <a:srcRect b="0" l="0" r="0" t="0"/>
          <a:stretch/>
        </p:blipFill>
        <p:spPr>
          <a:xfrm>
            <a:off x="543714" y="369826"/>
            <a:ext cx="353635" cy="340537"/>
          </a:xfrm>
          <a:prstGeom prst="rect">
            <a:avLst/>
          </a:prstGeom>
          <a:noFill/>
          <a:ln>
            <a:noFill/>
          </a:ln>
        </p:spPr>
      </p:pic>
      <p:pic>
        <p:nvPicPr>
          <p:cNvPr id="609" name="Google Shape;609;p53"/>
          <p:cNvPicPr preferRelativeResize="0"/>
          <p:nvPr/>
        </p:nvPicPr>
        <p:blipFill rotWithShape="1">
          <a:blip r:embed="rId4">
            <a:alphaModFix/>
          </a:blip>
          <a:srcRect b="0" l="0" r="0" t="0"/>
          <a:stretch/>
        </p:blipFill>
        <p:spPr>
          <a:xfrm>
            <a:off x="8192157" y="1185716"/>
            <a:ext cx="2914650" cy="2076450"/>
          </a:xfrm>
          <a:prstGeom prst="rect">
            <a:avLst/>
          </a:prstGeom>
          <a:noFill/>
          <a:ln>
            <a:noFill/>
          </a:ln>
        </p:spPr>
      </p:pic>
      <p:pic>
        <p:nvPicPr>
          <p:cNvPr id="610" name="Google Shape;610;p53"/>
          <p:cNvPicPr preferRelativeResize="0"/>
          <p:nvPr/>
        </p:nvPicPr>
        <p:blipFill rotWithShape="1">
          <a:blip r:embed="rId5">
            <a:alphaModFix/>
          </a:blip>
          <a:srcRect b="0" l="0" r="0" t="0"/>
          <a:stretch/>
        </p:blipFill>
        <p:spPr>
          <a:xfrm>
            <a:off x="8192157" y="3501872"/>
            <a:ext cx="2819400" cy="2819400"/>
          </a:xfrm>
          <a:prstGeom prst="rect">
            <a:avLst/>
          </a:prstGeom>
          <a:noFill/>
          <a:ln>
            <a:noFill/>
          </a:ln>
        </p:spPr>
      </p:pic>
      <p:sp>
        <p:nvSpPr>
          <p:cNvPr id="6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50</a:t>
            </a:r>
          </a:p>
        </p:txBody>
      </p:sp>
      <p:sp>
        <p:nvSpPr>
          <p:cNvPr id="61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613" name="TEACH-embedded-student-prompt" descr="Student thinking and response directions"/>
          <p:cNvSpPr txBox="1"/>
          <p:nvPr/>
        </p:nvSpPr>
        <p:spPr>
          <a:xfrm>
            <a:off x="59436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cxnSp>
        <p:nvCxnSpPr>
          <p:cNvPr id="624" name="Google Shape;624;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5" name="Google Shape;625;p55"/>
          <p:cNvSpPr txBox="1"/>
          <p:nvPr/>
        </p:nvSpPr>
        <p:spPr>
          <a:xfrm>
            <a:off x="486000" y="936000"/>
            <a:ext cx="7950990" cy="3972798"/>
          </a:xfrm>
          <a:prstGeom prst="rect">
            <a:avLst/>
          </a:prstGeom>
          <a:blipFill rotWithShape="1">
            <a:blip r:embed="rId3">
              <a:alphaModFix/>
            </a:blip>
            <a:stretch>
              <a:fillRect b="0" l="-1609" r="0" t="-16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26" name="Google Shape;626;p55"/>
          <p:cNvSpPr txBox="1"/>
          <p:nvPr/>
        </p:nvSpPr>
        <p:spPr>
          <a:xfrm>
            <a:off x="361738" y="5138451"/>
            <a:ext cx="9111447" cy="11163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Why is the area of one triangular face multiplied by 4?</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pic>
        <p:nvPicPr>
          <p:cNvPr id="627" name="Google Shape;627;p55"/>
          <p:cNvPicPr preferRelativeResize="0"/>
          <p:nvPr/>
        </p:nvPicPr>
        <p:blipFill rotWithShape="1">
          <a:blip r:embed="rId3">
            <a:alphaModFix/>
          </a:blip>
          <a:srcRect b="0" l="0" r="0" t="0"/>
          <a:stretch/>
        </p:blipFill>
        <p:spPr>
          <a:xfrm>
            <a:off x="8317524" y="1722328"/>
            <a:ext cx="2819400" cy="2819400"/>
          </a:xfrm>
          <a:prstGeom prst="rect">
            <a:avLst/>
          </a:prstGeom>
          <a:noFill/>
          <a:ln>
            <a:noFill/>
          </a:ln>
        </p:spPr>
      </p:pic>
      <p:sp>
        <p:nvSpPr>
          <p:cNvPr id="628" name="Google Shape;628;p5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6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50</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cxnSp>
        <p:nvCxnSpPr>
          <p:cNvPr id="643" name="Google Shape;643;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4" name="Google Shape;644;p57"/>
          <p:cNvSpPr txBox="1"/>
          <p:nvPr/>
        </p:nvSpPr>
        <p:spPr>
          <a:xfrm>
            <a:off x="486000" y="936000"/>
            <a:ext cx="7950990" cy="3972798"/>
          </a:xfrm>
          <a:prstGeom prst="rect">
            <a:avLst/>
          </a:prstGeom>
          <a:blipFill rotWithShape="1">
            <a:blip r:embed="rId3">
              <a:alphaModFix/>
            </a:blip>
            <a:stretch>
              <a:fillRect b="0" l="-1609" r="0" t="-16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45" name="Google Shape;645;p57"/>
          <p:cNvSpPr/>
          <p:nvPr/>
        </p:nvSpPr>
        <p:spPr>
          <a:xfrm>
            <a:off x="361738" y="4108088"/>
            <a:ext cx="65190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find the surface area?</a:t>
            </a:r>
            <a:endParaRPr b="1" i="0" sz="2800" u="none" cap="none" strike="noStrike">
              <a:solidFill>
                <a:schemeClr val="dk1"/>
              </a:solidFill>
              <a:latin typeface="Arial"/>
              <a:ea typeface="Arial"/>
              <a:cs typeface="Arial"/>
              <a:sym typeface="Arial"/>
            </a:endParaRPr>
          </a:p>
        </p:txBody>
      </p:sp>
      <p:sp>
        <p:nvSpPr>
          <p:cNvPr id="646" name="Google Shape;646;p57"/>
          <p:cNvSpPr txBox="1"/>
          <p:nvPr/>
        </p:nvSpPr>
        <p:spPr>
          <a:xfrm>
            <a:off x="484565" y="4908798"/>
            <a:ext cx="8473002" cy="1550040"/>
          </a:xfrm>
          <a:prstGeom prst="rect">
            <a:avLst/>
          </a:prstGeom>
          <a:blipFill rotWithShape="1">
            <a:blip r:embed="rId4">
              <a:alphaModFix/>
            </a:blip>
            <a:stretch>
              <a:fillRect b="0" l="-1439" r="0" t="-39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47" name="Google Shape;647;p57"/>
          <p:cNvPicPr preferRelativeResize="0"/>
          <p:nvPr/>
        </p:nvPicPr>
        <p:blipFill rotWithShape="1">
          <a:blip r:embed="rId4">
            <a:alphaModFix/>
          </a:blip>
          <a:srcRect b="0" l="0" r="0" t="0"/>
          <a:stretch/>
        </p:blipFill>
        <p:spPr>
          <a:xfrm>
            <a:off x="8317524" y="1722328"/>
            <a:ext cx="2819400" cy="2819400"/>
          </a:xfrm>
          <a:prstGeom prst="rect">
            <a:avLst/>
          </a:prstGeom>
          <a:noFill/>
          <a:ln>
            <a:noFill/>
          </a:ln>
        </p:spPr>
      </p:pic>
      <p:sp>
        <p:nvSpPr>
          <p:cNvPr id="648" name="Google Shape;648;p5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6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50</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pic>
        <p:nvPicPr>
          <p:cNvPr id="664" name="Google Shape;664;p59"/>
          <p:cNvPicPr preferRelativeResize="0"/>
          <p:nvPr/>
        </p:nvPicPr>
        <p:blipFill rotWithShape="1">
          <a:blip r:embed="rId3">
            <a:alphaModFix/>
          </a:blip>
          <a:srcRect b="0" l="0" r="0" t="0"/>
          <a:stretch/>
        </p:blipFill>
        <p:spPr>
          <a:xfrm>
            <a:off x="484566" y="5045271"/>
            <a:ext cx="5054600" cy="838200"/>
          </a:xfrm>
          <a:prstGeom prst="rect">
            <a:avLst/>
          </a:prstGeom>
          <a:noFill/>
          <a:ln>
            <a:noFill/>
          </a:ln>
        </p:spPr>
      </p:pic>
      <p:cxnSp>
        <p:nvCxnSpPr>
          <p:cNvPr id="665" name="Google Shape;665;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6" name="Google Shape;666;p59"/>
          <p:cNvSpPr txBox="1"/>
          <p:nvPr/>
        </p:nvSpPr>
        <p:spPr>
          <a:xfrm>
            <a:off x="484567" y="936101"/>
            <a:ext cx="6694156" cy="10291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surface area of the right square pyramid shown?</a:t>
            </a:r>
            <a:endParaRPr b="0" i="0" sz="1400" u="none" cap="none" strike="noStrike">
              <a:solidFill>
                <a:srgbClr val="000000"/>
              </a:solidFill>
              <a:latin typeface="Arial"/>
              <a:ea typeface="Arial"/>
              <a:cs typeface="Arial"/>
              <a:sym typeface="Arial"/>
            </a:endParaRPr>
          </a:p>
        </p:txBody>
      </p:sp>
      <p:sp>
        <p:nvSpPr>
          <p:cNvPr id="667" name="Google Shape;667;p59"/>
          <p:cNvSpPr/>
          <p:nvPr/>
        </p:nvSpPr>
        <p:spPr>
          <a:xfrm>
            <a:off x="553692" y="5874701"/>
            <a:ext cx="980584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use mathematics to justify your process?</a:t>
            </a:r>
            <a:endParaRPr b="0" i="0" sz="2600" u="none" cap="none" strike="noStrike">
              <a:solidFill>
                <a:srgbClr val="595959"/>
              </a:solidFill>
              <a:latin typeface="Arial"/>
              <a:ea typeface="Arial"/>
              <a:cs typeface="Arial"/>
              <a:sym typeface="Arial"/>
            </a:endParaRPr>
          </a:p>
        </p:txBody>
      </p:sp>
      <p:sp>
        <p:nvSpPr>
          <p:cNvPr id="668" name="Google Shape;668;p59"/>
          <p:cNvSpPr/>
          <p:nvPr/>
        </p:nvSpPr>
        <p:spPr>
          <a:xfrm>
            <a:off x="3050958" y="5202761"/>
            <a:ext cx="707888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Justifying </a:t>
            </a:r>
            <a:r>
              <a:rPr b="0" i="0" lang="en-US" sz="1800" u="none" cap="none" strike="noStrike">
                <a:solidFill>
                  <a:schemeClr val="dk1"/>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69" name="Google Shape;669;p59"/>
          <p:cNvSpPr txBox="1"/>
          <p:nvPr/>
        </p:nvSpPr>
        <p:spPr>
          <a:xfrm>
            <a:off x="553692" y="3184053"/>
            <a:ext cx="6586517" cy="532966"/>
          </a:xfrm>
          <a:prstGeom prst="rect">
            <a:avLst/>
          </a:prstGeom>
          <a:blipFill rotWithShape="1">
            <a:blip r:embed="rId4">
              <a:alphaModFix/>
            </a:blip>
            <a:stretch>
              <a:fillRect b="-26666" l="-1848" r="0" t="-10000"/>
            </a:stretch>
          </a:blipFill>
          <a:ln cap="flat" cmpd="sng" w="9525">
            <a:solidFill>
              <a:srgbClr val="782D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70" name="Google Shape;670;p59"/>
          <p:cNvPicPr preferRelativeResize="0"/>
          <p:nvPr/>
        </p:nvPicPr>
        <p:blipFill rotWithShape="1">
          <a:blip r:embed="rId5">
            <a:alphaModFix/>
          </a:blip>
          <a:srcRect b="0" l="0" r="0" t="0"/>
          <a:stretch/>
        </p:blipFill>
        <p:spPr>
          <a:xfrm>
            <a:off x="8348786" y="1931188"/>
            <a:ext cx="2914650" cy="2076450"/>
          </a:xfrm>
          <a:prstGeom prst="rect">
            <a:avLst/>
          </a:prstGeom>
          <a:noFill/>
          <a:ln>
            <a:noFill/>
          </a:ln>
        </p:spPr>
      </p:pic>
      <p:sp>
        <p:nvSpPr>
          <p:cNvPr id="671" name="Google Shape;671;p59"/>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6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50</a:t>
            </a:r>
          </a:p>
        </p:txBody>
      </p:sp>
      <p:sp xmlns:p="http://schemas.openxmlformats.org/presentationml/2006/main" xmlns:a="http://schemas.openxmlformats.org/drawingml/2006/main">
        <p:nvSpPr>
          <p:cNvPr id="673"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0"/>
          <p:cNvSpPr txBox="1"/>
          <p:nvPr/>
        </p:nvSpPr>
        <p:spPr>
          <a:xfrm>
            <a:off x="484565" y="927529"/>
            <a:ext cx="6520919" cy="99825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pPr>
            <a:r>
              <a:rPr b="0" i="0" lang="en-US" sz="2800" u="none" cap="none" strike="noStrike">
                <a:solidFill>
                  <a:schemeClr val="dk1"/>
                </a:solidFill>
                <a:latin typeface="Arial"/>
                <a:ea typeface="Arial"/>
                <a:cs typeface="Arial"/>
                <a:sym typeface="Arial"/>
              </a:rPr>
              <a:t>Why are the heights of the triangles in a right square pyramid congruent?​</a:t>
            </a:r>
            <a:endParaRPr b="0" i="0" sz="1400" u="none" cap="none" strike="noStrike">
              <a:solidFill>
                <a:srgbClr val="000000"/>
              </a:solidFill>
              <a:latin typeface="Arial"/>
              <a:ea typeface="Arial"/>
              <a:cs typeface="Arial"/>
              <a:sym typeface="Arial"/>
            </a:endParaRPr>
          </a:p>
        </p:txBody>
      </p:sp>
      <p:sp>
        <p:nvSpPr>
          <p:cNvPr id="677" name="Google Shape;677;p6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678" name="Google Shape;678;p60"/>
          <p:cNvSpPr txBox="1"/>
          <p:nvPr/>
        </p:nvSpPr>
        <p:spPr>
          <a:xfrm>
            <a:off x="567559" y="3474535"/>
            <a:ext cx="6437925" cy="132435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pPr>
            <a:r>
              <a:rPr b="0" i="0" lang="en-US" sz="2800" u="none" cap="none" strike="noStrike">
                <a:solidFill>
                  <a:schemeClr val="dk1"/>
                </a:solidFill>
                <a:latin typeface="Arial"/>
                <a:ea typeface="Arial"/>
                <a:cs typeface="Arial"/>
                <a:sym typeface="Arial"/>
              </a:rPr>
              <a:t>The triangular faces in a right square pyramid are congruent. Is this true for all pyramids?</a:t>
            </a:r>
            <a:endParaRPr b="0" i="0" sz="1400" u="none" cap="none" strike="noStrike">
              <a:solidFill>
                <a:srgbClr val="000000"/>
              </a:solidFill>
              <a:latin typeface="Arial"/>
              <a:ea typeface="Arial"/>
              <a:cs typeface="Arial"/>
              <a:sym typeface="Arial"/>
            </a:endParaRPr>
          </a:p>
        </p:txBody>
      </p:sp>
      <p:pic>
        <p:nvPicPr>
          <p:cNvPr id="679" name="Google Shape;679;p60"/>
          <p:cNvPicPr preferRelativeResize="0"/>
          <p:nvPr/>
        </p:nvPicPr>
        <p:blipFill rotWithShape="1">
          <a:blip r:embed="rId3">
            <a:alphaModFix/>
          </a:blip>
          <a:srcRect b="0" l="0" r="0" t="0"/>
          <a:stretch/>
        </p:blipFill>
        <p:spPr>
          <a:xfrm>
            <a:off x="8348786" y="1931188"/>
            <a:ext cx="2914650" cy="2076450"/>
          </a:xfrm>
          <a:prstGeom prst="rect">
            <a:avLst/>
          </a:prstGeom>
          <a:noFill/>
          <a:ln>
            <a:noFill/>
          </a:ln>
        </p:spPr>
      </p:pic>
      <p:sp>
        <p:nvSpPr>
          <p:cNvPr id="6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50</a:t>
            </a:r>
          </a:p>
        </p:txBody>
      </p:sp>
      <p:sp xmlns:p="http://schemas.openxmlformats.org/presentationml/2006/main" xmlns:a="http://schemas.openxmlformats.org/drawingml/2006/main">
        <p:nvSpPr>
          <p:cNvPr id="68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 your method uses them.</a:t>
            </a:r>
            <a:endParaRPr lang="en-US" sz="2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5.8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height belongs to each triangular face, and how does the net help you identify it?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96" name="Google Shape;596;p5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7" name="Google Shape;597;p52"/>
          <p:cNvSpPr txBox="1"/>
          <p:nvPr/>
        </p:nvSpPr>
        <p:spPr>
          <a:xfrm>
            <a:off x="484567" y="936101"/>
            <a:ext cx="6996888" cy="10837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create a net of the right square pyramid?</a:t>
            </a:r>
            <a:endParaRPr b="1" i="0" sz="2800" u="none" cap="none" strike="noStrike">
              <a:solidFill>
                <a:schemeClr val="dk1"/>
              </a:solidFill>
              <a:latin typeface="Arial"/>
              <a:ea typeface="Arial"/>
              <a:cs typeface="Arial"/>
              <a:sym typeface="Arial"/>
            </a:endParaRPr>
          </a:p>
        </p:txBody>
      </p:sp>
      <p:sp>
        <p:nvSpPr>
          <p:cNvPr id="598" name="Google Shape;598;p52"/>
          <p:cNvSpPr txBox="1"/>
          <p:nvPr/>
        </p:nvSpPr>
        <p:spPr>
          <a:xfrm>
            <a:off x="484567" y="4880718"/>
            <a:ext cx="8473002"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draw a square with four congruent triangles connected to each side of the square.</a:t>
            </a:r>
            <a:endParaRPr b="0" i="0" sz="2800" u="none" cap="none" strike="noStrike">
              <a:solidFill>
                <a:srgbClr val="595959"/>
              </a:solidFill>
              <a:latin typeface="Arial"/>
              <a:ea typeface="Arial"/>
              <a:cs typeface="Arial"/>
              <a:sym typeface="Arial"/>
            </a:endParaRPr>
          </a:p>
        </p:txBody>
      </p:sp>
      <p:pic>
        <p:nvPicPr>
          <p:cNvPr id="599" name="Google Shape;599;p52"/>
          <p:cNvPicPr preferRelativeResize="0"/>
          <p:nvPr/>
        </p:nvPicPr>
        <p:blipFill rotWithShape="1">
          <a:blip r:embed="rId2">
            <a:alphaModFix/>
          </a:blip>
          <a:srcRect b="0" l="0" r="0" t="0"/>
          <a:stretch/>
        </p:blipFill>
        <p:spPr>
          <a:xfrm>
            <a:off x="8348786" y="1931188"/>
            <a:ext cx="2914650" cy="2076450"/>
          </a:xfrm>
          <a:prstGeom prst="rect">
            <a:avLst/>
          </a:prstGeom>
          <a:noFill/>
          <a:ln>
            <a:noFill/>
          </a:ln>
        </p:spPr>
      </p:pic>
      <p:sp>
        <p:nvSpPr>
          <p:cNvPr id="600" name="Google Shape;600;p52"/>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Pyramids</a:t>
            </a:r>
            <a:endParaRPr b="0" i="0" sz="1400" u="none" cap="none" strike="noStrike">
              <a:solidFill>
                <a:srgbClr val="000000"/>
              </a:solidFill>
              <a:latin typeface="Arial"/>
              <a:ea typeface="Arial"/>
              <a:cs typeface="Arial"/>
              <a:sym typeface="Arial"/>
            </a:endParaRPr>
          </a:p>
        </p:txBody>
      </p:sp>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50</a:t>
            </a:r>
          </a:p>
        </p:txBody>
      </p:sp>
      <p:sp xmlns:p="http://schemas.openxmlformats.org/presentationml/2006/main" xmlns:a="http://schemas.openxmlformats.org/drawingml/2006/main">
        <p:nvSpPr>
          <p:cNvPr id="601"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4" name="Google Shape;704;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5" name="Google Shape;705;p63"/>
          <p:cNvSpPr/>
          <p:nvPr/>
        </p:nvSpPr>
        <p:spPr>
          <a:xfrm>
            <a:off x="527760" y="5905177"/>
            <a:ext cx="9809848"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helping you make sense of a math or non-math problem?</a:t>
            </a:r>
            <a:endParaRPr b="0" i="0" sz="1400" u="none" cap="none" strike="noStrike">
              <a:solidFill>
                <a:srgbClr val="000000"/>
              </a:solidFill>
              <a:latin typeface="Arial"/>
              <a:ea typeface="Arial"/>
              <a:cs typeface="Arial"/>
              <a:sym typeface="Arial"/>
            </a:endParaRPr>
          </a:p>
        </p:txBody>
      </p:sp>
      <p:sp>
        <p:nvSpPr>
          <p:cNvPr id="706" name="Google Shape;706;p63"/>
          <p:cNvSpPr txBox="1"/>
          <p:nvPr/>
        </p:nvSpPr>
        <p:spPr>
          <a:xfrm>
            <a:off x="484561" y="936100"/>
            <a:ext cx="4073792" cy="6707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707" name="Google Shape;707;p63"/>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08" name="Google Shape;708;p63"/>
          <p:cNvPicPr preferRelativeResize="0"/>
          <p:nvPr/>
        </p:nvPicPr>
        <p:blipFill rotWithShape="1">
          <a:blip r:embed="rId2">
            <a:alphaModFix/>
          </a:blip>
          <a:srcRect b="0" l="0" r="0" t="0"/>
          <a:stretch/>
        </p:blipFill>
        <p:spPr>
          <a:xfrm>
            <a:off x="474055" y="5097341"/>
            <a:ext cx="5054600" cy="838200"/>
          </a:xfrm>
          <a:prstGeom prst="rect">
            <a:avLst/>
          </a:prstGeom>
          <a:noFill/>
          <a:ln>
            <a:noFill/>
          </a:ln>
        </p:spPr>
      </p:pic>
      <p:sp>
        <p:nvSpPr>
          <p:cNvPr id="709" name="Google Shape;709;p63"/>
          <p:cNvSpPr txBox="1"/>
          <p:nvPr/>
        </p:nvSpPr>
        <p:spPr>
          <a:xfrm>
            <a:off x="3334072" y="525465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710" name="Google Shape;710;p63"/>
          <p:cNvPicPr preferRelativeResize="0"/>
          <p:nvPr/>
        </p:nvPicPr>
        <p:blipFill rotWithShape="1">
          <a:blip r:embed="rId3">
            <a:alphaModFix/>
          </a:blip>
          <a:srcRect b="0" l="0" r="0" t="0"/>
          <a:stretch/>
        </p:blipFill>
        <p:spPr>
          <a:xfrm>
            <a:off x="343559" y="2024142"/>
            <a:ext cx="2628900" cy="2676525"/>
          </a:xfrm>
          <a:prstGeom prst="rect">
            <a:avLst/>
          </a:prstGeom>
          <a:noFill/>
          <a:ln>
            <a:noFill/>
          </a:ln>
        </p:spPr>
      </p:pic>
      <p:pic>
        <p:nvPicPr>
          <p:cNvPr id="711" name="Google Shape;711;p63"/>
          <p:cNvPicPr preferRelativeResize="0"/>
          <p:nvPr/>
        </p:nvPicPr>
        <p:blipFill rotWithShape="1">
          <a:blip r:embed="rId4">
            <a:alphaModFix/>
          </a:blip>
          <a:srcRect b="0" l="0" r="0" t="0"/>
          <a:stretch/>
        </p:blipFill>
        <p:spPr>
          <a:xfrm>
            <a:off x="3286647" y="2024142"/>
            <a:ext cx="2409825" cy="2438400"/>
          </a:xfrm>
          <a:prstGeom prst="rect">
            <a:avLst/>
          </a:prstGeom>
          <a:noFill/>
          <a:ln>
            <a:noFill/>
          </a:ln>
        </p:spPr>
      </p:pic>
      <p:pic>
        <p:nvPicPr>
          <p:cNvPr id="712" name="Google Shape;712;p63"/>
          <p:cNvPicPr preferRelativeResize="0"/>
          <p:nvPr/>
        </p:nvPicPr>
        <p:blipFill rotWithShape="1">
          <a:blip r:embed="rId5">
            <a:alphaModFix/>
          </a:blip>
          <a:srcRect b="0" l="0" r="0" t="0"/>
          <a:stretch/>
        </p:blipFill>
        <p:spPr>
          <a:xfrm>
            <a:off x="5528655" y="2024142"/>
            <a:ext cx="3114675" cy="2705100"/>
          </a:xfrm>
          <a:prstGeom prst="rect">
            <a:avLst/>
          </a:prstGeom>
          <a:noFill/>
          <a:ln>
            <a:noFill/>
          </a:ln>
        </p:spPr>
      </p:pic>
      <p:pic>
        <p:nvPicPr>
          <p:cNvPr id="713" name="Google Shape;713;p63"/>
          <p:cNvPicPr preferRelativeResize="0"/>
          <p:nvPr/>
        </p:nvPicPr>
        <p:blipFill rotWithShape="1">
          <a:blip r:embed="rId6">
            <a:alphaModFix/>
          </a:blip>
          <a:srcRect b="0" l="0" r="0" t="0"/>
          <a:stretch/>
        </p:blipFill>
        <p:spPr>
          <a:xfrm>
            <a:off x="8836646" y="2024142"/>
            <a:ext cx="2667000" cy="2343150"/>
          </a:xfrm>
          <a:prstGeom prst="rect">
            <a:avLst/>
          </a:prstGeom>
          <a:noFill/>
          <a:ln>
            <a:noFill/>
          </a:ln>
        </p:spPr>
      </p:pic>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50</a:t>
            </a:r>
          </a:p>
        </p:txBody>
      </p:sp>
      <p:sp xmlns:p="http://schemas.openxmlformats.org/presentationml/2006/main" xmlns:a="http://schemas.openxmlformats.org/drawingml/2006/main">
        <p:nvSpPr>
          <p:cNvPr id="714"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pyramid has: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Two parallel bases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One polygonal base and triangular faces meeting at an apex</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curved surfaces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Rectangles on all sides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square pyramid has a base of 6 × 6 cm and 4 triangles with h=5 cm. Base area is:</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 cm²</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36 cm²</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 cm²</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 cm²</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Each triangular face has base 6 cm and height 5 cm. Area of one face is: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 cm²</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 cm²</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11 cm²</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 cm²</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Total surface area of this pyramid (base 36 + 4 triangles of 15) is: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51 cm²</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96 cm²</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66 cm²</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120 cm²</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50</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5-8 · Determine Surface Area of Pyramids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Pyramid Architecture</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Pyramids</a:t>
            </a:r>
            <a:r>
              <a:rPr b="0" i="0" lang="en-US" sz="1450" u="none" cap="none" strike="noStrike">
                <a:solidFill>
                  <a:srgbClr val="475569"/>
                </a:solidFill>
                <a:latin typeface="Arial"/>
                <a:ea typeface="Arial"/>
                <a:cs typeface="Arial"/>
                <a:sym typeface="Arial"/>
              </a:rPr>
              <a:t xml:space="preserve"> have a single </a:t>
            </a:r>
            <a:r>
              <a:rPr b="1" i="0" lang="en-US" sz="1450" u="none" cap="none" strike="noStrike">
                <a:solidFill>
                  <a:srgbClr val="475569"/>
                </a:solidFill>
                <a:latin typeface="Arial"/>
                <a:ea typeface="Arial"/>
                <a:cs typeface="Arial"/>
                <a:sym typeface="Arial"/>
              </a:rPr>
              <a:t xml:space="preserve">base</a:t>
            </a:r>
            <a:r>
              <a:rPr b="0" i="0" lang="en-US" sz="1450" u="none" cap="none" strike="noStrike">
                <a:solidFill>
                  <a:srgbClr val="475569"/>
                </a:solidFill>
                <a:latin typeface="Arial"/>
                <a:ea typeface="Arial"/>
                <a:cs typeface="Arial"/>
                <a:sym typeface="Arial"/>
              </a:rPr>
              <a:t xml:space="preserve"> polygon and triangular lateral faces that converge at a point.</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Surface Area of Pyramids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Total </a:t>
            </a:r>
            <a:r>
              <a:rPr b="1" i="0" lang="en-US" sz="1450" u="none" cap="none" strike="noStrike">
                <a:solidFill>
                  <a:srgbClr val="475569"/>
                </a:solidFill>
                <a:latin typeface="Arial"/>
                <a:ea typeface="Arial"/>
                <a:cs typeface="Arial"/>
                <a:sym typeface="Arial"/>
              </a:rPr>
              <a:t xml:space="preserve">Surface Area</a:t>
            </a:r>
            <a:r>
              <a:rPr b="0" i="0" lang="en-US" sz="1450" u="none" cap="none" strike="noStrike">
                <a:solidFill>
                  <a:srgbClr val="475569"/>
                </a:solidFill>
                <a:latin typeface="Arial"/>
                <a:ea typeface="Arial"/>
                <a:cs typeface="Arial"/>
                <a:sym typeface="Arial"/>
              </a:rPr>
              <a:t xml:space="preserve"> = (</a:t>
            </a: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of Base) + (Sum of all triangular lateral faces).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Slant Height</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Use the triangle’s </a:t>
            </a:r>
            <a:r>
              <a:rPr b="1" i="0" lang="en-US" sz="1450" u="none" cap="none" strike="noStrike">
                <a:solidFill>
                  <a:srgbClr val="475569"/>
                </a:solidFill>
                <a:latin typeface="Arial"/>
                <a:ea typeface="Arial"/>
                <a:cs typeface="Arial"/>
                <a:sym typeface="Arial"/>
              </a:rPr>
              <a:t xml:space="preserve">slant height</a:t>
            </a:r>
            <a:r>
              <a:rPr b="0" i="0" lang="en-US" sz="1450" u="none" cap="none" strike="noStrike">
                <a:solidFill>
                  <a:srgbClr val="475569"/>
                </a:solidFill>
                <a:latin typeface="Arial"/>
                <a:ea typeface="Arial"/>
                <a:cs typeface="Arial"/>
                <a:sym typeface="Arial"/>
              </a:rPr>
              <a:t xml:space="preserve"> (from base to apex) when calculating </a:t>
            </a:r>
            <a:r>
              <a:rPr b="1" i="0" lang="en-US" sz="1450" u="none" cap="none" strike="noStrike">
                <a:solidFill>
                  <a:srgbClr val="475569"/>
                </a:solidFill>
                <a:latin typeface="Arial"/>
                <a:ea typeface="Arial"/>
                <a:cs typeface="Arial"/>
                <a:sym typeface="Arial"/>
              </a:rPr>
              <a:t xml:space="preserve">lateral face</a:t>
            </a:r>
            <a:r>
              <a:rPr b="0" i="0" lang="en-US" sz="1450" u="none" cap="none" strike="noStrike">
                <a:solidFill>
                  <a:srgbClr val="475569"/>
                </a:solidFill>
                <a:latin typeface="Arial"/>
                <a:ea typeface="Arial"/>
                <a:cs typeface="Arial"/>
                <a:sym typeface="Arial"/>
              </a:rPr>
              <a:t xml:space="preserve"> areas.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1"/>
          <p:cNvSpPr txBox="1"/>
          <p:nvPr/>
        </p:nvSpPr>
        <p:spPr>
          <a:xfrm>
            <a:off x="1402827" y="2453951"/>
            <a:ext cx="8710657" cy="10944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Surface Area of Pyramids</a:t>
            </a:r>
            <a:endParaRPr b="0" i="0" sz="1400" u="none" cap="none" strike="noStrike">
              <a:solidFill>
                <a:srgbClr val="000000"/>
              </a:solidFill>
              <a:latin typeface="Arial"/>
              <a:ea typeface="Arial"/>
              <a:cs typeface="Arial"/>
              <a:sym typeface="Arial"/>
            </a:endParaRPr>
          </a:p>
        </p:txBody>
      </p:sp>
      <p:sp>
        <p:nvSpPr>
          <p:cNvPr id="685" name="Google Shape;685;p6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686" name="Google Shape;686;p6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6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50</a:t>
            </a:r>
          </a:p>
        </p:txBody>
      </p:sp>
      <p:grpSp>
        <p:nvGrpSpPr>
          <p:cNvPr id="688" name="TEACH-3-student-move" descr="TEACH 3 · Use intentional questioning to deepen learning"/>
          <p:cNvGrpSpPr/>
          <p:nvPr/>
        </p:nvGrpSpPr>
        <p:grpSpPr>
          <a:xfrm>
            <a:off x="502920" y="3201930"/>
            <a:ext cx="11186160" cy="731520"/>
            <a:chOff x="502920" y="3201930"/>
            <a:chExt cx="11186160" cy="731520"/>
          </a:xfrm>
        </p:grpSpPr>
        <p:sp>
          <p:nvSpPr>
            <p:cNvPr id="689" name="TEACH-move-card"/>
            <p:cNvSpPr/>
            <p:nvPr/>
          </p:nvSpPr>
          <p:spPr>
            <a:xfrm>
              <a:off x="502920" y="320193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690" name="TEACH-move-rule"/>
            <p:cNvSpPr/>
            <p:nvPr/>
          </p:nvSpPr>
          <p:spPr>
            <a:xfrm>
              <a:off x="548640" y="3340919"/>
              <a:ext cx="100584" cy="453542"/>
            </a:xfrm>
            <a:prstGeom prst="roundRect">
              <a:avLst>
                <a:gd name="adj" fmla="val 50000"/>
              </a:avLst>
            </a:prstGeom>
            <a:solidFill>
              <a:srgbClr val="01708C"/>
            </a:solidFill>
            <a:ln>
              <a:noFill/>
            </a:ln>
          </p:spPr>
          <p:txBody>
            <a:bodyPr/>
            <a:lstStyle/>
            <a:p>
              <a:endParaRPr/>
            </a:p>
          </p:txBody>
        </p:sp>
        <p:sp>
          <p:nvSpPr>
            <p:cNvPr id="691" name="TEACH-move-text"/>
            <p:cNvSpPr txBox="1"/>
            <p:nvPr/>
          </p:nvSpPr>
          <p:spPr>
            <a:xfrm>
              <a:off x="822960" y="320193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JUSTIFY IT  ·  </a:t>
              </a:r>
              <a:r>
                <a:rPr lang="en-US" sz="1800" dirty="0">
                  <a:solidFill>
                    <a:srgbClr val="13303A"/>
                  </a:solidFill>
                  <a:latin typeface="Arial"/>
                </a:rPr>
                <a:t>Say it like this: “I know ______ because ______.”</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65"/>
          <p:cNvPicPr preferRelativeResize="0"/>
          <p:nvPr/>
        </p:nvPicPr>
        <p:blipFill rotWithShape="1">
          <a:blip r:embed="rId3">
            <a:alphaModFix/>
          </a:blip>
          <a:srcRect b="0" l="0" r="0" t="0"/>
          <a:stretch/>
        </p:blipFill>
        <p:spPr>
          <a:xfrm>
            <a:off x="484565" y="4663530"/>
            <a:ext cx="5054600" cy="838200"/>
          </a:xfrm>
          <a:prstGeom prst="rect">
            <a:avLst/>
          </a:prstGeom>
          <a:noFill/>
          <a:ln>
            <a:noFill/>
          </a:ln>
        </p:spPr>
      </p:pic>
      <p:cxnSp>
        <p:nvCxnSpPr>
          <p:cNvPr id="729" name="Google Shape;729;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0" name="Google Shape;730;p65"/>
          <p:cNvSpPr txBox="1"/>
          <p:nvPr/>
        </p:nvSpPr>
        <p:spPr>
          <a:xfrm>
            <a:off x="3295992" y="4810692"/>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Explaining</a:t>
            </a:r>
            <a:r>
              <a:rPr b="1" i="0" lang="en-US" sz="2800" u="none" cap="none" strike="noStrike">
                <a:solidFill>
                  <a:srgbClr val="23282D"/>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731" name="Google Shape;731;p65"/>
          <p:cNvSpPr/>
          <p:nvPr/>
        </p:nvSpPr>
        <p:spPr>
          <a:xfrm>
            <a:off x="672357" y="5501730"/>
            <a:ext cx="10141947"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words, representations, or formulas can you use to explain your thinking to your classmates?</a:t>
            </a:r>
            <a:endParaRPr b="0" i="0" sz="2600" u="none" cap="none" strike="noStrike">
              <a:solidFill>
                <a:srgbClr val="595959"/>
              </a:solidFill>
              <a:latin typeface="Arial"/>
              <a:ea typeface="Arial"/>
              <a:cs typeface="Arial"/>
              <a:sym typeface="Arial"/>
            </a:endParaRPr>
          </a:p>
        </p:txBody>
      </p:sp>
      <p:pic>
        <p:nvPicPr>
          <p:cNvPr id="732" name="Google Shape;732;p65"/>
          <p:cNvPicPr preferRelativeResize="0"/>
          <p:nvPr/>
        </p:nvPicPr>
        <p:blipFill rotWithShape="1">
          <a:blip r:embed="rId4">
            <a:alphaModFix/>
          </a:blip>
          <a:srcRect b="0" l="0" r="0" t="0"/>
          <a:stretch/>
        </p:blipFill>
        <p:spPr>
          <a:xfrm>
            <a:off x="8420105" y="1641486"/>
            <a:ext cx="2905125" cy="3095625"/>
          </a:xfrm>
          <a:prstGeom prst="rect">
            <a:avLst/>
          </a:prstGeom>
          <a:noFill/>
          <a:ln>
            <a:noFill/>
          </a:ln>
        </p:spPr>
      </p:pic>
      <p:sp>
        <p:nvSpPr>
          <p:cNvPr id="733" name="Google Shape;733;p65"/>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734" name="Google Shape;734;p65"/>
          <p:cNvSpPr/>
          <p:nvPr/>
        </p:nvSpPr>
        <p:spPr>
          <a:xfrm>
            <a:off x="486000" y="936000"/>
            <a:ext cx="6336951" cy="31085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Maria will cover each of the faces, but not the base, of the frame with canvas to create a three-dimensional painting. The three faces have the same dimensions.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much canvas will Maria need?</a:t>
            </a:r>
            <a:endParaRPr b="0" i="0" sz="1400" u="none" cap="none" strike="noStrike">
              <a:solidFill>
                <a:srgbClr val="000000"/>
              </a:solidFill>
              <a:latin typeface="Arial"/>
              <a:ea typeface="Arial"/>
              <a:cs typeface="Arial"/>
              <a:sym typeface="Arial"/>
            </a:endParaRPr>
          </a:p>
        </p:txBody>
      </p:sp>
      <p:sp>
        <p:nvSpPr>
          <p:cNvPr id="7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50</a:t>
            </a:r>
          </a:p>
        </p:txBody>
      </p:sp>
      <p:grpSp>
        <p:nvGrpSpPr>
          <p:cNvPr id="736" name="TEACH-6-student-move" descr="TEACH 6 · Organize and implement routines to support a learning-focused classroom"/>
          <p:cNvGrpSpPr/>
          <p:nvPr/>
        </p:nvGrpSpPr>
        <p:grpSpPr>
          <a:xfrm>
            <a:off x="502920" y="4224618"/>
            <a:ext cx="5501640" cy="402336"/>
            <a:chOff x="502920" y="4224618"/>
            <a:chExt cx="5501640" cy="402336"/>
          </a:xfrm>
        </p:grpSpPr>
        <p:sp>
          <p:nvSpPr>
            <p:cNvPr id="737" name="TEACH-move-card"/>
            <p:cNvSpPr/>
            <p:nvPr/>
          </p:nvSpPr>
          <p:spPr>
            <a:xfrm>
              <a:off x="502920" y="422461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38" name="TEACH-move-rule"/>
            <p:cNvSpPr/>
            <p:nvPr/>
          </p:nvSpPr>
          <p:spPr>
            <a:xfrm>
              <a:off x="548640" y="4301062"/>
              <a:ext cx="100584" cy="249448"/>
            </a:xfrm>
            <a:prstGeom prst="roundRect">
              <a:avLst>
                <a:gd name="adj" fmla="val 50000"/>
              </a:avLst>
            </a:prstGeom>
            <a:solidFill>
              <a:srgbClr val="01708C"/>
            </a:solidFill>
            <a:ln>
              <a:noFill/>
            </a:ln>
          </p:spPr>
          <p:txBody>
            <a:bodyPr/>
            <a:lstStyle/>
            <a:p>
              <a:endParaRPr/>
            </a:p>
          </p:txBody>
        </p:sp>
        <p:sp>
          <p:nvSpPr>
            <p:cNvPr id="739" name="TEACH-move-text"/>
            <p:cNvSpPr txBox="1"/>
            <p:nvPr/>
          </p:nvSpPr>
          <p:spPr>
            <a:xfrm>
              <a:off x="822960" y="422461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cxnSp>
        <p:nvCxnSpPr>
          <p:cNvPr id="748" name="Google Shape;748;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9" name="Google Shape;749;p67"/>
          <p:cNvSpPr/>
          <p:nvPr/>
        </p:nvSpPr>
        <p:spPr>
          <a:xfrm>
            <a:off x="486000" y="936000"/>
            <a:ext cx="6500016" cy="39703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Maria will cover each of the faces, but not the base, of the frame with canvas to create a three-dimensional painting. The three faces have the same dimensions. How much canvas will Maria need?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is the problem asking you to find?</a:t>
            </a:r>
            <a:endParaRPr b="1" i="0" sz="2800" u="none" cap="none" strike="noStrike">
              <a:solidFill>
                <a:schemeClr val="dk1"/>
              </a:solidFill>
              <a:latin typeface="Arial"/>
              <a:ea typeface="Arial"/>
              <a:cs typeface="Arial"/>
              <a:sym typeface="Arial"/>
            </a:endParaRPr>
          </a:p>
        </p:txBody>
      </p:sp>
      <p:sp>
        <p:nvSpPr>
          <p:cNvPr id="750" name="Google Shape;750;p67"/>
          <p:cNvSpPr txBox="1"/>
          <p:nvPr/>
        </p:nvSpPr>
        <p:spPr>
          <a:xfrm>
            <a:off x="486000" y="4906318"/>
            <a:ext cx="7397371" cy="15299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find the surface area of a pyramid, not including the base.</a:t>
            </a:r>
            <a:endParaRPr b="0" i="0" sz="2800" u="none" cap="none" strike="noStrike">
              <a:solidFill>
                <a:srgbClr val="595959"/>
              </a:solidFill>
              <a:latin typeface="Arial"/>
              <a:ea typeface="Arial"/>
              <a:cs typeface="Arial"/>
              <a:sym typeface="Arial"/>
            </a:endParaRPr>
          </a:p>
        </p:txBody>
      </p:sp>
      <p:pic>
        <p:nvPicPr>
          <p:cNvPr id="751" name="Google Shape;751;p67"/>
          <p:cNvPicPr preferRelativeResize="0"/>
          <p:nvPr/>
        </p:nvPicPr>
        <p:blipFill rotWithShape="1">
          <a:blip r:embed="rId3">
            <a:alphaModFix/>
          </a:blip>
          <a:srcRect b="0" l="0" r="0" t="0"/>
          <a:stretch/>
        </p:blipFill>
        <p:spPr>
          <a:xfrm>
            <a:off x="8420105" y="1641486"/>
            <a:ext cx="2905125" cy="3095625"/>
          </a:xfrm>
          <a:prstGeom prst="rect">
            <a:avLst/>
          </a:prstGeom>
          <a:noFill/>
          <a:ln>
            <a:noFill/>
          </a:ln>
        </p:spPr>
      </p:pic>
      <p:sp>
        <p:nvSpPr>
          <p:cNvPr id="752" name="Google Shape;752;p67"/>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7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50</a:t>
            </a:r>
          </a:p>
        </p:txBody>
      </p:sp>
      <p:sp>
        <p:nvSpPr>
          <p:cNvPr id="754" name="EWL-COVER-1"/>
          <p:cNvSpPr/>
          <p:nvPr/>
        </p:nvSpPr>
        <p:spPr>
          <a:xfrm>
            <a:off x="431136" y="4851454"/>
            <a:ext cx="7507099" cy="159506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cxnSp>
        <p:nvCxnSpPr>
          <p:cNvPr id="776" name="Google Shape;776;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7" name="Google Shape;777;p70"/>
          <p:cNvSpPr txBox="1"/>
          <p:nvPr/>
        </p:nvSpPr>
        <p:spPr>
          <a:xfrm>
            <a:off x="440617" y="4717745"/>
            <a:ext cx="8673886"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It will have one triangle in the center with 3 congruent triangles connected to each side.</a:t>
            </a:r>
            <a:endParaRPr b="0" i="0" sz="1400" u="none" cap="none" strike="noStrike">
              <a:solidFill>
                <a:srgbClr val="000000"/>
              </a:solidFill>
              <a:latin typeface="Arial"/>
              <a:ea typeface="Arial"/>
              <a:cs typeface="Arial"/>
              <a:sym typeface="Arial"/>
            </a:endParaRPr>
          </a:p>
        </p:txBody>
      </p:sp>
      <p:pic>
        <p:nvPicPr>
          <p:cNvPr id="778" name="Google Shape;778;p70"/>
          <p:cNvPicPr preferRelativeResize="0"/>
          <p:nvPr/>
        </p:nvPicPr>
        <p:blipFill rotWithShape="1">
          <a:blip r:embed="rId3">
            <a:alphaModFix/>
          </a:blip>
          <a:srcRect b="0" l="0" r="0" t="0"/>
          <a:stretch/>
        </p:blipFill>
        <p:spPr>
          <a:xfrm>
            <a:off x="8420105" y="1641486"/>
            <a:ext cx="2905125" cy="3095625"/>
          </a:xfrm>
          <a:prstGeom prst="rect">
            <a:avLst/>
          </a:prstGeom>
          <a:noFill/>
          <a:ln>
            <a:noFill/>
          </a:ln>
        </p:spPr>
      </p:pic>
      <p:sp>
        <p:nvSpPr>
          <p:cNvPr id="779" name="Google Shape;779;p70"/>
          <p:cNvSpPr/>
          <p:nvPr/>
        </p:nvSpPr>
        <p:spPr>
          <a:xfrm>
            <a:off x="486000" y="936000"/>
            <a:ext cx="708539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We need to find the surface area of the pyramid, not including the base.</a:t>
            </a:r>
            <a:endParaRPr b="0" i="0" sz="1400" u="none" cap="none" strike="noStrike">
              <a:solidFill>
                <a:srgbClr val="000000"/>
              </a:solidFill>
              <a:latin typeface="Arial"/>
              <a:ea typeface="Arial"/>
              <a:cs typeface="Arial"/>
              <a:sym typeface="Arial"/>
            </a:endParaRPr>
          </a:p>
        </p:txBody>
      </p:sp>
      <p:sp>
        <p:nvSpPr>
          <p:cNvPr id="780" name="Google Shape;780;p70"/>
          <p:cNvSpPr/>
          <p:nvPr/>
        </p:nvSpPr>
        <p:spPr>
          <a:xfrm>
            <a:off x="484565" y="2519096"/>
            <a:ext cx="735169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will the net of the pyramid look like?</a:t>
            </a:r>
            <a:endParaRPr b="1" i="0" sz="2800" u="none" cap="none" strike="noStrike">
              <a:solidFill>
                <a:schemeClr val="dk1"/>
              </a:solidFill>
              <a:latin typeface="Arial"/>
              <a:ea typeface="Arial"/>
              <a:cs typeface="Arial"/>
              <a:sym typeface="Arial"/>
            </a:endParaRPr>
          </a:p>
        </p:txBody>
      </p:sp>
      <p:sp>
        <p:nvSpPr>
          <p:cNvPr id="781" name="Google Shape;781;p70"/>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7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50</a:t>
            </a:r>
          </a:p>
        </p:txBody>
      </p:sp>
      <p:sp>
        <p:nvSpPr>
          <p:cNvPr id="783" name="EWL-COVER-1"/>
          <p:cNvSpPr/>
          <p:nvPr/>
        </p:nvSpPr>
        <p:spPr>
          <a:xfrm>
            <a:off x="385753" y="4662881"/>
            <a:ext cx="8783614"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784" name="TEACH-embedded-student-prompt" descr="Student thinking and response directions"/>
          <p:cNvSpPr txBox="1"/>
          <p:nvPr/>
        </p:nvSpPr>
        <p:spPr>
          <a:xfrm>
            <a:off x="594360" y="37673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cxnSp>
        <p:nvCxnSpPr>
          <p:cNvPr id="798" name="Google Shape;798;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9" name="Google Shape;799;p72"/>
          <p:cNvSpPr txBox="1"/>
          <p:nvPr/>
        </p:nvSpPr>
        <p:spPr>
          <a:xfrm>
            <a:off x="526606" y="854725"/>
            <a:ext cx="5931344" cy="16076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make a net to represent the pyramid. The three faces have the same dimensions.</a:t>
            </a:r>
            <a:endParaRPr b="0" i="0" sz="1400" u="none" cap="none" strike="noStrike">
              <a:solidFill>
                <a:srgbClr val="000000"/>
              </a:solidFill>
              <a:latin typeface="Arial"/>
              <a:ea typeface="Arial"/>
              <a:cs typeface="Arial"/>
              <a:sym typeface="Arial"/>
            </a:endParaRPr>
          </a:p>
        </p:txBody>
      </p:sp>
      <p:sp>
        <p:nvSpPr>
          <p:cNvPr id="800" name="Google Shape;800;p72"/>
          <p:cNvSpPr/>
          <p:nvPr/>
        </p:nvSpPr>
        <p:spPr>
          <a:xfrm>
            <a:off x="526606" y="2562392"/>
            <a:ext cx="563449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will be the dimensions of the triangles that form the net? Explain how you know.</a:t>
            </a:r>
            <a:endParaRPr b="1" i="0" sz="2800" u="none" cap="none" strike="noStrike">
              <a:solidFill>
                <a:schemeClr val="dk1"/>
              </a:solidFill>
              <a:latin typeface="Arial"/>
              <a:ea typeface="Arial"/>
              <a:cs typeface="Arial"/>
              <a:sym typeface="Arial"/>
            </a:endParaRPr>
          </a:p>
        </p:txBody>
      </p:sp>
      <p:sp>
        <p:nvSpPr>
          <p:cNvPr id="801" name="Google Shape;801;p72"/>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sp>
        <p:nvSpPr>
          <p:cNvPr id="802" name="Google Shape;802;p72"/>
          <p:cNvSpPr txBox="1"/>
          <p:nvPr/>
        </p:nvSpPr>
        <p:spPr>
          <a:xfrm>
            <a:off x="484565" y="4489354"/>
            <a:ext cx="9778021" cy="19310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Because the three faces have the same dimensions, the base must be an equilateral triangle, and each face has a height of 125 centimeters.</a:t>
            </a:r>
            <a:endParaRPr b="0" i="0" sz="2800" u="none" cap="none" strike="noStrike">
              <a:solidFill>
                <a:srgbClr val="595959"/>
              </a:solidFill>
              <a:latin typeface="Arial"/>
              <a:ea typeface="Arial"/>
              <a:cs typeface="Arial"/>
              <a:sym typeface="Arial"/>
            </a:endParaRPr>
          </a:p>
        </p:txBody>
      </p:sp>
      <p:pic>
        <p:nvPicPr>
          <p:cNvPr id="803" name="Google Shape;803;p72"/>
          <p:cNvPicPr preferRelativeResize="0"/>
          <p:nvPr/>
        </p:nvPicPr>
        <p:blipFill rotWithShape="1">
          <a:blip r:embed="rId3">
            <a:alphaModFix/>
          </a:blip>
          <a:srcRect b="0" l="0" r="0" t="0"/>
          <a:stretch/>
        </p:blipFill>
        <p:spPr>
          <a:xfrm>
            <a:off x="543714" y="369826"/>
            <a:ext cx="353635" cy="340537"/>
          </a:xfrm>
          <a:prstGeom prst="rect">
            <a:avLst/>
          </a:prstGeom>
          <a:noFill/>
          <a:ln>
            <a:noFill/>
          </a:ln>
        </p:spPr>
      </p:pic>
      <p:pic>
        <p:nvPicPr>
          <p:cNvPr id="804" name="Google Shape;804;p72"/>
          <p:cNvPicPr preferRelativeResize="0"/>
          <p:nvPr/>
        </p:nvPicPr>
        <p:blipFill rotWithShape="1">
          <a:blip r:embed="rId4">
            <a:alphaModFix/>
          </a:blip>
          <a:srcRect b="0" l="0" r="0" t="0"/>
          <a:stretch/>
        </p:blipFill>
        <p:spPr>
          <a:xfrm>
            <a:off x="6228690" y="1608805"/>
            <a:ext cx="2905125" cy="3095625"/>
          </a:xfrm>
          <a:prstGeom prst="rect">
            <a:avLst/>
          </a:prstGeom>
          <a:noFill/>
          <a:ln>
            <a:noFill/>
          </a:ln>
        </p:spPr>
      </p:pic>
      <p:pic>
        <p:nvPicPr>
          <p:cNvPr id="805" name="Google Shape;805;p72"/>
          <p:cNvPicPr preferRelativeResize="0"/>
          <p:nvPr/>
        </p:nvPicPr>
        <p:blipFill rotWithShape="1">
          <a:blip r:embed="rId5">
            <a:alphaModFix/>
          </a:blip>
          <a:srcRect b="0" l="0" r="0" t="0"/>
          <a:stretch/>
        </p:blipFill>
        <p:spPr>
          <a:xfrm>
            <a:off x="9133815" y="1608805"/>
            <a:ext cx="2924175" cy="2562225"/>
          </a:xfrm>
          <a:prstGeom prst="rect">
            <a:avLst/>
          </a:prstGeom>
          <a:noFill/>
          <a:ln>
            <a:noFill/>
          </a:ln>
        </p:spPr>
      </p:pic>
      <p:sp>
        <p:nvSpPr>
          <p:cNvPr id="8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50</a:t>
            </a:r>
          </a:p>
        </p:txBody>
      </p:sp>
      <p:sp>
        <p:nvSpPr>
          <p:cNvPr id="807" name="EWL-COVER-1"/>
          <p:cNvSpPr/>
          <p:nvPr/>
        </p:nvSpPr>
        <p:spPr>
          <a:xfrm>
            <a:off x="429701" y="4434490"/>
            <a:ext cx="9887749" cy="2012030"/>
          </a:xfrm>
          <a:prstGeom prst="rect">
            <a:avLst/>
          </a:prstGeom>
          <a:solidFill>
            <a:srgbClr val="FFFFFF"/>
          </a:solidFill>
          <a:ln>
            <a:noFill/>
          </a:ln>
        </p:spPr>
        <p:txBody>
          <a:bodyPr/>
          <a:lstStyle/>
          <a:p/>
        </p:txBody>
      </p:sp>
      <p:sp>
        <p:nvSpPr>
          <p:cNvPr id="80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grpSp>
        <p:nvGrpSpPr>
          <p:cNvPr id="809" name="TEACH-5-student-move" descr="TEACH 5 · Facilitate student interactions and academic talk"/>
          <p:cNvGrpSpPr/>
          <p:nvPr/>
        </p:nvGrpSpPr>
        <p:grpSpPr>
          <a:xfrm>
            <a:off x="502920" y="4050442"/>
            <a:ext cx="5501640" cy="402336"/>
            <a:chOff x="502920" y="4050442"/>
            <a:chExt cx="5501640" cy="402336"/>
          </a:xfrm>
        </p:grpSpPr>
        <p:sp>
          <p:nvSpPr>
            <p:cNvPr id="810" name="TEACH-move-card"/>
            <p:cNvSpPr/>
            <p:nvPr/>
          </p:nvSpPr>
          <p:spPr>
            <a:xfrm>
              <a:off x="502920" y="405044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11" name="TEACH-move-rule"/>
            <p:cNvSpPr/>
            <p:nvPr/>
          </p:nvSpPr>
          <p:spPr>
            <a:xfrm>
              <a:off x="548640" y="4126886"/>
              <a:ext cx="100584" cy="249448"/>
            </a:xfrm>
            <a:prstGeom prst="roundRect">
              <a:avLst>
                <a:gd name="adj" fmla="val 50000"/>
              </a:avLst>
            </a:prstGeom>
            <a:solidFill>
              <a:srgbClr val="01708C"/>
            </a:solidFill>
            <a:ln>
              <a:noFill/>
            </a:ln>
          </p:spPr>
          <p:txBody>
            <a:bodyPr/>
            <a:lstStyle/>
            <a:p>
              <a:endParaRPr/>
            </a:p>
          </p:txBody>
        </p:sp>
        <p:sp>
          <p:nvSpPr>
            <p:cNvPr id="812" name="TEACH-move-text"/>
            <p:cNvSpPr txBox="1"/>
            <p:nvPr/>
          </p:nvSpPr>
          <p:spPr>
            <a:xfrm>
              <a:off x="822960" y="405044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cxnSp>
        <p:nvCxnSpPr>
          <p:cNvPr id="821" name="Google Shape;821;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2" name="Google Shape;822;p74"/>
          <p:cNvSpPr txBox="1"/>
          <p:nvPr/>
        </p:nvSpPr>
        <p:spPr>
          <a:xfrm>
            <a:off x="484565" y="4854788"/>
            <a:ext cx="7280139"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She will only cover the 3 congruent triangles, not the triangle in the middle.</a:t>
            </a:r>
            <a:endParaRPr b="0" i="0" sz="1400" u="none" cap="none" strike="noStrike">
              <a:solidFill>
                <a:srgbClr val="000000"/>
              </a:solidFill>
              <a:latin typeface="Arial"/>
              <a:ea typeface="Arial"/>
              <a:cs typeface="Arial"/>
              <a:sym typeface="Arial"/>
            </a:endParaRPr>
          </a:p>
        </p:txBody>
      </p:sp>
      <p:pic>
        <p:nvPicPr>
          <p:cNvPr id="823" name="Google Shape;823;p74"/>
          <p:cNvPicPr preferRelativeResize="0"/>
          <p:nvPr/>
        </p:nvPicPr>
        <p:blipFill rotWithShape="1">
          <a:blip r:embed="rId3">
            <a:alphaModFix/>
          </a:blip>
          <a:srcRect b="0" l="0" r="0" t="0"/>
          <a:stretch/>
        </p:blipFill>
        <p:spPr>
          <a:xfrm>
            <a:off x="7764704" y="1651099"/>
            <a:ext cx="4150485" cy="3600000"/>
          </a:xfrm>
          <a:prstGeom prst="rect">
            <a:avLst/>
          </a:prstGeom>
          <a:noFill/>
          <a:ln>
            <a:noFill/>
          </a:ln>
        </p:spPr>
      </p:pic>
      <p:sp>
        <p:nvSpPr>
          <p:cNvPr id="824" name="Google Shape;824;p74"/>
          <p:cNvSpPr/>
          <p:nvPr/>
        </p:nvSpPr>
        <p:spPr>
          <a:xfrm>
            <a:off x="484565" y="936000"/>
            <a:ext cx="708539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base is an equilateral triangle, and each face has a height of 125 centimeters.</a:t>
            </a:r>
            <a:endParaRPr b="0" i="0" sz="1400" u="none" cap="none" strike="noStrike">
              <a:solidFill>
                <a:srgbClr val="000000"/>
              </a:solidFill>
              <a:latin typeface="Arial"/>
              <a:ea typeface="Arial"/>
              <a:cs typeface="Arial"/>
              <a:sym typeface="Arial"/>
            </a:endParaRPr>
          </a:p>
        </p:txBody>
      </p:sp>
      <p:sp>
        <p:nvSpPr>
          <p:cNvPr id="825" name="Google Shape;825;p74"/>
          <p:cNvSpPr/>
          <p:nvPr/>
        </p:nvSpPr>
        <p:spPr>
          <a:xfrm>
            <a:off x="484565" y="2101510"/>
            <a:ext cx="728013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Maria will cover each of the faces, but not the base, of the frame with canvas.</a:t>
            </a:r>
            <a:endParaRPr b="0" i="0" sz="2800" u="none" cap="none" strike="noStrike">
              <a:solidFill>
                <a:schemeClr val="dk1"/>
              </a:solidFill>
              <a:latin typeface="Arial"/>
              <a:ea typeface="Arial"/>
              <a:cs typeface="Arial"/>
              <a:sym typeface="Arial"/>
            </a:endParaRPr>
          </a:p>
        </p:txBody>
      </p:sp>
      <p:sp>
        <p:nvSpPr>
          <p:cNvPr id="826" name="Google Shape;826;p74"/>
          <p:cNvSpPr/>
          <p:nvPr/>
        </p:nvSpPr>
        <p:spPr>
          <a:xfrm>
            <a:off x="484565" y="3267020"/>
            <a:ext cx="761765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Which triangles in the net will be covered with canvas?</a:t>
            </a:r>
            <a:endParaRPr b="1" i="0" sz="2800" u="none" cap="none" strike="noStrike">
              <a:solidFill>
                <a:schemeClr val="dk1"/>
              </a:solidFill>
              <a:latin typeface="Arial"/>
              <a:ea typeface="Arial"/>
              <a:cs typeface="Arial"/>
              <a:sym typeface="Arial"/>
            </a:endParaRPr>
          </a:p>
        </p:txBody>
      </p:sp>
      <p:sp>
        <p:nvSpPr>
          <p:cNvPr id="827" name="Google Shape;827;p74"/>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8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50</a:t>
            </a:r>
          </a:p>
        </p:txBody>
      </p:sp>
      <p:sp>
        <p:nvSpPr>
          <p:cNvPr id="829" name="EWL-COVER-1"/>
          <p:cNvSpPr/>
          <p:nvPr/>
        </p:nvSpPr>
        <p:spPr>
          <a:xfrm>
            <a:off x="429701" y="4799924"/>
            <a:ext cx="7389867" cy="1646596"/>
          </a:xfrm>
          <a:prstGeom prst="rect">
            <a:avLst/>
          </a:prstGeom>
          <a:solidFill>
            <a:srgbClr val="FFFFFF"/>
          </a:solidFill>
          <a:ln>
            <a:noFill/>
          </a:ln>
        </p:spPr>
        <p:txBody>
          <a:bodyPr/>
          <a:lstStyle/>
          <a:p/>
        </p:txBody>
      </p:sp>
      <p:grpSp>
        <p:nvGrpSpPr>
          <p:cNvPr id="830" name="TEACH-4-student-move" descr="TEACH 4 · Monitor progress and provide feedback"/>
          <p:cNvGrpSpPr/>
          <p:nvPr/>
        </p:nvGrpSpPr>
        <p:grpSpPr>
          <a:xfrm>
            <a:off x="502920" y="4415876"/>
            <a:ext cx="5501640" cy="402336"/>
            <a:chOff x="502920" y="4415876"/>
            <a:chExt cx="5501640" cy="402336"/>
          </a:xfrm>
        </p:grpSpPr>
        <p:sp>
          <p:nvSpPr>
            <p:cNvPr id="831" name="TEACH-move-card"/>
            <p:cNvSpPr/>
            <p:nvPr/>
          </p:nvSpPr>
          <p:spPr>
            <a:xfrm>
              <a:off x="502920" y="4415876"/>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32" name="TEACH-move-rule"/>
            <p:cNvSpPr/>
            <p:nvPr/>
          </p:nvSpPr>
          <p:spPr>
            <a:xfrm>
              <a:off x="548640" y="4492320"/>
              <a:ext cx="100584" cy="249448"/>
            </a:xfrm>
            <a:prstGeom prst="roundRect">
              <a:avLst>
                <a:gd name="adj" fmla="val 50000"/>
              </a:avLst>
            </a:prstGeom>
            <a:solidFill>
              <a:srgbClr val="01708C"/>
            </a:solidFill>
            <a:ln>
              <a:noFill/>
            </a:ln>
          </p:spPr>
          <p:txBody>
            <a:bodyPr/>
            <a:lstStyle/>
            <a:p>
              <a:endParaRPr/>
            </a:p>
          </p:txBody>
        </p:sp>
        <p:sp>
          <p:nvSpPr>
            <p:cNvPr id="833" name="TEACH-move-text"/>
            <p:cNvSpPr txBox="1"/>
            <p:nvPr/>
          </p:nvSpPr>
          <p:spPr>
            <a:xfrm>
              <a:off x="822960" y="4415876"/>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cxnSp>
        <p:nvCxnSpPr>
          <p:cNvPr id="841" name="Google Shape;841;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2" name="Google Shape;842;p76"/>
          <p:cNvSpPr/>
          <p:nvPr/>
        </p:nvSpPr>
        <p:spPr>
          <a:xfrm>
            <a:off x="486000" y="936000"/>
            <a:ext cx="7085393"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Maria will only cover the 3 congruent triangles that represent the lateral faces of the pyramid. The lateral faces are the faces that are not the base.</a:t>
            </a:r>
            <a:endParaRPr b="0" i="0" sz="1400" u="none" cap="none" strike="noStrike">
              <a:solidFill>
                <a:srgbClr val="000000"/>
              </a:solidFill>
              <a:latin typeface="Arial"/>
              <a:ea typeface="Arial"/>
              <a:cs typeface="Arial"/>
              <a:sym typeface="Arial"/>
            </a:endParaRPr>
          </a:p>
        </p:txBody>
      </p:sp>
      <p:sp>
        <p:nvSpPr>
          <p:cNvPr id="843" name="Google Shape;843;p76"/>
          <p:cNvSpPr txBox="1"/>
          <p:nvPr/>
        </p:nvSpPr>
        <p:spPr>
          <a:xfrm>
            <a:off x="502761" y="4897877"/>
            <a:ext cx="7085393" cy="15473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In general, how many lateral faces does a pyramid have?</a:t>
            </a:r>
            <a:endParaRPr b="0" i="0" sz="2800" u="none" cap="none" strike="noStrike">
              <a:solidFill>
                <a:srgbClr val="595959"/>
              </a:solidFill>
              <a:latin typeface="Arial"/>
              <a:ea typeface="Arial"/>
              <a:cs typeface="Arial"/>
              <a:sym typeface="Arial"/>
            </a:endParaRPr>
          </a:p>
        </p:txBody>
      </p:sp>
      <p:pic>
        <p:nvPicPr>
          <p:cNvPr id="844" name="Google Shape;844;p76"/>
          <p:cNvPicPr preferRelativeResize="0"/>
          <p:nvPr/>
        </p:nvPicPr>
        <p:blipFill rotWithShape="1">
          <a:blip r:embed="rId3">
            <a:alphaModFix/>
          </a:blip>
          <a:srcRect b="0" l="0" r="0" t="0"/>
          <a:stretch/>
        </p:blipFill>
        <p:spPr>
          <a:xfrm>
            <a:off x="7833996" y="1435091"/>
            <a:ext cx="3676650" cy="3295650"/>
          </a:xfrm>
          <a:prstGeom prst="rect">
            <a:avLst/>
          </a:prstGeom>
          <a:noFill/>
          <a:ln>
            <a:noFill/>
          </a:ln>
        </p:spPr>
      </p:pic>
      <p:sp>
        <p:nvSpPr>
          <p:cNvPr id="845" name="Google Shape;845;p76"/>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8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50</a:t>
            </a:r>
          </a:p>
        </p:txBody>
      </p:sp>
      <p:sp xmlns:p="http://schemas.openxmlformats.org/presentationml/2006/main" xmlns:a="http://schemas.openxmlformats.org/drawingml/2006/main">
        <p:nvSpPr>
          <p:cNvPr id="847"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a:t>
            </a:r>
            <a:endParaRPr lang="en-US" sz="2000"/>
          </a:p>
          <a:p>
            <a:pPr>
              <a:lnSpc>
                <a:spcPts val="2400"/>
              </a:lnSpc>
              <a:buNone/>
            </a:pPr>
            <a:r>
              <a:rPr lang="en-US" sz="2000">
                <a:solidFill>
                  <a:srgbClr val="174D60"/>
                </a:solidFill>
                <a:latin typeface="Arial"/>
              </a:rPr>
              <a:t>height. Explain how your method uses them.</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1" name="Google Shape;851;p77"/>
          <p:cNvSpPr/>
          <p:nvPr/>
        </p:nvSpPr>
        <p:spPr>
          <a:xfrm>
            <a:off x="484565" y="936000"/>
            <a:ext cx="7085393"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find the area of the lateral faces that will be covered with canvas.</a:t>
            </a:r>
            <a:endParaRPr b="0" i="0" sz="1400" u="none" cap="none" strike="noStrike">
              <a:solidFill>
                <a:srgbClr val="000000"/>
              </a:solidFill>
              <a:latin typeface="Arial"/>
              <a:ea typeface="Arial"/>
              <a:cs typeface="Arial"/>
              <a:sym typeface="Arial"/>
            </a:endParaRPr>
          </a:p>
        </p:txBody>
      </p:sp>
      <p:sp>
        <p:nvSpPr>
          <p:cNvPr id="852" name="Google Shape;852;p77"/>
          <p:cNvSpPr/>
          <p:nvPr/>
        </p:nvSpPr>
        <p:spPr>
          <a:xfrm>
            <a:off x="484565" y="2217090"/>
            <a:ext cx="1791965" cy="777970"/>
          </a:xfrm>
          <a:prstGeom prst="rect">
            <a:avLst/>
          </a:prstGeom>
          <a:blipFill rotWithShape="1">
            <a:blip r:embed="rId3">
              <a:alphaModFix/>
            </a:blip>
            <a:stretch>
              <a:fillRect b="-866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3" name="Google Shape;853;p77"/>
          <p:cNvSpPr/>
          <p:nvPr/>
        </p:nvSpPr>
        <p:spPr>
          <a:xfrm>
            <a:off x="484565" y="3092039"/>
            <a:ext cx="3326496" cy="77797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4" name="Google Shape;854;p77"/>
          <p:cNvSpPr/>
          <p:nvPr/>
        </p:nvSpPr>
        <p:spPr>
          <a:xfrm>
            <a:off x="484565" y="4035904"/>
            <a:ext cx="2574231" cy="51328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5" name="Google Shape;855;p77"/>
          <p:cNvSpPr/>
          <p:nvPr/>
        </p:nvSpPr>
        <p:spPr>
          <a:xfrm>
            <a:off x="484565" y="5008483"/>
            <a:ext cx="7085393" cy="954107"/>
          </a:xfrm>
          <a:prstGeom prst="rect">
            <a:avLst/>
          </a:prstGeom>
          <a:blipFill rotWithShape="1">
            <a:blip r:embed="rId6">
              <a:alphaModFix/>
            </a:blip>
            <a:stretch>
              <a:fillRect b="-17308" l="-1720" r="-2408"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56" name="Google Shape;856;p77"/>
          <p:cNvPicPr preferRelativeResize="0"/>
          <p:nvPr/>
        </p:nvPicPr>
        <p:blipFill rotWithShape="1">
          <a:blip r:embed="rId7">
            <a:alphaModFix/>
          </a:blip>
          <a:srcRect b="0" l="0" r="0" t="0"/>
          <a:stretch/>
        </p:blipFill>
        <p:spPr>
          <a:xfrm>
            <a:off x="7764704" y="1651099"/>
            <a:ext cx="4150485" cy="3600000"/>
          </a:xfrm>
          <a:prstGeom prst="rect">
            <a:avLst/>
          </a:prstGeom>
          <a:noFill/>
          <a:ln>
            <a:noFill/>
          </a:ln>
        </p:spPr>
      </p:pic>
      <p:sp>
        <p:nvSpPr>
          <p:cNvPr id="857" name="Google Shape;857;p77"/>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8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50</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cxnSp>
        <p:nvCxnSpPr>
          <p:cNvPr id="862" name="Google Shape;862;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3" name="Google Shape;863;p78"/>
          <p:cNvSpPr/>
          <p:nvPr/>
        </p:nvSpPr>
        <p:spPr>
          <a:xfrm>
            <a:off x="486000" y="936000"/>
            <a:ext cx="7085393"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Maria will cover each of the faces, but not the base of the frame with canvas to create a three-dimensional painting. The three faces have the same dimensions.</a:t>
            </a:r>
            <a:endParaRPr b="0" i="0" sz="1400" u="none" cap="none" strike="noStrike">
              <a:solidFill>
                <a:srgbClr val="000000"/>
              </a:solidFill>
              <a:latin typeface="Arial"/>
              <a:ea typeface="Arial"/>
              <a:cs typeface="Arial"/>
              <a:sym typeface="Arial"/>
            </a:endParaRPr>
          </a:p>
        </p:txBody>
      </p:sp>
      <p:sp>
        <p:nvSpPr>
          <p:cNvPr id="864" name="Google Shape;864;p78"/>
          <p:cNvSpPr/>
          <p:nvPr/>
        </p:nvSpPr>
        <p:spPr>
          <a:xfrm>
            <a:off x="502761" y="3337318"/>
            <a:ext cx="635450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much canvas will Maria need?</a:t>
            </a:r>
            <a:endParaRPr b="1" i="0" sz="2800" u="none" cap="none" strike="noStrike">
              <a:solidFill>
                <a:schemeClr val="dk1"/>
              </a:solidFill>
              <a:latin typeface="Arial"/>
              <a:ea typeface="Arial"/>
              <a:cs typeface="Arial"/>
              <a:sym typeface="Arial"/>
            </a:endParaRPr>
          </a:p>
        </p:txBody>
      </p:sp>
      <p:sp>
        <p:nvSpPr>
          <p:cNvPr id="865" name="Google Shape;865;p78"/>
          <p:cNvSpPr txBox="1"/>
          <p:nvPr/>
        </p:nvSpPr>
        <p:spPr>
          <a:xfrm>
            <a:off x="502761" y="4445974"/>
            <a:ext cx="7395515"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Maria will need 20,625 square centimeters of canvas to cover the three faces.</a:t>
            </a:r>
            <a:endParaRPr b="1" i="0" sz="2800" u="none" cap="none" strike="noStrike">
              <a:solidFill>
                <a:schemeClr val="dk1"/>
              </a:solidFill>
              <a:latin typeface="Arial"/>
              <a:ea typeface="Arial"/>
              <a:cs typeface="Arial"/>
              <a:sym typeface="Arial"/>
            </a:endParaRPr>
          </a:p>
        </p:txBody>
      </p:sp>
      <p:pic>
        <p:nvPicPr>
          <p:cNvPr id="866" name="Google Shape;866;p78"/>
          <p:cNvPicPr preferRelativeResize="0"/>
          <p:nvPr/>
        </p:nvPicPr>
        <p:blipFill rotWithShape="1">
          <a:blip r:embed="rId3">
            <a:alphaModFix/>
          </a:blip>
          <a:srcRect b="0" l="0" r="0" t="0"/>
          <a:stretch/>
        </p:blipFill>
        <p:spPr>
          <a:xfrm>
            <a:off x="8420105" y="1641486"/>
            <a:ext cx="2905125" cy="3095625"/>
          </a:xfrm>
          <a:prstGeom prst="rect">
            <a:avLst/>
          </a:prstGeom>
          <a:noFill/>
          <a:ln>
            <a:noFill/>
          </a:ln>
        </p:spPr>
      </p:pic>
      <p:sp>
        <p:nvSpPr>
          <p:cNvPr id="867" name="Google Shape;867;p78"/>
          <p:cNvSpPr txBox="1"/>
          <p:nvPr/>
        </p:nvSpPr>
        <p:spPr>
          <a:xfrm>
            <a:off x="484565" y="316034"/>
            <a:ext cx="4906301"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Maria’s Unique Artwork​</a:t>
            </a:r>
            <a:endParaRPr b="0" i="0" sz="1400" u="none" cap="none" strike="noStrike">
              <a:solidFill>
                <a:srgbClr val="000000"/>
              </a:solidFill>
              <a:latin typeface="Arial"/>
              <a:ea typeface="Arial"/>
              <a:cs typeface="Arial"/>
              <a:sym typeface="Arial"/>
            </a:endParaRPr>
          </a:p>
        </p:txBody>
      </p:sp>
      <p:sp>
        <p:nvSpPr>
          <p:cNvPr id="8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50</a:t>
            </a:r>
          </a:p>
        </p:txBody>
      </p:sp>
      <p:sp xmlns:p="http://schemas.openxmlformats.org/presentationml/2006/main" xmlns:a="http://schemas.openxmlformats.org/drawingml/2006/main">
        <p:nvSpPr>
          <p:cNvPr id="86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nvSpPr>
        <p:spPr>
          <a:xfrm>
            <a:off x="484565" y="927527"/>
            <a:ext cx="7804030" cy="154897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pPr>
            <a:r>
              <a:rPr b="0" i="0" lang="en-US" sz="2800" u="none" cap="none" strike="noStrike">
                <a:solidFill>
                  <a:schemeClr val="dk1"/>
                </a:solidFill>
                <a:latin typeface="Arial"/>
                <a:ea typeface="Arial"/>
                <a:cs typeface="Arial"/>
                <a:sym typeface="Arial"/>
              </a:rPr>
              <a:t>If the base of a pyramid were a regular octagon, how many lateral faces would the pyramid have? Would they all be congruent? Explain.</a:t>
            </a:r>
            <a:endParaRPr b="0" i="0" sz="1400" u="none" cap="none" strike="noStrike">
              <a:solidFill>
                <a:srgbClr val="000000"/>
              </a:solidFill>
              <a:latin typeface="Arial"/>
              <a:ea typeface="Arial"/>
              <a:cs typeface="Arial"/>
              <a:sym typeface="Arial"/>
            </a:endParaRPr>
          </a:p>
        </p:txBody>
      </p:sp>
      <p:sp>
        <p:nvSpPr>
          <p:cNvPr id="873" name="Google Shape;873;p7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74" name="Google Shape;874;p79"/>
          <p:cNvSpPr txBox="1"/>
          <p:nvPr/>
        </p:nvSpPr>
        <p:spPr>
          <a:xfrm>
            <a:off x="558034" y="3777048"/>
            <a:ext cx="7730562" cy="131070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pPr>
            <a:r>
              <a:rPr b="0" i="0" lang="en-US" sz="2800" u="none" cap="none" strike="noStrike">
                <a:solidFill>
                  <a:schemeClr val="dk1"/>
                </a:solidFill>
                <a:latin typeface="Arial"/>
                <a:ea typeface="Arial"/>
                <a:cs typeface="Arial"/>
                <a:sym typeface="Arial"/>
              </a:rPr>
              <a:t>Can you think of a different type of pyramid where the faces are not all congruent? Describe its characteristics.</a:t>
            </a:r>
            <a:endParaRPr b="0" i="0" sz="1400" u="none" cap="none" strike="noStrike">
              <a:solidFill>
                <a:srgbClr val="000000"/>
              </a:solidFill>
              <a:latin typeface="Arial"/>
              <a:ea typeface="Arial"/>
              <a:cs typeface="Arial"/>
              <a:sym typeface="Arial"/>
            </a:endParaRPr>
          </a:p>
        </p:txBody>
      </p:sp>
      <p:pic>
        <p:nvPicPr>
          <p:cNvPr id="875" name="Google Shape;875;p79"/>
          <p:cNvPicPr preferRelativeResize="0"/>
          <p:nvPr/>
        </p:nvPicPr>
        <p:blipFill rotWithShape="1">
          <a:blip r:embed="rId3">
            <a:alphaModFix/>
          </a:blip>
          <a:srcRect b="0" l="0" r="0" t="0"/>
          <a:stretch/>
        </p:blipFill>
        <p:spPr>
          <a:xfrm>
            <a:off x="8482074" y="1336449"/>
            <a:ext cx="3253263" cy="3291839"/>
          </a:xfrm>
          <a:prstGeom prst="rect">
            <a:avLst/>
          </a:prstGeom>
          <a:noFill/>
          <a:ln>
            <a:noFill/>
          </a:ln>
        </p:spPr>
      </p:pic>
      <p:sp>
        <p:nvSpPr>
          <p:cNvPr id="87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50</a:t>
            </a:r>
          </a:p>
        </p:txBody>
      </p:sp>
      <p:sp xmlns:p="http://schemas.openxmlformats.org/presentationml/2006/main" xmlns:a="http://schemas.openxmlformats.org/drawingml/2006/main">
        <p:nvSpPr>
          <p:cNvPr id="87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5.8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vertical pyramid height in place of a triangular face height.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the perpendicular height within each triangle on the given net.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80"/>
          <p:cNvSpPr txBox="1"/>
          <p:nvPr/>
        </p:nvSpPr>
        <p:spPr>
          <a:xfrm>
            <a:off x="508070" y="1350519"/>
            <a:ext cx="8058934" cy="1524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To determine the surface area of a pyramid, find the area of each face and add the areas. A net can help you visualize the faces.</a:t>
            </a:r>
            <a:endParaRPr b="0" i="0" sz="1400" u="none" cap="none" strike="noStrike">
              <a:solidFill>
                <a:srgbClr val="000000"/>
              </a:solidFill>
              <a:latin typeface="Arial"/>
              <a:ea typeface="Arial"/>
              <a:cs typeface="Arial"/>
              <a:sym typeface="Arial"/>
            </a:endParaRPr>
          </a:p>
        </p:txBody>
      </p:sp>
      <p:sp>
        <p:nvSpPr>
          <p:cNvPr id="882" name="Google Shape;882;p80"/>
          <p:cNvSpPr txBox="1"/>
          <p:nvPr/>
        </p:nvSpPr>
        <p:spPr>
          <a:xfrm>
            <a:off x="484565" y="316800"/>
            <a:ext cx="5805399" cy="10242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Determine Surface Area of Pyramids</a:t>
            </a:r>
            <a:endParaRPr b="0" i="0" sz="1400" u="none" cap="none" strike="noStrike">
              <a:solidFill>
                <a:srgbClr val="000000"/>
              </a:solidFill>
              <a:latin typeface="Arial"/>
              <a:ea typeface="Arial"/>
              <a:cs typeface="Arial"/>
              <a:sym typeface="Arial"/>
            </a:endParaRPr>
          </a:p>
        </p:txBody>
      </p:sp>
      <p:pic>
        <p:nvPicPr>
          <p:cNvPr id="883" name="Google Shape;883;p80"/>
          <p:cNvPicPr preferRelativeResize="0"/>
          <p:nvPr/>
        </p:nvPicPr>
        <p:blipFill rotWithShape="1">
          <a:blip r:embed="rId3">
            <a:alphaModFix/>
          </a:blip>
          <a:srcRect b="0" l="0" r="0" t="0"/>
          <a:stretch/>
        </p:blipFill>
        <p:spPr>
          <a:xfrm>
            <a:off x="1111223" y="3148754"/>
            <a:ext cx="2914650" cy="2076450"/>
          </a:xfrm>
          <a:prstGeom prst="rect">
            <a:avLst/>
          </a:prstGeom>
          <a:noFill/>
          <a:ln>
            <a:noFill/>
          </a:ln>
        </p:spPr>
      </p:pic>
      <p:pic>
        <p:nvPicPr>
          <p:cNvPr id="884" name="Google Shape;884;p80"/>
          <p:cNvPicPr preferRelativeResize="0"/>
          <p:nvPr/>
        </p:nvPicPr>
        <p:blipFill rotWithShape="1">
          <a:blip r:embed="rId4">
            <a:alphaModFix/>
          </a:blip>
          <a:srcRect b="0" l="0" r="0" t="0"/>
          <a:stretch/>
        </p:blipFill>
        <p:spPr>
          <a:xfrm>
            <a:off x="4554790" y="3148754"/>
            <a:ext cx="2819400" cy="2819400"/>
          </a:xfrm>
          <a:prstGeom prst="rect">
            <a:avLst/>
          </a:prstGeom>
          <a:noFill/>
          <a:ln>
            <a:noFill/>
          </a:ln>
        </p:spPr>
      </p:pic>
      <p:sp>
        <p:nvSpPr>
          <p:cNvPr id="8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50</a:t>
            </a:r>
          </a:p>
        </p:txBody>
      </p:sp>
      <p:sp>
        <p:nvSpPr>
          <p:cNvPr id="88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cxnSp>
        <p:nvCxnSpPr>
          <p:cNvPr id="889" name="Google Shape;889;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0" name="Google Shape;890;p81"/>
          <p:cNvSpPr txBox="1"/>
          <p:nvPr/>
        </p:nvSpPr>
        <p:spPr>
          <a:xfrm>
            <a:off x="486001" y="936000"/>
            <a:ext cx="6591074" cy="5312400"/>
          </a:xfrm>
          <a:prstGeom prst="rect">
            <a:avLst/>
          </a:prstGeom>
          <a:blipFill rotWithShape="1">
            <a:blip r:embed="rId3">
              <a:alphaModFix/>
            </a:blip>
            <a:stretch>
              <a:fillRect b="-1033" l="-1943" r="-2220" t="-12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91" name="Google Shape;891;p81"/>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 </a:t>
            </a:r>
            <a:r>
              <a:rPr b="1" i="0" lang="en-US" sz="2800" u="none" cap="none" strike="noStrike">
                <a:solidFill>
                  <a:srgbClr val="782DA0"/>
                </a:solidFill>
                <a:latin typeface="Arial"/>
                <a:ea typeface="Arial"/>
                <a:cs typeface="Arial"/>
                <a:sym typeface="Arial"/>
              </a:rPr>
              <a:t>The Louvre Pyramid</a:t>
            </a:r>
            <a:endParaRPr b="0" i="0" sz="1400" u="none" cap="none" strike="noStrike">
              <a:solidFill>
                <a:srgbClr val="000000"/>
              </a:solidFill>
              <a:latin typeface="Arial"/>
              <a:ea typeface="Arial"/>
              <a:cs typeface="Arial"/>
              <a:sym typeface="Arial"/>
            </a:endParaRPr>
          </a:p>
        </p:txBody>
      </p:sp>
      <p:pic>
        <p:nvPicPr>
          <p:cNvPr descr="A picture containing sky, outdoor, building, big&#10;&#10;Description automatically generated" id="892" name="Google Shape;892;p81"/>
          <p:cNvPicPr preferRelativeResize="0"/>
          <p:nvPr/>
        </p:nvPicPr>
        <p:blipFill rotWithShape="1">
          <a:blip r:embed="rId4">
            <a:alphaModFix/>
          </a:blip>
          <a:srcRect b="0" l="0" r="0" t="0"/>
          <a:stretch/>
        </p:blipFill>
        <p:spPr>
          <a:xfrm>
            <a:off x="7612835" y="1564396"/>
            <a:ext cx="4239267" cy="2932532"/>
          </a:xfrm>
          <a:prstGeom prst="rect">
            <a:avLst/>
          </a:prstGeom>
          <a:noFill/>
          <a:ln>
            <a:noFill/>
          </a:ln>
        </p:spPr>
      </p:pic>
      <p:sp>
        <p:nvSpPr>
          <p:cNvPr id="8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50</a:t>
            </a:r>
          </a:p>
        </p:txBody>
      </p:sp>
      <p:sp>
        <p:nvSpPr>
          <p:cNvPr id="89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895"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97" name="Google Shape;897;p8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898" name="Google Shape;898;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9" name="Google Shape;899;p82"/>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 can use nets and formulas to find the surface area of square pyramids.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 can use nets and formulas to find the surface area of triangular pyramids.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chemeClr val="dk1"/>
              </a:buClr>
              <a:buSzPts val="2800"/>
              <a:buFont typeface="Arial"/>
              <a:buChar char="•"/>
              <a:defRPr/>
            </a:pPr>
            <a:r>
              <a:rPr b="0" i="0" lang="en-US" sz="2800" u="none" cap="none" strike="noStrike">
                <a:solidFill>
                  <a:schemeClr val="dk1"/>
                </a:solidFill>
                <a:latin typeface="Arial"/>
                <a:ea typeface="Arial"/>
                <a:cs typeface="Arial"/>
                <a:sym typeface="Arial"/>
              </a:rPr>
              <a:t>I can look for and make use of structure to find the surface area of pyramids.</a:t>
            </a:r>
            <a:endParaRPr b="0" i="0" sz="1400" u="none" cap="none" strike="noStrike">
              <a:solidFill>
                <a:srgbClr val="000000"/>
              </a:solidFill>
              <a:latin typeface="Arial"/>
              <a:ea typeface="Arial"/>
              <a:cs typeface="Arial"/>
              <a:sym typeface="Arial"/>
            </a:endParaRPr>
          </a:p>
        </p:txBody>
      </p:sp>
      <p:sp>
        <p:nvSpPr>
          <p:cNvPr id="2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50</a:t>
            </a:r>
          </a:p>
        </p:txBody>
      </p:sp>
      <p:grpSp>
        <p:nvGrpSpPr>
          <p:cNvPr id="900" name="TEACH-1-student-move" descr="TEACH 1 · Facilitate clear, standards-based content learning"/>
          <p:cNvGrpSpPr/>
          <p:nvPr/>
        </p:nvGrpSpPr>
        <p:grpSpPr>
          <a:xfrm>
            <a:off x="502920" y="5472790"/>
            <a:ext cx="11186160" cy="402336"/>
            <a:chOff x="502920" y="5472790"/>
            <a:chExt cx="11186160" cy="402336"/>
          </a:xfrm>
        </p:grpSpPr>
        <p:sp>
          <p:nvSpPr>
            <p:cNvPr id="901"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2"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3"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5.8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Include the base and each triangular face.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50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50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50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5-8</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50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5.8 — Determine Surface Area of Pyramids</dc:title>
  <dc:creator>Neft Teacher</dc:creator>
  <cp:lastModifiedBy>Neft Teacher</cp:lastModifiedBy>
  <dcterms:created xsi:type="dcterms:W3CDTF">2026-09-30T12:04:43Z</dcterms:created>
  <dcterms:modified xsi:type="dcterms:W3CDTF">2026-09-30T12:04:43Z</dcterms:modified>
</cp:coreProperties>
</file>