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 A square pyramid has 4 lateral faces, not 3. Total lateral = 40 × 4 = 160 in². Correct: SA = 100 + 160 = 260 in².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3749040" cy="5143500"/>
          </a:xfrm>
          <a:prstGeom prst="rect">
            <a:avLst/>
          </a:prstGeom>
          <a:solidFill>
            <a:srgbClr val="17324D"/>
          </a:solidFill>
          <a:ln/>
        </p:spPr>
      </p:sp>
      <p:sp>
        <p:nvSpPr>
          <p:cNvPr id="3" name="Shape 1"/>
          <p:cNvSpPr/>
          <p:nvPr/>
        </p:nvSpPr>
        <p:spPr>
          <a:xfrm>
            <a:off x="2651760" y="-640080"/>
            <a:ext cx="2011680" cy="2011680"/>
          </a:xfrm>
          <a:prstGeom prst="ellipse">
            <a:avLst/>
          </a:prstGeom>
          <a:solidFill>
            <a:srgbClr val="B0883B">
              <a:alpha val="35000"/>
            </a:srgbClr>
          </a:solidFill>
          <a:ln/>
        </p:spPr>
      </p:sp>
      <p:sp>
        <p:nvSpPr>
          <p:cNvPr id="4" name="Text 2"/>
          <p:cNvSpPr/>
          <p:nvPr/>
        </p:nvSpPr>
        <p:spPr>
          <a:xfrm>
            <a:off x="411480" y="365760"/>
            <a:ext cx="3017520" cy="274320"/>
          </a:xfrm>
          <a:prstGeom prst="rect">
            <a:avLst/>
          </a:prstGeom>
          <a:noFill/>
          <a:ln/>
        </p:spPr>
        <p:txBody>
          <a:bodyPr wrap="square" rtlCol="0" anchor="ctr"/>
          <a:lstStyle/>
          <a:p>
            <a:pPr indent="0" marL="0">
              <a:buNone/>
            </a:pPr>
            <a:r>
              <a:rPr lang="en-US" sz="1100" b="1" spc="200" kern="0" dirty="0">
                <a:solidFill>
                  <a:srgbClr val="BFE6E2"/>
                </a:solidFill>
                <a:latin typeface="Outfit" pitchFamily="34" charset="0"/>
                <a:ea typeface="Outfit" pitchFamily="34" charset="-122"/>
                <a:cs typeface="Outfit" pitchFamily="34" charset="-120"/>
              </a:rPr>
              <a:t>NEFT TEACHER</a:t>
            </a:r>
            <a:endParaRPr lang="en-US" sz="1100" dirty="0"/>
          </a:p>
        </p:txBody>
      </p:sp>
      <p:sp>
        <p:nvSpPr>
          <p:cNvPr id="5" name="Text 3"/>
          <p:cNvSpPr/>
          <p:nvPr/>
        </p:nvSpPr>
        <p:spPr>
          <a:xfrm>
            <a:off x="411480" y="777240"/>
            <a:ext cx="1371600" cy="822960"/>
          </a:xfrm>
          <a:prstGeom prst="rect">
            <a:avLst/>
          </a:prstGeom>
          <a:noFill/>
          <a:ln/>
        </p:spPr>
        <p:txBody>
          <a:bodyPr wrap="square" rtlCol="0" anchor="ctr"/>
          <a:lstStyle/>
          <a:p>
            <a:pPr indent="0" marL="0">
              <a:buNone/>
            </a:pPr>
            <a:r>
              <a:rPr lang="en-US" sz="4400" dirty="0">
                <a:solidFill>
                  <a:srgbClr val="000000"/>
                </a:solidFill>
              </a:rPr>
              <a:t>📦</a:t>
            </a:r>
            <a:endParaRPr lang="en-US" sz="4400" dirty="0"/>
          </a:p>
        </p:txBody>
      </p:sp>
      <p:sp>
        <p:nvSpPr>
          <p:cNvPr id="6" name="Text 4"/>
          <p:cNvSpPr/>
          <p:nvPr/>
        </p:nvSpPr>
        <p:spPr>
          <a:xfrm>
            <a:off x="411480" y="1783080"/>
            <a:ext cx="3017520" cy="1554480"/>
          </a:xfrm>
          <a:prstGeom prst="rect">
            <a:avLst/>
          </a:prstGeom>
          <a:noFill/>
          <a:ln/>
        </p:spPr>
        <p:txBody>
          <a:bodyPr wrap="square" rtlCol="0" anchor="t"/>
          <a:lstStyle/>
          <a:p>
            <a:pPr indent="0" marL="0">
              <a:lnSpc>
                <a:spcPct val="95000"/>
              </a:lnSpc>
              <a:buNone/>
            </a:pPr>
            <a:r>
              <a:rPr lang="en-US" sz="3000" b="1" dirty="0">
                <a:solidFill>
                  <a:srgbClr val="FFFFFF"/>
                </a:solidFill>
                <a:latin typeface="Outfit" pitchFamily="34" charset="0"/>
                <a:ea typeface="Outfit" pitchFamily="34" charset="-122"/>
                <a:cs typeface="Outfit" pitchFamily="34" charset="-120"/>
              </a:rPr>
              <a:t>Surface Area of Pyramids</a:t>
            </a:r>
            <a:endParaRPr lang="en-US" sz="3000" dirty="0"/>
          </a:p>
        </p:txBody>
      </p:sp>
      <p:sp>
        <p:nvSpPr>
          <p:cNvPr id="7" name="Text 5"/>
          <p:cNvSpPr/>
          <p:nvPr/>
        </p:nvSpPr>
        <p:spPr>
          <a:xfrm>
            <a:off x="411480" y="4160520"/>
            <a:ext cx="1188720" cy="310896"/>
          </a:xfrm>
          <a:prstGeom prst="rect">
            <a:avLst>
              <a:gd name="adj" fmla="val 50000"/>
            </a:avLst>
          </a:prstGeom>
          <a:solidFill>
            <a:srgbClr val="B0883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6.G.4</a:t>
            </a:r>
            <a:endParaRPr lang="en-US" sz="1000" dirty="0"/>
          </a:p>
        </p:txBody>
      </p:sp>
      <p:sp>
        <p:nvSpPr>
          <p:cNvPr id="8" name="Text 6"/>
          <p:cNvSpPr/>
          <p:nvPr/>
        </p:nvSpPr>
        <p:spPr>
          <a:xfrm>
            <a:off x="1691640" y="4160520"/>
            <a:ext cx="1920240" cy="310896"/>
          </a:xfrm>
          <a:prstGeom prst="rect">
            <a:avLst/>
          </a:prstGeom>
          <a:noFill/>
          <a:ln/>
        </p:spPr>
        <p:txBody>
          <a:bodyPr wrap="square" rtlCol="0" anchor="ctr"/>
          <a:lstStyle/>
          <a:p>
            <a:pPr indent="0" marL="0">
              <a:buNone/>
            </a:pPr>
            <a:r>
              <a:rPr lang="en-US" sz="1000" dirty="0">
                <a:solidFill>
                  <a:srgbClr val="BFE6E2"/>
                </a:solidFill>
                <a:latin typeface="Hanken Grotesk" pitchFamily="34" charset="0"/>
                <a:ea typeface="Hanken Grotesk" pitchFamily="34" charset="-122"/>
                <a:cs typeface="Hanken Grotesk" pitchFamily="34" charset="-120"/>
              </a:rPr>
              <a:t>Unit 10  ·  Lesson 10-5</a:t>
            </a:r>
            <a:endParaRPr lang="en-US" sz="1000" dirty="0"/>
          </a:p>
        </p:txBody>
      </p:sp>
      <p:sp>
        <p:nvSpPr>
          <p:cNvPr id="9" name="Shape 7"/>
          <p:cNvSpPr/>
          <p:nvPr/>
        </p:nvSpPr>
        <p:spPr>
          <a:xfrm>
            <a:off x="4023360" y="411480"/>
            <a:ext cx="4800600" cy="1417320"/>
          </a:xfrm>
          <a:prstGeom prst="roundRect">
            <a:avLst>
              <a:gd name="adj" fmla="val 516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0" name="Text 8"/>
          <p:cNvSpPr/>
          <p:nvPr/>
        </p:nvSpPr>
        <p:spPr>
          <a:xfrm>
            <a:off x="4251960" y="548640"/>
            <a:ext cx="4389120" cy="365760"/>
          </a:xfrm>
          <a:prstGeom prst="rect">
            <a:avLst/>
          </a:prstGeom>
          <a:noFill/>
          <a:ln/>
        </p:spPr>
        <p:txBody>
          <a:bodyPr wrap="square" rtlCol="0" anchor="ctr"/>
          <a:lstStyle/>
          <a:p>
            <a:pPr indent="0" marL="0">
              <a:buNone/>
            </a:pPr>
            <a:r>
              <a:rPr lang="en-US" sz="1600" b="1" dirty="0">
                <a:solidFill>
                  <a:srgbClr val="17324D"/>
                </a:solidFill>
                <a:latin typeface="Outfit" pitchFamily="34" charset="0"/>
                <a:ea typeface="Outfit" pitchFamily="34" charset="-122"/>
                <a:cs typeface="Outfit" pitchFamily="34" charset="-120"/>
              </a:rPr>
              <a:t>My Math Notebook</a:t>
            </a:r>
            <a:endParaRPr lang="en-US" sz="1600" dirty="0"/>
          </a:p>
        </p:txBody>
      </p:sp>
      <p:sp>
        <p:nvSpPr>
          <p:cNvPr id="11" name="Text 9"/>
          <p:cNvSpPr/>
          <p:nvPr/>
        </p:nvSpPr>
        <p:spPr>
          <a:xfrm>
            <a:off x="4251960" y="1024128"/>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Name:</a:t>
            </a:r>
            <a:endParaRPr lang="en-US" sz="1000" dirty="0"/>
          </a:p>
        </p:txBody>
      </p:sp>
      <p:sp>
        <p:nvSpPr>
          <p:cNvPr id="12" name="Shape 10"/>
          <p:cNvSpPr/>
          <p:nvPr/>
        </p:nvSpPr>
        <p:spPr>
          <a:xfrm>
            <a:off x="4983480" y="1207008"/>
            <a:ext cx="3566160" cy="0"/>
          </a:xfrm>
          <a:prstGeom prst="line">
            <a:avLst/>
          </a:prstGeom>
          <a:noFill/>
          <a:ln w="9525">
            <a:solidFill>
              <a:srgbClr val="C7CDD2"/>
            </a:solidFill>
            <a:prstDash val="solid"/>
          </a:ln>
        </p:spPr>
      </p:sp>
      <p:sp>
        <p:nvSpPr>
          <p:cNvPr id="13" name="Text 11"/>
          <p:cNvSpPr/>
          <p:nvPr/>
        </p:nvSpPr>
        <p:spPr>
          <a:xfrm>
            <a:off x="4251960" y="1280160"/>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Date:</a:t>
            </a:r>
            <a:endParaRPr lang="en-US" sz="1000" dirty="0"/>
          </a:p>
        </p:txBody>
      </p:sp>
      <p:sp>
        <p:nvSpPr>
          <p:cNvPr id="14" name="Shape 12"/>
          <p:cNvSpPr/>
          <p:nvPr/>
        </p:nvSpPr>
        <p:spPr>
          <a:xfrm>
            <a:off x="4983480" y="1463040"/>
            <a:ext cx="3566160" cy="0"/>
          </a:xfrm>
          <a:prstGeom prst="line">
            <a:avLst/>
          </a:prstGeom>
          <a:noFill/>
          <a:ln w="9525">
            <a:solidFill>
              <a:srgbClr val="C7CDD2"/>
            </a:solidFill>
            <a:prstDash val="solid"/>
          </a:ln>
        </p:spPr>
      </p:sp>
      <p:sp>
        <p:nvSpPr>
          <p:cNvPr id="15" name="Text 13"/>
          <p:cNvSpPr/>
          <p:nvPr/>
        </p:nvSpPr>
        <p:spPr>
          <a:xfrm>
            <a:off x="4251960" y="1536192"/>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Period:</a:t>
            </a:r>
            <a:endParaRPr lang="en-US" sz="1000" dirty="0"/>
          </a:p>
        </p:txBody>
      </p:sp>
      <p:sp>
        <p:nvSpPr>
          <p:cNvPr id="16" name="Shape 14"/>
          <p:cNvSpPr/>
          <p:nvPr/>
        </p:nvSpPr>
        <p:spPr>
          <a:xfrm>
            <a:off x="4983480" y="1719072"/>
            <a:ext cx="3566160" cy="0"/>
          </a:xfrm>
          <a:prstGeom prst="line">
            <a:avLst/>
          </a:prstGeom>
          <a:noFill/>
          <a:ln w="9525">
            <a:solidFill>
              <a:srgbClr val="C7CDD2"/>
            </a:solidFill>
            <a:prstDash val="solid"/>
          </a:ln>
        </p:spPr>
      </p:sp>
      <p:sp>
        <p:nvSpPr>
          <p:cNvPr id="17" name="Shape 15"/>
          <p:cNvSpPr/>
          <p:nvPr/>
        </p:nvSpPr>
        <p:spPr>
          <a:xfrm>
            <a:off x="4023360" y="2011680"/>
            <a:ext cx="4800600" cy="1143000"/>
          </a:xfrm>
          <a:prstGeom prst="roundRect">
            <a:avLst>
              <a:gd name="adj" fmla="val 6400"/>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206240" y="2103120"/>
            <a:ext cx="4434840" cy="274320"/>
          </a:xfrm>
          <a:prstGeom prst="rect">
            <a:avLst/>
          </a:prstGeom>
          <a:noFill/>
          <a:ln/>
        </p:spPr>
        <p:txBody>
          <a:bodyPr wrap="square" rtlCol="0" anchor="ctr"/>
          <a:lstStyle/>
          <a:p>
            <a:pPr indent="0" marL="0">
              <a:buNone/>
            </a:pPr>
            <a:r>
              <a:rPr lang="en-US" sz="1100" b="1" dirty="0">
                <a:solidFill>
                  <a:srgbClr val="B0883B"/>
                </a:solidFill>
                <a:latin typeface="Outfit" pitchFamily="34" charset="0"/>
                <a:ea typeface="Outfit" pitchFamily="34" charset="-122"/>
                <a:cs typeface="Outfit" pitchFamily="34" charset="-120"/>
              </a:rPr>
              <a:t>I CAN…  </a:t>
            </a:r>
            <a:pPr indent="0" marL="0">
              <a:buNone/>
            </a:pPr>
            <a:r>
              <a:rPr lang="en-US" sz="900" i="1" dirty="0">
                <a:solidFill>
                  <a:srgbClr val="8A96A3"/>
                </a:solidFill>
                <a:latin typeface="Outfit" pitchFamily="34" charset="0"/>
                <a:ea typeface="Outfit" pitchFamily="34" charset="-122"/>
                <a:cs typeface="Outfit" pitchFamily="34" charset="-120"/>
              </a:rPr>
              <a:t>/ Yo puedo…</a:t>
            </a:r>
            <a:endParaRPr lang="en-US" sz="1100" dirty="0"/>
          </a:p>
        </p:txBody>
      </p:sp>
      <p:sp>
        <p:nvSpPr>
          <p:cNvPr id="19" name="Text 17"/>
          <p:cNvSpPr/>
          <p:nvPr/>
        </p:nvSpPr>
        <p:spPr>
          <a:xfrm>
            <a:off x="4206240" y="2395728"/>
            <a:ext cx="4434840" cy="713232"/>
          </a:xfrm>
          <a:prstGeom prst="rect">
            <a:avLst/>
          </a:prstGeom>
          <a:noFill/>
          <a:ln/>
        </p:spPr>
        <p:txBody>
          <a:bodyPr wrap="square" rtlCol="0" anchor="t"/>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I can find the surface area of a pyramid by adding the base area and the lateral faces.</a:t>
            </a:r>
            <a:endParaRPr lang="en-US" sz="1100" dirty="0"/>
          </a:p>
        </p:txBody>
      </p:sp>
      <p:sp>
        <p:nvSpPr>
          <p:cNvPr id="20" name="Shape 18"/>
          <p:cNvSpPr/>
          <p:nvPr/>
        </p:nvSpPr>
        <p:spPr>
          <a:xfrm>
            <a:off x="4023360" y="3291840"/>
            <a:ext cx="4800600" cy="1280160"/>
          </a:xfrm>
          <a:prstGeom prst="roundRect">
            <a:avLst>
              <a:gd name="adj" fmla="val 5714"/>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4206240" y="3383280"/>
            <a:ext cx="4434840" cy="274320"/>
          </a:xfrm>
          <a:prstGeom prst="rect">
            <a:avLst/>
          </a:prstGeom>
          <a:noFill/>
          <a:ln/>
        </p:spPr>
        <p:txBody>
          <a:bodyPr wrap="square" rtlCol="0" anchor="ctr"/>
          <a:lstStyle/>
          <a:p>
            <a:pPr indent="0" marL="0">
              <a:buNone/>
            </a:pPr>
            <a:r>
              <a:rPr lang="en-US" sz="1100" b="1" dirty="0">
                <a:solidFill>
                  <a:srgbClr val="B0883B"/>
                </a:solidFill>
                <a:latin typeface="Outfit" pitchFamily="34" charset="0"/>
                <a:ea typeface="Outfit" pitchFamily="34" charset="-122"/>
                <a:cs typeface="Outfit" pitchFamily="34" charset="-120"/>
              </a:rPr>
              <a:t>I WILL EXPLAIN…  </a:t>
            </a:r>
            <a:pPr indent="0" marL="0">
              <a:buNone/>
            </a:pPr>
            <a:r>
              <a:rPr lang="en-US" sz="900" i="1" dirty="0">
                <a:solidFill>
                  <a:srgbClr val="8A96A3"/>
                </a:solidFill>
                <a:latin typeface="Outfit" pitchFamily="34" charset="0"/>
                <a:ea typeface="Outfit" pitchFamily="34" charset="-122"/>
                <a:cs typeface="Outfit" pitchFamily="34" charset="-120"/>
              </a:rPr>
              <a:t>/ Objetivo de lenguaje</a:t>
            </a:r>
            <a:endParaRPr lang="en-US" sz="1100" dirty="0"/>
          </a:p>
        </p:txBody>
      </p:sp>
      <p:sp>
        <p:nvSpPr>
          <p:cNvPr id="22" name="Text 20"/>
          <p:cNvSpPr/>
          <p:nvPr/>
        </p:nvSpPr>
        <p:spPr>
          <a:xfrm>
            <a:off x="4206240" y="3675888"/>
            <a:ext cx="4434840" cy="841248"/>
          </a:xfrm>
          <a:prstGeom prst="rect">
            <a:avLst/>
          </a:prstGeom>
          <a:noFill/>
          <a:ln/>
        </p:spPr>
        <p:txBody>
          <a:bodyPr wrap="square" rtlCol="0" anchor="t"/>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can explain my work using the words pyramid, slant height, lateral face, and base.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Be Curious / Sé Curioso</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2</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3716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VISUAL PROMPT</a:t>
            </a:r>
            <a:endParaRPr lang="en-US" sz="900" dirty="0"/>
          </a:p>
        </p:txBody>
      </p:sp>
      <p:sp>
        <p:nvSpPr>
          <p:cNvPr id="19" name="Text 17"/>
          <p:cNvSpPr/>
          <p:nvPr/>
        </p:nvSpPr>
        <p:spPr>
          <a:xfrm>
            <a:off x="594360" y="1207008"/>
            <a:ext cx="379476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Time Capsule Project</a:t>
            </a:r>
            <a:endParaRPr lang="en-US" sz="1100" dirty="0"/>
          </a:p>
        </p:txBody>
      </p:sp>
      <p:sp>
        <p:nvSpPr>
          <p:cNvPr id="20" name="Text 18"/>
          <p:cNvSpPr/>
          <p:nvPr/>
        </p:nvSpPr>
        <p:spPr>
          <a:xfrm>
            <a:off x="594360" y="1508760"/>
            <a:ext cx="3794760" cy="1554480"/>
          </a:xfrm>
          <a:prstGeom prst="rect">
            <a:avLst/>
          </a:prstGeom>
          <a:noFill/>
          <a:ln/>
        </p:spPr>
        <p:txBody>
          <a:bodyPr wrap="square" rtlCol="0" anchor="t"/>
          <a:lstStyle/>
          <a:p>
            <a:pPr indent="0" marL="0">
              <a:buNone/>
            </a:pPr>
            <a:r>
              <a:rPr lang="en-US" sz="1150" dirty="0">
                <a:solidFill>
                  <a:srgbClr val="24323F"/>
                </a:solidFill>
                <a:latin typeface="Hanken Grotesk" pitchFamily="34" charset="0"/>
                <a:ea typeface="Hanken Grotesk" pitchFamily="34" charset="-122"/>
                <a:cs typeface="Hanken Grotesk" pitchFamily="34" charset="-120"/>
              </a:rPr>
              <a:t>Your class is building a pyramid-shaped display to showcase the time capsule at the school entrance. The pyramid will be covered in gold leaf to make it shine. To figure out how much gold leaf you need, you must calculate the total surface area — the base plus all the triangular faces!</a:t>
            </a:r>
            <a:endParaRPr lang="en-US" sz="1150" dirty="0"/>
          </a:p>
        </p:txBody>
      </p:sp>
      <p:sp>
        <p:nvSpPr>
          <p:cNvPr id="21" name="Text 19"/>
          <p:cNvSpPr/>
          <p:nvPr/>
        </p:nvSpPr>
        <p:spPr>
          <a:xfrm>
            <a:off x="594360" y="3154680"/>
            <a:ext cx="365760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Jot your first idea:</a:t>
            </a:r>
            <a:endParaRPr lang="en-US" sz="900" dirty="0"/>
          </a:p>
        </p:txBody>
      </p:sp>
      <p:sp>
        <p:nvSpPr>
          <p:cNvPr id="22" name="Shape 20"/>
          <p:cNvSpPr/>
          <p:nvPr/>
        </p:nvSpPr>
        <p:spPr>
          <a:xfrm>
            <a:off x="594360" y="3566160"/>
            <a:ext cx="3794760" cy="0"/>
          </a:xfrm>
          <a:prstGeom prst="line">
            <a:avLst/>
          </a:prstGeom>
          <a:noFill/>
          <a:ln w="9525">
            <a:solidFill>
              <a:srgbClr val="C7CDD2"/>
            </a:solidFill>
            <a:prstDash val="dash"/>
          </a:ln>
        </p:spPr>
      </p:sp>
      <p:sp>
        <p:nvSpPr>
          <p:cNvPr id="23" name="Shape 21"/>
          <p:cNvSpPr/>
          <p:nvPr/>
        </p:nvSpPr>
        <p:spPr>
          <a:xfrm>
            <a:off x="594360" y="3886200"/>
            <a:ext cx="3794760" cy="0"/>
          </a:xfrm>
          <a:prstGeom prst="line">
            <a:avLst/>
          </a:prstGeom>
          <a:noFill/>
          <a:ln w="9525">
            <a:solidFill>
              <a:srgbClr val="C7CDD2"/>
            </a:solidFill>
            <a:prstDash val="dash"/>
          </a:ln>
        </p:spPr>
      </p:sp>
      <p:sp>
        <p:nvSpPr>
          <p:cNvPr id="24" name="Shape 22"/>
          <p:cNvSpPr/>
          <p:nvPr/>
        </p:nvSpPr>
        <p:spPr>
          <a:xfrm>
            <a:off x="594360" y="4206240"/>
            <a:ext cx="3794760" cy="0"/>
          </a:xfrm>
          <a:prstGeom prst="line">
            <a:avLst/>
          </a:prstGeom>
          <a:noFill/>
          <a:ln w="9525">
            <a:solidFill>
              <a:srgbClr val="C7CDD2"/>
            </a:solidFill>
            <a:prstDash val="dash"/>
          </a:ln>
        </p:spPr>
      </p:sp>
      <p:sp>
        <p:nvSpPr>
          <p:cNvPr id="25" name="Shape 23"/>
          <p:cNvSpPr/>
          <p:nvPr/>
        </p:nvSpPr>
        <p:spPr>
          <a:xfrm>
            <a:off x="4709160" y="685800"/>
            <a:ext cx="4114800" cy="1920240"/>
          </a:xfrm>
          <a:prstGeom prst="roundRect">
            <a:avLst>
              <a:gd name="adj" fmla="val 381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4709160" y="685800"/>
            <a:ext cx="411480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I Notice…</a:t>
            </a:r>
            <a:endParaRPr lang="en-US" sz="1000" dirty="0"/>
          </a:p>
        </p:txBody>
      </p:sp>
      <p:sp>
        <p:nvSpPr>
          <p:cNvPr id="27" name="Text 25"/>
          <p:cNvSpPr/>
          <p:nvPr/>
        </p:nvSpPr>
        <p:spPr>
          <a:xfrm>
            <a:off x="4892040" y="1051560"/>
            <a:ext cx="3749040" cy="146304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How many faces does a square pyramid have?</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shape is the base? What shape are the side faces?</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is the difference between the height of the pyramid and the slant height?</a:t>
            </a:r>
            <a:endParaRPr lang="en-US" sz="1000" dirty="0"/>
          </a:p>
        </p:txBody>
      </p:sp>
      <p:sp>
        <p:nvSpPr>
          <p:cNvPr id="28" name="Shape 26"/>
          <p:cNvSpPr/>
          <p:nvPr/>
        </p:nvSpPr>
        <p:spPr>
          <a:xfrm>
            <a:off x="4709160" y="2743200"/>
            <a:ext cx="4114800" cy="1965960"/>
          </a:xfrm>
          <a:prstGeom prst="roundRect">
            <a:avLst>
              <a:gd name="adj" fmla="val 372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4709160" y="2743200"/>
            <a:ext cx="4114800" cy="274320"/>
          </a:xfrm>
          <a:prstGeom prst="rect">
            <a:avLst/>
          </a:prstGeom>
          <a:solidFill>
            <a:srgbClr val="F2C15B"/>
          </a:solidFill>
          <a:ln/>
        </p:spPr>
        <p:txBody>
          <a:bodyPr wrap="square" rtlCol="0" anchor="ctr"/>
          <a:lstStyle/>
          <a:p>
            <a:pPr algn="ctr" indent="0" marL="0">
              <a:buNone/>
            </a:pPr>
            <a:r>
              <a:rPr lang="en-US" sz="1000" b="1" dirty="0">
                <a:solidFill>
                  <a:srgbClr val="17324D"/>
                </a:solidFill>
                <a:latin typeface="Outfit" pitchFamily="34" charset="0"/>
                <a:ea typeface="Outfit" pitchFamily="34" charset="-122"/>
                <a:cs typeface="Outfit" pitchFamily="34" charset="-120"/>
              </a:rPr>
              <a:t>💭  I Wonder…</a:t>
            </a:r>
            <a:endParaRPr lang="en-US" sz="1000" dirty="0"/>
          </a:p>
        </p:txBody>
      </p:sp>
      <p:sp>
        <p:nvSpPr>
          <p:cNvPr id="30" name="Text 28"/>
          <p:cNvSpPr/>
          <p:nvPr/>
        </p:nvSpPr>
        <p:spPr>
          <a:xfrm>
            <a:off x="4892040" y="3108960"/>
            <a:ext cx="3749040" cy="150876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Why do we use slant height instead of regular height for the triangular faces?</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Would a taller pyramid always need more gold leaf than a shorter one?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Vocabulary / Vocabulario</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685800"/>
          <a:ext cx="8412480" cy="914400"/>
        </p:xfrm>
        <a:graphic>
          <a:graphicData uri="http://schemas.openxmlformats.org/drawingml/2006/table">
            <a:tbl>
              <a:tblPr/>
              <a:tblGrid>
                <a:gridCol w="2103120"/>
                <a:gridCol w="4114800"/>
                <a:gridCol w="2194560"/>
              </a:tblGrid>
              <a:tr h="457200">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Term / Término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Meaning / Significado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Example / Ejemplo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Pyramid</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Pirámide</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solid with a flat bottom and triangle sides that meet at one point on top.</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sólido con un fondo plano y lados triangulares que se unen en un punto arriba.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Like the Great Pyramid of Giza — a square on the bottom, 4 triangles slanting up to a point</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Slant height</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Altura inclinada (apotema)</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The height of a side triangle, measured along its slanted face.</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La altura de un triángulo lateral, medida por su cara inclinada.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If you slide your finger from the bottom edge up the triangle face to the top point — that distance is the slant height</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Lateral face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Cara lateral</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triangle side of a pyramid, not the bottom.</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lado triangular de una pirámide, no el fondo.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A square pyramid has 4 lateral faces — one triangle for each side of the square base</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Base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Base</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The flat bottom of a pyramid.</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El fondo plano de una pirámide.</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A square pyramid sits on a square base; base area = side × side</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Apex</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Ápice</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The point at the top of a pyramid where the sides meet.</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El punto en la parte de arriba de una pirámide donde se unen los lados.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The pointy top of a pyramid — all the slanted edges connect here</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bl>
          </a:graphicData>
        </a:graphic>
      </p:graphicFrame>
      <p:sp>
        <p:nvSpPr>
          <p:cNvPr id="18" name="Text 15"/>
          <p:cNvSpPr/>
          <p:nvPr/>
        </p:nvSpPr>
        <p:spPr>
          <a:xfrm>
            <a:off x="411480" y="3520440"/>
            <a:ext cx="8412480" cy="237744"/>
          </a:xfrm>
          <a:prstGeom prst="rect">
            <a:avLst/>
          </a:prstGeom>
          <a:noFill/>
          <a:ln/>
        </p:spPr>
        <p:txBody>
          <a:bodyPr wrap="square" rtlCol="0" anchor="ctr"/>
          <a:lstStyle/>
          <a:p>
            <a:pPr indent="0" marL="0">
              <a:buNone/>
            </a:pPr>
            <a:r>
              <a:rPr lang="en-US" sz="950" b="1" dirty="0">
                <a:solidFill>
                  <a:srgbClr val="17324D"/>
                </a:solidFill>
                <a:latin typeface="Outfit" pitchFamily="34" charset="0"/>
                <a:ea typeface="Outfit" pitchFamily="34" charset="-122"/>
                <a:cs typeface="Outfit" pitchFamily="34" charset="-120"/>
              </a:rPr>
              <a:t>Pyramid — example vs. non-example:</a:t>
            </a:r>
            <a:endParaRPr lang="en-US" sz="950" dirty="0"/>
          </a:p>
        </p:txBody>
      </p:sp>
      <p:sp>
        <p:nvSpPr>
          <p:cNvPr id="19" name="Shape 16"/>
          <p:cNvSpPr/>
          <p:nvPr/>
        </p:nvSpPr>
        <p:spPr>
          <a:xfrm>
            <a:off x="411480" y="3813048"/>
            <a:ext cx="4114800" cy="457200"/>
          </a:xfrm>
          <a:prstGeom prst="roundRect">
            <a:avLst>
              <a:gd name="adj" fmla="val 10000"/>
            </a:avLst>
          </a:prstGeom>
          <a:solidFill>
            <a:srgbClr val="E7F6F4"/>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0" name="Text 17"/>
          <p:cNvSpPr/>
          <p:nvPr/>
        </p:nvSpPr>
        <p:spPr>
          <a:xfrm>
            <a:off x="521208" y="3813048"/>
            <a:ext cx="3895344" cy="457200"/>
          </a:xfrm>
          <a:prstGeom prst="rect">
            <a:avLst/>
          </a:prstGeom>
          <a:noFill/>
          <a:ln/>
        </p:spPr>
        <p:txBody>
          <a:bodyPr wrap="square" rtlCol="0" anchor="ctr"/>
          <a:lstStyle/>
          <a:p>
            <a:pPr indent="0" marL="0">
              <a:buNone/>
            </a:pPr>
            <a:r>
              <a:rPr lang="en-US" sz="900" b="1" dirty="0">
                <a:solidFill>
                  <a:srgbClr val="1FA6A2"/>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A square base with four triangle sides meeting at a top point  </a:t>
            </a:r>
            <a:pPr indent="0" marL="0">
              <a:buNone/>
            </a:pPr>
            <a:r>
              <a:rPr lang="en-US" sz="800" dirty="0">
                <a:solidFill>
                  <a:srgbClr val="24323F"/>
                </a:solidFill>
                <a:latin typeface="Hanken Grotesk" pitchFamily="34" charset="0"/>
                <a:ea typeface="Hanken Grotesk" pitchFamily="34" charset="-122"/>
                <a:cs typeface="Hanken Grotesk" pitchFamily="34" charset="-120"/>
              </a:rPr>
              <a:t>Its triangular faces meet at one apex.</a:t>
            </a:r>
            <a:endParaRPr lang="en-US" sz="900" dirty="0"/>
          </a:p>
        </p:txBody>
      </p:sp>
      <p:sp>
        <p:nvSpPr>
          <p:cNvPr id="21" name="Shape 18"/>
          <p:cNvSpPr/>
          <p:nvPr/>
        </p:nvSpPr>
        <p:spPr>
          <a:xfrm>
            <a:off x="4663440" y="3813048"/>
            <a:ext cx="4114800" cy="457200"/>
          </a:xfrm>
          <a:prstGeom prst="roundRect">
            <a:avLst>
              <a:gd name="adj" fmla="val 10000"/>
            </a:avLst>
          </a:prstGeom>
          <a:solidFill>
            <a:srgbClr val="FDECEA"/>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2" name="Text 19"/>
          <p:cNvSpPr/>
          <p:nvPr/>
        </p:nvSpPr>
        <p:spPr>
          <a:xfrm>
            <a:off x="4773168" y="3813048"/>
            <a:ext cx="3895344" cy="457200"/>
          </a:xfrm>
          <a:prstGeom prst="rect">
            <a:avLst/>
          </a:prstGeom>
          <a:noFill/>
          <a:ln/>
        </p:spPr>
        <p:txBody>
          <a:bodyPr wrap="square" rtlCol="0" anchor="ctr"/>
          <a:lstStyle/>
          <a:p>
            <a:pPr indent="0" marL="0">
              <a:buNone/>
            </a:pPr>
            <a:r>
              <a:rPr lang="en-US" sz="900" b="1" dirty="0">
                <a:solidFill>
                  <a:srgbClr val="C0392B"/>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A box with six rectangular faces  </a:t>
            </a:r>
            <a:pPr indent="0" marL="0">
              <a:buNone/>
            </a:pPr>
            <a:r>
              <a:rPr lang="en-US" sz="800" dirty="0">
                <a:solidFill>
                  <a:srgbClr val="24323F"/>
                </a:solidFill>
                <a:latin typeface="Hanken Grotesk" pitchFamily="34" charset="0"/>
                <a:ea typeface="Hanken Grotesk" pitchFamily="34" charset="-122"/>
                <a:cs typeface="Hanken Grotesk" pitchFamily="34" charset="-120"/>
              </a:rPr>
              <a:t>That is a rectangular prism, not a pyramid.</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Guided Practice / Práctica Guiada</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4</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73736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WE DO TOGETHER</a:t>
            </a:r>
            <a:endParaRPr lang="en-US" sz="900" dirty="0"/>
          </a:p>
        </p:txBody>
      </p:sp>
      <p:sp>
        <p:nvSpPr>
          <p:cNvPr id="19" name="Text 17"/>
          <p:cNvSpPr/>
          <p:nvPr/>
        </p:nvSpPr>
        <p:spPr>
          <a:xfrm>
            <a:off x="594360" y="1188720"/>
            <a:ext cx="512064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How do we find the surface area of a pyramid?</a:t>
            </a:r>
            <a:endParaRPr lang="en-US" sz="1200" dirty="0"/>
          </a:p>
        </p:txBody>
      </p:sp>
      <p:sp>
        <p:nvSpPr>
          <p:cNvPr id="20" name="Shape 18"/>
          <p:cNvSpPr/>
          <p:nvPr/>
        </p:nvSpPr>
        <p:spPr>
          <a:xfrm>
            <a:off x="640080" y="1609344"/>
            <a:ext cx="274320" cy="274320"/>
          </a:xfrm>
          <a:prstGeom prst="ellipse">
            <a:avLst/>
          </a:prstGeom>
          <a:solidFill>
            <a:srgbClr val="B0883B"/>
          </a:solidFill>
          <a:ln/>
        </p:spPr>
      </p:sp>
      <p:sp>
        <p:nvSpPr>
          <p:cNvPr id="21" name="Text 19"/>
          <p:cNvSpPr/>
          <p:nvPr/>
        </p:nvSpPr>
        <p:spPr>
          <a:xfrm>
            <a:off x="640080" y="160934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2" name="Text 20"/>
          <p:cNvSpPr/>
          <p:nvPr/>
        </p:nvSpPr>
        <p:spPr>
          <a:xfrm>
            <a:off x="1024128" y="1554480"/>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Now a smaller square pyramid: base 4 × 4, slant height 5. What is the base area?</a:t>
            </a:r>
            <a:endParaRPr lang="en-US" sz="1050" dirty="0"/>
          </a:p>
        </p:txBody>
      </p:sp>
      <p:sp>
        <p:nvSpPr>
          <p:cNvPr id="23" name="Shape 21"/>
          <p:cNvSpPr/>
          <p:nvPr/>
        </p:nvSpPr>
        <p:spPr>
          <a:xfrm>
            <a:off x="640080" y="2084832"/>
            <a:ext cx="274320" cy="274320"/>
          </a:xfrm>
          <a:prstGeom prst="ellipse">
            <a:avLst/>
          </a:prstGeom>
          <a:solidFill>
            <a:srgbClr val="B0883B"/>
          </a:solidFill>
          <a:ln/>
        </p:spPr>
      </p:sp>
      <p:sp>
        <p:nvSpPr>
          <p:cNvPr id="24" name="Text 22"/>
          <p:cNvSpPr/>
          <p:nvPr/>
        </p:nvSpPr>
        <p:spPr>
          <a:xfrm>
            <a:off x="640080" y="208483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5" name="Text 23"/>
          <p:cNvSpPr/>
          <p:nvPr/>
        </p:nvSpPr>
        <p:spPr>
          <a:xfrm>
            <a:off x="1024128" y="2029968"/>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Right, 4 × 4 = 16. Now one triangular face: ½ × 4 × 5. What do you get?</a:t>
            </a:r>
            <a:endParaRPr lang="en-US" sz="1050" dirty="0"/>
          </a:p>
        </p:txBody>
      </p:sp>
      <p:sp>
        <p:nvSpPr>
          <p:cNvPr id="26" name="Shape 24"/>
          <p:cNvSpPr/>
          <p:nvPr/>
        </p:nvSpPr>
        <p:spPr>
          <a:xfrm>
            <a:off x="640080" y="2560320"/>
            <a:ext cx="274320" cy="274320"/>
          </a:xfrm>
          <a:prstGeom prst="ellipse">
            <a:avLst/>
          </a:prstGeom>
          <a:solidFill>
            <a:srgbClr val="B0883B"/>
          </a:solidFill>
          <a:ln/>
        </p:spPr>
      </p:sp>
      <p:sp>
        <p:nvSpPr>
          <p:cNvPr id="27" name="Text 25"/>
          <p:cNvSpPr/>
          <p:nvPr/>
        </p:nvSpPr>
        <p:spPr>
          <a:xfrm>
            <a:off x="640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8" name="Text 26"/>
          <p:cNvSpPr/>
          <p:nvPr/>
        </p:nvSpPr>
        <p:spPr>
          <a:xfrm>
            <a:off x="1024128" y="2505456"/>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Yes, 10. Four faces is 4 × 10 = 40. Now add the base: 16 + 40. What is the surface area?</a:t>
            </a:r>
            <a:endParaRPr lang="en-US" sz="1050" dirty="0"/>
          </a:p>
        </p:txBody>
      </p:sp>
      <p:sp>
        <p:nvSpPr>
          <p:cNvPr id="29" name="Shape 27"/>
          <p:cNvSpPr/>
          <p:nvPr/>
        </p:nvSpPr>
        <p:spPr>
          <a:xfrm>
            <a:off x="640080" y="3035808"/>
            <a:ext cx="274320" cy="274320"/>
          </a:xfrm>
          <a:prstGeom prst="ellipse">
            <a:avLst/>
          </a:prstGeom>
          <a:solidFill>
            <a:srgbClr val="B0883B"/>
          </a:solidFill>
          <a:ln/>
        </p:spPr>
      </p:sp>
      <p:sp>
        <p:nvSpPr>
          <p:cNvPr id="30" name="Text 28"/>
          <p:cNvSpPr/>
          <p:nvPr/>
        </p:nvSpPr>
        <p:spPr>
          <a:xfrm>
            <a:off x="640080" y="303580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1" name="Text 29"/>
          <p:cNvSpPr/>
          <p:nvPr/>
        </p:nvSpPr>
        <p:spPr>
          <a:xfrm>
            <a:off x="1024128" y="2980944"/>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Yes, SA = 56 in². Don't forget to add the base area!</a:t>
            </a:r>
            <a:endParaRPr lang="en-US" sz="1050" dirty="0"/>
          </a:p>
        </p:txBody>
      </p:sp>
      <p:sp>
        <p:nvSpPr>
          <p:cNvPr id="32" name="Text 30"/>
          <p:cNvSpPr/>
          <p:nvPr/>
        </p:nvSpPr>
        <p:spPr>
          <a:xfrm>
            <a:off x="594360" y="3886200"/>
            <a:ext cx="512064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Your turn — show your work:</a:t>
            </a:r>
            <a:endParaRPr lang="en-US" sz="900" dirty="0"/>
          </a:p>
        </p:txBody>
      </p:sp>
      <p:sp>
        <p:nvSpPr>
          <p:cNvPr id="33" name="Shape 31"/>
          <p:cNvSpPr/>
          <p:nvPr/>
        </p:nvSpPr>
        <p:spPr>
          <a:xfrm>
            <a:off x="640080" y="4297680"/>
            <a:ext cx="5120640" cy="0"/>
          </a:xfrm>
          <a:prstGeom prst="line">
            <a:avLst/>
          </a:prstGeom>
          <a:noFill/>
          <a:ln w="9525">
            <a:solidFill>
              <a:srgbClr val="C7CDD2"/>
            </a:solidFill>
            <a:prstDash val="dash"/>
          </a:ln>
        </p:spPr>
      </p:sp>
      <p:sp>
        <p:nvSpPr>
          <p:cNvPr id="34" name="Shape 32"/>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6" name="Text 34"/>
          <p:cNvSpPr/>
          <p:nvPr/>
        </p:nvSpPr>
        <p:spPr>
          <a:xfrm>
            <a:off x="6217920" y="1097280"/>
            <a:ext cx="2468880" cy="146304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A square pyramid time capsule display has a square base and four triangular faces that meet at a point on top. To find its surface area, which parts do you need to measure?</a:t>
            </a:r>
            <a:endParaRPr lang="en-US" sz="1000" dirty="0"/>
          </a:p>
        </p:txBody>
      </p:sp>
      <p:sp>
        <p:nvSpPr>
          <p:cNvPr id="37" name="Shape 35"/>
          <p:cNvSpPr/>
          <p:nvPr/>
        </p:nvSpPr>
        <p:spPr>
          <a:xfrm>
            <a:off x="6172200" y="2743200"/>
            <a:ext cx="2514600" cy="1828800"/>
          </a:xfrm>
          <a:prstGeom prst="roundRect">
            <a:avLst>
              <a:gd name="adj" fmla="val 40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Text 36"/>
          <p:cNvSpPr/>
          <p:nvPr/>
        </p:nvSpPr>
        <p:spPr>
          <a:xfrm>
            <a:off x="6309360" y="2834640"/>
            <a:ext cx="2286000" cy="228600"/>
          </a:xfrm>
          <a:prstGeom prst="rect">
            <a:avLst/>
          </a:prstGeom>
          <a:noFill/>
          <a:ln/>
        </p:spPr>
        <p:txBody>
          <a:bodyPr wrap="square" rtlCol="0" anchor="ctr"/>
          <a:lstStyle/>
          <a:p>
            <a:pPr indent="0" marL="0">
              <a:buNone/>
            </a:pPr>
            <a:r>
              <a:rPr lang="en-US" sz="950" b="1" dirty="0">
                <a:solidFill>
                  <a:srgbClr val="B0883B"/>
                </a:solidFill>
                <a:latin typeface="Outfit" pitchFamily="34" charset="0"/>
                <a:ea typeface="Outfit" pitchFamily="34" charset="-122"/>
                <a:cs typeface="Outfit" pitchFamily="34" charset="-120"/>
              </a:rPr>
              <a:t>🔑 Key Idea</a:t>
            </a:r>
            <a:endParaRPr lang="en-US" sz="950" dirty="0"/>
          </a:p>
        </p:txBody>
      </p:sp>
      <p:sp>
        <p:nvSpPr>
          <p:cNvPr id="39" name="Text 37"/>
          <p:cNvSpPr/>
          <p:nvPr/>
        </p:nvSpPr>
        <p:spPr>
          <a:xfrm>
            <a:off x="6309360" y="3108960"/>
            <a:ext cx="2286000" cy="1371600"/>
          </a:xfrm>
          <a:prstGeom prst="rect">
            <a:avLst/>
          </a:prstGeom>
          <a:noFill/>
          <a:ln/>
        </p:spPr>
        <p:txBody>
          <a:bodyPr wrap="square" rtlCol="0" anchor="t"/>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Surface area of a pyramid = base area + the area of all the triangular lateral faces.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Sort It Out / Clasifícalo</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5</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22960"/>
            <a:ext cx="5120640" cy="365760"/>
          </a:xfrm>
          <a:prstGeom prst="rect">
            <a:avLst/>
          </a:prstGeom>
          <a:noFill/>
          <a:ln/>
        </p:spPr>
        <p:txBody>
          <a:bodyPr wrap="square" rtlCol="0" anchor="ctr"/>
          <a:lstStyle/>
          <a:p>
            <a:pPr indent="0" marL="0">
              <a:buNone/>
            </a:pPr>
            <a:r>
              <a:rPr lang="en-US" sz="1050" b="1" dirty="0">
                <a:solidFill>
                  <a:srgbClr val="17324D"/>
                </a:solidFill>
                <a:latin typeface="Outfit" pitchFamily="34" charset="0"/>
                <a:ea typeface="Outfit" pitchFamily="34" charset="-122"/>
                <a:cs typeface="Outfit" pitchFamily="34" charset="-120"/>
              </a:rPr>
              <a:t>Calculate the surface area of each pyramid display. SA = Base Area + Lateral Area. For each triangular face, use A = ½ × base × slant height.</a:t>
            </a:r>
            <a:endParaRPr lang="en-US" sz="1050" dirty="0"/>
          </a:p>
        </p:txBody>
      </p:sp>
      <p:sp>
        <p:nvSpPr>
          <p:cNvPr id="19" name="Text 17"/>
          <p:cNvSpPr/>
          <p:nvPr/>
        </p:nvSpPr>
        <p:spPr>
          <a:xfrm>
            <a:off x="594360" y="1234440"/>
            <a:ext cx="5120640" cy="219456"/>
          </a:xfrm>
          <a:prstGeom prst="rect">
            <a:avLst/>
          </a:prstGeom>
          <a:noFill/>
          <a:ln/>
        </p:spPr>
        <p:txBody>
          <a:bodyPr wrap="square" rtlCol="0" anchor="ctr"/>
          <a:lstStyle/>
          <a:p>
            <a:pPr indent="0" marL="0">
              <a:buNone/>
            </a:pPr>
            <a:r>
              <a:rPr lang="en-US" sz="850" i="1" dirty="0">
                <a:solidFill>
                  <a:srgbClr val="8A96A3"/>
                </a:solidFill>
                <a:latin typeface="Hanken Grotesk" pitchFamily="34" charset="0"/>
                <a:ea typeface="Hanken Grotesk" pitchFamily="34" charset="-122"/>
                <a:cs typeface="Hanken Grotesk" pitchFamily="34" charset="-120"/>
              </a:rPr>
              <a:t>Card Bank — cut or sort these cards:</a:t>
            </a:r>
            <a:endParaRPr lang="en-US" sz="850" dirty="0"/>
          </a:p>
        </p:txBody>
      </p:sp>
      <p:sp>
        <p:nvSpPr>
          <p:cNvPr id="20" name="Text 18"/>
          <p:cNvSpPr/>
          <p:nvPr/>
        </p:nvSpPr>
        <p:spPr>
          <a:xfrm>
            <a:off x="59436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1</a:t>
            </a:r>
            <a:endParaRPr lang="en-US" sz="900" dirty="0"/>
          </a:p>
        </p:txBody>
      </p:sp>
      <p:sp>
        <p:nvSpPr>
          <p:cNvPr id="21" name="Text 19"/>
          <p:cNvSpPr/>
          <p:nvPr/>
        </p:nvSpPr>
        <p:spPr>
          <a:xfrm>
            <a:off x="236220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2</a:t>
            </a:r>
            <a:endParaRPr lang="en-US" sz="900" dirty="0"/>
          </a:p>
        </p:txBody>
      </p:sp>
      <p:sp>
        <p:nvSpPr>
          <p:cNvPr id="22" name="Text 20"/>
          <p:cNvSpPr/>
          <p:nvPr/>
        </p:nvSpPr>
        <p:spPr>
          <a:xfrm>
            <a:off x="413004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3</a:t>
            </a:r>
            <a:endParaRPr lang="en-US" sz="900" dirty="0"/>
          </a:p>
        </p:txBody>
      </p:sp>
      <p:sp>
        <p:nvSpPr>
          <p:cNvPr id="23" name="Text 21"/>
          <p:cNvSpPr/>
          <p:nvPr/>
        </p:nvSpPr>
        <p:spPr>
          <a:xfrm>
            <a:off x="594360" y="1975104"/>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4</a:t>
            </a:r>
            <a:endParaRPr lang="en-US" sz="900" dirty="0"/>
          </a:p>
        </p:txBody>
      </p:sp>
      <p:sp>
        <p:nvSpPr>
          <p:cNvPr id="24" name="Shape 22"/>
          <p:cNvSpPr/>
          <p:nvPr/>
        </p:nvSpPr>
        <p:spPr>
          <a:xfrm>
            <a:off x="594360" y="2560320"/>
            <a:ext cx="2514600" cy="1965960"/>
          </a:xfrm>
          <a:prstGeom prst="roundRect">
            <a:avLst>
              <a:gd name="adj" fmla="val 2326"/>
            </a:avLst>
          </a:prstGeom>
          <a:solidFill>
            <a:srgbClr val="FFFFFF"/>
          </a:solidFill>
          <a:ln w="12700">
            <a:solidFill>
              <a:srgbClr val="B0883B"/>
            </a:solidFill>
            <a:prstDash val="solid"/>
          </a:ln>
          <a:effectLst>
            <a:outerShdw sx="100000" sy="100000" kx="0" ky="0" algn="bl" rotWithShape="0" blurRad="50800" dist="12700" dir="5400000">
              <a:srgbClr val="1C2E42">
                <a:alpha val="10000"/>
              </a:srgbClr>
            </a:outerShdw>
          </a:effectLst>
        </p:spPr>
      </p:sp>
      <p:sp>
        <p:nvSpPr>
          <p:cNvPr id="25" name="Text 23"/>
          <p:cNvSpPr/>
          <p:nvPr/>
        </p:nvSpPr>
        <p:spPr>
          <a:xfrm>
            <a:off x="594360" y="2560320"/>
            <a:ext cx="2514600" cy="292608"/>
          </a:xfrm>
          <a:prstGeom prst="rect">
            <a:avLst/>
          </a:prstGeom>
          <a:solidFill>
            <a:srgbClr val="B0883B"/>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A</a:t>
            </a:r>
            <a:endParaRPr lang="en-US" sz="950" dirty="0"/>
          </a:p>
        </p:txBody>
      </p:sp>
      <p:sp>
        <p:nvSpPr>
          <p:cNvPr id="26" name="Shape 24"/>
          <p:cNvSpPr/>
          <p:nvPr/>
        </p:nvSpPr>
        <p:spPr>
          <a:xfrm>
            <a:off x="3246120" y="2560320"/>
            <a:ext cx="2514600" cy="1965960"/>
          </a:xfrm>
          <a:prstGeom prst="roundRect">
            <a:avLst>
              <a:gd name="adj" fmla="val 2326"/>
            </a:avLst>
          </a:prstGeom>
          <a:solidFill>
            <a:srgbClr val="FFFFFF"/>
          </a:solidFill>
          <a:ln w="12700">
            <a:solidFill>
              <a:srgbClr val="B0883B"/>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3246120" y="2560320"/>
            <a:ext cx="2514600" cy="292608"/>
          </a:xfrm>
          <a:prstGeom prst="rect">
            <a:avLst/>
          </a:prstGeom>
          <a:solidFill>
            <a:srgbClr val="B0883B"/>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B</a:t>
            </a:r>
            <a:endParaRPr lang="en-US" sz="950" dirty="0"/>
          </a:p>
        </p:txBody>
      </p:sp>
      <p:sp>
        <p:nvSpPr>
          <p:cNvPr id="28" name="Shape 26"/>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0" name="Text 28"/>
          <p:cNvSpPr/>
          <p:nvPr/>
        </p:nvSpPr>
        <p:spPr>
          <a:xfrm>
            <a:off x="6217920" y="1097280"/>
            <a:ext cx="2468880" cy="137160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For Display A (square base 6×6, slant height 8), how did you combine the base area and the four triangular faces to get the total surface area?</a:t>
            </a:r>
            <a:endParaRPr lang="en-US" sz="1000" dirty="0"/>
          </a:p>
        </p:txBody>
      </p:sp>
      <p:sp>
        <p:nvSpPr>
          <p:cNvPr id="31" name="Shape 29"/>
          <p:cNvSpPr/>
          <p:nvPr/>
        </p:nvSpPr>
        <p:spPr>
          <a:xfrm>
            <a:off x="6217920" y="2743200"/>
            <a:ext cx="2423160" cy="0"/>
          </a:xfrm>
          <a:prstGeom prst="line">
            <a:avLst/>
          </a:prstGeom>
          <a:noFill/>
          <a:ln w="9525">
            <a:solidFill>
              <a:srgbClr val="C7CDD2"/>
            </a:solidFill>
            <a:prstDash val="dash"/>
          </a:ln>
        </p:spPr>
      </p:sp>
      <p:sp>
        <p:nvSpPr>
          <p:cNvPr id="32" name="Shape 30"/>
          <p:cNvSpPr/>
          <p:nvPr/>
        </p:nvSpPr>
        <p:spPr>
          <a:xfrm>
            <a:off x="6217920" y="3072384"/>
            <a:ext cx="2423160" cy="0"/>
          </a:xfrm>
          <a:prstGeom prst="line">
            <a:avLst/>
          </a:prstGeom>
          <a:noFill/>
          <a:ln w="9525">
            <a:solidFill>
              <a:srgbClr val="C7CDD2"/>
            </a:solidFill>
            <a:prstDash val="dash"/>
          </a:ln>
        </p:spPr>
      </p:sp>
      <p:sp>
        <p:nvSpPr>
          <p:cNvPr id="33" name="Shape 31"/>
          <p:cNvSpPr/>
          <p:nvPr/>
        </p:nvSpPr>
        <p:spPr>
          <a:xfrm>
            <a:off x="6217920" y="3401568"/>
            <a:ext cx="2423160" cy="0"/>
          </a:xfrm>
          <a:prstGeom prst="line">
            <a:avLst/>
          </a:prstGeom>
          <a:noFill/>
          <a:ln w="9525">
            <a:solidFill>
              <a:srgbClr val="C7CDD2"/>
            </a:solidFill>
            <a:prstDash val="dash"/>
          </a:ln>
        </p:spPr>
      </p:sp>
      <p:sp>
        <p:nvSpPr>
          <p:cNvPr id="34" name="Shape 32"/>
          <p:cNvSpPr/>
          <p:nvPr/>
        </p:nvSpPr>
        <p:spPr>
          <a:xfrm>
            <a:off x="6217920" y="3730752"/>
            <a:ext cx="2423160" cy="0"/>
          </a:xfrm>
          <a:prstGeom prst="line">
            <a:avLst/>
          </a:prstGeom>
          <a:noFill/>
          <a:ln w="9525">
            <a:solidFill>
              <a:srgbClr val="C7CDD2"/>
            </a:solidFill>
            <a:prstDash val="dash"/>
          </a:ln>
        </p:spPr>
      </p:sp>
      <p:sp>
        <p:nvSpPr>
          <p:cNvPr id="35" name="Shape 33"/>
          <p:cNvSpPr/>
          <p:nvPr/>
        </p:nvSpPr>
        <p:spPr>
          <a:xfrm>
            <a:off x="6217920" y="4059936"/>
            <a:ext cx="2423160" cy="0"/>
          </a:xfrm>
          <a:prstGeom prst="line">
            <a:avLst/>
          </a:prstGeom>
          <a:noFill/>
          <a:ln w="9525">
            <a:solidFill>
              <a:srgbClr val="C7CDD2"/>
            </a:solidFill>
            <a:prstDash val="dash"/>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Error Analysis / Análisis de Errores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6</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554480" cy="274320"/>
          </a:xfrm>
          <a:prstGeom prst="rect">
            <a:avLst>
              <a:gd name="adj" fmla="val 50000"/>
            </a:avLst>
          </a:prstGeom>
          <a:solidFill>
            <a:srgbClr val="C0392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FIND THE ERROR</a:t>
            </a:r>
            <a:endParaRPr lang="en-US" sz="900" dirty="0"/>
          </a:p>
        </p:txBody>
      </p:sp>
      <p:sp>
        <p:nvSpPr>
          <p:cNvPr id="19" name="Text 17"/>
          <p:cNvSpPr/>
          <p:nvPr/>
        </p:nvSpPr>
        <p:spPr>
          <a:xfrm>
            <a:off x="2286000" y="841248"/>
            <a:ext cx="338328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Find the Surface Area Error</a:t>
            </a:r>
            <a:endParaRPr lang="en-US" sz="1100" dirty="0"/>
          </a:p>
        </p:txBody>
      </p:sp>
      <p:sp>
        <p:nvSpPr>
          <p:cNvPr id="20" name="Text 18"/>
          <p:cNvSpPr/>
          <p:nvPr/>
        </p:nvSpPr>
        <p:spPr>
          <a:xfrm>
            <a:off x="594360" y="1188720"/>
            <a:ext cx="5120640" cy="365760"/>
          </a:xfrm>
          <a:prstGeom prst="rect">
            <a:avLst/>
          </a:prstGeom>
          <a:noFill/>
          <a:ln/>
        </p:spPr>
        <p:txBody>
          <a:bodyPr wrap="square" rtlCol="0" anchor="ctr"/>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classmate turned in the work below. One step has a mistake — find it, name it, fix it.</a:t>
            </a:r>
            <a:endParaRPr lang="en-US" sz="950" dirty="0"/>
          </a:p>
        </p:txBody>
      </p:sp>
      <p:sp>
        <p:nvSpPr>
          <p:cNvPr id="21" name="Shape 19"/>
          <p:cNvSpPr/>
          <p:nvPr/>
        </p:nvSpPr>
        <p:spPr>
          <a:xfrm>
            <a:off x="594360" y="1627632"/>
            <a:ext cx="5166360" cy="1901952"/>
          </a:xfrm>
          <a:prstGeom prst="roundRect">
            <a:avLst>
              <a:gd name="adj" fmla="val 2404"/>
            </a:avLst>
          </a:prstGeom>
          <a:solidFill>
            <a:srgbClr val="F4F1E8"/>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2" name="Text 20"/>
          <p:cNvSpPr/>
          <p:nvPr/>
        </p:nvSpPr>
        <p:spPr>
          <a:xfrm>
            <a:off x="713232" y="1691640"/>
            <a:ext cx="4937760" cy="219456"/>
          </a:xfrm>
          <a:prstGeom prst="rect">
            <a:avLst/>
          </a:prstGeom>
          <a:noFill/>
          <a:ln/>
        </p:spPr>
        <p:txBody>
          <a:bodyPr wrap="square" rtlCol="0" anchor="ctr"/>
          <a:lstStyle/>
          <a:p>
            <a:pPr indent="0" marL="0">
              <a:buNone/>
            </a:pPr>
            <a:r>
              <a:rPr lang="en-US" sz="800" i="1" dirty="0">
                <a:solidFill>
                  <a:srgbClr val="8A96A3"/>
                </a:solidFill>
                <a:latin typeface="Hanken Grotesk" pitchFamily="34" charset="0"/>
                <a:ea typeface="Hanken Grotesk" pitchFamily="34" charset="-122"/>
                <a:cs typeface="Hanken Grotesk" pitchFamily="34" charset="-120"/>
              </a:rPr>
              <a:t>Student's work (contains an error):</a:t>
            </a:r>
            <a:endParaRPr lang="en-US" sz="800" dirty="0"/>
          </a:p>
        </p:txBody>
      </p:sp>
      <p:sp>
        <p:nvSpPr>
          <p:cNvPr id="23" name="Text 21"/>
          <p:cNvSpPr/>
          <p:nvPr/>
        </p:nvSpPr>
        <p:spPr>
          <a:xfrm>
            <a:off x="777240" y="1938528"/>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1. </a:t>
            </a:r>
            <a:pPr indent="0" marL="0">
              <a:buNone/>
            </a:pPr>
            <a:r>
              <a:rPr lang="en-US" sz="950" b="1" dirty="0">
                <a:solidFill>
                  <a:srgbClr val="17324D"/>
                </a:solidFill>
                <a:latin typeface="Hanken Grotesk" pitchFamily="34" charset="0"/>
                <a:ea typeface="Hanken Grotesk" pitchFamily="34" charset="-122"/>
                <a:cs typeface="Hanken Grotesk" pitchFamily="34" charset="-120"/>
              </a:rPr>
              <a:t>Dimensions:  </a:t>
            </a:r>
            <a:pPr indent="0" marL="0">
              <a:buNone/>
            </a:pPr>
            <a:r>
              <a:rPr lang="en-US" sz="950" b="1" dirty="0">
                <a:solidFill>
                  <a:srgbClr val="24323F"/>
                </a:solidFill>
                <a:latin typeface="Courier New" pitchFamily="34" charset="0"/>
                <a:ea typeface="Courier New" pitchFamily="34" charset="-122"/>
                <a:cs typeface="Courier New" pitchFamily="34" charset="-120"/>
              </a:rPr>
              <a:t>Square pyramid: base edge = 10 in, slant height = 8 in</a:t>
            </a:r>
            <a:endParaRPr lang="en-US" sz="950" dirty="0"/>
          </a:p>
        </p:txBody>
      </p:sp>
      <p:sp>
        <p:nvSpPr>
          <p:cNvPr id="24" name="Text 22"/>
          <p:cNvSpPr/>
          <p:nvPr/>
        </p:nvSpPr>
        <p:spPr>
          <a:xfrm>
            <a:off x="777240" y="2322576"/>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2. </a:t>
            </a:r>
            <a:pPr indent="0" marL="0">
              <a:buNone/>
            </a:pPr>
            <a:r>
              <a:rPr lang="en-US" sz="950" b="1" dirty="0">
                <a:solidFill>
                  <a:srgbClr val="17324D"/>
                </a:solidFill>
                <a:latin typeface="Hanken Grotesk" pitchFamily="34" charset="0"/>
                <a:ea typeface="Hanken Grotesk" pitchFamily="34" charset="-122"/>
                <a:cs typeface="Hanken Grotesk" pitchFamily="34" charset="-120"/>
              </a:rPr>
              <a:t>Base Area:  </a:t>
            </a:r>
            <a:pPr indent="0" marL="0">
              <a:buNone/>
            </a:pPr>
            <a:r>
              <a:rPr lang="en-US" sz="950" b="1" dirty="0">
                <a:solidFill>
                  <a:srgbClr val="24323F"/>
                </a:solidFill>
                <a:latin typeface="Courier New" pitchFamily="34" charset="0"/>
                <a:ea typeface="Courier New" pitchFamily="34" charset="-122"/>
                <a:cs typeface="Courier New" pitchFamily="34" charset="-120"/>
              </a:rPr>
              <a:t>10 × 10 = 100 in²</a:t>
            </a:r>
            <a:endParaRPr lang="en-US" sz="950" dirty="0"/>
          </a:p>
        </p:txBody>
      </p:sp>
      <p:sp>
        <p:nvSpPr>
          <p:cNvPr id="25" name="Text 23"/>
          <p:cNvSpPr/>
          <p:nvPr/>
        </p:nvSpPr>
        <p:spPr>
          <a:xfrm>
            <a:off x="777240" y="2706624"/>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3. </a:t>
            </a:r>
            <a:pPr indent="0" marL="0">
              <a:buNone/>
            </a:pPr>
            <a:r>
              <a:rPr lang="en-US" sz="950" b="1" dirty="0">
                <a:solidFill>
                  <a:srgbClr val="17324D"/>
                </a:solidFill>
                <a:latin typeface="Hanken Grotesk" pitchFamily="34" charset="0"/>
                <a:ea typeface="Hanken Grotesk" pitchFamily="34" charset="-122"/>
                <a:cs typeface="Hanken Grotesk" pitchFamily="34" charset="-120"/>
              </a:rPr>
              <a:t>Lateral Area:  </a:t>
            </a:r>
            <a:pPr indent="0" marL="0">
              <a:buNone/>
            </a:pPr>
            <a:r>
              <a:rPr lang="en-US" sz="950" b="1" dirty="0">
                <a:solidFill>
                  <a:srgbClr val="24323F"/>
                </a:solidFill>
                <a:latin typeface="Courier New" pitchFamily="34" charset="0"/>
                <a:ea typeface="Courier New" pitchFamily="34" charset="-122"/>
                <a:cs typeface="Courier New" pitchFamily="34" charset="-120"/>
              </a:rPr>
              <a:t>½ × 10 × 8 = 40 in² (one face). Total lateral = 40 × 3 = 120 in²</a:t>
            </a:r>
            <a:endParaRPr lang="en-US" sz="950" dirty="0"/>
          </a:p>
        </p:txBody>
      </p:sp>
      <p:sp>
        <p:nvSpPr>
          <p:cNvPr id="26" name="Text 24"/>
          <p:cNvSpPr/>
          <p:nvPr/>
        </p:nvSpPr>
        <p:spPr>
          <a:xfrm>
            <a:off x="777240" y="3090672"/>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4. </a:t>
            </a:r>
            <a:pPr indent="0" marL="0">
              <a:buNone/>
            </a:pPr>
            <a:r>
              <a:rPr lang="en-US" sz="950" b="1" dirty="0">
                <a:solidFill>
                  <a:srgbClr val="17324D"/>
                </a:solidFill>
                <a:latin typeface="Hanken Grotesk" pitchFamily="34" charset="0"/>
                <a:ea typeface="Hanken Grotesk" pitchFamily="34" charset="-122"/>
                <a:cs typeface="Hanken Grotesk" pitchFamily="34" charset="-120"/>
              </a:rPr>
              <a:t>Answer:  </a:t>
            </a:r>
            <a:pPr indent="0" marL="0">
              <a:buNone/>
            </a:pPr>
            <a:r>
              <a:rPr lang="en-US" sz="950" b="1" dirty="0">
                <a:solidFill>
                  <a:srgbClr val="24323F"/>
                </a:solidFill>
                <a:latin typeface="Courier New" pitchFamily="34" charset="0"/>
                <a:ea typeface="Courier New" pitchFamily="34" charset="-122"/>
                <a:cs typeface="Courier New" pitchFamily="34" charset="-120"/>
              </a:rPr>
              <a:t>SA = 100 + 120 = 220 in²</a:t>
            </a:r>
            <a:endParaRPr lang="en-US" sz="950" dirty="0"/>
          </a:p>
        </p:txBody>
      </p:sp>
      <p:sp>
        <p:nvSpPr>
          <p:cNvPr id="27" name="Text 25"/>
          <p:cNvSpPr/>
          <p:nvPr/>
        </p:nvSpPr>
        <p:spPr>
          <a:xfrm>
            <a:off x="594360" y="3666744"/>
            <a:ext cx="5120640" cy="22860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Which step has the error? Circle it above.</a:t>
            </a:r>
            <a:endParaRPr lang="en-US" sz="900" dirty="0"/>
          </a:p>
        </p:txBody>
      </p:sp>
      <p:sp>
        <p:nvSpPr>
          <p:cNvPr id="28" name="Shape 26"/>
          <p:cNvSpPr/>
          <p:nvPr/>
        </p:nvSpPr>
        <p:spPr>
          <a:xfrm>
            <a:off x="6035040" y="685800"/>
            <a:ext cx="2788920" cy="4023360"/>
          </a:xfrm>
          <a:prstGeom prst="roundRect">
            <a:avLst>
              <a:gd name="adj" fmla="val 2623"/>
            </a:avLst>
          </a:prstGeom>
          <a:solidFill>
            <a:srgbClr val="FCE6DE"/>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C0392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Explain &amp; Fix</a:t>
            </a:r>
            <a:endParaRPr lang="en-US" sz="1000" dirty="0"/>
          </a:p>
        </p:txBody>
      </p:sp>
      <p:sp>
        <p:nvSpPr>
          <p:cNvPr id="30" name="Text 28"/>
          <p:cNvSpPr/>
          <p:nvPr/>
        </p:nvSpPr>
        <p:spPr>
          <a:xfrm>
            <a:off x="6217920" y="1097280"/>
            <a:ext cx="2468880" cy="50292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mistake was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 because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a:t>
            </a:r>
            <a:endParaRPr lang="en-US" sz="1000" dirty="0"/>
          </a:p>
        </p:txBody>
      </p:sp>
      <p:sp>
        <p:nvSpPr>
          <p:cNvPr id="31" name="Shape 29"/>
          <p:cNvSpPr/>
          <p:nvPr/>
        </p:nvSpPr>
        <p:spPr>
          <a:xfrm>
            <a:off x="6217920" y="1783080"/>
            <a:ext cx="2423160" cy="0"/>
          </a:xfrm>
          <a:prstGeom prst="line">
            <a:avLst/>
          </a:prstGeom>
          <a:noFill/>
          <a:ln w="9525">
            <a:solidFill>
              <a:srgbClr val="C7CDD2"/>
            </a:solidFill>
            <a:prstDash val="dash"/>
          </a:ln>
        </p:spPr>
      </p:sp>
      <p:sp>
        <p:nvSpPr>
          <p:cNvPr id="32" name="Shape 30"/>
          <p:cNvSpPr/>
          <p:nvPr/>
        </p:nvSpPr>
        <p:spPr>
          <a:xfrm>
            <a:off x="6217920" y="2075688"/>
            <a:ext cx="2423160" cy="0"/>
          </a:xfrm>
          <a:prstGeom prst="line">
            <a:avLst/>
          </a:prstGeom>
          <a:noFill/>
          <a:ln w="9525">
            <a:solidFill>
              <a:srgbClr val="C7CDD2"/>
            </a:solidFill>
            <a:prstDash val="dash"/>
          </a:ln>
        </p:spPr>
      </p:sp>
      <p:sp>
        <p:nvSpPr>
          <p:cNvPr id="33" name="Shape 31"/>
          <p:cNvSpPr/>
          <p:nvPr/>
        </p:nvSpPr>
        <p:spPr>
          <a:xfrm>
            <a:off x="6217920" y="2368296"/>
            <a:ext cx="2423160" cy="0"/>
          </a:xfrm>
          <a:prstGeom prst="line">
            <a:avLst/>
          </a:prstGeom>
          <a:noFill/>
          <a:ln w="9525">
            <a:solidFill>
              <a:srgbClr val="C7CDD2"/>
            </a:solidFill>
            <a:prstDash val="dash"/>
          </a:ln>
        </p:spPr>
      </p:sp>
      <p:sp>
        <p:nvSpPr>
          <p:cNvPr id="34" name="Text 32"/>
          <p:cNvSpPr/>
          <p:nvPr/>
        </p:nvSpPr>
        <p:spPr>
          <a:xfrm>
            <a:off x="6217920" y="2788920"/>
            <a:ext cx="2468880" cy="27432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Fix it — rewrite the step correctly:</a:t>
            </a:r>
            <a:endParaRPr lang="en-US" sz="900" dirty="0"/>
          </a:p>
        </p:txBody>
      </p:sp>
      <p:sp>
        <p:nvSpPr>
          <p:cNvPr id="35" name="Shape 33"/>
          <p:cNvSpPr/>
          <p:nvPr/>
        </p:nvSpPr>
        <p:spPr>
          <a:xfrm>
            <a:off x="6217920" y="3246120"/>
            <a:ext cx="2423160" cy="0"/>
          </a:xfrm>
          <a:prstGeom prst="line">
            <a:avLst/>
          </a:prstGeom>
          <a:noFill/>
          <a:ln w="9525">
            <a:solidFill>
              <a:srgbClr val="C7CDD2"/>
            </a:solidFill>
            <a:prstDash val="dash"/>
          </a:ln>
        </p:spPr>
      </p:sp>
      <p:sp>
        <p:nvSpPr>
          <p:cNvPr id="36" name="Shape 34"/>
          <p:cNvSpPr/>
          <p:nvPr/>
        </p:nvSpPr>
        <p:spPr>
          <a:xfrm>
            <a:off x="6217920" y="3538728"/>
            <a:ext cx="2423160" cy="0"/>
          </a:xfrm>
          <a:prstGeom prst="line">
            <a:avLst/>
          </a:prstGeom>
          <a:noFill/>
          <a:ln w="9525">
            <a:solidFill>
              <a:srgbClr val="C7CDD2"/>
            </a:solidFill>
            <a:prstDash val="dash"/>
          </a:ln>
        </p:spPr>
      </p:sp>
      <p:sp>
        <p:nvSpPr>
          <p:cNvPr id="37" name="Shape 35"/>
          <p:cNvSpPr/>
          <p:nvPr/>
        </p:nvSpPr>
        <p:spPr>
          <a:xfrm>
            <a:off x="6217920" y="3831336"/>
            <a:ext cx="2423160" cy="0"/>
          </a:xfrm>
          <a:prstGeom prst="line">
            <a:avLst/>
          </a:prstGeom>
          <a:noFill/>
          <a:ln w="9525">
            <a:solidFill>
              <a:srgbClr val="C7CDD2"/>
            </a:solidFill>
            <a:prstDash val="dash"/>
          </a:ln>
        </p:spPr>
      </p:sp>
      <p:sp>
        <p:nvSpPr>
          <p:cNvPr id="38" name="Shape 36"/>
          <p:cNvSpPr/>
          <p:nvPr/>
        </p:nvSpPr>
        <p:spPr>
          <a:xfrm>
            <a:off x="6217920" y="4123944"/>
            <a:ext cx="2423160" cy="0"/>
          </a:xfrm>
          <a:prstGeom prst="line">
            <a:avLst/>
          </a:prstGeom>
          <a:noFill/>
          <a:ln w="9525">
            <a:solidFill>
              <a:srgbClr val="C7CDD2"/>
            </a:solidFill>
            <a:prstDash val="dash"/>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Two-Column Notes / Notas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7</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92608"/>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Steps / Pasos</a:t>
            </a:r>
            <a:endParaRPr lang="en-US" sz="1000" dirty="0"/>
          </a:p>
        </p:txBody>
      </p:sp>
      <p:sp>
        <p:nvSpPr>
          <p:cNvPr id="19" name="Shape 17"/>
          <p:cNvSpPr/>
          <p:nvPr/>
        </p:nvSpPr>
        <p:spPr>
          <a:xfrm>
            <a:off x="594360" y="1243584"/>
            <a:ext cx="274320" cy="274320"/>
          </a:xfrm>
          <a:prstGeom prst="ellipse">
            <a:avLst/>
          </a:prstGeom>
          <a:solidFill>
            <a:srgbClr val="B0883B"/>
          </a:solidFill>
          <a:ln/>
        </p:spPr>
      </p:sp>
      <p:sp>
        <p:nvSpPr>
          <p:cNvPr id="20" name="Text 18"/>
          <p:cNvSpPr/>
          <p:nvPr/>
        </p:nvSpPr>
        <p:spPr>
          <a:xfrm>
            <a:off x="594360" y="124358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1" name="Text 19"/>
          <p:cNvSpPr/>
          <p:nvPr/>
        </p:nvSpPr>
        <p:spPr>
          <a:xfrm>
            <a:off x="978408" y="1188720"/>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My square pyramid has a 6 × 6 base and a slant height of 8.</a:t>
            </a:r>
            <a:endParaRPr lang="en-US" sz="1050" dirty="0"/>
          </a:p>
        </p:txBody>
      </p:sp>
      <p:sp>
        <p:nvSpPr>
          <p:cNvPr id="22" name="Shape 20"/>
          <p:cNvSpPr/>
          <p:nvPr/>
        </p:nvSpPr>
        <p:spPr>
          <a:xfrm>
            <a:off x="594360" y="1719072"/>
            <a:ext cx="274320" cy="274320"/>
          </a:xfrm>
          <a:prstGeom prst="ellipse">
            <a:avLst/>
          </a:prstGeom>
          <a:solidFill>
            <a:srgbClr val="B0883B"/>
          </a:solidFill>
          <a:ln/>
        </p:spPr>
      </p:sp>
      <p:sp>
        <p:nvSpPr>
          <p:cNvPr id="23" name="Text 21"/>
          <p:cNvSpPr/>
          <p:nvPr/>
        </p:nvSpPr>
        <p:spPr>
          <a:xfrm>
            <a:off x="59436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4" name="Text 22"/>
          <p:cNvSpPr/>
          <p:nvPr/>
        </p:nvSpPr>
        <p:spPr>
          <a:xfrm>
            <a:off x="978408" y="1664208"/>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First the base area: 6 × 6 = 36.</a:t>
            </a:r>
            <a:endParaRPr lang="en-US" sz="1050" dirty="0"/>
          </a:p>
        </p:txBody>
      </p:sp>
      <p:sp>
        <p:nvSpPr>
          <p:cNvPr id="25" name="Shape 23"/>
          <p:cNvSpPr/>
          <p:nvPr/>
        </p:nvSpPr>
        <p:spPr>
          <a:xfrm>
            <a:off x="594360" y="2194560"/>
            <a:ext cx="274320" cy="274320"/>
          </a:xfrm>
          <a:prstGeom prst="ellipse">
            <a:avLst/>
          </a:prstGeom>
          <a:solidFill>
            <a:srgbClr val="B0883B"/>
          </a:solidFill>
          <a:ln/>
        </p:spPr>
      </p:sp>
      <p:sp>
        <p:nvSpPr>
          <p:cNvPr id="26" name="Text 24"/>
          <p:cNvSpPr/>
          <p:nvPr/>
        </p:nvSpPr>
        <p:spPr>
          <a:xfrm>
            <a:off x="594360" y="219456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7" name="Text 25"/>
          <p:cNvSpPr/>
          <p:nvPr/>
        </p:nvSpPr>
        <p:spPr>
          <a:xfrm>
            <a:off x="978408" y="2139696"/>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Now one triangular face: ½ × 6 × 8 = 24. A square pyramid has 4 of them, so 4 × 24 = 96.</a:t>
            </a:r>
            <a:endParaRPr lang="en-US" sz="1050" dirty="0"/>
          </a:p>
        </p:txBody>
      </p:sp>
      <p:sp>
        <p:nvSpPr>
          <p:cNvPr id="28" name="Shape 26"/>
          <p:cNvSpPr/>
          <p:nvPr/>
        </p:nvSpPr>
        <p:spPr>
          <a:xfrm>
            <a:off x="594360" y="2670048"/>
            <a:ext cx="274320" cy="274320"/>
          </a:xfrm>
          <a:prstGeom prst="ellipse">
            <a:avLst/>
          </a:prstGeom>
          <a:solidFill>
            <a:srgbClr val="B0883B"/>
          </a:solidFill>
          <a:ln/>
        </p:spPr>
      </p:sp>
      <p:sp>
        <p:nvSpPr>
          <p:cNvPr id="29" name="Text 27"/>
          <p:cNvSpPr/>
          <p:nvPr/>
        </p:nvSpPr>
        <p:spPr>
          <a:xfrm>
            <a:off x="594360" y="267004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0" name="Text 28"/>
          <p:cNvSpPr/>
          <p:nvPr/>
        </p:nvSpPr>
        <p:spPr>
          <a:xfrm>
            <a:off x="978408" y="2615184"/>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add the base and the side faces: 36 + 96 = 132.</a:t>
            </a:r>
            <a:endParaRPr lang="en-US" sz="1050" dirty="0"/>
          </a:p>
        </p:txBody>
      </p:sp>
      <p:sp>
        <p:nvSpPr>
          <p:cNvPr id="31" name="Shape 29"/>
          <p:cNvSpPr/>
          <p:nvPr/>
        </p:nvSpPr>
        <p:spPr>
          <a:xfrm>
            <a:off x="594360" y="3145536"/>
            <a:ext cx="274320" cy="274320"/>
          </a:xfrm>
          <a:prstGeom prst="ellipse">
            <a:avLst/>
          </a:prstGeom>
          <a:solidFill>
            <a:srgbClr val="B0883B"/>
          </a:solidFill>
          <a:ln/>
        </p:spPr>
      </p:sp>
      <p:sp>
        <p:nvSpPr>
          <p:cNvPr id="32" name="Text 30"/>
          <p:cNvSpPr/>
          <p:nvPr/>
        </p:nvSpPr>
        <p:spPr>
          <a:xfrm>
            <a:off x="594360" y="3145536"/>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5</a:t>
            </a:r>
            <a:endParaRPr lang="en-US" sz="1100" dirty="0"/>
          </a:p>
        </p:txBody>
      </p:sp>
      <p:sp>
        <p:nvSpPr>
          <p:cNvPr id="33" name="Text 31"/>
          <p:cNvSpPr/>
          <p:nvPr/>
        </p:nvSpPr>
        <p:spPr>
          <a:xfrm>
            <a:off x="978408" y="3090672"/>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So the total surface area is 132 in². I used the slant height (8) for the triangles, not the pyramid's height.</a:t>
            </a:r>
            <a:endParaRPr lang="en-US" sz="1050" dirty="0"/>
          </a:p>
        </p:txBody>
      </p:sp>
      <p:sp>
        <p:nvSpPr>
          <p:cNvPr id="34" name="Shape 32"/>
          <p:cNvSpPr/>
          <p:nvPr/>
        </p:nvSpPr>
        <p:spPr>
          <a:xfrm>
            <a:off x="4709160" y="685800"/>
            <a:ext cx="411480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4709160" y="685800"/>
            <a:ext cx="4114800" cy="292608"/>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My Example / Mi Ejemplo</a:t>
            </a:r>
            <a:endParaRPr lang="en-US" sz="1000" dirty="0"/>
          </a:p>
        </p:txBody>
      </p:sp>
      <p:sp>
        <p:nvSpPr>
          <p:cNvPr id="36" name="Text 34"/>
          <p:cNvSpPr/>
          <p:nvPr/>
        </p:nvSpPr>
        <p:spPr>
          <a:xfrm>
            <a:off x="4892040" y="1143000"/>
            <a:ext cx="3749040" cy="365760"/>
          </a:xfrm>
          <a:prstGeom prst="rect">
            <a:avLst/>
          </a:prstGeom>
          <a:noFill/>
          <a:ln/>
        </p:spPr>
        <p:txBody>
          <a:bodyPr wrap="square" rtlCol="0" anchor="ctr"/>
          <a:lstStyle/>
          <a:p>
            <a:pPr indent="0" marL="0">
              <a:buNone/>
            </a:pPr>
            <a:r>
              <a:rPr lang="en-US" sz="950" i="1" dirty="0">
                <a:solidFill>
                  <a:srgbClr val="8A96A3"/>
                </a:solidFill>
                <a:latin typeface="Hanken Grotesk" pitchFamily="34" charset="0"/>
                <a:ea typeface="Hanken Grotesk" pitchFamily="34" charset="-122"/>
                <a:cs typeface="Hanken Grotesk" pitchFamily="34" charset="-120"/>
              </a:rPr>
              <a:t>Work one problem here, matching each step on the left:</a:t>
            </a:r>
            <a:endParaRPr lang="en-US" sz="950" dirty="0"/>
          </a:p>
        </p:txBody>
      </p:sp>
      <p:sp>
        <p:nvSpPr>
          <p:cNvPr id="37" name="Shape 35"/>
          <p:cNvSpPr/>
          <p:nvPr/>
        </p:nvSpPr>
        <p:spPr>
          <a:xfrm>
            <a:off x="4892040" y="1783080"/>
            <a:ext cx="3749040" cy="0"/>
          </a:xfrm>
          <a:prstGeom prst="line">
            <a:avLst/>
          </a:prstGeom>
          <a:noFill/>
          <a:ln w="9525">
            <a:solidFill>
              <a:srgbClr val="C7CDD2"/>
            </a:solidFill>
            <a:prstDash val="dash"/>
          </a:ln>
        </p:spPr>
      </p:sp>
      <p:sp>
        <p:nvSpPr>
          <p:cNvPr id="38" name="Shape 36"/>
          <p:cNvSpPr/>
          <p:nvPr/>
        </p:nvSpPr>
        <p:spPr>
          <a:xfrm>
            <a:off x="4892040" y="2112264"/>
            <a:ext cx="3749040" cy="0"/>
          </a:xfrm>
          <a:prstGeom prst="line">
            <a:avLst/>
          </a:prstGeom>
          <a:noFill/>
          <a:ln w="9525">
            <a:solidFill>
              <a:srgbClr val="C7CDD2"/>
            </a:solidFill>
            <a:prstDash val="dash"/>
          </a:ln>
        </p:spPr>
      </p:sp>
      <p:sp>
        <p:nvSpPr>
          <p:cNvPr id="39" name="Shape 37"/>
          <p:cNvSpPr/>
          <p:nvPr/>
        </p:nvSpPr>
        <p:spPr>
          <a:xfrm>
            <a:off x="4892040" y="2441448"/>
            <a:ext cx="3749040" cy="0"/>
          </a:xfrm>
          <a:prstGeom prst="line">
            <a:avLst/>
          </a:prstGeom>
          <a:noFill/>
          <a:ln w="9525">
            <a:solidFill>
              <a:srgbClr val="C7CDD2"/>
            </a:solidFill>
            <a:prstDash val="dash"/>
          </a:ln>
        </p:spPr>
      </p:sp>
      <p:sp>
        <p:nvSpPr>
          <p:cNvPr id="40" name="Shape 38"/>
          <p:cNvSpPr/>
          <p:nvPr/>
        </p:nvSpPr>
        <p:spPr>
          <a:xfrm>
            <a:off x="4892040" y="2770632"/>
            <a:ext cx="3749040" cy="0"/>
          </a:xfrm>
          <a:prstGeom prst="line">
            <a:avLst/>
          </a:prstGeom>
          <a:noFill/>
          <a:ln w="9525">
            <a:solidFill>
              <a:srgbClr val="C7CDD2"/>
            </a:solidFill>
            <a:prstDash val="dash"/>
          </a:ln>
        </p:spPr>
      </p:sp>
      <p:sp>
        <p:nvSpPr>
          <p:cNvPr id="41" name="Shape 39"/>
          <p:cNvSpPr/>
          <p:nvPr/>
        </p:nvSpPr>
        <p:spPr>
          <a:xfrm>
            <a:off x="4892040" y="3099816"/>
            <a:ext cx="3749040" cy="0"/>
          </a:xfrm>
          <a:prstGeom prst="line">
            <a:avLst/>
          </a:prstGeom>
          <a:noFill/>
          <a:ln w="9525">
            <a:solidFill>
              <a:srgbClr val="C7CDD2"/>
            </a:solidFill>
            <a:prstDash val="dash"/>
          </a:ln>
        </p:spPr>
      </p:sp>
      <p:sp>
        <p:nvSpPr>
          <p:cNvPr id="42" name="Shape 40"/>
          <p:cNvSpPr/>
          <p:nvPr/>
        </p:nvSpPr>
        <p:spPr>
          <a:xfrm>
            <a:off x="4892040" y="3429000"/>
            <a:ext cx="3749040" cy="0"/>
          </a:xfrm>
          <a:prstGeom prst="line">
            <a:avLst/>
          </a:prstGeom>
          <a:noFill/>
          <a:ln w="9525">
            <a:solidFill>
              <a:srgbClr val="C7CDD2"/>
            </a:solidFill>
            <a:prstDash val="dash"/>
          </a:ln>
        </p:spPr>
      </p:sp>
      <p:sp>
        <p:nvSpPr>
          <p:cNvPr id="43" name="Shape 41"/>
          <p:cNvSpPr/>
          <p:nvPr/>
        </p:nvSpPr>
        <p:spPr>
          <a:xfrm>
            <a:off x="4892040" y="3758184"/>
            <a:ext cx="3749040" cy="0"/>
          </a:xfrm>
          <a:prstGeom prst="line">
            <a:avLst/>
          </a:prstGeom>
          <a:noFill/>
          <a:ln w="9525">
            <a:solidFill>
              <a:srgbClr val="C7CDD2"/>
            </a:solidFill>
            <a:prstDash val="dash"/>
          </a:ln>
        </p:spPr>
      </p:sp>
      <p:sp>
        <p:nvSpPr>
          <p:cNvPr id="44" name="Shape 42"/>
          <p:cNvSpPr/>
          <p:nvPr/>
        </p:nvSpPr>
        <p:spPr>
          <a:xfrm>
            <a:off x="4892040" y="4087368"/>
            <a:ext cx="3749040" cy="0"/>
          </a:xfrm>
          <a:prstGeom prst="line">
            <a:avLst/>
          </a:prstGeom>
          <a:noFill/>
          <a:ln w="9525">
            <a:solidFill>
              <a:srgbClr val="C7CDD2"/>
            </a:solidFill>
            <a:prstDash val="dash"/>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Choice Board / Tablero de Opciones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8</a:t>
            </a:r>
            <a:endParaRPr lang="en-US" sz="800" dirty="0"/>
          </a:p>
        </p:txBody>
      </p:sp>
      <p:sp>
        <p:nvSpPr>
          <p:cNvPr id="17" name="Text 15"/>
          <p:cNvSpPr/>
          <p:nvPr/>
        </p:nvSpPr>
        <p:spPr>
          <a:xfrm>
            <a:off x="411480" y="640080"/>
            <a:ext cx="841248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Choose ONE to show what you know:</a:t>
            </a:r>
            <a:endParaRPr lang="en-US" sz="1200" dirty="0"/>
          </a:p>
        </p:txBody>
      </p:sp>
      <p:sp>
        <p:nvSpPr>
          <p:cNvPr id="18" name="Shape 16"/>
          <p:cNvSpPr/>
          <p:nvPr/>
        </p:nvSpPr>
        <p:spPr>
          <a:xfrm>
            <a:off x="411480" y="1051560"/>
            <a:ext cx="4114800" cy="1645920"/>
          </a:xfrm>
          <a:prstGeom prst="roundRect">
            <a:avLst>
              <a:gd name="adj" fmla="val 4444"/>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4864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0" name="Text 18"/>
          <p:cNvSpPr/>
          <p:nvPr/>
        </p:nvSpPr>
        <p:spPr>
          <a:xfrm>
            <a:off x="123444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Draw &amp; Label</a:t>
            </a:r>
            <a:endParaRPr lang="en-US" sz="1300" dirty="0"/>
          </a:p>
        </p:txBody>
      </p:sp>
      <p:sp>
        <p:nvSpPr>
          <p:cNvPr id="21" name="Text 19"/>
          <p:cNvSpPr/>
          <p:nvPr/>
        </p:nvSpPr>
        <p:spPr>
          <a:xfrm>
            <a:off x="59436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Sketch a model for today's problem. Label it using Pyramid and Slant height.</a:t>
            </a:r>
            <a:endParaRPr lang="en-US" sz="1000" dirty="0"/>
          </a:p>
        </p:txBody>
      </p:sp>
      <p:sp>
        <p:nvSpPr>
          <p:cNvPr id="22" name="Shape 20"/>
          <p:cNvSpPr/>
          <p:nvPr/>
        </p:nvSpPr>
        <p:spPr>
          <a:xfrm>
            <a:off x="4709160" y="1051560"/>
            <a:ext cx="4114800" cy="1645920"/>
          </a:xfrm>
          <a:prstGeom prst="roundRect">
            <a:avLst>
              <a:gd name="adj" fmla="val 4444"/>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484632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4" name="Text 22"/>
          <p:cNvSpPr/>
          <p:nvPr/>
        </p:nvSpPr>
        <p:spPr>
          <a:xfrm>
            <a:off x="553212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Explain It</a:t>
            </a:r>
            <a:endParaRPr lang="en-US" sz="1300" dirty="0"/>
          </a:p>
        </p:txBody>
      </p:sp>
      <p:sp>
        <p:nvSpPr>
          <p:cNvPr id="25" name="Text 23"/>
          <p:cNvSpPr/>
          <p:nvPr/>
        </p:nvSpPr>
        <p:spPr>
          <a:xfrm>
            <a:off x="489204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In 2–3 sentences, explain "Surface area of a pyramid = base area + the area of all the triangular lateral faces." in your own words.</a:t>
            </a:r>
            <a:endParaRPr lang="en-US" sz="1000" dirty="0"/>
          </a:p>
        </p:txBody>
      </p:sp>
      <p:sp>
        <p:nvSpPr>
          <p:cNvPr id="26" name="Shape 24"/>
          <p:cNvSpPr/>
          <p:nvPr/>
        </p:nvSpPr>
        <p:spPr>
          <a:xfrm>
            <a:off x="411480" y="2834640"/>
            <a:ext cx="4114800" cy="1645920"/>
          </a:xfrm>
          <a:prstGeom prst="roundRect">
            <a:avLst>
              <a:gd name="adj" fmla="val 4444"/>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4864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8" name="Text 26"/>
          <p:cNvSpPr/>
          <p:nvPr/>
        </p:nvSpPr>
        <p:spPr>
          <a:xfrm>
            <a:off x="123444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Solve It</a:t>
            </a:r>
            <a:endParaRPr lang="en-US" sz="1300" dirty="0"/>
          </a:p>
        </p:txBody>
      </p:sp>
      <p:sp>
        <p:nvSpPr>
          <p:cNvPr id="29" name="Text 27"/>
          <p:cNvSpPr/>
          <p:nvPr/>
        </p:nvSpPr>
        <p:spPr>
          <a:xfrm>
            <a:off x="59436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Work one practice problem and show every step clearly.</a:t>
            </a:r>
            <a:endParaRPr lang="en-US" sz="1000" dirty="0"/>
          </a:p>
        </p:txBody>
      </p:sp>
      <p:sp>
        <p:nvSpPr>
          <p:cNvPr id="30" name="Shape 28"/>
          <p:cNvSpPr/>
          <p:nvPr/>
        </p:nvSpPr>
        <p:spPr>
          <a:xfrm>
            <a:off x="4709160" y="2834640"/>
            <a:ext cx="4114800" cy="1645920"/>
          </a:xfrm>
          <a:prstGeom prst="roundRect">
            <a:avLst>
              <a:gd name="adj" fmla="val 4444"/>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84632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32" name="Text 30"/>
          <p:cNvSpPr/>
          <p:nvPr/>
        </p:nvSpPr>
        <p:spPr>
          <a:xfrm>
            <a:off x="553212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Create a Problem</a:t>
            </a:r>
            <a:endParaRPr lang="en-US" sz="1300" dirty="0"/>
          </a:p>
        </p:txBody>
      </p:sp>
      <p:sp>
        <p:nvSpPr>
          <p:cNvPr id="33" name="Text 31"/>
          <p:cNvSpPr/>
          <p:nvPr/>
        </p:nvSpPr>
        <p:spPr>
          <a:xfrm>
            <a:off x="489204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Write your own problem that uses Pyramid, then solve it and make an answer key.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Independent Practice / Práctica Independiente</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9</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46304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ON YOUR OWN</a:t>
            </a:r>
            <a:endParaRPr lang="en-US" sz="900" dirty="0"/>
          </a:p>
        </p:txBody>
      </p:sp>
      <p:sp>
        <p:nvSpPr>
          <p:cNvPr id="19" name="Text 17"/>
          <p:cNvSpPr/>
          <p:nvPr/>
        </p:nvSpPr>
        <p:spPr>
          <a:xfrm>
            <a:off x="594360" y="1234440"/>
            <a:ext cx="5166360" cy="45720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1.  </a:t>
            </a:r>
            <a:pPr indent="0" marL="0">
              <a:buNone/>
            </a:pPr>
            <a:r>
              <a:rPr lang="en-US" sz="1050" dirty="0">
                <a:solidFill>
                  <a:srgbClr val="17324D"/>
                </a:solidFill>
                <a:latin typeface="Hanken Grotesk" pitchFamily="34" charset="0"/>
                <a:ea typeface="Hanken Grotesk" pitchFamily="34" charset="-122"/>
                <a:cs typeface="Hanken Grotesk" pitchFamily="34" charset="-120"/>
              </a:rPr>
              <a:t>A square pyramid has a base area of 49 cm² and a total lateral area of 84 cm². What is the surface area?</a:t>
            </a:r>
            <a:endParaRPr lang="en-US" sz="1050" dirty="0"/>
          </a:p>
        </p:txBody>
      </p:sp>
      <p:sp>
        <p:nvSpPr>
          <p:cNvPr id="20" name="Shape 18"/>
          <p:cNvSpPr/>
          <p:nvPr/>
        </p:nvSpPr>
        <p:spPr>
          <a:xfrm>
            <a:off x="777240" y="1783080"/>
            <a:ext cx="4983480" cy="0"/>
          </a:xfrm>
          <a:prstGeom prst="line">
            <a:avLst/>
          </a:prstGeom>
          <a:noFill/>
          <a:ln w="9525">
            <a:solidFill>
              <a:srgbClr val="C7CDD2"/>
            </a:solidFill>
            <a:prstDash val="dash"/>
          </a:ln>
        </p:spPr>
      </p:sp>
      <p:sp>
        <p:nvSpPr>
          <p:cNvPr id="21" name="Text 19"/>
          <p:cNvSpPr/>
          <p:nvPr/>
        </p:nvSpPr>
        <p:spPr>
          <a:xfrm>
            <a:off x="594360" y="2194560"/>
            <a:ext cx="5166360" cy="45720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2.  </a:t>
            </a:r>
            <a:pPr indent="0" marL="0">
              <a:buNone/>
            </a:pPr>
            <a:r>
              <a:rPr lang="en-US" sz="1050" dirty="0">
                <a:solidFill>
                  <a:srgbClr val="17324D"/>
                </a:solidFill>
                <a:latin typeface="Hanken Grotesk" pitchFamily="34" charset="0"/>
                <a:ea typeface="Hanken Grotesk" pitchFamily="34" charset="-122"/>
                <a:cs typeface="Hanken Grotesk" pitchFamily="34" charset="-120"/>
              </a:rPr>
              <a:t>A square pyramid has a base edge of 5 in and a slant height of 7 in. What is the surface area?</a:t>
            </a:r>
            <a:endParaRPr lang="en-US" sz="1050" dirty="0"/>
          </a:p>
        </p:txBody>
      </p:sp>
      <p:sp>
        <p:nvSpPr>
          <p:cNvPr id="22" name="Shape 20"/>
          <p:cNvSpPr/>
          <p:nvPr/>
        </p:nvSpPr>
        <p:spPr>
          <a:xfrm>
            <a:off x="777240" y="2743200"/>
            <a:ext cx="4983480" cy="0"/>
          </a:xfrm>
          <a:prstGeom prst="line">
            <a:avLst/>
          </a:prstGeom>
          <a:noFill/>
          <a:ln w="9525">
            <a:solidFill>
              <a:srgbClr val="C7CDD2"/>
            </a:solidFill>
            <a:prstDash val="dash"/>
          </a:ln>
        </p:spPr>
      </p:sp>
      <p:sp>
        <p:nvSpPr>
          <p:cNvPr id="23" name="Text 21"/>
          <p:cNvSpPr/>
          <p:nvPr/>
        </p:nvSpPr>
        <p:spPr>
          <a:xfrm>
            <a:off x="594360" y="3154680"/>
            <a:ext cx="5166360" cy="45720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3.  </a:t>
            </a:r>
            <a:pPr indent="0" marL="0">
              <a:buNone/>
            </a:pPr>
            <a:r>
              <a:rPr lang="en-US" sz="1050" dirty="0">
                <a:solidFill>
                  <a:srgbClr val="17324D"/>
                </a:solidFill>
                <a:latin typeface="Hanken Grotesk" pitchFamily="34" charset="0"/>
                <a:ea typeface="Hanken Grotesk" pitchFamily="34" charset="-122"/>
                <a:cs typeface="Hanken Grotesk" pitchFamily="34" charset="-120"/>
              </a:rPr>
              <a:t>How many lateral (triangular) faces does a square pyramid have?</a:t>
            </a:r>
            <a:endParaRPr lang="en-US" sz="1050" dirty="0"/>
          </a:p>
        </p:txBody>
      </p:sp>
      <p:sp>
        <p:nvSpPr>
          <p:cNvPr id="24" name="Shape 22"/>
          <p:cNvSpPr/>
          <p:nvPr/>
        </p:nvSpPr>
        <p:spPr>
          <a:xfrm>
            <a:off x="777240" y="3703320"/>
            <a:ext cx="4983480" cy="0"/>
          </a:xfrm>
          <a:prstGeom prst="line">
            <a:avLst/>
          </a:prstGeom>
          <a:noFill/>
          <a:ln w="9525">
            <a:solidFill>
              <a:srgbClr val="C7CDD2"/>
            </a:solidFill>
            <a:prstDash val="dash"/>
          </a:ln>
        </p:spPr>
      </p:sp>
      <p:sp>
        <p:nvSpPr>
          <p:cNvPr id="25" name="Shape 23"/>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27" name="Text 25"/>
          <p:cNvSpPr/>
          <p:nvPr/>
        </p:nvSpPr>
        <p:spPr>
          <a:xfrm>
            <a:off x="6217920" y="1097280"/>
            <a:ext cx="2468880" cy="155448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A museum builds a square pyramid display case with base edge 3 ft and slant height 4 ft, and the base is open (no glass). Talk through how to find how much glass the 4 triangular sides need.</a:t>
            </a:r>
            <a:endParaRPr lang="en-US" sz="1000" dirty="0"/>
          </a:p>
        </p:txBody>
      </p:sp>
      <p:sp>
        <p:nvSpPr>
          <p:cNvPr id="28" name="Shape 26"/>
          <p:cNvSpPr/>
          <p:nvPr/>
        </p:nvSpPr>
        <p:spPr>
          <a:xfrm>
            <a:off x="6217920" y="2834640"/>
            <a:ext cx="2423160" cy="0"/>
          </a:xfrm>
          <a:prstGeom prst="line">
            <a:avLst/>
          </a:prstGeom>
          <a:noFill/>
          <a:ln w="9525">
            <a:solidFill>
              <a:srgbClr val="C7CDD2"/>
            </a:solidFill>
            <a:prstDash val="dash"/>
          </a:ln>
        </p:spPr>
      </p:sp>
      <p:sp>
        <p:nvSpPr>
          <p:cNvPr id="29" name="Shape 27"/>
          <p:cNvSpPr/>
          <p:nvPr/>
        </p:nvSpPr>
        <p:spPr>
          <a:xfrm>
            <a:off x="6217920" y="3163824"/>
            <a:ext cx="2423160" cy="0"/>
          </a:xfrm>
          <a:prstGeom prst="line">
            <a:avLst/>
          </a:prstGeom>
          <a:noFill/>
          <a:ln w="9525">
            <a:solidFill>
              <a:srgbClr val="C7CDD2"/>
            </a:solidFill>
            <a:prstDash val="dash"/>
          </a:ln>
        </p:spPr>
      </p:sp>
      <p:sp>
        <p:nvSpPr>
          <p:cNvPr id="30" name="Shape 28"/>
          <p:cNvSpPr/>
          <p:nvPr/>
        </p:nvSpPr>
        <p:spPr>
          <a:xfrm>
            <a:off x="6217920" y="3493008"/>
            <a:ext cx="2423160" cy="0"/>
          </a:xfrm>
          <a:prstGeom prst="line">
            <a:avLst/>
          </a:prstGeom>
          <a:noFill/>
          <a:ln w="9525">
            <a:solidFill>
              <a:srgbClr val="C7CDD2"/>
            </a:solidFill>
            <a:prstDash val="dash"/>
          </a:ln>
        </p:spPr>
      </p:sp>
      <p:sp>
        <p:nvSpPr>
          <p:cNvPr id="31" name="Shape 29"/>
          <p:cNvSpPr/>
          <p:nvPr/>
        </p:nvSpPr>
        <p:spPr>
          <a:xfrm>
            <a:off x="6217920" y="3822192"/>
            <a:ext cx="2423160" cy="0"/>
          </a:xfrm>
          <a:prstGeom prst="line">
            <a:avLst/>
          </a:prstGeom>
          <a:noFill/>
          <a:ln w="9525">
            <a:solidFill>
              <a:srgbClr val="C7CDD2"/>
            </a:solidFill>
            <a:prstDash val="dash"/>
          </a:ln>
        </p:spPr>
      </p:sp>
      <p:sp>
        <p:nvSpPr>
          <p:cNvPr id="32" name="Shape 30"/>
          <p:cNvSpPr/>
          <p:nvPr/>
        </p:nvSpPr>
        <p:spPr>
          <a:xfrm>
            <a:off x="6217920" y="4151376"/>
            <a:ext cx="2423160" cy="0"/>
          </a:xfrm>
          <a:prstGeom prst="line">
            <a:avLst/>
          </a:prstGeom>
          <a:noFill/>
          <a:ln w="9525">
            <a:solidFill>
              <a:srgbClr val="C7CDD2"/>
            </a:solidFill>
            <a:prstDash val="dash"/>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Think–Write–Respond / Piensa y Escribe</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10</a:t>
            </a:r>
            <a:endParaRPr lang="en-US" sz="800" dirty="0"/>
          </a:p>
        </p:txBody>
      </p:sp>
      <p:sp>
        <p:nvSpPr>
          <p:cNvPr id="17" name="Text 15"/>
          <p:cNvSpPr/>
          <p:nvPr/>
        </p:nvSpPr>
        <p:spPr>
          <a:xfrm>
            <a:off x="411480" y="603504"/>
            <a:ext cx="8412480" cy="274320"/>
          </a:xfrm>
          <a:prstGeom prst="rect">
            <a:avLst/>
          </a:prstGeom>
          <a:noFill/>
          <a:ln/>
        </p:spPr>
        <p:txBody>
          <a:bodyPr wrap="square" rtlCol="0" anchor="ctr"/>
          <a:lstStyle/>
          <a:p>
            <a:pPr indent="0" marL="0">
              <a:buNone/>
            </a:pPr>
            <a:r>
              <a:rPr lang="en-US" sz="1000" i="1" dirty="0">
                <a:solidFill>
                  <a:srgbClr val="8A96A3"/>
                </a:solidFill>
                <a:latin typeface="Hanken Grotesk" pitchFamily="34" charset="0"/>
                <a:ea typeface="Hanken Grotesk" pitchFamily="34" charset="-122"/>
                <a:cs typeface="Hanken Grotesk" pitchFamily="34" charset="-120"/>
              </a:rPr>
              <a:t>Use evidence from today's lesson to complete each frame.</a:t>
            </a:r>
            <a:endParaRPr lang="en-US" sz="1000" dirty="0"/>
          </a:p>
        </p:txBody>
      </p:sp>
      <p:sp>
        <p:nvSpPr>
          <p:cNvPr id="18" name="Shape 16"/>
          <p:cNvSpPr/>
          <p:nvPr/>
        </p:nvSpPr>
        <p:spPr>
          <a:xfrm>
            <a:off x="411480" y="96012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94360" y="105156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1 — </a:t>
            </a:r>
            <a:pPr indent="0" marL="0">
              <a:buNone/>
            </a:pPr>
            <a:r>
              <a:rPr lang="en-US" sz="1100" b="1" dirty="0">
                <a:solidFill>
                  <a:srgbClr val="B0883B"/>
                </a:solidFill>
                <a:latin typeface="Outfit" pitchFamily="34" charset="0"/>
                <a:ea typeface="Outfit" pitchFamily="34" charset="-122"/>
                <a:cs typeface="Outfit" pitchFamily="34" charset="-120"/>
              </a:rPr>
              <a:t>Explain the Rule</a:t>
            </a:r>
            <a:endParaRPr lang="en-US" sz="1100" dirty="0"/>
          </a:p>
        </p:txBody>
      </p:sp>
      <p:sp>
        <p:nvSpPr>
          <p:cNvPr id="20" name="Text 18"/>
          <p:cNvSpPr/>
          <p:nvPr/>
        </p:nvSpPr>
        <p:spPr>
          <a:xfrm>
            <a:off x="594360" y="134416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Today's key idea is "Surface area of a pyramid = base area + the area of all the triangular lateral faces." — and it works because ___.</a:t>
            </a:r>
            <a:endParaRPr lang="en-US" sz="1050" dirty="0"/>
          </a:p>
        </p:txBody>
      </p:sp>
      <p:sp>
        <p:nvSpPr>
          <p:cNvPr id="21" name="Shape 19"/>
          <p:cNvSpPr/>
          <p:nvPr/>
        </p:nvSpPr>
        <p:spPr>
          <a:xfrm>
            <a:off x="594360" y="1892808"/>
            <a:ext cx="8046720" cy="0"/>
          </a:xfrm>
          <a:prstGeom prst="line">
            <a:avLst/>
          </a:prstGeom>
          <a:noFill/>
          <a:ln w="9525">
            <a:solidFill>
              <a:srgbClr val="C7CDD2"/>
            </a:solidFill>
            <a:prstDash val="dash"/>
          </a:ln>
        </p:spPr>
      </p:sp>
      <p:sp>
        <p:nvSpPr>
          <p:cNvPr id="22" name="Shape 20"/>
          <p:cNvSpPr/>
          <p:nvPr/>
        </p:nvSpPr>
        <p:spPr>
          <a:xfrm>
            <a:off x="411480" y="224028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594360" y="233172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2 — </a:t>
            </a:r>
            <a:pPr indent="0" marL="0">
              <a:buNone/>
            </a:pPr>
            <a:r>
              <a:rPr lang="en-US" sz="1100" b="1" dirty="0">
                <a:solidFill>
                  <a:srgbClr val="B0883B"/>
                </a:solidFill>
                <a:latin typeface="Outfit" pitchFamily="34" charset="0"/>
                <a:ea typeface="Outfit" pitchFamily="34" charset="-122"/>
                <a:cs typeface="Outfit" pitchFamily="34" charset="-120"/>
              </a:rPr>
              <a:t>Because / But / So</a:t>
            </a:r>
            <a:endParaRPr lang="en-US" sz="1100" dirty="0"/>
          </a:p>
        </p:txBody>
      </p:sp>
      <p:sp>
        <p:nvSpPr>
          <p:cNvPr id="24" name="Text 22"/>
          <p:cNvSpPr/>
          <p:nvPr/>
        </p:nvSpPr>
        <p:spPr>
          <a:xfrm>
            <a:off x="594360" y="262432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Because Pyramid means ___, but a tricky part is ___, so I have to ___.</a:t>
            </a:r>
            <a:endParaRPr lang="en-US" sz="1050" dirty="0"/>
          </a:p>
        </p:txBody>
      </p:sp>
      <p:sp>
        <p:nvSpPr>
          <p:cNvPr id="25" name="Shape 23"/>
          <p:cNvSpPr/>
          <p:nvPr/>
        </p:nvSpPr>
        <p:spPr>
          <a:xfrm>
            <a:off x="594360" y="3172968"/>
            <a:ext cx="8046720" cy="0"/>
          </a:xfrm>
          <a:prstGeom prst="line">
            <a:avLst/>
          </a:prstGeom>
          <a:noFill/>
          <a:ln w="9525">
            <a:solidFill>
              <a:srgbClr val="C7CDD2"/>
            </a:solidFill>
            <a:prstDash val="dash"/>
          </a:ln>
        </p:spPr>
      </p:sp>
      <p:sp>
        <p:nvSpPr>
          <p:cNvPr id="26" name="Shape 24"/>
          <p:cNvSpPr/>
          <p:nvPr/>
        </p:nvSpPr>
        <p:spPr>
          <a:xfrm>
            <a:off x="411480" y="352044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361188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3 — </a:t>
            </a:r>
            <a:pPr indent="0" marL="0">
              <a:buNone/>
            </a:pPr>
            <a:r>
              <a:rPr lang="en-US" sz="1100" b="1" dirty="0">
                <a:solidFill>
                  <a:srgbClr val="B0883B"/>
                </a:solidFill>
                <a:latin typeface="Outfit" pitchFamily="34" charset="0"/>
                <a:ea typeface="Outfit" pitchFamily="34" charset="-122"/>
                <a:cs typeface="Outfit" pitchFamily="34" charset="-120"/>
              </a:rPr>
              <a:t>Catch the Mistake</a:t>
            </a:r>
            <a:endParaRPr lang="en-US" sz="1100" dirty="0"/>
          </a:p>
        </p:txBody>
      </p:sp>
      <p:sp>
        <p:nvSpPr>
          <p:cNvPr id="28" name="Text 26"/>
          <p:cNvSpPr/>
          <p:nvPr/>
        </p:nvSpPr>
        <p:spPr>
          <a:xfrm>
            <a:off x="594360" y="390448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A common mistake with Pyramid is ___. It happens because ___, and the fix is ___.</a:t>
            </a:r>
            <a:endParaRPr lang="en-US" sz="1050" dirty="0"/>
          </a:p>
        </p:txBody>
      </p:sp>
      <p:sp>
        <p:nvSpPr>
          <p:cNvPr id="29" name="Shape 27"/>
          <p:cNvSpPr/>
          <p:nvPr/>
        </p:nvSpPr>
        <p:spPr>
          <a:xfrm>
            <a:off x="594360" y="4453128"/>
            <a:ext cx="8046720" cy="0"/>
          </a:xfrm>
          <a:prstGeom prst="line">
            <a:avLst/>
          </a:prstGeom>
          <a:noFill/>
          <a:ln w="9525">
            <a:solidFill>
              <a:srgbClr val="C7CDD2"/>
            </a:solidFill>
            <a:prstDash val="dash"/>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Exit Ticket / Boleto de Salida</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11</a:t>
            </a:r>
            <a:endParaRPr lang="en-US" sz="800" dirty="0"/>
          </a:p>
        </p:txBody>
      </p:sp>
      <p:sp>
        <p:nvSpPr>
          <p:cNvPr id="17" name="Shape 15"/>
          <p:cNvSpPr/>
          <p:nvPr/>
        </p:nvSpPr>
        <p:spPr>
          <a:xfrm>
            <a:off x="411480" y="685800"/>
            <a:ext cx="416052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Reflection / Reflexión</a:t>
            </a:r>
            <a:endParaRPr lang="en-US" sz="1000" dirty="0"/>
          </a:p>
        </p:txBody>
      </p:sp>
      <p:sp>
        <p:nvSpPr>
          <p:cNvPr id="19" name="Text 17"/>
          <p:cNvSpPr/>
          <p:nvPr/>
        </p:nvSpPr>
        <p:spPr>
          <a:xfrm>
            <a:off x="594360" y="109728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Today I learned that ___ because ___.</a:t>
            </a:r>
            <a:endParaRPr lang="en-US" sz="1100" dirty="0"/>
          </a:p>
        </p:txBody>
      </p:sp>
      <p:sp>
        <p:nvSpPr>
          <p:cNvPr id="20" name="Shape 18"/>
          <p:cNvSpPr/>
          <p:nvPr/>
        </p:nvSpPr>
        <p:spPr>
          <a:xfrm>
            <a:off x="594360" y="1783080"/>
            <a:ext cx="3794760" cy="0"/>
          </a:xfrm>
          <a:prstGeom prst="line">
            <a:avLst/>
          </a:prstGeom>
          <a:noFill/>
          <a:ln w="9525">
            <a:solidFill>
              <a:srgbClr val="C7CDD2"/>
            </a:solidFill>
            <a:prstDash val="dash"/>
          </a:ln>
        </p:spPr>
      </p:sp>
      <p:sp>
        <p:nvSpPr>
          <p:cNvPr id="21" name="Shape 19"/>
          <p:cNvSpPr/>
          <p:nvPr/>
        </p:nvSpPr>
        <p:spPr>
          <a:xfrm>
            <a:off x="594360" y="2093976"/>
            <a:ext cx="3794760" cy="0"/>
          </a:xfrm>
          <a:prstGeom prst="line">
            <a:avLst/>
          </a:prstGeom>
          <a:noFill/>
          <a:ln w="9525">
            <a:solidFill>
              <a:srgbClr val="C7CDD2"/>
            </a:solidFill>
            <a:prstDash val="dash"/>
          </a:ln>
        </p:spPr>
      </p:sp>
      <p:sp>
        <p:nvSpPr>
          <p:cNvPr id="22" name="Shape 20"/>
          <p:cNvSpPr/>
          <p:nvPr/>
        </p:nvSpPr>
        <p:spPr>
          <a:xfrm>
            <a:off x="594360" y="2404872"/>
            <a:ext cx="3794760" cy="0"/>
          </a:xfrm>
          <a:prstGeom prst="line">
            <a:avLst/>
          </a:prstGeom>
          <a:noFill/>
          <a:ln w="9525">
            <a:solidFill>
              <a:srgbClr val="C7CDD2"/>
            </a:solidFill>
            <a:prstDash val="dash"/>
          </a:ln>
        </p:spPr>
      </p:sp>
      <p:sp>
        <p:nvSpPr>
          <p:cNvPr id="23" name="Text 21"/>
          <p:cNvSpPr/>
          <p:nvPr/>
        </p:nvSpPr>
        <p:spPr>
          <a:xfrm>
            <a:off x="594360" y="283464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One thing I am still not sure about is ___.</a:t>
            </a:r>
            <a:endParaRPr lang="en-US" sz="1100" dirty="0"/>
          </a:p>
        </p:txBody>
      </p:sp>
      <p:sp>
        <p:nvSpPr>
          <p:cNvPr id="24" name="Shape 22"/>
          <p:cNvSpPr/>
          <p:nvPr/>
        </p:nvSpPr>
        <p:spPr>
          <a:xfrm>
            <a:off x="594360" y="3520440"/>
            <a:ext cx="3794760" cy="0"/>
          </a:xfrm>
          <a:prstGeom prst="line">
            <a:avLst/>
          </a:prstGeom>
          <a:noFill/>
          <a:ln w="9525">
            <a:solidFill>
              <a:srgbClr val="C7CDD2"/>
            </a:solidFill>
            <a:prstDash val="dash"/>
          </a:ln>
        </p:spPr>
      </p:sp>
      <p:sp>
        <p:nvSpPr>
          <p:cNvPr id="25" name="Shape 23"/>
          <p:cNvSpPr/>
          <p:nvPr/>
        </p:nvSpPr>
        <p:spPr>
          <a:xfrm>
            <a:off x="594360" y="3831336"/>
            <a:ext cx="3794760" cy="0"/>
          </a:xfrm>
          <a:prstGeom prst="line">
            <a:avLst/>
          </a:prstGeom>
          <a:noFill/>
          <a:ln w="9525">
            <a:solidFill>
              <a:srgbClr val="C7CDD2"/>
            </a:solidFill>
            <a:prstDash val="dash"/>
          </a:ln>
        </p:spPr>
      </p:sp>
      <p:sp>
        <p:nvSpPr>
          <p:cNvPr id="26" name="Shape 24"/>
          <p:cNvSpPr/>
          <p:nvPr/>
        </p:nvSpPr>
        <p:spPr>
          <a:xfrm>
            <a:off x="594360" y="4142232"/>
            <a:ext cx="3794760" cy="0"/>
          </a:xfrm>
          <a:prstGeom prst="line">
            <a:avLst/>
          </a:prstGeom>
          <a:noFill/>
          <a:ln w="9525">
            <a:solidFill>
              <a:srgbClr val="C7CDD2"/>
            </a:solidFill>
            <a:prstDash val="dash"/>
          </a:ln>
        </p:spPr>
      </p:sp>
      <p:sp>
        <p:nvSpPr>
          <p:cNvPr id="27" name="Shape 25"/>
          <p:cNvSpPr/>
          <p:nvPr/>
        </p:nvSpPr>
        <p:spPr>
          <a:xfrm>
            <a:off x="4709160" y="685800"/>
            <a:ext cx="41148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4709160" y="685800"/>
            <a:ext cx="4114800" cy="274320"/>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Quick Exit Ticket</a:t>
            </a:r>
            <a:endParaRPr lang="en-US" sz="1000" dirty="0"/>
          </a:p>
        </p:txBody>
      </p:sp>
      <p:sp>
        <p:nvSpPr>
          <p:cNvPr id="29" name="Text 27"/>
          <p:cNvSpPr/>
          <p:nvPr/>
        </p:nvSpPr>
        <p:spPr>
          <a:xfrm>
            <a:off x="4892040" y="1097280"/>
            <a:ext cx="3749040" cy="64008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Tier 1 — </a:t>
            </a:r>
            <a:pPr indent="0" marL="0">
              <a:buNone/>
            </a:pPr>
            <a:r>
              <a:rPr lang="en-US" sz="1050" dirty="0">
                <a:solidFill>
                  <a:srgbClr val="17324D"/>
                </a:solidFill>
                <a:latin typeface="Hanken Grotesk" pitchFamily="34" charset="0"/>
                <a:ea typeface="Hanken Grotesk" pitchFamily="34" charset="-122"/>
                <a:cs typeface="Hanken Grotesk" pitchFamily="34" charset="-120"/>
              </a:rPr>
              <a:t>A square pyramid has a base edge of 6 in and a slant height of 5 in. What is the total surface area?</a:t>
            </a:r>
            <a:endParaRPr lang="en-US" sz="1050" dirty="0"/>
          </a:p>
        </p:txBody>
      </p:sp>
      <p:sp>
        <p:nvSpPr>
          <p:cNvPr id="30" name="Text 28"/>
          <p:cNvSpPr/>
          <p:nvPr/>
        </p:nvSpPr>
        <p:spPr>
          <a:xfrm>
            <a:off x="5029200" y="1783080"/>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A.  96 in²</a:t>
            </a:r>
            <a:endParaRPr lang="en-US" sz="1000" dirty="0"/>
          </a:p>
        </p:txBody>
      </p:sp>
      <p:sp>
        <p:nvSpPr>
          <p:cNvPr id="31" name="Text 29"/>
          <p:cNvSpPr/>
          <p:nvPr/>
        </p:nvSpPr>
        <p:spPr>
          <a:xfrm>
            <a:off x="5029200" y="2093976"/>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B.  60 in²</a:t>
            </a:r>
            <a:endParaRPr lang="en-US" sz="1000" dirty="0"/>
          </a:p>
        </p:txBody>
      </p:sp>
      <p:sp>
        <p:nvSpPr>
          <p:cNvPr id="32" name="Text 30"/>
          <p:cNvSpPr/>
          <p:nvPr/>
        </p:nvSpPr>
        <p:spPr>
          <a:xfrm>
            <a:off x="5029200" y="2404872"/>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C.  96 in³</a:t>
            </a:r>
            <a:endParaRPr lang="en-US" sz="1000" dirty="0"/>
          </a:p>
        </p:txBody>
      </p:sp>
      <p:sp>
        <p:nvSpPr>
          <p:cNvPr id="33" name="Text 31"/>
          <p:cNvSpPr/>
          <p:nvPr/>
        </p:nvSpPr>
        <p:spPr>
          <a:xfrm>
            <a:off x="5029200" y="2715768"/>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D.  36 in²</a:t>
            </a:r>
            <a:endParaRPr lang="en-US" sz="1000" dirty="0"/>
          </a:p>
        </p:txBody>
      </p:sp>
      <p:sp>
        <p:nvSpPr>
          <p:cNvPr id="34" name="Text 32"/>
          <p:cNvSpPr/>
          <p:nvPr/>
        </p:nvSpPr>
        <p:spPr>
          <a:xfrm>
            <a:off x="4892040" y="3163824"/>
            <a:ext cx="3749040" cy="50292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Tier 2 — </a:t>
            </a:r>
            <a:pPr indent="0" marL="0">
              <a:buNone/>
            </a:pPr>
            <a:r>
              <a:rPr lang="en-US" sz="1050" dirty="0">
                <a:solidFill>
                  <a:srgbClr val="17324D"/>
                </a:solidFill>
                <a:latin typeface="Hanken Grotesk" pitchFamily="34" charset="0"/>
                <a:ea typeface="Hanken Grotesk" pitchFamily="34" charset="-122"/>
                <a:cs typeface="Hanken Grotesk" pitchFamily="34" charset="-120"/>
              </a:rPr>
              <a:t>Explain how you know your answer is correct. Use at least one vocabulary word.</a:t>
            </a:r>
            <a:endParaRPr lang="en-US" sz="1050" dirty="0"/>
          </a:p>
        </p:txBody>
      </p:sp>
      <p:sp>
        <p:nvSpPr>
          <p:cNvPr id="35" name="Shape 33"/>
          <p:cNvSpPr/>
          <p:nvPr/>
        </p:nvSpPr>
        <p:spPr>
          <a:xfrm>
            <a:off x="4892040" y="3803904"/>
            <a:ext cx="3749040" cy="0"/>
          </a:xfrm>
          <a:prstGeom prst="line">
            <a:avLst/>
          </a:prstGeom>
          <a:noFill/>
          <a:ln w="9525">
            <a:solidFill>
              <a:srgbClr val="C7CDD2"/>
            </a:solidFill>
            <a:prstDash val="dash"/>
          </a:ln>
        </p:spPr>
      </p:sp>
      <p:sp>
        <p:nvSpPr>
          <p:cNvPr id="36" name="Shape 34"/>
          <p:cNvSpPr/>
          <p:nvPr/>
        </p:nvSpPr>
        <p:spPr>
          <a:xfrm>
            <a:off x="4892040" y="4096512"/>
            <a:ext cx="3749040" cy="0"/>
          </a:xfrm>
          <a:prstGeom prst="line">
            <a:avLst/>
          </a:prstGeom>
          <a:noFill/>
          <a:ln w="9525">
            <a:solidFill>
              <a:srgbClr val="C7CDD2"/>
            </a:solidFill>
            <a:prstDash val="dash"/>
          </a:ln>
        </p:spPr>
      </p:sp>
      <p:sp>
        <p:nvSpPr>
          <p:cNvPr id="37" name="Shape 35"/>
          <p:cNvSpPr/>
          <p:nvPr/>
        </p:nvSpPr>
        <p:spPr>
          <a:xfrm>
            <a:off x="4892040" y="4389120"/>
            <a:ext cx="3749040" cy="0"/>
          </a:xfrm>
          <a:prstGeom prst="line">
            <a:avLst/>
          </a:prstGeom>
          <a:noFill/>
          <a:ln w="9525">
            <a:solidFill>
              <a:srgbClr val="C7CDD2"/>
            </a:solidFill>
            <a:prstDash val="dash"/>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Goal Tracker / Seguimiento de Metas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10-5</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12</a:t>
            </a:r>
            <a:endParaRPr lang="en-US" sz="800" dirty="0"/>
          </a:p>
        </p:txBody>
      </p:sp>
      <p:sp>
        <p:nvSpPr>
          <p:cNvPr id="17" name="Shape 15"/>
          <p:cNvSpPr/>
          <p:nvPr/>
        </p:nvSpPr>
        <p:spPr>
          <a:xfrm>
            <a:off x="411480" y="658368"/>
            <a:ext cx="8412480" cy="502920"/>
          </a:xfrm>
          <a:prstGeom prst="roundRect">
            <a:avLst>
              <a:gd name="adj" fmla="val 14545"/>
            </a:avLst>
          </a:prstGeom>
          <a:solidFill>
            <a:srgbClr val="17324D"/>
          </a:solidFill>
          <a:ln/>
        </p:spPr>
      </p:sp>
      <p:sp>
        <p:nvSpPr>
          <p:cNvPr id="18" name="Text 16"/>
          <p:cNvSpPr/>
          <p:nvPr/>
        </p:nvSpPr>
        <p:spPr>
          <a:xfrm>
            <a:off x="640080" y="658368"/>
            <a:ext cx="7955280" cy="502920"/>
          </a:xfrm>
          <a:prstGeom prst="rect">
            <a:avLst/>
          </a:prstGeom>
          <a:noFill/>
          <a:ln/>
        </p:spPr>
        <p:txBody>
          <a:bodyPr wrap="square" rtlCol="0" anchor="ctr"/>
          <a:lstStyle/>
          <a:p>
            <a:pPr indent="0" marL="0">
              <a:buNone/>
            </a:pPr>
            <a:r>
              <a:rPr lang="en-US" sz="1100" b="1" dirty="0">
                <a:solidFill>
                  <a:srgbClr val="F2C15B"/>
                </a:solidFill>
                <a:latin typeface="Hanken Grotesk" pitchFamily="34" charset="0"/>
                <a:ea typeface="Hanken Grotesk" pitchFamily="34" charset="-122"/>
                <a:cs typeface="Hanken Grotesk" pitchFamily="34" charset="-120"/>
              </a:rPr>
              <a:t>My Goal:  </a:t>
            </a:r>
            <a:pPr indent="0" marL="0">
              <a:buNone/>
            </a:pPr>
            <a:r>
              <a:rPr lang="en-US" sz="1100" dirty="0">
                <a:solidFill>
                  <a:srgbClr val="FFFFFF"/>
                </a:solidFill>
                <a:latin typeface="Hanken Grotesk" pitchFamily="34" charset="0"/>
                <a:ea typeface="Hanken Grotesk" pitchFamily="34" charset="-122"/>
                <a:cs typeface="Hanken Grotesk" pitchFamily="34" charset="-120"/>
              </a:rPr>
              <a:t>I can find the surface area of a pyramid by adding the base area and the lateral faces.</a:t>
            </a:r>
            <a:endParaRPr lang="en-US" sz="1100" dirty="0"/>
          </a:p>
        </p:txBody>
      </p:sp>
      <p:sp>
        <p:nvSpPr>
          <p:cNvPr id="19" name="Shape 17"/>
          <p:cNvSpPr/>
          <p:nvPr/>
        </p:nvSpPr>
        <p:spPr>
          <a:xfrm>
            <a:off x="411480" y="1371600"/>
            <a:ext cx="1965960" cy="2377440"/>
          </a:xfrm>
          <a:prstGeom prst="roundRect">
            <a:avLst>
              <a:gd name="adj" fmla="val 3721"/>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0" name="Shape 18"/>
          <p:cNvSpPr/>
          <p:nvPr/>
        </p:nvSpPr>
        <p:spPr>
          <a:xfrm>
            <a:off x="1138428" y="1508760"/>
            <a:ext cx="512064" cy="512064"/>
          </a:xfrm>
          <a:prstGeom prst="ellipse">
            <a:avLst/>
          </a:prstGeom>
          <a:solidFill>
            <a:srgbClr val="B0883B"/>
          </a:solidFill>
          <a:ln/>
        </p:spPr>
      </p:sp>
      <p:sp>
        <p:nvSpPr>
          <p:cNvPr id="21" name="Text 19"/>
          <p:cNvSpPr/>
          <p:nvPr/>
        </p:nvSpPr>
        <p:spPr>
          <a:xfrm>
            <a:off x="113842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22" name="Text 20"/>
          <p:cNvSpPr/>
          <p:nvPr/>
        </p:nvSpPr>
        <p:spPr>
          <a:xfrm>
            <a:off x="45720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Not Yet</a:t>
            </a:r>
            <a:endParaRPr lang="en-US" sz="1150" dirty="0"/>
          </a:p>
        </p:txBody>
      </p:sp>
      <p:sp>
        <p:nvSpPr>
          <p:cNvPr id="23" name="Text 21"/>
          <p:cNvSpPr/>
          <p:nvPr/>
        </p:nvSpPr>
        <p:spPr>
          <a:xfrm>
            <a:off x="52120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need more help. This does not make sense to me yet.</a:t>
            </a:r>
            <a:endParaRPr lang="en-US" sz="900" dirty="0"/>
          </a:p>
        </p:txBody>
      </p:sp>
      <p:sp>
        <p:nvSpPr>
          <p:cNvPr id="24" name="Text 22"/>
          <p:cNvSpPr/>
          <p:nvPr/>
        </p:nvSpPr>
        <p:spPr>
          <a:xfrm>
            <a:off x="45720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25" name="Shape 23"/>
          <p:cNvSpPr/>
          <p:nvPr/>
        </p:nvSpPr>
        <p:spPr>
          <a:xfrm>
            <a:off x="2560320" y="1371600"/>
            <a:ext cx="1965960" cy="2377440"/>
          </a:xfrm>
          <a:prstGeom prst="roundRect">
            <a:avLst>
              <a:gd name="adj" fmla="val 3721"/>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Shape 24"/>
          <p:cNvSpPr/>
          <p:nvPr/>
        </p:nvSpPr>
        <p:spPr>
          <a:xfrm>
            <a:off x="3287268" y="1508760"/>
            <a:ext cx="512064" cy="512064"/>
          </a:xfrm>
          <a:prstGeom prst="ellipse">
            <a:avLst/>
          </a:prstGeom>
          <a:solidFill>
            <a:srgbClr val="B0883B"/>
          </a:solidFill>
          <a:ln/>
        </p:spPr>
      </p:sp>
      <p:sp>
        <p:nvSpPr>
          <p:cNvPr id="27" name="Text 25"/>
          <p:cNvSpPr/>
          <p:nvPr/>
        </p:nvSpPr>
        <p:spPr>
          <a:xfrm>
            <a:off x="328726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28" name="Text 26"/>
          <p:cNvSpPr/>
          <p:nvPr/>
        </p:nvSpPr>
        <p:spPr>
          <a:xfrm>
            <a:off x="260604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Getting There</a:t>
            </a:r>
            <a:endParaRPr lang="en-US" sz="1150" dirty="0"/>
          </a:p>
        </p:txBody>
      </p:sp>
      <p:sp>
        <p:nvSpPr>
          <p:cNvPr id="29" name="Text 27"/>
          <p:cNvSpPr/>
          <p:nvPr/>
        </p:nvSpPr>
        <p:spPr>
          <a:xfrm>
            <a:off x="267004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understand the idea but I make mistakes when I work.</a:t>
            </a:r>
            <a:endParaRPr lang="en-US" sz="900" dirty="0"/>
          </a:p>
        </p:txBody>
      </p:sp>
      <p:sp>
        <p:nvSpPr>
          <p:cNvPr id="30" name="Text 28"/>
          <p:cNvSpPr/>
          <p:nvPr/>
        </p:nvSpPr>
        <p:spPr>
          <a:xfrm>
            <a:off x="260604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1" name="Shape 29"/>
          <p:cNvSpPr/>
          <p:nvPr/>
        </p:nvSpPr>
        <p:spPr>
          <a:xfrm>
            <a:off x="4709160" y="1371600"/>
            <a:ext cx="1965960" cy="2377440"/>
          </a:xfrm>
          <a:prstGeom prst="roundRect">
            <a:avLst>
              <a:gd name="adj" fmla="val 3721"/>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2" name="Shape 30"/>
          <p:cNvSpPr/>
          <p:nvPr/>
        </p:nvSpPr>
        <p:spPr>
          <a:xfrm>
            <a:off x="5436108" y="1508760"/>
            <a:ext cx="512064" cy="512064"/>
          </a:xfrm>
          <a:prstGeom prst="ellipse">
            <a:avLst/>
          </a:prstGeom>
          <a:solidFill>
            <a:srgbClr val="B0883B"/>
          </a:solidFill>
          <a:ln/>
        </p:spPr>
      </p:sp>
      <p:sp>
        <p:nvSpPr>
          <p:cNvPr id="33" name="Text 31"/>
          <p:cNvSpPr/>
          <p:nvPr/>
        </p:nvSpPr>
        <p:spPr>
          <a:xfrm>
            <a:off x="543610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34" name="Text 32"/>
          <p:cNvSpPr/>
          <p:nvPr/>
        </p:nvSpPr>
        <p:spPr>
          <a:xfrm>
            <a:off x="475488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Got It!</a:t>
            </a:r>
            <a:endParaRPr lang="en-US" sz="1150" dirty="0"/>
          </a:p>
        </p:txBody>
      </p:sp>
      <p:sp>
        <p:nvSpPr>
          <p:cNvPr id="35" name="Text 33"/>
          <p:cNvSpPr/>
          <p:nvPr/>
        </p:nvSpPr>
        <p:spPr>
          <a:xfrm>
            <a:off x="481888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solve problems on my own and explain my thinking.</a:t>
            </a:r>
            <a:endParaRPr lang="en-US" sz="900" dirty="0"/>
          </a:p>
        </p:txBody>
      </p:sp>
      <p:sp>
        <p:nvSpPr>
          <p:cNvPr id="36" name="Text 34"/>
          <p:cNvSpPr/>
          <p:nvPr/>
        </p:nvSpPr>
        <p:spPr>
          <a:xfrm>
            <a:off x="475488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7" name="Shape 35"/>
          <p:cNvSpPr/>
          <p:nvPr/>
        </p:nvSpPr>
        <p:spPr>
          <a:xfrm>
            <a:off x="6858000" y="1371600"/>
            <a:ext cx="1965960" cy="2377440"/>
          </a:xfrm>
          <a:prstGeom prst="roundRect">
            <a:avLst>
              <a:gd name="adj" fmla="val 3721"/>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Shape 36"/>
          <p:cNvSpPr/>
          <p:nvPr/>
        </p:nvSpPr>
        <p:spPr>
          <a:xfrm>
            <a:off x="7584948" y="1508760"/>
            <a:ext cx="512064" cy="512064"/>
          </a:xfrm>
          <a:prstGeom prst="ellipse">
            <a:avLst/>
          </a:prstGeom>
          <a:solidFill>
            <a:srgbClr val="B0883B"/>
          </a:solidFill>
          <a:ln/>
        </p:spPr>
      </p:sp>
      <p:sp>
        <p:nvSpPr>
          <p:cNvPr id="39" name="Text 37"/>
          <p:cNvSpPr/>
          <p:nvPr/>
        </p:nvSpPr>
        <p:spPr>
          <a:xfrm>
            <a:off x="758494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4</a:t>
            </a:r>
            <a:endParaRPr lang="en-US" sz="2000" dirty="0"/>
          </a:p>
        </p:txBody>
      </p:sp>
      <p:sp>
        <p:nvSpPr>
          <p:cNvPr id="40" name="Text 38"/>
          <p:cNvSpPr/>
          <p:nvPr/>
        </p:nvSpPr>
        <p:spPr>
          <a:xfrm>
            <a:off x="690372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Can Teach It</a:t>
            </a:r>
            <a:endParaRPr lang="en-US" sz="1150" dirty="0"/>
          </a:p>
        </p:txBody>
      </p:sp>
      <p:sp>
        <p:nvSpPr>
          <p:cNvPr id="41" name="Text 39"/>
          <p:cNvSpPr/>
          <p:nvPr/>
        </p:nvSpPr>
        <p:spPr>
          <a:xfrm>
            <a:off x="696772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clearly teach this strategy to a classmate.</a:t>
            </a:r>
            <a:endParaRPr lang="en-US" sz="900" dirty="0"/>
          </a:p>
        </p:txBody>
      </p:sp>
      <p:sp>
        <p:nvSpPr>
          <p:cNvPr id="42" name="Text 40"/>
          <p:cNvSpPr/>
          <p:nvPr/>
        </p:nvSpPr>
        <p:spPr>
          <a:xfrm>
            <a:off x="690372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43" name="Shape 41"/>
          <p:cNvSpPr/>
          <p:nvPr/>
        </p:nvSpPr>
        <p:spPr>
          <a:xfrm>
            <a:off x="411480" y="3977640"/>
            <a:ext cx="8412480" cy="685800"/>
          </a:xfrm>
          <a:prstGeom prst="roundRect">
            <a:avLst>
              <a:gd name="adj" fmla="val 10667"/>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44" name="Text 42"/>
          <p:cNvSpPr/>
          <p:nvPr/>
        </p:nvSpPr>
        <p:spPr>
          <a:xfrm>
            <a:off x="640080" y="3977640"/>
            <a:ext cx="7955280" cy="685800"/>
          </a:xfrm>
          <a:prstGeom prst="rect">
            <a:avLst/>
          </a:prstGeom>
          <a:noFill/>
          <a:ln/>
        </p:spPr>
        <p:txBody>
          <a:bodyPr wrap="square" rtlCol="0" anchor="ctr"/>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My next step:  </a:t>
            </a:r>
            <a:pPr indent="0" marL="0">
              <a:buNone/>
            </a:pPr>
            <a:r>
              <a:rPr lang="en-US" sz="1050" dirty="0">
                <a:solidFill>
                  <a:srgbClr val="24323F"/>
                </a:solidFill>
                <a:latin typeface="Hanken Grotesk" pitchFamily="34" charset="0"/>
                <a:ea typeface="Hanken Grotesk" pitchFamily="34" charset="-122"/>
                <a:cs typeface="Hanken Grotesk" pitchFamily="34" charset="-120"/>
              </a:rPr>
              <a:t>To move up one level, I will ___.</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Neft Teacher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10-5: Surface Area of Pyramids</dc:title>
  <dc:subject>6.G.4</dc:subject>
  <dc:creator>Neft Teacher</dc:creator>
  <cp:lastModifiedBy>Neft Teacher</cp:lastModifiedBy>
  <cp:revision>1</cp:revision>
  <dcterms:created xsi:type="dcterms:W3CDTF">2026-06-08T12:33:41Z</dcterms:created>
  <dcterms:modified xsi:type="dcterms:W3CDTF">2026-06-08T12:33:41Z</dcterms:modified>
</cp:coreProperties>
</file>