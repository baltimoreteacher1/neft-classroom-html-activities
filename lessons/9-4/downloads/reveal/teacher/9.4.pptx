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82" r:id="rId5"/>
    <p:sldMasterId id="2147483694" r:id="rId6"/>
    <p:sldMasterId id="2147483706" r:id="rId7"/>
  </p:sldMasterIdLst>
  <p:notesMasterIdLst>
    <p:notesMasterId r:id="rId74"/>
  </p:notesMasterIdLst>
  <p:handoutMasterIdLst>
    <p:handoutMasterId r:id="rId75"/>
  </p:handoutMasterIdLst>
  <p:sldIdLst>
    <p:sldId id="663" r:id="rId83"/>
    <p:sldId id="664" r:id="rId84"/>
    <p:sldId id="665" r:id="rId85"/>
    <p:sldId id="346" r:id="rId8"/>
    <p:sldId id="447" r:id="rId9"/>
    <p:sldId id="666" r:id="rId86"/>
    <p:sldId id="674" r:id="rId94"/>
    <p:sldId id="670" r:id="rId90"/>
    <p:sldId id="667" r:id="rId87"/>
    <p:sldId id="662" r:id="rId12"/>
    <p:sldId id="561" r:id="rId13"/>
    <p:sldId id="637" r:id="rId16"/>
    <p:sldId id="639" r:id="rId18"/>
    <p:sldId id="640" r:id="rId23"/>
    <p:sldId id="675" r:id="rId95"/>
    <p:sldId id="642" r:id="rId27"/>
    <p:sldId id="645" r:id="rId32"/>
    <p:sldId id="646" r:id="rId34"/>
    <p:sldId id="648" r:id="rId38"/>
    <p:sldId id="547" r:id="rId40"/>
    <p:sldId id="671" r:id="rId91"/>
    <p:sldId id="668" r:id="rId88"/>
    <p:sldId id="676" r:id="rId96"/>
    <p:sldId id="669" r:id="rId89"/>
    <p:sldId id="329" r:id="rId42"/>
    <p:sldId id="569" r:id="rId45"/>
    <p:sldId id="650" r:id="rId47"/>
    <p:sldId id="654" r:id="rId53"/>
    <p:sldId id="655" r:id="rId55"/>
    <p:sldId id="626" r:id="rId56"/>
    <p:sldId id="657" r:id="rId59"/>
    <p:sldId id="677" r:id="rId97"/>
    <p:sldId id="633" r:id="rId66"/>
    <p:sldId id="630" r:id="rId69"/>
    <p:sldId id="555" r:id="rId70"/>
    <p:sldId id="678" r:id="rId98"/>
    <p:sldId id="672" r:id="rId92"/>
    <p:sldId id="358" r:id="rId71"/>
    <p:sldId id="359" r:id="rId72"/>
    <p:sldId id="673" r:id="rId93"/>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ssion 1" id="{7C5483C3-4ED8-3C44-A16B-377738F7500E}">
          <p14:sldIdLst>
            <p14:sldId id="346"/>
            <p14:sldId id="447"/>
            <p14:sldId id="326"/>
            <p14:sldId id="634"/>
            <p14:sldId id="662"/>
            <p14:sldId id="561"/>
            <p14:sldId id="636"/>
            <p14:sldId id="603"/>
            <p14:sldId id="637"/>
            <p14:sldId id="638"/>
            <p14:sldId id="639"/>
            <p14:sldId id="562"/>
            <p14:sldId id="606"/>
            <p14:sldId id="611"/>
            <p14:sldId id="612"/>
            <p14:sldId id="640"/>
            <p14:sldId id="613"/>
            <p14:sldId id="641"/>
            <p14:sldId id="614"/>
            <p14:sldId id="642"/>
            <p14:sldId id="583"/>
            <p14:sldId id="643"/>
            <p14:sldId id="644"/>
            <p14:sldId id="617"/>
            <p14:sldId id="645"/>
            <p14:sldId id="618"/>
            <p14:sldId id="646"/>
            <p14:sldId id="619"/>
            <p14:sldId id="647"/>
            <p14:sldId id="635"/>
            <p14:sldId id="648"/>
            <p14:sldId id="545"/>
            <p14:sldId id="547"/>
            <p14:sldId id="610"/>
          </p14:sldIdLst>
        </p14:section>
        <p14:section name="Session 2" id="{78177A17-BF90-E64E-B653-463937330CAB}">
          <p14:sldIdLst>
            <p14:sldId id="329"/>
            <p14:sldId id="548"/>
            <p14:sldId id="649"/>
            <p14:sldId id="569"/>
            <p14:sldId id="620"/>
            <p14:sldId id="650"/>
            <p14:sldId id="621"/>
            <p14:sldId id="651"/>
            <p14:sldId id="622"/>
            <p14:sldId id="652"/>
            <p14:sldId id="653"/>
            <p14:sldId id="654"/>
            <p14:sldId id="625"/>
            <p14:sldId id="655"/>
            <p14:sldId id="626"/>
            <p14:sldId id="656"/>
            <p14:sldId id="627"/>
            <p14:sldId id="657"/>
            <p14:sldId id="574"/>
            <p14:sldId id="658"/>
            <p14:sldId id="628"/>
            <p14:sldId id="659"/>
            <p14:sldId id="629"/>
            <p14:sldId id="660"/>
            <p14:sldId id="633"/>
            <p14:sldId id="661"/>
            <p14:sldId id="554"/>
            <p14:sldId id="630"/>
            <p14:sldId id="555"/>
            <p14:sldId id="358"/>
            <p14:sldId id="359"/>
            <p14:sldId id="360"/>
          </p14:sldIdLst>
        </p14:section>
      </p14:sectionLst>
    </p:ext>
    <p:ext uri="{EFAFB233-063F-42B5-8137-9DF3F51BA10A}">
      <p15:sldGuideLst xmlns:p15="http://schemas.microsoft.com/office/powerpoint/2012/main">
        <p15:guide id="1" pos="1512" userDrawn="1">
          <p15:clr>
            <a:srgbClr val="A4A3A4"/>
          </p15:clr>
        </p15:guide>
        <p15:guide id="2" orient="horz" pos="3024" userDrawn="1">
          <p15:clr>
            <a:srgbClr val="A4A3A4"/>
          </p15:clr>
        </p15:guide>
        <p15:guide id="3" orient="horz" pos="384" userDrawn="1">
          <p15:clr>
            <a:srgbClr val="A4A3A4"/>
          </p15:clr>
        </p15:guide>
        <p15:guide id="4" orient="horz" pos="2520" userDrawn="1">
          <p15:clr>
            <a:srgbClr val="A4A3A4"/>
          </p15:clr>
        </p15:guide>
        <p15:guide id="5" orient="horz" pos="1080" userDrawn="1">
          <p15:clr>
            <a:srgbClr val="A4A3A4"/>
          </p15:clr>
        </p15:guide>
        <p15:guide id="6" orient="horz" pos="1680" userDrawn="1">
          <p15:clr>
            <a:srgbClr val="A4A3A4"/>
          </p15:clr>
        </p15:guide>
        <p15:guide id="7" orient="horz" pos="3432" userDrawn="1">
          <p15:clr>
            <a:srgbClr val="A4A3A4"/>
          </p15:clr>
        </p15:guide>
        <p15:guide id="8" orient="horz" pos="3120" userDrawn="1">
          <p15:clr>
            <a:srgbClr val="A4A3A4"/>
          </p15:clr>
        </p15:guide>
        <p15:guide id="9" pos="48" userDrawn="1">
          <p15:clr>
            <a:srgbClr val="A4A3A4"/>
          </p15:clr>
        </p15:guide>
        <p15:guide id="10" pos="384" userDrawn="1">
          <p15:clr>
            <a:srgbClr val="A4A3A4"/>
          </p15:clr>
        </p15:guide>
        <p15:guide id="11" pos="6480" userDrawn="1">
          <p15:clr>
            <a:srgbClr val="A4A3A4"/>
          </p15:clr>
        </p15:guide>
        <p15:guide id="12" pos="2597" userDrawn="1">
          <p15:clr>
            <a:srgbClr val="A4A3A4"/>
          </p15:clr>
        </p15:guide>
        <p15:guide id="13" pos="288" userDrawn="1">
          <p15:clr>
            <a:srgbClr val="A4A3A4"/>
          </p15:clr>
        </p15:guide>
        <p15:guide id="14" orient="horz" pos="2160" userDrawn="1">
          <p15:clr>
            <a:srgbClr val="A4A3A4"/>
          </p15:clr>
        </p15:guide>
        <p15:guide id="15" orient="horz" pos="216" userDrawn="1">
          <p15:clr>
            <a:srgbClr val="A4A3A4"/>
          </p15:clr>
        </p15:guide>
        <p15:guide id="16" orient="horz" pos="936" userDrawn="1">
          <p15:clr>
            <a:srgbClr val="A4A3A4"/>
          </p15:clr>
        </p15:guide>
        <p15:guide id="17" pos="4368" userDrawn="1">
          <p15:clr>
            <a:srgbClr val="A4A3A4"/>
          </p15:clr>
        </p15:guide>
        <p15:guide id="18" pos="7296" userDrawn="1">
          <p15:clr>
            <a:srgbClr val="A4A3A4"/>
          </p15:clr>
        </p15:guide>
        <p15:guide id="19" pos="3288" userDrawn="1">
          <p15:clr>
            <a:srgbClr val="A4A3A4"/>
          </p15:clr>
        </p15:guide>
        <p15:guide id="20" pos="5904" userDrawn="1">
          <p15:clr>
            <a:srgbClr val="A4A3A4"/>
          </p15:clr>
        </p15:guide>
        <p15:guide id="21" pos="55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703097-83E1-C761-C2B3-8ACF8DAA9832}" name="Cronin, Nicholas" initials="CN" userId="S::nicholas.cronin@mheducation.com::c4ce72a7-0556-4e67-afc2-eea53dc1a77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quel User" initials="SU" lastIdx="0" clrIdx="0">
    <p:extLst>
      <p:ext uri="{19B8F6BF-5375-455C-9EA6-DF929625EA0E}">
        <p15:presenceInfo xmlns:p15="http://schemas.microsoft.com/office/powerpoint/2012/main" userId="958da6fd0e6693af" providerId="Windows Live"/>
      </p:ext>
    </p:extLst>
  </p:cmAuthor>
  <p:cmAuthor id="2" name="Sujatha Krubasankar" initials="SK" lastIdx="4" clrIdx="1">
    <p:extLst>
      <p:ext uri="{19B8F6BF-5375-455C-9EA6-DF929625EA0E}">
        <p15:presenceInfo xmlns:p15="http://schemas.microsoft.com/office/powerpoint/2012/main" userId="Sujatha Krubasankar" providerId="None"/>
      </p:ext>
    </p:extLst>
  </p:cmAuthor>
  <p:cmAuthor id="3" name="Schoener, Ashley" initials="SA" lastIdx="13" clrIdx="2">
    <p:extLst>
      <p:ext uri="{19B8F6BF-5375-455C-9EA6-DF929625EA0E}">
        <p15:presenceInfo xmlns:p15="http://schemas.microsoft.com/office/powerpoint/2012/main" userId="S::ashley.schoener@mheducation.com::54fa97af-a6c4-4659-87f0-373ad37b033c" providerId="AD"/>
      </p:ext>
    </p:extLst>
  </p:cmAuthor>
  <p:cmAuthor id="4" name="Nourse-Driscoll, Kailen" initials="NK" lastIdx="15" clrIdx="3">
    <p:extLst>
      <p:ext uri="{19B8F6BF-5375-455C-9EA6-DF929625EA0E}">
        <p15:presenceInfo xmlns:p15="http://schemas.microsoft.com/office/powerpoint/2012/main" userId="S::kailen.nourse@mheducation.com::677d6fbd-8591-465c-8492-75451441fbb7" providerId="AD"/>
      </p:ext>
    </p:extLst>
  </p:cmAuthor>
  <p:cmAuthor id="5" name="Weiser, Laura" initials="WL" lastIdx="20" clrIdx="4">
    <p:extLst>
      <p:ext uri="{19B8F6BF-5375-455C-9EA6-DF929625EA0E}">
        <p15:presenceInfo xmlns:p15="http://schemas.microsoft.com/office/powerpoint/2012/main" userId="S::laura.weiser@mheducation.com::9ed76596-42bb-464d-ae09-37cb24a678ff" providerId="AD"/>
      </p:ext>
    </p:extLst>
  </p:cmAuthor>
  <p:cmAuthor id="6" name="Kartheek D" initials="KD" lastIdx="5" clrIdx="5">
    <p:extLst>
      <p:ext uri="{19B8F6BF-5375-455C-9EA6-DF929625EA0E}">
        <p15:presenceInfo xmlns:p15="http://schemas.microsoft.com/office/powerpoint/2012/main" userId="S::kartheek.d_straive.com#ext#@mheducation.onmicrosoft.com::be778e93-6b8e-4ed5-bdb6-f3d350d6aa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2DA0"/>
    <a:srgbClr val="625D9C"/>
    <a:srgbClr val="01708C"/>
    <a:srgbClr val="A01A74"/>
    <a:srgbClr val="33175A"/>
    <a:srgbClr val="FFB600"/>
    <a:srgbClr val="692146"/>
    <a:srgbClr val="720F11"/>
    <a:srgbClr val="9F2241"/>
    <a:srgbClr val="E2DF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EE5F8D-C288-5DF1-2640-A841B991201A}" v="1" dt="2023-04-11T01:05:11.5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10" autoAdjust="0"/>
    <p:restoredTop sz="94662" autoAdjust="0"/>
  </p:normalViewPr>
  <p:slideViewPr>
    <p:cSldViewPr snapToGrid="0">
      <p:cViewPr varScale="1">
        <p:scale>
          <a:sx n="119" d="100"/>
          <a:sy n="119" d="100"/>
        </p:scale>
        <p:origin x="232" y="240"/>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outlineViewPr>
    <p:cViewPr>
      <p:scale>
        <a:sx n="33" d="100"/>
        <a:sy n="33" d="100"/>
      </p:scale>
      <p:origin x="0" y="132"/>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4.xml"/><Relationship Id="rId9" Type="http://schemas.openxmlformats.org/officeDocument/2006/relationships/slide" Target="slides/slide5.xml"/><Relationship Id="rId12" Type="http://schemas.openxmlformats.org/officeDocument/2006/relationships/slide" Target="slides/slide9.xml"/><Relationship Id="rId13" Type="http://schemas.openxmlformats.org/officeDocument/2006/relationships/slide" Target="slides/slide10.xml"/><Relationship Id="rId16" Type="http://schemas.openxmlformats.org/officeDocument/2006/relationships/slide" Target="slides/slide11.xml"/><Relationship Id="rId18" Type="http://schemas.openxmlformats.org/officeDocument/2006/relationships/slide" Target="slides/slide12.xml"/><Relationship Id="rId23" Type="http://schemas.openxmlformats.org/officeDocument/2006/relationships/slide" Target="slides/slide13.xml"/><Relationship Id="rId27" Type="http://schemas.openxmlformats.org/officeDocument/2006/relationships/slide" Target="slides/slide14.xml"/><Relationship Id="rId32" Type="http://schemas.openxmlformats.org/officeDocument/2006/relationships/slide" Target="slides/slide15.xml"/><Relationship Id="rId34" Type="http://schemas.openxmlformats.org/officeDocument/2006/relationships/slide" Target="slides/slide16.xml"/><Relationship Id="rId38" Type="http://schemas.openxmlformats.org/officeDocument/2006/relationships/slide" Target="slides/slide17.xml"/><Relationship Id="rId40" Type="http://schemas.openxmlformats.org/officeDocument/2006/relationships/slide" Target="slides/slide18.xml"/><Relationship Id="rId42" Type="http://schemas.openxmlformats.org/officeDocument/2006/relationships/slide" Target="slides/slide22.xml"/><Relationship Id="rId45" Type="http://schemas.openxmlformats.org/officeDocument/2006/relationships/slide" Target="slides/slide23.xml"/><Relationship Id="rId47" Type="http://schemas.openxmlformats.org/officeDocument/2006/relationships/slide" Target="slides/slide24.xml"/><Relationship Id="rId53"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7.xml"/><Relationship Id="rId59" Type="http://schemas.openxmlformats.org/officeDocument/2006/relationships/slide" Target="slides/slide28.xml"/><Relationship Id="rId66" Type="http://schemas.openxmlformats.org/officeDocument/2006/relationships/slide" Target="slides/slide29.xml"/><Relationship Id="rId69" Type="http://schemas.openxmlformats.org/officeDocument/2006/relationships/slide" Target="slides/slide30.xml"/><Relationship Id="rId70" Type="http://schemas.openxmlformats.org/officeDocument/2006/relationships/slide" Target="slides/slide31.xml"/><Relationship Id="rId71" Type="http://schemas.openxmlformats.org/officeDocument/2006/relationships/slide" Target="slides/slide33.xml"/><Relationship Id="rId72" Type="http://schemas.openxmlformats.org/officeDocument/2006/relationships/slide" Target="slides/slide34.xml"/><Relationship Id="rId74" Type="http://schemas.openxmlformats.org/officeDocument/2006/relationships/notesMaster" Target="notesMasters/notesMaster1.xml"/><Relationship Id="rId75" Type="http://schemas.openxmlformats.org/officeDocument/2006/relationships/handoutMaster" Target="handoutMasters/handoutMaster1.xml"/><Relationship Id="rId76" Type="http://schemas.openxmlformats.org/officeDocument/2006/relationships/commentAuthors" Target="commentAuthors.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5/10/relationships/revisionInfo" Target="revisionInfo.xml"/><Relationship Id="rId82" Type="http://schemas.microsoft.com/office/2018/10/relationships/authors" Target="authors.xml"/><Relationship Id="rId83" Type="http://schemas.openxmlformats.org/officeDocument/2006/relationships/slide" Target="slides/slide1.xml"/><Relationship Id="rId84" Type="http://schemas.openxmlformats.org/officeDocument/2006/relationships/slide" Target="slides/slide2.xml"/><Relationship Id="rId85" Type="http://schemas.openxmlformats.org/officeDocument/2006/relationships/slide" Target="slides/slide3.xml"/><Relationship Id="rId86" Type="http://schemas.openxmlformats.org/officeDocument/2006/relationships/slide" Target="slides/slide6.xml"/><Relationship Id="rId87" Type="http://schemas.openxmlformats.org/officeDocument/2006/relationships/slide" Target="slides/slide8.xml"/><Relationship Id="rId88" Type="http://schemas.openxmlformats.org/officeDocument/2006/relationships/slide" Target="slides/slide20.xml"/><Relationship Id="rId89" Type="http://schemas.openxmlformats.org/officeDocument/2006/relationships/slide" Target="slides/slide21.xml"/><Relationship Id="rId90" Type="http://schemas.openxmlformats.org/officeDocument/2006/relationships/slide" Target="slides/slide7.xml"/><Relationship Id="rId91" Type="http://schemas.openxmlformats.org/officeDocument/2006/relationships/slide" Target="slides/slide19.xml"/><Relationship Id="rId92" Type="http://schemas.openxmlformats.org/officeDocument/2006/relationships/slide" Target="slides/slide32.xml"/><Relationship Id="rId93" Type="http://schemas.openxmlformats.org/officeDocument/2006/relationships/slide" Target="slides/slide35.xml"/><Relationship Id="rId94" Type="http://schemas.openxmlformats.org/officeDocument/2006/relationships/slide" Target="slides/slide36.xml"/><Relationship Id="rId95" Type="http://schemas.openxmlformats.org/officeDocument/2006/relationships/slide" Target="slides/slide37.xml"/><Relationship Id="rId96" Type="http://schemas.openxmlformats.org/officeDocument/2006/relationships/slide" Target="slides/slide38.xml"/><Relationship Id="rId97" Type="http://schemas.openxmlformats.org/officeDocument/2006/relationships/slide" Target="slides/slide39.xml"/><Relationship Id="rId98"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145" cy="462721"/>
          </a:xfrm>
          <a:prstGeom prst="rect">
            <a:avLst/>
          </a:prstGeom>
        </p:spPr>
        <p:txBody>
          <a:bodyPr vert="horz" lIns="87304" tIns="43652" rIns="87304" bIns="43652" rtlCol="0"/>
          <a:lstStyle>
            <a:lvl1pPr algn="l">
              <a:defRPr sz="1100"/>
            </a:lvl1pPr>
          </a:lstStyle>
          <a:p>
            <a:endParaRPr lang="en-US"/>
          </a:p>
        </p:txBody>
      </p:sp>
      <p:sp>
        <p:nvSpPr>
          <p:cNvPr id="3" name="Date Placeholder 2"/>
          <p:cNvSpPr>
            <a:spLocks noGrp="1"/>
          </p:cNvSpPr>
          <p:nvPr>
            <p:ph type="dt" sz="quarter" idx="1"/>
          </p:nvPr>
        </p:nvSpPr>
        <p:spPr>
          <a:xfrm>
            <a:off x="3970734" y="0"/>
            <a:ext cx="3038145" cy="462721"/>
          </a:xfrm>
          <a:prstGeom prst="rect">
            <a:avLst/>
          </a:prstGeom>
        </p:spPr>
        <p:txBody>
          <a:bodyPr vert="horz" lIns="87304" tIns="43652" rIns="87304" bIns="43652" rtlCol="0"/>
          <a:lstStyle>
            <a:lvl1pPr algn="r">
              <a:defRPr sz="1100"/>
            </a:lvl1pPr>
          </a:lstStyle>
          <a:p>
            <a:fld id="{7CF79C4C-9A95-4F23-B503-12D2C6F00E19}" type="datetimeFigureOut">
              <a:rPr lang="en-US" smtClean="0"/>
              <a:t>9/10/26</a:t>
            </a:fld>
            <a:endParaRPr lang="en-US"/>
          </a:p>
        </p:txBody>
      </p:sp>
      <p:sp>
        <p:nvSpPr>
          <p:cNvPr id="4" name="Footer Placeholder 3"/>
          <p:cNvSpPr>
            <a:spLocks noGrp="1"/>
          </p:cNvSpPr>
          <p:nvPr>
            <p:ph type="ftr" sz="quarter" idx="2"/>
          </p:nvPr>
        </p:nvSpPr>
        <p:spPr>
          <a:xfrm>
            <a:off x="1" y="8773355"/>
            <a:ext cx="3038145" cy="462720"/>
          </a:xfrm>
          <a:prstGeom prst="rect">
            <a:avLst/>
          </a:prstGeom>
        </p:spPr>
        <p:txBody>
          <a:bodyPr vert="horz" lIns="87304" tIns="43652" rIns="87304" bIns="43652" rtlCol="0" anchor="b"/>
          <a:lstStyle>
            <a:lvl1pPr algn="l">
              <a:defRPr sz="1100"/>
            </a:lvl1pPr>
          </a:lstStyle>
          <a:p>
            <a:endParaRPr lang="en-US"/>
          </a:p>
        </p:txBody>
      </p:sp>
      <p:sp>
        <p:nvSpPr>
          <p:cNvPr id="5" name="Slide Number Placeholder 4"/>
          <p:cNvSpPr>
            <a:spLocks noGrp="1"/>
          </p:cNvSpPr>
          <p:nvPr>
            <p:ph type="sldNum" sz="quarter" idx="3"/>
          </p:nvPr>
        </p:nvSpPr>
        <p:spPr>
          <a:xfrm>
            <a:off x="3970734" y="8773355"/>
            <a:ext cx="3038145" cy="462720"/>
          </a:xfrm>
          <a:prstGeom prst="rect">
            <a:avLst/>
          </a:prstGeom>
        </p:spPr>
        <p:txBody>
          <a:bodyPr vert="horz" lIns="87304" tIns="43652" rIns="87304" bIns="43652" rtlCol="0" anchor="b"/>
          <a:lstStyle>
            <a:lvl1pPr algn="r">
              <a:defRPr sz="1100"/>
            </a:lvl1pPr>
          </a:lstStyle>
          <a:p>
            <a:fld id="{9BEDD28F-82A9-4FAE-8C69-E41F27D67B02}" type="slidenum">
              <a:rPr lang="en-US" smtClean="0"/>
              <a:t>‹#›</a:t>
            </a:fld>
            <a:endParaRPr lang="en-US"/>
          </a:p>
        </p:txBody>
      </p:sp>
    </p:spTree>
    <p:extLst>
      <p:ext uri="{BB962C8B-B14F-4D97-AF65-F5344CB8AC3E}">
        <p14:creationId xmlns:p14="http://schemas.microsoft.com/office/powerpoint/2010/main" val="27668477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37840" cy="463407"/>
          </a:xfrm>
          <a:prstGeom prst="rect">
            <a:avLst/>
          </a:prstGeom>
        </p:spPr>
        <p:txBody>
          <a:bodyPr vert="horz" lIns="92290" tIns="46144" rIns="92290" bIns="46144" rtlCol="0"/>
          <a:lstStyle>
            <a:lvl1pPr algn="l">
              <a:defRPr sz="1200"/>
            </a:lvl1pPr>
          </a:lstStyle>
          <a:p>
            <a:endParaRPr lang="en-US"/>
          </a:p>
        </p:txBody>
      </p:sp>
      <p:sp>
        <p:nvSpPr>
          <p:cNvPr id="3" name="Date Placeholder 2"/>
          <p:cNvSpPr>
            <a:spLocks noGrp="1"/>
          </p:cNvSpPr>
          <p:nvPr>
            <p:ph type="dt" idx="1"/>
          </p:nvPr>
        </p:nvSpPr>
        <p:spPr>
          <a:xfrm>
            <a:off x="3970938" y="2"/>
            <a:ext cx="3037840" cy="463407"/>
          </a:xfrm>
          <a:prstGeom prst="rect">
            <a:avLst/>
          </a:prstGeom>
        </p:spPr>
        <p:txBody>
          <a:bodyPr vert="horz" lIns="92290" tIns="46144" rIns="92290" bIns="46144" rtlCol="0"/>
          <a:lstStyle>
            <a:lvl1pPr algn="r">
              <a:defRPr sz="1200"/>
            </a:lvl1pPr>
          </a:lstStyle>
          <a:p>
            <a:fld id="{2BE65169-DB50-4446-8324-0D580DBE95C4}" type="datetimeFigureOut">
              <a:rPr lang="en-US" smtClean="0"/>
              <a:t>9/10/26</a:t>
            </a:fld>
            <a:endParaRPr lang="en-US"/>
          </a:p>
        </p:txBody>
      </p:sp>
      <p:sp>
        <p:nvSpPr>
          <p:cNvPr id="4" name="Slide Image Placeholder 3"/>
          <p:cNvSpPr>
            <a:spLocks noGrp="1" noRot="1" noChangeAspect="1"/>
          </p:cNvSpPr>
          <p:nvPr>
            <p:ph type="sldImg" idx="2"/>
          </p:nvPr>
        </p:nvSpPr>
        <p:spPr>
          <a:xfrm>
            <a:off x="736600" y="1154113"/>
            <a:ext cx="5537200" cy="3116262"/>
          </a:xfrm>
          <a:prstGeom prst="rect">
            <a:avLst/>
          </a:prstGeom>
          <a:noFill/>
          <a:ln w="12700">
            <a:solidFill>
              <a:prstClr val="black"/>
            </a:solidFill>
          </a:ln>
        </p:spPr>
        <p:txBody>
          <a:bodyPr vert="horz" lIns="92290" tIns="46144" rIns="92290" bIns="46144"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290" tIns="46144" rIns="92290" bIns="461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6"/>
          </a:xfrm>
          <a:prstGeom prst="rect">
            <a:avLst/>
          </a:prstGeom>
        </p:spPr>
        <p:txBody>
          <a:bodyPr vert="horz" lIns="92290" tIns="46144" rIns="92290" bIns="4614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6"/>
          </a:xfrm>
          <a:prstGeom prst="rect">
            <a:avLst/>
          </a:prstGeom>
        </p:spPr>
        <p:txBody>
          <a:bodyPr vert="horz" lIns="92290" tIns="46144" rIns="92290" bIns="46144" rtlCol="0" anchor="b"/>
          <a:lstStyle>
            <a:lvl1pPr algn="r">
              <a:defRPr sz="1200"/>
            </a:lvl1pPr>
          </a:lstStyle>
          <a:p>
            <a:fld id="{30DC0D4C-FD52-4CA4-A998-31C73A5A5BDE}" type="slidenum">
              <a:rPr lang="en-US" smtClean="0"/>
              <a:t>‹#›</a:t>
            </a:fld>
            <a:endParaRPr lang="en-US"/>
          </a:p>
        </p:txBody>
      </p:sp>
    </p:spTree>
    <p:extLst>
      <p:ext uri="{BB962C8B-B14F-4D97-AF65-F5344CB8AC3E}">
        <p14:creationId xmlns:p14="http://schemas.microsoft.com/office/powerpoint/2010/main" val="951821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 | WARMUP</a:t>
            </a:r>
          </a:p>
          <a:p xmlns:a="http://schemas.openxmlformats.org/drawingml/2006/main">
            <a:pPr>
              <a:buNone/>
            </a:pPr>
            <a:r>
              <a:rPr lang="en-US" sz="1100"/>
              <a:t>Focus on the existing task: Warm-Up WARM-UP · THINK • TRY • CHECK…</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answers (teacher only): 1) 24   2) 9   3) 9   4) $24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model the two quantities; solve for the requested value; interpret units and contextual constraints. Review recent work and today’s warm-up to choose flexible groups and access supports; do not infer needs from identity or perceived ability. Use the existing lesson tasks and stated standards.</a:t>
            </a:r>
          </a:p>
          <a:p>
            <a:pPr>
              <a:buNone/>
            </a:pPr>
            <a:r>
              <a:rPr lang="en-US" sz="1100"/>
              <a:t>Anticipate: rounding a required count down so that a stated goal is not met. If observed, substitute the proposed result back into the original relationship and check the requirement.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 | NOTES</a:t>
            </a:r>
          </a:p>
          <a:p xmlns:a="http://schemas.openxmlformats.org/drawingml/2006/main">
            <a:pPr>
              <a:buNone/>
            </a:pPr>
            <a:r>
              <a:rPr lang="en-US" sz="1100"/>
              <a:t>Focus on the existing task: Today’s Math Notes Section 1: Math Words…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3 | NOTES</a:t>
            </a:r>
          </a:p>
          <a:p xmlns:a="http://schemas.openxmlformats.org/drawingml/2006/main">
            <a:pPr>
              <a:buNone/>
            </a:pPr>
            <a:r>
              <a:rPr lang="en-US" sz="1100"/>
              <a:t>Focus on the existing task: Today’s Math Notes Section 2: Today’s…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4 | DIVIDER</a:t>
            </a:r>
          </a:p>
          <a:p xmlns:a="http://schemas.openxmlformats.org/drawingml/2006/main">
            <a:pPr>
              <a:buNone/>
            </a:pPr>
            <a:r>
              <a:rPr lang="en-US" sz="1100"/>
              <a:t>Focus on the existing task: Apply Two-Variable Relationships to Solve Problems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5 | WORKED</a:t>
            </a:r>
          </a:p>
          <a:p xmlns:a="http://schemas.openxmlformats.org/drawingml/2006/main">
            <a:pPr>
              <a:buNone/>
            </a:pPr>
            <a:r>
              <a:rPr lang="en-US" sz="1100"/>
              <a:t>Focus on the existing task: More or Less Than… More or Less Than 5</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Number-sense routine — every voice in. Give quiet think time, then hear from at least three students.</a:t>
            </a:r>
          </a:p>
          <a:p>
            <a:r>
              <a:t>Always follow with “How do you know?” — the reasoning is the point, not the answer.</a:t>
            </a:r>
          </a:p>
          <a:p>
            <a:r>
              <a:t>There is more than one path; name and celebrate different strategies.</a:t>
            </a:r>
          </a:p>
          <a:p>
            <a:r>
              <a:t>UIFR: TEACH 3 · TEACH 5 · TEACH 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6 | GOAL</a:t>
            </a:r>
          </a:p>
          <a:p xmlns:a="http://schemas.openxmlformats.org/drawingml/2006/main">
            <a:pPr>
              <a:buNone/>
            </a:pPr>
            <a:r>
              <a:rPr lang="en-US" sz="1100"/>
              <a:t>Focus on the existing task: Today’s Objectives Apply Two-Variable…</a:t>
            </a:r>
          </a:p>
          <a:p xmlns:a="http://schemas.openxmlformats.org/drawingml/2006/main">
            <a:pPr>
              <a:buNone/>
            </a:pPr>
            <a:r>
              <a:rPr lang="en-US" sz="1100"/>
              <a:t>CONNECT (T1/4): Ask students to restate the displayed goal or key idea and connect it to earlier work. Relevant lesson evidence: model the two quantities; solve for the requested value; interpret units and contextual constraints.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Read the objective together, then have one or two students restate today’s goal in their own words.</a:t>
            </a:r>
          </a:p>
          <a:p>
            <a:r>
              <a:t>Connect it to what the class learned last lesson.</a:t>
            </a:r>
          </a:p>
          <a:p>
            <a:r>
              <a:t>Return to this goal at the end of class to check it was met.</a:t>
            </a:r>
          </a:p>
          <a:p>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model the two quantities; solve for the requested value; interpret units and contextual constraints. Ask: “Which part of your work would show this?” Revisit that evidence after the task; a confidence rating alone is not evidence of understanding.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8 | VOCAB</a:t>
            </a:r>
          </a:p>
          <a:p xmlns:a="http://schemas.openxmlformats.org/drawingml/2006/main">
            <a:pPr>
              <a:buNone/>
            </a:pPr>
            <a:r>
              <a:rPr lang="en-US" sz="1100"/>
              <a:t>Focus on the existing task: Vocabulary Today’s Math Words We learn…</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Choral-read each word, its meaning, and what it looks like.</a:t>
            </a:r>
          </a:p>
          <a:p>
            <a:r>
              <a:t>Students should use these words out loud today — listen for them in partner talk and revoice student ideas with the academic term.</a:t>
            </a:r>
          </a:p>
          <a:p>
            <a:r>
              <a:t>UIFR: TEACH 1 · TEACH 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9 | CURIOUS</a:t>
            </a:r>
          </a:p>
          <a:p xmlns:a="http://schemas.openxmlformats.org/drawingml/2006/main">
            <a:pPr>
              <a:buNone/>
            </a:pPr>
            <a:r>
              <a:rPr lang="en-US" sz="1100"/>
              <a:t>Focus on the existing task: Mindset What positive feedback can you give a classmate?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Accept all noticings and wonderings — there are no wrong answers here.</a:t>
            </a:r>
          </a:p>
          <a:p>
            <a:r>
              <a:t>Give 20–30 seconds of quiet think time before taking responses; mix cold and warm calls so it is not always the same voices.</a:t>
            </a:r>
          </a:p>
          <a:p>
            <a:r>
              <a:t>Read the mindset question aloud and let two students respond.</a:t>
            </a:r>
          </a:p>
          <a:p>
            <a:r>
              <a:t>UIFR: TEACH 3 · TEACH 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10 | TASK</a:t>
            </a:r>
          </a:p>
          <a:p xmlns:a="http://schemas.openxmlformats.org/drawingml/2006/main">
            <a:pPr>
              <a:buNone/>
            </a:pPr>
            <a:r>
              <a:rPr lang="en-US" sz="1100"/>
              <a:t>Focus on the existing task: Automobile Manufacturing An assembly line at an automobile manufacturing plant is run in 8-hour shifts and produces 2.5 cars per hour.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Read the context aloud (or have a student read it).</a:t>
            </a:r>
          </a:p>
          <a:p>
            <a:r>
              <a:t>Before any math, students restate the situation and what is being asked in their own words.</a:t>
            </a:r>
          </a:p>
          <a:p>
            <a:r>
              <a:t>Ask: Should the manufacturer accept the order?</a:t>
            </a:r>
          </a:p>
          <a:p>
            <a:r>
              <a:t>UIFR: TEACH 1 ·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“Does your numerical result satisfy the real-world constraint, and what does a partial unit mean here?” Wait for evidence, invite another pathway, and have a student ask a follow-up question. Do not replace students’ reasoning with a sequence of leading steps.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11 | REVEAL</a:t>
            </a:r>
          </a:p>
          <a:p xmlns:a="http://schemas.openxmlformats.org/drawingml/2006/main">
            <a:pPr>
              <a:buNone/>
            </a:pPr>
            <a:r>
              <a:rPr lang="en-US" sz="1100"/>
              <a:t>Focus on the existing task: What information do you need to know to determine whether the manufacturer should accept the order?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We need to know whether the plant can produce 1,000 cars in 3 weeks or less.</a:t>
            </a:r>
          </a:p>
          <a:p>
            <a:r>
              <a:t>UIFR: TEACH 3 · TEACH 4.</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12 | REVEAL</a:t>
            </a:r>
          </a:p>
          <a:p xmlns:a="http://schemas.openxmlformats.org/drawingml/2006/main">
            <a:pPr>
              <a:buNone/>
            </a:pPr>
            <a:r>
              <a:rPr lang="en-US" sz="1100"/>
              <a:t>Focus on the existing task: Automobile Manufacturing Reveal: The number of cars produced depends on the number of hours of operation. Every hour, the plant…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number of cars produced depends on the number of hours of operation. Every hour, the plant produces 2.5 cars.</a:t>
            </a:r>
          </a:p>
          <a:p>
            <a:r>
              <a:t>UIFR: TEACH 3 · TEACH 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13 | REVEAL</a:t>
            </a:r>
          </a:p>
          <a:p xmlns:a="http://schemas.openxmlformats.org/drawingml/2006/main">
            <a:pPr>
              <a:buNone/>
            </a:pPr>
            <a:r>
              <a:rPr lang="en-US" sz="1100"/>
              <a:t>Focus on the existing task: Automobile Manufacturing Reveal: The plant produces 20 cars in an 8-hour shift. What can you say about the number of cars that are produced in each 8-hour shift?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plant produces 20 cars in an 8-hour shift.</a:t>
            </a:r>
          </a:p>
          <a:p>
            <a:r>
              <a:t>UIFR: TEACH 3 · TEACH 4.</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14 | REVEAL</a:t>
            </a:r>
          </a:p>
          <a:p xmlns:a="http://schemas.openxmlformats.org/drawingml/2006/main">
            <a:pPr>
              <a:buNone/>
            </a:pPr>
            <a:r>
              <a:rPr lang="en-US" sz="1100"/>
              <a:t>Focus on the existing task: Automobile Manufacturing Reveal: The total number of cars produced equals the number of cars produced in an hour, 2.5, times the number…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total number of cars produced equals the number of cars produced in an hour, 2.5, times the number of hours.</a:t>
            </a:r>
          </a:p>
          <a:p>
            <a:r>
              <a:t>UIFR: TEACH 3 · TEACH 4.</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15 | REVEAL</a:t>
            </a:r>
          </a:p>
          <a:p xmlns:a="http://schemas.openxmlformats.org/drawingml/2006/main">
            <a:pPr>
              <a:buNone/>
            </a:pPr>
            <a:r>
              <a:rPr lang="en-US" sz="1100"/>
              <a:t>Focus on the existing task: Reveal: We can solve the equation for the number of hours,. How can you determine how long it will take the plant to produce 1,000 cars?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solve for the requested value.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Students should have shared predictions before this reveal.</a:t>
            </a:r>
          </a:p>
          <a:p>
            <a:r>
              <a:t>Have them compare their thinking to what is shown: “Is this the same as what we said? Where is it different?”</a:t>
            </a:r>
          </a:p>
          <a:p>
            <a:r>
              <a:t>Press one student to explain the reveal in their own words.</a:t>
            </a:r>
          </a:p>
          <a:p>
            <a:r>
              <a:t>UIFR: TEACH 3 · TEACH 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16 | REVEAL</a:t>
            </a:r>
          </a:p>
          <a:p xmlns:a="http://schemas.openxmlformats.org/drawingml/2006/main">
            <a:pPr>
              <a:buNone/>
            </a:pPr>
            <a:r>
              <a:rPr lang="en-US" sz="1100"/>
              <a:t>Focus on the existing task: Let’s solve the equation of Automobile Manufacturing What does the solution mean in the context of the situation?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solve for the requested value.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plant will need 400 hours to produce 1,000 cars.</a:t>
            </a:r>
          </a:p>
          <a:p>
            <a:r>
              <a:t>UIFR: TEACH 3 · TEACH 4.</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17 | REVEAL</a:t>
            </a:r>
          </a:p>
          <a:p xmlns:a="http://schemas.openxmlformats.org/drawingml/2006/main">
            <a:pPr>
              <a:buNone/>
            </a:pPr>
            <a:r>
              <a:rPr lang="en-US" sz="1100"/>
              <a:t>Focus on the existing task: Reveal: The plant must operate 24 hours a day, 7 days a week. Let’s convert 400 hours to days and weeks. Automobile Manufacturing It will…</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plant must operate 24 hours a day, 7 days a week.</a:t>
            </a:r>
          </a:p>
          <a:p>
            <a:r>
              <a:t>UIFR: TEACH 3 · TEACH 4.</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18 | PRACTICE</a:t>
            </a:r>
          </a:p>
          <a:p xmlns:a="http://schemas.openxmlformats.org/drawingml/2006/main">
            <a:pPr>
              <a:buNone/>
            </a:pPr>
            <a:r>
              <a:rPr lang="en-US" sz="1100"/>
              <a:t>Focus on the existing task: Let’s Explore More An assembly line at an automobile manufacturing plant is run in 8-hour shifts and produces 2.5 cars per hour.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Extension for partners or table groups — students choose their approach and use the workspace to show thinking.</a:t>
            </a:r>
          </a:p>
          <a:p>
            <a:r>
              <a:t>Push with “Convince me,” and have two groups with different approaches share.</a:t>
            </a:r>
          </a:p>
          <a:p>
            <a:r>
              <a:t>This is where students stretch past the worked example.</a:t>
            </a:r>
          </a:p>
          <a:p>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rounding a required count down so that a stated goal is not met. If it appears, substitute the proposed result back into the original relationship and check the requirement; then ask the student to revise the same response and explain the change. If evidence is secure, have students compare a second valid pathway or state why their approach works. Choose the next step from the responses, not a preset pace.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20 | WARMUP</a:t>
            </a:r>
          </a:p>
          <a:p xmlns:a="http://schemas.openxmlformats.org/drawingml/2006/main">
            <a:pPr>
              <a:buNone/>
            </a:pPr>
            <a:r>
              <a:rPr lang="en-US" sz="1100"/>
              <a:t>Focus on the existing task: Session 2 Warm-Up Session 2 Warm-Up…</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model the two quantities; solve for the requested value; interpret units and contextual constraints. Ask: “Which part of your work would show this?” Revisit that evidence after the task; a confidence rating alone is not evidence of understanding.</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21 | NOTES</a:t>
            </a:r>
          </a:p>
          <a:p xmlns:a="http://schemas.openxmlformats.org/drawingml/2006/main">
            <a:pPr>
              <a:buNone/>
            </a:pPr>
            <a:r>
              <a:rPr lang="en-US" sz="1100"/>
              <a:t>Focus on the existing task: Today’s Math Notes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22 | DIVIDER</a:t>
            </a:r>
          </a:p>
          <a:p xmlns:a="http://schemas.openxmlformats.org/drawingml/2006/main">
            <a:pPr>
              <a:buNone/>
            </a:pPr>
            <a:r>
              <a:rPr lang="en-US" sz="1100"/>
              <a:t>Focus on the existing task: Apply Two-Variable Relationships to Solve Problems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23 | TASK</a:t>
            </a:r>
          </a:p>
          <a:p xmlns:a="http://schemas.openxmlformats.org/drawingml/2006/main">
            <a:pPr>
              <a:buNone/>
            </a:pPr>
            <a:r>
              <a:rPr lang="en-US" sz="1100"/>
              <a:t>Focus on the existing task: Car Wash Fundraiser The student council is organizing a fundraiser car wash as shown. At last year’s car wash, they washed 34 cars and…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Read the context aloud (or have a student read it).</a:t>
            </a:r>
          </a:p>
          <a:p>
            <a:r>
              <a:t>Before any math, students restate the situation and what is being asked in their own words.</a:t>
            </a:r>
          </a:p>
          <a:p>
            <a:r>
              <a:t>Ask: How can the student council be sure they will hit their fundraising goal?</a:t>
            </a:r>
          </a:p>
          <a:p>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“Does your numerical result satisfy the real-world constraint, and what does a partial unit mean here?” Wait for evidence, invite another pathway, and have a student ask a follow-up question. Do not replace students’ reasoning with a sequence of leading steps.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24 | REVEAL</a:t>
            </a:r>
          </a:p>
          <a:p xmlns:a="http://schemas.openxmlformats.org/drawingml/2006/main">
            <a:pPr>
              <a:buNone/>
            </a:pPr>
            <a:r>
              <a:rPr lang="en-US" sz="1100"/>
              <a:t>Focus on the existing task: Reveal: The total amount raised will be the product of the price for each car and the number of cars washed. Car Wash Fundraiser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The total amount raised will be the product of the price for each car and the number of cars washed.</a:t>
            </a:r>
          </a:p>
          <a:p>
            <a:r>
              <a:t>UIFR: TEACH 3 · TEACH 4.</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25 | REVEAL</a:t>
            </a:r>
          </a:p>
          <a:p xmlns:a="http://schemas.openxmlformats.org/drawingml/2006/main">
            <a:pPr>
              <a:buNone/>
            </a:pPr>
            <a:r>
              <a:rPr lang="en-US" sz="1100"/>
              <a:t>Focus on the existing task: The student council will charge $12 for each car washed. Reveal: We can use variables to represent the two quantities, money raised…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We can use variables to represent the two quantities, money raised, and the number of cars washed.</a:t>
            </a:r>
          </a:p>
          <a:p>
            <a:r>
              <a:t>UIFR: TEACH 3 · TEACH 4.</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26 | REVEAL</a:t>
            </a:r>
          </a:p>
          <a:p xmlns:a="http://schemas.openxmlformats.org/drawingml/2006/main">
            <a:pPr>
              <a:buNone/>
            </a:pPr>
            <a:r>
              <a:rPr lang="en-US" sz="1100"/>
              <a:t>Focus on the existing task: Reveal: We can substitute the goal amount, 500, for the amount of money raised, The amount of money raised depends on the number…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Students should have shared predictions before this reveal.</a:t>
            </a:r>
          </a:p>
          <a:p>
            <a:r>
              <a:t>Have them compare their thinking to what is shown: “Is this the same as what we said? Where is it different?”</a:t>
            </a:r>
          </a:p>
          <a:p>
            <a:r>
              <a:t>Press one student to explain the reveal in their own words.</a:t>
            </a:r>
          </a:p>
          <a:p>
            <a:r>
              <a:t>UIFR: TEACH 3 · TEACH 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27 | WORKED</a:t>
            </a:r>
          </a:p>
          <a:p xmlns:a="http://schemas.openxmlformats.org/drawingml/2006/main">
            <a:pPr>
              <a:buNone/>
            </a:pPr>
            <a:r>
              <a:rPr lang="en-US" sz="1100"/>
              <a:t>Focus on the existing task: Substitute the goal amount, $500, for and then solve for the number of cars washed. Car Wash Fundraiser If the student…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solve for the requested value.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Ask the question, then hold the silence — students think or jot before anyone answers.</a:t>
            </a:r>
          </a:p>
          <a:p>
            <a:r>
              <a:t>Take two or three responses and press with “Why?” or “How do you know?” before moving on.</a:t>
            </a:r>
          </a:p>
          <a:p>
            <a:r>
              <a:t>UIFR: TEACH 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28 | REVEAL</a:t>
            </a:r>
          </a:p>
          <a:p xmlns:a="http://schemas.openxmlformats.org/drawingml/2006/main">
            <a:pPr>
              <a:buNone/>
            </a:pPr>
            <a:r>
              <a:rPr lang="en-US" sz="1100"/>
              <a:t>Focus on the existing task: Reveal: One reasonable prediction is 35 cars because it is close to the number of cars washed last year. Let’s look at another way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Do not click yet: collect 2–3 student answers with reasons first.</a:t>
            </a:r>
          </a:p>
          <a:p>
            <a:r>
              <a:t>Then click to remove the cover and have students compare their thinking to the reveal — “Is this what we said? Where is it different?”</a:t>
            </a:r>
          </a:p>
          <a:p>
            <a:r>
              <a:t>Behind the cover: One reasonable prediction is 35 cars because it is close to the number of cars washed last year.</a:t>
            </a:r>
          </a:p>
          <a:p>
            <a:r>
              <a:t>UIFR: TEACH 3 · TEACH 4.</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29 | WORKED</a:t>
            </a:r>
          </a:p>
          <a:p xmlns:a="http://schemas.openxmlformats.org/drawingml/2006/main">
            <a:pPr>
              <a:buNone/>
            </a:pPr>
            <a:r>
              <a:rPr lang="en-US" sz="1100"/>
              <a:t>Focus on the existing task: Let’s substitute the goal amount, $500, for and solve the equation for. Car Wash Fundraiser If the student council expects…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solve for the requested value.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30 | TASK</a:t>
            </a:r>
          </a:p>
          <a:p xmlns:a="http://schemas.openxmlformats.org/drawingml/2006/main">
            <a:pPr>
              <a:buNone/>
            </a:pPr>
            <a:r>
              <a:rPr lang="en-US" sz="1100"/>
              <a:t>Focus on the existing task: The student council can set a price per car to determine how many cars they will need to wash, or they can predict how many cars they will…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Apply task — students try it independently first, then partners compare answers and reasoning.</a:t>
            </a:r>
          </a:p>
          <a:p>
            <a:r>
              <a:t>Collect a quick pulse (thumbs or whiteboards) before the close; this tells you who needs a second look tomorrow.</a:t>
            </a:r>
          </a:p>
          <a:p>
            <a:r>
              <a:t>UIFR: TEACH 2 · TEACH 4.</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31 | PRACTICE</a:t>
            </a:r>
          </a:p>
          <a:p xmlns:a="http://schemas.openxmlformats.org/drawingml/2006/main">
            <a:pPr>
              <a:buNone/>
            </a:pPr>
            <a:r>
              <a:rPr lang="en-US" sz="1100"/>
              <a:t>Focus on the existing task: Let’s Explore More Would you recommend that the student council charge $12 or $14.30 per car?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model the two quantities.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Extension for partners or table groups — students choose their approach and use the workspace to show thinking.</a:t>
            </a:r>
          </a:p>
          <a:p>
            <a:r>
              <a:t>Push with “Convince me,” and have two groups with different approaches share.</a:t>
            </a:r>
          </a:p>
          <a:p>
            <a:r>
              <a:t>This is where students stretch past the worked example.</a:t>
            </a:r>
          </a:p>
          <a:p>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rounding a required count down so that a stated goal is not met. If it appears, substitute the proposed result back into the original relationship and check the requirement; then ask the student to revise the same response and explain the change. If evidence is secure, have students compare a second valid pathway or state why their approach works. Choose the next step from the responses, not a preset pace.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33 | SUMMARIZE</a:t>
            </a:r>
          </a:p>
          <a:p xmlns:a="http://schemas.openxmlformats.org/drawingml/2006/main">
            <a:pPr>
              <a:buNone/>
            </a:pPr>
            <a:r>
              <a:rPr lang="en-US" sz="1100"/>
              <a:t>Focus on the existing task: Equation Table Graph Equation Table Graph Summarize: Solve Problems Involving Two Quantities You can solve problems involving two…</a:t>
            </a:r>
          </a:p>
          <a:p xmlns:a="http://schemas.openxmlformats.org/drawingml/2006/main">
            <a:pPr>
              <a:buNone/>
            </a:pPr>
            <a:r>
              <a:rPr lang="en-US" sz="1100"/>
              <a:t>CONNECT (T1/4): Ask students to restate the displayed goal or key idea and connect it to earlier work. Relevant lesson evidence: model the two quantities; solve for the requested value; interpret units and contextual constraints.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9.4, slide 34 | APPLY</a:t>
            </a:r>
          </a:p>
          <a:p xmlns:a="http://schemas.openxmlformats.org/drawingml/2006/main">
            <a:pPr>
              <a:buNone/>
            </a:pPr>
            <a:r>
              <a:rPr lang="en-US" sz="1100"/>
              <a:t>Focus on the existing task: Apply: Choosing Cupcakes Yelina is comparing the costs of having cupcakes delivered from two different bakeries. Yelina has a budget…</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solve for the requested value. Ask which feature of their work supports the claim.</a:t>
            </a:r>
          </a:p>
          <a:p xmlns:a="http://schemas.openxmlformats.org/drawingml/2006/main">
            <a:pPr>
              <a:buNone/>
            </a:pPr>
            <a:r>
              <a:rPr lang="en-US" sz="1100"/>
              <a:t>RESPOND: If this task shows the lesson misconception—rounding a required count down so that a stated goal is not met—substitute the proposed result back into the original relationship and check the requirement.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model the two quantities; solve for the requested value; interpret units and contextual constraints. Respond with one specific next step tied to the work. Students revise and annotate what changed, then identify a criterion they can now demonstrate and one they still need to practice.</a:t>
            </a:r>
          </a:p>
          <a:p>
            <a:pPr>
              <a:buNone/>
            </a:pPr>
            <a:r>
              <a:rPr lang="en-US" sz="1100"/>
              <a:t>REFLECT &amp; ADJUST 1-2 | After the lesson (UIFR PDF pp. 15-16).</a:t>
            </a:r>
          </a:p>
          <a:p>
            <a:pPr>
              <a:buNone/>
            </a:pPr>
            <a:r>
              <a:rPr lang="en-US" sz="1100"/>
              <a:t>Sort the existing work by demonstrated reasoning, partial understanding, and the specific misconception: rounding a required count down so that a stated goal is not met.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substitute the proposed result back into the original relationship and check the requirement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9.4, slide 7 | PRIOR_INSERT</a:t>
            </a:r>
          </a:p>
          <a:p xmlns:a="http://schemas.openxmlformats.org/drawingml/2006/main">
            <a:pPr>
              <a:buNone/>
            </a:pPr>
            <a:r>
              <a:rPr lang="en-US" sz="1100"/>
              <a:t>Focus on the existing task: LESSON 9.4 / OUR LEARNING What will show your learning?</a:t>
            </a:r>
          </a:p>
          <a:p xmlns:a="http://schemas.openxmlformats.org/drawingml/2006/main">
            <a:pPr>
              <a:buNone/>
            </a:pPr>
            <a:r>
              <a:rPr lang="en-US" sz="1100"/>
              <a:t>CONNECT (T1/4): Ask students to restate the displayed goal or key idea and connect it to earlier work. Relevant lesson evidence: model the two quantities; solve for the requested value; interpret units and contextual constraints.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9.4, slide 19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model the two quantities; solve for the requested value; interpret units and contextual constraints.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9.4, slide 32 | PRIOR_INSERT</a:t>
            </a:r>
          </a:p>
          <a:p xmlns:a="http://schemas.openxmlformats.org/drawingml/2006/main">
            <a:pPr>
              <a:buNone/>
            </a:pPr>
            <a:r>
              <a:rPr lang="en-US" sz="1100"/>
              <a:t>Focus on the existing task: LESSON 9.4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model the two quantities; solve for the requested value; interpret units and contextual constraints.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9.4, slide 35 | PRIOR_INSERT</a:t>
            </a:r>
          </a:p>
          <a:p xmlns:a="http://schemas.openxmlformats.org/drawingml/2006/main">
            <a:pPr>
              <a:buNone/>
            </a:pPr>
            <a:r>
              <a:rPr lang="en-US" sz="1100"/>
              <a:t>Focus on the existing task: LESSON 9.4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model the two quantities; solve for the requested value; interpret units and contextual constraints.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837024"/>
      </p:ext>
    </p:extLst>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column">
    <p:spTree>
      <p:nvGrpSpPr>
        <p:cNvPr id="1" name=""/>
        <p:cNvGrpSpPr/>
        <p:nvPr/>
      </p:nvGrpSpPr>
      <p:grpSpPr>
        <a:xfrm>
          <a:off x="0" y="0"/>
          <a:ext cx="0" cy="0"/>
          <a:chOff x="0" y="0"/>
          <a:chExt cx="0" cy="0"/>
        </a:xfrm>
      </p:grpSpPr>
      <p:sp>
        <p:nvSpPr>
          <p:cNvPr id="10" name="Slide Number Placeholder 5"/>
          <p:cNvSpPr>
            <a:spLocks noGrp="1"/>
          </p:cNvSpPr>
          <p:nvPr>
            <p:ph type="sldNum" sz="quarter" idx="4"/>
          </p:nvPr>
        </p:nvSpPr>
        <p:spPr>
          <a:xfrm>
            <a:off x="10436045" y="6528815"/>
            <a:ext cx="1278151" cy="228600"/>
          </a:xfrm>
          <a:prstGeom prst="rect">
            <a:avLst/>
          </a:prstGeom>
        </p:spPr>
        <p:txBody>
          <a:bodyPr vert="horz" lIns="91440" tIns="45720" rIns="91440" bIns="45720" rtlCol="0" anchor="ctr"/>
          <a:lstStyle>
            <a:lvl1pPr algn="r">
              <a:defRPr sz="900">
                <a:solidFill>
                  <a:schemeClr val="tx2"/>
                </a:solidFill>
              </a:defRPr>
            </a:lvl1pPr>
          </a:lstStyle>
          <a:p>
            <a:fld id="{40BFEAB2-FD83-41F2-9787-AD5D1A1760CD}" type="slidenum">
              <a:rPr lang="en-US" smtClean="0"/>
              <a:pPr/>
              <a:t>‹#›</a:t>
            </a:fld>
            <a:endParaRPr lang="en-US"/>
          </a:p>
        </p:txBody>
      </p:sp>
      <p:sp>
        <p:nvSpPr>
          <p:cNvPr id="7" name="Footer Placeholder 9">
            <a:extLst>
              <a:ext uri="{FF2B5EF4-FFF2-40B4-BE49-F238E27FC236}">
                <a16:creationId xmlns:a16="http://schemas.microsoft.com/office/drawing/2014/main" id="{A6B10B21-A22D-4973-9F22-3C85C87DD1D6}"/>
              </a:ext>
            </a:extLst>
          </p:cNvPr>
          <p:cNvSpPr txBox="1">
            <a:spLocks/>
          </p:cNvSpPr>
          <p:nvPr userDrawn="1"/>
        </p:nvSpPr>
        <p:spPr>
          <a:xfrm>
            <a:off x="490549" y="6528816"/>
            <a:ext cx="20726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 xml:space="preserve">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8" name="Footer Placeholder 4">
            <a:extLst>
              <a:ext uri="{FF2B5EF4-FFF2-40B4-BE49-F238E27FC236}">
                <a16:creationId xmlns:a16="http://schemas.microsoft.com/office/drawing/2014/main" id="{A64EDF15-04D6-4FE5-B900-301ADC58C14E}"/>
              </a:ext>
            </a:extLst>
          </p:cNvPr>
          <p:cNvSpPr>
            <a:spLocks noGrp="1"/>
          </p:cNvSpPr>
          <p:nvPr>
            <p:ph type="ftr" sz="quarter" idx="3"/>
          </p:nvPr>
        </p:nvSpPr>
        <p:spPr>
          <a:xfrm>
            <a:off x="1402828" y="6528816"/>
            <a:ext cx="7315200" cy="228600"/>
          </a:xfrm>
          <a:prstGeom prst="rect">
            <a:avLst/>
          </a:prstGeom>
        </p:spPr>
        <p:txBody>
          <a:bodyPr vert="horz" lIns="91440" tIns="45720" rIns="91440" bIns="45720" rtlCol="0" anchor="ctr"/>
          <a:lstStyle>
            <a:lvl1pPr algn="l">
              <a:defRPr sz="900">
                <a:solidFill>
                  <a:schemeClr val="tx2"/>
                </a:solidFill>
              </a:defRPr>
            </a:lvl1pPr>
          </a:lstStyle>
          <a:p>
            <a:r>
              <a:rPr lang="en-US"/>
              <a:t>Update Footer Text in Insert Tab's Header &amp; Footer [Title Case]</a:t>
            </a:r>
          </a:p>
        </p:txBody>
      </p:sp>
    </p:spTree>
    <p:extLst>
      <p:ext uri="{BB962C8B-B14F-4D97-AF65-F5344CB8AC3E}">
        <p14:creationId xmlns:p14="http://schemas.microsoft.com/office/powerpoint/2010/main" val="3464801227"/>
      </p:ext>
    </p:extLst>
  </p:cSld>
  <p:clrMapOvr>
    <a:masterClrMapping/>
  </p:clrMapOvr>
  <p:extLst>
    <p:ext uri="{DCECCB84-F9BA-43D5-87BE-67443E8EF086}">
      <p15:sldGuideLst xmlns:p15="http://schemas.microsoft.com/office/powerpoint/2012/main">
        <p15:guide id="1" orient="horz" pos="3772" userDrawn="1">
          <p15:clr>
            <a:srgbClr val="FBAE40"/>
          </p15:clr>
        </p15:guide>
        <p15:guide id="2" orient="horz" pos="804" userDrawn="1">
          <p15:clr>
            <a:srgbClr val="FBAE40"/>
          </p15:clr>
        </p15:guide>
        <p15:guide id="3" pos="384" userDrawn="1">
          <p15:clr>
            <a:srgbClr val="FBAE40"/>
          </p15:clr>
        </p15:guide>
        <p15:guide id="4" pos="3940" userDrawn="1">
          <p15:clr>
            <a:srgbClr val="FBAE40"/>
          </p15:clr>
        </p15:guide>
        <p15:guide id="5" pos="40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dirty="0"/>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587595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272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5459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64206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79635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29116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6017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055708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570880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05071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076149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326893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509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263928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634721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226862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1242550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445038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0689460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8887245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15079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2853199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0527797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1235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4674835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094146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9436950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5995195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438299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1894492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8654444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9721422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0291485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9/10/26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9277562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3.xml"/><Relationship Id="rId1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theme" Target="../theme/theme4.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CC7E3B-3826-A747-907B-434CD0AB1B6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141884" y="0"/>
            <a:ext cx="10030237" cy="1640714"/>
          </a:xfrm>
          <a:prstGeom prst="rect">
            <a:avLst/>
          </a:prstGeom>
        </p:spPr>
      </p:pic>
      <p:sp>
        <p:nvSpPr>
          <p:cNvPr id="9" name="Footer Placeholder 4">
            <a:extLst>
              <a:ext uri="{FF2B5EF4-FFF2-40B4-BE49-F238E27FC236}">
                <a16:creationId xmlns:a16="http://schemas.microsoft.com/office/drawing/2014/main" id="{7B87EEFC-3D04-9C41-873A-79E3F696160C}"/>
              </a:ext>
            </a:extLst>
          </p:cNvPr>
          <p:cNvSpPr txBox="1">
            <a:spLocks/>
          </p:cNvSpPr>
          <p:nvPr userDrawn="1"/>
        </p:nvSpPr>
        <p:spPr>
          <a:xfrm>
            <a:off x="1402828" y="6528816"/>
            <a:ext cx="6270960" cy="2286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McGraw Hill</a:t>
            </a:r>
          </a:p>
        </p:txBody>
      </p:sp>
      <p:pic>
        <p:nvPicPr>
          <p:cNvPr id="12" name="Picture 11">
            <a:extLst>
              <a:ext uri="{FF2B5EF4-FFF2-40B4-BE49-F238E27FC236}">
                <a16:creationId xmlns:a16="http://schemas.microsoft.com/office/drawing/2014/main" id="{0A3C2FB6-2066-4943-A3E2-2DA7B26280D4}"/>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92908" y="5619163"/>
            <a:ext cx="654674" cy="654674"/>
          </a:xfrm>
          <a:prstGeom prst="rect">
            <a:avLst/>
          </a:prstGeom>
        </p:spPr>
      </p:pic>
      <p:cxnSp>
        <p:nvCxnSpPr>
          <p:cNvPr id="13" name="Straight Connector 12">
            <a:extLst>
              <a:ext uri="{FF2B5EF4-FFF2-40B4-BE49-F238E27FC236}">
                <a16:creationId xmlns:a16="http://schemas.microsoft.com/office/drawing/2014/main" id="{8E3B969C-3783-264E-8850-A53199584177}"/>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0C52BA41-91DC-FA49-8FBB-46C6C1B93FAD}"/>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spTree>
    <p:extLst>
      <p:ext uri="{BB962C8B-B14F-4D97-AF65-F5344CB8AC3E}">
        <p14:creationId xmlns:p14="http://schemas.microsoft.com/office/powerpoint/2010/main" val="1502882778"/>
      </p:ext>
    </p:extLst>
  </p:cSld>
  <p:clrMap bg1="lt1" tx1="dk1" bg2="lt2" tx2="dk2" accent1="accent1" accent2="accent2" accent3="accent3" accent4="accent4" accent5="accent5" accent6="accent6" hlink="hlink" folHlink="folHlink"/>
  <p:sldLayoutIdLst>
    <p:sldLayoutId id="2147483680" r:id="rId1"/>
    <p:sldLayoutId id="2147483665"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5" pos="3840">
          <p15:clr>
            <a:srgbClr val="F26B43"/>
          </p15:clr>
        </p15:guide>
        <p15:guide id="6" pos="384">
          <p15:clr>
            <a:srgbClr val="F26B43"/>
          </p15:clr>
        </p15:guide>
        <p15:guide id="7" pos="7296">
          <p15:clr>
            <a:srgbClr val="F26B43"/>
          </p15:clr>
        </p15:guide>
        <p15:guide id="9" orient="horz" pos="4211">
          <p15:clr>
            <a:srgbClr val="F26B43"/>
          </p15:clr>
        </p15:guide>
        <p15:guide id="10" pos="1120">
          <p15:clr>
            <a:srgbClr val="F26B43"/>
          </p15:clr>
        </p15:guide>
        <p15:guide id="11"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 xml:space="preserve">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9" name="Footer Placeholder 9">
            <a:extLst>
              <a:ext uri="{FF2B5EF4-FFF2-40B4-BE49-F238E27FC236}">
                <a16:creationId xmlns:a16="http://schemas.microsoft.com/office/drawing/2014/main" id="{0FFCF478-E46E-474C-A6F6-E53E48F9103D}"/>
              </a:ext>
            </a:extLst>
          </p:cNvPr>
          <p:cNvSpPr txBox="1">
            <a:spLocks/>
          </p:cNvSpPr>
          <p:nvPr userDrawn="1"/>
        </p:nvSpPr>
        <p:spPr>
          <a:xfrm>
            <a:off x="1385464" y="6528815"/>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defTabSz="914400" rtl="0" eaLnBrk="1" latinLnBrk="0" hangingPunct="1"/>
            <a:r>
              <a:rPr lang="en-US" sz="900" b="0" kern="1200" dirty="0">
                <a:solidFill>
                  <a:schemeClr val="tx2"/>
                </a:solidFill>
                <a:latin typeface="Arial" panose="020B0604020202020204" pitchFamily="34" charset="0"/>
                <a:ea typeface="+mn-ea"/>
                <a:cs typeface="Arial" panose="020B0604020202020204" pitchFamily="34" charset="0"/>
              </a:rPr>
              <a:t>Apply Two-Variable Relationships to Solve Problems</a:t>
            </a: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1795604345"/>
      </p:ext>
    </p:extLst>
  </p:cSld>
  <p:clrMap bg1="lt1" tx1="dk1" bg2="lt2" tx2="dk2" accent1="accent1" accent2="accent2" accent3="accent3" accent4="accent4" accent5="accent5" accent6="accent6" hlink="hlink" folHlink="folHlink"/>
  <p:sldLayoutIdLst>
    <p:sldLayoutId id="2147483718"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 xml:space="preserve">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9" name="Footer Placeholder 9">
            <a:extLst>
              <a:ext uri="{FF2B5EF4-FFF2-40B4-BE49-F238E27FC236}">
                <a16:creationId xmlns:a16="http://schemas.microsoft.com/office/drawing/2014/main" id="{0FFCF478-E46E-474C-A6F6-E53E48F9103D}"/>
              </a:ext>
            </a:extLst>
          </p:cNvPr>
          <p:cNvSpPr txBox="1">
            <a:spLocks/>
          </p:cNvSpPr>
          <p:nvPr userDrawn="1"/>
        </p:nvSpPr>
        <p:spPr>
          <a:xfrm>
            <a:off x="1385464" y="6528815"/>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defTabSz="914400" rtl="0" eaLnBrk="1" latinLnBrk="0" hangingPunct="1"/>
            <a:r>
              <a:rPr lang="en-US" sz="900" b="0" kern="1200" dirty="0">
                <a:solidFill>
                  <a:schemeClr val="tx2"/>
                </a:solidFill>
                <a:latin typeface="Arial" panose="020B0604020202020204" pitchFamily="34" charset="0"/>
                <a:ea typeface="+mn-ea"/>
                <a:cs typeface="Arial" panose="020B0604020202020204" pitchFamily="34" charset="0"/>
              </a:rPr>
              <a:t>Apply Two-Variable Relationships to Solve Problems</a:t>
            </a: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290833073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dirty="0">
                <a:solidFill>
                  <a:schemeClr val="tx2"/>
                </a:solidFill>
                <a:latin typeface="Arial" panose="020B0604020202020204" pitchFamily="34" charset="0"/>
                <a:cs typeface="Arial" panose="020B0604020202020204" pitchFamily="34" charset="0"/>
              </a:rPr>
              <a:t xml:space="preserve">McGraw Hill   </a:t>
            </a:r>
            <a:endParaRPr lang="en-US" sz="900" dirty="0">
              <a:solidFill>
                <a:schemeClr val="tx2"/>
              </a:solidFill>
              <a:latin typeface="Arial" panose="020B0604020202020204" pitchFamily="34" charset="0"/>
              <a:cs typeface="Arial" panose="020B0604020202020204" pitchFamily="34" charset="0"/>
            </a:endParaRP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9643700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5.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6.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15.png"/><Relationship Id="rId8"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1.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8.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8.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9.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11.png"/><Relationship Id="rId8" Type="http://schemas.openxmlformats.org/officeDocument/2006/relationships/image" Target="../media/image66.png"/><Relationship Id="rId9"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38.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7.png"/><Relationship Id="rId3" Type="http://schemas.openxmlformats.org/officeDocument/2006/relationships/image" Target="../media/image610.png"/><Relationship Id="rId4" Type="http://schemas.openxmlformats.org/officeDocument/2006/relationships/image" Target="../media/image42.png"/><Relationship Id="rId5" Type="http://schemas.openxmlformats.org/officeDocument/2006/relationships/image" Target="../media/image69.png"/><Relationship Id="rId6"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8.png"/><Relationship Id="rId3"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9-4 · Apply Two-Variable Relationships to Solve Problems   |   Warm-Up · about 4 minutes</a:t>
            </a:r>
          </a:p>
        </p:txBody>
      </p:sp>
      <p:sp>
        <p:nvSpPr>
          <p:cNvPr id="26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5"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6"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9"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y = 4x. When x = 6, y = ______</a:t>
            </a:r>
          </a:p>
        </p:txBody>
      </p:sp>
      <p:sp>
        <p:nvSpPr>
          <p:cNvPr id="270"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3"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5x = 45, so x = ______</a:t>
            </a:r>
          </a:p>
        </p:txBody>
      </p:sp>
      <p:sp>
        <p:nvSpPr>
          <p:cNvPr id="274"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7"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1.5 × 6 = ______</a:t>
            </a:r>
          </a:p>
        </p:txBody>
      </p:sp>
      <p:sp>
        <p:nvSpPr>
          <p:cNvPr id="278"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81"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Muffins cost $3 each. 8 muffins cost $______</a:t>
            </a:r>
          </a:p>
        </p:txBody>
      </p:sp>
      <p:sp>
        <p:nvSpPr>
          <p:cNvPr id="282"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3"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5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4" name="Google Shape;48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9-4 · Apply Two-Variable Relationships to Solve Problems</a:t>
            </a:r>
            <a:endParaRPr/>
          </a:p>
        </p:txBody>
      </p:sp>
      <p:sp>
        <p:nvSpPr>
          <p:cNvPr id="485" name="Google Shape;48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7" name="Google Shape;487;p5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88" name="Google Shape;488;p5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90" name="Google Shape;490;p5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3" name="Google Shape;493;p5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equation</a:t>
            </a:r>
            <a:endParaRPr/>
          </a:p>
        </p:txBody>
      </p:sp>
      <p:sp>
        <p:nvSpPr>
          <p:cNvPr id="494" name="Google Shape;494;p5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mathematical sentence with an equals sign</a:t>
            </a:r>
            <a:endParaRPr/>
          </a:p>
        </p:txBody>
      </p:sp>
      <p:sp>
        <p:nvSpPr>
          <p:cNvPr id="495" name="Google Shape;495;p5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98" name="Google Shape;498;p5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substitute</a:t>
            </a:r>
            <a:endParaRPr/>
          </a:p>
        </p:txBody>
      </p:sp>
      <p:sp>
        <p:nvSpPr>
          <p:cNvPr id="499" name="Google Shape;499;p5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To replace a </a:t>
            </a:r>
            <a:r>
              <a:rPr b="1" i="0" lang="en-US" sz="1450" u="none" cap="none" strike="noStrike">
                <a:solidFill>
                  <a:srgbClr val="475569"/>
                </a:solidFill>
                <a:latin typeface="Arial"/>
                <a:ea typeface="Arial"/>
                <a:cs typeface="Arial"/>
                <a:sym typeface="Arial"/>
              </a:rPr>
              <a:t xml:space="preserve">variable</a:t>
            </a:r>
            <a:r>
              <a:rPr b="0" i="0" lang="en-US" sz="1450" u="none" cap="none" strike="noStrike">
                <a:solidFill>
                  <a:srgbClr val="475569"/>
                </a:solidFill>
                <a:latin typeface="Arial"/>
                <a:ea typeface="Arial"/>
                <a:cs typeface="Arial"/>
                <a:sym typeface="Arial"/>
              </a:rPr>
              <a:t xml:space="preserve"> with a value you know</a:t>
            </a:r>
            <a:endParaRPr/>
          </a:p>
        </p:txBody>
      </p:sp>
      <p:sp>
        <p:nvSpPr>
          <p:cNvPr id="500" name="Google Shape;500;p5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3" name="Google Shape;503;p5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solution</a:t>
            </a:r>
            <a:endParaRPr/>
          </a:p>
        </p:txBody>
      </p:sp>
      <p:sp>
        <p:nvSpPr>
          <p:cNvPr id="504" name="Google Shape;504;p5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value that makes the </a:t>
            </a:r>
            <a:r>
              <a:rPr b="1" i="0" lang="en-US" sz="1450" u="none" cap="none" strike="noStrike">
                <a:solidFill>
                  <a:srgbClr val="475569"/>
                </a:solidFill>
                <a:latin typeface="Arial"/>
                <a:ea typeface="Arial"/>
                <a:cs typeface="Arial"/>
                <a:sym typeface="Arial"/>
              </a:rPr>
              <a:t xml:space="preserve">equation</a:t>
            </a:r>
            <a:r>
              <a:rPr b="0" i="0" lang="en-US" sz="1450" u="none" cap="none" strike="noStrike">
                <a:solidFill>
                  <a:srgbClr val="475569"/>
                </a:solidFill>
                <a:latin typeface="Arial"/>
                <a:ea typeface="Arial"/>
                <a:cs typeface="Arial"/>
                <a:sym typeface="Arial"/>
              </a:rPr>
              <a:t xml:space="preserve"> true</a:t>
            </a:r>
            <a:endParaRPr/>
          </a:p>
        </p:txBody>
      </p:sp>
      <p:sp>
        <p:nvSpPr>
          <p:cNvPr id="50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40</a:t>
            </a:r>
          </a:p>
        </p:txBody>
      </p:sp>
      <p:grpSp>
        <p:nvGrpSpPr>
          <p:cNvPr id="506" name="TEACH-1-student-move" descr="TEACH 1 · Facilitate clear, standards-based content learning"/>
          <p:cNvGrpSpPr/>
          <p:nvPr/>
        </p:nvGrpSpPr>
        <p:grpSpPr>
          <a:xfrm>
            <a:off x="6187440" y="1682496"/>
            <a:ext cx="5501640" cy="594360"/>
            <a:chOff x="6187440" y="1682496"/>
            <a:chExt cx="5501640" cy="594360"/>
          </a:xfrm>
        </p:grpSpPr>
        <p:sp>
          <p:nvSpPr>
            <p:cNvPr id="50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0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12" name="Google Shape;512;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9-4 · Apply Two-Variable Relationships to Solve Problems</a:t>
            </a:r>
            <a:endParaRPr/>
          </a:p>
        </p:txBody>
      </p:sp>
      <p:sp>
        <p:nvSpPr>
          <p:cNvPr id="513" name="Google Shape;513;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5" name="Google Shape;515;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16" name="Google Shape;516;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18" name="Google Shape;518;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Solving Problems with Two Variables</a:t>
            </a:r>
            <a:endParaRPr/>
          </a:p>
        </p:txBody>
      </p:sp>
      <p:sp>
        <p:nvSpPr>
          <p:cNvPr id="520" name="Google Shape;520;p52"/>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y = kx</a:t>
            </a:r>
            <a:endParaRPr/>
          </a:p>
        </p:txBody>
      </p:sp>
      <p:sp>
        <p:nvSpPr>
          <p:cNvPr id="522" name="Google Shape;522;p52"/>
          <p:cNvSpPr/>
          <p:nvPr/>
        </p:nvSpPr>
        <p:spPr>
          <a:xfrm>
            <a:off x="466344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2"/>
          <p:cNvSpPr txBox="1"/>
          <p:nvPr/>
        </p:nvSpPr>
        <p:spPr>
          <a:xfrm>
            <a:off x="4791455"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1550" u="none" cap="none" strike="noStrike">
                <a:solidFill>
                  <a:srgbClr val="C2410C"/>
                </a:solidFill>
                <a:latin typeface="Arial"/>
                <a:ea typeface="Arial"/>
                <a:cs typeface="Arial"/>
                <a:sym typeface="Arial"/>
              </a:rPr>
              <a:t>Substitute what you know → solve for what you don’t</a:t>
            </a:r>
            <a:endParaRPr/>
          </a:p>
        </p:txBody>
      </p:sp>
      <p:sp>
        <p:nvSpPr>
          <p:cNvPr id="524" name="Google Shape;524;p52"/>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2"/>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6" name="Google Shape;526;p52"/>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Define the </a:t>
            </a:r>
            <a:r>
              <a:rPr b="1" i="0" lang="en-US" sz="1600" u="none" cap="none" strike="noStrike">
                <a:solidFill>
                  <a:srgbClr val="14223A"/>
                </a:solidFill>
                <a:latin typeface="Arial"/>
                <a:ea typeface="Arial"/>
                <a:cs typeface="Arial"/>
                <a:sym typeface="Arial"/>
              </a:rPr>
              <a:t xml:space="preserve">variables</a:t>
            </a:r>
            <a:r>
              <a:rPr b="0" i="0" lang="en-US" sz="1600" u="none" cap="none" strike="noStrike">
                <a:solidFill>
                  <a:srgbClr val="14223A"/>
                </a:solidFill>
                <a:latin typeface="Arial"/>
                <a:ea typeface="Arial"/>
                <a:cs typeface="Arial"/>
                <a:sym typeface="Arial"/>
              </a:rPr>
              <a:t xml:space="preserve"> and write the </a:t>
            </a:r>
            <a:r>
              <a:rPr b="1" i="0" lang="en-US" sz="1600" u="none" cap="none" strike="noStrike">
                <a:solidFill>
                  <a:srgbClr val="14223A"/>
                </a:solidFill>
                <a:latin typeface="Arial"/>
                <a:ea typeface="Arial"/>
                <a:cs typeface="Arial"/>
                <a:sym typeface="Arial"/>
              </a:rPr>
              <a:t xml:space="preserve">equation</a:t>
            </a:r>
            <a:endParaRPr/>
          </a:p>
        </p:txBody>
      </p:sp>
      <p:sp>
        <p:nvSpPr>
          <p:cNvPr id="527" name="Google Shape;527;p52"/>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2"/>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9" name="Google Shape;529;p52"/>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Substitute</a:t>
            </a:r>
            <a:r>
              <a:rPr b="0" i="0" lang="en-US" sz="1600" u="none" cap="none" strike="noStrike">
                <a:solidFill>
                  <a:srgbClr val="14223A"/>
                </a:solidFill>
                <a:latin typeface="Arial"/>
                <a:ea typeface="Arial"/>
                <a:cs typeface="Arial"/>
                <a:sym typeface="Arial"/>
              </a:rPr>
              <a:t xml:space="preserve"> the value you already know</a:t>
            </a:r>
            <a:endParaRPr/>
          </a:p>
        </p:txBody>
      </p:sp>
      <p:sp>
        <p:nvSpPr>
          <p:cNvPr id="530" name="Google Shape;530;p52"/>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2"/>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32" name="Google Shape;532;p52"/>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Solve for the unknown, then check it against the situation: </a:t>
            </a:r>
            <a:r>
              <a:rPr b="0" i="0" lang="en-US" sz="1600" u="none" cap="none" strike="noStrike">
                <a:solidFill>
                  <a:srgbClr val="14223A"/>
                </a:solidFill>
                <a:latin typeface="Arial"/>
                <a:ea typeface="Arial"/>
                <a:cs typeface="Arial"/>
                <a:sym typeface="Arial"/>
              </a:rPr>
              <a:t>does the answer make sense?</a:t>
            </a:r>
            <a:endParaRPr/>
          </a:p>
        </p:txBody>
      </p:sp>
      <p:sp>
        <p:nvSpPr>
          <p:cNvPr id="5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40</a:t>
            </a:r>
          </a:p>
        </p:txBody>
      </p:sp>
      <p:grpSp>
        <p:nvGrpSpPr>
          <p:cNvPr id="534" name="TEACH-1-student-move" descr="TEACH 1 · Facilitate clear, standards-based content learning"/>
          <p:cNvGrpSpPr/>
          <p:nvPr/>
        </p:nvGrpSpPr>
        <p:grpSpPr>
          <a:xfrm>
            <a:off x="6187440" y="1682496"/>
            <a:ext cx="5501640" cy="594360"/>
            <a:chOff x="6187440" y="1682496"/>
            <a:chExt cx="5501640" cy="594360"/>
          </a:xfrm>
        </p:grpSpPr>
        <p:sp>
          <p:nvSpPr>
            <p:cNvPr id="53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3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3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7B29969-56BF-6D41-A9E2-22306CDCAC18}"/>
              </a:ext>
            </a:extLst>
          </p:cNvPr>
          <p:cNvSpPr txBox="1">
            <a:spLocks/>
          </p:cNvSpPr>
          <p:nvPr/>
        </p:nvSpPr>
        <p:spPr>
          <a:xfrm>
            <a:off x="1402828" y="2453950"/>
            <a:ext cx="8935791" cy="2176463"/>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defRPr/>
            </a:pPr>
            <a:r>
              <a:rPr lang="en-US" sz="3600" b="1" dirty="0">
                <a:solidFill>
                  <a:schemeClr val="tx1"/>
                </a:solidFill>
                <a:latin typeface="Arial" panose="020B0604020202020204" pitchFamily="34" charset="0"/>
                <a:cs typeface="Arial" panose="020B0604020202020204" pitchFamily="34" charset="0"/>
              </a:rPr>
              <a:t>Apply Two-Variable Relationships to Solve Problems</a:t>
            </a:r>
          </a:p>
        </p:txBody>
      </p:sp>
      <p:sp>
        <p:nvSpPr>
          <p:cNvPr id="3" name="Rectangle 2">
            <a:extLst>
              <a:ext uri="{FF2B5EF4-FFF2-40B4-BE49-F238E27FC236}">
                <a16:creationId xmlns:a16="http://schemas.microsoft.com/office/drawing/2014/main" id="{D47C5C07-DC6A-A94F-98F8-AB4A0C53596F}"/>
              </a:ext>
            </a:extLst>
          </p:cNvPr>
          <p:cNvSpPr/>
          <p:nvPr/>
        </p:nvSpPr>
        <p:spPr>
          <a:xfrm>
            <a:off x="1402828" y="1037162"/>
            <a:ext cx="1763624" cy="523220"/>
          </a:xfrm>
          <a:prstGeom prst="rect">
            <a:avLst/>
          </a:prstGeom>
        </p:spPr>
        <p:txBody>
          <a:bodyPr wrap="square">
            <a:spAutoFit/>
          </a:bodyPr>
          <a:lstStyle/>
          <a:p>
            <a:pPr>
              <a:defRPr/>
            </a:pPr>
            <a:r>
              <a:rPr lang="en-US" sz="2800" dirty="0">
                <a:solidFill>
                  <a:srgbClr val="782DA0"/>
                </a:solidFill>
                <a:latin typeface="Arial" panose="020B0604020202020204" pitchFamily="34" charset="0"/>
                <a:cs typeface="Arial" panose="020B0604020202020204" pitchFamily="34" charset="0"/>
              </a:rPr>
              <a:t>Session 1</a:t>
            </a:r>
            <a:endParaRPr lang="en-US" sz="2800" b="1" dirty="0">
              <a:solidFill>
                <a:srgbClr val="782DA0"/>
              </a:solidFill>
            </a:endParaRPr>
          </a:p>
        </p:txBody>
      </p:sp>
      <p:cxnSp>
        <p:nvCxnSpPr>
          <p:cNvPr id="5" name="Straight Connector 4">
            <a:extLst>
              <a:ext uri="{FF2B5EF4-FFF2-40B4-BE49-F238E27FC236}">
                <a16:creationId xmlns:a16="http://schemas.microsoft.com/office/drawing/2014/main" id="{A2C235B8-3689-62C7-3E1A-7C82A61D30E4}"/>
              </a:ext>
            </a:extLst>
          </p:cNvPr>
          <p:cNvCxnSpPr>
            <a:cxnSpLocks/>
          </p:cNvCxnSpPr>
          <p:nvPr/>
        </p:nvCxnSpPr>
        <p:spPr>
          <a:xfrm>
            <a:off x="-1" y="1560382"/>
            <a:ext cx="3166453" cy="0"/>
          </a:xfrm>
          <a:prstGeom prst="line">
            <a:avLst/>
          </a:prstGeom>
          <a:ln>
            <a:solidFill>
              <a:srgbClr val="782DA0"/>
            </a:solidFill>
          </a:ln>
        </p:spPr>
        <p:style>
          <a:lnRef idx="3">
            <a:schemeClr val="accent4"/>
          </a:lnRef>
          <a:fillRef idx="0">
            <a:schemeClr val="accent4"/>
          </a:fillRef>
          <a:effectRef idx="2">
            <a:schemeClr val="accent4"/>
          </a:effectRef>
          <a:fontRef idx="minor">
            <a:schemeClr val="tx1"/>
          </a:fontRef>
        </p:style>
      </p:cxnSp>
      <p:sp>
        <p:nvSpPr>
          <p:cNvPr id="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40</a:t>
            </a:r>
          </a:p>
        </p:txBody>
      </p:sp>
      <p:grpSp>
        <p:nvGrpSpPr>
          <p:cNvPr id="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1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extLst>
      <p:ext uri="{BB962C8B-B14F-4D97-AF65-F5344CB8AC3E}">
        <p14:creationId xmlns:p14="http://schemas.microsoft.com/office/powerpoint/2010/main" val="4186062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486000" y="316800"/>
            <a:ext cx="4671105"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dirty="0">
                <a:solidFill>
                  <a:srgbClr val="782DA0"/>
                </a:solidFill>
                <a:latin typeface="Arial" panose="020B0604020202020204" pitchFamily="34" charset="0"/>
                <a:cs typeface="Arial" panose="020B0604020202020204" pitchFamily="34" charset="0"/>
              </a:rPr>
              <a:t>More or Less Than…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03E6B60-7091-4101-F50F-409DDCA05F7A}"/>
                  </a:ext>
                </a:extLst>
              </p:cNvPr>
              <p:cNvSpPr txBox="1"/>
              <p:nvPr/>
            </p:nvSpPr>
            <p:spPr>
              <a:xfrm>
                <a:off x="486000" y="2475826"/>
                <a:ext cx="1697642" cy="523220"/>
              </a:xfrm>
              <a:prstGeom prst="rect">
                <a:avLst/>
              </a:prstGeom>
              <a:noFill/>
            </p:spPr>
            <p:txBody>
              <a:bodyPr wrap="square" rtlCol="0">
                <a:spAutoFit/>
              </a:bodyPr>
              <a:lstStyle/>
              <a:p>
                <a:pPr/>
                <a14:m>
                  <m:oMathPara xmlns:m="http://schemas.openxmlformats.org/officeDocument/2006/math">
                    <m:oMathParaPr>
                      <m:jc m:val="left"/>
                    </m:oMathParaPr>
                    <m:oMath>
                      <m:r>
                        <m:rPr>
                          <m:nor/>
                        </m:rPr>
                        <a:rPr lang="en-IN" sz="2800" i="0">
                          <a:latin typeface="Cambria Math" pitchFamily="18" charset="0"/>
                          <a:ea typeface="Cambria Math" pitchFamily="18" charset="0"/>
                        </a:rPr>
                        <m:t>7.</m:t>
                      </m:r>
                      <m:r>
                        <m:rPr>
                          <m:nor/>
                        </m:rPr>
                        <a:rPr lang="en-US" sz="2800" b="0" i="0" smtClean="0">
                          <a:latin typeface="Cambria Math" pitchFamily="18" charset="0"/>
                          <a:ea typeface="Cambria Math" pitchFamily="18" charset="0"/>
                        </a:rPr>
                        <m:t>3</m:t>
                      </m:r>
                      <m:r>
                        <m:rPr>
                          <m:nor/>
                        </m:rPr>
                        <a:rPr lang="en-IN" sz="2800" i="0">
                          <a:latin typeface="Cambria Math" pitchFamily="18" charset="0"/>
                          <a:ea typeface="Cambria Math" pitchFamily="18" charset="0"/>
                        </a:rPr>
                        <m:t>8</m:t>
                      </m:r>
                      <m:r>
                        <a:rPr lang="en-IN" sz="2800" i="1" smtClean="0">
                          <a:latin typeface="Cambria Math" pitchFamily="18" charset="0"/>
                          <a:ea typeface="Cambria Math" pitchFamily="18" charset="0"/>
                        </a:rPr>
                        <m:t>÷</m:t>
                      </m:r>
                      <m:r>
                        <m:rPr>
                          <m:nor/>
                        </m:rPr>
                        <a:rPr lang="en-US" sz="2800" b="0" i="0" smtClean="0">
                          <a:latin typeface="Cambria Math" pitchFamily="18" charset="0"/>
                          <a:ea typeface="Cambria Math" pitchFamily="18" charset="0"/>
                        </a:rPr>
                        <m:t>2</m:t>
                      </m:r>
                    </m:oMath>
                  </m:oMathPara>
                </a14:m>
                <a:endParaRPr lang="en-IN" sz="2800" dirty="0">
                  <a:latin typeface="Cambria Math" pitchFamily="18" charset="0"/>
                  <a:ea typeface="Cambria Math" pitchFamily="18" charset="0"/>
                </a:endParaRPr>
              </a:p>
            </p:txBody>
          </p:sp>
        </mc:Choice>
        <mc:Fallback xmlns="">
          <p:sp>
            <p:nvSpPr>
              <p:cNvPr id="17" name="TextBox 9">
                <a:extLst>
                  <a:ext uri="{FF2B5EF4-FFF2-40B4-BE49-F238E27FC236}">
                    <a16:creationId xmlns:a16="http://schemas.microsoft.com/office/drawing/2014/main" xmlns="" xmlns:a14="http://schemas.microsoft.com/office/drawing/2010/main" id="{703E6B60-7091-4101-F50F-409DDCA05F7A}"/>
                  </a:ext>
                </a:extLst>
              </p:cNvPr>
              <p:cNvSpPr txBox="1">
                <a:spLocks noRot="1" noChangeAspect="1" noMove="1" noResize="1" noEditPoints="1" noAdjustHandles="1" noChangeArrowheads="1" noChangeShapeType="1" noTextEdit="1"/>
              </p:cNvSpPr>
              <p:nvPr/>
            </p:nvSpPr>
            <p:spPr>
              <a:xfrm>
                <a:off x="486000" y="2475826"/>
                <a:ext cx="1697642" cy="523220"/>
              </a:xfrm>
              <a:prstGeom prst="rect">
                <a:avLst/>
              </a:prstGeom>
              <a:blipFill rotWithShape="1">
                <a:blip r:embed="rId2"/>
                <a:stretch>
                  <a:fillRect t="-11628"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9FF246F-F7BA-C3AC-6ED3-D61CF1ABBA34}"/>
                  </a:ext>
                </a:extLst>
              </p:cNvPr>
              <p:cNvSpPr txBox="1"/>
              <p:nvPr/>
            </p:nvSpPr>
            <p:spPr>
              <a:xfrm>
                <a:off x="3661746" y="2475826"/>
                <a:ext cx="1647234" cy="523220"/>
              </a:xfrm>
              <a:prstGeom prst="rect">
                <a:avLst/>
              </a:prstGeom>
              <a:noFill/>
            </p:spPr>
            <p:txBody>
              <a:bodyPr wrap="square" rtlCol="0">
                <a:spAutoFit/>
              </a:bodyPr>
              <a:lstStyle/>
              <a:p>
                <a:pPr/>
                <a14:m>
                  <m:oMathPara xmlns:m="http://schemas.openxmlformats.org/officeDocument/2006/math">
                    <m:oMathParaPr>
                      <m:jc m:val="left"/>
                    </m:oMathParaPr>
                    <m:oMath>
                      <m:r>
                        <a:rPr lang="en-US" sz="2800" i="1" dirty="0" smtClean="0">
                          <a:latin typeface="Cambria Math" pitchFamily="18" charset="0"/>
                          <a:ea typeface="Cambria Math" pitchFamily="18" charset="0"/>
                        </a:rPr>
                        <m:t>1</m:t>
                      </m:r>
                      <m:r>
                        <a:rPr lang="en-US" sz="2800" b="0" i="1" dirty="0" smtClean="0">
                          <a:latin typeface="Cambria Math" pitchFamily="18" charset="0"/>
                          <a:ea typeface="Cambria Math" pitchFamily="18" charset="0"/>
                        </a:rPr>
                        <m:t>2</m:t>
                      </m:r>
                      <m:r>
                        <m:rPr>
                          <m:nor/>
                        </m:rPr>
                        <a:rPr lang="en-IN" sz="2800" i="0">
                          <a:latin typeface="Cambria Math" pitchFamily="18" charset="0"/>
                          <a:ea typeface="Cambria Math" pitchFamily="18" charset="0"/>
                        </a:rPr>
                        <m:t>.</m:t>
                      </m:r>
                      <m:r>
                        <m:rPr>
                          <m:nor/>
                        </m:rPr>
                        <a:rPr lang="en-US" sz="2800" b="0" i="0" smtClean="0">
                          <a:latin typeface="Cambria Math" pitchFamily="18" charset="0"/>
                          <a:ea typeface="Cambria Math" pitchFamily="18" charset="0"/>
                        </a:rPr>
                        <m:t>07</m:t>
                      </m:r>
                      <m:r>
                        <m:rPr>
                          <m:nor/>
                        </m:rPr>
                        <a:rPr lang="en-IN" sz="2800" i="0">
                          <a:latin typeface="Cambria Math" pitchFamily="18" charset="0"/>
                          <a:ea typeface="Cambria Math" pitchFamily="18" charset="0"/>
                        </a:rPr>
                        <m:t>×</m:t>
                      </m:r>
                      <m:r>
                        <m:rPr>
                          <m:nor/>
                        </m:rPr>
                        <a:rPr lang="en-US" sz="2800" b="0" i="0" smtClean="0">
                          <a:latin typeface="Cambria Math" pitchFamily="18" charset="0"/>
                          <a:ea typeface="Cambria Math" pitchFamily="18" charset="0"/>
                        </a:rPr>
                        <m:t>0.3</m:t>
                      </m:r>
                    </m:oMath>
                  </m:oMathPara>
                </a14:m>
                <a:endParaRPr lang="en-IN" sz="2800" dirty="0">
                  <a:latin typeface="Cambria Math" pitchFamily="18" charset="0"/>
                  <a:ea typeface="Cambria Math" pitchFamily="18" charset="0"/>
                </a:endParaRPr>
              </a:p>
            </p:txBody>
          </p:sp>
        </mc:Choice>
        <mc:Fallback xmlns="">
          <p:sp>
            <p:nvSpPr>
              <p:cNvPr id="18" name="TextBox 10">
                <a:extLst>
                  <a:ext uri="{FF2B5EF4-FFF2-40B4-BE49-F238E27FC236}">
                    <a16:creationId xmlns:a16="http://schemas.microsoft.com/office/drawing/2014/main" xmlns:a14="http://schemas.microsoft.com/office/drawing/2010/main" xmlns="" id="{D9FF246F-F7BA-C3AC-6ED3-D61CF1ABBA34}"/>
                  </a:ext>
                </a:extLst>
              </p:cNvPr>
              <p:cNvSpPr txBox="1">
                <a:spLocks noRot="1" noChangeAspect="1" noMove="1" noResize="1" noEditPoints="1" noAdjustHandles="1" noChangeArrowheads="1" noChangeShapeType="1" noTextEdit="1"/>
              </p:cNvSpPr>
              <p:nvPr/>
            </p:nvSpPr>
            <p:spPr>
              <a:xfrm>
                <a:off x="3661746" y="2475826"/>
                <a:ext cx="1647234" cy="523220"/>
              </a:xfrm>
              <a:prstGeom prst="rect">
                <a:avLst/>
              </a:prstGeom>
              <a:blipFill rotWithShape="1">
                <a:blip r:embed="rId3"/>
                <a:stretch>
                  <a:fillRect t="-11628" r="-19259"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157C38C-C793-9AFF-834F-749432F02FEF}"/>
                  </a:ext>
                </a:extLst>
              </p:cNvPr>
              <p:cNvSpPr txBox="1"/>
              <p:nvPr/>
            </p:nvSpPr>
            <p:spPr>
              <a:xfrm>
                <a:off x="6534289" y="2475826"/>
                <a:ext cx="2118391" cy="523220"/>
              </a:xfrm>
              <a:prstGeom prst="rect">
                <a:avLst/>
              </a:prstGeom>
              <a:noFill/>
            </p:spPr>
            <p:txBody>
              <a:bodyPr wrap="square" rtlCol="0">
                <a:spAutoFit/>
              </a:bodyPr>
              <a:lstStyle/>
              <a:p>
                <a:pPr/>
                <a14:m>
                  <m:oMathPara xmlns:m="http://schemas.openxmlformats.org/officeDocument/2006/math">
                    <m:oMathParaPr>
                      <m:jc m:val="left"/>
                    </m:oMathParaPr>
                    <m:oMath>
                      <m:r>
                        <m:rPr>
                          <m:nor/>
                        </m:rPr>
                        <a:rPr lang="en-IN" sz="2800" i="0">
                          <a:latin typeface="Cambria Math" pitchFamily="18" charset="0"/>
                          <a:ea typeface="Cambria Math" pitchFamily="18" charset="0"/>
                        </a:rPr>
                        <m:t>2</m:t>
                      </m:r>
                      <m:r>
                        <m:rPr>
                          <m:nor/>
                        </m:rPr>
                        <a:rPr lang="en-US" sz="2800" b="0" i="0" smtClean="0">
                          <a:latin typeface="Cambria Math" pitchFamily="18" charset="0"/>
                          <a:ea typeface="Cambria Math" pitchFamily="18" charset="0"/>
                        </a:rPr>
                        <m:t>2</m:t>
                      </m:r>
                      <m:r>
                        <m:rPr>
                          <m:nor/>
                        </m:rPr>
                        <a:rPr lang="en-IN" sz="2800" i="0">
                          <a:latin typeface="Cambria Math" pitchFamily="18" charset="0"/>
                          <a:ea typeface="Cambria Math" pitchFamily="18" charset="0"/>
                        </a:rPr>
                        <m:t>.7</m:t>
                      </m:r>
                      <m:r>
                        <a:rPr lang="en-IN" sz="2800" i="1">
                          <a:latin typeface="Cambria Math" pitchFamily="18" charset="0"/>
                          <a:ea typeface="Cambria Math" pitchFamily="18" charset="0"/>
                        </a:rPr>
                        <m:t>÷</m:t>
                      </m:r>
                      <m:r>
                        <m:rPr>
                          <m:nor/>
                        </m:rPr>
                        <a:rPr lang="en-US" sz="2800" b="0" i="0" smtClean="0">
                          <a:latin typeface="Cambria Math" pitchFamily="18" charset="0"/>
                          <a:ea typeface="Cambria Math" pitchFamily="18" charset="0"/>
                        </a:rPr>
                        <m:t>4.0</m:t>
                      </m:r>
                      <m:r>
                        <m:rPr>
                          <m:nor/>
                        </m:rPr>
                        <a:rPr lang="en-IN" sz="2800" i="0">
                          <a:latin typeface="Cambria Math" pitchFamily="18" charset="0"/>
                          <a:ea typeface="Cambria Math" pitchFamily="18" charset="0"/>
                        </a:rPr>
                        <m:t>8</m:t>
                      </m:r>
                    </m:oMath>
                  </m:oMathPara>
                </a14:m>
                <a:endParaRPr lang="en-IN" sz="2800" dirty="0">
                  <a:latin typeface="Cambria Math" pitchFamily="18" charset="0"/>
                  <a:ea typeface="Cambria Math" pitchFamily="18" charset="0"/>
                </a:endParaRPr>
              </a:p>
            </p:txBody>
          </p:sp>
        </mc:Choice>
        <mc:Fallback xmlns="">
          <p:sp>
            <p:nvSpPr>
              <p:cNvPr id="19" name="TextBox 3">
                <a:extLst>
                  <a:ext uri="{FF2B5EF4-FFF2-40B4-BE49-F238E27FC236}">
                    <a16:creationId xmlns:a16="http://schemas.microsoft.com/office/drawing/2014/main" xmlns:a14="http://schemas.microsoft.com/office/drawing/2010/main" xmlns="" id="{3157C38C-C793-9AFF-834F-749432F02FEF}"/>
                  </a:ext>
                </a:extLst>
              </p:cNvPr>
              <p:cNvSpPr txBox="1">
                <a:spLocks noRot="1" noChangeAspect="1" noMove="1" noResize="1" noEditPoints="1" noAdjustHandles="1" noChangeArrowheads="1" noChangeShapeType="1" noTextEdit="1"/>
              </p:cNvSpPr>
              <p:nvPr/>
            </p:nvSpPr>
            <p:spPr>
              <a:xfrm>
                <a:off x="6534289" y="2475826"/>
                <a:ext cx="2118391" cy="523220"/>
              </a:xfrm>
              <a:prstGeom prst="rect">
                <a:avLst/>
              </a:prstGeom>
              <a:blipFill rotWithShape="1">
                <a:blip r:embed="rId4"/>
                <a:stretch>
                  <a:fillRect t="-11628" r="-865" b="-31395"/>
                </a:stretch>
              </a:blipFill>
            </p:spPr>
            <p:txBody>
              <a:bodyPr/>
              <a:lstStyle/>
              <a:p>
                <a:r>
                  <a:rPr lang="en-IN">
                    <a:noFill/>
                  </a:rPr>
                  <a:t> </a:t>
                </a:r>
              </a:p>
            </p:txBody>
          </p:sp>
        </mc:Fallback>
      </mc:AlternateContent>
      <p:sp>
        <p:nvSpPr>
          <p:cNvPr id="2" name="Rectangle 1"/>
          <p:cNvSpPr/>
          <p:nvPr/>
        </p:nvSpPr>
        <p:spPr>
          <a:xfrm>
            <a:off x="486000" y="1371169"/>
            <a:ext cx="3498009" cy="523220"/>
          </a:xfrm>
          <a:prstGeom prst="rect">
            <a:avLst/>
          </a:prstGeom>
        </p:spPr>
        <p:txBody>
          <a:bodyPr wrap="square">
            <a:spAutoFit/>
          </a:bodyPr>
          <a:lstStyle/>
          <a:p>
            <a:r>
              <a:rPr lang="en-US" sz="2800" dirty="0">
                <a:latin typeface="Arial" pitchFamily="34" charset="0"/>
                <a:cs typeface="Arial" pitchFamily="34" charset="0"/>
              </a:rPr>
              <a:t>More or Less Than 5</a:t>
            </a:r>
            <a:endParaRPr lang="en-IN" sz="2800" dirty="0">
              <a:latin typeface="Arial" pitchFamily="34" charset="0"/>
              <a:cs typeface="Arial" pitchFamily="34" charset="0"/>
            </a:endParaRPr>
          </a:p>
        </p:txBody>
      </p:sp>
      <p:sp>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40</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extLst>
      <p:ext uri="{BB962C8B-B14F-4D97-AF65-F5344CB8AC3E}">
        <p14:creationId xmlns:p14="http://schemas.microsoft.com/office/powerpoint/2010/main" val="2196779354"/>
      </p:ext>
    </p:extLst>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40" name="Google Shape;340;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9-4 · Apply Two-Variable Relationships to Solve Problems</a:t>
            </a:r>
            <a:endParaRPr/>
          </a:p>
        </p:txBody>
      </p:sp>
      <p:sp>
        <p:nvSpPr>
          <p:cNvPr id="341" name="Google Shape;341;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3" name="Google Shape;343;p44"/>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Apply Two-Variable Relationships to Solve Problems</a:t>
            </a:r>
            <a:endParaRPr/>
          </a:p>
        </p:txBody>
      </p:sp>
      <p:sp>
        <p:nvSpPr>
          <p:cNvPr id="344" name="Google Shape;344;p44"/>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6.AT.11</a:t>
            </a:r>
            <a:endParaRPr/>
          </a:p>
        </p:txBody>
      </p:sp>
      <p:sp>
        <p:nvSpPr>
          <p:cNvPr id="345" name="Google Shape;345;p44"/>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4"/>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8" name="Google Shape;348;p44"/>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9" name="Google Shape;349;p44"/>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write an equation to represent the relationship between two quantities and use it to solve a problem.</a:t>
            </a:r>
            <a:endParaRPr/>
          </a:p>
        </p:txBody>
      </p:sp>
      <p:sp>
        <p:nvSpPr>
          <p:cNvPr id="350" name="Google Shape;350;p44"/>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4"/>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44"/>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3" name="Google Shape;353;p44"/>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4" name="Google Shape;354;p44"/>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define my variables and justify my answer using the words equation, variable, substitute, and solution.</a:t>
            </a:r>
            <a:endParaRPr/>
          </a:p>
        </p:txBody>
      </p:sp>
      <p:sp>
        <p:nvSpPr>
          <p:cNvPr id="3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Model the two quantities.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Solve for the requested value.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units and contextual constraints.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2" name="Google Shape;362;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9-4 · Apply Two-Variable Relationships to Solve Problems</a:t>
            </a:r>
            <a:endParaRPr/>
          </a:p>
        </p:txBody>
      </p:sp>
      <p:sp>
        <p:nvSpPr>
          <p:cNvPr id="363" name="Google Shape;363;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5" name="Google Shape;365;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6" name="Google Shape;366;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7" name="Google Shape;367;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equation</a:t>
            </a:r>
            <a:endParaRPr/>
          </a:p>
        </p:txBody>
      </p:sp>
      <p:sp>
        <p:nvSpPr>
          <p:cNvPr id="370" name="Google Shape;370;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mathematical sentence with an equals sign that shows two amounts are the same</a:t>
            </a:r>
            <a:endParaRPr/>
          </a:p>
        </p:txBody>
      </p:sp>
      <p:sp>
        <p:nvSpPr>
          <p:cNvPr id="371" name="Google Shape;371;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variable</a:t>
            </a:r>
            <a:endParaRPr/>
          </a:p>
        </p:txBody>
      </p:sp>
      <p:sp>
        <p:nvSpPr>
          <p:cNvPr id="374" name="Google Shape;374;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letter that represents a quantity that can change, or vary</a:t>
            </a:r>
            <a:endParaRPr/>
          </a:p>
        </p:txBody>
      </p:sp>
      <p:sp>
        <p:nvSpPr>
          <p:cNvPr id="375" name="Google Shape;375;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substitute</a:t>
            </a:r>
            <a:endParaRPr/>
          </a:p>
        </p:txBody>
      </p:sp>
      <p:sp>
        <p:nvSpPr>
          <p:cNvPr id="378" name="Google Shape;378;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To replace a variable with a value you already know</a:t>
            </a:r>
            <a:endParaRPr/>
          </a:p>
        </p:txBody>
      </p:sp>
      <p:sp>
        <p:nvSpPr>
          <p:cNvPr id="379" name="Google Shape;379;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solution</a:t>
            </a:r>
            <a:endParaRPr/>
          </a:p>
        </p:txBody>
      </p:sp>
      <p:sp>
        <p:nvSpPr>
          <p:cNvPr id="382" name="Google Shape;382;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value of the variable that makes the equation true</a:t>
            </a:r>
            <a:endParaRPr/>
          </a:p>
        </p:txBody>
      </p:sp>
      <p:sp>
        <p:nvSpPr>
          <p:cNvPr id="383" name="Google Shape;383;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rate</a:t>
            </a:r>
            <a:endParaRPr/>
          </a:p>
        </p:txBody>
      </p:sp>
      <p:sp>
        <p:nvSpPr>
          <p:cNvPr id="386" name="Google Shape;386;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fixed amount of one quantity for every one unit of the other quantity</a:t>
            </a:r>
            <a:endParaRPr/>
          </a:p>
        </p:txBody>
      </p:sp>
      <p:sp>
        <p:nvSpPr>
          <p:cNvPr id="3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40</a:t>
            </a:r>
          </a:p>
        </p:txBody>
      </p:sp>
      <p:sp xmlns:p="http://schemas.openxmlformats.org/presentationml/2006/main" xmlns:a="http://schemas.openxmlformats.org/drawingml/2006/main">
        <p:nvSpPr>
          <p:cNvPr id="388"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7D5613F4-FB4C-1F45-AAFB-1545734B22E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9052" y="5027952"/>
            <a:ext cx="5054600" cy="838200"/>
          </a:xfrm>
          <a:prstGeom prst="rect">
            <a:avLst/>
          </a:prstGeom>
        </p:spPr>
      </p:pic>
      <p:sp>
        <p:nvSpPr>
          <p:cNvPr id="9" name="Content Placeholder 2">
            <a:extLst>
              <a:ext uri="{FF2B5EF4-FFF2-40B4-BE49-F238E27FC236}">
                <a16:creationId xmlns:a16="http://schemas.microsoft.com/office/drawing/2014/main" id="{8F0DFAC3-E460-5A4F-8A60-E09473DF8320}"/>
              </a:ext>
            </a:extLst>
          </p:cNvPr>
          <p:cNvSpPr txBox="1">
            <a:spLocks/>
          </p:cNvSpPr>
          <p:nvPr/>
        </p:nvSpPr>
        <p:spPr>
          <a:xfrm>
            <a:off x="3174308" y="5185562"/>
            <a:ext cx="2194584" cy="52297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anose="020B0604020202020204" pitchFamily="34" charset="0"/>
                <a:cs typeface="Arial" panose="020B0604020202020204" pitchFamily="34" charset="0"/>
              </a:rPr>
              <a:t>Mindset</a:t>
            </a:r>
          </a:p>
        </p:txBody>
      </p:sp>
      <p:sp>
        <p:nvSpPr>
          <p:cNvPr id="5" name="Rectangle 4"/>
          <p:cNvSpPr/>
          <p:nvPr/>
        </p:nvSpPr>
        <p:spPr>
          <a:xfrm>
            <a:off x="484560" y="5817565"/>
            <a:ext cx="7665881" cy="492443"/>
          </a:xfrm>
          <a:prstGeom prst="rect">
            <a:avLst/>
          </a:prstGeom>
        </p:spPr>
        <p:txBody>
          <a:bodyPr wrap="square">
            <a:spAutoFit/>
          </a:bodyPr>
          <a:lstStyle/>
          <a:p>
            <a:pPr>
              <a:defRPr/>
            </a:pPr>
            <a:r>
              <a:rPr lang="en-US" sz="2600" dirty="0">
                <a:solidFill>
                  <a:schemeClr val="tx1">
                    <a:lumMod val="65000"/>
                    <a:lumOff val="35000"/>
                  </a:schemeClr>
                </a:solidFill>
                <a:latin typeface="Arial" pitchFamily="34" charset="0"/>
                <a:cs typeface="Arial" pitchFamily="34" charset="0"/>
              </a:rPr>
              <a:t>What positive feedback can you give a classmate?</a:t>
            </a:r>
            <a:endParaRPr lang="en-IN" sz="2600" dirty="0">
              <a:solidFill>
                <a:schemeClr val="tx1">
                  <a:lumMod val="65000"/>
                  <a:lumOff val="35000"/>
                </a:schemeClr>
              </a:solidFill>
              <a:latin typeface="Arial" pitchFamily="34" charset="0"/>
              <a:cs typeface="Arial" pitchFamily="34" charset="0"/>
            </a:endParaRPr>
          </a:p>
        </p:txBody>
      </p:sp>
      <p:pic>
        <p:nvPicPr>
          <p:cNvPr id="6" name="Picture 2" descr="C:\Users\HP\Desktop\G6 U9\OPS\img\.assets\c6fb3d5776ef403ebb138526fb220a9b\narm24_c10904_se_001a-dig.pn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5328" y="2125217"/>
            <a:ext cx="2705100" cy="27051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885853" y="1451123"/>
            <a:ext cx="444352" cy="523220"/>
          </a:xfrm>
          <a:prstGeom prst="rect">
            <a:avLst/>
          </a:prstGeom>
        </p:spPr>
        <p:txBody>
          <a:bodyPr wrap="square">
            <a:spAutoFit/>
          </a:bodyPr>
          <a:lstStyle/>
          <a:p>
            <a:pPr>
              <a:defRPr/>
            </a:pPr>
            <a:r>
              <a:rPr lang="en-IN" sz="2800" b="1" dirty="0">
                <a:latin typeface="Arial" pitchFamily="34" charset="0"/>
                <a:cs typeface="Arial" pitchFamily="34" charset="0"/>
              </a:rPr>
              <a:t>A</a:t>
            </a:r>
            <a:endParaRPr lang="en-IN" sz="2800" dirty="0">
              <a:latin typeface="Arial" pitchFamily="34" charset="0"/>
              <a:cs typeface="Arial" pitchFamily="34" charset="0"/>
            </a:endParaRPr>
          </a:p>
        </p:txBody>
      </p:sp>
      <p:sp>
        <p:nvSpPr>
          <p:cNvPr id="10" name="Rectangle 9"/>
          <p:cNvSpPr/>
          <p:nvPr/>
        </p:nvSpPr>
        <p:spPr>
          <a:xfrm>
            <a:off x="8256513" y="1451123"/>
            <a:ext cx="444352" cy="523220"/>
          </a:xfrm>
          <a:prstGeom prst="rect">
            <a:avLst/>
          </a:prstGeom>
        </p:spPr>
        <p:txBody>
          <a:bodyPr wrap="square">
            <a:spAutoFit/>
          </a:bodyPr>
          <a:lstStyle/>
          <a:p>
            <a:pPr>
              <a:defRPr/>
            </a:pPr>
            <a:r>
              <a:rPr lang="en-US" sz="2800" b="1" dirty="0">
                <a:latin typeface="Arial" pitchFamily="34" charset="0"/>
                <a:cs typeface="Arial" pitchFamily="34" charset="0"/>
              </a:rPr>
              <a:t>B</a:t>
            </a:r>
            <a:endParaRPr lang="en-IN" sz="2800" dirty="0">
              <a:latin typeface="Arial" pitchFamily="34" charset="0"/>
              <a:cs typeface="Arial" pitchFamily="34" charset="0"/>
            </a:endParaRPr>
          </a:p>
        </p:txBody>
      </p:sp>
      <p:sp>
        <p:nvSpPr>
          <p:cNvPr id="11" name="Rectangle 10"/>
          <p:cNvSpPr/>
          <p:nvPr/>
        </p:nvSpPr>
        <p:spPr>
          <a:xfrm>
            <a:off x="10356502" y="1451123"/>
            <a:ext cx="444352" cy="523220"/>
          </a:xfrm>
          <a:prstGeom prst="rect">
            <a:avLst/>
          </a:prstGeom>
        </p:spPr>
        <p:txBody>
          <a:bodyPr wrap="square">
            <a:spAutoFit/>
          </a:bodyPr>
          <a:lstStyle/>
          <a:p>
            <a:pPr>
              <a:defRPr/>
            </a:pPr>
            <a:r>
              <a:rPr lang="en-US" sz="2800" b="1" dirty="0">
                <a:latin typeface="Arial" pitchFamily="34" charset="0"/>
                <a:cs typeface="Arial" pitchFamily="34" charset="0"/>
              </a:rPr>
              <a:t>C</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12" name="TextBox 11"/>
              <p:cNvSpPr txBox="1"/>
              <p:nvPr/>
            </p:nvSpPr>
            <p:spPr>
              <a:xfrm>
                <a:off x="7895218" y="2033623"/>
                <a:ext cx="1340623"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ea typeface="Cambria Math"/>
                        </a:rPr>
                        <m:t>𝑦</m:t>
                      </m:r>
                      <m:r>
                        <a:rPr lang="en-US" sz="2800" b="0" i="1" smtClean="0">
                          <a:latin typeface="Cambria Math"/>
                          <a:ea typeface="Cambria Math"/>
                        </a:rPr>
                        <m:t>=2</m:t>
                      </m:r>
                      <m:r>
                        <a:rPr lang="en-US" sz="2800" b="0" i="1" smtClean="0">
                          <a:latin typeface="Cambria Math"/>
                          <a:ea typeface="Cambria Math"/>
                        </a:rPr>
                        <m:t>𝑥</m:t>
                      </m:r>
                    </m:oMath>
                  </m:oMathPara>
                </a14:m>
                <a:endParaRPr lang="en-IN" sz="2800" dirty="0"/>
              </a:p>
            </p:txBody>
          </p:sp>
        </mc:Choice>
        <mc:Fallback xmlns="">
          <p:sp>
            <p:nvSpPr>
              <p:cNvPr id="23" name="TextBox 11"/>
              <p:cNvSpPr txBox="1">
                <a:spLocks noRot="1" noChangeAspect="1" noMove="1" noResize="1" noEditPoints="1" noAdjustHandles="1" noChangeArrowheads="1" noChangeShapeType="1" noTextEdit="1"/>
              </p:cNvSpPr>
              <p:nvPr/>
            </p:nvSpPr>
            <p:spPr>
              <a:xfrm>
                <a:off x="7895218" y="2033623"/>
                <a:ext cx="134062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15" name="Table 5">
                <a:extLst>
                  <a:ext uri="{FF2B5EF4-FFF2-40B4-BE49-F238E27FC236}">
                    <a16:creationId xmlns:a16="http://schemas.microsoft.com/office/drawing/2014/main" id="{A2AEFA09-92A5-71D9-0D9D-E6D371B59820}"/>
                  </a:ext>
                </a:extLst>
              </p:cNvPr>
              <p:cNvGraphicFramePr>
                <a:graphicFrameLocks noGrp="1"/>
              </p:cNvGraphicFramePr>
              <p:nvPr>
                <p:extLst>
                  <p:ext uri="{D42A27DB-BD31-4B8C-83A1-F6EECF244321}">
                    <p14:modId xmlns:p14="http://schemas.microsoft.com/office/powerpoint/2010/main" val="4035839203"/>
                  </p:ext>
                </p:extLst>
              </p:nvPr>
            </p:nvGraphicFramePr>
            <p:xfrm>
              <a:off x="9920951" y="1974343"/>
              <a:ext cx="1759806" cy="3134829"/>
            </p:xfrm>
            <a:graphic>
              <a:graphicData uri="http://schemas.openxmlformats.org/drawingml/2006/table">
                <a:tbl>
                  <a:tblPr firstRow="1" bandRow="1">
                    <a:tableStyleId>{5C22544A-7EE6-4342-B048-85BDC9FD1C3A}</a:tableStyleId>
                  </a:tblPr>
                  <a:tblGrid>
                    <a:gridCol w="954588">
                      <a:extLst>
                        <a:ext uri="{9D8B030D-6E8A-4147-A177-3AD203B41FA5}">
                          <a16:colId xmlns:a16="http://schemas.microsoft.com/office/drawing/2014/main" val="1858197765"/>
                        </a:ext>
                      </a:extLst>
                    </a:gridCol>
                    <a:gridCol w="805218">
                      <a:extLst>
                        <a:ext uri="{9D8B030D-6E8A-4147-A177-3AD203B41FA5}">
                          <a16:colId xmlns:a16="http://schemas.microsoft.com/office/drawing/2014/main" val="1470131627"/>
                        </a:ext>
                      </a:extLst>
                    </a:gridCol>
                  </a:tblGrid>
                  <a:tr h="358038">
                    <a:tc gridSpan="2">
                      <a:txBody>
                        <a:bodyPr/>
                        <a:lstStyle/>
                        <a:p>
                          <a:pPr algn="l"/>
                          <a:r>
                            <a:rPr lang="en-US" sz="2800" i="0" dirty="0">
                              <a:solidFill>
                                <a:schemeClr val="tx1"/>
                              </a:solidFill>
                              <a:latin typeface="Arial" panose="020B0604020202020204" pitchFamily="34" charset="0"/>
                              <a:cs typeface="Arial" panose="020B0604020202020204" pitchFamily="34" charset="0"/>
                            </a:rPr>
                            <a:t>Table</a:t>
                          </a:r>
                          <a:endParaRPr lang="en-IN" sz="2800" i="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IN" sz="2800" i="1"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5D9C"/>
                        </a:solidFill>
                      </a:tcPr>
                    </a:tc>
                    <a:extLst>
                      <a:ext uri="{0D108BD9-81ED-4DB2-BD59-A6C34878D82A}">
                        <a16:rowId xmlns:a16="http://schemas.microsoft.com/office/drawing/2014/main" val="214032954"/>
                      </a:ext>
                    </a:extLst>
                  </a:tr>
                  <a:tr h="370840">
                    <a:tc>
                      <a:txBody>
                        <a:bodyPr/>
                        <a:lstStyle/>
                        <a:p>
                          <a:pPr algn="l"/>
                          <a14:m>
                            <m:oMathPara xmlns:m="http://schemas.openxmlformats.org/officeDocument/2006/math">
                              <m:oMathParaPr>
                                <m:jc m:val="left"/>
                              </m:oMathParaPr>
                              <m:oMath>
                                <m:r>
                                  <a:rPr lang="en-US" sz="2800" b="1" i="1" dirty="0" smtClean="0">
                                    <a:solidFill>
                                      <a:schemeClr val="bg1"/>
                                    </a:solidFill>
                                    <a:latin typeface="Cambria Math" panose="02040503050406030204" pitchFamily="18" charset="0"/>
                                    <a:cs typeface="Arial" panose="020B0604020202020204" pitchFamily="34" charset="0"/>
                                  </a:rPr>
                                  <m:t>𝒙</m:t>
                                </m:r>
                              </m:oMath>
                            </m:oMathPara>
                          </a14:m>
                          <a:endParaRPr lang="en-IN" sz="2800" b="1" i="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tc>
                      <a:txBody>
                        <a:bodyPr/>
                        <a:lstStyle/>
                        <a:p>
                          <a:pPr algn="l"/>
                          <a14:m>
                            <m:oMathPara xmlns:m="http://schemas.openxmlformats.org/officeDocument/2006/math">
                              <m:oMathParaPr>
                                <m:jc m:val="left"/>
                              </m:oMathParaPr>
                              <m:oMath>
                                <m:r>
                                  <a:rPr lang="en-IN" sz="2800" b="1" i="1" dirty="0" smtClean="0">
                                    <a:solidFill>
                                      <a:schemeClr val="bg1"/>
                                    </a:solidFill>
                                    <a:latin typeface="Cambria Math" panose="02040503050406030204" pitchFamily="18" charset="0"/>
                                    <a:cs typeface="Arial" panose="020B0604020202020204" pitchFamily="34" charset="0"/>
                                  </a:rPr>
                                  <m:t>𝒚</m:t>
                                </m:r>
                              </m:oMath>
                            </m:oMathPara>
                          </a14:m>
                          <a:endParaRPr lang="en-IN" sz="2800" b="1" i="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extLst>
                      <a:ext uri="{0D108BD9-81ED-4DB2-BD59-A6C34878D82A}">
                        <a16:rowId xmlns:a16="http://schemas.microsoft.com/office/drawing/2014/main" val="1493255547"/>
                      </a:ext>
                    </a:extLst>
                  </a:tr>
                  <a:tr h="370840">
                    <a:tc>
                      <a:txBody>
                        <a:bodyPr/>
                        <a:lstStyle/>
                        <a:p>
                          <a:pPr algn="l"/>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544029">
                    <a:tc>
                      <a:txBody>
                        <a:bodyPr/>
                        <a:lstStyle/>
                        <a:p>
                          <a:pPr algn="l"/>
                          <a:r>
                            <a:rPr lang="en-US" sz="2800" dirty="0">
                              <a:solidFill>
                                <a:schemeClr val="tx1"/>
                              </a:solidFill>
                              <a:latin typeface="Arial" pitchFamily="34" charset="0"/>
                              <a:cs typeface="Arial" pitchFamily="34" charset="0"/>
                            </a:rPr>
                            <a:t>1</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2</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370840">
                    <a:tc>
                      <a:txBody>
                        <a:bodyPr/>
                        <a:lstStyle/>
                        <a:p>
                          <a:pPr algn="l"/>
                          <a:r>
                            <a:rPr lang="en-US" sz="2800" dirty="0">
                              <a:solidFill>
                                <a:schemeClr val="tx1"/>
                              </a:solidFill>
                              <a:latin typeface="Arial" pitchFamily="34" charset="0"/>
                              <a:cs typeface="Arial" pitchFamily="34" charset="0"/>
                            </a:rPr>
                            <a:t>2</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4</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370840">
                    <a:tc>
                      <a:txBody>
                        <a:bodyPr/>
                        <a:lstStyle/>
                        <a:p>
                          <a:pPr algn="l"/>
                          <a:r>
                            <a:rPr lang="en-US" sz="2800" dirty="0">
                              <a:solidFill>
                                <a:schemeClr val="tx1"/>
                              </a:solidFill>
                              <a:latin typeface="Arial" pitchFamily="34" charset="0"/>
                              <a:cs typeface="Arial" pitchFamily="34" charset="0"/>
                            </a:rPr>
                            <a:t>3</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6</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Choice>
        <mc:Fallback xmlns="">
          <p:graphicFrame>
            <p:nvGraphicFramePr>
              <p:cNvPr id="24" name="Table 5">
                <a:extLst>
                  <a:ext uri="{FF2B5EF4-FFF2-40B4-BE49-F238E27FC236}">
                    <a16:creationId xmlns:a16="http://schemas.microsoft.com/office/drawing/2014/main" id="{A2AEFA09-92A5-71D9-0D9D-E6D371B59820}"/>
                  </a:ext>
                </a:extLst>
              </p:cNvPr>
              <p:cNvGraphicFramePr>
                <a:graphicFrameLocks noGrp="1"/>
              </p:cNvGraphicFramePr>
              <p:nvPr>
                <p:extLst>
                  <p:ext uri="{D42A27DB-BD31-4B8C-83A1-F6EECF244321}">
                    <p14:modId xmlns:p14="http://schemas.microsoft.com/office/powerpoint/2010/main" val="4035839203"/>
                  </p:ext>
                </p:extLst>
              </p:nvPr>
            </p:nvGraphicFramePr>
            <p:xfrm>
              <a:off x="9920951" y="1974343"/>
              <a:ext cx="1759806" cy="3134829"/>
            </p:xfrm>
            <a:graphic>
              <a:graphicData uri="http://schemas.openxmlformats.org/drawingml/2006/table">
                <a:tbl>
                  <a:tblPr firstRow="1" bandRow="1">
                    <a:tableStyleId>{5C22544A-7EE6-4342-B048-85BDC9FD1C3A}</a:tableStyleId>
                  </a:tblPr>
                  <a:tblGrid>
                    <a:gridCol w="954588">
                      <a:extLst>
                        <a:ext uri="{9D8B030D-6E8A-4147-A177-3AD203B41FA5}">
                          <a16:colId xmlns:a16="http://schemas.microsoft.com/office/drawing/2014/main" val="1858197765"/>
                        </a:ext>
                      </a:extLst>
                    </a:gridCol>
                    <a:gridCol w="805218">
                      <a:extLst>
                        <a:ext uri="{9D8B030D-6E8A-4147-A177-3AD203B41FA5}">
                          <a16:colId xmlns:a16="http://schemas.microsoft.com/office/drawing/2014/main" val="1470131627"/>
                        </a:ext>
                      </a:extLst>
                    </a:gridCol>
                  </a:tblGrid>
                  <a:tr h="518160">
                    <a:tc gridSpan="2">
                      <a:txBody>
                        <a:bodyPr/>
                        <a:lstStyle/>
                        <a:p>
                          <a:pPr algn="l"/>
                          <a:r>
                            <a:rPr lang="en-US" sz="2800" i="0" dirty="0">
                              <a:solidFill>
                                <a:schemeClr val="tx1"/>
                              </a:solidFill>
                              <a:latin typeface="Arial" panose="020B0604020202020204" pitchFamily="34" charset="0"/>
                              <a:cs typeface="Arial" panose="020B0604020202020204" pitchFamily="34" charset="0"/>
                            </a:rPr>
                            <a:t>Table</a:t>
                          </a:r>
                          <a:endParaRPr lang="en-IN" sz="2800" i="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endParaRPr lang="en-IN" sz="2800" i="1"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5D9C"/>
                        </a:solidFill>
                      </a:tcPr>
                    </a:tc>
                    <a:extLst>
                      <a:ext uri="{0D108BD9-81ED-4DB2-BD59-A6C34878D82A}">
                        <a16:rowId xmlns:a16="http://schemas.microsoft.com/office/drawing/2014/main" val="214032954"/>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37" t="-110465" r="-85987" b="-43255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8797" t="-110465" r="-1504" b="-432558"/>
                          </a:stretch>
                        </a:blipFill>
                      </a:tcPr>
                    </a:tc>
                    <a:extLst>
                      <a:ext uri="{0D108BD9-81ED-4DB2-BD59-A6C34878D82A}">
                        <a16:rowId xmlns:a16="http://schemas.microsoft.com/office/drawing/2014/main" val="1493255547"/>
                      </a:ext>
                    </a:extLst>
                  </a:tr>
                  <a:tr h="518160">
                    <a:tc>
                      <a:txBody>
                        <a:bodyPr/>
                        <a:lstStyle/>
                        <a:p>
                          <a:pPr algn="l"/>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544029">
                    <a:tc>
                      <a:txBody>
                        <a:bodyPr/>
                        <a:lstStyle/>
                        <a:p>
                          <a:pPr algn="l"/>
                          <a:r>
                            <a:rPr lang="en-US" sz="2800" dirty="0">
                              <a:solidFill>
                                <a:schemeClr val="tx1"/>
                              </a:solidFill>
                              <a:latin typeface="Arial" pitchFamily="34" charset="0"/>
                              <a:cs typeface="Arial" pitchFamily="34" charset="0"/>
                            </a:rPr>
                            <a:t>1</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2</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518160">
                    <a:tc>
                      <a:txBody>
                        <a:bodyPr/>
                        <a:lstStyle/>
                        <a:p>
                          <a:pPr algn="l"/>
                          <a:r>
                            <a:rPr lang="en-US" sz="2800" dirty="0">
                              <a:solidFill>
                                <a:schemeClr val="tx1"/>
                              </a:solidFill>
                              <a:latin typeface="Arial" pitchFamily="34" charset="0"/>
                              <a:cs typeface="Arial" pitchFamily="34" charset="0"/>
                            </a:rPr>
                            <a:t>2</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4</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518160">
                    <a:tc>
                      <a:txBody>
                        <a:bodyPr/>
                        <a:lstStyle/>
                        <a:p>
                          <a:pPr algn="l"/>
                          <a:r>
                            <a:rPr lang="en-US" sz="2800" dirty="0">
                              <a:solidFill>
                                <a:schemeClr val="tx1"/>
                              </a:solidFill>
                              <a:latin typeface="Arial" pitchFamily="34" charset="0"/>
                              <a:cs typeface="Arial" pitchFamily="34" charset="0"/>
                            </a:rPr>
                            <a:t>3</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800" dirty="0">
                              <a:solidFill>
                                <a:schemeClr val="tx1"/>
                              </a:solidFill>
                              <a:latin typeface="Arial" pitchFamily="34" charset="0"/>
                              <a:cs typeface="Arial" pitchFamily="34" charset="0"/>
                            </a:rPr>
                            <a:t>6</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Fallback>
      </mc:AlternateContent>
      <p:sp>
        <p:nvSpPr>
          <p:cNvPr id="16" name="Title 1">
            <a:extLst>
              <a:ext uri="{FF2B5EF4-FFF2-40B4-BE49-F238E27FC236}">
                <a16:creationId xmlns:a16="http://schemas.microsoft.com/office/drawing/2014/main" id="{EF2E9F79-1180-5E3D-0B67-B293D55F3E48}"/>
              </a:ext>
            </a:extLst>
          </p:cNvPr>
          <p:cNvSpPr txBox="1">
            <a:spLocks/>
          </p:cNvSpPr>
          <p:nvPr/>
        </p:nvSpPr>
        <p:spPr>
          <a:xfrm>
            <a:off x="484560"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US" sz="2800" dirty="0">
                <a:solidFill>
                  <a:srgbClr val="00B050"/>
                </a:solidFill>
                <a:latin typeface="Arial" panose="020B0604020202020204" pitchFamily="34" charset="0"/>
                <a:cs typeface="Arial" panose="020B0604020202020204" pitchFamily="34" charset="0"/>
              </a:rPr>
              <a:t>Be Curious</a:t>
            </a:r>
          </a:p>
        </p:txBody>
      </p:sp>
      <p:sp>
        <p:nvSpPr>
          <p:cNvPr id="17" name="Content Placeholder 2">
            <a:extLst>
              <a:ext uri="{FF2B5EF4-FFF2-40B4-BE49-F238E27FC236}">
                <a16:creationId xmlns:a16="http://schemas.microsoft.com/office/drawing/2014/main" id="{3C64A2BC-4D5F-F313-BCCF-8697F016B769}"/>
              </a:ext>
            </a:extLst>
          </p:cNvPr>
          <p:cNvSpPr txBox="1">
            <a:spLocks/>
          </p:cNvSpPr>
          <p:nvPr/>
        </p:nvSpPr>
        <p:spPr>
          <a:xfrm>
            <a:off x="484560" y="936100"/>
            <a:ext cx="4181207" cy="118911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How are they the same?</a:t>
            </a:r>
          </a:p>
          <a:p>
            <a:pPr>
              <a:spcBef>
                <a:spcPts val="1800"/>
              </a:spcBef>
              <a:defRPr/>
            </a:pPr>
            <a:r>
              <a:rPr lang="en-IN" sz="2800" dirty="0">
                <a:solidFill>
                  <a:schemeClr val="tx1"/>
                </a:solidFill>
                <a:latin typeface="Arial" pitchFamily="34" charset="0"/>
                <a:cs typeface="Arial" pitchFamily="34" charset="0"/>
              </a:rPr>
              <a:t>How are they different?</a:t>
            </a:r>
            <a:endParaRPr lang="en-US" sz="2800" dirty="0">
              <a:solidFill>
                <a:schemeClr val="tx1"/>
              </a:solidFill>
              <a:latin typeface="Arial" pitchFamily="34" charset="0"/>
              <a:cs typeface="Arial" pitchFamily="34" charset="0"/>
            </a:endParaRPr>
          </a:p>
        </p:txBody>
      </p:sp>
      <p:sp>
        <p:nvSpPr>
          <p:cNvPr id="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40</a:t>
            </a:r>
          </a:p>
        </p:txBody>
      </p:sp>
      <p:grpSp>
        <p:nvGrpSpPr>
          <p:cNvPr id="19" name="TEACH-3-student-move" descr="TEACH 3 · Use intentional questioning to deepen learning"/>
          <p:cNvGrpSpPr/>
          <p:nvPr/>
        </p:nvGrpSpPr>
        <p:grpSpPr>
          <a:xfrm>
            <a:off x="6187440" y="5140909"/>
            <a:ext cx="5501640" cy="594360"/>
            <a:chOff x="6187440" y="5140909"/>
            <a:chExt cx="5501640" cy="594360"/>
          </a:xfrm>
        </p:grpSpPr>
        <p:sp>
          <p:nvSpPr>
            <p:cNvPr id="20" name="TEACH-move-card"/>
            <p:cNvSpPr/>
            <p:nvPr/>
          </p:nvSpPr>
          <p:spPr>
            <a:xfrm>
              <a:off x="6187440" y="514090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21" name="TEACH-move-rule"/>
            <p:cNvSpPr/>
            <p:nvPr/>
          </p:nvSpPr>
          <p:spPr>
            <a:xfrm>
              <a:off x="6233160" y="5253837"/>
              <a:ext cx="100584" cy="368504"/>
            </a:xfrm>
            <a:prstGeom prst="roundRect">
              <a:avLst>
                <a:gd name="adj" fmla="val 50000"/>
              </a:avLst>
            </a:prstGeom>
            <a:solidFill>
              <a:srgbClr val="01708C"/>
            </a:solidFill>
            <a:ln>
              <a:noFill/>
            </a:ln>
          </p:spPr>
          <p:txBody>
            <a:bodyPr/>
            <a:lstStyle/>
            <a:p>
              <a:endParaRPr/>
            </a:p>
          </p:txBody>
        </p:sp>
        <p:sp>
          <p:nvSpPr>
            <p:cNvPr id="22" name="TEACH-move-text"/>
            <p:cNvSpPr txBox="1"/>
            <p:nvPr/>
          </p:nvSpPr>
          <p:spPr>
            <a:xfrm>
              <a:off x="6507480" y="514090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extLst>
      <p:ext uri="{BB962C8B-B14F-4D97-AF65-F5344CB8AC3E}">
        <p14:creationId xmlns:p14="http://schemas.microsoft.com/office/powerpoint/2010/main" val="1449827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015483" cy="46247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4" y="936000"/>
            <a:ext cx="7478335" cy="187387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An assembly line at an automobile manufacturing plant is run in 8-hour shifts and produces 2.5 cars per hour. The manufacturer has received the order shown.</a:t>
            </a:r>
          </a:p>
        </p:txBody>
      </p:sp>
      <p:sp>
        <p:nvSpPr>
          <p:cNvPr id="4" name="TextBox 3">
            <a:extLst>
              <a:ext uri="{FF2B5EF4-FFF2-40B4-BE49-F238E27FC236}">
                <a16:creationId xmlns:a16="http://schemas.microsoft.com/office/drawing/2014/main" id="{E7D4EB84-6820-000C-9F4A-50E729E0DD75}"/>
              </a:ext>
            </a:extLst>
          </p:cNvPr>
          <p:cNvSpPr txBox="1"/>
          <p:nvPr/>
        </p:nvSpPr>
        <p:spPr>
          <a:xfrm>
            <a:off x="484564" y="2967365"/>
            <a:ext cx="6712648" cy="954107"/>
          </a:xfrm>
          <a:prstGeom prst="rect">
            <a:avLst/>
          </a:prstGeom>
          <a:noFill/>
        </p:spPr>
        <p:txBody>
          <a:bodyPr wrap="square" rtlCol="0">
            <a:spAutoFit/>
          </a:bodyPr>
          <a:lstStyle/>
          <a:p>
            <a:pPr>
              <a:spcBef>
                <a:spcPts val="1800"/>
              </a:spcBef>
            </a:pPr>
            <a:r>
              <a:rPr lang="en-US" sz="2800" b="1" dirty="0">
                <a:latin typeface="Arial" pitchFamily="34" charset="0"/>
                <a:cs typeface="Arial" pitchFamily="34" charset="0"/>
              </a:rPr>
              <a:t>Should the manufacturer accept the order?</a:t>
            </a:r>
          </a:p>
        </p:txBody>
      </p:sp>
      <p:pic>
        <p:nvPicPr>
          <p:cNvPr id="5" name="Picture 2" descr="C:\Users\HP\Desktop\G6 U9\OPS\img\.assets\4f63231d824c43e2a2344e416eb1fa2d\narm24_c10904_se_005a-dig-eps.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75787" y="1335269"/>
            <a:ext cx="3429000" cy="248602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D5613F4-FB4C-1F45-AAFB-1545734B22E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564" y="4570752"/>
            <a:ext cx="5054600" cy="838200"/>
          </a:xfrm>
          <a:prstGeom prst="rect">
            <a:avLst/>
          </a:prstGeom>
        </p:spPr>
      </p:pic>
      <p:sp>
        <p:nvSpPr>
          <p:cNvPr id="13" name="Rectangle 12"/>
          <p:cNvSpPr/>
          <p:nvPr/>
        </p:nvSpPr>
        <p:spPr>
          <a:xfrm>
            <a:off x="3061424" y="4699180"/>
            <a:ext cx="2464136" cy="523220"/>
          </a:xfrm>
          <a:prstGeom prst="rect">
            <a:avLst/>
          </a:prstGeom>
        </p:spPr>
        <p:txBody>
          <a:bodyPr wrap="square">
            <a:spAutoFit/>
          </a:bodyPr>
          <a:lstStyle/>
          <a:p>
            <a:r>
              <a:rPr lang="en-IN" sz="2800" dirty="0">
                <a:latin typeface="Arial" pitchFamily="34" charset="0"/>
                <a:cs typeface="Arial" pitchFamily="34" charset="0"/>
              </a:rPr>
              <a:t>Making Sense</a:t>
            </a:r>
          </a:p>
        </p:txBody>
      </p:sp>
      <p:sp>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40</a:t>
            </a:r>
          </a:p>
        </p:txBody>
      </p:sp>
      <p:sp xmlns:p="http://schemas.openxmlformats.org/presentationml/2006/main" xmlns:a="http://schemas.openxmlformats.org/drawingml/2006/main">
        <p:nvSpPr>
          <p:cNvPr id="1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1054863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8C04D55E-186D-17D5-3BDE-1FCAF498DE80}"/>
              </a:ext>
            </a:extLst>
          </p:cNvPr>
          <p:cNvSpPr txBox="1">
            <a:spLocks/>
          </p:cNvSpPr>
          <p:nvPr/>
        </p:nvSpPr>
        <p:spPr>
          <a:xfrm>
            <a:off x="486000" y="4860000"/>
            <a:ext cx="8610375" cy="138499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defRPr/>
            </a:pPr>
            <a:r>
              <a:rPr lang="en-US" sz="2800" dirty="0">
                <a:solidFill>
                  <a:schemeClr val="tx1">
                    <a:lumMod val="65000"/>
                    <a:lumOff val="35000"/>
                  </a:schemeClr>
                </a:solidFill>
                <a:latin typeface="Arial" pitchFamily="34" charset="0"/>
                <a:cs typeface="Arial" pitchFamily="34" charset="0"/>
              </a:rPr>
              <a:t>We need to know whether the plant can produce 1,000 cars in 3 weeks or less.</a:t>
            </a:r>
          </a:p>
        </p:txBody>
      </p:sp>
      <p:sp>
        <p:nvSpPr>
          <p:cNvPr id="8" name="Title 1">
            <a:extLst>
              <a:ext uri="{FF2B5EF4-FFF2-40B4-BE49-F238E27FC236}">
                <a16:creationId xmlns:a16="http://schemas.microsoft.com/office/drawing/2014/main" id="{3CF4AF49-89F7-5C44-B082-4D1951B38CC4}"/>
              </a:ext>
            </a:extLst>
          </p:cNvPr>
          <p:cNvSpPr txBox="1">
            <a:spLocks/>
          </p:cNvSpPr>
          <p:nvPr/>
        </p:nvSpPr>
        <p:spPr>
          <a:xfrm>
            <a:off x="484565" y="316034"/>
            <a:ext cx="5015483" cy="46501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sp>
        <p:nvSpPr>
          <p:cNvPr id="13" name="Content Placeholder 2">
            <a:extLst>
              <a:ext uri="{FF2B5EF4-FFF2-40B4-BE49-F238E27FC236}">
                <a16:creationId xmlns:a16="http://schemas.microsoft.com/office/drawing/2014/main" id="{D7D5C8EC-F1EF-6146-850F-128719B25F22}"/>
              </a:ext>
            </a:extLst>
          </p:cNvPr>
          <p:cNvSpPr txBox="1">
            <a:spLocks/>
          </p:cNvSpPr>
          <p:nvPr/>
        </p:nvSpPr>
        <p:spPr>
          <a:xfrm>
            <a:off x="484564" y="936000"/>
            <a:ext cx="7354511" cy="226440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An assembly line at an automobile manufacturing plant is run in 8-hour shifts and produces 2.5 cars per hour. The manufacturer has received the order shown. Should the manufacturer accept the order?</a:t>
            </a:r>
          </a:p>
        </p:txBody>
      </p:sp>
      <p:sp>
        <p:nvSpPr>
          <p:cNvPr id="15" name="TextBox 14">
            <a:extLst>
              <a:ext uri="{FF2B5EF4-FFF2-40B4-BE49-F238E27FC236}">
                <a16:creationId xmlns:a16="http://schemas.microsoft.com/office/drawing/2014/main" id="{E7D4EB84-6820-000C-9F4A-50E729E0DD75}"/>
              </a:ext>
            </a:extLst>
          </p:cNvPr>
          <p:cNvSpPr txBox="1"/>
          <p:nvPr/>
        </p:nvSpPr>
        <p:spPr>
          <a:xfrm>
            <a:off x="484564" y="3355350"/>
            <a:ext cx="7354511" cy="1384995"/>
          </a:xfrm>
          <a:prstGeom prst="rect">
            <a:avLst/>
          </a:prstGeom>
          <a:noFill/>
        </p:spPr>
        <p:txBody>
          <a:bodyPr wrap="square" rtlCol="0">
            <a:spAutoFit/>
          </a:bodyPr>
          <a:lstStyle/>
          <a:p>
            <a:pPr>
              <a:spcBef>
                <a:spcPts val="1800"/>
              </a:spcBef>
              <a:defRPr/>
            </a:pPr>
            <a:r>
              <a:rPr lang="en-US" sz="2800" b="1" dirty="0">
                <a:latin typeface="Arial" pitchFamily="34" charset="0"/>
                <a:cs typeface="Arial" pitchFamily="34" charset="0"/>
              </a:rPr>
              <a:t>What information do you need to know to determine whether the manufacturer should accept the order?</a:t>
            </a:r>
          </a:p>
        </p:txBody>
      </p:sp>
      <p:pic>
        <p:nvPicPr>
          <p:cNvPr id="16" name="Picture 2" descr="C:\Users\HP\Desktop\G6 U9\OPS\img\.assets\4f63231d824c43e2a2344e416eb1fa2d\narm24_c10904_se_005a-dig-eps.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75787" y="1335269"/>
            <a:ext cx="3429000" cy="2486025"/>
          </a:xfrm>
          <a:prstGeom prst="rect">
            <a:avLst/>
          </a:prstGeom>
          <a:noFill/>
          <a:extLst>
            <a:ext uri="{909E8E84-426E-40DD-AFC4-6F175D3DCCD1}">
              <a14:hiddenFill xmlns:a14="http://schemas.microsoft.com/office/drawing/2010/main">
                <a:solidFill>
                  <a:srgbClr val="FFFFFF"/>
                </a:solidFill>
              </a14:hiddenFill>
            </a:ext>
          </a:extLst>
        </p:spPr>
      </p:pic>
      <p:sp>
        <p:nvSpPr>
          <p:cNvPr id="17" name="EWL-COVER-1"/>
          <p:cNvSpPr/>
          <p:nvPr/>
        </p:nvSpPr>
        <p:spPr>
          <a:xfrm>
            <a:off x="431136" y="4805136"/>
            <a:ext cx="8720103" cy="1494723"/>
          </a:xfrm>
          <a:prstGeom prst="rect">
            <a:avLst/>
          </a:prstGeom>
          <a:solidFill>
            <a:srgbClr val="FFFFFF"/>
          </a:solidFill>
          <a:ln>
            <a:noFill/>
          </a:ln>
        </p:spPr>
        <p:txBody>
          <a:bodyPr/>
          <a:lstStyle/>
          <a:p/>
        </p:txBody>
      </p:sp>
      <p:sp>
        <p:nvSpPr>
          <p:cNvPr id="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40</a:t>
            </a:r>
          </a:p>
        </p:txBody>
      </p:sp>
    </p:spTree>
    <p:extLst>
      <p:ext uri="{BB962C8B-B14F-4D97-AF65-F5344CB8AC3E}">
        <p14:creationId xmlns:p14="http://schemas.microsoft.com/office/powerpoint/2010/main" val="411637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015483"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8C04D55E-186D-17D5-3BDE-1FCAF498DE80}"/>
              </a:ext>
            </a:extLst>
          </p:cNvPr>
          <p:cNvSpPr txBox="1">
            <a:spLocks/>
          </p:cNvSpPr>
          <p:nvPr/>
        </p:nvSpPr>
        <p:spPr>
          <a:xfrm>
            <a:off x="486000" y="4932000"/>
            <a:ext cx="9771659" cy="144444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defRPr/>
            </a:pPr>
            <a:r>
              <a:rPr lang="en-US" sz="2800" dirty="0">
                <a:solidFill>
                  <a:schemeClr val="tx1">
                    <a:lumMod val="65000"/>
                    <a:lumOff val="35000"/>
                  </a:schemeClr>
                </a:solidFill>
                <a:latin typeface="Arial" pitchFamily="34" charset="0"/>
                <a:cs typeface="Arial" pitchFamily="34" charset="0"/>
              </a:rPr>
              <a:t>The number of cars produced depends on the number of hours of operation. Every hour, the plant produces 2.5 cars.</a:t>
            </a:r>
          </a:p>
        </p:txBody>
      </p:sp>
      <p:sp>
        <p:nvSpPr>
          <p:cNvPr id="13" name="Content Placeholder 2">
            <a:extLst>
              <a:ext uri="{FF2B5EF4-FFF2-40B4-BE49-F238E27FC236}">
                <a16:creationId xmlns:a16="http://schemas.microsoft.com/office/drawing/2014/main" id="{D7D5C8EC-F1EF-6146-850F-128719B25F22}"/>
              </a:ext>
            </a:extLst>
          </p:cNvPr>
          <p:cNvSpPr txBox="1">
            <a:spLocks/>
          </p:cNvSpPr>
          <p:nvPr/>
        </p:nvSpPr>
        <p:spPr>
          <a:xfrm>
            <a:off x="484565" y="936000"/>
            <a:ext cx="7449760" cy="92762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We can analyze the quantities to make sense of the problem.</a:t>
            </a:r>
          </a:p>
        </p:txBody>
      </p:sp>
      <p:sp>
        <p:nvSpPr>
          <p:cNvPr id="15" name="TextBox 14">
            <a:extLst>
              <a:ext uri="{FF2B5EF4-FFF2-40B4-BE49-F238E27FC236}">
                <a16:creationId xmlns:a16="http://schemas.microsoft.com/office/drawing/2014/main" id="{E7D4EB84-6820-000C-9F4A-50E729E0DD75}"/>
              </a:ext>
            </a:extLst>
          </p:cNvPr>
          <p:cNvSpPr txBox="1"/>
          <p:nvPr/>
        </p:nvSpPr>
        <p:spPr>
          <a:xfrm>
            <a:off x="464163" y="3475822"/>
            <a:ext cx="7470162" cy="1384995"/>
          </a:xfrm>
          <a:prstGeom prst="rect">
            <a:avLst/>
          </a:prstGeom>
          <a:noFill/>
        </p:spPr>
        <p:txBody>
          <a:bodyPr wrap="square" rtlCol="0">
            <a:spAutoFit/>
          </a:bodyPr>
          <a:lstStyle/>
          <a:p>
            <a:pPr>
              <a:spcBef>
                <a:spcPts val="1800"/>
              </a:spcBef>
              <a:defRPr/>
            </a:pPr>
            <a:r>
              <a:rPr lang="en-US" sz="2800" b="1" dirty="0">
                <a:latin typeface="Arial" pitchFamily="34" charset="0"/>
                <a:cs typeface="Arial" pitchFamily="34" charset="0"/>
              </a:rPr>
              <a:t>How do the quantities in the problem—time, in hours, and the number of cars produced—relate?</a:t>
            </a:r>
          </a:p>
        </p:txBody>
      </p:sp>
      <p:sp>
        <p:nvSpPr>
          <p:cNvPr id="16" name="Rectangle 15"/>
          <p:cNvSpPr/>
          <p:nvPr/>
        </p:nvSpPr>
        <p:spPr>
          <a:xfrm>
            <a:off x="464162" y="1977224"/>
            <a:ext cx="7470163" cy="1384995"/>
          </a:xfrm>
          <a:prstGeom prst="rect">
            <a:avLst/>
          </a:prstGeom>
        </p:spPr>
        <p:txBody>
          <a:bodyPr wrap="square">
            <a:spAutoFit/>
          </a:bodyPr>
          <a:lstStyle/>
          <a:p>
            <a:pPr>
              <a:defRPr/>
            </a:pPr>
            <a:r>
              <a:rPr lang="en-US" sz="2800" dirty="0">
                <a:latin typeface="Arial" pitchFamily="34" charset="0"/>
                <a:cs typeface="Arial" pitchFamily="34" charset="0"/>
              </a:rPr>
              <a:t>An assembly line at an automobile manufacturing plant is run in 8-hour shifts and produces 2.5 cars per hour.</a:t>
            </a:r>
            <a:endParaRPr lang="en-IN" sz="2800" dirty="0">
              <a:latin typeface="Arial" pitchFamily="34" charset="0"/>
              <a:cs typeface="Arial" pitchFamily="34" charset="0"/>
            </a:endParaRPr>
          </a:p>
        </p:txBody>
      </p:sp>
      <p:pic>
        <p:nvPicPr>
          <p:cNvPr id="17" name="Picture 2" descr="C:\Users\HP\Desktop\G6 U9\OPS\img\.assets\4f63231d824c43e2a2344e416eb1fa2d\narm24_c10904_se_005a-dig-eps.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75787" y="1335269"/>
            <a:ext cx="3429000" cy="2486025"/>
          </a:xfrm>
          <a:prstGeom prst="rect">
            <a:avLst/>
          </a:prstGeom>
          <a:noFill/>
          <a:extLst>
            <a:ext uri="{909E8E84-426E-40DD-AFC4-6F175D3DCCD1}">
              <a14:hiddenFill xmlns:a14="http://schemas.microsoft.com/office/drawing/2010/main">
                <a:solidFill>
                  <a:srgbClr val="FFFFFF"/>
                </a:solidFill>
              </a14:hiddenFill>
            </a:ext>
          </a:extLst>
        </p:spPr>
      </p:pic>
      <p:sp>
        <p:nvSpPr>
          <p:cNvPr id="18" name="EWL-COVER-1"/>
          <p:cNvSpPr/>
          <p:nvPr/>
        </p:nvSpPr>
        <p:spPr>
          <a:xfrm>
            <a:off x="431136" y="4877136"/>
            <a:ext cx="9881387" cy="1554177"/>
          </a:xfrm>
          <a:prstGeom prst="rect">
            <a:avLst/>
          </a:prstGeom>
          <a:solidFill>
            <a:srgbClr val="FFFFFF"/>
          </a:solidFill>
          <a:ln>
            <a:noFill/>
          </a:ln>
        </p:spPr>
        <p:txBody>
          <a:bodyPr/>
          <a:lstStyle/>
          <a:p/>
        </p:txBody>
      </p:sp>
      <p:sp>
        <p:nvSpPr>
          <p:cNvPr id="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40</a:t>
            </a:r>
          </a:p>
        </p:txBody>
      </p:sp>
    </p:spTree>
    <p:extLst>
      <p:ext uri="{BB962C8B-B14F-4D97-AF65-F5344CB8AC3E}">
        <p14:creationId xmlns:p14="http://schemas.microsoft.com/office/powerpoint/2010/main" val="410763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565D28B4-031F-799D-9E2E-2E0195C8DC7C}"/>
              </a:ext>
            </a:extLst>
          </p:cNvPr>
          <p:cNvSpPr txBox="1">
            <a:spLocks/>
          </p:cNvSpPr>
          <p:nvPr/>
        </p:nvSpPr>
        <p:spPr>
          <a:xfrm>
            <a:off x="484565" y="316034"/>
            <a:ext cx="5001835"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8C04D55E-186D-17D5-3BDE-1FCAF498DE80}"/>
              </a:ext>
            </a:extLst>
          </p:cNvPr>
          <p:cNvSpPr txBox="1">
            <a:spLocks/>
          </p:cNvSpPr>
          <p:nvPr/>
        </p:nvSpPr>
        <p:spPr>
          <a:xfrm>
            <a:off x="434665" y="5266350"/>
            <a:ext cx="8694586" cy="102463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defRPr/>
            </a:pPr>
            <a:r>
              <a:rPr lang="en-US" sz="2800" dirty="0">
                <a:solidFill>
                  <a:schemeClr val="tx1">
                    <a:lumMod val="65000"/>
                    <a:lumOff val="35000"/>
                  </a:schemeClr>
                </a:solidFill>
                <a:latin typeface="Arial" pitchFamily="34" charset="0"/>
                <a:cs typeface="Arial" pitchFamily="34" charset="0"/>
              </a:rPr>
              <a:t>The plant produces 20 cars in an 8-hour shift.</a:t>
            </a:r>
          </a:p>
        </p:txBody>
      </p:sp>
      <p:sp>
        <p:nvSpPr>
          <p:cNvPr id="6" name="Content Placeholder 2">
            <a:extLst>
              <a:ext uri="{FF2B5EF4-FFF2-40B4-BE49-F238E27FC236}">
                <a16:creationId xmlns:a16="http://schemas.microsoft.com/office/drawing/2014/main" id="{D7D5C8EC-F1EF-6146-850F-128719B25F22}"/>
              </a:ext>
            </a:extLst>
          </p:cNvPr>
          <p:cNvSpPr txBox="1">
            <a:spLocks/>
          </p:cNvSpPr>
          <p:nvPr/>
        </p:nvSpPr>
        <p:spPr>
          <a:xfrm>
            <a:off x="484564" y="4160829"/>
            <a:ext cx="8644687" cy="1015521"/>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b="1" dirty="0">
                <a:solidFill>
                  <a:schemeClr val="tx1"/>
                </a:solidFill>
                <a:latin typeface="Arial" pitchFamily="34" charset="0"/>
                <a:cs typeface="Arial" pitchFamily="34" charset="0"/>
              </a:rPr>
              <a:t>What can you say about the number of cars that are produced in each 8-hour shift?</a:t>
            </a:r>
            <a:endParaRPr lang="en-US" sz="2800" dirty="0">
              <a:solidFill>
                <a:schemeClr val="tx1"/>
              </a:solidFill>
              <a:latin typeface="Arial" panose="020B0604020202020204" pitchFamily="34" charset="0"/>
              <a:cs typeface="Arial" panose="020B0604020202020204" pitchFamily="34" charset="0"/>
            </a:endParaRPr>
          </a:p>
        </p:txBody>
      </p:sp>
      <p:graphicFrame>
        <p:nvGraphicFramePr>
          <p:cNvPr id="8" name="Table 5">
            <a:extLst>
              <a:ext uri="{FF2B5EF4-FFF2-40B4-BE49-F238E27FC236}">
                <a16:creationId xmlns:a16="http://schemas.microsoft.com/office/drawing/2014/main" id="{A2AEFA09-92A5-71D9-0D9D-E6D371B59820}"/>
              </a:ext>
            </a:extLst>
          </p:cNvPr>
          <p:cNvGraphicFramePr>
            <a:graphicFrameLocks noGrp="1"/>
          </p:cNvGraphicFramePr>
          <p:nvPr>
            <p:extLst>
              <p:ext uri="{D42A27DB-BD31-4B8C-83A1-F6EECF244321}">
                <p14:modId xmlns:p14="http://schemas.microsoft.com/office/powerpoint/2010/main" val="2695065688"/>
              </p:ext>
            </p:extLst>
          </p:nvPr>
        </p:nvGraphicFramePr>
        <p:xfrm>
          <a:off x="484564" y="936000"/>
          <a:ext cx="7278357" cy="3134829"/>
        </p:xfrm>
        <a:graphic>
          <a:graphicData uri="http://schemas.openxmlformats.org/drawingml/2006/table">
            <a:tbl>
              <a:tblPr firstRow="1" bandRow="1">
                <a:tableStyleId>{5C22544A-7EE6-4342-B048-85BDC9FD1C3A}</a:tableStyleId>
              </a:tblPr>
              <a:tblGrid>
                <a:gridCol w="3361450">
                  <a:extLst>
                    <a:ext uri="{9D8B030D-6E8A-4147-A177-3AD203B41FA5}">
                      <a16:colId xmlns:a16="http://schemas.microsoft.com/office/drawing/2014/main" val="1858197765"/>
                    </a:ext>
                  </a:extLst>
                </a:gridCol>
                <a:gridCol w="3916907">
                  <a:extLst>
                    <a:ext uri="{9D8B030D-6E8A-4147-A177-3AD203B41FA5}">
                      <a16:colId xmlns:a16="http://schemas.microsoft.com/office/drawing/2014/main" val="1470131627"/>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tx1"/>
                          </a:solidFill>
                          <a:latin typeface="Arial" pitchFamily="34" charset="0"/>
                          <a:cs typeface="Arial" pitchFamily="34" charset="0"/>
                        </a:rPr>
                        <a:t>Cars Manufacturing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800" dirty="0">
                        <a:solidFill>
                          <a:schemeClr val="tx1"/>
                        </a:solidFill>
                        <a:latin typeface="Arial" pitchFamily="34" charset="0"/>
                        <a:cs typeface="Arial"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4147914"/>
                  </a:ext>
                </a:extLst>
              </a:tr>
              <a:tr h="370840">
                <a:tc>
                  <a:txBody>
                    <a:bodyPr/>
                    <a:lstStyle/>
                    <a:p>
                      <a:r>
                        <a:rPr lang="en-IN" sz="2800" b="1" dirty="0">
                          <a:solidFill>
                            <a:schemeClr val="bg1"/>
                          </a:solidFill>
                          <a:latin typeface="Arial" pitchFamily="34" charset="0"/>
                          <a:cs typeface="Arial" pitchFamily="34" charset="0"/>
                        </a:rPr>
                        <a:t>Number of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tc>
                  <a:txBody>
                    <a:bodyPr/>
                    <a:lstStyle/>
                    <a:p>
                      <a:r>
                        <a:rPr lang="en-IN" sz="2800" b="1" dirty="0">
                          <a:solidFill>
                            <a:schemeClr val="bg1"/>
                          </a:solidFill>
                          <a:latin typeface="Arial" pitchFamily="34" charset="0"/>
                          <a:cs typeface="Arial" pitchFamily="34" charset="0"/>
                        </a:rPr>
                        <a:t>Number of Cars Made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extLst>
                  <a:ext uri="{0D108BD9-81ED-4DB2-BD59-A6C34878D82A}">
                    <a16:rowId xmlns:a16="http://schemas.microsoft.com/office/drawing/2014/main" val="1493255547"/>
                  </a:ext>
                </a:extLst>
              </a:tr>
              <a:tr h="370840">
                <a:tc>
                  <a:txBody>
                    <a:bodyPr/>
                    <a:lstStyle/>
                    <a:p>
                      <a:pPr algn="ctr"/>
                      <a:r>
                        <a:rPr lang="en-IN" sz="2800" dirty="0">
                          <a:latin typeface="Arial" pitchFamily="34" charset="0"/>
                          <a:cs typeface="Arial"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544029">
                <a:tc>
                  <a:txBody>
                    <a:bodyPr/>
                    <a:lstStyle/>
                    <a:p>
                      <a:pPr algn="ctr"/>
                      <a:r>
                        <a:rPr lang="en-IN" sz="2800">
                          <a:latin typeface="Arial" pitchFamily="34" charset="0"/>
                          <a:cs typeface="Arial"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370840">
                <a:tc>
                  <a:txBody>
                    <a:bodyPr/>
                    <a:lstStyle/>
                    <a:p>
                      <a:pPr algn="ctr"/>
                      <a:r>
                        <a:rPr lang="en-IN" sz="2800" dirty="0">
                          <a:latin typeface="Arial" pitchFamily="34" charset="0"/>
                          <a:cs typeface="Arial" pitchFamily="34"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370840">
                <a:tc>
                  <a:txBody>
                    <a:bodyPr/>
                    <a:lstStyle/>
                    <a:p>
                      <a:pPr algn="ctr"/>
                      <a:r>
                        <a:rPr lang="en-IN" sz="2800">
                          <a:latin typeface="Arial" pitchFamily="34" charset="0"/>
                          <a:cs typeface="Arial"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5" name="EWL-COVER-1"/>
          <p:cNvSpPr/>
          <p:nvPr/>
        </p:nvSpPr>
        <p:spPr>
          <a:xfrm>
            <a:off x="379801" y="5211486"/>
            <a:ext cx="8804314" cy="1134366"/>
          </a:xfrm>
          <a:prstGeom prst="rect">
            <a:avLst/>
          </a:prstGeom>
          <a:solidFill>
            <a:srgbClr val="FFFFFF"/>
          </a:solidFill>
          <a:ln>
            <a:noFill/>
          </a:ln>
        </p:spPr>
        <p:txBody>
          <a:bodyPr/>
          <a:lstStyle/>
          <a:p/>
        </p:txBody>
      </p:sp>
      <p:sp>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40</a:t>
            </a:r>
          </a:p>
        </p:txBody>
      </p:sp>
    </p:spTree>
    <p:extLst>
      <p:ext uri="{BB962C8B-B14F-4D97-AF65-F5344CB8AC3E}">
        <p14:creationId xmlns:p14="http://schemas.microsoft.com/office/powerpoint/2010/main" val="399937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CC2F4FA6-6F63-E440-55A8-510B5D32D164}"/>
              </a:ext>
            </a:extLst>
          </p:cNvPr>
          <p:cNvSpPr txBox="1">
            <a:spLocks/>
          </p:cNvSpPr>
          <p:nvPr/>
        </p:nvSpPr>
        <p:spPr>
          <a:xfrm>
            <a:off x="484565" y="316034"/>
            <a:ext cx="5015483"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sp>
        <p:nvSpPr>
          <p:cNvPr id="8" name="Content Placeholder 2">
            <a:extLst>
              <a:ext uri="{FF2B5EF4-FFF2-40B4-BE49-F238E27FC236}">
                <a16:creationId xmlns:a16="http://schemas.microsoft.com/office/drawing/2014/main" id="{D964AAA0-B33D-ADE9-0718-43B863BD30EF}"/>
              </a:ext>
            </a:extLst>
          </p:cNvPr>
          <p:cNvSpPr txBox="1">
            <a:spLocks/>
          </p:cNvSpPr>
          <p:nvPr/>
        </p:nvSpPr>
        <p:spPr>
          <a:xfrm>
            <a:off x="484564" y="4775300"/>
            <a:ext cx="10448700" cy="148304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p>
          <a:p>
            <a:pPr>
              <a:spcBef>
                <a:spcPts val="600"/>
              </a:spcBef>
              <a:defRPr/>
            </a:pPr>
            <a:r>
              <a:rPr lang="en-US" sz="2800" dirty="0">
                <a:solidFill>
                  <a:schemeClr val="tx1">
                    <a:lumMod val="65000"/>
                    <a:lumOff val="35000"/>
                  </a:schemeClr>
                </a:solidFill>
                <a:latin typeface="Arial" pitchFamily="34" charset="0"/>
                <a:cs typeface="Arial" pitchFamily="34" charset="0"/>
              </a:rPr>
              <a:t>The total number of cars produced equals the number of cars produced in an hour, 2.5, times the number of hours.</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D7D5C8EC-F1EF-6146-850F-128719B25F22}"/>
              </a:ext>
            </a:extLst>
          </p:cNvPr>
          <p:cNvSpPr txBox="1">
            <a:spLocks/>
          </p:cNvSpPr>
          <p:nvPr/>
        </p:nvSpPr>
        <p:spPr>
          <a:xfrm>
            <a:off x="484564" y="936000"/>
            <a:ext cx="5488533" cy="191965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We can write an equation to represent the total number of cars produced for any number of hours.</a:t>
            </a:r>
          </a:p>
        </p:txBody>
      </p:sp>
      <p:sp>
        <p:nvSpPr>
          <p:cNvPr id="13" name="Rectangle 12"/>
          <p:cNvSpPr/>
          <p:nvPr/>
        </p:nvSpPr>
        <p:spPr>
          <a:xfrm>
            <a:off x="484566" y="2907534"/>
            <a:ext cx="5488532" cy="1815882"/>
          </a:xfrm>
          <a:prstGeom prst="rect">
            <a:avLst/>
          </a:prstGeom>
        </p:spPr>
        <p:txBody>
          <a:bodyPr wrap="square">
            <a:spAutoFit/>
          </a:bodyPr>
          <a:lstStyle/>
          <a:p>
            <a:pPr>
              <a:defRPr/>
            </a:pPr>
            <a:r>
              <a:rPr lang="en-US" sz="2800" b="1" dirty="0">
                <a:latin typeface="Arial" pitchFamily="34" charset="0"/>
                <a:cs typeface="Arial" pitchFamily="34" charset="0"/>
              </a:rPr>
              <a:t>How can you describe in words how to find the number of cars produced for any number of hours?</a:t>
            </a:r>
            <a:endParaRPr lang="en-IN" sz="2800" dirty="0">
              <a:latin typeface="Arial" pitchFamily="34" charset="0"/>
              <a:cs typeface="Arial" pitchFamily="34" charset="0"/>
            </a:endParaRPr>
          </a:p>
        </p:txBody>
      </p:sp>
      <p:pic>
        <p:nvPicPr>
          <p:cNvPr id="15" name="Picture 2" descr="C:\Users\HP\Desktop\G6 U9\OPS\img\.assets\2fd0200893824eed99970e12ed29571f\narm24_c10904_eps_001a.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489707"/>
            <a:ext cx="6015415" cy="2581200"/>
          </a:xfrm>
          <a:prstGeom prst="rect">
            <a:avLst/>
          </a:prstGeom>
          <a:noFill/>
          <a:extLst>
            <a:ext uri="{909E8E84-426E-40DD-AFC4-6F175D3DCCD1}">
              <a14:hiddenFill xmlns:a14="http://schemas.microsoft.com/office/drawing/2010/main">
                <a:solidFill>
                  <a:srgbClr val="FFFFFF"/>
                </a:solidFill>
              </a14:hiddenFill>
            </a:ext>
          </a:extLst>
        </p:spPr>
      </p:pic>
      <p:sp>
        <p:nvSpPr>
          <p:cNvPr id="16" name="EWL-COVER-1"/>
          <p:cNvSpPr/>
          <p:nvPr/>
        </p:nvSpPr>
        <p:spPr>
          <a:xfrm>
            <a:off x="429700" y="4720436"/>
            <a:ext cx="10558428" cy="1592775"/>
          </a:xfrm>
          <a:prstGeom prst="rect">
            <a:avLst/>
          </a:prstGeom>
          <a:solidFill>
            <a:srgbClr val="FFFFFF"/>
          </a:solidFill>
          <a:ln>
            <a:noFill/>
          </a:ln>
        </p:spPr>
        <p:txBody>
          <a:bodyPr/>
          <a:lstStyle/>
          <a:p/>
        </p:txBody>
      </p:sp>
      <p:sp>
        <p:nvSpPr>
          <p:cNvPr id="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40</a:t>
            </a:r>
          </a:p>
        </p:txBody>
      </p:sp>
      <p:grpSp>
        <p:nvGrpSpPr>
          <p:cNvPr id="18" name="TEACH-5-student-move" descr="TEACH 5 · Facilitate student interactions and academic talk"/>
          <p:cNvGrpSpPr/>
          <p:nvPr/>
        </p:nvGrpSpPr>
        <p:grpSpPr>
          <a:xfrm>
            <a:off x="6187440" y="813051"/>
            <a:ext cx="5501640" cy="594360"/>
            <a:chOff x="6187440" y="813051"/>
            <a:chExt cx="5501640" cy="594360"/>
          </a:xfrm>
        </p:grpSpPr>
        <p:sp>
          <p:nvSpPr>
            <p:cNvPr id="19" name="TEACH-move-card"/>
            <p:cNvSpPr/>
            <p:nvPr/>
          </p:nvSpPr>
          <p:spPr>
            <a:xfrm>
              <a:off x="6187440" y="813051"/>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20" name="TEACH-move-rule"/>
            <p:cNvSpPr/>
            <p:nvPr/>
          </p:nvSpPr>
          <p:spPr>
            <a:xfrm>
              <a:off x="6233160" y="925979"/>
              <a:ext cx="100584" cy="368504"/>
            </a:xfrm>
            <a:prstGeom prst="roundRect">
              <a:avLst>
                <a:gd name="adj" fmla="val 50000"/>
              </a:avLst>
            </a:prstGeom>
            <a:solidFill>
              <a:srgbClr val="01708C"/>
            </a:solidFill>
            <a:ln>
              <a:noFill/>
            </a:ln>
          </p:spPr>
          <p:txBody>
            <a:bodyPr/>
            <a:lstStyle/>
            <a:p>
              <a:endParaRPr/>
            </a:p>
          </p:txBody>
        </p:sp>
        <p:sp>
          <p:nvSpPr>
            <p:cNvPr id="21" name="TEACH-move-text"/>
            <p:cNvSpPr txBox="1"/>
            <p:nvPr/>
          </p:nvSpPr>
          <p:spPr>
            <a:xfrm>
              <a:off x="6507480" y="813051"/>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extLst>
      <p:ext uri="{BB962C8B-B14F-4D97-AF65-F5344CB8AC3E}">
        <p14:creationId xmlns:p14="http://schemas.microsoft.com/office/powerpoint/2010/main" val="20599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D964AAA0-B33D-ADE9-0718-43B863BD30EF}"/>
                  </a:ext>
                </a:extLst>
              </p:cNvPr>
              <p:cNvSpPr txBox="1">
                <a:spLocks/>
              </p:cNvSpPr>
              <p:nvPr/>
            </p:nvSpPr>
            <p:spPr>
              <a:xfrm>
                <a:off x="486000" y="5040000"/>
                <a:ext cx="10241140" cy="108386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p>
              <a:p>
                <a:pPr>
                  <a:spcBef>
                    <a:spcPts val="600"/>
                  </a:spcBef>
                </a:pPr>
                <a:r>
                  <a:rPr lang="en-US" sz="2800" dirty="0">
                    <a:solidFill>
                      <a:schemeClr val="tx1">
                        <a:lumMod val="65000"/>
                        <a:lumOff val="35000"/>
                      </a:schemeClr>
                    </a:solidFill>
                    <a:latin typeface="Arial" pitchFamily="34" charset="0"/>
                    <a:cs typeface="Arial" pitchFamily="34" charset="0"/>
                  </a:rPr>
                  <a:t xml:space="preserve">We can solve the equation for the number of hours, </a:t>
                </a:r>
                <a14:m>
                  <m:oMath xmlns:m="http://schemas.openxmlformats.org/officeDocument/2006/math">
                    <m:r>
                      <a:rPr lang="en-US" sz="2800" i="1" dirty="0" smtClean="0">
                        <a:solidFill>
                          <a:schemeClr val="tx1">
                            <a:lumMod val="65000"/>
                            <a:lumOff val="35000"/>
                          </a:schemeClr>
                        </a:solidFill>
                        <a:latin typeface="Cambria Math"/>
                        <a:cs typeface="Arial" pitchFamily="34" charset="0"/>
                      </a:rPr>
                      <m:t>ℎ</m:t>
                    </m:r>
                  </m:oMath>
                </a14:m>
                <a:r>
                  <a:rPr lang="en-US" sz="2800" dirty="0">
                    <a:solidFill>
                      <a:schemeClr val="tx1">
                        <a:lumMod val="65000"/>
                        <a:lumOff val="35000"/>
                      </a:schemeClr>
                    </a:solidFill>
                    <a:latin typeface="Arial" pitchFamily="34" charset="0"/>
                    <a:cs typeface="Arial" pitchFamily="34" charset="0"/>
                  </a:rPr>
                  <a:t xml:space="preserve">. </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mc:Choice>
        <mc:Fallback xmlns="">
          <p:sp>
            <p:nvSpPr>
              <p:cNvPr id="23" name="Content Placeholder 2">
                <a:extLst>
                  <a:ext uri="{FF2B5EF4-FFF2-40B4-BE49-F238E27FC236}">
                    <a16:creationId xmlns:a16="http://schemas.microsoft.com/office/drawing/2014/main" id="{D964AAA0-B33D-ADE9-0718-43B863BD30EF}"/>
                  </a:ext>
                </a:extLst>
              </p:cNvPr>
              <p:cNvSpPr txBox="1">
                <a:spLocks noRot="1" noChangeAspect="1" noMove="1" noResize="1" noEditPoints="1" noAdjustHandles="1" noChangeArrowheads="1" noChangeShapeType="1" noTextEdit="1"/>
              </p:cNvSpPr>
              <p:nvPr/>
            </p:nvSpPr>
            <p:spPr>
              <a:xfrm>
                <a:off x="486000" y="5040000"/>
                <a:ext cx="10241140" cy="1083869"/>
              </a:xfrm>
              <a:prstGeom prst="rect">
                <a:avLst/>
              </a:prstGeom>
              <a:blipFill>
                <a:blip r:embed="rId2"/>
                <a:stretch>
                  <a:fillRect l="-1250" t="-6180" b="-95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12135" y="1983539"/>
                <a:ext cx="6468437" cy="523220"/>
              </a:xfrm>
              <a:prstGeom prst="rect">
                <a:avLst/>
              </a:prstGeom>
            </p:spPr>
            <p:txBody>
              <a:bodyPr wrap="square">
                <a:spAutoFit/>
              </a:bodyPr>
              <a:lstStyle/>
              <a:p>
                <a:pPr/>
                <a14:m>
                  <m:oMathPara xmlns:m="http://schemas.openxmlformats.org/officeDocument/2006/math">
                    <m:oMath>
                      <m:r>
                        <m:rPr>
                          <m:sty m:val="p"/>
                        </m:rPr>
                        <a:rPr lang="en-US" sz="2800" i="0" dirty="0" smtClean="0">
                          <a:latin typeface="Cambria Math"/>
                          <a:cs typeface="Arial" pitchFamily="34" charset="0"/>
                        </a:rPr>
                        <m:t>cars</m:t>
                      </m:r>
                      <m:r>
                        <a:rPr lang="en-US" sz="2800" i="0" dirty="0" smtClean="0">
                          <a:latin typeface="Cambria Math"/>
                          <a:cs typeface="Arial" pitchFamily="34" charset="0"/>
                        </a:rPr>
                        <m:t> </m:t>
                      </m:r>
                      <m:r>
                        <m:rPr>
                          <m:sty m:val="p"/>
                        </m:rPr>
                        <a:rPr lang="en-US" sz="2800" i="0" dirty="0" smtClean="0">
                          <a:latin typeface="Cambria Math"/>
                          <a:cs typeface="Arial" pitchFamily="34" charset="0"/>
                        </a:rPr>
                        <m:t>produced</m:t>
                      </m:r>
                      <m:r>
                        <a:rPr lang="en-US" sz="2800" i="0" dirty="0" smtClean="0">
                          <a:latin typeface="Cambria Math"/>
                          <a:cs typeface="Arial" pitchFamily="34" charset="0"/>
                        </a:rPr>
                        <m:t>=2.5×</m:t>
                      </m:r>
                      <m:r>
                        <m:rPr>
                          <m:sty m:val="p"/>
                        </m:rPr>
                        <a:rPr lang="en-US" sz="2800" i="0" dirty="0" smtClean="0">
                          <a:latin typeface="Cambria Math"/>
                          <a:cs typeface="Arial" pitchFamily="34" charset="0"/>
                        </a:rPr>
                        <m:t>number</m:t>
                      </m:r>
                      <m:r>
                        <a:rPr lang="en-US" sz="2800" i="0" dirty="0" smtClean="0">
                          <a:latin typeface="Cambria Math"/>
                          <a:cs typeface="Arial" pitchFamily="34" charset="0"/>
                        </a:rPr>
                        <m:t> </m:t>
                      </m:r>
                      <m:r>
                        <m:rPr>
                          <m:sty m:val="p"/>
                        </m:rPr>
                        <a:rPr lang="en-US" sz="2800" i="0" dirty="0" smtClean="0">
                          <a:latin typeface="Cambria Math"/>
                          <a:cs typeface="Arial" pitchFamily="34" charset="0"/>
                        </a:rPr>
                        <m:t>of</m:t>
                      </m:r>
                      <m:r>
                        <a:rPr lang="en-US" sz="2800" i="0" dirty="0" smtClean="0">
                          <a:latin typeface="Cambria Math"/>
                          <a:cs typeface="Arial" pitchFamily="34" charset="0"/>
                        </a:rPr>
                        <m:t> </m:t>
                      </m:r>
                      <m:r>
                        <m:rPr>
                          <m:sty m:val="p"/>
                        </m:rPr>
                        <a:rPr lang="en-US" sz="2800" i="0" dirty="0" smtClean="0">
                          <a:latin typeface="Cambria Math"/>
                          <a:cs typeface="Arial" pitchFamily="34" charset="0"/>
                        </a:rPr>
                        <m:t>hours</m:t>
                      </m:r>
                      <m:r>
                        <a:rPr lang="en-US" sz="2800" i="0"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4" name="Rectangle 12"/>
              <p:cNvSpPr>
                <a:spLocks noRot="1" noChangeAspect="1" noMove="1" noResize="1" noEditPoints="1" noAdjustHandles="1" noChangeArrowheads="1" noChangeShapeType="1" noTextEdit="1"/>
              </p:cNvSpPr>
              <p:nvPr/>
            </p:nvSpPr>
            <p:spPr>
              <a:xfrm>
                <a:off x="512135" y="1983539"/>
                <a:ext cx="6468437"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2536391" y="2568716"/>
                <a:ext cx="1682577" cy="523220"/>
              </a:xfrm>
              <a:prstGeom prst="rect">
                <a:avLst/>
              </a:prstGeom>
            </p:spPr>
            <p:txBody>
              <a:bodyPr wrap="square">
                <a:spAutoFit/>
              </a:bodyPr>
              <a:lstStyle/>
              <a:p>
                <a:pPr/>
                <a14:m>
                  <m:oMathPara xmlns:m="http://schemas.openxmlformats.org/officeDocument/2006/math">
                    <m:oMath>
                      <m:r>
                        <a:rPr lang="en-IN" sz="2800" i="1" dirty="0" smtClean="0">
                          <a:latin typeface="Cambria Math"/>
                          <a:cs typeface="Arial" pitchFamily="34" charset="0"/>
                        </a:rPr>
                        <m:t>𝑐</m:t>
                      </m:r>
                      <m:r>
                        <a:rPr lang="en-IN" sz="2800" i="1" dirty="0" smtClean="0">
                          <a:latin typeface="Cambria Math"/>
                          <a:cs typeface="Arial" pitchFamily="34" charset="0"/>
                        </a:rPr>
                        <m:t>=2.5</m:t>
                      </m:r>
                      <m:r>
                        <a:rPr lang="en-IN" sz="2800" i="1" dirty="0" smtClean="0">
                          <a:latin typeface="Cambria Math"/>
                          <a:cs typeface="Arial" pitchFamily="34" charset="0"/>
                        </a:rPr>
                        <m:t>ℎ</m:t>
                      </m:r>
                      <m:r>
                        <a:rPr lang="en-IN" sz="2800" i="1"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5" name="Rectangle 14"/>
              <p:cNvSpPr>
                <a:spLocks noRot="1" noChangeAspect="1" noMove="1" noResize="1" noEditPoints="1" noAdjustHandles="1" noChangeArrowheads="1" noChangeShapeType="1" noTextEdit="1"/>
              </p:cNvSpPr>
              <p:nvPr/>
            </p:nvSpPr>
            <p:spPr>
              <a:xfrm>
                <a:off x="2536391" y="2568716"/>
                <a:ext cx="1682577" cy="523220"/>
              </a:xfrm>
              <a:prstGeom prst="rect">
                <a:avLst/>
              </a:prstGeom>
              <a:blipFill>
                <a:blip r:embed="rId4"/>
                <a:stretch>
                  <a:fillRect/>
                </a:stretch>
              </a:blipFill>
            </p:spPr>
            <p:txBody>
              <a:bodyPr/>
              <a:lstStyle/>
              <a:p>
                <a:r>
                  <a:rPr lang="en-IN">
                    <a:noFill/>
                  </a:rPr>
                  <a:t> </a:t>
                </a:r>
              </a:p>
            </p:txBody>
          </p:sp>
        </mc:Fallback>
      </mc:AlternateContent>
      <p:sp>
        <p:nvSpPr>
          <p:cNvPr id="16" name="Rectangle 15"/>
          <p:cNvSpPr/>
          <p:nvPr/>
        </p:nvSpPr>
        <p:spPr>
          <a:xfrm>
            <a:off x="484563" y="3821294"/>
            <a:ext cx="7467374" cy="954107"/>
          </a:xfrm>
          <a:prstGeom prst="rect">
            <a:avLst/>
          </a:prstGeom>
        </p:spPr>
        <p:txBody>
          <a:bodyPr wrap="square">
            <a:spAutoFit/>
          </a:bodyPr>
          <a:lstStyle/>
          <a:p>
            <a:r>
              <a:rPr lang="en-US" sz="2800" b="1" dirty="0">
                <a:latin typeface="Arial" pitchFamily="34" charset="0"/>
                <a:cs typeface="Arial" pitchFamily="34" charset="0"/>
              </a:rPr>
              <a:t>How can you determine how long it will take the plant to produce 1,000 cars?</a:t>
            </a:r>
            <a:endParaRPr lang="en-IN"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D7D5C8EC-F1EF-6146-850F-128719B25F22}"/>
                  </a:ext>
                </a:extLst>
              </p:cNvPr>
              <p:cNvSpPr txBox="1">
                <a:spLocks/>
              </p:cNvSpPr>
              <p:nvPr/>
            </p:nvSpPr>
            <p:spPr>
              <a:xfrm>
                <a:off x="484563" y="936001"/>
                <a:ext cx="7468811" cy="108386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r>
                  <a:rPr lang="en-US" sz="2800" dirty="0">
                    <a:solidFill>
                      <a:schemeClr val="tx1"/>
                    </a:solidFill>
                    <a:latin typeface="Arial" pitchFamily="34" charset="0"/>
                    <a:cs typeface="Arial" pitchFamily="34" charset="0"/>
                  </a:rPr>
                  <a:t xml:space="preserve">The order requires the plant to produce 1,000 cars, so let </a:t>
                </a:r>
                <a14:m>
                  <m:oMath xmlns:m="http://schemas.openxmlformats.org/officeDocument/2006/math">
                    <m:r>
                      <a:rPr lang="en-US" sz="2800" i="1" dirty="0" smtClean="0">
                        <a:solidFill>
                          <a:schemeClr val="tx1"/>
                        </a:solidFill>
                        <a:latin typeface="Cambria Math"/>
                        <a:cs typeface="Arial" pitchFamily="34" charset="0"/>
                      </a:rPr>
                      <m:t>𝑐</m:t>
                    </m:r>
                    <m:r>
                      <a:rPr lang="en-US" sz="2800" i="1" dirty="0" smtClean="0">
                        <a:solidFill>
                          <a:schemeClr val="tx1"/>
                        </a:solidFill>
                        <a:latin typeface="Cambria Math"/>
                        <a:cs typeface="Arial" pitchFamily="34" charset="0"/>
                      </a:rPr>
                      <m:t>=1,000.</m:t>
                    </m:r>
                  </m:oMath>
                </a14:m>
                <a:r>
                  <a:rPr lang="en-US" sz="2800" dirty="0">
                    <a:solidFill>
                      <a:schemeClr val="tx1"/>
                    </a:solidFill>
                    <a:latin typeface="Arial" pitchFamily="34" charset="0"/>
                    <a:cs typeface="Arial" pitchFamily="34" charset="0"/>
                  </a:rPr>
                  <a:t xml:space="preserve"> </a:t>
                </a:r>
              </a:p>
            </p:txBody>
          </p:sp>
        </mc:Choice>
        <mc:Fallback xmlns="">
          <p:sp>
            <p:nvSpPr>
              <p:cNvPr id="26"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3" y="936001"/>
                <a:ext cx="7468811" cy="1083868"/>
              </a:xfrm>
              <a:prstGeom prst="rect">
                <a:avLst/>
              </a:prstGeom>
              <a:blipFill>
                <a:blip r:embed="rId5"/>
                <a:stretch>
                  <a:fillRect l="-1631" t="-6215" r="-1468" b="-33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1917825" y="3153893"/>
                <a:ext cx="2301143" cy="523220"/>
              </a:xfrm>
              <a:prstGeom prst="rect">
                <a:avLst/>
              </a:prstGeom>
            </p:spPr>
            <p:txBody>
              <a:bodyPr wrap="square">
                <a:spAutoFit/>
              </a:bodyPr>
              <a:lstStyle/>
              <a:p>
                <a:pPr/>
                <a14:m>
                  <m:oMathPara xmlns:m="http://schemas.openxmlformats.org/officeDocument/2006/math">
                    <m:oMath>
                      <m:r>
                        <a:rPr lang="en-US" sz="2800" b="0" i="1" dirty="0" smtClean="0">
                          <a:latin typeface="Cambria Math"/>
                          <a:cs typeface="Arial" pitchFamily="34" charset="0"/>
                        </a:rPr>
                        <m:t>1000</m:t>
                      </m:r>
                      <m:r>
                        <a:rPr lang="en-IN" sz="2800" i="1" dirty="0" smtClean="0">
                          <a:latin typeface="Cambria Math"/>
                          <a:cs typeface="Arial" pitchFamily="34" charset="0"/>
                        </a:rPr>
                        <m:t>=2.5</m:t>
                      </m:r>
                      <m:r>
                        <a:rPr lang="en-IN" sz="2800" i="1" dirty="0" smtClean="0">
                          <a:latin typeface="Cambria Math"/>
                          <a:cs typeface="Arial" pitchFamily="34" charset="0"/>
                        </a:rPr>
                        <m:t>ℎ</m:t>
                      </m:r>
                      <m:r>
                        <a:rPr lang="en-IN" sz="2800" i="1"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7" name="Rectangle 17"/>
              <p:cNvSpPr>
                <a:spLocks noRot="1" noChangeAspect="1" noMove="1" noResize="1" noEditPoints="1" noAdjustHandles="1" noChangeArrowheads="1" noChangeShapeType="1" noTextEdit="1"/>
              </p:cNvSpPr>
              <p:nvPr/>
            </p:nvSpPr>
            <p:spPr>
              <a:xfrm>
                <a:off x="1917825" y="3153893"/>
                <a:ext cx="2301143" cy="523220"/>
              </a:xfrm>
              <a:prstGeom prst="rect">
                <a:avLst/>
              </a:prstGeom>
              <a:blipFill>
                <a:blip r:embed="rId6"/>
                <a:stretch>
                  <a:fillRect/>
                </a:stretch>
              </a:blipFill>
            </p:spPr>
            <p:txBody>
              <a:bodyPr/>
              <a:lstStyle/>
              <a:p>
                <a:r>
                  <a:rPr lang="en-IN">
                    <a:noFill/>
                  </a:rPr>
                  <a:t> </a:t>
                </a:r>
              </a:p>
            </p:txBody>
          </p:sp>
        </mc:Fallback>
      </mc:AlternateContent>
      <p:pic>
        <p:nvPicPr>
          <p:cNvPr id="19" name="Picture 2" descr="C:\Users\HP\Desktop\G6 U9\OPS\img\.assets\4f63231d824c43e2a2344e416eb1fa2d\narm24_c10904_se_005a-dig-eps.png"/>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8275787" y="1335269"/>
            <a:ext cx="3429000" cy="2486025"/>
          </a:xfrm>
          <a:prstGeom prst="rect">
            <a:avLst/>
          </a:prstGeom>
          <a:noFill/>
          <a:extLst>
            <a:ext uri="{909E8E84-426E-40DD-AFC4-6F175D3DCCD1}">
              <a14:hiddenFill xmlns:a14="http://schemas.microsoft.com/office/drawing/2010/main">
                <a:solidFill>
                  <a:srgbClr val="FFFFFF"/>
                </a:solidFill>
              </a14:hiddenFill>
            </a:ext>
          </a:extLst>
        </p:spPr>
      </p:pic>
      <p:sp>
        <p:nvSpPr>
          <p:cNvPr id="20" name="Title 1">
            <a:extLst>
              <a:ext uri="{FF2B5EF4-FFF2-40B4-BE49-F238E27FC236}">
                <a16:creationId xmlns:a16="http://schemas.microsoft.com/office/drawing/2014/main" id="{EB3F8002-891A-CA7F-24BF-57912652B070}"/>
              </a:ext>
            </a:extLst>
          </p:cNvPr>
          <p:cNvSpPr txBox="1">
            <a:spLocks/>
          </p:cNvSpPr>
          <p:nvPr/>
        </p:nvSpPr>
        <p:spPr>
          <a:xfrm>
            <a:off x="484565" y="316035"/>
            <a:ext cx="5015483" cy="55801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sp>
        <p:nvSpPr>
          <p:cNvPr id="2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40</a:t>
            </a:r>
          </a:p>
        </p:txBody>
      </p:sp>
      <p:sp xmlns:p="http://schemas.openxmlformats.org/presentationml/2006/main" xmlns:a="http://schemas.openxmlformats.org/drawingml/2006/main">
        <p:nvSpPr>
          <p:cNvPr id="2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extLst>
      <p:ext uri="{BB962C8B-B14F-4D97-AF65-F5344CB8AC3E}">
        <p14:creationId xmlns:p14="http://schemas.microsoft.com/office/powerpoint/2010/main" val="3682308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001"/>
                <a:ext cx="5479508" cy="48799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 xml:space="preserve">Let’s solve the equation of </a:t>
                </a:r>
                <a14:m>
                  <m:oMath xmlns:m="http://schemas.openxmlformats.org/officeDocument/2006/math">
                    <m:r>
                      <a:rPr lang="en-US" sz="2800" i="1" dirty="0" smtClean="0">
                        <a:solidFill>
                          <a:schemeClr val="tx1"/>
                        </a:solidFill>
                        <a:latin typeface="Cambria Math"/>
                        <a:cs typeface="Arial" pitchFamily="34" charset="0"/>
                      </a:rPr>
                      <m:t>ℎ</m:t>
                    </m:r>
                    <m:r>
                      <a:rPr lang="en-US" sz="2800" i="1" dirty="0" smtClean="0">
                        <a:solidFill>
                          <a:schemeClr val="tx1"/>
                        </a:solidFill>
                        <a:latin typeface="Cambria Math"/>
                        <a:cs typeface="Arial" pitchFamily="34" charset="0"/>
                      </a:rPr>
                      <m:t>. </m:t>
                    </m:r>
                  </m:oMath>
                </a14:m>
                <a:endParaRPr lang="en-US" sz="2800" dirty="0">
                  <a:solidFill>
                    <a:schemeClr val="tx1"/>
                  </a:solidFill>
                  <a:latin typeface="Arial" panose="020B0604020202020204" pitchFamily="34" charset="0"/>
                  <a:cs typeface="Arial" panose="020B0604020202020204" pitchFamily="34" charset="0"/>
                </a:endParaRPr>
              </a:p>
            </p:txBody>
          </p:sp>
        </mc:Choice>
        <mc:Fallback xmlns="">
          <p:sp>
            <p:nvSpPr>
              <p:cNvPr id="21"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5" y="936001"/>
                <a:ext cx="5479508" cy="487990"/>
              </a:xfrm>
              <a:prstGeom prst="rect">
                <a:avLst/>
              </a:prstGeom>
              <a:blipFill>
                <a:blip r:embed="rId2"/>
                <a:stretch>
                  <a:fillRect l="-2225" t="-13750" b="-41250"/>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EB3F8002-891A-CA7F-24BF-57912652B070}"/>
              </a:ext>
            </a:extLst>
          </p:cNvPr>
          <p:cNvSpPr txBox="1">
            <a:spLocks/>
          </p:cNvSpPr>
          <p:nvPr/>
        </p:nvSpPr>
        <p:spPr>
          <a:xfrm>
            <a:off x="484565" y="316034"/>
            <a:ext cx="5015483" cy="53253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Rectangle 5"/>
              <p:cNvSpPr/>
              <p:nvPr/>
            </p:nvSpPr>
            <p:spPr>
              <a:xfrm>
                <a:off x="1620774" y="1517289"/>
                <a:ext cx="6421204" cy="523220"/>
              </a:xfrm>
              <a:prstGeom prst="rect">
                <a:avLst/>
              </a:prstGeom>
            </p:spPr>
            <p:txBody>
              <a:bodyPr wrap="square">
                <a:spAutoFit/>
              </a:bodyPr>
              <a:lstStyle/>
              <a:p>
                <a:pPr/>
                <a14:m>
                  <m:oMathPara xmlns:m="http://schemas.openxmlformats.org/officeDocument/2006/math">
                    <m:oMath>
                      <m:r>
                        <m:rPr>
                          <m:sty m:val="p"/>
                        </m:rPr>
                        <a:rPr lang="en-US" sz="2800" i="0" dirty="0" smtClean="0">
                          <a:latin typeface="Cambria Math"/>
                          <a:cs typeface="Arial" pitchFamily="34" charset="0"/>
                        </a:rPr>
                        <m:t>cars</m:t>
                      </m:r>
                      <m:r>
                        <a:rPr lang="en-US" sz="2800" i="0" dirty="0" smtClean="0">
                          <a:latin typeface="Cambria Math"/>
                          <a:cs typeface="Arial" pitchFamily="34" charset="0"/>
                        </a:rPr>
                        <m:t> </m:t>
                      </m:r>
                      <m:r>
                        <m:rPr>
                          <m:sty m:val="p"/>
                        </m:rPr>
                        <a:rPr lang="en-US" sz="2800" i="0" dirty="0" smtClean="0">
                          <a:latin typeface="Cambria Math"/>
                          <a:cs typeface="Arial" pitchFamily="34" charset="0"/>
                        </a:rPr>
                        <m:t>produced</m:t>
                      </m:r>
                      <m:r>
                        <a:rPr lang="en-US" sz="2800" i="0" dirty="0" smtClean="0">
                          <a:latin typeface="Cambria Math"/>
                          <a:cs typeface="Arial" pitchFamily="34" charset="0"/>
                        </a:rPr>
                        <m:t>=2.5×</m:t>
                      </m:r>
                      <m:r>
                        <m:rPr>
                          <m:sty m:val="p"/>
                        </m:rPr>
                        <a:rPr lang="en-US" sz="2800" i="0" dirty="0" smtClean="0">
                          <a:latin typeface="Cambria Math"/>
                          <a:cs typeface="Arial" pitchFamily="34" charset="0"/>
                        </a:rPr>
                        <m:t>number</m:t>
                      </m:r>
                      <m:r>
                        <a:rPr lang="en-US" sz="2800" i="0" dirty="0" smtClean="0">
                          <a:latin typeface="Cambria Math"/>
                          <a:cs typeface="Arial" pitchFamily="34" charset="0"/>
                        </a:rPr>
                        <m:t> </m:t>
                      </m:r>
                      <m:r>
                        <m:rPr>
                          <m:sty m:val="p"/>
                        </m:rPr>
                        <a:rPr lang="en-US" sz="2800" i="0" dirty="0" smtClean="0">
                          <a:latin typeface="Cambria Math"/>
                          <a:cs typeface="Arial" pitchFamily="34" charset="0"/>
                        </a:rPr>
                        <m:t>of</m:t>
                      </m:r>
                      <m:r>
                        <a:rPr lang="en-US" sz="2800" i="0" dirty="0" smtClean="0">
                          <a:latin typeface="Cambria Math"/>
                          <a:cs typeface="Arial" pitchFamily="34" charset="0"/>
                        </a:rPr>
                        <m:t> </m:t>
                      </m:r>
                      <m:r>
                        <m:rPr>
                          <m:sty m:val="p"/>
                        </m:rPr>
                        <a:rPr lang="en-US" sz="2800" i="0" dirty="0" smtClean="0">
                          <a:latin typeface="Cambria Math"/>
                          <a:cs typeface="Arial" pitchFamily="34" charset="0"/>
                        </a:rPr>
                        <m:t>hours</m:t>
                      </m:r>
                      <m:r>
                        <a:rPr lang="en-US" sz="2800" i="0"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2" name="Rectangle 5"/>
              <p:cNvSpPr>
                <a:spLocks noRot="1" noChangeAspect="1" noMove="1" noResize="1" noEditPoints="1" noAdjustHandles="1" noChangeArrowheads="1" noChangeShapeType="1" noTextEdit="1"/>
              </p:cNvSpPr>
              <p:nvPr/>
            </p:nvSpPr>
            <p:spPr>
              <a:xfrm>
                <a:off x="1620774" y="1517289"/>
                <a:ext cx="6421204"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702961" y="2133807"/>
                <a:ext cx="1682577" cy="523220"/>
              </a:xfrm>
              <a:prstGeom prst="rect">
                <a:avLst/>
              </a:prstGeom>
            </p:spPr>
            <p:txBody>
              <a:bodyPr wrap="square">
                <a:spAutoFit/>
              </a:bodyPr>
              <a:lstStyle/>
              <a:p>
                <a:pPr/>
                <a14:m>
                  <m:oMathPara xmlns:m="http://schemas.openxmlformats.org/officeDocument/2006/math">
                    <m:oMath>
                      <m:r>
                        <a:rPr lang="en-IN" sz="2800" i="1" dirty="0" smtClean="0">
                          <a:latin typeface="Cambria Math"/>
                          <a:cs typeface="Arial" pitchFamily="34" charset="0"/>
                        </a:rPr>
                        <m:t>𝑐</m:t>
                      </m:r>
                      <m:r>
                        <a:rPr lang="en-IN" sz="2800" i="1" dirty="0" smtClean="0">
                          <a:latin typeface="Cambria Math"/>
                          <a:cs typeface="Arial" pitchFamily="34" charset="0"/>
                        </a:rPr>
                        <m:t>=2.5</m:t>
                      </m:r>
                      <m:r>
                        <a:rPr lang="en-IN" sz="2800" i="1" dirty="0" smtClean="0">
                          <a:latin typeface="Cambria Math"/>
                          <a:cs typeface="Arial" pitchFamily="34" charset="0"/>
                        </a:rPr>
                        <m:t>ℎ</m:t>
                      </m:r>
                      <m:r>
                        <a:rPr lang="en-IN" sz="2800" i="1"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3" name="Rectangle 6"/>
              <p:cNvSpPr>
                <a:spLocks noRot="1" noChangeAspect="1" noMove="1" noResize="1" noEditPoints="1" noAdjustHandles="1" noChangeArrowheads="1" noChangeShapeType="1" noTextEdit="1"/>
              </p:cNvSpPr>
              <p:nvPr/>
            </p:nvSpPr>
            <p:spPr>
              <a:xfrm>
                <a:off x="3702961" y="2133807"/>
                <a:ext cx="1682577" cy="523220"/>
              </a:xfrm>
              <a:prstGeom prst="rect">
                <a:avLst/>
              </a:prstGeom>
              <a:blipFill>
                <a:blip r:embed="rId4"/>
                <a:stretch>
                  <a:fillRect/>
                </a:stretch>
              </a:blipFill>
            </p:spPr>
            <p:txBody>
              <a:bodyPr/>
              <a:lstStyle/>
              <a:p>
                <a:r>
                  <a:rPr lang="en-IN">
                    <a:noFill/>
                  </a:rPr>
                  <a:t> </a:t>
                </a:r>
              </a:p>
            </p:txBody>
          </p:sp>
        </mc:Fallback>
      </mc:AlternateContent>
      <p:sp>
        <p:nvSpPr>
          <p:cNvPr id="3" name="Rectangle 2"/>
          <p:cNvSpPr/>
          <p:nvPr/>
        </p:nvSpPr>
        <p:spPr>
          <a:xfrm>
            <a:off x="484565" y="4781708"/>
            <a:ext cx="10481343" cy="523220"/>
          </a:xfrm>
          <a:prstGeom prst="rect">
            <a:avLst/>
          </a:prstGeom>
        </p:spPr>
        <p:txBody>
          <a:bodyPr wrap="square">
            <a:spAutoFit/>
          </a:bodyPr>
          <a:lstStyle/>
          <a:p>
            <a:pPr>
              <a:defRPr/>
            </a:pPr>
            <a:r>
              <a:rPr lang="en-US" sz="2800" b="1" dirty="0">
                <a:latin typeface="Arial" pitchFamily="34" charset="0"/>
                <a:cs typeface="Arial" pitchFamily="34" charset="0"/>
              </a:rPr>
              <a:t>What does the solution mean in the context of the situation?</a:t>
            </a:r>
            <a:endParaRPr lang="en-IN" sz="2800" dirty="0">
              <a:latin typeface="Arial" pitchFamily="34" charset="0"/>
              <a:cs typeface="Arial" pitchFamily="34" charset="0"/>
            </a:endParaRPr>
          </a:p>
        </p:txBody>
      </p:sp>
      <p:sp>
        <p:nvSpPr>
          <p:cNvPr id="11" name="Content Placeholder 2">
            <a:extLst>
              <a:ext uri="{FF2B5EF4-FFF2-40B4-BE49-F238E27FC236}">
                <a16:creationId xmlns:a16="http://schemas.microsoft.com/office/drawing/2014/main" id="{D964AAA0-B33D-ADE9-0718-43B863BD30EF}"/>
              </a:ext>
            </a:extLst>
          </p:cNvPr>
          <p:cNvSpPr txBox="1">
            <a:spLocks/>
          </p:cNvSpPr>
          <p:nvPr/>
        </p:nvSpPr>
        <p:spPr>
          <a:xfrm>
            <a:off x="505105" y="5328000"/>
            <a:ext cx="8652543" cy="98945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p>
          <a:p>
            <a:pPr>
              <a:spcBef>
                <a:spcPts val="600"/>
              </a:spcBef>
              <a:defRPr/>
            </a:pPr>
            <a:r>
              <a:rPr lang="en-US" sz="2800" dirty="0">
                <a:solidFill>
                  <a:schemeClr val="tx1">
                    <a:lumMod val="65000"/>
                    <a:lumOff val="35000"/>
                  </a:schemeClr>
                </a:solidFill>
                <a:latin typeface="Arial" pitchFamily="34" charset="0"/>
                <a:cs typeface="Arial" pitchFamily="34" charset="0"/>
              </a:rPr>
              <a:t>The plant will need 400 hours to produce 1,000 cars.</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0415609"/>
                  </p:ext>
                </p:extLst>
              </p:nvPr>
            </p:nvGraphicFramePr>
            <p:xfrm>
              <a:off x="505105" y="2750325"/>
              <a:ext cx="8128000" cy="1938084"/>
            </p:xfrm>
            <a:graphic>
              <a:graphicData uri="http://schemas.openxmlformats.org/drawingml/2006/table">
                <a:tbl>
                  <a:tblPr firstRow="1" bandRow="1">
                    <a:tableStyleId>{2D5ABB26-0587-4C30-8999-92F81FD0307C}</a:tableStyleId>
                  </a:tblPr>
                  <a:tblGrid>
                    <a:gridCol w="3133445">
                      <a:extLst>
                        <a:ext uri="{9D8B030D-6E8A-4147-A177-3AD203B41FA5}">
                          <a16:colId xmlns:a16="http://schemas.microsoft.com/office/drawing/2014/main" val="2599990470"/>
                        </a:ext>
                      </a:extLst>
                    </a:gridCol>
                    <a:gridCol w="4994555">
                      <a:extLst>
                        <a:ext uri="{9D8B030D-6E8A-4147-A177-3AD203B41FA5}">
                          <a16:colId xmlns:a16="http://schemas.microsoft.com/office/drawing/2014/main" val="19350013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lang="en-US" sz="2800" b="0" i="1" dirty="0" smtClean="0">
                                    <a:latin typeface="Cambria Math"/>
                                    <a:cs typeface="Arial" pitchFamily="34" charset="0"/>
                                  </a:rPr>
                                  <m:t>1000</m:t>
                                </m:r>
                                <m:r>
                                  <a:rPr lang="en-IN" sz="2800" i="1" dirty="0" smtClean="0">
                                    <a:latin typeface="Cambria Math"/>
                                    <a:cs typeface="Arial" pitchFamily="34" charset="0"/>
                                  </a:rPr>
                                  <m:t>=2.5</m:t>
                                </m:r>
                                <m:r>
                                  <a:rPr lang="en-IN" sz="2800" i="1" dirty="0" smtClean="0">
                                    <a:latin typeface="Cambria Math"/>
                                    <a:cs typeface="Arial" pitchFamily="34" charset="0"/>
                                  </a:rPr>
                                  <m:t>ℎ</m:t>
                                </m:r>
                                <m:r>
                                  <a:rPr lang="en-IN" sz="2800" i="1" dirty="0" smtClean="0">
                                    <a:latin typeface="Cambria Math"/>
                                    <a:cs typeface="Arial" pitchFamily="34" charset="0"/>
                                  </a:rPr>
                                  <m:t> </m:t>
                                </m:r>
                              </m:oMath>
                            </m:oMathPara>
                          </a14:m>
                          <a:endParaRPr lang="en-IN" sz="2800" dirty="0">
                            <a:latin typeface="Arial" pitchFamily="34" charset="0"/>
                            <a:cs typeface="Arial" pitchFamily="34" charset="0"/>
                          </a:endParaRPr>
                        </a:p>
                      </a:txBody>
                      <a:tcPr anchor="ctr"/>
                    </a:tc>
                    <a:tc>
                      <a:txBody>
                        <a:bodyPr/>
                        <a:lstStyle/>
                        <a:p>
                          <a:r>
                            <a:rPr lang="en-IN" sz="2800" dirty="0">
                              <a:latin typeface="Arial" pitchFamily="34" charset="0"/>
                              <a:cs typeface="Arial" pitchFamily="34" charset="0"/>
                            </a:rPr>
                            <a:t xml:space="preserve">Substitute 1,000 for </a:t>
                          </a:r>
                          <a14:m>
                            <m:oMath xmlns:m="http://schemas.openxmlformats.org/officeDocument/2006/math">
                              <m:r>
                                <a:rPr lang="en-IN" sz="2800" i="1" dirty="0" smtClean="0">
                                  <a:latin typeface="Cambria Math"/>
                                  <a:cs typeface="Arial" pitchFamily="34" charset="0"/>
                                </a:rPr>
                                <m:t>𝑐</m:t>
                              </m:r>
                              <m:r>
                                <a:rPr lang="en-US" sz="2800" b="0" i="1" dirty="0" smtClean="0">
                                  <a:latin typeface="Cambria Math" panose="02040503050406030204" pitchFamily="18" charset="0"/>
                                  <a:cs typeface="Arial" pitchFamily="34" charset="0"/>
                                </a:rPr>
                                <m:t>.</m:t>
                              </m:r>
                            </m:oMath>
                          </a14:m>
                          <a:r>
                            <a:rPr lang="en-IN" sz="2800" dirty="0">
                              <a:latin typeface="Arial" pitchFamily="34" charset="0"/>
                              <a:cs typeface="Arial" pitchFamily="34" charset="0"/>
                            </a:rPr>
                            <a:t xml:space="preserve"> </a:t>
                          </a:r>
                          <a:endParaRPr lang="en-IN" sz="2800" dirty="0"/>
                        </a:p>
                      </a:txBody>
                      <a:tcPr anchor="ctr"/>
                    </a:tc>
                    <a:extLst>
                      <a:ext uri="{0D108BD9-81ED-4DB2-BD59-A6C34878D82A}">
                        <a16:rowId xmlns:a16="http://schemas.microsoft.com/office/drawing/2014/main" val="2458281297"/>
                      </a:ext>
                    </a:extLst>
                  </a:tr>
                  <a:tr h="370840">
                    <a:tc>
                      <a:txBody>
                        <a:bodyPr/>
                        <a:lstStyle/>
                        <a:p>
                          <a:pPr/>
                          <a14:m>
                            <m:oMathPara xmlns:m="http://schemas.openxmlformats.org/officeDocument/2006/math">
                              <m:oMathParaPr>
                                <m:jc m:val="left"/>
                              </m:oMathParaPr>
                              <m:oMath>
                                <m:f>
                                  <m:fPr>
                                    <m:ctrlPr>
                                      <a:rPr lang="en-US" sz="2800" i="1" dirty="0">
                                        <a:latin typeface="Cambria Math"/>
                                        <a:cs typeface="Arial" pitchFamily="34" charset="0"/>
                                      </a:rPr>
                                    </m:ctrlPr>
                                  </m:fPr>
                                  <m:num>
                                    <m:r>
                                      <a:rPr lang="en-US" sz="2800" i="1" dirty="0">
                                        <a:latin typeface="Cambria Math"/>
                                        <a:cs typeface="Arial" pitchFamily="34" charset="0"/>
                                      </a:rPr>
                                      <m:t>1000</m:t>
                                    </m:r>
                                  </m:num>
                                  <m:den>
                                    <m:r>
                                      <a:rPr lang="en-IN" sz="2800" i="1" dirty="0">
                                        <a:latin typeface="Cambria Math"/>
                                        <a:cs typeface="Arial" pitchFamily="34" charset="0"/>
                                      </a:rPr>
                                      <m:t>2.5</m:t>
                                    </m:r>
                                  </m:den>
                                </m:f>
                                <m:r>
                                  <a:rPr lang="en-IN" sz="2800" i="1" dirty="0" smtClean="0">
                                    <a:latin typeface="Cambria Math"/>
                                    <a:cs typeface="Arial" pitchFamily="34" charset="0"/>
                                  </a:rPr>
                                  <m:t>=</m:t>
                                </m:r>
                                <m:f>
                                  <m:fPr>
                                    <m:ctrlPr>
                                      <a:rPr lang="en-IN" sz="2800" i="1" dirty="0">
                                        <a:latin typeface="Cambria Math"/>
                                        <a:cs typeface="Arial" pitchFamily="34" charset="0"/>
                                      </a:rPr>
                                    </m:ctrlPr>
                                  </m:fPr>
                                  <m:num>
                                    <m:r>
                                      <a:rPr lang="en-IN" sz="2800" i="1" dirty="0">
                                        <a:latin typeface="Cambria Math"/>
                                        <a:cs typeface="Arial" pitchFamily="34" charset="0"/>
                                      </a:rPr>
                                      <m:t>2.5</m:t>
                                    </m:r>
                                    <m:r>
                                      <a:rPr lang="en-IN" sz="2800" i="1" dirty="0">
                                        <a:latin typeface="Cambria Math"/>
                                        <a:cs typeface="Arial" pitchFamily="34" charset="0"/>
                                      </a:rPr>
                                      <m:t>ℎ</m:t>
                                    </m:r>
                                  </m:num>
                                  <m:den>
                                    <m:r>
                                      <a:rPr lang="en-IN" sz="2800" i="1" dirty="0">
                                        <a:latin typeface="Cambria Math"/>
                                        <a:cs typeface="Arial" pitchFamily="34" charset="0"/>
                                      </a:rPr>
                                      <m:t>2.5</m:t>
                                    </m:r>
                                  </m:den>
                                </m:f>
                              </m:oMath>
                            </m:oMathPara>
                          </a14:m>
                          <a:endParaRPr lang="en-IN" sz="28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latin typeface="Arial" pitchFamily="34" charset="0"/>
                              <a:cs typeface="Arial" pitchFamily="34" charset="0"/>
                            </a:rPr>
                            <a:t>Division Property of Equality</a:t>
                          </a:r>
                        </a:p>
                      </a:txBody>
                      <a:tcPr anchor="ctr"/>
                    </a:tc>
                    <a:extLst>
                      <a:ext uri="{0D108BD9-81ED-4DB2-BD59-A6C34878D82A}">
                        <a16:rowId xmlns:a16="http://schemas.microsoft.com/office/drawing/2014/main" val="2467477336"/>
                      </a:ext>
                    </a:extLst>
                  </a:tr>
                  <a:tr h="370840">
                    <a:tc>
                      <a:txBody>
                        <a:bodyPr/>
                        <a:lstStyle/>
                        <a:p>
                          <a:pPr/>
                          <a14:m>
                            <m:oMathPara xmlns:m="http://schemas.openxmlformats.org/officeDocument/2006/math">
                              <m:oMathParaPr>
                                <m:jc m:val="left"/>
                              </m:oMathParaPr>
                              <m:oMath>
                                <m:r>
                                  <a:rPr lang="en-IN" sz="2800" i="1" dirty="0" smtClean="0">
                                    <a:latin typeface="Cambria Math"/>
                                    <a:cs typeface="Arial" pitchFamily="34" charset="0"/>
                                  </a:rPr>
                                  <m:t>400=</m:t>
                                </m:r>
                                <m:r>
                                  <a:rPr lang="en-IN" sz="2800" i="1" dirty="0" smtClean="0">
                                    <a:latin typeface="Cambria Math"/>
                                    <a:cs typeface="Arial" pitchFamily="34" charset="0"/>
                                  </a:rPr>
                                  <m:t>ℎ</m:t>
                                </m:r>
                              </m:oMath>
                            </m:oMathPara>
                          </a14:m>
                          <a:endParaRPr lang="en-IN" sz="28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latin typeface="Arial" pitchFamily="34" charset="0"/>
                              <a:cs typeface="Arial" pitchFamily="34" charset="0"/>
                            </a:rPr>
                            <a:t>Simplify.</a:t>
                          </a:r>
                        </a:p>
                      </a:txBody>
                      <a:tcPr anchor="ctr"/>
                    </a:tc>
                    <a:extLst>
                      <a:ext uri="{0D108BD9-81ED-4DB2-BD59-A6C34878D82A}">
                        <a16:rowId xmlns:a16="http://schemas.microsoft.com/office/drawing/2014/main" val="1541881962"/>
                      </a:ext>
                    </a:extLst>
                  </a:tr>
                </a:tbl>
              </a:graphicData>
            </a:graphic>
          </p:graphicFrame>
        </mc:Choice>
        <mc:Fallback xmlns="">
          <p:graphicFrame>
            <p:nvGraphicFramePr>
              <p:cNvPr id="24" name="Table 1"/>
              <p:cNvGraphicFramePr>
                <a:graphicFrameLocks noGrp="1"/>
              </p:cNvGraphicFramePr>
              <p:nvPr>
                <p:extLst>
                  <p:ext uri="{D42A27DB-BD31-4B8C-83A1-F6EECF244321}">
                    <p14:modId xmlns:p14="http://schemas.microsoft.com/office/powerpoint/2010/main" val="110415609"/>
                  </p:ext>
                </p:extLst>
              </p:nvPr>
            </p:nvGraphicFramePr>
            <p:xfrm>
              <a:off x="505105" y="2750325"/>
              <a:ext cx="8128000" cy="1938084"/>
            </p:xfrm>
            <a:graphic>
              <a:graphicData uri="http://schemas.openxmlformats.org/drawingml/2006/table">
                <a:tbl>
                  <a:tblPr firstRow="1" bandRow="1">
                    <a:tableStyleId>{2D5ABB26-0587-4C30-8999-92F81FD0307C}</a:tableStyleId>
                  </a:tblPr>
                  <a:tblGrid>
                    <a:gridCol w="3133445">
                      <a:extLst>
                        <a:ext uri="{9D8B030D-6E8A-4147-A177-3AD203B41FA5}">
                          <a16:colId xmlns:a16="http://schemas.microsoft.com/office/drawing/2014/main" val="2599990470"/>
                        </a:ext>
                      </a:extLst>
                    </a:gridCol>
                    <a:gridCol w="4994555">
                      <a:extLst>
                        <a:ext uri="{9D8B030D-6E8A-4147-A177-3AD203B41FA5}">
                          <a16:colId xmlns:a16="http://schemas.microsoft.com/office/drawing/2014/main" val="193500138"/>
                        </a:ext>
                      </a:extLst>
                    </a:gridCol>
                  </a:tblGrid>
                  <a:tr h="518160">
                    <a:tc>
                      <a:txBody>
                        <a:bodyPr/>
                        <a:lstStyle/>
                        <a:p>
                          <a:endParaRPr lang="en-US"/>
                        </a:p>
                      </a:txBody>
                      <a:tcPr anchor="ctr">
                        <a:blipFill>
                          <a:blip r:embed="rId5"/>
                          <a:stretch>
                            <a:fillRect t="-14118" r="-159223" b="-307059"/>
                          </a:stretch>
                        </a:blipFill>
                      </a:tcPr>
                    </a:tc>
                    <a:tc>
                      <a:txBody>
                        <a:bodyPr/>
                        <a:lstStyle/>
                        <a:p>
                          <a:endParaRPr lang="en-US"/>
                        </a:p>
                      </a:txBody>
                      <a:tcPr anchor="ctr">
                        <a:blipFill>
                          <a:blip r:embed="rId5"/>
                          <a:stretch>
                            <a:fillRect l="-62805" t="-14118" b="-307059"/>
                          </a:stretch>
                        </a:blipFill>
                      </a:tcPr>
                    </a:tc>
                    <a:extLst>
                      <a:ext uri="{0D108BD9-81ED-4DB2-BD59-A6C34878D82A}">
                        <a16:rowId xmlns:a16="http://schemas.microsoft.com/office/drawing/2014/main" val="2458281297"/>
                      </a:ext>
                    </a:extLst>
                  </a:tr>
                  <a:tr h="901764">
                    <a:tc>
                      <a:txBody>
                        <a:bodyPr/>
                        <a:lstStyle/>
                        <a:p>
                          <a:endParaRPr lang="en-US"/>
                        </a:p>
                      </a:txBody>
                      <a:tcPr anchor="ctr">
                        <a:blipFill>
                          <a:blip r:embed="rId5"/>
                          <a:stretch>
                            <a:fillRect t="-65101" r="-159223" b="-7516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smtClean="0">
                              <a:latin typeface="Arial" pitchFamily="34" charset="0"/>
                              <a:cs typeface="Arial" pitchFamily="34" charset="0"/>
                            </a:rPr>
                            <a:t>Division Property of Equality</a:t>
                          </a:r>
                        </a:p>
                      </a:txBody>
                      <a:tcPr anchor="ctr"/>
                    </a:tc>
                    <a:extLst>
                      <a:ext uri="{0D108BD9-81ED-4DB2-BD59-A6C34878D82A}">
                        <a16:rowId xmlns:a16="http://schemas.microsoft.com/office/drawing/2014/main" val="2467477336"/>
                      </a:ext>
                    </a:extLst>
                  </a:tr>
                  <a:tr h="518160">
                    <a:tc>
                      <a:txBody>
                        <a:bodyPr/>
                        <a:lstStyle/>
                        <a:p>
                          <a:endParaRPr lang="en-US"/>
                        </a:p>
                      </a:txBody>
                      <a:tcPr anchor="ctr">
                        <a:blipFill>
                          <a:blip r:embed="rId5"/>
                          <a:stretch>
                            <a:fillRect t="-289412" r="-159223" b="-31765"/>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smtClean="0">
                              <a:latin typeface="Arial" pitchFamily="34" charset="0"/>
                              <a:cs typeface="Arial" pitchFamily="34" charset="0"/>
                            </a:rPr>
                            <a:t>Simplify.</a:t>
                          </a:r>
                        </a:p>
                      </a:txBody>
                      <a:tcPr anchor="ctr"/>
                    </a:tc>
                    <a:extLst>
                      <a:ext uri="{0D108BD9-81ED-4DB2-BD59-A6C34878D82A}">
                        <a16:rowId xmlns:a16="http://schemas.microsoft.com/office/drawing/2014/main" val="1541881962"/>
                      </a:ext>
                    </a:extLst>
                  </a:tr>
                </a:tbl>
              </a:graphicData>
            </a:graphic>
          </p:graphicFrame>
        </mc:Fallback>
      </mc:AlternateContent>
      <p:sp>
        <p:nvSpPr>
          <p:cNvPr id="15" name="EWL-COVER-1"/>
          <p:cNvSpPr/>
          <p:nvPr/>
        </p:nvSpPr>
        <p:spPr>
          <a:xfrm>
            <a:off x="450241" y="5273136"/>
            <a:ext cx="8762271" cy="1099180"/>
          </a:xfrm>
          <a:prstGeom prst="rect">
            <a:avLst/>
          </a:prstGeom>
          <a:solidFill>
            <a:srgbClr val="FFFFFF"/>
          </a:solidFill>
          <a:ln>
            <a:noFill/>
          </a:ln>
        </p:spPr>
        <p:txBody>
          <a:bodyPr/>
          <a:lstStyle/>
          <a:p/>
        </p:txBody>
      </p:sp>
      <p:sp>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40</a:t>
            </a:r>
          </a:p>
        </p:txBody>
      </p:sp>
      <p:grpSp>
        <p:nvGrpSpPr>
          <p:cNvPr id="17" name="TEACH-4-student-move" descr="TEACH 4 · Monitor progress and provide feedback"/>
          <p:cNvGrpSpPr/>
          <p:nvPr/>
        </p:nvGrpSpPr>
        <p:grpSpPr>
          <a:xfrm>
            <a:off x="8763000" y="3175000"/>
            <a:ext cx="2921000" cy="914400"/>
            <a:chOff x="502920" y="4342796"/>
            <a:chExt cx="11186160" cy="402336"/>
          </a:xfrm>
        </p:grpSpPr>
        <p:sp>
          <p:nvSpPr>
            <p:cNvPr id="18" name="TEACH-move-card"/>
            <p:cNvSpPr/>
            <p:nvPr/>
          </p:nvSpPr>
          <p:spPr>
            <a:xfrm>
              <a:off x="502920" y="43427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9" name="TEACH-move-rule"/>
            <p:cNvSpPr/>
            <p:nvPr/>
          </p:nvSpPr>
          <p:spPr>
            <a:xfrm>
              <a:off x="548640" y="4419240"/>
              <a:ext cx="100584" cy="249448"/>
            </a:xfrm>
            <a:prstGeom prst="roundRect">
              <a:avLst>
                <a:gd name="adj" fmla="val 50000"/>
              </a:avLst>
            </a:prstGeom>
            <a:solidFill>
              <a:srgbClr val="01708C"/>
            </a:solidFill>
            <a:ln>
              <a:noFill/>
            </a:ln>
          </p:spPr>
          <p:txBody>
            <a:bodyPr/>
            <a:lstStyle/>
            <a:p>
              <a:endParaRPr/>
            </a:p>
          </p:txBody>
        </p:sp>
        <p:sp>
          <p:nvSpPr>
            <p:cNvPr id="20" name="TEACH-move-text"/>
            <p:cNvSpPr txBox="1"/>
            <p:nvPr/>
          </p:nvSpPr>
          <p:spPr>
            <a:xfrm>
              <a:off x="822960" y="43427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extLst>
      <p:ext uri="{BB962C8B-B14F-4D97-AF65-F5344CB8AC3E}">
        <p14:creationId xmlns:p14="http://schemas.microsoft.com/office/powerpoint/2010/main" val="41074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D964AAA0-B33D-ADE9-0718-43B863BD30EF}"/>
              </a:ext>
            </a:extLst>
          </p:cNvPr>
          <p:cNvSpPr txBox="1">
            <a:spLocks/>
          </p:cNvSpPr>
          <p:nvPr/>
        </p:nvSpPr>
        <p:spPr>
          <a:xfrm>
            <a:off x="484565" y="5220000"/>
            <a:ext cx="9087837" cy="110289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p>
          <a:p>
            <a:pPr>
              <a:spcBef>
                <a:spcPts val="600"/>
              </a:spcBef>
            </a:pPr>
            <a:r>
              <a:rPr lang="en-US" sz="2800" dirty="0">
                <a:solidFill>
                  <a:schemeClr val="tx1">
                    <a:lumMod val="65000"/>
                    <a:lumOff val="35000"/>
                  </a:schemeClr>
                </a:solidFill>
                <a:latin typeface="Arial" pitchFamily="34" charset="0"/>
                <a:cs typeface="Arial" pitchFamily="34" charset="0"/>
              </a:rPr>
              <a:t>The plant must operate 24 hours a day, 7 days a week.</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7375110" cy="61984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Let’s convert 400 hours to days and weeks.</a:t>
            </a:r>
            <a:endParaRPr lang="en-US" sz="2800" b="1" dirty="0">
              <a:solidFill>
                <a:schemeClr val="tx1"/>
              </a:solidFill>
              <a:latin typeface="Arial" pitchFamily="34" charset="0"/>
              <a:cs typeface="Arial" pitchFamily="34" charset="0"/>
            </a:endParaRPr>
          </a:p>
        </p:txBody>
      </p:sp>
      <p:sp>
        <p:nvSpPr>
          <p:cNvPr id="11" name="Title 1">
            <a:extLst>
              <a:ext uri="{FF2B5EF4-FFF2-40B4-BE49-F238E27FC236}">
                <a16:creationId xmlns:a16="http://schemas.microsoft.com/office/drawing/2014/main" id="{763D05AD-A874-081C-7EFE-577F54962DA7}"/>
              </a:ext>
            </a:extLst>
          </p:cNvPr>
          <p:cNvSpPr txBox="1">
            <a:spLocks/>
          </p:cNvSpPr>
          <p:nvPr/>
        </p:nvSpPr>
        <p:spPr>
          <a:xfrm>
            <a:off x="484565" y="316034"/>
            <a:ext cx="5015483" cy="53651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Automobile Manufacturing</a:t>
            </a:r>
            <a:endParaRPr lang="en-US" sz="2800" dirty="0">
              <a:solidFill>
                <a:srgbClr val="7030A0"/>
              </a:solidFill>
              <a:latin typeface="Arial" panose="020B0604020202020204" pitchFamily="34" charset="0"/>
              <a:cs typeface="Arial" panose="020B0604020202020204" pitchFamily="34" charset="0"/>
            </a:endParaRPr>
          </a:p>
        </p:txBody>
      </p:sp>
      <p:pic>
        <p:nvPicPr>
          <p:cNvPr id="12" name="Picture 2" descr="C:\Users\HP\Desktop\G6 U9\OPS\img\.assets\34b05f1b15874d258fd40b73a186f2f0\narm24_c10904_eps_002a.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2105" y="1665861"/>
            <a:ext cx="4657725" cy="17240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431192" y="3499901"/>
            <a:ext cx="10137712" cy="523220"/>
          </a:xfrm>
          <a:prstGeom prst="rect">
            <a:avLst/>
          </a:prstGeom>
        </p:spPr>
        <p:txBody>
          <a:bodyPr wrap="square">
            <a:spAutoFit/>
          </a:bodyPr>
          <a:lstStyle/>
          <a:p>
            <a:r>
              <a:rPr lang="en-US" sz="2800" dirty="0">
                <a:latin typeface="Arial" pitchFamily="34" charset="0"/>
                <a:cs typeface="Arial" pitchFamily="34" charset="0"/>
              </a:rPr>
              <a:t>It will take about 17 days, or 2.5 weeks, to produce 1,000 cars.</a:t>
            </a:r>
            <a:endParaRPr lang="en-IN" sz="2800" dirty="0">
              <a:latin typeface="Arial" pitchFamily="34" charset="0"/>
              <a:cs typeface="Arial" pitchFamily="34" charset="0"/>
            </a:endParaRPr>
          </a:p>
        </p:txBody>
      </p:sp>
      <p:sp>
        <p:nvSpPr>
          <p:cNvPr id="15" name="Rectangle 14"/>
          <p:cNvSpPr/>
          <p:nvPr/>
        </p:nvSpPr>
        <p:spPr>
          <a:xfrm>
            <a:off x="431192" y="4133135"/>
            <a:ext cx="10283519" cy="954107"/>
          </a:xfrm>
          <a:prstGeom prst="rect">
            <a:avLst/>
          </a:prstGeom>
        </p:spPr>
        <p:txBody>
          <a:bodyPr wrap="square">
            <a:spAutoFit/>
          </a:bodyPr>
          <a:lstStyle/>
          <a:p>
            <a:r>
              <a:rPr lang="en-US" sz="2800" b="1" dirty="0">
                <a:latin typeface="Arial" pitchFamily="34" charset="0"/>
                <a:cs typeface="Arial" pitchFamily="34" charset="0"/>
              </a:rPr>
              <a:t>What must be true about the manufacturing plant’s hours of operation to meet the production timeframe of 3 weeks?</a:t>
            </a:r>
            <a:endParaRPr lang="en-IN" sz="2800" dirty="0">
              <a:latin typeface="Arial" pitchFamily="34" charset="0"/>
              <a:cs typeface="Arial" pitchFamily="34" charset="0"/>
            </a:endParaRPr>
          </a:p>
        </p:txBody>
      </p:sp>
      <p:sp>
        <p:nvSpPr>
          <p:cNvPr id="16" name="EWL-COVER-1"/>
          <p:cNvSpPr/>
          <p:nvPr/>
        </p:nvSpPr>
        <p:spPr>
          <a:xfrm>
            <a:off x="429701" y="5165136"/>
            <a:ext cx="9197565" cy="1212618"/>
          </a:xfrm>
          <a:prstGeom prst="rect">
            <a:avLst/>
          </a:prstGeom>
          <a:solidFill>
            <a:srgbClr val="FFFFFF"/>
          </a:solidFill>
          <a:ln>
            <a:noFill/>
          </a:ln>
        </p:spPr>
        <p:txBody>
          <a:bodyPr/>
          <a:lstStyle/>
          <a:p/>
        </p:txBody>
      </p:sp>
      <p:sp>
        <p:nvSpPr>
          <p:cNvPr id="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40</a:t>
            </a:r>
          </a:p>
        </p:txBody>
      </p:sp>
      <p:sp xmlns:p="http://schemas.openxmlformats.org/presentationml/2006/main" xmlns:a="http://schemas.openxmlformats.org/drawingml/2006/main">
        <p:nvSpPr>
          <p:cNvPr id="18" name="TEACH-embedded-student-prompt" descr="Student thinking and response directions"/>
          <p:cNvSpPr txBox="1"/>
          <p:nvPr/>
        </p:nvSpPr>
        <p:spPr>
          <a:xfrm>
            <a:off x="7391400" y="226771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extLst>
      <p:ext uri="{BB962C8B-B14F-4D97-AF65-F5344CB8AC3E}">
        <p14:creationId xmlns:p14="http://schemas.microsoft.com/office/powerpoint/2010/main" val="333758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US" sz="2800" dirty="0">
                <a:solidFill>
                  <a:srgbClr val="782DA0"/>
                </a:solidFill>
                <a:latin typeface="Arial" panose="020B0604020202020204" pitchFamily="34" charset="0"/>
                <a:cs typeface="Arial" panose="020B0604020202020204" pitchFamily="34" charset="0"/>
              </a:rPr>
              <a:t>Let’s Explore More</a:t>
            </a:r>
            <a:endParaRPr lang="en-US" sz="1500" dirty="0">
              <a:solidFill>
                <a:srgbClr val="782DA0"/>
              </a:solidFill>
              <a:latin typeface="Arial" panose="020B0604020202020204" pitchFamily="34" charset="0"/>
              <a:cs typeface="Arial" panose="020B0604020202020204" pitchFamily="34" charset="0"/>
            </a:endParaRPr>
          </a:p>
        </p:txBody>
      </p:sp>
      <p:sp>
        <p:nvSpPr>
          <p:cNvPr id="21" name="Content Placeholder 2">
            <a:extLst>
              <a:ext uri="{FF2B5EF4-FFF2-40B4-BE49-F238E27FC236}">
                <a16:creationId xmlns:a16="http://schemas.microsoft.com/office/drawing/2014/main" id="{D7D5C8EC-F1EF-6146-850F-128719B25F22}"/>
              </a:ext>
            </a:extLst>
          </p:cNvPr>
          <p:cNvSpPr txBox="1">
            <a:spLocks/>
          </p:cNvSpPr>
          <p:nvPr/>
        </p:nvSpPr>
        <p:spPr>
          <a:xfrm>
            <a:off x="484563" y="936000"/>
            <a:ext cx="7430711" cy="1788377"/>
          </a:xfrm>
          <a:prstGeom prst="rect">
            <a:avLst/>
          </a:prstGeom>
        </p:spPr>
        <p:txBody>
          <a:bodyPr lIns="91440" tIns="45720" rIns="91440" bIns="45720" anchor="t">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An assembly line at an automobile manufacturing plant is run in 8-hour shifts and produces 2.5 cars per hour. The manufacturer has received the order shown.</a:t>
            </a:r>
          </a:p>
          <a:p>
            <a:pPr>
              <a:spcBef>
                <a:spcPts val="1800"/>
              </a:spcBef>
              <a:defRPr/>
            </a:pPr>
            <a:endParaRPr lang="en-US" sz="2800" dirty="0">
              <a:solidFill>
                <a:schemeClr val="tx1"/>
              </a:solidFill>
              <a:latin typeface="Arial" pitchFamily="34" charset="0"/>
              <a:cs typeface="Arial" pitchFamily="34" charset="0"/>
            </a:endParaRPr>
          </a:p>
        </p:txBody>
      </p:sp>
      <mc:AlternateContent xmlns:mc="http://schemas.openxmlformats.org/markup-compatibility/2006" xmlns:a14="http://schemas.microsoft.com/office/drawing/2010/main">
        <mc:Choice Requires="a14">
          <p:graphicFrame>
            <p:nvGraphicFramePr>
              <p:cNvPr id="11" name="Table 5">
                <a:extLst>
                  <a:ext uri="{FF2B5EF4-FFF2-40B4-BE49-F238E27FC236}">
                    <a16:creationId xmlns:a16="http://schemas.microsoft.com/office/drawing/2014/main" id="{A2AEFA09-92A5-71D9-0D9D-E6D371B59820}"/>
                  </a:ext>
                </a:extLst>
              </p:cNvPr>
              <p:cNvGraphicFramePr>
                <a:graphicFrameLocks noGrp="1"/>
              </p:cNvGraphicFramePr>
              <p:nvPr>
                <p:extLst>
                  <p:ext uri="{D42A27DB-BD31-4B8C-83A1-F6EECF244321}">
                    <p14:modId xmlns:p14="http://schemas.microsoft.com/office/powerpoint/2010/main" val="2704203406"/>
                  </p:ext>
                </p:extLst>
              </p:nvPr>
            </p:nvGraphicFramePr>
            <p:xfrm>
              <a:off x="484564" y="2789992"/>
              <a:ext cx="4942842" cy="3535680"/>
            </p:xfrm>
            <a:graphic>
              <a:graphicData uri="http://schemas.openxmlformats.org/drawingml/2006/table">
                <a:tbl>
                  <a:tblPr firstRow="1" bandRow="1">
                    <a:tableStyleId>{5C22544A-7EE6-4342-B048-85BDC9FD1C3A}</a:tableStyleId>
                  </a:tblPr>
                  <a:tblGrid>
                    <a:gridCol w="2166009">
                      <a:extLst>
                        <a:ext uri="{9D8B030D-6E8A-4147-A177-3AD203B41FA5}">
                          <a16:colId xmlns:a16="http://schemas.microsoft.com/office/drawing/2014/main" val="1858197765"/>
                        </a:ext>
                      </a:extLst>
                    </a:gridCol>
                    <a:gridCol w="2776833">
                      <a:extLst>
                        <a:ext uri="{9D8B030D-6E8A-4147-A177-3AD203B41FA5}">
                          <a16:colId xmlns:a16="http://schemas.microsoft.com/office/drawing/2014/main" val="1470131627"/>
                        </a:ext>
                      </a:extLst>
                    </a:gridCol>
                  </a:tblGrid>
                  <a:tr h="483781">
                    <a:tc gridSpan="2">
                      <a:txBody>
                        <a:bodyPr/>
                        <a:lstStyle/>
                        <a:p>
                          <a:r>
                            <a:rPr lang="en-IN" sz="2800" dirty="0">
                              <a:solidFill>
                                <a:schemeClr val="tx1"/>
                              </a:solidFill>
                              <a:latin typeface="Arial" pitchFamily="34" charset="0"/>
                              <a:cs typeface="Arial" pitchFamily="34" charset="0"/>
                            </a:rPr>
                            <a:t>Cars Made Per Hour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800" dirty="0">
                            <a:latin typeface="Arial" pitchFamily="34" charset="0"/>
                            <a:cs typeface="Arial"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5D9C"/>
                        </a:solidFill>
                      </a:tcPr>
                    </a:tc>
                    <a:extLst>
                      <a:ext uri="{0D108BD9-81ED-4DB2-BD59-A6C34878D82A}">
                        <a16:rowId xmlns:a16="http://schemas.microsoft.com/office/drawing/2014/main" val="2731297956"/>
                      </a:ext>
                    </a:extLst>
                  </a:tr>
                  <a:tr h="882188">
                    <a:tc>
                      <a:txBody>
                        <a:bodyPr/>
                        <a:lstStyle/>
                        <a:p>
                          <a:r>
                            <a:rPr lang="en-IN" sz="2800" b="1" dirty="0">
                              <a:solidFill>
                                <a:schemeClr val="bg1"/>
                              </a:solidFill>
                              <a:latin typeface="Arial" pitchFamily="34" charset="0"/>
                              <a:cs typeface="Arial" pitchFamily="34" charset="0"/>
                            </a:rPr>
                            <a:t xml:space="preserve">Number of Hours, </a:t>
                          </a:r>
                          <a14:m>
                            <m:oMath xmlns:m="http://schemas.openxmlformats.org/officeDocument/2006/math">
                              <m:r>
                                <a:rPr lang="en-IN" sz="2800" b="1" i="1" dirty="0" smtClean="0">
                                  <a:solidFill>
                                    <a:schemeClr val="bg1"/>
                                  </a:solidFill>
                                  <a:latin typeface="Cambria Math" panose="02040503050406030204" pitchFamily="18" charset="0"/>
                                  <a:cs typeface="Arial" pitchFamily="34" charset="0"/>
                                </a:rPr>
                                <m:t>𝒉</m:t>
                              </m:r>
                            </m:oMath>
                          </a14:m>
                          <a:endParaRPr lang="en-IN" sz="28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tc>
                      <a:txBody>
                        <a:bodyPr/>
                        <a:lstStyle/>
                        <a:p>
                          <a:r>
                            <a:rPr lang="en-IN" sz="2800" b="1" dirty="0">
                              <a:solidFill>
                                <a:schemeClr val="bg1"/>
                              </a:solidFill>
                              <a:latin typeface="Arial" pitchFamily="34" charset="0"/>
                              <a:cs typeface="Arial" pitchFamily="34" charset="0"/>
                            </a:rPr>
                            <a:t xml:space="preserve">Number of Cars Made, </a:t>
                          </a:r>
                          <a14:m>
                            <m:oMath xmlns:m="http://schemas.openxmlformats.org/officeDocument/2006/math">
                              <m:r>
                                <a:rPr lang="en-IN" sz="2800" b="1" i="1" dirty="0" smtClean="0">
                                  <a:solidFill>
                                    <a:schemeClr val="bg1"/>
                                  </a:solidFill>
                                  <a:latin typeface="Cambria Math" panose="02040503050406030204" pitchFamily="18" charset="0"/>
                                  <a:cs typeface="Arial" pitchFamily="34" charset="0"/>
                                </a:rPr>
                                <m:t>𝒄</m:t>
                              </m:r>
                            </m:oMath>
                          </a14:m>
                          <a:endParaRPr lang="en-IN" sz="2800" b="1" dirty="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extLst>
                      <a:ext uri="{0D108BD9-81ED-4DB2-BD59-A6C34878D82A}">
                        <a16:rowId xmlns:a16="http://schemas.microsoft.com/office/drawing/2014/main" val="1493255547"/>
                      </a:ext>
                    </a:extLst>
                  </a:tr>
                  <a:tr h="483781">
                    <a:tc>
                      <a:txBody>
                        <a:bodyPr/>
                        <a:lstStyle/>
                        <a:p>
                          <a:pPr algn="ctr"/>
                          <a:r>
                            <a:rPr lang="en-IN" sz="2800">
                              <a:latin typeface="Arial" pitchFamily="34" charset="0"/>
                              <a:cs typeface="Arial"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483781">
                    <a:tc>
                      <a:txBody>
                        <a:bodyPr/>
                        <a:lstStyle/>
                        <a:p>
                          <a:pPr algn="ctr"/>
                          <a:r>
                            <a:rPr lang="en-IN" sz="2800">
                              <a:latin typeface="Arial" pitchFamily="34" charset="0"/>
                              <a:cs typeface="Arial"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483781">
                    <a:tc>
                      <a:txBody>
                        <a:bodyPr/>
                        <a:lstStyle/>
                        <a:p>
                          <a:pPr algn="ctr"/>
                          <a:r>
                            <a:rPr lang="en-IN" sz="2800">
                              <a:latin typeface="Arial" pitchFamily="34" charset="0"/>
                              <a:cs typeface="Arial" pitchFamily="34"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483781">
                    <a:tc>
                      <a:txBody>
                        <a:bodyPr/>
                        <a:lstStyle/>
                        <a:p>
                          <a:pPr algn="ctr"/>
                          <a:r>
                            <a:rPr lang="en-IN" sz="2800" dirty="0">
                              <a:latin typeface="Arial" pitchFamily="34" charset="0"/>
                              <a:cs typeface="Arial"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Choice>
        <mc:Fallback xmlns="">
          <p:graphicFrame>
            <p:nvGraphicFramePr>
              <p:cNvPr id="23" name="Table 5">
                <a:extLst>
                  <a:ext uri="{FF2B5EF4-FFF2-40B4-BE49-F238E27FC236}">
                    <a16:creationId xmlns:a16="http://schemas.microsoft.com/office/drawing/2014/main" id="{A2AEFA09-92A5-71D9-0D9D-E6D371B59820}"/>
                  </a:ext>
                </a:extLst>
              </p:cNvPr>
              <p:cNvGraphicFramePr>
                <a:graphicFrameLocks noGrp="1"/>
              </p:cNvGraphicFramePr>
              <p:nvPr>
                <p:extLst>
                  <p:ext uri="{D42A27DB-BD31-4B8C-83A1-F6EECF244321}">
                    <p14:modId xmlns:p14="http://schemas.microsoft.com/office/powerpoint/2010/main" val="2704203406"/>
                  </p:ext>
                </p:extLst>
              </p:nvPr>
            </p:nvGraphicFramePr>
            <p:xfrm>
              <a:off x="484564" y="2789992"/>
              <a:ext cx="4942842" cy="3535680"/>
            </p:xfrm>
            <a:graphic>
              <a:graphicData uri="http://schemas.openxmlformats.org/drawingml/2006/table">
                <a:tbl>
                  <a:tblPr firstRow="1" bandRow="1">
                    <a:tableStyleId>{5C22544A-7EE6-4342-B048-85BDC9FD1C3A}</a:tableStyleId>
                  </a:tblPr>
                  <a:tblGrid>
                    <a:gridCol w="2166009">
                      <a:extLst>
                        <a:ext uri="{9D8B030D-6E8A-4147-A177-3AD203B41FA5}">
                          <a16:colId xmlns:a16="http://schemas.microsoft.com/office/drawing/2014/main" val="1858197765"/>
                        </a:ext>
                      </a:extLst>
                    </a:gridCol>
                    <a:gridCol w="2776833">
                      <a:extLst>
                        <a:ext uri="{9D8B030D-6E8A-4147-A177-3AD203B41FA5}">
                          <a16:colId xmlns:a16="http://schemas.microsoft.com/office/drawing/2014/main" val="1470131627"/>
                        </a:ext>
                      </a:extLst>
                    </a:gridCol>
                  </a:tblGrid>
                  <a:tr h="518160">
                    <a:tc gridSpan="2">
                      <a:txBody>
                        <a:bodyPr/>
                        <a:lstStyle/>
                        <a:p>
                          <a:r>
                            <a:rPr lang="en-IN" sz="2800" dirty="0">
                              <a:solidFill>
                                <a:schemeClr val="tx1"/>
                              </a:solidFill>
                              <a:latin typeface="Arial" pitchFamily="34" charset="0"/>
                              <a:cs typeface="Arial" pitchFamily="34" charset="0"/>
                            </a:rPr>
                            <a:t>Cars Made Per Hour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800" dirty="0">
                            <a:latin typeface="Arial" pitchFamily="34" charset="0"/>
                            <a:cs typeface="Arial"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25D9C"/>
                        </a:solidFill>
                      </a:tcPr>
                    </a:tc>
                    <a:extLst>
                      <a:ext uri="{0D108BD9-81ED-4DB2-BD59-A6C34878D82A}">
                        <a16:rowId xmlns:a16="http://schemas.microsoft.com/office/drawing/2014/main" val="2731297956"/>
                      </a:ext>
                    </a:extLst>
                  </a:tr>
                  <a:tr h="9448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1" t="-61290" r="-128652" b="-23806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8289" t="-61290" r="-439" b="-238065"/>
                          </a:stretch>
                        </a:blipFill>
                      </a:tcPr>
                    </a:tc>
                    <a:extLst>
                      <a:ext uri="{0D108BD9-81ED-4DB2-BD59-A6C34878D82A}">
                        <a16:rowId xmlns:a16="http://schemas.microsoft.com/office/drawing/2014/main" val="1493255547"/>
                      </a:ext>
                    </a:extLst>
                  </a:tr>
                  <a:tr h="518160">
                    <a:tc>
                      <a:txBody>
                        <a:bodyPr/>
                        <a:lstStyle/>
                        <a:p>
                          <a:pPr algn="ctr"/>
                          <a:r>
                            <a:rPr lang="en-IN" sz="2800">
                              <a:latin typeface="Arial" pitchFamily="34" charset="0"/>
                              <a:cs typeface="Arial"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518160">
                    <a:tc>
                      <a:txBody>
                        <a:bodyPr/>
                        <a:lstStyle/>
                        <a:p>
                          <a:pPr algn="ctr"/>
                          <a:r>
                            <a:rPr lang="en-IN" sz="2800">
                              <a:latin typeface="Arial" pitchFamily="34" charset="0"/>
                              <a:cs typeface="Arial" pitchFamily="34"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518160">
                    <a:tc>
                      <a:txBody>
                        <a:bodyPr/>
                        <a:lstStyle/>
                        <a:p>
                          <a:pPr algn="ctr"/>
                          <a:r>
                            <a:rPr lang="en-IN" sz="2800">
                              <a:latin typeface="Arial" pitchFamily="34" charset="0"/>
                              <a:cs typeface="Arial" pitchFamily="34"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518160">
                    <a:tc>
                      <a:txBody>
                        <a:bodyPr/>
                        <a:lstStyle/>
                        <a:p>
                          <a:pPr algn="ctr"/>
                          <a:r>
                            <a:rPr lang="en-IN" sz="2800" dirty="0">
                              <a:latin typeface="Arial" pitchFamily="34" charset="0"/>
                              <a:cs typeface="Arial"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800" dirty="0">
                              <a:latin typeface="Arial" pitchFamily="34" charset="0"/>
                              <a:cs typeface="Arial" pitchFamily="34"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3" name="Rectangle 12"/>
              <p:cNvSpPr/>
              <p:nvPr/>
            </p:nvSpPr>
            <p:spPr>
              <a:xfrm>
                <a:off x="5593782" y="4236196"/>
                <a:ext cx="6468437" cy="523220"/>
              </a:xfrm>
              <a:prstGeom prst="rect">
                <a:avLst/>
              </a:prstGeom>
            </p:spPr>
            <p:txBody>
              <a:bodyPr wrap="square">
                <a:spAutoFit/>
              </a:bodyPr>
              <a:lstStyle/>
              <a:p>
                <a:pPr/>
                <a14:m>
                  <m:oMathPara xmlns:m="http://schemas.openxmlformats.org/officeDocument/2006/math">
                    <m:oMath>
                      <m:r>
                        <m:rPr>
                          <m:sty m:val="p"/>
                        </m:rPr>
                        <a:rPr lang="en-US" sz="2800" i="0" dirty="0" smtClean="0">
                          <a:latin typeface="Cambria Math"/>
                          <a:cs typeface="Arial" pitchFamily="34" charset="0"/>
                        </a:rPr>
                        <m:t>cars</m:t>
                      </m:r>
                      <m:r>
                        <a:rPr lang="en-US" sz="2800" i="0" dirty="0" smtClean="0">
                          <a:latin typeface="Cambria Math"/>
                          <a:cs typeface="Arial" pitchFamily="34" charset="0"/>
                        </a:rPr>
                        <m:t> </m:t>
                      </m:r>
                      <m:r>
                        <m:rPr>
                          <m:sty m:val="p"/>
                        </m:rPr>
                        <a:rPr lang="en-US" sz="2800" i="0" dirty="0" smtClean="0">
                          <a:latin typeface="Cambria Math"/>
                          <a:cs typeface="Arial" pitchFamily="34" charset="0"/>
                        </a:rPr>
                        <m:t>produced</m:t>
                      </m:r>
                      <m:r>
                        <a:rPr lang="en-US" sz="2800" i="0" dirty="0" smtClean="0">
                          <a:latin typeface="Cambria Math"/>
                          <a:cs typeface="Arial" pitchFamily="34" charset="0"/>
                        </a:rPr>
                        <m:t>=2.5×</m:t>
                      </m:r>
                      <m:r>
                        <m:rPr>
                          <m:sty m:val="p"/>
                        </m:rPr>
                        <a:rPr lang="en-US" sz="2800" i="0" dirty="0" smtClean="0">
                          <a:latin typeface="Cambria Math"/>
                          <a:cs typeface="Arial" pitchFamily="34" charset="0"/>
                        </a:rPr>
                        <m:t>number</m:t>
                      </m:r>
                      <m:r>
                        <a:rPr lang="en-US" sz="2800" i="0" dirty="0" smtClean="0">
                          <a:latin typeface="Cambria Math"/>
                          <a:cs typeface="Arial" pitchFamily="34" charset="0"/>
                        </a:rPr>
                        <m:t> </m:t>
                      </m:r>
                      <m:r>
                        <m:rPr>
                          <m:sty m:val="p"/>
                        </m:rPr>
                        <a:rPr lang="en-US" sz="2800" i="0" dirty="0" smtClean="0">
                          <a:latin typeface="Cambria Math"/>
                          <a:cs typeface="Arial" pitchFamily="34" charset="0"/>
                        </a:rPr>
                        <m:t>of</m:t>
                      </m:r>
                      <m:r>
                        <a:rPr lang="en-US" sz="2800" i="0" dirty="0" smtClean="0">
                          <a:latin typeface="Cambria Math"/>
                          <a:cs typeface="Arial" pitchFamily="34" charset="0"/>
                        </a:rPr>
                        <m:t> </m:t>
                      </m:r>
                      <m:r>
                        <m:rPr>
                          <m:sty m:val="p"/>
                        </m:rPr>
                        <a:rPr lang="en-US" sz="2800" i="0" dirty="0" smtClean="0">
                          <a:latin typeface="Cambria Math"/>
                          <a:cs typeface="Arial" pitchFamily="34" charset="0"/>
                        </a:rPr>
                        <m:t>hours</m:t>
                      </m:r>
                      <m:r>
                        <a:rPr lang="en-US" sz="2800" i="0"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4" name="Rectangle 12"/>
              <p:cNvSpPr>
                <a:spLocks noRot="1" noChangeAspect="1" noMove="1" noResize="1" noEditPoints="1" noAdjustHandles="1" noChangeArrowheads="1" noChangeShapeType="1" noTextEdit="1"/>
              </p:cNvSpPr>
              <p:nvPr/>
            </p:nvSpPr>
            <p:spPr>
              <a:xfrm>
                <a:off x="5593782" y="4236196"/>
                <a:ext cx="6468437"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7569087" y="4809893"/>
                <a:ext cx="1682577" cy="523220"/>
              </a:xfrm>
              <a:prstGeom prst="rect">
                <a:avLst/>
              </a:prstGeom>
            </p:spPr>
            <p:txBody>
              <a:bodyPr wrap="square">
                <a:spAutoFit/>
              </a:bodyPr>
              <a:lstStyle/>
              <a:p>
                <a:pPr/>
                <a14:m>
                  <m:oMathPara xmlns:m="http://schemas.openxmlformats.org/officeDocument/2006/math">
                    <m:oMath>
                      <m:r>
                        <a:rPr lang="en-IN" sz="2800" i="1" dirty="0" smtClean="0">
                          <a:latin typeface="Cambria Math"/>
                          <a:cs typeface="Arial" pitchFamily="34" charset="0"/>
                        </a:rPr>
                        <m:t>𝑐</m:t>
                      </m:r>
                      <m:r>
                        <a:rPr lang="en-IN" sz="2800" i="1" dirty="0" smtClean="0">
                          <a:latin typeface="Cambria Math"/>
                          <a:cs typeface="Arial" pitchFamily="34" charset="0"/>
                        </a:rPr>
                        <m:t>=2.5</m:t>
                      </m:r>
                      <m:r>
                        <a:rPr lang="en-IN" sz="2800" i="1" dirty="0" smtClean="0">
                          <a:latin typeface="Cambria Math"/>
                          <a:cs typeface="Arial" pitchFamily="34" charset="0"/>
                        </a:rPr>
                        <m:t>ℎ</m:t>
                      </m:r>
                      <m:r>
                        <a:rPr lang="en-IN" sz="2800" i="1" dirty="0" smtClean="0">
                          <a:latin typeface="Cambria Math"/>
                          <a:cs typeface="Arial" pitchFamily="34" charset="0"/>
                        </a:rPr>
                        <m:t> </m:t>
                      </m:r>
                    </m:oMath>
                  </m:oMathPara>
                </a14:m>
                <a:endParaRPr lang="en-IN" sz="2800" dirty="0">
                  <a:latin typeface="Arial" pitchFamily="34" charset="0"/>
                  <a:cs typeface="Arial" pitchFamily="34" charset="0"/>
                </a:endParaRPr>
              </a:p>
            </p:txBody>
          </p:sp>
        </mc:Choice>
        <mc:Fallback xmlns="">
          <p:sp>
            <p:nvSpPr>
              <p:cNvPr id="25" name="Rectangle 13"/>
              <p:cNvSpPr>
                <a:spLocks noRot="1" noChangeAspect="1" noMove="1" noResize="1" noEditPoints="1" noAdjustHandles="1" noChangeArrowheads="1" noChangeShapeType="1" noTextEdit="1"/>
              </p:cNvSpPr>
              <p:nvPr/>
            </p:nvSpPr>
            <p:spPr>
              <a:xfrm>
                <a:off x="7569087" y="4809893"/>
                <a:ext cx="1682577" cy="523220"/>
              </a:xfrm>
              <a:prstGeom prst="rect">
                <a:avLst/>
              </a:prstGeom>
              <a:blipFill>
                <a:blip r:embed="rId4"/>
                <a:stretch>
                  <a:fillRect/>
                </a:stretch>
              </a:blipFill>
            </p:spPr>
            <p:txBody>
              <a:bodyPr/>
              <a:lstStyle/>
              <a:p>
                <a:r>
                  <a:rPr lang="en-IN">
                    <a:noFill/>
                  </a:rPr>
                  <a:t> </a:t>
                </a:r>
              </a:p>
            </p:txBody>
          </p:sp>
        </mc:Fallback>
      </mc:AlternateContent>
      <p:pic>
        <p:nvPicPr>
          <p:cNvPr id="9" name="Picture 2" descr="C:\Users\HP\Desktop\G6 U9\OPS\img\.assets\4f63231d824c43e2a2344e416eb1fa2d\narm24_c10904_se_005a-dig-eps.png"/>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275787" y="1335269"/>
            <a:ext cx="3429000" cy="2486025"/>
          </a:xfrm>
          <a:prstGeom prst="rect">
            <a:avLst/>
          </a:prstGeom>
          <a:noFill/>
          <a:extLst>
            <a:ext uri="{909E8E84-426E-40DD-AFC4-6F175D3DCCD1}">
              <a14:hiddenFill xmlns:a14="http://schemas.microsoft.com/office/drawing/2010/main">
                <a:solidFill>
                  <a:srgbClr val="FFFFFF"/>
                </a:solidFill>
              </a14:hiddenFill>
            </a:ext>
          </a:extLst>
        </p:spPr>
      </p:pic>
      <p:sp>
        <p:nvSpPr>
          <p:cNvPr id="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40</a:t>
            </a:r>
          </a:p>
        </p:txBody>
      </p:sp>
    </p:spTree>
    <p:extLst>
      <p:ext uri="{BB962C8B-B14F-4D97-AF65-F5344CB8AC3E}">
        <p14:creationId xmlns:p14="http://schemas.microsoft.com/office/powerpoint/2010/main" val="2618945927"/>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Does your numerical result satisfy the real-world constraint, and what does a partial unit mean here?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9-4 · Apply Two-Variable Relationships to Solve Problems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car factory produces 25 cars per hour (c = 25h). In 8 hours it makes: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33 cars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200 cars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 cars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250 cars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If c = 25h, how many hours are needed to make 150 cars?</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 hours</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 hours</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 hours</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 hours</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To solve a word problem with two variables, first identify:</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largest number</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Which variable is independent and which is dependent</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font size</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perimeter</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An equation allows you to:</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find past values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Calculate unknown values for any given input</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Eliminate variables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Avoid math</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40</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9-4 · Apply Two-Variable Relationships to Solve Problems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Problem-Solving Framework</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1. Identify </a:t>
            </a:r>
            <a:r>
              <a:rPr b="1" i="0" lang="en-US" sz="1450" u="none" cap="none" strike="noStrike">
                <a:solidFill>
                  <a:srgbClr val="475569"/>
                </a:solidFill>
                <a:latin typeface="Arial"/>
                <a:ea typeface="Arial"/>
                <a:cs typeface="Arial"/>
                <a:sym typeface="Arial"/>
              </a:rPr>
              <a:t xml:space="preserve">independent</a:t>
            </a:r>
            <a:r>
              <a:rPr b="0" i="0" lang="en-US" sz="1450" u="none" cap="none" strike="noStrike">
                <a:solidFill>
                  <a:srgbClr val="475569"/>
                </a:solidFill>
                <a:latin typeface="Arial"/>
                <a:ea typeface="Arial"/>
                <a:cs typeface="Arial"/>
                <a:sym typeface="Arial"/>
              </a:rPr>
              <a:t xml:space="preserve"> (input) and </a:t>
            </a:r>
            <a:r>
              <a:rPr b="1" i="0" lang="en-US" sz="1450" u="none" cap="none" strike="noStrike">
                <a:solidFill>
                  <a:srgbClr val="475569"/>
                </a:solidFill>
                <a:latin typeface="Arial"/>
                <a:ea typeface="Arial"/>
                <a:cs typeface="Arial"/>
                <a:sym typeface="Arial"/>
              </a:rPr>
              <a:t xml:space="preserve">dependent</a:t>
            </a:r>
            <a:r>
              <a:rPr b="0" i="0" lang="en-US" sz="1450" u="none" cap="none" strike="noStrike">
                <a:solidFill>
                  <a:srgbClr val="475569"/>
                </a:solidFill>
                <a:latin typeface="Arial"/>
                <a:ea typeface="Arial"/>
                <a:cs typeface="Arial"/>
                <a:sym typeface="Arial"/>
              </a:rPr>
              <a:t xml:space="preserve"> (output) quantities. 2. Write the equation. 3. Substitute to solve.</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Forward Calculation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Given independent x, multiply or add according to the rule to find dependent y.</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Reverse Calculation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Given target output y, use </a:t>
            </a:r>
            <a:r>
              <a:rPr b="1" i="0" lang="en-US" sz="1450" u="none" cap="none" strike="noStrike">
                <a:solidFill>
                  <a:srgbClr val="475569"/>
                </a:solidFill>
                <a:latin typeface="Arial"/>
                <a:ea typeface="Arial"/>
                <a:cs typeface="Arial"/>
                <a:sym typeface="Arial"/>
              </a:rPr>
              <a:t xml:space="preserve">inverse operations</a:t>
            </a:r>
            <a:r>
              <a:rPr b="0" i="0" lang="en-US" sz="1450" u="none" cap="none" strike="noStrike">
                <a:solidFill>
                  <a:srgbClr val="475569"/>
                </a:solidFill>
                <a:latin typeface="Arial"/>
                <a:ea typeface="Arial"/>
                <a:cs typeface="Arial"/>
                <a:sym typeface="Arial"/>
              </a:rPr>
              <a:t xml:space="preserve"> to determine the required input x.</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7B29969-56BF-6D41-A9E2-22306CDCAC18}"/>
              </a:ext>
            </a:extLst>
          </p:cNvPr>
          <p:cNvSpPr txBox="1">
            <a:spLocks/>
          </p:cNvSpPr>
          <p:nvPr/>
        </p:nvSpPr>
        <p:spPr>
          <a:xfrm>
            <a:off x="1402828" y="2453950"/>
            <a:ext cx="8303234" cy="2176463"/>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defRPr/>
            </a:pPr>
            <a:r>
              <a:rPr lang="en-US" sz="3600" b="1" dirty="0">
                <a:solidFill>
                  <a:schemeClr val="tx1"/>
                </a:solidFill>
                <a:latin typeface="Arial" panose="020B0604020202020204" pitchFamily="34" charset="0"/>
                <a:cs typeface="Arial" panose="020B0604020202020204" pitchFamily="34" charset="0"/>
              </a:rPr>
              <a:t>Apply Two-Variable Relationships to Solve Problems</a:t>
            </a:r>
          </a:p>
        </p:txBody>
      </p:sp>
      <p:sp>
        <p:nvSpPr>
          <p:cNvPr id="3" name="Rectangle 2">
            <a:extLst>
              <a:ext uri="{FF2B5EF4-FFF2-40B4-BE49-F238E27FC236}">
                <a16:creationId xmlns:a16="http://schemas.microsoft.com/office/drawing/2014/main" id="{059AB280-D7EB-53CD-A267-024F312C0186}"/>
              </a:ext>
            </a:extLst>
          </p:cNvPr>
          <p:cNvSpPr/>
          <p:nvPr/>
        </p:nvSpPr>
        <p:spPr>
          <a:xfrm>
            <a:off x="1402828" y="1037162"/>
            <a:ext cx="1763624" cy="523220"/>
          </a:xfrm>
          <a:prstGeom prst="rect">
            <a:avLst/>
          </a:prstGeom>
        </p:spPr>
        <p:txBody>
          <a:bodyPr wrap="square">
            <a:spAutoFit/>
          </a:bodyPr>
          <a:lstStyle/>
          <a:p>
            <a:pPr>
              <a:defRPr/>
            </a:pPr>
            <a:r>
              <a:rPr lang="en-US" sz="2800">
                <a:solidFill>
                  <a:srgbClr val="01708C"/>
                </a:solidFill>
                <a:latin typeface="Arial" panose="020B0604020202020204" pitchFamily="34" charset="0"/>
                <a:cs typeface="Arial" panose="020B0604020202020204" pitchFamily="34" charset="0"/>
              </a:rPr>
              <a:t>Session 2</a:t>
            </a:r>
            <a:endParaRPr lang="en-US" sz="2800" b="1">
              <a:solidFill>
                <a:srgbClr val="01708C"/>
              </a:solidFill>
            </a:endParaRPr>
          </a:p>
        </p:txBody>
      </p:sp>
      <p:cxnSp>
        <p:nvCxnSpPr>
          <p:cNvPr id="4" name="Straight Connector 3">
            <a:extLst>
              <a:ext uri="{FF2B5EF4-FFF2-40B4-BE49-F238E27FC236}">
                <a16:creationId xmlns:a16="http://schemas.microsoft.com/office/drawing/2014/main" id="{3CCD7778-281C-3A8A-ED72-4347917C275A}"/>
              </a:ext>
            </a:extLst>
          </p:cNvPr>
          <p:cNvCxnSpPr>
            <a:cxnSpLocks/>
          </p:cNvCxnSpPr>
          <p:nvPr/>
        </p:nvCxnSpPr>
        <p:spPr>
          <a:xfrm>
            <a:off x="-1" y="1560382"/>
            <a:ext cx="3166453" cy="0"/>
          </a:xfrm>
          <a:prstGeom prst="line">
            <a:avLst/>
          </a:prstGeom>
          <a:ln>
            <a:solidFill>
              <a:srgbClr val="01708C"/>
            </a:solidFill>
          </a:ln>
        </p:spPr>
        <p:style>
          <a:lnRef idx="3">
            <a:schemeClr val="accent4"/>
          </a:lnRef>
          <a:fillRef idx="0">
            <a:schemeClr val="accent4"/>
          </a:fillRef>
          <a:effectRef idx="2">
            <a:schemeClr val="accent4"/>
          </a:effectRef>
          <a:fontRef idx="minor">
            <a:schemeClr val="tx1"/>
          </a:fontRef>
        </p:style>
      </p:cxnSp>
      <p:sp>
        <p:nvSpPr>
          <p:cNvPr id="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40</a:t>
            </a:r>
          </a:p>
        </p:txBody>
      </p:sp>
      <p:grpSp>
        <p:nvGrpSpPr>
          <p:cNvPr id="6" name="TEACH-2-student-move" descr="TEACH 2 · Use strategies and tasks to engage students in rigorous work"/>
          <p:cNvGrpSpPr/>
          <p:nvPr/>
        </p:nvGrpSpPr>
        <p:grpSpPr>
          <a:xfrm>
            <a:off x="502920" y="3867612"/>
            <a:ext cx="11186160" cy="731520"/>
            <a:chOff x="502920" y="3867612"/>
            <a:chExt cx="11186160" cy="731520"/>
          </a:xfrm>
        </p:grpSpPr>
        <p:sp>
          <p:nvSpPr>
            <p:cNvPr id="7"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9"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extLst>
      <p:ext uri="{BB962C8B-B14F-4D97-AF65-F5344CB8AC3E}">
        <p14:creationId xmlns:p14="http://schemas.microsoft.com/office/powerpoint/2010/main" val="752550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029132" cy="55074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5999" y="936000"/>
            <a:ext cx="7153051" cy="175260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The student council is organizing a fundraiser car wash as shown. At last year’s car wash, they washed 34 cars and raised $408.</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3C99865-D641-BC56-174A-BC3DF8A6191B}"/>
              </a:ext>
            </a:extLst>
          </p:cNvPr>
          <p:cNvSpPr txBox="1"/>
          <p:nvPr/>
        </p:nvSpPr>
        <p:spPr>
          <a:xfrm>
            <a:off x="484566" y="3062673"/>
            <a:ext cx="7154484" cy="954107"/>
          </a:xfrm>
          <a:prstGeom prst="rect">
            <a:avLst/>
          </a:prstGeom>
          <a:noFill/>
        </p:spPr>
        <p:txBody>
          <a:bodyPr wrap="square">
            <a:spAutoFit/>
          </a:bodyPr>
          <a:lstStyle/>
          <a:p>
            <a:pPr>
              <a:spcBef>
                <a:spcPts val="1800"/>
              </a:spcBef>
            </a:pPr>
            <a:r>
              <a:rPr lang="en-US" sz="2800" b="1" dirty="0">
                <a:latin typeface="Arial" pitchFamily="34" charset="0"/>
                <a:cs typeface="Arial" pitchFamily="34" charset="0"/>
              </a:rPr>
              <a:t>How can the student council be sure they will hit their fundraising goal?</a:t>
            </a:r>
          </a:p>
        </p:txBody>
      </p:sp>
      <p:pic>
        <p:nvPicPr>
          <p:cNvPr id="19458" name="Picture 2" descr="C:\Users\HP\Desktop\G6 U9\OPS\img\.assets\2ee1a3bd10244cc688ca7284a921ff66\narm24_c10904_se_002a-dig-eps.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57313" y="1442554"/>
            <a:ext cx="3763765" cy="2790000"/>
          </a:xfrm>
          <a:prstGeom prst="rect">
            <a:avLst/>
          </a:prstGeom>
          <a:noFill/>
          <a:extLst>
            <a:ext uri="{909E8E84-426E-40DD-AFC4-6F175D3DCCD1}">
              <a14:hiddenFill xmlns:a14="http://schemas.microsoft.com/office/drawing/2010/main">
                <a:solidFill>
                  <a:srgbClr val="FFFFFF"/>
                </a:solidFill>
              </a14:hiddenFill>
            </a:ext>
          </a:extLst>
        </p:spPr>
      </p:pic>
      <p:sp>
        <p:nvSpPr>
          <p:cNvPr id="194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40</a:t>
            </a:r>
          </a:p>
        </p:txBody>
      </p:sp>
      <p:sp xmlns:p="http://schemas.openxmlformats.org/presentationml/2006/main" xmlns:a="http://schemas.openxmlformats.org/drawingml/2006/main">
        <p:nvSpPr>
          <p:cNvPr id="1946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2301618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AA41DCBF-FACF-61AF-F40D-559EEB203D61}"/>
              </a:ext>
            </a:extLst>
          </p:cNvPr>
          <p:cNvSpPr txBox="1">
            <a:spLocks/>
          </p:cNvSpPr>
          <p:nvPr/>
        </p:nvSpPr>
        <p:spPr>
          <a:xfrm>
            <a:off x="485998" y="4680000"/>
            <a:ext cx="9248552" cy="1432911"/>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defRPr/>
            </a:pPr>
            <a:r>
              <a:rPr lang="en-US" sz="2800" dirty="0">
                <a:solidFill>
                  <a:schemeClr val="tx1">
                    <a:lumMod val="65000"/>
                    <a:lumOff val="35000"/>
                  </a:schemeClr>
                </a:solidFill>
                <a:latin typeface="Arial" pitchFamily="34" charset="0"/>
                <a:cs typeface="Arial" pitchFamily="34" charset="0"/>
              </a:rPr>
              <a:t>The total amount raised will be the product of the price for each car and the number of cars washed.</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3CF4AF49-89F7-5C44-B082-4D1951B38CC4}"/>
              </a:ext>
            </a:extLst>
          </p:cNvPr>
          <p:cNvSpPr txBox="1">
            <a:spLocks/>
          </p:cNvSpPr>
          <p:nvPr/>
        </p:nvSpPr>
        <p:spPr>
          <a:xfrm>
            <a:off x="484565" y="316034"/>
            <a:ext cx="5029132" cy="52216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p:sp>
        <p:nvSpPr>
          <p:cNvPr id="13" name="Content Placeholder 2">
            <a:extLst>
              <a:ext uri="{FF2B5EF4-FFF2-40B4-BE49-F238E27FC236}">
                <a16:creationId xmlns:a16="http://schemas.microsoft.com/office/drawing/2014/main" id="{D7D5C8EC-F1EF-6146-850F-128719B25F22}"/>
              </a:ext>
            </a:extLst>
          </p:cNvPr>
          <p:cNvSpPr txBox="1">
            <a:spLocks/>
          </p:cNvSpPr>
          <p:nvPr/>
        </p:nvSpPr>
        <p:spPr>
          <a:xfrm>
            <a:off x="485999" y="936000"/>
            <a:ext cx="7191151" cy="96103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The student council is organizing a fundraiser car wash as shown.</a:t>
            </a:r>
            <a:endParaRPr lang="en-US" sz="2800" b="1" dirty="0">
              <a:solidFill>
                <a:schemeClr val="tx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3C99865-D641-BC56-174A-BC3DF8A6191B}"/>
              </a:ext>
            </a:extLst>
          </p:cNvPr>
          <p:cNvSpPr txBox="1"/>
          <p:nvPr/>
        </p:nvSpPr>
        <p:spPr>
          <a:xfrm>
            <a:off x="484565" y="2112794"/>
            <a:ext cx="7192585" cy="1815882"/>
          </a:xfrm>
          <a:prstGeom prst="rect">
            <a:avLst/>
          </a:prstGeom>
          <a:noFill/>
        </p:spPr>
        <p:txBody>
          <a:bodyPr wrap="square">
            <a:spAutoFit/>
          </a:bodyPr>
          <a:lstStyle/>
          <a:p>
            <a:pPr>
              <a:spcBef>
                <a:spcPts val="1800"/>
              </a:spcBef>
              <a:defRPr/>
            </a:pPr>
            <a:r>
              <a:rPr lang="en-US" sz="2800" b="1" dirty="0">
                <a:latin typeface="Arial" pitchFamily="34" charset="0"/>
                <a:cs typeface="Arial" pitchFamily="34" charset="0"/>
              </a:rPr>
              <a:t>If the student council charges a certain price for each car washed, how can you calculate the total amount that will be raised?</a:t>
            </a:r>
          </a:p>
        </p:txBody>
      </p:sp>
      <p:pic>
        <p:nvPicPr>
          <p:cNvPr id="16" name="Picture 2" descr="C:\Users\HP\Desktop\G6 U9\OPS\img\.assets\2ee1a3bd10244cc688ca7284a921ff66\narm24_c10904_se_002a-dig-eps.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57313" y="1442554"/>
            <a:ext cx="3763765" cy="2790000"/>
          </a:xfrm>
          <a:prstGeom prst="rect">
            <a:avLst/>
          </a:prstGeom>
          <a:noFill/>
          <a:extLst>
            <a:ext uri="{909E8E84-426E-40DD-AFC4-6F175D3DCCD1}">
              <a14:hiddenFill xmlns:a14="http://schemas.microsoft.com/office/drawing/2010/main">
                <a:solidFill>
                  <a:srgbClr val="FFFFFF"/>
                </a:solidFill>
              </a14:hiddenFill>
            </a:ext>
          </a:extLst>
        </p:spPr>
      </p:pic>
      <p:sp>
        <p:nvSpPr>
          <p:cNvPr id="17" name="EWL-COVER-1"/>
          <p:cNvSpPr/>
          <p:nvPr/>
        </p:nvSpPr>
        <p:spPr>
          <a:xfrm>
            <a:off x="431134" y="4625136"/>
            <a:ext cx="9358280" cy="1542639"/>
          </a:xfrm>
          <a:prstGeom prst="rect">
            <a:avLst/>
          </a:prstGeom>
          <a:solidFill>
            <a:srgbClr val="FFFFFF"/>
          </a:solidFill>
          <a:ln>
            <a:noFill/>
          </a:ln>
        </p:spPr>
        <p:txBody>
          <a:bodyPr/>
          <a:lstStyle/>
          <a:p/>
        </p:txBody>
      </p:sp>
      <p:sp>
        <p:nvSpPr>
          <p:cNvPr id="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40</a:t>
            </a:r>
          </a:p>
        </p:txBody>
      </p:sp>
      <p:grpSp>
        <p:nvGrpSpPr>
          <p:cNvPr id="19" name="TEACH-3-student-move" descr="TEACH 3 · Use intentional questioning to deepen learning"/>
          <p:cNvGrpSpPr/>
          <p:nvPr/>
        </p:nvGrpSpPr>
        <p:grpSpPr>
          <a:xfrm>
            <a:off x="502920" y="4323384"/>
            <a:ext cx="11186160" cy="320040"/>
            <a:chOff x="502920" y="4323384"/>
            <a:chExt cx="11186160" cy="320040"/>
          </a:xfrm>
        </p:grpSpPr>
        <p:sp>
          <p:nvSpPr>
            <p:cNvPr id="20" name="TEACH-move-card"/>
            <p:cNvSpPr/>
            <p:nvPr/>
          </p:nvSpPr>
          <p:spPr>
            <a:xfrm>
              <a:off x="502920" y="432338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21" name="TEACH-move-rule"/>
            <p:cNvSpPr/>
            <p:nvPr/>
          </p:nvSpPr>
          <p:spPr>
            <a:xfrm>
              <a:off x="548640" y="4384192"/>
              <a:ext cx="100584" cy="198424"/>
            </a:xfrm>
            <a:prstGeom prst="roundRect">
              <a:avLst>
                <a:gd name="adj" fmla="val 50000"/>
              </a:avLst>
            </a:prstGeom>
            <a:solidFill>
              <a:srgbClr val="01708C"/>
            </a:solidFill>
            <a:ln>
              <a:noFill/>
            </a:ln>
          </p:spPr>
          <p:txBody>
            <a:bodyPr/>
            <a:lstStyle/>
            <a:p>
              <a:endParaRPr/>
            </a:p>
          </p:txBody>
        </p:sp>
        <p:sp>
          <p:nvSpPr>
            <p:cNvPr id="22" name="TEACH-move-text"/>
            <p:cNvSpPr txBox="1"/>
            <p:nvPr/>
          </p:nvSpPr>
          <p:spPr>
            <a:xfrm>
              <a:off x="822960" y="432338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extLst>
      <p:ext uri="{BB962C8B-B14F-4D97-AF65-F5344CB8AC3E}">
        <p14:creationId xmlns:p14="http://schemas.microsoft.com/office/powerpoint/2010/main" val="371267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6000" y="936000"/>
            <a:ext cx="7897435" cy="89087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The student council will charge $12 for each car washed.</a:t>
            </a:r>
            <a:endParaRPr lang="en-US" sz="2800" b="1" dirty="0">
              <a:solidFill>
                <a:schemeClr val="tx1"/>
              </a:solidFill>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AA41DCBF-FACF-61AF-F40D-559EEB203D61}"/>
              </a:ext>
            </a:extLst>
          </p:cNvPr>
          <p:cNvSpPr txBox="1">
            <a:spLocks/>
          </p:cNvSpPr>
          <p:nvPr/>
        </p:nvSpPr>
        <p:spPr>
          <a:xfrm>
            <a:off x="486000" y="4940426"/>
            <a:ext cx="9053785" cy="141127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pPr>
            <a:r>
              <a:rPr lang="en-US" sz="2800" dirty="0">
                <a:solidFill>
                  <a:schemeClr val="tx1">
                    <a:lumMod val="65000"/>
                    <a:lumOff val="35000"/>
                  </a:schemeClr>
                </a:solidFill>
                <a:latin typeface="Arial" pitchFamily="34" charset="0"/>
                <a:cs typeface="Arial" pitchFamily="34" charset="0"/>
              </a:rPr>
              <a:t>We can use variables to represent the two quantities, money raised, and the number of cars washed.</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D080A1D-E9EE-CEE7-1F29-C67D208C0924}"/>
              </a:ext>
            </a:extLst>
          </p:cNvPr>
          <p:cNvSpPr txBox="1"/>
          <p:nvPr/>
        </p:nvSpPr>
        <p:spPr>
          <a:xfrm>
            <a:off x="486000" y="3885627"/>
            <a:ext cx="10879214" cy="954107"/>
          </a:xfrm>
          <a:prstGeom prst="rect">
            <a:avLst/>
          </a:prstGeom>
          <a:noFill/>
        </p:spPr>
        <p:txBody>
          <a:bodyPr wrap="square">
            <a:spAutoFit/>
          </a:bodyPr>
          <a:lstStyle/>
          <a:p>
            <a:r>
              <a:rPr lang="en-US" sz="2800" b="1" dirty="0">
                <a:latin typeface="Arial" pitchFamily="34" charset="0"/>
                <a:cs typeface="Arial" pitchFamily="34" charset="0"/>
              </a:rPr>
              <a:t>How can you write an algebraic equation to represent the total amount raised for any number of cars washed?</a:t>
            </a:r>
            <a:endParaRPr lang="en-IN" sz="28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B447DA98-AAA4-93F7-6B84-4078DD88052C}"/>
              </a:ext>
            </a:extLst>
          </p:cNvPr>
          <p:cNvSpPr txBox="1">
            <a:spLocks/>
          </p:cNvSpPr>
          <p:nvPr/>
        </p:nvSpPr>
        <p:spPr>
          <a:xfrm>
            <a:off x="484565" y="316034"/>
            <a:ext cx="5029132" cy="66240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p:pic>
        <p:nvPicPr>
          <p:cNvPr id="8" name="Picture 2" descr="C:\Users\HP\Desktop\G6 U9\OPS\img\.assets\acef9efcb8894890a29ff2e9dc673ca1\narm24_c10904_eps_004a.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0775" y="1927561"/>
            <a:ext cx="6686550" cy="1857375"/>
          </a:xfrm>
          <a:prstGeom prst="rect">
            <a:avLst/>
          </a:prstGeom>
          <a:noFill/>
          <a:extLst>
            <a:ext uri="{909E8E84-426E-40DD-AFC4-6F175D3DCCD1}">
              <a14:hiddenFill xmlns:a14="http://schemas.microsoft.com/office/drawing/2010/main">
                <a:solidFill>
                  <a:srgbClr val="FFFFFF"/>
                </a:solidFill>
              </a14:hiddenFill>
            </a:ext>
          </a:extLst>
        </p:spPr>
      </p:pic>
      <p:sp>
        <p:nvSpPr>
          <p:cNvPr id="15" name="EWL-COVER-1"/>
          <p:cNvSpPr/>
          <p:nvPr/>
        </p:nvSpPr>
        <p:spPr>
          <a:xfrm>
            <a:off x="431136" y="4885562"/>
            <a:ext cx="9163513" cy="1521006"/>
          </a:xfrm>
          <a:prstGeom prst="rect">
            <a:avLst/>
          </a:prstGeom>
          <a:solidFill>
            <a:srgbClr val="FFFFFF"/>
          </a:solidFill>
          <a:ln>
            <a:noFill/>
          </a:ln>
        </p:spPr>
        <p:txBody>
          <a:bodyPr/>
          <a:lstStyle/>
          <a:p/>
        </p:txBody>
      </p:sp>
      <p:sp>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40</a:t>
            </a:r>
          </a:p>
        </p:txBody>
      </p:sp>
      <p:sp xmlns:p="http://schemas.openxmlformats.org/presentationml/2006/main" xmlns:a="http://schemas.openxmlformats.org/drawingml/2006/main">
        <p:nvSpPr>
          <p:cNvPr id="17" name="TEACH-embedded-student-prompt" descr="Student thinking and response directions"/>
          <p:cNvSpPr txBox="1"/>
          <p:nvPr/>
        </p:nvSpPr>
        <p:spPr>
          <a:xfrm>
            <a:off x="7391400" y="26334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extLst>
      <p:ext uri="{BB962C8B-B14F-4D97-AF65-F5344CB8AC3E}">
        <p14:creationId xmlns:p14="http://schemas.microsoft.com/office/powerpoint/2010/main" val="123772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AA41DCBF-FACF-61AF-F40D-559EEB203D61}"/>
                  </a:ext>
                </a:extLst>
              </p:cNvPr>
              <p:cNvSpPr txBox="1">
                <a:spLocks/>
              </p:cNvSpPr>
              <p:nvPr/>
            </p:nvSpPr>
            <p:spPr>
              <a:xfrm>
                <a:off x="486000" y="4680000"/>
                <a:ext cx="10706450" cy="153718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pPr>
                <a:r>
                  <a:rPr lang="en-US" sz="2800" dirty="0">
                    <a:solidFill>
                      <a:schemeClr val="tx1">
                        <a:lumMod val="65000"/>
                        <a:lumOff val="35000"/>
                      </a:schemeClr>
                    </a:solidFill>
                    <a:latin typeface="Arial" pitchFamily="34" charset="0"/>
                    <a:cs typeface="Arial" pitchFamily="34" charset="0"/>
                  </a:rPr>
                  <a:t xml:space="preserve">We can substitute the goal amount, 500, for the amount of money raised, </a:t>
                </a:r>
                <a14:m>
                  <m:oMath xmlns:m="http://schemas.openxmlformats.org/officeDocument/2006/math">
                    <m:r>
                      <a:rPr lang="en-US" sz="2800" i="1" dirty="0" smtClean="0">
                        <a:solidFill>
                          <a:schemeClr val="tx1">
                            <a:lumMod val="65000"/>
                            <a:lumOff val="35000"/>
                          </a:schemeClr>
                        </a:solidFill>
                        <a:latin typeface="Cambria Math"/>
                        <a:cs typeface="Arial" pitchFamily="34" charset="0"/>
                      </a:rPr>
                      <m:t>𝑦</m:t>
                    </m:r>
                    <m:r>
                      <a:rPr lang="en-US" sz="2800" i="1" dirty="0" smtClean="0">
                        <a:solidFill>
                          <a:schemeClr val="tx1">
                            <a:lumMod val="65000"/>
                            <a:lumOff val="35000"/>
                          </a:schemeClr>
                        </a:solidFill>
                        <a:latin typeface="Cambria Math"/>
                        <a:cs typeface="Arial" pitchFamily="34" charset="0"/>
                      </a:rPr>
                      <m:t>. </m:t>
                    </m:r>
                  </m:oMath>
                </a14:m>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mc:Choice>
        <mc:Fallback xmlns="">
          <p:sp>
            <p:nvSpPr>
              <p:cNvPr id="18" name="Content Placeholder 2">
                <a:extLst>
                  <a:ext uri="{FF2B5EF4-FFF2-40B4-BE49-F238E27FC236}">
                    <a16:creationId xmlns:a16="http://schemas.microsoft.com/office/drawing/2014/main" id="{AA41DCBF-FACF-61AF-F40D-559EEB203D61}"/>
                  </a:ext>
                </a:extLst>
              </p:cNvPr>
              <p:cNvSpPr txBox="1">
                <a:spLocks noRot="1" noChangeAspect="1" noMove="1" noResize="1" noEditPoints="1" noAdjustHandles="1" noChangeArrowheads="1" noChangeShapeType="1" noTextEdit="1"/>
              </p:cNvSpPr>
              <p:nvPr/>
            </p:nvSpPr>
            <p:spPr>
              <a:xfrm>
                <a:off x="486000" y="4680000"/>
                <a:ext cx="10706450" cy="1537189"/>
              </a:xfrm>
              <a:prstGeom prst="rect">
                <a:avLst/>
              </a:prstGeom>
              <a:blipFill>
                <a:blip r:embed="rId2"/>
                <a:stretch>
                  <a:fillRect l="-1196" t="-4365" r="-228" b="-51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D7D5C8EC-F1EF-6146-850F-128719B25F22}"/>
                  </a:ext>
                </a:extLst>
              </p:cNvPr>
              <p:cNvSpPr txBox="1">
                <a:spLocks/>
              </p:cNvSpPr>
              <p:nvPr/>
            </p:nvSpPr>
            <p:spPr>
              <a:xfrm>
                <a:off x="485999" y="936001"/>
                <a:ext cx="8554761" cy="98833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 xml:space="preserve">The amount of money raised </a:t>
                </a:r>
                <a14:m>
                  <m:oMath xmlns:m="http://schemas.openxmlformats.org/officeDocument/2006/math">
                    <m:r>
                      <a:rPr lang="en-US" sz="2800" i="1" dirty="0" smtClean="0">
                        <a:solidFill>
                          <a:schemeClr val="tx1"/>
                        </a:solidFill>
                        <a:latin typeface="Cambria Math"/>
                        <a:cs typeface="Arial" pitchFamily="34" charset="0"/>
                      </a:rPr>
                      <m:t>𝑦</m:t>
                    </m:r>
                  </m:oMath>
                </a14:m>
                <a:r>
                  <a:rPr lang="en-US" sz="2800" dirty="0">
                    <a:solidFill>
                      <a:schemeClr val="tx1"/>
                    </a:solidFill>
                    <a:latin typeface="Arial" pitchFamily="34" charset="0"/>
                    <a:cs typeface="Arial" pitchFamily="34" charset="0"/>
                  </a:rPr>
                  <a:t xml:space="preserve"> depends on the number of cars the students wash </a:t>
                </a:r>
                <a14:m>
                  <m:oMath xmlns:m="http://schemas.openxmlformats.org/officeDocument/2006/math">
                    <m:r>
                      <a:rPr lang="en-US" sz="2800" i="1" dirty="0" smtClean="0">
                        <a:solidFill>
                          <a:schemeClr val="tx1"/>
                        </a:solidFill>
                        <a:latin typeface="Cambria Math"/>
                        <a:cs typeface="Arial" pitchFamily="34" charset="0"/>
                      </a:rPr>
                      <m:t>𝑥</m:t>
                    </m:r>
                  </m:oMath>
                </a14:m>
                <a:r>
                  <a:rPr lang="en-US" sz="2800" dirty="0">
                    <a:solidFill>
                      <a:schemeClr val="tx1"/>
                    </a:solidFill>
                    <a:latin typeface="Arial" pitchFamily="34" charset="0"/>
                    <a:cs typeface="Arial" pitchFamily="34" charset="0"/>
                  </a:rPr>
                  <a:t xml:space="preserve">. </a:t>
                </a:r>
                <a:endParaRPr lang="en-US" sz="2800" b="1" dirty="0">
                  <a:solidFill>
                    <a:schemeClr val="tx1"/>
                  </a:solidFill>
                  <a:latin typeface="Arial" panose="020B0604020202020204" pitchFamily="34" charset="0"/>
                  <a:cs typeface="Arial" panose="020B0604020202020204" pitchFamily="34" charset="0"/>
                </a:endParaRPr>
              </a:p>
            </p:txBody>
          </p:sp>
        </mc:Choice>
        <mc:Fallback xmlns="">
          <p:sp>
            <p:nvSpPr>
              <p:cNvPr id="19"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5999" y="936001"/>
                <a:ext cx="8554761" cy="988334"/>
              </a:xfrm>
              <a:prstGeom prst="rect">
                <a:avLst/>
              </a:prstGeom>
              <a:blipFill>
                <a:blip r:embed="rId3"/>
                <a:stretch>
                  <a:fillRect l="-1497" t="-6790" b="-12963"/>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BD080A1D-E9EE-CEE7-1F29-C67D208C0924}"/>
              </a:ext>
            </a:extLst>
          </p:cNvPr>
          <p:cNvSpPr txBox="1"/>
          <p:nvPr/>
        </p:nvSpPr>
        <p:spPr>
          <a:xfrm>
            <a:off x="484565" y="3287401"/>
            <a:ext cx="10309381" cy="954107"/>
          </a:xfrm>
          <a:prstGeom prst="rect">
            <a:avLst/>
          </a:prstGeom>
          <a:noFill/>
        </p:spPr>
        <p:txBody>
          <a:bodyPr wrap="square">
            <a:spAutoFit/>
          </a:bodyPr>
          <a:lstStyle/>
          <a:p>
            <a:r>
              <a:rPr lang="en-US" sz="2800" b="1" dirty="0">
                <a:latin typeface="Arial" pitchFamily="34" charset="0"/>
                <a:cs typeface="Arial" pitchFamily="34" charset="0"/>
              </a:rPr>
              <a:t>The student council wants to raise $500 at this year’s car wash. How can you use the equation to represent the goal?</a:t>
            </a:r>
            <a:endParaRPr lang="en-IN" sz="2800" dirty="0">
              <a:latin typeface="Arial" panose="020B0604020202020204" pitchFamily="34" charset="0"/>
              <a:cs typeface="Arial" panose="020B0604020202020204" pitchFamily="34" charset="0"/>
            </a:endParaRPr>
          </a:p>
        </p:txBody>
      </p:sp>
      <p:sp>
        <p:nvSpPr>
          <p:cNvPr id="12" name="Title 1">
            <a:extLst>
              <a:ext uri="{FF2B5EF4-FFF2-40B4-BE49-F238E27FC236}">
                <a16:creationId xmlns:a16="http://schemas.microsoft.com/office/drawing/2014/main" id="{4F042ADD-FEC4-2B55-EFB4-838712C243EA}"/>
              </a:ext>
            </a:extLst>
          </p:cNvPr>
          <p:cNvSpPr txBox="1">
            <a:spLocks/>
          </p:cNvSpPr>
          <p:nvPr/>
        </p:nvSpPr>
        <p:spPr>
          <a:xfrm>
            <a:off x="484565" y="316034"/>
            <a:ext cx="5029132" cy="531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 name="TextBox 12"/>
              <p:cNvSpPr txBox="1"/>
              <p:nvPr/>
            </p:nvSpPr>
            <p:spPr>
              <a:xfrm>
                <a:off x="502619" y="2012715"/>
                <a:ext cx="6895863" cy="523220"/>
              </a:xfrm>
              <a:prstGeom prst="rect">
                <a:avLst/>
              </a:prstGeom>
              <a:noFill/>
            </p:spPr>
            <p:txBody>
              <a:bodyPr wrap="square" rtlCol="0">
                <a:spAutoFit/>
              </a:bodyPr>
              <a:lstStyle/>
              <a:p>
                <a:pPr/>
                <a14:m>
                  <m:oMathPara xmlns:m="http://schemas.openxmlformats.org/officeDocument/2006/math">
                    <m:oMath>
                      <m:r>
                        <m:rPr>
                          <m:sty m:val="p"/>
                        </m:rPr>
                        <a:rPr lang="en-US" sz="2800" b="0" i="0" smtClean="0">
                          <a:latin typeface="Cambria Math"/>
                        </a:rPr>
                        <m:t>money</m:t>
                      </m:r>
                      <m:r>
                        <a:rPr lang="en-US" sz="2800" b="0" i="0" smtClean="0">
                          <a:latin typeface="Cambria Math"/>
                        </a:rPr>
                        <m:t> </m:t>
                      </m:r>
                      <m:r>
                        <m:rPr>
                          <m:sty m:val="p"/>
                        </m:rPr>
                        <a:rPr lang="en-US" sz="2800" b="0" i="0" smtClean="0">
                          <a:latin typeface="Cambria Math"/>
                        </a:rPr>
                        <m:t>raised</m:t>
                      </m:r>
                      <m:r>
                        <a:rPr lang="en-US" sz="2800" b="0" i="0" smtClean="0">
                          <a:latin typeface="Cambria Math"/>
                        </a:rPr>
                        <m:t>=12×</m:t>
                      </m:r>
                      <m:r>
                        <m:rPr>
                          <m:sty m:val="p"/>
                        </m:rPr>
                        <a:rPr lang="en-US" sz="2800" b="0" i="0" smtClean="0">
                          <a:latin typeface="Cambria Math"/>
                          <a:ea typeface="Cambria Math"/>
                        </a:rPr>
                        <m:t>number</m:t>
                      </m:r>
                      <m:r>
                        <a:rPr lang="en-US" sz="2800" b="0" i="0" smtClean="0">
                          <a:latin typeface="Cambria Math"/>
                          <a:ea typeface="Cambria Math"/>
                        </a:rPr>
                        <m:t> </m:t>
                      </m:r>
                      <m:r>
                        <m:rPr>
                          <m:sty m:val="p"/>
                        </m:rPr>
                        <a:rPr lang="en-US" sz="2800" b="0" i="0" smtClean="0">
                          <a:latin typeface="Cambria Math"/>
                          <a:ea typeface="Cambria Math"/>
                        </a:rPr>
                        <m:t>of</m:t>
                      </m:r>
                      <m:r>
                        <a:rPr lang="en-US" sz="2800" b="0" i="0" smtClean="0">
                          <a:latin typeface="Cambria Math"/>
                          <a:ea typeface="Cambria Math"/>
                        </a:rPr>
                        <m:t> </m:t>
                      </m:r>
                      <m:r>
                        <m:rPr>
                          <m:sty m:val="p"/>
                        </m:rPr>
                        <a:rPr lang="en-US" sz="2800" b="0" i="0" smtClean="0">
                          <a:latin typeface="Cambria Math"/>
                          <a:ea typeface="Cambria Math"/>
                        </a:rPr>
                        <m:t>car</m:t>
                      </m:r>
                      <m:r>
                        <a:rPr lang="en-US" sz="2800" b="0" i="0" smtClean="0">
                          <a:latin typeface="Cambria Math"/>
                          <a:ea typeface="Cambria Math"/>
                        </a:rPr>
                        <m:t> </m:t>
                      </m:r>
                      <m:r>
                        <m:rPr>
                          <m:sty m:val="p"/>
                        </m:rPr>
                        <a:rPr lang="en-US" sz="2800" b="0" i="0" smtClean="0">
                          <a:latin typeface="Cambria Math"/>
                          <a:ea typeface="Cambria Math"/>
                        </a:rPr>
                        <m:t>washed</m:t>
                      </m:r>
                    </m:oMath>
                  </m:oMathPara>
                </a14:m>
                <a:endParaRPr lang="en-IN" sz="2800" dirty="0"/>
              </a:p>
            </p:txBody>
          </p:sp>
        </mc:Choice>
        <mc:Fallback xmlns="">
          <p:sp>
            <p:nvSpPr>
              <p:cNvPr id="20" name="TextBox 12"/>
              <p:cNvSpPr txBox="1">
                <a:spLocks noRot="1" noChangeAspect="1" noMove="1" noResize="1" noEditPoints="1" noAdjustHandles="1" noChangeArrowheads="1" noChangeShapeType="1" noTextEdit="1"/>
              </p:cNvSpPr>
              <p:nvPr/>
            </p:nvSpPr>
            <p:spPr>
              <a:xfrm>
                <a:off x="502619" y="2012715"/>
                <a:ext cx="689586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315158" y="2534840"/>
                <a:ext cx="1539396"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𝑦</m:t>
                      </m:r>
                      <m:r>
                        <a:rPr lang="en-US" sz="2800" b="0" i="1" smtClean="0">
                          <a:latin typeface="Cambria Math"/>
                        </a:rPr>
                        <m:t>=12</m:t>
                      </m:r>
                      <m:r>
                        <a:rPr lang="en-US" sz="2800" b="0" i="1" smtClean="0">
                          <a:latin typeface="Cambria Math"/>
                        </a:rPr>
                        <m:t>𝑥</m:t>
                      </m:r>
                    </m:oMath>
                  </m:oMathPara>
                </a14:m>
                <a:endParaRPr lang="en-IN" sz="2800" dirty="0"/>
              </a:p>
            </p:txBody>
          </p:sp>
        </mc:Choice>
        <mc:Fallback xmlns="">
          <p:sp>
            <p:nvSpPr>
              <p:cNvPr id="21" name="TextBox 14"/>
              <p:cNvSpPr txBox="1">
                <a:spLocks noRot="1" noChangeAspect="1" noMove="1" noResize="1" noEditPoints="1" noAdjustHandles="1" noChangeArrowheads="1" noChangeShapeType="1" noTextEdit="1"/>
              </p:cNvSpPr>
              <p:nvPr/>
            </p:nvSpPr>
            <p:spPr>
              <a:xfrm>
                <a:off x="2315158" y="2534840"/>
                <a:ext cx="1539396" cy="523220"/>
              </a:xfrm>
              <a:prstGeom prst="rect">
                <a:avLst/>
              </a:prstGeom>
              <a:blipFill>
                <a:blip r:embed="rId5"/>
                <a:stretch>
                  <a:fillRect/>
                </a:stretch>
              </a:blipFill>
            </p:spPr>
            <p:txBody>
              <a:bodyPr/>
              <a:lstStyle/>
              <a:p>
                <a:r>
                  <a:rPr lang="en-IN">
                    <a:noFill/>
                  </a:rPr>
                  <a:t> </a:t>
                </a:r>
              </a:p>
            </p:txBody>
          </p:sp>
        </mc:Fallback>
      </mc:AlternateContent>
      <p:sp>
        <p:nvSpPr>
          <p:cNvPr id="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40</a:t>
            </a:r>
          </a:p>
        </p:txBody>
      </p:sp>
      <p:sp xmlns:p="http://schemas.openxmlformats.org/presentationml/2006/main" xmlns:a="http://schemas.openxmlformats.org/drawingml/2006/main">
        <p:nvSpPr>
          <p:cNvPr id="1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extLst>
      <p:ext uri="{BB962C8B-B14F-4D97-AF65-F5344CB8AC3E}">
        <p14:creationId xmlns:p14="http://schemas.microsoft.com/office/powerpoint/2010/main" val="2093957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D7D5C8EC-F1EF-6146-850F-128719B25F22}"/>
                  </a:ext>
                </a:extLst>
              </p:cNvPr>
              <p:cNvSpPr txBox="1">
                <a:spLocks/>
              </p:cNvSpPr>
              <p:nvPr/>
            </p:nvSpPr>
            <p:spPr>
              <a:xfrm>
                <a:off x="484565" y="936000"/>
                <a:ext cx="7962675" cy="93633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 xml:space="preserve">Substitute the goal amount, $500, for </a:t>
                </a:r>
                <a14:m>
                  <m:oMath xmlns:m="http://schemas.openxmlformats.org/officeDocument/2006/math">
                    <m:r>
                      <a:rPr lang="en-US" sz="2800" i="1" dirty="0" smtClean="0">
                        <a:solidFill>
                          <a:schemeClr val="tx1"/>
                        </a:solidFill>
                        <a:latin typeface="Cambria Math"/>
                        <a:cs typeface="Arial" pitchFamily="34" charset="0"/>
                      </a:rPr>
                      <m:t>𝑦</m:t>
                    </m:r>
                  </m:oMath>
                </a14:m>
                <a:r>
                  <a:rPr lang="en-US" sz="2800" dirty="0">
                    <a:solidFill>
                      <a:schemeClr val="tx1"/>
                    </a:solidFill>
                    <a:latin typeface="Arial" pitchFamily="34" charset="0"/>
                    <a:cs typeface="Arial" pitchFamily="34" charset="0"/>
                  </a:rPr>
                  <a:t xml:space="preserve"> and then solve for </a:t>
                </a:r>
                <a14:m>
                  <m:oMath xmlns:m="http://schemas.openxmlformats.org/officeDocument/2006/math">
                    <m:r>
                      <a:rPr lang="en-US" sz="2800" i="1" dirty="0" smtClean="0">
                        <a:solidFill>
                          <a:schemeClr val="tx1"/>
                        </a:solidFill>
                        <a:latin typeface="Cambria Math"/>
                        <a:cs typeface="Arial" pitchFamily="34" charset="0"/>
                      </a:rPr>
                      <m:t>𝑥</m:t>
                    </m:r>
                  </m:oMath>
                </a14:m>
                <a:r>
                  <a:rPr lang="en-US" sz="2800" dirty="0">
                    <a:solidFill>
                      <a:schemeClr val="tx1"/>
                    </a:solidFill>
                    <a:latin typeface="Arial" pitchFamily="34" charset="0"/>
                    <a:cs typeface="Arial" pitchFamily="34" charset="0"/>
                  </a:rPr>
                  <a:t xml:space="preserve"> the number of cars washed.</a:t>
                </a:r>
                <a:endParaRPr lang="en-US" sz="2800" b="1" dirty="0">
                  <a:solidFill>
                    <a:schemeClr val="tx1"/>
                  </a:solidFill>
                  <a:latin typeface="Arial" panose="020B0604020202020204" pitchFamily="34" charset="0"/>
                  <a:cs typeface="Arial" panose="020B0604020202020204" pitchFamily="34" charset="0"/>
                </a:endParaRPr>
              </a:p>
            </p:txBody>
          </p:sp>
        </mc:Choice>
        <mc:Fallback xmlns="">
          <p:sp>
            <p:nvSpPr>
              <p:cNvPr id="27"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4565" y="936000"/>
                <a:ext cx="7962675" cy="936332"/>
              </a:xfrm>
              <a:prstGeom prst="rect">
                <a:avLst/>
              </a:prstGeom>
              <a:blipFill>
                <a:blip r:embed="rId2"/>
                <a:stretch>
                  <a:fillRect l="-1530" t="-7190" r="-918" b="-19608"/>
                </a:stretch>
              </a:blipFill>
            </p:spPr>
            <p:txBody>
              <a:bodyPr/>
              <a:lstStyle/>
              <a:p>
                <a:r>
                  <a:rPr lang="en-IN">
                    <a:noFill/>
                  </a:rPr>
                  <a:t> </a:t>
                </a:r>
              </a:p>
            </p:txBody>
          </p:sp>
        </mc:Fallback>
      </mc:AlternateContent>
      <p:sp>
        <p:nvSpPr>
          <p:cNvPr id="17" name="Title 1">
            <a:extLst>
              <a:ext uri="{FF2B5EF4-FFF2-40B4-BE49-F238E27FC236}">
                <a16:creationId xmlns:a16="http://schemas.microsoft.com/office/drawing/2014/main" id="{8F9C70A2-9C5D-D863-73D5-59196E3D69D3}"/>
              </a:ext>
            </a:extLst>
          </p:cNvPr>
          <p:cNvSpPr txBox="1">
            <a:spLocks/>
          </p:cNvSpPr>
          <p:nvPr/>
        </p:nvSpPr>
        <p:spPr>
          <a:xfrm>
            <a:off x="484565" y="316034"/>
            <a:ext cx="5029132" cy="54241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8" name="TextBox 17"/>
              <p:cNvSpPr txBox="1"/>
              <p:nvPr/>
            </p:nvSpPr>
            <p:spPr>
              <a:xfrm>
                <a:off x="484565" y="1952128"/>
                <a:ext cx="7036832" cy="523220"/>
              </a:xfrm>
              <a:prstGeom prst="rect">
                <a:avLst/>
              </a:prstGeom>
              <a:noFill/>
            </p:spPr>
            <p:txBody>
              <a:bodyPr wrap="square" rtlCol="0">
                <a:spAutoFit/>
              </a:bodyPr>
              <a:lstStyle/>
              <a:p>
                <a:pPr/>
                <a14:m>
                  <m:oMathPara xmlns:m="http://schemas.openxmlformats.org/officeDocument/2006/math">
                    <m:oMath>
                      <m:r>
                        <m:rPr>
                          <m:sty m:val="p"/>
                        </m:rPr>
                        <a:rPr lang="en-US" sz="2800" b="0" i="0" smtClean="0">
                          <a:latin typeface="Cambria Math"/>
                        </a:rPr>
                        <m:t>money</m:t>
                      </m:r>
                      <m:r>
                        <a:rPr lang="en-US" sz="2800" b="0" i="0" smtClean="0">
                          <a:latin typeface="Cambria Math"/>
                        </a:rPr>
                        <m:t> </m:t>
                      </m:r>
                      <m:r>
                        <m:rPr>
                          <m:sty m:val="p"/>
                        </m:rPr>
                        <a:rPr lang="en-US" sz="2800" b="0" i="0" smtClean="0">
                          <a:latin typeface="Cambria Math"/>
                        </a:rPr>
                        <m:t>raised</m:t>
                      </m:r>
                      <m:r>
                        <a:rPr lang="en-US" sz="2800" b="0" i="0" smtClean="0">
                          <a:latin typeface="Cambria Math"/>
                        </a:rPr>
                        <m:t>=12×</m:t>
                      </m:r>
                      <m:r>
                        <m:rPr>
                          <m:sty m:val="p"/>
                        </m:rPr>
                        <a:rPr lang="en-US" sz="2800" b="0" i="0" smtClean="0">
                          <a:latin typeface="Cambria Math"/>
                          <a:ea typeface="Cambria Math"/>
                        </a:rPr>
                        <m:t>number</m:t>
                      </m:r>
                      <m:r>
                        <a:rPr lang="en-US" sz="2800" b="0" i="0" smtClean="0">
                          <a:latin typeface="Cambria Math"/>
                          <a:ea typeface="Cambria Math"/>
                        </a:rPr>
                        <m:t> </m:t>
                      </m:r>
                      <m:r>
                        <m:rPr>
                          <m:sty m:val="p"/>
                        </m:rPr>
                        <a:rPr lang="en-US" sz="2800" b="0" i="0" smtClean="0">
                          <a:latin typeface="Cambria Math"/>
                          <a:ea typeface="Cambria Math"/>
                        </a:rPr>
                        <m:t>of</m:t>
                      </m:r>
                      <m:r>
                        <a:rPr lang="en-US" sz="2800" b="0" i="0" smtClean="0">
                          <a:latin typeface="Cambria Math"/>
                          <a:ea typeface="Cambria Math"/>
                        </a:rPr>
                        <m:t> </m:t>
                      </m:r>
                      <m:r>
                        <m:rPr>
                          <m:sty m:val="p"/>
                        </m:rPr>
                        <a:rPr lang="en-US" sz="2800" b="0" i="0" smtClean="0">
                          <a:latin typeface="Cambria Math"/>
                          <a:ea typeface="Cambria Math"/>
                        </a:rPr>
                        <m:t>car</m:t>
                      </m:r>
                      <m:r>
                        <a:rPr lang="en-US" sz="2800" b="0" i="0" smtClean="0">
                          <a:latin typeface="Cambria Math"/>
                          <a:ea typeface="Cambria Math"/>
                        </a:rPr>
                        <m:t> </m:t>
                      </m:r>
                      <m:r>
                        <m:rPr>
                          <m:sty m:val="p"/>
                        </m:rPr>
                        <a:rPr lang="en-US" sz="2800" b="0" i="0" smtClean="0">
                          <a:latin typeface="Cambria Math"/>
                          <a:ea typeface="Cambria Math"/>
                        </a:rPr>
                        <m:t>washed</m:t>
                      </m:r>
                    </m:oMath>
                  </m:oMathPara>
                </a14:m>
                <a:endParaRPr lang="en-IN" sz="2800" dirty="0"/>
              </a:p>
            </p:txBody>
          </p:sp>
        </mc:Choice>
        <mc:Fallback xmlns="">
          <p:sp>
            <p:nvSpPr>
              <p:cNvPr id="28" name="TextBox 17"/>
              <p:cNvSpPr txBox="1">
                <a:spLocks noRot="1" noChangeAspect="1" noMove="1" noResize="1" noEditPoints="1" noAdjustHandles="1" noChangeArrowheads="1" noChangeShapeType="1" noTextEdit="1"/>
              </p:cNvSpPr>
              <p:nvPr/>
            </p:nvSpPr>
            <p:spPr>
              <a:xfrm>
                <a:off x="484565" y="1952128"/>
                <a:ext cx="7036832"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333177" y="2555144"/>
                <a:ext cx="1539396"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𝑦</m:t>
                      </m:r>
                      <m:r>
                        <a:rPr lang="en-US" sz="2800" b="0" i="1" smtClean="0">
                          <a:latin typeface="Cambria Math"/>
                        </a:rPr>
                        <m:t>=12</m:t>
                      </m:r>
                      <m:r>
                        <a:rPr lang="en-US" sz="2800" b="0" i="1" smtClean="0">
                          <a:latin typeface="Cambria Math"/>
                        </a:rPr>
                        <m:t>𝑥</m:t>
                      </m:r>
                    </m:oMath>
                  </m:oMathPara>
                </a14:m>
                <a:endParaRPr lang="en-IN" sz="2800" dirty="0"/>
              </a:p>
            </p:txBody>
          </p:sp>
        </mc:Choice>
        <mc:Fallback xmlns="">
          <p:sp>
            <p:nvSpPr>
              <p:cNvPr id="29" name="TextBox 18"/>
              <p:cNvSpPr txBox="1">
                <a:spLocks noRot="1" noChangeAspect="1" noMove="1" noResize="1" noEditPoints="1" noAdjustHandles="1" noChangeArrowheads="1" noChangeShapeType="1" noTextEdit="1"/>
              </p:cNvSpPr>
              <p:nvPr/>
            </p:nvSpPr>
            <p:spPr>
              <a:xfrm>
                <a:off x="2333177" y="2555144"/>
                <a:ext cx="153939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008940" y="3158160"/>
                <a:ext cx="1863633"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500=12</m:t>
                      </m:r>
                      <m:r>
                        <a:rPr lang="en-US" sz="2800" b="0" i="1" smtClean="0">
                          <a:latin typeface="Cambria Math"/>
                        </a:rPr>
                        <m:t>𝑥</m:t>
                      </m:r>
                    </m:oMath>
                  </m:oMathPara>
                </a14:m>
                <a:endParaRPr lang="en-IN" sz="2800" dirty="0"/>
              </a:p>
            </p:txBody>
          </p:sp>
        </mc:Choice>
        <mc:Fallback xmlns="">
          <p:sp>
            <p:nvSpPr>
              <p:cNvPr id="30" name="TextBox 19"/>
              <p:cNvSpPr txBox="1">
                <a:spLocks noRot="1" noChangeAspect="1" noMove="1" noResize="1" noEditPoints="1" noAdjustHandles="1" noChangeArrowheads="1" noChangeShapeType="1" noTextEdit="1"/>
              </p:cNvSpPr>
              <p:nvPr/>
            </p:nvSpPr>
            <p:spPr>
              <a:xfrm>
                <a:off x="2008940" y="3158160"/>
                <a:ext cx="1863633"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983634" y="3761176"/>
                <a:ext cx="1929182" cy="907749"/>
              </a:xfrm>
              <a:prstGeom prst="rect">
                <a:avLst/>
              </a:prstGeom>
              <a:noFill/>
            </p:spPr>
            <p:txBody>
              <a:bodyPr wrap="square" rtlCol="0">
                <a:spAutoFit/>
              </a:bodyPr>
              <a:lstStyle/>
              <a:p>
                <a:pPr/>
                <a14:m>
                  <m:oMathPara xmlns:m="http://schemas.openxmlformats.org/officeDocument/2006/math">
                    <m:oMath>
                      <m:f>
                        <m:fPr>
                          <m:ctrlPr>
                            <a:rPr lang="en-US" sz="2800" b="0" i="1" smtClean="0">
                              <a:latin typeface="Cambria Math"/>
                            </a:rPr>
                          </m:ctrlPr>
                        </m:fPr>
                        <m:num>
                          <m:r>
                            <a:rPr lang="en-US" sz="2800" b="0" i="1" smtClean="0">
                              <a:latin typeface="Cambria Math"/>
                            </a:rPr>
                            <m:t>500</m:t>
                          </m:r>
                        </m:num>
                        <m:den>
                          <m:r>
                            <a:rPr lang="en-US" sz="2800" b="0" i="1" smtClean="0">
                              <a:latin typeface="Cambria Math"/>
                            </a:rPr>
                            <m:t>12</m:t>
                          </m:r>
                        </m:den>
                      </m:f>
                      <m:r>
                        <a:rPr lang="en-IN" sz="2800" i="1" smtClean="0">
                          <a:latin typeface="Cambria Math"/>
                          <a:ea typeface="Cambria Math"/>
                        </a:rPr>
                        <m:t>=</m:t>
                      </m:r>
                      <m:f>
                        <m:fPr>
                          <m:ctrlPr>
                            <a:rPr lang="en-US" sz="2800" b="0" i="1" smtClean="0">
                              <a:latin typeface="Cambria Math"/>
                              <a:ea typeface="Cambria Math"/>
                            </a:rPr>
                          </m:ctrlPr>
                        </m:fPr>
                        <m:num>
                          <m:r>
                            <a:rPr lang="en-US" sz="2800" b="0" i="1" smtClean="0">
                              <a:latin typeface="Cambria Math"/>
                              <a:ea typeface="Cambria Math"/>
                            </a:rPr>
                            <m:t>12</m:t>
                          </m:r>
                          <m:r>
                            <a:rPr lang="en-US" sz="2800" b="0" i="1" smtClean="0">
                              <a:latin typeface="Cambria Math"/>
                              <a:ea typeface="Cambria Math"/>
                            </a:rPr>
                            <m:t>𝑥</m:t>
                          </m:r>
                        </m:num>
                        <m:den>
                          <m:r>
                            <a:rPr lang="en-US" sz="2800" b="0" i="1" smtClean="0">
                              <a:latin typeface="Cambria Math"/>
                              <a:ea typeface="Cambria Math"/>
                            </a:rPr>
                            <m:t>12</m:t>
                          </m:r>
                        </m:den>
                      </m:f>
                    </m:oMath>
                  </m:oMathPara>
                </a14:m>
                <a:endParaRPr lang="en-IN" sz="2800" dirty="0"/>
              </a:p>
            </p:txBody>
          </p:sp>
        </mc:Choice>
        <mc:Fallback xmlns="">
          <p:sp>
            <p:nvSpPr>
              <p:cNvPr id="31" name="TextBox 20"/>
              <p:cNvSpPr txBox="1">
                <a:spLocks noRot="1" noChangeAspect="1" noMove="1" noResize="1" noEditPoints="1" noAdjustHandles="1" noChangeArrowheads="1" noChangeShapeType="1" noTextEdit="1"/>
              </p:cNvSpPr>
              <p:nvPr/>
            </p:nvSpPr>
            <p:spPr>
              <a:xfrm>
                <a:off x="1983634" y="3761176"/>
                <a:ext cx="1929182" cy="90774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983634" y="4748721"/>
                <a:ext cx="1602170"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41.7</m:t>
                      </m:r>
                      <m:r>
                        <a:rPr lang="en-US" sz="2800" b="0" i="1" smtClean="0">
                          <a:latin typeface="Cambria Math"/>
                          <a:ea typeface="Cambria Math"/>
                        </a:rPr>
                        <m:t>≈</m:t>
                      </m:r>
                      <m:r>
                        <a:rPr lang="en-US" sz="2800" b="0" i="1" smtClean="0">
                          <a:latin typeface="Cambria Math"/>
                          <a:ea typeface="Cambria Math"/>
                        </a:rPr>
                        <m:t>𝑥</m:t>
                      </m:r>
                    </m:oMath>
                  </m:oMathPara>
                </a14:m>
                <a:endParaRPr lang="en-IN" sz="2800" dirty="0"/>
              </a:p>
            </p:txBody>
          </p:sp>
        </mc:Choice>
        <mc:Fallback xmlns="">
          <p:sp>
            <p:nvSpPr>
              <p:cNvPr id="32" name="TextBox 21"/>
              <p:cNvSpPr txBox="1">
                <a:spLocks noRot="1" noChangeAspect="1" noMove="1" noResize="1" noEditPoints="1" noAdjustHandles="1" noChangeArrowheads="1" noChangeShapeType="1" noTextEdit="1"/>
              </p:cNvSpPr>
              <p:nvPr/>
            </p:nvSpPr>
            <p:spPr>
              <a:xfrm>
                <a:off x="1983634" y="4748721"/>
                <a:ext cx="1602170" cy="523220"/>
              </a:xfrm>
              <a:prstGeom prst="rect">
                <a:avLst/>
              </a:prstGeom>
              <a:blipFill>
                <a:blip r:embed="rId7"/>
                <a:stretch>
                  <a:fillRect/>
                </a:stretch>
              </a:blipFill>
            </p:spPr>
            <p:txBody>
              <a:bodyPr/>
              <a:lstStyle/>
              <a:p>
                <a:r>
                  <a:rPr lang="en-IN">
                    <a:noFill/>
                  </a:rPr>
                  <a:t> </a:t>
                </a:r>
              </a:p>
            </p:txBody>
          </p:sp>
        </mc:Fallback>
      </mc:AlternateContent>
      <p:sp>
        <p:nvSpPr>
          <p:cNvPr id="23" name="Rectangle 22"/>
          <p:cNvSpPr/>
          <p:nvPr/>
        </p:nvSpPr>
        <p:spPr>
          <a:xfrm>
            <a:off x="484565" y="5351736"/>
            <a:ext cx="7622373" cy="954107"/>
          </a:xfrm>
          <a:prstGeom prst="rect">
            <a:avLst/>
          </a:prstGeom>
        </p:spPr>
        <p:txBody>
          <a:bodyPr wrap="square">
            <a:spAutoFit/>
          </a:bodyPr>
          <a:lstStyle/>
          <a:p>
            <a:r>
              <a:rPr lang="en-US" sz="2800" dirty="0">
                <a:latin typeface="Arial" pitchFamily="34" charset="0"/>
                <a:cs typeface="Arial" pitchFamily="34" charset="0"/>
              </a:rPr>
              <a:t>If the student council charges $12 per car, they will need to wash at least 42 cars.</a:t>
            </a:r>
            <a:endParaRPr lang="en-IN" sz="2800" dirty="0">
              <a:latin typeface="Arial" pitchFamily="34" charset="0"/>
              <a:cs typeface="Arial" pitchFamily="34" charset="0"/>
            </a:endParaRPr>
          </a:p>
        </p:txBody>
      </p:sp>
      <p:sp>
        <p:nvSpPr>
          <p:cNvPr id="24" name="Content Placeholder 2">
            <a:extLst>
              <a:ext uri="{FF2B5EF4-FFF2-40B4-BE49-F238E27FC236}">
                <a16:creationId xmlns:a16="http://schemas.microsoft.com/office/drawing/2014/main" id="{A9FF72A2-C9AA-FDF9-13BF-17246DFE702B}"/>
              </a:ext>
            </a:extLst>
          </p:cNvPr>
          <p:cNvSpPr txBox="1">
            <a:spLocks/>
          </p:cNvSpPr>
          <p:nvPr/>
        </p:nvSpPr>
        <p:spPr>
          <a:xfrm>
            <a:off x="8248649" y="4394706"/>
            <a:ext cx="3838576" cy="181559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pPr>
            <a:r>
              <a:rPr lang="en-US" sz="2800" b="1" dirty="0">
                <a:solidFill>
                  <a:schemeClr val="bg1"/>
                </a:solidFill>
                <a:highlight>
                  <a:srgbClr val="1E2682"/>
                </a:highlight>
                <a:latin typeface="Arial" panose="020B0604020202020204" pitchFamily="34" charset="0"/>
                <a:cs typeface="Arial" panose="020B0604020202020204" pitchFamily="34" charset="0"/>
              </a:rPr>
              <a:t xml:space="preserve"> Think About It</a:t>
            </a:r>
            <a:r>
              <a:rPr lang="en-US" sz="2800" b="1" dirty="0">
                <a:solidFill>
                  <a:srgbClr val="1E2682"/>
                </a:solidFill>
                <a:highlight>
                  <a:srgbClr val="1E2682"/>
                </a:highlight>
                <a:latin typeface="Arial" panose="020B0604020202020204" pitchFamily="34" charset="0"/>
                <a:cs typeface="Arial" panose="020B0604020202020204" pitchFamily="34" charset="0"/>
              </a:rPr>
              <a:t>:</a:t>
            </a:r>
            <a:r>
              <a:rPr lang="en-US" sz="2800" b="1" dirty="0">
                <a:solidFill>
                  <a:schemeClr val="bg1"/>
                </a:solidFill>
                <a:highlight>
                  <a:srgbClr val="1E2682"/>
                </a:highlight>
                <a:latin typeface="Arial" panose="020B0604020202020204" pitchFamily="34" charset="0"/>
                <a:cs typeface="Arial" panose="020B0604020202020204" pitchFamily="34" charset="0"/>
              </a:rPr>
              <a:t xml:space="preserve"> </a:t>
            </a:r>
          </a:p>
        </p:txBody>
      </p:sp>
      <p:sp>
        <p:nvSpPr>
          <p:cNvPr id="2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40</a:t>
            </a:r>
          </a:p>
        </p:txBody>
      </p:sp>
      <p:sp xmlns:p="http://schemas.openxmlformats.org/presentationml/2006/main" xmlns:a="http://schemas.openxmlformats.org/drawingml/2006/main">
        <p:nvSpPr>
          <p:cNvPr id="26" name="TEACH-embedded-student-prompt" descr="Student thinking and response directions"/>
          <p:cNvSpPr txBox="1"/>
          <p:nvPr/>
        </p:nvSpPr>
        <p:spPr>
          <a:xfrm>
            <a:off x="594360" y="38039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extLst>
      <p:ext uri="{BB962C8B-B14F-4D97-AF65-F5344CB8AC3E}">
        <p14:creationId xmlns:p14="http://schemas.microsoft.com/office/powerpoint/2010/main" val="3658525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D964AAA0-B33D-ADE9-0718-43B863BD30EF}"/>
              </a:ext>
            </a:extLst>
          </p:cNvPr>
          <p:cNvSpPr txBox="1">
            <a:spLocks/>
          </p:cNvSpPr>
          <p:nvPr/>
        </p:nvSpPr>
        <p:spPr>
          <a:xfrm>
            <a:off x="486000" y="4736389"/>
            <a:ext cx="10329781" cy="1489211"/>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600"/>
              </a:spcBef>
              <a:defRPr/>
            </a:pPr>
            <a:r>
              <a:rPr lang="en-US" sz="2800" b="1" dirty="0">
                <a:solidFill>
                  <a:srgbClr val="0070C0"/>
                </a:solidFill>
                <a:highlight>
                  <a:srgbClr val="E0E0E0"/>
                </a:highlight>
                <a:latin typeface="Arial" panose="020B0604020202020204" pitchFamily="34" charset="0"/>
                <a:cs typeface="Arial" panose="020B0604020202020204" pitchFamily="34" charset="0"/>
              </a:rPr>
              <a:t xml:space="preserve"> Reveal</a:t>
            </a:r>
            <a:r>
              <a:rPr lang="en-US" sz="2800" b="1" dirty="0">
                <a:solidFill>
                  <a:srgbClr val="E0E0E0"/>
                </a:solidFill>
                <a:highlight>
                  <a:srgbClr val="E0E0E0"/>
                </a:highlight>
                <a:latin typeface="Arial" panose="020B0604020202020204" pitchFamily="34" charset="0"/>
                <a:cs typeface="Arial" panose="020B0604020202020204" pitchFamily="34" charset="0"/>
              </a:rPr>
              <a:t>:</a:t>
            </a:r>
            <a:r>
              <a:rPr lang="en-US" sz="2800" b="1" dirty="0">
                <a:solidFill>
                  <a:srgbClr val="0070C0"/>
                </a:solidFill>
                <a:latin typeface="Arial" panose="020B0604020202020204" pitchFamily="34" charset="0"/>
                <a:cs typeface="Arial" panose="020B0604020202020204" pitchFamily="34" charset="0"/>
              </a:rPr>
              <a:t xml:space="preserve"> </a:t>
            </a:r>
          </a:p>
          <a:p>
            <a:pPr>
              <a:spcBef>
                <a:spcPts val="600"/>
              </a:spcBef>
              <a:defRPr/>
            </a:pPr>
            <a:r>
              <a:rPr lang="en-US" sz="2800" dirty="0">
                <a:solidFill>
                  <a:schemeClr val="tx1">
                    <a:lumMod val="65000"/>
                    <a:lumOff val="35000"/>
                  </a:schemeClr>
                </a:solidFill>
                <a:latin typeface="Arial" pitchFamily="34" charset="0"/>
                <a:cs typeface="Arial" pitchFamily="34" charset="0"/>
              </a:rPr>
              <a:t>One reasonable prediction is 35 cars because it is close to the number of cars washed last year.</a:t>
            </a:r>
            <a:endParaRPr lang="en-US" sz="2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D7D5C8EC-F1EF-6146-850F-128719B25F22}"/>
              </a:ext>
            </a:extLst>
          </p:cNvPr>
          <p:cNvSpPr txBox="1">
            <a:spLocks/>
          </p:cNvSpPr>
          <p:nvPr/>
        </p:nvSpPr>
        <p:spPr>
          <a:xfrm>
            <a:off x="486000" y="939985"/>
            <a:ext cx="8245045" cy="102091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defRPr/>
            </a:pPr>
            <a:r>
              <a:rPr lang="en-US" sz="2800" dirty="0">
                <a:solidFill>
                  <a:schemeClr val="tx1"/>
                </a:solidFill>
                <a:latin typeface="Arial" pitchFamily="34" charset="0"/>
                <a:cs typeface="Arial" pitchFamily="34" charset="0"/>
              </a:rPr>
              <a:t>Let’s look at another way the student council can reach their goal.</a:t>
            </a:r>
            <a:endParaRPr lang="en-US" sz="2800" b="1" dirty="0">
              <a:solidFill>
                <a:schemeClr val="tx1"/>
              </a:solidFill>
              <a:latin typeface="Arial" panose="020B0604020202020204" pitchFamily="34" charset="0"/>
              <a:cs typeface="Arial" panose="020B0604020202020204" pitchFamily="34" charset="0"/>
            </a:endParaRPr>
          </a:p>
        </p:txBody>
      </p:sp>
      <p:sp>
        <p:nvSpPr>
          <p:cNvPr id="12" name="Rectangle 11"/>
          <p:cNvSpPr/>
          <p:nvPr/>
        </p:nvSpPr>
        <p:spPr>
          <a:xfrm>
            <a:off x="486000" y="2046911"/>
            <a:ext cx="10329781" cy="523220"/>
          </a:xfrm>
          <a:prstGeom prst="rect">
            <a:avLst/>
          </a:prstGeom>
        </p:spPr>
        <p:txBody>
          <a:bodyPr wrap="square">
            <a:spAutoFit/>
          </a:bodyPr>
          <a:lstStyle/>
          <a:p>
            <a:pPr>
              <a:defRPr/>
            </a:pPr>
            <a:r>
              <a:rPr lang="en-US" sz="2800" dirty="0">
                <a:latin typeface="Arial" pitchFamily="34" charset="0"/>
                <a:cs typeface="Arial" pitchFamily="34" charset="0"/>
              </a:rPr>
              <a:t>At last year’s car wash, they washed 34 cars and raised $408.</a:t>
            </a:r>
            <a:endParaRPr lang="en-IN" sz="2800" dirty="0">
              <a:latin typeface="Arial" pitchFamily="34" charset="0"/>
              <a:cs typeface="Arial" pitchFamily="34" charset="0"/>
            </a:endParaRPr>
          </a:p>
        </p:txBody>
      </p:sp>
      <p:sp>
        <p:nvSpPr>
          <p:cNvPr id="13" name="Title 1">
            <a:extLst>
              <a:ext uri="{FF2B5EF4-FFF2-40B4-BE49-F238E27FC236}">
                <a16:creationId xmlns:a16="http://schemas.microsoft.com/office/drawing/2014/main" id="{159500B0-25A7-4A55-F615-CDEF7EF26FBF}"/>
              </a:ext>
            </a:extLst>
          </p:cNvPr>
          <p:cNvSpPr txBox="1">
            <a:spLocks/>
          </p:cNvSpPr>
          <p:nvPr/>
        </p:nvSpPr>
        <p:spPr>
          <a:xfrm>
            <a:off x="486000" y="316034"/>
            <a:ext cx="5029132" cy="55714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p:sp>
        <p:nvSpPr>
          <p:cNvPr id="15" name="Rectangle 14"/>
          <p:cNvSpPr/>
          <p:nvPr/>
        </p:nvSpPr>
        <p:spPr>
          <a:xfrm>
            <a:off x="486000" y="2656145"/>
            <a:ext cx="10193706" cy="954107"/>
          </a:xfrm>
          <a:prstGeom prst="rect">
            <a:avLst/>
          </a:prstGeom>
        </p:spPr>
        <p:txBody>
          <a:bodyPr wrap="square">
            <a:spAutoFit/>
          </a:bodyPr>
          <a:lstStyle/>
          <a:p>
            <a:pPr>
              <a:defRPr/>
            </a:pPr>
            <a:r>
              <a:rPr lang="en-US" sz="2800" dirty="0">
                <a:latin typeface="Arial" pitchFamily="34" charset="0"/>
                <a:cs typeface="Arial" pitchFamily="34" charset="0"/>
              </a:rPr>
              <a:t>The student council predicts that they will wash a similar number of cars this year.</a:t>
            </a:r>
            <a:endParaRPr lang="en-IN" sz="2800" dirty="0">
              <a:latin typeface="Arial" pitchFamily="34" charset="0"/>
              <a:cs typeface="Arial" pitchFamily="34" charset="0"/>
            </a:endParaRPr>
          </a:p>
        </p:txBody>
      </p:sp>
      <p:sp>
        <p:nvSpPr>
          <p:cNvPr id="16" name="Rectangle 15"/>
          <p:cNvSpPr/>
          <p:nvPr/>
        </p:nvSpPr>
        <p:spPr>
          <a:xfrm>
            <a:off x="486000" y="3696266"/>
            <a:ext cx="10183836" cy="954107"/>
          </a:xfrm>
          <a:prstGeom prst="rect">
            <a:avLst/>
          </a:prstGeom>
        </p:spPr>
        <p:txBody>
          <a:bodyPr wrap="square">
            <a:spAutoFit/>
          </a:bodyPr>
          <a:lstStyle/>
          <a:p>
            <a:pPr>
              <a:defRPr/>
            </a:pPr>
            <a:r>
              <a:rPr lang="en-US" sz="2800" b="1" dirty="0">
                <a:latin typeface="Arial" pitchFamily="34" charset="0"/>
                <a:cs typeface="Arial" pitchFamily="34" charset="0"/>
              </a:rPr>
              <a:t>What is a reasonable prediction for the number of cars the student council will wash this year?</a:t>
            </a:r>
            <a:endParaRPr lang="en-IN" sz="2800" dirty="0">
              <a:latin typeface="Arial" pitchFamily="34" charset="0"/>
              <a:cs typeface="Arial" pitchFamily="34" charset="0"/>
            </a:endParaRPr>
          </a:p>
        </p:txBody>
      </p:sp>
      <p:sp>
        <p:nvSpPr>
          <p:cNvPr id="17" name="EWL-COVER-1"/>
          <p:cNvSpPr/>
          <p:nvPr/>
        </p:nvSpPr>
        <p:spPr>
          <a:xfrm>
            <a:off x="431136" y="4681525"/>
            <a:ext cx="10439509" cy="1598939"/>
          </a:xfrm>
          <a:prstGeom prst="rect">
            <a:avLst/>
          </a:prstGeom>
          <a:solidFill>
            <a:srgbClr val="FFFFFF"/>
          </a:solidFill>
          <a:ln>
            <a:noFill/>
          </a:ln>
        </p:spPr>
        <p:txBody>
          <a:bodyPr/>
          <a:lstStyle/>
          <a:p/>
        </p:txBody>
      </p:sp>
      <p:sp>
        <p:nvSpPr>
          <p:cNvPr id="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40</a:t>
            </a:r>
          </a:p>
        </p:txBody>
      </p:sp>
    </p:spTree>
    <p:extLst>
      <p:ext uri="{BB962C8B-B14F-4D97-AF65-F5344CB8AC3E}">
        <p14:creationId xmlns:p14="http://schemas.microsoft.com/office/powerpoint/2010/main" val="112561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D7D5C8EC-F1EF-6146-850F-128719B25F22}"/>
                  </a:ext>
                </a:extLst>
              </p:cNvPr>
              <p:cNvSpPr txBox="1">
                <a:spLocks/>
              </p:cNvSpPr>
              <p:nvPr/>
            </p:nvSpPr>
            <p:spPr>
              <a:xfrm>
                <a:off x="485998" y="936000"/>
                <a:ext cx="8696102" cy="949071"/>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spcBef>
                    <a:spcPts val="1800"/>
                  </a:spcBef>
                </a:pPr>
                <a:r>
                  <a:rPr lang="en-US" sz="2800" dirty="0">
                    <a:solidFill>
                      <a:schemeClr val="tx1"/>
                    </a:solidFill>
                    <a:latin typeface="Arial" pitchFamily="34" charset="0"/>
                    <a:cs typeface="Arial" pitchFamily="34" charset="0"/>
                  </a:rPr>
                  <a:t xml:space="preserve">Let’s substitute the goal amount, $500, for </a:t>
                </a:r>
                <a14:m>
                  <m:oMath xmlns:m="http://schemas.openxmlformats.org/officeDocument/2006/math">
                    <m:r>
                      <a:rPr lang="en-US" sz="2800" i="1" dirty="0" smtClean="0">
                        <a:solidFill>
                          <a:schemeClr val="tx1"/>
                        </a:solidFill>
                        <a:latin typeface="Cambria Math"/>
                        <a:cs typeface="Arial" pitchFamily="34" charset="0"/>
                      </a:rPr>
                      <m:t>𝑦</m:t>
                    </m:r>
                  </m:oMath>
                </a14:m>
                <a:r>
                  <a:rPr lang="en-US" sz="2800" dirty="0">
                    <a:solidFill>
                      <a:schemeClr val="tx1"/>
                    </a:solidFill>
                    <a:latin typeface="Arial" pitchFamily="34" charset="0"/>
                    <a:cs typeface="Arial" pitchFamily="34" charset="0"/>
                  </a:rPr>
                  <a:t xml:space="preserve"> and solve the equation for </a:t>
                </a:r>
                <a14:m>
                  <m:oMath xmlns:m="http://schemas.openxmlformats.org/officeDocument/2006/math">
                    <m:r>
                      <a:rPr lang="en-US" sz="2800" i="1" dirty="0" smtClean="0">
                        <a:solidFill>
                          <a:schemeClr val="tx1"/>
                        </a:solidFill>
                        <a:latin typeface="Cambria Math"/>
                        <a:cs typeface="Arial" pitchFamily="34" charset="0"/>
                      </a:rPr>
                      <m:t>𝑥</m:t>
                    </m:r>
                  </m:oMath>
                </a14:m>
                <a:r>
                  <a:rPr lang="en-US" sz="2800" dirty="0">
                    <a:solidFill>
                      <a:schemeClr val="tx1"/>
                    </a:solidFill>
                    <a:latin typeface="Arial" pitchFamily="34" charset="0"/>
                    <a:cs typeface="Arial" pitchFamily="34" charset="0"/>
                  </a:rPr>
                  <a:t xml:space="preserve">. </a:t>
                </a:r>
                <a:endParaRPr lang="en-US" sz="2800" b="1" dirty="0">
                  <a:solidFill>
                    <a:schemeClr val="tx1"/>
                  </a:solidFill>
                  <a:latin typeface="Arial" panose="020B0604020202020204" pitchFamily="34" charset="0"/>
                  <a:cs typeface="Arial" panose="020B0604020202020204" pitchFamily="34" charset="0"/>
                </a:endParaRPr>
              </a:p>
            </p:txBody>
          </p:sp>
        </mc:Choice>
        <mc:Fallback xmlns="">
          <p:sp>
            <p:nvSpPr>
              <p:cNvPr id="29" name="Content Placeholder 2">
                <a:extLst>
                  <a:ext uri="{FF2B5EF4-FFF2-40B4-BE49-F238E27FC236}">
                    <a16:creationId xmlns:a16="http://schemas.microsoft.com/office/drawing/2014/main" id="{D7D5C8EC-F1EF-6146-850F-128719B25F22}"/>
                  </a:ext>
                </a:extLst>
              </p:cNvPr>
              <p:cNvSpPr txBox="1">
                <a:spLocks noRot="1" noChangeAspect="1" noMove="1" noResize="1" noEditPoints="1" noAdjustHandles="1" noChangeArrowheads="1" noChangeShapeType="1" noTextEdit="1"/>
              </p:cNvSpPr>
              <p:nvPr/>
            </p:nvSpPr>
            <p:spPr>
              <a:xfrm>
                <a:off x="485998" y="936000"/>
                <a:ext cx="8696102" cy="949071"/>
              </a:xfrm>
              <a:prstGeom prst="rect">
                <a:avLst/>
              </a:prstGeom>
              <a:blipFill>
                <a:blip r:embed="rId2"/>
                <a:stretch>
                  <a:fillRect l="-1473" t="-7097" b="-18065"/>
                </a:stretch>
              </a:blipFill>
            </p:spPr>
            <p:txBody>
              <a:bodyPr/>
              <a:lstStyle/>
              <a:p>
                <a:r>
                  <a:rPr lang="en-IN">
                    <a:noFill/>
                  </a:rPr>
                  <a:t> </a:t>
                </a:r>
              </a:p>
            </p:txBody>
          </p:sp>
        </mc:Fallback>
      </mc:AlternateContent>
      <p:sp>
        <p:nvSpPr>
          <p:cNvPr id="18" name="Title 1">
            <a:extLst>
              <a:ext uri="{FF2B5EF4-FFF2-40B4-BE49-F238E27FC236}">
                <a16:creationId xmlns:a16="http://schemas.microsoft.com/office/drawing/2014/main" id="{8F9C70A2-9C5D-D863-73D5-59196E3D69D3}"/>
              </a:ext>
            </a:extLst>
          </p:cNvPr>
          <p:cNvSpPr txBox="1">
            <a:spLocks/>
          </p:cNvSpPr>
          <p:nvPr/>
        </p:nvSpPr>
        <p:spPr>
          <a:xfrm>
            <a:off x="484565" y="316034"/>
            <a:ext cx="5029132" cy="66240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IN" sz="2800" dirty="0">
                <a:solidFill>
                  <a:srgbClr val="7030A0"/>
                </a:solidFill>
                <a:latin typeface="Arial" pitchFamily="34" charset="0"/>
                <a:cs typeface="Arial" pitchFamily="34" charset="0"/>
              </a:rPr>
              <a:t>Car Wash Fundraiser</a:t>
            </a:r>
            <a:endParaRPr lang="en-US" sz="2800" dirty="0">
              <a:solidFill>
                <a:srgbClr val="7030A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p:cNvSpPr txBox="1"/>
              <p:nvPr/>
            </p:nvSpPr>
            <p:spPr>
              <a:xfrm>
                <a:off x="2486082" y="2423765"/>
                <a:ext cx="1539396"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𝑦</m:t>
                      </m:r>
                      <m:r>
                        <a:rPr lang="en-US" sz="2800" b="0" i="1" smtClean="0">
                          <a:latin typeface="Cambria Math"/>
                        </a:rPr>
                        <m:t>=35</m:t>
                      </m:r>
                      <m:r>
                        <a:rPr lang="en-US" sz="2800" b="0" i="1" smtClean="0">
                          <a:latin typeface="Cambria Math"/>
                        </a:rPr>
                        <m:t>𝑥</m:t>
                      </m:r>
                    </m:oMath>
                  </m:oMathPara>
                </a14:m>
                <a:endParaRPr lang="en-IN" sz="2800" dirty="0"/>
              </a:p>
            </p:txBody>
          </p:sp>
        </mc:Choice>
        <mc:Fallback xmlns="">
          <p:sp>
            <p:nvSpPr>
              <p:cNvPr id="30" name="TextBox 18"/>
              <p:cNvSpPr txBox="1">
                <a:spLocks noRot="1" noChangeAspect="1" noMove="1" noResize="1" noEditPoints="1" noAdjustHandles="1" noChangeArrowheads="1" noChangeShapeType="1" noTextEdit="1"/>
              </p:cNvSpPr>
              <p:nvPr/>
            </p:nvSpPr>
            <p:spPr>
              <a:xfrm>
                <a:off x="2486082" y="2423765"/>
                <a:ext cx="1539396"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179125" y="2954722"/>
                <a:ext cx="1863633"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500=35</m:t>
                      </m:r>
                      <m:r>
                        <a:rPr lang="en-US" sz="2800" b="0" i="1" smtClean="0">
                          <a:latin typeface="Cambria Math"/>
                        </a:rPr>
                        <m:t>𝑥</m:t>
                      </m:r>
                    </m:oMath>
                  </m:oMathPara>
                </a14:m>
                <a:endParaRPr lang="en-IN" sz="2800" dirty="0"/>
              </a:p>
            </p:txBody>
          </p:sp>
        </mc:Choice>
        <mc:Fallback xmlns="">
          <p:sp>
            <p:nvSpPr>
              <p:cNvPr id="31" name="TextBox 19"/>
              <p:cNvSpPr txBox="1">
                <a:spLocks noRot="1" noChangeAspect="1" noMove="1" noResize="1" noEditPoints="1" noAdjustHandles="1" noChangeArrowheads="1" noChangeShapeType="1" noTextEdit="1"/>
              </p:cNvSpPr>
              <p:nvPr/>
            </p:nvSpPr>
            <p:spPr>
              <a:xfrm>
                <a:off x="2179125" y="2954722"/>
                <a:ext cx="186363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146350" y="3485679"/>
                <a:ext cx="1929182" cy="910570"/>
              </a:xfrm>
              <a:prstGeom prst="rect">
                <a:avLst/>
              </a:prstGeom>
              <a:noFill/>
            </p:spPr>
            <p:txBody>
              <a:bodyPr wrap="square" rtlCol="0">
                <a:spAutoFit/>
              </a:bodyPr>
              <a:lstStyle/>
              <a:p>
                <a:pPr/>
                <a14:m>
                  <m:oMathPara xmlns:m="http://schemas.openxmlformats.org/officeDocument/2006/math">
                    <m:oMath>
                      <m:f>
                        <m:fPr>
                          <m:ctrlPr>
                            <a:rPr lang="en-US" sz="2800" b="0" i="1" smtClean="0">
                              <a:latin typeface="Cambria Math"/>
                            </a:rPr>
                          </m:ctrlPr>
                        </m:fPr>
                        <m:num>
                          <m:r>
                            <a:rPr lang="en-US" sz="2800" b="0" i="1" smtClean="0">
                              <a:latin typeface="Cambria Math"/>
                            </a:rPr>
                            <m:t>500</m:t>
                          </m:r>
                        </m:num>
                        <m:den>
                          <m:r>
                            <a:rPr lang="en-US" sz="2800" b="0" i="1" smtClean="0">
                              <a:latin typeface="Cambria Math"/>
                            </a:rPr>
                            <m:t>35</m:t>
                          </m:r>
                        </m:den>
                      </m:f>
                      <m:r>
                        <a:rPr lang="en-IN" sz="2800" i="1" smtClean="0">
                          <a:latin typeface="Cambria Math"/>
                          <a:ea typeface="Cambria Math"/>
                        </a:rPr>
                        <m:t>=</m:t>
                      </m:r>
                      <m:f>
                        <m:fPr>
                          <m:ctrlPr>
                            <a:rPr lang="en-US" sz="2800" b="0" i="1" smtClean="0">
                              <a:latin typeface="Cambria Math"/>
                              <a:ea typeface="Cambria Math"/>
                            </a:rPr>
                          </m:ctrlPr>
                        </m:fPr>
                        <m:num>
                          <m:r>
                            <a:rPr lang="en-US" sz="2800" b="0" i="1" smtClean="0">
                              <a:latin typeface="Cambria Math"/>
                              <a:ea typeface="Cambria Math"/>
                            </a:rPr>
                            <m:t>35</m:t>
                          </m:r>
                          <m:r>
                            <a:rPr lang="en-US" sz="2800" b="0" i="1" smtClean="0">
                              <a:latin typeface="Cambria Math"/>
                              <a:ea typeface="Cambria Math"/>
                            </a:rPr>
                            <m:t>𝑥</m:t>
                          </m:r>
                        </m:num>
                        <m:den>
                          <m:r>
                            <a:rPr lang="en-US" sz="2800" b="0" i="1" smtClean="0">
                              <a:latin typeface="Cambria Math"/>
                              <a:ea typeface="Cambria Math"/>
                            </a:rPr>
                            <m:t>35</m:t>
                          </m:r>
                        </m:den>
                      </m:f>
                    </m:oMath>
                  </m:oMathPara>
                </a14:m>
                <a:endParaRPr lang="en-IN" sz="2800" dirty="0"/>
              </a:p>
            </p:txBody>
          </p:sp>
        </mc:Choice>
        <mc:Fallback xmlns="">
          <p:sp>
            <p:nvSpPr>
              <p:cNvPr id="32" name="TextBox 20"/>
              <p:cNvSpPr txBox="1">
                <a:spLocks noRot="1" noChangeAspect="1" noMove="1" noResize="1" noEditPoints="1" noAdjustHandles="1" noChangeArrowheads="1" noChangeShapeType="1" noTextEdit="1"/>
              </p:cNvSpPr>
              <p:nvPr/>
            </p:nvSpPr>
            <p:spPr>
              <a:xfrm>
                <a:off x="2146350" y="3485679"/>
                <a:ext cx="1929182" cy="91057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066788" y="4403986"/>
                <a:ext cx="1701515" cy="523220"/>
              </a:xfrm>
              <a:prstGeom prst="rect">
                <a:avLst/>
              </a:prstGeom>
              <a:noFill/>
            </p:spPr>
            <p:txBody>
              <a:bodyPr wrap="square" rtlCol="0">
                <a:spAutoFit/>
              </a:bodyPr>
              <a:lstStyle/>
              <a:p>
                <a:pPr/>
                <a14:m>
                  <m:oMathPara xmlns:m="http://schemas.openxmlformats.org/officeDocument/2006/math">
                    <m:oMath>
                      <m:r>
                        <a:rPr lang="en-US" sz="2800" b="0" i="1" smtClean="0">
                          <a:latin typeface="Cambria Math"/>
                        </a:rPr>
                        <m:t>14.3</m:t>
                      </m:r>
                      <m:r>
                        <a:rPr lang="en-US" sz="2800" b="0" i="1" smtClean="0">
                          <a:latin typeface="Cambria Math"/>
                          <a:ea typeface="Cambria Math"/>
                        </a:rPr>
                        <m:t>≈</m:t>
                      </m:r>
                      <m:r>
                        <a:rPr lang="en-US" sz="2800" b="0" i="1" smtClean="0">
                          <a:latin typeface="Cambria Math"/>
                          <a:ea typeface="Cambria Math"/>
                        </a:rPr>
                        <m:t>𝑥</m:t>
                      </m:r>
                    </m:oMath>
                  </m:oMathPara>
                </a14:m>
                <a:endParaRPr lang="en-IN" sz="2800" dirty="0"/>
              </a:p>
            </p:txBody>
          </p:sp>
        </mc:Choice>
        <mc:Fallback xmlns="">
          <p:sp>
            <p:nvSpPr>
              <p:cNvPr id="33" name="TextBox 21"/>
              <p:cNvSpPr txBox="1">
                <a:spLocks noRot="1" noChangeAspect="1" noMove="1" noResize="1" noEditPoints="1" noAdjustHandles="1" noChangeArrowheads="1" noChangeShapeType="1" noTextEdit="1"/>
              </p:cNvSpPr>
              <p:nvPr/>
            </p:nvSpPr>
            <p:spPr>
              <a:xfrm>
                <a:off x="2066788" y="4403986"/>
                <a:ext cx="1701515" cy="523220"/>
              </a:xfrm>
              <a:prstGeom prst="rect">
                <a:avLst/>
              </a:prstGeom>
              <a:blipFill>
                <a:blip r:embed="rId6"/>
                <a:stretch>
                  <a:fillRect/>
                </a:stretch>
              </a:blipFill>
            </p:spPr>
            <p:txBody>
              <a:bodyPr/>
              <a:lstStyle/>
              <a:p>
                <a:r>
                  <a:rPr lang="en-IN">
                    <a:noFill/>
                  </a:rPr>
                  <a:t> </a:t>
                </a:r>
              </a:p>
            </p:txBody>
          </p:sp>
        </mc:Fallback>
      </mc:AlternateContent>
      <p:sp>
        <p:nvSpPr>
          <p:cNvPr id="23" name="Rectangle 22"/>
          <p:cNvSpPr/>
          <p:nvPr/>
        </p:nvSpPr>
        <p:spPr>
          <a:xfrm>
            <a:off x="4618415" y="3703751"/>
            <a:ext cx="7087810" cy="1384995"/>
          </a:xfrm>
          <a:prstGeom prst="rect">
            <a:avLst/>
          </a:prstGeom>
        </p:spPr>
        <p:txBody>
          <a:bodyPr wrap="square">
            <a:spAutoFit/>
          </a:bodyPr>
          <a:lstStyle/>
          <a:p>
            <a:r>
              <a:rPr lang="en-US" sz="2800" dirty="0">
                <a:latin typeface="Arial" pitchFamily="34" charset="0"/>
                <a:cs typeface="Arial" pitchFamily="34" charset="0"/>
              </a:rPr>
              <a:t>If the student council expects to wash 35 cars, they will need to charge at least $14.30 per car to hit their fundraising goal.</a:t>
            </a:r>
            <a:endParaRPr lang="en-IN" sz="2800" dirty="0">
              <a:latin typeface="Arial" pitchFamily="34" charset="0"/>
              <a:cs typeface="Arial" pitchFamily="34" charset="0"/>
            </a:endParaRPr>
          </a:p>
        </p:txBody>
      </p:sp>
      <p:pic>
        <p:nvPicPr>
          <p:cNvPr id="24" name="Picture 23">
            <a:extLst>
              <a:ext uri="{FF2B5EF4-FFF2-40B4-BE49-F238E27FC236}">
                <a16:creationId xmlns:a16="http://schemas.microsoft.com/office/drawing/2014/main" id="{7D5613F4-FB4C-1F45-AAFB-1545734B22E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84565" y="5197577"/>
            <a:ext cx="5054600" cy="838200"/>
          </a:xfrm>
          <a:prstGeom prst="rect">
            <a:avLst/>
          </a:prstGeom>
        </p:spPr>
      </p:pic>
      <p:sp>
        <p:nvSpPr>
          <p:cNvPr id="25" name="Rectangle 24"/>
          <p:cNvSpPr/>
          <p:nvPr/>
        </p:nvSpPr>
        <p:spPr>
          <a:xfrm>
            <a:off x="3083215" y="5355067"/>
            <a:ext cx="2105063" cy="523220"/>
          </a:xfrm>
          <a:prstGeom prst="rect">
            <a:avLst/>
          </a:prstGeom>
        </p:spPr>
        <p:txBody>
          <a:bodyPr wrap="square">
            <a:spAutoFit/>
          </a:bodyPr>
          <a:lstStyle/>
          <a:p>
            <a:r>
              <a:rPr lang="en-IN" sz="2800" dirty="0">
                <a:latin typeface="Arial" pitchFamily="34" charset="0"/>
                <a:cs typeface="Arial" pitchFamily="34" charset="0"/>
              </a:rPr>
              <a:t>Persevering</a:t>
            </a:r>
          </a:p>
        </p:txBody>
      </p:sp>
      <mc:AlternateContent xmlns:mc="http://schemas.openxmlformats.org/markup-compatibility/2006" xmlns:a14="http://schemas.microsoft.com/office/drawing/2010/main">
        <mc:Choice Requires="a14">
          <p:sp>
            <p:nvSpPr>
              <p:cNvPr id="26" name="TextBox 25"/>
              <p:cNvSpPr txBox="1"/>
              <p:nvPr/>
            </p:nvSpPr>
            <p:spPr>
              <a:xfrm>
                <a:off x="628193" y="1892808"/>
                <a:ext cx="9824813" cy="523220"/>
              </a:xfrm>
              <a:prstGeom prst="rect">
                <a:avLst/>
              </a:prstGeom>
              <a:noFill/>
            </p:spPr>
            <p:txBody>
              <a:bodyPr wrap="square" rtlCol="0">
                <a:spAutoFit/>
              </a:bodyPr>
              <a:lstStyle/>
              <a:p>
                <a:pPr/>
                <a14:m>
                  <m:oMathPara xmlns:m="http://schemas.openxmlformats.org/officeDocument/2006/math">
                    <m:oMath>
                      <m:r>
                        <m:rPr>
                          <m:sty m:val="p"/>
                        </m:rPr>
                        <a:rPr lang="en-US" sz="2800" b="0" i="0" smtClean="0">
                          <a:latin typeface="Cambria Math"/>
                        </a:rPr>
                        <m:t>money</m:t>
                      </m:r>
                      <m:r>
                        <a:rPr lang="en-US" sz="2800" b="0" i="0" smtClean="0">
                          <a:latin typeface="Cambria Math"/>
                        </a:rPr>
                        <m:t> </m:t>
                      </m:r>
                      <m:r>
                        <m:rPr>
                          <m:sty m:val="p"/>
                        </m:rPr>
                        <a:rPr lang="en-US" sz="2800" b="0" i="0" smtClean="0">
                          <a:latin typeface="Cambria Math"/>
                        </a:rPr>
                        <m:t>raised</m:t>
                      </m:r>
                      <m:r>
                        <a:rPr lang="en-US" sz="2800" b="0" i="0" smtClean="0">
                          <a:latin typeface="Cambria Math"/>
                        </a:rPr>
                        <m:t>=</m:t>
                      </m:r>
                      <m:r>
                        <m:rPr>
                          <m:sty m:val="p"/>
                        </m:rPr>
                        <a:rPr lang="en-US" sz="2800" b="0" i="0" smtClean="0">
                          <a:latin typeface="Cambria Math"/>
                        </a:rPr>
                        <m:t>number</m:t>
                      </m:r>
                      <m:r>
                        <a:rPr lang="en-US" sz="2800" b="0" i="0" smtClean="0">
                          <a:latin typeface="Cambria Math"/>
                        </a:rPr>
                        <m:t> </m:t>
                      </m:r>
                      <m:r>
                        <m:rPr>
                          <m:sty m:val="p"/>
                        </m:rPr>
                        <a:rPr lang="en-US" sz="2800" b="0" i="0" smtClean="0">
                          <a:latin typeface="Cambria Math"/>
                        </a:rPr>
                        <m:t>of</m:t>
                      </m:r>
                      <m:r>
                        <a:rPr lang="en-US" sz="2800" b="0" i="0" smtClean="0">
                          <a:latin typeface="Cambria Math"/>
                        </a:rPr>
                        <m:t> </m:t>
                      </m:r>
                      <m:r>
                        <m:rPr>
                          <m:sty m:val="p"/>
                        </m:rPr>
                        <a:rPr lang="en-US" sz="2800" b="0" i="0" smtClean="0">
                          <a:latin typeface="Cambria Math"/>
                        </a:rPr>
                        <m:t>car</m:t>
                      </m:r>
                      <m:r>
                        <a:rPr lang="en-US" sz="2800" b="0" i="0" smtClean="0">
                          <a:latin typeface="Cambria Math"/>
                        </a:rPr>
                        <m:t> </m:t>
                      </m:r>
                      <m:r>
                        <m:rPr>
                          <m:sty m:val="p"/>
                        </m:rPr>
                        <a:rPr lang="en-US" sz="2800" b="0" i="0" smtClean="0">
                          <a:latin typeface="Cambria Math"/>
                        </a:rPr>
                        <m:t>washed</m:t>
                      </m:r>
                      <m:r>
                        <a:rPr lang="en-US" sz="2800" b="0" i="0" smtClean="0">
                          <a:latin typeface="Cambria Math"/>
                          <a:ea typeface="Cambria Math"/>
                        </a:rPr>
                        <m:t>×</m:t>
                      </m:r>
                      <m:r>
                        <m:rPr>
                          <m:sty m:val="p"/>
                        </m:rPr>
                        <a:rPr lang="en-US" sz="2800" b="0" i="0" smtClean="0">
                          <a:latin typeface="Cambria Math"/>
                          <a:ea typeface="Cambria Math"/>
                        </a:rPr>
                        <m:t>price</m:t>
                      </m:r>
                      <m:r>
                        <a:rPr lang="en-US" sz="2800" b="0" i="0" smtClean="0">
                          <a:latin typeface="Cambria Math"/>
                          <a:ea typeface="Cambria Math"/>
                        </a:rPr>
                        <m:t> </m:t>
                      </m:r>
                      <m:r>
                        <m:rPr>
                          <m:sty m:val="p"/>
                        </m:rPr>
                        <a:rPr lang="en-US" sz="2800" b="0" i="0" smtClean="0">
                          <a:latin typeface="Cambria Math"/>
                          <a:ea typeface="Cambria Math"/>
                        </a:rPr>
                        <m:t>per</m:t>
                      </m:r>
                      <m:r>
                        <a:rPr lang="en-US" sz="2800" b="0" i="0" smtClean="0">
                          <a:latin typeface="Cambria Math"/>
                          <a:ea typeface="Cambria Math"/>
                        </a:rPr>
                        <m:t> </m:t>
                      </m:r>
                      <m:r>
                        <m:rPr>
                          <m:sty m:val="p"/>
                        </m:rPr>
                        <a:rPr lang="en-US" sz="2800" b="0" i="0" smtClean="0">
                          <a:latin typeface="Cambria Math"/>
                          <a:ea typeface="Cambria Math"/>
                        </a:rPr>
                        <m:t>car</m:t>
                      </m:r>
                      <m:r>
                        <a:rPr lang="en-US" sz="2800" b="0" i="0" smtClean="0">
                          <a:latin typeface="Cambria Math"/>
                          <a:ea typeface="Cambria Math"/>
                        </a:rPr>
                        <m:t> </m:t>
                      </m:r>
                      <m:r>
                        <m:rPr>
                          <m:sty m:val="p"/>
                        </m:rPr>
                        <a:rPr lang="en-US" sz="2800" b="0" i="0" smtClean="0">
                          <a:latin typeface="Cambria Math"/>
                          <a:ea typeface="Cambria Math"/>
                        </a:rPr>
                        <m:t>washed</m:t>
                      </m:r>
                    </m:oMath>
                  </m:oMathPara>
                </a14:m>
                <a:endParaRPr lang="en-IN" sz="2800" dirty="0"/>
              </a:p>
            </p:txBody>
          </p:sp>
        </mc:Choice>
        <mc:Fallback xmlns="">
          <p:sp>
            <p:nvSpPr>
              <p:cNvPr id="34" name="TextBox 25"/>
              <p:cNvSpPr txBox="1">
                <a:spLocks noRot="1" noChangeAspect="1" noMove="1" noResize="1" noEditPoints="1" noAdjustHandles="1" noChangeArrowheads="1" noChangeShapeType="1" noTextEdit="1"/>
              </p:cNvSpPr>
              <p:nvPr/>
            </p:nvSpPr>
            <p:spPr>
              <a:xfrm>
                <a:off x="628193" y="1892808"/>
                <a:ext cx="9824813" cy="523220"/>
              </a:xfrm>
              <a:prstGeom prst="rect">
                <a:avLst/>
              </a:prstGeom>
              <a:blipFill>
                <a:blip r:embed="rId8"/>
                <a:stretch>
                  <a:fillRect/>
                </a:stretch>
              </a:blipFill>
            </p:spPr>
            <p:txBody>
              <a:bodyPr/>
              <a:lstStyle/>
              <a:p>
                <a:r>
                  <a:rPr lang="en-IN">
                    <a:noFill/>
                  </a:rPr>
                  <a:t> </a:t>
                </a:r>
              </a:p>
            </p:txBody>
          </p:sp>
        </mc:Fallback>
      </mc:AlternateContent>
      <p:sp>
        <p:nvSpPr>
          <p:cNvPr id="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40</a:t>
            </a:r>
          </a:p>
        </p:txBody>
      </p:sp>
      <p:sp xmlns:p="http://schemas.openxmlformats.org/presentationml/2006/main" xmlns:a="http://schemas.openxmlformats.org/drawingml/2006/main">
        <p:nvSpPr>
          <p:cNvPr id="28" name="TEACH-embedded-student-prompt" descr="Student thinking and response directions"/>
          <p:cNvSpPr txBox="1"/>
          <p:nvPr/>
        </p:nvSpPr>
        <p:spPr>
          <a:xfrm>
            <a:off x="594360" y="30723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your equation represents the situation. Check the result.</a:t>
            </a:r>
            <a:endParaRPr lang="en-US" sz="2000"/>
          </a:p>
        </p:txBody>
      </p:sp>
    </p:spTree>
    <p:extLst>
      <p:ext uri="{BB962C8B-B14F-4D97-AF65-F5344CB8AC3E}">
        <p14:creationId xmlns:p14="http://schemas.microsoft.com/office/powerpoint/2010/main" val="3963415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3A629F8-C3A1-BA44-BC5C-24372160A7E2}"/>
              </a:ext>
            </a:extLst>
          </p:cNvPr>
          <p:cNvSpPr/>
          <p:nvPr/>
        </p:nvSpPr>
        <p:spPr>
          <a:xfrm>
            <a:off x="484565" y="1867754"/>
            <a:ext cx="7287835" cy="4475896"/>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659627" y="1946987"/>
            <a:ext cx="7112773" cy="4278094"/>
          </a:xfrm>
          <a:prstGeom prst="rect">
            <a:avLst/>
          </a:prstGeom>
        </p:spPr>
        <p:txBody>
          <a:bodyPr wrap="square">
            <a:spAutoFit/>
          </a:bodyPr>
          <a:lstStyle/>
          <a:p>
            <a:pPr>
              <a:spcBef>
                <a:spcPts val="1200"/>
              </a:spcBef>
              <a:defRPr/>
            </a:pPr>
            <a:r>
              <a:rPr lang="en-US" sz="2800" dirty="0">
                <a:latin typeface="Arial" pitchFamily="34" charset="0"/>
                <a:cs typeface="Arial" pitchFamily="34" charset="0"/>
              </a:rPr>
              <a:t>The student council can set a price per car to determine how many cars they will need to wash, or they can predict how many cars they will wash to determine how much to charge per car.</a:t>
            </a:r>
          </a:p>
          <a:p>
            <a:pPr marL="0" marR="0" lvl="0" indent="0" algn="l" defTabSz="914400" rtl="0" eaLnBrk="0" fontAlgn="base" latinLnBrk="0" hangingPunct="0">
              <a:lnSpc>
                <a:spcPct val="100000"/>
              </a:lnSpc>
              <a:spcBef>
                <a:spcPts val="1200"/>
              </a:spcBef>
              <a:spcAft>
                <a:spcPct val="0"/>
              </a:spcAft>
              <a:buClrTx/>
              <a:buSzTx/>
              <a:buFontTx/>
              <a:buChar char="•"/>
              <a:tabLst/>
              <a:defRPr/>
            </a:pPr>
            <a:r>
              <a:rPr kumimoji="0" lang="en-US" sz="2800" b="0" i="0" u="none" strike="noStrike" cap="none" normalizeH="0" baseline="0" dirty="0">
                <a:ln>
                  <a:noFill/>
                </a:ln>
                <a:solidFill>
                  <a:schemeClr val="tx1"/>
                </a:solidFill>
                <a:effectLst/>
                <a:latin typeface="Arial" charset="0"/>
                <a:cs typeface="Arial" charset="0"/>
              </a:rPr>
              <a:t>The student council will need to charge about $14.30 per car if they wash 35 cars.</a:t>
            </a:r>
          </a:p>
          <a:p>
            <a:pPr marL="0" marR="0" lvl="0" indent="0" algn="l" defTabSz="914400" rtl="0" eaLnBrk="1" fontAlgn="base" latinLnBrk="0" hangingPunct="1">
              <a:lnSpc>
                <a:spcPct val="100000"/>
              </a:lnSpc>
              <a:spcBef>
                <a:spcPts val="1200"/>
              </a:spcBef>
              <a:spcAft>
                <a:spcPct val="0"/>
              </a:spcAft>
              <a:buClrTx/>
              <a:buSzTx/>
              <a:buFontTx/>
              <a:buChar char="•"/>
              <a:tabLst/>
              <a:defRPr/>
            </a:pPr>
            <a:r>
              <a:rPr kumimoji="0" lang="en-US" sz="2800" b="0" i="0" u="none" strike="noStrike" cap="none" normalizeH="0" baseline="0" dirty="0">
                <a:ln>
                  <a:noFill/>
                </a:ln>
                <a:solidFill>
                  <a:schemeClr val="tx1"/>
                </a:solidFill>
                <a:effectLst/>
                <a:latin typeface="Arial" charset="0"/>
                <a:cs typeface="Arial" charset="0"/>
              </a:rPr>
              <a:t xml:space="preserve">The student council will need to wash at least 42 cars when charging $12 per car. </a:t>
            </a:r>
          </a:p>
        </p:txBody>
      </p:sp>
      <p:sp>
        <p:nvSpPr>
          <p:cNvPr id="4" name="Title 1">
            <a:extLst>
              <a:ext uri="{FF2B5EF4-FFF2-40B4-BE49-F238E27FC236}">
                <a16:creationId xmlns:a16="http://schemas.microsoft.com/office/drawing/2014/main" id="{24571197-9B8E-CEC3-89A3-E17A7BA87505}"/>
              </a:ext>
            </a:extLst>
          </p:cNvPr>
          <p:cNvSpPr txBox="1">
            <a:spLocks/>
          </p:cNvSpPr>
          <p:nvPr/>
        </p:nvSpPr>
        <p:spPr>
          <a:xfrm>
            <a:off x="484565" y="316034"/>
            <a:ext cx="5315734" cy="66240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IN" sz="2800" dirty="0">
                <a:solidFill>
                  <a:srgbClr val="7030A0"/>
                </a:solidFill>
                <a:latin typeface="Arial" pitchFamily="34" charset="0"/>
                <a:cs typeface="Arial" pitchFamily="34" charset="0"/>
              </a:rPr>
              <a:t>Car Wash Fundraiser</a:t>
            </a:r>
            <a:endParaRPr lang="en-US" sz="1800" dirty="0">
              <a:solidFill>
                <a:srgbClr val="7030A0"/>
              </a:solidFill>
              <a:latin typeface="Arial" panose="020B0604020202020204" pitchFamily="34" charset="0"/>
              <a:cs typeface="Arial" panose="020B0604020202020204" pitchFamily="34" charset="0"/>
            </a:endParaRPr>
          </a:p>
        </p:txBody>
      </p:sp>
      <p:pic>
        <p:nvPicPr>
          <p:cNvPr id="8" name="Picture 2" descr="C:\Users\HP\Desktop\G6 U9\OPS\img\.assets\2ee1a3bd10244cc688ca7284a921ff66\narm24_c10904_se_002a-dig-eps.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57313" y="1442554"/>
            <a:ext cx="3763765" cy="2790000"/>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7D5C8EC-F1EF-6146-850F-128719B25F22}"/>
              </a:ext>
            </a:extLst>
          </p:cNvPr>
          <p:cNvSpPr txBox="1">
            <a:spLocks/>
          </p:cNvSpPr>
          <p:nvPr/>
        </p:nvSpPr>
        <p:spPr>
          <a:xfrm>
            <a:off x="484565" y="828000"/>
            <a:ext cx="7268785" cy="98228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defRPr/>
            </a:pPr>
            <a:r>
              <a:rPr lang="en-US" sz="2800" b="1" dirty="0">
                <a:solidFill>
                  <a:schemeClr val="tx1"/>
                </a:solidFill>
                <a:latin typeface="Arial" pitchFamily="34" charset="0"/>
                <a:cs typeface="Arial" pitchFamily="34" charset="0"/>
              </a:rPr>
              <a:t>How can the student council be sure they will hit their fundraising goal?</a:t>
            </a:r>
            <a:endParaRPr lang="en-IN" sz="2800" dirty="0">
              <a:solidFill>
                <a:schemeClr val="tx1"/>
              </a:solidFill>
              <a:latin typeface="Arial" pitchFamily="34" charset="0"/>
              <a:cs typeface="Arial" pitchFamily="34" charset="0"/>
            </a:endParaRPr>
          </a:p>
        </p:txBody>
      </p:sp>
      <p:sp>
        <p:nvSpPr>
          <p:cNvPr id="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40</a:t>
            </a:r>
          </a:p>
        </p:txBody>
      </p:sp>
    </p:spTree>
    <p:extLst>
      <p:ext uri="{BB962C8B-B14F-4D97-AF65-F5344CB8AC3E}">
        <p14:creationId xmlns:p14="http://schemas.microsoft.com/office/powerpoint/2010/main" val="1978453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US" sz="2800" dirty="0">
                <a:solidFill>
                  <a:srgbClr val="782DA0"/>
                </a:solidFill>
                <a:latin typeface="Arial" panose="020B0604020202020204" pitchFamily="34" charset="0"/>
                <a:cs typeface="Arial" panose="020B0604020202020204" pitchFamily="34" charset="0"/>
              </a:rPr>
              <a:t>Let’s Explore More</a:t>
            </a:r>
          </a:p>
        </p:txBody>
      </p:sp>
      <p:sp>
        <p:nvSpPr>
          <p:cNvPr id="21" name="Content Placeholder 2">
            <a:extLst>
              <a:ext uri="{FF2B5EF4-FFF2-40B4-BE49-F238E27FC236}">
                <a16:creationId xmlns:a16="http://schemas.microsoft.com/office/drawing/2014/main" id="{D7D5C8EC-F1EF-6146-850F-128719B25F22}"/>
              </a:ext>
            </a:extLst>
          </p:cNvPr>
          <p:cNvSpPr txBox="1">
            <a:spLocks/>
          </p:cNvSpPr>
          <p:nvPr/>
        </p:nvSpPr>
        <p:spPr>
          <a:xfrm>
            <a:off x="484563" y="936000"/>
            <a:ext cx="8359185" cy="987770"/>
          </a:xfrm>
          <a:prstGeom prst="rect">
            <a:avLst/>
          </a:prstGeom>
        </p:spPr>
        <p:txBody>
          <a:bodyPr lIns="91440" tIns="45720" rIns="91440" bIns="45720" anchor="t">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marL="514350" indent="-514350">
              <a:buFont typeface="+mj-lt"/>
              <a:buAutoNum type="alphaLcPeriod"/>
              <a:defRPr/>
            </a:pPr>
            <a:r>
              <a:rPr lang="en-US" sz="2800" dirty="0">
                <a:solidFill>
                  <a:schemeClr val="tx1"/>
                </a:solidFill>
                <a:latin typeface="Arial" pitchFamily="34" charset="0"/>
                <a:cs typeface="Arial" pitchFamily="34" charset="0"/>
              </a:rPr>
              <a:t>Would you recommend that the student council charge $12 or $14.30 per car? Why?</a:t>
            </a:r>
          </a:p>
          <a:p>
            <a:pPr>
              <a:defRPr/>
            </a:pPr>
            <a:endParaRPr lang="en-US" sz="2800" dirty="0">
              <a:solidFill>
                <a:schemeClr val="tx1"/>
              </a:solidFill>
              <a:latin typeface="Arial" pitchFamily="34" charset="0"/>
              <a:cs typeface="Arial" pitchFamily="34" charset="0"/>
            </a:endParaRPr>
          </a:p>
        </p:txBody>
      </p:sp>
      <p:sp>
        <p:nvSpPr>
          <p:cNvPr id="22" name="Rectangle 21">
            <a:extLst>
              <a:ext uri="{FF2B5EF4-FFF2-40B4-BE49-F238E27FC236}">
                <a16:creationId xmlns:a16="http://schemas.microsoft.com/office/drawing/2014/main" id="{D3A629F8-C3A1-BA44-BC5C-24372160A7E2}"/>
              </a:ext>
            </a:extLst>
          </p:cNvPr>
          <p:cNvSpPr/>
          <p:nvPr/>
        </p:nvSpPr>
        <p:spPr>
          <a:xfrm>
            <a:off x="484563" y="2078362"/>
            <a:ext cx="8477171" cy="1325035"/>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54B16FB-6891-DD42-B230-D51CD92601A2}"/>
              </a:ext>
            </a:extLst>
          </p:cNvPr>
          <p:cNvSpPr txBox="1"/>
          <p:nvPr/>
        </p:nvSpPr>
        <p:spPr>
          <a:xfrm>
            <a:off x="7636878" y="5968572"/>
            <a:ext cx="1206869" cy="338554"/>
          </a:xfrm>
          <a:prstGeom prst="rect">
            <a:avLst/>
          </a:prstGeom>
          <a:noFill/>
        </p:spPr>
        <p:txBody>
          <a:bodyPr wrap="square" rtlCol="0">
            <a:spAutoFit/>
          </a:bodyPr>
          <a:lstStyle/>
          <a:p>
            <a:pPr>
              <a:defRPr/>
            </a:pPr>
            <a:r>
              <a:rPr lang="en-US" sz="1600" dirty="0">
                <a:solidFill>
                  <a:schemeClr val="bg1">
                    <a:lumMod val="75000"/>
                  </a:schemeClr>
                </a:solidFill>
                <a:latin typeface="Arial" panose="020B0604020202020204" pitchFamily="34" charset="0"/>
                <a:cs typeface="Arial" panose="020B0604020202020204" pitchFamily="34" charset="0"/>
              </a:rPr>
              <a:t>Workspace</a:t>
            </a:r>
          </a:p>
        </p:txBody>
      </p:sp>
      <p:sp>
        <p:nvSpPr>
          <p:cNvPr id="8" name="Rectangle 7">
            <a:extLst>
              <a:ext uri="{FF2B5EF4-FFF2-40B4-BE49-F238E27FC236}">
                <a16:creationId xmlns:a16="http://schemas.microsoft.com/office/drawing/2014/main" id="{D3A629F8-C3A1-BA44-BC5C-24372160A7E2}"/>
              </a:ext>
            </a:extLst>
          </p:cNvPr>
          <p:cNvSpPr/>
          <p:nvPr/>
        </p:nvSpPr>
        <p:spPr>
          <a:xfrm>
            <a:off x="484563" y="5008573"/>
            <a:ext cx="8477170" cy="1380547"/>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54B16FB-6891-DD42-B230-D51CD92601A2}"/>
              </a:ext>
            </a:extLst>
          </p:cNvPr>
          <p:cNvSpPr txBox="1"/>
          <p:nvPr/>
        </p:nvSpPr>
        <p:spPr>
          <a:xfrm>
            <a:off x="7636878" y="3005291"/>
            <a:ext cx="1206869" cy="338554"/>
          </a:xfrm>
          <a:prstGeom prst="rect">
            <a:avLst/>
          </a:prstGeom>
          <a:noFill/>
        </p:spPr>
        <p:txBody>
          <a:bodyPr wrap="square" rtlCol="0">
            <a:spAutoFit/>
          </a:bodyPr>
          <a:lstStyle/>
          <a:p>
            <a:pPr>
              <a:defRPr/>
            </a:pPr>
            <a:r>
              <a:rPr lang="en-US" sz="1600" dirty="0">
                <a:solidFill>
                  <a:schemeClr val="bg1">
                    <a:lumMod val="75000"/>
                  </a:schemeClr>
                </a:solidFill>
                <a:latin typeface="Arial" panose="020B0604020202020204" pitchFamily="34" charset="0"/>
                <a:cs typeface="Arial" panose="020B0604020202020204" pitchFamily="34" charset="0"/>
              </a:rPr>
              <a:t>Workspace</a:t>
            </a:r>
          </a:p>
        </p:txBody>
      </p:sp>
      <p:sp>
        <p:nvSpPr>
          <p:cNvPr id="2" name="Rectangle 1"/>
          <p:cNvSpPr/>
          <p:nvPr/>
        </p:nvSpPr>
        <p:spPr>
          <a:xfrm>
            <a:off x="425570" y="3564026"/>
            <a:ext cx="8477170" cy="1384995"/>
          </a:xfrm>
          <a:prstGeom prst="rect">
            <a:avLst/>
          </a:prstGeom>
        </p:spPr>
        <p:txBody>
          <a:bodyPr wrap="square">
            <a:spAutoFit/>
          </a:bodyPr>
          <a:lstStyle/>
          <a:p>
            <a:pPr marL="514350" indent="-514350">
              <a:buFont typeface="+mj-lt"/>
              <a:buAutoNum type="alphaLcPeriod" startAt="2"/>
              <a:defRPr/>
            </a:pPr>
            <a:r>
              <a:rPr lang="en-US" sz="2800" dirty="0">
                <a:latin typeface="Arial" pitchFamily="34" charset="0"/>
                <a:cs typeface="Arial" pitchFamily="34" charset="0"/>
              </a:rPr>
              <a:t>Describe the general relationship between the price per car, the number of cars washed, and the total amount of money raised.</a:t>
            </a:r>
            <a:endParaRPr lang="en-IN" sz="2800" dirty="0">
              <a:latin typeface="Arial" pitchFamily="34" charset="0"/>
              <a:cs typeface="Arial" pitchFamily="34" charset="0"/>
            </a:endParaRPr>
          </a:p>
        </p:txBody>
      </p:sp>
      <p:sp>
        <p:nvSpPr>
          <p:cNvPr id="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40</a:t>
            </a:r>
          </a:p>
        </p:txBody>
      </p:sp>
    </p:spTree>
    <p:extLst>
      <p:ext uri="{BB962C8B-B14F-4D97-AF65-F5344CB8AC3E}">
        <p14:creationId xmlns:p14="http://schemas.microsoft.com/office/powerpoint/2010/main" val="2085248005"/>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rounding a required count down so that a stated goal is not met.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Substitute the proposed result back into the given relationship and check the requirement.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592538421"/>
                  </p:ext>
                </p:extLst>
              </p:nvPr>
            </p:nvGraphicFramePr>
            <p:xfrm>
              <a:off x="486001" y="2990337"/>
              <a:ext cx="8886599" cy="3300276"/>
            </p:xfrm>
            <a:graphic>
              <a:graphicData uri="http://schemas.openxmlformats.org/drawingml/2006/table">
                <a:tbl>
                  <a:tblPr firstRow="1" bandRow="1">
                    <a:tableStyleId>{2D5ABB26-0587-4C30-8999-92F81FD0307C}</a:tableStyleId>
                  </a:tblPr>
                  <a:tblGrid>
                    <a:gridCol w="2057174">
                      <a:extLst>
                        <a:ext uri="{9D8B030D-6E8A-4147-A177-3AD203B41FA5}">
                          <a16:colId xmlns:a16="http://schemas.microsoft.com/office/drawing/2014/main" val="2446394145"/>
                        </a:ext>
                      </a:extLst>
                    </a:gridCol>
                    <a:gridCol w="3352800">
                      <a:extLst>
                        <a:ext uri="{9D8B030D-6E8A-4147-A177-3AD203B41FA5}">
                          <a16:colId xmlns:a16="http://schemas.microsoft.com/office/drawing/2014/main" val="3613485880"/>
                        </a:ext>
                      </a:extLst>
                    </a:gridCol>
                    <a:gridCol w="3476625">
                      <a:extLst>
                        <a:ext uri="{9D8B030D-6E8A-4147-A177-3AD203B41FA5}">
                          <a16:colId xmlns:a16="http://schemas.microsoft.com/office/drawing/2014/main" val="40848039"/>
                        </a:ext>
                      </a:extLst>
                    </a:gridCol>
                  </a:tblGrid>
                  <a:tr h="505338">
                    <a:tc>
                      <a:txBody>
                        <a:bodyPr/>
                        <a:lstStyle/>
                        <a:p>
                          <a:r>
                            <a:rPr lang="en-IN" sz="2800" b="1" dirty="0">
                              <a:latin typeface="Arial" panose="020B0604020202020204" pitchFamily="34" charset="0"/>
                              <a:cs typeface="Arial" panose="020B0604020202020204" pitchFamily="34" charset="0"/>
                            </a:rPr>
                            <a:t>Equation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1" dirty="0">
                              <a:latin typeface="Arial" panose="020B0604020202020204" pitchFamily="34" charset="0"/>
                              <a:cs typeface="Arial" panose="020B0604020202020204" pitchFamily="34" charset="0"/>
                            </a:rPr>
                            <a:t>Table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1" dirty="0">
                              <a:latin typeface="Arial" panose="020B0604020202020204" pitchFamily="34" charset="0"/>
                              <a:cs typeface="Arial" panose="020B0604020202020204" pitchFamily="34" charset="0"/>
                            </a:rPr>
                            <a:t>Graph</a:t>
                          </a:r>
                        </a:p>
                      </a:txBody>
                      <a:tcPr/>
                    </a:tc>
                    <a:extLst>
                      <a:ext uri="{0D108BD9-81ED-4DB2-BD59-A6C34878D82A}">
                        <a16:rowId xmlns:a16="http://schemas.microsoft.com/office/drawing/2014/main" val="2436998820"/>
                      </a:ext>
                    </a:extLst>
                  </a:tr>
                  <a:tr h="2782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lang="en-US" sz="2800" smtClean="0">
                                    <a:latin typeface="Cambria Math" panose="02040503050406030204" pitchFamily="18" charset="0"/>
                                  </a:rPr>
                                  <m:t>𝑦</m:t>
                                </m:r>
                                <m:r>
                                  <a:rPr lang="en-US" sz="2800" smtClean="0">
                                    <a:latin typeface="Cambria Math" panose="02040503050406030204" pitchFamily="18" charset="0"/>
                                  </a:rPr>
                                  <m:t>=12</m:t>
                                </m:r>
                                <m:r>
                                  <a:rPr lang="en-US" sz="2800" smtClean="0">
                                    <a:latin typeface="Cambria Math" panose="02040503050406030204" pitchFamily="18" charset="0"/>
                                  </a:rPr>
                                  <m:t>𝑥</m:t>
                                </m:r>
                              </m:oMath>
                            </m:oMathPara>
                          </a14:m>
                          <a:endParaRPr lang="en-IN" sz="2800" dirty="0">
                            <a:solidFill>
                              <a:schemeClr val="tx1"/>
                            </a:solidFill>
                          </a:endParaRP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15781994"/>
                      </a:ext>
                    </a:extLst>
                  </a:tr>
                </a:tbl>
              </a:graphicData>
            </a:graphic>
          </p:graphicFrame>
        </mc:Choice>
        <mc:Fallback xmlns="">
          <p:graphicFrame>
            <p:nvGraphicFramePr>
              <p:cNvPr id="2053" name="Table 12"/>
              <p:cNvGraphicFramePr>
                <a:graphicFrameLocks noGrp="1"/>
              </p:cNvGraphicFramePr>
              <p:nvPr>
                <p:extLst>
                  <p:ext uri="{D42A27DB-BD31-4B8C-83A1-F6EECF244321}">
                    <p14:modId xmlns:p14="http://schemas.microsoft.com/office/powerpoint/2010/main" val="592538421"/>
                  </p:ext>
                </p:extLst>
              </p:nvPr>
            </p:nvGraphicFramePr>
            <p:xfrm>
              <a:off x="486001" y="2990337"/>
              <a:ext cx="8886599" cy="3300276"/>
            </p:xfrm>
            <a:graphic>
              <a:graphicData uri="http://schemas.openxmlformats.org/drawingml/2006/table">
                <a:tbl>
                  <a:tblPr firstRow="1" bandRow="1">
                    <a:tableStyleId>{2D5ABB26-0587-4C30-8999-92F81FD0307C}</a:tableStyleId>
                  </a:tblPr>
                  <a:tblGrid>
                    <a:gridCol w="2057174">
                      <a:extLst>
                        <a:ext uri="{9D8B030D-6E8A-4147-A177-3AD203B41FA5}">
                          <a16:colId xmlns:a16="http://schemas.microsoft.com/office/drawing/2014/main" val="2446394145"/>
                        </a:ext>
                      </a:extLst>
                    </a:gridCol>
                    <a:gridCol w="3352800">
                      <a:extLst>
                        <a:ext uri="{9D8B030D-6E8A-4147-A177-3AD203B41FA5}">
                          <a16:colId xmlns:a16="http://schemas.microsoft.com/office/drawing/2014/main" val="3613485880"/>
                        </a:ext>
                      </a:extLst>
                    </a:gridCol>
                    <a:gridCol w="3476625">
                      <a:extLst>
                        <a:ext uri="{9D8B030D-6E8A-4147-A177-3AD203B41FA5}">
                          <a16:colId xmlns:a16="http://schemas.microsoft.com/office/drawing/2014/main" val="40848039"/>
                        </a:ext>
                      </a:extLst>
                    </a:gridCol>
                  </a:tblGrid>
                  <a:tr h="518160">
                    <a:tc>
                      <a:txBody>
                        <a:bodyPr/>
                        <a:lstStyle/>
                        <a:p>
                          <a:r>
                            <a:rPr lang="en-IN" sz="2800" b="1" dirty="0" smtClean="0">
                              <a:latin typeface="Arial" panose="020B0604020202020204" pitchFamily="34" charset="0"/>
                              <a:cs typeface="Arial" panose="020B0604020202020204" pitchFamily="34" charset="0"/>
                            </a:rPr>
                            <a:t>Equation</a:t>
                          </a:r>
                          <a:endParaRPr lang="en-IN" sz="2800" b="1" dirty="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1" dirty="0" smtClean="0">
                              <a:latin typeface="Arial" panose="020B0604020202020204" pitchFamily="34" charset="0"/>
                              <a:cs typeface="Arial" panose="020B0604020202020204" pitchFamily="34" charset="0"/>
                            </a:rPr>
                            <a:t>Table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800" b="1" dirty="0" smtClean="0">
                              <a:latin typeface="Arial" panose="020B0604020202020204" pitchFamily="34" charset="0"/>
                              <a:cs typeface="Arial" panose="020B0604020202020204" pitchFamily="34" charset="0"/>
                            </a:rPr>
                            <a:t>Graph</a:t>
                          </a:r>
                        </a:p>
                      </a:txBody>
                      <a:tcPr/>
                    </a:tc>
                    <a:extLst>
                      <a:ext uri="{0D108BD9-81ED-4DB2-BD59-A6C34878D82A}">
                        <a16:rowId xmlns:a16="http://schemas.microsoft.com/office/drawing/2014/main" val="2436998820"/>
                      </a:ext>
                    </a:extLst>
                  </a:tr>
                  <a:tr h="2782116">
                    <a:tc>
                      <a:txBody>
                        <a:bodyPr/>
                        <a:lstStyle/>
                        <a:p>
                          <a:endParaRPr lang="en-US"/>
                        </a:p>
                      </a:txBody>
                      <a:tcPr>
                        <a:blipFill>
                          <a:blip r:embed="rId2"/>
                          <a:stretch>
                            <a:fillRect t="-20788" r="-331657"/>
                          </a:stretch>
                        </a:blipFill>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15781994"/>
                      </a:ext>
                    </a:extLst>
                  </a:tr>
                </a:tbl>
              </a:graphicData>
            </a:graphic>
          </p:graphicFrame>
        </mc:Fallback>
      </mc:AlternateContent>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CF4AF49-89F7-5C44-B082-4D1951B38CC4}"/>
              </a:ext>
            </a:extLst>
          </p:cNvPr>
          <p:cNvSpPr txBox="1">
            <a:spLocks/>
          </p:cNvSpPr>
          <p:nvPr/>
        </p:nvSpPr>
        <p:spPr>
          <a:xfrm>
            <a:off x="486001" y="316800"/>
            <a:ext cx="5609999" cy="97920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pPr>
              <a:defRPr/>
            </a:pPr>
            <a:r>
              <a:rPr lang="en-US" sz="2800" b="0" dirty="0">
                <a:solidFill>
                  <a:srgbClr val="782DA0"/>
                </a:solidFill>
                <a:latin typeface="Arial" panose="020B0604020202020204" pitchFamily="34" charset="0"/>
                <a:cs typeface="Arial" panose="020B0604020202020204" pitchFamily="34" charset="0"/>
              </a:rPr>
              <a:t xml:space="preserve">Summarize: </a:t>
            </a:r>
            <a:r>
              <a:rPr lang="en-US" sz="2800" dirty="0">
                <a:solidFill>
                  <a:srgbClr val="7030A0"/>
                </a:solidFill>
                <a:latin typeface="Arial" pitchFamily="34" charset="0"/>
                <a:cs typeface="Arial" pitchFamily="34" charset="0"/>
              </a:rPr>
              <a:t>Solve Problems Involving Two Quantities</a:t>
            </a:r>
            <a:endParaRPr lang="en-US" sz="2800" dirty="0">
              <a:solidFill>
                <a:srgbClr val="782DA0"/>
              </a:solidFill>
              <a:latin typeface="Arial" panose="020B0604020202020204" pitchFamily="34" charset="0"/>
              <a:cs typeface="Arial" panose="020B0604020202020204" pitchFamily="34" charset="0"/>
            </a:endParaRPr>
          </a:p>
        </p:txBody>
      </p:sp>
      <p:sp>
        <p:nvSpPr>
          <p:cNvPr id="16" name="Content Placeholder 2">
            <a:extLst>
              <a:ext uri="{FF2B5EF4-FFF2-40B4-BE49-F238E27FC236}">
                <a16:creationId xmlns:a16="http://schemas.microsoft.com/office/drawing/2014/main" id="{E09B2DFC-9AF3-3E6F-9BCA-D40521A21E02}"/>
              </a:ext>
            </a:extLst>
          </p:cNvPr>
          <p:cNvSpPr txBox="1">
            <a:spLocks/>
          </p:cNvSpPr>
          <p:nvPr/>
        </p:nvSpPr>
        <p:spPr>
          <a:xfrm>
            <a:off x="486001" y="1296000"/>
            <a:ext cx="8362723" cy="1037767"/>
          </a:xfrm>
          <a:prstGeom prst="rect">
            <a:avLst/>
          </a:prstGeom>
        </p:spPr>
        <p:txBody>
          <a:bodyPr lIns="91440" tIns="45720" rIns="91440" bIns="45720" anchor="t">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pPr>
              <a:defRPr/>
            </a:pPr>
            <a:r>
              <a:rPr lang="en-US" sz="2800" dirty="0">
                <a:solidFill>
                  <a:schemeClr val="tx1"/>
                </a:solidFill>
                <a:latin typeface="Arial" pitchFamily="34" charset="0"/>
                <a:cs typeface="Arial" pitchFamily="34" charset="0"/>
              </a:rPr>
              <a:t xml:space="preserve">You can solve problems involving two quantities using equations, tables, or graphs. </a:t>
            </a:r>
          </a:p>
        </p:txBody>
      </p:sp>
      <mc:AlternateContent xmlns:mc="http://schemas.openxmlformats.org/markup-compatibility/2006" xmlns:a14="http://schemas.microsoft.com/office/drawing/2010/main">
        <mc:Choice Requires="a14">
          <p:sp>
            <p:nvSpPr>
              <p:cNvPr id="2" name="Rectangle 1"/>
              <p:cNvSpPr/>
              <p:nvPr/>
            </p:nvSpPr>
            <p:spPr>
              <a:xfrm>
                <a:off x="486002" y="2333767"/>
                <a:ext cx="9180142" cy="523220"/>
              </a:xfrm>
              <a:prstGeom prst="rect">
                <a:avLst/>
              </a:prstGeom>
            </p:spPr>
            <p:txBody>
              <a:bodyPr wrap="square">
                <a:spAutoFit/>
              </a:bodyPr>
              <a:lstStyle/>
              <a:p>
                <a:r>
                  <a:rPr lang="en-US" sz="2800" dirty="0">
                    <a:latin typeface="Arial" pitchFamily="34" charset="0"/>
                    <a:cs typeface="Arial" pitchFamily="34" charset="0"/>
                  </a:rPr>
                  <a:t xml:space="preserve">A car wash fundraiser earns </a:t>
                </a:r>
                <a14:m>
                  <m:oMath xmlns:m="http://schemas.openxmlformats.org/officeDocument/2006/math">
                    <m:r>
                      <a:rPr lang="en-US" sz="2800" i="1" dirty="0" smtClean="0">
                        <a:latin typeface="Cambria Math"/>
                        <a:cs typeface="Arial" pitchFamily="34" charset="0"/>
                      </a:rPr>
                      <m:t>𝑦</m:t>
                    </m:r>
                  </m:oMath>
                </a14:m>
                <a:r>
                  <a:rPr lang="en-US" sz="2800" dirty="0">
                    <a:latin typeface="Arial" pitchFamily="34" charset="0"/>
                    <a:cs typeface="Arial" pitchFamily="34" charset="0"/>
                  </a:rPr>
                  <a:t xml:space="preserve"> dollars for washing </a:t>
                </a:r>
                <a14:m>
                  <m:oMath xmlns:m="http://schemas.openxmlformats.org/officeDocument/2006/math">
                    <m:r>
                      <a:rPr lang="en-US" sz="2800" i="1" dirty="0" smtClean="0">
                        <a:latin typeface="Cambria Math"/>
                        <a:cs typeface="Arial" pitchFamily="34" charset="0"/>
                      </a:rPr>
                      <m:t>𝑥</m:t>
                    </m:r>
                  </m:oMath>
                </a14:m>
                <a:r>
                  <a:rPr lang="en-US" sz="2800" dirty="0">
                    <a:latin typeface="Arial" pitchFamily="34" charset="0"/>
                    <a:cs typeface="Arial" pitchFamily="34" charset="0"/>
                  </a:rPr>
                  <a:t xml:space="preserve"> cars.</a:t>
                </a:r>
                <a:endParaRPr lang="en-IN" sz="2800" dirty="0">
                  <a:latin typeface="Arial" pitchFamily="34" charset="0"/>
                  <a:cs typeface="Arial" pitchFamily="34" charset="0"/>
                </a:endParaRPr>
              </a:p>
            </p:txBody>
          </p:sp>
        </mc:Choice>
        <mc:Fallback xmlns="">
          <p:sp>
            <p:nvSpPr>
              <p:cNvPr id="2054" name="Rectangle 1"/>
              <p:cNvSpPr>
                <a:spLocks noRot="1" noChangeAspect="1" noMove="1" noResize="1" noEditPoints="1" noAdjustHandles="1" noChangeArrowheads="1" noChangeShapeType="1" noTextEdit="1"/>
              </p:cNvSpPr>
              <p:nvPr/>
            </p:nvSpPr>
            <p:spPr>
              <a:xfrm>
                <a:off x="486002" y="2333767"/>
                <a:ext cx="9180142" cy="523220"/>
              </a:xfrm>
              <a:prstGeom prst="rect">
                <a:avLst/>
              </a:prstGeom>
              <a:blipFill rotWithShape="1">
                <a:blip r:embed="rId3"/>
                <a:stretch>
                  <a:fillRect l="-1394" t="-11628" r="-1859" b="-31395"/>
                </a:stretch>
              </a:blipFill>
            </p:spPr>
            <p:txBody>
              <a:bodyPr/>
              <a:lstStyle/>
              <a:p>
                <a:r>
                  <a:rPr lang="en-IN">
                    <a:noFill/>
                  </a:rPr>
                  <a:t> </a:t>
                </a:r>
              </a:p>
            </p:txBody>
          </p:sp>
        </mc:Fallback>
      </mc:AlternateContent>
      <p:pic>
        <p:nvPicPr>
          <p:cNvPr id="2050" name="Picture 2" descr="C:\Users\HP\Desktop\G6 U9\OPS\img\.assets\902bddadaaf34990acbac1c496ad420b\narm24_c10904_se_003a-dig.png"/>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324599" y="3597789"/>
            <a:ext cx="2524125" cy="26860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7" name="Table 5">
                <a:extLst>
                  <a:ext uri="{FF2B5EF4-FFF2-40B4-BE49-F238E27FC236}">
                    <a16:creationId xmlns:a16="http://schemas.microsoft.com/office/drawing/2014/main" id="{7E7C1157-8D1A-48F2-701C-18E87D98CDB1}"/>
                  </a:ext>
                </a:extLst>
              </p:cNvPr>
              <p:cNvGraphicFramePr>
                <a:graphicFrameLocks noGrp="1"/>
              </p:cNvGraphicFramePr>
              <p:nvPr>
                <p:extLst>
                  <p:ext uri="{D42A27DB-BD31-4B8C-83A1-F6EECF244321}">
                    <p14:modId xmlns:p14="http://schemas.microsoft.com/office/powerpoint/2010/main" val="3114576408"/>
                  </p:ext>
                </p:extLst>
              </p:nvPr>
            </p:nvGraphicFramePr>
            <p:xfrm>
              <a:off x="3090975" y="3578739"/>
              <a:ext cx="2395785" cy="2616669"/>
            </p:xfrm>
            <a:graphic>
              <a:graphicData uri="http://schemas.openxmlformats.org/drawingml/2006/table">
                <a:tbl>
                  <a:tblPr firstRow="1" bandRow="1">
                    <a:tableStyleId>{5C22544A-7EE6-4342-B048-85BDC9FD1C3A}</a:tableStyleId>
                  </a:tblPr>
                  <a:tblGrid>
                    <a:gridCol w="1260160">
                      <a:extLst>
                        <a:ext uri="{9D8B030D-6E8A-4147-A177-3AD203B41FA5}">
                          <a16:colId xmlns:a16="http://schemas.microsoft.com/office/drawing/2014/main" val="1858197765"/>
                        </a:ext>
                      </a:extLst>
                    </a:gridCol>
                    <a:gridCol w="1135625">
                      <a:extLst>
                        <a:ext uri="{9D8B030D-6E8A-4147-A177-3AD203B41FA5}">
                          <a16:colId xmlns:a16="http://schemas.microsoft.com/office/drawing/2014/main" val="1470131627"/>
                        </a:ext>
                      </a:extLst>
                    </a:gridCol>
                  </a:tblGrid>
                  <a:tr h="370840">
                    <a:tc>
                      <a:txBody>
                        <a:bodyPr/>
                        <a:lstStyle/>
                        <a:p>
                          <a:pPr algn="ctr"/>
                          <a14:m>
                            <m:oMathPara xmlns:m="http://schemas.openxmlformats.org/officeDocument/2006/math">
                              <m:oMath>
                                <m:r>
                                  <a:rPr lang="en-US" sz="2800" b="1" i="1" dirty="0" smtClean="0">
                                    <a:solidFill>
                                      <a:schemeClr val="bg1"/>
                                    </a:solidFill>
                                    <a:latin typeface="Cambria Math" panose="02040503050406030204" pitchFamily="18" charset="0"/>
                                    <a:cs typeface="Arial" panose="020B0604020202020204" pitchFamily="34" charset="0"/>
                                  </a:rPr>
                                  <m:t>𝒙</m:t>
                                </m:r>
                              </m:oMath>
                            </m:oMathPara>
                          </a14:m>
                          <a:endParaRPr lang="en-IN" sz="2800" b="1" i="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tc>
                      <a:txBody>
                        <a:bodyPr/>
                        <a:lstStyle/>
                        <a:p>
                          <a:pPr algn="ctr"/>
                          <a14:m>
                            <m:oMathPara xmlns:m="http://schemas.openxmlformats.org/officeDocument/2006/math">
                              <m:oMath>
                                <m:r>
                                  <a:rPr lang="en-IN" sz="2800" b="1" i="1" dirty="0" smtClean="0">
                                    <a:solidFill>
                                      <a:schemeClr val="bg1"/>
                                    </a:solidFill>
                                    <a:latin typeface="Cambria Math" panose="02040503050406030204" pitchFamily="18" charset="0"/>
                                    <a:cs typeface="Arial" panose="020B0604020202020204" pitchFamily="34" charset="0"/>
                                  </a:rPr>
                                  <m:t>𝒚</m:t>
                                </m:r>
                              </m:oMath>
                            </m:oMathPara>
                          </a14:m>
                          <a:endParaRPr lang="en-IN" sz="2800" b="1" i="1"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5D9C"/>
                        </a:solidFill>
                      </a:tcPr>
                    </a:tc>
                    <a:extLst>
                      <a:ext uri="{0D108BD9-81ED-4DB2-BD59-A6C34878D82A}">
                        <a16:rowId xmlns:a16="http://schemas.microsoft.com/office/drawing/2014/main" val="1493255547"/>
                      </a:ext>
                    </a:extLst>
                  </a:tr>
                  <a:tr h="370840">
                    <a:tc>
                      <a:txBody>
                        <a:bodyPr/>
                        <a:lstStyle/>
                        <a:p>
                          <a:pPr algn="ctr"/>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544029">
                    <a:tc>
                      <a:txBody>
                        <a:bodyPr/>
                        <a:lstStyle/>
                        <a:p>
                          <a:pPr algn="ctr"/>
                          <a:r>
                            <a:rPr lang="en-US" sz="2800" dirty="0">
                              <a:solidFill>
                                <a:schemeClr val="tx1"/>
                              </a:solidFill>
                              <a:latin typeface="Arial" pitchFamily="34" charset="0"/>
                              <a:cs typeface="Arial" pitchFamily="34" charset="0"/>
                            </a:rPr>
                            <a:t>4</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48</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370840">
                    <a:tc>
                      <a:txBody>
                        <a:bodyPr/>
                        <a:lstStyle/>
                        <a:p>
                          <a:pPr algn="ctr"/>
                          <a:r>
                            <a:rPr lang="en-US" sz="2800" dirty="0">
                              <a:solidFill>
                                <a:schemeClr val="tx1"/>
                              </a:solidFill>
                              <a:latin typeface="Arial" pitchFamily="34" charset="0"/>
                              <a:cs typeface="Arial" pitchFamily="34" charset="0"/>
                            </a:rPr>
                            <a:t>8</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96</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370840">
                    <a:tc>
                      <a:txBody>
                        <a:bodyPr/>
                        <a:lstStyle/>
                        <a:p>
                          <a:pPr algn="ctr"/>
                          <a:r>
                            <a:rPr lang="en-US" sz="2800" dirty="0">
                              <a:solidFill>
                                <a:schemeClr val="tx1"/>
                              </a:solidFill>
                              <a:latin typeface="Arial" pitchFamily="34" charset="0"/>
                              <a:cs typeface="Arial" pitchFamily="34" charset="0"/>
                            </a:rPr>
                            <a:t>12</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144</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Choice>
        <mc:Fallback xmlns="">
          <p:graphicFrame>
            <p:nvGraphicFramePr>
              <p:cNvPr id="2055" name="Table 5">
                <a:extLst>
                  <a:ext uri="{FF2B5EF4-FFF2-40B4-BE49-F238E27FC236}">
                    <a16:creationId xmlns:a16="http://schemas.microsoft.com/office/drawing/2014/main" id="{7E7C1157-8D1A-48F2-701C-18E87D98CDB1}"/>
                  </a:ext>
                </a:extLst>
              </p:cNvPr>
              <p:cNvGraphicFramePr>
                <a:graphicFrameLocks noGrp="1"/>
              </p:cNvGraphicFramePr>
              <p:nvPr>
                <p:extLst>
                  <p:ext uri="{D42A27DB-BD31-4B8C-83A1-F6EECF244321}">
                    <p14:modId xmlns:p14="http://schemas.microsoft.com/office/powerpoint/2010/main" val="3114576408"/>
                  </p:ext>
                </p:extLst>
              </p:nvPr>
            </p:nvGraphicFramePr>
            <p:xfrm>
              <a:off x="3090975" y="3578739"/>
              <a:ext cx="2395785" cy="2616669"/>
            </p:xfrm>
            <a:graphic>
              <a:graphicData uri="http://schemas.openxmlformats.org/drawingml/2006/table">
                <a:tbl>
                  <a:tblPr firstRow="1" bandRow="1">
                    <a:tableStyleId>{5C22544A-7EE6-4342-B048-85BDC9FD1C3A}</a:tableStyleId>
                  </a:tblPr>
                  <a:tblGrid>
                    <a:gridCol w="1260160">
                      <a:extLst>
                        <a:ext uri="{9D8B030D-6E8A-4147-A177-3AD203B41FA5}">
                          <a16:colId xmlns:a16="http://schemas.microsoft.com/office/drawing/2014/main" val="1858197765"/>
                        </a:ext>
                      </a:extLst>
                    </a:gridCol>
                    <a:gridCol w="1135625">
                      <a:extLst>
                        <a:ext uri="{9D8B030D-6E8A-4147-A177-3AD203B41FA5}">
                          <a16:colId xmlns:a16="http://schemas.microsoft.com/office/drawing/2014/main" val="1470131627"/>
                        </a:ext>
                      </a:extLst>
                    </a:gridCol>
                  </a:tblGrid>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83" r="-91304" b="-43764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1230" r="-1070" b="-437647"/>
                          </a:stretch>
                        </a:blipFill>
                      </a:tcPr>
                    </a:tc>
                    <a:extLst>
                      <a:ext uri="{0D108BD9-81ED-4DB2-BD59-A6C34878D82A}">
                        <a16:rowId xmlns:a16="http://schemas.microsoft.com/office/drawing/2014/main" val="1493255547"/>
                      </a:ext>
                    </a:extLst>
                  </a:tr>
                  <a:tr h="518160">
                    <a:tc>
                      <a:txBody>
                        <a:bodyPr/>
                        <a:lstStyle/>
                        <a:p>
                          <a:pPr algn="ctr"/>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0</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763118"/>
                      </a:ext>
                    </a:extLst>
                  </a:tr>
                  <a:tr h="544029">
                    <a:tc>
                      <a:txBody>
                        <a:bodyPr/>
                        <a:lstStyle/>
                        <a:p>
                          <a:pPr algn="ctr"/>
                          <a:r>
                            <a:rPr lang="en-US" sz="2800" dirty="0">
                              <a:solidFill>
                                <a:schemeClr val="tx1"/>
                              </a:solidFill>
                              <a:latin typeface="Arial" pitchFamily="34" charset="0"/>
                              <a:cs typeface="Arial" pitchFamily="34" charset="0"/>
                            </a:rPr>
                            <a:t>4</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48</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8110954"/>
                      </a:ext>
                    </a:extLst>
                  </a:tr>
                  <a:tr h="518160">
                    <a:tc>
                      <a:txBody>
                        <a:bodyPr/>
                        <a:lstStyle/>
                        <a:p>
                          <a:pPr algn="ctr"/>
                          <a:r>
                            <a:rPr lang="en-US" sz="2800" dirty="0">
                              <a:solidFill>
                                <a:schemeClr val="tx1"/>
                              </a:solidFill>
                              <a:latin typeface="Arial" pitchFamily="34" charset="0"/>
                              <a:cs typeface="Arial" pitchFamily="34" charset="0"/>
                            </a:rPr>
                            <a:t>8</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96</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39945"/>
                      </a:ext>
                    </a:extLst>
                  </a:tr>
                  <a:tr h="518160">
                    <a:tc>
                      <a:txBody>
                        <a:bodyPr/>
                        <a:lstStyle/>
                        <a:p>
                          <a:pPr algn="ctr"/>
                          <a:r>
                            <a:rPr lang="en-US" sz="2800" dirty="0">
                              <a:solidFill>
                                <a:schemeClr val="tx1"/>
                              </a:solidFill>
                              <a:latin typeface="Arial" pitchFamily="34" charset="0"/>
                              <a:cs typeface="Arial" pitchFamily="34" charset="0"/>
                            </a:rPr>
                            <a:t>12</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dirty="0">
                              <a:solidFill>
                                <a:schemeClr val="tx1"/>
                              </a:solidFill>
                              <a:latin typeface="Arial" pitchFamily="34" charset="0"/>
                              <a:cs typeface="Arial" pitchFamily="34" charset="0"/>
                            </a:rPr>
                            <a:t>144</a:t>
                          </a:r>
                          <a:endParaRPr lang="en-IN" sz="2800" dirty="0">
                            <a:solidFill>
                              <a:schemeClr val="tx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Fallback>
      </mc:AlternateContent>
      <p:sp>
        <p:nvSpPr>
          <p:cNvPr id="20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40</a:t>
            </a:r>
          </a:p>
        </p:txBody>
      </p:sp>
      <p:sp>
        <p:nvSpPr>
          <p:cNvPr id="205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extLst>
      <p:ext uri="{BB962C8B-B14F-4D97-AF65-F5344CB8AC3E}">
        <p14:creationId xmlns:p14="http://schemas.microsoft.com/office/powerpoint/2010/main" val="2680870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Arial"/>
                <a:ea typeface="+mj-ea"/>
                <a:cs typeface="+mj-cs"/>
              </a:defRPr>
            </a:lvl1pPr>
          </a:lstStyle>
          <a:p>
            <a:r>
              <a:rPr lang="en-US" sz="2800" b="0" dirty="0">
                <a:solidFill>
                  <a:srgbClr val="782DA0"/>
                </a:solidFill>
                <a:latin typeface="Arial" panose="020B0604020202020204" pitchFamily="34" charset="0"/>
                <a:cs typeface="Arial" panose="020B0604020202020204" pitchFamily="34" charset="0"/>
              </a:rPr>
              <a:t xml:space="preserve">Apply: </a:t>
            </a:r>
            <a:r>
              <a:rPr lang="en-IN" sz="2800" dirty="0">
                <a:solidFill>
                  <a:srgbClr val="7030A0"/>
                </a:solidFill>
                <a:latin typeface="Arial" pitchFamily="34" charset="0"/>
                <a:cs typeface="Arial" pitchFamily="34" charset="0"/>
              </a:rPr>
              <a:t>Choosing Cupcakes</a:t>
            </a:r>
            <a:endParaRPr lang="en-US" sz="2800" dirty="0">
              <a:solidFill>
                <a:srgbClr val="7030A0"/>
              </a:solidFill>
              <a:latin typeface="Arial" panose="020B0604020202020204" pitchFamily="34" charset="0"/>
              <a:cs typeface="Arial" panose="020B0604020202020204" pitchFamily="34" charset="0"/>
            </a:endParaRP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E09B2DFC-9AF3-3E6F-9BCA-D40521A21E02}"/>
              </a:ext>
            </a:extLst>
          </p:cNvPr>
          <p:cNvSpPr txBox="1">
            <a:spLocks/>
          </p:cNvSpPr>
          <p:nvPr/>
        </p:nvSpPr>
        <p:spPr>
          <a:xfrm>
            <a:off x="484565" y="936000"/>
            <a:ext cx="6535360" cy="179484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Arial"/>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Arial"/>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Arial"/>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mn-ea"/>
                <a:cs typeface="+mn-cs"/>
              </a:defRPr>
            </a:lvl9pPr>
          </a:lstStyle>
          <a:p>
            <a:r>
              <a:rPr lang="en-US" sz="2800" dirty="0" err="1">
                <a:solidFill>
                  <a:schemeClr val="tx1"/>
                </a:solidFill>
                <a:latin typeface="Arial" pitchFamily="34" charset="0"/>
                <a:cs typeface="Arial" pitchFamily="34" charset="0"/>
              </a:rPr>
              <a:t>Yelina</a:t>
            </a:r>
            <a:r>
              <a:rPr lang="en-US" sz="2800" dirty="0">
                <a:solidFill>
                  <a:schemeClr val="tx1"/>
                </a:solidFill>
                <a:latin typeface="Arial" pitchFamily="34" charset="0"/>
                <a:cs typeface="Arial" pitchFamily="34" charset="0"/>
              </a:rPr>
              <a:t xml:space="preserve"> is comparing the costs of having cupcakes delivered from two different bakeries. </a:t>
            </a:r>
            <a:r>
              <a:rPr lang="en-US" sz="2800" dirty="0" err="1">
                <a:solidFill>
                  <a:schemeClr val="tx1"/>
                </a:solidFill>
                <a:latin typeface="Arial" pitchFamily="34" charset="0"/>
                <a:cs typeface="Arial" pitchFamily="34" charset="0"/>
              </a:rPr>
              <a:t>Yelina</a:t>
            </a:r>
            <a:r>
              <a:rPr lang="en-US" sz="2800" dirty="0">
                <a:solidFill>
                  <a:schemeClr val="tx1"/>
                </a:solidFill>
                <a:latin typeface="Arial" pitchFamily="34" charset="0"/>
                <a:cs typeface="Arial" pitchFamily="34" charset="0"/>
              </a:rPr>
              <a:t xml:space="preserve"> has a budget of $110 to spend.</a:t>
            </a:r>
          </a:p>
        </p:txBody>
      </p:sp>
      <p:sp>
        <p:nvSpPr>
          <p:cNvPr id="5" name="TextBox 4">
            <a:extLst>
              <a:ext uri="{FF2B5EF4-FFF2-40B4-BE49-F238E27FC236}">
                <a16:creationId xmlns:a16="http://schemas.microsoft.com/office/drawing/2014/main" id="{680C7C22-59DF-74EA-93E8-121409F975DB}"/>
              </a:ext>
            </a:extLst>
          </p:cNvPr>
          <p:cNvSpPr txBox="1"/>
          <p:nvPr/>
        </p:nvSpPr>
        <p:spPr>
          <a:xfrm>
            <a:off x="484565" y="3424388"/>
            <a:ext cx="6535360" cy="1384995"/>
          </a:xfrm>
          <a:prstGeom prst="rect">
            <a:avLst/>
          </a:prstGeom>
          <a:noFill/>
        </p:spPr>
        <p:txBody>
          <a:bodyPr wrap="square">
            <a:spAutoFit/>
          </a:bodyPr>
          <a:lstStyle/>
          <a:p>
            <a:r>
              <a:rPr lang="en-US" sz="2800" b="1" dirty="0">
                <a:latin typeface="Arial" pitchFamily="34" charset="0"/>
                <a:cs typeface="Arial" pitchFamily="34" charset="0"/>
              </a:rPr>
              <a:t>Question</a:t>
            </a:r>
            <a:r>
              <a:rPr lang="en-US" sz="2800" dirty="0">
                <a:latin typeface="Arial" pitchFamily="34" charset="0"/>
                <a:cs typeface="Arial" pitchFamily="34" charset="0"/>
              </a:rPr>
              <a:t xml:space="preserve">: From which bakery would you recommend </a:t>
            </a:r>
            <a:r>
              <a:rPr lang="en-US" sz="2800" dirty="0" err="1">
                <a:latin typeface="Arial" pitchFamily="34" charset="0"/>
                <a:cs typeface="Arial" pitchFamily="34" charset="0"/>
              </a:rPr>
              <a:t>Yelina</a:t>
            </a:r>
            <a:r>
              <a:rPr lang="en-US" sz="2800" dirty="0">
                <a:latin typeface="Arial" pitchFamily="34" charset="0"/>
                <a:cs typeface="Arial" pitchFamily="34" charset="0"/>
              </a:rPr>
              <a:t xml:space="preserve"> purchase cupcakes? Explain.</a:t>
            </a:r>
          </a:p>
        </p:txBody>
      </p:sp>
      <p:pic>
        <p:nvPicPr>
          <p:cNvPr id="3074" name="Picture 2" descr="C:\Users\HP\Desktop\G6 U9\OPS\img\.assets\2c9bd68287414d079f633c113eebe0bc\narm24_c10904_se_004a-dig.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47720" y="1942710"/>
            <a:ext cx="4381500" cy="2743200"/>
          </a:xfrm>
          <a:prstGeom prst="rect">
            <a:avLst/>
          </a:prstGeom>
          <a:noFill/>
          <a:extLst>
            <a:ext uri="{909E8E84-426E-40DD-AFC4-6F175D3DCCD1}">
              <a14:hiddenFill xmlns:a14="http://schemas.microsoft.com/office/drawing/2010/main">
                <a:solidFill>
                  <a:srgbClr val="FFFFFF"/>
                </a:solidFill>
              </a14:hiddenFill>
            </a:ext>
          </a:extLst>
        </p:spPr>
      </p:pic>
      <p:sp>
        <p:nvSpPr>
          <p:cNvPr id="30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40</a:t>
            </a:r>
          </a:p>
        </p:txBody>
      </p:sp>
      <p:sp>
        <p:nvSpPr>
          <p:cNvPr id="307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307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extLst>
      <p:ext uri="{BB962C8B-B14F-4D97-AF65-F5344CB8AC3E}">
        <p14:creationId xmlns:p14="http://schemas.microsoft.com/office/powerpoint/2010/main" val="3669478992"/>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9.4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Model the two quantities.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5-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15 / 40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40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40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9-4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40</a:t>
            </a:r>
          </a:p>
        </p:txBody>
      </p:sp>
    </p:spTree>
  </p:cSld>
  <p:clrMapOvr>
    <a:masterClrMapping/>
  </p:clrMapOvr>
</p:sld>
</file>

<file path=ppt/theme/theme1.xml><?xml version="1.0" encoding="utf-8"?>
<a:theme xmlns:a="http://schemas.openxmlformats.org/drawingml/2006/main" name="Title Slid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 Template 16x9 2020 update" id="{5E47A058-0525-4FF8-ABFF-DAB3961E1CA4}" vid="{3779B88A-58AE-471A-9261-01943B1F04F1}"/>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forsorting xmlns="4d542492-1411-461f-a54d-7ce3bfc1bb2b" xsi:nil="true"/>
    <lcf76f155ced4ddcb4097134ff3c332f xmlns="4d542492-1411-461f-a54d-7ce3bfc1bb2b">
      <Terms xmlns="http://schemas.microsoft.com/office/infopath/2007/PartnerControls"/>
    </lcf76f155ced4ddcb4097134ff3c332f>
    <TaxCatchAll xmlns="ea4a9e5c-3d35-4957-9f75-be99225b1345" xsi:nil="true"/>
    <Notes xmlns="4d542492-1411-461f-a54d-7ce3bfc1bb2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99F8A31FEB8FB4A9590D7113407C76B" ma:contentTypeVersion="23" ma:contentTypeDescription="Create a new document." ma:contentTypeScope="" ma:versionID="d6f8201bcdc3ac1a5d3b4ec446f57399">
  <xsd:schema xmlns:xsd="http://www.w3.org/2001/XMLSchema" xmlns:xs="http://www.w3.org/2001/XMLSchema" xmlns:p="http://schemas.microsoft.com/office/2006/metadata/properties" xmlns:ns2="ea4a9e5c-3d35-4957-9f75-be99225b1345" xmlns:ns3="4d542492-1411-461f-a54d-7ce3bfc1bb2b" targetNamespace="http://schemas.microsoft.com/office/2006/metadata/properties" ma:root="true" ma:fieldsID="eb4ce593c22c6175f1cf9c13ccc41e6e" ns2:_="" ns3:_="">
    <xsd:import namespace="ea4a9e5c-3d35-4957-9f75-be99225b1345"/>
    <xsd:import namespace="4d542492-1411-461f-a54d-7ce3bfc1bb2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forsorting" minOccurs="0"/>
                <xsd:element ref="ns3:MediaLengthInSeconds" minOccurs="0"/>
                <xsd:element ref="ns3:Notes" minOccurs="0"/>
                <xsd:element ref="ns2:TaxCatchAll" minOccurs="0"/>
                <xsd:element ref="ns3: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4a9e5c-3d35-4957-9f75-be99225b134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a88aca-94cb-4ad7-8102-31941725a82d}" ma:internalName="TaxCatchAll" ma:showField="CatchAllData" ma:web="ea4a9e5c-3d35-4957-9f75-be99225b134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d542492-1411-461f-a54d-7ce3bfc1bb2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forsorting" ma:index="20" nillable="true" ma:displayName="for sorting" ma:format="Dropdown" ma:internalName="forsorting" ma:percentage="FALSE">
      <xsd:simpleType>
        <xsd:restriction base="dms:Number"/>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format="Dropdown" ma:internalName="Notes">
      <xsd:simpleType>
        <xsd:union memberTypes="dms:Text">
          <xsd:simpleType>
            <xsd:restriction base="dms:Choice">
              <xsd:enumeration value="ready for review"/>
              <xsd:enumeration value="review complete"/>
              <xsd:enumeration value="Choice 3"/>
            </xsd:restriction>
          </xsd:simpleType>
        </xsd:unio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EAE647-4D09-40C7-A340-44BE4553B7A4}">
  <ds:schemaRefs>
    <ds:schemaRef ds:uri="http://schemas.microsoft.com/sharepoint/v3/contenttype/forms"/>
  </ds:schemaRefs>
</ds:datastoreItem>
</file>

<file path=customXml/itemProps2.xml><?xml version="1.0" encoding="utf-8"?>
<ds:datastoreItem xmlns:ds="http://schemas.openxmlformats.org/officeDocument/2006/customXml" ds:itemID="{05C5BD1B-9B2C-46D3-B0B7-30CCA484F4EF}">
  <ds:schemaRefs>
    <ds:schemaRef ds:uri="http://schemas.microsoft.com/office/2006/documentManagement/types"/>
    <ds:schemaRef ds:uri="ea4a9e5c-3d35-4957-9f75-be99225b1345"/>
    <ds:schemaRef ds:uri="http://purl.org/dc/elements/1.1/"/>
    <ds:schemaRef ds:uri="http://schemas.microsoft.com/office/2006/metadata/properties"/>
    <ds:schemaRef ds:uri="http://purl.org/dc/terms/"/>
    <ds:schemaRef ds:uri="http://schemas.microsoft.com/office/infopath/2007/PartnerControls"/>
    <ds:schemaRef ds:uri="http://schemas.openxmlformats.org/package/2006/metadata/core-properties"/>
    <ds:schemaRef ds:uri="4d542492-1411-461f-a54d-7ce3bfc1bb2b"/>
    <ds:schemaRef ds:uri="http://www.w3.org/XML/1998/namespace"/>
    <ds:schemaRef ds:uri="http://purl.org/dc/dcmitype/"/>
  </ds:schemaRefs>
</ds:datastoreItem>
</file>

<file path=customXml/itemProps3.xml><?xml version="1.0" encoding="utf-8"?>
<ds:datastoreItem xmlns:ds="http://schemas.openxmlformats.org/officeDocument/2006/customXml" ds:itemID="{3C509481-75F9-4D7C-AB4E-7F0F2866F3D7}">
  <ds:schemaRefs>
    <ds:schemaRef ds:uri="4d542492-1411-461f-a54d-7ce3bfc1bb2b"/>
    <ds:schemaRef ds:uri="ea4a9e5c-3d35-4957-9f75-be99225b134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4473</TotalTime>
  <Words>3646</Words>
  <Application>Microsoft Macintosh PowerPoint</Application>
  <PresentationFormat>Widescreen</PresentationFormat>
  <Paragraphs>466</Paragraphs>
  <Slides>66</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66</vt:i4>
      </vt:variant>
    </vt:vector>
  </HeadingPairs>
  <TitlesOfParts>
    <vt:vector size="73" baseType="lpstr">
      <vt:lpstr>Arial</vt:lpstr>
      <vt:lpstr>Calibri</vt:lpstr>
      <vt:lpstr>Cambria Math</vt:lpstr>
      <vt:lpstr>Title Slide</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9.4 — Apply Two-Variable Relationships to Solve Problems</dc:title>
  <dc:creator>Grubelich, Rocio</dc:creator>
  <cp:lastModifiedBy>Neft, Joel D.</cp:lastModifiedBy>
  <cp:revision>327</cp:revision>
  <cp:lastPrinted>2018-08-01T21:17:27Z</cp:lastPrinted>
  <dcterms:created xsi:type="dcterms:W3CDTF">2020-09-17T18:06:02Z</dcterms:created>
  <dcterms:modified xsi:type="dcterms:W3CDTF">2026-09-10T09:35:59Z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0x010100C99F8A31FEB8FB4A9590D7113407C76B</vt:lpwstr>
  </property>
  <property fmtid="{D5CDD505-2E9C-101B-9397-08002B2CF9AE}" pid="3" name="MediaServiceImageTags">
    <vt:lpwstr/>
  </property>
</Properties>
</file>