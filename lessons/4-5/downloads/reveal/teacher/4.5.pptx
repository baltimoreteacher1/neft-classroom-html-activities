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4.xml" ContentType="application/vnd.openxmlformats-officedocument.presentationml.notesSlide+xml"/>
  <Override PartName="/ppt/notesSlides/notesSlide17.xml" ContentType="application/vnd.openxmlformats-officedocument.presentationml.notesSlide+xml"/>
  <Override PartName="/ppt/notesSlides/notesSlide24.xml" ContentType="application/vnd.openxmlformats-officedocument.presentationml.notesSlide+xml"/>
  <Override PartName="/ppt/notesSlides/notesSlide26.xml" ContentType="application/vnd.openxmlformats-officedocument.presentationml.notesSlide+xml"/>
  <Override PartName="/ppt/notesSlides/notesSlide28.xml" ContentType="application/vnd.openxmlformats-officedocument.presentationml.notesSlide+xml"/>
  <Override PartName="/ppt/notesSlides/notesSlide32.xml" ContentType="application/vnd.openxmlformats-officedocument.presentationml.notesSlide+xml"/>
  <Override PartName="/ppt/notesSlides/notesSlide36.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1.xml" ContentType="application/vnd.openxmlformats-officedocument.presentationml.notesSlide+xml"/>
  <Override PartName="/ppt/notesSlides/notesSlide44.xml" ContentType="application/vnd.openxmlformats-officedocument.presentationml.notesSlide+xml"/>
  <Override PartName="/ppt/notesSlides/notesSlide5.xml" ContentType="application/vnd.openxmlformats-officedocument.presentationml.notesSlide+xml"/>
  <Override PartName="/ppt/notesSlides/notesSlide51.xml" ContentType="application/vnd.openxmlformats-officedocument.presentationml.notesSlide+xml"/>
  <Override PartName="/ppt/notesSlides/notesSlide55.xml" ContentType="application/vnd.openxmlformats-officedocument.presentationml.notesSlide+xml"/>
  <Override PartName="/ppt/notesSlides/notesSlide57.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docProps/core.xml" ContentType="application/vnd.openxmlformats-package.core-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Core1" Type="http://schemas.openxmlformats.org/package/2006/relationships/metadata/core-properties" Target="docProps/core.xml"/></Relationships>
</file>

<file path=ppt/presentation.xml><?xml version="1.0" encoding="utf-8"?>
<p:presentation xmlns:a="http://schemas.openxmlformats.org/drawingml/2006/main" xmlns:ns3="http://schemas.microsoft.com/office/powerpoint/2012/main" xmlns:p="http://schemas.openxmlformats.org/presentationml/2006/main" xmlns:r="http://schemas.openxmlformats.org/officeDocument/2006/relationships" autoCompressPictures="0" strictFirstAndLastChars="0" saveSubsetFonts="1">
  <p:sldMasterIdLst>
    <p:sldMasterId id="2147483683" r:id="rId4"/>
    <p:sldMasterId id="2147483684" r:id="rId5"/>
    <p:sldMasterId id="2147483685" r:id="rId6"/>
    <p:sldMasterId id="2147483686" r:id="rId7"/>
  </p:sldMasterIdLst>
  <p:notesMasterIdLst>
    <p:notesMasterId r:id="rId8"/>
  </p:notesMasterIdLst>
  <p:sldIdLst>
    <p:sldId id="259" r:id="rId12"/>
    <p:sldId id="269" r:id="rId22"/>
    <p:sldId id="260" r:id="rId13"/>
    <p:sldId id="335" r:id="rId74"/>
    <p:sldId id="334" r:id="rId26"/>
    <p:sldId id="333" r:id="rId43"/>
    <p:sldId id="332" r:id="rId42"/>
    <p:sldId id="331" r:id="rId41"/>
    <p:sldId id="330" r:id="rId27"/>
    <p:sldId id="329" r:id="rId39"/>
    <p:sldId id="328" r:id="rId38"/>
    <p:sldId id="339" r:id="rId78"/>
    <p:sldId id="261" r:id="rId14"/>
    <p:sldId id="272" r:id="rId25"/>
    <p:sldId id="279" r:id="rId32"/>
    <p:sldId id="281" r:id="rId34"/>
    <p:sldId id="340" r:id="rId79"/>
    <p:sldId id="283" r:id="rId36"/>
    <p:sldId id="287" r:id="rId40"/>
    <p:sldId id="291" r:id="rId44"/>
    <p:sldId id="336" r:id="rId75"/>
    <p:sldId id="294" r:id="rId47"/>
    <p:sldId id="327" r:id="rId37"/>
    <p:sldId id="326" r:id="rId28"/>
    <p:sldId id="325" r:id="rId35"/>
    <p:sldId id="341" r:id="rId80"/>
    <p:sldId id="324" r:id="rId29"/>
    <p:sldId id="319" r:id="rId72"/>
    <p:sldId id="342" r:id="rId81"/>
    <p:sldId id="320" r:id="rId73"/>
    <p:sldId id="296" r:id="rId49"/>
    <p:sldId id="299" r:id="rId52"/>
    <p:sldId id="306" r:id="rId59"/>
    <p:sldId id="310" r:id="rId63"/>
    <p:sldId id="312" r:id="rId65"/>
    <p:sldId id="315" r:id="rId68"/>
    <p:sldId id="316" r:id="rId69"/>
    <p:sldId id="337" r:id="rId76"/>
    <p:sldId id="323" r:id="rId33"/>
    <p:sldId id="322" r:id="rId30"/>
    <p:sldId id="321" r:id="rId31"/>
    <p:sldId id="317" r:id="rId70"/>
    <p:sldId id="318" r:id="rId71"/>
    <p:sldId id="338" r:id="rId77"/>
  </p:sldIdLst>
  <p:sldSz cy="6858000" cx="12192000"/>
  <p:notesSz cx="7010400" cy="9236075"/>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ns3:sldGuideLst>
        <ns3:guide id="1" pos="1512">
          <ns3:clr>
            <a:srgbClr val="A4A3A4"/>
          </ns3:clr>
        </ns3:guide>
        <ns3:guide id="2" orient="horz" pos="3024">
          <ns3:clr>
            <a:srgbClr val="A4A3A4"/>
          </ns3:clr>
        </ns3:guide>
        <ns3:guide id="3" orient="horz" pos="384">
          <ns3:clr>
            <a:srgbClr val="A4A3A4"/>
          </ns3:clr>
        </ns3:guide>
        <ns3:guide id="4" orient="horz" pos="2520">
          <ns3:clr>
            <a:srgbClr val="A4A3A4"/>
          </ns3:clr>
        </ns3:guide>
        <ns3:guide id="5" orient="horz" pos="1080">
          <ns3:clr>
            <a:srgbClr val="A4A3A4"/>
          </ns3:clr>
        </ns3:guide>
        <ns3:guide id="6" orient="horz" pos="1680">
          <ns3:clr>
            <a:srgbClr val="A4A3A4"/>
          </ns3:clr>
        </ns3:guide>
        <ns3:guide id="7" orient="horz" pos="3432">
          <ns3:clr>
            <a:srgbClr val="A4A3A4"/>
          </ns3:clr>
        </ns3:guide>
        <ns3:guide id="8" orient="horz" pos="3120">
          <ns3:clr>
            <a:srgbClr val="A4A3A4"/>
          </ns3:clr>
        </ns3:guide>
        <ns3:guide id="9" pos="48">
          <ns3:clr>
            <a:srgbClr val="A4A3A4"/>
          </ns3:clr>
        </ns3:guide>
        <ns3:guide id="10" pos="384">
          <ns3:clr>
            <a:srgbClr val="A4A3A4"/>
          </ns3:clr>
        </ns3:guide>
        <ns3:guide id="11" pos="6480">
          <ns3:clr>
            <a:srgbClr val="A4A3A4"/>
          </ns3:clr>
        </ns3:guide>
        <ns3:guide id="12" pos="2597">
          <ns3:clr>
            <a:srgbClr val="A4A3A4"/>
          </ns3:clr>
        </ns3:guide>
        <ns3:guide id="13" pos="288">
          <ns3:clr>
            <a:srgbClr val="A4A3A4"/>
          </ns3:clr>
        </ns3:guide>
        <ns3:guide id="14" orient="horz" pos="2160">
          <ns3:clr>
            <a:srgbClr val="A4A3A4"/>
          </ns3:clr>
        </ns3:guide>
        <ns3:guide id="15" orient="horz" pos="216">
          <ns3:clr>
            <a:srgbClr val="A4A3A4"/>
          </ns3:clr>
        </ns3:guide>
        <ns3:guide id="16" orient="horz" pos="936">
          <ns3:clr>
            <a:srgbClr val="A4A3A4"/>
          </ns3:clr>
        </ns3:guide>
        <ns3:guide id="17" pos="4368">
          <ns3:clr>
            <a:srgbClr val="A4A3A4"/>
          </ns3:clr>
        </ns3:guide>
        <ns3:guide id="18" pos="7296">
          <ns3:clr>
            <a:srgbClr val="A4A3A4"/>
          </ns3:clr>
        </ns3:guide>
        <ns3:guide id="19" pos="3288">
          <ns3:clr>
            <a:srgbClr val="A4A3A4"/>
          </ns3:clr>
        </ns3:guide>
        <ns3:guide id="20" pos="5904">
          <ns3:clr>
            <a:srgbClr val="A4A3A4"/>
          </ns3:clr>
        </ns3:guide>
        <ns3:guide id="21" pos="5568">
          <ns3:clr>
            <a:srgbClr val="A4A3A4"/>
          </ns3:clr>
        </ns3:guide>
      </ns3: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512"/>
        <p:guide pos="3024" orient="horz"/>
        <p:guide pos="384" orient="horz"/>
        <p:guide pos="2520" orient="horz"/>
        <p:guide pos="1080" orient="horz"/>
        <p:guide pos="1680" orient="horz"/>
        <p:guide pos="3432" orient="horz"/>
        <p:guide pos="3120" orient="horz"/>
        <p:guide pos="48"/>
        <p:guide pos="384"/>
        <p:guide pos="6480"/>
        <p:guide pos="2597"/>
        <p:guide pos="288"/>
        <p:guide pos="2160" orient="horz"/>
        <p:guide pos="216" orient="horz"/>
        <p:guide pos="936" orient="horz"/>
        <p:guide pos="4368"/>
        <p:guide pos="7296"/>
        <p:guide pos="3288"/>
        <p:guide pos="5904"/>
        <p:guide pos="5568"/>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4.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notesMaster" Target="notesMasters/notesMaster1.xml"/><Relationship Id="rId12" Type="http://schemas.openxmlformats.org/officeDocument/2006/relationships/slide" Target="slides/slide1.xml"/><Relationship Id="rId13" Type="http://schemas.openxmlformats.org/officeDocument/2006/relationships/slide" Target="slides/slide3.xml"/><Relationship Id="rId14" Type="http://schemas.openxmlformats.org/officeDocument/2006/relationships/slide" Target="slides/slide12.xml"/><Relationship Id="rId22" Type="http://schemas.openxmlformats.org/officeDocument/2006/relationships/slide" Target="slides/slide2.xml"/><Relationship Id="rId25" Type="http://schemas.openxmlformats.org/officeDocument/2006/relationships/slide" Target="slides/slide13.xml"/><Relationship Id="rId26" Type="http://schemas.openxmlformats.org/officeDocument/2006/relationships/slide" Target="slides/slide5.xml"/><Relationship Id="rId27" Type="http://schemas.openxmlformats.org/officeDocument/2006/relationships/slide" Target="slides/slide9.xml"/><Relationship Id="rId28" Type="http://schemas.openxmlformats.org/officeDocument/2006/relationships/slide" Target="slides/slide22.xml"/><Relationship Id="rId29" Type="http://schemas.openxmlformats.org/officeDocument/2006/relationships/slide" Target="slides/slide24.xml"/><Relationship Id="rId30" Type="http://schemas.openxmlformats.org/officeDocument/2006/relationships/slide" Target="slides/slide36.xml"/><Relationship Id="rId31" Type="http://schemas.openxmlformats.org/officeDocument/2006/relationships/slide" Target="slides/slide37.xml"/><Relationship Id="rId32" Type="http://schemas.openxmlformats.org/officeDocument/2006/relationships/slide" Target="slides/slide14.xml"/><Relationship Id="rId33" Type="http://schemas.openxmlformats.org/officeDocument/2006/relationships/slide" Target="slides/slide35.xml"/><Relationship Id="rId34" Type="http://schemas.openxmlformats.org/officeDocument/2006/relationships/slide" Target="slides/slide15.xml"/><Relationship Id="rId35" Type="http://schemas.openxmlformats.org/officeDocument/2006/relationships/slide" Target="slides/slide23.xml"/><Relationship Id="rId36" Type="http://schemas.openxmlformats.org/officeDocument/2006/relationships/slide" Target="slides/slide16.xml"/><Relationship Id="rId37" Type="http://schemas.openxmlformats.org/officeDocument/2006/relationships/slide" Target="slides/slide21.xml"/><Relationship Id="rId38" Type="http://schemas.openxmlformats.org/officeDocument/2006/relationships/slide" Target="slides/slide11.xml"/><Relationship Id="rId39" Type="http://schemas.openxmlformats.org/officeDocument/2006/relationships/slide" Target="slides/slide10.xml"/><Relationship Id="rId40" Type="http://schemas.openxmlformats.org/officeDocument/2006/relationships/slide" Target="slides/slide17.xml"/><Relationship Id="rId41" Type="http://schemas.openxmlformats.org/officeDocument/2006/relationships/slide" Target="slides/slide8.xml"/><Relationship Id="rId42" Type="http://schemas.openxmlformats.org/officeDocument/2006/relationships/slide" Target="slides/slide7.xml"/><Relationship Id="rId43" Type="http://schemas.openxmlformats.org/officeDocument/2006/relationships/slide" Target="slides/slide6.xml"/><Relationship Id="rId44" Type="http://schemas.openxmlformats.org/officeDocument/2006/relationships/slide" Target="slides/slide18.xml"/><Relationship Id="rId47" Type="http://schemas.openxmlformats.org/officeDocument/2006/relationships/slide" Target="slides/slide20.xml"/><Relationship Id="rId49" Type="http://schemas.openxmlformats.org/officeDocument/2006/relationships/slide" Target="slides/slide27.xml"/><Relationship Id="rId52" Type="http://schemas.openxmlformats.org/officeDocument/2006/relationships/slide" Target="slides/slide28.xml"/><Relationship Id="rId59" Type="http://schemas.openxmlformats.org/officeDocument/2006/relationships/slide" Target="slides/slide29.xml"/><Relationship Id="rId63" Type="http://schemas.openxmlformats.org/officeDocument/2006/relationships/slide" Target="slides/slide30.xml"/><Relationship Id="rId65" Type="http://schemas.openxmlformats.org/officeDocument/2006/relationships/slide" Target="slides/slide31.xml"/><Relationship Id="rId68" Type="http://schemas.openxmlformats.org/officeDocument/2006/relationships/slide" Target="slides/slide32.xml"/><Relationship Id="rId69" Type="http://schemas.openxmlformats.org/officeDocument/2006/relationships/slide" Target="slides/slide33.xml"/><Relationship Id="rId70" Type="http://schemas.openxmlformats.org/officeDocument/2006/relationships/slide" Target="slides/slide38.xml"/><Relationship Id="rId71" Type="http://schemas.openxmlformats.org/officeDocument/2006/relationships/slide" Target="slides/slide39.xml"/><Relationship Id="rId72" Type="http://schemas.openxmlformats.org/officeDocument/2006/relationships/slide" Target="slides/slide25.xml"/><Relationship Id="rId73" Type="http://schemas.openxmlformats.org/officeDocument/2006/relationships/slide" Target="slides/slide26.xml"/><Relationship Id="rId74" Type="http://schemas.openxmlformats.org/officeDocument/2006/relationships/slide" Target="slides/slide4.xml"/><Relationship Id="rId75" Type="http://schemas.openxmlformats.org/officeDocument/2006/relationships/slide" Target="slides/slide19.xml"/><Relationship Id="rId76" Type="http://schemas.openxmlformats.org/officeDocument/2006/relationships/slide" Target="slides/slide34.xml"/><Relationship Id="rId77" Type="http://schemas.openxmlformats.org/officeDocument/2006/relationships/slide" Target="slides/slide40.xml"/><Relationship Id="rId78" Type="http://schemas.openxmlformats.org/officeDocument/2006/relationships/slide" Target="slides/slide41.xml"/><Relationship Id="rId79" Type="http://schemas.openxmlformats.org/officeDocument/2006/relationships/slide" Target="slides/slide42.xml"/><Relationship Id="rId80" Type="http://schemas.openxmlformats.org/officeDocument/2006/relationships/slide" Target="slides/slide43.xml"/><Relationship Id="rId81" Type="http://schemas.openxmlformats.org/officeDocument/2006/relationships/slide" Target="slides/slide4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2"/>
            <a:ext cx="3037840" cy="463407"/>
          </a:xfrm>
          <a:prstGeom prst="rect">
            <a:avLst/>
          </a:prstGeom>
          <a:noFill/>
          <a:ln>
            <a:noFill/>
          </a:ln>
        </p:spPr>
        <p:txBody>
          <a:bodyPr anchorCtr="0" anchor="t"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970938" y="2"/>
            <a:ext cx="3037840" cy="463407"/>
          </a:xfrm>
          <a:prstGeom prst="rect">
            <a:avLst/>
          </a:prstGeom>
          <a:noFill/>
          <a:ln>
            <a:noFill/>
          </a:ln>
        </p:spPr>
        <p:txBody>
          <a:bodyPr anchorCtr="0" anchor="t" bIns="46125" lIns="92275" spcFirstLastPara="1" rIns="92275" wrap="square" tIns="46125">
            <a:noAutofit/>
          </a:bodyPr>
          <a:lstStyle>
            <a:lvl1pPr lvl="0" marR="0" rtl="0" algn="r">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lvl1pPr indent="-228600" lvl="0" marL="457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indent="-228600" lvl="1" marL="914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2pPr>
            <a:lvl3pPr indent="-228600" lvl="2" marL="1371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4pPr>
            <a:lvl5pPr indent="-228600" lvl="4" marL="22860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5pPr>
            <a:lvl6pPr indent="-228600" lvl="5" marL="27432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6pPr>
            <a:lvl7pPr indent="-228600" lvl="6" marL="32004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7pPr>
            <a:lvl8pPr indent="-228600" lvl="7" marL="36576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8pPr>
            <a:lvl9pPr indent="-228600" lvl="8" marL="411480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772669"/>
            <a:ext cx="3037840" cy="463406"/>
          </a:xfrm>
          <a:prstGeom prst="rect">
            <a:avLst/>
          </a:prstGeom>
          <a:noFill/>
          <a:ln>
            <a:noFill/>
          </a:ln>
        </p:spPr>
        <p:txBody>
          <a:bodyPr anchorCtr="0" anchor="b" bIns="46125" lIns="92275" spcFirstLastPara="1" rIns="92275" wrap="square" tIns="46125">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970938" y="8772669"/>
            <a:ext cx="3037840" cy="463406"/>
          </a:xfrm>
          <a:prstGeom prst="rect">
            <a:avLst/>
          </a:prstGeom>
          <a:noFill/>
          <a:ln>
            <a:noFill/>
          </a:ln>
        </p:spPr>
        <p:txBody>
          <a:bodyPr anchorCtr="0" anchor="b" bIns="46125" lIns="92275" spcFirstLastPara="1" rIns="92275" wrap="square" tIns="46125">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5" name="Shape 255"/>
        <p:cNvGrpSpPr/>
        <p:nvPr/>
      </p:nvGrpSpPr>
      <p:grpSpPr>
        <a:xfrm>
          <a:off x="0" y="0"/>
          <a:ext cx="0" cy="0"/>
          <a:chOff x="0" y="0"/>
          <a:chExt cx="0" cy="0"/>
        </a:xfrm>
      </p:grpSpPr>
      <p:sp>
        <p:nvSpPr>
          <p:cNvPr id="256" name="Google Shape;256;p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1 | WARMUP</a:t>
            </a:r>
          </a:p>
          <a:p xmlns:a="http://schemas.openxmlformats.org/drawingml/2006/main">
            <a:pPr>
              <a:buNone/>
            </a:pPr>
            <a:r>
              <a:rPr lang="en-US" sz="1100"/>
              <a:t>Focus on the existing task: Warm-Up WARM-UP · THINK • TRY • CHECK Do…</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Warm-Up answers (teacher only): 1) 48   2) 20   3) 12   4) 12</a:t>
            </a:r>
          </a:p>
          <a:p>
            <a:pPr>
              <a:buNone/>
            </a:pPr>
            <a:r>
              <a:rPr lang="en-US" sz="1100"/>
              <a:t/>
            </a:r>
          </a:p>
          <a:p>
            <a:pPr>
              <a:buNone/>
            </a:pPr>
            <a:r>
              <a:rPr lang="en-US" sz="1100"/>
              <a:t>UIFR FULL | Lesson-specific facilitation</a:t>
            </a:r>
          </a:p>
          <a:p>
            <a:pPr>
              <a:buNone/>
            </a:pPr>
            <a:r>
              <a:rPr lang="en-US" sz="1100"/>
              <a:t>PREPARE 1-2 | Before teaching (UIFR PDF pp. 6-7).</a:t>
            </a:r>
          </a:p>
          <a:p>
            <a:pPr>
              <a:buNone/>
            </a:pPr>
            <a:r>
              <a:rPr lang="en-US" sz="1100"/>
              <a:t>Plan to gather evidence that students can identify the known part and percent; recover the whole; verify by taking the stated percent. Review recent work and today’s warm-up to choose flexible groups and access supports; do not infer needs from identity or perceived ability. Use the existing lesson tasks and stated standards.</a:t>
            </a:r>
          </a:p>
          <a:p>
            <a:pPr>
              <a:buNone/>
            </a:pPr>
            <a:r>
              <a:rPr lang="en-US" sz="1100"/>
              <a:t>Anticipate: multiplying the part by the percent when solving for the whole. If observed, label the known part and the 100-percent position on the existing model. Offer oral rehearsal, drawing, pointing, or home-language processing as needed; retain the original mathematical demand. Ask students which support helps and fade it as evidence improves.</a:t>
            </a:r>
          </a:p>
          <a:p>
            <a:pPr>
              <a:buNone/>
            </a:pPr>
            <a:r>
              <a:rPr lang="en-US" sz="1100"/>
              <a:t>TEACH 6-7 | Before the first transition, agree on materials, partner roles, and how to request help. Invite students to restate the routine. Normalize revising an idea, recognize a specific contribution, and check privately when frustration blocks participation. Source: UIFR PDF pp. 13-14.</a:t>
            </a:r>
          </a:p>
        </p:txBody>
      </p:sp>
      <p:sp>
        <p:nvSpPr>
          <p:cNvPr id="257" name="Google Shape;257;p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p5: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3 | GOAL</a:t>
            </a:r>
          </a:p>
          <a:p xmlns:a="http://schemas.openxmlformats.org/drawingml/2006/main">
            <a:pPr>
              <a:buNone/>
            </a:pPr>
            <a:r>
              <a:rPr lang="en-US" sz="1100"/>
              <a:t>Focus on the existing task: Today’s Objectives Determine the Whole Given…</a:t>
            </a:r>
          </a:p>
          <a:p xmlns:a="http://schemas.openxmlformats.org/drawingml/2006/main">
            <a:pPr>
              <a:buNone/>
            </a:pPr>
            <a:r>
              <a:rPr lang="en-US" sz="1100"/>
              <a:t>CONNECT (T1/4): Ask students to restate the displayed goal or key idea and connect it to earlier work. Relevant lesson evidence: identify the known part and percent; recover the whole; verify by taking the stated percent.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dirty="0"/>
              <a:t>UIFR TEACH — Level 4 student move: Tell a partner the goal and why it matters.</a:t>
            </a:r>
          </a:p>
          <a:p>
            <a:r>
              <a:rPr lang="en-US"/>
              <a:t>Student move: Tell a partner the goal and why it matters.</a:t>
            </a:r>
          </a:p>
          <a:p>
            <a:pPr>
              <a:buNone/>
            </a:pPr>
            <a:r>
              <a:rPr lang="en-US" sz="1100"/>
              <a:t/>
            </a:r>
          </a:p>
          <a:p>
            <a:pPr>
              <a:buNone/>
            </a:pPr>
            <a:r>
              <a:rPr lang="en-US" sz="1100"/>
              <a:t>UIFR FULL | Lesson-specific facilitation</a:t>
            </a:r>
          </a:p>
          <a:p>
            <a:pPr>
              <a:buNone/>
            </a:pPr>
            <a:r>
              <a:rPr lang="en-US" sz="1100"/>
              <a:t>TEACH 1 | Session 1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the known part and percent; recover the whole; verify by taking the stated percent. Ask: “Which part of your work would show this?” Revisit that evidence after the task; a confidence rating alone is not evidence of understanding.</a:t>
            </a:r>
          </a:p>
        </p:txBody>
      </p:sp>
      <p:sp>
        <p:nvSpPr>
          <p:cNvPr id="317" name="Google Shape;317;p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7" name="Shape 337"/>
        <p:cNvGrpSpPr/>
        <p:nvPr/>
      </p:nvGrpSpPr>
      <p:grpSpPr>
        <a:xfrm>
          <a:off x="0" y="0"/>
          <a:ext cx="0" cy="0"/>
          <a:chOff x="0" y="0"/>
          <a:chExt cx="0" cy="0"/>
        </a:xfrm>
      </p:grpSpPr>
      <p:sp>
        <p:nvSpPr>
          <p:cNvPr id="338" name="Google Shape;338;p6: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12 | VOCAB</a:t>
            </a:r>
          </a:p>
          <a:p xmlns:a="http://schemas.openxmlformats.org/drawingml/2006/main">
            <a:pPr>
              <a:buNone/>
            </a:pPr>
            <a:r>
              <a:rPr lang="en-US" sz="1100"/>
              <a:t>Focus on the existing task: Vocabulary Today’s Math Words We learn every…</a:t>
            </a:r>
          </a:p>
          <a:p xmlns:a="http://schemas.openxmlformats.org/drawingml/2006/main">
            <a:pPr>
              <a:buNone/>
            </a:pPr>
            <a:r>
              <a:rPr lang="en-US" sz="1100"/>
              <a:t>ASK (T1/3/5): Where does “the displayed term”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dirty="0"/>
              <a:t>UIFR TEACH — Level 4 student move: Explain with today’s vocabulary; partner paraphrases.</a:t>
            </a:r>
          </a:p>
          <a:p>
            <a:r>
              <a:rPr lang="en-US"/>
              <a:t>Student move: Explain with today’s vocabulary; partner paraphrases.</a:t>
            </a:r>
          </a:p>
        </p:txBody>
      </p:sp>
      <p:sp>
        <p:nvSpPr>
          <p:cNvPr id="339" name="Google Shape;339;p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9" name="Shape 509"/>
        <p:cNvGrpSpPr/>
        <p:nvPr/>
      </p:nvGrpSpPr>
      <p:grpSpPr>
        <a:xfrm>
          <a:off x="0" y="0"/>
          <a:ext cx="0" cy="0"/>
          <a:chOff x="0" y="0"/>
          <a:chExt cx="0" cy="0"/>
        </a:xfrm>
      </p:grpSpPr>
      <p:sp>
        <p:nvSpPr>
          <p:cNvPr id="510" name="Google Shape;510;p14:notes"/>
          <p:cNvSpPr txBox="1"/>
          <p:nvPr>
            <p:ph idx="1" type="body"/>
          </p:nvPr>
        </p:nvSpPr>
        <p:spPr>
          <a:xfrm>
            <a:off x="701040" y="4444862"/>
            <a:ext cx="5608320" cy="3636705"/>
          </a:xfrm>
          <a:prstGeom prst="rect">
            <a:avLst/>
          </a:prstGeom>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2 | NOTES</a:t>
            </a:r>
          </a:p>
          <a:p xmlns:a="http://schemas.openxmlformats.org/drawingml/2006/main">
            <a:pPr>
              <a:buNone/>
            </a:pPr>
            <a:r>
              <a:rPr lang="en-US" sz="1100"/>
              <a:t>Focus on the existing task: Today’s Math Notes Section 2: Today’s Math…</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spcBef>
                <a:spcPts val="0"/>
              </a:spcBef>
              <a:spcAft>
                <a:spcPts val="0"/>
              </a:spcAft>
              <a:buNone/>
            </a:pPr>
            <a:r>
              <a:t/>
            </a:r>
            <a:endParaRPr/>
          </a:p>
          <a:p>
            <a:r>
              <a:rPr lang="en-US" dirty="0"/>
              <a:t>UIFR TEACH — Level 4 student move: Partner talk: connect today’s idea to prior learning.</a:t>
            </a:r>
          </a:p>
          <a:p>
            <a:r>
              <a:rPr lang="en-US"/>
              <a:t>Student move: Partner talk: connect today’s idea to prior learning.</a:t>
            </a:r>
          </a:p>
        </p:txBody>
      </p:sp>
      <p:sp>
        <p:nvSpPr>
          <p:cNvPr id="511" name="Google Shape;511;p1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6" name="Shape 556"/>
        <p:cNvGrpSpPr/>
        <p:nvPr/>
      </p:nvGrpSpPr>
      <p:grpSpPr>
        <a:xfrm>
          <a:off x="0" y="0"/>
          <a:ext cx="0" cy="0"/>
          <a:chOff x="0" y="0"/>
          <a:chExt cx="0" cy="0"/>
        </a:xfrm>
      </p:grpSpPr>
      <p:sp>
        <p:nvSpPr>
          <p:cNvPr id="557" name="Google Shape;557;p1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13 | TASK</a:t>
            </a:r>
          </a:p>
          <a:p xmlns:a="http://schemas.openxmlformats.org/drawingml/2006/main">
            <a:pPr>
              <a:buNone/>
            </a:pPr>
            <a:r>
              <a:rPr lang="en-US" sz="1100"/>
              <a:t>Focus on the existing task: Akela bought a sweater on sale for the price shown. He paid 60% of the original price. What was the original price of the sweater?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Ask a partner a question; choose a model together.</a:t>
            </a:r>
          </a:p>
          <a:p>
            <a:r>
              <a:rPr lang="en-US"/>
              <a:t>Student move: Ask a partner a question; choose a model together.</a:t>
            </a:r>
          </a:p>
          <a:p>
            <a:pPr>
              <a:buNone/>
            </a:pPr>
            <a:r>
              <a:rPr lang="en-US" sz="1100"/>
              <a:t/>
            </a:r>
          </a:p>
          <a:p>
            <a:pPr>
              <a:buNone/>
            </a:pPr>
            <a:r>
              <a:rPr lang="en-US" sz="1100"/>
              <a:t>UIFR FULL | Lesson-specific facilitation</a:t>
            </a:r>
          </a:p>
          <a:p>
            <a:pPr>
              <a:buNone/>
            </a:pPr>
            <a:r>
              <a:rPr lang="en-US" sz="1100"/>
              <a:t>TEACH 2-3 | Session 1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can you use your proposed whole to recover the known part?” Wait for evidence, invite another pathway, and have a student ask a follow-up question. Do not replace students’ reasoning with a sequence of leading steps.</a:t>
            </a:r>
          </a:p>
        </p:txBody>
      </p:sp>
      <p:sp>
        <p:nvSpPr>
          <p:cNvPr id="558" name="Google Shape;558;p1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p2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14 | REVEAL</a:t>
            </a:r>
          </a:p>
          <a:p xmlns:a="http://schemas.openxmlformats.org/drawingml/2006/main">
            <a:pPr>
              <a:buNone/>
            </a:pPr>
            <a:r>
              <a:rPr lang="en-US" sz="1100"/>
              <a:t>Focus on the existing task: Let’s use a double number line to represent the relationship. $42 represents is 60% of the original price. How can you determine the scale of the top number line?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what is known and what is unknown in this sale situation; here the part and percent are known and the whole is missing. Listen for students noticing this is the reverse of finding a part. Set up the double number line and ask where the unknown whole must sit, above 100 percent.</a:t>
            </a:r>
          </a:p>
        </p:txBody>
      </p:sp>
      <p:sp>
        <p:nvSpPr>
          <p:cNvPr id="622" name="Google Shape;622;p2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9" name="Shape 639"/>
        <p:cNvGrpSpPr/>
        <p:nvPr/>
      </p:nvGrpSpPr>
      <p:grpSpPr>
        <a:xfrm>
          <a:off x="0" y="0"/>
          <a:ext cx="0" cy="0"/>
          <a:chOff x="0" y="0"/>
          <a:chExt cx="0" cy="0"/>
        </a:xfrm>
      </p:grpSpPr>
      <p:sp>
        <p:nvSpPr>
          <p:cNvPr id="640" name="Google Shape;640;p2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15 | REVEAL</a:t>
            </a:r>
          </a:p>
          <a:p xmlns:a="http://schemas.openxmlformats.org/drawingml/2006/main">
            <a:pPr>
              <a:buNone/>
            </a:pPr>
            <a:r>
              <a:rPr lang="en-US" sz="1100"/>
              <a:t>Focus on the existing task: Let’s generate an equivalent ratio to find what 10% of the original price is. What percent represents the original price of the sweater?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what percent of the original price the sale price represents and how an equivalent ratio can walk back to 100 percent. Listen for scaling reasoning: what factor connects the given percent to 100. Watch for students scaling the money line without scaling the percent line by the same factor.</a:t>
            </a:r>
          </a:p>
        </p:txBody>
      </p:sp>
      <p:sp>
        <p:nvSpPr>
          <p:cNvPr id="641" name="Google Shape;641;p2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0" name="Shape 660"/>
        <p:cNvGrpSpPr/>
        <p:nvPr/>
      </p:nvGrpSpPr>
      <p:grpSpPr>
        <a:xfrm>
          <a:off x="0" y="0"/>
          <a:ext cx="0" cy="0"/>
          <a:chOff x="0" y="0"/>
          <a:chExt cx="0" cy="0"/>
        </a:xfrm>
      </p:grpSpPr>
      <p:sp>
        <p:nvSpPr>
          <p:cNvPr id="661" name="Google Shape;661;p28: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16 | COLLABORATE</a:t>
            </a:r>
          </a:p>
          <a:p xmlns:a="http://schemas.openxmlformats.org/drawingml/2006/main">
            <a:pPr>
              <a:buNone/>
            </a:pPr>
            <a:r>
              <a:rPr lang="en-US" sz="1100"/>
              <a:t>Focus on the existing task: The original price of the sweater is represented by 100%. How can you use the double number line to generate an equivalent ratio that represents the original price?</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Student-led talk: paraphrase, agree or disagree, add on.</a:t>
            </a:r>
          </a:p>
          <a:p>
            <a:r>
              <a:rPr lang="en-US"/>
              <a:t>Student move: Student-led talk: paraphrase, agree or disagree, add on.</a:t>
            </a: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1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multiplying the part by the percent when solving for the whole. If it appears, label the known part and the 100-percent position on the existing model; then ask the student to revise the same response and explain the change. If evidence is secure, have students compare a second valid pathway or state why their approach works. Choose the next step from the responses, not a preset pace.</a:t>
            </a:r>
          </a:p>
        </p:txBody>
      </p:sp>
      <p:sp>
        <p:nvSpPr>
          <p:cNvPr id="662" name="Google Shape;662;p28: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9" name="Shape 699"/>
        <p:cNvGrpSpPr/>
        <p:nvPr/>
      </p:nvGrpSpPr>
      <p:grpSpPr>
        <a:xfrm>
          <a:off x="0" y="0"/>
          <a:ext cx="0" cy="0"/>
          <a:chOff x="0" y="0"/>
          <a:chExt cx="0" cy="0"/>
        </a:xfrm>
      </p:grpSpPr>
      <p:sp>
        <p:nvSpPr>
          <p:cNvPr id="700" name="Google Shape;700;p3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17 | REVEAL</a:t>
            </a:r>
          </a:p>
          <a:p xmlns:a="http://schemas.openxmlformats.org/drawingml/2006/main">
            <a:pPr>
              <a:buNone/>
            </a:pPr>
            <a:r>
              <a:rPr lang="en-US" sz="1100"/>
              <a:t>Focus on the existing task: Explain. Sweater Sale Partner press: ask ‘Why?</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Partner press: ask ‘Why?’ and answer with evidence.</a:t>
            </a:r>
          </a:p>
          <a:p>
            <a:r>
              <a:rPr lang="en-US"/>
              <a:t>Student move: Partner press: ask ‘Why?’ and answer with evidence.</a:t>
            </a:r>
          </a:p>
        </p:txBody>
      </p:sp>
      <p:sp>
        <p:nvSpPr>
          <p:cNvPr id="701" name="Google Shape;701;p3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p36: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18 | WORKED</a:t>
            </a:r>
          </a:p>
          <a:p xmlns:a="http://schemas.openxmlformats.org/drawingml/2006/main">
            <a:pPr>
              <a:buNone/>
            </a:pPr>
            <a:r>
              <a:rPr lang="en-US" sz="1100"/>
              <a:t>Focus on the existing task: To keep equivalent ratios, divide the bottom row by the same number, 0.6. Sweater Sale</a:t>
            </a:r>
          </a:p>
          <a:p xmlns:a="http://schemas.openxmlformats.org/drawingml/2006/main">
            <a:pPr>
              <a:buNone/>
            </a:pPr>
            <a:r>
              <a:rPr lang="en-US" sz="1100"/>
              <a:t>LAUNCH (T2/3/5): Ask students to explain the displayed idea or example and point to evidence. When a calculation step is shown, ask why it is valid. Have a partner restate the explanation; copying is not the check.</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why dividing the bottom row keeps the ratio equivalent, and what the matching move on the top row must be. Listen for both rows changed by the same factor. A common slip is dividing one row only; have partners check each other’s tables row against row.</a:t>
            </a:r>
          </a:p>
        </p:txBody>
      </p:sp>
      <p:sp>
        <p:nvSpPr>
          <p:cNvPr id="735" name="Google Shape;735;p36: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9" name="Shape 759"/>
        <p:cNvGrpSpPr/>
        <p:nvPr/>
      </p:nvGrpSpPr>
      <p:grpSpPr>
        <a:xfrm>
          <a:off x="0" y="0"/>
          <a:ext cx="0" cy="0"/>
          <a:chOff x="0" y="0"/>
          <a:chExt cx="0" cy="0"/>
        </a:xfrm>
      </p:grpSpPr>
      <p:sp>
        <p:nvSpPr>
          <p:cNvPr id="760" name="Google Shape;760;p39: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20 | TASK</a:t>
            </a:r>
          </a:p>
          <a:p xmlns:a="http://schemas.openxmlformats.org/drawingml/2006/main">
            <a:pPr>
              <a:buNone/>
            </a:pPr>
            <a:r>
              <a:rPr lang="en-US" sz="1100"/>
              <a:t>Focus on the existing task: Akela bought a sweater on sale for the price shown. He paid 60% of the original price. What was the original price of the sweater?</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The reveal names the original price as 70 dollars. Have students verify it forward: does taking the sale percent of 70 return the sale price? Listen for students closing the loop with a check. Ask why checking forward catches mistakes that the backward work hides.</a:t>
            </a:r>
          </a:p>
        </p:txBody>
      </p:sp>
      <p:sp>
        <p:nvSpPr>
          <p:cNvPr id="761" name="Google Shape;761;p39: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75" name="Shape 775"/>
        <p:cNvGrpSpPr/>
        <p:nvPr/>
      </p:nvGrpSpPr>
      <p:grpSpPr>
        <a:xfrm>
          <a:off x="0" y="0"/>
          <a:ext cx="0" cy="0"/>
          <a:chOff x="0" y="0"/>
          <a:chExt cx="0" cy="0"/>
        </a:xfrm>
      </p:grpSpPr>
      <p:sp>
        <p:nvSpPr>
          <p:cNvPr id="776" name="Google Shape;776;p4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27 | DIVIDER</a:t>
            </a:r>
          </a:p>
          <a:p xmlns:a="http://schemas.openxmlformats.org/drawingml/2006/main">
            <a:pPr>
              <a:buNone/>
            </a:pPr>
            <a:r>
              <a:rPr lang="en-US" sz="1100"/>
              <a:t>Focus on the existing task: Determine the Whole Given the Part and Percent Session 2</a:t>
            </a:r>
          </a:p>
          <a:p xmlns:a="http://schemas.openxmlformats.org/drawingml/2006/main">
            <a:pPr>
              <a:buNone/>
            </a:pPr>
            <a:r>
              <a:rPr lang="en-US" sz="1100"/>
              <a:t>TRANSITION (T6/7): Students confirm materials, roles, how to request help, and the next response routine. Ask a student to restate it. Keep teacher-only slides hidden.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Session divider. Frame the goal: determine the whole when the part and percent are known. Ask students to name one situation from yesterday where they found a part, and predict how today’s problems flip that.</a:t>
            </a:r>
          </a:p>
        </p:txBody>
      </p:sp>
      <p:sp>
        <p:nvSpPr>
          <p:cNvPr id="777" name="Google Shape;777;p4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7" name="Shape 807"/>
        <p:cNvGrpSpPr/>
        <p:nvPr/>
      </p:nvGrpSpPr>
      <p:grpSpPr>
        <a:xfrm>
          <a:off x="0" y="0"/>
          <a:ext cx="0" cy="0"/>
          <a:chOff x="0" y="0"/>
          <a:chExt cx="0" cy="0"/>
        </a:xfrm>
      </p:grpSpPr>
      <p:sp>
        <p:nvSpPr>
          <p:cNvPr id="808" name="Google Shape;808;p44: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28 | TASK</a:t>
            </a:r>
          </a:p>
          <a:p xmlns:a="http://schemas.openxmlformats.org/drawingml/2006/main">
            <a:pPr>
              <a:buNone/>
            </a:pPr>
            <a:r>
              <a:rPr lang="en-US" sz="1100"/>
              <a:t>Focus on the existing task: Sheng’s parents bought a new car last year. Sheng looked up the car value online and saw that the value of their car is now $26,600. What was the value of the car when they bought it?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Share a connection to prior learning or lived experience.</a:t>
            </a:r>
          </a:p>
          <a:p>
            <a:r>
              <a:rPr lang="en-US"/>
              <a:t>Student move: Share a connection to prior learning or lived experience.</a:t>
            </a:r>
          </a:p>
          <a:p>
            <a:pPr>
              <a:buNone/>
            </a:pPr>
            <a:r>
              <a:rPr lang="en-US" sz="1100"/>
              <a:t/>
            </a:r>
          </a:p>
          <a:p>
            <a:pPr>
              <a:buNone/>
            </a:pPr>
            <a:r>
              <a:rPr lang="en-US" sz="1100"/>
              <a:t>UIFR FULL | Lesson-specific facilitation</a:t>
            </a:r>
          </a:p>
          <a:p>
            <a:pPr>
              <a:buNone/>
            </a:pPr>
            <a:r>
              <a:rPr lang="en-US" sz="1100"/>
              <a:t>TEACH 2-3 | Session 2 task launch (UIFR PDF pp. 9-10).</a:t>
            </a:r>
          </a:p>
          <a:p>
            <a:pPr>
              <a:buNone/>
            </a:pPr>
            <a:r>
              <a:rPr lang="en-US" sz="1100"/>
              <a:t>Use the problem exactly as displayed. Give individual thinking time before discussion or advancing to the explanation. If the answer is already visible, ask students to reconstruct and justify it. Invite a choice of suitable representations and have students explain why their choice helps.</a:t>
            </a:r>
          </a:p>
          <a:p>
            <a:pPr>
              <a:buNone/>
            </a:pPr>
            <a:r>
              <a:rPr lang="en-US" sz="1100"/>
              <a:t>At the point where this concept appears, ask: “How can you use your proposed whole to recover the known part?” Wait for evidence, invite another pathway, and have a student ask a follow-up question. Do not replace students’ reasoning with a sequence of leading steps.</a:t>
            </a:r>
          </a:p>
        </p:txBody>
      </p:sp>
      <p:sp>
        <p:nvSpPr>
          <p:cNvPr id="809" name="Google Shape;809;p44: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6" name="Shape 876"/>
        <p:cNvGrpSpPr/>
        <p:nvPr/>
      </p:nvGrpSpPr>
      <p:grpSpPr>
        <a:xfrm>
          <a:off x="0" y="0"/>
          <a:ext cx="0" cy="0"/>
          <a:chOff x="0" y="0"/>
          <a:chExt cx="0" cy="0"/>
        </a:xfrm>
      </p:grpSpPr>
      <p:sp>
        <p:nvSpPr>
          <p:cNvPr id="877" name="Google Shape;877;p5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29 | REVEAL</a:t>
            </a:r>
          </a:p>
          <a:p xmlns:a="http://schemas.openxmlformats.org/drawingml/2006/main">
            <a:pPr>
              <a:buNone/>
            </a:pPr>
            <a:r>
              <a:rPr lang="en-US" sz="1100"/>
              <a:t>Focus on the existing task: 70% of some number is $26,600. How can you find the unknown number?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students to translate the sentence into an equation before solving: 70 percent of what number is 26,600. Listen for 0.70 times the unknown equals 26,600. Watch for students multiplying 26,600 by 0.70, which answers a different question; ask them what their expression finds.</a:t>
            </a:r>
          </a:p>
        </p:txBody>
      </p:sp>
      <p:sp>
        <p:nvSpPr>
          <p:cNvPr id="878" name="Google Shape;878;p5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9" name="Shape 909"/>
        <p:cNvGrpSpPr/>
        <p:nvPr/>
      </p:nvGrpSpPr>
      <p:grpSpPr>
        <a:xfrm>
          <a:off x="0" y="0"/>
          <a:ext cx="0" cy="0"/>
          <a:chOff x="0" y="0"/>
          <a:chExt cx="0" cy="0"/>
        </a:xfrm>
      </p:grpSpPr>
      <p:sp>
        <p:nvSpPr>
          <p:cNvPr id="910" name="Google Shape;910;p55: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30 | REVEAL</a:t>
            </a:r>
          </a:p>
          <a:p xmlns:a="http://schemas.openxmlformats.org/drawingml/2006/main">
            <a:pPr>
              <a:buNone/>
            </a:pPr>
            <a:r>
              <a:rPr lang="en-US" sz="1100"/>
              <a:t>Focus on the existing task: How can you solve a multiplication equation with an unknown?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Ask why division undoes the multiplication in this equation. Listen for inverse-operation language, not just a move-the-number rule. Have students estimate first: the answer must be bigger than 26,600 since 26,600 is only 70 percent of it.</a:t>
            </a:r>
          </a:p>
        </p:txBody>
      </p:sp>
      <p:sp>
        <p:nvSpPr>
          <p:cNvPr id="911" name="Google Shape;911;p55: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p57: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31 | REVEAL</a:t>
            </a:r>
          </a:p>
          <a:p xmlns:a="http://schemas.openxmlformats.org/drawingml/2006/main">
            <a:pPr>
              <a:buNone/>
            </a:pPr>
            <a:r>
              <a:rPr lang="en-US" sz="1100"/>
              <a:t>Focus on the existing task: Let’s divide to solve for the unknown. 70% of what number is $26,600?</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The reveal interprets 38,000 as the original price of the car. Ask students to say what the number means in context, not just state it. Listen for the connection back to 70 percent: 70 percent of 38,000 is 26,600. Ask why the whole being larger than the part makes sense here.</a:t>
            </a:r>
          </a:p>
        </p:txBody>
      </p:sp>
      <p:sp>
        <p:nvSpPr>
          <p:cNvPr id="929" name="Google Shape;929;p57: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6" name="Shape 956"/>
        <p:cNvGrpSpPr/>
        <p:nvPr/>
      </p:nvGrpSpPr>
      <p:grpSpPr>
        <a:xfrm>
          <a:off x="0" y="0"/>
          <a:ext cx="0" cy="0"/>
          <a:chOff x="0" y="0"/>
          <a:chExt cx="0" cy="0"/>
        </a:xfrm>
      </p:grpSpPr>
      <p:sp>
        <p:nvSpPr>
          <p:cNvPr id="957" name="Google Shape;957;p60: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32 | COLLABORATE</a:t>
            </a:r>
          </a:p>
          <a:p xmlns:a="http://schemas.openxmlformats.org/drawingml/2006/main">
            <a:pPr>
              <a:buNone/>
            </a:pPr>
            <a:r>
              <a:rPr lang="en-US" sz="1100"/>
              <a:t>Focus on the existing task: Let’s try a similar problem. Yelina’s parents bought a new car three years ago. The value of their car is now $14,200. What was the value of the car when they bought it?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Student-led talk: assign roles and monitor group progress.</a:t>
            </a:r>
          </a:p>
          <a:p>
            <a:r>
              <a:rPr lang="en-US"/>
              <a:t>Student move: Student-led talk: assign roles and monitor group progress.</a:t>
            </a:r>
          </a:p>
          <a:p>
            <a:r>
              <a:rPr lang="en-US"/>
              <a:t>Routine: COLLABORATE  ·  TALK IT THROUGH • AGREE ON A MODEL</a:t>
            </a:r>
          </a:p>
          <a:p>
            <a:pPr>
              <a:buNone/>
            </a:pPr>
            <a:r>
              <a:rPr lang="en-US" sz="1100"/>
              <a:t/>
            </a:r>
          </a:p>
          <a:p>
            <a:pPr>
              <a:buNone/>
            </a:pPr>
            <a:r>
              <a:rPr lang="en-US" sz="1100"/>
              <a:t>UIFR FULL | Lesson-specific facilitation</a:t>
            </a:r>
          </a:p>
          <a:p>
            <a:pPr>
              <a:buNone/>
            </a:pPr>
            <a:r>
              <a:rPr lang="en-US" sz="1100"/>
              <a:t>TEACH 4-5 | Session 2 discussion and checkpoint (UIFR PDF pp. 11-12).</a:t>
            </a:r>
          </a:p>
          <a:p>
            <a:pPr>
              <a:buNone/>
            </a:pPr>
            <a:r>
              <a:rPr lang="en-US" sz="1100"/>
              <a:t>Collect a brief response from every student to the existing prompt before hearing volunteers. Partners take turns explaining and asking for evidence: “I understand ___; what supports ___?” Offer rehearsal or an annotated model for students who need language support. Each student records their own reasoning.</a:t>
            </a:r>
          </a:p>
          <a:p>
            <a:pPr>
              <a:buNone/>
            </a:pPr>
            <a:r>
              <a:rPr lang="en-US" sz="1100"/>
              <a:t>Look specifically for: multiplying the part by the percent when solving for the whole. If it appears, label the known part and the 100-percent position on the existing model; then ask the student to revise the same response and explain the change. If evidence is secure, have students compare a second valid pathway or state why their approach works. Choose the next step from the responses, not a preset pace.</a:t>
            </a:r>
          </a:p>
        </p:txBody>
      </p:sp>
      <p:sp>
        <p:nvSpPr>
          <p:cNvPr id="958" name="Google Shape;958;p60: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7" name="Shape 967"/>
        <p:cNvGrpSpPr/>
        <p:nvPr/>
      </p:nvGrpSpPr>
      <p:grpSpPr>
        <a:xfrm>
          <a:off x="0" y="0"/>
          <a:ext cx="0" cy="0"/>
          <a:chOff x="0" y="0"/>
          <a:chExt cx="0" cy="0"/>
        </a:xfrm>
      </p:grpSpPr>
      <p:sp>
        <p:nvSpPr>
          <p:cNvPr id="968" name="Google Shape;968;p61: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33 | PRACTICE</a:t>
            </a:r>
          </a:p>
          <a:p xmlns:a="http://schemas.openxmlformats.org/drawingml/2006/main">
            <a:pPr>
              <a:buNone/>
            </a:pPr>
            <a:r>
              <a:rPr lang="en-US" sz="1100"/>
              <a:t>Focus on the existing task: Is Sheng’s parents’ car worth more now or when they bought it?</a:t>
            </a:r>
          </a:p>
          <a:p xmlns:a="http://schemas.openxmlformats.org/drawingml/2006/main">
            <a:pPr>
              <a:buNone/>
            </a:pPr>
            <a:r>
              <a:rPr lang="en-US" sz="1100"/>
              <a:t>LAUNCH (T2/3/5): Use the displayed question. Give private thinking time; then A explains while B asks for evidence. Switch roles. Each student records their own reasoning.</a:t>
            </a:r>
          </a:p>
          <a:p xmlns:a="http://schemas.openxmlformats.org/drawingml/2006/main">
            <a:pPr>
              <a:buNone/>
            </a:pPr>
            <a:r>
              <a:rPr lang="en-US" sz="1100"/>
              <a:t>LOOK FOR (T4): Where this task addresses it, students can recover the whole.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Compare strategies; persist, revise, and try again.</a:t>
            </a:r>
          </a:p>
          <a:p>
            <a:r>
              <a:rPr lang="en-US"/>
              <a:t>Student move: Compare strategies; persist, revise, and try again.</a:t>
            </a:r>
          </a:p>
        </p:txBody>
      </p:sp>
      <p:sp>
        <p:nvSpPr>
          <p:cNvPr id="969" name="Google Shape;969;p61: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5" name="Shape 975"/>
        <p:cNvGrpSpPr/>
        <p:nvPr/>
      </p:nvGrpSpPr>
      <p:grpSpPr>
        <a:xfrm>
          <a:off x="0" y="0"/>
          <a:ext cx="0" cy="0"/>
          <a:chOff x="0" y="0"/>
          <a:chExt cx="0" cy="0"/>
        </a:xfrm>
      </p:grpSpPr>
      <p:sp>
        <p:nvSpPr>
          <p:cNvPr id="976" name="Google Shape;976;p62: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38 | SUMMARIZE</a:t>
            </a:r>
          </a:p>
          <a:p xmlns:a="http://schemas.openxmlformats.org/drawingml/2006/main">
            <a:pPr>
              <a:buNone/>
            </a:pPr>
            <a:r>
              <a:rPr lang="en-US" sz="1100"/>
              <a:t>Focus on the existing task: You can use a double number line, a table, or an equation to determine the whole given the part and percent. 70% of what number is $26,600?</a:t>
            </a:r>
          </a:p>
          <a:p xmlns:a="http://schemas.openxmlformats.org/drawingml/2006/main">
            <a:pPr>
              <a:buNone/>
            </a:pPr>
            <a:r>
              <a:rPr lang="en-US" sz="1100"/>
              <a:t>CONNECT (T1/4): Ask students to restate the displayed goal or key idea and connect it to earlier work. Relevant lesson evidence: identify the known part and percent; recover the whole; verify by taking the stated percent.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dirty="0"/>
              <a:t>UIFR TEACH — Level 4 student move: Compare pathways with a partner; name one revision.</a:t>
            </a:r>
          </a:p>
          <a:p>
            <a:r>
              <a:rPr lang="en-US"/>
              <a:t>Student move: Compare pathways with a partner; name one revision.</a:t>
            </a:r>
          </a:p>
          <a:p>
            <a:r>
              <a:rPr lang="en-US"/>
              <a:t>Routine: SUMMARIZE  ·  SAY IT IN YOUR OWN WORDS</a:t>
            </a:r>
          </a:p>
        </p:txBody>
      </p:sp>
      <p:sp>
        <p:nvSpPr>
          <p:cNvPr id="977" name="Google Shape;977;p62: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3" name="Shape 983"/>
        <p:cNvGrpSpPr/>
        <p:nvPr/>
      </p:nvGrpSpPr>
      <p:grpSpPr>
        <a:xfrm>
          <a:off x="0" y="0"/>
          <a:ext cx="0" cy="0"/>
          <a:chOff x="0" y="0"/>
          <a:chExt cx="0" cy="0"/>
        </a:xfrm>
      </p:grpSpPr>
      <p:sp>
        <p:nvSpPr>
          <p:cNvPr id="984" name="Google Shape;984;p63:notes"/>
          <p:cNvSpPr txBox="1"/>
          <p:nvPr>
            <p:ph idx="1" type="body"/>
          </p:nvPr>
        </p:nvSpPr>
        <p:spPr>
          <a:xfrm>
            <a:off x="701040" y="4444862"/>
            <a:ext cx="5608320" cy="3636705"/>
          </a:xfrm>
          <a:prstGeom prst="rect">
            <a:avLst/>
          </a:prstGeom>
          <a:noFill/>
          <a:ln>
            <a:noFill/>
          </a:ln>
        </p:spPr>
        <p:txBody>
          <a:bodyPr anchorCtr="0" anchor="t" bIns="46125" lIns="92275" spcFirstLastPara="1" rIns="92275" wrap="square" tIns="46125">
            <a:noAutofit/>
          </a:bodyPr>
          <a:lstStyle/>
          <a:p xmlns:a="http://schemas.openxmlformats.org/drawingml/2006/main">
            <a:pPr>
              <a:buNone/>
            </a:pPr>
            <a:r>
              <a:rPr lang="en-US" sz="1100"/>
              <a:t>TEACH IN PRACTICE | Embedded facilitation | Lesson 4.5, slide 39 | APPLY</a:t>
            </a:r>
          </a:p>
          <a:p xmlns:a="http://schemas.openxmlformats.org/drawingml/2006/main">
            <a:pPr>
              <a:buNone/>
            </a:pPr>
            <a:r>
              <a:rPr lang="en-US" sz="1100"/>
              <a:t>Focus on the existing task: The percentage of each type of puzzle in a toy store before a sale is shown. During the sale, the store sold all of the 300-piece and…</a:t>
            </a:r>
          </a:p>
          <a:p xmlns:a="http://schemas.openxmlformats.org/drawingml/2006/main">
            <a:pPr>
              <a:buNone/>
            </a:pPr>
            <a:r>
              <a:rPr lang="en-US" sz="1100"/>
              <a:t>LAUNCH (T2/3/5): Use the exact application task independently first. Ask students to justify their choice of method. Collect evidence before a partner discussion or correction.</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pPr indent="0" lvl="0" marL="0" rtl="0" algn="l">
              <a:lnSpc>
                <a:spcPct val="100000"/>
              </a:lnSpc>
              <a:spcBef>
                <a:spcPts val="0"/>
              </a:spcBef>
              <a:spcAft>
                <a:spcPts val="0"/>
              </a:spcAft>
              <a:buSzPts val="1400"/>
              <a:buNone/>
            </a:pPr>
            <a:r>
              <a:t/>
            </a:r>
            <a:endParaRPr/>
          </a:p>
          <a:p>
            <a:r>
              <a:rPr lang="en-US"/>
              <a:t>Routine: APPLY  ·  PLAN IT • SOLVE IT • PROVE IT</a:t>
            </a:r>
          </a:p>
          <a:p>
            <a:pPr>
              <a:buNone/>
            </a:pPr>
            <a:r>
              <a:rPr lang="en-US" sz="1100"/>
              <a:t/>
            </a:r>
          </a:p>
          <a:p>
            <a:pPr>
              <a:buNone/>
            </a:pPr>
            <a:r>
              <a:rPr lang="en-US" sz="1100"/>
              <a:t>UIFR FULL | Lesson-specific facilitation</a:t>
            </a:r>
          </a:p>
          <a:p>
            <a:pPr>
              <a:buNone/>
            </a:pPr>
            <a:r>
              <a:rPr lang="en-US" sz="1100"/>
              <a:t>TEACH 4 | Independent evidence and revision (UIFR PDF p. 11).</a:t>
            </a:r>
          </a:p>
          <a:p>
            <a:pPr>
              <a:buNone/>
            </a:pPr>
            <a:r>
              <a:rPr lang="en-US" sz="1100"/>
              <a:t>Use the existing application/exit problem as the independent check. If this is a learning-target slide, have students point to and explain their work on the preceding task. Separate initial independent evidence from the revision after feedback.</a:t>
            </a:r>
          </a:p>
          <a:p>
            <a:pPr>
              <a:buNone/>
            </a:pPr>
            <a:r>
              <a:rPr lang="en-US" sz="1100"/>
              <a:t>Check the relevant criteria: identify the known part and percent; recover the whole; verify by taking the stated percent. Respond with one specific next step tied to the work. Students revise and annotate what changed, then identify a criterion they can now demonstrate and one they still need to practice.</a:t>
            </a:r>
          </a:p>
          <a:p>
            <a:pPr>
              <a:buNone/>
            </a:pPr>
            <a:r>
              <a:rPr lang="en-US" sz="1100"/>
              <a:t>REFLECT &amp; ADJUST 1-2 | After the lesson (UIFR PDF pp. 15-16).</a:t>
            </a:r>
          </a:p>
          <a:p>
            <a:pPr>
              <a:buNone/>
            </a:pPr>
            <a:r>
              <a:rPr lang="en-US" sz="1100"/>
              <a:t>Sort the existing work by demonstrated reasoning, partial understanding, and the specific misconception: multiplying the part by the percent when solving for the whole. Compare the initial response with the revision. Record which teaching move plausibly helped, which did not, and whose participation or access needs a different approach; do not record sensitive student details in this shared deck.</a:t>
            </a:r>
          </a:p>
          <a:p>
            <a:pPr>
              <a:buNone/>
            </a:pPr>
            <a:r>
              <a:rPr lang="en-US" sz="1100"/>
              <a:t>Plan the next lesson from that evidence: if the misconception persists, label the known part and the 100-percent position on the existing model using the current example before returning to the next grade-level task; if understanding is secure, use an existing extension or ask for a general explanation. Check the targeted idea again at the next warm-up.</a:t>
            </a:r>
          </a:p>
          <a:p>
            <a:pPr>
              <a:buNone/>
            </a:pPr>
            <a:r>
              <a:rPr lang="en-US" sz="1100"/>
              <a:t>Ask students what supported their thinking and what would help next time. Identify one change to try and one successful practice to retain. Seek colleague feedback on anonymized work when useful; these prompts support reflection and do not establish an evaluation rating. Source: Baltimore City Public Schools, Updated Instructional Framework Rubric, June 2020 (UIFR_Full.pdf).</a:t>
            </a:r>
          </a:p>
        </p:txBody>
      </p:sp>
      <p:sp>
        <p:nvSpPr>
          <p:cNvPr id="985" name="Google Shape;985;p63:notes"/>
          <p:cNvSpPr/>
          <p:nvPr>
            <p:ph idx="2" type="sldImg"/>
          </p:nvPr>
        </p:nvSpPr>
        <p:spPr>
          <a:xfrm>
            <a:off x="736600" y="1154113"/>
            <a:ext cx="5537200" cy="3116262"/>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4.5, slide 25 | WARMUP</a:t>
            </a:r>
          </a:p>
          <a:p xmlns:a="http://schemas.openxmlformats.org/drawingml/2006/main">
            <a:pPr>
              <a:buNone/>
            </a:pPr>
            <a:r>
              <a:rPr lang="en-US" sz="1100"/>
              <a:t>Focus on the existing task: A 28 B 70 C 140 D 280 2 To find the whole given the part and percent, calculate: A Part × Percent B Part ÷ (Percent as decimal) C Whole − Part D Percent ÷ Part 3 If 50% of x is 45, what is x?</a:t>
            </a:r>
          </a:p>
          <a:p xmlns:a="http://schemas.openxmlformats.org/drawingml/2006/main">
            <a:pPr>
              <a:buNone/>
            </a:pPr>
            <a:r>
              <a:rPr lang="en-US" sz="1100"/>
              <a:t>GATHER EVIDENCE (T4/6): Keep the original items. Students try independently, mark an uncertain item, and explain one method before checking. Use the existing key when present.</a:t>
            </a:r>
          </a:p>
          <a:p xmlns:a="http://schemas.openxmlformats.org/drawingml/2006/main">
            <a:pPr>
              <a:buNone/>
            </a:pPr>
            <a:r>
              <a:rPr lang="en-US" sz="1100"/>
              <a:t>RESPOND: Distinguish a calculation slip from a reasoning gap. Give one next step on the same item; have students revise in a second color. Use the responses to choose flexible support for today’s lesson.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Warm-up routine: students start silently on entry; keep it to about 4 minutes.</a:t>
            </a:r>
          </a:p>
          <a:p>
            <a:r>
              <a:t>Circulate and note who is stuck — use what you see to choose who you check on first today.</a:t>
            </a:r>
          </a:p>
          <a:p>
            <a:r>
              <a:t>Go over answers quickly; ask one student to explain a step, not just say the answer.</a:t>
            </a:r>
          </a:p>
          <a:p>
            <a:r>
              <a:t>UIFR: TEACH 4 · TEACH 6.</a:t>
            </a:r>
          </a:p>
          <a:p>
            <a:pPr>
              <a:buNone/>
            </a:pPr>
            <a:r>
              <a:rPr lang="en-US" sz="1100"/>
              <a:t/>
            </a:r>
          </a:p>
          <a:p>
            <a:pPr>
              <a:buNone/>
            </a:pPr>
            <a:r>
              <a:rPr lang="en-US" sz="1100"/>
              <a:t>UIFR FULL | Lesson-specific facilitation</a:t>
            </a:r>
          </a:p>
          <a:p>
            <a:pPr>
              <a:buNone/>
            </a:pPr>
            <a:r>
              <a:rPr lang="en-US" sz="1100"/>
              <a:t>TEACH 1 | Session 2 purpose and evidence (UIFR PDF p. 8).</a:t>
            </a:r>
          </a:p>
          <a:p>
            <a:pPr>
              <a:buNone/>
            </a:pPr>
            <a:r>
              <a:rPr lang="en-US" sz="1100"/>
              <a:t>Have students restate the displayed session goal in their own words and connect it to the existing context or a familiar experience they choose to share. Use the current session goal to select from these lesson-wide evidence criteria; do not frontload a later-session procedure.</a:t>
            </a:r>
          </a:p>
          <a:p>
            <a:pPr>
              <a:buNone/>
            </a:pPr>
            <a:r>
              <a:rPr lang="en-US" sz="1100"/>
              <a:t>Look for: identify the known part and percent; recover the whole; verify by taking the stated percent. Ask: “Which part of your work would show this?” Revisit that evidence after the task; a confidence rating alone is not evidence of understanding.</a:t>
            </a:r>
          </a:p>
        </p:txBody>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Notes Placeholder"/>
          <p:cNvSpPr txBox="1"/>
          <p:nvPr>
            <p:ph idx="1" type="body"/>
          </p:nvPr>
        </p:nvSpPr>
        <p:spPr>
          <a:xfrm>
            <a:off x="701040" y="4444862"/>
            <a:ext cx="5608320" cy="3636705"/>
          </a:xfrm>
          <a:prstGeom prst="rect">
            <a:avLst/>
          </a:prstGeom>
          <a:noFill/>
          <a:ln>
            <a:noFill/>
          </a:ln>
        </p:spPr>
        <p:txBody>
          <a:bodyPr anchor="t" wrap="square">
            <a:noAutofit/>
          </a:bodyPr>
          <a:lstStyle/>
          <a:p xmlns:a="http://schemas.openxmlformats.org/drawingml/2006/main">
            <a:pPr>
              <a:buNone/>
            </a:pPr>
            <a:r>
              <a:rPr lang="en-US" sz="1100"/>
              <a:t>TEACH IN PRACTICE | Embedded facilitation | Lesson 4.5, slide 26 | NOTES</a:t>
            </a:r>
          </a:p>
          <a:p xmlns:a="http://schemas.openxmlformats.org/drawingml/2006/main">
            <a:pPr>
              <a:buNone/>
            </a:pPr>
            <a:r>
              <a:rPr lang="en-US" sz="1100"/>
              <a:t>Focus on the existing task: Review Notes Review Notes — Session 2 Copy…</a:t>
            </a:r>
          </a:p>
          <a:p xmlns:a="http://schemas.openxmlformats.org/drawingml/2006/main">
            <a:pPr>
              <a:buNone/>
            </a:pPr>
            <a:r>
              <a:rPr lang="en-US" sz="1100"/>
              <a:t>ROUTINE (T1/2/4): Read or copy the original notes, cover one line, and explain it using the displayed example. Reopen and correct. Copying alone is not evidence of understanding.</a:t>
            </a:r>
          </a:p>
          <a:p xmlns:a="http://schemas.openxmlformats.org/drawingml/2006/main">
            <a:pPr>
              <a:buNone/>
            </a:pPr>
            <a:r>
              <a:rPr lang="en-US" sz="1100"/>
              <a:t>LOOK FOR: A link between a symbol, quantity or feature and the explanation. If missing, point back to that feature and have the student try again; fade the prompt once they can explain.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 Earlier notes and answer keys are retained below.</a:t>
            </a:r>
          </a:p>
          <a:p xmlns:a="http://schemas.openxmlformats.org/drawingml/2006/main">
            <a:pPr>
              <a:buNone/>
            </a:pPr>
            <a:r>
              <a:rPr lang="en-US" sz="1100"/>
              <a:t/>
            </a:r>
          </a:p>
          <a:p xmlns:a="http://schemas.openxmlformats.org/drawingml/2006/main">
            <a:pPr>
              <a:buNone/>
            </a:pPr>
            <a:r>
              <a:rPr lang="en-US" sz="1100"/>
              <a:t>EARLIER NOTES / EXISTING ANSWER KEY</a:t>
            </a:r>
          </a:p>
          <a:p>
            <a:r>
              <a:t>Copy routine: read one line at a time; students copy, then explain that line to a partner.</a:t>
            </a:r>
          </a:p>
          <a:p>
            <a:r>
              <a:t>Keep it brisk — the understanding work happens in the examples, not the copying.</a:t>
            </a:r>
          </a:p>
          <a:p>
            <a:r>
              <a:t>UIFR: TEACH 1 · TEACH 6.</a:t>
            </a:r>
          </a:p>
        </p:txBody>
      </p:sp>
    </p:spTree>
  </p:cSld>
  <p:clrMapOvr>
    <a:masterClrMapping/>
  </p:clrMapOvr>
</p:notes>
</file>

<file path=ppt/notesSlides/notesSlide6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4 | PRIOR_INSERT</a:t>
            </a:r>
          </a:p>
          <a:p xmlns:a="http://schemas.openxmlformats.org/drawingml/2006/main">
            <a:pPr>
              <a:buNone/>
            </a:pPr>
            <a:r>
              <a:rPr lang="en-US" sz="1100"/>
              <a:t>Focus on the existing task: LESSON 4.5 / OUR LEARNING What will show your learning?</a:t>
            </a:r>
          </a:p>
          <a:p xmlns:a="http://schemas.openxmlformats.org/drawingml/2006/main">
            <a:pPr>
              <a:buNone/>
            </a:pPr>
            <a:r>
              <a:rPr lang="en-US" sz="1100"/>
              <a:t>CONNECT (T1/4): Ask students to restate the displayed goal or key idea and connect it to earlier work. Relevant lesson evidence: identify the known part and percent; recover the whole; verify by taking the stated percent.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5 | VOCAB</a:t>
            </a:r>
          </a:p>
          <a:p xmlns:a="http://schemas.openxmlformats.org/drawingml/2006/main">
            <a:pPr>
              <a:buNone/>
            </a:pPr>
            <a:r>
              <a:rPr lang="en-US" sz="1100"/>
              <a:t>Focus on the existing task: Vocabulary 1 of 6 Determine the Whole Given…</a:t>
            </a:r>
          </a:p>
          <a:p xmlns:a="http://schemas.openxmlformats.org/drawingml/2006/main">
            <a:pPr>
              <a:buNone/>
            </a:pPr>
            <a:r>
              <a:rPr lang="en-US" sz="1100"/>
              <a:t>ASK (T1/3/5): Where does “Determine the Whole Given the Part and Percent”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6 | VOCAB</a:t>
            </a:r>
          </a:p>
          <a:p xmlns:a="http://schemas.openxmlformats.org/drawingml/2006/main">
            <a:pPr>
              <a:buNone/>
            </a:pPr>
            <a:r>
              <a:rPr lang="en-US" sz="1100"/>
              <a:t>Focus on the existing task: Vocabulary 2 of 6 Part The amount you…</a:t>
            </a:r>
          </a:p>
          <a:p xmlns:a="http://schemas.openxmlformats.org/drawingml/2006/main">
            <a:pPr>
              <a:buNone/>
            </a:pPr>
            <a:r>
              <a:rPr lang="en-US" sz="1100"/>
              <a:t>ASK (T1/3/5): Where does “Part”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6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7 | VOCAB</a:t>
            </a:r>
          </a:p>
          <a:p xmlns:a="http://schemas.openxmlformats.org/drawingml/2006/main">
            <a:pPr>
              <a:buNone/>
            </a:pPr>
            <a:r>
              <a:rPr lang="en-US" sz="1100"/>
              <a:t>Focus on the existing task: Vocabulary 3 of 6 Whole The full amount the…</a:t>
            </a:r>
          </a:p>
          <a:p xmlns:a="http://schemas.openxmlformats.org/drawingml/2006/main">
            <a:pPr>
              <a:buNone/>
            </a:pPr>
            <a:r>
              <a:rPr lang="en-US" sz="1100"/>
              <a:t>ASK (T1/3/5): Where does “Whole”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8 | VOCAB</a:t>
            </a:r>
          </a:p>
          <a:p xmlns:a="http://schemas.openxmlformats.org/drawingml/2006/main">
            <a:pPr>
              <a:buNone/>
            </a:pPr>
            <a:r>
              <a:rPr lang="en-US" sz="1100"/>
              <a:t>Focus on the existing task: Vocabulary 4 of 6 Double number line Two…</a:t>
            </a:r>
          </a:p>
          <a:p xmlns:a="http://schemas.openxmlformats.org/drawingml/2006/main">
            <a:pPr>
              <a:buNone/>
            </a:pPr>
            <a:r>
              <a:rPr lang="en-US" sz="1100"/>
              <a:t>ASK (T1/3/5): Where does “Double number line”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9 | VOCAB</a:t>
            </a:r>
          </a:p>
          <a:p xmlns:a="http://schemas.openxmlformats.org/drawingml/2006/main">
            <a:pPr>
              <a:buNone/>
            </a:pPr>
            <a:r>
              <a:rPr lang="en-US" sz="1100"/>
              <a:t>Focus on the existing task: Vocabulary 5 of 6 Equation A math sentence…</a:t>
            </a:r>
          </a:p>
          <a:p xmlns:a="http://schemas.openxmlformats.org/drawingml/2006/main">
            <a:pPr>
              <a:buNone/>
            </a:pPr>
            <a:r>
              <a:rPr lang="en-US" sz="1100"/>
              <a:t>ASK (T1/3/5): Where does “Equation”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10 | VOCAB</a:t>
            </a:r>
          </a:p>
          <a:p xmlns:a="http://schemas.openxmlformats.org/drawingml/2006/main">
            <a:pPr>
              <a:buNone/>
            </a:pPr>
            <a:r>
              <a:rPr lang="en-US" sz="1100"/>
              <a:t>Focus on the existing task: Vocabulary 6 of 6 Percent A ratio comparing…</a:t>
            </a:r>
          </a:p>
          <a:p xmlns:a="http://schemas.openxmlformats.org/drawingml/2006/main">
            <a:pPr>
              <a:buNone/>
            </a:pPr>
            <a:r>
              <a:rPr lang="en-US" sz="1100"/>
              <a:t>ASK (T1/3/5): Where does “Percent” appear in the example? Explain the meaning without reading the definition. Partner: restate the idea and ask a clarifying question.</a:t>
            </a:r>
          </a:p>
          <a:p xmlns:a="http://schemas.openxmlformats.org/drawingml/2006/main">
            <a:pPr>
              <a:buNone/>
            </a:pPr>
            <a:r>
              <a:rPr lang="en-US" sz="1100"/>
              <a:t>LOOK FOR: A correct connection between the word and a feature of the example. If the student only repeats the definition, invite pointing, sketching or oral rehearsal, then ask for another explanation of this same example.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11 | CURIOUS</a:t>
            </a:r>
          </a:p>
          <a:p xmlns:a="http://schemas.openxmlformats.org/drawingml/2006/main">
            <a:pPr>
              <a:buNone/>
            </a:pPr>
            <a:r>
              <a:rPr lang="en-US" sz="1100"/>
              <a:t>Focus on the existing task: What do you notice?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4.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19 | PRIOR_INSERT</a:t>
            </a:r>
          </a:p>
          <a:p xmlns:a="http://schemas.openxmlformats.org/drawingml/2006/main">
            <a:pPr>
              <a:buNone/>
            </a:pPr>
            <a:r>
              <a:rPr lang="en-US" sz="1100"/>
              <a:t>Focus on the existing task: Point to evidence in your work. Then compare your approach with a partner’s. TAKE TURNS Explain “I know this because…” Ask “Where does your work show that?</a:t>
            </a:r>
          </a:p>
          <a:p xmlns:a="http://schemas.openxmlformats.org/drawingml/2006/main">
            <a:pPr>
              <a:buNone/>
            </a:pPr>
            <a:r>
              <a:rPr lang="en-US" sz="1100"/>
              <a:t>CONNECT (T1/4): Ask students to restate the displayed goal or key idea and connect it to earlier work. Relevant lesson evidence: identify the known part and percent; recover the whole; verify by taking the stated percent.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5.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21 | REVEAL</a:t>
            </a:r>
          </a:p>
          <a:p xmlns:a="http://schemas.openxmlformats.org/drawingml/2006/main">
            <a:pPr>
              <a:buNone/>
            </a:pPr>
            <a:r>
              <a:rPr lang="en-US" sz="1100"/>
              <a:t>Focus on the existing task: $42 represents 60% of the original price. What tool can you use to display the relationship between the price, in dollars, and the percent of the original price?</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6.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22 | REVEAL</a:t>
            </a:r>
          </a:p>
          <a:p xmlns:a="http://schemas.openxmlformats.org/drawingml/2006/main">
            <a:pPr>
              <a:buNone/>
            </a:pPr>
            <a:r>
              <a:rPr lang="en-US" sz="1100"/>
              <a:t>Focus on the existing task: What is another way you can generate equivalent ratios?</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7.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23 | REVEAL</a:t>
            </a:r>
          </a:p>
          <a:p xmlns:a="http://schemas.openxmlformats.org/drawingml/2006/main">
            <a:pPr>
              <a:buNone/>
            </a:pPr>
            <a:r>
              <a:rPr lang="en-US" sz="1100"/>
              <a:t>Focus on the existing task: Let’s use a table of equivalent ratios to find the original price. 60% of the original price is $42. Reveal: We can multiply or…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8.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24 | CURIOUS</a:t>
            </a:r>
          </a:p>
          <a:p xmlns:a="http://schemas.openxmlformats.org/drawingml/2006/main">
            <a:pPr>
              <a:buNone/>
            </a:pPr>
            <a:r>
              <a:rPr lang="en-US" sz="1100"/>
              <a:t>Focus on the existing task: What could the question be?</a:t>
            </a:r>
          </a:p>
          <a:p xmlns:a="http://schemas.openxmlformats.org/drawingml/2006/main">
            <a:pPr>
              <a:buNone/>
            </a:pPr>
            <a:r>
              <a:rPr lang="en-US" sz="1100"/>
              <a:t>LAUNCH (T2/3/5): Allow quiet observation first. Separate a notice from an inference, invite students’ own questions, and follow the existing launch before teaching a procedure.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79.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34 | PRIOR_INSERT</a:t>
            </a:r>
          </a:p>
          <a:p xmlns:a="http://schemas.openxmlformats.org/drawingml/2006/main">
            <a:pPr>
              <a:buNone/>
            </a:pPr>
            <a:r>
              <a:rPr lang="en-US" sz="1100"/>
              <a:t>Focus on the existing task: LESSON 4.5 / CHECK YOUR WORK Pause. Check. Improve. Listen to understand. Ask for evidence. Make room for every voice. CHECK A mistake…</a:t>
            </a:r>
          </a:p>
          <a:p xmlns:a="http://schemas.openxmlformats.org/drawingml/2006/main">
            <a:pPr>
              <a:buNone/>
            </a:pPr>
            <a:r>
              <a:rPr lang="en-US" sz="1100"/>
              <a:t>CONNECT (T1/4): Ask students to restate the displayed goal or key idea and connect it to earlier work. Relevant lesson evidence: identify the known part and percent; recover the whole; verify by taking the stated percent.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0.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35 | REVEAL</a:t>
            </a:r>
          </a:p>
          <a:p xmlns:a="http://schemas.openxmlformats.org/drawingml/2006/main">
            <a:pPr>
              <a:buNone/>
            </a:pPr>
            <a:r>
              <a:rPr lang="en-US" sz="1100"/>
              <a:t>Focus on the existing task: 70% of some number is $26,600. How can you find the unknown number?</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1.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36 | REVEAL</a:t>
            </a:r>
          </a:p>
          <a:p xmlns:a="http://schemas.openxmlformats.org/drawingml/2006/main">
            <a:pPr>
              <a:buNone/>
            </a:pPr>
            <a:r>
              <a:rPr lang="en-US" sz="1100"/>
              <a:t>Focus on the existing task: How can you solve a multiplication equation with an unknown?</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2.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37 | REVEAL</a:t>
            </a:r>
          </a:p>
          <a:p xmlns:a="http://schemas.openxmlformats.org/drawingml/2006/main">
            <a:pPr>
              <a:buNone/>
            </a:pPr>
            <a:r>
              <a:rPr lang="en-US" sz="1100"/>
              <a:t>Focus on the existing task: Let’s divide to solve for the unknown. 70% of what number is $26,600?</a:t>
            </a:r>
          </a:p>
          <a:p xmlns:a="http://schemas.openxmlformats.org/drawingml/2006/main">
            <a:pPr>
              <a:buNone/>
            </a:pPr>
            <a:r>
              <a:rPr lang="en-US" sz="1100"/>
              <a:t>LAUNCH (T2/3/5): If an existing answer cover is present, gather an attempt before revealing. If the explanation is already visible, ask students to reconstruct and justify it. Compare reasoning and explain a revision; preserve the reveal sequence.</a:t>
            </a:r>
          </a:p>
          <a:p xmlns:a="http://schemas.openxmlformats.org/drawingml/2006/main">
            <a:pPr>
              <a:buNone/>
            </a:pPr>
            <a:r>
              <a:rPr lang="en-US" sz="1100"/>
              <a:t>LOOK FOR (T4): Where this task addresses it, students can identify the known part and percent. Ask which feature of their work supports the claim.</a:t>
            </a:r>
          </a:p>
          <a:p xmlns:a="http://schemas.openxmlformats.org/drawingml/2006/main">
            <a:pPr>
              <a:buNone/>
            </a:pPr>
            <a:r>
              <a:rPr lang="en-US" sz="1100"/>
              <a:t>RESPOND: If this task shows the lesson misconception—multiplying the part by the percent when solving for the whole—label the known part and the 100-percent position on the existing model. Have the student revise and explain the change. Use this support only where the concept occurs in the current task; otherwise respond to the displayed question.</a:t>
            </a:r>
          </a:p>
          <a:p xmlns:a="http://schemas.openxmlformats.org/drawingml/2006/main">
            <a:pPr>
              <a:buNone/>
            </a:pPr>
            <a:r>
              <a:rPr lang="en-US" sz="1100"/>
              <a:t>RECHECK: If a gap is shared, revisit the existing representation together. If it is limited, give targeted support while others compare valid methods on the same task. Check the revision before moving on.</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notesSlides/notesSlide83.xml><?xml version="1.0" encoding="utf-8"?>
<p:notes xmlns:p="http://schemas.openxmlformats.org/presentationml/2006/main" xmlns:a="http://schemas.openxmlformats.org/drawingml/2006/main">
  <p:cSld>
    <p:spTree>
      <p:nvGrpSpPr>
        <p:cNvPr id="1" name=""/>
        <p:cNvGrpSpPr/>
        <p:nvPr/>
      </p:nvGrpSpPr>
      <p:grpSpPr/>
      <p:sp>
        <p:nvSpPr>
          <p:cNvPr id="2" name="Notes Text"/>
          <p:cNvSpPr txBox="1"/>
          <p:nvPr>
            <p:ph type="body" idx="1"/>
          </p:nvPr>
        </p:nvSpPr>
        <p:spPr/>
        <p:txBody>
          <a:bodyPr/>
          <a:lstStyle/>
          <a:p xmlns:a="http://schemas.openxmlformats.org/drawingml/2006/main">
            <a:pPr>
              <a:buNone/>
            </a:pPr>
            <a:r>
              <a:rPr lang="en-US" sz="1100"/>
              <a:t>TEACH IN PRACTICE | Embedded facilitation | Lesson 4.5, slide 40 | PRIOR_INSERT</a:t>
            </a:r>
          </a:p>
          <a:p xmlns:a="http://schemas.openxmlformats.org/drawingml/2006/main">
            <a:pPr>
              <a:buNone/>
            </a:pPr>
            <a:r>
              <a:rPr lang="en-US" sz="1100"/>
              <a:t>Focus on the existing task: LESSON 4.5 / REFLECT ON YOUR LEARNING Show your progress Listen to understand. Ask for evidence. Make room for every voice. 1 SHOW…</a:t>
            </a:r>
          </a:p>
          <a:p xmlns:a="http://schemas.openxmlformats.org/drawingml/2006/main">
            <a:pPr>
              <a:buNone/>
            </a:pPr>
            <a:r>
              <a:rPr lang="en-US" sz="1100"/>
              <a:t>CONNECT (T1/4): Ask students to restate the displayed goal or key idea and connect it to earlier work. Relevant lesson evidence: identify the known part and percent; recover the whole; verify by taking the stated percent. Use only the criterion that matches the current session.</a:t>
            </a:r>
          </a:p>
          <a:p xmlns:a="http://schemas.openxmlformats.org/drawingml/2006/main">
            <a:pPr>
              <a:buNone/>
            </a:pPr>
            <a:r>
              <a:rPr lang="en-US" sz="1100"/>
              <a:t>SHOW PROGRESS: Students point to their own existing work, explain what improved after feedback, and name a next step. Pair confidence ratings with actual evidence.</a:t>
            </a:r>
          </a:p>
          <a:p xmlns:a="http://schemas.openxmlformats.org/drawingml/2006/main">
            <a:pPr>
              <a:buNone/>
            </a:pPr>
            <a:r>
              <a:rPr lang="en-US" sz="1100"/>
              <a:t>PARTICIPATION (T5/6/7): Think time before volunteers; accept a written, drawn or rehearsed entry. Students ask for evidence respectfully. Recognize a specific contribution or revision and check that both partners participate.</a:t>
            </a:r>
          </a:p>
          <a:p xmlns:a="http://schemas.openxmlformats.org/drawingml/2006/main">
            <a:pPr>
              <a:buNone/>
            </a:pPr>
            <a:r>
              <a:rPr lang="en-US" sz="1100"/>
              <a:t>Source: BCPS Updated Instructional Framework Rubric (June 2020), TEACH 1–7.</a:t>
            </a:r>
          </a:p>
          <a:p xmlns:a="http://schemas.openxmlformats.org/drawingml/2006/main">
            <a:pPr>
              <a:buNone/>
            </a:pPr>
            <a:r>
              <a:rPr lang="en-US" sz="1100"/>
              <a:t/>
            </a:r>
          </a:p>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2_Title Slide Photo">
  <p:cSld name="2_Title Slide Photo">
    <p:spTree>
      <p:nvGrpSpPr>
        <p:cNvPr id="15" name="Shape 15"/>
        <p:cNvGrpSpPr/>
        <p:nvPr/>
      </p:nvGrpSpPr>
      <p:grpSpPr>
        <a:xfrm>
          <a:off x="0" y="0"/>
          <a:ext cx="0" cy="0"/>
          <a:chOff x="0" y="0"/>
          <a:chExt cx="0" cy="0"/>
        </a:xfrm>
      </p:grpSpPr>
    </p:spTree>
  </p:cSld>
  <p:clrMapOvr>
    <a:masterClrMapping/>
  </p:clrMapOvr>
  <p:extLst>
    <p:ext uri="{DCECCB84-F9BA-43D5-87BE-67443E8EF086}">
      <p15:sldGuideLst>
        <p15:guide id="1" orient="horz" pos="96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1-column">
  <p:cSld name="Content 1-column">
    <p:spTree>
      <p:nvGrpSpPr>
        <p:cNvPr id="16" name="Shape 16"/>
        <p:cNvGrpSpPr/>
        <p:nvPr/>
      </p:nvGrpSpPr>
      <p:grpSpPr>
        <a:xfrm>
          <a:off x="0" y="0"/>
          <a:ext cx="0" cy="0"/>
          <a:chOff x="0" y="0"/>
          <a:chExt cx="0" cy="0"/>
        </a:xfrm>
      </p:grpSpPr>
      <p:sp>
        <p:nvSpPr>
          <p:cNvPr id="17" name="Google Shape;17;p3"/>
          <p:cNvSpPr txBox="1"/>
          <p:nvPr>
            <p:ph idx="12" type="sldNum"/>
          </p:nvPr>
        </p:nvSpPr>
        <p:spPr>
          <a:xfrm>
            <a:off x="10436045" y="6528815"/>
            <a:ext cx="1278151" cy="228600"/>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900"/>
              <a:buFont typeface="Arial"/>
              <a:buNone/>
              <a:defRPr b="0" i="0" sz="9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18" name="Google Shape;18;p3"/>
          <p:cNvSpPr txBox="1"/>
          <p:nvPr/>
        </p:nvSpPr>
        <p:spPr>
          <a:xfrm>
            <a:off x="490549" y="6528816"/>
            <a:ext cx="2072640" cy="228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9" name="Google Shape;19;p3"/>
          <p:cNvSpPr txBox="1"/>
          <p:nvPr>
            <p:ph idx="11" type="ftr"/>
          </p:nvPr>
        </p:nvSpPr>
        <p:spPr>
          <a:xfrm>
            <a:off x="1402828" y="6528816"/>
            <a:ext cx="7315200" cy="228600"/>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900" u="none" cap="none" strike="noStrike">
                <a:solidFill>
                  <a:schemeClr val="dk2"/>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extLst>
    <p:ext uri="{DCECCB84-F9BA-43D5-87BE-67443E8EF086}">
      <p15:sldGuideLst>
        <p15:guide id="1" orient="horz" pos="3772">
          <p15:clr>
            <a:srgbClr val="FBAE40"/>
          </p15:clr>
        </p15:guide>
        <p15:guide id="2" orient="horz" pos="804">
          <p15:clr>
            <a:srgbClr val="FBAE40"/>
          </p15:clr>
        </p15:guide>
        <p15:guide id="3" pos="384">
          <p15:clr>
            <a:srgbClr val="FBAE40"/>
          </p15:clr>
        </p15:guide>
        <p15:guide id="4" pos="3940">
          <p15:clr>
            <a:srgbClr val="FBAE40"/>
          </p15:clr>
        </p15:guide>
        <p15:guide id="5" pos="40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26" name="Shape 26"/>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7" name="Shape 27"/>
        <p:cNvGrpSpPr/>
        <p:nvPr/>
      </p:nvGrpSpPr>
      <p:grpSpPr>
        <a:xfrm>
          <a:off x="0" y="0"/>
          <a:ext cx="0" cy="0"/>
          <a:chOff x="0" y="0"/>
          <a:chExt cx="0" cy="0"/>
        </a:xfrm>
      </p:grpSpPr>
      <p:sp>
        <p:nvSpPr>
          <p:cNvPr id="28" name="Google Shape;28;p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9" name="Google Shape;29;p6"/>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30" name="Google Shape;30;p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1" name="Google Shape;31;p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2" name="Google Shape;32;p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3" name="Shape 33"/>
        <p:cNvGrpSpPr/>
        <p:nvPr/>
      </p:nvGrpSpPr>
      <p:grpSpPr>
        <a:xfrm>
          <a:off x="0" y="0"/>
          <a:ext cx="0" cy="0"/>
          <a:chOff x="0" y="0"/>
          <a:chExt cx="0" cy="0"/>
        </a:xfrm>
      </p:grpSpPr>
      <p:sp>
        <p:nvSpPr>
          <p:cNvPr id="34" name="Google Shape;34;p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35" name="Google Shape;35;p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36" name="Google Shape;36;p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7" name="Google Shape;37;p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38" name="Google Shape;38;p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9" name="Shape 39"/>
        <p:cNvGrpSpPr/>
        <p:nvPr/>
      </p:nvGrpSpPr>
      <p:grpSpPr>
        <a:xfrm>
          <a:off x="0" y="0"/>
          <a:ext cx="0" cy="0"/>
          <a:chOff x="0" y="0"/>
          <a:chExt cx="0" cy="0"/>
        </a:xfrm>
      </p:grpSpPr>
      <p:sp>
        <p:nvSpPr>
          <p:cNvPr id="40" name="Google Shape;40;p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1" name="Google Shape;41;p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2" name="Google Shape;42;p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43" name="Google Shape;43;p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4" name="Google Shape;44;p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45" name="Google Shape;45;p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6" name="Shape 46"/>
        <p:cNvGrpSpPr/>
        <p:nvPr/>
      </p:nvGrpSpPr>
      <p:grpSpPr>
        <a:xfrm>
          <a:off x="0" y="0"/>
          <a:ext cx="0" cy="0"/>
          <a:chOff x="0" y="0"/>
          <a:chExt cx="0" cy="0"/>
        </a:xfrm>
      </p:grpSpPr>
      <p:sp>
        <p:nvSpPr>
          <p:cNvPr id="47" name="Google Shape;47;p9"/>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48" name="Google Shape;48;p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49" name="Google Shape;49;p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0" name="Google Shape;50;p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51" name="Google Shape;51;p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52" name="Google Shape;52;p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3" name="Google Shape;53;p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4" name="Google Shape;54;p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5" name="Shape 55"/>
        <p:cNvGrpSpPr/>
        <p:nvPr/>
      </p:nvGrpSpPr>
      <p:grpSpPr>
        <a:xfrm>
          <a:off x="0" y="0"/>
          <a:ext cx="0" cy="0"/>
          <a:chOff x="0" y="0"/>
          <a:chExt cx="0" cy="0"/>
        </a:xfrm>
      </p:grpSpPr>
      <p:sp>
        <p:nvSpPr>
          <p:cNvPr id="56" name="Google Shape;56;p1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57" name="Google Shape;57;p1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8" name="Google Shape;58;p1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59" name="Google Shape;59;p1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0" name="Shape 60"/>
        <p:cNvGrpSpPr/>
        <p:nvPr/>
      </p:nvGrpSpPr>
      <p:grpSpPr>
        <a:xfrm>
          <a:off x="0" y="0"/>
          <a:ext cx="0" cy="0"/>
          <a:chOff x="0" y="0"/>
          <a:chExt cx="0" cy="0"/>
        </a:xfrm>
      </p:grpSpPr>
      <p:sp>
        <p:nvSpPr>
          <p:cNvPr id="61" name="Google Shape;61;p1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2" name="Google Shape;62;p1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3" name="Google Shape;63;p1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64" name="Shape 64"/>
        <p:cNvGrpSpPr/>
        <p:nvPr/>
      </p:nvGrpSpPr>
      <p:grpSpPr>
        <a:xfrm>
          <a:off x="0" y="0"/>
          <a:ext cx="0" cy="0"/>
          <a:chOff x="0" y="0"/>
          <a:chExt cx="0" cy="0"/>
        </a:xfrm>
      </p:grpSpPr>
      <p:sp>
        <p:nvSpPr>
          <p:cNvPr id="65" name="Google Shape;65;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66" name="Google Shape;66;p12"/>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67" name="Google Shape;67;p12"/>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68" name="Google Shape;68;p1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69" name="Google Shape;69;p1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0" name="Google Shape;70;p1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71" name="Shape 71"/>
        <p:cNvGrpSpPr/>
        <p:nvPr/>
      </p:nvGrpSpPr>
      <p:grpSpPr>
        <a:xfrm>
          <a:off x="0" y="0"/>
          <a:ext cx="0" cy="0"/>
          <a:chOff x="0" y="0"/>
          <a:chExt cx="0" cy="0"/>
        </a:xfrm>
      </p:grpSpPr>
      <p:sp>
        <p:nvSpPr>
          <p:cNvPr id="72" name="Google Shape;72;p1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73" name="Google Shape;73;p13"/>
          <p:cNvSpPr/>
          <p:nvPr>
            <p:ph idx="2" type="pic"/>
          </p:nvPr>
        </p:nvSpPr>
        <p:spPr>
          <a:xfrm>
            <a:off x="5183188" y="987425"/>
            <a:ext cx="6172200" cy="4873625"/>
          </a:xfrm>
          <a:prstGeom prst="rect">
            <a:avLst/>
          </a:prstGeom>
          <a:noFill/>
          <a:ln>
            <a:noFill/>
          </a:ln>
        </p:spPr>
      </p:sp>
      <p:sp>
        <p:nvSpPr>
          <p:cNvPr id="74" name="Google Shape;74;p1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75" name="Google Shape;75;p1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6" name="Google Shape;76;p1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77" name="Google Shape;77;p1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8" name="Shape 78"/>
        <p:cNvGrpSpPr/>
        <p:nvPr/>
      </p:nvGrpSpPr>
      <p:grpSpPr>
        <a:xfrm>
          <a:off x="0" y="0"/>
          <a:ext cx="0" cy="0"/>
          <a:chOff x="0" y="0"/>
          <a:chExt cx="0" cy="0"/>
        </a:xfrm>
      </p:grpSpPr>
      <p:sp>
        <p:nvSpPr>
          <p:cNvPr id="79" name="Google Shape;79;p1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0" name="Google Shape;80;p14"/>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1" name="Google Shape;81;p1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2" name="Google Shape;82;p1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3" name="Google Shape;83;p1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84" name="Shape 84"/>
        <p:cNvGrpSpPr/>
        <p:nvPr/>
      </p:nvGrpSpPr>
      <p:grpSpPr>
        <a:xfrm>
          <a:off x="0" y="0"/>
          <a:ext cx="0" cy="0"/>
          <a:chOff x="0" y="0"/>
          <a:chExt cx="0" cy="0"/>
        </a:xfrm>
      </p:grpSpPr>
      <p:sp>
        <p:nvSpPr>
          <p:cNvPr id="85" name="Google Shape;85;p15"/>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6" name="Google Shape;86;p15"/>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7" name="Google Shape;87;p1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8" name="Google Shape;88;p1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89" name="Google Shape;89;p1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6" name="Shape 96"/>
        <p:cNvGrpSpPr/>
        <p:nvPr/>
      </p:nvGrpSpPr>
      <p:grpSpPr>
        <a:xfrm>
          <a:off x="0" y="0"/>
          <a:ext cx="0" cy="0"/>
          <a:chOff x="0" y="0"/>
          <a:chExt cx="0" cy="0"/>
        </a:xfrm>
      </p:grpSpPr>
      <p:sp>
        <p:nvSpPr>
          <p:cNvPr id="97" name="Google Shape;97;p1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8" name="Google Shape;98;p1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99" name="Google Shape;99;p1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0" name="Shape 100"/>
        <p:cNvGrpSpPr/>
        <p:nvPr/>
      </p:nvGrpSpPr>
      <p:grpSpPr>
        <a:xfrm>
          <a:off x="0" y="0"/>
          <a:ext cx="0" cy="0"/>
          <a:chOff x="0" y="0"/>
          <a:chExt cx="0" cy="0"/>
        </a:xfrm>
      </p:grpSpPr>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01" name="Shape 101"/>
        <p:cNvGrpSpPr/>
        <p:nvPr/>
      </p:nvGrpSpPr>
      <p:grpSpPr>
        <a:xfrm>
          <a:off x="0" y="0"/>
          <a:ext cx="0" cy="0"/>
          <a:chOff x="0" y="0"/>
          <a:chExt cx="0" cy="0"/>
        </a:xfrm>
      </p:grpSpPr>
      <p:sp>
        <p:nvSpPr>
          <p:cNvPr id="102" name="Google Shape;102;p19"/>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3" name="Google Shape;103;p19"/>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04" name="Google Shape;104;p1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5" name="Google Shape;105;p1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06" name="Google Shape;106;p1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7" name="Shape 107"/>
        <p:cNvGrpSpPr/>
        <p:nvPr/>
      </p:nvGrpSpPr>
      <p:grpSpPr>
        <a:xfrm>
          <a:off x="0" y="0"/>
          <a:ext cx="0" cy="0"/>
          <a:chOff x="0" y="0"/>
          <a:chExt cx="0" cy="0"/>
        </a:xfrm>
      </p:grpSpPr>
      <p:sp>
        <p:nvSpPr>
          <p:cNvPr id="108" name="Google Shape;108;p20"/>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09" name="Google Shape;109;p20"/>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10" name="Google Shape;110;p2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1" name="Google Shape;111;p2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2" name="Google Shape;112;p2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13" name="Shape 113"/>
        <p:cNvGrpSpPr/>
        <p:nvPr/>
      </p:nvGrpSpPr>
      <p:grpSpPr>
        <a:xfrm>
          <a:off x="0" y="0"/>
          <a:ext cx="0" cy="0"/>
          <a:chOff x="0" y="0"/>
          <a:chExt cx="0" cy="0"/>
        </a:xfrm>
      </p:grpSpPr>
      <p:sp>
        <p:nvSpPr>
          <p:cNvPr id="114" name="Google Shape;114;p21"/>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5" name="Google Shape;115;p21"/>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6" name="Google Shape;116;p21"/>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17" name="Google Shape;117;p2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8" name="Google Shape;118;p2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19" name="Google Shape;119;p2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20" name="Shape 120"/>
        <p:cNvGrpSpPr/>
        <p:nvPr/>
      </p:nvGrpSpPr>
      <p:grpSpPr>
        <a:xfrm>
          <a:off x="0" y="0"/>
          <a:ext cx="0" cy="0"/>
          <a:chOff x="0" y="0"/>
          <a:chExt cx="0" cy="0"/>
        </a:xfrm>
      </p:grpSpPr>
      <p:sp>
        <p:nvSpPr>
          <p:cNvPr id="121" name="Google Shape;121;p22"/>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22" name="Google Shape;122;p22"/>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3" name="Google Shape;123;p22"/>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4" name="Google Shape;124;p22"/>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25" name="Google Shape;125;p22"/>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26" name="Google Shape;126;p2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7" name="Google Shape;127;p2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28" name="Google Shape;128;p2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9" name="Shape 129"/>
        <p:cNvGrpSpPr/>
        <p:nvPr/>
      </p:nvGrpSpPr>
      <p:grpSpPr>
        <a:xfrm>
          <a:off x="0" y="0"/>
          <a:ext cx="0" cy="0"/>
          <a:chOff x="0" y="0"/>
          <a:chExt cx="0" cy="0"/>
        </a:xfrm>
      </p:grpSpPr>
      <p:sp>
        <p:nvSpPr>
          <p:cNvPr id="130" name="Google Shape;130;p23"/>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1" name="Google Shape;131;p2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2" name="Google Shape;132;p2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3" name="Google Shape;133;p2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34" name="Shape 134"/>
        <p:cNvGrpSpPr/>
        <p:nvPr/>
      </p:nvGrpSpPr>
      <p:grpSpPr>
        <a:xfrm>
          <a:off x="0" y="0"/>
          <a:ext cx="0" cy="0"/>
          <a:chOff x="0" y="0"/>
          <a:chExt cx="0" cy="0"/>
        </a:xfrm>
      </p:grpSpPr>
      <p:sp>
        <p:nvSpPr>
          <p:cNvPr id="135" name="Google Shape;135;p2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36" name="Google Shape;136;p2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137" name="Google Shape;137;p2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38" name="Google Shape;138;p2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39" name="Google Shape;139;p2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0" name="Google Shape;140;p2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41" name="Shape 141"/>
        <p:cNvGrpSpPr/>
        <p:nvPr/>
      </p:nvGrpSpPr>
      <p:grpSpPr>
        <a:xfrm>
          <a:off x="0" y="0"/>
          <a:ext cx="0" cy="0"/>
          <a:chOff x="0" y="0"/>
          <a:chExt cx="0" cy="0"/>
        </a:xfrm>
      </p:grpSpPr>
      <p:sp>
        <p:nvSpPr>
          <p:cNvPr id="142" name="Google Shape;142;p25"/>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43" name="Google Shape;143;p25"/>
          <p:cNvSpPr/>
          <p:nvPr>
            <p:ph idx="2" type="pic"/>
          </p:nvPr>
        </p:nvSpPr>
        <p:spPr>
          <a:xfrm>
            <a:off x="5183188" y="987425"/>
            <a:ext cx="6172200" cy="4873625"/>
          </a:xfrm>
          <a:prstGeom prst="rect">
            <a:avLst/>
          </a:prstGeom>
          <a:noFill/>
          <a:ln>
            <a:noFill/>
          </a:ln>
        </p:spPr>
      </p:sp>
      <p:sp>
        <p:nvSpPr>
          <p:cNvPr id="144" name="Google Shape;144;p25"/>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145" name="Google Shape;145;p2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6" name="Google Shape;146;p2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47" name="Google Shape;147;p2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8" name="Shape 148"/>
        <p:cNvGrpSpPr/>
        <p:nvPr/>
      </p:nvGrpSpPr>
      <p:grpSpPr>
        <a:xfrm>
          <a:off x="0" y="0"/>
          <a:ext cx="0" cy="0"/>
          <a:chOff x="0" y="0"/>
          <a:chExt cx="0" cy="0"/>
        </a:xfrm>
      </p:grpSpPr>
      <p:sp>
        <p:nvSpPr>
          <p:cNvPr id="149" name="Google Shape;149;p26"/>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0" name="Google Shape;150;p26"/>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1" name="Google Shape;151;p2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2" name="Google Shape;152;p2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3" name="Google Shape;153;p2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54" name="Shape 154"/>
        <p:cNvGrpSpPr/>
        <p:nvPr/>
      </p:nvGrpSpPr>
      <p:grpSpPr>
        <a:xfrm>
          <a:off x="0" y="0"/>
          <a:ext cx="0" cy="0"/>
          <a:chOff x="0" y="0"/>
          <a:chExt cx="0" cy="0"/>
        </a:xfrm>
      </p:grpSpPr>
      <p:sp>
        <p:nvSpPr>
          <p:cNvPr id="155" name="Google Shape;155;p27"/>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56" name="Google Shape;156;p27"/>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57" name="Google Shape;157;p2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8" name="Google Shape;158;p2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59" name="Google Shape;159;p2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65" name="Shape 165"/>
        <p:cNvGrpSpPr/>
        <p:nvPr/>
      </p:nvGrpSpPr>
      <p:grpSpPr>
        <a:xfrm>
          <a:off x="0" y="0"/>
          <a:ext cx="0" cy="0"/>
          <a:chOff x="0" y="0"/>
          <a:chExt cx="0" cy="0"/>
        </a:xfrm>
      </p:grpSpPr>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66" name="Shape 166"/>
        <p:cNvGrpSpPr/>
        <p:nvPr/>
      </p:nvGrpSpPr>
      <p:grpSpPr>
        <a:xfrm>
          <a:off x="0" y="0"/>
          <a:ext cx="0" cy="0"/>
          <a:chOff x="0" y="0"/>
          <a:chExt cx="0" cy="0"/>
        </a:xfrm>
      </p:grpSpPr>
      <p:sp>
        <p:nvSpPr>
          <p:cNvPr id="167" name="Google Shape;167;p30"/>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68" name="Google Shape;168;p30"/>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69" name="Google Shape;169;p30"/>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0" name="Google Shape;170;p30"/>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1" name="Google Shape;171;p30"/>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1"/>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6000"/>
              <a:buFont typeface="Calibri"/>
              <a:buNone/>
              <a:defRPr b="0" i="0" sz="60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74" name="Google Shape;174;p31"/>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rgbClr val="888888"/>
              </a:buClr>
              <a:buSzPts val="2400"/>
              <a:buFont typeface="Arial"/>
              <a:buNone/>
              <a:defRPr b="0" i="0" sz="2400" u="none" cap="none" strike="noStrike">
                <a:solidFill>
                  <a:srgbClr val="888888"/>
                </a:solidFill>
                <a:latin typeface="Calibri"/>
                <a:ea typeface="Calibri"/>
                <a:cs typeface="Calibri"/>
                <a:sym typeface="Calibri"/>
              </a:defRPr>
            </a:lvl1pPr>
            <a:lvl2pPr indent="-228600" lvl="1" marL="914400" marR="0" rtl="0" algn="l">
              <a:lnSpc>
                <a:spcPct val="90000"/>
              </a:lnSpc>
              <a:spcBef>
                <a:spcPts val="500"/>
              </a:spcBef>
              <a:spcAft>
                <a:spcPts val="0"/>
              </a:spcAft>
              <a:buClr>
                <a:srgbClr val="888888"/>
              </a:buClr>
              <a:buSzPts val="2000"/>
              <a:buFont typeface="Arial"/>
              <a:buNone/>
              <a:defRPr b="0" i="0" sz="2000" u="none" cap="none" strike="noStrike">
                <a:solidFill>
                  <a:srgbClr val="888888"/>
                </a:solidFill>
                <a:latin typeface="Calibri"/>
                <a:ea typeface="Calibri"/>
                <a:cs typeface="Calibri"/>
                <a:sym typeface="Calibri"/>
              </a:defRPr>
            </a:lvl2pPr>
            <a:lvl3pPr indent="-228600" lvl="2" marL="1371600" marR="0" rtl="0" algn="l">
              <a:lnSpc>
                <a:spcPct val="90000"/>
              </a:lnSpc>
              <a:spcBef>
                <a:spcPts val="500"/>
              </a:spcBef>
              <a:spcAft>
                <a:spcPts val="0"/>
              </a:spcAft>
              <a:buClr>
                <a:srgbClr val="888888"/>
              </a:buClr>
              <a:buSzPts val="1800"/>
              <a:buFont typeface="Arial"/>
              <a:buNone/>
              <a:defRPr b="0" i="0" sz="1800" u="none" cap="none" strike="noStrike">
                <a:solidFill>
                  <a:srgbClr val="888888"/>
                </a:solidFill>
                <a:latin typeface="Calibri"/>
                <a:ea typeface="Calibri"/>
                <a:cs typeface="Calibri"/>
                <a:sym typeface="Calibri"/>
              </a:defRPr>
            </a:lvl3pPr>
            <a:lvl4pPr indent="-228600" lvl="3" marL="1828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4pPr>
            <a:lvl5pPr indent="-228600" lvl="4" marL="22860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5pPr>
            <a:lvl6pPr indent="-228600" lvl="5" marL="27432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6pPr>
            <a:lvl7pPr indent="-228600" lvl="6" marL="32004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7pPr>
            <a:lvl8pPr indent="-228600" lvl="7" marL="36576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8pPr>
            <a:lvl9pPr indent="-228600" lvl="8" marL="4114800" marR="0" rtl="0" algn="l">
              <a:lnSpc>
                <a:spcPct val="90000"/>
              </a:lnSpc>
              <a:spcBef>
                <a:spcPts val="500"/>
              </a:spcBef>
              <a:spcAft>
                <a:spcPts val="0"/>
              </a:spcAft>
              <a:buClr>
                <a:srgbClr val="888888"/>
              </a:buClr>
              <a:buSzPts val="1600"/>
              <a:buFont typeface="Arial"/>
              <a:buNone/>
              <a:defRPr b="0" i="0" sz="1600" u="none" cap="none" strike="noStrike">
                <a:solidFill>
                  <a:srgbClr val="888888"/>
                </a:solidFill>
                <a:latin typeface="Calibri"/>
                <a:ea typeface="Calibri"/>
                <a:cs typeface="Calibri"/>
                <a:sym typeface="Calibri"/>
              </a:defRPr>
            </a:lvl9pPr>
          </a:lstStyle>
          <a:p/>
        </p:txBody>
      </p:sp>
      <p:sp>
        <p:nvSpPr>
          <p:cNvPr id="175" name="Google Shape;175;p31"/>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6" name="Google Shape;176;p31"/>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77" name="Google Shape;177;p31"/>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78" name="Shape 178"/>
        <p:cNvGrpSpPr/>
        <p:nvPr/>
      </p:nvGrpSpPr>
      <p:grpSpPr>
        <a:xfrm>
          <a:off x="0" y="0"/>
          <a:ext cx="0" cy="0"/>
          <a:chOff x="0" y="0"/>
          <a:chExt cx="0" cy="0"/>
        </a:xfrm>
      </p:grpSpPr>
      <p:sp>
        <p:nvSpPr>
          <p:cNvPr id="179" name="Google Shape;179;p32"/>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0" name="Google Shape;180;p32"/>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1" name="Google Shape;181;p32"/>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2" name="Google Shape;182;p32"/>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3" name="Google Shape;183;p32"/>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84" name="Google Shape;184;p32"/>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85" name="Shape 185"/>
        <p:cNvGrpSpPr/>
        <p:nvPr/>
      </p:nvGrpSpPr>
      <p:grpSpPr>
        <a:xfrm>
          <a:off x="0" y="0"/>
          <a:ext cx="0" cy="0"/>
          <a:chOff x="0" y="0"/>
          <a:chExt cx="0" cy="0"/>
        </a:xfrm>
      </p:grpSpPr>
      <p:sp>
        <p:nvSpPr>
          <p:cNvPr id="186" name="Google Shape;186;p33"/>
          <p:cNvSpPr txBox="1"/>
          <p:nvPr>
            <p:ph type="title"/>
          </p:nvPr>
        </p:nvSpPr>
        <p:spPr>
          <a:xfrm>
            <a:off x="839788"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87" name="Google Shape;187;p33"/>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88" name="Google Shape;188;p33"/>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9" name="Google Shape;189;p33"/>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2400"/>
              <a:buFont typeface="Arial"/>
              <a:buNone/>
              <a:defRPr b="1" i="0" sz="24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2000"/>
              <a:buFont typeface="Arial"/>
              <a:buNone/>
              <a:defRPr b="1" i="0" sz="20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800"/>
              <a:buFont typeface="Arial"/>
              <a:buNone/>
              <a:defRPr b="1" i="0" sz="18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600"/>
              <a:buFont typeface="Arial"/>
              <a:buNone/>
              <a:defRPr b="1" i="0" sz="1600" u="none" cap="none" strike="noStrike">
                <a:solidFill>
                  <a:schemeClr val="dk1"/>
                </a:solidFill>
                <a:latin typeface="Calibri"/>
                <a:ea typeface="Calibri"/>
                <a:cs typeface="Calibri"/>
                <a:sym typeface="Calibri"/>
              </a:defRPr>
            </a:lvl9pPr>
          </a:lstStyle>
          <a:p/>
        </p:txBody>
      </p:sp>
      <p:sp>
        <p:nvSpPr>
          <p:cNvPr id="190" name="Google Shape;190;p33"/>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91" name="Google Shape;191;p33"/>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2" name="Google Shape;192;p33"/>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3" name="Google Shape;193;p33"/>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4" name="Shape 194"/>
        <p:cNvGrpSpPr/>
        <p:nvPr/>
      </p:nvGrpSpPr>
      <p:grpSpPr>
        <a:xfrm>
          <a:off x="0" y="0"/>
          <a:ext cx="0" cy="0"/>
          <a:chOff x="0" y="0"/>
          <a:chExt cx="0" cy="0"/>
        </a:xfrm>
      </p:grpSpPr>
      <p:sp>
        <p:nvSpPr>
          <p:cNvPr id="195" name="Google Shape;195;p34"/>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96" name="Google Shape;196;p34"/>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7" name="Google Shape;197;p34"/>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198" name="Google Shape;198;p34"/>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99" name="Shape 199"/>
        <p:cNvGrpSpPr/>
        <p:nvPr/>
      </p:nvGrpSpPr>
      <p:grpSpPr>
        <a:xfrm>
          <a:off x="0" y="0"/>
          <a:ext cx="0" cy="0"/>
          <a:chOff x="0" y="0"/>
          <a:chExt cx="0" cy="0"/>
        </a:xfrm>
      </p:grpSpPr>
      <p:sp>
        <p:nvSpPr>
          <p:cNvPr id="200" name="Google Shape;200;p35"/>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1" name="Google Shape;201;p35"/>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2" name="Google Shape;202;p35"/>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3" name="Shape 203"/>
        <p:cNvGrpSpPr/>
        <p:nvPr/>
      </p:nvGrpSpPr>
      <p:grpSpPr>
        <a:xfrm>
          <a:off x="0" y="0"/>
          <a:ext cx="0" cy="0"/>
          <a:chOff x="0" y="0"/>
          <a:chExt cx="0" cy="0"/>
        </a:xfrm>
      </p:grpSpPr>
      <p:sp>
        <p:nvSpPr>
          <p:cNvPr id="204" name="Google Shape;204;p36"/>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05" name="Google Shape;205;p36"/>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marR="0" rtl="0" algn="l">
              <a:lnSpc>
                <a:spcPct val="90000"/>
              </a:lnSpc>
              <a:spcBef>
                <a:spcPts val="100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lnSpc>
                <a:spcPct val="90000"/>
              </a:lnSpc>
              <a:spcBef>
                <a:spcPts val="5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206" name="Google Shape;206;p36"/>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07" name="Google Shape;207;p36"/>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8" name="Google Shape;208;p36"/>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09" name="Google Shape;209;p36"/>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0" name="Shape 210"/>
        <p:cNvGrpSpPr/>
        <p:nvPr/>
      </p:nvGrpSpPr>
      <p:grpSpPr>
        <a:xfrm>
          <a:off x="0" y="0"/>
          <a:ext cx="0" cy="0"/>
          <a:chOff x="0" y="0"/>
          <a:chExt cx="0" cy="0"/>
        </a:xfrm>
      </p:grpSpPr>
      <p:sp>
        <p:nvSpPr>
          <p:cNvPr id="211" name="Google Shape;211;p37"/>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marR="0" rtl="0" algn="l">
              <a:lnSpc>
                <a:spcPct val="90000"/>
              </a:lnSpc>
              <a:spcBef>
                <a:spcPts val="0"/>
              </a:spcBef>
              <a:spcAft>
                <a:spcPts val="0"/>
              </a:spcAft>
              <a:buClr>
                <a:schemeClr val="dk1"/>
              </a:buClr>
              <a:buSzPts val="3200"/>
              <a:buFont typeface="Calibri"/>
              <a:buNone/>
              <a:defRPr b="0" i="0" sz="32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2" name="Google Shape;212;p37"/>
          <p:cNvSpPr/>
          <p:nvPr>
            <p:ph idx="2" type="pic"/>
          </p:nvPr>
        </p:nvSpPr>
        <p:spPr>
          <a:xfrm>
            <a:off x="5183188" y="987425"/>
            <a:ext cx="6172200" cy="4873625"/>
          </a:xfrm>
          <a:prstGeom prst="rect">
            <a:avLst/>
          </a:prstGeom>
          <a:noFill/>
          <a:ln>
            <a:noFill/>
          </a:ln>
        </p:spPr>
      </p:sp>
      <p:sp>
        <p:nvSpPr>
          <p:cNvPr id="213" name="Google Shape;213;p37"/>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marR="0" rtl="0" algn="l">
              <a:lnSpc>
                <a:spcPct val="90000"/>
              </a:lnSpc>
              <a:spcBef>
                <a:spcPts val="1000"/>
              </a:spcBef>
              <a:spcAft>
                <a:spcPts val="0"/>
              </a:spcAft>
              <a:buClr>
                <a:schemeClr val="dk1"/>
              </a:buClr>
              <a:buSzPts val="1600"/>
              <a:buFont typeface="Arial"/>
              <a:buNone/>
              <a:defRPr b="0" i="0" sz="1600" u="none" cap="none" strike="noStrike">
                <a:solidFill>
                  <a:schemeClr val="dk1"/>
                </a:solidFill>
                <a:latin typeface="Calibri"/>
                <a:ea typeface="Calibri"/>
                <a:cs typeface="Calibri"/>
                <a:sym typeface="Calibri"/>
              </a:defRPr>
            </a:lvl1pPr>
            <a:lvl2pPr indent="-228600" lvl="1" marL="914400" marR="0" rtl="0" algn="l">
              <a:lnSpc>
                <a:spcPct val="90000"/>
              </a:lnSpc>
              <a:spcBef>
                <a:spcPts val="500"/>
              </a:spcBef>
              <a:spcAft>
                <a:spcPts val="0"/>
              </a:spcAft>
              <a:buClr>
                <a:schemeClr val="dk1"/>
              </a:buClr>
              <a:buSzPts val="1400"/>
              <a:buFont typeface="Arial"/>
              <a:buNone/>
              <a:defRPr b="0" i="0" sz="1400" u="none" cap="none" strike="noStrike">
                <a:solidFill>
                  <a:schemeClr val="dk1"/>
                </a:solidFill>
                <a:latin typeface="Calibri"/>
                <a:ea typeface="Calibri"/>
                <a:cs typeface="Calibri"/>
                <a:sym typeface="Calibri"/>
              </a:defRPr>
            </a:lvl2pPr>
            <a:lvl3pPr indent="-228600" lvl="2" marL="1371600" marR="0" rtl="0" algn="l">
              <a:lnSpc>
                <a:spcPct val="90000"/>
              </a:lnSpc>
              <a:spcBef>
                <a:spcPts val="500"/>
              </a:spcBef>
              <a:spcAft>
                <a:spcPts val="0"/>
              </a:spcAft>
              <a:buClr>
                <a:schemeClr val="dk1"/>
              </a:buClr>
              <a:buSzPts val="1200"/>
              <a:buFont typeface="Arial"/>
              <a:buNone/>
              <a:defRPr b="0" i="0" sz="1200" u="none" cap="none" strike="noStrike">
                <a:solidFill>
                  <a:schemeClr val="dk1"/>
                </a:solidFill>
                <a:latin typeface="Calibri"/>
                <a:ea typeface="Calibri"/>
                <a:cs typeface="Calibri"/>
                <a:sym typeface="Calibri"/>
              </a:defRPr>
            </a:lvl3pPr>
            <a:lvl4pPr indent="-228600" lvl="3" marL="1828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4pPr>
            <a:lvl5pPr indent="-228600" lvl="4" marL="22860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5pPr>
            <a:lvl6pPr indent="-228600" lvl="5" marL="27432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6pPr>
            <a:lvl7pPr indent="-228600" lvl="6" marL="32004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7pPr>
            <a:lvl8pPr indent="-228600" lvl="7" marL="36576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8pPr>
            <a:lvl9pPr indent="-228600" lvl="8" marL="4114800" marR="0" rtl="0" algn="l">
              <a:lnSpc>
                <a:spcPct val="90000"/>
              </a:lnSpc>
              <a:spcBef>
                <a:spcPts val="500"/>
              </a:spcBef>
              <a:spcAft>
                <a:spcPts val="0"/>
              </a:spcAft>
              <a:buClr>
                <a:schemeClr val="dk1"/>
              </a:buClr>
              <a:buSzPts val="1000"/>
              <a:buFont typeface="Arial"/>
              <a:buNone/>
              <a:defRPr b="0" i="0" sz="1000" u="none" cap="none" strike="noStrike">
                <a:solidFill>
                  <a:schemeClr val="dk1"/>
                </a:solidFill>
                <a:latin typeface="Calibri"/>
                <a:ea typeface="Calibri"/>
                <a:cs typeface="Calibri"/>
                <a:sym typeface="Calibri"/>
              </a:defRPr>
            </a:lvl9pPr>
          </a:lstStyle>
          <a:p/>
        </p:txBody>
      </p:sp>
      <p:sp>
        <p:nvSpPr>
          <p:cNvPr id="214" name="Google Shape;214;p37"/>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5" name="Google Shape;215;p37"/>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16" name="Google Shape;216;p37"/>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7" name="Shape 217"/>
        <p:cNvGrpSpPr/>
        <p:nvPr/>
      </p:nvGrpSpPr>
      <p:grpSpPr>
        <a:xfrm>
          <a:off x="0" y="0"/>
          <a:ext cx="0" cy="0"/>
          <a:chOff x="0" y="0"/>
          <a:chExt cx="0" cy="0"/>
        </a:xfrm>
      </p:grpSpPr>
      <p:sp>
        <p:nvSpPr>
          <p:cNvPr id="218" name="Google Shape;218;p38"/>
          <p:cNvSpPr txBox="1"/>
          <p:nvPr>
            <p:ph type="title"/>
          </p:nvPr>
        </p:nvSpPr>
        <p:spPr>
          <a:xfrm>
            <a:off x="838200" y="365125"/>
            <a:ext cx="10515600" cy="1325563"/>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19" name="Google Shape;219;p38"/>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0" name="Google Shape;220;p38"/>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1" name="Google Shape;221;p38"/>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2" name="Google Shape;222;p38"/>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3" name="Shape 223"/>
        <p:cNvGrpSpPr/>
        <p:nvPr/>
      </p:nvGrpSpPr>
      <p:grpSpPr>
        <a:xfrm>
          <a:off x="0" y="0"/>
          <a:ext cx="0" cy="0"/>
          <a:chOff x="0" y="0"/>
          <a:chExt cx="0" cy="0"/>
        </a:xfrm>
      </p:grpSpPr>
      <p:sp>
        <p:nvSpPr>
          <p:cNvPr id="224" name="Google Shape;224;p39"/>
          <p:cNvSpPr txBox="1"/>
          <p:nvPr>
            <p:ph type="title"/>
          </p:nvPr>
        </p:nvSpPr>
        <p:spPr>
          <a:xfrm rot="5400000">
            <a:off x="7133431" y="1956594"/>
            <a:ext cx="5811838" cy="2628900"/>
          </a:xfrm>
          <a:prstGeom prst="rect">
            <a:avLst/>
          </a:prstGeom>
          <a:noFill/>
          <a:ln>
            <a:noFill/>
          </a:ln>
        </p:spPr>
        <p:txBody>
          <a:bodyPr anchorCtr="0" anchor="t" bIns="45700" lIns="91425" spcFirstLastPara="1" rIns="91425" wrap="square" tIns="45700">
            <a:no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225" name="Google Shape;225;p39"/>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226" name="Google Shape;226;p39"/>
          <p:cNvSpPr txBox="1"/>
          <p:nvPr>
            <p:ph idx="10" type="dt"/>
          </p:nvPr>
        </p:nvSpPr>
        <p:spPr>
          <a:xfrm>
            <a:off x="838200" y="6356350"/>
            <a:ext cx="27432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7" name="Google Shape;227;p39"/>
          <p:cNvSpPr txBox="1"/>
          <p:nvPr>
            <p:ph idx="11" type="ftr"/>
          </p:nvPr>
        </p:nvSpPr>
        <p:spPr>
          <a:xfrm>
            <a:off x="4038600" y="6356350"/>
            <a:ext cx="4114800" cy="365125"/>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Calibri"/>
                <a:ea typeface="Calibri"/>
                <a:cs typeface="Calibri"/>
                <a:sym typeface="Calibri"/>
              </a:defRPr>
            </a:lvl9pPr>
          </a:lstStyle>
          <a:p/>
        </p:txBody>
      </p:sp>
      <p:sp>
        <p:nvSpPr>
          <p:cNvPr id="228" name="Google Shape;228;p39"/>
          <p:cNvSpPr txBox="1"/>
          <p:nvPr>
            <p:ph idx="12" type="sldNum"/>
          </p:nvPr>
        </p:nvSpPr>
        <p:spPr>
          <a:xfrm>
            <a:off x="8610600" y="6356350"/>
            <a:ext cx="2743200" cy="365125"/>
          </a:xfrm>
          <a:prstGeom prst="rect">
            <a:avLst/>
          </a:prstGeom>
          <a:noFill/>
          <a:ln>
            <a:noFill/>
          </a:ln>
        </p:spPr>
        <p:txBody>
          <a:bodyPr anchorCtr="0" anchor="t" bIns="45700" lIns="91425" spcFirstLastPara="1" rIns="91425" wrap="square" tIns="45700">
            <a:noAutofit/>
          </a:bodyPr>
          <a:lstStyle>
            <a:lvl1pPr indent="0" lvl="0"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1pPr>
            <a:lvl2pPr indent="0" lvl="1"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2pPr>
            <a:lvl3pPr indent="0" lvl="2"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3pPr>
            <a:lvl4pPr indent="0" lvl="3"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4pPr>
            <a:lvl5pPr indent="0" lvl="4"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5pPr>
            <a:lvl6pPr indent="0" lvl="5"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6pPr>
            <a:lvl7pPr indent="0" lvl="6"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7pPr>
            <a:lvl8pPr indent="0" lvl="7"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8pPr>
            <a:lvl9pPr indent="0" lvl="8" marL="0" marR="0" rtl="0" algn="l">
              <a:lnSpc>
                <a:spcPct val="100000"/>
              </a:lnSpc>
              <a:spcBef>
                <a:spcPts val="0"/>
              </a:spcBef>
              <a:spcAft>
                <a:spcPts val="0"/>
              </a:spcAft>
              <a:buClr>
                <a:srgbClr val="000000"/>
              </a:buClr>
              <a:buSzPts val="1800"/>
              <a:buFont typeface="Arial"/>
              <a:buNone/>
              <a:defRPr b="0" i="0" sz="1800" u="none" cap="none" strike="noStrike">
                <a:solidFill>
                  <a:schemeClr val="dk1"/>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image" Target="../media/image1.pn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theme" Target="../theme/theme4.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3.xml"/><Relationship Id="rId3" Type="http://schemas.openxmlformats.org/officeDocument/2006/relationships/slideLayout" Target="../slideLayouts/slideLayout4.xml"/><Relationship Id="rId4" Type="http://schemas.openxmlformats.org/officeDocument/2006/relationships/slideLayout" Target="../slideLayouts/slideLayout5.xml"/><Relationship Id="rId5" Type="http://schemas.openxmlformats.org/officeDocument/2006/relationships/slideLayout" Target="../slideLayouts/slideLayout6.xml"/><Relationship Id="rId6" Type="http://schemas.openxmlformats.org/officeDocument/2006/relationships/slideLayout" Target="../slideLayouts/slideLayout7.xml"/><Relationship Id="rId7" Type="http://schemas.openxmlformats.org/officeDocument/2006/relationships/slideLayout" Target="../slideLayouts/slideLayout8.xml"/><Relationship Id="rId8" Type="http://schemas.openxmlformats.org/officeDocument/2006/relationships/slideLayout" Target="../slideLayouts/slideLayout9.xml"/><Relationship Id="rId9" Type="http://schemas.openxmlformats.org/officeDocument/2006/relationships/slideLayout" Target="../slideLayouts/slideLayout10.xml"/><Relationship Id="rId10" Type="http://schemas.openxmlformats.org/officeDocument/2006/relationships/slideLayout" Target="../slideLayouts/slideLayout11.xml"/><Relationship Id="rId11" Type="http://schemas.openxmlformats.org/officeDocument/2006/relationships/slideLayout" Target="../slideLayouts/slideLayout12.xml"/><Relationship Id="rId12" Type="http://schemas.openxmlformats.org/officeDocument/2006/relationships/slideLayout" Target="../slideLayouts/slideLayout13.xml"/><Relationship Id="rId13"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4.xml"/><Relationship Id="rId3" Type="http://schemas.openxmlformats.org/officeDocument/2006/relationships/slideLayout" Target="../slideLayouts/slideLayout15.xml"/><Relationship Id="rId4" Type="http://schemas.openxmlformats.org/officeDocument/2006/relationships/slideLayout" Target="../slideLayouts/slideLayout16.xml"/><Relationship Id="rId5" Type="http://schemas.openxmlformats.org/officeDocument/2006/relationships/slideLayout" Target="../slideLayouts/slideLayout17.xml"/><Relationship Id="rId6" Type="http://schemas.openxmlformats.org/officeDocument/2006/relationships/slideLayout" Target="../slideLayouts/slideLayout18.xml"/><Relationship Id="rId7" Type="http://schemas.openxmlformats.org/officeDocument/2006/relationships/slideLayout" Target="../slideLayouts/slideLayout19.xml"/><Relationship Id="rId8" Type="http://schemas.openxmlformats.org/officeDocument/2006/relationships/slideLayout" Target="../slideLayouts/slideLayout20.xml"/><Relationship Id="rId9" Type="http://schemas.openxmlformats.org/officeDocument/2006/relationships/slideLayout" Target="../slideLayouts/slideLayout21.xml"/><Relationship Id="rId10" Type="http://schemas.openxmlformats.org/officeDocument/2006/relationships/slideLayout" Target="../slideLayouts/slideLayout22.xml"/><Relationship Id="rId11" Type="http://schemas.openxmlformats.org/officeDocument/2006/relationships/slideLayout" Target="../slideLayouts/slideLayout23.xml"/><Relationship Id="rId12" Type="http://schemas.openxmlformats.org/officeDocument/2006/relationships/slideLayout" Target="../slideLayouts/slideLayout24.xml"/><Relationship Id="rId1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theme" Target="../theme/theme5.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id="10" name="Google Shape;10;p1"/>
          <p:cNvPicPr preferRelativeResize="0"/>
          <p:nvPr/>
        </p:nvPicPr>
        <p:blipFill rotWithShape="1">
          <a:blip r:embed="rId1">
            <a:alphaModFix/>
          </a:blip>
          <a:srcRect b="0" l="0" r="0" t="0"/>
          <a:stretch/>
        </p:blipFill>
        <p:spPr>
          <a:xfrm>
            <a:off x="2141884" y="0"/>
            <a:ext cx="10030237" cy="1640714"/>
          </a:xfrm>
          <a:prstGeom prst="rect">
            <a:avLst/>
          </a:prstGeom>
          <a:noFill/>
          <a:ln>
            <a:noFill/>
          </a:ln>
        </p:spPr>
      </p:pic>
      <p:sp>
        <p:nvSpPr>
          <p:cNvPr id="11" name="Google Shape;11;p1"/>
          <p:cNvSpPr txBox="1"/>
          <p:nvPr/>
        </p:nvSpPr>
        <p:spPr>
          <a:xfrm>
            <a:off x="1402828" y="6528816"/>
            <a:ext cx="6270960" cy="228600"/>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Copyright © McGraw Hill</a:t>
            </a:r>
            <a:endParaRPr b="0" i="0" sz="1400" u="none" cap="none" strike="noStrike">
              <a:solidFill>
                <a:srgbClr val="000000"/>
              </a:solidFill>
              <a:latin typeface="Arial"/>
              <a:ea typeface="Arial"/>
              <a:cs typeface="Arial"/>
              <a:sym typeface="Arial"/>
            </a:endParaRPr>
          </a:p>
        </p:txBody>
      </p:sp>
      <p:pic>
        <p:nvPicPr>
          <p:cNvPr id="12" name="Google Shape;12;p1"/>
          <p:cNvPicPr preferRelativeResize="0"/>
          <p:nvPr/>
        </p:nvPicPr>
        <p:blipFill rotWithShape="1">
          <a:blip r:embed="rId2">
            <a:alphaModFix/>
          </a:blip>
          <a:srcRect b="0" l="0" r="0" t="0"/>
          <a:stretch/>
        </p:blipFill>
        <p:spPr>
          <a:xfrm>
            <a:off x="1492908" y="5619163"/>
            <a:ext cx="654674" cy="654674"/>
          </a:xfrm>
          <a:prstGeom prst="rect">
            <a:avLst/>
          </a:prstGeom>
          <a:noFill/>
          <a:ln>
            <a:noFill/>
          </a:ln>
        </p:spPr>
      </p:pic>
      <p:cxnSp>
        <p:nvCxnSpPr>
          <p:cNvPr id="13" name="Google Shape;13;p1"/>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4" name="Google Shape;14;p1"/>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8" r:id="rId3"/>
    <p:sldLayoutId id="2147483649" r:id="rId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orient="horz" pos="2159">
          <p15:clr>
            <a:srgbClr val="F26B43"/>
          </p15:clr>
        </p15:guide>
        <p15:guide id="2" orient="horz" pos="360">
          <p15:clr>
            <a:srgbClr val="F26B43"/>
          </p15:clr>
        </p15:guide>
        <p15:guide id="3" pos="3840">
          <p15:clr>
            <a:srgbClr val="F26B43"/>
          </p15:clr>
        </p15:guide>
        <p15:guide id="4" pos="384">
          <p15:clr>
            <a:srgbClr val="F26B43"/>
          </p15:clr>
        </p15:guide>
        <p15:guide id="5" pos="7296">
          <p15:clr>
            <a:srgbClr val="F26B43"/>
          </p15:clr>
        </p15:guide>
        <p15:guide id="6" orient="horz" pos="4211">
          <p15:clr>
            <a:srgbClr val="F26B43"/>
          </p15:clr>
        </p15:guide>
        <p15:guide id="7" pos="1120">
          <p15:clr>
            <a:srgbClr val="F26B43"/>
          </p15:clr>
        </p15:guide>
        <p15:guide id="8" pos="936">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0" name="Shape 20"/>
        <p:cNvGrpSpPr/>
        <p:nvPr/>
      </p:nvGrpSpPr>
      <p:grpSpPr>
        <a:xfrm>
          <a:off x="0" y="0"/>
          <a:ext cx="0" cy="0"/>
          <a:chOff x="0" y="0"/>
          <a:chExt cx="0" cy="0"/>
        </a:xfrm>
      </p:grpSpPr>
      <p:cxnSp>
        <p:nvCxnSpPr>
          <p:cNvPr id="21" name="Google Shape;21;p4"/>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22" name="Google Shape;22;p4"/>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23" name="Google Shape;23;p4"/>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the Whole Given the Part and Percent​</a:t>
            </a:r>
            <a:endParaRPr b="0" i="0" sz="1400" u="none" cap="none" strike="noStrike">
              <a:solidFill>
                <a:srgbClr val="000000"/>
              </a:solidFill>
              <a:latin typeface="Arial"/>
              <a:ea typeface="Arial"/>
              <a:cs typeface="Arial"/>
              <a:sym typeface="Arial"/>
            </a:endParaRPr>
          </a:p>
        </p:txBody>
      </p:sp>
      <p:sp>
        <p:nvSpPr>
          <p:cNvPr id="24" name="Google Shape;24;p4"/>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25" name="Google Shape;25;p4"/>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0" name="Shape 90"/>
        <p:cNvGrpSpPr/>
        <p:nvPr/>
      </p:nvGrpSpPr>
      <p:grpSpPr>
        <a:xfrm>
          <a:off x="0" y="0"/>
          <a:ext cx="0" cy="0"/>
          <a:chOff x="0" y="0"/>
          <a:chExt cx="0" cy="0"/>
        </a:xfrm>
      </p:grpSpPr>
      <p:cxnSp>
        <p:nvCxnSpPr>
          <p:cNvPr id="91" name="Google Shape;91;p16"/>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92" name="Google Shape;92;p16"/>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93" name="Google Shape;93;p16"/>
          <p:cNvSpPr txBox="1"/>
          <p:nvPr/>
        </p:nvSpPr>
        <p:spPr>
          <a:xfrm>
            <a:off x="1385464" y="6528815"/>
            <a:ext cx="4694822" cy="32468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0" i="0" lang="en-US" sz="900" u="none" cap="none" strike="noStrike">
                <a:solidFill>
                  <a:schemeClr val="dk2"/>
                </a:solidFill>
                <a:latin typeface="Arial"/>
                <a:ea typeface="Arial"/>
                <a:cs typeface="Arial"/>
                <a:sym typeface="Arial"/>
              </a:rPr>
              <a:t>Determine the Whole Given the Part and Percent​</a:t>
            </a:r>
            <a:endParaRPr b="0" i="0" sz="1400" u="none" cap="none" strike="noStrike">
              <a:solidFill>
                <a:srgbClr val="000000"/>
              </a:solidFill>
              <a:latin typeface="Arial"/>
              <a:ea typeface="Arial"/>
              <a:cs typeface="Arial"/>
              <a:sym typeface="Arial"/>
            </a:endParaRPr>
          </a:p>
        </p:txBody>
      </p:sp>
      <p:sp>
        <p:nvSpPr>
          <p:cNvPr id="94" name="Google Shape;94;p16"/>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95" name="Google Shape;95;p16"/>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60" name="Shape 160"/>
        <p:cNvGrpSpPr/>
        <p:nvPr/>
      </p:nvGrpSpPr>
      <p:grpSpPr>
        <a:xfrm>
          <a:off x="0" y="0"/>
          <a:ext cx="0" cy="0"/>
          <a:chOff x="0" y="0"/>
          <a:chExt cx="0" cy="0"/>
        </a:xfrm>
      </p:grpSpPr>
      <p:cxnSp>
        <p:nvCxnSpPr>
          <p:cNvPr id="161" name="Google Shape;161;p28"/>
          <p:cNvCxnSpPr/>
          <p:nvPr/>
        </p:nvCxnSpPr>
        <p:spPr>
          <a:xfrm>
            <a:off x="0" y="6432698"/>
            <a:ext cx="12192000" cy="0"/>
          </a:xfrm>
          <a:prstGeom prst="straightConnector1">
            <a:avLst/>
          </a:prstGeom>
          <a:noFill/>
          <a:ln cap="flat" cmpd="sng" w="22225">
            <a:solidFill>
              <a:srgbClr val="BFBFBF"/>
            </a:solidFill>
            <a:prstDash val="solid"/>
            <a:miter lim="80"/>
            <a:headEnd len="sm" w="sm" type="none"/>
            <a:tailEnd len="sm" w="sm" type="none"/>
          </a:ln>
        </p:spPr>
      </p:cxnSp>
      <p:sp>
        <p:nvSpPr>
          <p:cNvPr id="162" name="Google Shape;162;p28"/>
          <p:cNvSpPr txBox="1"/>
          <p:nvPr/>
        </p:nvSpPr>
        <p:spPr>
          <a:xfrm>
            <a:off x="490549" y="6528815"/>
            <a:ext cx="1036320" cy="32466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900"/>
              <a:buFont typeface="Arial"/>
              <a:buNone/>
            </a:pPr>
            <a:r>
              <a:rPr b="1" i="0" lang="en-US" sz="900" u="none" cap="none" strike="noStrike">
                <a:solidFill>
                  <a:schemeClr val="dk2"/>
                </a:solidFill>
                <a:latin typeface="Arial"/>
                <a:ea typeface="Arial"/>
                <a:cs typeface="Arial"/>
                <a:sym typeface="Arial"/>
              </a:rPr>
              <a:t>McGraw Hill  |</a:t>
            </a:r>
            <a:endParaRPr b="0" i="0" sz="900" u="none" cap="none" strike="noStrike">
              <a:solidFill>
                <a:schemeClr val="dk2"/>
              </a:solidFill>
              <a:latin typeface="Arial"/>
              <a:ea typeface="Arial"/>
              <a:cs typeface="Arial"/>
              <a:sym typeface="Arial"/>
            </a:endParaRPr>
          </a:p>
        </p:txBody>
      </p:sp>
      <p:sp>
        <p:nvSpPr>
          <p:cNvPr id="163" name="Google Shape;163;p28"/>
          <p:cNvSpPr txBox="1"/>
          <p:nvPr/>
        </p:nvSpPr>
        <p:spPr>
          <a:xfrm>
            <a:off x="9064487" y="6399634"/>
            <a:ext cx="3107634" cy="478243"/>
          </a:xfrm>
          <a:prstGeom prst="rect">
            <a:avLst/>
          </a:prstGeom>
          <a:noFill/>
          <a:ln>
            <a:noFill/>
          </a:ln>
        </p:spPr>
        <p:txBody>
          <a:bodyPr anchorCtr="0" anchor="ctr" bIns="45700" lIns="91425" spcFirstLastPara="1" rIns="91425" wrap="square" tIns="45700">
            <a:noAutofit/>
          </a:bodyPr>
          <a:lstStyle/>
          <a:p>
            <a:pPr indent="0" lvl="0" marL="0" marR="0" rtl="0" algn="r">
              <a:lnSpc>
                <a:spcPct val="100000"/>
              </a:lnSpc>
              <a:spcBef>
                <a:spcPts val="0"/>
              </a:spcBef>
              <a:spcAft>
                <a:spcPts val="0"/>
              </a:spcAft>
              <a:buClr>
                <a:srgbClr val="000000"/>
              </a:buClr>
              <a:buSzPts val="800"/>
              <a:buFont typeface="Arial"/>
              <a:buNone/>
            </a:pPr>
            <a:r>
              <a:rPr b="0" i="0" lang="en-US" sz="800" u="none" cap="none" strike="noStrike">
                <a:solidFill>
                  <a:srgbClr val="3F3F3F"/>
                </a:solidFill>
                <a:latin typeface="Arial"/>
                <a:ea typeface="Arial"/>
                <a:cs typeface="Arial"/>
                <a:sym typeface="Arial"/>
              </a:rPr>
              <a:t>This material may be reproduced for licensed classroom use only and may not be further reproduced or distributed.</a:t>
            </a:r>
            <a:endParaRPr b="0" i="0" sz="1400" u="none" cap="none" strike="noStrike">
              <a:solidFill>
                <a:srgbClr val="000000"/>
              </a:solidFill>
              <a:latin typeface="Arial"/>
              <a:ea typeface="Arial"/>
              <a:cs typeface="Arial"/>
              <a:sym typeface="Arial"/>
            </a:endParaRPr>
          </a:p>
        </p:txBody>
      </p:sp>
      <p:pic>
        <p:nvPicPr>
          <p:cNvPr id="164" name="Google Shape;164;p28"/>
          <p:cNvPicPr preferRelativeResize="0"/>
          <p:nvPr/>
        </p:nvPicPr>
        <p:blipFill rotWithShape="1">
          <a:blip r:embed="rId1">
            <a:alphaModFix/>
          </a:blip>
          <a:srcRect b="0" l="0" r="0" t="0"/>
          <a:stretch/>
        </p:blipFill>
        <p:spPr>
          <a:xfrm>
            <a:off x="4896996" y="0"/>
            <a:ext cx="7295004" cy="1193294"/>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72" r:id="rId2"/>
    <p:sldLayoutId id="2147483673" r:id="rId3"/>
    <p:sldLayoutId id="2147483674" r:id="rId4"/>
    <p:sldLayoutId id="2147483675" r:id="rId5"/>
    <p:sldLayoutId id="2147483676" r:id="rId6"/>
    <p:sldLayoutId id="2147483677" r:id="rId7"/>
    <p:sldLayoutId id="2147483678" r:id="rId8"/>
    <p:sldLayoutId id="2147483679" r:id="rId9"/>
    <p:sldLayoutId id="2147483680" r:id="rId10"/>
    <p:sldLayoutId id="2147483681" r:id="rId11"/>
    <p:sldLayoutId id="2147483682" r:id="rId1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6.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4.png"/><Relationship Id="rId3" Type="http://schemas.openxmlformats.org/officeDocument/2006/relationships/notesSlide" Target="../notesSlides/notesSlide6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3.png"/><Relationship Id="rId3" Type="http://schemas.openxmlformats.org/officeDocument/2006/relationships/notesSlide" Target="../notesSlides/notesSlide68.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1.png"/><Relationship Id="rId3" Type="http://schemas.openxmlformats.org/officeDocument/2006/relationships/notesSlide" Target="../notesSlides/notesSlide69.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9.png"/><Relationship Id="rId3" Type="http://schemas.openxmlformats.org/officeDocument/2006/relationships/notesSlide" Target="../notesSlides/notesSlide7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8.png"/><Relationship Id="rId3" Type="http://schemas.openxmlformats.org/officeDocument/2006/relationships/notesSlide" Target="../notesSlides/notesSlide7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notesSlide" Target="../notesSlides/notesSlide7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6.png"/><Relationship Id="rId3" Type="http://schemas.openxmlformats.org/officeDocument/2006/relationships/image" Target="../media/image3.png"/><Relationship Id="rId4" Type="http://schemas.openxmlformats.org/officeDocument/2006/relationships/notesSlide" Target="../notesSlides/notesSlide7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17.xml"/><Relationship Id="rId3" Type="http://schemas.openxmlformats.org/officeDocument/2006/relationships/image" Target="../media/image12.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6.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28.xml"/><Relationship Id="rId3" Type="http://schemas.openxmlformats.org/officeDocument/2006/relationships/image" Target="../media/image23.png"/><Relationship Id="rId4" Type="http://schemas.openxmlformats.org/officeDocument/2006/relationships/image" Target="../media/image10.png"/><Relationship Id="rId5" Type="http://schemas.openxmlformats.org/officeDocument/2006/relationships/image" Target="../media/image2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2.xml"/><Relationship Id="rId3" Type="http://schemas.openxmlformats.org/officeDocument/2006/relationships/image" Target="../media/image2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6.xml"/><Relationship Id="rId3" Type="http://schemas.openxmlformats.org/officeDocument/2006/relationships/image" Target="../media/image2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39.xml"/><Relationship Id="rId3" Type="http://schemas.openxmlformats.org/officeDocument/2006/relationships/image" Target="../media/image1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5.png"/><Relationship Id="rId3" Type="http://schemas.openxmlformats.org/officeDocument/2006/relationships/notesSlide" Target="../notesSlides/notesSlide76.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27.png"/><Relationship Id="rId3" Type="http://schemas.openxmlformats.org/officeDocument/2006/relationships/notesSlide" Target="../notesSlides/notesSlide7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png"/><Relationship Id="rId3" Type="http://schemas.openxmlformats.org/officeDocument/2006/relationships/notesSlide" Target="../notesSlides/notesSlide78.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3.png"/><Relationship Id="rId4" Type="http://schemas.openxmlformats.org/officeDocument/2006/relationships/image" Target="../media/image25.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5.xml"/><Relationship Id="rId3" Type="http://schemas.openxmlformats.org/officeDocument/2006/relationships/image" Target="../media/image3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 Id="rId3" Type="http://schemas.openxmlformats.org/officeDocument/2006/relationships/image" Target="../media/image33.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0.xml"/><Relationship Id="rId3" Type="http://schemas.openxmlformats.org/officeDocument/2006/relationships/image" Target="../media/image10.png"/><Relationship Id="rId4" Type="http://schemas.openxmlformats.org/officeDocument/2006/relationships/image" Target="../media/image34.png"/><Relationship Id="rId5"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2.png"/><Relationship Id="rId3" Type="http://schemas.openxmlformats.org/officeDocument/2006/relationships/notesSlide" Target="../notesSlides/notesSlide8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image" Target="../media/image33.png"/><Relationship Id="rId3" Type="http://schemas.openxmlformats.org/officeDocument/2006/relationships/notesSlide" Target="../notesSlides/notesSlide8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3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8" name="Shape 258"/>
        <p:cNvGrpSpPr/>
        <p:nvPr/>
      </p:nvGrpSpPr>
      <p:grpSpPr>
        <a:xfrm>
          <a:off x="0" y="0"/>
          <a:ext cx="0" cy="0"/>
          <a:chOff x="0" y="0"/>
          <a:chExt cx="0" cy="0"/>
        </a:xfrm>
      </p:grpSpPr>
      <p:sp>
        <p:nvSpPr>
          <p:cNvPr id="259" name="Google Shape;259;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0" name="TextBox 1"/>
          <p:cNvSpPr txBox="1"/>
          <p:nvPr/>
        </p:nvSpPr>
        <p:spPr>
          <a:xfrm>
            <a:off x="502920" y="310896"/>
            <a:ext cx="7315200" cy="502920"/>
          </a:xfrm>
          <a:prstGeom prst="rect">
            <a:avLst/>
          </a:prstGeom>
          <a:noFill/>
        </p:spPr>
        <p:txBody>
          <a:bodyPr wrap="square" lIns="0" tIns="0" rIns="0" bIns="0" anchor="t">
            <a:spAutoFit/>
          </a:bodyPr>
          <a:lstStyle/>
          <a:p>
            <a:pPr algn="l"/>
            <a:r>
              <a:rPr sz="2750" b="1">
                <a:solidFill>
                  <a:srgbClr val="782DA0"/>
                </a:solidFill>
                <a:latin typeface="Arial"/>
              </a:rPr>
              <a:t>Warm-Up</a:t>
            </a:r>
          </a:p>
        </p:txBody>
      </p:sp>
      <p:sp>
        <p:nvSpPr>
          <p:cNvPr id="261" name="TextBox 2"/>
          <p:cNvSpPr txBox="1"/>
          <p:nvPr/>
        </p:nvSpPr>
        <p:spPr>
          <a:xfrm>
            <a:off x="521207" y="877824"/>
            <a:ext cx="7680960" cy="274320"/>
          </a:xfrm>
          <a:prstGeom prst="rect">
            <a:avLst/>
          </a:prstGeom>
          <a:noFill/>
        </p:spPr>
        <p:txBody>
          <a:bodyPr wrap="square" lIns="0" tIns="0" rIns="0" bIns="0" anchor="t">
            <a:spAutoFit/>
          </a:bodyPr>
          <a:lstStyle/>
          <a:p>
            <a:pPr algn="l"/>
            <a:r>
              <a:rPr sz="1400" b="0">
                <a:solidFill>
                  <a:srgbClr val="5D6872"/>
                </a:solidFill>
                <a:latin typeface="Arial"/>
              </a:rPr>
              <a:t>Lesson 4-5 · Determine the Whole Given the Part and Percent   |   Warm-Up · about 4 minutes</a:t>
            </a:r>
          </a:p>
        </p:txBody>
      </p:sp>
      <p:sp>
        <p:nvSpPr>
          <p:cNvPr id="262" name="UIFR_Routine_Label"/>
          <p:cNvSpPr txBox="1"/>
          <p:nvPr/>
        </p:nvSpPr>
        <p:spPr>
          <a:xfrm>
            <a:off x="502920" y="54864"/>
            <a:ext cx="6236208" cy="237744"/>
          </a:xfrm>
          <a:prstGeom prst="rect">
            <a:avLst/>
          </a:prstGeom>
          <a:noFill/>
        </p:spPr>
        <p:txBody>
          <a:bodyPr wrap="square" lIns="0" rIns="0" tIns="0" bIns="0" anchor="ctr">
            <a:noAutofit/>
          </a:bodyPr>
          <a:lstStyle/>
          <a:p>
            <a:pPr algn="l"/>
            <a:r>
              <a:rPr lang="en-US" sz="1150" b="1" dirty="0">
                <a:solidFill>
                  <a:srgbClr val="2D3A40"/>
                </a:solidFill>
                <a:latin typeface="Arial"/>
              </a:rPr>
              <a:t>WARM-UP</a:t>
            </a:r>
            <a:r>
              <a:rPr lang="en-US" sz="1150" b="1" dirty="0">
                <a:solidFill>
                  <a:srgbClr val="2D3A40"/>
                </a:solidFill>
                <a:latin typeface="Arial"/>
              </a:rPr>
              <a:t xml:space="preserve">  ·  THINK • TRY • CHECK</a:t>
            </a:r>
          </a:p>
        </p:txBody>
      </p:sp>
      <p:sp>
        <p:nvSpPr>
          <p:cNvPr id="263" name="TextBox 5"/>
          <p:cNvSpPr txBox="1"/>
          <p:nvPr/>
        </p:nvSpPr>
        <p:spPr>
          <a:xfrm>
            <a:off x="521207" y="1207008"/>
            <a:ext cx="10881360" cy="438912"/>
          </a:xfrm>
          <a:prstGeom prst="rect">
            <a:avLst/>
          </a:prstGeom>
          <a:noFill/>
        </p:spPr>
        <p:txBody>
          <a:bodyPr wrap="square" lIns="0" tIns="0" rIns="0" bIns="0" anchor="t">
            <a:spAutoFit/>
          </a:bodyPr>
          <a:lstStyle/>
          <a:p>
            <a:pPr algn="l"/>
            <a:r>
              <a:rPr sz="1600" b="0">
                <a:solidFill>
                  <a:srgbClr val="5D6872"/>
                </a:solidFill>
                <a:latin typeface="Arial"/>
              </a:rPr>
              <a:t>Try each on your own. Mark an unsure answer; explain and revise when we check.</a:t>
            </a:r>
          </a:p>
        </p:txBody>
      </p:sp>
      <p:sp>
        <p:nvSpPr>
          <p:cNvPr id="264" name="Rounded Rectangle 6"/>
          <p:cNvSpPr/>
          <p:nvPr/>
        </p:nvSpPr>
        <p:spPr>
          <a:xfrm>
            <a:off x="502920" y="1783080"/>
            <a:ext cx="5422392" cy="1572768"/>
          </a:xfrm>
          <a:prstGeom prst="roundRect">
            <a:avLst/>
          </a:prstGeom>
          <a:solidFill>
            <a:srgbClr val="ECF7F6"/>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5" name="Rectangle 7"/>
          <p:cNvSpPr/>
          <p:nvPr/>
        </p:nvSpPr>
        <p:spPr>
          <a:xfrm>
            <a:off x="502920" y="1783080"/>
            <a:ext cx="73152" cy="1572768"/>
          </a:xfrm>
          <a:prstGeom prst="rect">
            <a:avLst/>
          </a:prstGeom>
          <a:solidFill>
            <a:srgbClr val="01708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6" name="TextBox 8"/>
          <p:cNvSpPr txBox="1"/>
          <p:nvPr/>
        </p:nvSpPr>
        <p:spPr>
          <a:xfrm>
            <a:off x="667512" y="1892807"/>
            <a:ext cx="5129783" cy="228600"/>
          </a:xfrm>
          <a:prstGeom prst="rect">
            <a:avLst/>
          </a:prstGeom>
          <a:noFill/>
        </p:spPr>
        <p:txBody>
          <a:bodyPr wrap="square" lIns="0" tIns="0" rIns="0" bIns="0" anchor="t">
            <a:spAutoFit/>
          </a:bodyPr>
          <a:lstStyle/>
          <a:p>
            <a:pPr algn="l"/>
            <a:r>
              <a:rPr sz="1400" b="1">
                <a:solidFill>
                  <a:srgbClr val="01708C"/>
                </a:solidFill>
                <a:latin typeface="Arial"/>
              </a:rPr>
              <a:t>QUESTION 1</a:t>
            </a:r>
          </a:p>
        </p:txBody>
      </p:sp>
      <p:sp>
        <p:nvSpPr>
          <p:cNvPr id="267" name="TextBox 9"/>
          <p:cNvSpPr txBox="1"/>
          <p:nvPr/>
        </p:nvSpPr>
        <p:spPr>
          <a:xfrm>
            <a:off x="667512" y="2212848"/>
            <a:ext cx="5111496" cy="1051560"/>
          </a:xfrm>
          <a:prstGeom prst="rect">
            <a:avLst/>
          </a:prstGeom>
          <a:noFill/>
        </p:spPr>
        <p:txBody>
          <a:bodyPr wrap="square" lIns="0" tIns="0" rIns="0" bIns="0" anchor="t">
            <a:spAutoFit/>
          </a:bodyPr>
          <a:lstStyle/>
          <a:p>
            <a:pPr algn="l"/>
            <a:r>
              <a:rPr sz="1800" b="1">
                <a:solidFill>
                  <a:srgbClr val="23282D"/>
                </a:solidFill>
                <a:latin typeface="Arial"/>
              </a:rPr>
              <a:t>12 ÷ 0.25 = ______</a:t>
            </a:r>
          </a:p>
        </p:txBody>
      </p:sp>
      <p:sp>
        <p:nvSpPr>
          <p:cNvPr id="268" name="Rounded Rectangle 10"/>
          <p:cNvSpPr/>
          <p:nvPr/>
        </p:nvSpPr>
        <p:spPr>
          <a:xfrm>
            <a:off x="6181344" y="1783080"/>
            <a:ext cx="5413248" cy="1572768"/>
          </a:xfrm>
          <a:prstGeom prst="roundRect">
            <a:avLst/>
          </a:prstGeom>
          <a:solidFill>
            <a:srgbClr val="FDF0E8"/>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9" name="Rectangle 11"/>
          <p:cNvSpPr/>
          <p:nvPr/>
        </p:nvSpPr>
        <p:spPr>
          <a:xfrm>
            <a:off x="6181344" y="1783080"/>
            <a:ext cx="73152" cy="1572768"/>
          </a:xfrm>
          <a:prstGeom prst="rect">
            <a:avLst/>
          </a:prstGeom>
          <a:solidFill>
            <a:srgbClr val="C8430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0" name="TextBox 12"/>
          <p:cNvSpPr txBox="1"/>
          <p:nvPr/>
        </p:nvSpPr>
        <p:spPr>
          <a:xfrm>
            <a:off x="6345936" y="1892807"/>
            <a:ext cx="5120640" cy="228600"/>
          </a:xfrm>
          <a:prstGeom prst="rect">
            <a:avLst/>
          </a:prstGeom>
          <a:noFill/>
        </p:spPr>
        <p:txBody>
          <a:bodyPr wrap="square" lIns="0" tIns="0" rIns="0" bIns="0" anchor="t">
            <a:spAutoFit/>
          </a:bodyPr>
          <a:lstStyle/>
          <a:p>
            <a:pPr algn="l"/>
            <a:r>
              <a:rPr sz="1400" b="1">
                <a:solidFill>
                  <a:srgbClr val="C8430E"/>
                </a:solidFill>
                <a:latin typeface="Arial"/>
              </a:rPr>
              <a:t>QUESTION 2</a:t>
            </a:r>
          </a:p>
        </p:txBody>
      </p:sp>
      <p:sp>
        <p:nvSpPr>
          <p:cNvPr id="271" name="TextBox 13"/>
          <p:cNvSpPr txBox="1"/>
          <p:nvPr/>
        </p:nvSpPr>
        <p:spPr>
          <a:xfrm>
            <a:off x="6345936" y="2212848"/>
            <a:ext cx="5102352" cy="1051560"/>
          </a:xfrm>
          <a:prstGeom prst="rect">
            <a:avLst/>
          </a:prstGeom>
          <a:noFill/>
        </p:spPr>
        <p:txBody>
          <a:bodyPr wrap="square" lIns="0" tIns="0" rIns="0" bIns="0" anchor="t">
            <a:spAutoFit/>
          </a:bodyPr>
          <a:lstStyle/>
          <a:p>
            <a:pPr algn="l"/>
            <a:r>
              <a:rPr sz="1800" b="1">
                <a:solidFill>
                  <a:srgbClr val="23282D"/>
                </a:solidFill>
                <a:latin typeface="Arial"/>
              </a:rPr>
              <a:t>8 is 40% of 20. Which number is the whole? ______</a:t>
            </a:r>
          </a:p>
        </p:txBody>
      </p:sp>
      <p:sp>
        <p:nvSpPr>
          <p:cNvPr id="272" name="Rounded Rectangle 14"/>
          <p:cNvSpPr/>
          <p:nvPr/>
        </p:nvSpPr>
        <p:spPr>
          <a:xfrm>
            <a:off x="502920" y="3593592"/>
            <a:ext cx="5422392" cy="1664208"/>
          </a:xfrm>
          <a:prstGeom prst="roundRect">
            <a:avLst/>
          </a:prstGeom>
          <a:solidFill>
            <a:srgbClr val="EBF5FB"/>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3" name="Rectangle 15"/>
          <p:cNvSpPr/>
          <p:nvPr/>
        </p:nvSpPr>
        <p:spPr>
          <a:xfrm>
            <a:off x="502920" y="3593592"/>
            <a:ext cx="73152" cy="1664208"/>
          </a:xfrm>
          <a:prstGeom prst="rect">
            <a:avLst/>
          </a:prstGeom>
          <a:solidFill>
            <a:srgbClr val="0070C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4" name="TextBox 16"/>
          <p:cNvSpPr txBox="1"/>
          <p:nvPr/>
        </p:nvSpPr>
        <p:spPr>
          <a:xfrm>
            <a:off x="667512" y="3703320"/>
            <a:ext cx="5129783" cy="228600"/>
          </a:xfrm>
          <a:prstGeom prst="rect">
            <a:avLst/>
          </a:prstGeom>
          <a:noFill/>
        </p:spPr>
        <p:txBody>
          <a:bodyPr wrap="square" lIns="0" tIns="0" rIns="0" bIns="0" anchor="t">
            <a:spAutoFit/>
          </a:bodyPr>
          <a:lstStyle/>
          <a:p>
            <a:pPr algn="l"/>
            <a:r>
              <a:rPr sz="1400" b="1">
                <a:solidFill>
                  <a:srgbClr val="0070C0"/>
                </a:solidFill>
                <a:latin typeface="Arial"/>
              </a:rPr>
              <a:t>QUESTION 3</a:t>
            </a:r>
          </a:p>
        </p:txBody>
      </p:sp>
      <p:sp>
        <p:nvSpPr>
          <p:cNvPr id="275" name="TextBox 17"/>
          <p:cNvSpPr txBox="1"/>
          <p:nvPr/>
        </p:nvSpPr>
        <p:spPr>
          <a:xfrm>
            <a:off x="667512" y="4023360"/>
            <a:ext cx="5111496" cy="1143000"/>
          </a:xfrm>
          <a:prstGeom prst="rect">
            <a:avLst/>
          </a:prstGeom>
          <a:noFill/>
        </p:spPr>
        <p:txBody>
          <a:bodyPr wrap="square" lIns="0" tIns="0" rIns="0" bIns="0" anchor="t">
            <a:spAutoFit/>
          </a:bodyPr>
          <a:lstStyle/>
          <a:p>
            <a:pPr algn="l"/>
            <a:r>
              <a:rPr sz="1800" b="1">
                <a:solidFill>
                  <a:srgbClr val="23282D"/>
                </a:solidFill>
                <a:latin typeface="Arial"/>
              </a:rPr>
              <a:t>6 ÷ 1/2 = ______</a:t>
            </a:r>
          </a:p>
        </p:txBody>
      </p:sp>
      <p:sp>
        <p:nvSpPr>
          <p:cNvPr id="276" name="Rounded Rectangle 18"/>
          <p:cNvSpPr/>
          <p:nvPr/>
        </p:nvSpPr>
        <p:spPr>
          <a:xfrm>
            <a:off x="6181344" y="3593592"/>
            <a:ext cx="5413248" cy="1664208"/>
          </a:xfrm>
          <a:prstGeom prst="roundRect">
            <a:avLst/>
          </a:prstGeom>
          <a:solidFill>
            <a:srgbClr val="EDF8F3"/>
          </a:solidFill>
          <a:ln w="1524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7" name="Rectangle 19"/>
          <p:cNvSpPr/>
          <p:nvPr/>
        </p:nvSpPr>
        <p:spPr>
          <a:xfrm>
            <a:off x="6181344" y="3593592"/>
            <a:ext cx="73152" cy="1664208"/>
          </a:xfrm>
          <a:prstGeom prst="rect">
            <a:avLst/>
          </a:prstGeom>
          <a:solidFill>
            <a:srgbClr val="008A6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8" name="TextBox 20"/>
          <p:cNvSpPr txBox="1"/>
          <p:nvPr/>
        </p:nvSpPr>
        <p:spPr>
          <a:xfrm>
            <a:off x="6345936" y="3703320"/>
            <a:ext cx="5120640" cy="228600"/>
          </a:xfrm>
          <a:prstGeom prst="rect">
            <a:avLst/>
          </a:prstGeom>
          <a:noFill/>
        </p:spPr>
        <p:txBody>
          <a:bodyPr wrap="square" lIns="0" tIns="0" rIns="0" bIns="0" anchor="t">
            <a:spAutoFit/>
          </a:bodyPr>
          <a:lstStyle/>
          <a:p>
            <a:pPr algn="l"/>
            <a:r>
              <a:rPr sz="1400" b="1">
                <a:solidFill>
                  <a:srgbClr val="008A62"/>
                </a:solidFill>
                <a:latin typeface="Arial"/>
              </a:rPr>
              <a:t>QUESTION 4</a:t>
            </a:r>
          </a:p>
        </p:txBody>
      </p:sp>
      <p:sp>
        <p:nvSpPr>
          <p:cNvPr id="279" name="TextBox 21"/>
          <p:cNvSpPr txBox="1"/>
          <p:nvPr/>
        </p:nvSpPr>
        <p:spPr>
          <a:xfrm>
            <a:off x="6345936" y="4023360"/>
            <a:ext cx="5102352" cy="1143000"/>
          </a:xfrm>
          <a:prstGeom prst="rect">
            <a:avLst/>
          </a:prstGeom>
          <a:noFill/>
        </p:spPr>
        <p:txBody>
          <a:bodyPr wrap="square" lIns="0" tIns="0" rIns="0" bIns="0" anchor="t">
            <a:spAutoFit/>
          </a:bodyPr>
          <a:lstStyle/>
          <a:p>
            <a:pPr algn="l"/>
            <a:r>
              <a:rPr sz="1800" b="1">
                <a:solidFill>
                  <a:srgbClr val="23282D"/>
                </a:solidFill>
                <a:latin typeface="Arial"/>
              </a:rPr>
              <a:t>Check it: 25% of 48 = ______</a:t>
            </a:r>
          </a:p>
        </p:txBody>
      </p:sp>
      <p:sp>
        <p:nvSpPr>
          <p:cNvPr id="280" name="Rounded Rectangle 22"/>
          <p:cNvSpPr/>
          <p:nvPr/>
        </p:nvSpPr>
        <p:spPr>
          <a:xfrm>
            <a:off x="502920" y="5532120"/>
            <a:ext cx="11091672" cy="502920"/>
          </a:xfrm>
          <a:prstGeom prst="roundRect">
            <a:avLst/>
          </a:prstGeom>
          <a:solidFill>
            <a:srgbClr val="FCFCFD"/>
          </a:solidFill>
          <a:ln w="12700">
            <a:solidFill>
              <a:srgbClr val="D6E0E8"/>
            </a:solidFill>
          </a:ln>
        </p:spPr>
        <p:style>
          <a:lnRef idx="1">
            <a:schemeClr val="accent1"/>
          </a:lnRef>
          <a:fillRef idx="3">
            <a:schemeClr val="accent1"/>
          </a:fillRef>
          <a:effectRef idx="2">
            <a:schemeClr val="accent1"/>
          </a:effectRef>
          <a:fontRef idx="minor">
            <a:schemeClr val="lt1"/>
          </a:fontRef>
        </p:style>
        <p:txBody>
          <a:bodyPr rtlCol="0" anchor="ctr"/>
          <a:lstStyle/>
          <a:p>
            <a:pPr algn="ctr"/>
            <a:r>
              <a:rPr sz="1400" b="1">
                <a:solidFill>
                  <a:srgbClr val="1E2682"/>
                </a:solidFill>
                <a:latin typeface="Arial"/>
              </a:rPr>
              <a:t>TALK IT OVER:  “I got ______ because ______.”   •   Compare with a partner before we check as a class.</a:t>
            </a:r>
          </a:p>
        </p:txBody>
      </p:sp>
      <p:sp>
        <p:nvSpPr>
          <p:cNvPr id="281" name="UIFR Level 4 Move"/>
          <p:cNvSpPr txBox="1"/>
          <p:nvPr/>
        </p:nvSpPr>
        <p:spPr>
          <a:xfrm>
            <a:off x="6876288" y="73152"/>
            <a:ext cx="4416552" cy="365760"/>
          </a:xfrm>
          <a:prstGeom prst="roundRect">
            <a:avLst/>
          </a:prstGeom>
          <a:solidFill>
            <a:srgbClr val="1E2682"/>
          </a:solidFill>
          <a:ln>
            <a:noFill/>
          </a:ln>
        </p:spPr>
        <p:txBody>
          <a:bodyPr wrap="square" lIns="0" rIns="0" tIns="0" bIns="0" anchor="ctr">
            <a:noAutofit/>
          </a:bodyPr>
          <a:lstStyle/>
          <a:p>
            <a:pPr algn="ctr"/>
            <a:r>
              <a:rPr lang="en-US" sz="1000" b="1" dirty="0">
                <a:solidFill>
                  <a:srgbClr val="FFFFFF"/>
                </a:solidFill>
                <a:latin typeface="Arial"/>
              </a:rPr>
              <a:t>Turn and talk: compare strategies, then defend one.</a:t>
            </a:r>
          </a:p>
        </p:txBody>
      </p:sp>
      <p:sp>
        <p:nvSpPr>
          <p:cNvPr id="2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1 / 44</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2" name="Shape 512"/>
        <p:cNvGrpSpPr/>
        <p:nvPr/>
      </p:nvGrpSpPr>
      <p:grpSpPr>
        <a:xfrm>
          <a:off x="0" y="0"/>
          <a:ext cx="0" cy="0"/>
          <a:chOff x="0" y="0"/>
          <a:chExt cx="0" cy="0"/>
        </a:xfrm>
      </p:grpSpPr>
      <p:sp>
        <p:nvSpPr>
          <p:cNvPr id="513" name="Google Shape;513;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4" name="Google Shape;514;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5" name="Google Shape;515;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Math Notes</a:t>
            </a:r>
            <a:endParaRPr/>
          </a:p>
        </p:txBody>
      </p:sp>
      <p:sp>
        <p:nvSpPr>
          <p:cNvPr id="516" name="Google Shape;516;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4-5 · Determine the Whole Given the Part and Percent</a:t>
            </a:r>
            <a:endParaRPr/>
          </a:p>
        </p:txBody>
      </p:sp>
      <p:sp>
        <p:nvSpPr>
          <p:cNvPr id="517" name="Google Shape;517;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18" name="Google Shape;518;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519" name="Google Shape;519;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000" u="none" cap="none" strike="noStrike">
                <a:solidFill>
                  <a:srgbClr val="14223A"/>
                </a:solidFill>
                <a:latin typeface="Arial"/>
                <a:ea typeface="Arial"/>
                <a:cs typeface="Arial"/>
                <a:sym typeface="Arial"/>
              </a:rPr>
              <a:t>Section 2: Today’s Math</a:t>
            </a:r>
            <a:endParaRPr/>
          </a:p>
        </p:txBody>
      </p:sp>
      <p:sp>
        <p:nvSpPr>
          <p:cNvPr id="520" name="Google Shape;520;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Copy. Explain. Check.</a:t>
            </a:r>
            <a:endParaRPr/>
          </a:p>
        </p:txBody>
      </p:sp>
      <p:sp>
        <p:nvSpPr>
          <p:cNvPr id="522" name="Google Shape;522;p53"/>
          <p:cNvSpPr/>
          <p:nvPr/>
        </p:nvSpPr>
        <p:spPr>
          <a:xfrm>
            <a:off x="640080" y="2231136"/>
            <a:ext cx="10911809" cy="749808"/>
          </a:xfrm>
          <a:prstGeom prst="roundRect">
            <a:avLst>
              <a:gd fmla="val 70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3" name="Google Shape;523;p53"/>
          <p:cNvSpPr txBox="1"/>
          <p:nvPr/>
        </p:nvSpPr>
        <p:spPr>
          <a:xfrm>
            <a:off x="960120" y="2359152"/>
            <a:ext cx="10271729" cy="493775"/>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1" i="0" lang="en-US" sz="2700" u="none" cap="none" strike="noStrike">
                <a:solidFill>
                  <a:srgbClr val="14223A"/>
                </a:solidFill>
                <a:latin typeface="Arial"/>
                <a:ea typeface="Arial"/>
                <a:cs typeface="Arial"/>
                <a:sym typeface="Arial"/>
              </a:rPr>
              <a:t>Finding the Whole Given Part &amp; Percent</a:t>
            </a:r>
            <a:endParaRPr/>
          </a:p>
        </p:txBody>
      </p:sp>
      <p:sp>
        <p:nvSpPr>
          <p:cNvPr id="524" name="Google Shape;524;p53"/>
          <p:cNvSpPr/>
          <p:nvPr/>
        </p:nvSpPr>
        <p:spPr>
          <a:xfrm>
            <a:off x="640080" y="3182112"/>
            <a:ext cx="3749039" cy="603504"/>
          </a:xfrm>
          <a:prstGeom prst="roundRect">
            <a:avLst>
              <a:gd fmla="val 12000" name="adj"/>
            </a:avLst>
          </a:prstGeom>
          <a:solidFill>
            <a:srgbClr val="FFFFFF"/>
          </a:solidFill>
          <a:ln cap="flat" cmpd="sng" w="15875">
            <a:solidFill>
              <a:srgbClr val="C2410C"/>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768096" y="3264408"/>
            <a:ext cx="3493007" cy="438912"/>
          </a:xfrm>
          <a:prstGeom prst="rect">
            <a:avLst/>
          </a:prstGeom>
          <a:noFill/>
          <a:ln>
            <a:noFill/>
          </a:ln>
        </p:spPr>
        <p:txBody>
          <a:bodyPr anchorCtr="0" anchor="ctr" bIns="0" lIns="0" spcFirstLastPara="1" rIns="0" wrap="square" tIns="0">
            <a:spAutoFit/>
          </a:bodyPr>
          <a:lstStyle/>
          <a:p>
            <a:pPr indent="0" lvl="0" marL="0" marR="0" rtl="0" algn="ctr">
              <a:lnSpc>
                <a:spcPct val="100000"/>
              </a:lnSpc>
              <a:spcBef>
                <a:spcPts val="0"/>
              </a:spcBef>
              <a:spcAft>
                <a:spcPts val="0"/>
              </a:spcAft>
              <a:buNone/>
            </a:pPr>
            <a:r>
              <a:rPr b="1" i="0" lang="en-US" sz="2200" u="none" cap="none" strike="noStrike">
                <a:solidFill>
                  <a:srgbClr val="C2410C"/>
                </a:solidFill>
                <a:latin typeface="Arial"/>
                <a:ea typeface="Arial"/>
                <a:cs typeface="Arial"/>
                <a:sym typeface="Arial"/>
              </a:rPr>
              <a:t>Whole = Part ÷ Percent</a:t>
            </a:r>
            <a:endParaRPr/>
          </a:p>
        </p:txBody>
      </p:sp>
      <p:sp>
        <p:nvSpPr>
          <p:cNvPr id="526" name="Google Shape;526;p53"/>
          <p:cNvSpPr/>
          <p:nvPr/>
        </p:nvSpPr>
        <p:spPr>
          <a:xfrm>
            <a:off x="640080" y="4005072"/>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7" name="Google Shape;527;p53"/>
          <p:cNvSpPr/>
          <p:nvPr/>
        </p:nvSpPr>
        <p:spPr>
          <a:xfrm>
            <a:off x="896112" y="4151376"/>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1</a:t>
            </a:r>
            <a:endParaRPr/>
          </a:p>
        </p:txBody>
      </p:sp>
      <p:sp>
        <p:nvSpPr>
          <p:cNvPr id="528" name="Google Shape;528;p53"/>
          <p:cNvSpPr txBox="1"/>
          <p:nvPr/>
        </p:nvSpPr>
        <p:spPr>
          <a:xfrm>
            <a:off x="1371600" y="4087368"/>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Identify the given </a:t>
            </a:r>
            <a:r>
              <a:rPr b="1" i="0" lang="en-US" sz="1600" u="none" cap="none" strike="noStrike">
                <a:solidFill>
                  <a:srgbClr val="14223A"/>
                </a:solidFill>
                <a:latin typeface="Arial"/>
                <a:ea typeface="Arial"/>
                <a:cs typeface="Arial"/>
                <a:sym typeface="Arial"/>
              </a:rPr>
              <a:t xml:space="preserve">part</a:t>
            </a:r>
            <a:r>
              <a:rPr b="0" i="0" lang="en-US" sz="1600" u="none" cap="none" strike="noStrike">
                <a:solidFill>
                  <a:srgbClr val="14223A"/>
                </a:solidFill>
                <a:latin typeface="Arial"/>
                <a:ea typeface="Arial"/>
                <a:cs typeface="Arial"/>
                <a:sym typeface="Arial"/>
              </a:rPr>
              <a:t xml:space="preserve"> and the percentage it represents</a:t>
            </a:r>
            <a:endParaRPr/>
          </a:p>
        </p:txBody>
      </p:sp>
      <p:sp>
        <p:nvSpPr>
          <p:cNvPr id="529" name="Google Shape;529;p53"/>
          <p:cNvSpPr/>
          <p:nvPr/>
        </p:nvSpPr>
        <p:spPr>
          <a:xfrm>
            <a:off x="640080" y="4773168"/>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896112" y="4919472"/>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2</a:t>
            </a:r>
            <a:endParaRPr/>
          </a:p>
        </p:txBody>
      </p:sp>
      <p:sp>
        <p:nvSpPr>
          <p:cNvPr id="531" name="Google Shape;531;p53"/>
          <p:cNvSpPr txBox="1"/>
          <p:nvPr/>
        </p:nvSpPr>
        <p:spPr>
          <a:xfrm>
            <a:off x="1371600" y="4855464"/>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Convert the </a:t>
            </a:r>
            <a:r>
              <a:rPr b="1" i="0" lang="en-US" sz="1600" u="none" cap="none" strike="noStrike">
                <a:solidFill>
                  <a:srgbClr val="14223A"/>
                </a:solidFill>
                <a:latin typeface="Arial"/>
                <a:ea typeface="Arial"/>
                <a:cs typeface="Arial"/>
                <a:sym typeface="Arial"/>
              </a:rPr>
              <a:t xml:space="preserve">percent</a:t>
            </a:r>
            <a:r>
              <a:rPr b="0" i="0" lang="en-US" sz="1600" u="none" cap="none" strike="noStrike">
                <a:solidFill>
                  <a:srgbClr val="14223A"/>
                </a:solidFill>
                <a:latin typeface="Arial"/>
                <a:ea typeface="Arial"/>
                <a:cs typeface="Arial"/>
                <a:sym typeface="Arial"/>
              </a:rPr>
              <a:t xml:space="preserve"> to a </a:t>
            </a:r>
            <a:r>
              <a:rPr b="1" i="0" lang="en-US" sz="1600" u="none" cap="none" strike="noStrike">
                <a:solidFill>
                  <a:srgbClr val="14223A"/>
                </a:solidFill>
                <a:latin typeface="Arial"/>
                <a:ea typeface="Arial"/>
                <a:cs typeface="Arial"/>
                <a:sym typeface="Arial"/>
              </a:rPr>
              <a:t xml:space="preserve">decimal</a:t>
            </a:r>
            <a:r>
              <a:rPr b="0" i="0" lang="en-US" sz="1600" u="none" cap="none" strike="noStrike">
                <a:solidFill>
                  <a:srgbClr val="14223A"/>
                </a:solidFill>
                <a:latin typeface="Arial"/>
                <a:ea typeface="Arial"/>
                <a:cs typeface="Arial"/>
                <a:sym typeface="Arial"/>
              </a:rPr>
              <a:t xml:space="preserve"> or fraction</a:t>
            </a:r>
            <a:endParaRPr/>
          </a:p>
        </p:txBody>
      </p:sp>
      <p:sp>
        <p:nvSpPr>
          <p:cNvPr id="532" name="Google Shape;532;p53"/>
          <p:cNvSpPr/>
          <p:nvPr/>
        </p:nvSpPr>
        <p:spPr>
          <a:xfrm>
            <a:off x="640080" y="5541264"/>
            <a:ext cx="10911809" cy="621792"/>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3" name="Google Shape;533;p53"/>
          <p:cNvSpPr/>
          <p:nvPr/>
        </p:nvSpPr>
        <p:spPr>
          <a:xfrm>
            <a:off x="896112" y="5687568"/>
            <a:ext cx="329184" cy="329184"/>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300" u="none" cap="none" strike="noStrike">
                <a:solidFill>
                  <a:srgbClr val="FFFFFF"/>
                </a:solidFill>
                <a:latin typeface="Arial"/>
                <a:ea typeface="Arial"/>
                <a:cs typeface="Arial"/>
                <a:sym typeface="Arial"/>
              </a:rPr>
              <a:t>3</a:t>
            </a:r>
            <a:endParaRPr/>
          </a:p>
        </p:txBody>
      </p:sp>
      <p:sp>
        <p:nvSpPr>
          <p:cNvPr id="534" name="Google Shape;534;p53"/>
          <p:cNvSpPr txBox="1"/>
          <p:nvPr/>
        </p:nvSpPr>
        <p:spPr>
          <a:xfrm>
            <a:off x="1371600" y="5623560"/>
            <a:ext cx="10043129" cy="457200"/>
          </a:xfrm>
          <a:prstGeom prst="rect">
            <a:avLst/>
          </a:prstGeom>
          <a:noFill/>
          <a:ln>
            <a:noFill/>
          </a:ln>
        </p:spPr>
        <p:txBody>
          <a:bodyPr anchorCtr="0" anchor="ctr" bIns="0" lIns="0" spcFirstLastPara="1" rIns="0" wrap="square" tIns="0">
            <a:spAutoFit/>
          </a:bodyPr>
          <a:lstStyle/>
          <a:p>
            <a:pPr indent="0" lvl="0" marL="0" marR="0" rtl="0" algn="l">
              <a:lnSpc>
                <a:spcPct val="116000"/>
              </a:lnSpc>
              <a:spcBef>
                <a:spcPts val="0"/>
              </a:spcBef>
              <a:spcAft>
                <a:spcPts val="0"/>
              </a:spcAft>
              <a:buNone/>
            </a:pPr>
            <a:r>
              <a:rPr b="0" i="0" lang="en-US" sz="1600" u="none" cap="none" strike="noStrike">
                <a:solidFill>
                  <a:srgbClr val="14223A"/>
                </a:solidFill>
                <a:latin typeface="Arial"/>
                <a:ea typeface="Arial"/>
                <a:cs typeface="Arial"/>
                <a:sym typeface="Arial"/>
              </a:rPr>
              <a:t xml:space="preserve">Divide the part by the percent decimal to find the total </a:t>
            </a:r>
            <a:r>
              <a:rPr b="1" i="0" lang="en-US" sz="1600" u="none" cap="none" strike="noStrike">
                <a:solidFill>
                  <a:srgbClr val="14223A"/>
                </a:solidFill>
                <a:latin typeface="Arial"/>
                <a:ea typeface="Arial"/>
                <a:cs typeface="Arial"/>
                <a:sym typeface="Arial"/>
              </a:rPr>
              <a:t xml:space="preserve">whole</a:t>
            </a:r>
            <a:r>
              <a:rPr b="0" i="0" lang="en-US" sz="1600" u="none" cap="none" strike="noStrike">
                <a:solidFill>
                  <a:srgbClr val="14223A"/>
                </a:solidFill>
                <a:latin typeface="Arial"/>
                <a:ea typeface="Arial"/>
                <a:cs typeface="Arial"/>
                <a:sym typeface="Arial"/>
              </a:rPr>
              <a:t xml:space="preserve"> (100%)</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Partner talk: connect today’s idea to prior learning.</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3127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Read, cover, explain. Reopen your notes to</a:t>
            </a:r>
            <a:endParaRPr lang="en-US" sz="2000"/>
          </a:p>
          <a:p>
            <a:pPr>
              <a:lnSpc>
                <a:spcPts val="2400"/>
              </a:lnSpc>
              <a:buNone/>
            </a:pPr>
            <a:r>
              <a:rPr lang="en-US" sz="2000">
                <a:solidFill>
                  <a:srgbClr val="174D60"/>
                </a:solidFill>
                <a:latin typeface="Arial"/>
              </a:rPr>
              <a:t>check and improve your explanation.</a:t>
            </a:r>
            <a:endParaRPr lang="en-US" sz="2000"/>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4"/>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0" name="Google Shape;320;p44"/>
          <p:cNvSpPr/>
          <p:nvPr/>
        </p:nvSpPr>
        <p:spPr>
          <a:xfrm>
            <a:off x="0" y="0"/>
            <a:ext cx="12191969" cy="713232"/>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1" name="Google Shape;321;p44"/>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Today’s Objectives</a:t>
            </a:r>
            <a:endParaRPr/>
          </a:p>
        </p:txBody>
      </p:sp>
      <p:sp>
        <p:nvSpPr>
          <p:cNvPr id="322" name="Google Shape;322;p44"/>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4-5 · Determine the Whole Given the Part and Percent</a:t>
            </a:r>
            <a:endParaRPr/>
          </a:p>
        </p:txBody>
      </p:sp>
      <p:sp>
        <p:nvSpPr>
          <p:cNvPr id="323" name="Google Shape;323;p44"/>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4" name="Google Shape;324;p44"/>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25" name="Google Shape;325;p44"/>
          <p:cNvSpPr txBox="1"/>
          <p:nvPr/>
        </p:nvSpPr>
        <p:spPr>
          <a:xfrm>
            <a:off x="640080" y="969264"/>
            <a:ext cx="10911809" cy="617728"/>
          </a:xfrm>
          <a:prstGeom prst="rect">
            <a:avLst/>
          </a:prstGeom>
          <a:noFill/>
          <a:ln>
            <a:noFill/>
          </a:ln>
        </p:spPr>
        <p:txBody>
          <a:bodyPr anchorCtr="0" anchor="t" bIns="0" lIns="0" spcFirstLastPara="1" rIns="0" wrap="square" tIns="0">
            <a:spAutoFit/>
          </a:bodyPr>
          <a:lstStyle/>
          <a:p>
            <a:pPr indent="0" lvl="0" marL="0" marR="0" rtl="0" algn="l">
              <a:lnSpc>
                <a:spcPct val="112000"/>
              </a:lnSpc>
              <a:spcBef>
                <a:spcPts val="0"/>
              </a:spcBef>
              <a:spcAft>
                <a:spcPts val="0"/>
              </a:spcAft>
              <a:buNone/>
            </a:pPr>
            <a:r>
              <a:rPr b="1" i="0" lang="en-US" sz="3700" u="none" cap="none" strike="noStrike">
                <a:solidFill>
                  <a:srgbClr val="14223A"/>
                </a:solidFill>
                <a:latin typeface="Arial"/>
                <a:ea typeface="Arial"/>
                <a:cs typeface="Arial"/>
                <a:sym typeface="Arial"/>
              </a:rPr>
              <a:t>Determine the Whole Given the Part and Percent</a:t>
            </a:r>
            <a:endParaRPr/>
          </a:p>
        </p:txBody>
      </p:sp>
      <p:sp>
        <p:nvSpPr>
          <p:cNvPr id="326" name="Google Shape;326;p44"/>
          <p:cNvSpPr txBox="1"/>
          <p:nvPr/>
        </p:nvSpPr>
        <p:spPr>
          <a:xfrm>
            <a:off x="640080" y="1623568"/>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475569"/>
                </a:solidFill>
                <a:latin typeface="Arial"/>
                <a:ea typeface="Arial"/>
                <a:cs typeface="Arial"/>
                <a:sym typeface="Arial"/>
              </a:rPr>
              <a:t>Maryland Standard 6.AT.4</a:t>
            </a:r>
            <a:endParaRPr/>
          </a:p>
        </p:txBody>
      </p:sp>
      <p:sp>
        <p:nvSpPr>
          <p:cNvPr id="327" name="Google Shape;327;p44"/>
          <p:cNvSpPr/>
          <p:nvPr/>
        </p:nvSpPr>
        <p:spPr>
          <a:xfrm>
            <a:off x="640080" y="2432304"/>
            <a:ext cx="5349240" cy="3621024"/>
          </a:xfrm>
          <a:prstGeom prst="roundRect">
            <a:avLst>
              <a:gd fmla="val 4500" name="adj"/>
            </a:avLst>
          </a:prstGeom>
          <a:solidFill>
            <a:srgbClr val="E3F2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4"/>
          <p:cNvSpPr/>
          <p:nvPr/>
        </p:nvSpPr>
        <p:spPr>
          <a:xfrm>
            <a:off x="640080" y="2432304"/>
            <a:ext cx="118872" cy="3621024"/>
          </a:xfrm>
          <a:prstGeom prst="rect">
            <a:avLst/>
          </a:prstGeom>
          <a:solidFill>
            <a:srgbClr val="0F766E"/>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9" name="Google Shape;329;p44"/>
          <p:cNvSpPr txBox="1"/>
          <p:nvPr/>
        </p:nvSpPr>
        <p:spPr>
          <a:xfrm>
            <a:off x="1097280"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0F766E"/>
                </a:solidFill>
                <a:latin typeface="Arial"/>
                <a:ea typeface="Arial"/>
                <a:cs typeface="Arial"/>
                <a:sym typeface="Arial"/>
              </a:rPr>
              <a:t>CONTENT OBJECTIVE</a:t>
            </a:r>
            <a:endParaRPr/>
          </a:p>
        </p:txBody>
      </p:sp>
      <p:sp>
        <p:nvSpPr>
          <p:cNvPr id="330" name="Google Shape;330;p44"/>
          <p:cNvSpPr txBox="1"/>
          <p:nvPr/>
        </p:nvSpPr>
        <p:spPr>
          <a:xfrm>
            <a:off x="1097280"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Restate the goal in your words</a:t>
            </a:r>
            <a:endParaRPr/>
          </a:p>
        </p:txBody>
      </p:sp>
      <p:sp>
        <p:nvSpPr>
          <p:cNvPr id="331" name="Google Shape;331;p44"/>
          <p:cNvSpPr txBox="1"/>
          <p:nvPr/>
        </p:nvSpPr>
        <p:spPr>
          <a:xfrm>
            <a:off x="1097280"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i="0" lang="en-US" sz="2500" u="none" cap="none" strike="noStrike">
                <a:solidFill>
                  <a:srgbClr val="14223A"/>
                </a:solidFill>
                <a:latin typeface="Arial"/>
                <a:ea typeface="Arial"/>
                <a:cs typeface="Arial"/>
                <a:sym typeface="Arial"/>
              </a:rPr>
              <a:t>I can determine the whole when I know a part and the percent that part represents.</a:t>
            </a:r>
            <a:endParaRPr/>
          </a:p>
        </p:txBody>
      </p:sp>
      <p:sp>
        <p:nvSpPr>
          <p:cNvPr id="332" name="Google Shape;332;p44"/>
          <p:cNvSpPr/>
          <p:nvPr/>
        </p:nvSpPr>
        <p:spPr>
          <a:xfrm>
            <a:off x="6382512" y="2432304"/>
            <a:ext cx="5349240" cy="3621024"/>
          </a:xfrm>
          <a:prstGeom prst="roundRect">
            <a:avLst>
              <a:gd fmla="val 4500" name="adj"/>
            </a:avLst>
          </a:prstGeom>
          <a:solidFill>
            <a:srgbClr val="FDEEE3"/>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3" name="Google Shape;333;p44"/>
          <p:cNvSpPr/>
          <p:nvPr/>
        </p:nvSpPr>
        <p:spPr>
          <a:xfrm>
            <a:off x="6382512" y="2432304"/>
            <a:ext cx="118872" cy="3621024"/>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4" name="Google Shape;334;p44"/>
          <p:cNvSpPr txBox="1"/>
          <p:nvPr/>
        </p:nvSpPr>
        <p:spPr>
          <a:xfrm>
            <a:off x="6839712" y="2798064"/>
            <a:ext cx="448055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400" u="none" cap="none" strike="noStrike">
                <a:solidFill>
                  <a:srgbClr val="C2410C"/>
                </a:solidFill>
                <a:latin typeface="Arial"/>
                <a:ea typeface="Arial"/>
                <a:cs typeface="Arial"/>
                <a:sym typeface="Arial"/>
              </a:rPr>
              <a:t>LANGUAGE OBJECTIVE</a:t>
            </a:r>
            <a:endParaRPr/>
          </a:p>
        </p:txBody>
      </p:sp>
      <p:sp>
        <p:nvSpPr>
          <p:cNvPr id="335" name="Google Shape;335;p44"/>
          <p:cNvSpPr txBox="1"/>
          <p:nvPr/>
        </p:nvSpPr>
        <p:spPr>
          <a:xfrm>
            <a:off x="6839712" y="3127248"/>
            <a:ext cx="448055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Use these words to explain why</a:t>
            </a:r>
            <a:endParaRPr/>
          </a:p>
        </p:txBody>
      </p:sp>
      <p:sp>
        <p:nvSpPr>
          <p:cNvPr id="336" name="Google Shape;336;p44"/>
          <p:cNvSpPr txBox="1"/>
          <p:nvPr/>
        </p:nvSpPr>
        <p:spPr>
          <a:xfrm>
            <a:off x="6839712" y="3602736"/>
            <a:ext cx="4480559" cy="2048256"/>
          </a:xfrm>
          <a:prstGeom prst="rect">
            <a:avLst/>
          </a:prstGeom>
          <a:noFill/>
          <a:ln>
            <a:noFill/>
          </a:ln>
        </p:spPr>
        <p:txBody>
          <a:bodyPr anchorCtr="0" anchor="t" bIns="0" lIns="0" spcFirstLastPara="1" rIns="0" wrap="square" tIns="0">
            <a:spAutoFit/>
          </a:bodyPr>
          <a:lstStyle/>
          <a:p>
            <a:pPr indent="0" lvl="0" marL="0" marR="0" rtl="0" algn="l">
              <a:lnSpc>
                <a:spcPct val="124000"/>
              </a:lnSpc>
              <a:spcBef>
                <a:spcPts val="0"/>
              </a:spcBef>
              <a:spcAft>
                <a:spcPts val="0"/>
              </a:spcAft>
              <a:buNone/>
            </a:pPr>
            <a:r>
              <a:rPr b="1" i="0" lang="en-US" sz="2500" u="none" cap="none" strike="noStrike">
                <a:solidFill>
                  <a:srgbClr val="14223A"/>
                </a:solidFill>
                <a:latin typeface="Arial"/>
                <a:ea typeface="Arial"/>
                <a:cs typeface="Arial"/>
                <a:sym typeface="Arial"/>
              </a:rPr>
              <a:t>I can explain how I found the whole using the words part, whole, percent, and equation.</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Tell a partner the goal and why it matters.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 / 44</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4.5  /  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What will show your learning?</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Oval 4"/>
          <p:cNvSpPr/>
          <p:nvPr/>
        </p:nvSpPr>
        <p:spPr>
          <a:xfrm>
            <a:off x="640080" y="1874519"/>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795528" y="1929384"/>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1</a:t>
            </a:r>
          </a:p>
        </p:txBody>
      </p:sp>
      <p:sp>
        <p:nvSpPr>
          <p:cNvPr id="7" name="TextBox 6"/>
          <p:cNvSpPr txBox="1"/>
          <p:nvPr/>
        </p:nvSpPr>
        <p:spPr>
          <a:xfrm>
            <a:off x="1399032" y="1856231"/>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Identify the known part and percent.</a:t>
            </a:r>
          </a:p>
        </p:txBody>
      </p:sp>
      <p:sp>
        <p:nvSpPr>
          <p:cNvPr id="8" name="Oval 7"/>
          <p:cNvSpPr/>
          <p:nvPr/>
        </p:nvSpPr>
        <p:spPr>
          <a:xfrm>
            <a:off x="640080" y="2862072"/>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5528" y="2916936"/>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2</a:t>
            </a:r>
          </a:p>
        </p:txBody>
      </p:sp>
      <p:sp>
        <p:nvSpPr>
          <p:cNvPr id="10" name="TextBox 9"/>
          <p:cNvSpPr txBox="1"/>
          <p:nvPr/>
        </p:nvSpPr>
        <p:spPr>
          <a:xfrm>
            <a:off x="1399032" y="2843784"/>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Recover the whole.</a:t>
            </a:r>
          </a:p>
        </p:txBody>
      </p:sp>
      <p:sp>
        <p:nvSpPr>
          <p:cNvPr id="11" name="Oval 10"/>
          <p:cNvSpPr/>
          <p:nvPr/>
        </p:nvSpPr>
        <p:spPr>
          <a:xfrm>
            <a:off x="640080" y="3849624"/>
            <a:ext cx="502920" cy="502920"/>
          </a:xfrm>
          <a:prstGeom prst="ellipse">
            <a:avLst/>
          </a:prstGeom>
          <a:solidFill>
            <a:srgbClr val="096B6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95528" y="3904487"/>
            <a:ext cx="219456" cy="338328"/>
          </a:xfrm>
          <a:prstGeom prst="rect">
            <a:avLst/>
          </a:prstGeom>
          <a:noFill/>
        </p:spPr>
        <p:txBody>
          <a:bodyPr wrap="square" lIns="0" rIns="0" tIns="22860" bIns="0">
            <a:spAutoFit/>
          </a:bodyPr>
          <a:lstStyle/>
          <a:p>
            <a:pPr>
              <a:spcAft>
                <a:spcPts val="800"/>
              </a:spcAft>
              <a:defRPr sz="2000" b="1">
                <a:solidFill>
                  <a:srgbClr val="FFFFFF"/>
                </a:solidFill>
                <a:latin typeface="Arial"/>
              </a:defRPr>
            </a:pPr>
            <a:r>
              <a:rPr/>
              <a:t>3</a:t>
            </a:r>
          </a:p>
        </p:txBody>
      </p:sp>
      <p:sp>
        <p:nvSpPr>
          <p:cNvPr id="13" name="TextBox 12"/>
          <p:cNvSpPr txBox="1"/>
          <p:nvPr/>
        </p:nvSpPr>
        <p:spPr>
          <a:xfrm>
            <a:off x="1399032" y="3831336"/>
            <a:ext cx="10012680" cy="841248"/>
          </a:xfrm>
          <a:prstGeom prst="rect">
            <a:avLst/>
          </a:prstGeom>
          <a:noFill/>
        </p:spPr>
        <p:txBody>
          <a:bodyPr wrap="square" lIns="0" rIns="0" tIns="22860" bIns="0">
            <a:spAutoFit/>
          </a:bodyPr>
          <a:lstStyle/>
          <a:p>
            <a:pPr>
              <a:spcAft>
                <a:spcPts val="800"/>
              </a:spcAft>
              <a:defRPr sz="2500" b="0">
                <a:solidFill>
                  <a:srgbClr val="24384B"/>
                </a:solidFill>
                <a:latin typeface="Arial"/>
              </a:defRPr>
            </a:pPr>
            <a:r>
              <a:rPr/>
              <a:t>Verify by taking the stated percent.</a:t>
            </a:r>
          </a:p>
        </p:txBody>
      </p:sp>
      <p:sp>
        <p:nvSpPr>
          <p:cNvPr id="14" name="Rounded Rectangle 13"/>
          <p:cNvSpPr/>
          <p:nvPr/>
        </p:nvSpPr>
        <p:spPr>
          <a:xfrm>
            <a:off x="594360" y="5120640"/>
            <a:ext cx="10972800" cy="822960"/>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 y="5303520"/>
            <a:ext cx="10469880" cy="438912"/>
          </a:xfrm>
          <a:prstGeom prst="rect">
            <a:avLst/>
          </a:prstGeom>
          <a:noFill/>
        </p:spPr>
        <p:txBody>
          <a:bodyPr wrap="square" lIns="0" rIns="0" tIns="22860" bIns="0">
            <a:spAutoFit/>
          </a:bodyPr>
          <a:lstStyle/>
          <a:p>
            <a:pPr>
              <a:spcAft>
                <a:spcPts val="800"/>
              </a:spcAft>
              <a:defRPr sz="2200" b="0">
                <a:solidFill>
                  <a:srgbClr val="096B69"/>
                </a:solidFill>
                <a:latin typeface="Arial"/>
              </a:defRPr>
            </a:pPr>
            <a:r>
              <a:rPr/>
              <a:t>Tell a partner: Which skill connects to something you already know?</a:t>
            </a:r>
          </a:p>
        </p:txBody>
      </p:sp>
      <p:grpSp>
        <p:nvGrpSpPr>
          <p:cNvPr id="16" name="TEACH-1-student-move" descr="TEACH 1 · Facilitate clear, standards-based content learning"/>
          <p:cNvGrpSpPr/>
          <p:nvPr/>
        </p:nvGrpSpPr>
        <p:grpSpPr>
          <a:xfrm>
            <a:off x="502920" y="5824728"/>
            <a:ext cx="11186160" cy="402336"/>
            <a:chOff x="502920" y="5824728"/>
            <a:chExt cx="11186160" cy="402336"/>
          </a:xfrm>
        </p:grpSpPr>
        <p:sp>
          <p:nvSpPr>
            <p:cNvPr id="17"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8"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9"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SAY THE GOAL  ·  </a:t>
              </a:r>
              <a:r>
                <a:rPr lang="en-US" sz="1200" dirty="0">
                  <a:solidFill>
                    <a:srgbClr val="13303A"/>
                  </a:solidFill>
                  <a:latin typeface="Arial"/>
                </a:rPr>
                <a:t>Say today’s goal in your own words, then name one place this shows up outside math class.</a:t>
              </a:r>
              <a:endParaRPr lang="en-US" sz="1200"/>
            </a:p>
          </p:txBody>
        </p:sp>
      </p:gr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77" name="Google Shape;377;p46"/>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8" name="Google Shape;378;p46"/>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9" name="Google Shape;379;p46"/>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1 of 6</a:t>
            </a:r>
            <a:endParaRPr/>
          </a:p>
        </p:txBody>
      </p:sp>
      <p:sp>
        <p:nvSpPr>
          <p:cNvPr id="380" name="Google Shape;380;p46"/>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4-5 · Determine the Whole Given the Part and Percent</a:t>
            </a:r>
            <a:endParaRPr/>
          </a:p>
        </p:txBody>
      </p:sp>
      <p:sp>
        <p:nvSpPr>
          <p:cNvPr id="381" name="Google Shape;381;p46"/>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2" name="Google Shape;382;p46"/>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383" name="Google Shape;383;p46"/>
          <p:cNvSpPr txBox="1"/>
          <p:nvPr/>
        </p:nvSpPr>
        <p:spPr>
          <a:xfrm>
            <a:off x="640080" y="1607057"/>
            <a:ext cx="5897880" cy="120700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3600" u="none" cap="none" strike="noStrike">
                <a:solidFill>
                  <a:srgbClr val="14223A"/>
                </a:solidFill>
                <a:latin typeface="Arial"/>
                <a:ea typeface="Arial"/>
                <a:cs typeface="Arial"/>
                <a:sym typeface="Arial"/>
              </a:rPr>
              <a:t>Determine the Whole Given the Part and Percent</a:t>
            </a:r>
            <a:endParaRPr/>
          </a:p>
        </p:txBody>
      </p:sp>
      <p:sp>
        <p:nvSpPr>
          <p:cNvPr id="384" name="Google Shape;384;p46"/>
          <p:cNvSpPr/>
          <p:nvPr/>
        </p:nvSpPr>
        <p:spPr>
          <a:xfrm>
            <a:off x="658368" y="3033521"/>
            <a:ext cx="29260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5" name="Google Shape;385;p46"/>
          <p:cNvSpPr txBox="1"/>
          <p:nvPr/>
        </p:nvSpPr>
        <p:spPr>
          <a:xfrm>
            <a:off x="640080" y="3394709"/>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Working backwards from a part and its percent to find the whole amount it came from.</a:t>
            </a:r>
            <a:endParaRPr/>
          </a:p>
        </p:txBody>
      </p:sp>
      <p:sp>
        <p:nvSpPr>
          <p:cNvPr id="386" name="Google Shape;386;p46"/>
          <p:cNvSpPr/>
          <p:nvPr/>
        </p:nvSpPr>
        <p:spPr>
          <a:xfrm>
            <a:off x="640080" y="4519422"/>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7" name="Google Shape;387;p46"/>
          <p:cNvSpPr/>
          <p:nvPr/>
        </p:nvSpPr>
        <p:spPr>
          <a:xfrm>
            <a:off x="640080" y="4519422"/>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88" name="Google Shape;388;p46"/>
          <p:cNvSpPr txBox="1"/>
          <p:nvPr/>
        </p:nvSpPr>
        <p:spPr>
          <a:xfrm>
            <a:off x="932688" y="4693158"/>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389" name="Google Shape;389;p46"/>
          <p:cNvSpPr txBox="1"/>
          <p:nvPr/>
        </p:nvSpPr>
        <p:spPr>
          <a:xfrm>
            <a:off x="932688" y="4994910"/>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$42 is 60% of what? → $70</a:t>
            </a:r>
            <a:endParaRPr/>
          </a:p>
        </p:txBody>
      </p:sp>
      <p:pic>
        <p:nvPicPr>
          <p:cNvPr descr="percent-base.png" id="390" name="Google Shape;390;p46"/>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5 / 44</a:t>
            </a:r>
          </a:p>
        </p:txBody>
      </p:sp>
      <p:grpSp>
        <p:nvGrpSpPr>
          <p:cNvPr id="9003" name="TEACH-5-student-move" descr="TEACH 5 · Facilitate student interactions and academic talk"/>
          <p:cNvGrpSpPr/>
          <p:nvPr/>
        </p:nvGrpSpPr>
        <p:grpSpPr>
          <a:xfrm>
            <a:off x="502920" y="5751576"/>
            <a:ext cx="11186160" cy="548640"/>
            <a:chOff x="502920" y="5751576"/>
            <a:chExt cx="11186160" cy="548640"/>
          </a:xfrm>
        </p:grpSpPr>
        <p:sp>
          <p:nvSpPr>
            <p:cNvPr id="9004"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USE THE MATH WORDS  ·  </a:t>
              </a:r>
              <a:r>
                <a:rPr lang="en-US" sz="1400" dirty="0">
                  <a:solidFill>
                    <a:srgbClr val="13303A"/>
                  </a:solidFill>
                  <a:latin typeface="Arial"/>
                </a:rPr>
                <a:t>Use today’s math words in your explanation — not “it” and “that thing.”</a:t>
              </a:r>
              <a:endParaRPr lang="en-US" sz="1400"/>
            </a:p>
          </p:txBody>
        </p:sp>
      </p:gr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395" name="Google Shape;395;p47"/>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6" name="Google Shape;396;p47"/>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97" name="Google Shape;397;p47"/>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2 of 6</a:t>
            </a:r>
            <a:endParaRPr/>
          </a:p>
        </p:txBody>
      </p:sp>
      <p:sp>
        <p:nvSpPr>
          <p:cNvPr id="398" name="Google Shape;398;p47"/>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4-5 · Determine the Whole Given the Part and Percent</a:t>
            </a:r>
            <a:endParaRPr/>
          </a:p>
        </p:txBody>
      </p:sp>
      <p:sp>
        <p:nvSpPr>
          <p:cNvPr id="399" name="Google Shape;399;p47"/>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0" name="Google Shape;400;p47"/>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01" name="Google Shape;401;p47"/>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Part</a:t>
            </a:r>
            <a:endParaRPr/>
          </a:p>
        </p:txBody>
      </p:sp>
      <p:sp>
        <p:nvSpPr>
          <p:cNvPr id="402" name="Google Shape;402;p47"/>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3" name="Google Shape;403;p47"/>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amount you already know — the piece of the whole that the percent describes.</a:t>
            </a:r>
            <a:endParaRPr/>
          </a:p>
        </p:txBody>
      </p:sp>
      <p:sp>
        <p:nvSpPr>
          <p:cNvPr id="404" name="Google Shape;404;p47"/>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5" name="Google Shape;405;p47"/>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06" name="Google Shape;406;p47"/>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07" name="Google Shape;407;p47"/>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$42 sale price is the part</a:t>
            </a:r>
            <a:endParaRPr/>
          </a:p>
        </p:txBody>
      </p:sp>
      <p:pic>
        <p:nvPicPr>
          <p:cNvPr descr="percent-part.png" id="408" name="Google Shape;408;p47"/>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6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“Part” to explain the example. Point to evidence.</a:t>
            </a:r>
            <a:endParaRPr lang="en-US" sz="2000"/>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13" name="Google Shape;413;p48"/>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4" name="Google Shape;414;p48"/>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5" name="Google Shape;415;p48"/>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3 of 6</a:t>
            </a:r>
            <a:endParaRPr/>
          </a:p>
        </p:txBody>
      </p:sp>
      <p:sp>
        <p:nvSpPr>
          <p:cNvPr id="416" name="Google Shape;416;p48"/>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4-5 · Determine the Whole Given the Part and Percent</a:t>
            </a:r>
            <a:endParaRPr/>
          </a:p>
        </p:txBody>
      </p:sp>
      <p:sp>
        <p:nvSpPr>
          <p:cNvPr id="417" name="Google Shape;417;p48"/>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18" name="Google Shape;418;p48"/>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19" name="Google Shape;419;p48"/>
          <p:cNvSpPr txBox="1"/>
          <p:nvPr/>
        </p:nvSpPr>
        <p:spPr>
          <a:xfrm>
            <a:off x="640080" y="1902714"/>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Whole</a:t>
            </a:r>
            <a:endParaRPr/>
          </a:p>
        </p:txBody>
      </p:sp>
      <p:sp>
        <p:nvSpPr>
          <p:cNvPr id="420" name="Google Shape;420;p48"/>
          <p:cNvSpPr/>
          <p:nvPr/>
        </p:nvSpPr>
        <p:spPr>
          <a:xfrm>
            <a:off x="658368" y="2737866"/>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1" name="Google Shape;421;p48"/>
          <p:cNvSpPr txBox="1"/>
          <p:nvPr/>
        </p:nvSpPr>
        <p:spPr>
          <a:xfrm>
            <a:off x="640080" y="3099054"/>
            <a:ext cx="5897880" cy="704088"/>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The full amount the percent is measured against. The whole is always 100%.</a:t>
            </a:r>
            <a:endParaRPr/>
          </a:p>
        </p:txBody>
      </p:sp>
      <p:sp>
        <p:nvSpPr>
          <p:cNvPr id="422" name="Google Shape;422;p48"/>
          <p:cNvSpPr/>
          <p:nvPr/>
        </p:nvSpPr>
        <p:spPr>
          <a:xfrm>
            <a:off x="640080" y="4223766"/>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3" name="Google Shape;423;p48"/>
          <p:cNvSpPr/>
          <p:nvPr/>
        </p:nvSpPr>
        <p:spPr>
          <a:xfrm>
            <a:off x="640080" y="4223766"/>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24" name="Google Shape;424;p48"/>
          <p:cNvSpPr txBox="1"/>
          <p:nvPr/>
        </p:nvSpPr>
        <p:spPr>
          <a:xfrm>
            <a:off x="932688" y="4397502"/>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25" name="Google Shape;425;p48"/>
          <p:cNvSpPr txBox="1"/>
          <p:nvPr/>
        </p:nvSpPr>
        <p:spPr>
          <a:xfrm>
            <a:off x="932688" y="4699254"/>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The original price is the whole = 100%</a:t>
            </a:r>
            <a:endParaRPr/>
          </a:p>
        </p:txBody>
      </p:sp>
      <p:pic>
        <p:nvPicPr>
          <p:cNvPr descr="part-to-whole.png" id="426" name="Google Shape;426;p48"/>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7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“Whole” to explain the example. Point to evidence.</a:t>
            </a:r>
            <a:endParaRPr lang="en-US" sz="2000"/>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31" name="Google Shape;431;p49"/>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2" name="Google Shape;432;p49"/>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3" name="Google Shape;433;p49"/>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Vocabulary  4 of 6</a:t>
            </a:r>
            <a:endParaRPr/>
          </a:p>
        </p:txBody>
      </p:sp>
      <p:sp>
        <p:nvSpPr>
          <p:cNvPr id="434" name="Google Shape;434;p49"/>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4-5 · Determine the Whole Given the Part and Percent</a:t>
            </a:r>
            <a:endParaRPr/>
          </a:p>
        </p:txBody>
      </p:sp>
      <p:sp>
        <p:nvSpPr>
          <p:cNvPr id="435" name="Google Shape;435;p49"/>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6" name="Google Shape;436;p49"/>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437" name="Google Shape;437;p49"/>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4400" u="none" cap="none" strike="noStrike">
                <a:solidFill>
                  <a:srgbClr val="14223A"/>
                </a:solidFill>
                <a:latin typeface="Arial"/>
                <a:ea typeface="Arial"/>
                <a:cs typeface="Arial"/>
                <a:sym typeface="Arial"/>
              </a:rPr>
              <a:t>Double number line</a:t>
            </a:r>
            <a:endParaRPr/>
          </a:p>
        </p:txBody>
      </p:sp>
      <p:sp>
        <p:nvSpPr>
          <p:cNvPr id="438" name="Google Shape;438;p49"/>
          <p:cNvSpPr/>
          <p:nvPr/>
        </p:nvSpPr>
        <p:spPr>
          <a:xfrm>
            <a:off x="658368" y="2561844"/>
            <a:ext cx="2139696"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39" name="Google Shape;439;p49"/>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defRPr/>
            </a:pPr>
            <a:r>
              <a:rPr b="0" i="0" lang="en-US" sz="2200" u="none" cap="none" strike="noStrike">
                <a:solidFill>
                  <a:srgbClr val="14223A"/>
                </a:solidFill>
                <a:latin typeface="Arial"/>
                <a:ea typeface="Arial"/>
                <a:cs typeface="Arial"/>
                <a:sym typeface="Arial"/>
              </a:rPr>
              <a:t>Two lines lined up — dollars on one, percents on the other — so matching marks show the same amount two ways.</a:t>
            </a:r>
            <a:endParaRPr/>
          </a:p>
        </p:txBody>
      </p:sp>
      <p:sp>
        <p:nvSpPr>
          <p:cNvPr id="440" name="Google Shape;440;p49"/>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1" name="Google Shape;441;p49"/>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42" name="Google Shape;442;p49"/>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150" u="none" cap="none" strike="noStrike">
                <a:solidFill>
                  <a:srgbClr val="C2410C"/>
                </a:solidFill>
                <a:latin typeface="Arial"/>
                <a:ea typeface="Arial"/>
                <a:cs typeface="Arial"/>
                <a:sym typeface="Arial"/>
              </a:rPr>
              <a:t>EXAMPLE · EXPLAIN WHY IT FITS</a:t>
            </a:r>
            <a:endParaRPr/>
          </a:p>
        </p:txBody>
      </p:sp>
      <p:sp>
        <p:nvSpPr>
          <p:cNvPr id="443" name="Google Shape;443;p49"/>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0" i="0" lang="en-US" sz="1700" u="none" cap="none" strike="noStrike">
                <a:solidFill>
                  <a:srgbClr val="14223A"/>
                </a:solidFill>
                <a:latin typeface="Arial"/>
                <a:ea typeface="Arial"/>
                <a:cs typeface="Arial"/>
                <a:sym typeface="Arial"/>
              </a:rPr>
              <a:t>$0, $7, $42, $70 above 0%, 10%, 60%, 100%</a:t>
            </a:r>
            <a:endParaRPr/>
          </a:p>
        </p:txBody>
      </p:sp>
      <p:pic>
        <p:nvPicPr>
          <p:cNvPr descr="number-line.png" id="444" name="Google Shape;444;p49"/>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8 / 44</a:t>
            </a:r>
          </a:p>
        </p:txBody>
      </p:sp>
      <p:grpSp>
        <p:nvGrpSpPr>
          <p:cNvPr id="9003" name="TEACH-5-student-move" descr="TEACH 5 · Facilitate student interactions and academic talk"/>
          <p:cNvGrpSpPr/>
          <p:nvPr/>
        </p:nvGrpSpPr>
        <p:grpSpPr>
          <a:xfrm>
            <a:off x="502920" y="5751576"/>
            <a:ext cx="11186160" cy="548640"/>
            <a:chOff x="502920" y="5751576"/>
            <a:chExt cx="11186160" cy="548640"/>
          </a:xfrm>
        </p:grpSpPr>
        <p:sp>
          <p:nvSpPr>
            <p:cNvPr id="9004" name="TEACH-move-card"/>
            <p:cNvSpPr/>
            <p:nvPr/>
          </p:nvSpPr>
          <p:spPr>
            <a:xfrm>
              <a:off x="502920" y="5751576"/>
              <a:ext cx="11186160" cy="548640"/>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855818"/>
              <a:ext cx="100584" cy="340156"/>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751576"/>
              <a:ext cx="10728960" cy="548640"/>
            </a:xfrm>
            <a:prstGeom prst="rect">
              <a:avLst/>
            </a:prstGeom>
            <a:noFill/>
            <a:ln>
              <a:noFill/>
            </a:ln>
          </p:spPr>
          <p:txBody>
            <a:bodyPr wrap="square" lIns="0" tIns="0" rIns="0" bIns="0" anchor="ctr">
              <a:noAutofit/>
            </a:bodyPr>
            <a:lstStyle/>
            <a:p>
              <a:pPr algn="l">
                <a:buNone/>
              </a:pPr>
              <a:r>
                <a:rPr lang="en-US" sz="1400" b="1" dirty="0">
                  <a:solidFill>
                    <a:srgbClr val="01708C"/>
                  </a:solidFill>
                  <a:latin typeface="Arial"/>
                </a:rPr>
                <a:t>ADD ON  ·  </a:t>
              </a:r>
              <a:r>
                <a:rPr lang="en-US" sz="1400" dirty="0">
                  <a:solidFill>
                    <a:srgbClr val="13303A"/>
                  </a:solidFill>
                  <a:latin typeface="Arial"/>
                </a:rPr>
                <a:t>Add on: “I agree because ______.”  or  “I see it differently because ______.”</a:t>
              </a:r>
              <a:endParaRPr lang="en-US" sz="1400"/>
            </a:p>
          </p:txBody>
        </p:sp>
      </p:gr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49" name="Google Shape;449;p50"/>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0" name="Google Shape;450;p50"/>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1" name="Google Shape;451;p50"/>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5 of 6</a:t>
            </a:r>
            <a:endParaRPr/>
          </a:p>
        </p:txBody>
      </p:sp>
      <p:sp>
        <p:nvSpPr>
          <p:cNvPr id="452" name="Google Shape;452;p50"/>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4-5 · Determine the Whole Given the Part and Percent</a:t>
            </a:r>
            <a:endParaRPr/>
          </a:p>
        </p:txBody>
      </p:sp>
      <p:sp>
        <p:nvSpPr>
          <p:cNvPr id="453" name="Google Shape;453;p50"/>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4" name="Google Shape;454;p50"/>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55" name="Google Shape;455;p50"/>
          <p:cNvSpPr txBox="1"/>
          <p:nvPr/>
        </p:nvSpPr>
        <p:spPr>
          <a:xfrm>
            <a:off x="640080" y="162763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Equation</a:t>
            </a:r>
            <a:endParaRPr/>
          </a:p>
        </p:txBody>
      </p:sp>
      <p:sp>
        <p:nvSpPr>
          <p:cNvPr id="456" name="Google Shape;456;p50"/>
          <p:cNvSpPr/>
          <p:nvPr/>
        </p:nvSpPr>
        <p:spPr>
          <a:xfrm>
            <a:off x="658368" y="2462784"/>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7" name="Google Shape;457;p50"/>
          <p:cNvSpPr txBox="1"/>
          <p:nvPr/>
        </p:nvSpPr>
        <p:spPr>
          <a:xfrm>
            <a:off x="640080" y="282397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math sentence with an equal sign. Here it says percent × whole = part, with the whole unknown.</a:t>
            </a:r>
            <a:endParaRPr/>
          </a:p>
        </p:txBody>
      </p:sp>
      <p:sp>
        <p:nvSpPr>
          <p:cNvPr id="458" name="Google Shape;458;p50"/>
          <p:cNvSpPr/>
          <p:nvPr/>
        </p:nvSpPr>
        <p:spPr>
          <a:xfrm>
            <a:off x="640080" y="4300728"/>
            <a:ext cx="5897880" cy="124968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59" name="Google Shape;459;p50"/>
          <p:cNvSpPr/>
          <p:nvPr/>
        </p:nvSpPr>
        <p:spPr>
          <a:xfrm>
            <a:off x="640080" y="4300728"/>
            <a:ext cx="91440" cy="124968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0" name="Google Shape;460;p50"/>
          <p:cNvSpPr txBox="1"/>
          <p:nvPr/>
        </p:nvSpPr>
        <p:spPr>
          <a:xfrm>
            <a:off x="932688" y="447446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61" name="Google Shape;461;p50"/>
          <p:cNvSpPr txBox="1"/>
          <p:nvPr/>
        </p:nvSpPr>
        <p:spPr>
          <a:xfrm>
            <a:off x="932688" y="4776215"/>
            <a:ext cx="5330952" cy="6278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0.7v = 26,600 — the percent times the unknown whole equals the part</a:t>
            </a:r>
            <a:endParaRPr/>
          </a:p>
        </p:txBody>
      </p:sp>
      <p:pic>
        <p:nvPicPr>
          <p:cNvPr descr="equation-0-7v.png" id="462" name="Google Shape;462;p50"/>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9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“Equation” to explain the example. Point to evidence.</a:t>
            </a:r>
            <a:endParaRPr lang="en-US" sz="2000"/>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467" name="Google Shape;467;p51"/>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8" name="Google Shape;468;p51"/>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69" name="Google Shape;469;p51"/>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  6 of 6</a:t>
            </a:r>
            <a:endParaRPr/>
          </a:p>
        </p:txBody>
      </p:sp>
      <p:sp>
        <p:nvSpPr>
          <p:cNvPr id="470" name="Google Shape;470;p51"/>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4-5 · Determine the Whole Given the Part and Percent</a:t>
            </a:r>
            <a:endParaRPr/>
          </a:p>
        </p:txBody>
      </p:sp>
      <p:sp>
        <p:nvSpPr>
          <p:cNvPr id="471" name="Google Shape;471;p51"/>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2" name="Google Shape;472;p51"/>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473" name="Google Shape;473;p51"/>
          <p:cNvSpPr txBox="1"/>
          <p:nvPr/>
        </p:nvSpPr>
        <p:spPr>
          <a:xfrm>
            <a:off x="640080" y="1726691"/>
            <a:ext cx="5897880" cy="780288"/>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1" i="0" lang="en-US" sz="4400" u="none" cap="none" strike="noStrike">
                <a:solidFill>
                  <a:srgbClr val="14223A"/>
                </a:solidFill>
                <a:latin typeface="Arial"/>
                <a:ea typeface="Arial"/>
                <a:cs typeface="Arial"/>
                <a:sym typeface="Arial"/>
              </a:rPr>
              <a:t>Percent</a:t>
            </a:r>
            <a:endParaRPr/>
          </a:p>
        </p:txBody>
      </p:sp>
      <p:sp>
        <p:nvSpPr>
          <p:cNvPr id="474" name="Google Shape;474;p51"/>
          <p:cNvSpPr/>
          <p:nvPr/>
        </p:nvSpPr>
        <p:spPr>
          <a:xfrm>
            <a:off x="658368" y="2561844"/>
            <a:ext cx="1097280" cy="68580"/>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5" name="Google Shape;475;p51"/>
          <p:cNvSpPr txBox="1"/>
          <p:nvPr/>
        </p:nvSpPr>
        <p:spPr>
          <a:xfrm>
            <a:off x="640080" y="2923032"/>
            <a:ext cx="5897880" cy="1056132"/>
          </a:xfrm>
          <a:prstGeom prst="rect">
            <a:avLst/>
          </a:prstGeom>
          <a:noFill/>
          <a:ln>
            <a:noFill/>
          </a:ln>
        </p:spPr>
        <p:txBody>
          <a:bodyPr anchorCtr="0" anchor="t" bIns="0" lIns="0" spcFirstLastPara="1" rIns="0" wrap="square" tIns="0">
            <a:spAutoFit/>
          </a:bodyPr>
          <a:lstStyle/>
          <a:p>
            <a:pPr indent="0" lvl="0" marL="0" marR="0" rtl="0" algn="l">
              <a:lnSpc>
                <a:spcPct val="126000"/>
              </a:lnSpc>
              <a:spcBef>
                <a:spcPts val="0"/>
              </a:spcBef>
              <a:spcAft>
                <a:spcPts val="0"/>
              </a:spcAft>
              <a:buNone/>
            </a:pPr>
            <a:r>
              <a:rPr b="0" i="0" lang="en-US" sz="2200" u="none" cap="none" strike="noStrike">
                <a:solidFill>
                  <a:srgbClr val="14223A"/>
                </a:solidFill>
                <a:latin typeface="Arial"/>
                <a:ea typeface="Arial"/>
                <a:cs typeface="Arial"/>
                <a:sym typeface="Arial"/>
              </a:rPr>
              <a:t>A ratio comparing a number to 100. To compute with it, write it in decimal form: 60% = 0.6.</a:t>
            </a:r>
            <a:endParaRPr/>
          </a:p>
        </p:txBody>
      </p:sp>
      <p:sp>
        <p:nvSpPr>
          <p:cNvPr id="476" name="Google Shape;476;p51"/>
          <p:cNvSpPr/>
          <p:nvPr/>
        </p:nvSpPr>
        <p:spPr>
          <a:xfrm>
            <a:off x="640080" y="4399788"/>
            <a:ext cx="5897880" cy="1051560"/>
          </a:xfrm>
          <a:prstGeom prst="roundRect">
            <a:avLst>
              <a:gd fmla="val 7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7" name="Google Shape;477;p51"/>
          <p:cNvSpPr/>
          <p:nvPr/>
        </p:nvSpPr>
        <p:spPr>
          <a:xfrm>
            <a:off x="640080" y="4399788"/>
            <a:ext cx="91440" cy="105156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478" name="Google Shape;478;p51"/>
          <p:cNvSpPr txBox="1"/>
          <p:nvPr/>
        </p:nvSpPr>
        <p:spPr>
          <a:xfrm>
            <a:off x="932688" y="4573524"/>
            <a:ext cx="5330952" cy="23774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1150" u="none" cap="none" strike="noStrike">
                <a:solidFill>
                  <a:srgbClr val="C2410C"/>
                </a:solidFill>
                <a:latin typeface="Arial"/>
                <a:ea typeface="Arial"/>
                <a:cs typeface="Arial"/>
                <a:sym typeface="Arial"/>
              </a:rPr>
              <a:t>EXAMPLE · EXPLAIN WHY IT FITS</a:t>
            </a:r>
            <a:endParaRPr/>
          </a:p>
        </p:txBody>
      </p:sp>
      <p:sp>
        <p:nvSpPr>
          <p:cNvPr id="479" name="Google Shape;479;p51"/>
          <p:cNvSpPr txBox="1"/>
          <p:nvPr/>
        </p:nvSpPr>
        <p:spPr>
          <a:xfrm>
            <a:off x="932688" y="4875276"/>
            <a:ext cx="5330952" cy="429767"/>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pPr>
            <a:r>
              <a:rPr b="0" i="0" lang="en-US" sz="1700" u="none" cap="none" strike="noStrike">
                <a:solidFill>
                  <a:srgbClr val="14223A"/>
                </a:solidFill>
                <a:latin typeface="Arial"/>
                <a:ea typeface="Arial"/>
                <a:cs typeface="Arial"/>
                <a:sym typeface="Arial"/>
              </a:rPr>
              <a:t>60% = 0.6 · 70% = 0.7</a:t>
            </a:r>
            <a:endParaRPr/>
          </a:p>
        </p:txBody>
      </p:sp>
      <p:pic>
        <p:nvPicPr>
          <p:cNvPr descr="percent.png" id="480" name="Google Shape;480;p51"/>
          <p:cNvPicPr preferRelativeResize="0"/>
          <p:nvPr/>
        </p:nvPicPr>
        <p:blipFill rotWithShape="1">
          <a:blip r:embed="rId2">
            <a:alphaModFix/>
          </a:blip>
          <a:srcRect b="0" l="0" r="0" t="0"/>
          <a:stretch/>
        </p:blipFill>
        <p:spPr>
          <a:xfrm>
            <a:off x="6903720" y="1853738"/>
            <a:ext cx="4572000" cy="3424843"/>
          </a:xfrm>
          <a:prstGeom prst="rect">
            <a:avLst/>
          </a:prstGeom>
          <a:noFill/>
          <a:ln>
            <a:noFill/>
          </a:ln>
        </p:spPr>
      </p:pic>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10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4099560" y="5815584"/>
            <a:ext cx="749808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Use “Percent” to explain the example. Point to evidence.</a:t>
            </a:r>
            <a:endParaRPr lang="en-US" sz="2000"/>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549" name="Google Shape;549;p5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550" name="Google Shape;550;p55"/>
          <p:cNvSpPr txBox="1"/>
          <p:nvPr/>
        </p:nvSpPr>
        <p:spPr>
          <a:xfrm>
            <a:off x="474055" y="936100"/>
            <a:ext cx="3769471" cy="1283317"/>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notice?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What do you wonder?</a:t>
            </a:r>
            <a:endParaRPr b="0" i="0" sz="2800" u="none" cap="none" strike="noStrike">
              <a:solidFill>
                <a:srgbClr val="262626"/>
              </a:solidFill>
              <a:latin typeface="Arial"/>
              <a:ea typeface="Arial"/>
              <a:cs typeface="Arial"/>
              <a:sym typeface="Arial"/>
            </a:endParaRPr>
          </a:p>
        </p:txBody>
      </p:sp>
      <p:sp>
        <p:nvSpPr>
          <p:cNvPr id="551" name="Google Shape;551;p55"/>
          <p:cNvSpPr txBox="1"/>
          <p:nvPr/>
        </p:nvSpPr>
        <p:spPr>
          <a:xfrm>
            <a:off x="484560" y="316034"/>
            <a:ext cx="3904129" cy="57869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defRPr/>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pic>
        <p:nvPicPr>
          <p:cNvPr id="552" name="Google Shape;552;p55"/>
          <p:cNvPicPr preferRelativeResize="0"/>
          <p:nvPr/>
        </p:nvPicPr>
        <p:blipFill rotWithShape="1">
          <a:blip r:embed="rId2">
            <a:alphaModFix/>
          </a:blip>
          <a:srcRect b="0" l="0" r="0" t="0"/>
          <a:stretch/>
        </p:blipFill>
        <p:spPr>
          <a:xfrm>
            <a:off x="4316555" y="732005"/>
            <a:ext cx="7663993" cy="5093607"/>
          </a:xfrm>
          <a:prstGeom prst="rect">
            <a:avLst/>
          </a:prstGeom>
          <a:noFill/>
          <a:ln>
            <a:noFill/>
          </a:ln>
        </p:spPr>
      </p:pic>
      <p:pic>
        <p:nvPicPr>
          <p:cNvPr id="553" name="Google Shape;553;p55"/>
          <p:cNvPicPr preferRelativeResize="0"/>
          <p:nvPr/>
        </p:nvPicPr>
        <p:blipFill rotWithShape="1">
          <a:blip r:embed="rId3">
            <a:alphaModFix/>
          </a:blip>
          <a:srcRect b="0" l="0" r="0" t="0"/>
          <a:stretch/>
        </p:blipFill>
        <p:spPr>
          <a:xfrm>
            <a:off x="474054" y="5237230"/>
            <a:ext cx="3769471" cy="625088"/>
          </a:xfrm>
          <a:prstGeom prst="rect">
            <a:avLst/>
          </a:prstGeom>
          <a:noFill/>
          <a:ln>
            <a:noFill/>
          </a:ln>
        </p:spPr>
      </p:pic>
      <p:sp>
        <p:nvSpPr>
          <p:cNvPr id="554" name="Google Shape;554;p55"/>
          <p:cNvSpPr/>
          <p:nvPr/>
        </p:nvSpPr>
        <p:spPr>
          <a:xfrm>
            <a:off x="675169" y="5899023"/>
            <a:ext cx="10741420" cy="46166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400"/>
              <a:buFont typeface="Arial"/>
              <a:buNone/>
              <a:defRPr/>
            </a:pPr>
            <a:r>
              <a:rPr b="0" i="0" lang="en-US" sz="2400" u="none" cap="none" strike="noStrike">
                <a:solidFill>
                  <a:srgbClr val="595959"/>
                </a:solidFill>
                <a:latin typeface="Arial"/>
                <a:ea typeface="Arial"/>
                <a:cs typeface="Arial"/>
                <a:sym typeface="Arial"/>
              </a:rPr>
              <a:t>What helps you be organized in math class?</a:t>
            </a:r>
            <a:endParaRPr b="0" i="0" sz="1400" u="none" cap="none" strike="noStrike">
              <a:solidFill>
                <a:srgbClr val="000000"/>
              </a:solidFill>
              <a:latin typeface="Arial"/>
              <a:ea typeface="Arial"/>
              <a:cs typeface="Arial"/>
              <a:sym typeface="Arial"/>
            </a:endParaRPr>
          </a:p>
        </p:txBody>
      </p:sp>
      <p:sp>
        <p:nvSpPr>
          <p:cNvPr id="555" name="Google Shape;555;p55"/>
          <p:cNvSpPr txBox="1"/>
          <p:nvPr/>
        </p:nvSpPr>
        <p:spPr>
          <a:xfrm>
            <a:off x="2436624" y="5310430"/>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400"/>
              <a:buFont typeface="Arial"/>
              <a:buNone/>
              <a:defRPr/>
            </a:pPr>
            <a:r>
              <a:rPr b="0" i="0" lang="en-US" sz="2400" u="none" cap="none" strike="noStrike">
                <a:solidFill>
                  <a:srgbClr val="262626"/>
                </a:solidFill>
                <a:latin typeface="Arial"/>
                <a:ea typeface="Arial"/>
                <a:cs typeface="Arial"/>
                <a:sym typeface="Arial"/>
              </a:rPr>
              <a:t>Mindset</a:t>
            </a:r>
            <a:endParaRPr b="0" i="0" sz="2800" u="none" cap="none" strike="noStrike">
              <a:solidFill>
                <a:srgbClr val="262626"/>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11 / 44</a:t>
            </a: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0" name="Shape 340"/>
        <p:cNvGrpSpPr/>
        <p:nvPr/>
      </p:nvGrpSpPr>
      <p:grpSpPr>
        <a:xfrm>
          <a:off x="0" y="0"/>
          <a:ext cx="0" cy="0"/>
          <a:chOff x="0" y="0"/>
          <a:chExt cx="0" cy="0"/>
        </a:xfrm>
      </p:grpSpPr>
      <p:sp>
        <p:nvSpPr>
          <p:cNvPr id="341" name="Google Shape;341;p45"/>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2" name="Google Shape;342;p45"/>
          <p:cNvSpPr/>
          <p:nvPr/>
        </p:nvSpPr>
        <p:spPr>
          <a:xfrm>
            <a:off x="0" y="0"/>
            <a:ext cx="12191969" cy="713232"/>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3" name="Google Shape;343;p45"/>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pPr>
            <a:r>
              <a:rPr b="1" i="0" lang="en-US" sz="2000" u="none" cap="none" strike="noStrike">
                <a:solidFill>
                  <a:srgbClr val="FFFFFF"/>
                </a:solidFill>
                <a:latin typeface="Arial"/>
                <a:ea typeface="Arial"/>
                <a:cs typeface="Arial"/>
                <a:sym typeface="Arial"/>
              </a:rPr>
              <a:t>Vocabulary</a:t>
            </a:r>
            <a:endParaRPr/>
          </a:p>
        </p:txBody>
      </p:sp>
      <p:sp>
        <p:nvSpPr>
          <p:cNvPr id="344" name="Google Shape;344;p45"/>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pPr>
            <a:r>
              <a:rPr b="0" i="0" lang="en-US" sz="1200" u="none" cap="none" strike="noStrike">
                <a:solidFill>
                  <a:srgbClr val="FFFFFF"/>
                </a:solidFill>
                <a:latin typeface="Arial"/>
                <a:ea typeface="Arial"/>
                <a:cs typeface="Arial"/>
                <a:sym typeface="Arial"/>
              </a:rPr>
              <a:t>Lesson 4-5 · Determine the Whole Given the Part and Percent</a:t>
            </a:r>
            <a:endParaRPr/>
          </a:p>
        </p:txBody>
      </p:sp>
      <p:sp>
        <p:nvSpPr>
          <p:cNvPr id="345" name="Google Shape;345;p45"/>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46" name="Google Shape;346;p45"/>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0" lang="en-US" sz="1000" u="none" cap="none" strike="noStrike">
                <a:solidFill>
                  <a:srgbClr val="475569"/>
                </a:solidFill>
                <a:latin typeface="Arial"/>
                <a:ea typeface="Arial"/>
                <a:cs typeface="Arial"/>
                <a:sym typeface="Arial"/>
              </a:rPr>
              <a:t>eduwonderlab.com  ·  Neft Teacher</a:t>
            </a:r>
            <a:endParaRPr/>
          </a:p>
        </p:txBody>
      </p:sp>
      <p:sp>
        <p:nvSpPr>
          <p:cNvPr id="347" name="Google Shape;347;p45"/>
          <p:cNvSpPr txBox="1"/>
          <p:nvPr/>
        </p:nvSpPr>
        <p:spPr>
          <a:xfrm>
            <a:off x="640080" y="1005840"/>
            <a:ext cx="10911809" cy="512064"/>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3400" u="none" cap="none" strike="noStrike">
                <a:solidFill>
                  <a:srgbClr val="14223A"/>
                </a:solidFill>
                <a:latin typeface="Arial"/>
                <a:ea typeface="Arial"/>
                <a:cs typeface="Arial"/>
                <a:sym typeface="Arial"/>
              </a:rPr>
              <a:t>Today’s Math Words</a:t>
            </a:r>
            <a:endParaRPr/>
          </a:p>
        </p:txBody>
      </p:sp>
      <p:sp>
        <p:nvSpPr>
          <p:cNvPr id="348" name="Google Shape;348;p45"/>
          <p:cNvSpPr txBox="1"/>
          <p:nvPr/>
        </p:nvSpPr>
        <p:spPr>
          <a:xfrm>
            <a:off x="640080" y="1591056"/>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0" i="1" lang="en-US" sz="1400" u="none" cap="none" strike="noStrike">
                <a:solidFill>
                  <a:srgbClr val="475569"/>
                </a:solidFill>
                <a:latin typeface="Arial"/>
                <a:ea typeface="Arial"/>
                <a:cs typeface="Arial"/>
                <a:sym typeface="Arial"/>
              </a:rPr>
              <a:t>We learn every word — what it means and what it looks like — before we use it.</a:t>
            </a:r>
            <a:endParaRPr/>
          </a:p>
        </p:txBody>
      </p:sp>
      <p:sp>
        <p:nvSpPr>
          <p:cNvPr id="349" name="Google Shape;349;p45"/>
          <p:cNvSpPr/>
          <p:nvPr/>
        </p:nvSpPr>
        <p:spPr>
          <a:xfrm>
            <a:off x="640080"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0" name="Google Shape;350;p45"/>
          <p:cNvSpPr/>
          <p:nvPr/>
        </p:nvSpPr>
        <p:spPr>
          <a:xfrm>
            <a:off x="640080"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1" name="Google Shape;351;p45"/>
          <p:cNvSpPr txBox="1"/>
          <p:nvPr/>
        </p:nvSpPr>
        <p:spPr>
          <a:xfrm>
            <a:off x="950976"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600" u="none" cap="none" strike="noStrike">
                <a:solidFill>
                  <a:srgbClr val="14223A"/>
                </a:solidFill>
                <a:latin typeface="Arial"/>
                <a:ea typeface="Arial"/>
                <a:cs typeface="Arial"/>
                <a:sym typeface="Arial"/>
              </a:rPr>
              <a:t>Determine the Whole Given the Part and Percent</a:t>
            </a:r>
            <a:endParaRPr/>
          </a:p>
        </p:txBody>
      </p:sp>
      <p:sp>
        <p:nvSpPr>
          <p:cNvPr id="352" name="Google Shape;352;p45"/>
          <p:cNvSpPr txBox="1"/>
          <p:nvPr/>
        </p:nvSpPr>
        <p:spPr>
          <a:xfrm>
            <a:off x="950976"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Working backwards from a part and its percent to find the whole amount it came from</a:t>
            </a:r>
            <a:endParaRPr/>
          </a:p>
        </p:txBody>
      </p:sp>
      <p:sp>
        <p:nvSpPr>
          <p:cNvPr id="353" name="Google Shape;353;p45"/>
          <p:cNvSpPr/>
          <p:nvPr/>
        </p:nvSpPr>
        <p:spPr>
          <a:xfrm>
            <a:off x="6260576" y="2103120"/>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4" name="Google Shape;354;p45"/>
          <p:cNvSpPr/>
          <p:nvPr/>
        </p:nvSpPr>
        <p:spPr>
          <a:xfrm>
            <a:off x="6260576" y="2103120"/>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5" name="Google Shape;355;p45"/>
          <p:cNvSpPr txBox="1"/>
          <p:nvPr/>
        </p:nvSpPr>
        <p:spPr>
          <a:xfrm>
            <a:off x="6571472" y="2240279"/>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Part</a:t>
            </a:r>
            <a:endParaRPr/>
          </a:p>
        </p:txBody>
      </p:sp>
      <p:sp>
        <p:nvSpPr>
          <p:cNvPr id="356" name="Google Shape;356;p45"/>
          <p:cNvSpPr txBox="1"/>
          <p:nvPr/>
        </p:nvSpPr>
        <p:spPr>
          <a:xfrm>
            <a:off x="6571472" y="2578608"/>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The amount you already know — the piece of the whole that the percent describes</a:t>
            </a:r>
            <a:endParaRPr/>
          </a:p>
        </p:txBody>
      </p:sp>
      <p:sp>
        <p:nvSpPr>
          <p:cNvPr id="357" name="Google Shape;357;p45"/>
          <p:cNvSpPr/>
          <p:nvPr/>
        </p:nvSpPr>
        <p:spPr>
          <a:xfrm>
            <a:off x="640080"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8" name="Google Shape;358;p45"/>
          <p:cNvSpPr/>
          <p:nvPr/>
        </p:nvSpPr>
        <p:spPr>
          <a:xfrm>
            <a:off x="640080"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59" name="Google Shape;359;p45"/>
          <p:cNvSpPr txBox="1"/>
          <p:nvPr/>
        </p:nvSpPr>
        <p:spPr>
          <a:xfrm>
            <a:off x="950976"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Whole</a:t>
            </a:r>
            <a:endParaRPr/>
          </a:p>
        </p:txBody>
      </p:sp>
      <p:sp>
        <p:nvSpPr>
          <p:cNvPr id="360" name="Google Shape;360;p45"/>
          <p:cNvSpPr txBox="1"/>
          <p:nvPr/>
        </p:nvSpPr>
        <p:spPr>
          <a:xfrm>
            <a:off x="950976"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The full amount the percent is measured against</a:t>
            </a:r>
            <a:endParaRPr/>
          </a:p>
        </p:txBody>
      </p:sp>
      <p:sp>
        <p:nvSpPr>
          <p:cNvPr id="361" name="Google Shape;361;p45"/>
          <p:cNvSpPr/>
          <p:nvPr/>
        </p:nvSpPr>
        <p:spPr>
          <a:xfrm>
            <a:off x="6260576" y="3401568"/>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2" name="Google Shape;362;p45"/>
          <p:cNvSpPr/>
          <p:nvPr/>
        </p:nvSpPr>
        <p:spPr>
          <a:xfrm>
            <a:off x="6260576" y="3401568"/>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3" name="Google Shape;363;p45"/>
          <p:cNvSpPr txBox="1"/>
          <p:nvPr/>
        </p:nvSpPr>
        <p:spPr>
          <a:xfrm>
            <a:off x="6571472" y="3538727"/>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Double number line</a:t>
            </a:r>
            <a:endParaRPr/>
          </a:p>
        </p:txBody>
      </p:sp>
      <p:sp>
        <p:nvSpPr>
          <p:cNvPr id="364" name="Google Shape;364;p45"/>
          <p:cNvSpPr txBox="1"/>
          <p:nvPr/>
        </p:nvSpPr>
        <p:spPr>
          <a:xfrm>
            <a:off x="6571472" y="3877056"/>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250" u="none" cap="none" strike="noStrike">
                <a:solidFill>
                  <a:srgbClr val="475569"/>
                </a:solidFill>
                <a:latin typeface="Arial"/>
                <a:ea typeface="Arial"/>
                <a:cs typeface="Arial"/>
                <a:sym typeface="Arial"/>
              </a:rPr>
              <a:t>Two lines lined up — dollars on one, percents on the other — so matching marks show the same amount two ways</a:t>
            </a:r>
            <a:endParaRPr/>
          </a:p>
        </p:txBody>
      </p:sp>
      <p:sp>
        <p:nvSpPr>
          <p:cNvPr id="365" name="Google Shape;365;p45"/>
          <p:cNvSpPr/>
          <p:nvPr/>
        </p:nvSpPr>
        <p:spPr>
          <a:xfrm>
            <a:off x="640080"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6" name="Google Shape;366;p45"/>
          <p:cNvSpPr/>
          <p:nvPr/>
        </p:nvSpPr>
        <p:spPr>
          <a:xfrm>
            <a:off x="640080"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67" name="Google Shape;367;p45"/>
          <p:cNvSpPr txBox="1"/>
          <p:nvPr/>
        </p:nvSpPr>
        <p:spPr>
          <a:xfrm>
            <a:off x="950976"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Equation</a:t>
            </a:r>
            <a:endParaRPr/>
          </a:p>
        </p:txBody>
      </p:sp>
      <p:sp>
        <p:nvSpPr>
          <p:cNvPr id="368" name="Google Shape;368;p45"/>
          <p:cNvSpPr txBox="1"/>
          <p:nvPr/>
        </p:nvSpPr>
        <p:spPr>
          <a:xfrm>
            <a:off x="950976"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math sentence with an equal sign</a:t>
            </a:r>
            <a:endParaRPr/>
          </a:p>
        </p:txBody>
      </p:sp>
      <p:sp>
        <p:nvSpPr>
          <p:cNvPr id="369" name="Google Shape;369;p45"/>
          <p:cNvSpPr/>
          <p:nvPr/>
        </p:nvSpPr>
        <p:spPr>
          <a:xfrm>
            <a:off x="6260576" y="4700016"/>
            <a:ext cx="5291312" cy="1115568"/>
          </a:xfrm>
          <a:prstGeom prst="roundRect">
            <a:avLst>
              <a:gd fmla="val 9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0" name="Google Shape;370;p45"/>
          <p:cNvSpPr/>
          <p:nvPr/>
        </p:nvSpPr>
        <p:spPr>
          <a:xfrm>
            <a:off x="6260576" y="4700016"/>
            <a:ext cx="91440" cy="1115568"/>
          </a:xfrm>
          <a:prstGeom prst="rect">
            <a:avLst/>
          </a:prstGeom>
          <a:solidFill>
            <a:srgbClr val="02639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71" name="Google Shape;371;p45"/>
          <p:cNvSpPr txBox="1"/>
          <p:nvPr/>
        </p:nvSpPr>
        <p:spPr>
          <a:xfrm>
            <a:off x="6571472" y="4837176"/>
            <a:ext cx="4724384" cy="310896"/>
          </a:xfrm>
          <a:prstGeom prst="rect">
            <a:avLst/>
          </a:prstGeom>
          <a:noFill/>
          <a:ln>
            <a:noFill/>
          </a:ln>
        </p:spPr>
        <p:txBody>
          <a:bodyPr anchorCtr="0" anchor="t" bIns="0" lIns="0" spcFirstLastPara="1" rIns="0" wrap="square" tIns="0">
            <a:spAutoFit/>
          </a:bodyPr>
          <a:lstStyle/>
          <a:p>
            <a:pPr indent="0" lvl="0" marL="0" marR="0" rtl="0" algn="l">
              <a:lnSpc>
                <a:spcPct val="110000"/>
              </a:lnSpc>
              <a:spcBef>
                <a:spcPts val="0"/>
              </a:spcBef>
              <a:spcAft>
                <a:spcPts val="0"/>
              </a:spcAft>
              <a:buNone/>
            </a:pPr>
            <a:r>
              <a:rPr b="1" i="0" lang="en-US" sz="1700" u="none" cap="none" strike="noStrike">
                <a:solidFill>
                  <a:srgbClr val="14223A"/>
                </a:solidFill>
                <a:latin typeface="Arial"/>
                <a:ea typeface="Arial"/>
                <a:cs typeface="Arial"/>
                <a:sym typeface="Arial"/>
              </a:rPr>
              <a:t>Percent</a:t>
            </a:r>
            <a:endParaRPr/>
          </a:p>
        </p:txBody>
      </p:sp>
      <p:sp>
        <p:nvSpPr>
          <p:cNvPr id="372" name="Google Shape;372;p45"/>
          <p:cNvSpPr txBox="1"/>
          <p:nvPr/>
        </p:nvSpPr>
        <p:spPr>
          <a:xfrm>
            <a:off x="6571472" y="5175504"/>
            <a:ext cx="4724384" cy="548640"/>
          </a:xfrm>
          <a:prstGeom prst="rect">
            <a:avLst/>
          </a:prstGeom>
          <a:noFill/>
          <a:ln>
            <a:noFill/>
          </a:ln>
        </p:spPr>
        <p:txBody>
          <a:bodyPr anchorCtr="0" anchor="t" bIns="0" lIns="0" spcFirstLastPara="1" rIns="0" wrap="square" tIns="0">
            <a:spAutoFit/>
          </a:bodyPr>
          <a:lstStyle/>
          <a:p>
            <a:pPr indent="0" lvl="0" marL="0" marR="0" rtl="0" algn="l">
              <a:lnSpc>
                <a:spcPct val="116000"/>
              </a:lnSpc>
              <a:spcBef>
                <a:spcPts val="0"/>
              </a:spcBef>
              <a:spcAft>
                <a:spcPts val="0"/>
              </a:spcAft>
              <a:buNone/>
            </a:pPr>
            <a:r>
              <a:rPr b="0" i="0" lang="en-US" sz="1400" u="none" cap="none" strike="noStrike">
                <a:solidFill>
                  <a:srgbClr val="475569"/>
                </a:solidFill>
                <a:latin typeface="Arial"/>
                <a:ea typeface="Arial"/>
                <a:cs typeface="Arial"/>
                <a:sym typeface="Arial"/>
              </a:rPr>
              <a:t>A ratio comparing a number to 100</a:t>
            </a:r>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Explain with today’s vocabulary; partner paraphrases.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13 / 44</a:t>
            </a: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9" name="Shape 559"/>
        <p:cNvGrpSpPr/>
        <p:nvPr/>
      </p:nvGrpSpPr>
      <p:grpSpPr>
        <a:xfrm>
          <a:off x="0" y="0"/>
          <a:ext cx="0" cy="0"/>
          <a:chOff x="0" y="0"/>
          <a:chExt cx="0" cy="0"/>
        </a:xfrm>
      </p:grpSpPr>
      <p:sp>
        <p:nvSpPr>
          <p:cNvPr id="560" name="Google Shape;560;p56"/>
          <p:cNvSpPr txBox="1"/>
          <p:nvPr/>
        </p:nvSpPr>
        <p:spPr>
          <a:xfrm>
            <a:off x="484565" y="936100"/>
            <a:ext cx="7736157" cy="236781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Akela bought a sweater on sale for the price shown. He paid 60% of the original price.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was the original price of the sweater?</a:t>
            </a:r>
            <a:endParaRPr b="0" i="0" sz="1400" u="none" cap="none" strike="noStrike">
              <a:solidFill>
                <a:srgbClr val="000000"/>
              </a:solidFill>
              <a:latin typeface="Arial"/>
              <a:ea typeface="Arial"/>
              <a:cs typeface="Arial"/>
              <a:sym typeface="Arial"/>
            </a:endParaRPr>
          </a:p>
        </p:txBody>
      </p:sp>
      <p:sp>
        <p:nvSpPr>
          <p:cNvPr id="561" name="Google Shape;561;p56"/>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Sweater Sale</a:t>
            </a:r>
            <a:endParaRPr b="0" i="0" sz="1400" u="none" cap="none" strike="noStrike">
              <a:solidFill>
                <a:srgbClr val="000000"/>
              </a:solidFill>
              <a:latin typeface="Arial"/>
              <a:ea typeface="Arial"/>
              <a:cs typeface="Arial"/>
              <a:sym typeface="Arial"/>
            </a:endParaRPr>
          </a:p>
        </p:txBody>
      </p:sp>
      <p:cxnSp>
        <p:nvCxnSpPr>
          <p:cNvPr id="562" name="Google Shape;562;p5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563" name="Google Shape;563;p56"/>
          <p:cNvPicPr preferRelativeResize="0"/>
          <p:nvPr/>
        </p:nvPicPr>
        <p:blipFill rotWithShape="1">
          <a:blip r:embed="rId3">
            <a:alphaModFix/>
          </a:blip>
          <a:srcRect b="0" l="0" r="0" t="0"/>
          <a:stretch/>
        </p:blipFill>
        <p:spPr>
          <a:xfrm>
            <a:off x="8522566" y="1279092"/>
            <a:ext cx="3219450" cy="3209925"/>
          </a:xfrm>
          <a:prstGeom prst="rect">
            <a:avLst/>
          </a:prstGeom>
          <a:noFill/>
          <a:ln>
            <a:noFill/>
          </a:ln>
        </p:spPr>
      </p:pic>
      <p:pic>
        <p:nvPicPr>
          <p:cNvPr id="564" name="Google Shape;564;p56"/>
          <p:cNvPicPr preferRelativeResize="0"/>
          <p:nvPr/>
        </p:nvPicPr>
        <p:blipFill rotWithShape="1">
          <a:blip r:embed="rId4">
            <a:alphaModFix/>
          </a:blip>
          <a:srcRect b="0" l="0" r="0" t="0"/>
          <a:stretch/>
        </p:blipFill>
        <p:spPr>
          <a:xfrm>
            <a:off x="484565" y="5101732"/>
            <a:ext cx="7073900" cy="838200"/>
          </a:xfrm>
          <a:prstGeom prst="rect">
            <a:avLst/>
          </a:prstGeom>
          <a:noFill/>
          <a:ln>
            <a:noFill/>
          </a:ln>
        </p:spPr>
      </p:pic>
      <p:sp>
        <p:nvSpPr>
          <p:cNvPr id="565" name="Google Shape;565;p56"/>
          <p:cNvSpPr txBox="1"/>
          <p:nvPr/>
        </p:nvSpPr>
        <p:spPr>
          <a:xfrm>
            <a:off x="3156367" y="5259050"/>
            <a:ext cx="6783781"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Making Sense</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Ask a partner a question; choose a model together.</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14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133088"/>
            <a:ext cx="749808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first. Connect a feature of the model to a step in your</a:t>
            </a:r>
            <a:endParaRPr lang="en-US" sz="2000"/>
          </a:p>
          <a:p>
            <a:pPr>
              <a:lnSpc>
                <a:spcPts val="2400"/>
              </a:lnSpc>
              <a:buNone/>
            </a:pPr>
            <a:r>
              <a:rPr lang="en-US" sz="2000">
                <a:solidFill>
                  <a:srgbClr val="174D60"/>
                </a:solidFill>
                <a:latin typeface="Arial"/>
              </a:rPr>
              <a:t>reasoning.</a:t>
            </a:r>
            <a:endParaRPr lang="en-US" sz="2000"/>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sp>
        <p:nvSpPr>
          <p:cNvPr id="624" name="Google Shape;624;p63"/>
          <p:cNvSpPr txBox="1"/>
          <p:nvPr/>
        </p:nvSpPr>
        <p:spPr>
          <a:xfrm>
            <a:off x="484565" y="936099"/>
            <a:ext cx="9915580" cy="378255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Let’s use a double number line to represent the relationship.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$42 represents is 60% of the original price.</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determine the scale of the top number line?</a:t>
            </a:r>
            <a:endParaRPr b="0" i="0" sz="1400" u="none" cap="none" strike="noStrike">
              <a:solidFill>
                <a:srgbClr val="000000"/>
              </a:solidFill>
              <a:latin typeface="Arial"/>
              <a:ea typeface="Arial"/>
              <a:cs typeface="Arial"/>
              <a:sym typeface="Arial"/>
            </a:endParaRPr>
          </a:p>
        </p:txBody>
      </p:sp>
      <p:cxnSp>
        <p:nvCxnSpPr>
          <p:cNvPr id="625" name="Google Shape;625;p6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26" name="Google Shape;626;p63"/>
          <p:cNvPicPr preferRelativeResize="0"/>
          <p:nvPr/>
        </p:nvPicPr>
        <p:blipFill rotWithShape="1">
          <a:blip r:embed="rId3">
            <a:alphaModFix/>
          </a:blip>
          <a:srcRect b="0" l="0" r="0" t="0"/>
          <a:stretch/>
        </p:blipFill>
        <p:spPr>
          <a:xfrm>
            <a:off x="1131175" y="2859472"/>
            <a:ext cx="7583615" cy="1233202"/>
          </a:xfrm>
          <a:prstGeom prst="rect">
            <a:avLst/>
          </a:prstGeom>
          <a:noFill/>
          <a:ln>
            <a:noFill/>
          </a:ln>
        </p:spPr>
      </p:pic>
      <p:sp>
        <p:nvSpPr>
          <p:cNvPr id="627" name="Google Shape;627;p63"/>
          <p:cNvSpPr txBox="1"/>
          <p:nvPr/>
        </p:nvSpPr>
        <p:spPr>
          <a:xfrm>
            <a:off x="484565" y="4796415"/>
            <a:ext cx="11514778" cy="155004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We can generate an equivalent ratio to find what 10% of the original price is. That dollar amount will be the scale for the top number line.</a:t>
            </a:r>
            <a:endParaRPr b="1" i="0" sz="2800" u="none" cap="none" strike="noStrike">
              <a:solidFill>
                <a:srgbClr val="0070C0"/>
              </a:solidFill>
              <a:latin typeface="Arial"/>
              <a:ea typeface="Arial"/>
              <a:cs typeface="Arial"/>
              <a:sym typeface="Arial"/>
            </a:endParaRPr>
          </a:p>
        </p:txBody>
      </p:sp>
      <p:sp>
        <p:nvSpPr>
          <p:cNvPr id="628" name="Google Shape;628;p63"/>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Sweater Sale</a:t>
            </a:r>
            <a:endParaRPr b="0" i="0" sz="1400" u="none" cap="none" strike="noStrike">
              <a:solidFill>
                <a:srgbClr val="000000"/>
              </a:solidFill>
              <a:latin typeface="Arial"/>
              <a:ea typeface="Arial"/>
              <a:cs typeface="Arial"/>
              <a:sym typeface="Arial"/>
            </a:endParaRPr>
          </a:p>
        </p:txBody>
      </p:sp>
      <p:sp>
        <p:nvSpPr>
          <p:cNvPr id="62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15 / 44</a:t>
            </a:r>
          </a:p>
        </p:txBody>
      </p:sp>
      <p:sp>
        <p:nvSpPr>
          <p:cNvPr id="630" name="EWL-COVER-1"/>
          <p:cNvSpPr/>
          <p:nvPr/>
        </p:nvSpPr>
        <p:spPr>
          <a:xfrm>
            <a:off x="429701" y="4741551"/>
            <a:ext cx="11624506" cy="1659768"/>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2" name="Shape 642"/>
        <p:cNvGrpSpPr/>
        <p:nvPr/>
      </p:nvGrpSpPr>
      <p:grpSpPr>
        <a:xfrm>
          <a:off x="0" y="0"/>
          <a:ext cx="0" cy="0"/>
          <a:chOff x="0" y="0"/>
          <a:chExt cx="0" cy="0"/>
        </a:xfrm>
      </p:grpSpPr>
      <p:sp>
        <p:nvSpPr>
          <p:cNvPr id="643" name="Google Shape;643;p65"/>
          <p:cNvSpPr txBox="1"/>
          <p:nvPr/>
        </p:nvSpPr>
        <p:spPr>
          <a:xfrm>
            <a:off x="484565" y="936098"/>
            <a:ext cx="7954355" cy="111303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Let’s generate an equivalent ratio to find what 10% of the original price is.</a:t>
            </a:r>
            <a:endParaRPr b="0" i="0" sz="1400" u="none" cap="none" strike="noStrike">
              <a:solidFill>
                <a:srgbClr val="000000"/>
              </a:solidFill>
              <a:latin typeface="Arial"/>
              <a:ea typeface="Arial"/>
              <a:cs typeface="Arial"/>
              <a:sym typeface="Arial"/>
            </a:endParaRPr>
          </a:p>
        </p:txBody>
      </p:sp>
      <p:cxnSp>
        <p:nvCxnSpPr>
          <p:cNvPr id="644" name="Google Shape;644;p6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45" name="Google Shape;645;p65"/>
          <p:cNvPicPr preferRelativeResize="0"/>
          <p:nvPr/>
        </p:nvPicPr>
        <p:blipFill rotWithShape="1">
          <a:blip r:embed="rId3">
            <a:alphaModFix/>
          </a:blip>
          <a:srcRect b="0" l="0" r="0" t="0"/>
          <a:stretch/>
        </p:blipFill>
        <p:spPr>
          <a:xfrm>
            <a:off x="1186480" y="1808001"/>
            <a:ext cx="7555603" cy="2778809"/>
          </a:xfrm>
          <a:prstGeom prst="rect">
            <a:avLst/>
          </a:prstGeom>
          <a:noFill/>
          <a:ln>
            <a:noFill/>
          </a:ln>
        </p:spPr>
      </p:pic>
      <p:sp>
        <p:nvSpPr>
          <p:cNvPr id="646" name="Google Shape;646;p65"/>
          <p:cNvSpPr txBox="1"/>
          <p:nvPr/>
        </p:nvSpPr>
        <p:spPr>
          <a:xfrm>
            <a:off x="484564" y="4362663"/>
            <a:ext cx="7954355" cy="954107"/>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23282D"/>
                </a:solidFill>
                <a:latin typeface="Arial"/>
                <a:ea typeface="Arial"/>
                <a:cs typeface="Arial"/>
                <a:sym typeface="Arial"/>
              </a:rPr>
              <a:t>What percent represents the original price of the sweater? Explain.</a:t>
            </a:r>
            <a:endParaRPr b="0" i="0" sz="1400" u="none" cap="none" strike="noStrike">
              <a:solidFill>
                <a:srgbClr val="000000"/>
              </a:solidFill>
              <a:latin typeface="Arial"/>
              <a:ea typeface="Arial"/>
              <a:cs typeface="Arial"/>
              <a:sym typeface="Arial"/>
            </a:endParaRPr>
          </a:p>
        </p:txBody>
      </p:sp>
      <p:sp>
        <p:nvSpPr>
          <p:cNvPr id="647" name="Google Shape;647;p65"/>
          <p:cNvSpPr txBox="1"/>
          <p:nvPr/>
        </p:nvSpPr>
        <p:spPr>
          <a:xfrm>
            <a:off x="484564" y="5316770"/>
            <a:ext cx="7601867" cy="102364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800"/>
              <a:buFont typeface="Arial"/>
              <a:buNone/>
              <a:defRPr/>
            </a:pPr>
            <a:r>
              <a:rPr b="0" i="0" lang="en-US" sz="2800" u="none" cap="none" strike="noStrike">
                <a:solidFill>
                  <a:srgbClr val="595959"/>
                </a:solidFill>
                <a:latin typeface="Arial"/>
                <a:ea typeface="Arial"/>
                <a:cs typeface="Arial"/>
                <a:sym typeface="Arial"/>
              </a:rPr>
              <a:t>100% because the original price is the whole.</a:t>
            </a:r>
            <a:endParaRPr b="1" i="0" sz="2800" u="none" cap="none" strike="noStrike">
              <a:solidFill>
                <a:srgbClr val="0070C0"/>
              </a:solidFill>
              <a:latin typeface="Arial"/>
              <a:ea typeface="Arial"/>
              <a:cs typeface="Arial"/>
              <a:sym typeface="Arial"/>
            </a:endParaRPr>
          </a:p>
        </p:txBody>
      </p:sp>
      <p:sp>
        <p:nvSpPr>
          <p:cNvPr id="648" name="Google Shape;648;p65"/>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Sweater Sale</a:t>
            </a:r>
            <a:endParaRPr b="0" i="0" sz="1400" u="none" cap="none" strike="noStrike">
              <a:solidFill>
                <a:srgbClr val="000000"/>
              </a:solidFill>
              <a:latin typeface="Arial"/>
              <a:ea typeface="Arial"/>
              <a:cs typeface="Arial"/>
              <a:sym typeface="Arial"/>
            </a:endParaRPr>
          </a:p>
        </p:txBody>
      </p:sp>
      <p:sp>
        <p:nvSpPr>
          <p:cNvPr id="649"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16 / 44</a:t>
            </a:r>
          </a:p>
        </p:txBody>
      </p:sp>
      <p:sp>
        <p:nvSpPr>
          <p:cNvPr id="650" name="EWL-COVER-1"/>
          <p:cNvSpPr/>
          <p:nvPr/>
        </p:nvSpPr>
        <p:spPr>
          <a:xfrm>
            <a:off x="429700" y="5261906"/>
            <a:ext cx="7711595" cy="1133373"/>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5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3" name="Shape 663"/>
        <p:cNvGrpSpPr/>
        <p:nvPr/>
      </p:nvGrpSpPr>
      <p:grpSpPr>
        <a:xfrm>
          <a:off x="0" y="0"/>
          <a:ext cx="0" cy="0"/>
          <a:chOff x="0" y="0"/>
          <a:chExt cx="0" cy="0"/>
        </a:xfrm>
      </p:grpSpPr>
      <p:sp>
        <p:nvSpPr>
          <p:cNvPr id="664" name="Google Shape;664;p67"/>
          <p:cNvSpPr txBox="1"/>
          <p:nvPr/>
        </p:nvSpPr>
        <p:spPr>
          <a:xfrm>
            <a:off x="484565" y="936099"/>
            <a:ext cx="7921306" cy="8465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original price of the sweater is represented by 100%.</a:t>
            </a:r>
            <a:endParaRPr b="0" i="0" sz="1400" u="none" cap="none" strike="noStrike">
              <a:solidFill>
                <a:srgbClr val="000000"/>
              </a:solidFill>
              <a:latin typeface="Arial"/>
              <a:ea typeface="Arial"/>
              <a:cs typeface="Arial"/>
              <a:sym typeface="Arial"/>
            </a:endParaRPr>
          </a:p>
        </p:txBody>
      </p:sp>
      <p:cxnSp>
        <p:nvCxnSpPr>
          <p:cNvPr id="665" name="Google Shape;665;p67"/>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666" name="Google Shape;666;p67"/>
          <p:cNvPicPr preferRelativeResize="0"/>
          <p:nvPr/>
        </p:nvPicPr>
        <p:blipFill rotWithShape="1">
          <a:blip r:embed="rId3">
            <a:alphaModFix/>
          </a:blip>
          <a:srcRect b="0" l="0" r="0" t="0"/>
          <a:stretch/>
        </p:blipFill>
        <p:spPr>
          <a:xfrm>
            <a:off x="1169227" y="1680808"/>
            <a:ext cx="7517819" cy="2342177"/>
          </a:xfrm>
          <a:prstGeom prst="rect">
            <a:avLst/>
          </a:prstGeom>
          <a:noFill/>
          <a:ln>
            <a:noFill/>
          </a:ln>
        </p:spPr>
      </p:pic>
      <p:sp>
        <p:nvSpPr>
          <p:cNvPr id="667" name="Google Shape;667;p67"/>
          <p:cNvSpPr txBox="1"/>
          <p:nvPr/>
        </p:nvSpPr>
        <p:spPr>
          <a:xfrm>
            <a:off x="484565" y="3946103"/>
            <a:ext cx="9496718" cy="138499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23282D"/>
                </a:solidFill>
                <a:latin typeface="Arial"/>
                <a:ea typeface="Arial"/>
                <a:cs typeface="Arial"/>
                <a:sym typeface="Arial"/>
              </a:rPr>
              <a:t>How can you use the double number line to generate an equivalent ratio that represents the original price? Explain your reasoning.</a:t>
            </a:r>
            <a:endParaRPr b="0" i="0" sz="1400" u="none" cap="none" strike="noStrike">
              <a:solidFill>
                <a:srgbClr val="000000"/>
              </a:solidFill>
              <a:latin typeface="Arial"/>
              <a:ea typeface="Arial"/>
              <a:cs typeface="Arial"/>
              <a:sym typeface="Arial"/>
            </a:endParaRPr>
          </a:p>
        </p:txBody>
      </p:sp>
      <p:sp>
        <p:nvSpPr>
          <p:cNvPr id="668" name="Google Shape;668;p67"/>
          <p:cNvSpPr txBox="1"/>
          <p:nvPr/>
        </p:nvSpPr>
        <p:spPr>
          <a:xfrm>
            <a:off x="484565" y="316034"/>
            <a:ext cx="5382835" cy="51210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 xml:space="preserve">    Collaborate and Connect</a:t>
            </a:r>
            <a:endParaRPr b="0" i="0" sz="1400" u="none" cap="none" strike="noStrike">
              <a:solidFill>
                <a:srgbClr val="000000"/>
              </a:solidFill>
              <a:latin typeface="Arial"/>
              <a:ea typeface="Arial"/>
              <a:cs typeface="Arial"/>
              <a:sym typeface="Arial"/>
            </a:endParaRPr>
          </a:p>
        </p:txBody>
      </p:sp>
      <p:pic>
        <p:nvPicPr>
          <p:cNvPr id="669" name="Google Shape;669;p67"/>
          <p:cNvPicPr preferRelativeResize="0"/>
          <p:nvPr/>
        </p:nvPicPr>
        <p:blipFill rotWithShape="1">
          <a:blip r:embed="rId4">
            <a:alphaModFix/>
          </a:blip>
          <a:srcRect b="0" l="0" r="0" t="0"/>
          <a:stretch/>
        </p:blipFill>
        <p:spPr>
          <a:xfrm>
            <a:off x="558276" y="386230"/>
            <a:ext cx="353635" cy="340537"/>
          </a:xfrm>
          <a:prstGeom prst="rect">
            <a:avLst/>
          </a:prstGeom>
          <a:noFill/>
          <a:ln>
            <a:noFill/>
          </a:ln>
        </p:spPr>
      </p:pic>
      <p:sp>
        <p:nvSpPr>
          <p:cNvPr id="670" name="Google Shape;670;p67"/>
          <p:cNvSpPr txBox="1"/>
          <p:nvPr/>
        </p:nvSpPr>
        <p:spPr>
          <a:xfrm>
            <a:off x="484565" y="5357805"/>
            <a:ext cx="8314378" cy="1062180"/>
          </a:xfrm>
          <a:prstGeom prst="rect">
            <a:avLst/>
          </a:prstGeom>
          <a:blipFill rotWithShape="1">
            <a:blip r:embed="rId5">
              <a:alphaModFix/>
            </a:blip>
            <a:stretch>
              <a:fillRect b="-19540" l="-1466" r="0" t="-6322"/>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Student-led talk: paraphrase, agree or disagree, add 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18 / 44</a:t>
            </a:r>
          </a:p>
        </p:txBody>
      </p:sp>
      <p:sp>
        <p:nvSpPr>
          <p:cNvPr id="900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2" name="Shape 702"/>
        <p:cNvGrpSpPr/>
        <p:nvPr/>
      </p:nvGrpSpPr>
      <p:grpSpPr>
        <a:xfrm>
          <a:off x="0" y="0"/>
          <a:ext cx="0" cy="0"/>
          <a:chOff x="0" y="0"/>
          <a:chExt cx="0" cy="0"/>
        </a:xfrm>
      </p:grpSpPr>
      <p:sp>
        <p:nvSpPr>
          <p:cNvPr id="703" name="Google Shape;703;p71"/>
          <p:cNvSpPr txBox="1"/>
          <p:nvPr/>
        </p:nvSpPr>
        <p:spPr>
          <a:xfrm>
            <a:off x="484566" y="936099"/>
            <a:ext cx="7070332" cy="15569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Let’s use a table of equivalent ratios to find the original price.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60% of the original price is $42.</a:t>
            </a:r>
            <a:endParaRPr b="1" i="0" sz="2800" u="none" cap="none" strike="noStrike">
              <a:solidFill>
                <a:srgbClr val="262626"/>
              </a:solidFill>
              <a:latin typeface="Arial"/>
              <a:ea typeface="Arial"/>
              <a:cs typeface="Arial"/>
              <a:sym typeface="Arial"/>
            </a:endParaRPr>
          </a:p>
        </p:txBody>
      </p:sp>
      <p:cxnSp>
        <p:nvCxnSpPr>
          <p:cNvPr id="704" name="Google Shape;704;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05" name="Google Shape;705;p71"/>
          <p:cNvPicPr preferRelativeResize="0"/>
          <p:nvPr/>
        </p:nvPicPr>
        <p:blipFill rotWithShape="1">
          <a:blip r:embed="rId3">
            <a:alphaModFix/>
          </a:blip>
          <a:srcRect b="0" l="0" r="0" t="0"/>
          <a:stretch/>
        </p:blipFill>
        <p:spPr>
          <a:xfrm>
            <a:off x="678422" y="2703241"/>
            <a:ext cx="7107135" cy="1087244"/>
          </a:xfrm>
          <a:prstGeom prst="rect">
            <a:avLst/>
          </a:prstGeom>
          <a:noFill/>
          <a:ln>
            <a:noFill/>
          </a:ln>
        </p:spPr>
      </p:pic>
      <p:sp>
        <p:nvSpPr>
          <p:cNvPr id="706" name="Google Shape;706;p71"/>
          <p:cNvSpPr txBox="1"/>
          <p:nvPr/>
        </p:nvSpPr>
        <p:spPr>
          <a:xfrm>
            <a:off x="484566" y="4987908"/>
            <a:ext cx="10974931" cy="14101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600"/>
              <a:buFont typeface="Arial"/>
              <a:buNone/>
            </a:pPr>
            <a:r>
              <a:rPr b="0" i="0" lang="en-US" sz="2600" u="none" cap="none" strike="noStrike">
                <a:solidFill>
                  <a:srgbClr val="595959"/>
                </a:solidFill>
                <a:latin typeface="Arial"/>
                <a:ea typeface="Arial"/>
                <a:cs typeface="Arial"/>
                <a:sym typeface="Arial"/>
              </a:rPr>
              <a:t>We can multiply or divide each term of the ratio by the same number to find the price compared to 100%.</a:t>
            </a:r>
            <a:endParaRPr b="1" i="0" sz="2600" u="none" cap="none" strike="noStrike">
              <a:solidFill>
                <a:srgbClr val="0070C0"/>
              </a:solidFill>
              <a:latin typeface="Arial"/>
              <a:ea typeface="Arial"/>
              <a:cs typeface="Arial"/>
              <a:sym typeface="Arial"/>
            </a:endParaRPr>
          </a:p>
        </p:txBody>
      </p:sp>
      <p:sp>
        <p:nvSpPr>
          <p:cNvPr id="707" name="Google Shape;707;p71"/>
          <p:cNvSpPr txBox="1"/>
          <p:nvPr/>
        </p:nvSpPr>
        <p:spPr>
          <a:xfrm>
            <a:off x="484566" y="3893721"/>
            <a:ext cx="7070332" cy="8778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generate an equivalent ratio to find the original price? Explain.</a:t>
            </a:r>
            <a:endParaRPr b="0" i="0" sz="1400" u="none" cap="none" strike="noStrike">
              <a:solidFill>
                <a:srgbClr val="000000"/>
              </a:solidFill>
              <a:latin typeface="Arial"/>
              <a:ea typeface="Arial"/>
              <a:cs typeface="Arial"/>
              <a:sym typeface="Arial"/>
            </a:endParaRPr>
          </a:p>
        </p:txBody>
      </p:sp>
      <p:sp>
        <p:nvSpPr>
          <p:cNvPr id="708" name="Google Shape;708;p71"/>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Sweater Sale</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Partner press: ask ‘Why?’ and answer with evidence.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19 / 44</a:t>
            </a:r>
          </a:p>
        </p:txBody>
      </p:sp>
      <p:sp>
        <p:nvSpPr>
          <p:cNvPr id="9003" name="EWL-COVER-1"/>
          <p:cNvSpPr/>
          <p:nvPr/>
        </p:nvSpPr>
        <p:spPr>
          <a:xfrm>
            <a:off x="429702" y="4933044"/>
            <a:ext cx="11084659" cy="1513476"/>
          </a:xfrm>
          <a:prstGeom prst="rect">
            <a:avLst/>
          </a:prstGeom>
          <a:solidFill>
            <a:srgbClr val="FFFFFF"/>
          </a:solidFill>
          <a:ln>
            <a:noFill/>
          </a:ln>
        </p:spPr>
        <p:txBody>
          <a:bodyPr/>
          <a:lstStyle/>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sp>
        <p:nvSpPr>
          <p:cNvPr id="737" name="Google Shape;737;p75"/>
          <p:cNvSpPr txBox="1"/>
          <p:nvPr/>
        </p:nvSpPr>
        <p:spPr>
          <a:xfrm>
            <a:off x="484566" y="936099"/>
            <a:ext cx="7467944" cy="86635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To keep equivalent ratios, divide the bottom row by the same number, 0.6.</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1" i="0" sz="2800" u="none" cap="none" strike="noStrike">
              <a:solidFill>
                <a:srgbClr val="262626"/>
              </a:solidFill>
              <a:latin typeface="Arial"/>
              <a:ea typeface="Arial"/>
              <a:cs typeface="Arial"/>
              <a:sym typeface="Arial"/>
            </a:endParaRPr>
          </a:p>
        </p:txBody>
      </p:sp>
      <p:cxnSp>
        <p:nvCxnSpPr>
          <p:cNvPr id="738" name="Google Shape;738;p75"/>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39" name="Google Shape;739;p75"/>
          <p:cNvPicPr preferRelativeResize="0"/>
          <p:nvPr/>
        </p:nvPicPr>
        <p:blipFill rotWithShape="1">
          <a:blip r:embed="rId3">
            <a:alphaModFix/>
          </a:blip>
          <a:srcRect b="0" l="0" r="0" t="0"/>
          <a:stretch/>
        </p:blipFill>
        <p:spPr>
          <a:xfrm>
            <a:off x="764761" y="2141657"/>
            <a:ext cx="6992497" cy="2238605"/>
          </a:xfrm>
          <a:prstGeom prst="rect">
            <a:avLst/>
          </a:prstGeom>
          <a:noFill/>
          <a:ln>
            <a:noFill/>
          </a:ln>
        </p:spPr>
      </p:pic>
      <p:sp>
        <p:nvSpPr>
          <p:cNvPr id="740" name="Google Shape;740;p75"/>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Sweater Sale</a:t>
            </a:r>
            <a:endParaRPr b="0" i="0" sz="1400" u="none" cap="none" strike="noStrike">
              <a:solidFill>
                <a:srgbClr val="000000"/>
              </a:solidFill>
              <a:latin typeface="Arial"/>
              <a:ea typeface="Arial"/>
              <a:cs typeface="Arial"/>
              <a:sym typeface="Arial"/>
            </a:endParaRPr>
          </a:p>
        </p:txBody>
      </p:sp>
      <p:sp>
        <p:nvSpPr>
          <p:cNvPr id="74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20 / 44</a:t>
            </a:r>
          </a:p>
        </p:txBody>
      </p:sp>
      <p:sp xmlns:p="http://schemas.openxmlformats.org/presentationml/2006/main" xmlns:a="http://schemas.openxmlformats.org/drawingml/2006/main">
        <p:nvSpPr>
          <p:cNvPr id="742"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how the information shown supports your reasoning.</a:t>
            </a:r>
            <a:endParaRPr lang="en-US" sz="200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4.5  /  DISCUSS THE TASK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Explain and compare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TextBox 4"/>
          <p:cNvSpPr txBox="1"/>
          <p:nvPr/>
        </p:nvSpPr>
        <p:spPr>
          <a:xfrm>
            <a:off x="621792" y="1755648"/>
            <a:ext cx="6629400" cy="384048"/>
          </a:xfrm>
          <a:prstGeom prst="rect">
            <a:avLst/>
          </a:prstGeom>
          <a:noFill/>
        </p:spPr>
        <p:txBody>
          <a:bodyPr wrap="square" lIns="0" rIns="0" tIns="22860" bIns="0">
            <a:spAutoFit/>
          </a:bodyPr>
          <a:lstStyle/>
          <a:p>
            <a:pPr>
              <a:spcAft>
                <a:spcPts val="800"/>
              </a:spcAft>
              <a:defRPr sz="2000" b="1">
                <a:solidFill>
                  <a:srgbClr val="096B69"/>
                </a:solidFill>
                <a:latin typeface="Arial"/>
              </a:defRPr>
            </a:pPr>
            <a:r>
              <a:rPr/>
              <a:t>Use the task you just explored.</a:t>
            </a:r>
          </a:p>
        </p:txBody>
      </p:sp>
      <p:sp>
        <p:nvSpPr>
          <p:cNvPr id="6" name="TextBox 5"/>
          <p:cNvSpPr txBox="1"/>
          <p:nvPr/>
        </p:nvSpPr>
        <p:spPr>
          <a:xfrm>
            <a:off x="621792" y="2322576"/>
            <a:ext cx="6583680" cy="2057400"/>
          </a:xfrm>
          <a:prstGeom prst="rect">
            <a:avLst/>
          </a:prstGeom>
          <a:noFill/>
        </p:spPr>
        <p:txBody>
          <a:bodyPr wrap="square" lIns="0" rIns="0" tIns="22860" bIns="0">
            <a:spAutoFit/>
          </a:bodyPr>
          <a:lstStyle/>
          <a:p>
            <a:pPr>
              <a:spcAft>
                <a:spcPts val="800"/>
              </a:spcAft>
              <a:defRPr sz="2900" b="0">
                <a:solidFill>
                  <a:srgbClr val="24384B"/>
                </a:solidFill>
                <a:latin typeface="Arial"/>
              </a:defRPr>
            </a:pPr>
            <a:r>
              <a:rPr/>
              <a:t>How can you use your proposed whole to recover the known part?</a:t>
            </a:r>
          </a:p>
        </p:txBody>
      </p:sp>
      <p:sp>
        <p:nvSpPr>
          <p:cNvPr id="7" name="TextBox 6"/>
          <p:cNvSpPr txBox="1"/>
          <p:nvPr/>
        </p:nvSpPr>
        <p:spPr>
          <a:xfrm>
            <a:off x="621792" y="4590288"/>
            <a:ext cx="6629400" cy="960120"/>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Point to evidence in your work.</a:t>
            </a:r>
          </a:p>
          <a:p>
            <a:pPr>
              <a:spcAft>
                <a:spcPts val="800"/>
              </a:spcAft>
              <a:defRPr sz="2300" b="0">
                <a:solidFill>
                  <a:srgbClr val="24384B"/>
                </a:solidFill>
                <a:latin typeface="Arial"/>
              </a:defRPr>
            </a:pPr>
            <a:r>
              <a:rPr/>
              <a:t>Then compare your approach with a partner’s.</a:t>
            </a:r>
          </a:p>
        </p:txBody>
      </p:sp>
      <p:sp>
        <p:nvSpPr>
          <p:cNvPr id="8" name="Rounded Rectangle 7"/>
          <p:cNvSpPr/>
          <p:nvPr/>
        </p:nvSpPr>
        <p:spPr>
          <a:xfrm>
            <a:off x="7662672" y="1783080"/>
            <a:ext cx="3904487" cy="417880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982712" y="2066543"/>
            <a:ext cx="320040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TAKE TURNS</a:t>
            </a:r>
          </a:p>
        </p:txBody>
      </p:sp>
      <p:sp>
        <p:nvSpPr>
          <p:cNvPr id="10" name="TextBox 9"/>
          <p:cNvSpPr txBox="1"/>
          <p:nvPr/>
        </p:nvSpPr>
        <p:spPr>
          <a:xfrm>
            <a:off x="7982712" y="2715768"/>
            <a:ext cx="3200400" cy="2606040"/>
          </a:xfrm>
          <a:prstGeom prst="rect">
            <a:avLst/>
          </a:prstGeom>
          <a:noFill/>
        </p:spPr>
        <p:txBody>
          <a:bodyPr wrap="square" lIns="0" rIns="0" tIns="22860" bIns="0">
            <a:spAutoFit/>
          </a:bodyPr>
          <a:lstStyle/>
          <a:p>
            <a:pPr>
              <a:spcAft>
                <a:spcPts val="800"/>
              </a:spcAft>
              <a:defRPr sz="2200" b="0">
                <a:solidFill>
                  <a:srgbClr val="24384B"/>
                </a:solidFill>
                <a:latin typeface="Arial"/>
              </a:defRPr>
            </a:pPr>
            <a:r>
              <a:rPr/>
              <a:t>Explain</a:t>
            </a:r>
          </a:p>
          <a:p>
            <a:pPr>
              <a:spcAft>
                <a:spcPts val="800"/>
              </a:spcAft>
              <a:defRPr sz="2200" b="0">
                <a:solidFill>
                  <a:srgbClr val="24384B"/>
                </a:solidFill>
                <a:latin typeface="Arial"/>
              </a:defRPr>
            </a:pPr>
            <a:r>
              <a:rPr/>
              <a:t>“I know this because…”</a:t>
            </a:r>
          </a:p>
          <a:p>
            <a:pPr>
              <a:spcAft>
                <a:spcPts val="800"/>
              </a:spcAft>
              <a:defRPr sz="2200" b="0">
                <a:solidFill>
                  <a:srgbClr val="24384B"/>
                </a:solidFill>
                <a:latin typeface="Arial"/>
              </a:defRPr>
            </a:pPr>
          </a:p>
          <a:p>
            <a:pPr>
              <a:spcAft>
                <a:spcPts val="800"/>
              </a:spcAft>
              <a:defRPr sz="2200" b="0">
                <a:solidFill>
                  <a:srgbClr val="24384B"/>
                </a:solidFill>
                <a:latin typeface="Arial"/>
              </a:defRPr>
            </a:pPr>
            <a:r>
              <a:rPr/>
              <a:t>Ask</a:t>
            </a:r>
          </a:p>
          <a:p>
            <a:pPr>
              <a:spcAft>
                <a:spcPts val="800"/>
              </a:spcAft>
              <a:defRPr sz="2200" b="0">
                <a:solidFill>
                  <a:srgbClr val="24384B"/>
                </a:solidFill>
                <a:latin typeface="Arial"/>
              </a:defRPr>
            </a:pPr>
            <a:r>
              <a:rPr/>
              <a:t>“Where does your work show that?”</a:t>
            </a:r>
          </a:p>
        </p:txBody>
      </p:sp>
      <p:grpSp>
        <p:nvGrpSpPr>
          <p:cNvPr id="11" name="TEACH-3-student-move" descr="TEACH 3 · Use intentional questioning to deepen learning"/>
          <p:cNvGrpSpPr/>
          <p:nvPr/>
        </p:nvGrpSpPr>
        <p:grpSpPr>
          <a:xfrm>
            <a:off x="502920" y="5824728"/>
            <a:ext cx="11186160" cy="402336"/>
            <a:chOff x="502920" y="5824728"/>
            <a:chExt cx="11186160" cy="402336"/>
          </a:xfrm>
        </p:grpSpPr>
        <p:sp>
          <p:nvSpPr>
            <p:cNvPr id="12"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3"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4"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HOW DO YOU KNOW?  ·  </a:t>
              </a:r>
              <a:r>
                <a:rPr lang="en-US" sz="1200" dirty="0">
                  <a:solidFill>
                    <a:srgbClr val="13303A"/>
                  </a:solidFill>
                  <a:latin typeface="Arial"/>
                </a:rPr>
                <a:t>Ask your partner “How do you know?” Answer by pointing to your own work.</a:t>
              </a:r>
              <a:endParaRPr lang="en-US" sz="1200"/>
            </a:p>
          </p:txBody>
        </p:sp>
      </p:gr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2" name="Shape 762"/>
        <p:cNvGrpSpPr/>
        <p:nvPr/>
      </p:nvGrpSpPr>
      <p:grpSpPr>
        <a:xfrm>
          <a:off x="0" y="0"/>
          <a:ext cx="0" cy="0"/>
          <a:chOff x="0" y="0"/>
          <a:chExt cx="0" cy="0"/>
        </a:xfrm>
      </p:grpSpPr>
      <p:sp>
        <p:nvSpPr>
          <p:cNvPr id="763" name="Google Shape;763;p78"/>
          <p:cNvSpPr txBox="1"/>
          <p:nvPr/>
        </p:nvSpPr>
        <p:spPr>
          <a:xfrm>
            <a:off x="484565" y="936099"/>
            <a:ext cx="7736157" cy="236315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Akela bought a sweater on sale for the price shown. He paid 60% of the original price.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was the original price of the sweater?</a:t>
            </a:r>
            <a:endParaRPr b="0" i="0" sz="1400" u="none" cap="none" strike="noStrike">
              <a:solidFill>
                <a:srgbClr val="000000"/>
              </a:solidFill>
              <a:latin typeface="Arial"/>
              <a:ea typeface="Arial"/>
              <a:cs typeface="Arial"/>
              <a:sym typeface="Arial"/>
            </a:endParaRPr>
          </a:p>
        </p:txBody>
      </p:sp>
      <p:cxnSp>
        <p:nvCxnSpPr>
          <p:cNvPr id="764" name="Google Shape;764;p78"/>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65" name="Google Shape;765;p78"/>
          <p:cNvPicPr preferRelativeResize="0"/>
          <p:nvPr/>
        </p:nvPicPr>
        <p:blipFill rotWithShape="1">
          <a:blip r:embed="rId3">
            <a:alphaModFix/>
          </a:blip>
          <a:srcRect b="0" l="0" r="0" t="0"/>
          <a:stretch/>
        </p:blipFill>
        <p:spPr>
          <a:xfrm>
            <a:off x="8522566" y="1279092"/>
            <a:ext cx="3219450" cy="3209925"/>
          </a:xfrm>
          <a:prstGeom prst="rect">
            <a:avLst/>
          </a:prstGeom>
          <a:noFill/>
          <a:ln>
            <a:noFill/>
          </a:ln>
        </p:spPr>
      </p:pic>
      <p:sp>
        <p:nvSpPr>
          <p:cNvPr id="766" name="Google Shape;766;p78"/>
          <p:cNvSpPr txBox="1"/>
          <p:nvPr/>
        </p:nvSpPr>
        <p:spPr>
          <a:xfrm>
            <a:off x="484566" y="3718412"/>
            <a:ext cx="6963370" cy="954107"/>
          </a:xfrm>
          <a:prstGeom prst="rect">
            <a:avLst/>
          </a:prstGeom>
          <a:solidFill>
            <a:schemeClr val="lt1"/>
          </a:solidFill>
          <a:ln cap="flat" cmpd="sng" w="12700">
            <a:solidFill>
              <a:srgbClr val="782DA0"/>
            </a:solidFill>
            <a:prstDash val="solid"/>
            <a:miter lim="80"/>
            <a:headEnd len="sm" w="sm" type="none"/>
            <a:tailEnd len="sm" w="sm" type="none"/>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500"/>
              <a:buFont typeface="Arial"/>
              <a:buNone/>
            </a:pPr>
            <a:r>
              <a:t/>
            </a:r>
            <a:endParaRPr b="0" i="0" sz="5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800"/>
              <a:buFont typeface="Arial"/>
              <a:buNone/>
            </a:pPr>
            <a:r>
              <a:t/>
            </a:r>
            <a:endParaRPr b="0" i="0" sz="800" u="none" cap="none" strike="noStrike">
              <a:solidFill>
                <a:schemeClr val="dk1"/>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Arial"/>
                <a:ea typeface="Arial"/>
                <a:cs typeface="Arial"/>
                <a:sym typeface="Arial"/>
              </a:rPr>
              <a:t>The original price of the sweater was $70.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000000"/>
              </a:buClr>
              <a:buSzPts val="500"/>
              <a:buFont typeface="Arial"/>
              <a:buNone/>
            </a:pPr>
            <a:r>
              <a:t/>
            </a:r>
            <a:endParaRPr b="1" i="0" sz="500" u="none" cap="none" strike="noStrike">
              <a:solidFill>
                <a:schemeClr val="dk1"/>
              </a:solidFill>
              <a:latin typeface="Arial"/>
              <a:ea typeface="Arial"/>
              <a:cs typeface="Arial"/>
              <a:sym typeface="Arial"/>
            </a:endParaRPr>
          </a:p>
        </p:txBody>
      </p:sp>
      <p:sp>
        <p:nvSpPr>
          <p:cNvPr id="767" name="Google Shape;767;p78"/>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Sweater Sale</a:t>
            </a:r>
            <a:endParaRPr b="0" i="0" sz="1400" u="none" cap="none" strike="noStrike">
              <a:solidFill>
                <a:srgbClr val="000000"/>
              </a:solidFill>
              <a:latin typeface="Arial"/>
              <a:ea typeface="Arial"/>
              <a:cs typeface="Arial"/>
              <a:sym typeface="Arial"/>
            </a:endParaRPr>
          </a:p>
        </p:txBody>
      </p:sp>
      <p:sp>
        <p:nvSpPr>
          <p:cNvPr id="76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22 / 44</a:t>
            </a:r>
          </a:p>
        </p:txBody>
      </p:sp>
      <p:sp xmlns:p="http://schemas.openxmlformats.org/presentationml/2006/main" xmlns:a="http://schemas.openxmlformats.org/drawingml/2006/main">
        <p:nvSpPr>
          <p:cNvPr id="769" name="TEACH-embedded-student-prompt" descr="Student thinking and response directions"/>
          <p:cNvSpPr txBox="1"/>
          <p:nvPr/>
        </p:nvSpPr>
        <p:spPr>
          <a:xfrm>
            <a:off x="594360" y="57241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07" name="Google Shape;607;p61"/>
          <p:cNvSpPr txBox="1"/>
          <p:nvPr/>
        </p:nvSpPr>
        <p:spPr>
          <a:xfrm>
            <a:off x="484565" y="936100"/>
            <a:ext cx="7736157" cy="266974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$42 represents 60% of the original price.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tool can you use to display the relationship between the price, in dollars, and the percent of the original price?</a:t>
            </a:r>
            <a:endParaRPr b="0" i="0" sz="1400" u="none" cap="none" strike="noStrike">
              <a:solidFill>
                <a:srgbClr val="000000"/>
              </a:solidFill>
              <a:latin typeface="Arial"/>
              <a:ea typeface="Arial"/>
              <a:cs typeface="Arial"/>
              <a:sym typeface="Arial"/>
            </a:endParaRPr>
          </a:p>
        </p:txBody>
      </p:sp>
      <p:cxnSp>
        <p:nvCxnSpPr>
          <p:cNvPr id="608" name="Google Shape;608;p6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09" name="Google Shape;609;p61"/>
          <p:cNvSpPr txBox="1"/>
          <p:nvPr/>
        </p:nvSpPr>
        <p:spPr>
          <a:xfrm>
            <a:off x="484565" y="5146880"/>
            <a:ext cx="7504890"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We can use a double number line.</a:t>
            </a:r>
            <a:endParaRPr b="0" i="0" sz="1400" u="none" cap="none" strike="noStrike">
              <a:solidFill>
                <a:srgbClr val="000000"/>
              </a:solidFill>
              <a:latin typeface="Arial"/>
              <a:ea typeface="Arial"/>
              <a:cs typeface="Arial"/>
              <a:sym typeface="Arial"/>
            </a:endParaRPr>
          </a:p>
        </p:txBody>
      </p:sp>
      <p:sp>
        <p:nvSpPr>
          <p:cNvPr id="610" name="Google Shape;610;p61"/>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Sweater Sale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23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53542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684" name="Google Shape;684;p69"/>
          <p:cNvSpPr txBox="1"/>
          <p:nvPr/>
        </p:nvSpPr>
        <p:spPr>
          <a:xfrm>
            <a:off x="484565" y="4193089"/>
            <a:ext cx="9919236" cy="62661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What is another way you can generate equivalent ratios?</a:t>
            </a:r>
            <a:endParaRPr b="0" i="0" sz="1400" u="none" cap="none" strike="noStrike">
              <a:solidFill>
                <a:srgbClr val="000000"/>
              </a:solidFill>
              <a:latin typeface="Arial"/>
              <a:ea typeface="Arial"/>
              <a:cs typeface="Arial"/>
              <a:sym typeface="Arial"/>
            </a:endParaRPr>
          </a:p>
        </p:txBody>
      </p:sp>
      <p:cxnSp>
        <p:nvCxnSpPr>
          <p:cNvPr id="685" name="Google Shape;685;p6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686" name="Google Shape;686;p69"/>
          <p:cNvSpPr txBox="1"/>
          <p:nvPr/>
        </p:nvSpPr>
        <p:spPr>
          <a:xfrm>
            <a:off x="484565" y="5146880"/>
            <a:ext cx="4389360" cy="117628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595959"/>
              </a:buClr>
              <a:buSzPts val="2800"/>
              <a:buFont typeface="Arial"/>
              <a:buNone/>
            </a:pPr>
            <a:r>
              <a:rPr b="0" i="0" lang="en-US" sz="2800" u="none" cap="none" strike="noStrike">
                <a:solidFill>
                  <a:srgbClr val="595959"/>
                </a:solidFill>
                <a:latin typeface="Arial"/>
                <a:ea typeface="Arial"/>
                <a:cs typeface="Arial"/>
                <a:sym typeface="Arial"/>
              </a:rPr>
              <a:t>One way is to use a table.</a:t>
            </a:r>
            <a:endParaRPr b="0" i="0" sz="1400" u="none" cap="none" strike="noStrike">
              <a:solidFill>
                <a:srgbClr val="000000"/>
              </a:solidFill>
              <a:latin typeface="Arial"/>
              <a:ea typeface="Arial"/>
              <a:cs typeface="Arial"/>
              <a:sym typeface="Arial"/>
            </a:endParaRPr>
          </a:p>
        </p:txBody>
      </p:sp>
      <p:pic>
        <p:nvPicPr>
          <p:cNvPr id="687" name="Google Shape;687;p69"/>
          <p:cNvPicPr preferRelativeResize="0"/>
          <p:nvPr/>
        </p:nvPicPr>
        <p:blipFill rotWithShape="1">
          <a:blip r:embed="rId2">
            <a:alphaModFix/>
          </a:blip>
          <a:srcRect b="0" l="0" r="0" t="0"/>
          <a:stretch/>
        </p:blipFill>
        <p:spPr>
          <a:xfrm>
            <a:off x="1169226" y="1551510"/>
            <a:ext cx="10274069" cy="2477990"/>
          </a:xfrm>
          <a:prstGeom prst="rect">
            <a:avLst/>
          </a:prstGeom>
          <a:noFill/>
          <a:ln>
            <a:noFill/>
          </a:ln>
        </p:spPr>
      </p:pic>
      <p:sp>
        <p:nvSpPr>
          <p:cNvPr id="688" name="Google Shape;688;p69"/>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Sweater Sale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24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54132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a:t>
            </a:r>
            <a:endParaRPr lang="en-US" sz="2000"/>
          </a:p>
          <a:p>
            <a:pPr>
              <a:lnSpc>
                <a:spcPts val="2400"/>
              </a:lnSpc>
              <a:buNone/>
            </a:pPr>
            <a:r>
              <a:rPr lang="en-US" sz="2000">
                <a:solidFill>
                  <a:srgbClr val="174D60"/>
                </a:solidFill>
                <a:latin typeface="Arial"/>
              </a:rPr>
              <a:t>explanation. Explain any revision you make.</a:t>
            </a:r>
            <a:endParaRPr lang="en-US" sz="2000"/>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03" name="Google Shape;703;p71"/>
          <p:cNvSpPr txBox="1"/>
          <p:nvPr/>
        </p:nvSpPr>
        <p:spPr>
          <a:xfrm>
            <a:off x="484566" y="936099"/>
            <a:ext cx="7070332" cy="155693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Let’s use a table of equivalent ratios to find the original price.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60% of the original price is $42.</a:t>
            </a:r>
            <a:endParaRPr b="1" i="0" sz="2800" u="none" cap="none" strike="noStrike">
              <a:solidFill>
                <a:srgbClr val="262626"/>
              </a:solidFill>
              <a:latin typeface="Arial"/>
              <a:ea typeface="Arial"/>
              <a:cs typeface="Arial"/>
              <a:sym typeface="Arial"/>
            </a:endParaRPr>
          </a:p>
        </p:txBody>
      </p:sp>
      <p:cxnSp>
        <p:nvCxnSpPr>
          <p:cNvPr id="704" name="Google Shape;704;p7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pic>
        <p:nvPicPr>
          <p:cNvPr id="705" name="Google Shape;705;p71"/>
          <p:cNvPicPr preferRelativeResize="0"/>
          <p:nvPr/>
        </p:nvPicPr>
        <p:blipFill rotWithShape="1">
          <a:blip r:embed="rId2">
            <a:alphaModFix/>
          </a:blip>
          <a:srcRect b="0" l="0" r="0" t="0"/>
          <a:stretch/>
        </p:blipFill>
        <p:spPr>
          <a:xfrm>
            <a:off x="678422" y="2703241"/>
            <a:ext cx="7107135" cy="1087244"/>
          </a:xfrm>
          <a:prstGeom prst="rect">
            <a:avLst/>
          </a:prstGeom>
          <a:noFill/>
          <a:ln>
            <a:noFill/>
          </a:ln>
        </p:spPr>
      </p:pic>
      <p:sp>
        <p:nvSpPr>
          <p:cNvPr id="706" name="Google Shape;706;p71"/>
          <p:cNvSpPr txBox="1"/>
          <p:nvPr/>
        </p:nvSpPr>
        <p:spPr>
          <a:xfrm>
            <a:off x="484566" y="4987908"/>
            <a:ext cx="10974931" cy="14101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70C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600"/>
              </a:spcBef>
              <a:spcAft>
                <a:spcPts val="0"/>
              </a:spcAft>
              <a:buClr>
                <a:srgbClr val="595959"/>
              </a:buClr>
              <a:buSzPts val="2600"/>
              <a:buFont typeface="Arial"/>
              <a:buNone/>
              <a:defRPr/>
            </a:pPr>
            <a:r>
              <a:rPr b="0" i="0" lang="en-US" sz="2600" u="none" cap="none" strike="noStrike">
                <a:solidFill>
                  <a:srgbClr val="595959"/>
                </a:solidFill>
                <a:latin typeface="Arial"/>
                <a:ea typeface="Arial"/>
                <a:cs typeface="Arial"/>
                <a:sym typeface="Arial"/>
              </a:rPr>
              <a:t>We can multiply or divide each term of the ratio by the same number to find the price compared to 100%.</a:t>
            </a:r>
            <a:endParaRPr b="1" i="0" sz="2600" u="none" cap="none" strike="noStrike">
              <a:solidFill>
                <a:srgbClr val="0070C0"/>
              </a:solidFill>
              <a:latin typeface="Arial"/>
              <a:ea typeface="Arial"/>
              <a:cs typeface="Arial"/>
              <a:sym typeface="Arial"/>
            </a:endParaRPr>
          </a:p>
        </p:txBody>
      </p:sp>
      <p:sp>
        <p:nvSpPr>
          <p:cNvPr id="707" name="Google Shape;707;p71"/>
          <p:cNvSpPr txBox="1"/>
          <p:nvPr/>
        </p:nvSpPr>
        <p:spPr>
          <a:xfrm>
            <a:off x="484566" y="3893721"/>
            <a:ext cx="7070332" cy="87786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generate an equivalent ratio to find the original price? Explain.</a:t>
            </a:r>
            <a:endParaRPr b="0" i="0" sz="1400" u="none" cap="none" strike="noStrike">
              <a:solidFill>
                <a:srgbClr val="000000"/>
              </a:solidFill>
              <a:latin typeface="Arial"/>
              <a:ea typeface="Arial"/>
              <a:cs typeface="Arial"/>
              <a:sym typeface="Arial"/>
            </a:endParaRPr>
          </a:p>
        </p:txBody>
      </p:sp>
      <p:sp>
        <p:nvSpPr>
          <p:cNvPr id="708" name="Google Shape;708;p71"/>
          <p:cNvSpPr txBox="1"/>
          <p:nvPr/>
        </p:nvSpPr>
        <p:spPr>
          <a:xfrm>
            <a:off x="484565" y="316034"/>
            <a:ext cx="5641027"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Sweater Sale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25 / 44</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799" name="Google Shape;799;p8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00" name="Google Shape;800;p82"/>
          <p:cNvSpPr txBox="1"/>
          <p:nvPr/>
        </p:nvSpPr>
        <p:spPr>
          <a:xfrm>
            <a:off x="474054" y="936102"/>
            <a:ext cx="5474164" cy="62484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What could the question be?</a:t>
            </a:r>
            <a:endParaRPr b="0" i="0" sz="1400" u="none" cap="none" strike="noStrike">
              <a:solidFill>
                <a:srgbClr val="000000"/>
              </a:solidFill>
              <a:latin typeface="Arial"/>
              <a:ea typeface="Arial"/>
              <a:cs typeface="Arial"/>
              <a:sym typeface="Arial"/>
            </a:endParaRPr>
          </a:p>
        </p:txBody>
      </p:sp>
      <p:sp>
        <p:nvSpPr>
          <p:cNvPr id="801" name="Google Shape;801;p82"/>
          <p:cNvSpPr txBox="1"/>
          <p:nvPr/>
        </p:nvSpPr>
        <p:spPr>
          <a:xfrm>
            <a:off x="474055" y="316034"/>
            <a:ext cx="3904129" cy="661120"/>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00B050"/>
              </a:buClr>
              <a:buSzPts val="2800"/>
              <a:buFont typeface="Arial"/>
              <a:buNone/>
            </a:pPr>
            <a:r>
              <a:rPr b="1" i="0" lang="en-US" sz="2800" u="none" cap="none" strike="noStrike">
                <a:solidFill>
                  <a:srgbClr val="00B050"/>
                </a:solidFill>
                <a:latin typeface="Arial"/>
                <a:ea typeface="Arial"/>
                <a:cs typeface="Arial"/>
                <a:sym typeface="Arial"/>
              </a:rPr>
              <a:t>Be Curious</a:t>
            </a:r>
            <a:endParaRPr b="0" i="0" sz="1400" u="none" cap="none" strike="noStrike">
              <a:solidFill>
                <a:srgbClr val="000000"/>
              </a:solidFill>
              <a:latin typeface="Arial"/>
              <a:ea typeface="Arial"/>
              <a:cs typeface="Arial"/>
              <a:sym typeface="Arial"/>
            </a:endParaRPr>
          </a:p>
        </p:txBody>
      </p:sp>
      <p:sp>
        <p:nvSpPr>
          <p:cNvPr id="802" name="Google Shape;802;p82"/>
          <p:cNvSpPr/>
          <p:nvPr/>
        </p:nvSpPr>
        <p:spPr>
          <a:xfrm>
            <a:off x="583685" y="1809656"/>
            <a:ext cx="7086622" cy="2868247"/>
          </a:xfrm>
          <a:prstGeom prst="snip1Rect">
            <a:avLst>
              <a:gd fmla="val 16667" name="adj"/>
            </a:avLst>
          </a:prstGeom>
          <a:noFill/>
          <a:ln cap="flat" cmpd="sng" w="19050">
            <a:solidFill>
              <a:srgbClr val="538135"/>
            </a:solidFill>
            <a:prstDash val="solid"/>
            <a:miter lim="8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Calibri"/>
              <a:ea typeface="Calibri"/>
              <a:cs typeface="Calibri"/>
              <a:sym typeface="Calibri"/>
            </a:endParaRPr>
          </a:p>
        </p:txBody>
      </p:sp>
      <p:sp>
        <p:nvSpPr>
          <p:cNvPr id="803" name="Google Shape;803;p82"/>
          <p:cNvSpPr txBox="1"/>
          <p:nvPr/>
        </p:nvSpPr>
        <p:spPr>
          <a:xfrm flipH="1">
            <a:off x="1317996" y="2292978"/>
            <a:ext cx="5296488" cy="181588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2800"/>
              <a:buFont typeface="Arial"/>
              <a:buNone/>
            </a:pPr>
            <a:r>
              <a:rPr b="0" i="1" lang="en-US" sz="2800" u="none" cap="none" strike="noStrike">
                <a:solidFill>
                  <a:srgbClr val="782DA0"/>
                </a:solidFill>
                <a:latin typeface="Arial"/>
                <a:ea typeface="Arial"/>
                <a:cs typeface="Arial"/>
                <a:sym typeface="Arial"/>
              </a:rPr>
              <a:t>A student calculates that he spends 15% of the school day in science class. He spends 75 minutes in science class.</a:t>
            </a:r>
            <a:endParaRPr b="0" i="1" sz="2800" u="none" cap="none" strike="noStrike">
              <a:solidFill>
                <a:srgbClr val="782DA0"/>
              </a:solidFill>
              <a:latin typeface="Arial"/>
              <a:ea typeface="Arial"/>
              <a:cs typeface="Arial"/>
              <a:sym typeface="Arial"/>
            </a:endParaRPr>
          </a:p>
        </p:txBody>
      </p:sp>
      <p:pic>
        <p:nvPicPr>
          <p:cNvPr descr="Chart, funnel chart&#10;&#10;Description automatically generated" id="804" name="Google Shape;804;p82"/>
          <p:cNvPicPr preferRelativeResize="0"/>
          <p:nvPr/>
        </p:nvPicPr>
        <p:blipFill rotWithShape="1">
          <a:blip r:embed="rId2">
            <a:alphaModFix/>
          </a:blip>
          <a:srcRect b="0" l="0" r="0" t="0"/>
          <a:stretch/>
        </p:blipFill>
        <p:spPr>
          <a:xfrm>
            <a:off x="474055" y="5071308"/>
            <a:ext cx="5054600" cy="838200"/>
          </a:xfrm>
          <a:prstGeom prst="rect">
            <a:avLst/>
          </a:prstGeom>
          <a:noFill/>
          <a:ln>
            <a:noFill/>
          </a:ln>
        </p:spPr>
      </p:pic>
      <p:sp>
        <p:nvSpPr>
          <p:cNvPr id="805" name="Google Shape;805;p82"/>
          <p:cNvSpPr txBox="1"/>
          <p:nvPr/>
        </p:nvSpPr>
        <p:spPr>
          <a:xfrm>
            <a:off x="3334072" y="5228626"/>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62626"/>
                </a:solidFill>
                <a:latin typeface="Arial"/>
                <a:ea typeface="Arial"/>
                <a:cs typeface="Arial"/>
                <a:sym typeface="Arial"/>
              </a:rPr>
              <a:t>Mindset</a:t>
            </a:r>
            <a:endParaRPr b="0" i="0" sz="1400" u="none" cap="none" strike="noStrike">
              <a:solidFill>
                <a:srgbClr val="000000"/>
              </a:solidFill>
              <a:latin typeface="Arial"/>
              <a:ea typeface="Arial"/>
              <a:cs typeface="Arial"/>
              <a:sym typeface="Arial"/>
            </a:endParaRPr>
          </a:p>
        </p:txBody>
      </p:sp>
      <p:sp>
        <p:nvSpPr>
          <p:cNvPr id="806" name="Google Shape;806;p82"/>
          <p:cNvSpPr/>
          <p:nvPr/>
        </p:nvSpPr>
        <p:spPr>
          <a:xfrm>
            <a:off x="687251" y="5886631"/>
            <a:ext cx="10741420" cy="49244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600"/>
              <a:buFont typeface="Arial"/>
              <a:buNone/>
            </a:pPr>
            <a:r>
              <a:rPr b="0" i="0" lang="en-US" sz="2600" u="none" cap="none" strike="noStrike">
                <a:solidFill>
                  <a:srgbClr val="595959"/>
                </a:solidFill>
                <a:latin typeface="Arial"/>
                <a:ea typeface="Arial"/>
                <a:cs typeface="Arial"/>
                <a:sym typeface="Arial"/>
              </a:rPr>
              <a:t>What is helping you be organized in math class?</a:t>
            </a:r>
            <a:endParaRPr b="0" i="0" sz="2600" u="none" cap="none" strike="noStrike">
              <a:solidFill>
                <a:srgbClr val="595959"/>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27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6111240" y="495604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Share a notice and a question;</a:t>
            </a:r>
            <a:endParaRPr lang="en-US" sz="2000"/>
          </a:p>
          <a:p>
            <a:pPr>
              <a:lnSpc>
                <a:spcPts val="2400"/>
              </a:lnSpc>
              <a:buNone/>
            </a:pPr>
            <a:r>
              <a:rPr lang="en-US" sz="2000">
                <a:solidFill>
                  <a:srgbClr val="174D60"/>
                </a:solidFill>
                <a:latin typeface="Arial"/>
              </a:rPr>
              <a:t>build on a classmate’s idea.</a:t>
            </a:r>
            <a:endParaRPr lang="en-US" sz="2000"/>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0" name="Shape 260"/>
        <p:cNvGrpSpPr/>
        <p:nvPr/>
      </p:nvGrpSpPr>
      <p:grpSpPr>
        <a:xfrm>
          <a:off x="0" y="0"/>
          <a:ext cx="0" cy="0"/>
          <a:chOff x="0" y="0"/>
          <a:chExt cx="0" cy="0"/>
        </a:xfrm>
      </p:grpSpPr>
      <p:sp>
        <p:nvSpPr>
          <p:cNvPr id="261" name="Google Shape;261;p4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2" name="Google Shape;262;p43"/>
          <p:cNvSpPr/>
          <p:nvPr/>
        </p:nvSpPr>
        <p:spPr>
          <a:xfrm>
            <a:off x="0" y="0"/>
            <a:ext cx="12191969" cy="713232"/>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3" name="Google Shape;263;p4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Session 2 Warm-Up</a:t>
            </a:r>
            <a:endParaRPr/>
          </a:p>
        </p:txBody>
      </p:sp>
      <p:sp>
        <p:nvSpPr>
          <p:cNvPr id="264" name="Google Shape;264;p4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4-5 · Determine the Whole Given the Part and Percent</a:t>
            </a:r>
            <a:endParaRPr/>
          </a:p>
        </p:txBody>
      </p:sp>
      <p:sp>
        <p:nvSpPr>
          <p:cNvPr id="265" name="Google Shape;265;p4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66" name="Google Shape;266;p4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267" name="Google Shape;267;p43"/>
          <p:cNvSpPr txBox="1"/>
          <p:nvPr/>
        </p:nvSpPr>
        <p:spPr>
          <a:xfrm>
            <a:off x="640080" y="914400"/>
            <a:ext cx="10911809" cy="475488"/>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500" u="none" cap="none" strike="noStrike">
                <a:solidFill>
                  <a:srgbClr val="7030A0"/>
                </a:solidFill>
                <a:latin typeface="Arial"/>
                <a:ea typeface="Arial"/>
                <a:cs typeface="Arial"/>
                <a:sym typeface="Arial"/>
              </a:rPr>
              <a:t>Session 2 Warm-Up</a:t>
            </a:r>
            <a:endParaRPr/>
          </a:p>
        </p:txBody>
      </p:sp>
      <p:sp>
        <p:nvSpPr>
          <p:cNvPr id="268" name="Google Shape;268;p43"/>
          <p:cNvSpPr txBox="1"/>
          <p:nvPr/>
        </p:nvSpPr>
        <p:spPr>
          <a:xfrm>
            <a:off x="640080" y="1426464"/>
            <a:ext cx="10911809"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1" lang="en-US" sz="1400" u="none" cap="none" strike="noStrike">
                <a:solidFill>
                  <a:srgbClr val="2D3A40"/>
                </a:solidFill>
                <a:latin typeface="Arial"/>
                <a:ea typeface="Arial"/>
                <a:cs typeface="Arial"/>
                <a:sym typeface="Arial"/>
              </a:rPr>
              <a:t>Quick review from Session 1 · about 4 minutes</a:t>
            </a:r>
            <a:endParaRPr/>
          </a:p>
        </p:txBody>
      </p:sp>
      <p:sp>
        <p:nvSpPr>
          <p:cNvPr id="269" name="Google Shape;269;p43"/>
          <p:cNvSpPr/>
          <p:nvPr/>
        </p:nvSpPr>
        <p:spPr>
          <a:xfrm>
            <a:off x="640080"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0" name="Google Shape;270;p43"/>
          <p:cNvSpPr/>
          <p:nvPr/>
        </p:nvSpPr>
        <p:spPr>
          <a:xfrm>
            <a:off x="640080"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1" name="Google Shape;271;p43"/>
          <p:cNvSpPr/>
          <p:nvPr/>
        </p:nvSpPr>
        <p:spPr>
          <a:xfrm>
            <a:off x="914400"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272" name="Google Shape;272;p43"/>
          <p:cNvSpPr txBox="1"/>
          <p:nvPr/>
        </p:nvSpPr>
        <p:spPr>
          <a:xfrm>
            <a:off x="144475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If 20% of a number is 14, what is 100%?</a:t>
            </a:r>
            <a:endParaRPr/>
          </a:p>
        </p:txBody>
      </p:sp>
      <p:sp>
        <p:nvSpPr>
          <p:cNvPr id="273" name="Google Shape;273;p43"/>
          <p:cNvSpPr/>
          <p:nvPr/>
        </p:nvSpPr>
        <p:spPr>
          <a:xfrm>
            <a:off x="144475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4" name="Google Shape;274;p43"/>
          <p:cNvSpPr txBox="1"/>
          <p:nvPr/>
        </p:nvSpPr>
        <p:spPr>
          <a:xfrm>
            <a:off x="157276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75" name="Google Shape;275;p43"/>
          <p:cNvSpPr txBox="1"/>
          <p:nvPr/>
        </p:nvSpPr>
        <p:spPr>
          <a:xfrm>
            <a:off x="184708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28</a:t>
            </a:r>
            <a:endParaRPr/>
          </a:p>
        </p:txBody>
      </p:sp>
      <p:sp>
        <p:nvSpPr>
          <p:cNvPr id="276" name="Google Shape;276;p43"/>
          <p:cNvSpPr/>
          <p:nvPr/>
        </p:nvSpPr>
        <p:spPr>
          <a:xfrm>
            <a:off x="144475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7" name="Google Shape;277;p43"/>
          <p:cNvSpPr txBox="1"/>
          <p:nvPr/>
        </p:nvSpPr>
        <p:spPr>
          <a:xfrm>
            <a:off x="157276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78" name="Google Shape;278;p43"/>
          <p:cNvSpPr txBox="1"/>
          <p:nvPr/>
        </p:nvSpPr>
        <p:spPr>
          <a:xfrm>
            <a:off x="184708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70</a:t>
            </a:r>
            <a:endParaRPr/>
          </a:p>
        </p:txBody>
      </p:sp>
      <p:sp>
        <p:nvSpPr>
          <p:cNvPr id="279" name="Google Shape;279;p43"/>
          <p:cNvSpPr/>
          <p:nvPr/>
        </p:nvSpPr>
        <p:spPr>
          <a:xfrm>
            <a:off x="144475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43"/>
          <p:cNvSpPr txBox="1"/>
          <p:nvPr/>
        </p:nvSpPr>
        <p:spPr>
          <a:xfrm>
            <a:off x="157276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81" name="Google Shape;281;p43"/>
          <p:cNvSpPr txBox="1"/>
          <p:nvPr/>
        </p:nvSpPr>
        <p:spPr>
          <a:xfrm>
            <a:off x="184708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140</a:t>
            </a:r>
            <a:endParaRPr/>
          </a:p>
        </p:txBody>
      </p:sp>
      <p:sp>
        <p:nvSpPr>
          <p:cNvPr id="282" name="Google Shape;282;p43"/>
          <p:cNvSpPr/>
          <p:nvPr/>
        </p:nvSpPr>
        <p:spPr>
          <a:xfrm>
            <a:off x="144475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3" name="Google Shape;283;p43"/>
          <p:cNvSpPr txBox="1"/>
          <p:nvPr/>
        </p:nvSpPr>
        <p:spPr>
          <a:xfrm>
            <a:off x="157276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284" name="Google Shape;284;p43"/>
          <p:cNvSpPr txBox="1"/>
          <p:nvPr/>
        </p:nvSpPr>
        <p:spPr>
          <a:xfrm>
            <a:off x="184708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280</a:t>
            </a:r>
            <a:endParaRPr/>
          </a:p>
        </p:txBody>
      </p:sp>
      <p:sp>
        <p:nvSpPr>
          <p:cNvPr id="285" name="Google Shape;285;p43"/>
          <p:cNvSpPr/>
          <p:nvPr/>
        </p:nvSpPr>
        <p:spPr>
          <a:xfrm>
            <a:off x="6260576" y="1828800"/>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6" name="Google Shape;286;p43"/>
          <p:cNvSpPr/>
          <p:nvPr/>
        </p:nvSpPr>
        <p:spPr>
          <a:xfrm>
            <a:off x="6260576" y="1828800"/>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7" name="Google Shape;287;p43"/>
          <p:cNvSpPr/>
          <p:nvPr/>
        </p:nvSpPr>
        <p:spPr>
          <a:xfrm>
            <a:off x="6534896" y="2066543"/>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288" name="Google Shape;288;p43"/>
          <p:cNvSpPr txBox="1"/>
          <p:nvPr/>
        </p:nvSpPr>
        <p:spPr>
          <a:xfrm>
            <a:off x="7068312" y="2048256"/>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250" u="none" cap="none" strike="noStrike">
                <a:solidFill>
                  <a:srgbClr val="14223A"/>
                </a:solidFill>
                <a:latin typeface="Arial"/>
                <a:ea typeface="Arial"/>
                <a:cs typeface="Arial"/>
                <a:sym typeface="Arial"/>
              </a:rPr>
              <a:t>To find the whole given the part and percent, calculate:</a:t>
            </a:r>
            <a:endParaRPr/>
          </a:p>
        </p:txBody>
      </p:sp>
      <p:sp>
        <p:nvSpPr>
          <p:cNvPr id="289" name="Google Shape;289;p43"/>
          <p:cNvSpPr/>
          <p:nvPr/>
        </p:nvSpPr>
        <p:spPr>
          <a:xfrm>
            <a:off x="7068312" y="253288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0" name="Google Shape;290;p43"/>
          <p:cNvSpPr txBox="1"/>
          <p:nvPr/>
        </p:nvSpPr>
        <p:spPr>
          <a:xfrm>
            <a:off x="7196328" y="256032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291" name="Google Shape;291;p43"/>
          <p:cNvSpPr txBox="1"/>
          <p:nvPr/>
        </p:nvSpPr>
        <p:spPr>
          <a:xfrm>
            <a:off x="7470648" y="256032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Part × Percent</a:t>
            </a:r>
            <a:endParaRPr/>
          </a:p>
        </p:txBody>
      </p:sp>
      <p:sp>
        <p:nvSpPr>
          <p:cNvPr id="292" name="Google Shape;292;p43"/>
          <p:cNvSpPr/>
          <p:nvPr/>
        </p:nvSpPr>
        <p:spPr>
          <a:xfrm>
            <a:off x="7068312" y="285292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3" name="Google Shape;293;p43"/>
          <p:cNvSpPr txBox="1"/>
          <p:nvPr/>
        </p:nvSpPr>
        <p:spPr>
          <a:xfrm>
            <a:off x="7196328" y="288036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294" name="Google Shape;294;p43"/>
          <p:cNvSpPr txBox="1"/>
          <p:nvPr/>
        </p:nvSpPr>
        <p:spPr>
          <a:xfrm>
            <a:off x="7470648" y="288036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Part ÷ (Percent as decimal)</a:t>
            </a:r>
            <a:endParaRPr/>
          </a:p>
        </p:txBody>
      </p:sp>
      <p:sp>
        <p:nvSpPr>
          <p:cNvPr id="295" name="Google Shape;295;p43"/>
          <p:cNvSpPr/>
          <p:nvPr/>
        </p:nvSpPr>
        <p:spPr>
          <a:xfrm>
            <a:off x="7068312" y="317296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6" name="Google Shape;296;p43"/>
          <p:cNvSpPr txBox="1"/>
          <p:nvPr/>
        </p:nvSpPr>
        <p:spPr>
          <a:xfrm>
            <a:off x="7196328" y="320040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297" name="Google Shape;297;p43"/>
          <p:cNvSpPr txBox="1"/>
          <p:nvPr/>
        </p:nvSpPr>
        <p:spPr>
          <a:xfrm>
            <a:off x="7470648" y="320040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Whole − Part</a:t>
            </a:r>
            <a:endParaRPr/>
          </a:p>
        </p:txBody>
      </p:sp>
      <p:sp>
        <p:nvSpPr>
          <p:cNvPr id="298" name="Google Shape;298;p43"/>
          <p:cNvSpPr/>
          <p:nvPr/>
        </p:nvSpPr>
        <p:spPr>
          <a:xfrm>
            <a:off x="7068312" y="3493008"/>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99" name="Google Shape;299;p43"/>
          <p:cNvSpPr txBox="1"/>
          <p:nvPr/>
        </p:nvSpPr>
        <p:spPr>
          <a:xfrm>
            <a:off x="7196328" y="3520440"/>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00" name="Google Shape;300;p43"/>
          <p:cNvSpPr txBox="1"/>
          <p:nvPr/>
        </p:nvSpPr>
        <p:spPr>
          <a:xfrm>
            <a:off x="7470648" y="3520440"/>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Percent ÷ Part</a:t>
            </a:r>
            <a:endParaRPr/>
          </a:p>
        </p:txBody>
      </p:sp>
      <p:sp>
        <p:nvSpPr>
          <p:cNvPr id="301" name="Google Shape;301;p43"/>
          <p:cNvSpPr/>
          <p:nvPr/>
        </p:nvSpPr>
        <p:spPr>
          <a:xfrm>
            <a:off x="640080"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2" name="Google Shape;302;p43"/>
          <p:cNvSpPr/>
          <p:nvPr/>
        </p:nvSpPr>
        <p:spPr>
          <a:xfrm>
            <a:off x="640080"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3" name="Google Shape;303;p43"/>
          <p:cNvSpPr/>
          <p:nvPr/>
        </p:nvSpPr>
        <p:spPr>
          <a:xfrm>
            <a:off x="914400"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304" name="Google Shape;304;p43"/>
          <p:cNvSpPr txBox="1"/>
          <p:nvPr/>
        </p:nvSpPr>
        <p:spPr>
          <a:xfrm>
            <a:off x="144475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If 50% of x is 45, what is x?</a:t>
            </a:r>
            <a:endParaRPr/>
          </a:p>
        </p:txBody>
      </p:sp>
      <p:sp>
        <p:nvSpPr>
          <p:cNvPr id="305" name="Google Shape;305;p43"/>
          <p:cNvSpPr/>
          <p:nvPr/>
        </p:nvSpPr>
        <p:spPr>
          <a:xfrm>
            <a:off x="144475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6" name="Google Shape;306;p43"/>
          <p:cNvSpPr txBox="1"/>
          <p:nvPr/>
        </p:nvSpPr>
        <p:spPr>
          <a:xfrm>
            <a:off x="157276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07" name="Google Shape;307;p43"/>
          <p:cNvSpPr txBox="1"/>
          <p:nvPr/>
        </p:nvSpPr>
        <p:spPr>
          <a:xfrm>
            <a:off x="184708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22.5</a:t>
            </a:r>
            <a:endParaRPr/>
          </a:p>
        </p:txBody>
      </p:sp>
      <p:sp>
        <p:nvSpPr>
          <p:cNvPr id="308" name="Google Shape;308;p43"/>
          <p:cNvSpPr/>
          <p:nvPr/>
        </p:nvSpPr>
        <p:spPr>
          <a:xfrm>
            <a:off x="144475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09" name="Google Shape;309;p43"/>
          <p:cNvSpPr txBox="1"/>
          <p:nvPr/>
        </p:nvSpPr>
        <p:spPr>
          <a:xfrm>
            <a:off x="157276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10" name="Google Shape;310;p43"/>
          <p:cNvSpPr txBox="1"/>
          <p:nvPr/>
        </p:nvSpPr>
        <p:spPr>
          <a:xfrm>
            <a:off x="184708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90</a:t>
            </a:r>
            <a:endParaRPr/>
          </a:p>
        </p:txBody>
      </p:sp>
      <p:sp>
        <p:nvSpPr>
          <p:cNvPr id="311" name="Google Shape;311;p43"/>
          <p:cNvSpPr/>
          <p:nvPr/>
        </p:nvSpPr>
        <p:spPr>
          <a:xfrm>
            <a:off x="144475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2" name="Google Shape;312;p43"/>
          <p:cNvSpPr txBox="1"/>
          <p:nvPr/>
        </p:nvSpPr>
        <p:spPr>
          <a:xfrm>
            <a:off x="157276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13" name="Google Shape;313;p43"/>
          <p:cNvSpPr txBox="1"/>
          <p:nvPr/>
        </p:nvSpPr>
        <p:spPr>
          <a:xfrm>
            <a:off x="184708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100</a:t>
            </a:r>
            <a:endParaRPr/>
          </a:p>
        </p:txBody>
      </p:sp>
      <p:sp>
        <p:nvSpPr>
          <p:cNvPr id="314" name="Google Shape;314;p43"/>
          <p:cNvSpPr/>
          <p:nvPr/>
        </p:nvSpPr>
        <p:spPr>
          <a:xfrm>
            <a:off x="144475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5" name="Google Shape;315;p43"/>
          <p:cNvSpPr txBox="1"/>
          <p:nvPr/>
        </p:nvSpPr>
        <p:spPr>
          <a:xfrm>
            <a:off x="157276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16" name="Google Shape;316;p43"/>
          <p:cNvSpPr txBox="1"/>
          <p:nvPr/>
        </p:nvSpPr>
        <p:spPr>
          <a:xfrm>
            <a:off x="184708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450</a:t>
            </a:r>
            <a:endParaRPr/>
          </a:p>
        </p:txBody>
      </p:sp>
      <p:sp>
        <p:nvSpPr>
          <p:cNvPr id="317" name="Google Shape;317;p43"/>
          <p:cNvSpPr/>
          <p:nvPr/>
        </p:nvSpPr>
        <p:spPr>
          <a:xfrm>
            <a:off x="6260576" y="4133088"/>
            <a:ext cx="5291312" cy="2066544"/>
          </a:xfrm>
          <a:prstGeom prst="roundRect">
            <a:avLst>
              <a:gd fmla="val 6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8" name="Google Shape;318;p43"/>
          <p:cNvSpPr/>
          <p:nvPr/>
        </p:nvSpPr>
        <p:spPr>
          <a:xfrm>
            <a:off x="6260576" y="4133088"/>
            <a:ext cx="91440" cy="2066544"/>
          </a:xfrm>
          <a:prstGeom prst="rect">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19" name="Google Shape;319;p43"/>
          <p:cNvSpPr/>
          <p:nvPr/>
        </p:nvSpPr>
        <p:spPr>
          <a:xfrm>
            <a:off x="6534896" y="4370832"/>
            <a:ext cx="365760" cy="365760"/>
          </a:xfrm>
          <a:prstGeom prst="ellipse">
            <a:avLst/>
          </a:prstGeom>
          <a:solidFill>
            <a:srgbClr val="33415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4</a:t>
            </a:r>
            <a:endParaRPr/>
          </a:p>
        </p:txBody>
      </p:sp>
      <p:sp>
        <p:nvSpPr>
          <p:cNvPr id="320" name="Google Shape;320;p43"/>
          <p:cNvSpPr txBox="1"/>
          <p:nvPr/>
        </p:nvSpPr>
        <p:spPr>
          <a:xfrm>
            <a:off x="7068312" y="4352544"/>
            <a:ext cx="4389120" cy="457200"/>
          </a:xfrm>
          <a:prstGeom prst="rect">
            <a:avLst/>
          </a:prstGeom>
          <a:noFill/>
          <a:ln>
            <a:noFill/>
          </a:ln>
        </p:spPr>
        <p:txBody>
          <a:bodyPr anchorCtr="0" anchor="t" bIns="0" lIns="0" spcFirstLastPara="1" rIns="0" wrap="square" tIns="0">
            <a:spAutoFit/>
          </a:bodyPr>
          <a:lstStyle/>
          <a:p>
            <a:pPr indent="0" lvl="0" marL="0" marR="0" rtl="0" algn="l">
              <a:lnSpc>
                <a:spcPct val="120000"/>
              </a:lnSpc>
              <a:spcBef>
                <a:spcPts val="0"/>
              </a:spcBef>
              <a:spcAft>
                <a:spcPts val="0"/>
              </a:spcAft>
              <a:buNone/>
              <a:defRPr/>
            </a:pPr>
            <a:r>
              <a:rPr b="1" i="0" lang="en-US" sz="1400" u="none" cap="none" strike="noStrike">
                <a:solidFill>
                  <a:srgbClr val="14223A"/>
                </a:solidFill>
                <a:latin typeface="Arial"/>
                <a:ea typeface="Arial"/>
                <a:cs typeface="Arial"/>
                <a:sym typeface="Arial"/>
              </a:rPr>
              <a:t>30 is 25% of what whole number?</a:t>
            </a:r>
            <a:endParaRPr/>
          </a:p>
        </p:txBody>
      </p:sp>
      <p:sp>
        <p:nvSpPr>
          <p:cNvPr id="321" name="Google Shape;321;p43"/>
          <p:cNvSpPr/>
          <p:nvPr/>
        </p:nvSpPr>
        <p:spPr>
          <a:xfrm>
            <a:off x="7068312" y="483717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2" name="Google Shape;322;p43"/>
          <p:cNvSpPr txBox="1"/>
          <p:nvPr/>
        </p:nvSpPr>
        <p:spPr>
          <a:xfrm>
            <a:off x="7196328" y="486460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A</a:t>
            </a:r>
            <a:endParaRPr/>
          </a:p>
        </p:txBody>
      </p:sp>
      <p:sp>
        <p:nvSpPr>
          <p:cNvPr id="323" name="Google Shape;323;p43"/>
          <p:cNvSpPr txBox="1"/>
          <p:nvPr/>
        </p:nvSpPr>
        <p:spPr>
          <a:xfrm>
            <a:off x="7470648" y="486460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60</a:t>
            </a:r>
            <a:endParaRPr/>
          </a:p>
        </p:txBody>
      </p:sp>
      <p:sp>
        <p:nvSpPr>
          <p:cNvPr id="324" name="Google Shape;324;p43"/>
          <p:cNvSpPr/>
          <p:nvPr/>
        </p:nvSpPr>
        <p:spPr>
          <a:xfrm>
            <a:off x="7068312" y="515721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5" name="Google Shape;325;p43"/>
          <p:cNvSpPr txBox="1"/>
          <p:nvPr/>
        </p:nvSpPr>
        <p:spPr>
          <a:xfrm>
            <a:off x="7196328" y="518464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B</a:t>
            </a:r>
            <a:endParaRPr/>
          </a:p>
        </p:txBody>
      </p:sp>
      <p:sp>
        <p:nvSpPr>
          <p:cNvPr id="326" name="Google Shape;326;p43"/>
          <p:cNvSpPr txBox="1"/>
          <p:nvPr/>
        </p:nvSpPr>
        <p:spPr>
          <a:xfrm>
            <a:off x="7470648" y="518464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120</a:t>
            </a:r>
            <a:endParaRPr/>
          </a:p>
        </p:txBody>
      </p:sp>
      <p:sp>
        <p:nvSpPr>
          <p:cNvPr id="327" name="Google Shape;327;p43"/>
          <p:cNvSpPr/>
          <p:nvPr/>
        </p:nvSpPr>
        <p:spPr>
          <a:xfrm>
            <a:off x="7068312" y="547725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28" name="Google Shape;328;p43"/>
          <p:cNvSpPr txBox="1"/>
          <p:nvPr/>
        </p:nvSpPr>
        <p:spPr>
          <a:xfrm>
            <a:off x="7196328" y="550468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C</a:t>
            </a:r>
            <a:endParaRPr/>
          </a:p>
        </p:txBody>
      </p:sp>
      <p:sp>
        <p:nvSpPr>
          <p:cNvPr id="329" name="Google Shape;329;p43"/>
          <p:cNvSpPr txBox="1"/>
          <p:nvPr/>
        </p:nvSpPr>
        <p:spPr>
          <a:xfrm>
            <a:off x="7470648" y="550468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150</a:t>
            </a:r>
            <a:endParaRPr/>
          </a:p>
        </p:txBody>
      </p:sp>
      <p:sp>
        <p:nvSpPr>
          <p:cNvPr id="330" name="Google Shape;330;p43"/>
          <p:cNvSpPr/>
          <p:nvPr/>
        </p:nvSpPr>
        <p:spPr>
          <a:xfrm>
            <a:off x="7068312" y="5797296"/>
            <a:ext cx="274320" cy="256032"/>
          </a:xfrm>
          <a:prstGeom prst="roundRect">
            <a:avLst>
              <a:gd fmla="val 16000" name="adj"/>
            </a:avLst>
          </a:prstGeom>
          <a:solidFill>
            <a:srgbClr val="FFFFFF"/>
          </a:solidFill>
          <a:ln cap="flat" cmpd="sng" w="15875">
            <a:solidFill>
              <a:srgbClr val="E2E8F0"/>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331" name="Google Shape;331;p43"/>
          <p:cNvSpPr txBox="1"/>
          <p:nvPr/>
        </p:nvSpPr>
        <p:spPr>
          <a:xfrm>
            <a:off x="7196328" y="5824728"/>
            <a:ext cx="237744" cy="201168"/>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1100" u="none" cap="none" strike="noStrike">
                <a:solidFill>
                  <a:srgbClr val="334155"/>
                </a:solidFill>
                <a:latin typeface="Arial"/>
                <a:ea typeface="Arial"/>
                <a:cs typeface="Arial"/>
                <a:sym typeface="Arial"/>
              </a:rPr>
              <a:t>D</a:t>
            </a:r>
            <a:endParaRPr/>
          </a:p>
        </p:txBody>
      </p:sp>
      <p:sp>
        <p:nvSpPr>
          <p:cNvPr id="332" name="Google Shape;332;p43"/>
          <p:cNvSpPr txBox="1"/>
          <p:nvPr/>
        </p:nvSpPr>
        <p:spPr>
          <a:xfrm>
            <a:off x="7470648" y="5824728"/>
            <a:ext cx="3931920" cy="256032"/>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0" i="0" lang="en-US" sz="1400" u="none" cap="none" strike="noStrike">
                <a:solidFill>
                  <a:srgbClr val="14223A"/>
                </a:solidFill>
                <a:latin typeface="Arial"/>
                <a:ea typeface="Arial"/>
                <a:cs typeface="Arial"/>
                <a:sym typeface="Arial"/>
              </a:rPr>
              <a:t>300</a:t>
            </a:r>
            <a:endParaRPr/>
          </a:p>
        </p:txBody>
      </p:sp>
      <p:sp>
        <p:nvSpPr>
          <p:cNvPr id="333"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28 / 44</a:t>
            </a: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9" name="Shape 519"/>
        <p:cNvGrpSpPr/>
        <p:nvPr/>
      </p:nvGrpSpPr>
      <p:grpSpPr>
        <a:xfrm>
          <a:off x="0" y="0"/>
          <a:ext cx="0" cy="0"/>
          <a:chOff x="0" y="0"/>
          <a:chExt cx="0" cy="0"/>
        </a:xfrm>
      </p:grpSpPr>
      <p:sp>
        <p:nvSpPr>
          <p:cNvPr id="520" name="Google Shape;520;p53"/>
          <p:cNvSpPr/>
          <p:nvPr/>
        </p:nvSpPr>
        <p:spPr>
          <a:xfrm>
            <a:off x="0" y="0"/>
            <a:ext cx="12191969" cy="6858000"/>
          </a:xfrm>
          <a:prstGeom prst="rect">
            <a:avLst/>
          </a:prstGeom>
          <a:solidFill>
            <a:srgbClr val="FFFFFF"/>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1" name="Google Shape;521;p53"/>
          <p:cNvSpPr/>
          <p:nvPr/>
        </p:nvSpPr>
        <p:spPr>
          <a:xfrm>
            <a:off x="0" y="0"/>
            <a:ext cx="12191969" cy="713232"/>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2" name="Google Shape;522;p53"/>
          <p:cNvSpPr txBox="1"/>
          <p:nvPr/>
        </p:nvSpPr>
        <p:spPr>
          <a:xfrm>
            <a:off x="502920" y="146304"/>
            <a:ext cx="6766560" cy="420624"/>
          </a:xfrm>
          <a:prstGeom prst="rect">
            <a:avLst/>
          </a:prstGeom>
          <a:noFill/>
          <a:ln>
            <a:noFill/>
          </a:ln>
        </p:spPr>
        <p:txBody>
          <a:bodyPr anchorCtr="0" anchor="ctr" bIns="0" lIns="0" spcFirstLastPara="1" rIns="0" wrap="square" tIns="0">
            <a:spAutoFit/>
          </a:bodyPr>
          <a:lstStyle/>
          <a:p>
            <a:pPr indent="0" lvl="0" marL="0" marR="0" rtl="0" algn="l">
              <a:lnSpc>
                <a:spcPct val="100000"/>
              </a:lnSpc>
              <a:spcBef>
                <a:spcPts val="0"/>
              </a:spcBef>
              <a:spcAft>
                <a:spcPts val="0"/>
              </a:spcAft>
              <a:buNone/>
              <a:defRPr/>
            </a:pPr>
            <a:r>
              <a:rPr b="1" i="0" lang="en-US" sz="2000" u="none" cap="none" strike="noStrike">
                <a:solidFill>
                  <a:srgbClr val="FFFFFF"/>
                </a:solidFill>
                <a:latin typeface="Arial"/>
                <a:ea typeface="Arial"/>
                <a:cs typeface="Arial"/>
                <a:sym typeface="Arial"/>
              </a:rPr>
              <a:t>Review Notes</a:t>
            </a:r>
            <a:endParaRPr/>
          </a:p>
        </p:txBody>
      </p:sp>
      <p:sp>
        <p:nvSpPr>
          <p:cNvPr id="523" name="Google Shape;523;p53"/>
          <p:cNvSpPr txBox="1"/>
          <p:nvPr/>
        </p:nvSpPr>
        <p:spPr>
          <a:xfrm>
            <a:off x="7223760" y="128016"/>
            <a:ext cx="4462272" cy="457200"/>
          </a:xfrm>
          <a:prstGeom prst="rect">
            <a:avLst/>
          </a:prstGeom>
          <a:noFill/>
          <a:ln>
            <a:noFill/>
          </a:ln>
        </p:spPr>
        <p:txBody>
          <a:bodyPr anchorCtr="0" anchor="ctr" bIns="0" lIns="0" spcFirstLastPara="1" rIns="0" wrap="square" tIns="0">
            <a:spAutoFit/>
          </a:bodyPr>
          <a:lstStyle/>
          <a:p>
            <a:pPr indent="0" lvl="0" marL="0" marR="0" rtl="0" algn="r">
              <a:lnSpc>
                <a:spcPct val="100000"/>
              </a:lnSpc>
              <a:spcBef>
                <a:spcPts val="0"/>
              </a:spcBef>
              <a:spcAft>
                <a:spcPts val="0"/>
              </a:spcAft>
              <a:buNone/>
              <a:defRPr/>
            </a:pPr>
            <a:r>
              <a:rPr b="0" i="0" lang="en-US" sz="1200" u="none" cap="none" strike="noStrike">
                <a:solidFill>
                  <a:srgbClr val="FFFFFF"/>
                </a:solidFill>
                <a:latin typeface="Arial"/>
                <a:ea typeface="Arial"/>
                <a:cs typeface="Arial"/>
                <a:sym typeface="Arial"/>
              </a:rPr>
              <a:t>Lesson 4-5 · Determine the Whole Given the Part and Percent</a:t>
            </a:r>
            <a:endParaRPr/>
          </a:p>
        </p:txBody>
      </p:sp>
      <p:sp>
        <p:nvSpPr>
          <p:cNvPr id="524" name="Google Shape;524;p53"/>
          <p:cNvSpPr/>
          <p:nvPr/>
        </p:nvSpPr>
        <p:spPr>
          <a:xfrm>
            <a:off x="502920" y="6382512"/>
            <a:ext cx="11186129" cy="10972"/>
          </a:xfrm>
          <a:prstGeom prst="rect">
            <a:avLst/>
          </a:prstGeom>
          <a:solidFill>
            <a:srgbClr val="E2E8F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5" name="Google Shape;525;p53"/>
          <p:cNvSpPr txBox="1"/>
          <p:nvPr/>
        </p:nvSpPr>
        <p:spPr>
          <a:xfrm>
            <a:off x="502920" y="6455664"/>
            <a:ext cx="11186129" cy="256032"/>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0" i="0" lang="en-US" sz="1000" u="none" cap="none" strike="noStrike">
                <a:solidFill>
                  <a:srgbClr val="475569"/>
                </a:solidFill>
                <a:latin typeface="Arial"/>
                <a:ea typeface="Arial"/>
                <a:cs typeface="Arial"/>
                <a:sym typeface="Arial"/>
              </a:rPr>
              <a:t>eduwonderlab.com  ·  Neft Teacher</a:t>
            </a:r>
            <a:endParaRPr/>
          </a:p>
        </p:txBody>
      </p:sp>
      <p:sp>
        <p:nvSpPr>
          <p:cNvPr id="526" name="Google Shape;526;p53"/>
          <p:cNvSpPr txBox="1"/>
          <p:nvPr/>
        </p:nvSpPr>
        <p:spPr>
          <a:xfrm>
            <a:off x="640080" y="987552"/>
            <a:ext cx="10911809" cy="45720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2500" u="none" cap="none" strike="noStrike">
                <a:solidFill>
                  <a:srgbClr val="7030A0"/>
                </a:solidFill>
                <a:latin typeface="Arial"/>
                <a:ea typeface="Arial"/>
                <a:cs typeface="Arial"/>
                <a:sym typeface="Arial"/>
              </a:rPr>
              <a:t>Review Notes — Session 2</a:t>
            </a:r>
            <a:endParaRPr/>
          </a:p>
        </p:txBody>
      </p:sp>
      <p:sp>
        <p:nvSpPr>
          <p:cNvPr id="527" name="Google Shape;527;p53"/>
          <p:cNvSpPr/>
          <p:nvPr/>
        </p:nvSpPr>
        <p:spPr>
          <a:xfrm>
            <a:off x="640080" y="1572768"/>
            <a:ext cx="3246120" cy="384048"/>
          </a:xfrm>
          <a:prstGeom prst="roundRect">
            <a:avLst>
              <a:gd fmla="val 30000" name="adj"/>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28" name="Google Shape;528;p53"/>
          <p:cNvSpPr txBox="1"/>
          <p:nvPr/>
        </p:nvSpPr>
        <p:spPr>
          <a:xfrm>
            <a:off x="868680" y="1636776"/>
            <a:ext cx="3017520" cy="274320"/>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400" u="none" cap="none" strike="noStrike">
                <a:solidFill>
                  <a:srgbClr val="FFFFFF"/>
                </a:solidFill>
                <a:latin typeface="Arial"/>
                <a:ea typeface="Arial"/>
                <a:cs typeface="Arial"/>
                <a:sym typeface="Arial"/>
              </a:rPr>
              <a:t>Copy. Explain. Check.</a:t>
            </a:r>
            <a:endParaRPr/>
          </a:p>
        </p:txBody>
      </p:sp>
      <p:sp>
        <p:nvSpPr>
          <p:cNvPr id="529" name="Google Shape;529;p53"/>
          <p:cNvSpPr/>
          <p:nvPr/>
        </p:nvSpPr>
        <p:spPr>
          <a:xfrm>
            <a:off x="640080" y="22128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0" name="Google Shape;530;p53"/>
          <p:cNvSpPr/>
          <p:nvPr/>
        </p:nvSpPr>
        <p:spPr>
          <a:xfrm>
            <a:off x="640080" y="22128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1" name="Google Shape;531;p53"/>
          <p:cNvSpPr/>
          <p:nvPr/>
        </p:nvSpPr>
        <p:spPr>
          <a:xfrm>
            <a:off x="896112" y="26334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1</a:t>
            </a:r>
            <a:endParaRPr/>
          </a:p>
        </p:txBody>
      </p:sp>
      <p:sp>
        <p:nvSpPr>
          <p:cNvPr id="532" name="Google Shape;532;p53"/>
          <p:cNvSpPr txBox="1"/>
          <p:nvPr/>
        </p:nvSpPr>
        <p:spPr>
          <a:xfrm>
            <a:off x="1389888" y="23591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Finding the Whole</a:t>
            </a:r>
            <a:endParaRPr/>
          </a:p>
        </p:txBody>
      </p:sp>
      <p:sp>
        <p:nvSpPr>
          <p:cNvPr id="533" name="Google Shape;533;p53"/>
          <p:cNvSpPr txBox="1"/>
          <p:nvPr/>
        </p:nvSpPr>
        <p:spPr>
          <a:xfrm>
            <a:off x="1389888" y="27066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When </a:t>
            </a:r>
            <a:r>
              <a:rPr b="1" i="0" lang="en-US" sz="1450" u="none" cap="none" strike="noStrike">
                <a:solidFill>
                  <a:srgbClr val="475569"/>
                </a:solidFill>
                <a:latin typeface="Arial"/>
                <a:ea typeface="Arial"/>
                <a:cs typeface="Arial"/>
                <a:sym typeface="Arial"/>
              </a:rPr>
              <a:t xml:space="preserve">part</a:t>
            </a:r>
            <a:r>
              <a:rPr b="0" i="0" lang="en-US" sz="1450" u="none" cap="none" strike="noStrike">
                <a:solidFill>
                  <a:srgbClr val="475569"/>
                </a:solidFill>
                <a:latin typeface="Arial"/>
                <a:ea typeface="Arial"/>
                <a:cs typeface="Arial"/>
                <a:sym typeface="Arial"/>
              </a:rPr>
              <a:t xml:space="preserve"> and </a:t>
            </a:r>
            <a:r>
              <a:rPr b="1" i="0" lang="en-US" sz="1450" u="none" cap="none" strike="noStrike">
                <a:solidFill>
                  <a:srgbClr val="475569"/>
                </a:solidFill>
                <a:latin typeface="Arial"/>
                <a:ea typeface="Arial"/>
                <a:cs typeface="Arial"/>
                <a:sym typeface="Arial"/>
              </a:rPr>
              <a:t xml:space="preserve">percent</a:t>
            </a:r>
            <a:r>
              <a:rPr b="0" i="0" lang="en-US" sz="1450" u="none" cap="none" strike="noStrike">
                <a:solidFill>
                  <a:srgbClr val="475569"/>
                </a:solidFill>
                <a:latin typeface="Arial"/>
                <a:ea typeface="Arial"/>
                <a:cs typeface="Arial"/>
                <a:sym typeface="Arial"/>
              </a:rPr>
              <a:t xml:space="preserve"> are known: Whole = Part ÷ (Percent in decimal form).</a:t>
            </a:r>
            <a:endParaRPr/>
          </a:p>
        </p:txBody>
      </p:sp>
      <p:sp>
        <p:nvSpPr>
          <p:cNvPr id="534" name="Google Shape;534;p53"/>
          <p:cNvSpPr/>
          <p:nvPr/>
        </p:nvSpPr>
        <p:spPr>
          <a:xfrm>
            <a:off x="640080" y="35844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5" name="Google Shape;535;p53"/>
          <p:cNvSpPr/>
          <p:nvPr/>
        </p:nvSpPr>
        <p:spPr>
          <a:xfrm>
            <a:off x="640080" y="35844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36" name="Google Shape;536;p53"/>
          <p:cNvSpPr/>
          <p:nvPr/>
        </p:nvSpPr>
        <p:spPr>
          <a:xfrm>
            <a:off x="896112" y="40050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2</a:t>
            </a:r>
            <a:endParaRPr/>
          </a:p>
        </p:txBody>
      </p:sp>
      <p:sp>
        <p:nvSpPr>
          <p:cNvPr id="537" name="Google Shape;537;p53"/>
          <p:cNvSpPr txBox="1"/>
          <p:nvPr/>
        </p:nvSpPr>
        <p:spPr>
          <a:xfrm>
            <a:off x="1389888" y="37307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Unit Rate Strategy</a:t>
            </a:r>
            <a:endParaRPr/>
          </a:p>
        </p:txBody>
      </p:sp>
      <p:sp>
        <p:nvSpPr>
          <p:cNvPr id="538" name="Google Shape;538;p53"/>
          <p:cNvSpPr txBox="1"/>
          <p:nvPr/>
        </p:nvSpPr>
        <p:spPr>
          <a:xfrm>
            <a:off x="1389888" y="40782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 xml:space="preserve">Find 1% first by dividing the part by the percent, then multiply by 100 to get the </a:t>
            </a:r>
            <a:r>
              <a:rPr b="1" i="0" lang="en-US" sz="1450" u="none" cap="none" strike="noStrike">
                <a:solidFill>
                  <a:srgbClr val="475569"/>
                </a:solidFill>
                <a:latin typeface="Arial"/>
                <a:ea typeface="Arial"/>
                <a:cs typeface="Arial"/>
                <a:sym typeface="Arial"/>
              </a:rPr>
              <a:t xml:space="preserve">whole</a:t>
            </a:r>
            <a:r>
              <a:rPr b="0" i="0" lang="en-US" sz="1450" u="none" cap="none" strike="noStrike">
                <a:solidFill>
                  <a:srgbClr val="475569"/>
                </a:solidFill>
                <a:latin typeface="Arial"/>
                <a:ea typeface="Arial"/>
                <a:cs typeface="Arial"/>
                <a:sym typeface="Arial"/>
              </a:rPr>
              <a:t xml:space="preserve">.</a:t>
            </a:r>
            <a:endParaRPr/>
          </a:p>
        </p:txBody>
      </p:sp>
      <p:sp>
        <p:nvSpPr>
          <p:cNvPr id="539" name="Google Shape;539;p53"/>
          <p:cNvSpPr/>
          <p:nvPr/>
        </p:nvSpPr>
        <p:spPr>
          <a:xfrm>
            <a:off x="640080" y="4956048"/>
            <a:ext cx="10911809" cy="1188720"/>
          </a:xfrm>
          <a:prstGeom prst="roundRect">
            <a:avLst>
              <a:gd fmla="val 8000" name="adj"/>
            </a:avLst>
          </a:prstGeom>
          <a:solidFill>
            <a:srgbClr val="F7F4E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0" name="Google Shape;540;p53"/>
          <p:cNvSpPr/>
          <p:nvPr/>
        </p:nvSpPr>
        <p:spPr>
          <a:xfrm>
            <a:off x="640080" y="4956048"/>
            <a:ext cx="91440" cy="1188720"/>
          </a:xfrm>
          <a:prstGeom prst="rect">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541" name="Google Shape;541;p53"/>
          <p:cNvSpPr/>
          <p:nvPr/>
        </p:nvSpPr>
        <p:spPr>
          <a:xfrm>
            <a:off x="896112" y="5376672"/>
            <a:ext cx="347472" cy="347472"/>
          </a:xfrm>
          <a:prstGeom prst="ellipse">
            <a:avLst/>
          </a:prstGeom>
          <a:solidFill>
            <a:srgbClr val="C2410C"/>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rPr b="1" i="0" lang="en-US" sz="1400" u="none" cap="none" strike="noStrike">
                <a:solidFill>
                  <a:srgbClr val="FFFFFF"/>
                </a:solidFill>
                <a:latin typeface="Arial"/>
                <a:ea typeface="Arial"/>
                <a:cs typeface="Arial"/>
                <a:sym typeface="Arial"/>
              </a:rPr>
              <a:t>3</a:t>
            </a:r>
            <a:endParaRPr/>
          </a:p>
        </p:txBody>
      </p:sp>
      <p:sp>
        <p:nvSpPr>
          <p:cNvPr id="542" name="Google Shape;542;p53"/>
          <p:cNvSpPr txBox="1"/>
          <p:nvPr/>
        </p:nvSpPr>
        <p:spPr>
          <a:xfrm>
            <a:off x="1389888" y="5102352"/>
            <a:ext cx="9860249" cy="310896"/>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defRPr/>
            </a:pPr>
            <a:r>
              <a:rPr b="1" i="0" lang="en-US" sz="1800" u="none" cap="none" strike="noStrike">
                <a:solidFill>
                  <a:srgbClr val="14223A"/>
                </a:solidFill>
                <a:latin typeface="Arial"/>
                <a:ea typeface="Arial"/>
                <a:cs typeface="Arial"/>
                <a:sym typeface="Arial"/>
              </a:rPr>
              <a:t>Tape Diagrams</a:t>
            </a:r>
            <a:endParaRPr/>
          </a:p>
        </p:txBody>
      </p:sp>
      <p:sp>
        <p:nvSpPr>
          <p:cNvPr id="543" name="Google Shape;543;p53"/>
          <p:cNvSpPr txBox="1"/>
          <p:nvPr/>
        </p:nvSpPr>
        <p:spPr>
          <a:xfrm>
            <a:off x="1389888" y="5449824"/>
            <a:ext cx="9860249" cy="585216"/>
          </a:xfrm>
          <a:prstGeom prst="rect">
            <a:avLst/>
          </a:prstGeom>
          <a:noFill/>
          <a:ln>
            <a:noFill/>
          </a:ln>
        </p:spPr>
        <p:txBody>
          <a:bodyPr anchorCtr="0" anchor="t" bIns="0" lIns="0" spcFirstLastPara="1" rIns="0" wrap="square" tIns="0">
            <a:spAutoFit/>
          </a:bodyPr>
          <a:lstStyle/>
          <a:p>
            <a:pPr indent="0" lvl="0" marL="0" marR="0" rtl="0" algn="l">
              <a:lnSpc>
                <a:spcPct val="118000"/>
              </a:lnSpc>
              <a:spcBef>
                <a:spcPts val="0"/>
              </a:spcBef>
              <a:spcAft>
                <a:spcPts val="0"/>
              </a:spcAft>
              <a:buNone/>
              <a:defRPr/>
            </a:pPr>
            <a:r>
              <a:rPr b="0" i="0" lang="en-US" sz="1450" u="none" cap="none" strike="noStrike">
                <a:solidFill>
                  <a:srgbClr val="475569"/>
                </a:solidFill>
                <a:latin typeface="Arial"/>
                <a:ea typeface="Arial"/>
                <a:cs typeface="Arial"/>
                <a:sym typeface="Arial"/>
              </a:rPr>
              <a:t>Divide a bar into equal percent segments (e.g. 5 boxes of 20%) to solve visually.</a:t>
            </a:r>
            <a:endParaRPr/>
          </a:p>
        </p:txBody>
      </p:sp>
      <p:sp>
        <p:nvSpPr>
          <p:cNvPr id="54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5D6872"/>
                </a:solidFill>
                <a:latin typeface="Arial"/>
              </a:rPr>
              <a:t>30 / 44</a:t>
            </a:r>
          </a:p>
        </p:txBody>
      </p:sp>
      <p:grpSp>
        <p:nvGrpSpPr>
          <p:cNvPr id="545" name="TEACH-1-student-move" descr="TEACH 1 · Facilitate clear, standards-based content learning"/>
          <p:cNvGrpSpPr/>
          <p:nvPr/>
        </p:nvGrpSpPr>
        <p:grpSpPr>
          <a:xfrm>
            <a:off x="6187440" y="1682496"/>
            <a:ext cx="5501640" cy="594360"/>
            <a:chOff x="6187440" y="1682496"/>
            <a:chExt cx="5501640" cy="594360"/>
          </a:xfrm>
        </p:grpSpPr>
        <p:sp>
          <p:nvSpPr>
            <p:cNvPr id="546" name="TEACH-move-card"/>
            <p:cNvSpPr/>
            <p:nvPr/>
          </p:nvSpPr>
          <p:spPr>
            <a:xfrm>
              <a:off x="6187440" y="1682496"/>
              <a:ext cx="5501640" cy="594360"/>
            </a:xfrm>
            <a:prstGeom prst="roundRect">
              <a:avLst>
                <a:gd name="adj" fmla="val 16000"/>
              </a:avLst>
            </a:prstGeom>
            <a:solidFill>
              <a:srgbClr val="E4F0F5"/>
            </a:solidFill>
            <a:ln w="19050">
              <a:solidFill>
                <a:srgbClr val="8CB8C7"/>
              </a:solidFill>
            </a:ln>
          </p:spPr>
          <p:txBody>
            <a:bodyPr/>
            <a:lstStyle/>
            <a:p>
              <a:endParaRPr/>
            </a:p>
          </p:txBody>
        </p:sp>
        <p:sp>
          <p:nvSpPr>
            <p:cNvPr id="547" name="TEACH-move-rule"/>
            <p:cNvSpPr/>
            <p:nvPr/>
          </p:nvSpPr>
          <p:spPr>
            <a:xfrm>
              <a:off x="6233160" y="1795424"/>
              <a:ext cx="100584" cy="368504"/>
            </a:xfrm>
            <a:prstGeom prst="roundRect">
              <a:avLst>
                <a:gd name="adj" fmla="val 50000"/>
              </a:avLst>
            </a:prstGeom>
            <a:solidFill>
              <a:srgbClr val="01708C"/>
            </a:solidFill>
            <a:ln>
              <a:noFill/>
            </a:ln>
          </p:spPr>
          <p:txBody>
            <a:bodyPr/>
            <a:lstStyle/>
            <a:p>
              <a:endParaRPr/>
            </a:p>
          </p:txBody>
        </p:sp>
        <p:sp>
          <p:nvSpPr>
            <p:cNvPr id="548" name="TEACH-move-text"/>
            <p:cNvSpPr txBox="1"/>
            <p:nvPr/>
          </p:nvSpPr>
          <p:spPr>
            <a:xfrm>
              <a:off x="6507480" y="1682496"/>
              <a:ext cx="5044440" cy="594360"/>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CONNECT IT  ·  </a:t>
              </a:r>
              <a:r>
                <a:rPr lang="en-US" sz="1200" dirty="0">
                  <a:solidFill>
                    <a:srgbClr val="13303A"/>
                  </a:solidFill>
                  <a:latin typeface="Arial"/>
                </a:rPr>
                <a:t>What earlier lesson does this build on? Tell a partner in one sentence.</a:t>
              </a:r>
              <a:endParaRPr lang="en-US" sz="1200"/>
            </a:p>
          </p:txBody>
        </p:sp>
      </p:gr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8" name="Shape 778"/>
        <p:cNvGrpSpPr/>
        <p:nvPr/>
      </p:nvGrpSpPr>
      <p:grpSpPr>
        <a:xfrm>
          <a:off x="0" y="0"/>
          <a:ext cx="0" cy="0"/>
          <a:chOff x="0" y="0"/>
          <a:chExt cx="0" cy="0"/>
        </a:xfrm>
      </p:grpSpPr>
      <p:sp>
        <p:nvSpPr>
          <p:cNvPr id="779" name="Google Shape;779;p80"/>
          <p:cNvSpPr txBox="1"/>
          <p:nvPr/>
        </p:nvSpPr>
        <p:spPr>
          <a:xfrm>
            <a:off x="1402828" y="2453950"/>
            <a:ext cx="9144000" cy="217646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chemeClr val="dk1"/>
              </a:buClr>
              <a:buSzPts val="3600"/>
              <a:buFont typeface="Arial"/>
              <a:buNone/>
              <a:defRPr/>
            </a:pPr>
            <a:r>
              <a:rPr b="1" i="0" lang="en-US" sz="3600" u="none" cap="none" strike="noStrike">
                <a:solidFill>
                  <a:schemeClr val="dk1"/>
                </a:solidFill>
                <a:latin typeface="Arial"/>
                <a:ea typeface="Arial"/>
                <a:cs typeface="Arial"/>
                <a:sym typeface="Arial"/>
              </a:rPr>
              <a:t>Determine the Whole Given the Part and Percent​</a:t>
            </a:r>
            <a:endParaRPr b="0" i="0" sz="1400" u="none" cap="none" strike="noStrike">
              <a:solidFill>
                <a:srgbClr val="000000"/>
              </a:solidFill>
              <a:latin typeface="Arial"/>
              <a:ea typeface="Arial"/>
              <a:cs typeface="Arial"/>
              <a:sym typeface="Arial"/>
            </a:endParaRPr>
          </a:p>
        </p:txBody>
      </p:sp>
      <p:sp>
        <p:nvSpPr>
          <p:cNvPr id="780" name="Google Shape;780;p80"/>
          <p:cNvSpPr/>
          <p:nvPr/>
        </p:nvSpPr>
        <p:spPr>
          <a:xfrm>
            <a:off x="1402828" y="1037162"/>
            <a:ext cx="1763624" cy="52322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01708C"/>
                </a:solidFill>
                <a:latin typeface="Arial"/>
                <a:ea typeface="Arial"/>
                <a:cs typeface="Arial"/>
                <a:sym typeface="Arial"/>
              </a:rPr>
              <a:t>Session 2</a:t>
            </a:r>
            <a:endParaRPr b="1" i="0" sz="2800" u="none" cap="none" strike="noStrike">
              <a:solidFill>
                <a:srgbClr val="01708C"/>
              </a:solidFill>
              <a:latin typeface="Arial"/>
              <a:ea typeface="Arial"/>
              <a:cs typeface="Arial"/>
              <a:sym typeface="Arial"/>
            </a:endParaRPr>
          </a:p>
        </p:txBody>
      </p:sp>
      <p:cxnSp>
        <p:nvCxnSpPr>
          <p:cNvPr id="781" name="Google Shape;781;p80"/>
          <p:cNvCxnSpPr/>
          <p:nvPr/>
        </p:nvCxnSpPr>
        <p:spPr>
          <a:xfrm>
            <a:off x="-1" y="1560382"/>
            <a:ext cx="3166453" cy="0"/>
          </a:xfrm>
          <a:prstGeom prst="straightConnector1">
            <a:avLst/>
          </a:prstGeom>
          <a:noFill/>
          <a:ln cap="flat" cmpd="sng" w="19050">
            <a:solidFill>
              <a:srgbClr val="01708C"/>
            </a:solidFill>
            <a:prstDash val="solid"/>
            <a:miter lim="80"/>
            <a:headEnd len="sm" w="sm" type="none"/>
            <a:tailEnd len="sm" w="sm" type="none"/>
          </a:ln>
        </p:spPr>
      </p:cxnSp>
      <p:sp>
        <p:nvSpPr>
          <p:cNvPr id="78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31 / 44</a:t>
            </a:r>
          </a:p>
        </p:txBody>
      </p:sp>
      <p:grpSp>
        <p:nvGrpSpPr>
          <p:cNvPr id="783" name="TEACH-2-student-move" descr="TEACH 2 · Use strategies and tasks to engage students in rigorous work"/>
          <p:cNvGrpSpPr/>
          <p:nvPr/>
        </p:nvGrpSpPr>
        <p:grpSpPr>
          <a:xfrm>
            <a:off x="502920" y="3867612"/>
            <a:ext cx="11186160" cy="731520"/>
            <a:chOff x="502920" y="3867612"/>
            <a:chExt cx="11186160" cy="731520"/>
          </a:xfrm>
        </p:grpSpPr>
        <p:sp>
          <p:nvSpPr>
            <p:cNvPr id="784" name="TEACH-move-card"/>
            <p:cNvSpPr/>
            <p:nvPr/>
          </p:nvSpPr>
          <p:spPr>
            <a:xfrm>
              <a:off x="502920" y="3867612"/>
              <a:ext cx="11186160" cy="731520"/>
            </a:xfrm>
            <a:prstGeom prst="roundRect">
              <a:avLst>
                <a:gd name="adj" fmla="val 16000"/>
              </a:avLst>
            </a:prstGeom>
            <a:solidFill>
              <a:srgbClr val="E4F0F5"/>
            </a:solidFill>
            <a:ln w="19050">
              <a:solidFill>
                <a:srgbClr val="8CB8C7"/>
              </a:solidFill>
            </a:ln>
          </p:spPr>
          <p:txBody>
            <a:bodyPr/>
            <a:lstStyle/>
            <a:p>
              <a:endParaRPr/>
            </a:p>
          </p:txBody>
        </p:sp>
        <p:sp>
          <p:nvSpPr>
            <p:cNvPr id="785" name="TEACH-move-rule"/>
            <p:cNvSpPr/>
            <p:nvPr/>
          </p:nvSpPr>
          <p:spPr>
            <a:xfrm>
              <a:off x="548640" y="4006601"/>
              <a:ext cx="100584" cy="453542"/>
            </a:xfrm>
            <a:prstGeom prst="roundRect">
              <a:avLst>
                <a:gd name="adj" fmla="val 50000"/>
              </a:avLst>
            </a:prstGeom>
            <a:solidFill>
              <a:srgbClr val="01708C"/>
            </a:solidFill>
            <a:ln>
              <a:noFill/>
            </a:ln>
          </p:spPr>
          <p:txBody>
            <a:bodyPr/>
            <a:lstStyle/>
            <a:p>
              <a:endParaRPr/>
            </a:p>
          </p:txBody>
        </p:sp>
        <p:sp>
          <p:nvSpPr>
            <p:cNvPr id="786" name="TEACH-move-text"/>
            <p:cNvSpPr txBox="1"/>
            <p:nvPr/>
          </p:nvSpPr>
          <p:spPr>
            <a:xfrm>
              <a:off x="822960" y="3867612"/>
              <a:ext cx="10728960" cy="731520"/>
            </a:xfrm>
            <a:prstGeom prst="rect">
              <a:avLst/>
            </a:prstGeom>
            <a:noFill/>
            <a:ln>
              <a:noFill/>
            </a:ln>
          </p:spPr>
          <p:txBody>
            <a:bodyPr wrap="square" lIns="0" tIns="0" rIns="0" bIns="0" anchor="ctr">
              <a:noAutofit/>
            </a:bodyPr>
            <a:lstStyle/>
            <a:p>
              <a:pPr algn="l">
                <a:buNone/>
              </a:pPr>
              <a:r>
                <a:rPr lang="en-US" sz="1800" b="1" dirty="0">
                  <a:solidFill>
                    <a:srgbClr val="01708C"/>
                  </a:solidFill>
                  <a:latin typeface="Arial"/>
                </a:rPr>
                <a:t>PICK YOUR STRATEGY  ·  </a:t>
              </a:r>
              <a:r>
                <a:rPr lang="en-US" sz="1800" dirty="0">
                  <a:solidFill>
                    <a:srgbClr val="13303A"/>
                  </a:solidFill>
                  <a:latin typeface="Arial"/>
                </a:rPr>
                <a:t>Choose your path — picture, table, number line, or equation — and be ready to say why you chose it.</a:t>
              </a:r>
              <a:endParaRPr lang="en-US" sz="1800"/>
            </a:p>
          </p:txBody>
        </p:sp>
      </p:gr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0" name="Shape 810"/>
        <p:cNvGrpSpPr/>
        <p:nvPr/>
      </p:nvGrpSpPr>
      <p:grpSpPr>
        <a:xfrm>
          <a:off x="0" y="0"/>
          <a:ext cx="0" cy="0"/>
          <a:chOff x="0" y="0"/>
          <a:chExt cx="0" cy="0"/>
        </a:xfrm>
      </p:grpSpPr>
      <p:cxnSp>
        <p:nvCxnSpPr>
          <p:cNvPr id="811" name="Google Shape;811;p83"/>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12" name="Google Shape;812;p83"/>
          <p:cNvSpPr txBox="1"/>
          <p:nvPr/>
        </p:nvSpPr>
        <p:spPr>
          <a:xfrm>
            <a:off x="484564" y="936100"/>
            <a:ext cx="7745035" cy="142153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Sheng’s parents bought a new car last year. Sheng looked up the car value online and saw that the value of their car is now $26,600.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 xml:space="preserve">What was the value </a:t>
            </a:r>
            <a:br>
              <a:rPr b="1" i="0" lang="en-US" sz="2800" u="none" cap="none" strike="noStrike">
                <a:solidFill>
                  <a:srgbClr val="23282D"/>
                </a:solidFill>
                <a:latin typeface="Arial"/>
                <a:ea typeface="Arial"/>
                <a:cs typeface="Arial"/>
                <a:sym typeface="Arial"/>
              </a:rPr>
            </a:br>
            <a:r>
              <a:rPr b="1" i="0" lang="en-US" sz="2800" u="none" cap="none" strike="noStrike">
                <a:solidFill>
                  <a:srgbClr val="23282D"/>
                </a:solidFill>
                <a:latin typeface="Arial"/>
                <a:ea typeface="Arial"/>
                <a:cs typeface="Arial"/>
                <a:sym typeface="Arial"/>
              </a:rPr>
              <a:t xml:space="preserve">of the car when they </a:t>
            </a:r>
            <a:br>
              <a:rPr b="1" i="0" lang="en-US" sz="2800" u="none" cap="none" strike="noStrike">
                <a:solidFill>
                  <a:srgbClr val="23282D"/>
                </a:solidFill>
                <a:latin typeface="Arial"/>
                <a:ea typeface="Arial"/>
                <a:cs typeface="Arial"/>
                <a:sym typeface="Arial"/>
              </a:rPr>
            </a:br>
            <a:r>
              <a:rPr b="1" i="0" lang="en-US" sz="2800" u="none" cap="none" strike="noStrike">
                <a:solidFill>
                  <a:srgbClr val="23282D"/>
                </a:solidFill>
                <a:latin typeface="Arial"/>
                <a:ea typeface="Arial"/>
                <a:cs typeface="Arial"/>
                <a:sym typeface="Arial"/>
              </a:rPr>
              <a:t>bought it?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chemeClr val="dk2"/>
              </a:buClr>
              <a:buSzPts val="2800"/>
              <a:buFont typeface="Arial"/>
              <a:buNone/>
            </a:pPr>
            <a:r>
              <a:t/>
            </a:r>
            <a:endParaRPr b="0" i="0" sz="2800" u="none" cap="none" strike="noStrike">
              <a:solidFill>
                <a:srgbClr val="262626"/>
              </a:solidFill>
              <a:latin typeface="Arial"/>
              <a:ea typeface="Arial"/>
              <a:cs typeface="Arial"/>
              <a:sym typeface="Arial"/>
            </a:endParaRPr>
          </a:p>
        </p:txBody>
      </p:sp>
      <p:sp>
        <p:nvSpPr>
          <p:cNvPr id="813" name="Google Shape;813;p83"/>
          <p:cNvSpPr txBox="1"/>
          <p:nvPr/>
        </p:nvSpPr>
        <p:spPr>
          <a:xfrm>
            <a:off x="484565" y="316034"/>
            <a:ext cx="4992599" cy="3726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Car Value</a:t>
            </a:r>
            <a:endParaRPr b="0" i="0" sz="1400" u="none" cap="none" strike="noStrike">
              <a:solidFill>
                <a:srgbClr val="000000"/>
              </a:solidFill>
              <a:latin typeface="Arial"/>
              <a:ea typeface="Arial"/>
              <a:cs typeface="Arial"/>
              <a:sym typeface="Arial"/>
            </a:endParaRPr>
          </a:p>
        </p:txBody>
      </p:sp>
      <p:pic>
        <p:nvPicPr>
          <p:cNvPr descr="Chart, funnel chart&#10;&#10;Description automatically generated" id="814" name="Google Shape;814;p83"/>
          <p:cNvPicPr preferRelativeResize="0"/>
          <p:nvPr/>
        </p:nvPicPr>
        <p:blipFill rotWithShape="1">
          <a:blip r:embed="rId3">
            <a:alphaModFix/>
          </a:blip>
          <a:srcRect b="0" l="0" r="0" t="0"/>
          <a:stretch/>
        </p:blipFill>
        <p:spPr>
          <a:xfrm>
            <a:off x="474055" y="5071308"/>
            <a:ext cx="5054600" cy="838200"/>
          </a:xfrm>
          <a:prstGeom prst="rect">
            <a:avLst/>
          </a:prstGeom>
          <a:noFill/>
          <a:ln>
            <a:noFill/>
          </a:ln>
        </p:spPr>
      </p:pic>
      <p:sp>
        <p:nvSpPr>
          <p:cNvPr id="815" name="Google Shape;815;p83"/>
          <p:cNvSpPr txBox="1"/>
          <p:nvPr/>
        </p:nvSpPr>
        <p:spPr>
          <a:xfrm>
            <a:off x="3334072" y="5228626"/>
            <a:ext cx="2194584" cy="63971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23282D"/>
                </a:solidFill>
                <a:latin typeface="Arial"/>
                <a:ea typeface="Arial"/>
                <a:cs typeface="Arial"/>
                <a:sym typeface="Arial"/>
              </a:rPr>
              <a:t>Analyzing</a:t>
            </a:r>
            <a:endParaRPr b="0" i="0" sz="1800" u="none" cap="none" strike="noStrike">
              <a:solidFill>
                <a:schemeClr val="dk1"/>
              </a:solidFill>
              <a:latin typeface="Arial"/>
              <a:ea typeface="Calibri"/>
              <a:cs typeface="Calibri"/>
              <a:sym typeface="Calibri"/>
            </a:endParaRPr>
          </a:p>
        </p:txBody>
      </p:sp>
      <p:pic>
        <p:nvPicPr>
          <p:cNvPr id="816" name="Google Shape;816;p83"/>
          <p:cNvPicPr preferRelativeResize="0"/>
          <p:nvPr/>
        </p:nvPicPr>
        <p:blipFill rotWithShape="1">
          <a:blip r:embed="rId4">
            <a:alphaModFix/>
          </a:blip>
          <a:srcRect b="0" l="0" r="0" t="0"/>
          <a:stretch/>
        </p:blipFill>
        <p:spPr>
          <a:xfrm>
            <a:off x="4900392" y="2459479"/>
            <a:ext cx="7083179" cy="1684745"/>
          </a:xfrm>
          <a:prstGeom prst="rect">
            <a:avLst/>
          </a:prstGeom>
          <a:noFill/>
          <a:ln>
            <a:noFill/>
          </a:ln>
        </p:spPr>
      </p:pic>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Share a connection to prior learning or lived experience.</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32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4439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and record first. Which part of your work supports your answer?</a:t>
            </a:r>
            <a:endParaRPr lang="en-US" sz="2000"/>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9" name="Shape 879"/>
        <p:cNvGrpSpPr/>
        <p:nvPr/>
      </p:nvGrpSpPr>
      <p:grpSpPr>
        <a:xfrm>
          <a:off x="0" y="0"/>
          <a:ext cx="0" cy="0"/>
          <a:chOff x="0" y="0"/>
          <a:chExt cx="0" cy="0"/>
        </a:xfrm>
      </p:grpSpPr>
      <p:cxnSp>
        <p:nvCxnSpPr>
          <p:cNvPr id="880" name="Google Shape;880;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1" name="Google Shape;881;p90"/>
          <p:cNvSpPr txBox="1"/>
          <p:nvPr/>
        </p:nvSpPr>
        <p:spPr>
          <a:xfrm>
            <a:off x="484565" y="936099"/>
            <a:ext cx="7098490" cy="1374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70% of some number is $26,600.</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How can you find the unknown number?</a:t>
            </a:r>
            <a:endParaRPr b="0" i="0" sz="1400" u="none" cap="none" strike="noStrike">
              <a:solidFill>
                <a:srgbClr val="000000"/>
              </a:solidFill>
              <a:latin typeface="Arial"/>
              <a:ea typeface="Arial"/>
              <a:cs typeface="Arial"/>
              <a:sym typeface="Arial"/>
            </a:endParaRPr>
          </a:p>
        </p:txBody>
      </p:sp>
      <p:sp>
        <p:nvSpPr>
          <p:cNvPr id="882" name="Google Shape;882;p90"/>
          <p:cNvSpPr txBox="1"/>
          <p:nvPr/>
        </p:nvSpPr>
        <p:spPr>
          <a:xfrm>
            <a:off x="484565" y="5383833"/>
            <a:ext cx="8547291" cy="9562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595959"/>
                </a:solidFill>
                <a:latin typeface="Arial"/>
                <a:ea typeface="Arial"/>
                <a:cs typeface="Arial"/>
                <a:sym typeface="Arial"/>
              </a:rPr>
              <a:t>We can write and solve an equation.</a:t>
            </a:r>
            <a:endParaRPr b="0" i="0" sz="2800" u="none" cap="none" strike="noStrike">
              <a:solidFill>
                <a:srgbClr val="595959"/>
              </a:solidFill>
              <a:latin typeface="Arial"/>
              <a:ea typeface="Arial"/>
              <a:cs typeface="Arial"/>
              <a:sym typeface="Arial"/>
            </a:endParaRPr>
          </a:p>
        </p:txBody>
      </p:sp>
      <p:sp>
        <p:nvSpPr>
          <p:cNvPr id="883" name="Google Shape;883;p90"/>
          <p:cNvSpPr txBox="1"/>
          <p:nvPr/>
        </p:nvSpPr>
        <p:spPr>
          <a:xfrm>
            <a:off x="484565" y="316034"/>
            <a:ext cx="4992599" cy="3726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Car Value</a:t>
            </a:r>
            <a:endParaRPr b="0" i="0" sz="1400" u="none" cap="none" strike="noStrike">
              <a:solidFill>
                <a:srgbClr val="000000"/>
              </a:solidFill>
              <a:latin typeface="Arial"/>
              <a:ea typeface="Arial"/>
              <a:cs typeface="Arial"/>
              <a:sym typeface="Arial"/>
            </a:endParaRPr>
          </a:p>
        </p:txBody>
      </p:sp>
      <p:sp>
        <p:nvSpPr>
          <p:cNvPr id="884"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33 / 44</a:t>
            </a:r>
          </a:p>
        </p:txBody>
      </p:sp>
      <p:sp>
        <p:nvSpPr>
          <p:cNvPr id="885" name="EWL-COVER-1"/>
          <p:cNvSpPr/>
          <p:nvPr/>
        </p:nvSpPr>
        <p:spPr>
          <a:xfrm>
            <a:off x="429701" y="5328969"/>
            <a:ext cx="8657019" cy="1066002"/>
          </a:xfrm>
          <a:prstGeom prst="rect">
            <a:avLst/>
          </a:prstGeom>
          <a:solidFill>
            <a:srgbClr val="FFFFFF"/>
          </a:solidFill>
          <a:ln>
            <a:noFill/>
          </a:ln>
        </p:spPr>
        <p:txBody>
          <a:bodyPr/>
          <a:lstStyle/>
          <a:p/>
        </p:txBody>
      </p:sp>
      <p:sp xmlns:p="http://schemas.openxmlformats.org/presentationml/2006/main" xmlns:a="http://schemas.openxmlformats.org/drawingml/2006/main">
        <p:nvSpPr>
          <p:cNvPr id="886" name="TEACH-embedded-student-prompt" descr="Student thinking and response directions"/>
          <p:cNvSpPr txBox="1"/>
          <p:nvPr/>
        </p:nvSpPr>
        <p:spPr>
          <a:xfrm>
            <a:off x="594360" y="471830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Record your reasoning before the reveal. Compare, then explain any revision.</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88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12" name="Shape 912"/>
        <p:cNvGrpSpPr/>
        <p:nvPr/>
      </p:nvGrpSpPr>
      <p:grpSpPr>
        <a:xfrm>
          <a:off x="0" y="0"/>
          <a:ext cx="0" cy="0"/>
          <a:chOff x="0" y="0"/>
          <a:chExt cx="0" cy="0"/>
        </a:xfrm>
      </p:grpSpPr>
      <p:cxnSp>
        <p:nvCxnSpPr>
          <p:cNvPr id="913" name="Google Shape;913;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4" name="Google Shape;914;p94"/>
          <p:cNvSpPr txBox="1"/>
          <p:nvPr/>
        </p:nvSpPr>
        <p:spPr>
          <a:xfrm>
            <a:off x="484565" y="936099"/>
            <a:ext cx="7098490" cy="38838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How can you solve a multiplication equation with an unknown?</a:t>
            </a:r>
            <a:endParaRPr b="0" i="0" sz="1400" u="none" cap="none" strike="noStrike">
              <a:solidFill>
                <a:srgbClr val="000000"/>
              </a:solidFill>
              <a:latin typeface="Arial"/>
              <a:ea typeface="Arial"/>
              <a:cs typeface="Arial"/>
              <a:sym typeface="Arial"/>
            </a:endParaRPr>
          </a:p>
        </p:txBody>
      </p:sp>
      <p:sp>
        <p:nvSpPr>
          <p:cNvPr id="915" name="Google Shape;915;p94"/>
          <p:cNvSpPr txBox="1"/>
          <p:nvPr/>
        </p:nvSpPr>
        <p:spPr>
          <a:xfrm>
            <a:off x="676888" y="1990867"/>
            <a:ext cx="7098490" cy="1438133"/>
          </a:xfrm>
          <a:prstGeom prst="rect">
            <a:avLst/>
          </a:prstGeom>
          <a:blipFill rotWithShape="1">
            <a:blip r:embed="rId3">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16" name="Google Shape;916;p94"/>
          <p:cNvSpPr txBox="1"/>
          <p:nvPr/>
        </p:nvSpPr>
        <p:spPr>
          <a:xfrm>
            <a:off x="484565" y="5443209"/>
            <a:ext cx="8547291" cy="9265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595959"/>
                </a:solidFill>
                <a:latin typeface="Arial"/>
                <a:ea typeface="Arial"/>
                <a:cs typeface="Arial"/>
                <a:sym typeface="Arial"/>
              </a:rPr>
              <a:t>We can divide.</a:t>
            </a:r>
            <a:endParaRPr b="0" i="0" sz="2800" u="none" cap="none" strike="noStrike">
              <a:solidFill>
                <a:srgbClr val="595959"/>
              </a:solidFill>
              <a:latin typeface="Arial"/>
              <a:ea typeface="Arial"/>
              <a:cs typeface="Arial"/>
              <a:sym typeface="Arial"/>
            </a:endParaRPr>
          </a:p>
        </p:txBody>
      </p:sp>
      <p:sp>
        <p:nvSpPr>
          <p:cNvPr id="917" name="Google Shape;917;p94"/>
          <p:cNvSpPr txBox="1"/>
          <p:nvPr/>
        </p:nvSpPr>
        <p:spPr>
          <a:xfrm>
            <a:off x="484565" y="316034"/>
            <a:ext cx="4992599" cy="3726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Car Value</a:t>
            </a:r>
            <a:endParaRPr b="0" i="0" sz="1400" u="none" cap="none" strike="noStrike">
              <a:solidFill>
                <a:srgbClr val="000000"/>
              </a:solidFill>
              <a:latin typeface="Arial"/>
              <a:ea typeface="Arial"/>
              <a:cs typeface="Arial"/>
              <a:sym typeface="Arial"/>
            </a:endParaRPr>
          </a:p>
        </p:txBody>
      </p:sp>
      <p:sp>
        <p:nvSpPr>
          <p:cNvPr id="918"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34 / 44</a:t>
            </a:r>
          </a:p>
        </p:txBody>
      </p:sp>
      <p:sp>
        <p:nvSpPr>
          <p:cNvPr id="919" name="EWL-COVER-1"/>
          <p:cNvSpPr/>
          <p:nvPr/>
        </p:nvSpPr>
        <p:spPr>
          <a:xfrm>
            <a:off x="429701" y="5388345"/>
            <a:ext cx="8657019" cy="1036314"/>
          </a:xfrm>
          <a:prstGeom prst="rect">
            <a:avLst/>
          </a:prstGeom>
          <a:solidFill>
            <a:srgbClr val="FFFFFF"/>
          </a:solidFill>
          <a:ln>
            <a:noFill/>
          </a:ln>
        </p:spPr>
        <p:txBody>
          <a:bodyPr/>
          <a:lstStyle/>
          <a:p/>
        </p:txBody>
      </p:sp>
      <p:grpSp>
        <p:nvGrpSpPr>
          <p:cNvPr id="920" name="TEACH-3-student-move" descr="TEACH 3 · Use intentional questioning to deepen learning"/>
          <p:cNvGrpSpPr/>
          <p:nvPr/>
        </p:nvGrpSpPr>
        <p:grpSpPr>
          <a:xfrm>
            <a:off x="502920" y="5004297"/>
            <a:ext cx="11186160" cy="402336"/>
            <a:chOff x="502920" y="5004297"/>
            <a:chExt cx="11186160" cy="402336"/>
          </a:xfrm>
        </p:grpSpPr>
        <p:sp>
          <p:nvSpPr>
            <p:cNvPr id="921" name="TEACH-move-card"/>
            <p:cNvSpPr/>
            <p:nvPr/>
          </p:nvSpPr>
          <p:spPr>
            <a:xfrm>
              <a:off x="502920" y="5004297"/>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22" name="TEACH-move-rule"/>
            <p:cNvSpPr/>
            <p:nvPr/>
          </p:nvSpPr>
          <p:spPr>
            <a:xfrm>
              <a:off x="548640" y="5080741"/>
              <a:ext cx="100584" cy="249448"/>
            </a:xfrm>
            <a:prstGeom prst="roundRect">
              <a:avLst>
                <a:gd name="adj" fmla="val 50000"/>
              </a:avLst>
            </a:prstGeom>
            <a:solidFill>
              <a:srgbClr val="01708C"/>
            </a:solidFill>
            <a:ln>
              <a:noFill/>
            </a:ln>
          </p:spPr>
          <p:txBody>
            <a:bodyPr/>
            <a:lstStyle/>
            <a:p>
              <a:endParaRPr/>
            </a:p>
          </p:txBody>
        </p:sp>
        <p:sp>
          <p:nvSpPr>
            <p:cNvPr id="923" name="TEACH-move-text"/>
            <p:cNvSpPr txBox="1"/>
            <p:nvPr/>
          </p:nvSpPr>
          <p:spPr>
            <a:xfrm>
              <a:off x="822960" y="5004297"/>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JUSTIFY IT  ·  </a:t>
              </a:r>
              <a:r>
                <a:rPr lang="en-US" sz="1200" dirty="0">
                  <a:solidFill>
                    <a:srgbClr val="13303A"/>
                  </a:solidFill>
                  <a:latin typeface="Arial"/>
                </a:rPr>
                <a:t>Say it like this: “I know ______ because ______.”</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1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0" name="Shape 930"/>
        <p:cNvGrpSpPr/>
        <p:nvPr/>
      </p:nvGrpSpPr>
      <p:grpSpPr>
        <a:xfrm>
          <a:off x="0" y="0"/>
          <a:ext cx="0" cy="0"/>
          <a:chOff x="0" y="0"/>
          <a:chExt cx="0" cy="0"/>
        </a:xfrm>
      </p:grpSpPr>
      <p:cxnSp>
        <p:nvCxnSpPr>
          <p:cNvPr id="931" name="Google Shape;931;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2" name="Google Shape;932;p96"/>
          <p:cNvSpPr txBox="1"/>
          <p:nvPr/>
        </p:nvSpPr>
        <p:spPr>
          <a:xfrm>
            <a:off x="484565" y="936100"/>
            <a:ext cx="7098490" cy="40501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 xml:space="preserve">Let’s divide to solve for the unknown.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262626"/>
              </a:buClr>
              <a:buSzPts val="2800"/>
              <a:buFont typeface="Arial"/>
              <a:buNone/>
              <a:defRPr/>
            </a:pPr>
            <a:r>
              <a:rPr b="0" i="0" lang="en-US" sz="2800" u="none" cap="none" strike="noStrike">
                <a:solidFill>
                  <a:srgbClr val="23282D"/>
                </a:solidFill>
                <a:latin typeface="Arial"/>
                <a:ea typeface="Arial"/>
                <a:cs typeface="Arial"/>
                <a:sym typeface="Arial"/>
              </a:rPr>
              <a:t>70% of what number is $26,600?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200"/>
              </a:spcBef>
              <a:spcAft>
                <a:spcPts val="0"/>
              </a:spcAft>
              <a:buClr>
                <a:srgbClr val="262626"/>
              </a:buClr>
              <a:buSzPts val="2800"/>
              <a:buFont typeface="Arial"/>
              <a:buNone/>
              <a:defRPr/>
            </a:pPr>
            <a:r>
              <a:rPr b="1" i="0" lang="en-US" sz="2800" u="none" cap="none" strike="noStrike">
                <a:solidFill>
                  <a:srgbClr val="23282D"/>
                </a:solidFill>
                <a:latin typeface="Arial"/>
                <a:ea typeface="Arial"/>
                <a:cs typeface="Arial"/>
                <a:sym typeface="Arial"/>
              </a:rPr>
              <a:t>What does the solution represent?</a:t>
            </a:r>
            <a:endParaRPr b="0" i="0" sz="1400" u="none" cap="none" strike="noStrike">
              <a:solidFill>
                <a:srgbClr val="000000"/>
              </a:solidFill>
              <a:latin typeface="Arial"/>
              <a:ea typeface="Arial"/>
              <a:cs typeface="Arial"/>
              <a:sym typeface="Arial"/>
            </a:endParaRPr>
          </a:p>
        </p:txBody>
      </p:sp>
      <p:pic>
        <p:nvPicPr>
          <p:cNvPr id="933" name="Google Shape;933;p96"/>
          <p:cNvPicPr preferRelativeResize="0"/>
          <p:nvPr/>
        </p:nvPicPr>
        <p:blipFill rotWithShape="1">
          <a:blip r:embed="rId3">
            <a:alphaModFix/>
          </a:blip>
          <a:srcRect b="0" l="0" r="0" t="0"/>
          <a:stretch/>
        </p:blipFill>
        <p:spPr>
          <a:xfrm>
            <a:off x="520661" y="2243540"/>
            <a:ext cx="7255922" cy="1968784"/>
          </a:xfrm>
          <a:prstGeom prst="rect">
            <a:avLst/>
          </a:prstGeom>
          <a:noFill/>
          <a:ln>
            <a:noFill/>
          </a:ln>
        </p:spPr>
      </p:pic>
      <p:sp>
        <p:nvSpPr>
          <p:cNvPr id="934" name="Google Shape;934;p96"/>
          <p:cNvSpPr txBox="1"/>
          <p:nvPr/>
        </p:nvSpPr>
        <p:spPr>
          <a:xfrm>
            <a:off x="484565" y="4946029"/>
            <a:ext cx="8547291" cy="13422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595959"/>
                </a:solidFill>
                <a:latin typeface="Arial"/>
                <a:ea typeface="Arial"/>
                <a:cs typeface="Arial"/>
                <a:sym typeface="Arial"/>
              </a:rPr>
              <a:t>The solution, 38,000, represents the price of the car when it was purchased.</a:t>
            </a:r>
            <a:endParaRPr b="0" i="0" sz="2800" u="none" cap="none" strike="noStrike">
              <a:solidFill>
                <a:schemeClr val="dk1"/>
              </a:solidFill>
              <a:latin typeface="Arial"/>
              <a:ea typeface="Calibri"/>
              <a:cs typeface="Calibri"/>
              <a:sym typeface="Calibri"/>
            </a:endParaRPr>
          </a:p>
        </p:txBody>
      </p:sp>
      <p:sp>
        <p:nvSpPr>
          <p:cNvPr id="935" name="Google Shape;935;p96"/>
          <p:cNvSpPr txBox="1"/>
          <p:nvPr/>
        </p:nvSpPr>
        <p:spPr>
          <a:xfrm>
            <a:off x="484565" y="316034"/>
            <a:ext cx="4992599" cy="3726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Car Value</a:t>
            </a:r>
            <a:endParaRPr b="0" i="0" sz="1400" u="none" cap="none" strike="noStrike">
              <a:solidFill>
                <a:srgbClr val="000000"/>
              </a:solidFill>
              <a:latin typeface="Arial"/>
              <a:ea typeface="Arial"/>
              <a:cs typeface="Arial"/>
              <a:sym typeface="Arial"/>
            </a:endParaRPr>
          </a:p>
        </p:txBody>
      </p:sp>
      <p:sp>
        <p:nvSpPr>
          <p:cNvPr id="936"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35 / 44</a:t>
            </a:r>
          </a:p>
        </p:txBody>
      </p:sp>
      <p:sp>
        <p:nvSpPr>
          <p:cNvPr id="937" name="EWL-COVER-1"/>
          <p:cNvSpPr/>
          <p:nvPr/>
        </p:nvSpPr>
        <p:spPr>
          <a:xfrm>
            <a:off x="429701" y="4891165"/>
            <a:ext cx="8657019" cy="1451950"/>
          </a:xfrm>
          <a:prstGeom prst="rect">
            <a:avLst/>
          </a:prstGeom>
          <a:solidFill>
            <a:srgbClr val="FFFFFF"/>
          </a:solidFill>
          <a:ln>
            <a:noFill/>
          </a:ln>
        </p:spPr>
        <p:txBody>
          <a:bodyPr/>
          <a:lstStyle/>
          <a:p/>
        </p:txBody>
      </p:sp>
      <p:grpSp>
        <p:nvGrpSpPr>
          <p:cNvPr id="938" name="TEACH-6-student-move" descr="TEACH 6 · Organize and implement routines to support a learning-focused classroom"/>
          <p:cNvGrpSpPr/>
          <p:nvPr/>
        </p:nvGrpSpPr>
        <p:grpSpPr>
          <a:xfrm>
            <a:off x="6990893" y="1193800"/>
            <a:ext cx="4698187" cy="1005840"/>
            <a:chOff x="502920" y="4507117"/>
            <a:chExt cx="11186160" cy="402336"/>
          </a:xfrm>
        </p:grpSpPr>
        <p:sp>
          <p:nvSpPr>
            <p:cNvPr id="939" name="TEACH-move-card"/>
            <p:cNvSpPr/>
            <p:nvPr/>
          </p:nvSpPr>
          <p:spPr>
            <a:xfrm>
              <a:off x="502920" y="4507117"/>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40" name="TEACH-move-rule"/>
            <p:cNvSpPr/>
            <p:nvPr/>
          </p:nvSpPr>
          <p:spPr>
            <a:xfrm>
              <a:off x="548640" y="4583561"/>
              <a:ext cx="100584" cy="249448"/>
            </a:xfrm>
            <a:prstGeom prst="roundRect">
              <a:avLst>
                <a:gd name="adj" fmla="val 50000"/>
              </a:avLst>
            </a:prstGeom>
            <a:solidFill>
              <a:srgbClr val="01708C"/>
            </a:solidFill>
            <a:ln>
              <a:noFill/>
            </a:ln>
          </p:spPr>
          <p:txBody>
            <a:bodyPr/>
            <a:lstStyle/>
            <a:p>
              <a:endParaRPr/>
            </a:p>
          </p:txBody>
        </p:sp>
        <p:sp>
          <p:nvSpPr>
            <p:cNvPr id="941" name="TEACH-move-text"/>
            <p:cNvSpPr txBox="1"/>
            <p:nvPr/>
          </p:nvSpPr>
          <p:spPr>
            <a:xfrm>
              <a:off x="822960" y="4507117"/>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TRY IT BEFORE YOU’RE SURE  ·  </a:t>
              </a:r>
              <a:r>
                <a:rPr lang="en-US" sz="1200" dirty="0">
                  <a:solidFill>
                    <a:srgbClr val="13303A"/>
                  </a:solidFill>
                  <a:latin typeface="Arial"/>
                </a:rPr>
                <a:t>Start even if you are not sure. A revised answer counts as much as a first-try answer.</a:t>
              </a:r>
              <a:endParaRPr lang="en-US" sz="1200"/>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37"/>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9" name="Shape 959"/>
        <p:cNvGrpSpPr/>
        <p:nvPr/>
      </p:nvGrpSpPr>
      <p:grpSpPr>
        <a:xfrm>
          <a:off x="0" y="0"/>
          <a:ext cx="0" cy="0"/>
          <a:chOff x="0" y="0"/>
          <a:chExt cx="0" cy="0"/>
        </a:xfrm>
      </p:grpSpPr>
      <p:cxnSp>
        <p:nvCxnSpPr>
          <p:cNvPr id="960" name="Google Shape;960;p99"/>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61" name="Google Shape;961;p99"/>
          <p:cNvSpPr txBox="1"/>
          <p:nvPr/>
        </p:nvSpPr>
        <p:spPr>
          <a:xfrm>
            <a:off x="484563" y="936100"/>
            <a:ext cx="7656259" cy="276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 xml:space="preserve">Let’s try a similar problem.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Yelina’s parents bought a new car three years ago. The value of their car is now $14,200.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What was the value of the car when they bought it?</a:t>
            </a:r>
            <a:endParaRPr b="0" i="0" sz="1400" u="none" cap="none" strike="noStrike">
              <a:solidFill>
                <a:srgbClr val="000000"/>
              </a:solidFill>
              <a:latin typeface="Arial"/>
              <a:ea typeface="Arial"/>
              <a:cs typeface="Arial"/>
              <a:sym typeface="Arial"/>
            </a:endParaRPr>
          </a:p>
        </p:txBody>
      </p:sp>
      <p:sp>
        <p:nvSpPr>
          <p:cNvPr id="962" name="Google Shape;962;p99"/>
          <p:cNvSpPr txBox="1"/>
          <p:nvPr/>
        </p:nvSpPr>
        <p:spPr>
          <a:xfrm>
            <a:off x="484565" y="316034"/>
            <a:ext cx="5382835" cy="520728"/>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782DA0"/>
                </a:solidFill>
                <a:latin typeface="Arial"/>
                <a:ea typeface="Arial"/>
                <a:cs typeface="Arial"/>
                <a:sym typeface="Arial"/>
              </a:rPr>
              <a:t>    Collaborate and Connect</a:t>
            </a:r>
            <a:endParaRPr b="0" i="0" sz="1400" u="none" cap="none" strike="noStrike">
              <a:solidFill>
                <a:srgbClr val="000000"/>
              </a:solidFill>
              <a:latin typeface="Arial"/>
              <a:ea typeface="Arial"/>
              <a:cs typeface="Arial"/>
              <a:sym typeface="Arial"/>
            </a:endParaRPr>
          </a:p>
        </p:txBody>
      </p:sp>
      <p:pic>
        <p:nvPicPr>
          <p:cNvPr id="963" name="Google Shape;963;p99"/>
          <p:cNvPicPr preferRelativeResize="0"/>
          <p:nvPr/>
        </p:nvPicPr>
        <p:blipFill rotWithShape="1">
          <a:blip r:embed="rId3">
            <a:alphaModFix/>
          </a:blip>
          <a:srcRect b="0" l="0" r="0" t="0"/>
          <a:stretch/>
        </p:blipFill>
        <p:spPr>
          <a:xfrm>
            <a:off x="558276" y="386230"/>
            <a:ext cx="353635" cy="340537"/>
          </a:xfrm>
          <a:prstGeom prst="rect">
            <a:avLst/>
          </a:prstGeom>
          <a:noFill/>
          <a:ln>
            <a:noFill/>
          </a:ln>
        </p:spPr>
      </p:pic>
      <p:sp>
        <p:nvSpPr>
          <p:cNvPr id="964" name="Google Shape;964;p99"/>
          <p:cNvSpPr txBox="1"/>
          <p:nvPr/>
        </p:nvSpPr>
        <p:spPr>
          <a:xfrm>
            <a:off x="462336" y="3601856"/>
            <a:ext cx="6100390" cy="276912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xml:space="preserve">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xml:space="preserve">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t/>
            </a:r>
            <a:endParaRPr b="1" i="0" sz="2800" u="none" cap="none" strike="noStrike">
              <a:solidFill>
                <a:srgbClr val="0070C0"/>
              </a:solidFill>
              <a:latin typeface="Arial"/>
              <a:ea typeface="Arial"/>
              <a:cs typeface="Arial"/>
              <a:sym typeface="Arial"/>
            </a:endParaRPr>
          </a:p>
        </p:txBody>
      </p:sp>
      <p:sp>
        <p:nvSpPr>
          <p:cNvPr id="965" name="Google Shape;965;p99"/>
          <p:cNvSpPr/>
          <p:nvPr/>
        </p:nvSpPr>
        <p:spPr>
          <a:xfrm>
            <a:off x="462335" y="4124212"/>
            <a:ext cx="6682798" cy="2246769"/>
          </a:xfrm>
          <a:prstGeom prst="rect">
            <a:avLst/>
          </a:prstGeom>
          <a:blipFill rotWithShape="1">
            <a:blip r:embed="rId4">
              <a:alphaModFix/>
            </a:blip>
            <a:stretch>
              <a:fillRect b="0" l="-1916" r="0" t="-2989"/>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23282D"/>
                </a:solidFill>
                <a:latin typeface="Arial"/>
                <a:ea typeface="Calibri"/>
                <a:cs typeface="Calibri"/>
                <a:sym typeface="Calibri"/>
              </a:rPr>
              <a:t> </a:t>
            </a:r>
            <a:endParaRPr b="0" i="0" sz="1400" u="none" cap="none" strike="noStrike">
              <a:solidFill>
                <a:srgbClr val="000000"/>
              </a:solidFill>
              <a:latin typeface="Arial"/>
              <a:ea typeface="Arial"/>
              <a:cs typeface="Arial"/>
              <a:sym typeface="Arial"/>
            </a:endParaRPr>
          </a:p>
        </p:txBody>
      </p:sp>
      <p:pic>
        <p:nvPicPr>
          <p:cNvPr id="966" name="Google Shape;966;p99"/>
          <p:cNvPicPr preferRelativeResize="0"/>
          <p:nvPr/>
        </p:nvPicPr>
        <p:blipFill rotWithShape="1">
          <a:blip r:embed="rId5">
            <a:alphaModFix/>
          </a:blip>
          <a:srcRect b="0" l="0" r="0" t="0"/>
          <a:stretch/>
        </p:blipFill>
        <p:spPr>
          <a:xfrm>
            <a:off x="7767844" y="2007467"/>
            <a:ext cx="4320000" cy="1027519"/>
          </a:xfrm>
          <a:prstGeom prst="rect">
            <a:avLst/>
          </a:prstGeom>
          <a:noFill/>
          <a:ln>
            <a:noFill/>
          </a:ln>
        </p:spPr>
      </p:pic>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Student-led talk: assign roles and monitor group progress.</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36 / 44</a:t>
            </a:r>
          </a:p>
        </p:txBody>
      </p:sp>
      <p:sp>
        <p:nvSpPr>
          <p:cNvPr id="9003" name="EWL-COVER-1"/>
          <p:cNvSpPr/>
          <p:nvPr/>
        </p:nvSpPr>
        <p:spPr>
          <a:xfrm>
            <a:off x="407472" y="3546992"/>
            <a:ext cx="6210118" cy="2878853"/>
          </a:xfrm>
          <a:prstGeom prst="rect">
            <a:avLst/>
          </a:prstGeom>
          <a:solidFill>
            <a:srgbClr val="FFFFFF"/>
          </a:solidFill>
          <a:ln>
            <a:noFill/>
          </a:ln>
        </p:spPr>
        <p:txBody>
          <a:bodyPr/>
          <a:lstStyle/>
          <a:p/>
        </p:txBody>
      </p:sp>
      <p:sp>
        <p:nvSpPr>
          <p:cNvPr id="9004"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COLLABORATE</a:t>
            </a:r>
            <a:r>
              <a:rPr lang="en-US" sz="1200" b="1">
                <a:solidFill>
                  <a:srgbClr val="5D6872"/>
                </a:solidFill>
                <a:latin typeface="Arial"/>
              </a:rPr>
              <a:t xml:space="preserve">  ·  TALK IT THROUGH • AGREE ON A MODEL</a:t>
            </a:r>
          </a:p>
        </p:txBody>
      </p:sp>
      <p:sp xmlns:p="http://schemas.openxmlformats.org/presentationml/2006/main" xmlns:a="http://schemas.openxmlformats.org/drawingml/2006/main">
        <p:nvSpPr>
          <p:cNvPr id="9005" name="TEACH-embedded-student-prompt" descr="Student thinking and response directions"/>
          <p:cNvSpPr txBox="1"/>
          <p:nvPr/>
        </p:nvSpPr>
        <p:spPr>
          <a:xfrm>
            <a:off x="7391400" y="5193792"/>
            <a:ext cx="4206240" cy="1078992"/>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Think first. A explains; B asks for</a:t>
            </a:r>
            <a:endParaRPr lang="en-US" sz="2000"/>
          </a:p>
          <a:p>
            <a:pPr>
              <a:lnSpc>
                <a:spcPts val="2400"/>
              </a:lnSpc>
              <a:buNone/>
            </a:pPr>
            <a:r>
              <a:rPr lang="en-US" sz="2000">
                <a:solidFill>
                  <a:srgbClr val="174D60"/>
                </a:solidFill>
                <a:latin typeface="Arial"/>
              </a:rPr>
              <a:t>evidence. Switch roles; both</a:t>
            </a:r>
            <a:endParaRPr lang="en-US" sz="2000"/>
          </a:p>
          <a:p>
            <a:pPr>
              <a:lnSpc>
                <a:spcPts val="2400"/>
              </a:lnSpc>
              <a:buNone/>
            </a:pPr>
            <a:r>
              <a:rPr lang="en-US" sz="2000">
                <a:solidFill>
                  <a:srgbClr val="174D60"/>
                </a:solidFill>
                <a:latin typeface="Arial"/>
              </a:rPr>
              <a:t>revise.</a:t>
            </a:r>
            <a:endParaRPr lang="en-US" sz="20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9003"/>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0" name="Shape 970"/>
        <p:cNvGrpSpPr/>
        <p:nvPr/>
      </p:nvGrpSpPr>
      <p:grpSpPr>
        <a:xfrm>
          <a:off x="0" y="0"/>
          <a:ext cx="0" cy="0"/>
          <a:chOff x="0" y="0"/>
          <a:chExt cx="0" cy="0"/>
        </a:xfrm>
      </p:grpSpPr>
      <p:cxnSp>
        <p:nvCxnSpPr>
          <p:cNvPr id="971" name="Google Shape;971;p10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72" name="Google Shape;972;p100"/>
          <p:cNvSpPr txBox="1"/>
          <p:nvPr/>
        </p:nvSpPr>
        <p:spPr>
          <a:xfrm>
            <a:off x="484563" y="927527"/>
            <a:ext cx="8780042" cy="2204260"/>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Arial"/>
              <a:buAutoNum type="alphaLcPeriod"/>
            </a:pPr>
            <a:r>
              <a:rPr b="0" i="0" lang="en-US" sz="2800" u="none" cap="none" strike="noStrike">
                <a:solidFill>
                  <a:srgbClr val="23282D"/>
                </a:solidFill>
                <a:latin typeface="Arial"/>
                <a:ea typeface="Arial"/>
                <a:cs typeface="Arial"/>
                <a:sym typeface="Arial"/>
              </a:rPr>
              <a:t>Is Sheng’s parents’ car worth more now or when they bought it? By how much did the price change?</a:t>
            </a:r>
            <a:br>
              <a:rPr b="0" i="0" lang="en-US" sz="2000" u="none" cap="none" strike="noStrike">
                <a:solidFill>
                  <a:schemeClr val="dk2"/>
                </a:solidFill>
                <a:latin typeface="Arial"/>
                <a:ea typeface="Calibri"/>
                <a:cs typeface="Calibri"/>
                <a:sym typeface="Calibri"/>
              </a:rPr>
            </a:br>
            <a:br>
              <a:rPr b="0" i="0" lang="en-US" sz="2000" u="none" cap="none" strike="noStrike">
                <a:solidFill>
                  <a:schemeClr val="dk2"/>
                </a:solidFill>
                <a:latin typeface="Arial"/>
                <a:ea typeface="Calibri"/>
                <a:cs typeface="Calibri"/>
                <a:sym typeface="Calibri"/>
              </a:rPr>
            </a:br>
            <a:r>
              <a:rPr b="0" i="0" lang="en-US" sz="2800" u="none" cap="none" strike="noStrike">
                <a:solidFill>
                  <a:srgbClr val="23282D"/>
                </a:solidFill>
                <a:latin typeface="Arial"/>
                <a:ea typeface="Arial"/>
                <a:cs typeface="Arial"/>
                <a:sym typeface="Arial"/>
              </a:rPr>
              <a:t xml:space="preserve">New price: $38,000 </a:t>
            </a:r>
            <a:br>
              <a:rPr b="0" i="0" lang="en-US" sz="2800" u="none" cap="none" strike="noStrike">
                <a:solidFill>
                  <a:srgbClr val="23282D"/>
                </a:solidFill>
                <a:latin typeface="Arial"/>
                <a:ea typeface="Arial"/>
                <a:cs typeface="Arial"/>
                <a:sym typeface="Arial"/>
              </a:rPr>
            </a:br>
            <a:r>
              <a:rPr b="0" i="0" lang="en-US" sz="2800" u="none" cap="none" strike="noStrike">
                <a:solidFill>
                  <a:srgbClr val="23282D"/>
                </a:solidFill>
                <a:latin typeface="Arial"/>
                <a:ea typeface="Arial"/>
                <a:cs typeface="Arial"/>
                <a:sym typeface="Arial"/>
              </a:rPr>
              <a:t>Current value: $26,600</a:t>
            </a:r>
            <a:endParaRPr b="0" i="0" sz="1400" u="none" cap="none" strike="noStrike">
              <a:solidFill>
                <a:srgbClr val="000000"/>
              </a:solidFill>
              <a:latin typeface="Arial"/>
              <a:ea typeface="Arial"/>
              <a:cs typeface="Arial"/>
              <a:sym typeface="Arial"/>
            </a:endParaRPr>
          </a:p>
        </p:txBody>
      </p:sp>
      <p:sp>
        <p:nvSpPr>
          <p:cNvPr id="973" name="Google Shape;973;p100"/>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Let’s Explore More</a:t>
            </a:r>
            <a:endParaRPr b="0" i="0" sz="1400" u="none" cap="none" strike="noStrike">
              <a:solidFill>
                <a:srgbClr val="000000"/>
              </a:solidFill>
              <a:latin typeface="Arial"/>
              <a:ea typeface="Arial"/>
              <a:cs typeface="Arial"/>
              <a:sym typeface="Arial"/>
            </a:endParaRPr>
          </a:p>
        </p:txBody>
      </p:sp>
      <p:sp>
        <p:nvSpPr>
          <p:cNvPr id="974" name="Google Shape;974;p100"/>
          <p:cNvSpPr txBox="1"/>
          <p:nvPr/>
        </p:nvSpPr>
        <p:spPr>
          <a:xfrm>
            <a:off x="484562" y="3842801"/>
            <a:ext cx="8417896" cy="1268748"/>
          </a:xfrm>
          <a:prstGeom prst="rect">
            <a:avLst/>
          </a:prstGeom>
          <a:noFill/>
          <a:ln>
            <a:noFill/>
          </a:ln>
        </p:spPr>
        <p:txBody>
          <a:bodyPr anchorCtr="0" anchor="t" bIns="45700" lIns="91425" spcFirstLastPara="1" rIns="91425" wrap="square" tIns="45700">
            <a:noAutofit/>
          </a:bodyPr>
          <a:lstStyle/>
          <a:p>
            <a:pPr indent="-514350" lvl="0" marL="514350" marR="0" rtl="0" algn="l">
              <a:lnSpc>
                <a:spcPct val="100000"/>
              </a:lnSpc>
              <a:spcBef>
                <a:spcPts val="0"/>
              </a:spcBef>
              <a:spcAft>
                <a:spcPts val="0"/>
              </a:spcAft>
              <a:buClr>
                <a:srgbClr val="262626"/>
              </a:buClr>
              <a:buSzPts val="2800"/>
              <a:buFont typeface="Calibri"/>
              <a:buAutoNum type="alphaLcPeriod" startAt="2"/>
            </a:pPr>
            <a:r>
              <a:rPr b="0" i="0" lang="en-US" sz="2800" u="none" cap="none" strike="noStrike">
                <a:solidFill>
                  <a:srgbClr val="23282D"/>
                </a:solidFill>
                <a:latin typeface="Arial"/>
                <a:ea typeface="Arial"/>
                <a:cs typeface="Arial"/>
                <a:sym typeface="Arial"/>
              </a:rPr>
              <a:t>What could be an example of a real-world problem where you use equivalent ratios to find the whole? Write and solve </a:t>
            </a:r>
            <a:endParaRPr b="0" i="0" sz="1400" u="none" cap="none" strike="noStrike">
              <a:solidFill>
                <a:srgbClr val="000000"/>
              </a:solidFill>
              <a:latin typeface="Arial"/>
              <a:ea typeface="Arial"/>
              <a:cs typeface="Arial"/>
              <a:sym typeface="Arial"/>
            </a:endParaRPr>
          </a:p>
        </p:txBody>
      </p:sp>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Compare strategies; persist, revise, and try again.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37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Try it yourself. Compare your work with a partner; explain one choice and revise.</a:t>
            </a:r>
            <a:endParaRPr lang="en-US" sz="2000"/>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4.5  /  CHECK YOUR WORK</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Pause. Check. Improve.</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41248" y="2011680"/>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CHECK</a:t>
            </a:r>
          </a:p>
        </p:txBody>
      </p:sp>
      <p:sp>
        <p:nvSpPr>
          <p:cNvPr id="7" name="TextBox 6"/>
          <p:cNvSpPr txBox="1"/>
          <p:nvPr/>
        </p:nvSpPr>
        <p:spPr>
          <a:xfrm>
            <a:off x="2340864" y="1975104"/>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A mistake to watch for: multiplying the part by the percent when solving for the whole.</a:t>
            </a:r>
          </a:p>
        </p:txBody>
      </p:sp>
      <p:sp>
        <p:nvSpPr>
          <p:cNvPr id="8" name="Rounded Rectangle 7"/>
          <p:cNvSpPr/>
          <p:nvPr/>
        </p:nvSpPr>
        <p:spPr>
          <a:xfrm>
            <a:off x="594360" y="3127248"/>
            <a:ext cx="10972800" cy="1069848"/>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3310128"/>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TRY</a:t>
            </a:r>
          </a:p>
        </p:txBody>
      </p:sp>
      <p:sp>
        <p:nvSpPr>
          <p:cNvPr id="10" name="TextBox 9"/>
          <p:cNvSpPr txBox="1"/>
          <p:nvPr/>
        </p:nvSpPr>
        <p:spPr>
          <a:xfrm>
            <a:off x="2340864" y="3273552"/>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Label the known part and the 100-percent position on the given model.</a:t>
            </a:r>
          </a:p>
        </p:txBody>
      </p:sp>
      <p:sp>
        <p:nvSpPr>
          <p:cNvPr id="11" name="Rounded Rectangle 10"/>
          <p:cNvSpPr/>
          <p:nvPr/>
        </p:nvSpPr>
        <p:spPr>
          <a:xfrm>
            <a:off x="594360" y="4425696"/>
            <a:ext cx="10972800" cy="1069848"/>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41248" y="4608576"/>
            <a:ext cx="1280160" cy="365760"/>
          </a:xfrm>
          <a:prstGeom prst="rect">
            <a:avLst/>
          </a:prstGeom>
          <a:noFill/>
        </p:spPr>
        <p:txBody>
          <a:bodyPr wrap="square" lIns="0" rIns="0" tIns="22860" bIns="0">
            <a:spAutoFit/>
          </a:bodyPr>
          <a:lstStyle/>
          <a:p>
            <a:pPr>
              <a:spcAft>
                <a:spcPts val="800"/>
              </a:spcAft>
              <a:defRPr sz="1700" b="1">
                <a:solidFill>
                  <a:srgbClr val="096B69"/>
                </a:solidFill>
                <a:latin typeface="Arial"/>
              </a:defRPr>
            </a:pPr>
            <a:r>
              <a:rPr/>
              <a:t>REVISE</a:t>
            </a:r>
          </a:p>
        </p:txBody>
      </p:sp>
      <p:sp>
        <p:nvSpPr>
          <p:cNvPr id="13" name="TextBox 12"/>
          <p:cNvSpPr txBox="1"/>
          <p:nvPr/>
        </p:nvSpPr>
        <p:spPr>
          <a:xfrm>
            <a:off x="2340864" y="4572000"/>
            <a:ext cx="8933688" cy="832104"/>
          </a:xfrm>
          <a:prstGeom prst="rect">
            <a:avLst/>
          </a:prstGeom>
          <a:noFill/>
        </p:spPr>
        <p:txBody>
          <a:bodyPr wrap="square" lIns="0" rIns="0" tIns="22860" bIns="0">
            <a:spAutoFit/>
          </a:bodyPr>
          <a:lstStyle/>
          <a:p>
            <a:pPr>
              <a:spcAft>
                <a:spcPts val="800"/>
              </a:spcAft>
              <a:defRPr sz="2300" b="0">
                <a:solidFill>
                  <a:srgbClr val="24384B"/>
                </a:solidFill>
                <a:latin typeface="Arial"/>
              </a:defRPr>
            </a:pPr>
            <a:r>
              <a:rPr/>
              <a:t>Use that check on the task you just completed. Correct or strengthen one part, and explain why.</a:t>
            </a:r>
          </a:p>
        </p:txBody>
      </p:sp>
      <p:grpSp>
        <p:nvGrpSpPr>
          <p:cNvPr id="14" name="TEACH-4-student-move" descr="TEACH 4 · Monitor progress and provide feedback"/>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SELF-CHECK  ·  </a:t>
              </a:r>
              <a:r>
                <a:rPr lang="en-US" sz="1200" dirty="0">
                  <a:solidFill>
                    <a:srgbClr val="13303A"/>
                  </a:solidFill>
                  <a:latin typeface="Arial"/>
                </a:rPr>
                <a:t>Mark it: ✓ got it  ·  ~ almost  ·  ? stuck. Then fix one thing before we move on.</a:t>
              </a:r>
              <a:endParaRPr lang="en-US" sz="1200"/>
            </a:p>
          </p:txBody>
        </p:sp>
      </p:gr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880" name="Google Shape;880;p90"/>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881" name="Google Shape;881;p90"/>
          <p:cNvSpPr txBox="1"/>
          <p:nvPr/>
        </p:nvSpPr>
        <p:spPr>
          <a:xfrm>
            <a:off x="484565" y="936099"/>
            <a:ext cx="7098490" cy="1374615"/>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62626"/>
                </a:solidFill>
                <a:latin typeface="Arial"/>
                <a:ea typeface="Arial"/>
                <a:cs typeface="Arial"/>
                <a:sym typeface="Arial"/>
              </a:rPr>
              <a:t>70% of some number is $26,600.</a:t>
            </a:r>
            <a:endParaRPr b="1" i="0" sz="2800" u="none" cap="none" strike="noStrike">
              <a:solidFill>
                <a:srgbClr val="262626"/>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62626"/>
                </a:solidFill>
                <a:latin typeface="Arial"/>
                <a:ea typeface="Arial"/>
                <a:cs typeface="Arial"/>
                <a:sym typeface="Arial"/>
              </a:rPr>
              <a:t>How can you find the unknown number?</a:t>
            </a:r>
            <a:endParaRPr b="0" i="0" sz="1400" u="none" cap="none" strike="noStrike">
              <a:solidFill>
                <a:srgbClr val="000000"/>
              </a:solidFill>
              <a:latin typeface="Arial"/>
              <a:ea typeface="Arial"/>
              <a:cs typeface="Arial"/>
              <a:sym typeface="Arial"/>
            </a:endParaRPr>
          </a:p>
        </p:txBody>
      </p:sp>
      <p:sp>
        <p:nvSpPr>
          <p:cNvPr id="882" name="Google Shape;882;p90"/>
          <p:cNvSpPr txBox="1"/>
          <p:nvPr/>
        </p:nvSpPr>
        <p:spPr>
          <a:xfrm>
            <a:off x="484565" y="5383833"/>
            <a:ext cx="8547291" cy="956274"/>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rgbClr val="595959"/>
                </a:solidFill>
                <a:latin typeface="Arial"/>
                <a:ea typeface="Arial"/>
                <a:cs typeface="Arial"/>
                <a:sym typeface="Arial"/>
              </a:rPr>
              <a:t>We can write and solve an equation.</a:t>
            </a:r>
            <a:endParaRPr b="0" i="0" sz="2800" u="none" cap="none" strike="noStrike">
              <a:solidFill>
                <a:srgbClr val="595959"/>
              </a:solidFill>
              <a:latin typeface="Arial"/>
              <a:ea typeface="Arial"/>
              <a:cs typeface="Arial"/>
              <a:sym typeface="Arial"/>
            </a:endParaRPr>
          </a:p>
        </p:txBody>
      </p:sp>
      <p:sp>
        <p:nvSpPr>
          <p:cNvPr id="883" name="Google Shape;883;p90"/>
          <p:cNvSpPr txBox="1"/>
          <p:nvPr/>
        </p:nvSpPr>
        <p:spPr>
          <a:xfrm>
            <a:off x="484565" y="316034"/>
            <a:ext cx="4992599" cy="3726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1" i="0" lang="en-US" sz="2800" u="none" cap="none" strike="noStrike">
                <a:solidFill>
                  <a:srgbClr val="782DA0"/>
                </a:solidFill>
                <a:latin typeface="Arial"/>
                <a:ea typeface="Arial"/>
                <a:cs typeface="Arial"/>
                <a:sym typeface="Arial"/>
              </a:rPr>
              <a:t>Car Value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39 / 44</a:t>
            </a:r>
          </a:p>
        </p:txBody>
      </p:sp>
      <p:sp xmlns:p="http://schemas.openxmlformats.org/presentationml/2006/main" xmlns:a="http://schemas.openxmlformats.org/drawingml/2006/main">
        <p:nvSpPr>
          <p:cNvPr id="9003" name="TEACH-embedded-student-prompt" descr="Student thinking and response directions"/>
          <p:cNvSpPr txBox="1"/>
          <p:nvPr/>
        </p:nvSpPr>
        <p:spPr>
          <a:xfrm>
            <a:off x="594360" y="480974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Compare your reasoning with the explanation. Explain any revision you make.</a:t>
            </a:r>
            <a:endParaRPr lang="en-US" sz="2000"/>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13" name="Google Shape;913;p94"/>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14" name="Google Shape;914;p94"/>
          <p:cNvSpPr txBox="1"/>
          <p:nvPr/>
        </p:nvSpPr>
        <p:spPr>
          <a:xfrm>
            <a:off x="484565" y="936099"/>
            <a:ext cx="7098490" cy="3883859"/>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How can you solve a multiplication equation with an unknown?</a:t>
            </a:r>
            <a:endParaRPr b="0" i="0" sz="1400" u="none" cap="none" strike="noStrike">
              <a:solidFill>
                <a:srgbClr val="000000"/>
              </a:solidFill>
              <a:latin typeface="Arial"/>
              <a:ea typeface="Arial"/>
              <a:cs typeface="Arial"/>
              <a:sym typeface="Arial"/>
            </a:endParaRPr>
          </a:p>
        </p:txBody>
      </p:sp>
      <p:sp>
        <p:nvSpPr>
          <p:cNvPr id="915" name="Google Shape;915;p94"/>
          <p:cNvSpPr txBox="1"/>
          <p:nvPr/>
        </p:nvSpPr>
        <p:spPr>
          <a:xfrm>
            <a:off x="676888" y="1990867"/>
            <a:ext cx="7098490" cy="1438133"/>
          </a:xfrm>
          <a:prstGeom prst="rect">
            <a:avLst/>
          </a:prstGeom>
          <a:blipFill rotWithShape="1">
            <a:blip r:embed="rId2">
              <a:alphaModFix/>
            </a:blip>
            <a:stretch>
              <a:fillRect b="0" l="0" r="0" t="0"/>
            </a:stretch>
          </a:blip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1800"/>
              <a:buFont typeface="Arial"/>
              <a:buNone/>
            </a:pPr>
            <a:r>
              <a:rPr b="0" i="0" lang="en-US" sz="1800" u="none" cap="none" strike="noStrike">
                <a:solidFill>
                  <a:srgbClr val="000000"/>
                </a:solidFill>
                <a:latin typeface="Calibri"/>
                <a:ea typeface="Calibri"/>
                <a:cs typeface="Calibri"/>
                <a:sym typeface="Calibri"/>
              </a:rPr>
              <a:t> </a:t>
            </a:r>
            <a:endParaRPr b="0" i="0" sz="1400" u="none" cap="none" strike="noStrike">
              <a:solidFill>
                <a:srgbClr val="000000"/>
              </a:solidFill>
              <a:latin typeface="Arial"/>
              <a:ea typeface="Arial"/>
              <a:cs typeface="Arial"/>
              <a:sym typeface="Arial"/>
            </a:endParaRPr>
          </a:p>
        </p:txBody>
      </p:sp>
      <p:sp>
        <p:nvSpPr>
          <p:cNvPr id="916" name="Google Shape;916;p94"/>
          <p:cNvSpPr txBox="1"/>
          <p:nvPr/>
        </p:nvSpPr>
        <p:spPr>
          <a:xfrm>
            <a:off x="484565" y="5443209"/>
            <a:ext cx="8547291" cy="92658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595959"/>
                </a:solidFill>
                <a:latin typeface="Arial"/>
                <a:ea typeface="Arial"/>
                <a:cs typeface="Arial"/>
                <a:sym typeface="Arial"/>
              </a:rPr>
              <a:t>We can divide.</a:t>
            </a:r>
            <a:endParaRPr b="0" i="0" sz="2800" u="none" cap="none" strike="noStrike">
              <a:solidFill>
                <a:srgbClr val="595959"/>
              </a:solidFill>
              <a:latin typeface="Arial"/>
              <a:ea typeface="Arial"/>
              <a:cs typeface="Arial"/>
              <a:sym typeface="Arial"/>
            </a:endParaRPr>
          </a:p>
        </p:txBody>
      </p:sp>
      <p:sp>
        <p:nvSpPr>
          <p:cNvPr id="917" name="Google Shape;917;p94"/>
          <p:cNvSpPr txBox="1"/>
          <p:nvPr/>
        </p:nvSpPr>
        <p:spPr>
          <a:xfrm>
            <a:off x="484565" y="316034"/>
            <a:ext cx="4992599" cy="3726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Car Value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40 / 44</a:t>
            </a:r>
          </a:p>
        </p:txBody>
      </p:sp>
      <p:grpSp>
        <p:nvGrpSpPr>
          <p:cNvPr id="9003" name="TEACH-4-student-move" descr="TEACH 4 · Monitor progress and provide feedback"/>
          <p:cNvGrpSpPr/>
          <p:nvPr/>
        </p:nvGrpSpPr>
        <p:grpSpPr>
          <a:xfrm>
            <a:off x="502920" y="5004297"/>
            <a:ext cx="11186160" cy="402336"/>
            <a:chOff x="502920" y="5004297"/>
            <a:chExt cx="11186160" cy="402336"/>
          </a:xfrm>
        </p:grpSpPr>
        <p:sp>
          <p:nvSpPr>
            <p:cNvPr id="9004" name="TEACH-move-card"/>
            <p:cNvSpPr/>
            <p:nvPr/>
          </p:nvSpPr>
          <p:spPr>
            <a:xfrm>
              <a:off x="502920" y="5004297"/>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5080741"/>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5004297"/>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REVISE NOW  ·  </a:t>
              </a:r>
              <a:r>
                <a:rPr lang="en-US" sz="1200" dirty="0">
                  <a:solidFill>
                    <a:srgbClr val="13303A"/>
                  </a:solidFill>
                  <a:latin typeface="Arial"/>
                </a:rPr>
                <a:t>Change one answer and write why you changed it. A revision is evidence of learning.</a:t>
              </a:r>
              <a:endParaRPr lang="en-US" sz="1200"/>
            </a:p>
          </p:txBody>
        </p:sp>
      </p:gr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cxnSp>
        <p:nvCxnSpPr>
          <p:cNvPr id="931" name="Google Shape;931;p96"/>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32" name="Google Shape;932;p96"/>
          <p:cNvSpPr txBox="1"/>
          <p:nvPr/>
        </p:nvSpPr>
        <p:spPr>
          <a:xfrm>
            <a:off x="484565" y="936100"/>
            <a:ext cx="7098490" cy="4050166"/>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Let’s divide to solve for the unknown.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rgbClr val="262626"/>
              </a:buClr>
              <a:buSzPts val="2800"/>
              <a:buFont typeface="Arial"/>
              <a:buNone/>
              <a:defRPr/>
            </a:pPr>
            <a:r>
              <a:rPr b="0" i="0" lang="en-US" sz="2800" u="none" cap="none" strike="noStrike">
                <a:solidFill>
                  <a:srgbClr val="262626"/>
                </a:solidFill>
                <a:latin typeface="Arial"/>
                <a:ea typeface="Arial"/>
                <a:cs typeface="Arial"/>
                <a:sym typeface="Arial"/>
              </a:rPr>
              <a:t>70% of what number is $26,600?</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200"/>
              </a:spcBef>
              <a:spcAft>
                <a:spcPts val="0"/>
              </a:spcAft>
              <a:buClr>
                <a:schemeClr val="dk2"/>
              </a:buClr>
              <a:buSzPts val="2800"/>
              <a:buFont typeface="Arial"/>
              <a:buNone/>
              <a:defRPr/>
            </a:pPr>
            <a:r>
              <a:rPr/>
              <a:t/>
            </a:r>
            <a:endParaRPr b="0" i="0" sz="2800" u="none" cap="none" strike="noStrike">
              <a:solidFill>
                <a:srgbClr val="262626"/>
              </a:solidFill>
              <a:latin typeface="Arial"/>
              <a:ea typeface="Arial"/>
              <a:cs typeface="Arial"/>
              <a:sym typeface="Arial"/>
            </a:endParaRPr>
          </a:p>
          <a:p>
            <a:pPr indent="0" lvl="0" marL="0" marR="0" rtl="0" algn="l">
              <a:lnSpc>
                <a:spcPct val="100000"/>
              </a:lnSpc>
              <a:spcBef>
                <a:spcPts val="1200"/>
              </a:spcBef>
              <a:spcAft>
                <a:spcPts val="0"/>
              </a:spcAft>
              <a:buClr>
                <a:srgbClr val="262626"/>
              </a:buClr>
              <a:buSzPts val="2800"/>
              <a:buFont typeface="Arial"/>
              <a:buNone/>
              <a:defRPr/>
            </a:pPr>
            <a:r>
              <a:rPr b="1" i="0" lang="en-US" sz="2800" u="none" cap="none" strike="noStrike">
                <a:solidFill>
                  <a:srgbClr val="262626"/>
                </a:solidFill>
                <a:latin typeface="Arial"/>
                <a:ea typeface="Arial"/>
                <a:cs typeface="Arial"/>
                <a:sym typeface="Arial"/>
              </a:rPr>
              <a:t>What does the solution represent?</a:t>
            </a:r>
            <a:endParaRPr b="0" i="0" sz="1400" u="none" cap="none" strike="noStrike">
              <a:solidFill>
                <a:srgbClr val="000000"/>
              </a:solidFill>
              <a:latin typeface="Arial"/>
              <a:ea typeface="Arial"/>
              <a:cs typeface="Arial"/>
              <a:sym typeface="Arial"/>
            </a:endParaRPr>
          </a:p>
        </p:txBody>
      </p:sp>
      <p:pic>
        <p:nvPicPr>
          <p:cNvPr id="933" name="Google Shape;933;p96"/>
          <p:cNvPicPr preferRelativeResize="0"/>
          <p:nvPr/>
        </p:nvPicPr>
        <p:blipFill rotWithShape="1">
          <a:blip r:embed="rId2">
            <a:alphaModFix/>
          </a:blip>
          <a:srcRect b="0" l="0" r="0" t="0"/>
          <a:stretch/>
        </p:blipFill>
        <p:spPr>
          <a:xfrm>
            <a:off x="520661" y="2243540"/>
            <a:ext cx="7255922" cy="1968784"/>
          </a:xfrm>
          <a:prstGeom prst="rect">
            <a:avLst/>
          </a:prstGeom>
          <a:noFill/>
          <a:ln>
            <a:noFill/>
          </a:ln>
        </p:spPr>
      </p:pic>
      <p:sp>
        <p:nvSpPr>
          <p:cNvPr id="934" name="Google Shape;934;p96"/>
          <p:cNvSpPr txBox="1"/>
          <p:nvPr/>
        </p:nvSpPr>
        <p:spPr>
          <a:xfrm>
            <a:off x="484565" y="5037469"/>
            <a:ext cx="8547291" cy="1342222"/>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800"/>
              <a:buFont typeface="Arial"/>
              <a:buNone/>
              <a:defRPr/>
            </a:pPr>
            <a:r>
              <a:rPr b="1" i="0" lang="en-US" sz="2800" u="none" cap="none" strike="noStrike">
                <a:solidFill>
                  <a:srgbClr val="0070C0"/>
                </a:solidFill>
                <a:highlight>
                  <a:srgbClr val="E0E0E0"/>
                </a:highlight>
                <a:latin typeface="Arial"/>
                <a:ea typeface="Arial"/>
                <a:cs typeface="Arial"/>
                <a:sym typeface="Arial"/>
              </a:rPr>
              <a:t> Reveal</a:t>
            </a:r>
            <a:r>
              <a:rPr b="1" i="0" lang="en-US" sz="2800" u="none" cap="none" strike="noStrike">
                <a:solidFill>
                  <a:srgbClr val="E0E0E0"/>
                </a:solidFill>
                <a:highlight>
                  <a:srgbClr val="E0E0E0"/>
                </a:highlight>
                <a:latin typeface="Arial"/>
                <a:ea typeface="Arial"/>
                <a:cs typeface="Arial"/>
                <a:sym typeface="Arial"/>
              </a:rPr>
              <a:t>:</a:t>
            </a:r>
            <a:r>
              <a:rPr b="1" i="0" lang="en-US" sz="2800" u="none" cap="none" strike="noStrike">
                <a:solidFill>
                  <a:srgbClr val="0070C0"/>
                </a:solidFill>
                <a:latin typeface="Arial"/>
                <a:ea typeface="Arial"/>
                <a:cs typeface="Arial"/>
                <a:sym typeface="Arial"/>
              </a:rPr>
              <a:t> </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2800"/>
              <a:buFont typeface="Arial"/>
              <a:buNone/>
              <a:defRPr/>
            </a:pPr>
            <a:r>
              <a:rPr b="0" i="0" lang="en-US" sz="2800" u="none" cap="none" strike="noStrike">
                <a:solidFill>
                  <a:srgbClr val="595959"/>
                </a:solidFill>
                <a:latin typeface="Arial"/>
                <a:ea typeface="Arial"/>
                <a:cs typeface="Arial"/>
                <a:sym typeface="Arial"/>
              </a:rPr>
              <a:t>The solution, 38,000, represents the price of the car when it was purchased.</a:t>
            </a:r>
            <a:endParaRPr b="0" i="0" sz="2800" u="none" cap="none" strike="noStrike">
              <a:solidFill>
                <a:schemeClr val="dk1"/>
              </a:solidFill>
              <a:latin typeface="Calibri"/>
              <a:ea typeface="Calibri"/>
              <a:cs typeface="Calibri"/>
              <a:sym typeface="Calibri"/>
            </a:endParaRPr>
          </a:p>
        </p:txBody>
      </p:sp>
      <p:sp>
        <p:nvSpPr>
          <p:cNvPr id="935" name="Google Shape;935;p96"/>
          <p:cNvSpPr txBox="1"/>
          <p:nvPr/>
        </p:nvSpPr>
        <p:spPr>
          <a:xfrm>
            <a:off x="484565" y="316034"/>
            <a:ext cx="4992599" cy="372683"/>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defRPr/>
            </a:pPr>
            <a:r>
              <a:rPr b="1" i="0" lang="en-US" sz="2800" u="none" cap="none" strike="noStrike">
                <a:solidFill>
                  <a:srgbClr val="782DA0"/>
                </a:solidFill>
                <a:latin typeface="Arial"/>
                <a:ea typeface="Arial"/>
                <a:cs typeface="Arial"/>
                <a:sym typeface="Arial"/>
              </a:rPr>
              <a:t>Car Value</a:t>
            </a:r>
            <a:endParaRPr b="0" i="0" sz="1400" u="none" cap="none" strike="noStrike">
              <a:solidFill>
                <a:srgbClr val="000000"/>
              </a:solidFill>
              <a:latin typeface="Arial"/>
              <a:ea typeface="Arial"/>
              <a:cs typeface="Arial"/>
              <a:sym typeface="Arial"/>
            </a:endParaRP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41 / 44</a:t>
            </a:r>
          </a:p>
        </p:txBody>
      </p:sp>
      <p:grpSp>
        <p:nvGrpSpPr>
          <p:cNvPr id="9003" name="TEACH-2-student-move" descr="TEACH 2 · Use strategies and tasks to engage students in rigorous work"/>
          <p:cNvGrpSpPr/>
          <p:nvPr/>
        </p:nvGrpSpPr>
        <p:grpSpPr>
          <a:xfrm>
            <a:off x="6990893" y="1193800"/>
            <a:ext cx="4698187" cy="1005840"/>
            <a:chOff x="502920" y="4598557"/>
            <a:chExt cx="11186160" cy="402336"/>
          </a:xfrm>
        </p:grpSpPr>
        <p:sp>
          <p:nvSpPr>
            <p:cNvPr id="9004" name="TEACH-move-card"/>
            <p:cNvSpPr/>
            <p:nvPr/>
          </p:nvSpPr>
          <p:spPr>
            <a:xfrm>
              <a:off x="502920" y="4598557"/>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9005" name="TEACH-move-rule"/>
            <p:cNvSpPr/>
            <p:nvPr/>
          </p:nvSpPr>
          <p:spPr>
            <a:xfrm>
              <a:off x="548640" y="4675001"/>
              <a:ext cx="100584" cy="249448"/>
            </a:xfrm>
            <a:prstGeom prst="roundRect">
              <a:avLst>
                <a:gd name="adj" fmla="val 50000"/>
              </a:avLst>
            </a:prstGeom>
            <a:solidFill>
              <a:srgbClr val="01708C"/>
            </a:solidFill>
            <a:ln>
              <a:noFill/>
            </a:ln>
          </p:spPr>
          <p:txBody>
            <a:bodyPr/>
            <a:lstStyle/>
            <a:p>
              <a:endParaRPr/>
            </a:p>
          </p:txBody>
        </p:sp>
        <p:sp>
          <p:nvSpPr>
            <p:cNvPr id="9006" name="TEACH-move-text"/>
            <p:cNvSpPr txBox="1"/>
            <p:nvPr/>
          </p:nvSpPr>
          <p:spPr>
            <a:xfrm>
              <a:off x="822960" y="4598557"/>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STRUGGLE FIRST  ·  </a:t>
              </a:r>
              <a:r>
                <a:rPr lang="en-US" sz="1200" dirty="0">
                  <a:solidFill>
                    <a:srgbClr val="13303A"/>
                  </a:solidFill>
                  <a:latin typeface="Arial"/>
                </a:rPr>
                <a:t>Work on your own first. Stuck is allowed — try a second strategy before you ask.</a:t>
              </a:r>
              <a:endParaRPr lang="en-US" sz="1200"/>
            </a:p>
          </p:txBody>
        </p:sp>
      </p:gr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8" name="Shape 978"/>
        <p:cNvGrpSpPr/>
        <p:nvPr/>
      </p:nvGrpSpPr>
      <p:grpSpPr>
        <a:xfrm>
          <a:off x="0" y="0"/>
          <a:ext cx="0" cy="0"/>
          <a:chOff x="0" y="0"/>
          <a:chExt cx="0" cy="0"/>
        </a:xfrm>
      </p:grpSpPr>
      <p:cxnSp>
        <p:nvCxnSpPr>
          <p:cNvPr id="979" name="Google Shape;979;p101"/>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0" name="Google Shape;980;p101"/>
          <p:cNvSpPr txBox="1"/>
          <p:nvPr/>
        </p:nvSpPr>
        <p:spPr>
          <a:xfrm>
            <a:off x="484565" y="1215952"/>
            <a:ext cx="7634199" cy="2793351"/>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You can use a double number line, a table, or an equation to determine the whole given the part and percent.</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70% of what number is $26,600?</a:t>
            </a:r>
            <a:endParaRPr b="0" i="0" sz="1400" u="none" cap="none" strike="noStrike">
              <a:solidFill>
                <a:srgbClr val="000000"/>
              </a:solidFill>
              <a:latin typeface="Arial"/>
              <a:ea typeface="Arial"/>
              <a:cs typeface="Arial"/>
              <a:sym typeface="Arial"/>
            </a:endParaRPr>
          </a:p>
        </p:txBody>
      </p:sp>
      <p:sp>
        <p:nvSpPr>
          <p:cNvPr id="981" name="Google Shape;981;p101"/>
          <p:cNvSpPr txBox="1"/>
          <p:nvPr/>
        </p:nvSpPr>
        <p:spPr>
          <a:xfrm>
            <a:off x="484565" y="316034"/>
            <a:ext cx="6276453" cy="782752"/>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Summarize:</a:t>
            </a:r>
            <a:r>
              <a:rPr b="1" i="0" lang="en-US" sz="2800" u="none" cap="none" strike="noStrike">
                <a:solidFill>
                  <a:srgbClr val="782DA0"/>
                </a:solidFill>
                <a:latin typeface="Arial"/>
                <a:ea typeface="Arial"/>
                <a:cs typeface="Arial"/>
                <a:sym typeface="Arial"/>
              </a:rPr>
              <a:t xml:space="preserve"> Determine the Whole Given the Part and Percent​</a:t>
            </a:r>
            <a:endParaRPr b="0" i="0" sz="1400" u="none" cap="none" strike="noStrike">
              <a:solidFill>
                <a:srgbClr val="000000"/>
              </a:solidFill>
              <a:latin typeface="Arial"/>
              <a:ea typeface="Arial"/>
              <a:cs typeface="Arial"/>
              <a:sym typeface="Arial"/>
            </a:endParaRPr>
          </a:p>
        </p:txBody>
      </p:sp>
      <p:pic>
        <p:nvPicPr>
          <p:cNvPr id="982" name="Google Shape;982;p101"/>
          <p:cNvPicPr preferRelativeResize="0"/>
          <p:nvPr/>
        </p:nvPicPr>
        <p:blipFill rotWithShape="1">
          <a:blip r:embed="rId3">
            <a:alphaModFix/>
          </a:blip>
          <a:srcRect b="0" l="0" r="0" t="0"/>
          <a:stretch/>
        </p:blipFill>
        <p:spPr>
          <a:xfrm>
            <a:off x="484565" y="3654520"/>
            <a:ext cx="10163233" cy="1373063"/>
          </a:xfrm>
          <a:prstGeom prst="rect">
            <a:avLst/>
          </a:prstGeom>
          <a:noFill/>
          <a:ln>
            <a:noFill/>
          </a:ln>
        </p:spPr>
      </p:pic>
      <p:sp>
        <p:nvSpPr>
          <p:cNvPr id="9001" name="UIFR Level 4 Move"/>
          <p:cNvSpPr txBox="1"/>
          <p:nvPr/>
        </p:nvSpPr>
        <p:spPr>
          <a:xfrm>
            <a:off x="6876288" y="73152"/>
            <a:ext cx="4416552" cy="365760"/>
          </a:xfrm>
          <a:prstGeom prst="roundRect">
            <a:avLst/>
          </a:prstGeom>
          <a:solidFill>
            <a:srgbClr val="C84A0C"/>
          </a:solidFill>
          <a:ln>
            <a:noFill/>
          </a:ln>
        </p:spPr>
        <p:txBody>
          <a:bodyPr wrap="square" lIns="0" rIns="0" tIns="0" bIns="0" anchor="ctr">
            <a:noAutofit/>
          </a:bodyPr>
          <a:lstStyle/>
          <a:p>
            <a:pPr algn="ctr"/>
            <a:r>
              <a:rPr lang="en-US" sz="1000" b="1" dirty="0">
                <a:solidFill>
                  <a:srgbClr val="FFFFFF"/>
                </a:solidFill>
                <a:latin typeface="Arial"/>
              </a:rPr>
              <a:t>Compare pathways with a partner; name one revision.</a:t>
            </a:r>
          </a:p>
        </p:txBody>
      </p:sp>
      <p:sp>
        <p:nvSpPr>
          <p:cNvPr id="9002"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42 / 44</a:t>
            </a:r>
          </a:p>
        </p:txBody>
      </p:sp>
      <p:sp>
        <p:nvSpPr>
          <p:cNvPr id="9003"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SUMMARIZE</a:t>
            </a:r>
            <a:r>
              <a:rPr lang="en-US" sz="1200" b="1">
                <a:solidFill>
                  <a:srgbClr val="5D6872"/>
                </a:solidFill>
                <a:latin typeface="Arial"/>
              </a:rPr>
              <a:t xml:space="preserve">  ·  SAY IT IN YOUR OWN WORDS</a:t>
            </a:r>
          </a:p>
        </p:txBody>
      </p:sp>
      <p:sp xmlns:p="http://schemas.openxmlformats.org/presentationml/2006/main" xmlns:a="http://schemas.openxmlformats.org/drawingml/2006/main">
        <p:nvSpPr>
          <p:cNvPr id="9004" name="TEACH-embedded-student-prompt" descr="Student thinking and response directions"/>
          <p:cNvSpPr txBox="1"/>
          <p:nvPr/>
        </p:nvSpPr>
        <p:spPr>
          <a:xfrm>
            <a:off x="594360" y="5815584"/>
            <a:ext cx="11094720" cy="457200"/>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Explain the key idea without reading. Use today’s example as evidence.</a:t>
            </a:r>
            <a:endParaRPr lang="en-US" sz="20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6" name="Shape 986"/>
        <p:cNvGrpSpPr/>
        <p:nvPr/>
      </p:nvGrpSpPr>
      <p:grpSpPr>
        <a:xfrm>
          <a:off x="0" y="0"/>
          <a:ext cx="0" cy="0"/>
          <a:chOff x="0" y="0"/>
          <a:chExt cx="0" cy="0"/>
        </a:xfrm>
      </p:grpSpPr>
      <p:cxnSp>
        <p:nvCxnSpPr>
          <p:cNvPr id="987" name="Google Shape;987;p102"/>
          <p:cNvCxnSpPr/>
          <p:nvPr/>
        </p:nvCxnSpPr>
        <p:spPr>
          <a:xfrm>
            <a:off x="13164879" y="5911702"/>
            <a:ext cx="0" cy="0"/>
          </a:xfrm>
          <a:prstGeom prst="straightConnector1">
            <a:avLst/>
          </a:prstGeom>
          <a:noFill/>
          <a:ln cap="flat" cmpd="sng" w="9525">
            <a:solidFill>
              <a:schemeClr val="accent1"/>
            </a:solidFill>
            <a:prstDash val="solid"/>
            <a:miter lim="80"/>
            <a:headEnd len="sm" w="sm" type="none"/>
            <a:tailEnd len="sm" w="sm" type="none"/>
          </a:ln>
        </p:spPr>
      </p:cxnSp>
      <p:sp>
        <p:nvSpPr>
          <p:cNvPr id="988" name="Google Shape;988;p102"/>
          <p:cNvSpPr txBox="1"/>
          <p:nvPr/>
        </p:nvSpPr>
        <p:spPr>
          <a:xfrm>
            <a:off x="484565" y="927529"/>
            <a:ext cx="6019474" cy="3592713"/>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262626"/>
              </a:buClr>
              <a:buSzPts val="2800"/>
              <a:buFont typeface="Arial"/>
              <a:buNone/>
            </a:pPr>
            <a:r>
              <a:rPr b="0" i="0" lang="en-US" sz="2800" u="none" cap="none" strike="noStrike">
                <a:solidFill>
                  <a:srgbClr val="23282D"/>
                </a:solidFill>
                <a:latin typeface="Arial"/>
                <a:ea typeface="Arial"/>
                <a:cs typeface="Arial"/>
                <a:sym typeface="Arial"/>
              </a:rPr>
              <a:t>The percentage of each type of puzzle in a toy store before a sale is shown. During the sale, the store sold all of the 300-piece and 500-piece puzzles. They sold 120 puzzles.</a:t>
            </a:r>
            <a:endParaRPr b="0" i="0" sz="1400" u="none" cap="none" strike="noStrike">
              <a:solidFill>
                <a:srgbClr val="000000"/>
              </a:solidFill>
              <a:latin typeface="Arial"/>
              <a:ea typeface="Arial"/>
              <a:cs typeface="Arial"/>
              <a:sym typeface="Arial"/>
            </a:endParaRPr>
          </a:p>
          <a:p>
            <a:pPr indent="0" lvl="0" marL="0" marR="0" rtl="0" algn="l">
              <a:lnSpc>
                <a:spcPct val="100000"/>
              </a:lnSpc>
              <a:spcBef>
                <a:spcPts val="1800"/>
              </a:spcBef>
              <a:spcAft>
                <a:spcPts val="0"/>
              </a:spcAft>
              <a:buClr>
                <a:srgbClr val="262626"/>
              </a:buClr>
              <a:buSzPts val="2800"/>
              <a:buFont typeface="Arial"/>
              <a:buNone/>
            </a:pPr>
            <a:r>
              <a:rPr b="1" i="0" lang="en-US" sz="2800" u="none" cap="none" strike="noStrike">
                <a:solidFill>
                  <a:srgbClr val="23282D"/>
                </a:solidFill>
                <a:latin typeface="Arial"/>
                <a:ea typeface="Arial"/>
                <a:cs typeface="Arial"/>
                <a:sym typeface="Arial"/>
              </a:rPr>
              <a:t>Question:</a:t>
            </a:r>
            <a:r>
              <a:rPr b="0" i="0" lang="en-US" sz="2800" u="none" cap="none" strike="noStrike">
                <a:solidFill>
                  <a:srgbClr val="23282D"/>
                </a:solidFill>
                <a:latin typeface="Arial"/>
                <a:ea typeface="Arial"/>
                <a:cs typeface="Arial"/>
                <a:sym typeface="Arial"/>
              </a:rPr>
              <a:t xml:space="preserve"> How many of each type of puzzle did the store have before the sale?</a:t>
            </a:r>
            <a:endParaRPr b="0" i="0" sz="1400" u="none" cap="none" strike="noStrike">
              <a:solidFill>
                <a:srgbClr val="000000"/>
              </a:solidFill>
              <a:latin typeface="Arial"/>
              <a:ea typeface="Arial"/>
              <a:cs typeface="Arial"/>
              <a:sym typeface="Arial"/>
            </a:endParaRPr>
          </a:p>
        </p:txBody>
      </p:sp>
      <p:sp>
        <p:nvSpPr>
          <p:cNvPr id="989" name="Google Shape;989;p102"/>
          <p:cNvSpPr txBox="1"/>
          <p:nvPr/>
        </p:nvSpPr>
        <p:spPr>
          <a:xfrm>
            <a:off x="484565" y="316034"/>
            <a:ext cx="5492675" cy="537406"/>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rgbClr val="782DA0"/>
              </a:buClr>
              <a:buSzPts val="2800"/>
              <a:buFont typeface="Arial"/>
              <a:buNone/>
            </a:pPr>
            <a:r>
              <a:rPr b="0" i="0" lang="en-US" sz="2800" u="none" cap="none" strike="noStrike">
                <a:solidFill>
                  <a:srgbClr val="782DA0"/>
                </a:solidFill>
                <a:latin typeface="Arial"/>
                <a:ea typeface="Arial"/>
                <a:cs typeface="Arial"/>
                <a:sym typeface="Arial"/>
              </a:rPr>
              <a:t>Apply:</a:t>
            </a:r>
            <a:r>
              <a:rPr b="1" i="0" lang="en-US" sz="2800" u="none" cap="none" strike="noStrike">
                <a:solidFill>
                  <a:srgbClr val="782DA0"/>
                </a:solidFill>
                <a:latin typeface="Arial"/>
                <a:ea typeface="Arial"/>
                <a:cs typeface="Arial"/>
                <a:sym typeface="Arial"/>
              </a:rPr>
              <a:t xml:space="preserve"> Puzzle Problem​</a:t>
            </a:r>
            <a:endParaRPr b="0" i="0" sz="1400" u="none" cap="none" strike="noStrike">
              <a:solidFill>
                <a:srgbClr val="000000"/>
              </a:solidFill>
              <a:latin typeface="Arial"/>
              <a:ea typeface="Arial"/>
              <a:cs typeface="Arial"/>
              <a:sym typeface="Arial"/>
            </a:endParaRPr>
          </a:p>
        </p:txBody>
      </p:sp>
      <p:pic>
        <p:nvPicPr>
          <p:cNvPr id="990" name="Google Shape;990;p102"/>
          <p:cNvPicPr preferRelativeResize="0"/>
          <p:nvPr/>
        </p:nvPicPr>
        <p:blipFill rotWithShape="1">
          <a:blip r:embed="rId3">
            <a:alphaModFix/>
          </a:blip>
          <a:srcRect b="0" l="0" r="0" t="0"/>
          <a:stretch/>
        </p:blipFill>
        <p:spPr>
          <a:xfrm>
            <a:off x="7075560" y="1030768"/>
            <a:ext cx="3987518" cy="5144275"/>
          </a:xfrm>
          <a:prstGeom prst="rect">
            <a:avLst/>
          </a:prstGeom>
          <a:noFill/>
          <a:ln>
            <a:noFill/>
          </a:ln>
        </p:spPr>
      </p:pic>
      <p:sp>
        <p:nvSpPr>
          <p:cNvPr id="991" name="EWL-SlideNumber"/>
          <p:cNvSpPr>
            <a:spLocks noGrp="1"/>
          </p:cNvSpPr>
          <p:nvPr/>
        </p:nvSpPr>
        <p:spPr>
          <a:xfrm>
            <a:off x="5577840" y="6492240"/>
            <a:ext cx="1033272" cy="256032"/>
          </a:xfrm>
          <a:prstGeom prst="rect">
            <a:avLst/>
          </a:prstGeom>
          <a:noFill/>
        </p:spPr>
        <p:txBody>
          <a:bodyPr wrap="square" lIns="0" rIns="0" tIns="0" bIns="0" anchor="ctr">
            <a:noAutofit/>
          </a:bodyPr>
          <a:lstStyle/>
          <a:p>
            <a:pPr algn="ctr"/>
            <a:r>
              <a:rPr lang="en-US" sz="1100" b="0" dirty="0">
                <a:solidFill>
                  <a:srgbClr val="475569"/>
                </a:solidFill>
                <a:latin typeface="Arial"/>
              </a:rPr>
              <a:t>43 / 44</a:t>
            </a:r>
          </a:p>
        </p:txBody>
      </p:sp>
      <p:sp>
        <p:nvSpPr>
          <p:cNvPr id="992" name="EWL-Routine"/>
          <p:cNvSpPr>
            <a:spLocks noGrp="1"/>
          </p:cNvSpPr>
          <p:nvPr/>
        </p:nvSpPr>
        <p:spPr>
          <a:xfrm>
            <a:off x="502920" y="54864"/>
            <a:ext cx="6035040" cy="237744"/>
          </a:xfrm>
          <a:prstGeom prst="rect">
            <a:avLst/>
          </a:prstGeom>
          <a:noFill/>
        </p:spPr>
        <p:txBody>
          <a:bodyPr lIns="0" rIns="0" tIns="0" bIns="0" wrap="square" anchor="ctr">
            <a:noAutofit/>
          </a:bodyPr>
          <a:lstStyle/>
          <a:p>
            <a:pPr algn="l"/>
            <a:r>
              <a:rPr lang="en-US" sz="1200" b="1">
                <a:solidFill>
                  <a:srgbClr val="1E2682"/>
                </a:solidFill>
                <a:latin typeface="Arial"/>
              </a:rPr>
              <a:t>APPLY</a:t>
            </a:r>
            <a:r>
              <a:rPr lang="en-US" sz="1200" b="1">
                <a:solidFill>
                  <a:srgbClr val="5D6872"/>
                </a:solidFill>
                <a:latin typeface="Arial"/>
              </a:rPr>
              <a:t xml:space="preserve">  ·  PLAN IT • SOLVE IT • PROVE IT</a:t>
            </a:r>
          </a:p>
        </p:txBody>
      </p:sp>
      <p:sp xmlns:p="http://schemas.openxmlformats.org/presentationml/2006/main" xmlns:a="http://schemas.openxmlformats.org/drawingml/2006/main">
        <p:nvSpPr>
          <p:cNvPr id="993" name="TEACH-embedded-student-prompt" descr="Student thinking and response directions"/>
          <p:cNvSpPr txBox="1"/>
          <p:nvPr/>
        </p:nvSpPr>
        <p:spPr>
          <a:xfrm>
            <a:off x="594360" y="5504688"/>
            <a:ext cx="5486400" cy="768096"/>
          </a:xfrm>
          <a:prstGeom prst="rect">
            <a:avLst/>
          </a:prstGeom>
          <a:noFill/>
          <a:ln>
            <a:noFill/>
          </a:ln>
        </p:spPr>
        <p:txBody>
          <a:bodyPr wrap="square" lIns="0" tIns="0" rIns="0" bIns="0" anchor="t">
            <a:noAutofit/>
          </a:bodyPr>
          <a:lstStyle/>
          <a:p>
            <a:pPr>
              <a:lnSpc>
                <a:spcPts val="2400"/>
              </a:lnSpc>
              <a:buNone/>
            </a:pPr>
            <a:r>
              <a:rPr lang="en-US" sz="2000">
                <a:solidFill>
                  <a:srgbClr val="174D60"/>
                </a:solidFill>
                <a:latin typeface="Arial"/>
              </a:rPr>
              <a:t>Choose a method. Solve independently,</a:t>
            </a:r>
            <a:endParaRPr lang="en-US" sz="2000"/>
          </a:p>
          <a:p>
            <a:pPr>
              <a:lnSpc>
                <a:spcPts val="2400"/>
              </a:lnSpc>
              <a:buNone/>
            </a:pPr>
            <a:r>
              <a:rPr lang="en-US" sz="2000">
                <a:solidFill>
                  <a:srgbClr val="174D60"/>
                </a:solidFill>
                <a:latin typeface="Arial"/>
              </a:rPr>
              <a:t>justify your answer, then check the goal.</a:t>
            </a:r>
            <a:endParaRPr lang="en-US" sz="2000"/>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MasterSp="0" show="1">
  <p:cSld>
    <p:bg>
      <p:bgPr>
        <a:solidFill>
          <a:srgbClr val="FFFFFF"/>
        </a:solidFill>
        <a:effectLst/>
      </p:bgPr>
    </p:bg>
    <p:spTree>
      <p:nvGrpSpPr>
        <p:cNvPr id="1" name=""/>
        <p:cNvGrpSpPr/>
        <p:nvPr/>
      </p:nvGrpSpPr>
      <p:grpSpPr/>
      <p:sp>
        <p:nvSpPr>
          <p:cNvPr id="2" name="TextBox 1"/>
          <p:cNvSpPr txBox="1"/>
          <p:nvPr/>
        </p:nvSpPr>
        <p:spPr>
          <a:xfrm>
            <a:off x="594360" y="347472"/>
            <a:ext cx="10972800" cy="301752"/>
          </a:xfrm>
          <a:prstGeom prst="rect">
            <a:avLst/>
          </a:prstGeom>
          <a:noFill/>
        </p:spPr>
        <p:txBody>
          <a:bodyPr wrap="square" lIns="0" rIns="0" tIns="22860" bIns="0">
            <a:spAutoFit/>
          </a:bodyPr>
          <a:lstStyle/>
          <a:p>
            <a:pPr>
              <a:spcAft>
                <a:spcPts val="800"/>
              </a:spcAft>
              <a:defRPr sz="1300" b="1">
                <a:solidFill>
                  <a:srgbClr val="096B69"/>
                </a:solidFill>
                <a:latin typeface="Arial"/>
              </a:defRPr>
            </a:pPr>
            <a:r>
              <a:rPr/>
              <a:t>LESSON 4.5  /  REFLECT ON YOUR LEARNING</a:t>
            </a:r>
          </a:p>
        </p:txBody>
      </p:sp>
      <p:sp>
        <p:nvSpPr>
          <p:cNvPr id="3" name="TextBox 2"/>
          <p:cNvSpPr txBox="1"/>
          <p:nvPr/>
        </p:nvSpPr>
        <p:spPr>
          <a:xfrm>
            <a:off x="594360" y="914400"/>
            <a:ext cx="10972800" cy="640080"/>
          </a:xfrm>
          <a:prstGeom prst="rect">
            <a:avLst/>
          </a:prstGeom>
          <a:noFill/>
        </p:spPr>
        <p:txBody>
          <a:bodyPr wrap="square" lIns="0" rIns="0" tIns="22860" bIns="0">
            <a:spAutoFit/>
          </a:bodyPr>
          <a:lstStyle/>
          <a:p>
            <a:pPr>
              <a:spcAft>
                <a:spcPts val="800"/>
              </a:spcAft>
              <a:defRPr sz="3600" b="1">
                <a:solidFill>
                  <a:srgbClr val="173451"/>
                </a:solidFill>
                <a:latin typeface="Arial"/>
              </a:defRPr>
            </a:pPr>
            <a:r>
              <a:rPr/>
              <a:t>Show your progress</a:t>
            </a:r>
          </a:p>
        </p:txBody>
      </p:sp>
      <p:sp>
        <p:nvSpPr>
          <p:cNvPr id="4" name="TextBox 3"/>
          <p:cNvSpPr txBox="1"/>
          <p:nvPr/>
        </p:nvSpPr>
        <p:spPr>
          <a:xfrm>
            <a:off x="594360" y="6263640"/>
            <a:ext cx="10789920" cy="274320"/>
          </a:xfrm>
          <a:prstGeom prst="rect">
            <a:avLst/>
          </a:prstGeom>
          <a:noFill/>
        </p:spPr>
        <p:txBody>
          <a:bodyPr wrap="square" lIns="0" rIns="0" tIns="22860" bIns="0">
            <a:spAutoFit/>
          </a:bodyPr>
          <a:lstStyle/>
          <a:p>
            <a:pPr>
              <a:spcAft>
                <a:spcPts val="800"/>
              </a:spcAft>
              <a:defRPr sz="1300" b="0">
                <a:solidFill>
                  <a:srgbClr val="506478"/>
                </a:solidFill>
                <a:latin typeface="Arial"/>
              </a:defRPr>
            </a:pPr>
            <a:r>
              <a:rPr/>
              <a:t>Listen to understand. Ask for evidence. Make room for every voice.</a:t>
            </a:r>
          </a:p>
        </p:txBody>
      </p:sp>
      <p:sp>
        <p:nvSpPr>
          <p:cNvPr id="5" name="Rounded Rectangle 4"/>
          <p:cNvSpPr/>
          <p:nvPr/>
        </p:nvSpPr>
        <p:spPr>
          <a:xfrm>
            <a:off x="594360" y="1828800"/>
            <a:ext cx="5330952" cy="3136392"/>
          </a:xfrm>
          <a:prstGeom prst="roundRect">
            <a:avLst/>
          </a:prstGeom>
          <a:solidFill>
            <a:srgbClr val="EDF6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6236208" y="1828800"/>
            <a:ext cx="5330952" cy="3136392"/>
          </a:xfrm>
          <a:prstGeom prst="roundRect">
            <a:avLst/>
          </a:prstGeom>
          <a:solidFill>
            <a:srgbClr val="F1F4F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86968" y="2103120"/>
            <a:ext cx="4709160"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1  SHOW EVIDENCE</a:t>
            </a:r>
          </a:p>
        </p:txBody>
      </p:sp>
      <p:sp>
        <p:nvSpPr>
          <p:cNvPr id="8" name="TextBox 7"/>
          <p:cNvSpPr txBox="1"/>
          <p:nvPr/>
        </p:nvSpPr>
        <p:spPr>
          <a:xfrm>
            <a:off x="886968"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Choose one response. Point to the part that shows your reasoning.</a:t>
            </a:r>
          </a:p>
        </p:txBody>
      </p:sp>
      <p:sp>
        <p:nvSpPr>
          <p:cNvPr id="9" name="TextBox 8"/>
          <p:cNvSpPr txBox="1"/>
          <p:nvPr/>
        </p:nvSpPr>
        <p:spPr>
          <a:xfrm>
            <a:off x="886968"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“My work shows ___ because ___.”</a:t>
            </a:r>
          </a:p>
        </p:txBody>
      </p:sp>
      <p:sp>
        <p:nvSpPr>
          <p:cNvPr id="10" name="TextBox 9"/>
          <p:cNvSpPr txBox="1"/>
          <p:nvPr/>
        </p:nvSpPr>
        <p:spPr>
          <a:xfrm>
            <a:off x="6528816" y="2103120"/>
            <a:ext cx="4700016" cy="365760"/>
          </a:xfrm>
          <a:prstGeom prst="rect">
            <a:avLst/>
          </a:prstGeom>
          <a:noFill/>
        </p:spPr>
        <p:txBody>
          <a:bodyPr wrap="square" lIns="0" rIns="0" tIns="22860" bIns="0">
            <a:spAutoFit/>
          </a:bodyPr>
          <a:lstStyle/>
          <a:p>
            <a:pPr>
              <a:spcAft>
                <a:spcPts val="800"/>
              </a:spcAft>
              <a:defRPr sz="1800" b="1">
                <a:solidFill>
                  <a:srgbClr val="096B69"/>
                </a:solidFill>
                <a:latin typeface="Arial"/>
              </a:defRPr>
            </a:pPr>
            <a:r>
              <a:rPr/>
              <a:t>2  CHOOSE A NEXT STEP</a:t>
            </a:r>
          </a:p>
        </p:txBody>
      </p:sp>
      <p:sp>
        <p:nvSpPr>
          <p:cNvPr id="11" name="TextBox 10"/>
          <p:cNvSpPr txBox="1"/>
          <p:nvPr/>
        </p:nvSpPr>
        <p:spPr>
          <a:xfrm>
            <a:off x="6528816" y="2743200"/>
            <a:ext cx="4617720" cy="1353312"/>
          </a:xfrm>
          <a:prstGeom prst="rect">
            <a:avLst/>
          </a:prstGeom>
          <a:noFill/>
        </p:spPr>
        <p:txBody>
          <a:bodyPr wrap="square" lIns="0" rIns="0" tIns="22860" bIns="0">
            <a:spAutoFit/>
          </a:bodyPr>
          <a:lstStyle/>
          <a:p>
            <a:pPr>
              <a:spcAft>
                <a:spcPts val="800"/>
              </a:spcAft>
              <a:defRPr sz="2600" b="0">
                <a:solidFill>
                  <a:srgbClr val="24384B"/>
                </a:solidFill>
                <a:latin typeface="Arial"/>
              </a:defRPr>
            </a:pPr>
            <a:r>
              <a:rPr/>
              <a:t>Name a change you made after feedback—or a question you still have.</a:t>
            </a:r>
          </a:p>
        </p:txBody>
      </p:sp>
      <p:sp>
        <p:nvSpPr>
          <p:cNvPr id="12" name="TextBox 11"/>
          <p:cNvSpPr txBox="1"/>
          <p:nvPr/>
        </p:nvSpPr>
        <p:spPr>
          <a:xfrm>
            <a:off x="6528816" y="4224528"/>
            <a:ext cx="4617720" cy="502920"/>
          </a:xfrm>
          <a:prstGeom prst="rect">
            <a:avLst/>
          </a:prstGeom>
          <a:noFill/>
        </p:spPr>
        <p:txBody>
          <a:bodyPr wrap="square" lIns="0" rIns="0" tIns="22860" bIns="0">
            <a:spAutoFit/>
          </a:bodyPr>
          <a:lstStyle/>
          <a:p>
            <a:pPr>
              <a:spcAft>
                <a:spcPts val="800"/>
              </a:spcAft>
              <a:defRPr sz="1900" b="0">
                <a:solidFill>
                  <a:srgbClr val="506478"/>
                </a:solidFill>
                <a:latin typeface="Arial"/>
              </a:defRPr>
            </a:pPr>
            <a:r>
              <a:rPr/>
              <a:t>“Next time, I will ___ to help me ___.”</a:t>
            </a:r>
          </a:p>
        </p:txBody>
      </p:sp>
      <p:sp>
        <p:nvSpPr>
          <p:cNvPr id="13" name="TextBox 12"/>
          <p:cNvSpPr txBox="1"/>
          <p:nvPr/>
        </p:nvSpPr>
        <p:spPr>
          <a:xfrm>
            <a:off x="621792" y="5376672"/>
            <a:ext cx="10954512" cy="685800"/>
          </a:xfrm>
          <a:prstGeom prst="rect">
            <a:avLst/>
          </a:prstGeom>
          <a:noFill/>
        </p:spPr>
        <p:txBody>
          <a:bodyPr wrap="square" lIns="0" rIns="0" tIns="22860" bIns="0">
            <a:spAutoFit/>
          </a:bodyPr>
          <a:lstStyle/>
          <a:p>
            <a:pPr>
              <a:spcAft>
                <a:spcPts val="800"/>
              </a:spcAft>
              <a:defRPr sz="2200" b="1">
                <a:solidFill>
                  <a:srgbClr val="173451"/>
                </a:solidFill>
                <a:latin typeface="Arial"/>
              </a:defRPr>
            </a:pPr>
            <a:r>
              <a:rPr/>
              <a:t>Today’s focus: Identify the known part and percent.</a:t>
            </a:r>
          </a:p>
        </p:txBody>
      </p:sp>
      <p:grpSp>
        <p:nvGrpSpPr>
          <p:cNvPr id="14" name="TEACH-7-student-move" descr="TEACH 7 · Cultivate a supportive learning community"/>
          <p:cNvGrpSpPr/>
          <p:nvPr/>
        </p:nvGrpSpPr>
        <p:grpSpPr>
          <a:xfrm>
            <a:off x="502920" y="5824728"/>
            <a:ext cx="11186160" cy="402336"/>
            <a:chOff x="502920" y="5824728"/>
            <a:chExt cx="11186160" cy="402336"/>
          </a:xfrm>
        </p:grpSpPr>
        <p:sp>
          <p:nvSpPr>
            <p:cNvPr id="15" name="TEACH-move-card"/>
            <p:cNvSpPr/>
            <p:nvPr/>
          </p:nvSpPr>
          <p:spPr>
            <a:xfrm>
              <a:off x="502920" y="5824728"/>
              <a:ext cx="11186160" cy="402336"/>
            </a:xfrm>
            <a:prstGeom prst="roundRect">
              <a:avLst>
                <a:gd name="adj" fmla="val 16000"/>
              </a:avLst>
            </a:prstGeom>
            <a:solidFill>
              <a:srgbClr val="E4F0F5"/>
            </a:solidFill>
            <a:ln w="19050">
              <a:solidFill>
                <a:srgbClr val="8CB8C7"/>
              </a:solidFill>
            </a:ln>
          </p:spPr>
          <p:txBody>
            <a:bodyPr/>
            <a:lstStyle/>
            <a:p>
              <a:endParaRPr/>
            </a:p>
          </p:txBody>
        </p:sp>
        <p:sp>
          <p:nvSpPr>
            <p:cNvPr id="16" name="TEACH-move-rule"/>
            <p:cNvSpPr/>
            <p:nvPr/>
          </p:nvSpPr>
          <p:spPr>
            <a:xfrm>
              <a:off x="548640" y="5901172"/>
              <a:ext cx="100584" cy="249448"/>
            </a:xfrm>
            <a:prstGeom prst="roundRect">
              <a:avLst>
                <a:gd name="adj" fmla="val 50000"/>
              </a:avLst>
            </a:prstGeom>
            <a:solidFill>
              <a:srgbClr val="01708C"/>
            </a:solidFill>
            <a:ln>
              <a:noFill/>
            </a:ln>
          </p:spPr>
          <p:txBody>
            <a:bodyPr/>
            <a:lstStyle/>
            <a:p>
              <a:endParaRPr/>
            </a:p>
          </p:txBody>
        </p:sp>
        <p:sp>
          <p:nvSpPr>
            <p:cNvPr id="17" name="TEACH-move-text"/>
            <p:cNvSpPr txBox="1"/>
            <p:nvPr/>
          </p:nvSpPr>
          <p:spPr>
            <a:xfrm>
              <a:off x="822960" y="5824728"/>
              <a:ext cx="10728960" cy="402336"/>
            </a:xfrm>
            <a:prstGeom prst="rect">
              <a:avLst/>
            </a:prstGeom>
            <a:noFill/>
            <a:ln>
              <a:noFill/>
            </a:ln>
          </p:spPr>
          <p:txBody>
            <a:bodyPr wrap="square" lIns="0" tIns="0" rIns="0" bIns="0" anchor="ctr">
              <a:noAutofit/>
            </a:bodyPr>
            <a:lstStyle/>
            <a:p>
              <a:pPr algn="l">
                <a:buNone/>
              </a:pPr>
              <a:r>
                <a:rPr lang="en-US" sz="1200" b="1" dirty="0">
                  <a:solidFill>
                    <a:srgbClr val="01708C"/>
                  </a:solidFill>
                  <a:latin typeface="Arial"/>
                </a:rPr>
                <a:t>CREDIT A CLASSMATE  ·  </a:t>
              </a:r>
              <a:r>
                <a:rPr lang="en-US" sz="1200" dirty="0">
                  <a:solidFill>
                    <a:srgbClr val="13303A"/>
                  </a:solidFill>
                  <a:latin typeface="Arial"/>
                </a:rPr>
                <a:t>Name one classmate whose idea helped you today, and say what they said.</a:t>
              </a:r>
              <a:endParaRPr lang="en-US" sz="1200"/>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3-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ANOTHER PATHWAY  ·  </a:t>
            </a:r>
            <a:r>
              <a:rPr lang="en-US" sz="2000" b="0" dirty="0">
                <a:solidFill>
                  <a:srgbClr val="13303A"/>
                </a:solidFill>
                <a:latin typeface="Arial"/>
              </a:rPr>
              <a:t>Did anyone get there a different way? Put both pathways side by side and compare.</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12 / 44</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moves</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48510"/>
            <a:ext cx="100584" cy="623620"/>
          </a:xfrm>
          <a:prstGeom prst="roundRect">
            <a:avLst>
              <a:gd name="adj" fmla="val 50000"/>
            </a:avLst>
          </a:prstGeom>
          <a:solidFill>
            <a:srgbClr val="01708C"/>
          </a:solidFill>
          <a:ln>
            <a:noFill/>
          </a:ln>
        </p:spPr>
        <p:txBody>
          <a:bodyPr/>
          <a:lstStyle/>
          <a:p>
            <a:endParaRPr/>
          </a:p>
        </p:txBody>
      </p:sp>
      <p:sp>
        <p:nvSpPr>
          <p:cNvPr id="9" name="TEACH-2-student-move"/>
          <p:cNvSpPr txBox="1"/>
          <p:nvPr/>
        </p:nvSpPr>
        <p:spPr>
          <a:xfrm>
            <a:off x="1005840" y="2057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USE YOUR TOOLS  ·  </a:t>
            </a:r>
            <a:r>
              <a:rPr lang="en-US" sz="2000" b="0" dirty="0">
                <a:solidFill>
                  <a:srgbClr val="13303A"/>
                </a:solidFill>
                <a:latin typeface="Arial"/>
              </a:rPr>
              <a:t>Reach for your notes, a model, or a manipulative before you reach for an answer.</a:t>
            </a:r>
          </a:p>
        </p:txBody>
      </p:sp>
      <p:sp>
        <p:nvSpPr>
          <p:cNvPr id="10" name="TEACH-move-card"/>
          <p:cNvSpPr/>
          <p:nvPr/>
        </p:nvSpPr>
        <p:spPr>
          <a:xfrm>
            <a:off x="685800" y="3200400"/>
            <a:ext cx="10820400" cy="1005840"/>
          </a:xfrm>
          <a:prstGeom prst="roundRect">
            <a:avLst>
              <a:gd name="adj" fmla="val 12000"/>
            </a:avLst>
          </a:prstGeom>
          <a:solidFill>
            <a:srgbClr val="E4F0F5"/>
          </a:solidFill>
          <a:ln w="19050">
            <a:solidFill>
              <a:srgbClr val="8CB8C7"/>
            </a:solidFill>
          </a:ln>
        </p:spPr>
        <p:txBody>
          <a:bodyPr/>
          <a:lstStyle/>
          <a:p>
            <a:endParaRPr/>
          </a:p>
        </p:txBody>
      </p:sp>
      <p:sp>
        <p:nvSpPr>
          <p:cNvPr id="11" name="TEACH-move-rule"/>
          <p:cNvSpPr/>
          <p:nvPr/>
        </p:nvSpPr>
        <p:spPr>
          <a:xfrm>
            <a:off x="731520" y="3391510"/>
            <a:ext cx="100584" cy="623620"/>
          </a:xfrm>
          <a:prstGeom prst="roundRect">
            <a:avLst>
              <a:gd name="adj" fmla="val 50000"/>
            </a:avLst>
          </a:prstGeom>
          <a:solidFill>
            <a:srgbClr val="01708C"/>
          </a:solidFill>
          <a:ln>
            <a:noFill/>
          </a:ln>
        </p:spPr>
        <p:txBody>
          <a:bodyPr/>
          <a:lstStyle/>
          <a:p>
            <a:endParaRPr/>
          </a:p>
        </p:txBody>
      </p:sp>
      <p:sp>
        <p:nvSpPr>
          <p:cNvPr id="12" name="TEACH-3-student-move"/>
          <p:cNvSpPr txBox="1"/>
          <p:nvPr/>
        </p:nvSpPr>
        <p:spPr>
          <a:xfrm>
            <a:off x="1005840" y="3200400"/>
            <a:ext cx="10271760" cy="100584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ASK THE CLASS  ·  </a:t>
            </a:r>
            <a:r>
              <a:rPr lang="en-US" sz="2000" b="0" dirty="0">
                <a:solidFill>
                  <a:srgbClr val="13303A"/>
                </a:solidFill>
                <a:latin typeface="Arial"/>
              </a:rPr>
              <a:t>Write one question about this that you could ask the class.</a:t>
            </a:r>
          </a:p>
        </p:txBody>
      </p:sp>
      <p:sp>
        <p:nvSpPr>
          <p:cNvPr id="13"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17 / 44</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5-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TAKE TURNS  ·  </a:t>
            </a:r>
            <a:r>
              <a:rPr lang="en-US" sz="2000" b="0" dirty="0">
                <a:solidFill>
                  <a:srgbClr val="13303A"/>
                </a:solidFill>
                <a:latin typeface="Arial"/>
              </a:rPr>
              <a:t>One explains, one asks a question. Then switch, so both of you talk.</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26 / 44</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EWL-CompanionRule"/>
          <p:cNvSpPr/>
          <p:nvPr/>
        </p:nvSpPr>
        <p:spPr>
          <a:xfrm>
            <a:off x="0" y="0"/>
            <a:ext cx="12192000" cy="118872"/>
          </a:xfrm>
          <a:prstGeom prst="rect">
            <a:avLst/>
          </a:prstGeom>
          <a:solidFill>
            <a:srgbClr val="01708C"/>
          </a:solidFill>
          <a:ln>
            <a:noFill/>
          </a:ln>
        </p:spPr>
        <p:txBody>
          <a:bodyPr/>
          <a:lstStyle/>
          <a:p>
            <a:endParaRPr/>
          </a:p>
        </p:txBody>
      </p:sp>
      <p:sp>
        <p:nvSpPr>
          <p:cNvPr id="3" name="EWL-CompanionEyebrow"/>
          <p:cNvSpPr txBox="1"/>
          <p:nvPr/>
        </p:nvSpPr>
        <p:spPr>
          <a:xfrm>
            <a:off x="685800" y="594360"/>
            <a:ext cx="5410200" cy="274320"/>
          </a:xfrm>
          <a:prstGeom prst="rect">
            <a:avLst/>
          </a:prstGeom>
          <a:noFill/>
          <a:ln>
            <a:noFill/>
          </a:ln>
        </p:spPr>
        <p:txBody>
          <a:bodyPr wrap="square" lIns="0" tIns="0" rIns="0" bIns="0" anchor="ctr">
            <a:noAutofit/>
          </a:bodyPr>
          <a:lstStyle/>
          <a:p>
            <a:pPr algn="l">
              <a:buNone/>
            </a:pPr>
            <a:r>
              <a:rPr lang="en-US" sz="1400" b="1" spc="160" dirty="0">
                <a:solidFill>
                  <a:srgbClr val="01708C"/>
                </a:solidFill>
                <a:latin typeface="Arial"/>
              </a:rPr>
              <a:t>STUDENT MOVES</a:t>
            </a:r>
          </a:p>
        </p:txBody>
      </p:sp>
      <p:sp>
        <p:nvSpPr>
          <p:cNvPr id="4" name="EWL-CompanionLesson"/>
          <p:cNvSpPr txBox="1"/>
          <p:nvPr/>
        </p:nvSpPr>
        <p:spPr>
          <a:xfrm>
            <a:off x="6096000" y="594360"/>
            <a:ext cx="5410200" cy="274320"/>
          </a:xfrm>
          <a:prstGeom prst="rect">
            <a:avLst/>
          </a:prstGeom>
          <a:noFill/>
          <a:ln>
            <a:noFill/>
          </a:ln>
        </p:spPr>
        <p:txBody>
          <a:bodyPr wrap="square" lIns="0" tIns="0" rIns="0" bIns="0" anchor="ctr">
            <a:noAutofit/>
          </a:bodyPr>
          <a:lstStyle/>
          <a:p>
            <a:pPr algn="r">
              <a:buNone/>
            </a:pPr>
            <a:r>
              <a:rPr lang="en-US" sz="1400" b="0" dirty="0">
                <a:solidFill>
                  <a:srgbClr val="5A6670"/>
                </a:solidFill>
                <a:latin typeface="Arial"/>
              </a:rPr>
              <a:t>Lesson 4-5</a:t>
            </a:r>
          </a:p>
        </p:txBody>
      </p:sp>
      <p:sp>
        <p:nvSpPr>
          <p:cNvPr id="5" name="EWL-CompanionTitle"/>
          <p:cNvSpPr txBox="1"/>
          <p:nvPr/>
        </p:nvSpPr>
        <p:spPr>
          <a:xfrm>
            <a:off x="685800" y="868680"/>
            <a:ext cx="10820400" cy="731520"/>
          </a:xfrm>
          <a:prstGeom prst="rect">
            <a:avLst/>
          </a:prstGeom>
          <a:noFill/>
          <a:ln>
            <a:noFill/>
          </a:ln>
        </p:spPr>
        <p:txBody>
          <a:bodyPr wrap="square" lIns="0" tIns="0" rIns="0" bIns="0" anchor="ctr">
            <a:noAutofit/>
          </a:bodyPr>
          <a:lstStyle/>
          <a:p>
            <a:pPr algn="l">
              <a:buNone/>
            </a:pPr>
            <a:r>
              <a:rPr lang="en-US" sz="4000" b="1" dirty="0">
                <a:solidFill>
                  <a:srgbClr val="13303A"/>
                </a:solidFill>
                <a:latin typeface="Arial"/>
              </a:rPr>
              <a:t>Your move</a:t>
            </a:r>
          </a:p>
        </p:txBody>
      </p:sp>
      <p:sp>
        <p:nvSpPr>
          <p:cNvPr id="6" name="EWL-CompanionHair"/>
          <p:cNvSpPr/>
          <p:nvPr/>
        </p:nvSpPr>
        <p:spPr>
          <a:xfrm>
            <a:off x="685800" y="1737360"/>
            <a:ext cx="10820400" cy="19050"/>
          </a:xfrm>
          <a:prstGeom prst="rect">
            <a:avLst/>
          </a:prstGeom>
          <a:solidFill>
            <a:srgbClr val="8CB8C7"/>
          </a:solidFill>
          <a:ln>
            <a:noFill/>
          </a:ln>
        </p:spPr>
        <p:txBody>
          <a:bodyPr/>
          <a:lstStyle/>
          <a:p>
            <a:endParaRPr/>
          </a:p>
        </p:txBody>
      </p:sp>
      <p:sp>
        <p:nvSpPr>
          <p:cNvPr id="7" name="TEACH-move-card"/>
          <p:cNvSpPr/>
          <p:nvPr/>
        </p:nvSpPr>
        <p:spPr>
          <a:xfrm>
            <a:off x="685800" y="2057400"/>
            <a:ext cx="10820400" cy="1188720"/>
          </a:xfrm>
          <a:prstGeom prst="roundRect">
            <a:avLst>
              <a:gd name="adj" fmla="val 12000"/>
            </a:avLst>
          </a:prstGeom>
          <a:solidFill>
            <a:srgbClr val="E4F0F5"/>
          </a:solidFill>
          <a:ln w="19050">
            <a:solidFill>
              <a:srgbClr val="8CB8C7"/>
            </a:solidFill>
          </a:ln>
        </p:spPr>
        <p:txBody>
          <a:bodyPr/>
          <a:lstStyle/>
          <a:p>
            <a:endParaRPr/>
          </a:p>
        </p:txBody>
      </p:sp>
      <p:sp>
        <p:nvSpPr>
          <p:cNvPr id="8" name="TEACH-move-rule"/>
          <p:cNvSpPr/>
          <p:nvPr/>
        </p:nvSpPr>
        <p:spPr>
          <a:xfrm>
            <a:off x="731520" y="2283257"/>
            <a:ext cx="100584" cy="737006"/>
          </a:xfrm>
          <a:prstGeom prst="roundRect">
            <a:avLst>
              <a:gd name="adj" fmla="val 50000"/>
            </a:avLst>
          </a:prstGeom>
          <a:solidFill>
            <a:srgbClr val="01708C"/>
          </a:solidFill>
          <a:ln>
            <a:noFill/>
          </a:ln>
        </p:spPr>
        <p:txBody>
          <a:bodyPr/>
          <a:lstStyle/>
          <a:p>
            <a:endParaRPr/>
          </a:p>
        </p:txBody>
      </p:sp>
      <p:sp>
        <p:nvSpPr>
          <p:cNvPr id="9" name="TEACH-6-student-move"/>
          <p:cNvSpPr txBox="1"/>
          <p:nvPr/>
        </p:nvSpPr>
        <p:spPr>
          <a:xfrm>
            <a:off x="1005840" y="2057400"/>
            <a:ext cx="10271760" cy="1188720"/>
          </a:xfrm>
          <a:prstGeom prst="rect">
            <a:avLst/>
          </a:prstGeom>
          <a:noFill/>
          <a:ln>
            <a:noFill/>
          </a:ln>
        </p:spPr>
        <p:txBody>
          <a:bodyPr wrap="square" lIns="0" tIns="0" rIns="0" bIns="0" anchor="ctr">
            <a:noAutofit/>
          </a:bodyPr>
          <a:lstStyle/>
          <a:p>
            <a:pPr algn="l">
              <a:buNone/>
            </a:pPr>
            <a:r>
              <a:rPr lang="en-US" sz="2000" b="1" dirty="0">
                <a:solidFill>
                  <a:srgbClr val="01708C"/>
                </a:solidFill>
                <a:latin typeface="Arial"/>
              </a:rPr>
              <a:t>YOU KNOW THE ROUTINE  ·  </a:t>
            </a:r>
            <a:r>
              <a:rPr lang="en-US" sz="2000" b="0" dirty="0">
                <a:solidFill>
                  <a:srgbClr val="13303A"/>
                </a:solidFill>
                <a:latin typeface="Arial"/>
              </a:rPr>
              <a:t>Read  →  plan  →  solve  →  check. Do all four, in that order.</a:t>
            </a:r>
          </a:p>
        </p:txBody>
      </p:sp>
      <p:sp>
        <p:nvSpPr>
          <p:cNvPr id="10" name="EWL-SlideNumber"/>
          <p:cNvSpPr txBox="1"/>
          <p:nvPr/>
        </p:nvSpPr>
        <p:spPr>
          <a:xfrm>
            <a:off x="5577840" y="6492240"/>
            <a:ext cx="1033272" cy="256032"/>
          </a:xfrm>
          <a:prstGeom prst="rect">
            <a:avLst/>
          </a:prstGeom>
          <a:noFill/>
          <a:ln>
            <a:noFill/>
          </a:ln>
        </p:spPr>
        <p:txBody>
          <a:bodyPr wrap="square" lIns="0" tIns="0" rIns="0" bIns="0" anchor="ctr">
            <a:noAutofit/>
          </a:bodyPr>
          <a:lstStyle/>
          <a:p>
            <a:pPr algn="ctr">
              <a:buNone/>
            </a:pPr>
            <a:r>
              <a:rPr lang="en-US" sz="1100" b="0" dirty="0">
                <a:solidFill>
                  <a:srgbClr val="5D6872"/>
                </a:solidFill>
                <a:latin typeface="Arial"/>
              </a:rPr>
              <a:t>29 / 44</a:t>
            </a: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itle Slide">
  <a:themeElements>
    <a:clrScheme name="Marquee">
      <a:dk1>
        <a:srgbClr val="000000"/>
      </a:dk1>
      <a:lt1>
        <a:srgbClr val="FFFFFF"/>
      </a:lt1>
      <a:dk2>
        <a:srgbClr val="5E5E5E"/>
      </a:dk2>
      <a:lt2>
        <a:srgbClr val="DDDDDD"/>
      </a:lt2>
      <a:accent1>
        <a:srgbClr val="418AB3"/>
      </a:accent1>
      <a:accent2>
        <a:srgbClr val="A6B727"/>
      </a:accent2>
      <a:accent3>
        <a:srgbClr val="F69200"/>
      </a:accent3>
      <a:accent4>
        <a:srgbClr val="838383"/>
      </a:accent4>
      <a:accent5>
        <a:srgbClr val="FEC306"/>
      </a:accent5>
      <a:accent6>
        <a:srgbClr val="DF5327"/>
      </a:accent6>
      <a:hlink>
        <a:srgbClr val="F59E00"/>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2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Reveal Math Grade 6 · Lesson 4.5 — Determine the Whole Given the Part and Percent</dc:title>
  <dc:creator>Neft Teacher</dc:creator>
  <cp:lastModifiedBy>Neft Teacher</cp:lastModifiedBy>
  <dcterms:created xsi:type="dcterms:W3CDTF">2026-09-30T12:04:43Z</dcterms:created>
  <dcterms:modified xsi:type="dcterms:W3CDTF">2026-09-30T12:04:43Z</dcterms:modified>
</cp:coreProperties>
</file>