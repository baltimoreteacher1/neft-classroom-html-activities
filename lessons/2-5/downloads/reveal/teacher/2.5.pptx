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30.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6.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8" r:id="rId22"/>
    <p:sldId id="269" r:id="rId23"/>
    <p:sldId id="256" r:id="rId10"/>
    <p:sldId id="257" r:id="rId11"/>
    <p:sldId id="260" r:id="rId14"/>
    <p:sldId id="346" r:id="rId88"/>
    <p:sldId id="345" r:id="rId48"/>
    <p:sldId id="344" r:id="rId47"/>
    <p:sldId id="343" r:id="rId46"/>
    <p:sldId id="342" r:id="rId45"/>
    <p:sldId id="341" r:id="rId44"/>
    <p:sldId id="340" r:id="rId35"/>
    <p:sldId id="261" r:id="rId15"/>
    <p:sldId id="271" r:id="rId25"/>
    <p:sldId id="272" r:id="rId26"/>
    <p:sldId id="274" r:id="rId28"/>
    <p:sldId id="278" r:id="rId32"/>
    <p:sldId id="350" r:id="rId92"/>
    <p:sldId id="285" r:id="rId39"/>
    <p:sldId id="289" r:id="rId43"/>
    <p:sldId id="296" r:id="rId50"/>
    <p:sldId id="301" r:id="rId55"/>
    <p:sldId id="347" r:id="rId89"/>
    <p:sldId id="339" r:id="rId42"/>
    <p:sldId id="338" r:id="rId41"/>
    <p:sldId id="337" r:id="rId40"/>
    <p:sldId id="332" r:id="rId86"/>
    <p:sldId id="351" r:id="rId93"/>
    <p:sldId id="333" r:id="rId87"/>
    <p:sldId id="302" r:id="rId56"/>
    <p:sldId id="304" r:id="rId58"/>
    <p:sldId id="306" r:id="rId60"/>
    <p:sldId id="316" r:id="rId70"/>
    <p:sldId id="321" r:id="rId75"/>
    <p:sldId id="327" r:id="rId81"/>
    <p:sldId id="328" r:id="rId82"/>
    <p:sldId id="348" r:id="rId90"/>
    <p:sldId id="336" r:id="rId36"/>
    <p:sldId id="335" r:id="rId38"/>
    <p:sldId id="334" r:id="rId37"/>
    <p:sldId id="329" r:id="rId83"/>
    <p:sldId id="352" r:id="rId94"/>
    <p:sldId id="330" r:id="rId84"/>
    <p:sldId id="331" r:id="rId85"/>
    <p:sldId id="349" r:id="rId91"/>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CDBB52-3490-4E34-ACA0-1958260A64F7}">
  <a:tblStyle styleId="{60CDBB52-3490-4E34-ACA0-1958260A64F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4.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5.xml"/><Relationship Id="rId26" Type="http://schemas.openxmlformats.org/officeDocument/2006/relationships/slide" Target="slides/slide16.xml"/><Relationship Id="rId28" Type="http://schemas.openxmlformats.org/officeDocument/2006/relationships/slide" Target="slides/slide17.xml"/><Relationship Id="rId32" Type="http://schemas.openxmlformats.org/officeDocument/2006/relationships/slide" Target="slides/slide18.xml"/><Relationship Id="rId35" Type="http://schemas.openxmlformats.org/officeDocument/2006/relationships/slide" Target="slides/slide13.xml"/><Relationship Id="rId36" Type="http://schemas.openxmlformats.org/officeDocument/2006/relationships/slide" Target="slides/slide37.xml"/><Relationship Id="rId37" Type="http://schemas.openxmlformats.org/officeDocument/2006/relationships/slide" Target="slides/slide39.xml"/><Relationship Id="rId38" Type="http://schemas.openxmlformats.org/officeDocument/2006/relationships/slide" Target="slides/slide38.xml"/><Relationship Id="rId39" Type="http://schemas.openxmlformats.org/officeDocument/2006/relationships/slide" Target="slides/slide19.xml"/><Relationship Id="rId40" Type="http://schemas.openxmlformats.org/officeDocument/2006/relationships/slide" Target="slides/slide26.xml"/><Relationship Id="rId41" Type="http://schemas.openxmlformats.org/officeDocument/2006/relationships/slide" Target="slides/slide25.xml"/><Relationship Id="rId42" Type="http://schemas.openxmlformats.org/officeDocument/2006/relationships/slide" Target="slides/slide24.xml"/><Relationship Id="rId43" Type="http://schemas.openxmlformats.org/officeDocument/2006/relationships/slide" Target="slides/slide20.xml"/><Relationship Id="rId44" Type="http://schemas.openxmlformats.org/officeDocument/2006/relationships/slide" Target="slides/slide12.xml"/><Relationship Id="rId45" Type="http://schemas.openxmlformats.org/officeDocument/2006/relationships/slide" Target="slides/slide11.xml"/><Relationship Id="rId46" Type="http://schemas.openxmlformats.org/officeDocument/2006/relationships/slide" Target="slides/slide10.xml"/><Relationship Id="rId47" Type="http://schemas.openxmlformats.org/officeDocument/2006/relationships/slide" Target="slides/slide9.xml"/><Relationship Id="rId48" Type="http://schemas.openxmlformats.org/officeDocument/2006/relationships/slide" Target="slides/slide8.xml"/><Relationship Id="rId50" Type="http://schemas.openxmlformats.org/officeDocument/2006/relationships/slide" Target="slides/slide21.xml"/><Relationship Id="rId55" Type="http://schemas.openxmlformats.org/officeDocument/2006/relationships/slide" Target="slides/slide22.xml"/><Relationship Id="rId56" Type="http://schemas.openxmlformats.org/officeDocument/2006/relationships/slide" Target="slides/slide29.xml"/><Relationship Id="rId58" Type="http://schemas.openxmlformats.org/officeDocument/2006/relationships/slide" Target="slides/slide30.xml"/><Relationship Id="rId60" Type="http://schemas.openxmlformats.org/officeDocument/2006/relationships/slide" Target="slides/slide31.xml"/><Relationship Id="rId70" Type="http://schemas.openxmlformats.org/officeDocument/2006/relationships/slide" Target="slides/slide32.xml"/><Relationship Id="rId75" Type="http://schemas.openxmlformats.org/officeDocument/2006/relationships/slide" Target="slides/slide33.xml"/><Relationship Id="rId81" Type="http://schemas.openxmlformats.org/officeDocument/2006/relationships/slide" Target="slides/slide34.xml"/><Relationship Id="rId82" Type="http://schemas.openxmlformats.org/officeDocument/2006/relationships/slide" Target="slides/slide35.xml"/><Relationship Id="rId83" Type="http://schemas.openxmlformats.org/officeDocument/2006/relationships/slide" Target="slides/slide40.xml"/><Relationship Id="rId84" Type="http://schemas.openxmlformats.org/officeDocument/2006/relationships/slide" Target="slides/slide41.xml"/><Relationship Id="rId85" Type="http://schemas.openxmlformats.org/officeDocument/2006/relationships/slide" Target="slides/slide42.xml"/><Relationship Id="rId86" Type="http://schemas.openxmlformats.org/officeDocument/2006/relationships/slide" Target="slides/slide27.xml"/><Relationship Id="rId87" Type="http://schemas.openxmlformats.org/officeDocument/2006/relationships/slide" Target="slides/slide28.xml"/><Relationship Id="rId88" Type="http://schemas.openxmlformats.org/officeDocument/2006/relationships/slide" Target="slides/slide7.xml"/><Relationship Id="rId89" Type="http://schemas.openxmlformats.org/officeDocument/2006/relationships/slide" Target="slides/slide23.xml"/><Relationship Id="rId90" Type="http://schemas.openxmlformats.org/officeDocument/2006/relationships/slide" Target="slides/slide36.xml"/><Relationship Id="rId91" Type="http://schemas.openxmlformats.org/officeDocument/2006/relationships/slide" Target="slides/slide43.xml"/><Relationship Id="rId92" Type="http://schemas.openxmlformats.org/officeDocument/2006/relationships/slide" Target="slides/slide44.xml"/><Relationship Id="rId93" Type="http://schemas.openxmlformats.org/officeDocument/2006/relationships/slide" Target="slides/slide45.xml"/><Relationship Id="rId94"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4 | DIVIDER</a:t>
            </a:r>
          </a:p>
          <a:p xmlns:a="http://schemas.openxmlformats.org/drawingml/2006/main">
            <a:pPr>
              <a:buNone/>
            </a:pPr>
            <a:r>
              <a:rPr lang="en-US" sz="1100"/>
              <a:t>Focus on the existing task: Describe Data by Range and Interquartile Range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5 | WORKED</a:t>
            </a:r>
          </a:p>
          <a:p xmlns:a="http://schemas.openxmlformats.org/drawingml/2006/main">
            <a:pPr>
              <a:buNone/>
            </a:pPr>
            <a:r>
              <a:rPr lang="en-US" sz="1100"/>
              <a:t>Focus on the existing task: Use all the numbers in any order with any operation to equal the target number (in red). Give Me Five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1 | WARMUP</a:t>
            </a:r>
          </a:p>
          <a:p xmlns:a="http://schemas.openxmlformats.org/drawingml/2006/main">
            <a:pPr>
              <a:buNone/>
            </a:pPr>
            <a:r>
              <a:rPr lang="en-US" sz="1100"/>
              <a:t>Focus on the existing task: Warm-Up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19   2) 353   3) 8   4) 20 − 6</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distinguish full spread from middle-half spread; compute range and IQR; interpret units. Review recent work and today’s warm-up to choose flexible groups and access supports; do not infer needs from identity or perceived ability. Use the existing lesson tasks and stated standards.</a:t>
            </a:r>
          </a:p>
          <a:p>
            <a:pPr>
              <a:buNone/>
            </a:pPr>
            <a:r>
              <a:rPr lang="en-US" sz="1100"/>
              <a:t>Anticipate: using the median as a measure of spread. If observed, label minimum, Q1, Q3 and maximum on the existing box plots.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6 | GOAL</a:t>
            </a:r>
          </a:p>
          <a:p xmlns:a="http://schemas.openxmlformats.org/drawingml/2006/main">
            <a:pPr>
              <a:buNone/>
            </a:pPr>
            <a:r>
              <a:rPr lang="en-US" sz="1100"/>
              <a:t>Focus on the existing task: Today’s Objectives Describe Data by Range…</a:t>
            </a:r>
          </a:p>
          <a:p xmlns:a="http://schemas.openxmlformats.org/drawingml/2006/main">
            <a:pPr>
              <a:buNone/>
            </a:pPr>
            <a:r>
              <a:rPr lang="en-US" sz="1100"/>
              <a:t>CONNECT (T1/4): Ask students to restate the displayed goal or key idea and connect it to earlier work. Relevant lesson evidence: distinguish full spread from middle-half spread; compute range and IQR; interpret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distinguish full spread from middle-half spread; compute range and IQR; interpret units.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14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2 | NOTES</a:t>
            </a:r>
          </a:p>
          <a:p xmlns:a="http://schemas.openxmlformats.org/drawingml/2006/main">
            <a:pPr>
              <a:buNone/>
            </a:pPr>
            <a:r>
              <a:rPr lang="en-US" sz="1100"/>
              <a:t>Focus on the existing task: Today’s Math Notes Section 1: Math Words…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98" name="Google Shape;498;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3 | NOTES</a:t>
            </a:r>
          </a:p>
          <a:p xmlns:a="http://schemas.openxmlformats.org/drawingml/2006/main">
            <a:pPr>
              <a:buNone/>
            </a:pPr>
            <a:r>
              <a:rPr lang="en-US" sz="1100"/>
              <a:t>Focus on the existing task: Today’s Math Notes Section 2: Today’s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6" name="Google Shape;526;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15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64" name="Google Shape;564;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16 | TASK</a:t>
            </a:r>
          </a:p>
          <a:p xmlns:a="http://schemas.openxmlformats.org/drawingml/2006/main">
            <a:pPr>
              <a:buNone/>
            </a:pPr>
            <a:r>
              <a:rPr lang="en-US" sz="1100"/>
              <a:t>Focus on the existing task: How can you describe the data set?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values determine the range and which determine the IQR? Why might the two comparisons tell different stories?” Wait for evidence, invite another pathway, and have a student ask a follow-up question. Do not replace students’ reasoning with a sequence of leading steps.</a:t>
            </a:r>
          </a:p>
        </p:txBody>
      </p:sp>
      <p:sp>
        <p:nvSpPr>
          <p:cNvPr id="575" name="Google Shape;575;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17 | REVEAL</a:t>
            </a:r>
          </a:p>
          <a:p xmlns:a="http://schemas.openxmlformats.org/drawingml/2006/main">
            <a:pPr>
              <a:buNone/>
            </a:pPr>
            <a:r>
              <a:rPr lang="en-US" sz="1100"/>
              <a:t>Focus on the existing task: What are some ways you can describe a data distribution?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594" name="Google Shape;594;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18 | REVEAL</a:t>
            </a:r>
          </a:p>
          <a:p xmlns:a="http://schemas.openxmlformats.org/drawingml/2006/main">
            <a:pPr>
              <a:buNone/>
            </a:pPr>
            <a:r>
              <a:rPr lang="en-US" sz="1100"/>
              <a:t>Focus on the existing task: One way to describe the data is by its variability, or by how much the values in the data set vary. What do you think variability means in the context of a data distribution?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means how different the data values are from one another; whether the values are somewhat similar (close together) or very different (spread apart).</a:t>
            </a:r>
          </a:p>
          <a:p>
            <a:pPr indent="0" lvl="0" marL="0" rtl="0" algn="l">
              <a:lnSpc>
                <a:spcPct val="100000"/>
              </a:lnSpc>
              <a:spcBef>
                <a:spcPts val="0"/>
              </a:spcBef>
              <a:spcAft>
                <a:spcPts val="0"/>
              </a:spcAft>
              <a:buSzPts val="1400"/>
              <a:buNone/>
            </a:pPr>
            <a:r>
              <a:t>UIFR: TEACH 3 · TEACH 4.</a:t>
            </a:r>
          </a:p>
        </p:txBody>
      </p:sp>
      <p:sp>
        <p:nvSpPr>
          <p:cNvPr id="627" name="Google Shape;627;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19 | TASK</a:t>
            </a:r>
          </a:p>
          <a:p xmlns:a="http://schemas.openxmlformats.org/drawingml/2006/main">
            <a:pPr>
              <a:buNone/>
            </a:pPr>
            <a:r>
              <a:rPr lang="en-US" sz="1100"/>
              <a:t>Focus on the existing task: Let’s find the difference between the greatest and least values, or the range, to determine the variability of the data set. Think About It: Where have you heard or used the word distribution before?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88" name="Google Shape;688;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20 | REVEAL</a:t>
            </a:r>
          </a:p>
          <a:p xmlns:a="http://schemas.openxmlformats.org/drawingml/2006/main">
            <a:pPr>
              <a:buNone/>
            </a:pPr>
            <a:r>
              <a:rPr lang="en-US" sz="1100"/>
              <a:t>Focus on the existing task: Let’s create a box plot to analyze the data set. Reveal: We need to find the lower extreme, first quartile, median, third quartile, and upper extreme. What five markers do you need to create the box plot?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find the lower extreme, first quartile, median, third quartile, and upper extreme.</a:t>
            </a:r>
          </a:p>
          <a:p>
            <a:pPr indent="0" lvl="0" marL="0" rtl="0" algn="l">
              <a:lnSpc>
                <a:spcPct val="100000"/>
              </a:lnSpc>
              <a:spcBef>
                <a:spcPts val="0"/>
              </a:spcBef>
              <a:spcAft>
                <a:spcPts val="0"/>
              </a:spcAft>
              <a:buSzPts val="1400"/>
              <a:buNone/>
            </a:pPr>
            <a:r>
              <a:t>UIFR: TEACH 3 · TEACH 4.</a:t>
            </a:r>
          </a:p>
        </p:txBody>
      </p:sp>
      <p:sp>
        <p:nvSpPr>
          <p:cNvPr id="724" name="Google Shape;724;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21 | WORKED</a:t>
            </a:r>
          </a:p>
          <a:p xmlns:a="http://schemas.openxmlformats.org/drawingml/2006/main">
            <a:pPr>
              <a:buNone/>
            </a:pPr>
            <a:r>
              <a:rPr lang="en-US" sz="1100"/>
              <a:t>Focus on the existing task: Let’s find the interquartile range (IQR) of this data set.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85" name="Google Shape;785;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22 | PRACTICE</a:t>
            </a:r>
          </a:p>
          <a:p xmlns:a="http://schemas.openxmlformats.org/drawingml/2006/main">
            <a:pPr>
              <a:buNone/>
            </a:pPr>
            <a:r>
              <a:rPr lang="en-US" sz="1100"/>
              <a:t>Focus on the existing task: Let’s Explore More Workspace If the median describes the center of a data set, what does the interquartile range describe?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the median as a measure of spread. If it appears, label minimum, Q1, Q3 and maximum on the existing box plots; then ask the student to revise the same response and explain the change. If evidence is secure, have students compare a second valid pathway or state why their approach works. Choose the next step from the responses, not a preset pace.</a:t>
            </a:r>
          </a:p>
        </p:txBody>
      </p:sp>
      <p:sp>
        <p:nvSpPr>
          <p:cNvPr id="838" name="Google Shape;838;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29 | DIVIDER</a:t>
            </a:r>
          </a:p>
          <a:p xmlns:a="http://schemas.openxmlformats.org/drawingml/2006/main">
            <a:pPr>
              <a:buNone/>
            </a:pPr>
            <a:r>
              <a:rPr lang="en-US" sz="1100"/>
              <a:t>Focus on the existing task: Describe Data by Range and Interquartile Range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49" name="Google Shape;849;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30 | CURIOUS</a:t>
            </a:r>
          </a:p>
          <a:p xmlns:a="http://schemas.openxmlformats.org/drawingml/2006/main">
            <a:pPr>
              <a:buNone/>
            </a:pPr>
            <a:r>
              <a:rPr lang="en-US" sz="1100"/>
              <a:t>Focus on the existing task: The median is exactly in the middle of the first and third quartiles. Is it always true?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867" name="Google Shape;867;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31 | TASK</a:t>
            </a:r>
          </a:p>
          <a:p xmlns:a="http://schemas.openxmlformats.org/drawingml/2006/main">
            <a:pPr>
              <a:buNone/>
            </a:pPr>
            <a:r>
              <a:rPr lang="en-US" sz="1100"/>
              <a:t>Focus on the existing task: Which class scored better overall on the test?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values determine the range and which determine the IQR? Why might the two comparisons tell different stories?” Wait for evidence, invite another pathway, and have a student ask a follow-up question. Do not replace students’ reasoning with a sequence of leading steps.</a:t>
            </a:r>
          </a:p>
        </p:txBody>
      </p:sp>
      <p:sp>
        <p:nvSpPr>
          <p:cNvPr id="890" name="Google Shape;890;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32 | REVEAL</a:t>
            </a:r>
          </a:p>
          <a:p xmlns:a="http://schemas.openxmlformats.org/drawingml/2006/main">
            <a:pPr>
              <a:buNone/>
            </a:pPr>
            <a:r>
              <a:rPr lang="en-US" sz="1100"/>
              <a:t>Focus on the existing task: Range of Class B: 20 Range of Class A: 28 Reveal: The range for Class A is 28, which is greater than that for Class B, which is 20. How do the ranges of Class A and Class B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988" name="Google Shape;988;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33 | REVEAL</a:t>
            </a:r>
          </a:p>
          <a:p xmlns:a="http://schemas.openxmlformats.org/drawingml/2006/main">
            <a:pPr>
              <a:buNone/>
            </a:pPr>
            <a:r>
              <a:rPr lang="en-US" sz="1100"/>
              <a:t>Focus on the existing task: How do the interquartile ranges of Class A and Class B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1040" name="Google Shape;1040;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7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34 | PRACTICE</a:t>
            </a:r>
          </a:p>
          <a:p xmlns:a="http://schemas.openxmlformats.org/drawingml/2006/main">
            <a:pPr>
              <a:buNone/>
            </a:pPr>
            <a:r>
              <a:rPr lang="en-US" sz="1100"/>
              <a:t>Focus on the existing task: The box plots represent the scores on a recent math test for students in two sixth grade classes. What does the interquartile range describe in the context of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the median as a measure of spread. If it appears, label minimum, Q1, Q3 and maximum on the existing box plots; then ask the student to revise the same response and explain the change. If evidence is secure, have students compare a second valid pathway or state why their approach works. Choose the next step from the responses, not a preset pace.</a:t>
            </a:r>
          </a:p>
        </p:txBody>
      </p:sp>
      <p:sp>
        <p:nvSpPr>
          <p:cNvPr id="1098" name="Google Shape;1098;p7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7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35 | PRACTICE</a:t>
            </a:r>
          </a:p>
          <a:p xmlns:a="http://schemas.openxmlformats.org/drawingml/2006/main">
            <a:pPr>
              <a:buNone/>
            </a:pPr>
            <a:r>
              <a:rPr lang="en-US" sz="1100"/>
              <a:t>Focus on the existing task: The box plots represent the scores on a recent math test for students in two sixth grade classes. Two students, one in Class A and one in…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108" name="Google Shape;1108;p7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7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40 | SUMMARIZE</a:t>
            </a:r>
          </a:p>
          <a:p xmlns:a="http://schemas.openxmlformats.org/drawingml/2006/main">
            <a:pPr>
              <a:buNone/>
            </a:pPr>
            <a:r>
              <a:rPr lang="en-US" sz="1100"/>
              <a:t>Focus on the existing task: The range and interquartile range are measures of variability of a data set. The range is the difference between the greatest value and…</a:t>
            </a:r>
          </a:p>
          <a:p xmlns:a="http://schemas.openxmlformats.org/drawingml/2006/main">
            <a:pPr>
              <a:buNone/>
            </a:pPr>
            <a:r>
              <a:rPr lang="en-US" sz="1100"/>
              <a:t>CONNECT (T1/4): Ask students to restate the displayed goal or key idea and connect it to earlier work. Relevant lesson evidence: distinguish full spread from middle-half spread; compute range and IQR; interpret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118" name="Google Shape;1118;p7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7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41 | APPLY</a:t>
            </a:r>
          </a:p>
          <a:p xmlns:a="http://schemas.openxmlformats.org/drawingml/2006/main">
            <a:pPr>
              <a:buNone/>
            </a:pPr>
            <a:r>
              <a:rPr lang="en-US" sz="1100"/>
              <a:t>Focus on the existing task: The two box plots show the salaries for 15 players on two different professional basketball teams. Question: A basketball player hopes to…</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distinguish full spread from middle-half spread; compute range and IQR; interpret units. Respond with one specific next step tied to the work. Students revise and annotate what changed, then identify a criterion they can now demonstrate and one they still need to practice.</a:t>
            </a:r>
          </a:p>
        </p:txBody>
      </p:sp>
      <p:sp>
        <p:nvSpPr>
          <p:cNvPr id="1127" name="Google Shape;1127;p7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7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2.5, slide 42 | REFLECTION</a:t>
            </a:r>
          </a:p>
          <a:p xmlns:a="http://schemas.openxmlformats.org/drawingml/2006/main">
            <a:pPr>
              <a:buNone/>
            </a:pPr>
            <a:r>
              <a:rPr lang="en-US" sz="1100"/>
              <a:t>Focus on the existing task: I can use the interquartile range to describe the variability in a data set. I can use repeated reasoning to compare two data sets…</a:t>
            </a:r>
          </a:p>
          <a:p xmlns:a="http://schemas.openxmlformats.org/drawingml/2006/main">
            <a:pPr>
              <a:buNone/>
            </a:pPr>
            <a:r>
              <a:rPr lang="en-US" sz="1100"/>
              <a:t>CONNECT (T1/4): Ask students to restate the displayed goal or key idea and connect it to earlier work. Relevant lesson evidence: distinguish full spread from middle-half spread; compute range and IQR; interpret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using the median as a measure of spread.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minimum, Q1, Q3 and maximum on the existing box plots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1135" name="Google Shape;1135;p7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2.5, slide 27 | WARMUP</a:t>
            </a:r>
          </a:p>
          <a:p xmlns:a="http://schemas.openxmlformats.org/drawingml/2006/main">
            <a:pPr>
              <a:buNone/>
            </a:pPr>
            <a:r>
              <a:rPr lang="en-US" sz="1100"/>
              <a:t>Focus on the existing task: A Max + Min B Max − Min C Q3 − Q1 D Mean ÷ 2 2 How is the interquartile range (IQR) calculated?</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distinguish full spread from middle-half spread; compute range and IQR; interpret units. Ask: “Which part of your work would show this?” Revisit that evidence after the task; a confidence rating alone is not evidence of understanding.</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2.5, slide 28 | NOTES</a:t>
            </a:r>
          </a:p>
          <a:p xmlns:a="http://schemas.openxmlformats.org/drawingml/2006/main">
            <a:pPr>
              <a:buNone/>
            </a:pPr>
            <a:r>
              <a:rPr lang="en-US" sz="1100"/>
              <a:t>Focus on the existing task: Review Notes Review Notes — Session 2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7 | PRIOR_INSERT</a:t>
            </a:r>
          </a:p>
          <a:p xmlns:a="http://schemas.openxmlformats.org/drawingml/2006/main">
            <a:pPr>
              <a:buNone/>
            </a:pPr>
            <a:r>
              <a:rPr lang="en-US" sz="1100"/>
              <a:t>Focus on the existing task: LESSON 2.5 / OUR LEARNING What will show your learning?</a:t>
            </a:r>
          </a:p>
          <a:p xmlns:a="http://schemas.openxmlformats.org/drawingml/2006/main">
            <a:pPr>
              <a:buNone/>
            </a:pPr>
            <a:r>
              <a:rPr lang="en-US" sz="1100"/>
              <a:t>CONNECT (T1/4): Ask students to restate the displayed goal or key idea and connect it to earlier work. Relevant lesson evidence: distinguish full spread from middle-half spread; compute range and IQR; interpret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8 | VOCAB</a:t>
            </a:r>
          </a:p>
          <a:p xmlns:a="http://schemas.openxmlformats.org/drawingml/2006/main">
            <a:pPr>
              <a:buNone/>
            </a:pPr>
            <a:r>
              <a:rPr lang="en-US" sz="1100"/>
              <a:t>Focus on the existing task: Vocabulary 1 of 6 Range and Interquartile…</a:t>
            </a:r>
          </a:p>
          <a:p xmlns:a="http://schemas.openxmlformats.org/drawingml/2006/main">
            <a:pPr>
              <a:buNone/>
            </a:pPr>
            <a:r>
              <a:rPr lang="en-US" sz="1100"/>
              <a:t>ASK (T1/3/5): Where does “Range and Interquartile Range”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9 | VOCAB</a:t>
            </a:r>
          </a:p>
          <a:p xmlns:a="http://schemas.openxmlformats.org/drawingml/2006/main">
            <a:pPr>
              <a:buNone/>
            </a:pPr>
            <a:r>
              <a:rPr lang="en-US" sz="1100"/>
              <a:t>Focus on the existing task: Vocabulary 2 of 6 Range The distance from…</a:t>
            </a:r>
          </a:p>
          <a:p xmlns:a="http://schemas.openxmlformats.org/drawingml/2006/main">
            <a:pPr>
              <a:buNone/>
            </a:pPr>
            <a:r>
              <a:rPr lang="en-US" sz="1100"/>
              <a:t>ASK (T1/3/5): Where does “Range”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10 | VOCAB</a:t>
            </a:r>
          </a:p>
          <a:p xmlns:a="http://schemas.openxmlformats.org/drawingml/2006/main">
            <a:pPr>
              <a:buNone/>
            </a:pPr>
            <a:r>
              <a:rPr lang="en-US" sz="1100"/>
              <a:t>Focus on the existing task: Vocabulary 3 of 6 Quartile One of the three…</a:t>
            </a:r>
          </a:p>
          <a:p xmlns:a="http://schemas.openxmlformats.org/drawingml/2006/main">
            <a:pPr>
              <a:buNone/>
            </a:pPr>
            <a:r>
              <a:rPr lang="en-US" sz="1100"/>
              <a:t>ASK (T1/3/5): Where does “Quartile”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11 | VOCAB</a:t>
            </a:r>
          </a:p>
          <a:p xmlns:a="http://schemas.openxmlformats.org/drawingml/2006/main">
            <a:pPr>
              <a:buNone/>
            </a:pPr>
            <a:r>
              <a:rPr lang="en-US" sz="1100"/>
              <a:t>Focus on the existing task: Vocabulary 4 of 6 Interquartile range The…</a:t>
            </a:r>
          </a:p>
          <a:p xmlns:a="http://schemas.openxmlformats.org/drawingml/2006/main">
            <a:pPr>
              <a:buNone/>
            </a:pPr>
            <a:r>
              <a:rPr lang="en-US" sz="1100"/>
              <a:t>ASK (T1/3/5): Where does “Interquartile range”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12 | VOCAB</a:t>
            </a:r>
          </a:p>
          <a:p xmlns:a="http://schemas.openxmlformats.org/drawingml/2006/main">
            <a:pPr>
              <a:buNone/>
            </a:pPr>
            <a:r>
              <a:rPr lang="en-US" sz="1100"/>
              <a:t>Focus on the existing task: Vocabulary 5 of 6 Variability How much the…</a:t>
            </a:r>
          </a:p>
          <a:p xmlns:a="http://schemas.openxmlformats.org/drawingml/2006/main">
            <a:pPr>
              <a:buNone/>
            </a:pPr>
            <a:r>
              <a:rPr lang="en-US" sz="1100"/>
              <a:t>ASK (T1/3/5): Where does “Variability”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13 | VOCAB</a:t>
            </a:r>
          </a:p>
          <a:p xmlns:a="http://schemas.openxmlformats.org/drawingml/2006/main">
            <a:pPr>
              <a:buNone/>
            </a:pPr>
            <a:r>
              <a:rPr lang="en-US" sz="1100"/>
              <a:t>Focus on the existing task: Vocabulary 6 of 6 Measure of variation A…</a:t>
            </a:r>
          </a:p>
          <a:p xmlns:a="http://schemas.openxmlformats.org/drawingml/2006/main">
            <a:pPr>
              <a:buNone/>
            </a:pPr>
            <a:r>
              <a:rPr lang="en-US" sz="1100"/>
              <a:t>ASK (T1/3/5): Where does “Measure of variation”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23 | PRIOR_INSERT</a:t>
            </a:r>
          </a:p>
          <a:p xmlns:a="http://schemas.openxmlformats.org/drawingml/2006/main">
            <a:pPr>
              <a:buNone/>
            </a:pPr>
            <a:r>
              <a:rPr lang="en-US" sz="1100"/>
              <a:t>Focus on the existing task: Why might the two comparisons tell different stories?</a:t>
            </a:r>
          </a:p>
          <a:p xmlns:a="http://schemas.openxmlformats.org/drawingml/2006/main">
            <a:pPr>
              <a:buNone/>
            </a:pPr>
            <a:r>
              <a:rPr lang="en-US" sz="1100"/>
              <a:t>CONNECT (T1/4): Ask students to restate the displayed goal or key idea and connect it to earlier work. Relevant lesson evidence: distinguish full spread from middle-half spread; compute range and IQR; interpret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24 | REVEAL</a:t>
            </a:r>
          </a:p>
          <a:p xmlns:a="http://schemas.openxmlformats.org/drawingml/2006/main">
            <a:pPr>
              <a:buNone/>
            </a:pPr>
            <a:r>
              <a:rPr lang="en-US" sz="1100"/>
              <a:t>Focus on the existing task: How might you organize the data to help you see the variability?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25 | REVEAL</a:t>
            </a:r>
          </a:p>
          <a:p xmlns:a="http://schemas.openxmlformats.org/drawingml/2006/main">
            <a:pPr>
              <a:buNone/>
            </a:pPr>
            <a:r>
              <a:rPr lang="en-US" sz="1100"/>
              <a:t>Focus on the existing task: What tool can you use to further analyze the distribution of a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26 | REVEAL</a:t>
            </a:r>
          </a:p>
          <a:p xmlns:a="http://schemas.openxmlformats.org/drawingml/2006/main">
            <a:pPr>
              <a:buNone/>
            </a:pPr>
            <a:r>
              <a:rPr lang="en-US" sz="1100"/>
              <a:t>Focus on the existing task: How can you determine the spread of the values in the middle half of the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full spread from middle-half spread.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36 | PRIOR_INSERT</a:t>
            </a:r>
          </a:p>
          <a:p xmlns:a="http://schemas.openxmlformats.org/drawingml/2006/main">
            <a:pPr>
              <a:buNone/>
            </a:pPr>
            <a:r>
              <a:rPr lang="en-US" sz="1100"/>
              <a:t>Focus on the existing task: LESSON 2.5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distinguish full spread from middle-half spread; compute range and IQR; interpret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37 | REVEAL</a:t>
            </a:r>
          </a:p>
          <a:p xmlns:a="http://schemas.openxmlformats.org/drawingml/2006/main">
            <a:pPr>
              <a:buNone/>
            </a:pPr>
            <a:r>
              <a:rPr lang="en-US" sz="1100"/>
              <a:t>Focus on the existing task: How can you use the box plot to compare the scores for each class?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38 | REVEAL</a:t>
            </a:r>
          </a:p>
          <a:p xmlns:a="http://schemas.openxmlformats.org/drawingml/2006/main">
            <a:pPr>
              <a:buNone/>
            </a:pPr>
            <a:r>
              <a:rPr lang="en-US" sz="1100"/>
              <a:t>Focus on the existing task: Each class had a median score of 81. Reveal: We can determine how much the data values vary using the range and interquartile range. How can you determine the variability of the data?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39 | REVEAL</a:t>
            </a:r>
          </a:p>
          <a:p xmlns:a="http://schemas.openxmlformats.org/drawingml/2006/main">
            <a:pPr>
              <a:buNone/>
            </a:pPr>
            <a:r>
              <a:rPr lang="en-US" sz="1100"/>
              <a:t>Focus on the existing task: How do the interquartile ranges of Class A and Class B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compute range and IQR. Ask which feature of their work supports the claim.</a:t>
            </a:r>
          </a:p>
          <a:p xmlns:a="http://schemas.openxmlformats.org/drawingml/2006/main">
            <a:pPr>
              <a:buNone/>
            </a:pPr>
            <a:r>
              <a:rPr lang="en-US" sz="1100"/>
              <a:t>RESPOND: If this task shows the lesson misconception—using the median as a measure of spread—label minimum, Q1, Q3 and maximum on the existing box plots.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2.5, slide 43 | PRIOR_INSERT</a:t>
            </a:r>
          </a:p>
          <a:p xmlns:a="http://schemas.openxmlformats.org/drawingml/2006/main">
            <a:pPr>
              <a:buNone/>
            </a:pPr>
            <a:r>
              <a:rPr lang="en-US" sz="1100"/>
              <a:t>Focus on the existing task: LESSON 2.5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distinguish full spread from middle-half spread; compute range and IQR; interpret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3" name="Google Shape;23;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4" name="Google Shape;24;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5" name="Google Shape;25;p4"/>
          <p:cNvSpPr txBox="1"/>
          <p:nvPr/>
        </p:nvSpPr>
        <p:spPr>
          <a:xfrm>
            <a:off x="1352212"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by Range and Interquartile Range</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52212"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by Range and Interquartile Range</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8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8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8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8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8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8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7.png"/><Relationship Id="rId3" Type="http://schemas.openxmlformats.org/officeDocument/2006/relationships/notesSlide" Target="../notesSlides/notesSlide8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 Id="rId3" Type="http://schemas.openxmlformats.org/officeDocument/2006/relationships/notesSlide" Target="../notesSlides/notesSlide8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9.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9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9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9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6.png"/><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2-5 · Describe Data by Range and Interquartile Range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The largest of 12, 7, 19, 4, 15 is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600 − 247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Ordered: 5, 8, 10, 14, 18, 20, 25. Q1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Which spread is larger, 20 − 6 or 15 − 9?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3" name="Google Shape;503;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504" name="Google Shape;504;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06" name="Google Shape;506;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07" name="Google Shape;507;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09" name="Google Shape;509;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2" name="Google Shape;512;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Range and Interquartile Range</a:t>
            </a:r>
            <a:endParaRPr/>
          </a:p>
        </p:txBody>
      </p:sp>
      <p:sp>
        <p:nvSpPr>
          <p:cNvPr id="513" name="Google Shape;513;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Two numbers that describe </a:t>
            </a:r>
            <a:r>
              <a:rPr b="1" i="0" lang="en-US" sz="1450" u="none" cap="none" strike="noStrike">
                <a:solidFill>
                  <a:srgbClr val="475569"/>
                </a:solidFill>
                <a:latin typeface="Arial"/>
                <a:ea typeface="Arial"/>
                <a:cs typeface="Arial"/>
                <a:sym typeface="Arial"/>
              </a:rPr>
              <a:t xml:space="preserve">spread</a:t>
            </a:r>
            <a:endParaRPr/>
          </a:p>
        </p:txBody>
      </p:sp>
      <p:sp>
        <p:nvSpPr>
          <p:cNvPr id="514" name="Google Shape;514;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17" name="Google Shape;517;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Range</a:t>
            </a:r>
            <a:endParaRPr/>
          </a:p>
        </p:txBody>
      </p:sp>
      <p:sp>
        <p:nvSpPr>
          <p:cNvPr id="518" name="Google Shape;518;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distance from the least value to the greatest value</a:t>
            </a:r>
            <a:endParaRPr/>
          </a:p>
        </p:txBody>
      </p:sp>
      <p:sp>
        <p:nvSpPr>
          <p:cNvPr id="519" name="Google Shape;519;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2" name="Google Shape;522;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Quartile</a:t>
            </a:r>
            <a:endParaRPr/>
          </a:p>
        </p:txBody>
      </p:sp>
      <p:sp>
        <p:nvSpPr>
          <p:cNvPr id="523" name="Google Shape;523;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One of the three values</a:t>
            </a:r>
            <a:endParaRPr/>
          </a:p>
        </p:txBody>
      </p:sp>
      <p:sp>
        <p:nvSpPr>
          <p:cNvPr id="5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46</a:t>
            </a:r>
          </a:p>
        </p:txBody>
      </p:sp>
      <p:grpSp>
        <p:nvGrpSpPr>
          <p:cNvPr id="525" name="TEACH-1-student-move" descr="TEACH 1 · Facilitate clear, standards-based content learning"/>
          <p:cNvGrpSpPr/>
          <p:nvPr/>
        </p:nvGrpSpPr>
        <p:grpSpPr>
          <a:xfrm>
            <a:off x="6187440" y="1682496"/>
            <a:ext cx="5501640" cy="594360"/>
            <a:chOff x="6187440" y="1682496"/>
            <a:chExt cx="5501640" cy="594360"/>
          </a:xfrm>
        </p:grpSpPr>
        <p:sp>
          <p:nvSpPr>
            <p:cNvPr id="52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2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2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31" name="Google Shape;531;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532" name="Google Shape;532;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34" name="Google Shape;534;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35" name="Google Shape;535;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7" name="Google Shape;537;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Measures of Variability: Range &amp; IQR</a:t>
            </a:r>
            <a:endParaRPr/>
          </a:p>
        </p:txBody>
      </p:sp>
      <p:sp>
        <p:nvSpPr>
          <p:cNvPr id="539" name="Google Shape;539;p53"/>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1900" u="none" cap="none" strike="noStrike">
                <a:solidFill>
                  <a:srgbClr val="C2410C"/>
                </a:solidFill>
                <a:latin typeface="Arial"/>
                <a:ea typeface="Arial"/>
                <a:cs typeface="Arial"/>
                <a:sym typeface="Arial"/>
              </a:rPr>
              <a:t>Range = Maximum − Minimum</a:t>
            </a:r>
            <a:endParaRPr/>
          </a:p>
        </p:txBody>
      </p:sp>
      <p:sp>
        <p:nvSpPr>
          <p:cNvPr id="541" name="Google Shape;541;p53"/>
          <p:cNvSpPr/>
          <p:nvPr/>
        </p:nvSpPr>
        <p:spPr>
          <a:xfrm>
            <a:off x="466344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txBox="1"/>
          <p:nvPr/>
        </p:nvSpPr>
        <p:spPr>
          <a:xfrm>
            <a:off x="4791455"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IQR = Q3 − Q1</a:t>
            </a:r>
            <a:endParaRPr/>
          </a:p>
        </p:txBody>
      </p:sp>
      <p:sp>
        <p:nvSpPr>
          <p:cNvPr id="543" name="Google Shape;543;p53"/>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4" name="Google Shape;544;p53"/>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5" name="Google Shape;545;p53"/>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Range</a:t>
            </a:r>
            <a:r>
              <a:rPr b="0" i="0" lang="en-US" sz="1600" u="none" cap="none" strike="noStrike">
                <a:solidFill>
                  <a:srgbClr val="14223A"/>
                </a:solidFill>
                <a:latin typeface="Arial"/>
                <a:ea typeface="Arial"/>
                <a:cs typeface="Arial"/>
                <a:sym typeface="Arial"/>
              </a:rPr>
              <a:t xml:space="preserve"> measures the total </a:t>
            </a:r>
            <a:r>
              <a:rPr b="1" i="0" lang="en-US" sz="1600" u="none" cap="none" strike="noStrike">
                <a:solidFill>
                  <a:srgbClr val="14223A"/>
                </a:solidFill>
                <a:latin typeface="Arial"/>
                <a:ea typeface="Arial"/>
                <a:cs typeface="Arial"/>
                <a:sym typeface="Arial"/>
              </a:rPr>
              <a:t xml:space="preserve">spread</a:t>
            </a:r>
            <a:r>
              <a:rPr b="0" i="0" lang="en-US" sz="1600" u="none" cap="none" strike="noStrike">
                <a:solidFill>
                  <a:srgbClr val="14223A"/>
                </a:solidFill>
                <a:latin typeface="Arial"/>
                <a:ea typeface="Arial"/>
                <a:cs typeface="Arial"/>
                <a:sym typeface="Arial"/>
              </a:rPr>
              <a:t xml:space="preserve"> across the entire data set</a:t>
            </a:r>
            <a:endParaRPr/>
          </a:p>
        </p:txBody>
      </p:sp>
      <p:sp>
        <p:nvSpPr>
          <p:cNvPr id="546" name="Google Shape;546;p53"/>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3"/>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8" name="Google Shape;548;p53"/>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IQR</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Interquartile Range</a:t>
            </a:r>
            <a:r>
              <a:rPr b="0" i="0" lang="en-US" sz="1600" u="none" cap="none" strike="noStrike">
                <a:solidFill>
                  <a:srgbClr val="14223A"/>
                </a:solidFill>
                <a:latin typeface="Arial"/>
                <a:ea typeface="Arial"/>
                <a:cs typeface="Arial"/>
                <a:sym typeface="Arial"/>
              </a:rPr>
              <a:t xml:space="preserve">) measures the spread of the middle 50% of data</a:t>
            </a:r>
            <a:endParaRPr/>
          </a:p>
        </p:txBody>
      </p:sp>
      <p:sp>
        <p:nvSpPr>
          <p:cNvPr id="549" name="Google Shape;549;p53"/>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3"/>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51" name="Google Shape;551;p53"/>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Both are non-negative distance measures of </a:t>
            </a:r>
            <a:r>
              <a:rPr b="1" i="0" lang="en-US" sz="1600" u="none" cap="none" strike="noStrike">
                <a:solidFill>
                  <a:srgbClr val="14223A"/>
                </a:solidFill>
                <a:latin typeface="Arial"/>
                <a:ea typeface="Arial"/>
                <a:cs typeface="Arial"/>
                <a:sym typeface="Arial"/>
              </a:rPr>
              <a:t xml:space="preserve">variability</a:t>
            </a:r>
            <a:endParaRPr/>
          </a:p>
        </p:txBody>
      </p:sp>
      <p:sp>
        <p:nvSpPr>
          <p:cNvPr id="5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46</a:t>
            </a:r>
          </a:p>
        </p:txBody>
      </p:sp>
      <p:grpSp>
        <p:nvGrpSpPr>
          <p:cNvPr id="553" name="TEACH-1-student-move" descr="TEACH 1 · Facilitate clear, standards-based content learning"/>
          <p:cNvGrpSpPr/>
          <p:nvPr/>
        </p:nvGrpSpPr>
        <p:grpSpPr>
          <a:xfrm>
            <a:off x="6187440" y="1682496"/>
            <a:ext cx="5501640" cy="594360"/>
            <a:chOff x="6187440" y="1682496"/>
            <a:chExt cx="5501640" cy="594360"/>
          </a:xfrm>
        </p:grpSpPr>
        <p:sp>
          <p:nvSpPr>
            <p:cNvPr id="554"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55"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56"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by Range and Interquartile Range</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46</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241" name="Google Shape;241;p41"/>
          <p:cNvPicPr preferRelativeResize="0"/>
          <p:nvPr/>
        </p:nvPicPr>
        <p:blipFill rotWithShape="1">
          <a:blip r:embed="rId3">
            <a:alphaModFix/>
          </a:blip>
          <a:srcRect b="0" l="0" r="0" t="0"/>
          <a:stretch/>
        </p:blipFill>
        <p:spPr>
          <a:xfrm>
            <a:off x="1691440" y="2398078"/>
            <a:ext cx="6422231" cy="2480310"/>
          </a:xfrm>
          <a:prstGeom prst="rect">
            <a:avLst/>
          </a:prstGeom>
          <a:noFill/>
          <a:ln>
            <a:noFill/>
          </a:ln>
        </p:spPr>
      </p:pic>
      <p:sp>
        <p:nvSpPr>
          <p:cNvPr id="242" name="Google Shape;242;p41"/>
          <p:cNvSpPr txBox="1"/>
          <p:nvPr/>
        </p:nvSpPr>
        <p:spPr>
          <a:xfrm>
            <a:off x="474054" y="936100"/>
            <a:ext cx="7711157"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Use all the numbers in any order with any operation to equal the target number (in red). ​</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46</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14400"/>
            <a:ext cx="10908792" cy="512064"/>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2000" u="none" cap="none" strike="noStrike">
                <a:solidFill>
                  <a:srgbClr val="14223A"/>
                </a:solidFill>
                <a:latin typeface="Arial"/>
                <a:ea typeface="Arial"/>
                <a:cs typeface="Arial"/>
                <a:sym typeface="Arial"/>
              </a:rPr>
              <a:t>Describe Data by Range and Interquartile Range</a:t>
            </a:r>
            <a:endParaRPr sz="2000"/>
          </a:p>
        </p:txBody>
      </p:sp>
      <p:sp>
        <p:nvSpPr>
          <p:cNvPr id="341" name="Google Shape;341;p44"/>
          <p:cNvSpPr txBox="1"/>
          <p:nvPr/>
        </p:nvSpPr>
        <p:spPr>
          <a:xfrm>
            <a:off x="640080" y="1444752"/>
            <a:ext cx="36576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6.DS.3</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range and the interquartile range of a data set and use them to describe how spread out the data is.</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what the spread of a data set is using the words range, quartile, interquartile range, and vary.</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46</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2.5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full spread from middle-half spread.</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Compute range and IQR.</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units.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2" name="Google Shape;392;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5" name="Google Shape;395;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396" name="Google Shape;396;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8" name="Google Shape;398;p46"/>
          <p:cNvSpPr txBox="1"/>
          <p:nvPr/>
        </p:nvSpPr>
        <p:spPr>
          <a:xfrm>
            <a:off x="640080" y="128625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Range and Interquartile Range</a:t>
            </a:r>
            <a:endParaRPr/>
          </a:p>
        </p:txBody>
      </p:sp>
      <p:sp>
        <p:nvSpPr>
          <p:cNvPr id="399" name="Google Shape;399;p46"/>
          <p:cNvSpPr/>
          <p:nvPr/>
        </p:nvSpPr>
        <p:spPr>
          <a:xfrm>
            <a:off x="658368" y="2804159"/>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640080" y="316534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Two numbers that describe spread: the range covers all the data, and the interquartile range covers only the middle half.</a:t>
            </a:r>
            <a:endParaRPr/>
          </a:p>
        </p:txBody>
      </p:sp>
      <p:sp>
        <p:nvSpPr>
          <p:cNvPr id="401" name="Google Shape;401;p46"/>
          <p:cNvSpPr/>
          <p:nvPr/>
        </p:nvSpPr>
        <p:spPr>
          <a:xfrm>
            <a:off x="640080" y="464210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p:nvPr/>
        </p:nvSpPr>
        <p:spPr>
          <a:xfrm>
            <a:off x="640080" y="464210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932688" y="481584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4" name="Google Shape;404;p46"/>
          <p:cNvSpPr txBox="1"/>
          <p:nvPr/>
        </p:nvSpPr>
        <p:spPr>
          <a:xfrm>
            <a:off x="932688" y="5117591"/>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Range 26 covers 68 to 94; IQR 12.5 covers only 75.5 to 88</a:t>
            </a:r>
            <a:endParaRPr/>
          </a:p>
        </p:txBody>
      </p:sp>
      <p:pic>
        <p:nvPicPr>
          <p:cNvPr descr="interquartile-range.png" id="405" name="Google Shape;405;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46</a:t>
            </a:r>
          </a:p>
        </p:txBody>
      </p:sp>
      <p:grpSp>
        <p:nvGrpSpPr>
          <p:cNvPr id="406" name="TEACH-5-student-move" descr="TEACH 5 · Facilitate student interactions and academic talk"/>
          <p:cNvGrpSpPr/>
          <p:nvPr/>
        </p:nvGrpSpPr>
        <p:grpSpPr>
          <a:xfrm>
            <a:off x="502920" y="847343"/>
            <a:ext cx="11186160" cy="402336"/>
            <a:chOff x="502920" y="847343"/>
            <a:chExt cx="11186160" cy="402336"/>
          </a:xfrm>
        </p:grpSpPr>
        <p:sp>
          <p:nvSpPr>
            <p:cNvPr id="407" name="TEACH-move-card"/>
            <p:cNvSpPr/>
            <p:nvPr/>
          </p:nvSpPr>
          <p:spPr>
            <a:xfrm>
              <a:off x="502920" y="84734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408" name="TEACH-move-rule"/>
            <p:cNvSpPr/>
            <p:nvPr/>
          </p:nvSpPr>
          <p:spPr>
            <a:xfrm>
              <a:off x="548640" y="923787"/>
              <a:ext cx="100584" cy="249448"/>
            </a:xfrm>
            <a:prstGeom prst="roundRect">
              <a:avLst>
                <a:gd name="adj" fmla="val 50000"/>
              </a:avLst>
            </a:prstGeom>
            <a:solidFill>
              <a:srgbClr val="01708C"/>
            </a:solidFill>
            <a:ln>
              <a:noFill/>
            </a:ln>
          </p:spPr>
          <p:txBody>
            <a:bodyPr/>
            <a:lstStyle/>
            <a:p>
              <a:endParaRPr/>
            </a:p>
          </p:txBody>
        </p:sp>
        <p:sp>
          <p:nvSpPr>
            <p:cNvPr id="409" name="TEACH-move-text"/>
            <p:cNvSpPr txBox="1"/>
            <p:nvPr/>
          </p:nvSpPr>
          <p:spPr>
            <a:xfrm>
              <a:off x="822960" y="84734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0" name="Google Shape;410;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3" name="Google Shape;413;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414" name="Google Shape;414;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6" name="Google Shape;416;p47"/>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Range</a:t>
            </a:r>
            <a:endParaRPr/>
          </a:p>
        </p:txBody>
      </p:sp>
      <p:sp>
        <p:nvSpPr>
          <p:cNvPr id="417" name="Google Shape;417;p47"/>
          <p:cNvSpPr/>
          <p:nvPr/>
        </p:nvSpPr>
        <p:spPr>
          <a:xfrm>
            <a:off x="658368" y="25618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distance from the least value to the greatest value, found by subtracting: greatest − least.</a:t>
            </a:r>
            <a:endParaRPr/>
          </a:p>
        </p:txBody>
      </p:sp>
      <p:sp>
        <p:nvSpPr>
          <p:cNvPr id="419" name="Google Shape;419;p47"/>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2" name="Google Shape;422;p47"/>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94 − 68 = 26</a:t>
            </a:r>
            <a:endParaRPr/>
          </a:p>
        </p:txBody>
      </p:sp>
      <p:pic>
        <p:nvPicPr>
          <p:cNvPr descr="range.png" id="423" name="Google Shape;423;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46</a:t>
            </a:r>
          </a:p>
        </p:txBody>
      </p:sp>
      <p:sp xmlns:p="http://schemas.openxmlformats.org/presentationml/2006/main" xmlns:a="http://schemas.openxmlformats.org/drawingml/2006/main">
        <p:nvSpPr>
          <p:cNvPr id="42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“Range”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8" name="Google Shape;428;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1" name="Google Shape;431;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432" name="Google Shape;432;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4" name="Google Shape;434;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Quartile</a:t>
            </a:r>
            <a:endParaRPr/>
          </a:p>
        </p:txBody>
      </p:sp>
      <p:sp>
        <p:nvSpPr>
          <p:cNvPr id="435" name="Google Shape;435;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One of the three values that cut an ordered data set into four equal-sized groups.</a:t>
            </a:r>
            <a:endParaRPr/>
          </a:p>
        </p:txBody>
      </p:sp>
      <p:sp>
        <p:nvSpPr>
          <p:cNvPr id="437" name="Google Shape;437;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0" name="Google Shape;440;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Q1 = 75.5, median = 83.5, Q3 = 88</a:t>
            </a:r>
            <a:endParaRPr/>
          </a:p>
        </p:txBody>
      </p:sp>
      <p:pic>
        <p:nvPicPr>
          <p:cNvPr descr="quartile.png" id="441" name="Google Shape;441;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46</a:t>
            </a:r>
          </a:p>
        </p:txBody>
      </p:sp>
      <p:sp xmlns:p="http://schemas.openxmlformats.org/presentationml/2006/main" xmlns:a="http://schemas.openxmlformats.org/drawingml/2006/main">
        <p:nvSpPr>
          <p:cNvPr id="44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“Quartile”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6" name="Google Shape;446;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4 of 6</a:t>
            </a:r>
            <a:endParaRPr/>
          </a:p>
        </p:txBody>
      </p:sp>
      <p:sp>
        <p:nvSpPr>
          <p:cNvPr id="449" name="Google Shape;449;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450" name="Google Shape;450;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52" name="Google Shape;452;p49"/>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Interquartile range</a:t>
            </a:r>
            <a:endParaRPr/>
          </a:p>
        </p:txBody>
      </p:sp>
      <p:sp>
        <p:nvSpPr>
          <p:cNvPr id="453" name="Google Shape;453;p49"/>
          <p:cNvSpPr/>
          <p:nvPr/>
        </p:nvSpPr>
        <p:spPr>
          <a:xfrm>
            <a:off x="658368" y="2561844"/>
            <a:ext cx="225856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distance across the middle half of the data, found by subtracting the first quartile from the third: Q3 − Q1.</a:t>
            </a:r>
            <a:endParaRPr/>
          </a:p>
        </p:txBody>
      </p:sp>
      <p:sp>
        <p:nvSpPr>
          <p:cNvPr id="455" name="Google Shape;455;p49"/>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58" name="Google Shape;458;p49"/>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88 − 75.5 = 12.5 — the width of the box on a box plot</a:t>
            </a:r>
            <a:endParaRPr/>
          </a:p>
        </p:txBody>
      </p:sp>
      <p:pic>
        <p:nvPicPr>
          <p:cNvPr descr="interquartile-range.png" id="459" name="Google Shape;459;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46</a:t>
            </a:r>
          </a:p>
        </p:txBody>
      </p:sp>
      <p:grpSp>
        <p:nvGrpSpPr>
          <p:cNvPr id="460" name="TEACH-5-student-move" descr="TEACH 5 · Facilitate student interactions and academic talk"/>
          <p:cNvGrpSpPr/>
          <p:nvPr/>
        </p:nvGrpSpPr>
        <p:grpSpPr>
          <a:xfrm>
            <a:off x="502920" y="5751576"/>
            <a:ext cx="11186160" cy="548640"/>
            <a:chOff x="502920" y="5751576"/>
            <a:chExt cx="11186160" cy="548640"/>
          </a:xfrm>
        </p:grpSpPr>
        <p:sp>
          <p:nvSpPr>
            <p:cNvPr id="461"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62"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63"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4" name="Google Shape;464;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7" name="Google Shape;467;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468" name="Google Shape;468;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0" name="Google Shape;470;p50"/>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Variability</a:t>
            </a:r>
            <a:endParaRPr/>
          </a:p>
        </p:txBody>
      </p:sp>
      <p:sp>
        <p:nvSpPr>
          <p:cNvPr id="471" name="Google Shape;471;p50"/>
          <p:cNvSpPr/>
          <p:nvPr/>
        </p:nvSpPr>
        <p:spPr>
          <a:xfrm>
            <a:off x="658368" y="2462784"/>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much the values in a data set differ from one another — whether they sit close together or far apart.</a:t>
            </a:r>
            <a:endParaRPr/>
          </a:p>
        </p:txBody>
      </p:sp>
      <p:sp>
        <p:nvSpPr>
          <p:cNvPr id="473" name="Google Shape;473;p50"/>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6" name="Google Shape;476;p50"/>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Close together = low variability; spread apart = high variability</a:t>
            </a:r>
            <a:endParaRPr/>
          </a:p>
        </p:txBody>
      </p:sp>
      <p:pic>
        <p:nvPicPr>
          <p:cNvPr descr="range.png" id="477" name="Google Shape;477;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46</a:t>
            </a:r>
          </a:p>
        </p:txBody>
      </p:sp>
      <p:sp xmlns:p="http://schemas.openxmlformats.org/presentationml/2006/main" xmlns:a="http://schemas.openxmlformats.org/drawingml/2006/main">
        <p:nvSpPr>
          <p:cNvPr id="47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“Variability”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2" name="Google Shape;482;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6 of 6</a:t>
            </a:r>
            <a:endParaRPr/>
          </a:p>
        </p:txBody>
      </p:sp>
      <p:sp>
        <p:nvSpPr>
          <p:cNvPr id="485" name="Google Shape;485;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486" name="Google Shape;486;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8" name="Google Shape;488;p51"/>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Measure of variation</a:t>
            </a:r>
            <a:endParaRPr/>
          </a:p>
        </p:txBody>
      </p:sp>
      <p:sp>
        <p:nvSpPr>
          <p:cNvPr id="489" name="Google Shape;489;p51"/>
          <p:cNvSpPr/>
          <p:nvPr/>
        </p:nvSpPr>
        <p:spPr>
          <a:xfrm>
            <a:off x="658368" y="2561844"/>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A single number that describes the spread of a whole data set. The range and the IQR are both measures of variation.</a:t>
            </a:r>
            <a:endParaRPr/>
          </a:p>
        </p:txBody>
      </p:sp>
      <p:sp>
        <p:nvSpPr>
          <p:cNvPr id="491" name="Google Shape;491;p51"/>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94" name="Google Shape;494;p51"/>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One number stands in for the spread of all 20 scores</a:t>
            </a:r>
            <a:endParaRPr/>
          </a:p>
        </p:txBody>
      </p:sp>
      <p:pic>
        <p:nvPicPr>
          <p:cNvPr descr="range.png" id="495" name="Google Shape;495;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46</a:t>
            </a:r>
          </a:p>
        </p:txBody>
      </p:sp>
      <p:grpSp>
        <p:nvGrpSpPr>
          <p:cNvPr id="496" name="TEACH-5-student-move" descr="TEACH 5 · Facilitate student interactions and academic talk"/>
          <p:cNvGrpSpPr/>
          <p:nvPr/>
        </p:nvGrpSpPr>
        <p:grpSpPr>
          <a:xfrm>
            <a:off x="502920" y="5751576"/>
            <a:ext cx="11186160" cy="548640"/>
            <a:chOff x="502920" y="5751576"/>
            <a:chExt cx="11186160" cy="548640"/>
          </a:xfrm>
        </p:grpSpPr>
        <p:sp>
          <p:nvSpPr>
            <p:cNvPr id="497"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98"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99"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TAKE TURNS  ·  </a:t>
              </a:r>
              <a:r>
                <a:rPr lang="en-US" sz="1400" dirty="0">
                  <a:solidFill>
                    <a:srgbClr val="13303A"/>
                  </a:solidFill>
                  <a:latin typeface="Arial"/>
                </a:rPr>
                <a:t>One explains, one asks a question. Then switch, so both of you talk.</a:t>
              </a:r>
              <a:endParaRPr lang="en-US" sz="1400"/>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Range and Interquartile Range</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Two numbers that describe spread: the range covers all the data, and the interquartile range covers only the middle half</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Range</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The distance from the least value to the greatest value, found by subtracting: greatest − least</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Quartile</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One of the three values that cut an ordered data set into four equal-sized groups</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Interquartile range</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The distance across the middle half of the data, found by subtracting the first quartile from the third: Q3 − Q1</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Variability</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How much the values in a data set differ from one another — whether they sit close together or far apart</a:t>
            </a:r>
            <a:endParaRPr/>
          </a:p>
        </p:txBody>
      </p:sp>
      <p:sp>
        <p:nvSpPr>
          <p:cNvPr id="384" name="Google Shape;384;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Measure of variation</a:t>
            </a:r>
            <a:endParaRPr/>
          </a:p>
        </p:txBody>
      </p:sp>
      <p:sp>
        <p:nvSpPr>
          <p:cNvPr id="387" name="Google Shape;387;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single number that describes the spread of a whole data set</a:t>
            </a:r>
            <a:endParaRPr/>
          </a:p>
        </p:txBody>
      </p:sp>
      <p:sp>
        <p:nvSpPr>
          <p:cNvPr id="3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46</a:t>
            </a:r>
          </a:p>
        </p:txBody>
      </p:sp>
      <p:grpSp>
        <p:nvGrpSpPr>
          <p:cNvPr id="389" name="TEACH-5-student-move" descr="TEACH 5 · Facilitate student interactions and academic talk"/>
          <p:cNvGrpSpPr/>
          <p:nvPr/>
        </p:nvGrpSpPr>
        <p:grpSpPr>
          <a:xfrm>
            <a:off x="502920" y="5852160"/>
            <a:ext cx="11186160" cy="457200"/>
            <a:chOff x="502920" y="5852160"/>
            <a:chExt cx="11186160" cy="457200"/>
          </a:xfrm>
        </p:grpSpPr>
        <p:sp>
          <p:nvSpPr>
            <p:cNvPr id="39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RESTATE FIRST  ·  </a:t>
              </a:r>
              <a:r>
                <a:rPr lang="en-US" sz="1400" dirty="0">
                  <a:solidFill>
                    <a:srgbClr val="13303A"/>
                  </a:solidFill>
                  <a:latin typeface="Arial"/>
                </a:rPr>
                <a:t>Restate your partner’s idea in your own words before you give yours.</a:t>
              </a:r>
              <a:endParaRPr lang="en-US" sz="14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cxnSp>
        <p:nvCxnSpPr>
          <p:cNvPr id="566" name="Google Shape;566;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7" name="Google Shape;567;p55"/>
          <p:cNvSpPr txBox="1"/>
          <p:nvPr/>
        </p:nvSpPr>
        <p:spPr>
          <a:xfrm>
            <a:off x="474055" y="936100"/>
            <a:ext cx="3797189"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What do you notice?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68" name="Google Shape;568;p55"/>
          <p:cNvSpPr txBox="1"/>
          <p:nvPr/>
        </p:nvSpPr>
        <p:spPr>
          <a:xfrm>
            <a:off x="484560" y="316034"/>
            <a:ext cx="3904129" cy="46773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descr="Map&#10;&#10;Description automatically generated" id="569" name="Google Shape;569;p55"/>
          <p:cNvPicPr preferRelativeResize="0"/>
          <p:nvPr/>
        </p:nvPicPr>
        <p:blipFill rotWithShape="1">
          <a:blip r:embed="rId3">
            <a:alphaModFix/>
          </a:blip>
          <a:srcRect b="0" l="0" r="0" t="0"/>
          <a:stretch/>
        </p:blipFill>
        <p:spPr>
          <a:xfrm>
            <a:off x="4950906" y="1071234"/>
            <a:ext cx="3797189" cy="3510790"/>
          </a:xfrm>
          <a:prstGeom prst="rect">
            <a:avLst/>
          </a:prstGeom>
          <a:noFill/>
          <a:ln>
            <a:noFill/>
          </a:ln>
        </p:spPr>
      </p:pic>
      <p:pic>
        <p:nvPicPr>
          <p:cNvPr id="570" name="Google Shape;570;p55"/>
          <p:cNvPicPr preferRelativeResize="0"/>
          <p:nvPr/>
        </p:nvPicPr>
        <p:blipFill rotWithShape="1">
          <a:blip r:embed="rId4">
            <a:alphaModFix/>
          </a:blip>
          <a:srcRect b="0" l="0" r="0" t="0"/>
          <a:stretch/>
        </p:blipFill>
        <p:spPr>
          <a:xfrm>
            <a:off x="484560" y="4717158"/>
            <a:ext cx="5054600" cy="838200"/>
          </a:xfrm>
          <a:prstGeom prst="rect">
            <a:avLst/>
          </a:prstGeom>
          <a:noFill/>
          <a:ln>
            <a:noFill/>
          </a:ln>
        </p:spPr>
      </p:pic>
      <p:sp>
        <p:nvSpPr>
          <p:cNvPr id="571" name="Google Shape;571;p55"/>
          <p:cNvSpPr txBox="1"/>
          <p:nvPr/>
        </p:nvSpPr>
        <p:spPr>
          <a:xfrm>
            <a:off x="3344577" y="487447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72" name="Google Shape;572;p55"/>
          <p:cNvSpPr/>
          <p:nvPr/>
        </p:nvSpPr>
        <p:spPr>
          <a:xfrm>
            <a:off x="697756" y="5450185"/>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is your responsibility in building a safe and positive math class culture?</a:t>
            </a:r>
            <a:endParaRPr b="0" i="0" sz="1400" u="none" cap="none" strike="noStrike">
              <a:solidFill>
                <a:srgbClr val="000000"/>
              </a:solidFill>
              <a:latin typeface="Arial"/>
              <a:ea typeface="Arial"/>
              <a:cs typeface="Arial"/>
              <a:sym typeface="Arial"/>
            </a:endParaRPr>
          </a:p>
        </p:txBody>
      </p:sp>
      <p:sp>
        <p:nvSpPr>
          <p:cNvPr id="5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46</a:t>
            </a:r>
          </a:p>
        </p:txBody>
      </p:sp>
      <p:sp xmlns:p="http://schemas.openxmlformats.org/presentationml/2006/main" xmlns:a="http://schemas.openxmlformats.org/drawingml/2006/main">
        <p:nvSpPr>
          <p:cNvPr id="574" name="TEACH-embedded-student-prompt" descr="Student thinking and response directions"/>
          <p:cNvSpPr txBox="1"/>
          <p:nvPr/>
        </p:nvSpPr>
        <p:spPr>
          <a:xfrm>
            <a:off x="594360" y="345643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6"/>
          <p:cNvSpPr txBox="1"/>
          <p:nvPr/>
        </p:nvSpPr>
        <p:spPr>
          <a:xfrm>
            <a:off x="484564" y="4539583"/>
            <a:ext cx="7144672" cy="6728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describe the data set?</a:t>
            </a:r>
            <a:endParaRPr b="0" i="0" sz="1400" u="none" cap="none" strike="noStrike">
              <a:solidFill>
                <a:srgbClr val="000000"/>
              </a:solidFill>
              <a:latin typeface="Arial"/>
              <a:ea typeface="Arial"/>
              <a:cs typeface="Arial"/>
              <a:sym typeface="Arial"/>
            </a:endParaRPr>
          </a:p>
        </p:txBody>
      </p:sp>
      <p:graphicFrame>
        <p:nvGraphicFramePr>
          <p:cNvPr id="578" name="Google Shape;578;p56"/>
          <p:cNvGraphicFramePr/>
          <p:nvPr/>
        </p:nvGraphicFramePr>
        <p:xfrm>
          <a:off x="1613894" y="2105893"/>
          <a:ext cx="3000000" cy="3000000"/>
        </p:xfrm>
        <a:graphic>
          <a:graphicData uri="http://schemas.openxmlformats.org/drawingml/2006/table">
            <a:tbl>
              <a:tblPr bandRow="1" firstRow="1">
                <a:noFill/>
                <a:tableStyleId>{60CDBB52-3490-4E34-ACA0-1958260A64F7}</a:tableStyleId>
              </a:tblPr>
              <a:tblGrid>
                <a:gridCol w="725125"/>
                <a:gridCol w="725125"/>
                <a:gridCol w="725125"/>
                <a:gridCol w="725125"/>
                <a:gridCol w="725125"/>
              </a:tblGrid>
              <a:tr h="292300">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Data Table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15450">
                <a:tc gridSpan="5">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History Test Scores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194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68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pic>
        <p:nvPicPr>
          <p:cNvPr id="579" name="Google Shape;579;p56"/>
          <p:cNvPicPr preferRelativeResize="0"/>
          <p:nvPr/>
        </p:nvPicPr>
        <p:blipFill rotWithShape="1">
          <a:blip r:embed="rId3">
            <a:alphaModFix/>
          </a:blip>
          <a:srcRect b="0" l="0" r="0" t="0"/>
          <a:stretch/>
        </p:blipFill>
        <p:spPr>
          <a:xfrm>
            <a:off x="7131193" y="836035"/>
            <a:ext cx="866775" cy="1362075"/>
          </a:xfrm>
          <a:prstGeom prst="rect">
            <a:avLst/>
          </a:prstGeom>
          <a:noFill/>
          <a:ln>
            <a:noFill/>
          </a:ln>
        </p:spPr>
      </p:pic>
      <p:sp>
        <p:nvSpPr>
          <p:cNvPr id="580" name="Google Shape;580;p56"/>
          <p:cNvSpPr txBox="1"/>
          <p:nvPr/>
        </p:nvSpPr>
        <p:spPr>
          <a:xfrm>
            <a:off x="484564" y="936101"/>
            <a:ext cx="6488891" cy="930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number of points students scored on a recent history test are shown.</a:t>
            </a:r>
            <a:endParaRPr b="1" i="0" sz="2800" u="none" cap="none" strike="noStrike">
              <a:solidFill>
                <a:srgbClr val="262626"/>
              </a:solidFill>
              <a:latin typeface="Arial"/>
              <a:ea typeface="Arial"/>
              <a:cs typeface="Arial"/>
              <a:sym typeface="Arial"/>
            </a:endParaRPr>
          </a:p>
        </p:txBody>
      </p:sp>
      <p:sp>
        <p:nvSpPr>
          <p:cNvPr id="581" name="Google Shape;581;p5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Test Scores</a:t>
            </a:r>
            <a:endParaRPr b="0" i="0" sz="1400" u="none" cap="none" strike="noStrike">
              <a:solidFill>
                <a:srgbClr val="000000"/>
              </a:solidFill>
              <a:latin typeface="Arial"/>
              <a:ea typeface="Arial"/>
              <a:cs typeface="Arial"/>
              <a:sym typeface="Arial"/>
            </a:endParaRPr>
          </a:p>
        </p:txBody>
      </p:sp>
      <p:cxnSp>
        <p:nvCxnSpPr>
          <p:cNvPr id="582" name="Google Shape;582;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46</a:t>
            </a:r>
          </a:p>
        </p:txBody>
      </p:sp>
      <p:sp xmlns:p="http://schemas.openxmlformats.org/presentationml/2006/main" xmlns:a="http://schemas.openxmlformats.org/drawingml/2006/main">
        <p:nvSpPr>
          <p:cNvPr id="584"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what a row or column represents. Use it as evidence for your answer.</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8"/>
          <p:cNvSpPr txBox="1"/>
          <p:nvPr/>
        </p:nvSpPr>
        <p:spPr>
          <a:xfrm>
            <a:off x="450058" y="2827539"/>
            <a:ext cx="6211486" cy="9870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are some ways you can describe a data distribution?</a:t>
            </a:r>
            <a:endParaRPr b="0" i="0" sz="1400" u="none" cap="none" strike="noStrike">
              <a:solidFill>
                <a:srgbClr val="000000"/>
              </a:solidFill>
              <a:latin typeface="Arial"/>
              <a:ea typeface="Arial"/>
              <a:cs typeface="Arial"/>
              <a:sym typeface="Arial"/>
            </a:endParaRPr>
          </a:p>
        </p:txBody>
      </p:sp>
      <p:sp>
        <p:nvSpPr>
          <p:cNvPr id="597" name="Google Shape;597;p58"/>
          <p:cNvSpPr txBox="1"/>
          <p:nvPr/>
        </p:nvSpPr>
        <p:spPr>
          <a:xfrm>
            <a:off x="450058" y="384003"/>
            <a:ext cx="6322636" cy="20934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number of points students scored on a recent history test are shown. How can you describe the data set?</a:t>
            </a:r>
            <a:endParaRPr b="1" i="0" sz="2800" u="none" cap="none" strike="noStrike">
              <a:solidFill>
                <a:srgbClr val="262626"/>
              </a:solidFill>
              <a:latin typeface="Arial"/>
              <a:ea typeface="Arial"/>
              <a:cs typeface="Arial"/>
              <a:sym typeface="Arial"/>
            </a:endParaRPr>
          </a:p>
        </p:txBody>
      </p:sp>
      <p:cxnSp>
        <p:nvCxnSpPr>
          <p:cNvPr id="598" name="Google Shape;598;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9" name="Google Shape;599;p58"/>
          <p:cNvSpPr txBox="1"/>
          <p:nvPr/>
        </p:nvSpPr>
        <p:spPr>
          <a:xfrm>
            <a:off x="450058" y="4196149"/>
            <a:ext cx="9927519" cy="20934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numbers that summarize a data distribution such as the median and quartiles, describe how close together the numbers are, and the shape of the distribution.</a:t>
            </a:r>
            <a:endParaRPr b="0" i="0" sz="1400" u="none" cap="none" strike="noStrike">
              <a:solidFill>
                <a:srgbClr val="000000"/>
              </a:solidFill>
              <a:latin typeface="Arial"/>
              <a:ea typeface="Arial"/>
              <a:cs typeface="Arial"/>
              <a:sym typeface="Arial"/>
            </a:endParaRPr>
          </a:p>
        </p:txBody>
      </p:sp>
      <p:graphicFrame>
        <p:nvGraphicFramePr>
          <p:cNvPr id="600" name="Google Shape;600;p58"/>
          <p:cNvGraphicFramePr/>
          <p:nvPr/>
        </p:nvGraphicFramePr>
        <p:xfrm>
          <a:off x="7107035" y="1204130"/>
          <a:ext cx="3000000" cy="3000000"/>
        </p:xfrm>
        <a:graphic>
          <a:graphicData uri="http://schemas.openxmlformats.org/drawingml/2006/table">
            <a:tbl>
              <a:tblPr bandRow="1" firstRow="1">
                <a:noFill/>
                <a:tableStyleId>{60CDBB52-3490-4E34-ACA0-1958260A64F7}</a:tableStyleId>
              </a:tblPr>
              <a:tblGrid>
                <a:gridCol w="725125"/>
                <a:gridCol w="725125"/>
                <a:gridCol w="725125"/>
                <a:gridCol w="725125"/>
                <a:gridCol w="725125"/>
              </a:tblGrid>
              <a:tr h="292300">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Data Table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15450">
                <a:tc gridSpan="5">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History Test Scores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194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68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35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60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46</a:t>
            </a:r>
          </a:p>
        </p:txBody>
      </p:sp>
      <p:sp>
        <p:nvSpPr>
          <p:cNvPr id="602" name="EWL-COVER-1"/>
          <p:cNvSpPr/>
          <p:nvPr/>
        </p:nvSpPr>
        <p:spPr>
          <a:xfrm>
            <a:off x="395194" y="4141285"/>
            <a:ext cx="10037247" cy="2203154"/>
          </a:xfrm>
          <a:prstGeom prst="rect">
            <a:avLst/>
          </a:prstGeom>
          <a:solidFill>
            <a:srgbClr val="FFFFFF"/>
          </a:solidFill>
          <a:ln>
            <a:noFill/>
          </a:ln>
        </p:spPr>
        <p:txBody>
          <a:bodyPr/>
          <a:lstStyle/>
          <a:p/>
        </p:txBody>
      </p:sp>
      <p:sp>
        <p:nvSpPr>
          <p:cNvPr id="6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2"/>
          <p:cNvSpPr txBox="1"/>
          <p:nvPr/>
        </p:nvSpPr>
        <p:spPr>
          <a:xfrm>
            <a:off x="432805" y="444395"/>
            <a:ext cx="6658108" cy="31833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One way to describe the data is by its variability, or by how much the values in the data set vary.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 you think variability means in the context of a data distribution?</a:t>
            </a:r>
            <a:endParaRPr b="0" i="0" sz="1400" u="none" cap="none" strike="noStrike">
              <a:solidFill>
                <a:srgbClr val="000000"/>
              </a:solidFill>
              <a:latin typeface="Arial"/>
              <a:ea typeface="Arial"/>
              <a:cs typeface="Arial"/>
              <a:sym typeface="Arial"/>
            </a:endParaRPr>
          </a:p>
        </p:txBody>
      </p:sp>
      <p:cxnSp>
        <p:nvCxnSpPr>
          <p:cNvPr id="630" name="Google Shape;630;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1" name="Google Shape;631;p62"/>
          <p:cNvSpPr txBox="1"/>
          <p:nvPr/>
        </p:nvSpPr>
        <p:spPr>
          <a:xfrm>
            <a:off x="432804" y="4097674"/>
            <a:ext cx="8995867" cy="20184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means how different the data values are from one another; whether the values are somewhat similar (close together) or very different (spread apart).</a:t>
            </a:r>
            <a:endParaRPr b="0" i="0" sz="1400" u="none" cap="none" strike="noStrike">
              <a:solidFill>
                <a:srgbClr val="000000"/>
              </a:solidFill>
              <a:latin typeface="Arial"/>
              <a:ea typeface="Arial"/>
              <a:cs typeface="Arial"/>
              <a:sym typeface="Arial"/>
            </a:endParaRPr>
          </a:p>
        </p:txBody>
      </p:sp>
      <p:graphicFrame>
        <p:nvGraphicFramePr>
          <p:cNvPr id="632" name="Google Shape;632;p62"/>
          <p:cNvGraphicFramePr/>
          <p:nvPr/>
        </p:nvGraphicFramePr>
        <p:xfrm>
          <a:off x="7107035" y="1204130"/>
          <a:ext cx="3000000" cy="3000000"/>
        </p:xfrm>
        <a:graphic>
          <a:graphicData uri="http://schemas.openxmlformats.org/drawingml/2006/table">
            <a:tbl>
              <a:tblPr bandRow="1" firstRow="1">
                <a:noFill/>
                <a:tableStyleId>{60CDBB52-3490-4E34-ACA0-1958260A64F7}</a:tableStyleId>
              </a:tblPr>
              <a:tblGrid>
                <a:gridCol w="725125"/>
                <a:gridCol w="725125"/>
                <a:gridCol w="725125"/>
                <a:gridCol w="725125"/>
                <a:gridCol w="725125"/>
              </a:tblGrid>
              <a:tr h="292300">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Data Table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15450">
                <a:tc gridSpan="5">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History Test Scores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194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68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35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6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46</a:t>
            </a:r>
          </a:p>
        </p:txBody>
      </p:sp>
      <p:sp>
        <p:nvSpPr>
          <p:cNvPr id="634" name="EWL-COVER-1"/>
          <p:cNvSpPr/>
          <p:nvPr/>
        </p:nvSpPr>
        <p:spPr>
          <a:xfrm>
            <a:off x="377940" y="4042810"/>
            <a:ext cx="9105595" cy="2128181"/>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69"/>
          <p:cNvSpPr txBox="1"/>
          <p:nvPr/>
        </p:nvSpPr>
        <p:spPr>
          <a:xfrm>
            <a:off x="406927" y="4031088"/>
            <a:ext cx="5689073" cy="2013477"/>
          </a:xfrm>
          <a:prstGeom prst="rect">
            <a:avLst/>
          </a:prstGeom>
          <a:blipFill rotWithShape="1">
            <a:blip r:embed="rId3">
              <a:alphaModFix/>
            </a:blip>
            <a:stretch>
              <a:fillRect b="-8761" l="-225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1" name="Google Shape;691;p69"/>
          <p:cNvSpPr txBox="1"/>
          <p:nvPr/>
        </p:nvSpPr>
        <p:spPr>
          <a:xfrm>
            <a:off x="406927" y="408176"/>
            <a:ext cx="7072175" cy="14119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Let’s find the difference between the greatest and least values, or the </a:t>
            </a:r>
            <a:r>
              <a:rPr b="1" i="0" lang="en-US" sz="2800" u="none" cap="none" strike="noStrike">
                <a:solidFill>
                  <a:srgbClr val="23282D"/>
                </a:solidFill>
                <a:highlight>
                  <a:srgbClr val="FFFF00"/>
                </a:highlight>
                <a:latin typeface="Arial"/>
                <a:ea typeface="Arial"/>
                <a:cs typeface="Arial"/>
                <a:sym typeface="Arial"/>
              </a:rPr>
              <a:t>range</a:t>
            </a:r>
            <a:r>
              <a:rPr b="0" i="0" lang="en-US" sz="2800" u="none" cap="none" strike="noStrike">
                <a:solidFill>
                  <a:srgbClr val="23282D"/>
                </a:solidFill>
                <a:latin typeface="Arial"/>
                <a:ea typeface="Arial"/>
                <a:cs typeface="Arial"/>
                <a:sym typeface="Arial"/>
              </a:rPr>
              <a:t>, to determine the variability of the data set.</a:t>
            </a:r>
            <a:endParaRPr b="1" i="0" sz="2800" u="none" cap="none" strike="noStrike">
              <a:solidFill>
                <a:srgbClr val="262626"/>
              </a:solidFill>
              <a:latin typeface="Arial"/>
              <a:ea typeface="Arial"/>
              <a:cs typeface="Arial"/>
              <a:sym typeface="Arial"/>
            </a:endParaRPr>
          </a:p>
        </p:txBody>
      </p:sp>
      <p:cxnSp>
        <p:nvCxnSpPr>
          <p:cNvPr id="692" name="Google Shape;692;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3" name="Google Shape;693;p69"/>
          <p:cNvSpPr txBox="1"/>
          <p:nvPr/>
        </p:nvSpPr>
        <p:spPr>
          <a:xfrm>
            <a:off x="6622810" y="4335700"/>
            <a:ext cx="5072857" cy="1918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Where have you heard or used the word distribution before?</a:t>
            </a:r>
            <a:endParaRPr b="0" i="0" sz="1400" u="none" cap="none" strike="noStrike">
              <a:solidFill>
                <a:srgbClr val="000000"/>
              </a:solidFill>
              <a:latin typeface="Arial"/>
              <a:ea typeface="Arial"/>
              <a:cs typeface="Arial"/>
              <a:sym typeface="Arial"/>
            </a:endParaRPr>
          </a:p>
        </p:txBody>
      </p:sp>
      <p:pic>
        <p:nvPicPr>
          <p:cNvPr id="694" name="Google Shape;694;p69"/>
          <p:cNvPicPr preferRelativeResize="0"/>
          <p:nvPr/>
        </p:nvPicPr>
        <p:blipFill rotWithShape="1">
          <a:blip r:embed="rId4">
            <a:alphaModFix/>
          </a:blip>
          <a:srcRect b="0" l="0" r="0" t="0"/>
          <a:stretch/>
        </p:blipFill>
        <p:spPr>
          <a:xfrm>
            <a:off x="295418" y="1850788"/>
            <a:ext cx="10508940" cy="1648974"/>
          </a:xfrm>
          <a:prstGeom prst="rect">
            <a:avLst/>
          </a:prstGeom>
          <a:noFill/>
          <a:ln>
            <a:noFill/>
          </a:ln>
        </p:spPr>
      </p:pic>
      <p:sp>
        <p:nvSpPr>
          <p:cNvPr id="6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46</a:t>
            </a:r>
          </a:p>
        </p:txBody>
      </p:sp>
      <p:grpSp>
        <p:nvGrpSpPr>
          <p:cNvPr id="696" name="TEACH-3-student-move" descr="TEACH 3 · Use intentional questioning to deepen learning"/>
          <p:cNvGrpSpPr/>
          <p:nvPr/>
        </p:nvGrpSpPr>
        <p:grpSpPr>
          <a:xfrm>
            <a:off x="502920" y="3592176"/>
            <a:ext cx="11186160" cy="402336"/>
            <a:chOff x="502920" y="3592176"/>
            <a:chExt cx="11186160" cy="402336"/>
          </a:xfrm>
        </p:grpSpPr>
        <p:sp>
          <p:nvSpPr>
            <p:cNvPr id="697" name="TEACH-move-card"/>
            <p:cNvSpPr/>
            <p:nvPr/>
          </p:nvSpPr>
          <p:spPr>
            <a:xfrm>
              <a:off x="502920" y="359217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98" name="TEACH-move-rule"/>
            <p:cNvSpPr/>
            <p:nvPr/>
          </p:nvSpPr>
          <p:spPr>
            <a:xfrm>
              <a:off x="548640" y="3668620"/>
              <a:ext cx="100584" cy="249448"/>
            </a:xfrm>
            <a:prstGeom prst="roundRect">
              <a:avLst>
                <a:gd name="adj" fmla="val 50000"/>
              </a:avLst>
            </a:prstGeom>
            <a:solidFill>
              <a:srgbClr val="01708C"/>
            </a:solidFill>
            <a:ln>
              <a:noFill/>
            </a:ln>
          </p:spPr>
          <p:txBody>
            <a:bodyPr/>
            <a:lstStyle/>
            <a:p>
              <a:endParaRPr/>
            </a:p>
          </p:txBody>
        </p:sp>
        <p:sp>
          <p:nvSpPr>
            <p:cNvPr id="699" name="TEACH-move-text"/>
            <p:cNvSpPr txBox="1"/>
            <p:nvPr/>
          </p:nvSpPr>
          <p:spPr>
            <a:xfrm>
              <a:off x="822960" y="359217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73"/>
          <p:cNvSpPr txBox="1"/>
          <p:nvPr/>
        </p:nvSpPr>
        <p:spPr>
          <a:xfrm>
            <a:off x="484564" y="424203"/>
            <a:ext cx="6390689" cy="10866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create a box plot to analyze the data set.</a:t>
            </a:r>
            <a:endParaRPr b="1" i="0" sz="2800" u="none" cap="none" strike="noStrike">
              <a:solidFill>
                <a:srgbClr val="262626"/>
              </a:solidFill>
              <a:latin typeface="Arial"/>
              <a:ea typeface="Arial"/>
              <a:cs typeface="Arial"/>
              <a:sym typeface="Arial"/>
            </a:endParaRPr>
          </a:p>
        </p:txBody>
      </p:sp>
      <p:cxnSp>
        <p:nvCxnSpPr>
          <p:cNvPr id="727" name="Google Shape;727;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8" name="Google Shape;728;p73"/>
          <p:cNvSpPr txBox="1"/>
          <p:nvPr/>
        </p:nvSpPr>
        <p:spPr>
          <a:xfrm>
            <a:off x="484564" y="4755070"/>
            <a:ext cx="9463844" cy="16211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find the lower extreme, first quartile, median, third quartile, and upper extreme.</a:t>
            </a:r>
            <a:endParaRPr b="0" i="0" sz="1400" u="none" cap="none" strike="noStrike">
              <a:solidFill>
                <a:srgbClr val="000000"/>
              </a:solidFill>
              <a:latin typeface="Arial"/>
              <a:ea typeface="Arial"/>
              <a:cs typeface="Arial"/>
              <a:sym typeface="Arial"/>
            </a:endParaRPr>
          </a:p>
        </p:txBody>
      </p:sp>
      <p:pic>
        <p:nvPicPr>
          <p:cNvPr id="729" name="Google Shape;729;p73"/>
          <p:cNvPicPr preferRelativeResize="0"/>
          <p:nvPr/>
        </p:nvPicPr>
        <p:blipFill rotWithShape="1">
          <a:blip r:embed="rId3">
            <a:alphaModFix/>
          </a:blip>
          <a:srcRect b="0" l="0" r="0" t="0"/>
          <a:stretch/>
        </p:blipFill>
        <p:spPr>
          <a:xfrm>
            <a:off x="939595" y="1960808"/>
            <a:ext cx="9263184" cy="405591"/>
          </a:xfrm>
          <a:prstGeom prst="rect">
            <a:avLst/>
          </a:prstGeom>
          <a:noFill/>
          <a:ln>
            <a:noFill/>
          </a:ln>
        </p:spPr>
      </p:pic>
      <p:sp>
        <p:nvSpPr>
          <p:cNvPr id="730" name="Google Shape;730;p73"/>
          <p:cNvSpPr txBox="1"/>
          <p:nvPr/>
        </p:nvSpPr>
        <p:spPr>
          <a:xfrm>
            <a:off x="484564" y="3089405"/>
            <a:ext cx="8283655" cy="9870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five markers do you need to create the box plot?</a:t>
            </a:r>
            <a:endParaRPr b="0" i="0" sz="1400" u="none" cap="none" strike="noStrike">
              <a:solidFill>
                <a:srgbClr val="000000"/>
              </a:solidFill>
              <a:latin typeface="Arial"/>
              <a:ea typeface="Arial"/>
              <a:cs typeface="Arial"/>
              <a:sym typeface="Arial"/>
            </a:endParaRPr>
          </a:p>
        </p:txBody>
      </p:sp>
      <p:sp>
        <p:nvSpPr>
          <p:cNvPr id="7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46</a:t>
            </a:r>
          </a:p>
        </p:txBody>
      </p:sp>
      <p:sp>
        <p:nvSpPr>
          <p:cNvPr id="732" name="EWL-COVER-1"/>
          <p:cNvSpPr/>
          <p:nvPr/>
        </p:nvSpPr>
        <p:spPr>
          <a:xfrm>
            <a:off x="429700" y="4700206"/>
            <a:ext cx="9573572" cy="1730848"/>
          </a:xfrm>
          <a:prstGeom prst="rect">
            <a:avLst/>
          </a:prstGeom>
          <a:solidFill>
            <a:srgbClr val="FFFFFF"/>
          </a:solidFill>
          <a:ln>
            <a:noFill/>
          </a:ln>
        </p:spPr>
        <p:txBody>
          <a:bodyPr/>
          <a:lstStyle/>
          <a:p/>
        </p:txBody>
      </p:sp>
      <p:grpSp>
        <p:nvGrpSpPr>
          <p:cNvPr id="733" name="TEACH-6-student-move" descr="TEACH 6 · Organize and implement routines to support a learning-focused classroom"/>
          <p:cNvGrpSpPr/>
          <p:nvPr/>
        </p:nvGrpSpPr>
        <p:grpSpPr>
          <a:xfrm>
            <a:off x="502920" y="4316158"/>
            <a:ext cx="11186160" cy="402336"/>
            <a:chOff x="502920" y="4316158"/>
            <a:chExt cx="11186160" cy="402336"/>
          </a:xfrm>
        </p:grpSpPr>
        <p:sp>
          <p:nvSpPr>
            <p:cNvPr id="734" name="TEACH-move-card"/>
            <p:cNvSpPr/>
            <p:nvPr/>
          </p:nvSpPr>
          <p:spPr>
            <a:xfrm>
              <a:off x="502920" y="431615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35" name="TEACH-move-rule"/>
            <p:cNvSpPr/>
            <p:nvPr/>
          </p:nvSpPr>
          <p:spPr>
            <a:xfrm>
              <a:off x="548640" y="4392602"/>
              <a:ext cx="100584" cy="249448"/>
            </a:xfrm>
            <a:prstGeom prst="roundRect">
              <a:avLst>
                <a:gd name="adj" fmla="val 50000"/>
              </a:avLst>
            </a:prstGeom>
            <a:solidFill>
              <a:srgbClr val="01708C"/>
            </a:solidFill>
            <a:ln>
              <a:noFill/>
            </a:ln>
          </p:spPr>
          <p:txBody>
            <a:bodyPr/>
            <a:lstStyle/>
            <a:p>
              <a:endParaRPr/>
            </a:p>
          </p:txBody>
        </p:sp>
        <p:sp>
          <p:nvSpPr>
            <p:cNvPr id="736" name="TEACH-move-text"/>
            <p:cNvSpPr txBox="1"/>
            <p:nvPr/>
          </p:nvSpPr>
          <p:spPr>
            <a:xfrm>
              <a:off x="822960" y="431615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80"/>
          <p:cNvSpPr txBox="1"/>
          <p:nvPr/>
        </p:nvSpPr>
        <p:spPr>
          <a:xfrm>
            <a:off x="484564" y="4077693"/>
            <a:ext cx="8668672" cy="1796635"/>
          </a:xfrm>
          <a:prstGeom prst="rect">
            <a:avLst/>
          </a:prstGeom>
          <a:blipFill rotWithShape="1">
            <a:blip r:embed="rId3">
              <a:alphaModFix/>
            </a:blip>
            <a:stretch>
              <a:fillRect b="0" l="-1405"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88" name="Google Shape;788;p80"/>
          <p:cNvSpPr txBox="1"/>
          <p:nvPr/>
        </p:nvSpPr>
        <p:spPr>
          <a:xfrm>
            <a:off x="484564" y="408013"/>
            <a:ext cx="6028379" cy="11513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find the interquartile range (IQR) of this data set.</a:t>
            </a:r>
            <a:endParaRPr b="1" i="0" sz="2800" u="none" cap="none" strike="noStrike">
              <a:solidFill>
                <a:srgbClr val="262626"/>
              </a:solidFill>
              <a:latin typeface="Arial"/>
              <a:ea typeface="Arial"/>
              <a:cs typeface="Arial"/>
              <a:sym typeface="Arial"/>
            </a:endParaRPr>
          </a:p>
        </p:txBody>
      </p:sp>
      <p:cxnSp>
        <p:nvCxnSpPr>
          <p:cNvPr id="789" name="Google Shape;789;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90" name="Google Shape;790;p80"/>
          <p:cNvPicPr preferRelativeResize="0"/>
          <p:nvPr/>
        </p:nvPicPr>
        <p:blipFill rotWithShape="1">
          <a:blip r:embed="rId4">
            <a:alphaModFix/>
          </a:blip>
          <a:srcRect b="0" l="0" r="0" t="0"/>
          <a:stretch/>
        </p:blipFill>
        <p:spPr>
          <a:xfrm>
            <a:off x="990923" y="1810163"/>
            <a:ext cx="6781800" cy="1381125"/>
          </a:xfrm>
          <a:prstGeom prst="rect">
            <a:avLst/>
          </a:prstGeom>
          <a:noFill/>
          <a:ln>
            <a:noFill/>
          </a:ln>
        </p:spPr>
      </p:pic>
      <p:sp>
        <p:nvSpPr>
          <p:cNvPr id="7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46</a:t>
            </a:r>
          </a:p>
        </p:txBody>
      </p:sp>
      <p:sp xmlns:p="http://schemas.openxmlformats.org/presentationml/2006/main" xmlns:a="http://schemas.openxmlformats.org/drawingml/2006/main">
        <p:nvSpPr>
          <p:cNvPr id="792" name="TEACH-embedded-student-prompt" descr="Student thinking and response directions"/>
          <p:cNvSpPr txBox="1"/>
          <p:nvPr/>
        </p:nvSpPr>
        <p:spPr>
          <a:xfrm>
            <a:off x="594360" y="3438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8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41" name="Google Shape;841;p85"/>
          <p:cNvSpPr txBox="1"/>
          <p:nvPr/>
        </p:nvSpPr>
        <p:spPr>
          <a:xfrm>
            <a:off x="5930885" y="289210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42" name="Google Shape;842;p85"/>
          <p:cNvSpPr txBox="1"/>
          <p:nvPr/>
        </p:nvSpPr>
        <p:spPr>
          <a:xfrm>
            <a:off x="484564" y="927528"/>
            <a:ext cx="8454281" cy="96328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If the median describes the center of a data set, what does the interquartile range describe?​</a:t>
            </a:r>
            <a:endParaRPr b="0" i="0" sz="1400" u="none" cap="none" strike="noStrike">
              <a:solidFill>
                <a:srgbClr val="000000"/>
              </a:solidFill>
              <a:latin typeface="Arial"/>
              <a:ea typeface="Arial"/>
              <a:cs typeface="Arial"/>
              <a:sym typeface="Arial"/>
            </a:endParaRPr>
          </a:p>
        </p:txBody>
      </p:sp>
      <p:sp>
        <p:nvSpPr>
          <p:cNvPr id="843" name="Google Shape;843;p85"/>
          <p:cNvSpPr/>
          <p:nvPr/>
        </p:nvSpPr>
        <p:spPr>
          <a:xfrm>
            <a:off x="603316" y="1930399"/>
            <a:ext cx="6672983" cy="153315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44" name="Google Shape;844;p85"/>
          <p:cNvSpPr txBox="1"/>
          <p:nvPr/>
        </p:nvSpPr>
        <p:spPr>
          <a:xfrm>
            <a:off x="484564" y="3619268"/>
            <a:ext cx="10888723" cy="96460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Which value, the range or the interquartile range, tells you more about the spread of the data values? Explain your reasoning.</a:t>
            </a:r>
            <a:endParaRPr b="0" i="0" sz="1400" u="none" cap="none" strike="noStrike">
              <a:solidFill>
                <a:srgbClr val="000000"/>
              </a:solidFill>
              <a:latin typeface="Arial"/>
              <a:ea typeface="Arial"/>
              <a:cs typeface="Arial"/>
              <a:sym typeface="Arial"/>
            </a:endParaRPr>
          </a:p>
        </p:txBody>
      </p:sp>
      <p:sp>
        <p:nvSpPr>
          <p:cNvPr id="845" name="Google Shape;845;p85"/>
          <p:cNvSpPr txBox="1"/>
          <p:nvPr/>
        </p:nvSpPr>
        <p:spPr>
          <a:xfrm>
            <a:off x="5960573" y="565312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46" name="Google Shape;846;p85"/>
          <p:cNvSpPr/>
          <p:nvPr/>
        </p:nvSpPr>
        <p:spPr>
          <a:xfrm>
            <a:off x="633004" y="4691412"/>
            <a:ext cx="6672983" cy="153315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46</a:t>
            </a:r>
          </a:p>
        </p:txBody>
      </p:sp>
      <p:sp xmlns:p="http://schemas.openxmlformats.org/presentationml/2006/main" xmlns:a="http://schemas.openxmlformats.org/drawingml/2006/main">
        <p:nvSpPr>
          <p:cNvPr id="848" name="TEACH-embedded-student-prompt" descr="Student thinking and response directions"/>
          <p:cNvSpPr txBox="1"/>
          <p:nvPr/>
        </p:nvSpPr>
        <p:spPr>
          <a:xfrm>
            <a:off x="7391400" y="23591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2.5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values determine the range and which determine the IQR? Why might the two comparisons tell different stories?</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54" name="Google Shape;654;p65"/>
          <p:cNvSpPr txBox="1"/>
          <p:nvPr/>
        </p:nvSpPr>
        <p:spPr>
          <a:xfrm>
            <a:off x="484564" y="3632423"/>
            <a:ext cx="8668672" cy="9870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might you organize the data to help you see the variability?</a:t>
            </a:r>
            <a:endParaRPr b="0" i="0" sz="1400" u="none" cap="none" strike="noStrike">
              <a:solidFill>
                <a:srgbClr val="000000"/>
              </a:solidFill>
              <a:latin typeface="Arial"/>
              <a:ea typeface="Arial"/>
              <a:cs typeface="Arial"/>
              <a:sym typeface="Arial"/>
            </a:endParaRPr>
          </a:p>
        </p:txBody>
      </p:sp>
      <p:sp>
        <p:nvSpPr>
          <p:cNvPr id="655" name="Google Shape;655;p65"/>
          <p:cNvSpPr txBox="1"/>
          <p:nvPr/>
        </p:nvSpPr>
        <p:spPr>
          <a:xfrm>
            <a:off x="484564" y="467656"/>
            <a:ext cx="6322636" cy="26198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We can use numbers called </a:t>
            </a:r>
            <a:r>
              <a:rPr b="1" i="0" lang="en-US" sz="2800" u="none" cap="none" strike="noStrike">
                <a:solidFill>
                  <a:srgbClr val="262626"/>
                </a:solidFill>
                <a:highlight>
                  <a:srgbClr val="FFFF00"/>
                </a:highlight>
                <a:latin typeface="Arial"/>
                <a:ea typeface="Arial"/>
                <a:cs typeface="Arial"/>
                <a:sym typeface="Arial"/>
              </a:rPr>
              <a:t>measures of variation</a:t>
            </a:r>
            <a:r>
              <a:rPr b="0" i="0" lang="en-US" sz="2800" u="none" cap="none" strike="noStrike">
                <a:solidFill>
                  <a:srgbClr val="262626"/>
                </a:solidFill>
                <a:latin typeface="Arial"/>
                <a:ea typeface="Arial"/>
                <a:cs typeface="Arial"/>
                <a:sym typeface="Arial"/>
              </a:rPr>
              <a:t> to describe the variability, or spread, of a data set. A measure of variation can describe all values of a data set with a single number.</a:t>
            </a:r>
            <a:endParaRPr b="1" i="0" sz="2800" u="none" cap="none" strike="noStrike">
              <a:solidFill>
                <a:srgbClr val="262626"/>
              </a:solidFill>
              <a:latin typeface="Arial"/>
              <a:ea typeface="Arial"/>
              <a:cs typeface="Arial"/>
              <a:sym typeface="Arial"/>
            </a:endParaRPr>
          </a:p>
        </p:txBody>
      </p:sp>
      <p:cxnSp>
        <p:nvCxnSpPr>
          <p:cNvPr id="656" name="Google Shape;656;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7" name="Google Shape;657;p65"/>
          <p:cNvSpPr txBox="1"/>
          <p:nvPr/>
        </p:nvSpPr>
        <p:spPr>
          <a:xfrm>
            <a:off x="444980" y="5313547"/>
            <a:ext cx="8563299" cy="10948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could list the data in order from least to greatest.</a:t>
            </a:r>
            <a:endParaRPr b="0" i="0" sz="1400" u="none" cap="none" strike="noStrike">
              <a:solidFill>
                <a:srgbClr val="000000"/>
              </a:solidFill>
              <a:latin typeface="Arial"/>
              <a:ea typeface="Arial"/>
              <a:cs typeface="Arial"/>
              <a:sym typeface="Arial"/>
            </a:endParaRPr>
          </a:p>
        </p:txBody>
      </p:sp>
      <p:graphicFrame>
        <p:nvGraphicFramePr>
          <p:cNvPr id="658" name="Google Shape;658;p65"/>
          <p:cNvGraphicFramePr/>
          <p:nvPr/>
        </p:nvGraphicFramePr>
        <p:xfrm>
          <a:off x="7107035" y="1204130"/>
          <a:ext cx="3000000" cy="3000000"/>
        </p:xfrm>
        <a:graphic>
          <a:graphicData uri="http://schemas.openxmlformats.org/drawingml/2006/table">
            <a:tbl>
              <a:tblPr bandRow="1" firstRow="1">
                <a:noFill/>
                <a:tableStyleId>{47833331-C21C-42AE-898B-A6B15D1FA907}</a:tableStyleId>
              </a:tblPr>
              <a:tblGrid>
                <a:gridCol w="725125"/>
                <a:gridCol w="725125"/>
                <a:gridCol w="725125"/>
                <a:gridCol w="725125"/>
                <a:gridCol w="725125"/>
              </a:tblGrid>
              <a:tr h="292300">
                <a:tc gridSpan="5">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Arial"/>
                          <a:ea typeface="Arial"/>
                          <a:cs typeface="Arial"/>
                          <a:sym typeface="Arial"/>
                        </a:rPr>
                        <a:t>Data Table</a:t>
                      </a:r>
                      <a:endParaRPr sz="1400" u="none" cap="none" strike="noStrike"/>
                    </a:p>
                  </a:txBody>
                  <a:tcPr marT="45725" marB="45725" marR="91450" marL="91450">
                    <a:lnB cap="flat" cmpd="sng" w="12700">
                      <a:solidFill>
                        <a:srgbClr val="D0CECE"/>
                      </a:solidFill>
                      <a:prstDash val="solid"/>
                      <a:round/>
                      <a:headEnd len="sm" w="sm" type="none"/>
                      <a:tailEnd len="sm" w="sm" type="none"/>
                    </a:lnB>
                    <a:solidFill>
                      <a:schemeClr val="lt1"/>
                    </a:solidFill>
                  </a:tcPr>
                </a:tc>
                <a:tc hMerge="1"/>
                <a:tc hMerge="1"/>
                <a:tc hMerge="1"/>
                <a:tc hMerge="1"/>
              </a:tr>
              <a:tr h="315450">
                <a:tc gridSpan="5">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History Test Scores</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194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68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635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82</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75</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77</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74</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1545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86</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93</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88</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70</a:t>
                      </a:r>
                      <a:endParaRPr sz="18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46</a:t>
            </a:r>
          </a:p>
        </p:txBody>
      </p:sp>
      <p:grpSp>
        <p:nvGrpSpPr>
          <p:cNvPr id="659" name="TEACH-4-student-move" descr="TEACH 4 · Monitor progress and provide feedback"/>
          <p:cNvGrpSpPr/>
          <p:nvPr/>
        </p:nvGrpSpPr>
        <p:grpSpPr>
          <a:xfrm>
            <a:off x="502920" y="4874635"/>
            <a:ext cx="11186160" cy="402336"/>
            <a:chOff x="502920" y="4874635"/>
            <a:chExt cx="11186160" cy="402336"/>
          </a:xfrm>
        </p:grpSpPr>
        <p:sp>
          <p:nvSpPr>
            <p:cNvPr id="660" name="TEACH-move-card"/>
            <p:cNvSpPr/>
            <p:nvPr/>
          </p:nvSpPr>
          <p:spPr>
            <a:xfrm>
              <a:off x="502920" y="4874635"/>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61" name="TEACH-move-rule"/>
            <p:cNvSpPr/>
            <p:nvPr/>
          </p:nvSpPr>
          <p:spPr>
            <a:xfrm>
              <a:off x="548640" y="4951079"/>
              <a:ext cx="100584" cy="249448"/>
            </a:xfrm>
            <a:prstGeom prst="roundRect">
              <a:avLst>
                <a:gd name="adj" fmla="val 50000"/>
              </a:avLst>
            </a:prstGeom>
            <a:solidFill>
              <a:srgbClr val="01708C"/>
            </a:solidFill>
            <a:ln>
              <a:noFill/>
            </a:ln>
          </p:spPr>
          <p:txBody>
            <a:bodyPr/>
            <a:lstStyle/>
            <a:p>
              <a:endParaRPr/>
            </a:p>
          </p:txBody>
        </p:sp>
        <p:sp>
          <p:nvSpPr>
            <p:cNvPr id="662" name="TEACH-move-text"/>
            <p:cNvSpPr txBox="1"/>
            <p:nvPr/>
          </p:nvSpPr>
          <p:spPr>
            <a:xfrm>
              <a:off x="822960" y="4874635"/>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08" name="Google Shape;708;p71"/>
          <p:cNvSpPr txBox="1"/>
          <p:nvPr/>
        </p:nvSpPr>
        <p:spPr>
          <a:xfrm>
            <a:off x="484564" y="3089405"/>
            <a:ext cx="8668672" cy="9870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tool can you use to further analyze the distribution of a data set?</a:t>
            </a:r>
            <a:endParaRPr b="0" i="0" sz="1400" u="none" cap="none" strike="noStrike">
              <a:solidFill>
                <a:srgbClr val="000000"/>
              </a:solidFill>
              <a:latin typeface="Arial"/>
              <a:ea typeface="Arial"/>
              <a:cs typeface="Arial"/>
              <a:sym typeface="Arial"/>
            </a:endParaRPr>
          </a:p>
        </p:txBody>
      </p:sp>
      <p:sp>
        <p:nvSpPr>
          <p:cNvPr id="709" name="Google Shape;709;p71"/>
          <p:cNvSpPr txBox="1"/>
          <p:nvPr/>
        </p:nvSpPr>
        <p:spPr>
          <a:xfrm>
            <a:off x="484564" y="471871"/>
            <a:ext cx="5303761" cy="6747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range of the data set is 26.</a:t>
            </a:r>
            <a:endParaRPr b="1" i="0" sz="2800" u="none" cap="none" strike="noStrike">
              <a:solidFill>
                <a:srgbClr val="262626"/>
              </a:solidFill>
              <a:latin typeface="Arial"/>
              <a:ea typeface="Arial"/>
              <a:cs typeface="Arial"/>
              <a:sym typeface="Arial"/>
            </a:endParaRPr>
          </a:p>
        </p:txBody>
      </p:sp>
      <p:cxnSp>
        <p:nvCxnSpPr>
          <p:cNvPr id="710" name="Google Shape;710;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1" name="Google Shape;711;p71"/>
          <p:cNvSpPr txBox="1"/>
          <p:nvPr/>
        </p:nvSpPr>
        <p:spPr>
          <a:xfrm>
            <a:off x="484564" y="4850526"/>
            <a:ext cx="5960624" cy="116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box plot.</a:t>
            </a:r>
            <a:endParaRPr b="0" i="0" sz="1400" u="none" cap="none" strike="noStrike">
              <a:solidFill>
                <a:srgbClr val="000000"/>
              </a:solidFill>
              <a:latin typeface="Arial"/>
              <a:ea typeface="Arial"/>
              <a:cs typeface="Arial"/>
              <a:sym typeface="Arial"/>
            </a:endParaRPr>
          </a:p>
        </p:txBody>
      </p:sp>
      <p:pic>
        <p:nvPicPr>
          <p:cNvPr id="712" name="Google Shape;712;p71"/>
          <p:cNvPicPr preferRelativeResize="0"/>
          <p:nvPr/>
        </p:nvPicPr>
        <p:blipFill rotWithShape="1">
          <a:blip r:embed="rId2">
            <a:alphaModFix/>
          </a:blip>
          <a:srcRect b="0" l="0" r="0" t="0"/>
          <a:stretch/>
        </p:blipFill>
        <p:spPr>
          <a:xfrm>
            <a:off x="939595" y="1960808"/>
            <a:ext cx="9263184" cy="405591"/>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46</a:t>
            </a:r>
          </a:p>
        </p:txBody>
      </p:sp>
      <p:sp xmlns:p="http://schemas.openxmlformats.org/presentationml/2006/main" xmlns:a="http://schemas.openxmlformats.org/drawingml/2006/main">
        <p:nvSpPr>
          <p:cNvPr id="713" name="TEACH-embedded-student-prompt" descr="Student thinking and response directions"/>
          <p:cNvSpPr txBox="1"/>
          <p:nvPr/>
        </p:nvSpPr>
        <p:spPr>
          <a:xfrm>
            <a:off x="594360" y="42611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61" name="Google Shape;761;p77"/>
          <p:cNvSpPr txBox="1"/>
          <p:nvPr/>
        </p:nvSpPr>
        <p:spPr>
          <a:xfrm>
            <a:off x="614743" y="2974903"/>
            <a:ext cx="8668672" cy="9870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determine the spread of the values in the middle half of the data set?</a:t>
            </a:r>
            <a:endParaRPr b="0" i="0" sz="1400" u="none" cap="none" strike="noStrike">
              <a:solidFill>
                <a:srgbClr val="000000"/>
              </a:solidFill>
              <a:latin typeface="Arial"/>
              <a:ea typeface="Arial"/>
              <a:cs typeface="Arial"/>
              <a:sym typeface="Arial"/>
            </a:endParaRPr>
          </a:p>
        </p:txBody>
      </p:sp>
      <p:pic>
        <p:nvPicPr>
          <p:cNvPr id="762" name="Google Shape;762;p77"/>
          <p:cNvPicPr preferRelativeResize="0"/>
          <p:nvPr/>
        </p:nvPicPr>
        <p:blipFill rotWithShape="1">
          <a:blip r:embed="rId2">
            <a:alphaModFix/>
          </a:blip>
          <a:srcRect b="0" l="0" r="0" t="0"/>
          <a:stretch/>
        </p:blipFill>
        <p:spPr>
          <a:xfrm>
            <a:off x="837281" y="1071388"/>
            <a:ext cx="6810375" cy="1276350"/>
          </a:xfrm>
          <a:prstGeom prst="rect">
            <a:avLst/>
          </a:prstGeom>
          <a:noFill/>
          <a:ln>
            <a:noFill/>
          </a:ln>
        </p:spPr>
      </p:pic>
      <p:cxnSp>
        <p:nvCxnSpPr>
          <p:cNvPr id="763" name="Google Shape;763;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4" name="Google Shape;764;p77"/>
          <p:cNvSpPr txBox="1"/>
          <p:nvPr/>
        </p:nvSpPr>
        <p:spPr>
          <a:xfrm>
            <a:off x="614743" y="4236572"/>
            <a:ext cx="9745582" cy="19054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the difference between the value that marks the right edge of the box, quartile 3, and the value that marks the left side of the box, quartile 1.</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46</a:t>
            </a:r>
          </a:p>
        </p:txBody>
      </p:sp>
      <p:grpSp>
        <p:nvGrpSpPr>
          <p:cNvPr id="765" name="TEACH-2-student-move" descr="TEACH 2 · Use strategies and tasks to engage students in rigorous work"/>
          <p:cNvGrpSpPr/>
          <p:nvPr/>
        </p:nvGrpSpPr>
        <p:grpSpPr>
          <a:xfrm>
            <a:off x="502920" y="2535991"/>
            <a:ext cx="11186160" cy="402336"/>
            <a:chOff x="502920" y="2535991"/>
            <a:chExt cx="11186160" cy="402336"/>
          </a:xfrm>
        </p:grpSpPr>
        <p:sp>
          <p:nvSpPr>
            <p:cNvPr id="766" name="TEACH-move-card"/>
            <p:cNvSpPr/>
            <p:nvPr/>
          </p:nvSpPr>
          <p:spPr>
            <a:xfrm>
              <a:off x="502920" y="2535991"/>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67" name="TEACH-move-rule"/>
            <p:cNvSpPr/>
            <p:nvPr/>
          </p:nvSpPr>
          <p:spPr>
            <a:xfrm>
              <a:off x="548640" y="2612435"/>
              <a:ext cx="100584" cy="249448"/>
            </a:xfrm>
            <a:prstGeom prst="roundRect">
              <a:avLst>
                <a:gd name="adj" fmla="val 50000"/>
              </a:avLst>
            </a:prstGeom>
            <a:solidFill>
              <a:srgbClr val="01708C"/>
            </a:solidFill>
            <a:ln>
              <a:noFill/>
            </a:ln>
          </p:spPr>
          <p:txBody>
            <a:bodyPr/>
            <a:lstStyle/>
            <a:p>
              <a:endParaRPr/>
            </a:p>
          </p:txBody>
        </p:sp>
        <p:sp>
          <p:nvSpPr>
            <p:cNvPr id="768" name="TEACH-move-text"/>
            <p:cNvSpPr txBox="1"/>
            <p:nvPr/>
          </p:nvSpPr>
          <p:spPr>
            <a:xfrm>
              <a:off x="822960" y="2535991"/>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How is the overall range of a dataset calculated?</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Max + Min</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Max − Min</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Q3 − Q1</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 ÷ 2</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How is the interquartile range (IQR) calculated?</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Max − Min</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Q3 − Q1</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Q1 + Q3</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Median ÷ 2</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If Q1 = 14 and Q3 = 30, what is the IQR?</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14</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16</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22</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44</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IQR describes the variability of the: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Outliers only</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Middle 50% of data</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Full range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Smallest quarter</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46</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2-5 · Describe Data by Range and Interquartile Range</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Range Calculation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Total </a:t>
            </a:r>
            <a:r>
              <a:rPr b="1" i="0" lang="en-US" sz="1450" u="none" cap="none" strike="noStrike">
                <a:solidFill>
                  <a:srgbClr val="475569"/>
                </a:solidFill>
                <a:latin typeface="Arial"/>
                <a:ea typeface="Arial"/>
                <a:cs typeface="Arial"/>
                <a:sym typeface="Arial"/>
              </a:rPr>
              <a:t xml:space="preserve">spread</a:t>
            </a:r>
            <a:r>
              <a:rPr b="0" i="0" lang="en-US" sz="1450" u="none" cap="none" strike="noStrike">
                <a:solidFill>
                  <a:srgbClr val="475569"/>
                </a:solidFill>
                <a:latin typeface="Arial"/>
                <a:ea typeface="Arial"/>
                <a:cs typeface="Arial"/>
                <a:sym typeface="Arial"/>
              </a:rPr>
              <a:t xml:space="preserve"> across all data: </a:t>
            </a:r>
            <a:r>
              <a:rPr b="1" i="0" lang="en-US" sz="1450" u="none" cap="none" strike="noStrike">
                <a:solidFill>
                  <a:srgbClr val="475569"/>
                </a:solidFill>
                <a:latin typeface="Arial"/>
                <a:ea typeface="Arial"/>
                <a:cs typeface="Arial"/>
                <a:sym typeface="Arial"/>
              </a:rPr>
              <a:t xml:space="preserve">Range</a:t>
            </a:r>
            <a:r>
              <a:rPr b="0" i="0" lang="en-US" sz="1450" u="none" cap="none" strike="noStrike">
                <a:solidFill>
                  <a:srgbClr val="475569"/>
                </a:solidFill>
                <a:latin typeface="Arial"/>
                <a:ea typeface="Arial"/>
                <a:cs typeface="Arial"/>
                <a:sym typeface="Arial"/>
              </a:rPr>
              <a:t xml:space="preserve"> = Maximum − Minimum.</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IQR Calculation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Spread of the central cluster: </a:t>
            </a:r>
            <a:r>
              <a:rPr b="1" i="0" lang="en-US" sz="1450" u="none" cap="none" strike="noStrike">
                <a:solidFill>
                  <a:srgbClr val="475569"/>
                </a:solidFill>
                <a:latin typeface="Arial"/>
                <a:ea typeface="Arial"/>
                <a:cs typeface="Arial"/>
                <a:sym typeface="Arial"/>
              </a:rPr>
              <a:t xml:space="preserve">Interquartile Range</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IQR</a:t>
            </a:r>
            <a:r>
              <a:rPr b="0" i="0" lang="en-US" sz="1450" u="none" cap="none" strike="noStrike">
                <a:solidFill>
                  <a:srgbClr val="475569"/>
                </a:solidFill>
                <a:latin typeface="Arial"/>
                <a:ea typeface="Arial"/>
                <a:cs typeface="Arial"/>
                <a:sym typeface="Arial"/>
              </a:rPr>
              <a:t xml:space="preserve">) = Q3 − Q1.</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Outlier Resistance</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IQR is unaffected by extreme high or low values, making it ideal for skewed sets.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46</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86"/>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by Range and Interquartile Range</a:t>
            </a:r>
            <a:endParaRPr b="0" i="0" sz="1400" u="none" cap="none" strike="noStrike">
              <a:solidFill>
                <a:srgbClr val="000000"/>
              </a:solidFill>
              <a:latin typeface="Arial"/>
              <a:ea typeface="Arial"/>
              <a:cs typeface="Arial"/>
              <a:sym typeface="Arial"/>
            </a:endParaRPr>
          </a:p>
        </p:txBody>
      </p:sp>
      <p:sp>
        <p:nvSpPr>
          <p:cNvPr id="852" name="Google Shape;852;p86"/>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53" name="Google Shape;853;p86"/>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46</a:t>
            </a:r>
          </a:p>
        </p:txBody>
      </p:sp>
      <p:grpSp>
        <p:nvGrpSpPr>
          <p:cNvPr id="855" name="TEACH-3-student-move" descr="TEACH 3 · Use intentional questioning to deepen learning"/>
          <p:cNvGrpSpPr/>
          <p:nvPr/>
        </p:nvGrpSpPr>
        <p:grpSpPr>
          <a:xfrm>
            <a:off x="502920" y="3867612"/>
            <a:ext cx="11186160" cy="731520"/>
            <a:chOff x="502920" y="3867612"/>
            <a:chExt cx="11186160" cy="731520"/>
          </a:xfrm>
        </p:grpSpPr>
        <p:sp>
          <p:nvSpPr>
            <p:cNvPr id="856"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57"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58"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ANOTHER PATHWAY  ·  </a:t>
              </a:r>
              <a:r>
                <a:rPr lang="en-US" sz="1800" dirty="0">
                  <a:solidFill>
                    <a:srgbClr val="13303A"/>
                  </a:solidFill>
                  <a:latin typeface="Arial"/>
                </a:rPr>
                <a:t>Did anyone get there a different way? Put both pathways side by side and compare.</a:t>
              </a:r>
              <a:endParaRPr lang="en-US" sz="18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cxnSp>
        <p:nvCxnSpPr>
          <p:cNvPr id="869" name="Google Shape;869;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0" name="Google Shape;870;p88"/>
          <p:cNvSpPr/>
          <p:nvPr/>
        </p:nvSpPr>
        <p:spPr>
          <a:xfrm>
            <a:off x="609600" y="1588655"/>
            <a:ext cx="8017164" cy="2715490"/>
          </a:xfrm>
          <a:prstGeom prst="snip1Rect">
            <a:avLst>
              <a:gd fmla="val 16667" name="adj"/>
            </a:avLst>
          </a:prstGeom>
          <a:noFill/>
          <a:ln cap="flat" cmpd="sng" w="19050">
            <a:solidFill>
              <a:srgbClr val="53813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71" name="Google Shape;871;p88"/>
          <p:cNvSpPr txBox="1"/>
          <p:nvPr/>
        </p:nvSpPr>
        <p:spPr>
          <a:xfrm flipH="1">
            <a:off x="1450024" y="2424393"/>
            <a:ext cx="615150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rgbClr val="782DA0"/>
                </a:solidFill>
                <a:latin typeface="Arial"/>
                <a:ea typeface="Arial"/>
                <a:cs typeface="Arial"/>
                <a:sym typeface="Arial"/>
              </a:rPr>
              <a:t>The median is exactly in the middle of the first and third quartiles.</a:t>
            </a:r>
            <a:endParaRPr b="0" i="1" sz="2800" u="none" cap="none" strike="noStrike">
              <a:solidFill>
                <a:srgbClr val="7030A0"/>
              </a:solidFill>
              <a:latin typeface="Arial"/>
              <a:ea typeface="Arial"/>
              <a:cs typeface="Arial"/>
              <a:sym typeface="Arial"/>
            </a:endParaRPr>
          </a:p>
        </p:txBody>
      </p:sp>
      <p:sp>
        <p:nvSpPr>
          <p:cNvPr id="872" name="Google Shape;872;p88"/>
          <p:cNvSpPr txBox="1"/>
          <p:nvPr/>
        </p:nvSpPr>
        <p:spPr>
          <a:xfrm>
            <a:off x="474054" y="936100"/>
            <a:ext cx="5216531" cy="13452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Is it always true?</a:t>
            </a:r>
            <a:endParaRPr b="0" i="0" sz="1400" u="none" cap="none" strike="noStrike">
              <a:solidFill>
                <a:srgbClr val="000000"/>
              </a:solidFill>
              <a:latin typeface="Arial"/>
              <a:ea typeface="Arial"/>
              <a:cs typeface="Arial"/>
              <a:sym typeface="Arial"/>
            </a:endParaRPr>
          </a:p>
        </p:txBody>
      </p:sp>
      <p:sp>
        <p:nvSpPr>
          <p:cNvPr id="873" name="Google Shape;873;p88"/>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74" name="Google Shape;874;p88"/>
          <p:cNvPicPr preferRelativeResize="0"/>
          <p:nvPr/>
        </p:nvPicPr>
        <p:blipFill rotWithShape="1">
          <a:blip r:embed="rId3">
            <a:alphaModFix/>
          </a:blip>
          <a:srcRect b="0" l="0" r="0" t="0"/>
          <a:stretch/>
        </p:blipFill>
        <p:spPr>
          <a:xfrm>
            <a:off x="474054" y="4720783"/>
            <a:ext cx="5054600" cy="838200"/>
          </a:xfrm>
          <a:prstGeom prst="rect">
            <a:avLst/>
          </a:prstGeom>
          <a:noFill/>
          <a:ln>
            <a:noFill/>
          </a:ln>
        </p:spPr>
      </p:pic>
      <p:sp>
        <p:nvSpPr>
          <p:cNvPr id="875" name="Google Shape;875;p88"/>
          <p:cNvSpPr txBox="1"/>
          <p:nvPr/>
        </p:nvSpPr>
        <p:spPr>
          <a:xfrm>
            <a:off x="3334071" y="4878101"/>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76" name="Google Shape;876;p88"/>
          <p:cNvSpPr/>
          <p:nvPr/>
        </p:nvSpPr>
        <p:spPr>
          <a:xfrm>
            <a:off x="687250" y="5453810"/>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being responsible for building a safe and positive math class culture?</a:t>
            </a:r>
            <a:endParaRPr b="0" i="0" sz="1400" u="none" cap="none" strike="noStrike">
              <a:solidFill>
                <a:srgbClr val="000000"/>
              </a:solidFill>
              <a:latin typeface="Arial"/>
              <a:ea typeface="Arial"/>
              <a:cs typeface="Arial"/>
              <a:sym typeface="Arial"/>
            </a:endParaRPr>
          </a:p>
        </p:txBody>
      </p:sp>
      <p:sp>
        <p:nvSpPr>
          <p:cNvPr id="8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46</a:t>
            </a:r>
          </a:p>
        </p:txBody>
      </p:sp>
      <p:sp xmlns:p="http://schemas.openxmlformats.org/presentationml/2006/main" xmlns:a="http://schemas.openxmlformats.org/drawingml/2006/main">
        <p:nvSpPr>
          <p:cNvPr id="878" name="TEACH-embedded-student-prompt" descr="Student thinking and response directions"/>
          <p:cNvSpPr txBox="1"/>
          <p:nvPr/>
        </p:nvSpPr>
        <p:spPr>
          <a:xfrm>
            <a:off x="6111240" y="44988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90"/>
          <p:cNvSpPr txBox="1"/>
          <p:nvPr/>
        </p:nvSpPr>
        <p:spPr>
          <a:xfrm>
            <a:off x="484564" y="4341124"/>
            <a:ext cx="9564600"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Which class scored better overall on the test?</a:t>
            </a:r>
            <a:endParaRPr b="0" i="0" sz="1400" u="none" cap="none" strike="noStrike">
              <a:solidFill>
                <a:srgbClr val="000000"/>
              </a:solidFill>
              <a:latin typeface="Arial"/>
              <a:ea typeface="Arial"/>
              <a:cs typeface="Arial"/>
              <a:sym typeface="Arial"/>
            </a:endParaRPr>
          </a:p>
        </p:txBody>
      </p:sp>
      <p:sp>
        <p:nvSpPr>
          <p:cNvPr id="893" name="Google Shape;893;p90"/>
          <p:cNvSpPr txBox="1"/>
          <p:nvPr/>
        </p:nvSpPr>
        <p:spPr>
          <a:xfrm>
            <a:off x="484564" y="936101"/>
            <a:ext cx="7588018" cy="14099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box plots represent the number of points scored on a recent math test for students in two sixth grade classes.</a:t>
            </a:r>
            <a:endParaRPr b="1" i="0" sz="2800" u="none" cap="none" strike="noStrike">
              <a:solidFill>
                <a:srgbClr val="262626"/>
              </a:solidFill>
              <a:latin typeface="Arial"/>
              <a:ea typeface="Arial"/>
              <a:cs typeface="Arial"/>
              <a:sym typeface="Arial"/>
            </a:endParaRPr>
          </a:p>
        </p:txBody>
      </p:sp>
      <p:sp>
        <p:nvSpPr>
          <p:cNvPr id="894" name="Google Shape;894;p90"/>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Who Scored Better?</a:t>
            </a:r>
            <a:endParaRPr b="0" i="0" sz="1400" u="none" cap="none" strike="noStrike">
              <a:solidFill>
                <a:srgbClr val="000000"/>
              </a:solidFill>
              <a:latin typeface="Arial"/>
              <a:ea typeface="Arial"/>
              <a:cs typeface="Arial"/>
              <a:sym typeface="Arial"/>
            </a:endParaRPr>
          </a:p>
        </p:txBody>
      </p:sp>
      <p:cxnSp>
        <p:nvCxnSpPr>
          <p:cNvPr id="895" name="Google Shape;895;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96" name="Google Shape;896;p90"/>
          <p:cNvPicPr preferRelativeResize="0"/>
          <p:nvPr/>
        </p:nvPicPr>
        <p:blipFill rotWithShape="1">
          <a:blip r:embed="rId3">
            <a:alphaModFix/>
          </a:blip>
          <a:srcRect b="0" l="0" r="0" t="0"/>
          <a:stretch/>
        </p:blipFill>
        <p:spPr>
          <a:xfrm>
            <a:off x="964190" y="2509503"/>
            <a:ext cx="6480000" cy="1343885"/>
          </a:xfrm>
          <a:prstGeom prst="rect">
            <a:avLst/>
          </a:prstGeom>
          <a:noFill/>
          <a:ln>
            <a:noFill/>
          </a:ln>
        </p:spPr>
      </p:pic>
      <p:pic>
        <p:nvPicPr>
          <p:cNvPr id="897" name="Google Shape;897;p90"/>
          <p:cNvPicPr preferRelativeResize="0"/>
          <p:nvPr/>
        </p:nvPicPr>
        <p:blipFill rotWithShape="1">
          <a:blip r:embed="rId4">
            <a:alphaModFix/>
          </a:blip>
          <a:srcRect b="0" l="0" r="0" t="0"/>
          <a:stretch/>
        </p:blipFill>
        <p:spPr>
          <a:xfrm>
            <a:off x="484564" y="5010273"/>
            <a:ext cx="5054600" cy="838200"/>
          </a:xfrm>
          <a:prstGeom prst="rect">
            <a:avLst/>
          </a:prstGeom>
          <a:noFill/>
          <a:ln>
            <a:noFill/>
          </a:ln>
        </p:spPr>
      </p:pic>
      <p:sp>
        <p:nvSpPr>
          <p:cNvPr id="898" name="Google Shape;898;p90"/>
          <p:cNvSpPr txBox="1"/>
          <p:nvPr/>
        </p:nvSpPr>
        <p:spPr>
          <a:xfrm>
            <a:off x="3344581" y="5167591"/>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Precision</a:t>
            </a:r>
            <a:endParaRPr b="0" i="0" sz="1400" u="none" cap="none" strike="noStrike">
              <a:solidFill>
                <a:srgbClr val="000000"/>
              </a:solidFill>
              <a:latin typeface="Arial"/>
              <a:ea typeface="Arial"/>
              <a:cs typeface="Arial"/>
              <a:sym typeface="Arial"/>
            </a:endParaRPr>
          </a:p>
        </p:txBody>
      </p:sp>
      <p:sp>
        <p:nvSpPr>
          <p:cNvPr id="899" name="Google Shape;899;p90"/>
          <p:cNvSpPr/>
          <p:nvPr/>
        </p:nvSpPr>
        <p:spPr>
          <a:xfrm>
            <a:off x="697760" y="5825596"/>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Does the problem call for an estimate or an exact solution?</a:t>
            </a:r>
            <a:endParaRPr b="0" i="0" sz="1400" u="none" cap="none" strike="noStrike">
              <a:solidFill>
                <a:srgbClr val="000000"/>
              </a:solidFill>
              <a:latin typeface="Arial"/>
              <a:ea typeface="Arial"/>
              <a:cs typeface="Arial"/>
              <a:sym typeface="Arial"/>
            </a:endParaRPr>
          </a:p>
        </p:txBody>
      </p:sp>
      <p:sp>
        <p:nvSpPr>
          <p:cNvPr id="9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46</a:t>
            </a:r>
          </a:p>
        </p:txBody>
      </p:sp>
      <p:grpSp>
        <p:nvGrpSpPr>
          <p:cNvPr id="901" name="TEACH-2-student-move" descr="TEACH 2 · Use strategies and tasks to engage students in rigorous work"/>
          <p:cNvGrpSpPr/>
          <p:nvPr/>
        </p:nvGrpSpPr>
        <p:grpSpPr>
          <a:xfrm>
            <a:off x="502920" y="3902212"/>
            <a:ext cx="11186160" cy="402336"/>
            <a:chOff x="502920" y="3902212"/>
            <a:chExt cx="11186160" cy="402336"/>
          </a:xfrm>
        </p:grpSpPr>
        <p:sp>
          <p:nvSpPr>
            <p:cNvPr id="902" name="TEACH-move-card"/>
            <p:cNvSpPr/>
            <p:nvPr/>
          </p:nvSpPr>
          <p:spPr>
            <a:xfrm>
              <a:off x="502920" y="390221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3" name="TEACH-move-rule"/>
            <p:cNvSpPr/>
            <p:nvPr/>
          </p:nvSpPr>
          <p:spPr>
            <a:xfrm>
              <a:off x="548640" y="3978656"/>
              <a:ext cx="100584" cy="249448"/>
            </a:xfrm>
            <a:prstGeom prst="roundRect">
              <a:avLst>
                <a:gd name="adj" fmla="val 50000"/>
              </a:avLst>
            </a:prstGeom>
            <a:solidFill>
              <a:srgbClr val="01708C"/>
            </a:solidFill>
            <a:ln>
              <a:noFill/>
            </a:ln>
          </p:spPr>
          <p:txBody>
            <a:bodyPr/>
            <a:lstStyle/>
            <a:p>
              <a:endParaRPr/>
            </a:p>
          </p:txBody>
        </p:sp>
        <p:sp>
          <p:nvSpPr>
            <p:cNvPr id="904" name="TEACH-move-text"/>
            <p:cNvSpPr txBox="1"/>
            <p:nvPr/>
          </p:nvSpPr>
          <p:spPr>
            <a:xfrm>
              <a:off x="822960" y="390221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00"/>
          <p:cNvSpPr txBox="1"/>
          <p:nvPr/>
        </p:nvSpPr>
        <p:spPr>
          <a:xfrm>
            <a:off x="484565" y="3846615"/>
            <a:ext cx="9564600" cy="5704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991" name="Google Shape;991;p100"/>
          <p:cNvSpPr txBox="1"/>
          <p:nvPr/>
        </p:nvSpPr>
        <p:spPr>
          <a:xfrm>
            <a:off x="5181887" y="4023067"/>
            <a:ext cx="389717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Range of Class B: 20</a:t>
            </a:r>
            <a:endParaRPr b="0" i="0" sz="2800" u="none" cap="none" strike="noStrike">
              <a:solidFill>
                <a:schemeClr val="dk1"/>
              </a:solidFill>
              <a:latin typeface="Arial"/>
              <a:ea typeface="Arial"/>
              <a:cs typeface="Arial"/>
              <a:sym typeface="Arial"/>
            </a:endParaRPr>
          </a:p>
        </p:txBody>
      </p:sp>
      <p:sp>
        <p:nvSpPr>
          <p:cNvPr id="992" name="Google Shape;992;p100"/>
          <p:cNvSpPr txBox="1"/>
          <p:nvPr/>
        </p:nvSpPr>
        <p:spPr>
          <a:xfrm>
            <a:off x="484565" y="4023067"/>
            <a:ext cx="361851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Range of Class A: 28</a:t>
            </a:r>
            <a:endParaRPr b="0" i="0" sz="2800" u="none" cap="none" strike="noStrike">
              <a:solidFill>
                <a:schemeClr val="dk1"/>
              </a:solidFill>
              <a:latin typeface="Arial"/>
              <a:ea typeface="Arial"/>
              <a:cs typeface="Arial"/>
              <a:sym typeface="Arial"/>
            </a:endParaRPr>
          </a:p>
        </p:txBody>
      </p:sp>
      <p:cxnSp>
        <p:nvCxnSpPr>
          <p:cNvPr id="993" name="Google Shape;993;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4" name="Google Shape;994;p100"/>
          <p:cNvSpPr txBox="1"/>
          <p:nvPr/>
        </p:nvSpPr>
        <p:spPr>
          <a:xfrm>
            <a:off x="484565" y="4815839"/>
            <a:ext cx="6806572" cy="18767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range for Class A is 28, which is greater than that for Class B, which is 20.</a:t>
            </a:r>
            <a:endParaRPr b="0" i="0" sz="1400" u="none" cap="none" strike="noStrike">
              <a:solidFill>
                <a:srgbClr val="000000"/>
              </a:solidFill>
              <a:latin typeface="Arial"/>
              <a:ea typeface="Arial"/>
              <a:cs typeface="Arial"/>
              <a:sym typeface="Arial"/>
            </a:endParaRPr>
          </a:p>
        </p:txBody>
      </p:sp>
      <p:pic>
        <p:nvPicPr>
          <p:cNvPr id="995" name="Google Shape;995;p100"/>
          <p:cNvPicPr preferRelativeResize="0"/>
          <p:nvPr/>
        </p:nvPicPr>
        <p:blipFill rotWithShape="1">
          <a:blip r:embed="rId3">
            <a:alphaModFix/>
          </a:blip>
          <a:srcRect b="0" l="0" r="0" t="0"/>
          <a:stretch/>
        </p:blipFill>
        <p:spPr>
          <a:xfrm>
            <a:off x="964190" y="2509503"/>
            <a:ext cx="6480000" cy="1343885"/>
          </a:xfrm>
          <a:prstGeom prst="rect">
            <a:avLst/>
          </a:prstGeom>
          <a:noFill/>
          <a:ln>
            <a:noFill/>
          </a:ln>
        </p:spPr>
      </p:pic>
      <p:sp>
        <p:nvSpPr>
          <p:cNvPr id="996" name="Google Shape;996;p100"/>
          <p:cNvSpPr txBox="1"/>
          <p:nvPr/>
        </p:nvSpPr>
        <p:spPr>
          <a:xfrm>
            <a:off x="484565" y="385360"/>
            <a:ext cx="5795920"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do the ranges of Class A and Class B compare?</a:t>
            </a:r>
            <a:endParaRPr b="0" i="0" sz="1400" u="none" cap="none" strike="noStrike">
              <a:solidFill>
                <a:srgbClr val="000000"/>
              </a:solidFill>
              <a:latin typeface="Arial"/>
              <a:ea typeface="Arial"/>
              <a:cs typeface="Arial"/>
              <a:sym typeface="Arial"/>
            </a:endParaRPr>
          </a:p>
        </p:txBody>
      </p:sp>
      <p:sp>
        <p:nvSpPr>
          <p:cNvPr id="9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46</a:t>
            </a:r>
          </a:p>
        </p:txBody>
      </p:sp>
      <p:sp>
        <p:nvSpPr>
          <p:cNvPr id="998" name="EWL-COVER-1"/>
          <p:cNvSpPr/>
          <p:nvPr/>
        </p:nvSpPr>
        <p:spPr>
          <a:xfrm>
            <a:off x="429701" y="4760975"/>
            <a:ext cx="6916300" cy="1685545"/>
          </a:xfrm>
          <a:prstGeom prst="rect">
            <a:avLst/>
          </a:prstGeom>
          <a:solidFill>
            <a:srgbClr val="FFFFFF"/>
          </a:solidFill>
          <a:ln>
            <a:noFill/>
          </a:ln>
        </p:spPr>
        <p:txBody>
          <a:bodyPr/>
          <a:lstStyle/>
          <a:p/>
        </p:txBody>
      </p:sp>
      <p:sp xmlns:p="http://schemas.openxmlformats.org/presentationml/2006/main" xmlns:a="http://schemas.openxmlformats.org/drawingml/2006/main">
        <p:nvSpPr>
          <p:cNvPr id="999" name="TEACH-embedded-student-prompt" descr="Student thinking and response directions"/>
          <p:cNvSpPr txBox="1"/>
          <p:nvPr/>
        </p:nvSpPr>
        <p:spPr>
          <a:xfrm>
            <a:off x="594360" y="1883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05"/>
          <p:cNvSpPr txBox="1"/>
          <p:nvPr/>
        </p:nvSpPr>
        <p:spPr>
          <a:xfrm>
            <a:off x="484565" y="387027"/>
            <a:ext cx="6590003" cy="8586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do the interquartile ranges of Class A and Class B compare?</a:t>
            </a:r>
            <a:endParaRPr b="0" i="0" sz="1400" u="none" cap="none" strike="noStrike">
              <a:solidFill>
                <a:srgbClr val="000000"/>
              </a:solidFill>
              <a:latin typeface="Arial"/>
              <a:ea typeface="Arial"/>
              <a:cs typeface="Arial"/>
              <a:sym typeface="Arial"/>
            </a:endParaRPr>
          </a:p>
        </p:txBody>
      </p:sp>
      <p:sp>
        <p:nvSpPr>
          <p:cNvPr id="1043" name="Google Shape;1043;p105"/>
          <p:cNvSpPr txBox="1"/>
          <p:nvPr/>
        </p:nvSpPr>
        <p:spPr>
          <a:xfrm>
            <a:off x="5181887" y="4074430"/>
            <a:ext cx="389717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IQR of Class B: 8</a:t>
            </a:r>
            <a:endParaRPr b="0" i="0" sz="2800" u="none" cap="none" strike="noStrike">
              <a:solidFill>
                <a:schemeClr val="dk1"/>
              </a:solidFill>
              <a:latin typeface="Arial"/>
              <a:ea typeface="Arial"/>
              <a:cs typeface="Arial"/>
              <a:sym typeface="Arial"/>
            </a:endParaRPr>
          </a:p>
        </p:txBody>
      </p:sp>
      <p:sp>
        <p:nvSpPr>
          <p:cNvPr id="1044" name="Google Shape;1044;p105"/>
          <p:cNvSpPr txBox="1"/>
          <p:nvPr/>
        </p:nvSpPr>
        <p:spPr>
          <a:xfrm>
            <a:off x="484565" y="4074430"/>
            <a:ext cx="361851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IQR of Class A: 13</a:t>
            </a:r>
            <a:endParaRPr b="0" i="0" sz="2800" u="none" cap="none" strike="noStrike">
              <a:solidFill>
                <a:schemeClr val="dk1"/>
              </a:solidFill>
              <a:latin typeface="Arial"/>
              <a:ea typeface="Arial"/>
              <a:cs typeface="Arial"/>
              <a:sym typeface="Arial"/>
            </a:endParaRPr>
          </a:p>
        </p:txBody>
      </p:sp>
      <p:cxnSp>
        <p:nvCxnSpPr>
          <p:cNvPr id="1045" name="Google Shape;1045;p10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6" name="Google Shape;1046;p105"/>
          <p:cNvSpPr txBox="1"/>
          <p:nvPr/>
        </p:nvSpPr>
        <p:spPr>
          <a:xfrm>
            <a:off x="484565" y="4818693"/>
            <a:ext cx="7299867" cy="14763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interquartile range for Class A is 13, which is greater than that for Class B, 8.</a:t>
            </a:r>
            <a:endParaRPr b="0" i="0" sz="1400" u="none" cap="none" strike="noStrike">
              <a:solidFill>
                <a:srgbClr val="000000"/>
              </a:solidFill>
              <a:latin typeface="Arial"/>
              <a:ea typeface="Arial"/>
              <a:cs typeface="Arial"/>
              <a:sym typeface="Arial"/>
            </a:endParaRPr>
          </a:p>
        </p:txBody>
      </p:sp>
      <p:pic>
        <p:nvPicPr>
          <p:cNvPr id="1047" name="Google Shape;1047;p105"/>
          <p:cNvPicPr preferRelativeResize="0"/>
          <p:nvPr/>
        </p:nvPicPr>
        <p:blipFill rotWithShape="1">
          <a:blip r:embed="rId3">
            <a:alphaModFix/>
          </a:blip>
          <a:srcRect b="0" l="0" r="0" t="0"/>
          <a:stretch/>
        </p:blipFill>
        <p:spPr>
          <a:xfrm>
            <a:off x="964190" y="2509503"/>
            <a:ext cx="6480000" cy="1343885"/>
          </a:xfrm>
          <a:prstGeom prst="rect">
            <a:avLst/>
          </a:prstGeom>
          <a:noFill/>
          <a:ln>
            <a:noFill/>
          </a:ln>
        </p:spPr>
      </p:pic>
      <p:sp>
        <p:nvSpPr>
          <p:cNvPr id="1048" name="Google Shape;1048;p105"/>
          <p:cNvSpPr txBox="1"/>
          <p:nvPr/>
        </p:nvSpPr>
        <p:spPr>
          <a:xfrm>
            <a:off x="8522994" y="3215640"/>
            <a:ext cx="3363673" cy="27640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What does a low value for the interquartile range indicate about the data set?</a:t>
            </a:r>
            <a:endParaRPr b="0" i="0" sz="1400" u="none" cap="none" strike="noStrike">
              <a:solidFill>
                <a:srgbClr val="000000"/>
              </a:solidFill>
              <a:latin typeface="Arial"/>
              <a:ea typeface="Arial"/>
              <a:cs typeface="Arial"/>
              <a:sym typeface="Arial"/>
            </a:endParaRPr>
          </a:p>
        </p:txBody>
      </p:sp>
      <p:sp>
        <p:nvSpPr>
          <p:cNvPr id="10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46</a:t>
            </a:r>
          </a:p>
        </p:txBody>
      </p:sp>
      <p:sp>
        <p:nvSpPr>
          <p:cNvPr id="1050" name="EWL-COVER-1"/>
          <p:cNvSpPr/>
          <p:nvPr/>
        </p:nvSpPr>
        <p:spPr>
          <a:xfrm>
            <a:off x="429701" y="4763829"/>
            <a:ext cx="7409595" cy="1586085"/>
          </a:xfrm>
          <a:prstGeom prst="rect">
            <a:avLst/>
          </a:prstGeom>
          <a:solidFill>
            <a:srgbClr val="FFFFFF"/>
          </a:solidFill>
          <a:ln>
            <a:noFill/>
          </a:ln>
        </p:spPr>
        <p:txBody>
          <a:bodyPr/>
          <a:lstStyle/>
          <a:p/>
        </p:txBody>
      </p:sp>
      <p:sp xmlns:p="http://schemas.openxmlformats.org/presentationml/2006/main" xmlns:a="http://schemas.openxmlformats.org/drawingml/2006/main">
        <p:nvSpPr>
          <p:cNvPr id="1051" name="TEACH-embedded-student-prompt" descr="Student thinking and response directions"/>
          <p:cNvSpPr txBox="1"/>
          <p:nvPr/>
        </p:nvSpPr>
        <p:spPr>
          <a:xfrm>
            <a:off x="594360" y="1883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cxnSp>
        <p:nvCxnSpPr>
          <p:cNvPr id="1100" name="Google Shape;1100;p11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01" name="Google Shape;1101;p111"/>
          <p:cNvSpPr txBox="1"/>
          <p:nvPr/>
        </p:nvSpPr>
        <p:spPr>
          <a:xfrm>
            <a:off x="484564" y="927528"/>
            <a:ext cx="8410054" cy="2019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box plots represent the scores on a recent math test for students in two sixth grade classes.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514350" lvl="0" marL="514350" marR="0" rtl="0" algn="l">
              <a:lnSpc>
                <a:spcPct val="100000"/>
              </a:lnSpc>
              <a:spcBef>
                <a:spcPts val="180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What does the interquartile range describe in the context of the problem?</a:t>
            </a:r>
            <a:endParaRPr b="0" i="0" sz="1400" u="none" cap="none" strike="noStrike">
              <a:solidFill>
                <a:srgbClr val="000000"/>
              </a:solidFill>
              <a:latin typeface="Arial"/>
              <a:ea typeface="Arial"/>
              <a:cs typeface="Arial"/>
              <a:sym typeface="Arial"/>
            </a:endParaRPr>
          </a:p>
        </p:txBody>
      </p:sp>
      <p:sp>
        <p:nvSpPr>
          <p:cNvPr id="1102" name="Google Shape;1102;p11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1103" name="Google Shape;1103;p111"/>
          <p:cNvPicPr preferRelativeResize="0"/>
          <p:nvPr/>
        </p:nvPicPr>
        <p:blipFill rotWithShape="1">
          <a:blip r:embed="rId3">
            <a:alphaModFix/>
          </a:blip>
          <a:srcRect b="0" l="0" r="0" t="0"/>
          <a:stretch/>
        </p:blipFill>
        <p:spPr>
          <a:xfrm>
            <a:off x="1274051" y="1937125"/>
            <a:ext cx="6480000" cy="1343885"/>
          </a:xfrm>
          <a:prstGeom prst="rect">
            <a:avLst/>
          </a:prstGeom>
          <a:noFill/>
          <a:ln>
            <a:noFill/>
          </a:ln>
        </p:spPr>
      </p:pic>
      <p:sp>
        <p:nvSpPr>
          <p:cNvPr id="1104" name="Google Shape;1104;p111"/>
          <p:cNvSpPr txBox="1"/>
          <p:nvPr/>
        </p:nvSpPr>
        <p:spPr>
          <a:xfrm>
            <a:off x="5980366" y="564322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105" name="Google Shape;1105;p111"/>
          <p:cNvSpPr/>
          <p:nvPr/>
        </p:nvSpPr>
        <p:spPr>
          <a:xfrm>
            <a:off x="652796" y="4681516"/>
            <a:ext cx="6672983" cy="153315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1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46</a:t>
            </a:r>
          </a:p>
        </p:txBody>
      </p:sp>
      <p:grpSp>
        <p:nvGrpSpPr>
          <p:cNvPr id="1107" name="TEACH-2-student-move" descr="TEACH 2 · Use strategies and tasks to engage students in rigorous work"/>
          <p:cNvGrpSpPr/>
          <p:nvPr/>
        </p:nvGrpSpPr>
        <p:grpSpPr>
          <a:xfrm>
            <a:off x="502920" y="4242604"/>
            <a:ext cx="11186160" cy="402336"/>
            <a:chOff x="502920" y="4242604"/>
            <a:chExt cx="11186160" cy="402336"/>
          </a:xfrm>
        </p:grpSpPr>
        <p:sp>
          <p:nvSpPr>
            <p:cNvPr id="1108" name="TEACH-move-card"/>
            <p:cNvSpPr/>
            <p:nvPr/>
          </p:nvSpPr>
          <p:spPr>
            <a:xfrm>
              <a:off x="502920" y="4242604"/>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09" name="TEACH-move-rule"/>
            <p:cNvSpPr/>
            <p:nvPr/>
          </p:nvSpPr>
          <p:spPr>
            <a:xfrm>
              <a:off x="548640" y="4319048"/>
              <a:ext cx="100584" cy="249448"/>
            </a:xfrm>
            <a:prstGeom prst="roundRect">
              <a:avLst>
                <a:gd name="adj" fmla="val 50000"/>
              </a:avLst>
            </a:prstGeom>
            <a:solidFill>
              <a:srgbClr val="01708C"/>
            </a:solidFill>
            <a:ln>
              <a:noFill/>
            </a:ln>
          </p:spPr>
          <p:txBody>
            <a:bodyPr/>
            <a:lstStyle/>
            <a:p>
              <a:endParaRPr/>
            </a:p>
          </p:txBody>
        </p:sp>
        <p:sp>
          <p:nvSpPr>
            <p:cNvPr id="1110" name="TEACH-move-text"/>
            <p:cNvSpPr txBox="1"/>
            <p:nvPr/>
          </p:nvSpPr>
          <p:spPr>
            <a:xfrm>
              <a:off x="822960" y="4242604"/>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cxnSp>
        <p:nvCxnSpPr>
          <p:cNvPr id="1110" name="Google Shape;1110;p11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11" name="Google Shape;1111;p112"/>
          <p:cNvSpPr txBox="1"/>
          <p:nvPr/>
        </p:nvSpPr>
        <p:spPr>
          <a:xfrm>
            <a:off x="484564" y="927527"/>
            <a:ext cx="8410054" cy="29055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box plots represent the scores on a recent math test for students in two sixth grade classes.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514350" lvl="0" marL="514350" marR="0" rtl="0" algn="l">
              <a:lnSpc>
                <a:spcPct val="100000"/>
              </a:lnSpc>
              <a:spcBef>
                <a:spcPts val="180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Two students, one in Class A and one in Class B were absent and took the test later. Both scored 80 on the test. How do these new scores change the distribution?</a:t>
            </a:r>
            <a:endParaRPr b="0" i="0" sz="1400" u="none" cap="none" strike="noStrike">
              <a:solidFill>
                <a:srgbClr val="000000"/>
              </a:solidFill>
              <a:latin typeface="Arial"/>
              <a:ea typeface="Arial"/>
              <a:cs typeface="Arial"/>
              <a:sym typeface="Arial"/>
            </a:endParaRPr>
          </a:p>
        </p:txBody>
      </p:sp>
      <p:sp>
        <p:nvSpPr>
          <p:cNvPr id="1112" name="Google Shape;1112;p11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1113" name="Google Shape;1113;p112"/>
          <p:cNvPicPr preferRelativeResize="0"/>
          <p:nvPr/>
        </p:nvPicPr>
        <p:blipFill rotWithShape="1">
          <a:blip r:embed="rId3">
            <a:alphaModFix/>
          </a:blip>
          <a:srcRect b="0" l="0" r="0" t="0"/>
          <a:stretch/>
        </p:blipFill>
        <p:spPr>
          <a:xfrm>
            <a:off x="1274051" y="1937125"/>
            <a:ext cx="6480000" cy="1343885"/>
          </a:xfrm>
          <a:prstGeom prst="rect">
            <a:avLst/>
          </a:prstGeom>
          <a:noFill/>
          <a:ln>
            <a:noFill/>
          </a:ln>
        </p:spPr>
      </p:pic>
      <p:sp>
        <p:nvSpPr>
          <p:cNvPr id="1114" name="Google Shape;1114;p112"/>
          <p:cNvSpPr txBox="1"/>
          <p:nvPr/>
        </p:nvSpPr>
        <p:spPr>
          <a:xfrm>
            <a:off x="5970470" y="578177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115" name="Google Shape;1115;p112"/>
          <p:cNvSpPr/>
          <p:nvPr/>
        </p:nvSpPr>
        <p:spPr>
          <a:xfrm>
            <a:off x="642900" y="5225801"/>
            <a:ext cx="6672983" cy="112741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1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46</a:t>
            </a:r>
          </a:p>
        </p:txBody>
      </p:sp>
      <p:grpSp>
        <p:nvGrpSpPr>
          <p:cNvPr id="1117" name="TEACH-2-student-move" descr="TEACH 2 · Use strategies and tasks to engage students in rigorous work"/>
          <p:cNvGrpSpPr/>
          <p:nvPr/>
        </p:nvGrpSpPr>
        <p:grpSpPr>
          <a:xfrm>
            <a:off x="502920" y="5244089"/>
            <a:ext cx="11186160" cy="402336"/>
            <a:chOff x="502920" y="4786889"/>
            <a:chExt cx="11186160" cy="402336"/>
          </a:xfrm>
        </p:grpSpPr>
        <p:sp>
          <p:nvSpPr>
            <p:cNvPr id="1118" name="TEACH-move-card"/>
            <p:cNvSpPr/>
            <p:nvPr/>
          </p:nvSpPr>
          <p:spPr>
            <a:xfrm>
              <a:off x="502920" y="4786889"/>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19" name="TEACH-move-rule"/>
            <p:cNvSpPr/>
            <p:nvPr/>
          </p:nvSpPr>
          <p:spPr>
            <a:xfrm>
              <a:off x="548640" y="4863333"/>
              <a:ext cx="100584" cy="249448"/>
            </a:xfrm>
            <a:prstGeom prst="roundRect">
              <a:avLst>
                <a:gd name="adj" fmla="val 50000"/>
              </a:avLst>
            </a:prstGeom>
            <a:solidFill>
              <a:srgbClr val="01708C"/>
            </a:solidFill>
            <a:ln>
              <a:noFill/>
            </a:ln>
          </p:spPr>
          <p:txBody>
            <a:bodyPr/>
            <a:lstStyle/>
            <a:p>
              <a:endParaRPr/>
            </a:p>
          </p:txBody>
        </p:sp>
        <p:sp>
          <p:nvSpPr>
            <p:cNvPr id="1120" name="TEACH-move-text"/>
            <p:cNvSpPr txBox="1"/>
            <p:nvPr/>
          </p:nvSpPr>
          <p:spPr>
            <a:xfrm>
              <a:off x="822960" y="4786889"/>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YOUR CHOICE  ·  </a:t>
              </a:r>
              <a:r>
                <a:rPr lang="en-US" sz="1200" dirty="0">
                  <a:solidFill>
                    <a:srgbClr val="13303A"/>
                  </a:solidFill>
                  <a:latin typeface="Arial"/>
                </a:rPr>
                <a:t>You choose how to show this — numbers, words, or a diagram. Make your reasoning visible.</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2.5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using the median as a measure of spread.</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minimum, Q1, Q3 and maximum on the given box plots.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13" name="Google Shape;913;p92"/>
          <p:cNvSpPr txBox="1"/>
          <p:nvPr/>
        </p:nvSpPr>
        <p:spPr>
          <a:xfrm>
            <a:off x="484564" y="4064061"/>
            <a:ext cx="5976622" cy="13438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use the box plot to compare the scores for each class?</a:t>
            </a:r>
            <a:endParaRPr b="0" i="0" sz="1400" u="none" cap="none" strike="noStrike">
              <a:solidFill>
                <a:srgbClr val="000000"/>
              </a:solidFill>
              <a:latin typeface="Arial"/>
              <a:ea typeface="Arial"/>
              <a:cs typeface="Arial"/>
              <a:sym typeface="Arial"/>
            </a:endParaRPr>
          </a:p>
        </p:txBody>
      </p:sp>
      <p:pic>
        <p:nvPicPr>
          <p:cNvPr id="914" name="Google Shape;914;p92"/>
          <p:cNvPicPr preferRelativeResize="0"/>
          <p:nvPr/>
        </p:nvPicPr>
        <p:blipFill rotWithShape="1">
          <a:blip r:embed="rId2">
            <a:alphaModFix/>
          </a:blip>
          <a:srcRect b="0" l="0" r="0" t="0"/>
          <a:stretch/>
        </p:blipFill>
        <p:spPr>
          <a:xfrm>
            <a:off x="964190" y="2509503"/>
            <a:ext cx="6480000" cy="1343885"/>
          </a:xfrm>
          <a:prstGeom prst="rect">
            <a:avLst/>
          </a:prstGeom>
          <a:noFill/>
          <a:ln>
            <a:noFill/>
          </a:ln>
        </p:spPr>
      </p:pic>
      <p:sp>
        <p:nvSpPr>
          <p:cNvPr id="915" name="Google Shape;915;p92"/>
          <p:cNvSpPr txBox="1"/>
          <p:nvPr/>
        </p:nvSpPr>
        <p:spPr>
          <a:xfrm>
            <a:off x="484563" y="461647"/>
            <a:ext cx="6959627" cy="17639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The box plots represent the scores on a recent math test for students in two sixth grade classes. Which class scored better overall on the test?</a:t>
            </a:r>
            <a:endParaRPr b="1" i="0" sz="2800" u="none" cap="none" strike="noStrike">
              <a:solidFill>
                <a:srgbClr val="262626"/>
              </a:solidFill>
              <a:latin typeface="Arial"/>
              <a:ea typeface="Arial"/>
              <a:cs typeface="Arial"/>
              <a:sym typeface="Arial"/>
            </a:endParaRPr>
          </a:p>
        </p:txBody>
      </p:sp>
      <p:cxnSp>
        <p:nvCxnSpPr>
          <p:cNvPr id="916" name="Google Shape;916;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7" name="Google Shape;917;p92"/>
          <p:cNvSpPr txBox="1"/>
          <p:nvPr/>
        </p:nvSpPr>
        <p:spPr>
          <a:xfrm>
            <a:off x="6893990" y="4064062"/>
            <a:ext cx="5029108" cy="21210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markers such as the median, the quartiles, and the interquartile range.</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46</a:t>
            </a:r>
          </a:p>
        </p:txBody>
      </p:sp>
      <p:grpSp>
        <p:nvGrpSpPr>
          <p:cNvPr id="918" name="TEACH-3-student-move" descr="TEACH 3 · Use intentional questioning to deepen learning"/>
          <p:cNvGrpSpPr/>
          <p:nvPr/>
        </p:nvGrpSpPr>
        <p:grpSpPr>
          <a:xfrm>
            <a:off x="502920" y="5490242"/>
            <a:ext cx="5501640" cy="731520"/>
            <a:chOff x="502920" y="5490242"/>
            <a:chExt cx="5501640" cy="731520"/>
          </a:xfrm>
        </p:grpSpPr>
        <p:sp>
          <p:nvSpPr>
            <p:cNvPr id="919" name="TEACH-move-card"/>
            <p:cNvSpPr/>
            <p:nvPr/>
          </p:nvSpPr>
          <p:spPr>
            <a:xfrm>
              <a:off x="502920" y="5490242"/>
              <a:ext cx="5501640" cy="731520"/>
            </a:xfrm>
            <a:prstGeom prst="roundRect">
              <a:avLst>
                <a:gd name="adj" fmla="val 16000"/>
              </a:avLst>
            </a:prstGeom>
            <a:solidFill>
              <a:srgbClr val="E4F0F5"/>
            </a:solidFill>
            <a:ln w="19050">
              <a:solidFill>
                <a:srgbClr val="8CB8C7"/>
              </a:solidFill>
            </a:ln>
          </p:spPr>
          <p:txBody>
            <a:bodyPr/>
            <a:lstStyle/>
            <a:p>
              <a:endParaRPr/>
            </a:p>
          </p:txBody>
        </p:sp>
        <p:sp>
          <p:nvSpPr>
            <p:cNvPr id="920" name="TEACH-move-rule"/>
            <p:cNvSpPr/>
            <p:nvPr/>
          </p:nvSpPr>
          <p:spPr>
            <a:xfrm>
              <a:off x="548640" y="5629231"/>
              <a:ext cx="100584" cy="453542"/>
            </a:xfrm>
            <a:prstGeom prst="roundRect">
              <a:avLst>
                <a:gd name="adj" fmla="val 50000"/>
              </a:avLst>
            </a:prstGeom>
            <a:solidFill>
              <a:srgbClr val="01708C"/>
            </a:solidFill>
            <a:ln>
              <a:noFill/>
            </a:ln>
          </p:spPr>
          <p:txBody>
            <a:bodyPr/>
            <a:lstStyle/>
            <a:p>
              <a:endParaRPr/>
            </a:p>
          </p:txBody>
        </p:sp>
        <p:sp>
          <p:nvSpPr>
            <p:cNvPr id="921" name="TEACH-move-text"/>
            <p:cNvSpPr txBox="1"/>
            <p:nvPr/>
          </p:nvSpPr>
          <p:spPr>
            <a:xfrm>
              <a:off x="822960" y="5490242"/>
              <a:ext cx="5044440" cy="73152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ASK THE CLASS  ·  </a:t>
              </a:r>
              <a:r>
                <a:rPr lang="en-US" sz="1400" dirty="0">
                  <a:solidFill>
                    <a:srgbClr val="13303A"/>
                  </a:solidFill>
                  <a:latin typeface="Arial"/>
                </a:rPr>
                <a:t>Write one question about this that you could ask the class.</a:t>
              </a:r>
              <a:endParaRPr lang="en-US" sz="1400"/>
            </a:p>
          </p:txBody>
        </p:sp>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49" name="Google Shape;949;p96"/>
          <p:cNvSpPr txBox="1"/>
          <p:nvPr/>
        </p:nvSpPr>
        <p:spPr>
          <a:xfrm>
            <a:off x="484564" y="385360"/>
            <a:ext cx="6235414" cy="589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Each class had a median score of 81.</a:t>
            </a:r>
            <a:endParaRPr b="1" i="0" sz="2800" u="none" cap="none" strike="noStrike">
              <a:solidFill>
                <a:srgbClr val="262626"/>
              </a:solidFill>
              <a:latin typeface="Arial"/>
              <a:ea typeface="Arial"/>
              <a:cs typeface="Arial"/>
              <a:sym typeface="Arial"/>
            </a:endParaRPr>
          </a:p>
        </p:txBody>
      </p:sp>
      <p:cxnSp>
        <p:nvCxnSpPr>
          <p:cNvPr id="950" name="Google Shape;950;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1" name="Google Shape;951;p96"/>
          <p:cNvSpPr txBox="1"/>
          <p:nvPr/>
        </p:nvSpPr>
        <p:spPr>
          <a:xfrm>
            <a:off x="484563" y="4786622"/>
            <a:ext cx="9562805" cy="15154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determine how much the data values vary using the range and interquartile range.</a:t>
            </a:r>
            <a:endParaRPr b="0" i="0" sz="1400" u="none" cap="none" strike="noStrike">
              <a:solidFill>
                <a:srgbClr val="000000"/>
              </a:solidFill>
              <a:latin typeface="Arial"/>
              <a:ea typeface="Arial"/>
              <a:cs typeface="Arial"/>
              <a:sym typeface="Arial"/>
            </a:endParaRPr>
          </a:p>
        </p:txBody>
      </p:sp>
      <p:sp>
        <p:nvSpPr>
          <p:cNvPr id="952" name="Google Shape;952;p96"/>
          <p:cNvSpPr txBox="1"/>
          <p:nvPr/>
        </p:nvSpPr>
        <p:spPr>
          <a:xfrm>
            <a:off x="454825" y="1191129"/>
            <a:ext cx="9564600"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determine the variability of the data?</a:t>
            </a:r>
            <a:endParaRPr b="0" i="0" sz="1400" u="none" cap="none" strike="noStrike">
              <a:solidFill>
                <a:srgbClr val="000000"/>
              </a:solidFill>
              <a:latin typeface="Arial"/>
              <a:ea typeface="Arial"/>
              <a:cs typeface="Arial"/>
              <a:sym typeface="Arial"/>
            </a:endParaRPr>
          </a:p>
        </p:txBody>
      </p:sp>
      <p:pic>
        <p:nvPicPr>
          <p:cNvPr id="953" name="Google Shape;953;p96"/>
          <p:cNvPicPr preferRelativeResize="0"/>
          <p:nvPr/>
        </p:nvPicPr>
        <p:blipFill rotWithShape="1">
          <a:blip r:embed="rId2">
            <a:alphaModFix/>
          </a:blip>
          <a:srcRect b="0" l="0" r="0" t="0"/>
          <a:stretch/>
        </p:blipFill>
        <p:spPr>
          <a:xfrm>
            <a:off x="964190" y="2509503"/>
            <a:ext cx="6480000" cy="1343885"/>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46</a:t>
            </a:r>
          </a:p>
        </p:txBody>
      </p:sp>
      <p:sp xmlns:p="http://schemas.openxmlformats.org/presentationml/2006/main" xmlns:a="http://schemas.openxmlformats.org/drawingml/2006/main">
        <p:nvSpPr>
          <p:cNvPr id="954"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42" name="Google Shape;1042;p105"/>
          <p:cNvSpPr txBox="1"/>
          <p:nvPr/>
        </p:nvSpPr>
        <p:spPr>
          <a:xfrm>
            <a:off x="484565" y="387027"/>
            <a:ext cx="6590003" cy="8586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do the interquartile ranges of Class A and Class B compare?</a:t>
            </a:r>
            <a:endParaRPr b="0" i="0" sz="1400" u="none" cap="none" strike="noStrike">
              <a:solidFill>
                <a:srgbClr val="000000"/>
              </a:solidFill>
              <a:latin typeface="Arial"/>
              <a:ea typeface="Arial"/>
              <a:cs typeface="Arial"/>
              <a:sym typeface="Arial"/>
            </a:endParaRPr>
          </a:p>
        </p:txBody>
      </p:sp>
      <p:sp>
        <p:nvSpPr>
          <p:cNvPr id="1043" name="Google Shape;1043;p105"/>
          <p:cNvSpPr txBox="1"/>
          <p:nvPr/>
        </p:nvSpPr>
        <p:spPr>
          <a:xfrm>
            <a:off x="5181887" y="4074430"/>
            <a:ext cx="389717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IQR of Class B: 8</a:t>
            </a:r>
            <a:endParaRPr b="0" i="0" sz="2800" u="none" cap="none" strike="noStrike">
              <a:solidFill>
                <a:schemeClr val="dk1"/>
              </a:solidFill>
              <a:latin typeface="Arial"/>
              <a:ea typeface="Arial"/>
              <a:cs typeface="Arial"/>
              <a:sym typeface="Arial"/>
            </a:endParaRPr>
          </a:p>
        </p:txBody>
      </p:sp>
      <p:sp>
        <p:nvSpPr>
          <p:cNvPr id="1044" name="Google Shape;1044;p105"/>
          <p:cNvSpPr txBox="1"/>
          <p:nvPr/>
        </p:nvSpPr>
        <p:spPr>
          <a:xfrm>
            <a:off x="484565" y="4074430"/>
            <a:ext cx="361851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IQR of Class A: 13</a:t>
            </a:r>
            <a:endParaRPr b="0" i="0" sz="2800" u="none" cap="none" strike="noStrike">
              <a:solidFill>
                <a:schemeClr val="dk1"/>
              </a:solidFill>
              <a:latin typeface="Arial"/>
              <a:ea typeface="Arial"/>
              <a:cs typeface="Arial"/>
              <a:sym typeface="Arial"/>
            </a:endParaRPr>
          </a:p>
        </p:txBody>
      </p:sp>
      <p:cxnSp>
        <p:nvCxnSpPr>
          <p:cNvPr id="1045" name="Google Shape;1045;p10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6" name="Google Shape;1046;p105"/>
          <p:cNvSpPr txBox="1"/>
          <p:nvPr/>
        </p:nvSpPr>
        <p:spPr>
          <a:xfrm>
            <a:off x="484565" y="4818693"/>
            <a:ext cx="7299867" cy="14763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interquartile range for Class A is 13, which is greater than that for Class B, 8.</a:t>
            </a:r>
            <a:endParaRPr b="0" i="0" sz="1400" u="none" cap="none" strike="noStrike">
              <a:solidFill>
                <a:srgbClr val="000000"/>
              </a:solidFill>
              <a:latin typeface="Arial"/>
              <a:ea typeface="Arial"/>
              <a:cs typeface="Arial"/>
              <a:sym typeface="Arial"/>
            </a:endParaRPr>
          </a:p>
        </p:txBody>
      </p:sp>
      <p:pic>
        <p:nvPicPr>
          <p:cNvPr id="1047" name="Google Shape;1047;p105"/>
          <p:cNvPicPr preferRelativeResize="0"/>
          <p:nvPr/>
        </p:nvPicPr>
        <p:blipFill rotWithShape="1">
          <a:blip r:embed="rId2">
            <a:alphaModFix/>
          </a:blip>
          <a:srcRect b="0" l="0" r="0" t="0"/>
          <a:stretch/>
        </p:blipFill>
        <p:spPr>
          <a:xfrm>
            <a:off x="964190" y="2509503"/>
            <a:ext cx="6480000" cy="1343885"/>
          </a:xfrm>
          <a:prstGeom prst="rect">
            <a:avLst/>
          </a:prstGeom>
          <a:noFill/>
          <a:ln>
            <a:noFill/>
          </a:ln>
        </p:spPr>
      </p:pic>
      <p:sp>
        <p:nvSpPr>
          <p:cNvPr id="1048" name="Google Shape;1048;p105"/>
          <p:cNvSpPr txBox="1"/>
          <p:nvPr/>
        </p:nvSpPr>
        <p:spPr>
          <a:xfrm>
            <a:off x="8522994" y="3215640"/>
            <a:ext cx="3363673" cy="27640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What does a low value for the interquartile range indicate about the data set?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46</a:t>
            </a:r>
          </a:p>
        </p:txBody>
      </p:sp>
      <p:sp xmlns:p="http://schemas.openxmlformats.org/presentationml/2006/main" xmlns:a="http://schemas.openxmlformats.org/drawingml/2006/main">
        <p:nvSpPr>
          <p:cNvPr id="1049" name="TEACH-embedded-student-prompt" descr="Student thinking and response directions"/>
          <p:cNvSpPr txBox="1"/>
          <p:nvPr/>
        </p:nvSpPr>
        <p:spPr>
          <a:xfrm>
            <a:off x="594360" y="1883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13"/>
          <p:cNvSpPr txBox="1"/>
          <p:nvPr/>
        </p:nvSpPr>
        <p:spPr>
          <a:xfrm>
            <a:off x="762884" y="5822162"/>
            <a:ext cx="10089842"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121" name="Google Shape;1121;p113"/>
          <p:cNvPicPr preferRelativeResize="0"/>
          <p:nvPr/>
        </p:nvPicPr>
        <p:blipFill rotWithShape="1">
          <a:blip r:embed="rId4">
            <a:alphaModFix/>
          </a:blip>
          <a:srcRect b="0" l="0" r="0" t="0"/>
          <a:stretch/>
        </p:blipFill>
        <p:spPr>
          <a:xfrm>
            <a:off x="911272" y="4904675"/>
            <a:ext cx="9551630" cy="875134"/>
          </a:xfrm>
          <a:prstGeom prst="rect">
            <a:avLst/>
          </a:prstGeom>
          <a:noFill/>
          <a:ln>
            <a:noFill/>
          </a:ln>
        </p:spPr>
      </p:pic>
      <p:sp>
        <p:nvSpPr>
          <p:cNvPr id="1122" name="Google Shape;1122;p113"/>
          <p:cNvSpPr txBox="1"/>
          <p:nvPr/>
        </p:nvSpPr>
        <p:spPr>
          <a:xfrm>
            <a:off x="521449" y="1233922"/>
            <a:ext cx="10331277" cy="51114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range and interquartile range are measures of variability of a data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range is the difference between the greatest value and the least value of a data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interquartile range is the difference between the first quartile and third quartile. It describes how spread out the middle half of the values are around the median.</a:t>
            </a:r>
            <a:endParaRPr b="0" i="0" sz="1400" u="none" cap="none" strike="noStrike">
              <a:solidFill>
                <a:srgbClr val="000000"/>
              </a:solidFill>
              <a:latin typeface="Arial"/>
              <a:ea typeface="Arial"/>
              <a:cs typeface="Arial"/>
              <a:sym typeface="Arial"/>
            </a:endParaRPr>
          </a:p>
        </p:txBody>
      </p:sp>
      <p:sp>
        <p:nvSpPr>
          <p:cNvPr id="1123" name="Google Shape;1123;p113"/>
          <p:cNvSpPr txBox="1"/>
          <p:nvPr/>
        </p:nvSpPr>
        <p:spPr>
          <a:xfrm>
            <a:off x="484565" y="316034"/>
            <a:ext cx="6276453" cy="826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Range and Interquartile Range</a:t>
            </a:r>
            <a:endParaRPr b="0" i="0" sz="1400" u="none" cap="none" strike="noStrike">
              <a:solidFill>
                <a:srgbClr val="000000"/>
              </a:solidFill>
              <a:latin typeface="Arial"/>
              <a:ea typeface="Arial"/>
              <a:cs typeface="Arial"/>
              <a:sym typeface="Arial"/>
            </a:endParaRPr>
          </a:p>
        </p:txBody>
      </p:sp>
      <p:cxnSp>
        <p:nvCxnSpPr>
          <p:cNvPr id="1124" name="Google Shape;1124;p11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2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46</a:t>
            </a:r>
          </a:p>
        </p:txBody>
      </p:sp>
      <p:sp>
        <p:nvSpPr>
          <p:cNvPr id="112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pic>
        <p:nvPicPr>
          <p:cNvPr id="1129" name="Google Shape;1129;p114"/>
          <p:cNvPicPr preferRelativeResize="0"/>
          <p:nvPr/>
        </p:nvPicPr>
        <p:blipFill rotWithShape="1">
          <a:blip r:embed="rId3">
            <a:alphaModFix/>
          </a:blip>
          <a:srcRect b="0" l="0" r="0" t="0"/>
          <a:stretch/>
        </p:blipFill>
        <p:spPr>
          <a:xfrm>
            <a:off x="610324" y="2275031"/>
            <a:ext cx="8389444" cy="1639517"/>
          </a:xfrm>
          <a:prstGeom prst="rect">
            <a:avLst/>
          </a:prstGeom>
          <a:noFill/>
          <a:ln>
            <a:noFill/>
          </a:ln>
        </p:spPr>
      </p:pic>
      <p:sp>
        <p:nvSpPr>
          <p:cNvPr id="1130" name="Google Shape;1130;p114"/>
          <p:cNvSpPr txBox="1"/>
          <p:nvPr/>
        </p:nvSpPr>
        <p:spPr>
          <a:xfrm>
            <a:off x="484565" y="936766"/>
            <a:ext cx="8640962" cy="51592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two box plots show the salaries for 15 players on two different professional basketball teams.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A basketball player hopes to be drafted by a professional basketball team. Should he hope to be drafted by Team A or Team B?</a:t>
            </a:r>
            <a:endParaRPr b="0" i="0" sz="1400" u="none" cap="none" strike="noStrike">
              <a:solidFill>
                <a:srgbClr val="000000"/>
              </a:solidFill>
              <a:latin typeface="Arial"/>
              <a:ea typeface="Arial"/>
              <a:cs typeface="Arial"/>
              <a:sym typeface="Arial"/>
            </a:endParaRPr>
          </a:p>
        </p:txBody>
      </p:sp>
      <p:sp>
        <p:nvSpPr>
          <p:cNvPr id="1131" name="Google Shape;1131;p114"/>
          <p:cNvSpPr txBox="1"/>
          <p:nvPr/>
        </p:nvSpPr>
        <p:spPr>
          <a:xfrm>
            <a:off x="484565" y="316034"/>
            <a:ext cx="6045544" cy="8108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Professional Basketball</a:t>
            </a:r>
            <a:endParaRPr b="0" i="0" sz="1400" u="none" cap="none" strike="noStrike">
              <a:solidFill>
                <a:srgbClr val="000000"/>
              </a:solidFill>
              <a:latin typeface="Arial"/>
              <a:ea typeface="Arial"/>
              <a:cs typeface="Arial"/>
              <a:sym typeface="Arial"/>
            </a:endParaRPr>
          </a:p>
        </p:txBody>
      </p:sp>
      <p:cxnSp>
        <p:nvCxnSpPr>
          <p:cNvPr id="1132" name="Google Shape;1132;p11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46</a:t>
            </a:r>
          </a:p>
        </p:txBody>
      </p:sp>
      <p:sp>
        <p:nvSpPr>
          <p:cNvPr id="113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grpSp>
        <p:nvGrpSpPr>
          <p:cNvPr id="1135" name="TEACH-5-student-move" descr="TEACH 5 · Facilitate student interactions and academic talk"/>
          <p:cNvGrpSpPr/>
          <p:nvPr/>
        </p:nvGrpSpPr>
        <p:grpSpPr>
          <a:xfrm>
            <a:off x="502920" y="6006190"/>
            <a:ext cx="11186160" cy="402336"/>
            <a:chOff x="502920" y="5472790"/>
            <a:chExt cx="11186160" cy="402336"/>
          </a:xfrm>
        </p:grpSpPr>
        <p:sp>
          <p:nvSpPr>
            <p:cNvPr id="1136"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37"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138"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TEACH A PARTNER  ·  </a:t>
              </a:r>
              <a:r>
                <a:rPr lang="en-US" sz="1200" dirty="0">
                  <a:solidFill>
                    <a:srgbClr val="13303A"/>
                  </a:solidFill>
                  <a:latin typeface="Arial"/>
                </a:rPr>
                <a:t>Teach this to someone who missed it. If you can teach it, you know it.</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cxnSp>
        <p:nvCxnSpPr>
          <p:cNvPr id="1137" name="Google Shape;1137;p11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38" name="Google Shape;1138;p115"/>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 xml:space="preserve">I can use the interquartile range to describe the variability in a data set.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repeated reasoning to compare two data sets displayed in box plots.</a:t>
            </a:r>
            <a:endParaRPr b="0" i="0" sz="1400" u="none" cap="none" strike="noStrike">
              <a:solidFill>
                <a:srgbClr val="000000"/>
              </a:solidFill>
              <a:latin typeface="Arial"/>
              <a:ea typeface="Arial"/>
              <a:cs typeface="Arial"/>
              <a:sym typeface="Arial"/>
            </a:endParaRPr>
          </a:p>
        </p:txBody>
      </p:sp>
      <p:sp>
        <p:nvSpPr>
          <p:cNvPr id="1139" name="Google Shape;1139;p11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1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46</a:t>
            </a:r>
          </a:p>
        </p:txBody>
      </p:sp>
      <p:grpSp>
        <p:nvGrpSpPr>
          <p:cNvPr id="1141" name="TEACH-1-student-move" descr="TEACH 1 · Facilitate clear, standards-based content learning"/>
          <p:cNvGrpSpPr/>
          <p:nvPr/>
        </p:nvGrpSpPr>
        <p:grpSpPr>
          <a:xfrm>
            <a:off x="502920" y="5472790"/>
            <a:ext cx="11186160" cy="402336"/>
            <a:chOff x="502920" y="5472790"/>
            <a:chExt cx="11186160" cy="402336"/>
          </a:xfrm>
        </p:grpSpPr>
        <p:sp>
          <p:nvSpPr>
            <p:cNvPr id="1142"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43"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144"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2.5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Distinguish full spread from middle-half spread.</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19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THE MATH WORDS  ·  </a:t>
            </a:r>
            <a:r>
              <a:rPr lang="en-US" sz="2000" b="0" dirty="0">
                <a:solidFill>
                  <a:srgbClr val="13303A"/>
                </a:solidFill>
                <a:latin typeface="Arial"/>
              </a:rPr>
              <a:t>Use today’s math words in your explanation — not “it” and “that thing.”</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43 / 46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2.5 — Describe Data by Range and Interquartile Range</dc:title>
  <dc:creator>Neft Teacher</dc:creator>
  <cp:lastModifiedBy>Neft Teacher</cp:lastModifiedBy>
  <dcterms:created xsi:type="dcterms:W3CDTF">2026-09-30T12:04:43Z</dcterms:created>
  <dcterms:modified xsi:type="dcterms:W3CDTF">2026-09-30T12:04:43Z</dcterms:modified>
</cp:coreProperties>
</file>