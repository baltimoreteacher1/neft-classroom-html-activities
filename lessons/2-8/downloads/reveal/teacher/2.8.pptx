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7" r:id="rId21"/>
    <p:sldId id="268" r:id="rId22"/>
    <p:sldId id="256" r:id="rId10"/>
    <p:sldId id="257" r:id="rId11"/>
    <p:sldId id="260" r:id="rId14"/>
    <p:sldId id="337" r:id="rId81"/>
    <p:sldId id="336" r:id="rId32"/>
    <p:sldId id="335" r:id="rId33"/>
    <p:sldId id="334" r:id="rId45"/>
    <p:sldId id="333" r:id="rId44"/>
    <p:sldId id="332" r:id="rId43"/>
    <p:sldId id="261" r:id="rId15"/>
    <p:sldId id="270" r:id="rId24"/>
    <p:sldId id="273" r:id="rId27"/>
    <p:sldId id="275" r:id="rId29"/>
    <p:sldId id="281" r:id="rId35"/>
    <p:sldId id="285" r:id="rId39"/>
    <p:sldId id="287" r:id="rId41"/>
    <p:sldId id="292" r:id="rId46"/>
    <p:sldId id="341" r:id="rId85"/>
    <p:sldId id="338" r:id="rId82"/>
    <p:sldId id="331" r:id="rId42"/>
    <p:sldId id="330" r:id="rId34"/>
    <p:sldId id="324" r:id="rId79"/>
    <p:sldId id="342" r:id="rId86"/>
    <p:sldId id="325" r:id="rId80"/>
    <p:sldId id="293" r:id="rId47"/>
    <p:sldId id="295" r:id="rId49"/>
    <p:sldId id="298" r:id="rId52"/>
    <p:sldId id="302" r:id="rId56"/>
    <p:sldId id="309" r:id="rId63"/>
    <p:sldId id="343" r:id="rId87"/>
    <p:sldId id="316" r:id="rId70"/>
    <p:sldId id="320" r:id="rId74"/>
    <p:sldId id="339" r:id="rId83"/>
    <p:sldId id="329" r:id="rId40"/>
    <p:sldId id="328" r:id="rId36"/>
    <p:sldId id="327" r:id="rId38"/>
    <p:sldId id="344" r:id="rId88"/>
    <p:sldId id="321" r:id="rId75"/>
    <p:sldId id="322" r:id="rId76"/>
    <p:sldId id="323" r:id="rId77"/>
    <p:sldId id="326" r:id="rId37"/>
    <p:sldId id="340" r:id="rId84"/>
  </p:sldIdLst>
  <p:sldSz cy="6858000" cx="12192000"/>
  <p:notesSz cx="7010400" cy="9236075"/>
  <p:embeddedFontLst>
    <p:embeddedFont>
      <p:font typeface="Cambria Math"/>
      <p:regular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4C960C-0420-4497-AB46-4FAE7A2F2F17}">
  <a:tblStyle styleId="{D04C960C-0420-4497-AB46-4FAE7A2F2F1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3.xml"/><Relationship Id="rId21" Type="http://schemas.openxmlformats.org/officeDocument/2006/relationships/slide" Target="slides/slide2.xml"/><Relationship Id="rId22" Type="http://schemas.openxmlformats.org/officeDocument/2006/relationships/slide" Target="slides/slide3.xml"/><Relationship Id="rId24" Type="http://schemas.openxmlformats.org/officeDocument/2006/relationships/slide" Target="slides/slide14.xml"/><Relationship Id="rId27" Type="http://schemas.openxmlformats.org/officeDocument/2006/relationships/slide" Target="slides/slide15.xml"/><Relationship Id="rId29" Type="http://schemas.openxmlformats.org/officeDocument/2006/relationships/slide" Target="slides/slide16.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23.xml"/><Relationship Id="rId35" Type="http://schemas.openxmlformats.org/officeDocument/2006/relationships/slide" Target="slides/slide17.xml"/><Relationship Id="rId36" Type="http://schemas.openxmlformats.org/officeDocument/2006/relationships/slide" Target="slides/slide35.xml"/><Relationship Id="rId37" Type="http://schemas.openxmlformats.org/officeDocument/2006/relationships/slide" Target="slides/slide40.xml"/><Relationship Id="rId38" Type="http://schemas.openxmlformats.org/officeDocument/2006/relationships/slide" Target="slides/slide36.xml"/><Relationship Id="rId39" Type="http://schemas.openxmlformats.org/officeDocument/2006/relationships/slide" Target="slides/slide18.xml"/><Relationship Id="rId40" Type="http://schemas.openxmlformats.org/officeDocument/2006/relationships/slide" Target="slides/slide34.xml"/><Relationship Id="rId41" Type="http://schemas.openxmlformats.org/officeDocument/2006/relationships/slide" Target="slides/slide19.xml"/><Relationship Id="rId42" Type="http://schemas.openxmlformats.org/officeDocument/2006/relationships/slide" Target="slides/slide22.xml"/><Relationship Id="rId43" Type="http://schemas.openxmlformats.org/officeDocument/2006/relationships/slide" Target="slides/slide12.xml"/><Relationship Id="rId44" Type="http://schemas.openxmlformats.org/officeDocument/2006/relationships/slide" Target="slides/slide11.xml"/><Relationship Id="rId45" Type="http://schemas.openxmlformats.org/officeDocument/2006/relationships/slide" Target="slides/slide10.xml"/><Relationship Id="rId46" Type="http://schemas.openxmlformats.org/officeDocument/2006/relationships/slide" Target="slides/slide20.xml"/><Relationship Id="rId47" Type="http://schemas.openxmlformats.org/officeDocument/2006/relationships/slide" Target="slides/slide26.xml"/><Relationship Id="rId49" Type="http://schemas.openxmlformats.org/officeDocument/2006/relationships/slide" Target="slides/slide27.xml"/><Relationship Id="rId52" Type="http://schemas.openxmlformats.org/officeDocument/2006/relationships/slide" Target="slides/slide28.xml"/><Relationship Id="rId56" Type="http://schemas.openxmlformats.org/officeDocument/2006/relationships/slide" Target="slides/slide29.xml"/><Relationship Id="rId63" Type="http://schemas.openxmlformats.org/officeDocument/2006/relationships/slide" Target="slides/slide30.xml"/><Relationship Id="rId70" Type="http://schemas.openxmlformats.org/officeDocument/2006/relationships/slide" Target="slides/slide31.xml"/><Relationship Id="rId74" Type="http://schemas.openxmlformats.org/officeDocument/2006/relationships/slide" Target="slides/slide32.xml"/><Relationship Id="rId75" Type="http://schemas.openxmlformats.org/officeDocument/2006/relationships/slide" Target="slides/slide37.xml"/><Relationship Id="rId76" Type="http://schemas.openxmlformats.org/officeDocument/2006/relationships/slide" Target="slides/slide38.xml"/><Relationship Id="rId77" Type="http://schemas.openxmlformats.org/officeDocument/2006/relationships/slide" Target="slides/slide39.xml"/><Relationship Id="rId78" Type="http://schemas.openxmlformats.org/officeDocument/2006/relationships/font" Target="fonts/CambriaMath-regular.fntdata"/><Relationship Id="rId79" Type="http://schemas.openxmlformats.org/officeDocument/2006/relationships/slide" Target="slides/slide24.xml"/><Relationship Id="rId80" Type="http://schemas.openxmlformats.org/officeDocument/2006/relationships/slide" Target="slides/slide25.xml"/><Relationship Id="rId81" Type="http://schemas.openxmlformats.org/officeDocument/2006/relationships/slide" Target="slides/slide7.xml"/><Relationship Id="rId82" Type="http://schemas.openxmlformats.org/officeDocument/2006/relationships/slide" Target="slides/slide21.xml"/><Relationship Id="rId83" Type="http://schemas.openxmlformats.org/officeDocument/2006/relationships/slide" Target="slides/slide33.xml"/><Relationship Id="rId84" Type="http://schemas.openxmlformats.org/officeDocument/2006/relationships/slide" Target="slides/slide41.xml"/><Relationship Id="rId85" Type="http://schemas.openxmlformats.org/officeDocument/2006/relationships/slide" Target="slides/slide42.xml"/><Relationship Id="rId86" Type="http://schemas.openxmlformats.org/officeDocument/2006/relationships/slide" Target="slides/slide43.xml"/><Relationship Id="rId87" Type="http://schemas.openxmlformats.org/officeDocument/2006/relationships/slide" Target="slides/slide44.xml"/><Relationship Id="rId88"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4 | DIVIDER</a:t>
            </a:r>
          </a:p>
          <a:p xmlns:a="http://schemas.openxmlformats.org/drawingml/2006/main">
            <a:pPr>
              <a:buNone/>
            </a:pPr>
            <a:r>
              <a:rPr lang="en-US" sz="1100"/>
              <a:t>Focus on the existing task: Describe Data Using the Mean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5 | WORKED</a:t>
            </a:r>
          </a:p>
          <a:p xmlns:a="http://schemas.openxmlformats.org/drawingml/2006/main">
            <a:pPr>
              <a:buNone/>
            </a:pPr>
            <a:r>
              <a:rPr lang="en-US" sz="1100"/>
              <a:t>Focus on the existing task: Give Me Five Use all the numbers in any order with any operation to equal the target number (in red).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1 | WARMUP</a:t>
            </a:r>
          </a:p>
          <a:p xmlns:a="http://schemas.openxmlformats.org/drawingml/2006/main">
            <a:pPr>
              <a:buNone/>
            </a:pPr>
            <a:r>
              <a:rPr lang="en-US" sz="1100"/>
              <a:t>Focus on the existing task: Warm-Up WARM-UP · THINK • TRY • CHECK Do these four on your…</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60   2) 42   3) 6   4) 12</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interpret mean as fair share and balance point; use total and count to find a missing value. Review recent work and today’s warm-up to choose flexible groups and access supports; do not infer needs from identity or perceived ability. Use the existing lesson tasks and stated standards.</a:t>
            </a:r>
          </a:p>
          <a:p>
            <a:pPr>
              <a:buNone/>
            </a:pPr>
            <a:r>
              <a:rPr lang="en-US" sz="1100"/>
              <a:t>Anticipate: dividing by the wrong number of observations. If observed, organize the existing values as a sum and mark the number of observations.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6 | GOAL</a:t>
            </a:r>
          </a:p>
          <a:p xmlns:a="http://schemas.openxmlformats.org/drawingml/2006/main">
            <a:pPr>
              <a:buNone/>
            </a:pPr>
            <a:r>
              <a:rPr lang="en-US" sz="1100"/>
              <a:t>Focus on the existing task: Today’s Objectives Describe Data Using the Mean Maryland…</a:t>
            </a:r>
          </a:p>
          <a:p xmlns:a="http://schemas.openxmlformats.org/drawingml/2006/main">
            <a:pPr>
              <a:buNone/>
            </a:pPr>
            <a:r>
              <a:rPr lang="en-US" sz="1100"/>
              <a:t>CONNECT (T1/4): Ask students to restate the displayed goal or key idea and connect it to earlier work. Relevant lesson evidence: interpret mean as fair share and balance point; use total and count to find a missing value.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interpret mean as fair share and balance point; use total and count to find a missing value.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13 | VOCAB</a:t>
            </a:r>
          </a:p>
          <a:p xmlns:a="http://schemas.openxmlformats.org/drawingml/2006/main">
            <a:pPr>
              <a:buNone/>
            </a:pPr>
            <a:r>
              <a:rPr lang="en-US" sz="1100"/>
              <a:t>Focus on the existing task: Vocabulary Today’s Math Words We learn every word — what it…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76" name="Google Shape;476;p1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3 | NOTES</a:t>
            </a:r>
          </a:p>
          <a:p xmlns:a="http://schemas.openxmlformats.org/drawingml/2006/main">
            <a:pPr>
              <a:buNone/>
            </a:pPr>
            <a:r>
              <a:rPr lang="en-US" sz="1100"/>
              <a:t>Focus on the existing task: Today’s Math Notes Section 2: Today’s Math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04" name="Google Shape;504;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1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14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41" name="Google Shape;541;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15 | REVEAL</a:t>
            </a:r>
          </a:p>
          <a:p xmlns:a="http://schemas.openxmlformats.org/drawingml/2006/main">
            <a:pPr>
              <a:buNone/>
            </a:pPr>
            <a:r>
              <a:rPr lang="en-US" sz="1100"/>
              <a:t>Focus on the existing task: Every week, Miguel walks dogs after school to earn some money. He keeps track of his earnings in his notebook. How can Miguel describe his earnings on a typical day?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total and count to find a missing value.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need to find a number that describes the amount of money Miguel makes walking dogs on a typical day.</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the mean determine the total? What must the missing value contribute to that total?” Wait for evidence, invite another pathway, and have a student ask a follow-up question. Do not replace students’ reasoning with a sequence of leading steps.</a:t>
            </a:r>
          </a:p>
        </p:txBody>
      </p:sp>
      <p:sp>
        <p:nvSpPr>
          <p:cNvPr id="570" name="Google Shape;570;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16 | REVEAL</a:t>
            </a:r>
          </a:p>
          <a:p xmlns:a="http://schemas.openxmlformats.org/drawingml/2006/main">
            <a:pPr>
              <a:buNone/>
            </a:pPr>
            <a:r>
              <a:rPr lang="en-US" sz="1100"/>
              <a:t>Focus on the existing task: What does typical day mean in the context of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It indicates the amount of money Miguel would make if he earned the same amount of money each day.</a:t>
            </a:r>
          </a:p>
          <a:p>
            <a:pPr indent="0" lvl="0" marL="0" rtl="0" algn="l">
              <a:lnSpc>
                <a:spcPct val="100000"/>
              </a:lnSpc>
              <a:spcBef>
                <a:spcPts val="0"/>
              </a:spcBef>
              <a:spcAft>
                <a:spcPts val="0"/>
              </a:spcAft>
              <a:buSzPts val="1400"/>
              <a:buNone/>
            </a:pPr>
            <a:r>
              <a:t>UIFR: TEACH 3 · TEACH 4.</a:t>
            </a:r>
          </a:p>
        </p:txBody>
      </p:sp>
      <p:sp>
        <p:nvSpPr>
          <p:cNvPr id="588" name="Google Shape;588;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17 | REVEAL</a:t>
            </a:r>
          </a:p>
          <a:p xmlns:a="http://schemas.openxmlformats.org/drawingml/2006/main">
            <a:pPr>
              <a:buNone/>
            </a:pPr>
            <a:r>
              <a:rPr lang="en-US" sz="1100"/>
              <a:t>Focus on the existing task: We can display each day’s earnings using counters. How can you use the counters to show how much Miguel makes on a typical day?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combine and then redistribute the counters equally among the 4 days to level the values in the data set.</a:t>
            </a:r>
          </a:p>
          <a:p>
            <a:pPr indent="0" lvl="0" marL="0" rtl="0" algn="l">
              <a:lnSpc>
                <a:spcPct val="100000"/>
              </a:lnSpc>
              <a:spcBef>
                <a:spcPts val="0"/>
              </a:spcBef>
              <a:spcAft>
                <a:spcPts val="0"/>
              </a:spcAft>
              <a:buSzPts val="1400"/>
              <a:buNone/>
            </a:pPr>
            <a:r>
              <a:t>UIFR: TEACH 3 · TEACH 4.</a:t>
            </a:r>
          </a:p>
        </p:txBody>
      </p:sp>
      <p:sp>
        <p:nvSpPr>
          <p:cNvPr id="645" name="Google Shape;645;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18 | COLLABORATE</a:t>
            </a:r>
          </a:p>
          <a:p xmlns:a="http://schemas.openxmlformats.org/drawingml/2006/main">
            <a:pPr>
              <a:buNone/>
            </a:pPr>
            <a:r>
              <a:rPr lang="en-US" sz="1100"/>
              <a:t>Focus on the existing task: Another Way How can you mathematically calculate the amount Miguel makes on a typical day?</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total and count to find a missing value.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dividing by the wrong number of observations. If it appears, organize the existing values as a sum and mark the number of observations; then ask the student to revise the same response and explain the change. If evidence is secure, have students compare a second valid pathway or state why their approach works. Choose the next step from the responses, not a preset pace.</a:t>
            </a:r>
          </a:p>
        </p:txBody>
      </p:sp>
      <p:sp>
        <p:nvSpPr>
          <p:cNvPr id="681" name="Google Shape;681;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19 | WORKED</a:t>
            </a:r>
          </a:p>
          <a:p xmlns:a="http://schemas.openxmlformats.org/drawingml/2006/main">
            <a:pPr>
              <a:buNone/>
            </a:pPr>
            <a:r>
              <a:rPr lang="en-US" sz="1100"/>
              <a:t>Focus on the existing task: We can use $15 to describe Miguel’s typical daily earnings. This is also known as the mean. The mean, or arithmetic average, is a…</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01" name="Google Shape;701;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20 | PRACTICE</a:t>
            </a:r>
          </a:p>
          <a:p xmlns:a="http://schemas.openxmlformats.org/drawingml/2006/main">
            <a:pPr>
              <a:buNone/>
            </a:pPr>
            <a:r>
              <a:rPr lang="en-US" sz="1100"/>
              <a:t>Focus on the existing task: Let’s Explore More What information does the mean provide that is different from what the median provides?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45" name="Google Shape;745;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26 | DIVIDER</a:t>
            </a:r>
          </a:p>
          <a:p xmlns:a="http://schemas.openxmlformats.org/drawingml/2006/main">
            <a:pPr>
              <a:buNone/>
            </a:pPr>
            <a:r>
              <a:rPr lang="en-US" sz="1100"/>
              <a:t>Focus on the existing task: Describe Data Using the Mean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56" name="Google Shape;756;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27 | CURIOUS</a:t>
            </a:r>
          </a:p>
          <a:p xmlns:a="http://schemas.openxmlformats.org/drawingml/2006/main">
            <a:pPr>
              <a:buNone/>
            </a:pPr>
            <a:r>
              <a:rPr lang="en-US" sz="1100"/>
              <a:t>Focus on the existing task: Be Curious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773" name="Google Shape;773;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4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28 | REVEAL</a:t>
            </a:r>
          </a:p>
          <a:p xmlns:a="http://schemas.openxmlformats.org/drawingml/2006/main">
            <a:pPr>
              <a:buNone/>
            </a:pPr>
            <a:r>
              <a:rPr lang="en-US" sz="1100"/>
              <a:t>Focus on the existing task: What does it mean for Sofia to hit her target mean?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It means that her average number of points scored each game will be 15.</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the mean determine the total? What must the missing value contribute to that total?” Wait for evidence, invite another pathway, and have a student ask a follow-up question. Do not replace students’ reasoning with a sequence of leading steps.</a:t>
            </a:r>
          </a:p>
        </p:txBody>
      </p:sp>
      <p:sp>
        <p:nvSpPr>
          <p:cNvPr id="802" name="Google Shape;802;p4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29 | TASK</a:t>
            </a:r>
          </a:p>
          <a:p xmlns:a="http://schemas.openxmlformats.org/drawingml/2006/main">
            <a:pPr>
              <a:buNone/>
            </a:pPr>
            <a:r>
              <a:rPr lang="en-US" sz="1100"/>
              <a:t>Focus on the existing task: The target mean, 15, is the balance point of the data set. Think About It: What does it mean for something to be balanced?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837" name="Google Shape;837;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30 | REVEAL</a:t>
            </a:r>
          </a:p>
          <a:p xmlns:a="http://schemas.openxmlformats.org/drawingml/2006/main">
            <a:pPr>
              <a:buNone/>
            </a:pPr>
            <a:r>
              <a:rPr lang="en-US" sz="1100"/>
              <a:t>Focus on the existing task: The total number of points below the target mean is 2 more than the number of points above the target mean. What must be true about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904" name="Google Shape;904;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31 | REVEAL</a:t>
            </a:r>
          </a:p>
          <a:p xmlns:a="http://schemas.openxmlformats.org/drawingml/2006/main">
            <a:pPr>
              <a:buNone/>
            </a:pPr>
            <a:r>
              <a:rPr lang="en-US" sz="1100"/>
              <a:t>Focus on the existing task: How can you compare the number of points Sofia needs to the number of points Sofia currently has?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total and count to find a missing value.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973" name="Google Shape;973;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6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32 | PRACTICE</a:t>
            </a:r>
          </a:p>
          <a:p xmlns:a="http://schemas.openxmlformats.org/drawingml/2006/main">
            <a:pPr>
              <a:buNone/>
            </a:pPr>
            <a:r>
              <a:rPr lang="en-US" sz="1100"/>
              <a:t>Focus on the existing task: Let’s Explore More Sofia realized that she had an error and had scored 12 points in Game 8. How does that change the number of points she needs to score in Game 10?</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dividing by the wrong number of observations. If it appears, organize the existing values as a sum and mark the number of observations; then ask the student to revise the same response and explain the change. If evidence is secure, have students compare a second valid pathway or state why their approach works. Choose the next step from the responses, not a preset pace.</a:t>
            </a:r>
          </a:p>
        </p:txBody>
      </p:sp>
      <p:sp>
        <p:nvSpPr>
          <p:cNvPr id="1015" name="Google Shape;1015;p6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6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37 | SUMMARIZE</a:t>
            </a:r>
          </a:p>
          <a:p xmlns:a="http://schemas.openxmlformats.org/drawingml/2006/main">
            <a:pPr>
              <a:buNone/>
            </a:pPr>
            <a:r>
              <a:rPr lang="en-US" sz="1100"/>
              <a:t>Focus on the existing task: Summarize: Describe Data Using the Mean SUMMARIZE · SAY IT IN YOUR OWN WORDS</a:t>
            </a:r>
          </a:p>
          <a:p xmlns:a="http://schemas.openxmlformats.org/drawingml/2006/main">
            <a:pPr>
              <a:buNone/>
            </a:pPr>
            <a:r>
              <a:rPr lang="en-US" sz="1100"/>
              <a:t>CONNECT (T1/4): Ask students to restate the displayed goal or key idea and connect it to earlier work. Relevant lesson evidence: interpret mean as fair share and balance point; use total and count to find a missing value.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24" name="Google Shape;1024;p6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6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38 | APPLY</a:t>
            </a:r>
          </a:p>
          <a:p xmlns:a="http://schemas.openxmlformats.org/drawingml/2006/main">
            <a:pPr>
              <a:buNone/>
            </a:pPr>
            <a:r>
              <a:rPr lang="en-US" sz="1100"/>
              <a:t>Focus on the existing task: Apply: Honor Roll Shanice wants to be on the honor roll for the next marking period. She determines that her mean test score needs to be…</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interpret mean as fair share and balance point; use total and count to find a missing value. Respond with one specific next step tied to the work. Students revise and annotate what changed, then identify a criterion they can now demonstrate and one they still need to practice.</a:t>
            </a:r>
          </a:p>
        </p:txBody>
      </p:sp>
      <p:sp>
        <p:nvSpPr>
          <p:cNvPr id="1031" name="Google Shape;1031;p6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6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2.8, slide 39 | REFLECTION</a:t>
            </a:r>
          </a:p>
          <a:p xmlns:a="http://schemas.openxmlformats.org/drawingml/2006/main">
            <a:pPr>
              <a:buNone/>
            </a:pPr>
            <a:r>
              <a:rPr lang="en-US" sz="1100"/>
              <a:t>Focus on the existing task: Learning Targets I can determine the mean of a data set. I can use a target mean to find a missing value in a data set. I can connect…</a:t>
            </a:r>
          </a:p>
          <a:p xmlns:a="http://schemas.openxmlformats.org/drawingml/2006/main">
            <a:pPr>
              <a:buNone/>
            </a:pPr>
            <a:r>
              <a:rPr lang="en-US" sz="1100"/>
              <a:t>CONNECT (T1/4): Ask students to restate the displayed goal or key idea and connect it to earlier work. Relevant lesson evidence: interpret mean as fair share and balance point; use total and count to find a missing value.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039" name="Google Shape;1039;p6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2.8, slide 24 | WARMUP</a:t>
            </a:r>
          </a:p>
          <a:p xmlns:a="http://schemas.openxmlformats.org/drawingml/2006/main">
            <a:pPr>
              <a:buNone/>
            </a:pPr>
            <a:r>
              <a:rPr lang="en-US" sz="1100"/>
              <a:t>Focus on the existing task: Session 2 Warm-Up Session 2 Warm-Up Quick review from Session 1 · about 4 minutes 1 How do you calculate the mean of a data set?</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interpret mean as fair share and balance point; use total and count to find a missing value. Ask: “Which part of your work would show this?” Revisit that evidence after the task; a confidence rating alone is not evidence of understanding.</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2.8, slide 25 | NOTES</a:t>
            </a:r>
          </a:p>
          <a:p xmlns:a="http://schemas.openxmlformats.org/drawingml/2006/main">
            <a:pPr>
              <a:buNone/>
            </a:pPr>
            <a:r>
              <a:rPr lang="en-US" sz="1100"/>
              <a:t>Focus on the existing task: Review Notes Review Notes — Session 2 Copy into your notebook…</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40 | REFLECTION</a:t>
            </a:r>
          </a:p>
          <a:p xmlns:a="http://schemas.openxmlformats.org/drawingml/2006/main">
            <a:pPr>
              <a:buNone/>
            </a:pPr>
            <a:r>
              <a:rPr lang="en-US" sz="1100"/>
              <a:t>Focus on the existing task: Learning Targets I can determine the mean of a data set. I can use a target mean to find a missing value in a data set. I can connect…</a:t>
            </a:r>
          </a:p>
          <a:p xmlns:a="http://schemas.openxmlformats.org/drawingml/2006/main">
            <a:pPr>
              <a:buNone/>
            </a:pPr>
            <a:r>
              <a:rPr lang="en-US" sz="1100"/>
              <a:t>CONNECT (T1/4): Ask students to restate the displayed goal or key idea and connect it to earlier work. Relevant lesson evidence: interpret mean as fair share and balance point; use total and count to find a missing value.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dividing by the wrong number of observations.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organize the existing values as a sum and mark the number of observations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7 | PRIOR_INSERT</a:t>
            </a:r>
          </a:p>
          <a:p xmlns:a="http://schemas.openxmlformats.org/drawingml/2006/main">
            <a:pPr>
              <a:buNone/>
            </a:pPr>
            <a:r>
              <a:rPr lang="en-US" sz="1100"/>
              <a:t>Focus on the existing task: LESSON 2.8 / OUR LEARNING What will show your learning?</a:t>
            </a:r>
          </a:p>
          <a:p xmlns:a="http://schemas.openxmlformats.org/drawingml/2006/main">
            <a:pPr>
              <a:buNone/>
            </a:pPr>
            <a:r>
              <a:rPr lang="en-US" sz="1100"/>
              <a:t>CONNECT (T1/4): Ask students to restate the displayed goal or key idea and connect it to earlier work. Relevant lesson evidence: interpret mean as fair share and balance point; use total and count to find a missing value.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8 | VOCAB</a:t>
            </a:r>
          </a:p>
          <a:p xmlns:a="http://schemas.openxmlformats.org/drawingml/2006/main">
            <a:pPr>
              <a:buNone/>
            </a:pPr>
            <a:r>
              <a:rPr lang="en-US" sz="1100"/>
              <a:t>Focus on the existing task: Vocabulary 1 of 5 Mean The average of a data set. Add all the…</a:t>
            </a:r>
          </a:p>
          <a:p xmlns:a="http://schemas.openxmlformats.org/drawingml/2006/main">
            <a:pPr>
              <a:buNone/>
            </a:pPr>
            <a:r>
              <a:rPr lang="en-US" sz="1100"/>
              <a:t>ASK (T1/3/5): Where does “Mean”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9 | VOCAB</a:t>
            </a:r>
          </a:p>
          <a:p xmlns:a="http://schemas.openxmlformats.org/drawingml/2006/main">
            <a:pPr>
              <a:buNone/>
            </a:pPr>
            <a:r>
              <a:rPr lang="en-US" sz="1100"/>
              <a:t>Focus on the existing task: Vocabulary 2 of 5 Average Another word for the mean — the…</a:t>
            </a:r>
          </a:p>
          <a:p xmlns:a="http://schemas.openxmlformats.org/drawingml/2006/main">
            <a:pPr>
              <a:buNone/>
            </a:pPr>
            <a:r>
              <a:rPr lang="en-US" sz="1100"/>
              <a:t>ASK (T1/3/5): Where does “Average”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10 | VOCAB</a:t>
            </a:r>
          </a:p>
          <a:p xmlns:a="http://schemas.openxmlformats.org/drawingml/2006/main">
            <a:pPr>
              <a:buNone/>
            </a:pPr>
            <a:r>
              <a:rPr lang="en-US" sz="1100"/>
              <a:t>Focus on the existing task: Vocabulary 3 of 5 Measure of center A single number used to…</a:t>
            </a:r>
          </a:p>
          <a:p xmlns:a="http://schemas.openxmlformats.org/drawingml/2006/main">
            <a:pPr>
              <a:buNone/>
            </a:pPr>
            <a:r>
              <a:rPr lang="en-US" sz="1100"/>
              <a:t>ASK (T1/3/5): Where does “Measure of center”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11 | VOCAB</a:t>
            </a:r>
          </a:p>
          <a:p xmlns:a="http://schemas.openxmlformats.org/drawingml/2006/main">
            <a:pPr>
              <a:buNone/>
            </a:pPr>
            <a:r>
              <a:rPr lang="en-US" sz="1100"/>
              <a:t>Focus on the existing task: Vocabulary 4 of 5 Balance point The value where the total…</a:t>
            </a:r>
          </a:p>
          <a:p xmlns:a="http://schemas.openxmlformats.org/drawingml/2006/main">
            <a:pPr>
              <a:buNone/>
            </a:pPr>
            <a:r>
              <a:rPr lang="en-US" sz="1100"/>
              <a:t>ASK (T1/3/5): Where does “Balance point”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12 | VOCAB</a:t>
            </a:r>
          </a:p>
          <a:p xmlns:a="http://schemas.openxmlformats.org/drawingml/2006/main">
            <a:pPr>
              <a:buNone/>
            </a:pPr>
            <a:r>
              <a:rPr lang="en-US" sz="1100"/>
              <a:t>Focus on the existing task: Vocabulary 5 of 5 Data set The whole collection of values…</a:t>
            </a:r>
          </a:p>
          <a:p xmlns:a="http://schemas.openxmlformats.org/drawingml/2006/main">
            <a:pPr>
              <a:buNone/>
            </a:pPr>
            <a:r>
              <a:rPr lang="en-US" sz="1100"/>
              <a:t>ASK (T1/3/5): Where does “Data set”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21 | PRIOR_INSERT</a:t>
            </a:r>
          </a:p>
          <a:p xmlns:a="http://schemas.openxmlformats.org/drawingml/2006/main">
            <a:pPr>
              <a:buNone/>
            </a:pPr>
            <a:r>
              <a:rPr lang="en-US" sz="1100"/>
              <a:t>Focus on the existing task: LESSON 2.8 / DISCUSS THE TASK Explain and compare Listen to understand. Ask for evidence. Make room for every voice. Use the task you just explored. How does the mean determine the total?</a:t>
            </a:r>
          </a:p>
          <a:p xmlns:a="http://schemas.openxmlformats.org/drawingml/2006/main">
            <a:pPr>
              <a:buNone/>
            </a:pPr>
            <a:r>
              <a:rPr lang="en-US" sz="1100"/>
              <a:t>CONNECT (T1/4): Ask students to restate the displayed goal or key idea and connect it to earlier work. Relevant lesson evidence: interpret mean as fair share and balance point; use total and count to find a missing value.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22 | REVEAL</a:t>
            </a:r>
          </a:p>
          <a:p xmlns:a="http://schemas.openxmlformats.org/drawingml/2006/main">
            <a:pPr>
              <a:buNone/>
            </a:pPr>
            <a:r>
              <a:rPr lang="en-US" sz="1100"/>
              <a:t>Focus on the existing task: What does typical day mean in the context of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23 | REVEAL</a:t>
            </a:r>
          </a:p>
          <a:p xmlns:a="http://schemas.openxmlformats.org/drawingml/2006/main">
            <a:pPr>
              <a:buNone/>
            </a:pPr>
            <a:r>
              <a:rPr lang="en-US" sz="1100"/>
              <a:t>Focus on the existing task: How can you visually represent each day’s earnings?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33 | PRIOR_INSERT</a:t>
            </a:r>
          </a:p>
          <a:p xmlns:a="http://schemas.openxmlformats.org/drawingml/2006/main">
            <a:pPr>
              <a:buNone/>
            </a:pPr>
            <a:r>
              <a:rPr lang="en-US" sz="1100"/>
              <a:t>Focus on the existing task: LESSON 2.8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interpret mean as fair share and balance point; use total and count to find a missing value.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34 | REVEAL</a:t>
            </a:r>
          </a:p>
          <a:p xmlns:a="http://schemas.openxmlformats.org/drawingml/2006/main">
            <a:pPr>
              <a:buNone/>
            </a:pPr>
            <a:r>
              <a:rPr lang="en-US" sz="1100"/>
              <a:t>Focus on the existing task: Reveal: For some games, Sofia scored below the target mean. For others, she scored above the target mean. In game 7, she scored her…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35 | REVEAL</a:t>
            </a:r>
          </a:p>
          <a:p xmlns:a="http://schemas.openxmlformats.org/drawingml/2006/main">
            <a:pPr>
              <a:buNone/>
            </a:pPr>
            <a:r>
              <a:rPr lang="en-US" sz="1100"/>
              <a:t>Focus on the existing task: What do you notice about the total number of points above and the total number of points below the target mean?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36 | REVEAL</a:t>
            </a:r>
          </a:p>
          <a:p xmlns:a="http://schemas.openxmlformats.org/drawingml/2006/main">
            <a:pPr>
              <a:buNone/>
            </a:pPr>
            <a:r>
              <a:rPr lang="en-US" sz="1100"/>
              <a:t>Focus on the existing task: To reach the balance point, Sofia needs to score 2 points above the target mean in game 10. How can you use this information to find the value of p?</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mean as fair share and balance point. Ask which feature of their work supports the claim.</a:t>
            </a:r>
          </a:p>
          <a:p xmlns:a="http://schemas.openxmlformats.org/drawingml/2006/main">
            <a:pPr>
              <a:buNone/>
            </a:pPr>
            <a:r>
              <a:rPr lang="en-US" sz="1100"/>
              <a:t>RESPOND: If this task shows the lesson misconception—dividing by the wrong number of observations—organize the existing values as a sum and mark the number of observations.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2.8, slide 41 | PRIOR_INSERT</a:t>
            </a:r>
          </a:p>
          <a:p xmlns:a="http://schemas.openxmlformats.org/drawingml/2006/main">
            <a:pPr>
              <a:buNone/>
            </a:pPr>
            <a:r>
              <a:rPr lang="en-US" sz="1100"/>
              <a:t>Focus on the existing task: LESSON 2.8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interpret mean as fair share and balance point; use total and count to find a missing value.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4" name="Google Shape;24;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5" name="Google Shape;25;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Describe Data Using the Mean</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Describe Data Using the Mean</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0.png"/><Relationship Id="rId3" Type="http://schemas.openxmlformats.org/officeDocument/2006/relationships/notesSlide" Target="../notesSlides/notesSlide7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0.png"/><Relationship Id="rId3" Type="http://schemas.openxmlformats.org/officeDocument/2006/relationships/notesSlide" Target="../notesSlides/notesSlide8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6.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1.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notesSlide" Target="../notesSlides/notesSlide8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2-8 · Describe Data Using the Mean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10 + 14 + 8 + 12 + 16 =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252 ÷ 6 =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How many values are in 7, 9, 9, 11, 13, 15?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48 + ______ = 60</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45</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9" name="Google Shape;479;p51"/>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81" name="Google Shape;481;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2-8 · Describe Data Using the Mean</a:t>
            </a:r>
            <a:endParaRPr/>
          </a:p>
        </p:txBody>
      </p:sp>
      <p:sp>
        <p:nvSpPr>
          <p:cNvPr id="482" name="Google Shape;482;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84" name="Google Shape;484;p51"/>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85" name="Google Shape;485;p51"/>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87" name="Google Shape;487;p51"/>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51"/>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90" name="Google Shape;490;p51"/>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Mean</a:t>
            </a:r>
            <a:endParaRPr/>
          </a:p>
        </p:txBody>
      </p:sp>
      <p:sp>
        <p:nvSpPr>
          <p:cNvPr id="491" name="Google Shape;491;p51"/>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a:t>
            </a:r>
            <a:r>
              <a:rPr b="1" i="0" lang="en-US" sz="1450" u="none" cap="none" strike="noStrike">
                <a:solidFill>
                  <a:srgbClr val="475569"/>
                </a:solidFill>
                <a:latin typeface="Arial"/>
                <a:ea typeface="Arial"/>
                <a:cs typeface="Arial"/>
                <a:sym typeface="Arial"/>
              </a:rPr>
              <a:t xml:space="preserve">average</a:t>
            </a:r>
            <a:r>
              <a:rPr b="0" i="0" lang="en-US" sz="1450" u="none" cap="none" strike="noStrike">
                <a:solidFill>
                  <a:srgbClr val="475569"/>
                </a:solidFill>
                <a:latin typeface="Arial"/>
                <a:ea typeface="Arial"/>
                <a:cs typeface="Arial"/>
                <a:sym typeface="Arial"/>
              </a:rPr>
              <a:t xml:space="preserve"> of a </a:t>
            </a:r>
            <a:r>
              <a:rPr b="1" i="0" lang="en-US" sz="1450" u="none" cap="none" strike="noStrike">
                <a:solidFill>
                  <a:srgbClr val="475569"/>
                </a:solidFill>
                <a:latin typeface="Arial"/>
                <a:ea typeface="Arial"/>
                <a:cs typeface="Arial"/>
                <a:sym typeface="Arial"/>
              </a:rPr>
              <a:t xml:space="preserve">data set</a:t>
            </a:r>
            <a:endParaRPr/>
          </a:p>
        </p:txBody>
      </p:sp>
      <p:sp>
        <p:nvSpPr>
          <p:cNvPr id="492" name="Google Shape;492;p51"/>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1"/>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495" name="Google Shape;495;p51"/>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Average</a:t>
            </a:r>
            <a:endParaRPr/>
          </a:p>
        </p:txBody>
      </p:sp>
      <p:sp>
        <p:nvSpPr>
          <p:cNvPr id="496" name="Google Shape;496;p51"/>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Another word for the </a:t>
            </a:r>
            <a:r>
              <a:rPr b="1" i="0" lang="en-US" sz="1450" u="none" cap="none" strike="noStrike">
                <a:solidFill>
                  <a:srgbClr val="475569"/>
                </a:solidFill>
                <a:latin typeface="Arial"/>
                <a:ea typeface="Arial"/>
                <a:cs typeface="Arial"/>
                <a:sym typeface="Arial"/>
              </a:rPr>
              <a:t xml:space="preserve">mean</a:t>
            </a:r>
            <a:endParaRPr/>
          </a:p>
        </p:txBody>
      </p:sp>
      <p:sp>
        <p:nvSpPr>
          <p:cNvPr id="497" name="Google Shape;497;p51"/>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51"/>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51"/>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00" name="Google Shape;500;p51"/>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Measure of center</a:t>
            </a:r>
            <a:endParaRPr/>
          </a:p>
        </p:txBody>
      </p:sp>
      <p:sp>
        <p:nvSpPr>
          <p:cNvPr id="501" name="Google Shape;501;p51"/>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single number used to describe the middle</a:t>
            </a:r>
            <a:endParaRPr/>
          </a:p>
        </p:txBody>
      </p:sp>
      <p:sp>
        <p:nvSpPr>
          <p:cNvPr id="5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45</a:t>
            </a:r>
          </a:p>
        </p:txBody>
      </p:sp>
      <p:grpSp>
        <p:nvGrpSpPr>
          <p:cNvPr id="503" name="TEACH-1-student-move" descr="TEACH 1 · Facilitate clear, standards-based content learning"/>
          <p:cNvGrpSpPr/>
          <p:nvPr/>
        </p:nvGrpSpPr>
        <p:grpSpPr>
          <a:xfrm>
            <a:off x="6187440" y="1682496"/>
            <a:ext cx="5501640" cy="594360"/>
            <a:chOff x="6187440" y="1682496"/>
            <a:chExt cx="5501640" cy="594360"/>
          </a:xfrm>
        </p:grpSpPr>
        <p:sp>
          <p:nvSpPr>
            <p:cNvPr id="504"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05"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06"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09" name="Google Shape;509;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2-8 · Describe Data Using the Mean</a:t>
            </a:r>
            <a:endParaRPr/>
          </a:p>
        </p:txBody>
      </p:sp>
      <p:sp>
        <p:nvSpPr>
          <p:cNvPr id="510" name="Google Shape;510;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2" name="Google Shape;512;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13" name="Google Shape;513;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15" name="Google Shape;515;p52"/>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2"/>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Measures of Center: Mean</a:t>
            </a:r>
            <a:endParaRPr/>
          </a:p>
        </p:txBody>
      </p:sp>
      <p:sp>
        <p:nvSpPr>
          <p:cNvPr id="517" name="Google Shape;517;p52"/>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8" name="Google Shape;518;p52"/>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Mean = (Sum of all values) ÷ (Total number of values)</a:t>
            </a:r>
            <a:endParaRPr/>
          </a:p>
        </p:txBody>
      </p:sp>
      <p:sp>
        <p:nvSpPr>
          <p:cNvPr id="519" name="Google Shape;519;p52"/>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2"/>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21" name="Google Shape;521;p52"/>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Add all data values together to find the total </a:t>
            </a:r>
            <a:r>
              <a:rPr b="1" i="0" lang="en-US" sz="1600" u="none" cap="none" strike="noStrike">
                <a:solidFill>
                  <a:srgbClr val="14223A"/>
                </a:solidFill>
                <a:latin typeface="Arial"/>
                <a:ea typeface="Arial"/>
                <a:cs typeface="Arial"/>
                <a:sym typeface="Arial"/>
              </a:rPr>
              <a:t xml:space="preserve">sum</a:t>
            </a:r>
            <a:endParaRPr/>
          </a:p>
        </p:txBody>
      </p:sp>
      <p:sp>
        <p:nvSpPr>
          <p:cNvPr id="522" name="Google Shape;522;p52"/>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2"/>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24" name="Google Shape;524;p52"/>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Divide the sum by the count of data values</a:t>
            </a:r>
            <a:endParaRPr/>
          </a:p>
        </p:txBody>
      </p:sp>
      <p:sp>
        <p:nvSpPr>
          <p:cNvPr id="525" name="Google Shape;525;p52"/>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2"/>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27" name="Google Shape;527;p52"/>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Concept: </a:t>
            </a:r>
            <a:r>
              <a:rPr b="0" i="0" lang="en-US" sz="1600" u="none" cap="none" strike="noStrike">
                <a:solidFill>
                  <a:srgbClr val="14223A"/>
                </a:solidFill>
                <a:latin typeface="Arial"/>
                <a:ea typeface="Arial"/>
                <a:cs typeface="Arial"/>
                <a:sym typeface="Arial"/>
              </a:rPr>
              <a:t xml:space="preserve">The </a:t>
            </a:r>
            <a:r>
              <a:rPr b="1" i="0" lang="en-US" sz="1600" u="none" cap="none" strike="noStrike">
                <a:solidFill>
                  <a:srgbClr val="14223A"/>
                </a:solidFill>
                <a:latin typeface="Arial"/>
                <a:ea typeface="Arial"/>
                <a:cs typeface="Arial"/>
                <a:sym typeface="Arial"/>
              </a:rPr>
              <a:t xml:space="preserve">mean</a:t>
            </a:r>
            <a:r>
              <a:rPr b="0" i="0" lang="en-US" sz="1600" u="none" cap="none" strike="noStrike">
                <a:solidFill>
                  <a:srgbClr val="14223A"/>
                </a:solidFill>
                <a:latin typeface="Arial"/>
                <a:ea typeface="Arial"/>
                <a:cs typeface="Arial"/>
                <a:sym typeface="Arial"/>
              </a:rPr>
              <a:t xml:space="preserve"> represents the fair share or balance point of the data</a:t>
            </a:r>
            <a:endParaRPr/>
          </a:p>
        </p:txBody>
      </p:sp>
      <p:sp>
        <p:nvSpPr>
          <p:cNvPr id="5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45</a:t>
            </a:r>
          </a:p>
        </p:txBody>
      </p:sp>
      <p:sp xmlns:p="http://schemas.openxmlformats.org/presentationml/2006/main" xmlns:a="http://schemas.openxmlformats.org/drawingml/2006/main">
        <p:nvSpPr>
          <p:cNvPr id="529"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Describe Data Using the Mean</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45</a:t>
            </a:r>
          </a:p>
        </p:txBody>
      </p:sp>
      <p:grpSp>
        <p:nvGrpSpPr>
          <p:cNvPr id="237" name="TEACH-2-student-move" descr="TEACH 2 · Use strategies and tasks to engage students in rigorous work"/>
          <p:cNvGrpSpPr/>
          <p:nvPr/>
        </p:nvGrpSpPr>
        <p:grpSpPr>
          <a:xfrm>
            <a:off x="502920" y="3201929"/>
            <a:ext cx="11186160" cy="731520"/>
            <a:chOff x="502920" y="3201929"/>
            <a:chExt cx="11186160" cy="731520"/>
          </a:xfrm>
        </p:grpSpPr>
        <p:sp>
          <p:nvSpPr>
            <p:cNvPr id="23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Give Me Five</a:t>
            </a:r>
            <a:endParaRPr b="0" i="0" sz="1400" u="none" cap="none" strike="noStrike">
              <a:solidFill>
                <a:srgbClr val="000000"/>
              </a:solidFill>
              <a:latin typeface="Arial"/>
              <a:ea typeface="Arial"/>
              <a:cs typeface="Arial"/>
              <a:sym typeface="Arial"/>
            </a:endParaRPr>
          </a:p>
        </p:txBody>
      </p:sp>
      <p:sp>
        <p:nvSpPr>
          <p:cNvPr id="242" name="Google Shape;242;p41"/>
          <p:cNvSpPr/>
          <p:nvPr/>
        </p:nvSpPr>
        <p:spPr>
          <a:xfrm>
            <a:off x="505578" y="1224282"/>
            <a:ext cx="732836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Use all the numbers in any order with any operation to equal the target number (in red).</a:t>
            </a:r>
            <a:endParaRPr b="0" i="0" sz="1400" u="none" cap="none" strike="noStrike">
              <a:solidFill>
                <a:srgbClr val="000000"/>
              </a:solidFill>
              <a:latin typeface="Arial"/>
              <a:ea typeface="Arial"/>
              <a:cs typeface="Arial"/>
              <a:sym typeface="Arial"/>
            </a:endParaRPr>
          </a:p>
        </p:txBody>
      </p:sp>
      <p:pic>
        <p:nvPicPr>
          <p:cNvPr id="243" name="Google Shape;243;p41"/>
          <p:cNvPicPr preferRelativeResize="0"/>
          <p:nvPr/>
        </p:nvPicPr>
        <p:blipFill rotWithShape="1">
          <a:blip r:embed="rId3">
            <a:alphaModFix/>
          </a:blip>
          <a:srcRect b="0" l="0" r="0" t="0"/>
          <a:stretch/>
        </p:blipFill>
        <p:spPr>
          <a:xfrm>
            <a:off x="1949331" y="2592571"/>
            <a:ext cx="6422231" cy="2480310"/>
          </a:xfrm>
          <a:prstGeom prst="rect">
            <a:avLst/>
          </a:prstGeom>
          <a:noFill/>
          <a:ln>
            <a:noFill/>
          </a:ln>
        </p:spPr>
      </p:pic>
      <p:sp>
        <p:nvSpPr>
          <p:cNvPr id="2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45</a:t>
            </a:r>
          </a:p>
        </p:txBody>
      </p:sp>
      <p:sp xmlns:p="http://schemas.openxmlformats.org/presentationml/2006/main" xmlns:a="http://schemas.openxmlformats.org/drawingml/2006/main">
        <p:nvSpPr>
          <p:cNvPr id="24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2-8 · Describe Data Using the Mean</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Describe Data Using the Mean</a:t>
            </a:r>
            <a:endParaRPr/>
          </a:p>
        </p:txBody>
      </p:sp>
      <p:sp>
        <p:nvSpPr>
          <p:cNvPr id="341" name="Google Shape;341;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6.DS.4</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250" u="none" cap="none" strike="noStrike">
                <a:solidFill>
                  <a:srgbClr val="14223A"/>
                </a:solidFill>
                <a:latin typeface="Arial"/>
                <a:ea typeface="Arial"/>
                <a:cs typeface="Arial"/>
                <a:sym typeface="Arial"/>
              </a:rPr>
              <a:t>I can determine the mean of a data set, use a target mean to find a missing value, and explain the mean as the fair share and the balance point of the data.</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reasoning using the words mean, average, measure of center, balance point, and data set.</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45</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2.8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Interpret mean as fair share and balance point.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Use total and count to find a missing value.</a:t>
            </a:r>
          </a:p>
        </p:txBody>
      </p:sp>
      <p:sp>
        <p:nvSpPr>
          <p:cNvPr id="11" name="Rounded Rectangle 10"/>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3" name="TEACH-1-student-move" descr="TEACH 1 · Facilitate clear, standards-based content learning"/>
          <p:cNvGrpSpPr/>
          <p:nvPr/>
        </p:nvGrpSpPr>
        <p:grpSpPr>
          <a:xfrm>
            <a:off x="502920" y="5824728"/>
            <a:ext cx="11186160" cy="402336"/>
            <a:chOff x="502920" y="5824728"/>
            <a:chExt cx="11186160" cy="402336"/>
          </a:xfrm>
        </p:grpSpPr>
        <p:sp>
          <p:nvSpPr>
            <p:cNvPr id="14"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5"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6"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88" name="Google Shape;388;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5</a:t>
            </a:r>
            <a:endParaRPr/>
          </a:p>
        </p:txBody>
      </p:sp>
      <p:sp>
        <p:nvSpPr>
          <p:cNvPr id="391" name="Google Shape;391;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2-8 · Describe Data Using the Mean</a:t>
            </a:r>
            <a:endParaRPr/>
          </a:p>
        </p:txBody>
      </p:sp>
      <p:sp>
        <p:nvSpPr>
          <p:cNvPr id="392" name="Google Shape;392;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4" name="Google Shape;394;p46"/>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Mean</a:t>
            </a:r>
            <a:endParaRPr/>
          </a:p>
        </p:txBody>
      </p:sp>
      <p:sp>
        <p:nvSpPr>
          <p:cNvPr id="395" name="Google Shape;395;p46"/>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6"/>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average of a data set. Add all the values, then divide by how many values there are.</a:t>
            </a:r>
            <a:endParaRPr/>
          </a:p>
        </p:txBody>
      </p:sp>
      <p:sp>
        <p:nvSpPr>
          <p:cNvPr id="397" name="Google Shape;397;p46"/>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0" name="Google Shape;400;p46"/>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Miguel earned $60 in 4 days: 60 ÷ 4 = 15, so the mean is $15 per day.</a:t>
            </a:r>
            <a:endParaRPr/>
          </a:p>
        </p:txBody>
      </p:sp>
      <p:pic>
        <p:nvPicPr>
          <p:cNvPr descr="mean.png" id="401" name="Google Shape;401;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45</a:t>
            </a:r>
          </a:p>
        </p:txBody>
      </p:sp>
      <p:sp xmlns:p="http://schemas.openxmlformats.org/presentationml/2006/main" xmlns:a="http://schemas.openxmlformats.org/drawingml/2006/main">
        <p:nvSpPr>
          <p:cNvPr id="40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“Mean”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6" name="Google Shape;406;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5</a:t>
            </a:r>
            <a:endParaRPr/>
          </a:p>
        </p:txBody>
      </p:sp>
      <p:sp>
        <p:nvSpPr>
          <p:cNvPr id="409" name="Google Shape;409;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2-8 · Describe Data Using the Mean</a:t>
            </a:r>
            <a:endParaRPr/>
          </a:p>
        </p:txBody>
      </p:sp>
      <p:sp>
        <p:nvSpPr>
          <p:cNvPr id="410" name="Google Shape;410;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2" name="Google Shape;412;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Average</a:t>
            </a:r>
            <a:endParaRPr/>
          </a:p>
        </p:txBody>
      </p:sp>
      <p:sp>
        <p:nvSpPr>
          <p:cNvPr id="413" name="Google Shape;413;p47"/>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Another word for the mean — the amount each value would be if the total were shared equally.</a:t>
            </a:r>
            <a:endParaRPr/>
          </a:p>
        </p:txBody>
      </p:sp>
      <p:sp>
        <p:nvSpPr>
          <p:cNvPr id="415" name="Google Shape;415;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8" name="Google Shape;418;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player averages 15 points per game, so over 10 games she scores 15 × 10 = 150 points in all.</a:t>
            </a:r>
            <a:endParaRPr/>
          </a:p>
        </p:txBody>
      </p:sp>
      <p:pic>
        <p:nvPicPr>
          <p:cNvPr descr="mean.png" id="419" name="Google Shape;419;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45</a:t>
            </a:r>
          </a:p>
        </p:txBody>
      </p:sp>
      <p:sp xmlns:p="http://schemas.openxmlformats.org/presentationml/2006/main" xmlns:a="http://schemas.openxmlformats.org/drawingml/2006/main">
        <p:nvSpPr>
          <p:cNvPr id="42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“Average”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4" name="Google Shape;424;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5</a:t>
            </a:r>
            <a:endParaRPr/>
          </a:p>
        </p:txBody>
      </p:sp>
      <p:sp>
        <p:nvSpPr>
          <p:cNvPr id="427" name="Google Shape;427;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2-8 · Describe Data Using the Mean</a:t>
            </a:r>
            <a:endParaRPr/>
          </a:p>
        </p:txBody>
      </p:sp>
      <p:sp>
        <p:nvSpPr>
          <p:cNvPr id="428" name="Google Shape;428;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0" name="Google Shape;430;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Measure of center</a:t>
            </a:r>
            <a:endParaRPr/>
          </a:p>
        </p:txBody>
      </p:sp>
      <p:sp>
        <p:nvSpPr>
          <p:cNvPr id="431" name="Google Shape;431;p48"/>
          <p:cNvSpPr/>
          <p:nvPr/>
        </p:nvSpPr>
        <p:spPr>
          <a:xfrm>
            <a:off x="658368" y="2638806"/>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single number used to describe the middle, or typical value, of a whole data set.</a:t>
            </a:r>
            <a:endParaRPr/>
          </a:p>
        </p:txBody>
      </p:sp>
      <p:sp>
        <p:nvSpPr>
          <p:cNvPr id="433" name="Google Shape;433;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6" name="Google Shape;436;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mean, $15, is one measure of center that describes all four of Miguel’s days at once.</a:t>
            </a:r>
            <a:endParaRPr/>
          </a:p>
        </p:txBody>
      </p:sp>
      <p:pic>
        <p:nvPicPr>
          <p:cNvPr descr="mean.png" id="437" name="Google Shape;437;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45</a:t>
            </a:r>
          </a:p>
        </p:txBody>
      </p:sp>
      <p:sp xmlns:p="http://schemas.openxmlformats.org/presentationml/2006/main" xmlns:a="http://schemas.openxmlformats.org/drawingml/2006/main">
        <p:nvSpPr>
          <p:cNvPr id="438"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“Measure of center”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2" name="Google Shape;442;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5</a:t>
            </a:r>
            <a:endParaRPr/>
          </a:p>
        </p:txBody>
      </p:sp>
      <p:sp>
        <p:nvSpPr>
          <p:cNvPr id="445" name="Google Shape;445;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2-8 · Describe Data Using the Mean</a:t>
            </a:r>
            <a:endParaRPr/>
          </a:p>
        </p:txBody>
      </p:sp>
      <p:sp>
        <p:nvSpPr>
          <p:cNvPr id="446" name="Google Shape;446;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8" name="Google Shape;448;p49"/>
          <p:cNvSpPr txBox="1"/>
          <p:nvPr/>
        </p:nvSpPr>
        <p:spPr>
          <a:xfrm>
            <a:off x="640080" y="162763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Balance point</a:t>
            </a:r>
            <a:endParaRPr/>
          </a:p>
        </p:txBody>
      </p:sp>
      <p:sp>
        <p:nvSpPr>
          <p:cNvPr id="449" name="Google Shape;449;p49"/>
          <p:cNvSpPr/>
          <p:nvPr/>
        </p:nvSpPr>
        <p:spPr>
          <a:xfrm>
            <a:off x="658368" y="2462784"/>
            <a:ext cx="154533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txBox="1"/>
          <p:nvPr/>
        </p:nvSpPr>
        <p:spPr>
          <a:xfrm>
            <a:off x="640080" y="282397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value where the total distance of the data above it equals the total distance below it. The mean is the balance point.</a:t>
            </a:r>
            <a:endParaRPr/>
          </a:p>
        </p:txBody>
      </p:sp>
      <p:sp>
        <p:nvSpPr>
          <p:cNvPr id="451" name="Google Shape;451;p49"/>
          <p:cNvSpPr/>
          <p:nvPr/>
        </p:nvSpPr>
        <p:spPr>
          <a:xfrm>
            <a:off x="640080" y="430072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49"/>
          <p:cNvSpPr/>
          <p:nvPr/>
        </p:nvSpPr>
        <p:spPr>
          <a:xfrm>
            <a:off x="640080" y="430072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932688" y="447446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4" name="Google Shape;454;p49"/>
          <p:cNvSpPr txBox="1"/>
          <p:nvPr/>
        </p:nvSpPr>
        <p:spPr>
          <a:xfrm>
            <a:off x="932688" y="4776215"/>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With a target mean of 15, points totaling 13 below must be matched by points totaling 13 above.</a:t>
            </a:r>
            <a:endParaRPr/>
          </a:p>
        </p:txBody>
      </p:sp>
      <p:pic>
        <p:nvPicPr>
          <p:cNvPr descr="mean.png" id="455" name="Google Shape;455;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45</a:t>
            </a:r>
          </a:p>
        </p:txBody>
      </p:sp>
      <p:sp xmlns:p="http://schemas.openxmlformats.org/presentationml/2006/main" xmlns:a="http://schemas.openxmlformats.org/drawingml/2006/main">
        <p:nvSpPr>
          <p:cNvPr id="456"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“Balance point” to explain the</a:t>
            </a:r>
            <a:endParaRPr lang="en-US" sz="2000"/>
          </a:p>
          <a:p>
            <a:pPr>
              <a:lnSpc>
                <a:spcPts val="2400"/>
              </a:lnSpc>
              <a:buNone/>
            </a:pPr>
            <a:r>
              <a:rPr lang="en-US" sz="2000">
                <a:solidFill>
                  <a:srgbClr val="174D60"/>
                </a:solidFill>
                <a:latin typeface="Arial"/>
              </a:rPr>
              <a:t>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0" name="Google Shape;460;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5</a:t>
            </a:r>
            <a:endParaRPr/>
          </a:p>
        </p:txBody>
      </p:sp>
      <p:sp>
        <p:nvSpPr>
          <p:cNvPr id="463" name="Google Shape;463;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2-8 · Describe Data Using the Mean</a:t>
            </a:r>
            <a:endParaRPr/>
          </a:p>
        </p:txBody>
      </p:sp>
      <p:sp>
        <p:nvSpPr>
          <p:cNvPr id="464" name="Google Shape;464;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6" name="Google Shape;466;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Data set</a:t>
            </a:r>
            <a:endParaRPr/>
          </a:p>
        </p:txBody>
      </p:sp>
      <p:sp>
        <p:nvSpPr>
          <p:cNvPr id="467" name="Google Shape;467;p50"/>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whole collection of values that were gathered or measured.</a:t>
            </a:r>
            <a:endParaRPr/>
          </a:p>
        </p:txBody>
      </p:sp>
      <p:sp>
        <p:nvSpPr>
          <p:cNvPr id="469" name="Google Shape;469;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2" name="Google Shape;472;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Sofia’s points in games 1–9 — 12, 20, 16, 11, 17, 14, 15, 10, 18 — form one data set.</a:t>
            </a:r>
            <a:endParaRPr/>
          </a:p>
        </p:txBody>
      </p:sp>
      <p:pic>
        <p:nvPicPr>
          <p:cNvPr descr="data.png" id="473" name="Google Shape;473;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45</a:t>
            </a:r>
          </a:p>
        </p:txBody>
      </p:sp>
      <p:sp xmlns:p="http://schemas.openxmlformats.org/presentationml/2006/main" xmlns:a="http://schemas.openxmlformats.org/drawingml/2006/main">
        <p:nvSpPr>
          <p:cNvPr id="47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“Data set” to explain the example. Point to evidence.</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2-8 · Describe Data Using the Mean</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Mean</a:t>
            </a:r>
            <a:endParaRPr/>
          </a:p>
        </p:txBody>
      </p:sp>
      <p:sp>
        <p:nvSpPr>
          <p:cNvPr id="367" name="Google Shape;367;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average of a data set</a:t>
            </a:r>
            <a:endParaRPr/>
          </a:p>
        </p:txBody>
      </p:sp>
      <p:sp>
        <p:nvSpPr>
          <p:cNvPr id="368" name="Google Shape;368;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Average</a:t>
            </a:r>
            <a:endParaRPr/>
          </a:p>
        </p:txBody>
      </p:sp>
      <p:sp>
        <p:nvSpPr>
          <p:cNvPr id="371" name="Google Shape;371;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Another word for the mean — the amount each value would be if the total were shared equally</a:t>
            </a:r>
            <a:endParaRPr/>
          </a:p>
        </p:txBody>
      </p:sp>
      <p:sp>
        <p:nvSpPr>
          <p:cNvPr id="372" name="Google Shape;372;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Measure of center</a:t>
            </a:r>
            <a:endParaRPr/>
          </a:p>
        </p:txBody>
      </p:sp>
      <p:sp>
        <p:nvSpPr>
          <p:cNvPr id="375" name="Google Shape;375;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single number used to describe the middle, or typical value, of a whole data set</a:t>
            </a:r>
            <a:endParaRPr/>
          </a:p>
        </p:txBody>
      </p:sp>
      <p:sp>
        <p:nvSpPr>
          <p:cNvPr id="376" name="Google Shape;376;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Balance point</a:t>
            </a:r>
            <a:endParaRPr/>
          </a:p>
        </p:txBody>
      </p:sp>
      <p:sp>
        <p:nvSpPr>
          <p:cNvPr id="379" name="Google Shape;379;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value where the total distance of the data above it equals the total distance below it</a:t>
            </a:r>
            <a:endParaRPr/>
          </a:p>
        </p:txBody>
      </p:sp>
      <p:sp>
        <p:nvSpPr>
          <p:cNvPr id="380" name="Google Shape;380;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Data set</a:t>
            </a:r>
            <a:endParaRPr/>
          </a:p>
        </p:txBody>
      </p:sp>
      <p:sp>
        <p:nvSpPr>
          <p:cNvPr id="383" name="Google Shape;383;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whole collection of values that were gathered or measured</a:t>
            </a:r>
            <a:endParaRPr/>
          </a:p>
        </p:txBody>
      </p:sp>
      <p:sp>
        <p:nvSpPr>
          <p:cNvPr id="3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45</a:t>
            </a:r>
          </a:p>
        </p:txBody>
      </p:sp>
      <p:sp xmlns:p="http://schemas.openxmlformats.org/presentationml/2006/main" xmlns:a="http://schemas.openxmlformats.org/drawingml/2006/main">
        <p:nvSpPr>
          <p:cNvPr id="385"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cxnSp>
        <p:nvCxnSpPr>
          <p:cNvPr id="543" name="Google Shape;543;p5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44" name="Google Shape;544;p54"/>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45" name="Google Shape;545;p54"/>
          <p:cNvSpPr txBox="1"/>
          <p:nvPr/>
        </p:nvSpPr>
        <p:spPr>
          <a:xfrm>
            <a:off x="484560" y="936100"/>
            <a:ext cx="4279098"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id="546" name="Google Shape;546;p54"/>
          <p:cNvPicPr preferRelativeResize="0"/>
          <p:nvPr/>
        </p:nvPicPr>
        <p:blipFill rotWithShape="1">
          <a:blip r:embed="rId3">
            <a:alphaModFix/>
          </a:blip>
          <a:srcRect b="0" l="0" r="0" t="0"/>
          <a:stretch/>
        </p:blipFill>
        <p:spPr>
          <a:xfrm>
            <a:off x="484560" y="4774852"/>
            <a:ext cx="5054600" cy="838200"/>
          </a:xfrm>
          <a:prstGeom prst="rect">
            <a:avLst/>
          </a:prstGeom>
          <a:noFill/>
          <a:ln>
            <a:noFill/>
          </a:ln>
        </p:spPr>
      </p:pic>
      <p:sp>
        <p:nvSpPr>
          <p:cNvPr id="547" name="Google Shape;547;p54"/>
          <p:cNvSpPr txBox="1"/>
          <p:nvPr/>
        </p:nvSpPr>
        <p:spPr>
          <a:xfrm>
            <a:off x="3344577" y="4932170"/>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48" name="Google Shape;548;p54"/>
          <p:cNvSpPr/>
          <p:nvPr/>
        </p:nvSpPr>
        <p:spPr>
          <a:xfrm>
            <a:off x="725290" y="5457287"/>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can you learn about math from listening to different ideas and reasoning?</a:t>
            </a:r>
            <a:endParaRPr b="0" i="0" sz="1400" u="none" cap="none" strike="noStrike">
              <a:solidFill>
                <a:srgbClr val="000000"/>
              </a:solidFill>
              <a:latin typeface="Arial"/>
              <a:ea typeface="Arial"/>
              <a:cs typeface="Arial"/>
              <a:sym typeface="Arial"/>
            </a:endParaRPr>
          </a:p>
        </p:txBody>
      </p:sp>
      <p:pic>
        <p:nvPicPr>
          <p:cNvPr descr="A picture containing cup, table, container, glass&#10;&#10;Description automatically generated" id="549" name="Google Shape;549;p54"/>
          <p:cNvPicPr preferRelativeResize="0"/>
          <p:nvPr/>
        </p:nvPicPr>
        <p:blipFill rotWithShape="1">
          <a:blip r:embed="rId4">
            <a:alphaModFix/>
          </a:blip>
          <a:srcRect b="0" l="0" r="0" t="0"/>
          <a:stretch/>
        </p:blipFill>
        <p:spPr>
          <a:xfrm>
            <a:off x="4723086" y="3086075"/>
            <a:ext cx="3942454" cy="1798505"/>
          </a:xfrm>
          <a:prstGeom prst="rect">
            <a:avLst/>
          </a:prstGeom>
          <a:noFill/>
          <a:ln>
            <a:noFill/>
          </a:ln>
        </p:spPr>
      </p:pic>
      <p:pic>
        <p:nvPicPr>
          <p:cNvPr descr="A picture containing yellow, cup, container, glass&#10;&#10;Description automatically generated" id="550" name="Google Shape;550;p54"/>
          <p:cNvPicPr preferRelativeResize="0"/>
          <p:nvPr/>
        </p:nvPicPr>
        <p:blipFill rotWithShape="1">
          <a:blip r:embed="rId5">
            <a:alphaModFix/>
          </a:blip>
          <a:srcRect b="0" l="0" r="0" t="0"/>
          <a:stretch/>
        </p:blipFill>
        <p:spPr>
          <a:xfrm>
            <a:off x="4798654" y="1017386"/>
            <a:ext cx="3901046" cy="1913441"/>
          </a:xfrm>
          <a:prstGeom prst="rect">
            <a:avLst/>
          </a:prstGeom>
          <a:noFill/>
          <a:ln>
            <a:noFill/>
          </a:ln>
        </p:spPr>
      </p:pic>
      <p:sp>
        <p:nvSpPr>
          <p:cNvPr id="5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45</a:t>
            </a:r>
          </a:p>
        </p:txBody>
      </p:sp>
      <p:grpSp>
        <p:nvGrpSpPr>
          <p:cNvPr id="552" name="TEACH-3-student-move" descr="TEACH 3 · Use intentional questioning to deepen learning"/>
          <p:cNvGrpSpPr/>
          <p:nvPr/>
        </p:nvGrpSpPr>
        <p:grpSpPr>
          <a:xfrm>
            <a:off x="6187440" y="5018375"/>
            <a:ext cx="5501640" cy="402336"/>
            <a:chOff x="6187440" y="5018375"/>
            <a:chExt cx="5501640" cy="402336"/>
          </a:xfrm>
        </p:grpSpPr>
        <p:sp>
          <p:nvSpPr>
            <p:cNvPr id="553" name="TEACH-move-card"/>
            <p:cNvSpPr/>
            <p:nvPr/>
          </p:nvSpPr>
          <p:spPr>
            <a:xfrm>
              <a:off x="6187440" y="5018375"/>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554" name="TEACH-move-rule"/>
            <p:cNvSpPr/>
            <p:nvPr/>
          </p:nvSpPr>
          <p:spPr>
            <a:xfrm>
              <a:off x="6233160" y="5094819"/>
              <a:ext cx="100584" cy="249448"/>
            </a:xfrm>
            <a:prstGeom prst="roundRect">
              <a:avLst>
                <a:gd name="adj" fmla="val 50000"/>
              </a:avLst>
            </a:prstGeom>
            <a:solidFill>
              <a:srgbClr val="01708C"/>
            </a:solidFill>
            <a:ln>
              <a:noFill/>
            </a:ln>
          </p:spPr>
          <p:txBody>
            <a:bodyPr/>
            <a:lstStyle/>
            <a:p>
              <a:endParaRPr/>
            </a:p>
          </p:txBody>
        </p:sp>
        <p:sp>
          <p:nvSpPr>
            <p:cNvPr id="555" name="TEACH-move-text"/>
            <p:cNvSpPr txBox="1"/>
            <p:nvPr/>
          </p:nvSpPr>
          <p:spPr>
            <a:xfrm>
              <a:off x="6507480" y="5018375"/>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cxnSp>
        <p:nvCxnSpPr>
          <p:cNvPr id="572" name="Google Shape;572;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73" name="Google Shape;573;p57"/>
          <p:cNvSpPr txBox="1"/>
          <p:nvPr/>
        </p:nvSpPr>
        <p:spPr>
          <a:xfrm>
            <a:off x="484565" y="496152"/>
            <a:ext cx="6642745" cy="22379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Every week, Miguel walks dogs after school to earn some money. He keeps track of his earnings in his notebook. How can Miguel describe his earnings on a typical day?</a:t>
            </a:r>
            <a:endParaRPr b="1" i="0" sz="2800" u="none" cap="none" strike="noStrike">
              <a:solidFill>
                <a:srgbClr val="262626"/>
              </a:solidFill>
              <a:latin typeface="Arial"/>
              <a:ea typeface="Arial"/>
              <a:cs typeface="Arial"/>
              <a:sym typeface="Arial"/>
            </a:endParaRPr>
          </a:p>
        </p:txBody>
      </p:sp>
      <p:sp>
        <p:nvSpPr>
          <p:cNvPr id="574" name="Google Shape;574;p57"/>
          <p:cNvSpPr/>
          <p:nvPr/>
        </p:nvSpPr>
        <p:spPr>
          <a:xfrm>
            <a:off x="484565" y="3862316"/>
            <a:ext cx="709521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What is the question asking you to find?</a:t>
            </a:r>
            <a:endParaRPr b="0" i="0" sz="1400" u="none" cap="none" strike="noStrike">
              <a:solidFill>
                <a:srgbClr val="000000"/>
              </a:solidFill>
              <a:latin typeface="Arial"/>
              <a:ea typeface="Arial"/>
              <a:cs typeface="Arial"/>
              <a:sym typeface="Arial"/>
            </a:endParaRPr>
          </a:p>
        </p:txBody>
      </p:sp>
      <p:sp>
        <p:nvSpPr>
          <p:cNvPr id="575" name="Google Shape;575;p57"/>
          <p:cNvSpPr txBox="1"/>
          <p:nvPr/>
        </p:nvSpPr>
        <p:spPr>
          <a:xfrm>
            <a:off x="484565" y="4801737"/>
            <a:ext cx="11087854" cy="14816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need to find a number that describes the amount of money Miguel makes walking dogs on a typical day.</a:t>
            </a:r>
            <a:endParaRPr b="0" i="0" sz="1400" u="none" cap="none" strike="noStrike">
              <a:solidFill>
                <a:srgbClr val="000000"/>
              </a:solidFill>
              <a:latin typeface="Arial"/>
              <a:ea typeface="Arial"/>
              <a:cs typeface="Arial"/>
              <a:sym typeface="Arial"/>
            </a:endParaRPr>
          </a:p>
        </p:txBody>
      </p:sp>
      <p:pic>
        <p:nvPicPr>
          <p:cNvPr id="576" name="Google Shape;576;p57"/>
          <p:cNvPicPr preferRelativeResize="0"/>
          <p:nvPr/>
        </p:nvPicPr>
        <p:blipFill rotWithShape="1">
          <a:blip r:embed="rId3">
            <a:alphaModFix/>
          </a:blip>
          <a:srcRect b="0" l="0" r="0" t="0"/>
          <a:stretch/>
        </p:blipFill>
        <p:spPr>
          <a:xfrm>
            <a:off x="7697894" y="1505683"/>
            <a:ext cx="3933274" cy="3094176"/>
          </a:xfrm>
          <a:prstGeom prst="rect">
            <a:avLst/>
          </a:prstGeom>
          <a:noFill/>
          <a:ln>
            <a:noFill/>
          </a:ln>
        </p:spPr>
      </p:pic>
      <p:sp>
        <p:nvSpPr>
          <p:cNvPr id="5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45</a:t>
            </a:r>
          </a:p>
        </p:txBody>
      </p:sp>
      <p:sp>
        <p:nvSpPr>
          <p:cNvPr id="578" name="EWL-COVER-1"/>
          <p:cNvSpPr/>
          <p:nvPr/>
        </p:nvSpPr>
        <p:spPr>
          <a:xfrm>
            <a:off x="429701" y="4746873"/>
            <a:ext cx="11197582" cy="1591406"/>
          </a:xfrm>
          <a:prstGeom prst="rect">
            <a:avLst/>
          </a:prstGeom>
          <a:solidFill>
            <a:srgbClr val="FFFFFF"/>
          </a:solidFill>
          <a:ln>
            <a:noFill/>
          </a:ln>
        </p:spPr>
        <p:txBody>
          <a:bodyPr/>
          <a:lstStyle/>
          <a:p/>
        </p:txBody>
      </p:sp>
      <p:sp xmlns:p="http://schemas.openxmlformats.org/presentationml/2006/main" xmlns:a="http://schemas.openxmlformats.org/drawingml/2006/main">
        <p:nvSpPr>
          <p:cNvPr id="579" name="TEACH-embedded-student-prompt" descr="Student thinking and response directions"/>
          <p:cNvSpPr txBox="1"/>
          <p:nvPr/>
        </p:nvSpPr>
        <p:spPr>
          <a:xfrm>
            <a:off x="594360" y="29443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cxnSp>
        <p:nvCxnSpPr>
          <p:cNvPr id="590" name="Google Shape;590;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1" name="Google Shape;591;p59"/>
          <p:cNvSpPr/>
          <p:nvPr/>
        </p:nvSpPr>
        <p:spPr>
          <a:xfrm>
            <a:off x="484564" y="3738746"/>
            <a:ext cx="574370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What does typical day mean in the context of the problem?</a:t>
            </a:r>
            <a:endParaRPr b="0" i="0" sz="1400" u="none" cap="none" strike="noStrike">
              <a:solidFill>
                <a:srgbClr val="000000"/>
              </a:solidFill>
              <a:latin typeface="Arial"/>
              <a:ea typeface="Arial"/>
              <a:cs typeface="Arial"/>
              <a:sym typeface="Arial"/>
            </a:endParaRPr>
          </a:p>
        </p:txBody>
      </p:sp>
      <p:sp>
        <p:nvSpPr>
          <p:cNvPr id="592" name="Google Shape;592;p59"/>
          <p:cNvSpPr txBox="1"/>
          <p:nvPr/>
        </p:nvSpPr>
        <p:spPr>
          <a:xfrm>
            <a:off x="484564" y="4847572"/>
            <a:ext cx="9758839" cy="11848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It indicates the amount of money Miguel would make if he earned the same amount of money each day.</a:t>
            </a:r>
            <a:endParaRPr b="0" i="0" sz="1400" u="none" cap="none" strike="noStrike">
              <a:solidFill>
                <a:srgbClr val="000000"/>
              </a:solidFill>
              <a:latin typeface="Arial"/>
              <a:ea typeface="Arial"/>
              <a:cs typeface="Arial"/>
              <a:sym typeface="Arial"/>
            </a:endParaRPr>
          </a:p>
        </p:txBody>
      </p:sp>
      <p:sp>
        <p:nvSpPr>
          <p:cNvPr id="593" name="Google Shape;593;p59"/>
          <p:cNvSpPr txBox="1"/>
          <p:nvPr/>
        </p:nvSpPr>
        <p:spPr>
          <a:xfrm>
            <a:off x="484565" y="496152"/>
            <a:ext cx="6530010" cy="22379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Every week, Miguel walks dogs after school to earn some money. He keeps track of his earnings in his notebook. How can Miguel describe his earnings on a typical day?</a:t>
            </a:r>
            <a:endParaRPr b="1" i="0" sz="2800" u="none" cap="none" strike="noStrike">
              <a:solidFill>
                <a:srgbClr val="262626"/>
              </a:solidFill>
              <a:latin typeface="Arial"/>
              <a:ea typeface="Arial"/>
              <a:cs typeface="Arial"/>
              <a:sym typeface="Arial"/>
            </a:endParaRPr>
          </a:p>
        </p:txBody>
      </p:sp>
      <p:pic>
        <p:nvPicPr>
          <p:cNvPr id="594" name="Google Shape;594;p59"/>
          <p:cNvPicPr preferRelativeResize="0"/>
          <p:nvPr/>
        </p:nvPicPr>
        <p:blipFill rotWithShape="1">
          <a:blip r:embed="rId3">
            <a:alphaModFix/>
          </a:blip>
          <a:srcRect b="0" l="0" r="0" t="0"/>
          <a:stretch/>
        </p:blipFill>
        <p:spPr>
          <a:xfrm>
            <a:off x="7697894" y="1505683"/>
            <a:ext cx="3933274" cy="3094176"/>
          </a:xfrm>
          <a:prstGeom prst="rect">
            <a:avLst/>
          </a:prstGeom>
          <a:noFill/>
          <a:ln>
            <a:noFill/>
          </a:ln>
        </p:spPr>
      </p:pic>
      <p:sp>
        <p:nvSpPr>
          <p:cNvPr id="5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45</a:t>
            </a:r>
          </a:p>
        </p:txBody>
      </p:sp>
      <p:sp>
        <p:nvSpPr>
          <p:cNvPr id="596" name="EWL-COVER-1"/>
          <p:cNvSpPr/>
          <p:nvPr/>
        </p:nvSpPr>
        <p:spPr>
          <a:xfrm>
            <a:off x="429700" y="4792708"/>
            <a:ext cx="9868567" cy="1453876"/>
          </a:xfrm>
          <a:prstGeom prst="rect">
            <a:avLst/>
          </a:prstGeom>
          <a:solidFill>
            <a:srgbClr val="FFFFFF"/>
          </a:solidFill>
          <a:ln>
            <a:noFill/>
          </a:ln>
        </p:spPr>
        <p:txBody>
          <a:bodyPr/>
          <a:lstStyle/>
          <a:p/>
        </p:txBody>
      </p:sp>
      <p:sp xmlns:p="http://schemas.openxmlformats.org/presentationml/2006/main" xmlns:a="http://schemas.openxmlformats.org/drawingml/2006/main">
        <p:nvSpPr>
          <p:cNvPr id="597" name="TEACH-embedded-student-prompt" descr="Student thinking and response directions"/>
          <p:cNvSpPr txBox="1"/>
          <p:nvPr/>
        </p:nvSpPr>
        <p:spPr>
          <a:xfrm>
            <a:off x="594360" y="28529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cxnSp>
        <p:nvCxnSpPr>
          <p:cNvPr id="647" name="Google Shape;647;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8" name="Google Shape;648;p65"/>
          <p:cNvSpPr txBox="1"/>
          <p:nvPr/>
        </p:nvSpPr>
        <p:spPr>
          <a:xfrm>
            <a:off x="484565" y="936100"/>
            <a:ext cx="7398767" cy="9014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We can display each day’s earnings using counters.</a:t>
            </a:r>
            <a:endParaRPr b="1" i="0" sz="2800" u="none" cap="none" strike="noStrike">
              <a:solidFill>
                <a:srgbClr val="262626"/>
              </a:solidFill>
              <a:latin typeface="Arial"/>
              <a:ea typeface="Arial"/>
              <a:cs typeface="Arial"/>
              <a:sym typeface="Arial"/>
            </a:endParaRPr>
          </a:p>
        </p:txBody>
      </p:sp>
      <p:sp>
        <p:nvSpPr>
          <p:cNvPr id="649" name="Google Shape;649;p65"/>
          <p:cNvSpPr/>
          <p:nvPr/>
        </p:nvSpPr>
        <p:spPr>
          <a:xfrm>
            <a:off x="484564" y="2479664"/>
            <a:ext cx="6530011"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How can you use the counters to show how much Miguel makes on a typical day?</a:t>
            </a:r>
            <a:endParaRPr b="0" i="0" sz="1400" u="none" cap="none" strike="noStrike">
              <a:solidFill>
                <a:srgbClr val="000000"/>
              </a:solidFill>
              <a:latin typeface="Arial"/>
              <a:ea typeface="Arial"/>
              <a:cs typeface="Arial"/>
              <a:sym typeface="Arial"/>
            </a:endParaRPr>
          </a:p>
        </p:txBody>
      </p:sp>
      <p:sp>
        <p:nvSpPr>
          <p:cNvPr id="650" name="Google Shape;650;p65"/>
          <p:cNvSpPr txBox="1"/>
          <p:nvPr/>
        </p:nvSpPr>
        <p:spPr>
          <a:xfrm>
            <a:off x="484564" y="4370318"/>
            <a:ext cx="6530010" cy="19910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combine and then redistribute the counters equally among the 4 days to level the values in the data set.</a:t>
            </a:r>
            <a:endParaRPr b="0" i="0" sz="1400" u="none" cap="none" strike="noStrike">
              <a:solidFill>
                <a:srgbClr val="000000"/>
              </a:solidFill>
              <a:latin typeface="Arial"/>
              <a:ea typeface="Arial"/>
              <a:cs typeface="Arial"/>
              <a:sym typeface="Arial"/>
            </a:endParaRPr>
          </a:p>
        </p:txBody>
      </p:sp>
      <p:pic>
        <p:nvPicPr>
          <p:cNvPr id="651" name="Google Shape;651;p65"/>
          <p:cNvPicPr preferRelativeResize="0"/>
          <p:nvPr/>
        </p:nvPicPr>
        <p:blipFill rotWithShape="1">
          <a:blip r:embed="rId3">
            <a:alphaModFix/>
          </a:blip>
          <a:srcRect b="0" l="0" r="0" t="0"/>
          <a:stretch/>
        </p:blipFill>
        <p:spPr>
          <a:xfrm>
            <a:off x="7697894" y="3679182"/>
            <a:ext cx="3332578" cy="2682454"/>
          </a:xfrm>
          <a:prstGeom prst="rect">
            <a:avLst/>
          </a:prstGeom>
          <a:noFill/>
          <a:ln>
            <a:noFill/>
          </a:ln>
        </p:spPr>
      </p:pic>
      <p:pic>
        <p:nvPicPr>
          <p:cNvPr id="652" name="Google Shape;652;p65"/>
          <p:cNvPicPr preferRelativeResize="0"/>
          <p:nvPr/>
        </p:nvPicPr>
        <p:blipFill rotWithShape="1">
          <a:blip r:embed="rId4">
            <a:alphaModFix/>
          </a:blip>
          <a:srcRect b="0" l="0" r="0" t="0"/>
          <a:stretch/>
        </p:blipFill>
        <p:spPr>
          <a:xfrm>
            <a:off x="8046802" y="1356320"/>
            <a:ext cx="2634762" cy="2072680"/>
          </a:xfrm>
          <a:prstGeom prst="rect">
            <a:avLst/>
          </a:prstGeom>
          <a:noFill/>
          <a:ln>
            <a:noFill/>
          </a:ln>
        </p:spPr>
      </p:pic>
      <p:sp>
        <p:nvSpPr>
          <p:cNvPr id="6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45</a:t>
            </a:r>
          </a:p>
        </p:txBody>
      </p:sp>
      <p:sp>
        <p:nvSpPr>
          <p:cNvPr id="654" name="EWL-COVER-1"/>
          <p:cNvSpPr/>
          <p:nvPr/>
        </p:nvSpPr>
        <p:spPr>
          <a:xfrm>
            <a:off x="429700" y="4315454"/>
            <a:ext cx="6639738" cy="2100734"/>
          </a:xfrm>
          <a:prstGeom prst="rect">
            <a:avLst/>
          </a:prstGeom>
          <a:solidFill>
            <a:srgbClr val="FFFFFF"/>
          </a:solidFill>
          <a:ln>
            <a:noFill/>
          </a:ln>
        </p:spPr>
        <p:txBody>
          <a:bodyPr/>
          <a:lstStyle/>
          <a:p/>
        </p:txBody>
      </p:sp>
      <p:grpSp>
        <p:nvGrpSpPr>
          <p:cNvPr id="655" name="TEACH-6-student-move" descr="TEACH 6 · Organize and implement routines to support a learning-focused classroom"/>
          <p:cNvGrpSpPr/>
          <p:nvPr/>
        </p:nvGrpSpPr>
        <p:grpSpPr>
          <a:xfrm>
            <a:off x="502920" y="3931406"/>
            <a:ext cx="5501640" cy="402336"/>
            <a:chOff x="502920" y="3931406"/>
            <a:chExt cx="5501640" cy="402336"/>
          </a:xfrm>
        </p:grpSpPr>
        <p:sp>
          <p:nvSpPr>
            <p:cNvPr id="656" name="TEACH-move-card"/>
            <p:cNvSpPr/>
            <p:nvPr/>
          </p:nvSpPr>
          <p:spPr>
            <a:xfrm>
              <a:off x="502920" y="3931406"/>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657" name="TEACH-move-rule"/>
            <p:cNvSpPr/>
            <p:nvPr/>
          </p:nvSpPr>
          <p:spPr>
            <a:xfrm>
              <a:off x="548640" y="4007850"/>
              <a:ext cx="100584" cy="249448"/>
            </a:xfrm>
            <a:prstGeom prst="roundRect">
              <a:avLst>
                <a:gd name="adj" fmla="val 50000"/>
              </a:avLst>
            </a:prstGeom>
            <a:solidFill>
              <a:srgbClr val="01708C"/>
            </a:solidFill>
            <a:ln>
              <a:noFill/>
            </a:ln>
          </p:spPr>
          <p:txBody>
            <a:bodyPr/>
            <a:lstStyle/>
            <a:p>
              <a:endParaRPr/>
            </a:p>
          </p:txBody>
        </p:sp>
        <p:sp>
          <p:nvSpPr>
            <p:cNvPr id="658" name="TEACH-move-text"/>
            <p:cNvSpPr txBox="1"/>
            <p:nvPr/>
          </p:nvSpPr>
          <p:spPr>
            <a:xfrm>
              <a:off x="822960" y="3931406"/>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cxnSp>
        <p:nvCxnSpPr>
          <p:cNvPr id="683" name="Google Shape;683;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4" name="Google Shape;684;p69"/>
          <p:cNvSpPr txBox="1"/>
          <p:nvPr/>
        </p:nvSpPr>
        <p:spPr>
          <a:xfrm>
            <a:off x="484565" y="936101"/>
            <a:ext cx="6366435" cy="5046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Another Way</a:t>
            </a:r>
            <a:endParaRPr b="0" i="0" sz="1400" u="none" cap="none" strike="noStrike">
              <a:solidFill>
                <a:srgbClr val="000000"/>
              </a:solidFill>
              <a:latin typeface="Arial"/>
              <a:ea typeface="Arial"/>
              <a:cs typeface="Arial"/>
              <a:sym typeface="Arial"/>
            </a:endParaRPr>
          </a:p>
        </p:txBody>
      </p:sp>
      <p:sp>
        <p:nvSpPr>
          <p:cNvPr id="685" name="Google Shape;685;p69"/>
          <p:cNvSpPr/>
          <p:nvPr/>
        </p:nvSpPr>
        <p:spPr>
          <a:xfrm>
            <a:off x="484565" y="2060465"/>
            <a:ext cx="7213329"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How can you mathematically calculate the amount Miguel makes on a typical day?</a:t>
            </a:r>
            <a:endParaRPr b="0" i="0" sz="1400" u="none" cap="none" strike="noStrike">
              <a:solidFill>
                <a:srgbClr val="000000"/>
              </a:solidFill>
              <a:latin typeface="Arial"/>
              <a:ea typeface="Arial"/>
              <a:cs typeface="Arial"/>
              <a:sym typeface="Arial"/>
            </a:endParaRPr>
          </a:p>
        </p:txBody>
      </p:sp>
      <p:sp>
        <p:nvSpPr>
          <p:cNvPr id="686" name="Google Shape;686;p69"/>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687" name="Google Shape;687;p69"/>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688" name="Google Shape;688;p69"/>
          <p:cNvSpPr txBox="1"/>
          <p:nvPr/>
        </p:nvSpPr>
        <p:spPr>
          <a:xfrm>
            <a:off x="484565" y="3687886"/>
            <a:ext cx="11637695" cy="1141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How can you relate the steps we used for the model to using arithmetic?</a:t>
            </a:r>
            <a:endParaRPr b="0" i="0" sz="1400" u="none" cap="none" strike="noStrike">
              <a:solidFill>
                <a:srgbClr val="000000"/>
              </a:solidFill>
              <a:latin typeface="Arial"/>
              <a:ea typeface="Arial"/>
              <a:cs typeface="Arial"/>
              <a:sym typeface="Arial"/>
            </a:endParaRPr>
          </a:p>
        </p:txBody>
      </p:sp>
      <p:pic>
        <p:nvPicPr>
          <p:cNvPr id="689" name="Google Shape;689;p69"/>
          <p:cNvPicPr preferRelativeResize="0"/>
          <p:nvPr/>
        </p:nvPicPr>
        <p:blipFill rotWithShape="1">
          <a:blip r:embed="rId4">
            <a:alphaModFix/>
          </a:blip>
          <a:srcRect b="0" l="0" r="0" t="0"/>
          <a:stretch/>
        </p:blipFill>
        <p:spPr>
          <a:xfrm>
            <a:off x="8046802" y="1356320"/>
            <a:ext cx="2634762" cy="2072680"/>
          </a:xfrm>
          <a:prstGeom prst="rect">
            <a:avLst/>
          </a:prstGeom>
          <a:noFill/>
          <a:ln>
            <a:noFill/>
          </a:ln>
        </p:spPr>
      </p:pic>
      <p:sp>
        <p:nvSpPr>
          <p:cNvPr id="690" name="Google Shape;690;p69"/>
          <p:cNvSpPr txBox="1"/>
          <p:nvPr/>
        </p:nvSpPr>
        <p:spPr>
          <a:xfrm>
            <a:off x="485964" y="4927912"/>
            <a:ext cx="10944515" cy="14982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find the total amount Miguel earned and divide it by the number of days, 4.</a:t>
            </a:r>
            <a:endParaRPr b="0" i="0" sz="1400" u="none" cap="none" strike="noStrike">
              <a:solidFill>
                <a:srgbClr val="000000"/>
              </a:solidFill>
              <a:latin typeface="Arial"/>
              <a:ea typeface="Arial"/>
              <a:cs typeface="Arial"/>
              <a:sym typeface="Arial"/>
            </a:endParaRPr>
          </a:p>
        </p:txBody>
      </p:sp>
      <p:sp>
        <p:nvSpPr>
          <p:cNvPr id="6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45</a:t>
            </a:r>
          </a:p>
        </p:txBody>
      </p:sp>
      <p:sp>
        <p:nvSpPr>
          <p:cNvPr id="692" name="EWL-COVER-1"/>
          <p:cNvSpPr/>
          <p:nvPr/>
        </p:nvSpPr>
        <p:spPr>
          <a:xfrm>
            <a:off x="431100" y="4873048"/>
            <a:ext cx="11054243" cy="1573472"/>
          </a:xfrm>
          <a:prstGeom prst="rect">
            <a:avLst/>
          </a:prstGeom>
          <a:solidFill>
            <a:srgbClr val="FFFFFF"/>
          </a:solidFill>
          <a:ln>
            <a:noFill/>
          </a:ln>
        </p:spPr>
        <p:txBody>
          <a:bodyPr/>
          <a:lstStyle/>
          <a:p/>
        </p:txBody>
      </p:sp>
      <p:sp>
        <p:nvSpPr>
          <p:cNvPr id="69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694" name="TEACH-5-student-move" descr="TEACH 5 · Facilitate student interactions and academic talk"/>
          <p:cNvGrpSpPr/>
          <p:nvPr/>
        </p:nvGrpSpPr>
        <p:grpSpPr>
          <a:xfrm>
            <a:off x="502920" y="1621553"/>
            <a:ext cx="5501640" cy="402336"/>
            <a:chOff x="502920" y="1621553"/>
            <a:chExt cx="5501640" cy="402336"/>
          </a:xfrm>
        </p:grpSpPr>
        <p:sp>
          <p:nvSpPr>
            <p:cNvPr id="695" name="TEACH-move-card"/>
            <p:cNvSpPr/>
            <p:nvPr/>
          </p:nvSpPr>
          <p:spPr>
            <a:xfrm>
              <a:off x="502920" y="1621553"/>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696" name="TEACH-move-rule"/>
            <p:cNvSpPr/>
            <p:nvPr/>
          </p:nvSpPr>
          <p:spPr>
            <a:xfrm>
              <a:off x="548640" y="1697997"/>
              <a:ext cx="100584" cy="249448"/>
            </a:xfrm>
            <a:prstGeom prst="roundRect">
              <a:avLst>
                <a:gd name="adj" fmla="val 50000"/>
              </a:avLst>
            </a:prstGeom>
            <a:solidFill>
              <a:srgbClr val="01708C"/>
            </a:solidFill>
            <a:ln>
              <a:noFill/>
            </a:ln>
          </p:spPr>
          <p:txBody>
            <a:bodyPr/>
            <a:lstStyle/>
            <a:p>
              <a:endParaRPr/>
            </a:p>
          </p:txBody>
        </p:sp>
        <p:sp>
          <p:nvSpPr>
            <p:cNvPr id="697" name="TEACH-move-text"/>
            <p:cNvSpPr txBox="1"/>
            <p:nvPr/>
          </p:nvSpPr>
          <p:spPr>
            <a:xfrm>
              <a:off x="822960" y="1621553"/>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cxnSp>
        <p:nvCxnSpPr>
          <p:cNvPr id="703" name="Google Shape;703;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4" name="Google Shape;704;p71"/>
          <p:cNvSpPr txBox="1"/>
          <p:nvPr/>
        </p:nvSpPr>
        <p:spPr>
          <a:xfrm>
            <a:off x="458686" y="409887"/>
            <a:ext cx="6366435" cy="52712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We can use $15 to describe Miguel’s typical daily earnings. This is also known as the mean.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The </a:t>
            </a:r>
            <a:r>
              <a:rPr b="1" i="0" lang="en-US" sz="2800" u="none" cap="none" strike="noStrike">
                <a:solidFill>
                  <a:srgbClr val="23282D"/>
                </a:solidFill>
                <a:highlight>
                  <a:srgbClr val="FFFF00"/>
                </a:highlight>
                <a:latin typeface="Arial"/>
                <a:ea typeface="Arial"/>
                <a:cs typeface="Arial"/>
                <a:sym typeface="Arial"/>
              </a:rPr>
              <a:t>mean</a:t>
            </a:r>
            <a:r>
              <a:rPr b="0" i="0" lang="en-US" sz="2800" u="none" cap="none" strike="noStrike">
                <a:solidFill>
                  <a:srgbClr val="23282D"/>
                </a:solidFill>
                <a:latin typeface="Arial"/>
                <a:ea typeface="Arial"/>
                <a:cs typeface="Arial"/>
                <a:sym typeface="Arial"/>
              </a:rPr>
              <a:t>, or arithmetic average, is a measure of center that describes a data set. It represents a “leveling” of the values in a data set.</a:t>
            </a:r>
            <a:endParaRPr b="0" i="0" sz="1400" u="none" cap="none" strike="noStrike">
              <a:solidFill>
                <a:srgbClr val="000000"/>
              </a:solidFill>
              <a:latin typeface="Arial"/>
              <a:ea typeface="Arial"/>
              <a:cs typeface="Arial"/>
              <a:sym typeface="Arial"/>
            </a:endParaRPr>
          </a:p>
        </p:txBody>
      </p:sp>
      <p:pic>
        <p:nvPicPr>
          <p:cNvPr id="705" name="Google Shape;705;p71"/>
          <p:cNvPicPr preferRelativeResize="0"/>
          <p:nvPr/>
        </p:nvPicPr>
        <p:blipFill rotWithShape="1">
          <a:blip r:embed="rId3">
            <a:alphaModFix/>
          </a:blip>
          <a:srcRect b="0" l="0" r="0" t="0"/>
          <a:stretch/>
        </p:blipFill>
        <p:spPr>
          <a:xfrm>
            <a:off x="8046802" y="1356320"/>
            <a:ext cx="3584366" cy="2819702"/>
          </a:xfrm>
          <a:prstGeom prst="rect">
            <a:avLst/>
          </a:prstGeom>
          <a:noFill/>
          <a:ln>
            <a:noFill/>
          </a:ln>
        </p:spPr>
      </p:pic>
      <p:sp>
        <p:nvSpPr>
          <p:cNvPr id="7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45</a:t>
            </a:r>
          </a:p>
        </p:txBody>
      </p:sp>
      <p:sp xmlns:p="http://schemas.openxmlformats.org/presentationml/2006/main" xmlns:a="http://schemas.openxmlformats.org/drawingml/2006/main">
        <p:nvSpPr>
          <p:cNvPr id="707" name="TEACH-embedded-student-prompt" descr="Student thinking and response directions"/>
          <p:cNvSpPr txBox="1"/>
          <p:nvPr/>
        </p:nvSpPr>
        <p:spPr>
          <a:xfrm>
            <a:off x="7391400" y="541324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a:t>
            </a:r>
            <a:endParaRPr lang="en-US" sz="2000"/>
          </a:p>
          <a:p>
            <a:pPr>
              <a:lnSpc>
                <a:spcPts val="2400"/>
              </a:lnSpc>
              <a:buNone/>
            </a:pPr>
            <a:r>
              <a:rPr lang="en-US" sz="2000">
                <a:solidFill>
                  <a:srgbClr val="174D60"/>
                </a:solidFill>
                <a:latin typeface="Arial"/>
              </a:rPr>
              <a:t>shown supports your reasoning.</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76"/>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48" name="Google Shape;748;p76"/>
          <p:cNvSpPr txBox="1"/>
          <p:nvPr/>
        </p:nvSpPr>
        <p:spPr>
          <a:xfrm>
            <a:off x="484565" y="927527"/>
            <a:ext cx="7930346" cy="97018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 xml:space="preserve">What information does the mean provide that is different from what the median provides? </a:t>
            </a:r>
            <a:endParaRPr b="0" i="0" sz="1400" u="none" cap="none" strike="noStrike">
              <a:solidFill>
                <a:srgbClr val="000000"/>
              </a:solidFill>
              <a:latin typeface="Arial"/>
              <a:ea typeface="Arial"/>
              <a:cs typeface="Arial"/>
              <a:sym typeface="Arial"/>
            </a:endParaRPr>
          </a:p>
        </p:txBody>
      </p:sp>
      <p:sp>
        <p:nvSpPr>
          <p:cNvPr id="749" name="Google Shape;749;p76"/>
          <p:cNvSpPr txBox="1"/>
          <p:nvPr/>
        </p:nvSpPr>
        <p:spPr>
          <a:xfrm>
            <a:off x="6314663" y="574479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50" name="Google Shape;750;p76"/>
          <p:cNvSpPr/>
          <p:nvPr/>
        </p:nvSpPr>
        <p:spPr>
          <a:xfrm>
            <a:off x="588153" y="4823173"/>
            <a:ext cx="7031726" cy="1455136"/>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51" name="Google Shape;751;p76"/>
          <p:cNvSpPr txBox="1"/>
          <p:nvPr/>
        </p:nvSpPr>
        <p:spPr>
          <a:xfrm>
            <a:off x="6324960" y="270709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52" name="Google Shape;752;p76"/>
          <p:cNvSpPr/>
          <p:nvPr/>
        </p:nvSpPr>
        <p:spPr>
          <a:xfrm>
            <a:off x="577856" y="1970821"/>
            <a:ext cx="7031726" cy="1269785"/>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53" name="Google Shape;753;p76"/>
          <p:cNvSpPr txBox="1"/>
          <p:nvPr/>
        </p:nvSpPr>
        <p:spPr>
          <a:xfrm>
            <a:off x="484565" y="3347392"/>
            <a:ext cx="7230130" cy="1384849"/>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defRPr/>
            </a:pPr>
            <a:r>
              <a:rPr b="0" i="0" lang="en-US" sz="2800" u="none" cap="none" strike="noStrike">
                <a:solidFill>
                  <a:srgbClr val="23282D"/>
                </a:solidFill>
                <a:latin typeface="Arial"/>
                <a:ea typeface="Arial"/>
                <a:cs typeface="Arial"/>
                <a:sym typeface="Arial"/>
              </a:rPr>
              <a:t xml:space="preserve">How is determining the mean different from determining the median? How are the two measures similar? </a:t>
            </a:r>
            <a:endParaRPr b="0" i="0" sz="1400" u="none" cap="none" strike="noStrike">
              <a:solidFill>
                <a:srgbClr val="000000"/>
              </a:solidFill>
              <a:latin typeface="Arial"/>
              <a:ea typeface="Arial"/>
              <a:cs typeface="Arial"/>
              <a:sym typeface="Arial"/>
            </a:endParaRPr>
          </a:p>
        </p:txBody>
      </p:sp>
      <p:sp>
        <p:nvSpPr>
          <p:cNvPr id="75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2.8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does the mean determine the total? What must the missing value contribute to that total?</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90" name="Google Shape;590;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1" name="Google Shape;591;p59"/>
          <p:cNvSpPr/>
          <p:nvPr/>
        </p:nvSpPr>
        <p:spPr>
          <a:xfrm>
            <a:off x="484564" y="3738746"/>
            <a:ext cx="574370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62626"/>
                </a:solidFill>
                <a:latin typeface="Arial"/>
                <a:ea typeface="Arial"/>
                <a:cs typeface="Arial"/>
                <a:sym typeface="Arial"/>
              </a:rPr>
              <a:t>What does typical day mean in the context of the problem?</a:t>
            </a:r>
            <a:endParaRPr b="0" i="0" sz="1400" u="none" cap="none" strike="noStrike">
              <a:solidFill>
                <a:srgbClr val="000000"/>
              </a:solidFill>
              <a:latin typeface="Arial"/>
              <a:ea typeface="Arial"/>
              <a:cs typeface="Arial"/>
              <a:sym typeface="Arial"/>
            </a:endParaRPr>
          </a:p>
        </p:txBody>
      </p:sp>
      <p:sp>
        <p:nvSpPr>
          <p:cNvPr id="592" name="Google Shape;592;p59"/>
          <p:cNvSpPr txBox="1"/>
          <p:nvPr/>
        </p:nvSpPr>
        <p:spPr>
          <a:xfrm>
            <a:off x="484564" y="4847572"/>
            <a:ext cx="9758839" cy="11848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It indicates the amount of money Miguel would make if he earned the same amount of money each day.</a:t>
            </a:r>
            <a:endParaRPr b="0" i="0" sz="1400" u="none" cap="none" strike="noStrike">
              <a:solidFill>
                <a:srgbClr val="000000"/>
              </a:solidFill>
              <a:latin typeface="Arial"/>
              <a:ea typeface="Arial"/>
              <a:cs typeface="Arial"/>
              <a:sym typeface="Arial"/>
            </a:endParaRPr>
          </a:p>
        </p:txBody>
      </p:sp>
      <p:sp>
        <p:nvSpPr>
          <p:cNvPr id="593" name="Google Shape;593;p59"/>
          <p:cNvSpPr txBox="1"/>
          <p:nvPr/>
        </p:nvSpPr>
        <p:spPr>
          <a:xfrm>
            <a:off x="484565" y="496152"/>
            <a:ext cx="6530010" cy="22379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Every week, Miguel walks dogs after school to earn some money. He keeps track of his earnings in his notebook. How can Miguel describe his earnings on a typical day?</a:t>
            </a:r>
            <a:endParaRPr b="1" i="0" sz="2800" u="none" cap="none" strike="noStrike">
              <a:solidFill>
                <a:srgbClr val="262626"/>
              </a:solidFill>
              <a:latin typeface="Arial"/>
              <a:ea typeface="Arial"/>
              <a:cs typeface="Arial"/>
              <a:sym typeface="Arial"/>
            </a:endParaRPr>
          </a:p>
        </p:txBody>
      </p:sp>
      <p:pic>
        <p:nvPicPr>
          <p:cNvPr id="594" name="Google Shape;594;p59"/>
          <p:cNvPicPr preferRelativeResize="0"/>
          <p:nvPr/>
        </p:nvPicPr>
        <p:blipFill rotWithShape="1">
          <a:blip r:embed="rId2">
            <a:alphaModFix/>
          </a:blip>
          <a:srcRect b="0" l="0" r="0" t="0"/>
          <a:stretch/>
        </p:blipFill>
        <p:spPr>
          <a:xfrm>
            <a:off x="7697894" y="1505683"/>
            <a:ext cx="3229098" cy="2540224"/>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45</a:t>
            </a:r>
          </a:p>
        </p:txBody>
      </p:sp>
      <p:sp xmlns:p="http://schemas.openxmlformats.org/presentationml/2006/main" xmlns:a="http://schemas.openxmlformats.org/drawingml/2006/main">
        <p:nvSpPr>
          <p:cNvPr id="595" name="TEACH-embedded-student-prompt" descr="Student thinking and response directions"/>
          <p:cNvSpPr txBox="1"/>
          <p:nvPr/>
        </p:nvSpPr>
        <p:spPr>
          <a:xfrm>
            <a:off x="594360" y="28529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08" name="Google Shape;608;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9" name="Google Shape;609;p61"/>
          <p:cNvSpPr/>
          <p:nvPr/>
        </p:nvSpPr>
        <p:spPr>
          <a:xfrm>
            <a:off x="484566" y="4164858"/>
            <a:ext cx="7059234"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62626"/>
                </a:solidFill>
                <a:latin typeface="Arial"/>
                <a:ea typeface="Arial"/>
                <a:cs typeface="Arial"/>
                <a:sym typeface="Arial"/>
              </a:rPr>
              <a:t>How can you visually represent each day’s earnings?</a:t>
            </a:r>
            <a:endParaRPr b="0" i="0" sz="1400" u="none" cap="none" strike="noStrike">
              <a:solidFill>
                <a:srgbClr val="000000"/>
              </a:solidFill>
              <a:latin typeface="Arial"/>
              <a:ea typeface="Arial"/>
              <a:cs typeface="Arial"/>
              <a:sym typeface="Arial"/>
            </a:endParaRPr>
          </a:p>
        </p:txBody>
      </p:sp>
      <p:sp>
        <p:nvSpPr>
          <p:cNvPr id="610" name="Google Shape;610;p61"/>
          <p:cNvSpPr txBox="1"/>
          <p:nvPr/>
        </p:nvSpPr>
        <p:spPr>
          <a:xfrm>
            <a:off x="484565" y="5244225"/>
            <a:ext cx="4157931" cy="11040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counters.</a:t>
            </a:r>
            <a:endParaRPr b="0" i="0" sz="1400" u="none" cap="none" strike="noStrike">
              <a:solidFill>
                <a:srgbClr val="000000"/>
              </a:solidFill>
              <a:latin typeface="Arial"/>
              <a:ea typeface="Arial"/>
              <a:cs typeface="Arial"/>
              <a:sym typeface="Arial"/>
            </a:endParaRPr>
          </a:p>
        </p:txBody>
      </p:sp>
      <p:sp>
        <p:nvSpPr>
          <p:cNvPr id="611" name="Google Shape;611;p61"/>
          <p:cNvSpPr txBox="1"/>
          <p:nvPr/>
        </p:nvSpPr>
        <p:spPr>
          <a:xfrm>
            <a:off x="484565" y="496152"/>
            <a:ext cx="6530010" cy="22379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Every week, Miguel walks dogs after school to earn some money. He keeps track of his earnings in his notebook. How can Miguel describe his earnings on a typical day?</a:t>
            </a:r>
            <a:endParaRPr b="1" i="0" sz="2800" u="none" cap="none" strike="noStrike">
              <a:solidFill>
                <a:srgbClr val="262626"/>
              </a:solidFill>
              <a:latin typeface="Arial"/>
              <a:ea typeface="Arial"/>
              <a:cs typeface="Arial"/>
              <a:sym typeface="Arial"/>
            </a:endParaRPr>
          </a:p>
        </p:txBody>
      </p:sp>
      <p:pic>
        <p:nvPicPr>
          <p:cNvPr id="612" name="Google Shape;612;p61"/>
          <p:cNvPicPr preferRelativeResize="0"/>
          <p:nvPr/>
        </p:nvPicPr>
        <p:blipFill rotWithShape="1">
          <a:blip r:embed="rId2">
            <a:alphaModFix/>
          </a:blip>
          <a:srcRect b="0" l="0" r="0" t="0"/>
          <a:stretch/>
        </p:blipFill>
        <p:spPr>
          <a:xfrm>
            <a:off x="7697894" y="1505683"/>
            <a:ext cx="3229098" cy="2540224"/>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45</a:t>
            </a:r>
          </a:p>
        </p:txBody>
      </p:sp>
      <p:sp xmlns:p="http://schemas.openxmlformats.org/presentationml/2006/main" xmlns:a="http://schemas.openxmlformats.org/drawingml/2006/main">
        <p:nvSpPr>
          <p:cNvPr id="613" name="TEACH-embedded-student-prompt" descr="Student thinking and response directions"/>
          <p:cNvSpPr txBox="1"/>
          <p:nvPr/>
        </p:nvSpPr>
        <p:spPr>
          <a:xfrm>
            <a:off x="611124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2-8 · Describe Data Using the Mean</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How do you calculate the mean of a data set?</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Find the middle value</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Sum values ÷ count of values</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Max minus min</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Count total numbers</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mean of 6, 10, 14?</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30</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Conceptually, the mean represents the:</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Most common number</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Fair share or balance point</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Distance to zero</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Bottom quarter</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Four scores are 5, 5, 10, 20. What is the mean?</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40</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45</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2-8 · Describe Data Using the Mean</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Mean Formula</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Mean</a:t>
            </a:r>
            <a:r>
              <a:rPr b="0" i="0" lang="en-US" sz="1450" u="none" cap="none" strike="noStrike">
                <a:solidFill>
                  <a:srgbClr val="475569"/>
                </a:solidFill>
                <a:latin typeface="Arial"/>
                <a:ea typeface="Arial"/>
                <a:cs typeface="Arial"/>
                <a:sym typeface="Arial"/>
              </a:rPr>
              <a:t xml:space="preserve"> = (</a:t>
            </a:r>
            <a:r>
              <a:rPr b="1" i="0" lang="en-US" sz="1450" u="none" cap="none" strike="noStrike">
                <a:solidFill>
                  <a:srgbClr val="475569"/>
                </a:solidFill>
                <a:latin typeface="Arial"/>
                <a:ea typeface="Arial"/>
                <a:cs typeface="Arial"/>
                <a:sym typeface="Arial"/>
              </a:rPr>
              <a:t xml:space="preserve">Sum</a:t>
            </a:r>
            <a:r>
              <a:rPr b="0" i="0" lang="en-US" sz="1450" u="none" cap="none" strike="noStrike">
                <a:solidFill>
                  <a:srgbClr val="475569"/>
                </a:solidFill>
                <a:latin typeface="Arial"/>
                <a:ea typeface="Arial"/>
                <a:cs typeface="Arial"/>
                <a:sym typeface="Arial"/>
              </a:rPr>
              <a:t xml:space="preserve"> of all data values) ÷ (Total count of data values).</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Fair Share Model</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mean levels out all values into equal shares across the population.</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Sensitivity to Outliers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An extreme high or low value pulls the mean toward that extreme.</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45</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77"/>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Describe Data Using the Mean</a:t>
            </a:r>
            <a:endParaRPr b="0" i="0" sz="1400" u="none" cap="none" strike="noStrike">
              <a:solidFill>
                <a:srgbClr val="000000"/>
              </a:solidFill>
              <a:latin typeface="Arial"/>
              <a:ea typeface="Arial"/>
              <a:cs typeface="Arial"/>
              <a:sym typeface="Arial"/>
            </a:endParaRPr>
          </a:p>
        </p:txBody>
      </p:sp>
      <p:sp>
        <p:nvSpPr>
          <p:cNvPr id="759" name="Google Shape;759;p77"/>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60" name="Google Shape;760;p77"/>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6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45</a:t>
            </a:r>
          </a:p>
        </p:txBody>
      </p:sp>
      <p:grpSp>
        <p:nvGrpSpPr>
          <p:cNvPr id="762" name="TEACH-5-student-move" descr="TEACH 5 · Facilitate student interactions and academic talk"/>
          <p:cNvGrpSpPr/>
          <p:nvPr/>
        </p:nvGrpSpPr>
        <p:grpSpPr>
          <a:xfrm>
            <a:off x="502920" y="3201929"/>
            <a:ext cx="11186160" cy="731520"/>
            <a:chOff x="502920" y="3201929"/>
            <a:chExt cx="11186160" cy="731520"/>
          </a:xfrm>
        </p:grpSpPr>
        <p:sp>
          <p:nvSpPr>
            <p:cNvPr id="763"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64"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765"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ADD ON  ·  </a:t>
              </a:r>
              <a:r>
                <a:rPr lang="en-US" sz="1800" dirty="0">
                  <a:solidFill>
                    <a:srgbClr val="13303A"/>
                  </a:solidFill>
                  <a:latin typeface="Arial"/>
                </a:rPr>
                <a:t>Add on: “I agree because ______.”  or  “I see it differently because ______.”</a:t>
              </a:r>
              <a:endParaRPr lang="en-US" sz="18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cxnSp>
        <p:nvCxnSpPr>
          <p:cNvPr id="775" name="Google Shape;775;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6" name="Google Shape;776;p79"/>
          <p:cNvSpPr txBox="1"/>
          <p:nvPr/>
        </p:nvSpPr>
        <p:spPr>
          <a:xfrm>
            <a:off x="474055" y="316034"/>
            <a:ext cx="3904129" cy="53798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77" name="Google Shape;777;p79"/>
          <p:cNvSpPr txBox="1"/>
          <p:nvPr/>
        </p:nvSpPr>
        <p:spPr>
          <a:xfrm>
            <a:off x="484560" y="936100"/>
            <a:ext cx="4104693" cy="11564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How are they different? </a:t>
            </a:r>
            <a:endParaRPr b="0" i="0" sz="1400" u="none" cap="none" strike="noStrike">
              <a:solidFill>
                <a:srgbClr val="000000"/>
              </a:solidFill>
              <a:latin typeface="Arial"/>
              <a:ea typeface="Arial"/>
              <a:cs typeface="Arial"/>
              <a:sym typeface="Arial"/>
            </a:endParaRPr>
          </a:p>
        </p:txBody>
      </p:sp>
      <p:pic>
        <p:nvPicPr>
          <p:cNvPr id="778" name="Google Shape;778;p79"/>
          <p:cNvPicPr preferRelativeResize="0"/>
          <p:nvPr/>
        </p:nvPicPr>
        <p:blipFill rotWithShape="1">
          <a:blip r:embed="rId3">
            <a:alphaModFix/>
          </a:blip>
          <a:srcRect b="0" l="0" r="0" t="0"/>
          <a:stretch/>
        </p:blipFill>
        <p:spPr>
          <a:xfrm>
            <a:off x="4909408" y="1147034"/>
            <a:ext cx="4757284" cy="3281277"/>
          </a:xfrm>
          <a:prstGeom prst="rect">
            <a:avLst/>
          </a:prstGeom>
          <a:noFill/>
          <a:ln>
            <a:noFill/>
          </a:ln>
        </p:spPr>
      </p:pic>
      <p:pic>
        <p:nvPicPr>
          <p:cNvPr id="779" name="Google Shape;779;p79"/>
          <p:cNvPicPr preferRelativeResize="0"/>
          <p:nvPr/>
        </p:nvPicPr>
        <p:blipFill rotWithShape="1">
          <a:blip r:embed="rId4">
            <a:alphaModFix/>
          </a:blip>
          <a:srcRect b="0" l="0" r="0" t="0"/>
          <a:stretch/>
        </p:blipFill>
        <p:spPr>
          <a:xfrm>
            <a:off x="484560" y="4592903"/>
            <a:ext cx="5054600" cy="838200"/>
          </a:xfrm>
          <a:prstGeom prst="rect">
            <a:avLst/>
          </a:prstGeom>
          <a:noFill/>
          <a:ln>
            <a:noFill/>
          </a:ln>
        </p:spPr>
      </p:pic>
      <p:sp>
        <p:nvSpPr>
          <p:cNvPr id="780" name="Google Shape;780;p79"/>
          <p:cNvSpPr txBox="1"/>
          <p:nvPr/>
        </p:nvSpPr>
        <p:spPr>
          <a:xfrm>
            <a:off x="3344577" y="4750221"/>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81" name="Google Shape;781;p79"/>
          <p:cNvSpPr/>
          <p:nvPr/>
        </p:nvSpPr>
        <p:spPr>
          <a:xfrm>
            <a:off x="697756" y="5408226"/>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are you learning about math from listening to different ideas and reasoning?</a:t>
            </a:r>
            <a:endParaRPr b="0" i="0" sz="1400" u="none" cap="none" strike="noStrike">
              <a:solidFill>
                <a:srgbClr val="000000"/>
              </a:solidFill>
              <a:latin typeface="Arial"/>
              <a:ea typeface="Arial"/>
              <a:cs typeface="Arial"/>
              <a:sym typeface="Arial"/>
            </a:endParaRPr>
          </a:p>
        </p:txBody>
      </p:sp>
      <p:sp>
        <p:nvSpPr>
          <p:cNvPr id="7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45</a:t>
            </a:r>
          </a:p>
        </p:txBody>
      </p:sp>
      <p:grpSp>
        <p:nvGrpSpPr>
          <p:cNvPr id="783" name="TEACH-3-student-move" descr="TEACH 3 · Use intentional questioning to deepen learning"/>
          <p:cNvGrpSpPr/>
          <p:nvPr/>
        </p:nvGrpSpPr>
        <p:grpSpPr>
          <a:xfrm>
            <a:off x="6187440" y="4731570"/>
            <a:ext cx="5501640" cy="594360"/>
            <a:chOff x="6187440" y="4731570"/>
            <a:chExt cx="5501640" cy="594360"/>
          </a:xfrm>
        </p:grpSpPr>
        <p:sp>
          <p:nvSpPr>
            <p:cNvPr id="784" name="TEACH-move-card"/>
            <p:cNvSpPr/>
            <p:nvPr/>
          </p:nvSpPr>
          <p:spPr>
            <a:xfrm>
              <a:off x="6187440" y="4731570"/>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85" name="TEACH-move-rule"/>
            <p:cNvSpPr/>
            <p:nvPr/>
          </p:nvSpPr>
          <p:spPr>
            <a:xfrm>
              <a:off x="6233160" y="4844498"/>
              <a:ext cx="100584" cy="368504"/>
            </a:xfrm>
            <a:prstGeom prst="roundRect">
              <a:avLst>
                <a:gd name="adj" fmla="val 50000"/>
              </a:avLst>
            </a:prstGeom>
            <a:solidFill>
              <a:srgbClr val="01708C"/>
            </a:solidFill>
            <a:ln>
              <a:noFill/>
            </a:ln>
          </p:spPr>
          <p:txBody>
            <a:bodyPr/>
            <a:lstStyle/>
            <a:p>
              <a:endParaRPr/>
            </a:p>
          </p:txBody>
        </p:sp>
        <p:sp>
          <p:nvSpPr>
            <p:cNvPr id="786" name="TEACH-move-text"/>
            <p:cNvSpPr txBox="1"/>
            <p:nvPr/>
          </p:nvSpPr>
          <p:spPr>
            <a:xfrm>
              <a:off x="6507480" y="4731570"/>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cxnSp>
        <p:nvCxnSpPr>
          <p:cNvPr id="804" name="Google Shape;804;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5" name="Google Shape;805;p82"/>
          <p:cNvSpPr txBox="1"/>
          <p:nvPr/>
        </p:nvSpPr>
        <p:spPr>
          <a:xfrm>
            <a:off x="484565" y="832134"/>
            <a:ext cx="9586361" cy="26423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Sofia tracks the number of points she scores in each basketball game she plays in. She wants to end the season with a mean of 15 points per game. How many points does she need to score in the last game to hit her goal?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p:txBody>
      </p:sp>
      <p:sp>
        <p:nvSpPr>
          <p:cNvPr id="806" name="Google Shape;806;p82"/>
          <p:cNvSpPr/>
          <p:nvPr/>
        </p:nvSpPr>
        <p:spPr>
          <a:xfrm>
            <a:off x="484565" y="4078380"/>
            <a:ext cx="906026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What does it mean for Sofia to hit her target mean?</a:t>
            </a:r>
            <a:endParaRPr b="0" i="0" sz="1400" u="none" cap="none" strike="noStrike">
              <a:solidFill>
                <a:srgbClr val="000000"/>
              </a:solidFill>
              <a:latin typeface="Arial"/>
              <a:ea typeface="Arial"/>
              <a:cs typeface="Arial"/>
              <a:sym typeface="Arial"/>
            </a:endParaRPr>
          </a:p>
        </p:txBody>
      </p:sp>
      <p:sp>
        <p:nvSpPr>
          <p:cNvPr id="807" name="Google Shape;807;p82"/>
          <p:cNvSpPr txBox="1"/>
          <p:nvPr/>
        </p:nvSpPr>
        <p:spPr>
          <a:xfrm>
            <a:off x="484564" y="4809170"/>
            <a:ext cx="9060267"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It means that her average number of points scored each game will be 15.</a:t>
            </a:r>
            <a:endParaRPr b="0" i="0" sz="1400" u="none" cap="none" strike="noStrike">
              <a:solidFill>
                <a:srgbClr val="000000"/>
              </a:solidFill>
              <a:latin typeface="Arial"/>
              <a:ea typeface="Arial"/>
              <a:cs typeface="Arial"/>
              <a:sym typeface="Arial"/>
            </a:endParaRPr>
          </a:p>
        </p:txBody>
      </p:sp>
      <p:graphicFrame>
        <p:nvGraphicFramePr>
          <p:cNvPr id="808" name="Google Shape;808;p82"/>
          <p:cNvGraphicFramePr/>
          <p:nvPr/>
        </p:nvGraphicFramePr>
        <p:xfrm>
          <a:off x="628842" y="2765802"/>
          <a:ext cx="3000000" cy="3000000"/>
        </p:xfrm>
        <a:graphic>
          <a:graphicData uri="http://schemas.openxmlformats.org/drawingml/2006/table">
            <a:tbl>
              <a:tblPr bandRow="1" firstRow="1">
                <a:noFill/>
                <a:tableStyleId>{D04C960C-0420-4497-AB46-4FAE7A2F2F17}</a:tableStyleId>
              </a:tblPr>
              <a:tblGrid>
                <a:gridCol w="1951525"/>
                <a:gridCol w="801050"/>
                <a:gridCol w="801050"/>
                <a:gridCol w="801050"/>
                <a:gridCol w="801050"/>
                <a:gridCol w="801050"/>
                <a:gridCol w="801050"/>
                <a:gridCol w="801050"/>
                <a:gridCol w="801050"/>
                <a:gridCol w="801050"/>
                <a:gridCol w="801050"/>
              </a:tblGrid>
              <a:tr h="401875">
                <a:tc gridSpan="11">
                  <a:txBody>
                    <a:bodyPr/>
                    <a:lstStyle/>
                    <a:p>
                      <a:pPr indent="0" lvl="0" marL="0" marR="0" rtl="0" algn="l">
                        <a:lnSpc>
                          <a:spcPct val="100000"/>
                        </a:lnSpc>
                        <a:spcBef>
                          <a:spcPts val="0"/>
                        </a:spcBef>
                        <a:spcAft>
                          <a:spcPts val="0"/>
                        </a:spcAft>
                        <a:buClr>
                          <a:schemeClr val="dk1"/>
                        </a:buClr>
                        <a:buSzPts val="1800"/>
                        <a:buFont typeface="Arial"/>
                        <a:buNone/>
                      </a:pPr>
                      <a:r>
                        <a:rPr b="1" lang="en-US" sz="1800" u="none" cap="none" strike="noStrike">
                          <a:solidFill>
                            <a:schemeClr val="dk1"/>
                          </a:solidFill>
                          <a:latin typeface="Arial"/>
                          <a:ea typeface="Arial"/>
                          <a:cs typeface="Arial"/>
                          <a:sym typeface="Arial"/>
                        </a:rPr>
                        <a:t>Basketball Season</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c hMerge="1"/>
                <a:tc hMerge="1"/>
                <a:tc hMerge="1"/>
                <a:tc hMerge="1"/>
                <a:tc hMerge="1"/>
                <a:tc hMerge="1"/>
              </a:tr>
              <a:tr h="4018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Game</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3</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9</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4018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Points Scored</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Arial"/>
                          <a:ea typeface="Arial"/>
                          <a:cs typeface="Arial"/>
                          <a:sym typeface="Arial"/>
                        </a:rPr>
                        <a:t>p</a:t>
                      </a:r>
                      <a:endParaRPr b="0" i="1"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bl>
          </a:graphicData>
        </a:graphic>
      </p:graphicFrame>
      <p:sp>
        <p:nvSpPr>
          <p:cNvPr id="8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45</a:t>
            </a:r>
          </a:p>
        </p:txBody>
      </p:sp>
      <p:sp>
        <p:nvSpPr>
          <p:cNvPr id="810" name="EWL-COVER-1"/>
          <p:cNvSpPr/>
          <p:nvPr/>
        </p:nvSpPr>
        <p:spPr>
          <a:xfrm>
            <a:off x="429700" y="4754306"/>
            <a:ext cx="9169995" cy="1659768"/>
          </a:xfrm>
          <a:prstGeom prst="rect">
            <a:avLst/>
          </a:prstGeom>
          <a:solidFill>
            <a:srgbClr val="FFFFFF"/>
          </a:solidFill>
          <a:ln>
            <a:noFill/>
          </a:ln>
        </p:spPr>
        <p:txBody>
          <a:bodyPr/>
          <a:lstStyle/>
          <a:p/>
        </p:txBody>
      </p:sp>
      <p:grpSp>
        <p:nvGrpSpPr>
          <p:cNvPr id="811" name="TEACH-4-student-move" descr="TEACH 4 · Monitor progress and provide feedback"/>
          <p:cNvGrpSpPr/>
          <p:nvPr/>
        </p:nvGrpSpPr>
        <p:grpSpPr>
          <a:xfrm>
            <a:off x="6187440" y="2763168"/>
            <a:ext cx="5501640" cy="402336"/>
            <a:chOff x="6187440" y="3639468"/>
            <a:chExt cx="5501640" cy="402336"/>
          </a:xfrm>
        </p:grpSpPr>
        <p:sp>
          <p:nvSpPr>
            <p:cNvPr id="812" name="TEACH-move-card"/>
            <p:cNvSpPr/>
            <p:nvPr/>
          </p:nvSpPr>
          <p:spPr>
            <a:xfrm>
              <a:off x="6187440" y="3639468"/>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813" name="TEACH-move-rule"/>
            <p:cNvSpPr/>
            <p:nvPr/>
          </p:nvSpPr>
          <p:spPr>
            <a:xfrm>
              <a:off x="6233160" y="3715912"/>
              <a:ext cx="100584" cy="249448"/>
            </a:xfrm>
            <a:prstGeom prst="roundRect">
              <a:avLst>
                <a:gd name="adj" fmla="val 50000"/>
              </a:avLst>
            </a:prstGeom>
            <a:solidFill>
              <a:srgbClr val="01708C"/>
            </a:solidFill>
            <a:ln>
              <a:noFill/>
            </a:ln>
          </p:spPr>
          <p:txBody>
            <a:bodyPr/>
            <a:lstStyle/>
            <a:p>
              <a:endParaRPr/>
            </a:p>
          </p:txBody>
        </p:sp>
        <p:sp>
          <p:nvSpPr>
            <p:cNvPr id="814" name="TEACH-move-text"/>
            <p:cNvSpPr txBox="1"/>
            <p:nvPr/>
          </p:nvSpPr>
          <p:spPr>
            <a:xfrm>
              <a:off x="6507480" y="3639468"/>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cxnSp>
        <p:nvCxnSpPr>
          <p:cNvPr id="839" name="Google Shape;839;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0" name="Google Shape;840;p86"/>
          <p:cNvSpPr txBox="1"/>
          <p:nvPr/>
        </p:nvSpPr>
        <p:spPr>
          <a:xfrm>
            <a:off x="484565" y="470274"/>
            <a:ext cx="6379698" cy="31171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target mean, 15, is the balance point of the data 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sp>
        <p:nvSpPr>
          <p:cNvPr id="841" name="Google Shape;841;p86"/>
          <p:cNvSpPr txBox="1"/>
          <p:nvPr/>
        </p:nvSpPr>
        <p:spPr>
          <a:xfrm>
            <a:off x="487441" y="5205767"/>
            <a:ext cx="8183758" cy="11665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 xml:space="preserve">What does it mean for something to be balanced? </a:t>
            </a:r>
            <a:endParaRPr b="0" i="0" sz="1400" u="none" cap="none" strike="noStrike">
              <a:solidFill>
                <a:srgbClr val="000000"/>
              </a:solidFill>
              <a:latin typeface="Arial"/>
              <a:ea typeface="Arial"/>
              <a:cs typeface="Arial"/>
              <a:sym typeface="Arial"/>
            </a:endParaRPr>
          </a:p>
        </p:txBody>
      </p:sp>
      <p:graphicFrame>
        <p:nvGraphicFramePr>
          <p:cNvPr id="842" name="Google Shape;842;p86"/>
          <p:cNvGraphicFramePr/>
          <p:nvPr/>
        </p:nvGraphicFramePr>
        <p:xfrm>
          <a:off x="628838" y="1686795"/>
          <a:ext cx="3000000" cy="3000000"/>
        </p:xfrm>
        <a:graphic>
          <a:graphicData uri="http://schemas.openxmlformats.org/drawingml/2006/table">
            <a:tbl>
              <a:tblPr bandRow="1" firstRow="1">
                <a:noFill/>
                <a:tableStyleId>{D04C960C-0420-4497-AB46-4FAE7A2F2F17}</a:tableStyleId>
              </a:tblPr>
              <a:tblGrid>
                <a:gridCol w="1951525"/>
                <a:gridCol w="801050"/>
                <a:gridCol w="801050"/>
                <a:gridCol w="801050"/>
                <a:gridCol w="801050"/>
                <a:gridCol w="801050"/>
                <a:gridCol w="801050"/>
                <a:gridCol w="801050"/>
                <a:gridCol w="801050"/>
                <a:gridCol w="801050"/>
                <a:gridCol w="801050"/>
              </a:tblGrid>
              <a:tr h="401875">
                <a:tc gridSpan="11">
                  <a:txBody>
                    <a:bodyPr/>
                    <a:lstStyle/>
                    <a:p>
                      <a:pPr indent="0" lvl="0" marL="0" marR="0" rtl="0" algn="l">
                        <a:lnSpc>
                          <a:spcPct val="100000"/>
                        </a:lnSpc>
                        <a:spcBef>
                          <a:spcPts val="0"/>
                        </a:spcBef>
                        <a:spcAft>
                          <a:spcPts val="0"/>
                        </a:spcAft>
                        <a:buClr>
                          <a:schemeClr val="dk1"/>
                        </a:buClr>
                        <a:buSzPts val="1800"/>
                        <a:buFont typeface="Arial"/>
                        <a:buNone/>
                      </a:pPr>
                      <a:r>
                        <a:rPr b="1" lang="en-US" sz="1800" u="none" cap="none" strike="noStrike">
                          <a:solidFill>
                            <a:schemeClr val="dk1"/>
                          </a:solidFill>
                          <a:latin typeface="Arial"/>
                          <a:ea typeface="Arial"/>
                          <a:cs typeface="Arial"/>
                          <a:sym typeface="Arial"/>
                        </a:rPr>
                        <a:t>Basketball Season</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c hMerge="1"/>
                <a:tc hMerge="1"/>
                <a:tc hMerge="1"/>
                <a:tc hMerge="1"/>
                <a:tc hMerge="1"/>
                <a:tc hMerge="1"/>
              </a:tr>
              <a:tr h="4018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Game</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3</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9</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4018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Points Scored</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Arial"/>
                          <a:ea typeface="Arial"/>
                          <a:cs typeface="Arial"/>
                          <a:sym typeface="Arial"/>
                        </a:rPr>
                        <a:t>p</a:t>
                      </a:r>
                      <a:endParaRPr b="0" i="1"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4018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Target Mean</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15</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bl>
          </a:graphicData>
        </a:graphic>
      </p:graphicFrame>
      <p:sp>
        <p:nvSpPr>
          <p:cNvPr id="8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45</a:t>
            </a:r>
          </a:p>
        </p:txBody>
      </p:sp>
      <p:sp xmlns:p="http://schemas.openxmlformats.org/presentationml/2006/main" xmlns:a="http://schemas.openxmlformats.org/drawingml/2006/main">
        <p:nvSpPr>
          <p:cNvPr id="844" name="TEACH-embedded-student-prompt" descr="Student thinking and response directions"/>
          <p:cNvSpPr txBox="1"/>
          <p:nvPr/>
        </p:nvSpPr>
        <p:spPr>
          <a:xfrm>
            <a:off x="4099560" y="43159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cxnSp>
        <p:nvCxnSpPr>
          <p:cNvPr id="906" name="Google Shape;906;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7" name="Google Shape;907;p93"/>
          <p:cNvSpPr txBox="1"/>
          <p:nvPr/>
        </p:nvSpPr>
        <p:spPr>
          <a:xfrm>
            <a:off x="549345" y="552296"/>
            <a:ext cx="7369203" cy="141144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total number of points below the target mean is 2 more than the number of points above the target mean.</a:t>
            </a:r>
            <a:endParaRPr b="0" i="0" sz="1400" u="none" cap="none" strike="noStrike">
              <a:solidFill>
                <a:srgbClr val="000000"/>
              </a:solidFill>
              <a:latin typeface="Arial"/>
              <a:ea typeface="Arial"/>
              <a:cs typeface="Arial"/>
              <a:sym typeface="Arial"/>
            </a:endParaRPr>
          </a:p>
        </p:txBody>
      </p:sp>
      <p:sp>
        <p:nvSpPr>
          <p:cNvPr id="908" name="Google Shape;908;p93"/>
          <p:cNvSpPr/>
          <p:nvPr/>
        </p:nvSpPr>
        <p:spPr>
          <a:xfrm>
            <a:off x="549345" y="3289506"/>
            <a:ext cx="7595951"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What must be true about the score in the 10</a:t>
            </a:r>
            <a:r>
              <a:rPr b="1" baseline="30000" i="0" lang="en-US" sz="2800" u="none" cap="none" strike="noStrike">
                <a:solidFill>
                  <a:srgbClr val="23282D"/>
                </a:solidFill>
                <a:latin typeface="Arial"/>
                <a:ea typeface="Arial"/>
                <a:cs typeface="Arial"/>
                <a:sym typeface="Arial"/>
              </a:rPr>
              <a:t>th</a:t>
            </a:r>
            <a:r>
              <a:rPr b="1" i="0" lang="en-US" sz="2800" u="none" cap="none" strike="noStrike">
                <a:solidFill>
                  <a:srgbClr val="23282D"/>
                </a:solidFill>
                <a:latin typeface="Arial"/>
                <a:ea typeface="Arial"/>
                <a:cs typeface="Arial"/>
                <a:sym typeface="Arial"/>
              </a:rPr>
              <a:t xml:space="preserve"> game for Sofia to balance the total points above and total points below?</a:t>
            </a:r>
            <a:endParaRPr b="0" i="0" sz="1400" u="none" cap="none" strike="noStrike">
              <a:solidFill>
                <a:srgbClr val="000000"/>
              </a:solidFill>
              <a:latin typeface="Arial"/>
              <a:ea typeface="Arial"/>
              <a:cs typeface="Arial"/>
              <a:sym typeface="Arial"/>
            </a:endParaRPr>
          </a:p>
        </p:txBody>
      </p:sp>
      <p:sp>
        <p:nvSpPr>
          <p:cNvPr id="909" name="Google Shape;909;p93"/>
          <p:cNvSpPr/>
          <p:nvPr/>
        </p:nvSpPr>
        <p:spPr>
          <a:xfrm>
            <a:off x="549345" y="2072679"/>
            <a:ext cx="310373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total points above:</a:t>
            </a:r>
            <a:endParaRPr b="0" i="0" sz="1400" u="none" cap="none" strike="noStrike">
              <a:solidFill>
                <a:srgbClr val="000000"/>
              </a:solidFill>
              <a:latin typeface="Arial"/>
              <a:ea typeface="Arial"/>
              <a:cs typeface="Arial"/>
              <a:sym typeface="Arial"/>
            </a:endParaRPr>
          </a:p>
        </p:txBody>
      </p:sp>
      <p:sp>
        <p:nvSpPr>
          <p:cNvPr id="910" name="Google Shape;910;p93"/>
          <p:cNvSpPr/>
          <p:nvPr/>
        </p:nvSpPr>
        <p:spPr>
          <a:xfrm>
            <a:off x="4919669" y="2065239"/>
            <a:ext cx="3063659"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total points below:</a:t>
            </a:r>
            <a:endParaRPr b="0" i="0" sz="1400" u="none" cap="none" strike="noStrike">
              <a:solidFill>
                <a:srgbClr val="000000"/>
              </a:solidFill>
              <a:latin typeface="Arial"/>
              <a:ea typeface="Arial"/>
              <a:cs typeface="Arial"/>
              <a:sym typeface="Arial"/>
            </a:endParaRPr>
          </a:p>
        </p:txBody>
      </p:sp>
      <p:sp>
        <p:nvSpPr>
          <p:cNvPr id="911" name="Google Shape;911;p93"/>
          <p:cNvSpPr/>
          <p:nvPr/>
        </p:nvSpPr>
        <p:spPr>
          <a:xfrm>
            <a:off x="610292" y="2602573"/>
            <a:ext cx="3225627"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12" name="Google Shape;912;p93"/>
          <p:cNvSpPr/>
          <p:nvPr/>
        </p:nvSpPr>
        <p:spPr>
          <a:xfrm>
            <a:off x="4919669" y="2600985"/>
            <a:ext cx="3225627"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13" name="Google Shape;913;p93"/>
          <p:cNvSpPr txBox="1"/>
          <p:nvPr/>
        </p:nvSpPr>
        <p:spPr>
          <a:xfrm>
            <a:off x="549345" y="5001928"/>
            <a:ext cx="9410998" cy="1631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score must be two above the target mean to balance.</a:t>
            </a:r>
            <a:endParaRPr b="0" i="0" sz="1400" u="none" cap="none" strike="noStrike">
              <a:solidFill>
                <a:srgbClr val="000000"/>
              </a:solidFill>
              <a:latin typeface="Arial"/>
              <a:ea typeface="Arial"/>
              <a:cs typeface="Arial"/>
              <a:sym typeface="Arial"/>
            </a:endParaRPr>
          </a:p>
        </p:txBody>
      </p:sp>
      <p:sp>
        <p:nvSpPr>
          <p:cNvPr id="9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45</a:t>
            </a:r>
          </a:p>
        </p:txBody>
      </p:sp>
      <p:sp>
        <p:nvSpPr>
          <p:cNvPr id="915" name="EWL-COVER-1"/>
          <p:cNvSpPr/>
          <p:nvPr/>
        </p:nvSpPr>
        <p:spPr>
          <a:xfrm>
            <a:off x="494481" y="4947064"/>
            <a:ext cx="9520726" cy="149945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cxnSp>
        <p:nvCxnSpPr>
          <p:cNvPr id="975" name="Google Shape;975;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6" name="Google Shape;976;p100"/>
          <p:cNvSpPr txBox="1"/>
          <p:nvPr/>
        </p:nvSpPr>
        <p:spPr>
          <a:xfrm>
            <a:off x="484566" y="562708"/>
            <a:ext cx="7398768" cy="1648839"/>
          </a:xfrm>
          <a:prstGeom prst="rect">
            <a:avLst/>
          </a:prstGeom>
          <a:blipFill rotWithShape="1">
            <a:blip r:embed="rId3">
              <a:alphaModFix/>
            </a:blip>
            <a:stretch>
              <a:fillRect b="-7011" l="-1647" r="-2059"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7" name="Google Shape;977;p100"/>
          <p:cNvSpPr txBox="1"/>
          <p:nvPr/>
        </p:nvSpPr>
        <p:spPr>
          <a:xfrm>
            <a:off x="484566" y="3887898"/>
            <a:ext cx="9279493" cy="94853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 xml:space="preserve">How can you compare the number of points Sofia needs to the number of points Sofia currently has? </a:t>
            </a:r>
            <a:endParaRPr b="0" i="0" sz="1400" u="none" cap="none" strike="noStrike">
              <a:solidFill>
                <a:srgbClr val="000000"/>
              </a:solidFill>
              <a:latin typeface="Arial"/>
              <a:ea typeface="Arial"/>
              <a:cs typeface="Arial"/>
              <a:sym typeface="Arial"/>
            </a:endParaRPr>
          </a:p>
        </p:txBody>
      </p:sp>
      <p:sp>
        <p:nvSpPr>
          <p:cNvPr id="978" name="Google Shape;978;p100"/>
          <p:cNvSpPr txBox="1"/>
          <p:nvPr/>
        </p:nvSpPr>
        <p:spPr>
          <a:xfrm>
            <a:off x="572248" y="4836432"/>
            <a:ext cx="8762348" cy="18936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find the total number of points scored and subtract the sum from the number of points needed.</a:t>
            </a:r>
            <a:endParaRPr b="0" i="0" sz="1400" u="none" cap="none" strike="noStrike">
              <a:solidFill>
                <a:srgbClr val="000000"/>
              </a:solidFill>
              <a:latin typeface="Arial"/>
              <a:ea typeface="Arial"/>
              <a:cs typeface="Arial"/>
              <a:sym typeface="Arial"/>
            </a:endParaRPr>
          </a:p>
        </p:txBody>
      </p:sp>
      <p:graphicFrame>
        <p:nvGraphicFramePr>
          <p:cNvPr id="979" name="Google Shape;979;p100"/>
          <p:cNvGraphicFramePr/>
          <p:nvPr/>
        </p:nvGraphicFramePr>
        <p:xfrm>
          <a:off x="628838" y="2225413"/>
          <a:ext cx="3000000" cy="3000000"/>
        </p:xfrm>
        <a:graphic>
          <a:graphicData uri="http://schemas.openxmlformats.org/drawingml/2006/table">
            <a:tbl>
              <a:tblPr bandRow="1" firstRow="1">
                <a:noFill/>
                <a:tableStyleId>{D04C960C-0420-4497-AB46-4FAE7A2F2F17}</a:tableStyleId>
              </a:tblPr>
              <a:tblGrid>
                <a:gridCol w="1951525"/>
                <a:gridCol w="801050"/>
                <a:gridCol w="801050"/>
                <a:gridCol w="801050"/>
                <a:gridCol w="801050"/>
                <a:gridCol w="801050"/>
                <a:gridCol w="801050"/>
                <a:gridCol w="801050"/>
                <a:gridCol w="801050"/>
                <a:gridCol w="801050"/>
                <a:gridCol w="801050"/>
              </a:tblGrid>
              <a:tr h="401875">
                <a:tc gridSpan="11">
                  <a:txBody>
                    <a:bodyPr/>
                    <a:lstStyle/>
                    <a:p>
                      <a:pPr indent="0" lvl="0" marL="0" marR="0" rtl="0" algn="l">
                        <a:lnSpc>
                          <a:spcPct val="100000"/>
                        </a:lnSpc>
                        <a:spcBef>
                          <a:spcPts val="0"/>
                        </a:spcBef>
                        <a:spcAft>
                          <a:spcPts val="0"/>
                        </a:spcAft>
                        <a:buClr>
                          <a:schemeClr val="dk1"/>
                        </a:buClr>
                        <a:buSzPts val="1800"/>
                        <a:buFont typeface="Arial"/>
                        <a:buNone/>
                      </a:pPr>
                      <a:r>
                        <a:rPr b="1" lang="en-US" sz="1800" u="none" cap="none" strike="noStrike">
                          <a:solidFill>
                            <a:schemeClr val="dk1"/>
                          </a:solidFill>
                          <a:latin typeface="Arial"/>
                          <a:ea typeface="Arial"/>
                          <a:cs typeface="Arial"/>
                          <a:sym typeface="Arial"/>
                        </a:rPr>
                        <a:t>Basketball Season</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c hMerge="1"/>
                <a:tc hMerge="1"/>
                <a:tc hMerge="1"/>
                <a:tc hMerge="1"/>
                <a:tc hMerge="1"/>
                <a:tc hMerge="1"/>
              </a:tr>
              <a:tr h="4018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Game</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3</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9</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4018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Points Scored</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Arial"/>
                          <a:ea typeface="Arial"/>
                          <a:cs typeface="Arial"/>
                          <a:sym typeface="Arial"/>
                        </a:rPr>
                        <a:t>p</a:t>
                      </a:r>
                      <a:endParaRPr b="0" i="1"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4018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Target Mean</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15</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bl>
          </a:graphicData>
        </a:graphic>
      </p:graphicFrame>
      <p:sp>
        <p:nvSpPr>
          <p:cNvPr id="9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45</a:t>
            </a:r>
          </a:p>
        </p:txBody>
      </p:sp>
      <p:sp>
        <p:nvSpPr>
          <p:cNvPr id="981" name="EWL-COVER-1"/>
          <p:cNvSpPr/>
          <p:nvPr/>
        </p:nvSpPr>
        <p:spPr>
          <a:xfrm>
            <a:off x="517384" y="4781568"/>
            <a:ext cx="8872076" cy="1664952"/>
          </a:xfrm>
          <a:prstGeom prst="rect">
            <a:avLst/>
          </a:prstGeom>
          <a:solidFill>
            <a:srgbClr val="FFFFFF"/>
          </a:solidFill>
          <a:ln>
            <a:noFill/>
          </a:ln>
        </p:spPr>
        <p:txBody>
          <a:bodyPr/>
          <a:lstStyle/>
          <a:p/>
        </p:txBody>
      </p:sp>
      <p:grpSp>
        <p:nvGrpSpPr>
          <p:cNvPr id="982" name="TEACH-2-student-move" descr="TEACH 2 · Use strategies and tasks to engage students in rigorous work"/>
          <p:cNvGrpSpPr/>
          <p:nvPr/>
        </p:nvGrpSpPr>
        <p:grpSpPr>
          <a:xfrm>
            <a:off x="6187440" y="2030142"/>
            <a:ext cx="5501640" cy="594360"/>
            <a:chOff x="6187440" y="3211242"/>
            <a:chExt cx="5501640" cy="594360"/>
          </a:xfrm>
        </p:grpSpPr>
        <p:sp>
          <p:nvSpPr>
            <p:cNvPr id="983" name="TEACH-move-card"/>
            <p:cNvSpPr/>
            <p:nvPr/>
          </p:nvSpPr>
          <p:spPr>
            <a:xfrm>
              <a:off x="6187440" y="3211242"/>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84" name="TEACH-move-rule"/>
            <p:cNvSpPr/>
            <p:nvPr/>
          </p:nvSpPr>
          <p:spPr>
            <a:xfrm>
              <a:off x="6233160" y="3324170"/>
              <a:ext cx="100584" cy="368504"/>
            </a:xfrm>
            <a:prstGeom prst="roundRect">
              <a:avLst>
                <a:gd name="adj" fmla="val 50000"/>
              </a:avLst>
            </a:prstGeom>
            <a:solidFill>
              <a:srgbClr val="01708C"/>
            </a:solidFill>
            <a:ln>
              <a:noFill/>
            </a:ln>
          </p:spPr>
          <p:txBody>
            <a:bodyPr/>
            <a:lstStyle/>
            <a:p>
              <a:endParaRPr/>
            </a:p>
          </p:txBody>
        </p:sp>
        <p:sp>
          <p:nvSpPr>
            <p:cNvPr id="985" name="TEACH-move-text"/>
            <p:cNvSpPr txBox="1"/>
            <p:nvPr/>
          </p:nvSpPr>
          <p:spPr>
            <a:xfrm>
              <a:off x="6507480" y="3211242"/>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8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0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18" name="Google Shape;1018;p104"/>
          <p:cNvSpPr txBox="1"/>
          <p:nvPr/>
        </p:nvSpPr>
        <p:spPr>
          <a:xfrm>
            <a:off x="567558" y="2250419"/>
            <a:ext cx="6769927" cy="17189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Sofia realized that she had an error and had scored 12 points in Game 8. How does that change the number of points she needs to score in Game 10?</a:t>
            </a:r>
            <a:endParaRPr b="0" i="0" sz="1400" u="none" cap="none" strike="noStrike">
              <a:solidFill>
                <a:srgbClr val="000000"/>
              </a:solidFill>
              <a:latin typeface="Arial"/>
              <a:ea typeface="Arial"/>
              <a:cs typeface="Arial"/>
              <a:sym typeface="Arial"/>
            </a:endParaRPr>
          </a:p>
        </p:txBody>
      </p:sp>
      <p:sp>
        <p:nvSpPr>
          <p:cNvPr id="1019" name="Google Shape;1019;p104"/>
          <p:cNvSpPr txBox="1"/>
          <p:nvPr/>
        </p:nvSpPr>
        <p:spPr>
          <a:xfrm>
            <a:off x="5985846" y="586020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20" name="Google Shape;1020;p104"/>
          <p:cNvSpPr/>
          <p:nvPr/>
        </p:nvSpPr>
        <p:spPr>
          <a:xfrm>
            <a:off x="567559" y="4044462"/>
            <a:ext cx="6769926" cy="2273345"/>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graphicFrame>
        <p:nvGraphicFramePr>
          <p:cNvPr id="1021" name="Google Shape;1021;p104"/>
          <p:cNvGraphicFramePr/>
          <p:nvPr/>
        </p:nvGraphicFramePr>
        <p:xfrm>
          <a:off x="567559" y="995669"/>
          <a:ext cx="3000000" cy="3000000"/>
        </p:xfrm>
        <a:graphic>
          <a:graphicData uri="http://schemas.openxmlformats.org/drawingml/2006/table">
            <a:tbl>
              <a:tblPr bandRow="1" firstRow="1">
                <a:noFill/>
                <a:tableStyleId>{D04C960C-0420-4497-AB46-4FAE7A2F2F17}</a:tableStyleId>
              </a:tblPr>
              <a:tblGrid>
                <a:gridCol w="1783075"/>
                <a:gridCol w="500375"/>
                <a:gridCol w="500375"/>
                <a:gridCol w="500375"/>
                <a:gridCol w="483425"/>
                <a:gridCol w="500375"/>
                <a:gridCol w="500375"/>
                <a:gridCol w="500375"/>
                <a:gridCol w="500375"/>
                <a:gridCol w="500375"/>
                <a:gridCol w="500375"/>
              </a:tblGrid>
              <a:tr h="370850">
                <a:tc gridSpan="11">
                  <a:txBody>
                    <a:bodyPr/>
                    <a:lstStyle/>
                    <a:p>
                      <a:pPr indent="0" lvl="0" marL="0" marR="0" rtl="0" algn="l">
                        <a:lnSpc>
                          <a:spcPct val="100000"/>
                        </a:lnSpc>
                        <a:spcBef>
                          <a:spcPts val="0"/>
                        </a:spcBef>
                        <a:spcAft>
                          <a:spcPts val="0"/>
                        </a:spcAft>
                        <a:buClr>
                          <a:schemeClr val="dk1"/>
                        </a:buClr>
                        <a:buSzPts val="1800"/>
                        <a:buFont typeface="Arial"/>
                        <a:buNone/>
                      </a:pPr>
                      <a:r>
                        <a:rPr b="1" lang="en-US" sz="1800" u="none" cap="none" strike="noStrike">
                          <a:solidFill>
                            <a:schemeClr val="dk1"/>
                          </a:solidFill>
                          <a:latin typeface="Arial"/>
                          <a:ea typeface="Arial"/>
                          <a:cs typeface="Arial"/>
                          <a:sym typeface="Arial"/>
                        </a:rPr>
                        <a:t>Basketball Season</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c hMerge="1"/>
                <a:tc hMerge="1"/>
                <a:tc hMerge="1"/>
                <a:tc hMerge="1"/>
                <a:tc hMerge="1"/>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Game</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3</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9</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Points Scored</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Arial"/>
                          <a:ea typeface="Arial"/>
                          <a:cs typeface="Arial"/>
                          <a:sym typeface="Arial"/>
                        </a:rPr>
                        <a:t>p</a:t>
                      </a:r>
                      <a:endParaRPr b="0" i="1"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bl>
          </a:graphicData>
        </a:graphic>
      </p:graphicFrame>
      <p:sp>
        <p:nvSpPr>
          <p:cNvPr id="102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45</a:t>
            </a:r>
          </a:p>
        </p:txBody>
      </p:sp>
      <p:grpSp>
        <p:nvGrpSpPr>
          <p:cNvPr id="1023" name="TEACH-2-student-move" descr="TEACH 2 · Use strategies and tasks to engage students in rigorous work"/>
          <p:cNvGrpSpPr/>
          <p:nvPr/>
        </p:nvGrpSpPr>
        <p:grpSpPr>
          <a:xfrm>
            <a:off x="8278063" y="2184400"/>
            <a:ext cx="3411017" cy="1006577"/>
            <a:chOff x="6187440" y="1573763"/>
            <a:chExt cx="5501640" cy="594360"/>
          </a:xfrm>
        </p:grpSpPr>
        <p:sp>
          <p:nvSpPr>
            <p:cNvPr id="1024" name="TEACH-move-card"/>
            <p:cNvSpPr/>
            <p:nvPr/>
          </p:nvSpPr>
          <p:spPr>
            <a:xfrm>
              <a:off x="6187440" y="157376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25" name="TEACH-move-rule"/>
            <p:cNvSpPr/>
            <p:nvPr/>
          </p:nvSpPr>
          <p:spPr>
            <a:xfrm>
              <a:off x="6233160" y="1686691"/>
              <a:ext cx="100584" cy="368504"/>
            </a:xfrm>
            <a:prstGeom prst="roundRect">
              <a:avLst>
                <a:gd name="adj" fmla="val 50000"/>
              </a:avLst>
            </a:prstGeom>
            <a:solidFill>
              <a:srgbClr val="01708C"/>
            </a:solidFill>
            <a:ln>
              <a:noFill/>
            </a:ln>
          </p:spPr>
          <p:txBody>
            <a:bodyPr/>
            <a:lstStyle/>
            <a:p>
              <a:endParaRPr/>
            </a:p>
          </p:txBody>
        </p:sp>
        <p:sp>
          <p:nvSpPr>
            <p:cNvPr id="1026" name="TEACH-move-text"/>
            <p:cNvSpPr txBox="1"/>
            <p:nvPr/>
          </p:nvSpPr>
          <p:spPr>
            <a:xfrm>
              <a:off x="6507480" y="157376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2.8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dividing by the wrong number of observations.</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Organize the given values as a sum and mark the number of observations.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22" name="Google Shape;822;p84"/>
          <p:cNvSpPr txBox="1"/>
          <p:nvPr/>
        </p:nvSpPr>
        <p:spPr>
          <a:xfrm>
            <a:off x="528630" y="4429524"/>
            <a:ext cx="10745323" cy="1799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For some games, Sofia scored below the target mean. For others, she scored above the target mean. In game 7, she scored her target mean of 15 points.</a:t>
            </a:r>
            <a:endParaRPr b="0" i="0" sz="1400" u="none" cap="none" strike="noStrike">
              <a:solidFill>
                <a:srgbClr val="000000"/>
              </a:solidFill>
              <a:latin typeface="Arial"/>
              <a:ea typeface="Arial"/>
              <a:cs typeface="Arial"/>
              <a:sym typeface="Arial"/>
            </a:endParaRPr>
          </a:p>
        </p:txBody>
      </p:sp>
      <p:cxnSp>
        <p:nvCxnSpPr>
          <p:cNvPr id="823" name="Google Shape;823;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4" name="Google Shape;824;p84"/>
          <p:cNvSpPr txBox="1"/>
          <p:nvPr/>
        </p:nvSpPr>
        <p:spPr>
          <a:xfrm>
            <a:off x="528630" y="472301"/>
            <a:ext cx="6786880" cy="106854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Sofia wants to average 15 points for each of the 10 games.</a:t>
            </a:r>
            <a:endParaRPr b="1" i="0" sz="2800" u="none" cap="none" strike="noStrike">
              <a:solidFill>
                <a:srgbClr val="262626"/>
              </a:solidFill>
              <a:latin typeface="Arial"/>
              <a:ea typeface="Arial"/>
              <a:cs typeface="Arial"/>
              <a:sym typeface="Arial"/>
            </a:endParaRPr>
          </a:p>
        </p:txBody>
      </p:sp>
      <p:sp>
        <p:nvSpPr>
          <p:cNvPr id="825" name="Google Shape;825;p84"/>
          <p:cNvSpPr txBox="1"/>
          <p:nvPr/>
        </p:nvSpPr>
        <p:spPr>
          <a:xfrm>
            <a:off x="528630" y="3429000"/>
            <a:ext cx="8753156" cy="12816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does the target mean compare to the actual points scored in each game?</a:t>
            </a:r>
            <a:endParaRPr b="0" i="0" sz="1400" u="none" cap="none" strike="noStrike">
              <a:solidFill>
                <a:srgbClr val="000000"/>
              </a:solidFill>
              <a:latin typeface="Arial"/>
              <a:ea typeface="Arial"/>
              <a:cs typeface="Arial"/>
              <a:sym typeface="Arial"/>
            </a:endParaRPr>
          </a:p>
        </p:txBody>
      </p:sp>
      <p:graphicFrame>
        <p:nvGraphicFramePr>
          <p:cNvPr id="826" name="Google Shape;826;p84"/>
          <p:cNvGraphicFramePr/>
          <p:nvPr/>
        </p:nvGraphicFramePr>
        <p:xfrm>
          <a:off x="628838" y="1686795"/>
          <a:ext cx="3000000" cy="3000000"/>
        </p:xfrm>
        <a:graphic>
          <a:graphicData uri="http://schemas.openxmlformats.org/drawingml/2006/table">
            <a:tbl>
              <a:tblPr bandRow="1" firstRow="1">
                <a:noFill/>
                <a:tableStyleId>{416C687D-27C7-4793-BF98-C328AA6DEDAB}</a:tableStyleId>
              </a:tblPr>
              <a:tblGrid>
                <a:gridCol w="1951525"/>
                <a:gridCol w="801050"/>
                <a:gridCol w="801050"/>
                <a:gridCol w="801050"/>
                <a:gridCol w="801050"/>
                <a:gridCol w="801050"/>
                <a:gridCol w="801050"/>
                <a:gridCol w="801050"/>
                <a:gridCol w="801050"/>
                <a:gridCol w="801050"/>
                <a:gridCol w="801050"/>
              </a:tblGrid>
              <a:tr h="401875">
                <a:tc gridSpan="11">
                  <a:txBody>
                    <a:bodyPr/>
                    <a:lstStyle/>
                    <a:p>
                      <a:pPr indent="0" lvl="0" marL="0" marR="0" rtl="0" algn="l">
                        <a:lnSpc>
                          <a:spcPct val="100000"/>
                        </a:lnSpc>
                        <a:spcBef>
                          <a:spcPts val="0"/>
                        </a:spcBef>
                        <a:spcAft>
                          <a:spcPts val="0"/>
                        </a:spcAft>
                        <a:buClr>
                          <a:schemeClr val="dk1"/>
                        </a:buClr>
                        <a:buSzPts val="1800"/>
                        <a:buFont typeface="Arial"/>
                        <a:buNone/>
                      </a:pPr>
                      <a:r>
                        <a:rPr b="1" lang="en-US" sz="1800" u="none" cap="none" strike="noStrike">
                          <a:solidFill>
                            <a:schemeClr val="dk1"/>
                          </a:solidFill>
                          <a:latin typeface="Arial"/>
                          <a:ea typeface="Arial"/>
                          <a:cs typeface="Arial"/>
                          <a:sym typeface="Arial"/>
                        </a:rPr>
                        <a:t>Basketball Season</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c hMerge="1"/>
                <a:tc hMerge="1"/>
                <a:tc hMerge="1"/>
                <a:tc hMerge="1"/>
                <a:tc hMerge="1"/>
                <a:tc hMerge="1"/>
              </a:tr>
              <a:tr h="4018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Game</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3</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9</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4018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Points Scored</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Arial"/>
                          <a:ea typeface="Arial"/>
                          <a:cs typeface="Arial"/>
                          <a:sym typeface="Arial"/>
                        </a:rPr>
                        <a:t>p</a:t>
                      </a:r>
                      <a:endParaRPr b="0" i="1"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4018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Target Mean</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15</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bl>
          </a:graphicData>
        </a:graphic>
      </p:graphicFrame>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45</a:t>
            </a:r>
          </a:p>
        </p:txBody>
      </p:sp>
      <p:grpSp>
        <p:nvGrpSpPr>
          <p:cNvPr id="827" name="TEACH-3-student-move" descr="TEACH 3 · Use intentional questioning to deepen learning"/>
          <p:cNvGrpSpPr/>
          <p:nvPr/>
        </p:nvGrpSpPr>
        <p:grpSpPr>
          <a:xfrm>
            <a:off x="6187440" y="3933444"/>
            <a:ext cx="5501640" cy="594360"/>
            <a:chOff x="6187440" y="2752344"/>
            <a:chExt cx="5501640" cy="594360"/>
          </a:xfrm>
        </p:grpSpPr>
        <p:sp>
          <p:nvSpPr>
            <p:cNvPr id="828" name="TEACH-move-card"/>
            <p:cNvSpPr/>
            <p:nvPr/>
          </p:nvSpPr>
          <p:spPr>
            <a:xfrm>
              <a:off x="6187440" y="275234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29" name="TEACH-move-rule"/>
            <p:cNvSpPr/>
            <p:nvPr/>
          </p:nvSpPr>
          <p:spPr>
            <a:xfrm>
              <a:off x="6233160" y="2865272"/>
              <a:ext cx="100584" cy="368504"/>
            </a:xfrm>
            <a:prstGeom prst="roundRect">
              <a:avLst>
                <a:gd name="adj" fmla="val 50000"/>
              </a:avLst>
            </a:prstGeom>
            <a:solidFill>
              <a:srgbClr val="01708C"/>
            </a:solidFill>
            <a:ln>
              <a:noFill/>
            </a:ln>
          </p:spPr>
          <p:txBody>
            <a:bodyPr/>
            <a:lstStyle/>
            <a:p>
              <a:endParaRPr/>
            </a:p>
          </p:txBody>
        </p:sp>
        <p:sp>
          <p:nvSpPr>
            <p:cNvPr id="830" name="TEACH-move-text"/>
            <p:cNvSpPr txBox="1"/>
            <p:nvPr/>
          </p:nvSpPr>
          <p:spPr>
            <a:xfrm>
              <a:off x="6507480" y="275234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86" name="Google Shape;886;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7" name="Google Shape;887;p91"/>
          <p:cNvSpPr txBox="1"/>
          <p:nvPr/>
        </p:nvSpPr>
        <p:spPr>
          <a:xfrm>
            <a:off x="642825" y="332109"/>
            <a:ext cx="5786839" cy="1839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do you notice about the total number of points above and the total number of points below the target mean?</a:t>
            </a:r>
            <a:endParaRPr b="0" i="0" sz="1400" u="none" cap="none" strike="noStrike">
              <a:solidFill>
                <a:srgbClr val="000000"/>
              </a:solidFill>
              <a:latin typeface="Arial"/>
              <a:ea typeface="Arial"/>
              <a:cs typeface="Arial"/>
              <a:sym typeface="Arial"/>
            </a:endParaRPr>
          </a:p>
        </p:txBody>
      </p:sp>
      <p:sp>
        <p:nvSpPr>
          <p:cNvPr id="888" name="Google Shape;888;p91"/>
          <p:cNvSpPr txBox="1"/>
          <p:nvPr/>
        </p:nvSpPr>
        <p:spPr>
          <a:xfrm>
            <a:off x="642825" y="4929386"/>
            <a:ext cx="7157089" cy="16249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total number of points below is 2 more than the number of points above.</a:t>
            </a:r>
            <a:endParaRPr b="0" i="0" sz="1400" u="none" cap="none" strike="noStrike">
              <a:solidFill>
                <a:srgbClr val="000000"/>
              </a:solidFill>
              <a:latin typeface="Arial"/>
              <a:ea typeface="Arial"/>
              <a:cs typeface="Arial"/>
              <a:sym typeface="Arial"/>
            </a:endParaRPr>
          </a:p>
        </p:txBody>
      </p:sp>
      <p:graphicFrame>
        <p:nvGraphicFramePr>
          <p:cNvPr id="889" name="Google Shape;889;p91"/>
          <p:cNvGraphicFramePr/>
          <p:nvPr/>
        </p:nvGraphicFramePr>
        <p:xfrm>
          <a:off x="642825" y="2352723"/>
          <a:ext cx="3000000" cy="3000000"/>
        </p:xfrm>
        <a:graphic>
          <a:graphicData uri="http://schemas.openxmlformats.org/drawingml/2006/table">
            <a:tbl>
              <a:tblPr bandRow="1" firstRow="1">
                <a:noFill/>
                <a:tableStyleId>{416C687D-27C7-4793-BF98-C328AA6DEDAB}</a:tableStyleId>
              </a:tblPr>
              <a:tblGrid>
                <a:gridCol w="1959700"/>
                <a:gridCol w="843275"/>
                <a:gridCol w="843275"/>
                <a:gridCol w="843275"/>
                <a:gridCol w="843275"/>
                <a:gridCol w="843275"/>
                <a:gridCol w="843275"/>
                <a:gridCol w="741675"/>
                <a:gridCol w="843275"/>
                <a:gridCol w="843275"/>
                <a:gridCol w="500375"/>
              </a:tblGrid>
              <a:tr h="370850">
                <a:tc gridSpan="11">
                  <a:txBody>
                    <a:bodyPr/>
                    <a:lstStyle/>
                    <a:p>
                      <a:pPr indent="0" lvl="0" marL="0" marR="0" rtl="0" algn="l">
                        <a:lnSpc>
                          <a:spcPct val="100000"/>
                        </a:lnSpc>
                        <a:spcBef>
                          <a:spcPts val="0"/>
                        </a:spcBef>
                        <a:spcAft>
                          <a:spcPts val="0"/>
                        </a:spcAft>
                        <a:buClr>
                          <a:schemeClr val="dk1"/>
                        </a:buClr>
                        <a:buSzPts val="1800"/>
                        <a:buFont typeface="Arial"/>
                        <a:buNone/>
                      </a:pPr>
                      <a:r>
                        <a:rPr b="1" lang="en-US" sz="1800" u="none" cap="none" strike="noStrike">
                          <a:solidFill>
                            <a:schemeClr val="dk1"/>
                          </a:solidFill>
                          <a:latin typeface="Arial"/>
                          <a:ea typeface="Arial"/>
                          <a:cs typeface="Arial"/>
                          <a:sym typeface="Arial"/>
                        </a:rPr>
                        <a:t>Basketball Season</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c hMerge="1"/>
                <a:tc hMerge="1"/>
                <a:tc hMerge="1"/>
                <a:tc hMerge="1"/>
                <a:tc hMerge="1"/>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Game</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3</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9</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Points Scored</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12</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16</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11</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17</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14</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10</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18</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Arial"/>
                          <a:ea typeface="Arial"/>
                          <a:cs typeface="Arial"/>
                          <a:sym typeface="Arial"/>
                        </a:rPr>
                        <a:t>p</a:t>
                      </a:r>
                      <a:endParaRPr b="0" i="1"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Target Mean</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15</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15</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r h="10933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lt1"/>
                          </a:solidFill>
                          <a:latin typeface="Arial"/>
                          <a:ea typeface="Arial"/>
                          <a:cs typeface="Arial"/>
                          <a:sym typeface="Arial"/>
                        </a:rPr>
                        <a:t>Points Above or Below Target Mean</a:t>
                      </a:r>
                      <a:endParaRPr b="1" sz="18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3</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below</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5</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above</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above</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4</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below</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2</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above</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1</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below</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even</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5</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below</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3</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latin typeface="Arial"/>
                          <a:ea typeface="Arial"/>
                          <a:cs typeface="Arial"/>
                          <a:sym typeface="Arial"/>
                        </a:rPr>
                        <a:t>above</a:t>
                      </a:r>
                      <a:endParaRPr b="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r>
            </a:tbl>
          </a:graphicData>
        </a:graphic>
      </p:graphicFrame>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45</a:t>
            </a:r>
          </a:p>
        </p:txBody>
      </p:sp>
      <p:grpSp>
        <p:nvGrpSpPr>
          <p:cNvPr id="890" name="TEACH-3-student-move" descr="TEACH 3 · Use intentional questioning to deepen learning"/>
          <p:cNvGrpSpPr/>
          <p:nvPr/>
        </p:nvGrpSpPr>
        <p:grpSpPr>
          <a:xfrm>
            <a:off x="6187440" y="4951230"/>
            <a:ext cx="5501640" cy="594360"/>
            <a:chOff x="6187440" y="4252730"/>
            <a:chExt cx="5501640" cy="594360"/>
          </a:xfrm>
        </p:grpSpPr>
        <p:sp>
          <p:nvSpPr>
            <p:cNvPr id="891" name="TEACH-move-card"/>
            <p:cNvSpPr/>
            <p:nvPr/>
          </p:nvSpPr>
          <p:spPr>
            <a:xfrm>
              <a:off x="6187440" y="4252730"/>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92" name="TEACH-move-rule"/>
            <p:cNvSpPr/>
            <p:nvPr/>
          </p:nvSpPr>
          <p:spPr>
            <a:xfrm>
              <a:off x="6233160" y="4365658"/>
              <a:ext cx="100584" cy="368504"/>
            </a:xfrm>
            <a:prstGeom prst="roundRect">
              <a:avLst>
                <a:gd name="adj" fmla="val 50000"/>
              </a:avLst>
            </a:prstGeom>
            <a:solidFill>
              <a:srgbClr val="01708C"/>
            </a:solidFill>
            <a:ln>
              <a:noFill/>
            </a:ln>
          </p:spPr>
          <p:txBody>
            <a:bodyPr/>
            <a:lstStyle/>
            <a:p>
              <a:endParaRPr/>
            </a:p>
          </p:txBody>
        </p:sp>
        <p:sp>
          <p:nvSpPr>
            <p:cNvPr id="893" name="TEACH-move-text"/>
            <p:cNvSpPr txBox="1"/>
            <p:nvPr/>
          </p:nvSpPr>
          <p:spPr>
            <a:xfrm>
              <a:off x="6507480" y="4252730"/>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PROVE IT  ·  </a:t>
              </a:r>
              <a:r>
                <a:rPr lang="en-US" sz="1200" dirty="0">
                  <a:solidFill>
                    <a:srgbClr val="13303A"/>
                  </a:solidFill>
                  <a:latin typeface="Arial"/>
                </a:rPr>
                <a:t>Find the evidence in the problem that makes your answer right — not just the answer.</a:t>
              </a:r>
              <a:endParaRPr lang="en-US" sz="1200"/>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27" name="Google Shape;927;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8" name="Google Shape;928;p95"/>
          <p:cNvSpPr txBox="1"/>
          <p:nvPr/>
        </p:nvSpPr>
        <p:spPr>
          <a:xfrm>
            <a:off x="484565" y="553784"/>
            <a:ext cx="6716335" cy="15169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To reach the balance point, Sofia needs to score 2 points above the target mean in game 10.</a:t>
            </a:r>
            <a:endParaRPr b="0" i="0" sz="1400" u="none" cap="none" strike="noStrike">
              <a:solidFill>
                <a:srgbClr val="000000"/>
              </a:solidFill>
              <a:latin typeface="Arial"/>
              <a:ea typeface="Arial"/>
              <a:cs typeface="Arial"/>
              <a:sym typeface="Arial"/>
            </a:endParaRPr>
          </a:p>
        </p:txBody>
      </p:sp>
      <p:sp>
        <p:nvSpPr>
          <p:cNvPr id="929" name="Google Shape;929;p95"/>
          <p:cNvSpPr txBox="1"/>
          <p:nvPr/>
        </p:nvSpPr>
        <p:spPr>
          <a:xfrm>
            <a:off x="484565" y="4488423"/>
            <a:ext cx="4699910" cy="13775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use this information to find the value of </a:t>
            </a:r>
            <a:r>
              <a:rPr b="1" i="1" lang="en-US" sz="2800" u="none" cap="none" strike="noStrike">
                <a:solidFill>
                  <a:srgbClr val="262626"/>
                </a:solidFill>
                <a:latin typeface="Arial"/>
                <a:ea typeface="Arial"/>
                <a:cs typeface="Arial"/>
                <a:sym typeface="Arial"/>
              </a:rPr>
              <a:t>p</a:t>
            </a:r>
            <a:r>
              <a:rPr b="1" i="0" lang="en-US" sz="2800" u="none" cap="none" strike="noStrike">
                <a:solidFill>
                  <a:srgbClr val="262626"/>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930" name="Google Shape;930;p95"/>
          <p:cNvPicPr preferRelativeResize="0"/>
          <p:nvPr/>
        </p:nvPicPr>
        <p:blipFill rotWithShape="1">
          <a:blip r:embed="rId2">
            <a:alphaModFix/>
          </a:blip>
          <a:srcRect b="0" l="0" r="0" t="0"/>
          <a:stretch/>
        </p:blipFill>
        <p:spPr>
          <a:xfrm>
            <a:off x="614744" y="2125440"/>
            <a:ext cx="9001125" cy="2076450"/>
          </a:xfrm>
          <a:prstGeom prst="rect">
            <a:avLst/>
          </a:prstGeom>
          <a:noFill/>
          <a:ln>
            <a:noFill/>
          </a:ln>
        </p:spPr>
      </p:pic>
      <p:sp>
        <p:nvSpPr>
          <p:cNvPr id="931" name="Google Shape;931;p95"/>
          <p:cNvSpPr txBox="1"/>
          <p:nvPr/>
        </p:nvSpPr>
        <p:spPr>
          <a:xfrm>
            <a:off x="5483043" y="4582021"/>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add 2 points to the target mean.</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45</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cxnSp>
        <p:nvCxnSpPr>
          <p:cNvPr id="1026" name="Google Shape;1026;p10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27" name="Google Shape;1027;p105"/>
          <p:cNvSpPr txBox="1"/>
          <p:nvPr/>
        </p:nvSpPr>
        <p:spPr>
          <a:xfrm>
            <a:off x="484564" y="1358349"/>
            <a:ext cx="8448421" cy="5060035"/>
          </a:xfrm>
          <a:prstGeom prst="rect">
            <a:avLst/>
          </a:prstGeom>
          <a:blipFill rotWithShape="1">
            <a:blip r:embed="rId3">
              <a:alphaModFix/>
            </a:blip>
            <a:stretch>
              <a:fillRect b="0" l="-1443" r="-1227" t="-132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28" name="Google Shape;1028;p105"/>
          <p:cNvSpPr txBox="1"/>
          <p:nvPr/>
        </p:nvSpPr>
        <p:spPr>
          <a:xfrm>
            <a:off x="484566" y="316033"/>
            <a:ext cx="5377616" cy="8312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Describe Data Using the Mean</a:t>
            </a:r>
            <a:endParaRPr b="0" i="0" sz="1400" u="none" cap="none" strike="noStrike">
              <a:solidFill>
                <a:srgbClr val="000000"/>
              </a:solidFill>
              <a:latin typeface="Arial"/>
              <a:ea typeface="Arial"/>
              <a:cs typeface="Arial"/>
              <a:sym typeface="Arial"/>
            </a:endParaRPr>
          </a:p>
        </p:txBody>
      </p:sp>
      <p:sp>
        <p:nvSpPr>
          <p:cNvPr id="10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45</a:t>
            </a:r>
          </a:p>
        </p:txBody>
      </p:sp>
      <p:sp>
        <p:nvSpPr>
          <p:cNvPr id="103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grpSp>
        <p:nvGrpSpPr>
          <p:cNvPr id="1031" name="TEACH-2-student-move" descr="TEACH 2 · Use strategies and tasks to engage students in rigorous work"/>
          <p:cNvGrpSpPr/>
          <p:nvPr/>
        </p:nvGrpSpPr>
        <p:grpSpPr>
          <a:xfrm>
            <a:off x="6187440" y="681693"/>
            <a:ext cx="5501640" cy="594360"/>
            <a:chOff x="6187440" y="681693"/>
            <a:chExt cx="5501640" cy="594360"/>
          </a:xfrm>
        </p:grpSpPr>
        <p:sp>
          <p:nvSpPr>
            <p:cNvPr id="1032" name="TEACH-move-card"/>
            <p:cNvSpPr/>
            <p:nvPr/>
          </p:nvSpPr>
          <p:spPr>
            <a:xfrm>
              <a:off x="6187440" y="68169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33" name="TEACH-move-rule"/>
            <p:cNvSpPr/>
            <p:nvPr/>
          </p:nvSpPr>
          <p:spPr>
            <a:xfrm>
              <a:off x="6233160" y="794621"/>
              <a:ext cx="100584" cy="368504"/>
            </a:xfrm>
            <a:prstGeom prst="roundRect">
              <a:avLst>
                <a:gd name="adj" fmla="val 50000"/>
              </a:avLst>
            </a:prstGeom>
            <a:solidFill>
              <a:srgbClr val="01708C"/>
            </a:solidFill>
            <a:ln>
              <a:noFill/>
            </a:ln>
          </p:spPr>
          <p:txBody>
            <a:bodyPr/>
            <a:lstStyle/>
            <a:p>
              <a:endParaRPr/>
            </a:p>
          </p:txBody>
        </p:sp>
        <p:sp>
          <p:nvSpPr>
            <p:cNvPr id="1034" name="TEACH-move-text"/>
            <p:cNvSpPr txBox="1"/>
            <p:nvPr/>
          </p:nvSpPr>
          <p:spPr>
            <a:xfrm>
              <a:off x="6507480" y="68169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TWO MINUTES SOLO  ·  </a:t>
              </a:r>
              <a:r>
                <a:rPr lang="en-US" sz="1200" dirty="0">
                  <a:solidFill>
                    <a:srgbClr val="13303A"/>
                  </a:solidFill>
                  <a:latin typeface="Arial"/>
                </a:rPr>
                <a:t>Two minutes on your own, then compare. Bring one thing you tried, even if it did not work.</a:t>
              </a:r>
              <a:endParaRPr lang="en-US" sz="1200"/>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06"/>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Honor Roll</a:t>
            </a:r>
            <a:endParaRPr b="0" i="0" sz="1400" u="none" cap="none" strike="noStrike">
              <a:solidFill>
                <a:srgbClr val="000000"/>
              </a:solidFill>
              <a:latin typeface="Arial"/>
              <a:ea typeface="Arial"/>
              <a:cs typeface="Arial"/>
              <a:sym typeface="Arial"/>
            </a:endParaRPr>
          </a:p>
        </p:txBody>
      </p:sp>
      <p:cxnSp>
        <p:nvCxnSpPr>
          <p:cNvPr id="1034" name="Google Shape;1034;p10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35" name="Google Shape;1035;p106"/>
          <p:cNvSpPr txBox="1"/>
          <p:nvPr/>
        </p:nvSpPr>
        <p:spPr>
          <a:xfrm>
            <a:off x="484565" y="927528"/>
            <a:ext cx="6188798" cy="49369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Shanice wants to be on the honor roll for the next marking period. She determines that her mean test score needs to be a least 90 in both math and science to be on the honor roll. Her test scores in math and science so far this grading period are shown.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xml:space="preserve"> How likely is it that Shanice will make the honor roll?</a:t>
            </a:r>
            <a:endParaRPr b="0" i="0" sz="1400" u="none" cap="none" strike="noStrike">
              <a:solidFill>
                <a:srgbClr val="000000"/>
              </a:solidFill>
              <a:latin typeface="Arial"/>
              <a:ea typeface="Arial"/>
              <a:cs typeface="Arial"/>
              <a:sym typeface="Arial"/>
            </a:endParaRPr>
          </a:p>
        </p:txBody>
      </p:sp>
      <p:pic>
        <p:nvPicPr>
          <p:cNvPr id="1036" name="Google Shape;1036;p106"/>
          <p:cNvPicPr preferRelativeResize="0"/>
          <p:nvPr/>
        </p:nvPicPr>
        <p:blipFill rotWithShape="1">
          <a:blip r:embed="rId3">
            <a:alphaModFix/>
          </a:blip>
          <a:srcRect b="0" l="0" r="0" t="0"/>
          <a:stretch/>
        </p:blipFill>
        <p:spPr>
          <a:xfrm>
            <a:off x="7059999" y="1553227"/>
            <a:ext cx="4647436" cy="3285090"/>
          </a:xfrm>
          <a:prstGeom prst="rect">
            <a:avLst/>
          </a:prstGeom>
          <a:noFill/>
          <a:ln>
            <a:noFill/>
          </a:ln>
        </p:spPr>
      </p:pic>
      <p:sp>
        <p:nvSpPr>
          <p:cNvPr id="10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45</a:t>
            </a:r>
          </a:p>
        </p:txBody>
      </p:sp>
      <p:sp>
        <p:nvSpPr>
          <p:cNvPr id="103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1039"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07"/>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42" name="Google Shape;1042;p10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3" name="Google Shape;1043;p107"/>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determine the mean of a data set.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use a target mean to find a missing value in a data set.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connect strategies for determining the mean.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10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45</a:t>
            </a:r>
          </a:p>
        </p:txBody>
      </p:sp>
      <p:grpSp>
        <p:nvGrpSpPr>
          <p:cNvPr id="1045" name="TEACH-1-student-move" descr="TEACH 1 · Facilitate clear, standards-based content learning"/>
          <p:cNvGrpSpPr/>
          <p:nvPr/>
        </p:nvGrpSpPr>
        <p:grpSpPr>
          <a:xfrm>
            <a:off x="502920" y="5472790"/>
            <a:ext cx="11186160" cy="402336"/>
            <a:chOff x="502920" y="5472790"/>
            <a:chExt cx="11186160" cy="402336"/>
          </a:xfrm>
        </p:grpSpPr>
        <p:sp>
          <p:nvSpPr>
            <p:cNvPr id="1046"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47"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48"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41" name="Google Shape;1041;p107"/>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42" name="Google Shape;1042;p10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3" name="Google Shape;1043;p107"/>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determine the mean of a data set.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use a target mean to find a missing value in a data set.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connect strategies for determining the mean.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45</a:t>
            </a:r>
          </a:p>
        </p:txBody>
      </p:sp>
      <p:grpSp>
        <p:nvGrpSpPr>
          <p:cNvPr id="1044" name="TEACH-1-student-move" descr="TEACH 1 · Facilitate clear, standards-based content learning"/>
          <p:cNvGrpSpPr/>
          <p:nvPr/>
        </p:nvGrpSpPr>
        <p:grpSpPr>
          <a:xfrm>
            <a:off x="502920" y="5472790"/>
            <a:ext cx="11186160" cy="402336"/>
            <a:chOff x="502920" y="5472790"/>
            <a:chExt cx="11186160" cy="402336"/>
          </a:xfrm>
        </p:grpSpPr>
        <p:sp>
          <p:nvSpPr>
            <p:cNvPr id="1045"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46"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47"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2.8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Interpret mean as fair share and balance point.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21 / 45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26 / 45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33 / 45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40 / 45</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2.8 — Describe Data Using the Mean</dc:title>
  <dc:creator>Neft Teacher</dc:creator>
  <cp:lastModifiedBy>Neft Teacher</cp:lastModifiedBy>
  <dcterms:created xsi:type="dcterms:W3CDTF">2026-09-30T12:04:43Z</dcterms:created>
  <dcterms:modified xsi:type="dcterms:W3CDTF">2026-09-30T12:04:43Z</dcterms:modified>
</cp:coreProperties>
</file>