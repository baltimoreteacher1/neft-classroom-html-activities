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 x-coordinate = horizontal (right 4), NOT vertical. The student swapped x and y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3749040" cy="5143500"/>
          </a:xfrm>
          <a:prstGeom prst="rect">
            <a:avLst/>
          </a:prstGeom>
          <a:solidFill>
            <a:srgbClr val="17324D"/>
          </a:solidFill>
          <a:ln/>
        </p:spPr>
      </p:sp>
      <p:sp>
        <p:nvSpPr>
          <p:cNvPr id="3" name="Shape 1"/>
          <p:cNvSpPr/>
          <p:nvPr/>
        </p:nvSpPr>
        <p:spPr>
          <a:xfrm>
            <a:off x="2651760" y="-640080"/>
            <a:ext cx="2011680" cy="2011680"/>
          </a:xfrm>
          <a:prstGeom prst="ellipse">
            <a:avLst/>
          </a:prstGeom>
          <a:solidFill>
            <a:srgbClr val="C0654A">
              <a:alpha val="35000"/>
            </a:srgbClr>
          </a:solidFill>
          <a:ln/>
        </p:spPr>
      </p:sp>
      <p:sp>
        <p:nvSpPr>
          <p:cNvPr id="4" name="Text 2"/>
          <p:cNvSpPr/>
          <p:nvPr/>
        </p:nvSpPr>
        <p:spPr>
          <a:xfrm>
            <a:off x="411480" y="365760"/>
            <a:ext cx="3017520" cy="274320"/>
          </a:xfrm>
          <a:prstGeom prst="rect">
            <a:avLst/>
          </a:prstGeom>
          <a:noFill/>
          <a:ln/>
        </p:spPr>
        <p:txBody>
          <a:bodyPr wrap="square" rtlCol="0" anchor="ctr"/>
          <a:lstStyle/>
          <a:p>
            <a:pPr indent="0" marL="0">
              <a:buNone/>
            </a:pPr>
            <a:r>
              <a:rPr lang="en-US" sz="1100" b="1" spc="200" kern="0" dirty="0">
                <a:solidFill>
                  <a:srgbClr val="BFE6E2"/>
                </a:solidFill>
                <a:latin typeface="Outfit" pitchFamily="34" charset="0"/>
                <a:ea typeface="Outfit" pitchFamily="34" charset="-122"/>
                <a:cs typeface="Outfit" pitchFamily="34" charset="-120"/>
              </a:rPr>
              <a:t>NEFT TEACHER</a:t>
            </a:r>
            <a:endParaRPr lang="en-US" sz="1100" dirty="0"/>
          </a:p>
        </p:txBody>
      </p:sp>
      <p:sp>
        <p:nvSpPr>
          <p:cNvPr id="5" name="Text 3"/>
          <p:cNvSpPr/>
          <p:nvPr/>
        </p:nvSpPr>
        <p:spPr>
          <a:xfrm>
            <a:off x="411480" y="777240"/>
            <a:ext cx="1371600" cy="822960"/>
          </a:xfrm>
          <a:prstGeom prst="rect">
            <a:avLst/>
          </a:prstGeom>
          <a:noFill/>
          <a:ln/>
        </p:spPr>
        <p:txBody>
          <a:bodyPr wrap="square" rtlCol="0" anchor="ctr"/>
          <a:lstStyle/>
          <a:p>
            <a:pPr indent="0" marL="0">
              <a:buNone/>
            </a:pPr>
            <a:r>
              <a:rPr lang="en-US" sz="4400" dirty="0">
                <a:solidFill>
                  <a:srgbClr val="000000"/>
                </a:solidFill>
              </a:rPr>
              <a:t>🗺️</a:t>
            </a:r>
            <a:endParaRPr lang="en-US" sz="4400" dirty="0"/>
          </a:p>
        </p:txBody>
      </p:sp>
      <p:sp>
        <p:nvSpPr>
          <p:cNvPr id="6" name="Text 4"/>
          <p:cNvSpPr/>
          <p:nvPr/>
        </p:nvSpPr>
        <p:spPr>
          <a:xfrm>
            <a:off x="411480" y="1783080"/>
            <a:ext cx="3017520" cy="1554480"/>
          </a:xfrm>
          <a:prstGeom prst="rect">
            <a:avLst/>
          </a:prstGeom>
          <a:noFill/>
          <a:ln/>
        </p:spPr>
        <p:txBody>
          <a:bodyPr wrap="square" rtlCol="0" anchor="t"/>
          <a:lstStyle/>
          <a:p>
            <a:pPr indent="0" marL="0">
              <a:lnSpc>
                <a:spcPct val="95000"/>
              </a:lnSpc>
              <a:buNone/>
            </a:pPr>
            <a:r>
              <a:rPr lang="en-US" sz="3000" b="1" dirty="0">
                <a:solidFill>
                  <a:srgbClr val="FFFFFF"/>
                </a:solidFill>
                <a:latin typeface="Outfit" pitchFamily="34" charset="0"/>
                <a:ea typeface="Outfit" pitchFamily="34" charset="-122"/>
                <a:cs typeface="Outfit" pitchFamily="34" charset="-120"/>
              </a:rPr>
              <a:t>Graph on the Coordinate Plane</a:t>
            </a:r>
            <a:endParaRPr lang="en-US" sz="3000" dirty="0"/>
          </a:p>
        </p:txBody>
      </p:sp>
      <p:sp>
        <p:nvSpPr>
          <p:cNvPr id="7" name="Text 5"/>
          <p:cNvSpPr/>
          <p:nvPr/>
        </p:nvSpPr>
        <p:spPr>
          <a:xfrm>
            <a:off x="411480" y="4160520"/>
            <a:ext cx="1188720" cy="310896"/>
          </a:xfrm>
          <a:prstGeom prst="rect">
            <a:avLst>
              <a:gd name="adj" fmla="val 50000"/>
            </a:avLst>
          </a:prstGeom>
          <a:solidFill>
            <a:srgbClr val="C0654A"/>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6.NS.6</a:t>
            </a:r>
            <a:endParaRPr lang="en-US" sz="1000" dirty="0"/>
          </a:p>
        </p:txBody>
      </p:sp>
      <p:sp>
        <p:nvSpPr>
          <p:cNvPr id="8" name="Text 6"/>
          <p:cNvSpPr/>
          <p:nvPr/>
        </p:nvSpPr>
        <p:spPr>
          <a:xfrm>
            <a:off x="1691640" y="4160520"/>
            <a:ext cx="1920240" cy="310896"/>
          </a:xfrm>
          <a:prstGeom prst="rect">
            <a:avLst/>
          </a:prstGeom>
          <a:noFill/>
          <a:ln/>
        </p:spPr>
        <p:txBody>
          <a:bodyPr wrap="square" rtlCol="0" anchor="ctr"/>
          <a:lstStyle/>
          <a:p>
            <a:pPr indent="0" marL="0">
              <a:buNone/>
            </a:pPr>
            <a:r>
              <a:rPr lang="en-US" sz="1000" dirty="0">
                <a:solidFill>
                  <a:srgbClr val="BFE6E2"/>
                </a:solidFill>
                <a:latin typeface="Hanken Grotesk" pitchFamily="34" charset="0"/>
                <a:ea typeface="Hanken Grotesk" pitchFamily="34" charset="-122"/>
                <a:cs typeface="Hanken Grotesk" pitchFamily="34" charset="-120"/>
              </a:rPr>
              <a:t>Unit 9  ·  Lesson 9-1-flagship</a:t>
            </a:r>
            <a:endParaRPr lang="en-US" sz="1000" dirty="0"/>
          </a:p>
        </p:txBody>
      </p:sp>
      <p:sp>
        <p:nvSpPr>
          <p:cNvPr id="9" name="Shape 7"/>
          <p:cNvSpPr/>
          <p:nvPr/>
        </p:nvSpPr>
        <p:spPr>
          <a:xfrm>
            <a:off x="4023360" y="411480"/>
            <a:ext cx="4800600" cy="1417320"/>
          </a:xfrm>
          <a:prstGeom prst="roundRect">
            <a:avLst>
              <a:gd name="adj" fmla="val 516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0" name="Text 8"/>
          <p:cNvSpPr/>
          <p:nvPr/>
        </p:nvSpPr>
        <p:spPr>
          <a:xfrm>
            <a:off x="4251960" y="548640"/>
            <a:ext cx="4389120" cy="365760"/>
          </a:xfrm>
          <a:prstGeom prst="rect">
            <a:avLst/>
          </a:prstGeom>
          <a:noFill/>
          <a:ln/>
        </p:spPr>
        <p:txBody>
          <a:bodyPr wrap="square" rtlCol="0" anchor="ctr"/>
          <a:lstStyle/>
          <a:p>
            <a:pPr indent="0" marL="0">
              <a:buNone/>
            </a:pPr>
            <a:r>
              <a:rPr lang="en-US" sz="1600" b="1" dirty="0">
                <a:solidFill>
                  <a:srgbClr val="17324D"/>
                </a:solidFill>
                <a:latin typeface="Outfit" pitchFamily="34" charset="0"/>
                <a:ea typeface="Outfit" pitchFamily="34" charset="-122"/>
                <a:cs typeface="Outfit" pitchFamily="34" charset="-120"/>
              </a:rPr>
              <a:t>My Math Notebook</a:t>
            </a:r>
            <a:endParaRPr lang="en-US" sz="1600" dirty="0"/>
          </a:p>
        </p:txBody>
      </p:sp>
      <p:sp>
        <p:nvSpPr>
          <p:cNvPr id="11" name="Text 9"/>
          <p:cNvSpPr/>
          <p:nvPr/>
        </p:nvSpPr>
        <p:spPr>
          <a:xfrm>
            <a:off x="4251960" y="1024128"/>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Name:</a:t>
            </a:r>
            <a:endParaRPr lang="en-US" sz="1000" dirty="0"/>
          </a:p>
        </p:txBody>
      </p:sp>
      <p:sp>
        <p:nvSpPr>
          <p:cNvPr id="12" name="Shape 10"/>
          <p:cNvSpPr/>
          <p:nvPr/>
        </p:nvSpPr>
        <p:spPr>
          <a:xfrm>
            <a:off x="4983480" y="1207008"/>
            <a:ext cx="3566160" cy="0"/>
          </a:xfrm>
          <a:prstGeom prst="line">
            <a:avLst/>
          </a:prstGeom>
          <a:noFill/>
          <a:ln w="9525">
            <a:solidFill>
              <a:srgbClr val="C7CDD2"/>
            </a:solidFill>
            <a:prstDash val="solid"/>
          </a:ln>
        </p:spPr>
      </p:sp>
      <p:sp>
        <p:nvSpPr>
          <p:cNvPr id="13" name="Text 11"/>
          <p:cNvSpPr/>
          <p:nvPr/>
        </p:nvSpPr>
        <p:spPr>
          <a:xfrm>
            <a:off x="4251960" y="1280160"/>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Date:</a:t>
            </a:r>
            <a:endParaRPr lang="en-US" sz="1000" dirty="0"/>
          </a:p>
        </p:txBody>
      </p:sp>
      <p:sp>
        <p:nvSpPr>
          <p:cNvPr id="14" name="Shape 12"/>
          <p:cNvSpPr/>
          <p:nvPr/>
        </p:nvSpPr>
        <p:spPr>
          <a:xfrm>
            <a:off x="4983480" y="1463040"/>
            <a:ext cx="3566160" cy="0"/>
          </a:xfrm>
          <a:prstGeom prst="line">
            <a:avLst/>
          </a:prstGeom>
          <a:noFill/>
          <a:ln w="9525">
            <a:solidFill>
              <a:srgbClr val="C7CDD2"/>
            </a:solidFill>
            <a:prstDash val="solid"/>
          </a:ln>
        </p:spPr>
      </p:sp>
      <p:sp>
        <p:nvSpPr>
          <p:cNvPr id="15" name="Text 13"/>
          <p:cNvSpPr/>
          <p:nvPr/>
        </p:nvSpPr>
        <p:spPr>
          <a:xfrm>
            <a:off x="4251960" y="1536192"/>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Period:</a:t>
            </a:r>
            <a:endParaRPr lang="en-US" sz="1000" dirty="0"/>
          </a:p>
        </p:txBody>
      </p:sp>
      <p:sp>
        <p:nvSpPr>
          <p:cNvPr id="16" name="Shape 14"/>
          <p:cNvSpPr/>
          <p:nvPr/>
        </p:nvSpPr>
        <p:spPr>
          <a:xfrm>
            <a:off x="4983480" y="1719072"/>
            <a:ext cx="3566160" cy="0"/>
          </a:xfrm>
          <a:prstGeom prst="line">
            <a:avLst/>
          </a:prstGeom>
          <a:noFill/>
          <a:ln w="9525">
            <a:solidFill>
              <a:srgbClr val="C7CDD2"/>
            </a:solidFill>
            <a:prstDash val="solid"/>
          </a:ln>
        </p:spPr>
      </p:sp>
      <p:sp>
        <p:nvSpPr>
          <p:cNvPr id="17" name="Shape 15"/>
          <p:cNvSpPr/>
          <p:nvPr/>
        </p:nvSpPr>
        <p:spPr>
          <a:xfrm>
            <a:off x="4023360" y="2011680"/>
            <a:ext cx="4800600" cy="1143000"/>
          </a:xfrm>
          <a:prstGeom prst="roundRect">
            <a:avLst>
              <a:gd name="adj" fmla="val 6400"/>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206240" y="2103120"/>
            <a:ext cx="4434840" cy="274320"/>
          </a:xfrm>
          <a:prstGeom prst="rect">
            <a:avLst/>
          </a:prstGeom>
          <a:noFill/>
          <a:ln/>
        </p:spPr>
        <p:txBody>
          <a:bodyPr wrap="square" rtlCol="0" anchor="ctr"/>
          <a:lstStyle/>
          <a:p>
            <a:pPr indent="0" marL="0">
              <a:buNone/>
            </a:pPr>
            <a:r>
              <a:rPr lang="en-US" sz="1100" b="1" dirty="0">
                <a:solidFill>
                  <a:srgbClr val="C0654A"/>
                </a:solidFill>
                <a:latin typeface="Outfit" pitchFamily="34" charset="0"/>
                <a:ea typeface="Outfit" pitchFamily="34" charset="-122"/>
                <a:cs typeface="Outfit" pitchFamily="34" charset="-120"/>
              </a:rPr>
              <a:t>I CAN…  </a:t>
            </a:r>
            <a:pPr indent="0" marL="0">
              <a:buNone/>
            </a:pPr>
            <a:r>
              <a:rPr lang="en-US" sz="900" i="1" dirty="0">
                <a:solidFill>
                  <a:srgbClr val="8A96A3"/>
                </a:solidFill>
                <a:latin typeface="Outfit" pitchFamily="34" charset="0"/>
                <a:ea typeface="Outfit" pitchFamily="34" charset="-122"/>
                <a:cs typeface="Outfit" pitchFamily="34" charset="-120"/>
              </a:rPr>
              <a:t>/ Yo puedo…</a:t>
            </a:r>
            <a:endParaRPr lang="en-US" sz="1100" dirty="0"/>
          </a:p>
        </p:txBody>
      </p:sp>
      <p:sp>
        <p:nvSpPr>
          <p:cNvPr id="19" name="Text 17"/>
          <p:cNvSpPr/>
          <p:nvPr/>
        </p:nvSpPr>
        <p:spPr>
          <a:xfrm>
            <a:off x="4206240" y="2395728"/>
            <a:ext cx="4434840" cy="713232"/>
          </a:xfrm>
          <a:prstGeom prst="rect">
            <a:avLst/>
          </a:prstGeom>
          <a:noFill/>
          <a:ln/>
        </p:spPr>
        <p:txBody>
          <a:bodyPr wrap="square" rtlCol="0" anchor="t"/>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I can plot and identify points on the coordinate plane using ordered pairs.</a:t>
            </a:r>
            <a:endParaRPr lang="en-US" sz="1100" dirty="0"/>
          </a:p>
        </p:txBody>
      </p:sp>
      <p:sp>
        <p:nvSpPr>
          <p:cNvPr id="20" name="Shape 18"/>
          <p:cNvSpPr/>
          <p:nvPr/>
        </p:nvSpPr>
        <p:spPr>
          <a:xfrm>
            <a:off x="4023360" y="3291840"/>
            <a:ext cx="4800600" cy="1280160"/>
          </a:xfrm>
          <a:prstGeom prst="roundRect">
            <a:avLst>
              <a:gd name="adj" fmla="val 5714"/>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4206240" y="3383280"/>
            <a:ext cx="4434840" cy="274320"/>
          </a:xfrm>
          <a:prstGeom prst="rect">
            <a:avLst/>
          </a:prstGeom>
          <a:noFill/>
          <a:ln/>
        </p:spPr>
        <p:txBody>
          <a:bodyPr wrap="square" rtlCol="0" anchor="ctr"/>
          <a:lstStyle/>
          <a:p>
            <a:pPr indent="0" marL="0">
              <a:buNone/>
            </a:pPr>
            <a:r>
              <a:rPr lang="en-US" sz="1100" b="1" dirty="0">
                <a:solidFill>
                  <a:srgbClr val="C0654A"/>
                </a:solidFill>
                <a:latin typeface="Outfit" pitchFamily="34" charset="0"/>
                <a:ea typeface="Outfit" pitchFamily="34" charset="-122"/>
                <a:cs typeface="Outfit" pitchFamily="34" charset="-120"/>
              </a:rPr>
              <a:t>I WILL EXPLAIN…  </a:t>
            </a:r>
            <a:pPr indent="0" marL="0">
              <a:buNone/>
            </a:pPr>
            <a:r>
              <a:rPr lang="en-US" sz="900" i="1" dirty="0">
                <a:solidFill>
                  <a:srgbClr val="8A96A3"/>
                </a:solidFill>
                <a:latin typeface="Outfit" pitchFamily="34" charset="0"/>
                <a:ea typeface="Outfit" pitchFamily="34" charset="-122"/>
                <a:cs typeface="Outfit" pitchFamily="34" charset="-120"/>
              </a:rPr>
              <a:t>/ Objetivo de lenguaje</a:t>
            </a:r>
            <a:endParaRPr lang="en-US" sz="1100" dirty="0"/>
          </a:p>
        </p:txBody>
      </p:sp>
      <p:sp>
        <p:nvSpPr>
          <p:cNvPr id="22" name="Text 20"/>
          <p:cNvSpPr/>
          <p:nvPr/>
        </p:nvSpPr>
        <p:spPr>
          <a:xfrm>
            <a:off x="4206240" y="3675888"/>
            <a:ext cx="4434840" cy="841248"/>
          </a:xfrm>
          <a:prstGeom prst="rect">
            <a:avLst/>
          </a:prstGeom>
          <a:noFill/>
          <a:ln/>
        </p:spPr>
        <p:txBody>
          <a:bodyPr wrap="square" rtlCol="0" anchor="t"/>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can explain my work using the words coordinate plane, ordered pair, origin, and quadrant.</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Be Curious / Sé Curioso</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2</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3716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VISUAL PROMPT</a:t>
            </a:r>
            <a:endParaRPr lang="en-US" sz="900" dirty="0"/>
          </a:p>
        </p:txBody>
      </p:sp>
      <p:sp>
        <p:nvSpPr>
          <p:cNvPr id="19" name="Text 17"/>
          <p:cNvSpPr/>
          <p:nvPr/>
        </p:nvSpPr>
        <p:spPr>
          <a:xfrm>
            <a:off x="594360" y="1207008"/>
            <a:ext cx="379476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Treasure Map Navigation</a:t>
            </a:r>
            <a:endParaRPr lang="en-US" sz="1100" dirty="0"/>
          </a:p>
        </p:txBody>
      </p:sp>
      <p:sp>
        <p:nvSpPr>
          <p:cNvPr id="20" name="Text 18"/>
          <p:cNvSpPr/>
          <p:nvPr/>
        </p:nvSpPr>
        <p:spPr>
          <a:xfrm>
            <a:off x="594360" y="1508760"/>
            <a:ext cx="3794760" cy="1554480"/>
          </a:xfrm>
          <a:prstGeom prst="rect">
            <a:avLst/>
          </a:prstGeom>
          <a:noFill/>
          <a:ln/>
        </p:spPr>
        <p:txBody>
          <a:bodyPr wrap="square" rtlCol="0" anchor="t"/>
          <a:lstStyle/>
          <a:p>
            <a:pPr indent="0" marL="0">
              <a:buNone/>
            </a:pPr>
            <a:r>
              <a:rPr lang="en-US" sz="1150" dirty="0">
                <a:solidFill>
                  <a:srgbClr val="24323F"/>
                </a:solidFill>
                <a:latin typeface="Hanken Grotesk" pitchFamily="34" charset="0"/>
                <a:ea typeface="Hanken Grotesk" pitchFamily="34" charset="-122"/>
                <a:cs typeface="Hanken Grotesk" pitchFamily="34" charset="-120"/>
              </a:rPr>
              <a:t>Captain Vega left a treasure map, but instead of an 'X marks the spot,' she hid the directions as ordered pairs! To find the treasure, you need to plot each point on the coordinate plane and connect them in order. The first clue says: Start at (2, 1), then go to (5, 4), then (8, 1).</a:t>
            </a:r>
            <a:endParaRPr lang="en-US" sz="1150" dirty="0"/>
          </a:p>
        </p:txBody>
      </p:sp>
      <p:sp>
        <p:nvSpPr>
          <p:cNvPr id="21" name="Text 19"/>
          <p:cNvSpPr/>
          <p:nvPr/>
        </p:nvSpPr>
        <p:spPr>
          <a:xfrm>
            <a:off x="594360" y="3154680"/>
            <a:ext cx="365760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Jot your first idea:</a:t>
            </a:r>
            <a:endParaRPr lang="en-US" sz="900" dirty="0"/>
          </a:p>
        </p:txBody>
      </p:sp>
      <p:sp>
        <p:nvSpPr>
          <p:cNvPr id="22" name="Shape 20"/>
          <p:cNvSpPr/>
          <p:nvPr/>
        </p:nvSpPr>
        <p:spPr>
          <a:xfrm>
            <a:off x="594360" y="3566160"/>
            <a:ext cx="3794760" cy="0"/>
          </a:xfrm>
          <a:prstGeom prst="line">
            <a:avLst/>
          </a:prstGeom>
          <a:noFill/>
          <a:ln w="9525">
            <a:solidFill>
              <a:srgbClr val="C7CDD2"/>
            </a:solidFill>
            <a:prstDash val="dash"/>
          </a:ln>
        </p:spPr>
      </p:sp>
      <p:sp>
        <p:nvSpPr>
          <p:cNvPr id="23" name="Shape 21"/>
          <p:cNvSpPr/>
          <p:nvPr/>
        </p:nvSpPr>
        <p:spPr>
          <a:xfrm>
            <a:off x="594360" y="3886200"/>
            <a:ext cx="3794760" cy="0"/>
          </a:xfrm>
          <a:prstGeom prst="line">
            <a:avLst/>
          </a:prstGeom>
          <a:noFill/>
          <a:ln w="9525">
            <a:solidFill>
              <a:srgbClr val="C7CDD2"/>
            </a:solidFill>
            <a:prstDash val="dash"/>
          </a:ln>
        </p:spPr>
      </p:sp>
      <p:sp>
        <p:nvSpPr>
          <p:cNvPr id="24" name="Shape 22"/>
          <p:cNvSpPr/>
          <p:nvPr/>
        </p:nvSpPr>
        <p:spPr>
          <a:xfrm>
            <a:off x="594360" y="4206240"/>
            <a:ext cx="3794760" cy="0"/>
          </a:xfrm>
          <a:prstGeom prst="line">
            <a:avLst/>
          </a:prstGeom>
          <a:noFill/>
          <a:ln w="9525">
            <a:solidFill>
              <a:srgbClr val="C7CDD2"/>
            </a:solidFill>
            <a:prstDash val="dash"/>
          </a:ln>
        </p:spPr>
      </p:sp>
      <p:sp>
        <p:nvSpPr>
          <p:cNvPr id="25" name="Shape 23"/>
          <p:cNvSpPr/>
          <p:nvPr/>
        </p:nvSpPr>
        <p:spPr>
          <a:xfrm>
            <a:off x="4709160" y="685800"/>
            <a:ext cx="4114800" cy="1920240"/>
          </a:xfrm>
          <a:prstGeom prst="roundRect">
            <a:avLst>
              <a:gd name="adj" fmla="val 381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4709160" y="685800"/>
            <a:ext cx="411480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I Notice…</a:t>
            </a:r>
            <a:endParaRPr lang="en-US" sz="1000" dirty="0"/>
          </a:p>
        </p:txBody>
      </p:sp>
      <p:sp>
        <p:nvSpPr>
          <p:cNvPr id="27" name="Text 25"/>
          <p:cNvSpPr/>
          <p:nvPr/>
        </p:nvSpPr>
        <p:spPr>
          <a:xfrm>
            <a:off x="4892040" y="1051560"/>
            <a:ext cx="3749040" cy="146304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shape will the three points make when connected?</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Which number tells you how far right/left? Which tells you up/down?</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Why is the ORDER in an ordered pair important?</a:t>
            </a:r>
            <a:endParaRPr lang="en-US" sz="1000" dirty="0"/>
          </a:p>
        </p:txBody>
      </p:sp>
      <p:sp>
        <p:nvSpPr>
          <p:cNvPr id="28" name="Shape 26"/>
          <p:cNvSpPr/>
          <p:nvPr/>
        </p:nvSpPr>
        <p:spPr>
          <a:xfrm>
            <a:off x="4709160" y="2743200"/>
            <a:ext cx="4114800" cy="1965960"/>
          </a:xfrm>
          <a:prstGeom prst="roundRect">
            <a:avLst>
              <a:gd name="adj" fmla="val 372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4709160" y="2743200"/>
            <a:ext cx="4114800" cy="274320"/>
          </a:xfrm>
          <a:prstGeom prst="rect">
            <a:avLst/>
          </a:prstGeom>
          <a:solidFill>
            <a:srgbClr val="F2C15B"/>
          </a:solidFill>
          <a:ln/>
        </p:spPr>
        <p:txBody>
          <a:bodyPr wrap="square" rtlCol="0" anchor="ctr"/>
          <a:lstStyle/>
          <a:p>
            <a:pPr algn="ctr" indent="0" marL="0">
              <a:buNone/>
            </a:pPr>
            <a:r>
              <a:rPr lang="en-US" sz="1000" b="1" dirty="0">
                <a:solidFill>
                  <a:srgbClr val="17324D"/>
                </a:solidFill>
                <a:latin typeface="Outfit" pitchFamily="34" charset="0"/>
                <a:ea typeface="Outfit" pitchFamily="34" charset="-122"/>
                <a:cs typeface="Outfit" pitchFamily="34" charset="-120"/>
              </a:rPr>
              <a:t>💭  I Wonder…</a:t>
            </a:r>
            <a:endParaRPr lang="en-US" sz="1000" dirty="0"/>
          </a:p>
        </p:txBody>
      </p:sp>
      <p:sp>
        <p:nvSpPr>
          <p:cNvPr id="30" name="Text 28"/>
          <p:cNvSpPr/>
          <p:nvPr/>
        </p:nvSpPr>
        <p:spPr>
          <a:xfrm>
            <a:off x="4892040" y="3108960"/>
            <a:ext cx="3749040" cy="150876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if one of the coordinates was negative?</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How would you describe a location without a coordinate plane?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Vocabulary / Vocabulario</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685800"/>
          <a:ext cx="8412480" cy="914400"/>
        </p:xfrm>
        <a:graphic>
          <a:graphicData uri="http://schemas.openxmlformats.org/drawingml/2006/table">
            <a:tbl>
              <a:tblPr/>
              <a:tblGrid>
                <a:gridCol w="2103120"/>
                <a:gridCol w="4114800"/>
                <a:gridCol w="2194560"/>
              </a:tblGrid>
              <a:tr h="457200">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Term / Término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Meaning / Significado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Example / Ejemplo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Coordinate plane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Plano cartesiano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grid with a line going across and a line going up that cross.</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Una cuadrícula con una línea horizontal y una vertical que se cruzan.</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A grid with a horizontal line (x-axis) crossing a vertical line (y-axis), making four sections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Ordered pair</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Par ordenado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Two numbers (x, y) that tell where a point is on a grid.</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Dos números (x, y) que dicen dónde está un punto en una cuadrícula.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(3, 5) means move right 3 from the origin, then up 5</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Origin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Origen</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The point (0, 0) where the two grid lines cross.</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El punto (0, 0) donde se cruzan las dos líneas de la cuadrícula.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The starting point at the center where both axes cross — (0, 0)</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Quadrant</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Cuadrante</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One of the four parts of a coordinate grid.</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Una de las cuatro partes de una cuadrícula de coordenadas.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I (+,+) top-right, II (-,+) top-left, III (-,-) bottom-left, IV (+,-) bottom-right</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Reflection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Reflexión</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flipped, mirror image across a line.</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Una imagen reflejada al otro lado de una línea.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(3, 2) reflected over the x-axis becomes (3, -2) — same x, opposite y</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bl>
          </a:graphicData>
        </a:graphic>
      </p:graphicFrame>
      <p:sp>
        <p:nvSpPr>
          <p:cNvPr id="18" name="Text 15"/>
          <p:cNvSpPr/>
          <p:nvPr/>
        </p:nvSpPr>
        <p:spPr>
          <a:xfrm>
            <a:off x="411480" y="3520440"/>
            <a:ext cx="8412480" cy="237744"/>
          </a:xfrm>
          <a:prstGeom prst="rect">
            <a:avLst/>
          </a:prstGeom>
          <a:noFill/>
          <a:ln/>
        </p:spPr>
        <p:txBody>
          <a:bodyPr wrap="square" rtlCol="0" anchor="ctr"/>
          <a:lstStyle/>
          <a:p>
            <a:pPr indent="0" marL="0">
              <a:buNone/>
            </a:pPr>
            <a:r>
              <a:rPr lang="en-US" sz="950" b="1" dirty="0">
                <a:solidFill>
                  <a:srgbClr val="17324D"/>
                </a:solidFill>
                <a:latin typeface="Outfit" pitchFamily="34" charset="0"/>
                <a:ea typeface="Outfit" pitchFamily="34" charset="-122"/>
                <a:cs typeface="Outfit" pitchFamily="34" charset="-120"/>
              </a:rPr>
              <a:t>Integer — example vs. non-example:</a:t>
            </a:r>
            <a:endParaRPr lang="en-US" sz="950" dirty="0"/>
          </a:p>
        </p:txBody>
      </p:sp>
      <p:sp>
        <p:nvSpPr>
          <p:cNvPr id="19" name="Shape 16"/>
          <p:cNvSpPr/>
          <p:nvPr/>
        </p:nvSpPr>
        <p:spPr>
          <a:xfrm>
            <a:off x="411480" y="3813048"/>
            <a:ext cx="4114800" cy="457200"/>
          </a:xfrm>
          <a:prstGeom prst="roundRect">
            <a:avLst>
              <a:gd name="adj" fmla="val 10000"/>
            </a:avLst>
          </a:prstGeom>
          <a:solidFill>
            <a:srgbClr val="E7F6F4"/>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0" name="Text 17"/>
          <p:cNvSpPr/>
          <p:nvPr/>
        </p:nvSpPr>
        <p:spPr>
          <a:xfrm>
            <a:off x="521208" y="3813048"/>
            <a:ext cx="3895344" cy="457200"/>
          </a:xfrm>
          <a:prstGeom prst="rect">
            <a:avLst/>
          </a:prstGeom>
          <a:noFill/>
          <a:ln/>
        </p:spPr>
        <p:txBody>
          <a:bodyPr wrap="square" rtlCol="0" anchor="ctr"/>
          <a:lstStyle/>
          <a:p>
            <a:pPr indent="0" marL="0">
              <a:buNone/>
            </a:pPr>
            <a:r>
              <a:rPr lang="en-US" sz="900" b="1" dirty="0">
                <a:solidFill>
                  <a:srgbClr val="1FA6A2"/>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−3  </a:t>
            </a:r>
            <a:pPr indent="0" marL="0">
              <a:buNone/>
            </a:pPr>
            <a:r>
              <a:rPr lang="en-US" sz="800" dirty="0">
                <a:solidFill>
                  <a:srgbClr val="24323F"/>
                </a:solidFill>
                <a:latin typeface="Hanken Grotesk" pitchFamily="34" charset="0"/>
                <a:ea typeface="Hanken Grotesk" pitchFamily="34" charset="-122"/>
                <a:cs typeface="Hanken Grotesk" pitchFamily="34" charset="-120"/>
              </a:rPr>
              <a:t>It is a whole number's opposite with no fraction.</a:t>
            </a:r>
            <a:endParaRPr lang="en-US" sz="900" dirty="0"/>
          </a:p>
        </p:txBody>
      </p:sp>
      <p:sp>
        <p:nvSpPr>
          <p:cNvPr id="21" name="Shape 18"/>
          <p:cNvSpPr/>
          <p:nvPr/>
        </p:nvSpPr>
        <p:spPr>
          <a:xfrm>
            <a:off x="4663440" y="3813048"/>
            <a:ext cx="4114800" cy="457200"/>
          </a:xfrm>
          <a:prstGeom prst="roundRect">
            <a:avLst>
              <a:gd name="adj" fmla="val 10000"/>
            </a:avLst>
          </a:prstGeom>
          <a:solidFill>
            <a:srgbClr val="FDECEA"/>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2" name="Text 19"/>
          <p:cNvSpPr/>
          <p:nvPr/>
        </p:nvSpPr>
        <p:spPr>
          <a:xfrm>
            <a:off x="4773168" y="3813048"/>
            <a:ext cx="3895344" cy="457200"/>
          </a:xfrm>
          <a:prstGeom prst="rect">
            <a:avLst/>
          </a:prstGeom>
          <a:noFill/>
          <a:ln/>
        </p:spPr>
        <p:txBody>
          <a:bodyPr wrap="square" rtlCol="0" anchor="ctr"/>
          <a:lstStyle/>
          <a:p>
            <a:pPr indent="0" marL="0">
              <a:buNone/>
            </a:pPr>
            <a:r>
              <a:rPr lang="en-US" sz="900" b="1" dirty="0">
                <a:solidFill>
                  <a:srgbClr val="C0392B"/>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1.5  </a:t>
            </a:r>
            <a:pPr indent="0" marL="0">
              <a:buNone/>
            </a:pPr>
            <a:r>
              <a:rPr lang="en-US" sz="800" dirty="0">
                <a:solidFill>
                  <a:srgbClr val="24323F"/>
                </a:solidFill>
                <a:latin typeface="Hanken Grotesk" pitchFamily="34" charset="0"/>
                <a:ea typeface="Hanken Grotesk" pitchFamily="34" charset="-122"/>
                <a:cs typeface="Hanken Grotesk" pitchFamily="34" charset="-120"/>
              </a:rPr>
              <a:t>It has a fraction part, so it is not an integer.</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Guided Practice / Práctica Guiada</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4</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73736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WE DO TOGETHER</a:t>
            </a:r>
            <a:endParaRPr lang="en-US" sz="900" dirty="0"/>
          </a:p>
        </p:txBody>
      </p:sp>
      <p:sp>
        <p:nvSpPr>
          <p:cNvPr id="19" name="Text 17"/>
          <p:cNvSpPr/>
          <p:nvPr/>
        </p:nvSpPr>
        <p:spPr>
          <a:xfrm>
            <a:off x="594360" y="1188720"/>
            <a:ext cx="512064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How do you plot a point on the coordinate plane?</a:t>
            </a:r>
            <a:endParaRPr lang="en-US" sz="1200" dirty="0"/>
          </a:p>
        </p:txBody>
      </p:sp>
      <p:sp>
        <p:nvSpPr>
          <p:cNvPr id="20" name="Shape 18"/>
          <p:cNvSpPr/>
          <p:nvPr/>
        </p:nvSpPr>
        <p:spPr>
          <a:xfrm>
            <a:off x="640080" y="1609344"/>
            <a:ext cx="274320" cy="274320"/>
          </a:xfrm>
          <a:prstGeom prst="ellipse">
            <a:avLst/>
          </a:prstGeom>
          <a:solidFill>
            <a:srgbClr val="C0654A"/>
          </a:solidFill>
          <a:ln/>
        </p:spPr>
      </p:sp>
      <p:sp>
        <p:nvSpPr>
          <p:cNvPr id="21" name="Text 19"/>
          <p:cNvSpPr/>
          <p:nvPr/>
        </p:nvSpPr>
        <p:spPr>
          <a:xfrm>
            <a:off x="640080" y="160934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2" name="Text 20"/>
          <p:cNvSpPr/>
          <p:nvPr/>
        </p:nvSpPr>
        <p:spPr>
          <a:xfrm>
            <a:off x="1024128" y="1554480"/>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Now let's plot (2, 1). Where do we start? At the origin (0, 0).</a:t>
            </a:r>
            <a:endParaRPr lang="en-US" sz="1050" dirty="0"/>
          </a:p>
        </p:txBody>
      </p:sp>
      <p:sp>
        <p:nvSpPr>
          <p:cNvPr id="23" name="Shape 21"/>
          <p:cNvSpPr/>
          <p:nvPr/>
        </p:nvSpPr>
        <p:spPr>
          <a:xfrm>
            <a:off x="640080" y="2084832"/>
            <a:ext cx="274320" cy="274320"/>
          </a:xfrm>
          <a:prstGeom prst="ellipse">
            <a:avLst/>
          </a:prstGeom>
          <a:solidFill>
            <a:srgbClr val="C0654A"/>
          </a:solidFill>
          <a:ln/>
        </p:spPr>
      </p:sp>
      <p:sp>
        <p:nvSpPr>
          <p:cNvPr id="24" name="Text 22"/>
          <p:cNvSpPr/>
          <p:nvPr/>
        </p:nvSpPr>
        <p:spPr>
          <a:xfrm>
            <a:off x="640080" y="208483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5" name="Text 23"/>
          <p:cNvSpPr/>
          <p:nvPr/>
        </p:nvSpPr>
        <p:spPr>
          <a:xfrm>
            <a:off x="1024128" y="2029968"/>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How far do we move right? The first number is 2, so we move 2 right.</a:t>
            </a:r>
            <a:endParaRPr lang="en-US" sz="1050" dirty="0"/>
          </a:p>
        </p:txBody>
      </p:sp>
      <p:sp>
        <p:nvSpPr>
          <p:cNvPr id="26" name="Shape 24"/>
          <p:cNvSpPr/>
          <p:nvPr/>
        </p:nvSpPr>
        <p:spPr>
          <a:xfrm>
            <a:off x="640080" y="2560320"/>
            <a:ext cx="274320" cy="274320"/>
          </a:xfrm>
          <a:prstGeom prst="ellipse">
            <a:avLst/>
          </a:prstGeom>
          <a:solidFill>
            <a:srgbClr val="C0654A"/>
          </a:solidFill>
          <a:ln/>
        </p:spPr>
      </p:sp>
      <p:sp>
        <p:nvSpPr>
          <p:cNvPr id="27" name="Text 25"/>
          <p:cNvSpPr/>
          <p:nvPr/>
        </p:nvSpPr>
        <p:spPr>
          <a:xfrm>
            <a:off x="640080" y="256032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8" name="Text 26"/>
          <p:cNvSpPr/>
          <p:nvPr/>
        </p:nvSpPr>
        <p:spPr>
          <a:xfrm>
            <a:off x="1024128" y="2505456"/>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How far do we move up? The second number is 1, so we move 1 up and place the dot.</a:t>
            </a:r>
            <a:endParaRPr lang="en-US" sz="1050" dirty="0"/>
          </a:p>
        </p:txBody>
      </p:sp>
      <p:sp>
        <p:nvSpPr>
          <p:cNvPr id="29" name="Text 27"/>
          <p:cNvSpPr/>
          <p:nvPr/>
        </p:nvSpPr>
        <p:spPr>
          <a:xfrm>
            <a:off x="594360" y="3886200"/>
            <a:ext cx="512064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Your turn — show your work:</a:t>
            </a:r>
            <a:endParaRPr lang="en-US" sz="900" dirty="0"/>
          </a:p>
        </p:txBody>
      </p:sp>
      <p:sp>
        <p:nvSpPr>
          <p:cNvPr id="30" name="Shape 28"/>
          <p:cNvSpPr/>
          <p:nvPr/>
        </p:nvSpPr>
        <p:spPr>
          <a:xfrm>
            <a:off x="640080" y="4297680"/>
            <a:ext cx="5120640" cy="0"/>
          </a:xfrm>
          <a:prstGeom prst="line">
            <a:avLst/>
          </a:prstGeom>
          <a:noFill/>
          <a:ln w="9525">
            <a:solidFill>
              <a:srgbClr val="C7CDD2"/>
            </a:solidFill>
            <a:prstDash val="dash"/>
          </a:ln>
        </p:spPr>
      </p:sp>
      <p:sp>
        <p:nvSpPr>
          <p:cNvPr id="31" name="Shape 29"/>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3" name="Text 31"/>
          <p:cNvSpPr/>
          <p:nvPr/>
        </p:nvSpPr>
        <p:spPr>
          <a:xfrm>
            <a:off x="6217920" y="1097280"/>
            <a:ext cx="2468880" cy="146304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On a treasure map laid over a coordinate plane, why do we always start at the origin (0, 0) and move sideways before moving up or down to reach the treasure?</a:t>
            </a:r>
            <a:endParaRPr lang="en-US" sz="1000" dirty="0"/>
          </a:p>
        </p:txBody>
      </p:sp>
      <p:sp>
        <p:nvSpPr>
          <p:cNvPr id="34" name="Shape 32"/>
          <p:cNvSpPr/>
          <p:nvPr/>
        </p:nvSpPr>
        <p:spPr>
          <a:xfrm>
            <a:off x="6172200" y="2743200"/>
            <a:ext cx="2514600" cy="1828800"/>
          </a:xfrm>
          <a:prstGeom prst="roundRect">
            <a:avLst>
              <a:gd name="adj" fmla="val 40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6309360" y="2834640"/>
            <a:ext cx="2286000" cy="228600"/>
          </a:xfrm>
          <a:prstGeom prst="rect">
            <a:avLst/>
          </a:prstGeom>
          <a:noFill/>
          <a:ln/>
        </p:spPr>
        <p:txBody>
          <a:bodyPr wrap="square" rtlCol="0" anchor="ctr"/>
          <a:lstStyle/>
          <a:p>
            <a:pPr indent="0" marL="0">
              <a:buNone/>
            </a:pPr>
            <a:r>
              <a:rPr lang="en-US" sz="950" b="1" dirty="0">
                <a:solidFill>
                  <a:srgbClr val="C0654A"/>
                </a:solidFill>
                <a:latin typeface="Outfit" pitchFamily="34" charset="0"/>
                <a:ea typeface="Outfit" pitchFamily="34" charset="-122"/>
                <a:cs typeface="Outfit" pitchFamily="34" charset="-120"/>
              </a:rPr>
              <a:t>🔑 Key Idea</a:t>
            </a:r>
            <a:endParaRPr lang="en-US" sz="950" dirty="0"/>
          </a:p>
        </p:txBody>
      </p:sp>
      <p:sp>
        <p:nvSpPr>
          <p:cNvPr id="36" name="Text 34"/>
          <p:cNvSpPr/>
          <p:nvPr/>
        </p:nvSpPr>
        <p:spPr>
          <a:xfrm>
            <a:off x="6309360" y="3108960"/>
            <a:ext cx="2286000" cy="1371600"/>
          </a:xfrm>
          <a:prstGeom prst="rect">
            <a:avLst/>
          </a:prstGeom>
          <a:noFill/>
          <a:ln/>
        </p:spPr>
        <p:txBody>
          <a:bodyPr wrap="square" rtlCol="0" anchor="t"/>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Always start at the origin (0, 0), move right/left first, then up/down.</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Sort It Out / Clasifícalo</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5</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22960"/>
            <a:ext cx="5120640" cy="365760"/>
          </a:xfrm>
          <a:prstGeom prst="rect">
            <a:avLst/>
          </a:prstGeom>
          <a:noFill/>
          <a:ln/>
        </p:spPr>
        <p:txBody>
          <a:bodyPr wrap="square" rtlCol="0" anchor="ctr"/>
          <a:lstStyle/>
          <a:p>
            <a:pPr indent="0" marL="0">
              <a:buNone/>
            </a:pPr>
            <a:r>
              <a:rPr lang="en-US" sz="1050" b="1" dirty="0">
                <a:solidFill>
                  <a:srgbClr val="17324D"/>
                </a:solidFill>
                <a:latin typeface="Outfit" pitchFamily="34" charset="0"/>
                <a:ea typeface="Outfit" pitchFamily="34" charset="-122"/>
                <a:cs typeface="Outfit" pitchFamily="34" charset="-120"/>
              </a:rPr>
              <a:t>Plot Captain Vega's treasure map points and connect them to reveal the path!</a:t>
            </a:r>
            <a:endParaRPr lang="en-US" sz="1050" dirty="0"/>
          </a:p>
        </p:txBody>
      </p:sp>
      <p:sp>
        <p:nvSpPr>
          <p:cNvPr id="19" name="Text 17"/>
          <p:cNvSpPr/>
          <p:nvPr/>
        </p:nvSpPr>
        <p:spPr>
          <a:xfrm>
            <a:off x="594360" y="1234440"/>
            <a:ext cx="5120640" cy="219456"/>
          </a:xfrm>
          <a:prstGeom prst="rect">
            <a:avLst/>
          </a:prstGeom>
          <a:noFill/>
          <a:ln/>
        </p:spPr>
        <p:txBody>
          <a:bodyPr wrap="square" rtlCol="0" anchor="ctr"/>
          <a:lstStyle/>
          <a:p>
            <a:pPr indent="0" marL="0">
              <a:buNone/>
            </a:pPr>
            <a:r>
              <a:rPr lang="en-US" sz="850" i="1" dirty="0">
                <a:solidFill>
                  <a:srgbClr val="8A96A3"/>
                </a:solidFill>
                <a:latin typeface="Hanken Grotesk" pitchFamily="34" charset="0"/>
                <a:ea typeface="Hanken Grotesk" pitchFamily="34" charset="-122"/>
                <a:cs typeface="Hanken Grotesk" pitchFamily="34" charset="-120"/>
              </a:rPr>
              <a:t>Card Bank — cut or sort these cards:</a:t>
            </a:r>
            <a:endParaRPr lang="en-US" sz="850" dirty="0"/>
          </a:p>
        </p:txBody>
      </p:sp>
      <p:sp>
        <p:nvSpPr>
          <p:cNvPr id="20" name="Text 18"/>
          <p:cNvSpPr/>
          <p:nvPr/>
        </p:nvSpPr>
        <p:spPr>
          <a:xfrm>
            <a:off x="59436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1</a:t>
            </a:r>
            <a:endParaRPr lang="en-US" sz="900" dirty="0"/>
          </a:p>
        </p:txBody>
      </p:sp>
      <p:sp>
        <p:nvSpPr>
          <p:cNvPr id="21" name="Text 19"/>
          <p:cNvSpPr/>
          <p:nvPr/>
        </p:nvSpPr>
        <p:spPr>
          <a:xfrm>
            <a:off x="236220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2</a:t>
            </a:r>
            <a:endParaRPr lang="en-US" sz="900" dirty="0"/>
          </a:p>
        </p:txBody>
      </p:sp>
      <p:sp>
        <p:nvSpPr>
          <p:cNvPr id="22" name="Text 20"/>
          <p:cNvSpPr/>
          <p:nvPr/>
        </p:nvSpPr>
        <p:spPr>
          <a:xfrm>
            <a:off x="413004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3</a:t>
            </a:r>
            <a:endParaRPr lang="en-US" sz="900" dirty="0"/>
          </a:p>
        </p:txBody>
      </p:sp>
      <p:sp>
        <p:nvSpPr>
          <p:cNvPr id="23" name="Text 21"/>
          <p:cNvSpPr/>
          <p:nvPr/>
        </p:nvSpPr>
        <p:spPr>
          <a:xfrm>
            <a:off x="594360" y="1975104"/>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4</a:t>
            </a:r>
            <a:endParaRPr lang="en-US" sz="900" dirty="0"/>
          </a:p>
        </p:txBody>
      </p:sp>
      <p:sp>
        <p:nvSpPr>
          <p:cNvPr id="24" name="Shape 22"/>
          <p:cNvSpPr/>
          <p:nvPr/>
        </p:nvSpPr>
        <p:spPr>
          <a:xfrm>
            <a:off x="594360" y="2560320"/>
            <a:ext cx="2514600" cy="1965960"/>
          </a:xfrm>
          <a:prstGeom prst="roundRect">
            <a:avLst>
              <a:gd name="adj" fmla="val 2326"/>
            </a:avLst>
          </a:prstGeom>
          <a:solidFill>
            <a:srgbClr val="FFFFFF"/>
          </a:solidFill>
          <a:ln w="12700">
            <a:solidFill>
              <a:srgbClr val="C0654A"/>
            </a:solidFill>
            <a:prstDash val="solid"/>
          </a:ln>
          <a:effectLst>
            <a:outerShdw sx="100000" sy="100000" kx="0" ky="0" algn="bl" rotWithShape="0" blurRad="50800" dist="12700" dir="5400000">
              <a:srgbClr val="1C2E42">
                <a:alpha val="10000"/>
              </a:srgbClr>
            </a:outerShdw>
          </a:effectLst>
        </p:spPr>
      </p:sp>
      <p:sp>
        <p:nvSpPr>
          <p:cNvPr id="25" name="Text 23"/>
          <p:cNvSpPr/>
          <p:nvPr/>
        </p:nvSpPr>
        <p:spPr>
          <a:xfrm>
            <a:off x="594360" y="2560320"/>
            <a:ext cx="2514600" cy="292608"/>
          </a:xfrm>
          <a:prstGeom prst="rect">
            <a:avLst/>
          </a:prstGeom>
          <a:solidFill>
            <a:srgbClr val="C0654A"/>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A</a:t>
            </a:r>
            <a:endParaRPr lang="en-US" sz="950" dirty="0"/>
          </a:p>
        </p:txBody>
      </p:sp>
      <p:sp>
        <p:nvSpPr>
          <p:cNvPr id="26" name="Shape 24"/>
          <p:cNvSpPr/>
          <p:nvPr/>
        </p:nvSpPr>
        <p:spPr>
          <a:xfrm>
            <a:off x="3246120" y="2560320"/>
            <a:ext cx="2514600" cy="1965960"/>
          </a:xfrm>
          <a:prstGeom prst="roundRect">
            <a:avLst>
              <a:gd name="adj" fmla="val 2326"/>
            </a:avLst>
          </a:prstGeom>
          <a:solidFill>
            <a:srgbClr val="FFFFFF"/>
          </a:solidFill>
          <a:ln w="12700">
            <a:solidFill>
              <a:srgbClr val="C0654A"/>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3246120" y="2560320"/>
            <a:ext cx="2514600" cy="292608"/>
          </a:xfrm>
          <a:prstGeom prst="rect">
            <a:avLst/>
          </a:prstGeom>
          <a:solidFill>
            <a:srgbClr val="C0654A"/>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B</a:t>
            </a:r>
            <a:endParaRPr lang="en-US" sz="950" dirty="0"/>
          </a:p>
        </p:txBody>
      </p:sp>
      <p:sp>
        <p:nvSpPr>
          <p:cNvPr id="28" name="Shape 26"/>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0" name="Text 28"/>
          <p:cNvSpPr/>
          <p:nvPr/>
        </p:nvSpPr>
        <p:spPr>
          <a:xfrm>
            <a:off x="6217920" y="1097280"/>
            <a:ext cx="2468880" cy="137160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Your map says the treasure is at (4, 2). Walk your partner through every move you make from the origin, using the words x-axis and y-axis.</a:t>
            </a:r>
            <a:endParaRPr lang="en-US" sz="1000" dirty="0"/>
          </a:p>
        </p:txBody>
      </p:sp>
      <p:sp>
        <p:nvSpPr>
          <p:cNvPr id="31" name="Shape 29"/>
          <p:cNvSpPr/>
          <p:nvPr/>
        </p:nvSpPr>
        <p:spPr>
          <a:xfrm>
            <a:off x="6217920" y="2743200"/>
            <a:ext cx="2423160" cy="0"/>
          </a:xfrm>
          <a:prstGeom prst="line">
            <a:avLst/>
          </a:prstGeom>
          <a:noFill/>
          <a:ln w="9525">
            <a:solidFill>
              <a:srgbClr val="C7CDD2"/>
            </a:solidFill>
            <a:prstDash val="dash"/>
          </a:ln>
        </p:spPr>
      </p:sp>
      <p:sp>
        <p:nvSpPr>
          <p:cNvPr id="32" name="Shape 30"/>
          <p:cNvSpPr/>
          <p:nvPr/>
        </p:nvSpPr>
        <p:spPr>
          <a:xfrm>
            <a:off x="6217920" y="3072384"/>
            <a:ext cx="2423160" cy="0"/>
          </a:xfrm>
          <a:prstGeom prst="line">
            <a:avLst/>
          </a:prstGeom>
          <a:noFill/>
          <a:ln w="9525">
            <a:solidFill>
              <a:srgbClr val="C7CDD2"/>
            </a:solidFill>
            <a:prstDash val="dash"/>
          </a:ln>
        </p:spPr>
      </p:sp>
      <p:sp>
        <p:nvSpPr>
          <p:cNvPr id="33" name="Shape 31"/>
          <p:cNvSpPr/>
          <p:nvPr/>
        </p:nvSpPr>
        <p:spPr>
          <a:xfrm>
            <a:off x="6217920" y="3401568"/>
            <a:ext cx="2423160" cy="0"/>
          </a:xfrm>
          <a:prstGeom prst="line">
            <a:avLst/>
          </a:prstGeom>
          <a:noFill/>
          <a:ln w="9525">
            <a:solidFill>
              <a:srgbClr val="C7CDD2"/>
            </a:solidFill>
            <a:prstDash val="dash"/>
          </a:ln>
        </p:spPr>
      </p:sp>
      <p:sp>
        <p:nvSpPr>
          <p:cNvPr id="34" name="Shape 32"/>
          <p:cNvSpPr/>
          <p:nvPr/>
        </p:nvSpPr>
        <p:spPr>
          <a:xfrm>
            <a:off x="6217920" y="3730752"/>
            <a:ext cx="2423160" cy="0"/>
          </a:xfrm>
          <a:prstGeom prst="line">
            <a:avLst/>
          </a:prstGeom>
          <a:noFill/>
          <a:ln w="9525">
            <a:solidFill>
              <a:srgbClr val="C7CDD2"/>
            </a:solidFill>
            <a:prstDash val="dash"/>
          </a:ln>
        </p:spPr>
      </p:sp>
      <p:sp>
        <p:nvSpPr>
          <p:cNvPr id="35" name="Shape 33"/>
          <p:cNvSpPr/>
          <p:nvPr/>
        </p:nvSpPr>
        <p:spPr>
          <a:xfrm>
            <a:off x="6217920" y="4059936"/>
            <a:ext cx="2423160" cy="0"/>
          </a:xfrm>
          <a:prstGeom prst="line">
            <a:avLst/>
          </a:prstGeom>
          <a:noFill/>
          <a:ln w="9525">
            <a:solidFill>
              <a:srgbClr val="C7CDD2"/>
            </a:solidFill>
            <a:prstDash val="dash"/>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Error Analysis / Análisis de Errores</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6</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554480" cy="274320"/>
          </a:xfrm>
          <a:prstGeom prst="rect">
            <a:avLst>
              <a:gd name="adj" fmla="val 50000"/>
            </a:avLst>
          </a:prstGeom>
          <a:solidFill>
            <a:srgbClr val="C0392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FIND THE ERROR</a:t>
            </a:r>
            <a:endParaRPr lang="en-US" sz="900" dirty="0"/>
          </a:p>
        </p:txBody>
      </p:sp>
      <p:sp>
        <p:nvSpPr>
          <p:cNvPr id="19" name="Text 17"/>
          <p:cNvSpPr/>
          <p:nvPr/>
        </p:nvSpPr>
        <p:spPr>
          <a:xfrm>
            <a:off x="2286000" y="841248"/>
            <a:ext cx="338328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Find the Plotting Error</a:t>
            </a:r>
            <a:endParaRPr lang="en-US" sz="1100" dirty="0"/>
          </a:p>
        </p:txBody>
      </p:sp>
      <p:sp>
        <p:nvSpPr>
          <p:cNvPr id="20" name="Text 18"/>
          <p:cNvSpPr/>
          <p:nvPr/>
        </p:nvSpPr>
        <p:spPr>
          <a:xfrm>
            <a:off x="594360" y="1188720"/>
            <a:ext cx="5120640" cy="365760"/>
          </a:xfrm>
          <a:prstGeom prst="rect">
            <a:avLst/>
          </a:prstGeom>
          <a:noFill/>
          <a:ln/>
        </p:spPr>
        <p:txBody>
          <a:bodyPr wrap="square" rtlCol="0" anchor="ctr"/>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 classmate turned in the work below. One step has a mistake — find it, name it, fix it.</a:t>
            </a:r>
            <a:endParaRPr lang="en-US" sz="950" dirty="0"/>
          </a:p>
        </p:txBody>
      </p:sp>
      <p:sp>
        <p:nvSpPr>
          <p:cNvPr id="21" name="Shape 19"/>
          <p:cNvSpPr/>
          <p:nvPr/>
        </p:nvSpPr>
        <p:spPr>
          <a:xfrm>
            <a:off x="594360" y="1627632"/>
            <a:ext cx="5166360" cy="1901952"/>
          </a:xfrm>
          <a:prstGeom prst="roundRect">
            <a:avLst>
              <a:gd name="adj" fmla="val 2404"/>
            </a:avLst>
          </a:prstGeom>
          <a:solidFill>
            <a:srgbClr val="F4F1E8"/>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2" name="Text 20"/>
          <p:cNvSpPr/>
          <p:nvPr/>
        </p:nvSpPr>
        <p:spPr>
          <a:xfrm>
            <a:off x="713232" y="1691640"/>
            <a:ext cx="4937760" cy="219456"/>
          </a:xfrm>
          <a:prstGeom prst="rect">
            <a:avLst/>
          </a:prstGeom>
          <a:noFill/>
          <a:ln/>
        </p:spPr>
        <p:txBody>
          <a:bodyPr wrap="square" rtlCol="0" anchor="ctr"/>
          <a:lstStyle/>
          <a:p>
            <a:pPr indent="0" marL="0">
              <a:buNone/>
            </a:pPr>
            <a:r>
              <a:rPr lang="en-US" sz="800" i="1" dirty="0">
                <a:solidFill>
                  <a:srgbClr val="8A96A3"/>
                </a:solidFill>
                <a:latin typeface="Hanken Grotesk" pitchFamily="34" charset="0"/>
                <a:ea typeface="Hanken Grotesk" pitchFamily="34" charset="-122"/>
                <a:cs typeface="Hanken Grotesk" pitchFamily="34" charset="-120"/>
              </a:rPr>
              <a:t>Student's work (contains an error):</a:t>
            </a:r>
            <a:endParaRPr lang="en-US" sz="800" dirty="0"/>
          </a:p>
        </p:txBody>
      </p:sp>
      <p:sp>
        <p:nvSpPr>
          <p:cNvPr id="23" name="Text 21"/>
          <p:cNvSpPr/>
          <p:nvPr/>
        </p:nvSpPr>
        <p:spPr>
          <a:xfrm>
            <a:off x="777240" y="1938528"/>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1. </a:t>
            </a:r>
            <a:pPr indent="0" marL="0">
              <a:buNone/>
            </a:pPr>
            <a:r>
              <a:rPr lang="en-US" sz="950" b="1" dirty="0">
                <a:solidFill>
                  <a:srgbClr val="17324D"/>
                </a:solidFill>
                <a:latin typeface="Hanken Grotesk" pitchFamily="34" charset="0"/>
                <a:ea typeface="Hanken Grotesk" pitchFamily="34" charset="-122"/>
                <a:cs typeface="Hanken Grotesk" pitchFamily="34" charset="-120"/>
              </a:rPr>
              <a:t>Ordered pair:  </a:t>
            </a:r>
            <a:pPr indent="0" marL="0">
              <a:buNone/>
            </a:pPr>
            <a:r>
              <a:rPr lang="en-US" sz="950" b="1" dirty="0">
                <a:solidFill>
                  <a:srgbClr val="24323F"/>
                </a:solidFill>
                <a:latin typeface="Courier New" pitchFamily="34" charset="0"/>
                <a:ea typeface="Courier New" pitchFamily="34" charset="-122"/>
                <a:cs typeface="Courier New" pitchFamily="34" charset="-120"/>
              </a:rPr>
              <a:t>(4, 7)</a:t>
            </a:r>
            <a:endParaRPr lang="en-US" sz="950" dirty="0"/>
          </a:p>
        </p:txBody>
      </p:sp>
      <p:sp>
        <p:nvSpPr>
          <p:cNvPr id="24" name="Text 22"/>
          <p:cNvSpPr/>
          <p:nvPr/>
        </p:nvSpPr>
        <p:spPr>
          <a:xfrm>
            <a:off x="777240" y="2322576"/>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2. </a:t>
            </a:r>
            <a:pPr indent="0" marL="0">
              <a:buNone/>
            </a:pPr>
            <a:r>
              <a:rPr lang="en-US" sz="950" b="1" dirty="0">
                <a:solidFill>
                  <a:srgbClr val="17324D"/>
                </a:solidFill>
                <a:latin typeface="Hanken Grotesk" pitchFamily="34" charset="0"/>
                <a:ea typeface="Hanken Grotesk" pitchFamily="34" charset="-122"/>
                <a:cs typeface="Hanken Grotesk" pitchFamily="34" charset="-120"/>
              </a:rPr>
              <a:t>Read x-coordinate:  </a:t>
            </a:r>
            <a:pPr indent="0" marL="0">
              <a:buNone/>
            </a:pPr>
            <a:r>
              <a:rPr lang="en-US" sz="950" b="1" dirty="0">
                <a:solidFill>
                  <a:srgbClr val="24323F"/>
                </a:solidFill>
                <a:latin typeface="Courier New" pitchFamily="34" charset="0"/>
                <a:ea typeface="Courier New" pitchFamily="34" charset="-122"/>
                <a:cs typeface="Courier New" pitchFamily="34" charset="-120"/>
              </a:rPr>
              <a:t>Go up 4 units</a:t>
            </a:r>
            <a:endParaRPr lang="en-US" sz="950" dirty="0"/>
          </a:p>
        </p:txBody>
      </p:sp>
      <p:sp>
        <p:nvSpPr>
          <p:cNvPr id="25" name="Text 23"/>
          <p:cNvSpPr/>
          <p:nvPr/>
        </p:nvSpPr>
        <p:spPr>
          <a:xfrm>
            <a:off x="777240" y="2706624"/>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3. </a:t>
            </a:r>
            <a:pPr indent="0" marL="0">
              <a:buNone/>
            </a:pPr>
            <a:r>
              <a:rPr lang="en-US" sz="950" b="1" dirty="0">
                <a:solidFill>
                  <a:srgbClr val="17324D"/>
                </a:solidFill>
                <a:latin typeface="Hanken Grotesk" pitchFamily="34" charset="0"/>
                <a:ea typeface="Hanken Grotesk" pitchFamily="34" charset="-122"/>
                <a:cs typeface="Hanken Grotesk" pitchFamily="34" charset="-120"/>
              </a:rPr>
              <a:t>Read y-coordinate:  </a:t>
            </a:r>
            <a:pPr indent="0" marL="0">
              <a:buNone/>
            </a:pPr>
            <a:r>
              <a:rPr lang="en-US" sz="950" b="1" dirty="0">
                <a:solidFill>
                  <a:srgbClr val="24323F"/>
                </a:solidFill>
                <a:latin typeface="Courier New" pitchFamily="34" charset="0"/>
                <a:ea typeface="Courier New" pitchFamily="34" charset="-122"/>
                <a:cs typeface="Courier New" pitchFamily="34" charset="-120"/>
              </a:rPr>
              <a:t>Go right 7 units</a:t>
            </a:r>
            <a:endParaRPr lang="en-US" sz="950" dirty="0"/>
          </a:p>
        </p:txBody>
      </p:sp>
      <p:sp>
        <p:nvSpPr>
          <p:cNvPr id="26" name="Text 24"/>
          <p:cNvSpPr/>
          <p:nvPr/>
        </p:nvSpPr>
        <p:spPr>
          <a:xfrm>
            <a:off x="777240" y="3090672"/>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4. </a:t>
            </a:r>
            <a:pPr indent="0" marL="0">
              <a:buNone/>
            </a:pPr>
            <a:r>
              <a:rPr lang="en-US" sz="950" b="1" dirty="0">
                <a:solidFill>
                  <a:srgbClr val="17324D"/>
                </a:solidFill>
                <a:latin typeface="Hanken Grotesk" pitchFamily="34" charset="0"/>
                <a:ea typeface="Hanken Grotesk" pitchFamily="34" charset="-122"/>
                <a:cs typeface="Hanken Grotesk" pitchFamily="34" charset="-120"/>
              </a:rPr>
              <a:t>Plot point:  </a:t>
            </a:r>
            <a:pPr indent="0" marL="0">
              <a:buNone/>
            </a:pPr>
            <a:r>
              <a:rPr lang="en-US" sz="950" b="1" dirty="0">
                <a:solidFill>
                  <a:srgbClr val="24323F"/>
                </a:solidFill>
                <a:latin typeface="Courier New" pitchFamily="34" charset="0"/>
                <a:ea typeface="Courier New" pitchFamily="34" charset="-122"/>
                <a:cs typeface="Courier New" pitchFamily="34" charset="-120"/>
              </a:rPr>
              <a:t>Point placed at column 7, row 4</a:t>
            </a:r>
            <a:endParaRPr lang="en-US" sz="950" dirty="0"/>
          </a:p>
        </p:txBody>
      </p:sp>
      <p:sp>
        <p:nvSpPr>
          <p:cNvPr id="27" name="Text 25"/>
          <p:cNvSpPr/>
          <p:nvPr/>
        </p:nvSpPr>
        <p:spPr>
          <a:xfrm>
            <a:off x="594360" y="3666744"/>
            <a:ext cx="5120640" cy="22860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Which step has the error? Circle it above.</a:t>
            </a:r>
            <a:endParaRPr lang="en-US" sz="900" dirty="0"/>
          </a:p>
        </p:txBody>
      </p:sp>
      <p:sp>
        <p:nvSpPr>
          <p:cNvPr id="28" name="Shape 26"/>
          <p:cNvSpPr/>
          <p:nvPr/>
        </p:nvSpPr>
        <p:spPr>
          <a:xfrm>
            <a:off x="6035040" y="685800"/>
            <a:ext cx="2788920" cy="4023360"/>
          </a:xfrm>
          <a:prstGeom prst="roundRect">
            <a:avLst>
              <a:gd name="adj" fmla="val 2623"/>
            </a:avLst>
          </a:prstGeom>
          <a:solidFill>
            <a:srgbClr val="FCE6DE"/>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6035040" y="685800"/>
            <a:ext cx="2788920" cy="274320"/>
          </a:xfrm>
          <a:prstGeom prst="rect">
            <a:avLst/>
          </a:prstGeom>
          <a:solidFill>
            <a:srgbClr val="C0392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Explain &amp; Fix</a:t>
            </a:r>
            <a:endParaRPr lang="en-US" sz="1000" dirty="0"/>
          </a:p>
        </p:txBody>
      </p:sp>
      <p:sp>
        <p:nvSpPr>
          <p:cNvPr id="30" name="Text 28"/>
          <p:cNvSpPr/>
          <p:nvPr/>
        </p:nvSpPr>
        <p:spPr>
          <a:xfrm>
            <a:off x="6217920" y="1097280"/>
            <a:ext cx="2468880" cy="50292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mistake was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 because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a:t>
            </a:r>
            <a:endParaRPr lang="en-US" sz="1000" dirty="0"/>
          </a:p>
        </p:txBody>
      </p:sp>
      <p:sp>
        <p:nvSpPr>
          <p:cNvPr id="31" name="Shape 29"/>
          <p:cNvSpPr/>
          <p:nvPr/>
        </p:nvSpPr>
        <p:spPr>
          <a:xfrm>
            <a:off x="6217920" y="1783080"/>
            <a:ext cx="2423160" cy="0"/>
          </a:xfrm>
          <a:prstGeom prst="line">
            <a:avLst/>
          </a:prstGeom>
          <a:noFill/>
          <a:ln w="9525">
            <a:solidFill>
              <a:srgbClr val="C7CDD2"/>
            </a:solidFill>
            <a:prstDash val="dash"/>
          </a:ln>
        </p:spPr>
      </p:sp>
      <p:sp>
        <p:nvSpPr>
          <p:cNvPr id="32" name="Shape 30"/>
          <p:cNvSpPr/>
          <p:nvPr/>
        </p:nvSpPr>
        <p:spPr>
          <a:xfrm>
            <a:off x="6217920" y="2075688"/>
            <a:ext cx="2423160" cy="0"/>
          </a:xfrm>
          <a:prstGeom prst="line">
            <a:avLst/>
          </a:prstGeom>
          <a:noFill/>
          <a:ln w="9525">
            <a:solidFill>
              <a:srgbClr val="C7CDD2"/>
            </a:solidFill>
            <a:prstDash val="dash"/>
          </a:ln>
        </p:spPr>
      </p:sp>
      <p:sp>
        <p:nvSpPr>
          <p:cNvPr id="33" name="Shape 31"/>
          <p:cNvSpPr/>
          <p:nvPr/>
        </p:nvSpPr>
        <p:spPr>
          <a:xfrm>
            <a:off x="6217920" y="2368296"/>
            <a:ext cx="2423160" cy="0"/>
          </a:xfrm>
          <a:prstGeom prst="line">
            <a:avLst/>
          </a:prstGeom>
          <a:noFill/>
          <a:ln w="9525">
            <a:solidFill>
              <a:srgbClr val="C7CDD2"/>
            </a:solidFill>
            <a:prstDash val="dash"/>
          </a:ln>
        </p:spPr>
      </p:sp>
      <p:sp>
        <p:nvSpPr>
          <p:cNvPr id="34" name="Text 32"/>
          <p:cNvSpPr/>
          <p:nvPr/>
        </p:nvSpPr>
        <p:spPr>
          <a:xfrm>
            <a:off x="6217920" y="2788920"/>
            <a:ext cx="2468880" cy="27432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Fix it — rewrite the step correctly:</a:t>
            </a:r>
            <a:endParaRPr lang="en-US" sz="900" dirty="0"/>
          </a:p>
        </p:txBody>
      </p:sp>
      <p:sp>
        <p:nvSpPr>
          <p:cNvPr id="35" name="Shape 33"/>
          <p:cNvSpPr/>
          <p:nvPr/>
        </p:nvSpPr>
        <p:spPr>
          <a:xfrm>
            <a:off x="6217920" y="3246120"/>
            <a:ext cx="2423160" cy="0"/>
          </a:xfrm>
          <a:prstGeom prst="line">
            <a:avLst/>
          </a:prstGeom>
          <a:noFill/>
          <a:ln w="9525">
            <a:solidFill>
              <a:srgbClr val="C7CDD2"/>
            </a:solidFill>
            <a:prstDash val="dash"/>
          </a:ln>
        </p:spPr>
      </p:sp>
      <p:sp>
        <p:nvSpPr>
          <p:cNvPr id="36" name="Shape 34"/>
          <p:cNvSpPr/>
          <p:nvPr/>
        </p:nvSpPr>
        <p:spPr>
          <a:xfrm>
            <a:off x="6217920" y="3538728"/>
            <a:ext cx="2423160" cy="0"/>
          </a:xfrm>
          <a:prstGeom prst="line">
            <a:avLst/>
          </a:prstGeom>
          <a:noFill/>
          <a:ln w="9525">
            <a:solidFill>
              <a:srgbClr val="C7CDD2"/>
            </a:solidFill>
            <a:prstDash val="dash"/>
          </a:ln>
        </p:spPr>
      </p:sp>
      <p:sp>
        <p:nvSpPr>
          <p:cNvPr id="37" name="Shape 35"/>
          <p:cNvSpPr/>
          <p:nvPr/>
        </p:nvSpPr>
        <p:spPr>
          <a:xfrm>
            <a:off x="6217920" y="3831336"/>
            <a:ext cx="2423160" cy="0"/>
          </a:xfrm>
          <a:prstGeom prst="line">
            <a:avLst/>
          </a:prstGeom>
          <a:noFill/>
          <a:ln w="9525">
            <a:solidFill>
              <a:srgbClr val="C7CDD2"/>
            </a:solidFill>
            <a:prstDash val="dash"/>
          </a:ln>
        </p:spPr>
      </p:sp>
      <p:sp>
        <p:nvSpPr>
          <p:cNvPr id="38" name="Shape 36"/>
          <p:cNvSpPr/>
          <p:nvPr/>
        </p:nvSpPr>
        <p:spPr>
          <a:xfrm>
            <a:off x="6217920" y="4123944"/>
            <a:ext cx="2423160" cy="0"/>
          </a:xfrm>
          <a:prstGeom prst="line">
            <a:avLst/>
          </a:prstGeom>
          <a:noFill/>
          <a:ln w="9525">
            <a:solidFill>
              <a:srgbClr val="C7CDD2"/>
            </a:solidFill>
            <a:prstDash val="dash"/>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Two-Column Notes / Notas</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7</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92608"/>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Steps / Pasos</a:t>
            </a:r>
            <a:endParaRPr lang="en-US" sz="1000" dirty="0"/>
          </a:p>
        </p:txBody>
      </p:sp>
      <p:sp>
        <p:nvSpPr>
          <p:cNvPr id="19" name="Shape 17"/>
          <p:cNvSpPr/>
          <p:nvPr/>
        </p:nvSpPr>
        <p:spPr>
          <a:xfrm>
            <a:off x="594360" y="1243584"/>
            <a:ext cx="274320" cy="274320"/>
          </a:xfrm>
          <a:prstGeom prst="ellipse">
            <a:avLst/>
          </a:prstGeom>
          <a:solidFill>
            <a:srgbClr val="C0654A"/>
          </a:solidFill>
          <a:ln/>
        </p:spPr>
      </p:sp>
      <p:sp>
        <p:nvSpPr>
          <p:cNvPr id="20" name="Text 18"/>
          <p:cNvSpPr/>
          <p:nvPr/>
        </p:nvSpPr>
        <p:spPr>
          <a:xfrm>
            <a:off x="594360" y="124358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1" name="Text 19"/>
          <p:cNvSpPr/>
          <p:nvPr/>
        </p:nvSpPr>
        <p:spPr>
          <a:xfrm>
            <a:off x="978408" y="1188720"/>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will plot the point (5, 4). The 5 is the x-coordinate, and the 4 is the y-coordinate.</a:t>
            </a:r>
            <a:endParaRPr lang="en-US" sz="1050" dirty="0"/>
          </a:p>
        </p:txBody>
      </p:sp>
      <p:sp>
        <p:nvSpPr>
          <p:cNvPr id="22" name="Shape 20"/>
          <p:cNvSpPr/>
          <p:nvPr/>
        </p:nvSpPr>
        <p:spPr>
          <a:xfrm>
            <a:off x="594360" y="1719072"/>
            <a:ext cx="274320" cy="274320"/>
          </a:xfrm>
          <a:prstGeom prst="ellipse">
            <a:avLst/>
          </a:prstGeom>
          <a:solidFill>
            <a:srgbClr val="C0654A"/>
          </a:solidFill>
          <a:ln/>
        </p:spPr>
      </p:sp>
      <p:sp>
        <p:nvSpPr>
          <p:cNvPr id="23" name="Text 21"/>
          <p:cNvSpPr/>
          <p:nvPr/>
        </p:nvSpPr>
        <p:spPr>
          <a:xfrm>
            <a:off x="594360" y="171907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4" name="Text 22"/>
          <p:cNvSpPr/>
          <p:nvPr/>
        </p:nvSpPr>
        <p:spPr>
          <a:xfrm>
            <a:off x="978408" y="1664208"/>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start at the origin, which is (0, 0).</a:t>
            </a:r>
            <a:endParaRPr lang="en-US" sz="1050" dirty="0"/>
          </a:p>
        </p:txBody>
      </p:sp>
      <p:sp>
        <p:nvSpPr>
          <p:cNvPr id="25" name="Shape 23"/>
          <p:cNvSpPr/>
          <p:nvPr/>
        </p:nvSpPr>
        <p:spPr>
          <a:xfrm>
            <a:off x="594360" y="2194560"/>
            <a:ext cx="274320" cy="274320"/>
          </a:xfrm>
          <a:prstGeom prst="ellipse">
            <a:avLst/>
          </a:prstGeom>
          <a:solidFill>
            <a:srgbClr val="C0654A"/>
          </a:solidFill>
          <a:ln/>
        </p:spPr>
      </p:sp>
      <p:sp>
        <p:nvSpPr>
          <p:cNvPr id="26" name="Text 24"/>
          <p:cNvSpPr/>
          <p:nvPr/>
        </p:nvSpPr>
        <p:spPr>
          <a:xfrm>
            <a:off x="594360" y="219456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7" name="Text 25"/>
          <p:cNvSpPr/>
          <p:nvPr/>
        </p:nvSpPr>
        <p:spPr>
          <a:xfrm>
            <a:off x="978408" y="2139696"/>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First I move 5 units to the right along the x-axis.</a:t>
            </a:r>
            <a:endParaRPr lang="en-US" sz="1050" dirty="0"/>
          </a:p>
        </p:txBody>
      </p:sp>
      <p:sp>
        <p:nvSpPr>
          <p:cNvPr id="28" name="Shape 26"/>
          <p:cNvSpPr/>
          <p:nvPr/>
        </p:nvSpPr>
        <p:spPr>
          <a:xfrm>
            <a:off x="594360" y="2670048"/>
            <a:ext cx="274320" cy="274320"/>
          </a:xfrm>
          <a:prstGeom prst="ellipse">
            <a:avLst/>
          </a:prstGeom>
          <a:solidFill>
            <a:srgbClr val="C0654A"/>
          </a:solidFill>
          <a:ln/>
        </p:spPr>
      </p:sp>
      <p:sp>
        <p:nvSpPr>
          <p:cNvPr id="29" name="Text 27"/>
          <p:cNvSpPr/>
          <p:nvPr/>
        </p:nvSpPr>
        <p:spPr>
          <a:xfrm>
            <a:off x="594360" y="267004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0" name="Text 28"/>
          <p:cNvSpPr/>
          <p:nvPr/>
        </p:nvSpPr>
        <p:spPr>
          <a:xfrm>
            <a:off x="978408" y="2615184"/>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Then I move 4 units up. I place my dot. That is the point (5, 4).</a:t>
            </a:r>
            <a:endParaRPr lang="en-US" sz="1050" dirty="0"/>
          </a:p>
        </p:txBody>
      </p:sp>
      <p:sp>
        <p:nvSpPr>
          <p:cNvPr id="31" name="Shape 29"/>
          <p:cNvSpPr/>
          <p:nvPr/>
        </p:nvSpPr>
        <p:spPr>
          <a:xfrm>
            <a:off x="4709160" y="685800"/>
            <a:ext cx="411480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4709160" y="685800"/>
            <a:ext cx="4114800" cy="292608"/>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My Example / Mi Ejemplo</a:t>
            </a:r>
            <a:endParaRPr lang="en-US" sz="1000" dirty="0"/>
          </a:p>
        </p:txBody>
      </p:sp>
      <p:sp>
        <p:nvSpPr>
          <p:cNvPr id="33" name="Text 31"/>
          <p:cNvSpPr/>
          <p:nvPr/>
        </p:nvSpPr>
        <p:spPr>
          <a:xfrm>
            <a:off x="4892040" y="1143000"/>
            <a:ext cx="3749040" cy="365760"/>
          </a:xfrm>
          <a:prstGeom prst="rect">
            <a:avLst/>
          </a:prstGeom>
          <a:noFill/>
          <a:ln/>
        </p:spPr>
        <p:txBody>
          <a:bodyPr wrap="square" rtlCol="0" anchor="ctr"/>
          <a:lstStyle/>
          <a:p>
            <a:pPr indent="0" marL="0">
              <a:buNone/>
            </a:pPr>
            <a:r>
              <a:rPr lang="en-US" sz="950" i="1" dirty="0">
                <a:solidFill>
                  <a:srgbClr val="8A96A3"/>
                </a:solidFill>
                <a:latin typeface="Hanken Grotesk" pitchFamily="34" charset="0"/>
                <a:ea typeface="Hanken Grotesk" pitchFamily="34" charset="-122"/>
                <a:cs typeface="Hanken Grotesk" pitchFamily="34" charset="-120"/>
              </a:rPr>
              <a:t>Work one problem here, matching each step on the left:</a:t>
            </a:r>
            <a:endParaRPr lang="en-US" sz="950" dirty="0"/>
          </a:p>
        </p:txBody>
      </p:sp>
      <p:sp>
        <p:nvSpPr>
          <p:cNvPr id="34" name="Shape 32"/>
          <p:cNvSpPr/>
          <p:nvPr/>
        </p:nvSpPr>
        <p:spPr>
          <a:xfrm>
            <a:off x="4892040" y="1783080"/>
            <a:ext cx="3749040" cy="0"/>
          </a:xfrm>
          <a:prstGeom prst="line">
            <a:avLst/>
          </a:prstGeom>
          <a:noFill/>
          <a:ln w="9525">
            <a:solidFill>
              <a:srgbClr val="C7CDD2"/>
            </a:solidFill>
            <a:prstDash val="dash"/>
          </a:ln>
        </p:spPr>
      </p:sp>
      <p:sp>
        <p:nvSpPr>
          <p:cNvPr id="35" name="Shape 33"/>
          <p:cNvSpPr/>
          <p:nvPr/>
        </p:nvSpPr>
        <p:spPr>
          <a:xfrm>
            <a:off x="4892040" y="2112264"/>
            <a:ext cx="3749040" cy="0"/>
          </a:xfrm>
          <a:prstGeom prst="line">
            <a:avLst/>
          </a:prstGeom>
          <a:noFill/>
          <a:ln w="9525">
            <a:solidFill>
              <a:srgbClr val="C7CDD2"/>
            </a:solidFill>
            <a:prstDash val="dash"/>
          </a:ln>
        </p:spPr>
      </p:sp>
      <p:sp>
        <p:nvSpPr>
          <p:cNvPr id="36" name="Shape 34"/>
          <p:cNvSpPr/>
          <p:nvPr/>
        </p:nvSpPr>
        <p:spPr>
          <a:xfrm>
            <a:off x="4892040" y="2441448"/>
            <a:ext cx="3749040" cy="0"/>
          </a:xfrm>
          <a:prstGeom prst="line">
            <a:avLst/>
          </a:prstGeom>
          <a:noFill/>
          <a:ln w="9525">
            <a:solidFill>
              <a:srgbClr val="C7CDD2"/>
            </a:solidFill>
            <a:prstDash val="dash"/>
          </a:ln>
        </p:spPr>
      </p:sp>
      <p:sp>
        <p:nvSpPr>
          <p:cNvPr id="37" name="Shape 35"/>
          <p:cNvSpPr/>
          <p:nvPr/>
        </p:nvSpPr>
        <p:spPr>
          <a:xfrm>
            <a:off x="4892040" y="2770632"/>
            <a:ext cx="3749040" cy="0"/>
          </a:xfrm>
          <a:prstGeom prst="line">
            <a:avLst/>
          </a:prstGeom>
          <a:noFill/>
          <a:ln w="9525">
            <a:solidFill>
              <a:srgbClr val="C7CDD2"/>
            </a:solidFill>
            <a:prstDash val="dash"/>
          </a:ln>
        </p:spPr>
      </p:sp>
      <p:sp>
        <p:nvSpPr>
          <p:cNvPr id="38" name="Shape 36"/>
          <p:cNvSpPr/>
          <p:nvPr/>
        </p:nvSpPr>
        <p:spPr>
          <a:xfrm>
            <a:off x="4892040" y="3099816"/>
            <a:ext cx="3749040" cy="0"/>
          </a:xfrm>
          <a:prstGeom prst="line">
            <a:avLst/>
          </a:prstGeom>
          <a:noFill/>
          <a:ln w="9525">
            <a:solidFill>
              <a:srgbClr val="C7CDD2"/>
            </a:solidFill>
            <a:prstDash val="dash"/>
          </a:ln>
        </p:spPr>
      </p:sp>
      <p:sp>
        <p:nvSpPr>
          <p:cNvPr id="39" name="Shape 37"/>
          <p:cNvSpPr/>
          <p:nvPr/>
        </p:nvSpPr>
        <p:spPr>
          <a:xfrm>
            <a:off x="4892040" y="3429000"/>
            <a:ext cx="3749040" cy="0"/>
          </a:xfrm>
          <a:prstGeom prst="line">
            <a:avLst/>
          </a:prstGeom>
          <a:noFill/>
          <a:ln w="9525">
            <a:solidFill>
              <a:srgbClr val="C7CDD2"/>
            </a:solidFill>
            <a:prstDash val="dash"/>
          </a:ln>
        </p:spPr>
      </p:sp>
      <p:sp>
        <p:nvSpPr>
          <p:cNvPr id="40" name="Shape 38"/>
          <p:cNvSpPr/>
          <p:nvPr/>
        </p:nvSpPr>
        <p:spPr>
          <a:xfrm>
            <a:off x="4892040" y="3758184"/>
            <a:ext cx="3749040" cy="0"/>
          </a:xfrm>
          <a:prstGeom prst="line">
            <a:avLst/>
          </a:prstGeom>
          <a:noFill/>
          <a:ln w="9525">
            <a:solidFill>
              <a:srgbClr val="C7CDD2"/>
            </a:solidFill>
            <a:prstDash val="dash"/>
          </a:ln>
        </p:spPr>
      </p:sp>
      <p:sp>
        <p:nvSpPr>
          <p:cNvPr id="41" name="Shape 39"/>
          <p:cNvSpPr/>
          <p:nvPr/>
        </p:nvSpPr>
        <p:spPr>
          <a:xfrm>
            <a:off x="4892040" y="4087368"/>
            <a:ext cx="3749040" cy="0"/>
          </a:xfrm>
          <a:prstGeom prst="line">
            <a:avLst/>
          </a:prstGeom>
          <a:noFill/>
          <a:ln w="9525">
            <a:solidFill>
              <a:srgbClr val="C7CDD2"/>
            </a:solidFill>
            <a:prstDash val="dash"/>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Choice Board / Tablero de Opciones</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8</a:t>
            </a:r>
            <a:endParaRPr lang="en-US" sz="800" dirty="0"/>
          </a:p>
        </p:txBody>
      </p:sp>
      <p:sp>
        <p:nvSpPr>
          <p:cNvPr id="17" name="Text 15"/>
          <p:cNvSpPr/>
          <p:nvPr/>
        </p:nvSpPr>
        <p:spPr>
          <a:xfrm>
            <a:off x="411480" y="640080"/>
            <a:ext cx="841248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Choose ONE to show what you know:</a:t>
            </a:r>
            <a:endParaRPr lang="en-US" sz="1200" dirty="0"/>
          </a:p>
        </p:txBody>
      </p:sp>
      <p:sp>
        <p:nvSpPr>
          <p:cNvPr id="18" name="Shape 16"/>
          <p:cNvSpPr/>
          <p:nvPr/>
        </p:nvSpPr>
        <p:spPr>
          <a:xfrm>
            <a:off x="411480" y="1051560"/>
            <a:ext cx="4114800" cy="1645920"/>
          </a:xfrm>
          <a:prstGeom prst="roundRect">
            <a:avLst>
              <a:gd name="adj" fmla="val 4444"/>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4864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0" name="Text 18"/>
          <p:cNvSpPr/>
          <p:nvPr/>
        </p:nvSpPr>
        <p:spPr>
          <a:xfrm>
            <a:off x="123444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Draw &amp; Label</a:t>
            </a:r>
            <a:endParaRPr lang="en-US" sz="1300" dirty="0"/>
          </a:p>
        </p:txBody>
      </p:sp>
      <p:sp>
        <p:nvSpPr>
          <p:cNvPr id="21" name="Text 19"/>
          <p:cNvSpPr/>
          <p:nvPr/>
        </p:nvSpPr>
        <p:spPr>
          <a:xfrm>
            <a:off x="59436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Sketch a model for today's problem. Label it using Coordinate plane and Ordered pair.</a:t>
            </a:r>
            <a:endParaRPr lang="en-US" sz="1000" dirty="0"/>
          </a:p>
        </p:txBody>
      </p:sp>
      <p:sp>
        <p:nvSpPr>
          <p:cNvPr id="22" name="Shape 20"/>
          <p:cNvSpPr/>
          <p:nvPr/>
        </p:nvSpPr>
        <p:spPr>
          <a:xfrm>
            <a:off x="4709160" y="1051560"/>
            <a:ext cx="4114800" cy="1645920"/>
          </a:xfrm>
          <a:prstGeom prst="roundRect">
            <a:avLst>
              <a:gd name="adj" fmla="val 4444"/>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484632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4" name="Text 22"/>
          <p:cNvSpPr/>
          <p:nvPr/>
        </p:nvSpPr>
        <p:spPr>
          <a:xfrm>
            <a:off x="553212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Explain It</a:t>
            </a:r>
            <a:endParaRPr lang="en-US" sz="1300" dirty="0"/>
          </a:p>
        </p:txBody>
      </p:sp>
      <p:sp>
        <p:nvSpPr>
          <p:cNvPr id="25" name="Text 23"/>
          <p:cNvSpPr/>
          <p:nvPr/>
        </p:nvSpPr>
        <p:spPr>
          <a:xfrm>
            <a:off x="489204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In 2–3 sentences, explain "Always start at the origin (0, 0), move right/left first, then up/down." in your own words.</a:t>
            </a:r>
            <a:endParaRPr lang="en-US" sz="1000" dirty="0"/>
          </a:p>
        </p:txBody>
      </p:sp>
      <p:sp>
        <p:nvSpPr>
          <p:cNvPr id="26" name="Shape 24"/>
          <p:cNvSpPr/>
          <p:nvPr/>
        </p:nvSpPr>
        <p:spPr>
          <a:xfrm>
            <a:off x="411480" y="2834640"/>
            <a:ext cx="4114800" cy="1645920"/>
          </a:xfrm>
          <a:prstGeom prst="roundRect">
            <a:avLst>
              <a:gd name="adj" fmla="val 4444"/>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4864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8" name="Text 26"/>
          <p:cNvSpPr/>
          <p:nvPr/>
        </p:nvSpPr>
        <p:spPr>
          <a:xfrm>
            <a:off x="123444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Solve It</a:t>
            </a:r>
            <a:endParaRPr lang="en-US" sz="1300" dirty="0"/>
          </a:p>
        </p:txBody>
      </p:sp>
      <p:sp>
        <p:nvSpPr>
          <p:cNvPr id="29" name="Text 27"/>
          <p:cNvSpPr/>
          <p:nvPr/>
        </p:nvSpPr>
        <p:spPr>
          <a:xfrm>
            <a:off x="59436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Work one practice problem and show every step clearly.</a:t>
            </a:r>
            <a:endParaRPr lang="en-US" sz="1000" dirty="0"/>
          </a:p>
        </p:txBody>
      </p:sp>
      <p:sp>
        <p:nvSpPr>
          <p:cNvPr id="30" name="Shape 28"/>
          <p:cNvSpPr/>
          <p:nvPr/>
        </p:nvSpPr>
        <p:spPr>
          <a:xfrm>
            <a:off x="4709160" y="2834640"/>
            <a:ext cx="4114800" cy="1645920"/>
          </a:xfrm>
          <a:prstGeom prst="roundRect">
            <a:avLst>
              <a:gd name="adj" fmla="val 4444"/>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84632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32" name="Text 30"/>
          <p:cNvSpPr/>
          <p:nvPr/>
        </p:nvSpPr>
        <p:spPr>
          <a:xfrm>
            <a:off x="553212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Create a Problem</a:t>
            </a:r>
            <a:endParaRPr lang="en-US" sz="1300" dirty="0"/>
          </a:p>
        </p:txBody>
      </p:sp>
      <p:sp>
        <p:nvSpPr>
          <p:cNvPr id="33" name="Text 31"/>
          <p:cNvSpPr/>
          <p:nvPr/>
        </p:nvSpPr>
        <p:spPr>
          <a:xfrm>
            <a:off x="489204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Write your own problem that uses Coordinate plane, then solve it and make an answer key.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Independent Practice / Práctica Independiente</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9</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46304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ON YOUR OWN</a:t>
            </a:r>
            <a:endParaRPr lang="en-US" sz="900" dirty="0"/>
          </a:p>
        </p:txBody>
      </p:sp>
      <p:sp>
        <p:nvSpPr>
          <p:cNvPr id="19" name="Text 17"/>
          <p:cNvSpPr/>
          <p:nvPr/>
        </p:nvSpPr>
        <p:spPr>
          <a:xfrm>
            <a:off x="594360" y="1234440"/>
            <a:ext cx="5166360" cy="457200"/>
          </a:xfrm>
          <a:prstGeom prst="rect">
            <a:avLst/>
          </a:prstGeom>
          <a:noFill/>
          <a:ln/>
        </p:spPr>
        <p:txBody>
          <a:bodyPr wrap="square" rtlCol="0" anchor="t"/>
          <a:lstStyle/>
          <a:p>
            <a:pPr indent="0" marL="0">
              <a:buNone/>
            </a:pPr>
            <a:r>
              <a:rPr lang="en-US" sz="1050" b="1" dirty="0">
                <a:solidFill>
                  <a:srgbClr val="C0654A"/>
                </a:solidFill>
                <a:latin typeface="Hanken Grotesk" pitchFamily="34" charset="0"/>
                <a:ea typeface="Hanken Grotesk" pitchFamily="34" charset="-122"/>
                <a:cs typeface="Hanken Grotesk" pitchFamily="34" charset="-120"/>
              </a:rPr>
              <a:t>1.  </a:t>
            </a:r>
            <a:pPr indent="0" marL="0">
              <a:buNone/>
            </a:pPr>
            <a:r>
              <a:rPr lang="en-US" sz="1050" dirty="0">
                <a:solidFill>
                  <a:srgbClr val="17324D"/>
                </a:solidFill>
                <a:latin typeface="Hanken Grotesk" pitchFamily="34" charset="0"/>
                <a:ea typeface="Hanken Grotesk" pitchFamily="34" charset="-122"/>
                <a:cs typeface="Hanken Grotesk" pitchFamily="34" charset="-120"/>
              </a:rPr>
              <a:t>Which ordered pair names a point 3 units right and 7 units up from the origin?</a:t>
            </a:r>
            <a:endParaRPr lang="en-US" sz="1050" dirty="0"/>
          </a:p>
        </p:txBody>
      </p:sp>
      <p:sp>
        <p:nvSpPr>
          <p:cNvPr id="20" name="Shape 18"/>
          <p:cNvSpPr/>
          <p:nvPr/>
        </p:nvSpPr>
        <p:spPr>
          <a:xfrm>
            <a:off x="777240" y="1783080"/>
            <a:ext cx="4983480" cy="0"/>
          </a:xfrm>
          <a:prstGeom prst="line">
            <a:avLst/>
          </a:prstGeom>
          <a:noFill/>
          <a:ln w="9525">
            <a:solidFill>
              <a:srgbClr val="C7CDD2"/>
            </a:solidFill>
            <a:prstDash val="dash"/>
          </a:ln>
        </p:spPr>
      </p:sp>
      <p:sp>
        <p:nvSpPr>
          <p:cNvPr id="21" name="Text 19"/>
          <p:cNvSpPr/>
          <p:nvPr/>
        </p:nvSpPr>
        <p:spPr>
          <a:xfrm>
            <a:off x="594360" y="2194560"/>
            <a:ext cx="5166360" cy="457200"/>
          </a:xfrm>
          <a:prstGeom prst="rect">
            <a:avLst/>
          </a:prstGeom>
          <a:noFill/>
          <a:ln/>
        </p:spPr>
        <p:txBody>
          <a:bodyPr wrap="square" rtlCol="0" anchor="t"/>
          <a:lstStyle/>
          <a:p>
            <a:pPr indent="0" marL="0">
              <a:buNone/>
            </a:pPr>
            <a:r>
              <a:rPr lang="en-US" sz="1050" b="1" dirty="0">
                <a:solidFill>
                  <a:srgbClr val="C0654A"/>
                </a:solidFill>
                <a:latin typeface="Hanken Grotesk" pitchFamily="34" charset="0"/>
                <a:ea typeface="Hanken Grotesk" pitchFamily="34" charset="-122"/>
                <a:cs typeface="Hanken Grotesk" pitchFamily="34" charset="-120"/>
              </a:rPr>
              <a:t>2.  </a:t>
            </a:r>
            <a:pPr indent="0" marL="0">
              <a:buNone/>
            </a:pPr>
            <a:r>
              <a:rPr lang="en-US" sz="1050" dirty="0">
                <a:solidFill>
                  <a:srgbClr val="17324D"/>
                </a:solidFill>
                <a:latin typeface="Hanken Grotesk" pitchFamily="34" charset="0"/>
                <a:ea typeface="Hanken Grotesk" pitchFamily="34" charset="-122"/>
                <a:cs typeface="Hanken Grotesk" pitchFamily="34" charset="-120"/>
              </a:rPr>
              <a:t>What are the coordinates of the origin?</a:t>
            </a:r>
            <a:endParaRPr lang="en-US" sz="1050" dirty="0"/>
          </a:p>
        </p:txBody>
      </p:sp>
      <p:sp>
        <p:nvSpPr>
          <p:cNvPr id="22" name="Shape 20"/>
          <p:cNvSpPr/>
          <p:nvPr/>
        </p:nvSpPr>
        <p:spPr>
          <a:xfrm>
            <a:off x="777240" y="2743200"/>
            <a:ext cx="4983480" cy="0"/>
          </a:xfrm>
          <a:prstGeom prst="line">
            <a:avLst/>
          </a:prstGeom>
          <a:noFill/>
          <a:ln w="9525">
            <a:solidFill>
              <a:srgbClr val="C7CDD2"/>
            </a:solidFill>
            <a:prstDash val="dash"/>
          </a:ln>
        </p:spPr>
      </p:sp>
      <p:sp>
        <p:nvSpPr>
          <p:cNvPr id="23" name="Text 21"/>
          <p:cNvSpPr/>
          <p:nvPr/>
        </p:nvSpPr>
        <p:spPr>
          <a:xfrm>
            <a:off x="594360" y="3154680"/>
            <a:ext cx="5166360" cy="457200"/>
          </a:xfrm>
          <a:prstGeom prst="rect">
            <a:avLst/>
          </a:prstGeom>
          <a:noFill/>
          <a:ln/>
        </p:spPr>
        <p:txBody>
          <a:bodyPr wrap="square" rtlCol="0" anchor="t"/>
          <a:lstStyle/>
          <a:p>
            <a:pPr indent="0" marL="0">
              <a:buNone/>
            </a:pPr>
            <a:r>
              <a:rPr lang="en-US" sz="1050" b="1" dirty="0">
                <a:solidFill>
                  <a:srgbClr val="C0654A"/>
                </a:solidFill>
                <a:latin typeface="Hanken Grotesk" pitchFamily="34" charset="0"/>
                <a:ea typeface="Hanken Grotesk" pitchFamily="34" charset="-122"/>
                <a:cs typeface="Hanken Grotesk" pitchFamily="34" charset="-120"/>
              </a:rPr>
              <a:t>3.  </a:t>
            </a:r>
            <a:pPr indent="0" marL="0">
              <a:buNone/>
            </a:pPr>
            <a:r>
              <a:rPr lang="en-US" sz="1050" dirty="0">
                <a:solidFill>
                  <a:srgbClr val="17324D"/>
                </a:solidFill>
                <a:latin typeface="Hanken Grotesk" pitchFamily="34" charset="0"/>
                <a:ea typeface="Hanken Grotesk" pitchFamily="34" charset="-122"/>
                <a:cs typeface="Hanken Grotesk" pitchFamily="34" charset="-120"/>
              </a:rPr>
              <a:t>A point is at (6, 2). What does the 6 tell you?</a:t>
            </a:r>
            <a:endParaRPr lang="en-US" sz="1050" dirty="0"/>
          </a:p>
        </p:txBody>
      </p:sp>
      <p:sp>
        <p:nvSpPr>
          <p:cNvPr id="24" name="Shape 22"/>
          <p:cNvSpPr/>
          <p:nvPr/>
        </p:nvSpPr>
        <p:spPr>
          <a:xfrm>
            <a:off x="777240" y="3703320"/>
            <a:ext cx="4983480" cy="0"/>
          </a:xfrm>
          <a:prstGeom prst="line">
            <a:avLst/>
          </a:prstGeom>
          <a:noFill/>
          <a:ln w="9525">
            <a:solidFill>
              <a:srgbClr val="C7CDD2"/>
            </a:solidFill>
            <a:prstDash val="dash"/>
          </a:ln>
        </p:spPr>
      </p:sp>
      <p:sp>
        <p:nvSpPr>
          <p:cNvPr id="25" name="Shape 23"/>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27" name="Text 25"/>
          <p:cNvSpPr/>
          <p:nvPr/>
        </p:nvSpPr>
        <p:spPr>
          <a:xfrm>
            <a:off x="6217920" y="1097280"/>
            <a:ext cx="2468880" cy="155448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How is reading a coordinate pair on the treasure map like reading directions in a video game or on a real map?</a:t>
            </a:r>
            <a:endParaRPr lang="en-US" sz="1000" dirty="0"/>
          </a:p>
        </p:txBody>
      </p:sp>
      <p:sp>
        <p:nvSpPr>
          <p:cNvPr id="28" name="Shape 26"/>
          <p:cNvSpPr/>
          <p:nvPr/>
        </p:nvSpPr>
        <p:spPr>
          <a:xfrm>
            <a:off x="6217920" y="2834640"/>
            <a:ext cx="2423160" cy="0"/>
          </a:xfrm>
          <a:prstGeom prst="line">
            <a:avLst/>
          </a:prstGeom>
          <a:noFill/>
          <a:ln w="9525">
            <a:solidFill>
              <a:srgbClr val="C7CDD2"/>
            </a:solidFill>
            <a:prstDash val="dash"/>
          </a:ln>
        </p:spPr>
      </p:sp>
      <p:sp>
        <p:nvSpPr>
          <p:cNvPr id="29" name="Shape 27"/>
          <p:cNvSpPr/>
          <p:nvPr/>
        </p:nvSpPr>
        <p:spPr>
          <a:xfrm>
            <a:off x="6217920" y="3163824"/>
            <a:ext cx="2423160" cy="0"/>
          </a:xfrm>
          <a:prstGeom prst="line">
            <a:avLst/>
          </a:prstGeom>
          <a:noFill/>
          <a:ln w="9525">
            <a:solidFill>
              <a:srgbClr val="C7CDD2"/>
            </a:solidFill>
            <a:prstDash val="dash"/>
          </a:ln>
        </p:spPr>
      </p:sp>
      <p:sp>
        <p:nvSpPr>
          <p:cNvPr id="30" name="Shape 28"/>
          <p:cNvSpPr/>
          <p:nvPr/>
        </p:nvSpPr>
        <p:spPr>
          <a:xfrm>
            <a:off x="6217920" y="3493008"/>
            <a:ext cx="2423160" cy="0"/>
          </a:xfrm>
          <a:prstGeom prst="line">
            <a:avLst/>
          </a:prstGeom>
          <a:noFill/>
          <a:ln w="9525">
            <a:solidFill>
              <a:srgbClr val="C7CDD2"/>
            </a:solidFill>
            <a:prstDash val="dash"/>
          </a:ln>
        </p:spPr>
      </p:sp>
      <p:sp>
        <p:nvSpPr>
          <p:cNvPr id="31" name="Shape 29"/>
          <p:cNvSpPr/>
          <p:nvPr/>
        </p:nvSpPr>
        <p:spPr>
          <a:xfrm>
            <a:off x="6217920" y="3822192"/>
            <a:ext cx="2423160" cy="0"/>
          </a:xfrm>
          <a:prstGeom prst="line">
            <a:avLst/>
          </a:prstGeom>
          <a:noFill/>
          <a:ln w="9525">
            <a:solidFill>
              <a:srgbClr val="C7CDD2"/>
            </a:solidFill>
            <a:prstDash val="dash"/>
          </a:ln>
        </p:spPr>
      </p:sp>
      <p:sp>
        <p:nvSpPr>
          <p:cNvPr id="32" name="Shape 30"/>
          <p:cNvSpPr/>
          <p:nvPr/>
        </p:nvSpPr>
        <p:spPr>
          <a:xfrm>
            <a:off x="6217920" y="4151376"/>
            <a:ext cx="2423160" cy="0"/>
          </a:xfrm>
          <a:prstGeom prst="line">
            <a:avLst/>
          </a:prstGeom>
          <a:noFill/>
          <a:ln w="9525">
            <a:solidFill>
              <a:srgbClr val="C7CDD2"/>
            </a:solidFill>
            <a:prstDash val="dash"/>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Think–Write–Respond / Piensa y Escribe</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10</a:t>
            </a:r>
            <a:endParaRPr lang="en-US" sz="800" dirty="0"/>
          </a:p>
        </p:txBody>
      </p:sp>
      <p:sp>
        <p:nvSpPr>
          <p:cNvPr id="17" name="Text 15"/>
          <p:cNvSpPr/>
          <p:nvPr/>
        </p:nvSpPr>
        <p:spPr>
          <a:xfrm>
            <a:off x="411480" y="603504"/>
            <a:ext cx="8412480" cy="274320"/>
          </a:xfrm>
          <a:prstGeom prst="rect">
            <a:avLst/>
          </a:prstGeom>
          <a:noFill/>
          <a:ln/>
        </p:spPr>
        <p:txBody>
          <a:bodyPr wrap="square" rtlCol="0" anchor="ctr"/>
          <a:lstStyle/>
          <a:p>
            <a:pPr indent="0" marL="0">
              <a:buNone/>
            </a:pPr>
            <a:r>
              <a:rPr lang="en-US" sz="1000" i="1" dirty="0">
                <a:solidFill>
                  <a:srgbClr val="8A96A3"/>
                </a:solidFill>
                <a:latin typeface="Hanken Grotesk" pitchFamily="34" charset="0"/>
                <a:ea typeface="Hanken Grotesk" pitchFamily="34" charset="-122"/>
                <a:cs typeface="Hanken Grotesk" pitchFamily="34" charset="-120"/>
              </a:rPr>
              <a:t>Use evidence from today's lesson to complete each frame.</a:t>
            </a:r>
            <a:endParaRPr lang="en-US" sz="1000" dirty="0"/>
          </a:p>
        </p:txBody>
      </p:sp>
      <p:sp>
        <p:nvSpPr>
          <p:cNvPr id="18" name="Shape 16"/>
          <p:cNvSpPr/>
          <p:nvPr/>
        </p:nvSpPr>
        <p:spPr>
          <a:xfrm>
            <a:off x="411480" y="96012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94360" y="105156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1 — </a:t>
            </a:r>
            <a:pPr indent="0" marL="0">
              <a:buNone/>
            </a:pPr>
            <a:r>
              <a:rPr lang="en-US" sz="1100" b="1" dirty="0">
                <a:solidFill>
                  <a:srgbClr val="C0654A"/>
                </a:solidFill>
                <a:latin typeface="Outfit" pitchFamily="34" charset="0"/>
                <a:ea typeface="Outfit" pitchFamily="34" charset="-122"/>
                <a:cs typeface="Outfit" pitchFamily="34" charset="-120"/>
              </a:rPr>
              <a:t>Explain the Rule</a:t>
            </a:r>
            <a:endParaRPr lang="en-US" sz="1100" dirty="0"/>
          </a:p>
        </p:txBody>
      </p:sp>
      <p:sp>
        <p:nvSpPr>
          <p:cNvPr id="20" name="Text 18"/>
          <p:cNvSpPr/>
          <p:nvPr/>
        </p:nvSpPr>
        <p:spPr>
          <a:xfrm>
            <a:off x="594360" y="134416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Today's key idea is "Always start at the origin (0, 0), move right/left first, then up/down." — and it works because ___.</a:t>
            </a:r>
            <a:endParaRPr lang="en-US" sz="1050" dirty="0"/>
          </a:p>
        </p:txBody>
      </p:sp>
      <p:sp>
        <p:nvSpPr>
          <p:cNvPr id="21" name="Shape 19"/>
          <p:cNvSpPr/>
          <p:nvPr/>
        </p:nvSpPr>
        <p:spPr>
          <a:xfrm>
            <a:off x="594360" y="1892808"/>
            <a:ext cx="8046720" cy="0"/>
          </a:xfrm>
          <a:prstGeom prst="line">
            <a:avLst/>
          </a:prstGeom>
          <a:noFill/>
          <a:ln w="9525">
            <a:solidFill>
              <a:srgbClr val="C7CDD2"/>
            </a:solidFill>
            <a:prstDash val="dash"/>
          </a:ln>
        </p:spPr>
      </p:sp>
      <p:sp>
        <p:nvSpPr>
          <p:cNvPr id="22" name="Shape 20"/>
          <p:cNvSpPr/>
          <p:nvPr/>
        </p:nvSpPr>
        <p:spPr>
          <a:xfrm>
            <a:off x="411480" y="224028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594360" y="233172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2 — </a:t>
            </a:r>
            <a:pPr indent="0" marL="0">
              <a:buNone/>
            </a:pPr>
            <a:r>
              <a:rPr lang="en-US" sz="1100" b="1" dirty="0">
                <a:solidFill>
                  <a:srgbClr val="C0654A"/>
                </a:solidFill>
                <a:latin typeface="Outfit" pitchFamily="34" charset="0"/>
                <a:ea typeface="Outfit" pitchFamily="34" charset="-122"/>
                <a:cs typeface="Outfit" pitchFamily="34" charset="-120"/>
              </a:rPr>
              <a:t>Because / But / So</a:t>
            </a:r>
            <a:endParaRPr lang="en-US" sz="1100" dirty="0"/>
          </a:p>
        </p:txBody>
      </p:sp>
      <p:sp>
        <p:nvSpPr>
          <p:cNvPr id="24" name="Text 22"/>
          <p:cNvSpPr/>
          <p:nvPr/>
        </p:nvSpPr>
        <p:spPr>
          <a:xfrm>
            <a:off x="594360" y="262432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Because Coordinate plane means ___, but a tricky part is ___, so I have to ___.</a:t>
            </a:r>
            <a:endParaRPr lang="en-US" sz="1050" dirty="0"/>
          </a:p>
        </p:txBody>
      </p:sp>
      <p:sp>
        <p:nvSpPr>
          <p:cNvPr id="25" name="Shape 23"/>
          <p:cNvSpPr/>
          <p:nvPr/>
        </p:nvSpPr>
        <p:spPr>
          <a:xfrm>
            <a:off x="594360" y="3172968"/>
            <a:ext cx="8046720" cy="0"/>
          </a:xfrm>
          <a:prstGeom prst="line">
            <a:avLst/>
          </a:prstGeom>
          <a:noFill/>
          <a:ln w="9525">
            <a:solidFill>
              <a:srgbClr val="C7CDD2"/>
            </a:solidFill>
            <a:prstDash val="dash"/>
          </a:ln>
        </p:spPr>
      </p:sp>
      <p:sp>
        <p:nvSpPr>
          <p:cNvPr id="26" name="Shape 24"/>
          <p:cNvSpPr/>
          <p:nvPr/>
        </p:nvSpPr>
        <p:spPr>
          <a:xfrm>
            <a:off x="411480" y="352044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361188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3 — </a:t>
            </a:r>
            <a:pPr indent="0" marL="0">
              <a:buNone/>
            </a:pPr>
            <a:r>
              <a:rPr lang="en-US" sz="1100" b="1" dirty="0">
                <a:solidFill>
                  <a:srgbClr val="C0654A"/>
                </a:solidFill>
                <a:latin typeface="Outfit" pitchFamily="34" charset="0"/>
                <a:ea typeface="Outfit" pitchFamily="34" charset="-122"/>
                <a:cs typeface="Outfit" pitchFamily="34" charset="-120"/>
              </a:rPr>
              <a:t>Catch the Mistake</a:t>
            </a:r>
            <a:endParaRPr lang="en-US" sz="1100" dirty="0"/>
          </a:p>
        </p:txBody>
      </p:sp>
      <p:sp>
        <p:nvSpPr>
          <p:cNvPr id="28" name="Text 26"/>
          <p:cNvSpPr/>
          <p:nvPr/>
        </p:nvSpPr>
        <p:spPr>
          <a:xfrm>
            <a:off x="594360" y="390448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A common mistake with Coordinate plane is ___. It happens because ___, and the fix is ___.</a:t>
            </a:r>
            <a:endParaRPr lang="en-US" sz="1050" dirty="0"/>
          </a:p>
        </p:txBody>
      </p:sp>
      <p:sp>
        <p:nvSpPr>
          <p:cNvPr id="29" name="Shape 27"/>
          <p:cNvSpPr/>
          <p:nvPr/>
        </p:nvSpPr>
        <p:spPr>
          <a:xfrm>
            <a:off x="594360" y="4453128"/>
            <a:ext cx="8046720" cy="0"/>
          </a:xfrm>
          <a:prstGeom prst="line">
            <a:avLst/>
          </a:prstGeom>
          <a:noFill/>
          <a:ln w="9525">
            <a:solidFill>
              <a:srgbClr val="C7CDD2"/>
            </a:solidFill>
            <a:prstDash val="dash"/>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Exit Ticket / Boleto de Salida</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11</a:t>
            </a:r>
            <a:endParaRPr lang="en-US" sz="800" dirty="0"/>
          </a:p>
        </p:txBody>
      </p:sp>
      <p:sp>
        <p:nvSpPr>
          <p:cNvPr id="17" name="Shape 15"/>
          <p:cNvSpPr/>
          <p:nvPr/>
        </p:nvSpPr>
        <p:spPr>
          <a:xfrm>
            <a:off x="411480" y="685800"/>
            <a:ext cx="416052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Reflection / Reflexión</a:t>
            </a:r>
            <a:endParaRPr lang="en-US" sz="1000" dirty="0"/>
          </a:p>
        </p:txBody>
      </p:sp>
      <p:sp>
        <p:nvSpPr>
          <p:cNvPr id="19" name="Text 17"/>
          <p:cNvSpPr/>
          <p:nvPr/>
        </p:nvSpPr>
        <p:spPr>
          <a:xfrm>
            <a:off x="594360" y="109728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Today I learned that ___ because ___.</a:t>
            </a:r>
            <a:endParaRPr lang="en-US" sz="1100" dirty="0"/>
          </a:p>
        </p:txBody>
      </p:sp>
      <p:sp>
        <p:nvSpPr>
          <p:cNvPr id="20" name="Shape 18"/>
          <p:cNvSpPr/>
          <p:nvPr/>
        </p:nvSpPr>
        <p:spPr>
          <a:xfrm>
            <a:off x="594360" y="1783080"/>
            <a:ext cx="3794760" cy="0"/>
          </a:xfrm>
          <a:prstGeom prst="line">
            <a:avLst/>
          </a:prstGeom>
          <a:noFill/>
          <a:ln w="9525">
            <a:solidFill>
              <a:srgbClr val="C7CDD2"/>
            </a:solidFill>
            <a:prstDash val="dash"/>
          </a:ln>
        </p:spPr>
      </p:sp>
      <p:sp>
        <p:nvSpPr>
          <p:cNvPr id="21" name="Shape 19"/>
          <p:cNvSpPr/>
          <p:nvPr/>
        </p:nvSpPr>
        <p:spPr>
          <a:xfrm>
            <a:off x="594360" y="2093976"/>
            <a:ext cx="3794760" cy="0"/>
          </a:xfrm>
          <a:prstGeom prst="line">
            <a:avLst/>
          </a:prstGeom>
          <a:noFill/>
          <a:ln w="9525">
            <a:solidFill>
              <a:srgbClr val="C7CDD2"/>
            </a:solidFill>
            <a:prstDash val="dash"/>
          </a:ln>
        </p:spPr>
      </p:sp>
      <p:sp>
        <p:nvSpPr>
          <p:cNvPr id="22" name="Shape 20"/>
          <p:cNvSpPr/>
          <p:nvPr/>
        </p:nvSpPr>
        <p:spPr>
          <a:xfrm>
            <a:off x="594360" y="2404872"/>
            <a:ext cx="3794760" cy="0"/>
          </a:xfrm>
          <a:prstGeom prst="line">
            <a:avLst/>
          </a:prstGeom>
          <a:noFill/>
          <a:ln w="9525">
            <a:solidFill>
              <a:srgbClr val="C7CDD2"/>
            </a:solidFill>
            <a:prstDash val="dash"/>
          </a:ln>
        </p:spPr>
      </p:sp>
      <p:sp>
        <p:nvSpPr>
          <p:cNvPr id="23" name="Text 21"/>
          <p:cNvSpPr/>
          <p:nvPr/>
        </p:nvSpPr>
        <p:spPr>
          <a:xfrm>
            <a:off x="594360" y="283464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One thing I am still not sure about is ___.</a:t>
            </a:r>
            <a:endParaRPr lang="en-US" sz="1100" dirty="0"/>
          </a:p>
        </p:txBody>
      </p:sp>
      <p:sp>
        <p:nvSpPr>
          <p:cNvPr id="24" name="Shape 22"/>
          <p:cNvSpPr/>
          <p:nvPr/>
        </p:nvSpPr>
        <p:spPr>
          <a:xfrm>
            <a:off x="594360" y="3520440"/>
            <a:ext cx="3794760" cy="0"/>
          </a:xfrm>
          <a:prstGeom prst="line">
            <a:avLst/>
          </a:prstGeom>
          <a:noFill/>
          <a:ln w="9525">
            <a:solidFill>
              <a:srgbClr val="C7CDD2"/>
            </a:solidFill>
            <a:prstDash val="dash"/>
          </a:ln>
        </p:spPr>
      </p:sp>
      <p:sp>
        <p:nvSpPr>
          <p:cNvPr id="25" name="Shape 23"/>
          <p:cNvSpPr/>
          <p:nvPr/>
        </p:nvSpPr>
        <p:spPr>
          <a:xfrm>
            <a:off x="594360" y="3831336"/>
            <a:ext cx="3794760" cy="0"/>
          </a:xfrm>
          <a:prstGeom prst="line">
            <a:avLst/>
          </a:prstGeom>
          <a:noFill/>
          <a:ln w="9525">
            <a:solidFill>
              <a:srgbClr val="C7CDD2"/>
            </a:solidFill>
            <a:prstDash val="dash"/>
          </a:ln>
        </p:spPr>
      </p:sp>
      <p:sp>
        <p:nvSpPr>
          <p:cNvPr id="26" name="Shape 24"/>
          <p:cNvSpPr/>
          <p:nvPr/>
        </p:nvSpPr>
        <p:spPr>
          <a:xfrm>
            <a:off x="594360" y="4142232"/>
            <a:ext cx="3794760" cy="0"/>
          </a:xfrm>
          <a:prstGeom prst="line">
            <a:avLst/>
          </a:prstGeom>
          <a:noFill/>
          <a:ln w="9525">
            <a:solidFill>
              <a:srgbClr val="C7CDD2"/>
            </a:solidFill>
            <a:prstDash val="dash"/>
          </a:ln>
        </p:spPr>
      </p:sp>
      <p:sp>
        <p:nvSpPr>
          <p:cNvPr id="27" name="Shape 25"/>
          <p:cNvSpPr/>
          <p:nvPr/>
        </p:nvSpPr>
        <p:spPr>
          <a:xfrm>
            <a:off x="4709160" y="685800"/>
            <a:ext cx="41148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8" name="Text 26"/>
          <p:cNvSpPr/>
          <p:nvPr/>
        </p:nvSpPr>
        <p:spPr>
          <a:xfrm>
            <a:off x="4709160" y="685800"/>
            <a:ext cx="4114800" cy="274320"/>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Quick Exit Ticket</a:t>
            </a:r>
            <a:endParaRPr lang="en-US" sz="1000" dirty="0"/>
          </a:p>
        </p:txBody>
      </p:sp>
      <p:sp>
        <p:nvSpPr>
          <p:cNvPr id="29" name="Text 27"/>
          <p:cNvSpPr/>
          <p:nvPr/>
        </p:nvSpPr>
        <p:spPr>
          <a:xfrm>
            <a:off x="4892040" y="1097280"/>
            <a:ext cx="3749040" cy="640080"/>
          </a:xfrm>
          <a:prstGeom prst="rect">
            <a:avLst/>
          </a:prstGeom>
          <a:noFill/>
          <a:ln/>
        </p:spPr>
        <p:txBody>
          <a:bodyPr wrap="square" rtlCol="0" anchor="t"/>
          <a:lstStyle/>
          <a:p>
            <a:pPr indent="0" marL="0">
              <a:buNone/>
            </a:pPr>
            <a:r>
              <a:rPr lang="en-US" sz="1050" b="1" dirty="0">
                <a:solidFill>
                  <a:srgbClr val="C0654A"/>
                </a:solidFill>
                <a:latin typeface="Hanken Grotesk" pitchFamily="34" charset="0"/>
                <a:ea typeface="Hanken Grotesk" pitchFamily="34" charset="-122"/>
                <a:cs typeface="Hanken Grotesk" pitchFamily="34" charset="-120"/>
              </a:rPr>
              <a:t>Tier 1 — </a:t>
            </a:r>
            <a:pPr indent="0" marL="0">
              <a:buNone/>
            </a:pPr>
            <a:r>
              <a:rPr lang="en-US" sz="1050" dirty="0">
                <a:solidFill>
                  <a:srgbClr val="17324D"/>
                </a:solidFill>
                <a:latin typeface="Hanken Grotesk" pitchFamily="34" charset="0"/>
                <a:ea typeface="Hanken Grotesk" pitchFamily="34" charset="-122"/>
                <a:cs typeface="Hanken Grotesk" pitchFamily="34" charset="-120"/>
              </a:rPr>
              <a:t>Point P is located 6 units right and 3 units up from the origin. What ordered pair names point P?</a:t>
            </a:r>
            <a:endParaRPr lang="en-US" sz="1050" dirty="0"/>
          </a:p>
        </p:txBody>
      </p:sp>
      <p:sp>
        <p:nvSpPr>
          <p:cNvPr id="30" name="Text 28"/>
          <p:cNvSpPr/>
          <p:nvPr/>
        </p:nvSpPr>
        <p:spPr>
          <a:xfrm>
            <a:off x="5029200" y="1783080"/>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A.  (6, 3)</a:t>
            </a:r>
            <a:endParaRPr lang="en-US" sz="1000" dirty="0"/>
          </a:p>
        </p:txBody>
      </p:sp>
      <p:sp>
        <p:nvSpPr>
          <p:cNvPr id="31" name="Text 29"/>
          <p:cNvSpPr/>
          <p:nvPr/>
        </p:nvSpPr>
        <p:spPr>
          <a:xfrm>
            <a:off x="5029200" y="2093976"/>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B.  (3, 6)</a:t>
            </a:r>
            <a:endParaRPr lang="en-US" sz="1000" dirty="0"/>
          </a:p>
        </p:txBody>
      </p:sp>
      <p:sp>
        <p:nvSpPr>
          <p:cNvPr id="32" name="Text 30"/>
          <p:cNvSpPr/>
          <p:nvPr/>
        </p:nvSpPr>
        <p:spPr>
          <a:xfrm>
            <a:off x="5029200" y="2404872"/>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C.  (6, 0)</a:t>
            </a:r>
            <a:endParaRPr lang="en-US" sz="1000" dirty="0"/>
          </a:p>
        </p:txBody>
      </p:sp>
      <p:sp>
        <p:nvSpPr>
          <p:cNvPr id="33" name="Text 31"/>
          <p:cNvSpPr/>
          <p:nvPr/>
        </p:nvSpPr>
        <p:spPr>
          <a:xfrm>
            <a:off x="5029200" y="2715768"/>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D.  (0, 3)</a:t>
            </a:r>
            <a:endParaRPr lang="en-US" sz="1000" dirty="0"/>
          </a:p>
        </p:txBody>
      </p:sp>
      <p:sp>
        <p:nvSpPr>
          <p:cNvPr id="34" name="Text 32"/>
          <p:cNvSpPr/>
          <p:nvPr/>
        </p:nvSpPr>
        <p:spPr>
          <a:xfrm>
            <a:off x="4892040" y="3163824"/>
            <a:ext cx="3749040" cy="502920"/>
          </a:xfrm>
          <a:prstGeom prst="rect">
            <a:avLst/>
          </a:prstGeom>
          <a:noFill/>
          <a:ln/>
        </p:spPr>
        <p:txBody>
          <a:bodyPr wrap="square" rtlCol="0" anchor="t"/>
          <a:lstStyle/>
          <a:p>
            <a:pPr indent="0" marL="0">
              <a:buNone/>
            </a:pPr>
            <a:r>
              <a:rPr lang="en-US" sz="1050" b="1" dirty="0">
                <a:solidFill>
                  <a:srgbClr val="C0654A"/>
                </a:solidFill>
                <a:latin typeface="Hanken Grotesk" pitchFamily="34" charset="0"/>
                <a:ea typeface="Hanken Grotesk" pitchFamily="34" charset="-122"/>
                <a:cs typeface="Hanken Grotesk" pitchFamily="34" charset="-120"/>
              </a:rPr>
              <a:t>Tier 2 — </a:t>
            </a:r>
            <a:pPr indent="0" marL="0">
              <a:buNone/>
            </a:pPr>
            <a:r>
              <a:rPr lang="en-US" sz="1050" dirty="0">
                <a:solidFill>
                  <a:srgbClr val="17324D"/>
                </a:solidFill>
                <a:latin typeface="Hanken Grotesk" pitchFamily="34" charset="0"/>
                <a:ea typeface="Hanken Grotesk" pitchFamily="34" charset="-122"/>
                <a:cs typeface="Hanken Grotesk" pitchFamily="34" charset="-120"/>
              </a:rPr>
              <a:t>Explain how you know your answer is correct. Use at least one vocabulary word.</a:t>
            </a:r>
            <a:endParaRPr lang="en-US" sz="1050" dirty="0"/>
          </a:p>
        </p:txBody>
      </p:sp>
      <p:sp>
        <p:nvSpPr>
          <p:cNvPr id="35" name="Shape 33"/>
          <p:cNvSpPr/>
          <p:nvPr/>
        </p:nvSpPr>
        <p:spPr>
          <a:xfrm>
            <a:off x="4892040" y="3803904"/>
            <a:ext cx="3749040" cy="0"/>
          </a:xfrm>
          <a:prstGeom prst="line">
            <a:avLst/>
          </a:prstGeom>
          <a:noFill/>
          <a:ln w="9525">
            <a:solidFill>
              <a:srgbClr val="C7CDD2"/>
            </a:solidFill>
            <a:prstDash val="dash"/>
          </a:ln>
        </p:spPr>
      </p:sp>
      <p:sp>
        <p:nvSpPr>
          <p:cNvPr id="36" name="Shape 34"/>
          <p:cNvSpPr/>
          <p:nvPr/>
        </p:nvSpPr>
        <p:spPr>
          <a:xfrm>
            <a:off x="4892040" y="4096512"/>
            <a:ext cx="3749040" cy="0"/>
          </a:xfrm>
          <a:prstGeom prst="line">
            <a:avLst/>
          </a:prstGeom>
          <a:noFill/>
          <a:ln w="9525">
            <a:solidFill>
              <a:srgbClr val="C7CDD2"/>
            </a:solidFill>
            <a:prstDash val="dash"/>
          </a:ln>
        </p:spPr>
      </p:sp>
      <p:sp>
        <p:nvSpPr>
          <p:cNvPr id="37" name="Shape 35"/>
          <p:cNvSpPr/>
          <p:nvPr/>
        </p:nvSpPr>
        <p:spPr>
          <a:xfrm>
            <a:off x="4892040" y="4389120"/>
            <a:ext cx="3749040" cy="0"/>
          </a:xfrm>
          <a:prstGeom prst="line">
            <a:avLst/>
          </a:prstGeom>
          <a:noFill/>
          <a:ln w="9525">
            <a:solidFill>
              <a:srgbClr val="C7CDD2"/>
            </a:solidFill>
            <a:prstDash val="dash"/>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Goal Tracker / Seguimiento de Metas</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12</a:t>
            </a:r>
            <a:endParaRPr lang="en-US" sz="800" dirty="0"/>
          </a:p>
        </p:txBody>
      </p:sp>
      <p:sp>
        <p:nvSpPr>
          <p:cNvPr id="17" name="Shape 15"/>
          <p:cNvSpPr/>
          <p:nvPr/>
        </p:nvSpPr>
        <p:spPr>
          <a:xfrm>
            <a:off x="411480" y="658368"/>
            <a:ext cx="8412480" cy="502920"/>
          </a:xfrm>
          <a:prstGeom prst="roundRect">
            <a:avLst>
              <a:gd name="adj" fmla="val 14545"/>
            </a:avLst>
          </a:prstGeom>
          <a:solidFill>
            <a:srgbClr val="17324D"/>
          </a:solidFill>
          <a:ln/>
        </p:spPr>
      </p:sp>
      <p:sp>
        <p:nvSpPr>
          <p:cNvPr id="18" name="Text 16"/>
          <p:cNvSpPr/>
          <p:nvPr/>
        </p:nvSpPr>
        <p:spPr>
          <a:xfrm>
            <a:off x="640080" y="658368"/>
            <a:ext cx="7955280" cy="502920"/>
          </a:xfrm>
          <a:prstGeom prst="rect">
            <a:avLst/>
          </a:prstGeom>
          <a:noFill/>
          <a:ln/>
        </p:spPr>
        <p:txBody>
          <a:bodyPr wrap="square" rtlCol="0" anchor="ctr"/>
          <a:lstStyle/>
          <a:p>
            <a:pPr indent="0" marL="0">
              <a:buNone/>
            </a:pPr>
            <a:r>
              <a:rPr lang="en-US" sz="1100" b="1" dirty="0">
                <a:solidFill>
                  <a:srgbClr val="F2C15B"/>
                </a:solidFill>
                <a:latin typeface="Hanken Grotesk" pitchFamily="34" charset="0"/>
                <a:ea typeface="Hanken Grotesk" pitchFamily="34" charset="-122"/>
                <a:cs typeface="Hanken Grotesk" pitchFamily="34" charset="-120"/>
              </a:rPr>
              <a:t>My Goal:  </a:t>
            </a:r>
            <a:pPr indent="0" marL="0">
              <a:buNone/>
            </a:pPr>
            <a:r>
              <a:rPr lang="en-US" sz="1100" dirty="0">
                <a:solidFill>
                  <a:srgbClr val="FFFFFF"/>
                </a:solidFill>
                <a:latin typeface="Hanken Grotesk" pitchFamily="34" charset="0"/>
                <a:ea typeface="Hanken Grotesk" pitchFamily="34" charset="-122"/>
                <a:cs typeface="Hanken Grotesk" pitchFamily="34" charset="-120"/>
              </a:rPr>
              <a:t>I can plot and identify points on the coordinate plane using ordered pairs.</a:t>
            </a:r>
            <a:endParaRPr lang="en-US" sz="1100" dirty="0"/>
          </a:p>
        </p:txBody>
      </p:sp>
      <p:sp>
        <p:nvSpPr>
          <p:cNvPr id="19" name="Shape 17"/>
          <p:cNvSpPr/>
          <p:nvPr/>
        </p:nvSpPr>
        <p:spPr>
          <a:xfrm>
            <a:off x="411480" y="1371600"/>
            <a:ext cx="1965960" cy="2377440"/>
          </a:xfrm>
          <a:prstGeom prst="roundRect">
            <a:avLst>
              <a:gd name="adj" fmla="val 3721"/>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0" name="Shape 18"/>
          <p:cNvSpPr/>
          <p:nvPr/>
        </p:nvSpPr>
        <p:spPr>
          <a:xfrm>
            <a:off x="1138428" y="1508760"/>
            <a:ext cx="512064" cy="512064"/>
          </a:xfrm>
          <a:prstGeom prst="ellipse">
            <a:avLst/>
          </a:prstGeom>
          <a:solidFill>
            <a:srgbClr val="C0654A"/>
          </a:solidFill>
          <a:ln/>
        </p:spPr>
      </p:sp>
      <p:sp>
        <p:nvSpPr>
          <p:cNvPr id="21" name="Text 19"/>
          <p:cNvSpPr/>
          <p:nvPr/>
        </p:nvSpPr>
        <p:spPr>
          <a:xfrm>
            <a:off x="113842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1</a:t>
            </a:r>
            <a:endParaRPr lang="en-US" sz="2000" dirty="0"/>
          </a:p>
        </p:txBody>
      </p:sp>
      <p:sp>
        <p:nvSpPr>
          <p:cNvPr id="22" name="Text 20"/>
          <p:cNvSpPr/>
          <p:nvPr/>
        </p:nvSpPr>
        <p:spPr>
          <a:xfrm>
            <a:off x="45720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Not Yet</a:t>
            </a:r>
            <a:endParaRPr lang="en-US" sz="1150" dirty="0"/>
          </a:p>
        </p:txBody>
      </p:sp>
      <p:sp>
        <p:nvSpPr>
          <p:cNvPr id="23" name="Text 21"/>
          <p:cNvSpPr/>
          <p:nvPr/>
        </p:nvSpPr>
        <p:spPr>
          <a:xfrm>
            <a:off x="52120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need more help. This does not make sense to me yet.</a:t>
            </a:r>
            <a:endParaRPr lang="en-US" sz="900" dirty="0"/>
          </a:p>
        </p:txBody>
      </p:sp>
      <p:sp>
        <p:nvSpPr>
          <p:cNvPr id="24" name="Text 22"/>
          <p:cNvSpPr/>
          <p:nvPr/>
        </p:nvSpPr>
        <p:spPr>
          <a:xfrm>
            <a:off x="45720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25" name="Shape 23"/>
          <p:cNvSpPr/>
          <p:nvPr/>
        </p:nvSpPr>
        <p:spPr>
          <a:xfrm>
            <a:off x="2560320" y="1371600"/>
            <a:ext cx="1965960" cy="2377440"/>
          </a:xfrm>
          <a:prstGeom prst="roundRect">
            <a:avLst>
              <a:gd name="adj" fmla="val 3721"/>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Shape 24"/>
          <p:cNvSpPr/>
          <p:nvPr/>
        </p:nvSpPr>
        <p:spPr>
          <a:xfrm>
            <a:off x="3287268" y="1508760"/>
            <a:ext cx="512064" cy="512064"/>
          </a:xfrm>
          <a:prstGeom prst="ellipse">
            <a:avLst/>
          </a:prstGeom>
          <a:solidFill>
            <a:srgbClr val="C0654A"/>
          </a:solidFill>
          <a:ln/>
        </p:spPr>
      </p:sp>
      <p:sp>
        <p:nvSpPr>
          <p:cNvPr id="27" name="Text 25"/>
          <p:cNvSpPr/>
          <p:nvPr/>
        </p:nvSpPr>
        <p:spPr>
          <a:xfrm>
            <a:off x="328726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2</a:t>
            </a:r>
            <a:endParaRPr lang="en-US" sz="2000" dirty="0"/>
          </a:p>
        </p:txBody>
      </p:sp>
      <p:sp>
        <p:nvSpPr>
          <p:cNvPr id="28" name="Text 26"/>
          <p:cNvSpPr/>
          <p:nvPr/>
        </p:nvSpPr>
        <p:spPr>
          <a:xfrm>
            <a:off x="260604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Getting There</a:t>
            </a:r>
            <a:endParaRPr lang="en-US" sz="1150" dirty="0"/>
          </a:p>
        </p:txBody>
      </p:sp>
      <p:sp>
        <p:nvSpPr>
          <p:cNvPr id="29" name="Text 27"/>
          <p:cNvSpPr/>
          <p:nvPr/>
        </p:nvSpPr>
        <p:spPr>
          <a:xfrm>
            <a:off x="267004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understand the idea but I make mistakes when I work.</a:t>
            </a:r>
            <a:endParaRPr lang="en-US" sz="900" dirty="0"/>
          </a:p>
        </p:txBody>
      </p:sp>
      <p:sp>
        <p:nvSpPr>
          <p:cNvPr id="30" name="Text 28"/>
          <p:cNvSpPr/>
          <p:nvPr/>
        </p:nvSpPr>
        <p:spPr>
          <a:xfrm>
            <a:off x="260604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1" name="Shape 29"/>
          <p:cNvSpPr/>
          <p:nvPr/>
        </p:nvSpPr>
        <p:spPr>
          <a:xfrm>
            <a:off x="4709160" y="1371600"/>
            <a:ext cx="1965960" cy="2377440"/>
          </a:xfrm>
          <a:prstGeom prst="roundRect">
            <a:avLst>
              <a:gd name="adj" fmla="val 3721"/>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2" name="Shape 30"/>
          <p:cNvSpPr/>
          <p:nvPr/>
        </p:nvSpPr>
        <p:spPr>
          <a:xfrm>
            <a:off x="5436108" y="1508760"/>
            <a:ext cx="512064" cy="512064"/>
          </a:xfrm>
          <a:prstGeom prst="ellipse">
            <a:avLst/>
          </a:prstGeom>
          <a:solidFill>
            <a:srgbClr val="C0654A"/>
          </a:solidFill>
          <a:ln/>
        </p:spPr>
      </p:sp>
      <p:sp>
        <p:nvSpPr>
          <p:cNvPr id="33" name="Text 31"/>
          <p:cNvSpPr/>
          <p:nvPr/>
        </p:nvSpPr>
        <p:spPr>
          <a:xfrm>
            <a:off x="543610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3</a:t>
            </a:r>
            <a:endParaRPr lang="en-US" sz="2000" dirty="0"/>
          </a:p>
        </p:txBody>
      </p:sp>
      <p:sp>
        <p:nvSpPr>
          <p:cNvPr id="34" name="Text 32"/>
          <p:cNvSpPr/>
          <p:nvPr/>
        </p:nvSpPr>
        <p:spPr>
          <a:xfrm>
            <a:off x="475488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Got It!</a:t>
            </a:r>
            <a:endParaRPr lang="en-US" sz="1150" dirty="0"/>
          </a:p>
        </p:txBody>
      </p:sp>
      <p:sp>
        <p:nvSpPr>
          <p:cNvPr id="35" name="Text 33"/>
          <p:cNvSpPr/>
          <p:nvPr/>
        </p:nvSpPr>
        <p:spPr>
          <a:xfrm>
            <a:off x="481888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solve problems on my own and explain my thinking.</a:t>
            </a:r>
            <a:endParaRPr lang="en-US" sz="900" dirty="0"/>
          </a:p>
        </p:txBody>
      </p:sp>
      <p:sp>
        <p:nvSpPr>
          <p:cNvPr id="36" name="Text 34"/>
          <p:cNvSpPr/>
          <p:nvPr/>
        </p:nvSpPr>
        <p:spPr>
          <a:xfrm>
            <a:off x="475488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7" name="Shape 35"/>
          <p:cNvSpPr/>
          <p:nvPr/>
        </p:nvSpPr>
        <p:spPr>
          <a:xfrm>
            <a:off x="6858000" y="1371600"/>
            <a:ext cx="1965960" cy="2377440"/>
          </a:xfrm>
          <a:prstGeom prst="roundRect">
            <a:avLst>
              <a:gd name="adj" fmla="val 3721"/>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Shape 36"/>
          <p:cNvSpPr/>
          <p:nvPr/>
        </p:nvSpPr>
        <p:spPr>
          <a:xfrm>
            <a:off x="7584948" y="1508760"/>
            <a:ext cx="512064" cy="512064"/>
          </a:xfrm>
          <a:prstGeom prst="ellipse">
            <a:avLst/>
          </a:prstGeom>
          <a:solidFill>
            <a:srgbClr val="C0654A"/>
          </a:solidFill>
          <a:ln/>
        </p:spPr>
      </p:sp>
      <p:sp>
        <p:nvSpPr>
          <p:cNvPr id="39" name="Text 37"/>
          <p:cNvSpPr/>
          <p:nvPr/>
        </p:nvSpPr>
        <p:spPr>
          <a:xfrm>
            <a:off x="758494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4</a:t>
            </a:r>
            <a:endParaRPr lang="en-US" sz="2000" dirty="0"/>
          </a:p>
        </p:txBody>
      </p:sp>
      <p:sp>
        <p:nvSpPr>
          <p:cNvPr id="40" name="Text 38"/>
          <p:cNvSpPr/>
          <p:nvPr/>
        </p:nvSpPr>
        <p:spPr>
          <a:xfrm>
            <a:off x="690372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Can Teach It</a:t>
            </a:r>
            <a:endParaRPr lang="en-US" sz="1150" dirty="0"/>
          </a:p>
        </p:txBody>
      </p:sp>
      <p:sp>
        <p:nvSpPr>
          <p:cNvPr id="41" name="Text 39"/>
          <p:cNvSpPr/>
          <p:nvPr/>
        </p:nvSpPr>
        <p:spPr>
          <a:xfrm>
            <a:off x="696772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clearly teach this strategy to a classmate.</a:t>
            </a:r>
            <a:endParaRPr lang="en-US" sz="900" dirty="0"/>
          </a:p>
        </p:txBody>
      </p:sp>
      <p:sp>
        <p:nvSpPr>
          <p:cNvPr id="42" name="Text 40"/>
          <p:cNvSpPr/>
          <p:nvPr/>
        </p:nvSpPr>
        <p:spPr>
          <a:xfrm>
            <a:off x="690372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43" name="Shape 41"/>
          <p:cNvSpPr/>
          <p:nvPr/>
        </p:nvSpPr>
        <p:spPr>
          <a:xfrm>
            <a:off x="411480" y="3977640"/>
            <a:ext cx="8412480" cy="685800"/>
          </a:xfrm>
          <a:prstGeom prst="roundRect">
            <a:avLst>
              <a:gd name="adj" fmla="val 10667"/>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44" name="Text 42"/>
          <p:cNvSpPr/>
          <p:nvPr/>
        </p:nvSpPr>
        <p:spPr>
          <a:xfrm>
            <a:off x="640080" y="3977640"/>
            <a:ext cx="7955280" cy="685800"/>
          </a:xfrm>
          <a:prstGeom prst="rect">
            <a:avLst/>
          </a:prstGeom>
          <a:noFill/>
          <a:ln/>
        </p:spPr>
        <p:txBody>
          <a:bodyPr wrap="square" rtlCol="0" anchor="ctr"/>
          <a:lstStyle/>
          <a:p>
            <a:pPr indent="0" marL="0">
              <a:buNone/>
            </a:pPr>
            <a:r>
              <a:rPr lang="en-US" sz="1050" b="1" dirty="0">
                <a:solidFill>
                  <a:srgbClr val="C0654A"/>
                </a:solidFill>
                <a:latin typeface="Hanken Grotesk" pitchFamily="34" charset="0"/>
                <a:ea typeface="Hanken Grotesk" pitchFamily="34" charset="-122"/>
                <a:cs typeface="Hanken Grotesk" pitchFamily="34" charset="-120"/>
              </a:rPr>
              <a:t>My next step:  </a:t>
            </a:r>
            <a:pPr indent="0" marL="0">
              <a:buNone/>
            </a:pPr>
            <a:r>
              <a:rPr lang="en-US" sz="1050" dirty="0">
                <a:solidFill>
                  <a:srgbClr val="24323F"/>
                </a:solidFill>
                <a:latin typeface="Hanken Grotesk" pitchFamily="34" charset="0"/>
                <a:ea typeface="Hanken Grotesk" pitchFamily="34" charset="-122"/>
                <a:cs typeface="Hanken Grotesk" pitchFamily="34" charset="-120"/>
              </a:rPr>
              <a:t>To move up one level, I will ___.</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Neft Teacher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9-1-flagship: Graph on the Coordinate Plane</dc:title>
  <dc:subject>6.NS.6</dc:subject>
  <dc:creator>Neft Teacher</dc:creator>
  <cp:lastModifiedBy>Neft Teacher</cp:lastModifiedBy>
  <cp:revision>1</cp:revision>
  <dcterms:created xsi:type="dcterms:W3CDTF">2026-06-08T12:33:42Z</dcterms:created>
  <dcterms:modified xsi:type="dcterms:W3CDTF">2026-06-08T12:33:42Z</dcterms:modified>
</cp:coreProperties>
</file>