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x-coordinate = horizontal (right 4), NOT vertical. The student swapped x and y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C0654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Graph on the Coordinate Plane</a:t>
            </a:r>
            <a:endParaRPr lang="en-US" sz="3000" dirty="0"/>
          </a:p>
        </p:txBody>
      </p:sp>
      <p:sp>
        <p:nvSpPr>
          <p:cNvPr id="7" name="Text 5"/>
          <p:cNvSpPr/>
          <p:nvPr/>
        </p:nvSpPr>
        <p:spPr>
          <a:xfrm>
            <a:off x="411480" y="4160520"/>
            <a:ext cx="1188720" cy="310896"/>
          </a:xfrm>
          <a:prstGeom prst="rect">
            <a:avLst>
              <a:gd name="adj" fmla="val 50000"/>
            </a:avLst>
          </a:prstGeom>
          <a:solidFill>
            <a:srgbClr val="C0654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6.NS.6</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9  ·  Lesson 9-1-flagship</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C0654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plot and identify points on the coordinate plane using ordered pairs.</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C0654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work using the words coordinate plane, ordered pair, origin, and quadrant.</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Treasure Map Navigation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Captain Vega left a treasure map, but instead of an 'X marks the spot,' she hid the directions as ordered pairs! To find the treasure, you need to plot each point on the coordinate plane and connect them in order. The first clue says: Start at (2, 1), then go to (5, 4), then (8, 1).</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shape will the three points make when connected?</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number tells you how far right/left? Which tells you up/down?</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Why is the ORDER in an ordered pair important?</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if one of the coordinates was negative?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would you describe a location without a coordinate plane?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Coordinate plane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Plano cartesiano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grid with a line going across and a line going up that cross.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cuadrícula con una línea horizontal y una vertical que se cruzan.</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grid with a horizontal line (x-axis) crossing a vertical line (y-axis), making four sections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Ordered pair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Par ordenado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Two numbers (x, y) that tell where a point is on a grid.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Dos números (x, y) que dicen dónde está un punto en una cuadrícula.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5) means move right 3 from the origin, then up 5</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Origin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Origen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point (0, 0) where the two grid lines cross.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punto (0, 0) donde se cruzan las dos líneas de la cuadrícula.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The starting point at the center where both axes cross — (0, 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Quadrant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Cuadrante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One of the four parts of a coordinate grid.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de las cuatro partes de una cuadrícula de coordenadas.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I (+,+) top-right, II (-,+) top-left, III (-,-) bottom-left, IV (+,-) bottom-right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Reflection</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Reflexión</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flipped, mirror image across a line.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imagen reflejada al otro lado de una línea.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2) reflected over the x-axis becomes (3, -2) — same x, opposite y</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Integer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−3  </a:t>
            </a:r>
            <a:pPr indent="0" marL="0">
              <a:buNone/>
            </a:pPr>
            <a:r>
              <a:rPr lang="en-US" sz="800" dirty="0">
                <a:solidFill>
                  <a:srgbClr val="24323F"/>
                </a:solidFill>
                <a:latin typeface="Hanken Grotesk" pitchFamily="34" charset="0"/>
                <a:ea typeface="Hanken Grotesk" pitchFamily="34" charset="-122"/>
                <a:cs typeface="Hanken Grotesk" pitchFamily="34" charset="-120"/>
              </a:rPr>
              <a:t>It is a whole number's opposite with no fraction.</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1.5  </a:t>
            </a:r>
            <a:pPr indent="0" marL="0">
              <a:buNone/>
            </a:pPr>
            <a:r>
              <a:rPr lang="en-US" sz="800" dirty="0">
                <a:solidFill>
                  <a:srgbClr val="24323F"/>
                </a:solidFill>
                <a:latin typeface="Hanken Grotesk" pitchFamily="34" charset="0"/>
                <a:ea typeface="Hanken Grotesk" pitchFamily="34" charset="-122"/>
                <a:cs typeface="Hanken Grotesk" pitchFamily="34" charset="-120"/>
              </a:rPr>
              <a:t>It has a fraction part, so it is not an integer.</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How do you plot a point on the coordinate plane?</a:t>
            </a:r>
            <a:endParaRPr lang="en-US" sz="1200" dirty="0"/>
          </a:p>
        </p:txBody>
      </p:sp>
      <p:sp>
        <p:nvSpPr>
          <p:cNvPr id="20" name="Shape 18"/>
          <p:cNvSpPr/>
          <p:nvPr/>
        </p:nvSpPr>
        <p:spPr>
          <a:xfrm>
            <a:off x="640080" y="1609344"/>
            <a:ext cx="274320" cy="274320"/>
          </a:xfrm>
          <a:prstGeom prst="ellipse">
            <a:avLst/>
          </a:prstGeom>
          <a:solidFill>
            <a:srgbClr val="C0654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let's plot (2, 1). Where do we start? At the origin (0, 0).</a:t>
            </a:r>
            <a:endParaRPr lang="en-US" sz="1050" dirty="0"/>
          </a:p>
        </p:txBody>
      </p:sp>
      <p:sp>
        <p:nvSpPr>
          <p:cNvPr id="23" name="Shape 21"/>
          <p:cNvSpPr/>
          <p:nvPr/>
        </p:nvSpPr>
        <p:spPr>
          <a:xfrm>
            <a:off x="640080" y="2084832"/>
            <a:ext cx="274320" cy="274320"/>
          </a:xfrm>
          <a:prstGeom prst="ellipse">
            <a:avLst/>
          </a:prstGeom>
          <a:solidFill>
            <a:srgbClr val="C0654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How far do we move right? The first number is 2, so we move 2 right.</a:t>
            </a:r>
            <a:endParaRPr lang="en-US" sz="1050" dirty="0"/>
          </a:p>
        </p:txBody>
      </p:sp>
      <p:sp>
        <p:nvSpPr>
          <p:cNvPr id="26" name="Shape 24"/>
          <p:cNvSpPr/>
          <p:nvPr/>
        </p:nvSpPr>
        <p:spPr>
          <a:xfrm>
            <a:off x="640080" y="2560320"/>
            <a:ext cx="274320" cy="274320"/>
          </a:xfrm>
          <a:prstGeom prst="ellipse">
            <a:avLst/>
          </a:prstGeom>
          <a:solidFill>
            <a:srgbClr val="C0654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How far do we move up? The second number is 1, so we move 1 up and place the dot.</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On a treasure map laid over a coordinate plane, why do we always start at the origin (0, 0) and move sideways before moving up or down to reach the treasure?</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C0654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Always start at the origin (0, 0), move right/left first, then up/down.</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Plot Captain Vega's treasure map points and connect them to reveal the path!</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8" name="Shape 26"/>
          <p:cNvSpPr/>
          <p:nvPr/>
        </p:nvSpPr>
        <p:spPr>
          <a:xfrm>
            <a:off x="594360" y="2560320"/>
            <a:ext cx="2514600" cy="1965960"/>
          </a:xfrm>
          <a:prstGeom prst="roundRect">
            <a:avLst>
              <a:gd name="adj" fmla="val 2326"/>
            </a:avLst>
          </a:prstGeom>
          <a:solidFill>
            <a:srgbClr val="FFFFFF"/>
          </a:solidFill>
          <a:ln w="12700">
            <a:solidFill>
              <a:srgbClr val="C0654A"/>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594360" y="2560320"/>
            <a:ext cx="2514600" cy="292608"/>
          </a:xfrm>
          <a:prstGeom prst="rect">
            <a:avLst/>
          </a:prstGeom>
          <a:solidFill>
            <a:srgbClr val="C0654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30" name="Shape 28"/>
          <p:cNvSpPr/>
          <p:nvPr/>
        </p:nvSpPr>
        <p:spPr>
          <a:xfrm>
            <a:off x="3246120" y="2560320"/>
            <a:ext cx="2514600" cy="1965960"/>
          </a:xfrm>
          <a:prstGeom prst="roundRect">
            <a:avLst>
              <a:gd name="adj" fmla="val 2326"/>
            </a:avLst>
          </a:prstGeom>
          <a:solidFill>
            <a:srgbClr val="FFFFFF"/>
          </a:solidFill>
          <a:ln w="12700">
            <a:solidFill>
              <a:srgbClr val="C0654A"/>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3246120" y="2560320"/>
            <a:ext cx="2514600" cy="292608"/>
          </a:xfrm>
          <a:prstGeom prst="rect">
            <a:avLst/>
          </a:prstGeom>
          <a:solidFill>
            <a:srgbClr val="C0654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32" name="Shape 30"/>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4" name="Text 32"/>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Your map says the treasure is at (4, 2). Walk your partner through every move you make from the origin, using the words x-axis and y-axis.</a:t>
            </a:r>
            <a:endParaRPr lang="en-US" sz="1000" dirty="0"/>
          </a:p>
        </p:txBody>
      </p:sp>
      <p:sp>
        <p:nvSpPr>
          <p:cNvPr id="35" name="Shape 33"/>
          <p:cNvSpPr/>
          <p:nvPr/>
        </p:nvSpPr>
        <p:spPr>
          <a:xfrm>
            <a:off x="6217920" y="2743200"/>
            <a:ext cx="2423160" cy="0"/>
          </a:xfrm>
          <a:prstGeom prst="line">
            <a:avLst/>
          </a:prstGeom>
          <a:noFill/>
          <a:ln w="9525">
            <a:solidFill>
              <a:srgbClr val="C7CDD2"/>
            </a:solidFill>
            <a:prstDash val="dash"/>
          </a:ln>
        </p:spPr>
      </p:sp>
      <p:sp>
        <p:nvSpPr>
          <p:cNvPr id="36" name="Shape 34"/>
          <p:cNvSpPr/>
          <p:nvPr/>
        </p:nvSpPr>
        <p:spPr>
          <a:xfrm>
            <a:off x="6217920" y="3072384"/>
            <a:ext cx="2423160" cy="0"/>
          </a:xfrm>
          <a:prstGeom prst="line">
            <a:avLst/>
          </a:prstGeom>
          <a:noFill/>
          <a:ln w="9525">
            <a:solidFill>
              <a:srgbClr val="C7CDD2"/>
            </a:solidFill>
            <a:prstDash val="dash"/>
          </a:ln>
        </p:spPr>
      </p:sp>
      <p:sp>
        <p:nvSpPr>
          <p:cNvPr id="37" name="Shape 35"/>
          <p:cNvSpPr/>
          <p:nvPr/>
        </p:nvSpPr>
        <p:spPr>
          <a:xfrm>
            <a:off x="6217920" y="3401568"/>
            <a:ext cx="2423160" cy="0"/>
          </a:xfrm>
          <a:prstGeom prst="line">
            <a:avLst/>
          </a:prstGeom>
          <a:noFill/>
          <a:ln w="9525">
            <a:solidFill>
              <a:srgbClr val="C7CDD2"/>
            </a:solidFill>
            <a:prstDash val="dash"/>
          </a:ln>
        </p:spPr>
      </p:sp>
      <p:sp>
        <p:nvSpPr>
          <p:cNvPr id="38" name="Shape 36"/>
          <p:cNvSpPr/>
          <p:nvPr/>
        </p:nvSpPr>
        <p:spPr>
          <a:xfrm>
            <a:off x="6217920" y="3730752"/>
            <a:ext cx="2423160" cy="0"/>
          </a:xfrm>
          <a:prstGeom prst="line">
            <a:avLst/>
          </a:prstGeom>
          <a:noFill/>
          <a:ln w="9525">
            <a:solidFill>
              <a:srgbClr val="C7CDD2"/>
            </a:solidFill>
            <a:prstDash val="dash"/>
          </a:ln>
        </p:spPr>
      </p:sp>
      <p:sp>
        <p:nvSpPr>
          <p:cNvPr id="39" name="Shape 37"/>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Plotting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Ordered pair:  </a:t>
            </a:r>
            <a:pPr indent="0" marL="0">
              <a:buNone/>
            </a:pPr>
            <a:r>
              <a:rPr lang="en-US" sz="950" b="1" dirty="0">
                <a:solidFill>
                  <a:srgbClr val="24323F"/>
                </a:solidFill>
                <a:latin typeface="Courier New" pitchFamily="34" charset="0"/>
                <a:ea typeface="Courier New" pitchFamily="34" charset="-122"/>
                <a:cs typeface="Courier New" pitchFamily="34" charset="-120"/>
              </a:rPr>
              <a:t>(4, 7)</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Read x-coordinate:  </a:t>
            </a:r>
            <a:pPr indent="0" marL="0">
              <a:buNone/>
            </a:pPr>
            <a:r>
              <a:rPr lang="en-US" sz="950" b="1" dirty="0">
                <a:solidFill>
                  <a:srgbClr val="24323F"/>
                </a:solidFill>
                <a:latin typeface="Courier New" pitchFamily="34" charset="0"/>
                <a:ea typeface="Courier New" pitchFamily="34" charset="-122"/>
                <a:cs typeface="Courier New" pitchFamily="34" charset="-120"/>
              </a:rPr>
              <a:t>Go up 4 units</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Read y-coordinate:  </a:t>
            </a:r>
            <a:pPr indent="0" marL="0">
              <a:buNone/>
            </a:pPr>
            <a:r>
              <a:rPr lang="en-US" sz="950" b="1" dirty="0">
                <a:solidFill>
                  <a:srgbClr val="24323F"/>
                </a:solidFill>
                <a:latin typeface="Courier New" pitchFamily="34" charset="0"/>
                <a:ea typeface="Courier New" pitchFamily="34" charset="-122"/>
                <a:cs typeface="Courier New" pitchFamily="34" charset="-120"/>
              </a:rPr>
              <a:t>Go right 7 units</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Plot point:  </a:t>
            </a:r>
            <a:pPr indent="0" marL="0">
              <a:buNone/>
            </a:pPr>
            <a:r>
              <a:rPr lang="en-US" sz="950" b="1" dirty="0">
                <a:solidFill>
                  <a:srgbClr val="24323F"/>
                </a:solidFill>
                <a:latin typeface="Courier New" pitchFamily="34" charset="0"/>
                <a:ea typeface="Courier New" pitchFamily="34" charset="-122"/>
                <a:cs typeface="Courier New" pitchFamily="34" charset="-120"/>
              </a:rPr>
              <a:t>Point placed at column 7, row 4</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C0654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will plot the point (5, 4). The 5 is the x-coordinate, and the 4 is the y-coordinate.</a:t>
            </a:r>
            <a:endParaRPr lang="en-US" sz="1050" dirty="0"/>
          </a:p>
        </p:txBody>
      </p:sp>
      <p:sp>
        <p:nvSpPr>
          <p:cNvPr id="22" name="Shape 20"/>
          <p:cNvSpPr/>
          <p:nvPr/>
        </p:nvSpPr>
        <p:spPr>
          <a:xfrm>
            <a:off x="594360" y="1719072"/>
            <a:ext cx="274320" cy="274320"/>
          </a:xfrm>
          <a:prstGeom prst="ellipse">
            <a:avLst/>
          </a:prstGeom>
          <a:solidFill>
            <a:srgbClr val="C0654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start at the origin, which is (0, 0).</a:t>
            </a:r>
            <a:endParaRPr lang="en-US" sz="1050" dirty="0"/>
          </a:p>
        </p:txBody>
      </p:sp>
      <p:sp>
        <p:nvSpPr>
          <p:cNvPr id="25" name="Shape 23"/>
          <p:cNvSpPr/>
          <p:nvPr/>
        </p:nvSpPr>
        <p:spPr>
          <a:xfrm>
            <a:off x="594360" y="2194560"/>
            <a:ext cx="274320" cy="274320"/>
          </a:xfrm>
          <a:prstGeom prst="ellipse">
            <a:avLst/>
          </a:prstGeom>
          <a:solidFill>
            <a:srgbClr val="C0654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First I move 5 units to the right along the x-axis.</a:t>
            </a:r>
            <a:endParaRPr lang="en-US" sz="1050" dirty="0"/>
          </a:p>
        </p:txBody>
      </p:sp>
      <p:sp>
        <p:nvSpPr>
          <p:cNvPr id="28" name="Shape 26"/>
          <p:cNvSpPr/>
          <p:nvPr/>
        </p:nvSpPr>
        <p:spPr>
          <a:xfrm>
            <a:off x="594360" y="2670048"/>
            <a:ext cx="274320" cy="274320"/>
          </a:xfrm>
          <a:prstGeom prst="ellipse">
            <a:avLst/>
          </a:prstGeom>
          <a:solidFill>
            <a:srgbClr val="C0654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Then I move 4 units up. I place my dot. That is the point (5, 4).</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Coordinate plane and Ordered pair.</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"Always start at the origin (0, 0), move right/left first, then up/down."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Coordinate plane,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ordered pair names a point 3 units right and 7 units up from the origin?</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are the coordinates of the origin?</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A point is at (6, 2). What does the 6 tell you?</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How is reading a coordinate pair on the treasure map like reading directions in a video game or on a real map?</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C0654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"Always start at the origin (0, 0), move right/left first, then up/down."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C0654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Coordinate plane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C0654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Coordinate plane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Point P is located 6 units right and 3 units up from the origin. What ordered pair names point P?</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(6, 3)</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(3, 6)</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(6, 0)</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(0, 3)</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6.NS.6</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9-1-flagship</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plot and identify points on the coordinate plane using ordered pairs.</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C0654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C0654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C0654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C0654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9-1-flagship: Graph on the Coordinate Plane</dc:title>
  <dc:subject>6.NS.6</dc:subject>
  <dc:creator>Neft Teacher</dc:creator>
  <cp:lastModifiedBy>Neft Teacher</cp:lastModifiedBy>
  <cp:revision>1</cp:revision>
  <dcterms:created xsi:type="dcterms:W3CDTF">2026-06-08T12:10:58Z</dcterms:created>
  <dcterms:modified xsi:type="dcterms:W3CDTF">2026-06-08T12:10:58Z</dcterms:modified>
</cp:coreProperties>
</file>