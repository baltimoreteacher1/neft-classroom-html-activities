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3" r:id="rId1"/>
    <p:sldMasterId id="2147483684" r:id="rId2"/>
    <p:sldMasterId id="2147483685" r:id="rId3"/>
    <p:sldMasterId id="2147483686" r:id="rId4"/>
  </p:sldMasterIdLst>
  <p:notesMasterIdLst>
    <p:notesMasterId r:id="rId35"/>
  </p:notesMasterIdLst>
  <p:sldIdLst>
    <p:sldId id="259" r:id="rId5"/>
    <p:sldId id="256" r:id="rId6"/>
    <p:sldId id="260" r:id="rId7"/>
    <p:sldId id="272" r:id="rId8"/>
    <p:sldId id="279" r:id="rId9"/>
    <p:sldId id="281" r:id="rId10"/>
    <p:sldId id="289" r:id="rId11"/>
    <p:sldId id="291" r:id="rId12"/>
    <p:sldId id="293" r:id="rId13"/>
    <p:sldId id="298" r:id="rId14"/>
    <p:sldId id="353" r:id="rId15"/>
    <p:sldId id="344" r:id="rId16"/>
    <p:sldId id="343" r:id="rId17"/>
    <p:sldId id="337" r:id="rId18"/>
    <p:sldId id="356" r:id="rId19"/>
    <p:sldId id="338" r:id="rId20"/>
    <p:sldId id="339" r:id="rId21"/>
    <p:sldId id="302" r:id="rId22"/>
    <p:sldId id="314" r:id="rId23"/>
    <p:sldId id="324" r:id="rId24"/>
    <p:sldId id="331" r:id="rId25"/>
    <p:sldId id="333" r:id="rId26"/>
    <p:sldId id="342" r:id="rId27"/>
    <p:sldId id="341" r:id="rId28"/>
    <p:sldId id="340" r:id="rId29"/>
    <p:sldId id="357" r:id="rId30"/>
    <p:sldId id="354" r:id="rId31"/>
    <p:sldId id="335" r:id="rId32"/>
    <p:sldId id="336" r:id="rId33"/>
    <p:sldId id="355" r:id="rId34"/>
  </p:sldIdLst>
  <p:sldSz cx="12192000" cy="6858000"/>
  <p:notesSz cx="7010400" cy="92360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23"/>
    <p:restoredTop sz="94700"/>
  </p:normalViewPr>
  <p:slideViewPr>
    <p:cSldViewPr snapToGrid="0">
      <p:cViewPr varScale="1">
        <p:scale>
          <a:sx n="70" d="100"/>
          <a:sy n="70" d="100"/>
        </p:scale>
        <p:origin x="200" y="648"/>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3037840" cy="463407"/>
          </a:xfrm>
          <a:prstGeom prst="rect">
            <a:avLst/>
          </a:prstGeom>
          <a:noFill/>
          <a:ln>
            <a:noFill/>
          </a:ln>
        </p:spPr>
        <p:txBody>
          <a:bodyPr spcFirstLastPara="1" wrap="square" lIns="92275" tIns="46125" rIns="92275" bIns="461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2"/>
            <a:ext cx="3037840" cy="463407"/>
          </a:xfrm>
          <a:prstGeom prst="rect">
            <a:avLst/>
          </a:prstGeom>
          <a:noFill/>
          <a:ln>
            <a:noFill/>
          </a:ln>
        </p:spPr>
        <p:txBody>
          <a:bodyPr spcFirstLastPara="1" wrap="square" lIns="92275" tIns="46125" rIns="92275" bIns="461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669"/>
            <a:ext cx="3037840" cy="463406"/>
          </a:xfrm>
          <a:prstGeom prst="rect">
            <a:avLst/>
          </a:prstGeom>
          <a:noFill/>
          <a:ln>
            <a:noFill/>
          </a:ln>
        </p:spPr>
        <p:txBody>
          <a:bodyPr spcFirstLastPara="1" wrap="square" lIns="92275" tIns="46125" rIns="92275" bIns="461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772669"/>
            <a:ext cx="3037840" cy="463406"/>
          </a:xfrm>
          <a:prstGeom prst="rect">
            <a:avLst/>
          </a:prstGeom>
          <a:noFill/>
          <a:ln>
            <a:noFill/>
          </a:ln>
        </p:spPr>
        <p:txBody>
          <a:bodyPr spcFirstLastPara="1" wrap="square" lIns="92275" tIns="46125" rIns="92275" bIns="4612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4: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4.1, slide 1 | WARMUP</a:t>
            </a:r>
          </a:p>
          <a:p>
            <a:pPr>
              <a:buNone/>
            </a:pPr>
            <a:r>
              <a:rPr lang="en-US" sz="1100"/>
              <a:t>Focus on the existing task: Warm-Up WARM-UP · THINK • TRY • CHECK Do these four on your own. We…</a:t>
            </a:r>
          </a:p>
          <a:p>
            <a:pPr>
              <a:buNone/>
            </a:pPr>
            <a:r>
              <a:rPr lang="en-US" sz="1100"/>
              <a:t>GATHER EVIDENCE (T4/6): Keep the original items. Students try independently, mark an uncertain item, and explain one method before checking. Use the existing key when present.</a:t>
            </a:r>
          </a:p>
          <a:p>
            <a:pPr>
              <a:buNone/>
            </a:pPr>
            <a:r>
              <a:rPr lang="en-US" sz="1100"/>
              <a:t>RESPOND: Distinguish a calculation slip from a reasoning gap. Give one next step on the same item; have students revise in a second color. Use the responses to choose flexible support for today’s lesson.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Warm-Up answers (teacher only): 1) 53/100   2) 9%   3) 0.71   4) 1/4</a:t>
            </a:r>
          </a:p>
          <a:p>
            <a:pPr>
              <a:buNone/>
            </a:pPr>
            <a:endParaRP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the whole; represent a rate per 100; interpret values above 100 percent. Review recent work and today’s warm-up to choose flexible groups and access supports; do not infer needs from identity or perceived ability. Use the existing lesson tasks and stated standards.</a:t>
            </a:r>
          </a:p>
          <a:p>
            <a:pPr>
              <a:buNone/>
            </a:pPr>
            <a:r>
              <a:rPr lang="en-US" sz="1100"/>
              <a:t>Anticipate: assuming a percent must be less than or equal to 100. If observed, label 100 percent on the existing grid or tape diagram before locating the part.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5: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4.1, slide 3 | GOAL</a:t>
            </a:r>
          </a:p>
          <a:p>
            <a:pPr>
              <a:buNone/>
            </a:pPr>
            <a:r>
              <a:rPr lang="en-US" sz="1100"/>
              <a:t>Focus on the existing task: Today’s Objectives Understand Percent Maryland Standard 6.AT.4 CONTENT…</a:t>
            </a:r>
          </a:p>
          <a:p>
            <a:pPr>
              <a:buNone/>
            </a:pPr>
            <a:r>
              <a:rPr lang="en-US" sz="1100"/>
              <a:t>CONNECT (T1/4): Ask students to restate the displayed goal or key idea and connect it to earlier work. Relevant lesson evidence: identify the whole; represent a rate per 100; interpret values above 100 percent.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endParaRPr/>
          </a:p>
          <a:p>
            <a:r>
              <a:rPr lang="en-US" dirty="0"/>
              <a:t>UIFR TEACH — Level 4 student move: Tell a partner the goal and why it matters.</a:t>
            </a:r>
          </a:p>
          <a:p>
            <a:r>
              <a:rPr lang="en-US"/>
              <a:t>Student move: Tell a partner the goal and why it matters.</a:t>
            </a:r>
          </a:p>
          <a:p>
            <a:pPr>
              <a:buNone/>
            </a:pPr>
            <a:endParaRPr lang="en-US"/>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the whole; represent a rate per 100; interpret values above 100 percent. Ask: “Which part of your work would show this?” Revisit that evidence after the task; a confidence rating alone is not evidence of understanding.</a:t>
            </a:r>
          </a:p>
        </p:txBody>
      </p:sp>
      <p:sp>
        <p:nvSpPr>
          <p:cNvPr id="333" name="Google Shape;333;p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p17: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14 | TASK</a:t>
            </a:r>
          </a:p>
          <a:p>
            <a:pPr>
              <a:buNone/>
            </a:pPr>
            <a:r>
              <a:rPr lang="en-US" sz="1100"/>
              <a:t>Focus on the existing task: Middle school students voted on a new mascot for their school. The results show that four out of every ten voters selected the tiger as the new mascot. How many students out of every 100 voted for the tiger?</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dirty="0"/>
              <a:t>UIFR TEACH — Level 4 student move: Ask a partner a question; choose a model together.</a:t>
            </a:r>
          </a:p>
          <a:p>
            <a:r>
              <a:rPr lang="en-US"/>
              <a:t>Student move: Ask a partner a question; choose a model together.</a:t>
            </a:r>
          </a:p>
          <a:p>
            <a:pPr>
              <a:buNone/>
            </a:pPr>
            <a:endParaRPr lang="en-US"/>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is one whole in this model, and how would more than one whole appear?” Wait for evidence, invite another pathway, and have a student ask a follow-up question. Do not replace students’ reasoning with a sequence of leading steps.</a:t>
            </a:r>
          </a:p>
        </p:txBody>
      </p:sp>
      <p:sp>
        <p:nvSpPr>
          <p:cNvPr id="574" name="Google Shape;574;p17: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2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15 | REVEAL</a:t>
            </a:r>
          </a:p>
          <a:p>
            <a:pPr>
              <a:buNone/>
            </a:pPr>
            <a:r>
              <a:rPr lang="en-US" sz="1100"/>
              <a:t>Focus on the existing task: Reveal: We can create an equivalent ratio by multiplying each term by 10 so that the second term in the equivalent ratio is 100. Middle School Mascot Partner press: ask ‘Why?</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dirty="0"/>
              <a:t>UIFR TEACH — Level 4 student move: Partner press: ask ‘Why?’ and answer with evidence.</a:t>
            </a:r>
          </a:p>
          <a:p>
            <a:r>
              <a:rPr lang="en-US"/>
              <a:t>Student move: Partner press: ask ‘Why?’ and answer with evidence.</a:t>
            </a:r>
          </a:p>
        </p:txBody>
      </p:sp>
      <p:sp>
        <p:nvSpPr>
          <p:cNvPr id="635" name="Google Shape;635;p2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26: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16 | WORKED</a:t>
            </a:r>
          </a:p>
          <a:p>
            <a:pPr>
              <a:buNone/>
            </a:pPr>
            <a:r>
              <a:rPr lang="en-US" sz="1100"/>
              <a:t>Focus on the existing task: A percent is a ratio or rate that compares a number to 100. Percent means per hundred. It can also be expressed as a fraction with a…</a:t>
            </a:r>
          </a:p>
          <a:p>
            <a:pPr>
              <a:buNone/>
            </a:pPr>
            <a:r>
              <a:rPr lang="en-US" sz="1100"/>
              <a:t>LAUNCH (T2/3/5): Ask students to explain the displayed idea or example and point to evidence. When a calculation step is shown, ask why it is valid. Have a partner restate the explanation; copying is not the check.</a:t>
            </a:r>
          </a:p>
          <a:p>
            <a:pPr>
              <a:buNone/>
            </a:pPr>
            <a:r>
              <a:rPr lang="en-US" sz="1100"/>
              <a:t>LOOK FOR (T4): Where this task addresses it, students can represent a rate per 100.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the definition together, then ask: what does the word percent literally tell us? Draw out per hundred. Listen for students connecting percent to the ratios and rates they already know. A common mix-up is treating a percent as an amount instead of a comparison to 100, so ask what the 100 refers to here.</a:t>
            </a:r>
          </a:p>
        </p:txBody>
      </p:sp>
      <p:sp>
        <p:nvSpPr>
          <p:cNvPr id="650" name="Google Shape;650;p2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3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17 | REVEAL</a:t>
            </a:r>
          </a:p>
          <a:p>
            <a:pPr>
              <a:buNone/>
            </a:pPr>
            <a:r>
              <a:rPr lang="en-US" sz="1100"/>
              <a:t>Focus on the existing task: Reveal: We can shade in 40 out of 100 squares. Middle School Mascot</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Before showing the shading, ask how many of the 100 squares should be shaded for 40 percent and why. Listen for the reasoning that 40 percent means 40 out of every 100. Some students shade 40 without connecting it to the total; ask what the whole grid represents.</a:t>
            </a:r>
          </a:p>
        </p:txBody>
      </p:sp>
      <p:sp>
        <p:nvSpPr>
          <p:cNvPr id="715" name="Google Shape;715;p3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1"/>
        <p:cNvGrpSpPr/>
        <p:nvPr/>
      </p:nvGrpSpPr>
      <p:grpSpPr>
        <a:xfrm>
          <a:off x="0" y="0"/>
          <a:ext cx="0" cy="0"/>
          <a:chOff x="0" y="0"/>
          <a:chExt cx="0" cy="0"/>
        </a:xfrm>
      </p:grpSpPr>
      <p:sp>
        <p:nvSpPr>
          <p:cNvPr id="732" name="Google Shape;732;p36: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18 | REVEAL</a:t>
            </a:r>
          </a:p>
          <a:p>
            <a:pPr>
              <a:buNone/>
            </a:pPr>
            <a:r>
              <a:rPr lang="en-US" sz="1100"/>
              <a:t>Focus on the existing task: Let’s shade 40 out of 100 squares to represent the number of students who voted for the tiger out of 100 students. What percent of students voted for the tiger?</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represent a rate per 100.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Have students shade or picture 40 of the 100 squares, then ask what fraction and what decimal name the same amount. Listen for 40 out of 100, 40 hundredths, and 0.40 named as the same number. Watch for students who think 40 percent and 0.4 are different amounts; the grid settles it.</a:t>
            </a:r>
          </a:p>
        </p:txBody>
      </p:sp>
      <p:sp>
        <p:nvSpPr>
          <p:cNvPr id="733" name="Google Shape;733;p3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3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19 | COLLABORATE</a:t>
            </a:r>
          </a:p>
          <a:p>
            <a:pPr>
              <a:buNone/>
            </a:pPr>
            <a:r>
              <a:rPr lang="en-US" sz="1100"/>
              <a:t>Focus on the existing task: We can also use a tenths decimal grid to show a percent. If we shade one tenth of the decimal grid, what percent of the grid is shaded?</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interpret values above 100 percent.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dirty="0"/>
              <a:t>UIFR TEACH — Level 4 student move: Student-led talk: paraphrase, agree or disagree, add on.</a:t>
            </a:r>
          </a:p>
          <a:p>
            <a:r>
              <a:rPr lang="en-US"/>
              <a:t>Student move: Student-led talk: paraphrase, agree or disagree, add on.</a:t>
            </a:r>
          </a:p>
          <a:p>
            <a:r>
              <a:rPr lang="en-US"/>
              <a:t>Routine: COLLABORATE  ·  TALK IT THROUGH • AGREE ON A MODEL</a:t>
            </a:r>
          </a:p>
          <a:p>
            <a:pPr>
              <a:buNone/>
            </a:pPr>
            <a:endParaRPr lang="en-US"/>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 percent must be less than or equal to 100. If it appears, label 100 percent on the existing grid or tape diagram before locating the part; then ask the student to revise the same response and explain the change. If evidence is secure, have students compare a second valid pathway or state why their approach works. Choose the next step from the responses, not a preset pace.</a:t>
            </a:r>
          </a:p>
        </p:txBody>
      </p:sp>
      <p:sp>
        <p:nvSpPr>
          <p:cNvPr id="752" name="Google Shape;752;p3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43: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20 | PRACTICE</a:t>
            </a:r>
          </a:p>
          <a:p>
            <a:pPr>
              <a:buNone/>
            </a:pPr>
            <a:r>
              <a:rPr lang="en-US" sz="1100"/>
              <a:t>Focus on the existing task: What percent of the decimal grids are not shaded?</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interpret values above 100 percent.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dirty="0"/>
              <a:t>UIFR TEACH — Level 4 student move: Compare strategies; persist, revise, and try again.</a:t>
            </a:r>
          </a:p>
          <a:p>
            <a:r>
              <a:rPr lang="en-US"/>
              <a:t>Student move: Compare strategies; persist, revise, and try again.</a:t>
            </a:r>
          </a:p>
        </p:txBody>
      </p:sp>
      <p:sp>
        <p:nvSpPr>
          <p:cNvPr id="797" name="Google Shape;797;p43: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21 | PRIOR_INSERT</a:t>
            </a:r>
          </a:p>
          <a:p>
            <a:pPr>
              <a:buNone/>
            </a:pPr>
            <a:r>
              <a:rPr lang="en-US" sz="1100"/>
              <a:t>Focus on the existing task: Point to evidence in your work. Then compare your approach with a partner’s. TAKE TURNS Explain “I know this because…” Ask “Where does your work show that?</a:t>
            </a:r>
          </a:p>
          <a:p>
            <a:pPr>
              <a:buNone/>
            </a:pPr>
            <a:r>
              <a:rPr lang="en-US" sz="1100"/>
              <a:t>CONNECT (T1/4): Ask students to restate the displayed goal or key idea and connect it to earlier work. Relevant lesson evidence: identify the whole; represent a rate per 100; interpret values above 100 percent.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22 | REVEAL</a:t>
            </a:r>
          </a:p>
          <a:p>
            <a:pPr>
              <a:buNone/>
            </a:pPr>
            <a:r>
              <a:rPr lang="en-US" sz="1100"/>
              <a:t>Focus on the existing task: We know that four out of every ten voters selected the tiger as the new mascot. What type of relationship is “four out of every ten voters”?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23 | CURIOUS</a:t>
            </a:r>
          </a:p>
          <a:p>
            <a:pPr>
              <a:buNone/>
            </a:pPr>
            <a:r>
              <a:rPr lang="en-US" sz="1100"/>
              <a:t>Focus on the existing task: How are they the same?</a:t>
            </a:r>
          </a:p>
          <a:p>
            <a:pPr>
              <a:buNone/>
            </a:pPr>
            <a:r>
              <a:rPr lang="en-US" sz="1100"/>
              <a:t>LAUNCH (T2/3/5): Allow quiet observation first. Separate a notice from an inference, invite students’ own questions, and follow the existing launch before teaching a procedure.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a:pPr>
              <a:buNone/>
            </a:pPr>
            <a:r>
              <a:rPr lang="en-US" sz="1100"/>
              <a:t>TEACH IN PRACTICE | Embedded facilitation | Lesson 4.1, slide 24 | WARMUP</a:t>
            </a:r>
          </a:p>
          <a:p>
            <a:pPr>
              <a:buNone/>
            </a:pPr>
            <a:r>
              <a:rPr lang="en-US" sz="1100"/>
              <a:t>Focus on the existing task: Session 2 Warm-Up Session 2 Warm-Up Quick review from Session 1 · about…</a:t>
            </a:r>
          </a:p>
          <a:p>
            <a:pPr>
              <a:buNone/>
            </a:pPr>
            <a:r>
              <a:rPr lang="en-US" sz="1100"/>
              <a:t>GATHER EVIDENCE (T4/6): Keep the original items. Students try independently, mark an uncertain item, and explain one method before checking. Use the existing key when present.</a:t>
            </a:r>
          </a:p>
          <a:p>
            <a:pPr>
              <a:buNone/>
            </a:pPr>
            <a:r>
              <a:rPr lang="en-US" sz="1100"/>
              <a:t>RESPOND: Distinguish a calculation slip from a reasoning gap. Give one next step on the same item; have students revise in a second color. Use the responses to choose flexible support for today’s lesson.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endParaRP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the whole; represent a rate per 100; interpret values above 100 percent. Ask: “Which part of your work would show this?” Revisit that evidence after the task; a confidence rating alone is not evidence of understanding.</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a:pPr>
              <a:buNone/>
            </a:pPr>
            <a:r>
              <a:rPr lang="en-US" sz="1100"/>
              <a:t>TEACH IN PRACTICE | Embedded facilitation | Lesson 4.1, slide 25 | NOTES</a:t>
            </a:r>
          </a:p>
          <a:p>
            <a:pPr>
              <a:buNone/>
            </a:pPr>
            <a:r>
              <a:rPr lang="en-US" sz="1100"/>
              <a:t>Focus on the existing task: Review Notes Review Notes — Session 2 Copy into your notebook: 1 Percent…</a:t>
            </a:r>
          </a:p>
          <a:p>
            <a:pPr>
              <a:buNone/>
            </a:pPr>
            <a:r>
              <a:rPr lang="en-US" sz="1100"/>
              <a:t>ROUTINE (T1/2/4): Read or copy the original notes, cover one line, and explain it using the displayed example. Reopen and correct. Copying alone is not evidence of understanding.</a:t>
            </a:r>
          </a:p>
          <a:p>
            <a:pPr>
              <a:buNone/>
            </a:pPr>
            <a:r>
              <a:rPr lang="en-US" sz="1100"/>
              <a:t>LOOK FOR: A link between a symbol, quantity or feature and the explanation. If missing, point back to that feature and have the student try again; fade the prompt once they can explain.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a:pPr>
              <a:buNone/>
            </a:pPr>
            <a:r>
              <a:rPr lang="en-US" sz="1100"/>
              <a:t>TEACH IN PRACTICE | Embedded facilitation | Lesson 4.1, slide 26 | DIVIDER</a:t>
            </a:r>
          </a:p>
          <a:p>
            <a:pPr>
              <a:buNone/>
            </a:pPr>
            <a:r>
              <a:rPr lang="en-US" sz="1100"/>
              <a:t>Focus on the existing task: Understand Percent Session 2</a:t>
            </a:r>
          </a:p>
          <a:p>
            <a:pPr>
              <a:buNone/>
            </a:pPr>
            <a:r>
              <a:rPr lang="en-US" sz="1100"/>
              <a:t>TRANSITION (T6/7): Students confirm materials, roles, how to request help, and the next response routine. Ask a student to restate it. Keep teacher-only slides hidden.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r>
              <a:t>Transition cue: state what materials are out and what success looks like this session.</a:t>
            </a:r>
          </a:p>
          <a:p>
            <a:r>
              <a:t>Keep the changeover under a minute.</a:t>
            </a:r>
          </a:p>
          <a:p>
            <a:r>
              <a:t>UIFR: TEACH 6.</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p47: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27 | TASK</a:t>
            </a:r>
          </a:p>
          <a:p>
            <a:pPr>
              <a:buNone/>
            </a:pPr>
            <a:r>
              <a:rPr lang="en-US" sz="1100"/>
              <a:t>Focus on the existing task: Shanice’s cat had two kittens, a gray kitten and an orange kitten. The orange kitten weighs 1.5 times as much as the gray kitten. What percent of the gray kitten’s weight does the orange kitten weigh?</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interpret values above 100 percent.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Ask students what is being compared in this kitten situation before any numbers are used. Have partners restate the setup in their own words. Listen for whether they see the comparison as one weight measured against the other, which is what makes a percent over 100 possible.</a:t>
            </a:r>
          </a:p>
          <a:p>
            <a:pPr>
              <a:buNone/>
            </a:pPr>
            <a:endParaRP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is one whole in this model, and how would more than one whole appear?” Wait for evidence, invite another pathway, and have a student ask a follow-up question. Do not replace students’ reasoning with a sequence of leading steps.</a:t>
            </a:r>
          </a:p>
        </p:txBody>
      </p:sp>
      <p:sp>
        <p:nvSpPr>
          <p:cNvPr id="836" name="Google Shape;836;p47: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p59: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28 | REVEAL</a:t>
            </a:r>
          </a:p>
          <a:p>
            <a:pPr>
              <a:buNone/>
            </a:pPr>
            <a:r>
              <a:rPr lang="en-US" sz="1100"/>
              <a:t>Focus on the existing task: Reveal: The gray kitten’s weight is the whole (100%). We want to know what percent of the gray kitten’s weight the orange kitten weighs. Shanice’s…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dirty="0"/>
              <a:t>UIFR TEACH — Level 4 student move: Share a connection to prior learning or lived experience.</a:t>
            </a:r>
          </a:p>
          <a:p>
            <a:r>
              <a:rPr lang="en-US"/>
              <a:t>Student move: Share a connection to prior learning or lived experience.</a:t>
            </a:r>
          </a:p>
          <a:p>
            <a:pPr>
              <a:buNone/>
            </a:pPr>
            <a:endParaRPr lang="en-US"/>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a percent must be less than or equal to 100. If it appears, label 100 percent on the existing grid or tape diagram before locating the part; then ask the student to revise the same response and explain the change. If evidence is secure, have students compare a second valid pathway or state why their approach works. Choose the next step from the responses, not a preset pace.</a:t>
            </a:r>
          </a:p>
        </p:txBody>
      </p:sp>
      <p:sp>
        <p:nvSpPr>
          <p:cNvPr id="943" name="Google Shape;943;p59: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p69: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29 | REVEAL</a:t>
            </a:r>
          </a:p>
          <a:p>
            <a:pPr>
              <a:buNone/>
            </a:pPr>
            <a:r>
              <a:rPr lang="en-US" sz="1100"/>
              <a:t>Focus on the existing task: The orange kitten weighs 1.5 times as much as the gray kitten. We can break this up into 1 and 0.5. Reveal: We can add the percentages…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Ask why it makes sense to add the percentages here, and what whole each percent is measured against. Listen for students naming the gray kitten’s weight as the reference. A common error is averaging the percents instead of adding the parts; ask what question the sum answers.</a:t>
            </a:r>
          </a:p>
        </p:txBody>
      </p:sp>
      <p:sp>
        <p:nvSpPr>
          <p:cNvPr id="1034" name="Google Shape;1034;p69: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76: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30 | REVEAL</a:t>
            </a:r>
          </a:p>
          <a:p>
            <a:pPr>
              <a:buNone/>
            </a:pPr>
            <a:r>
              <a:rPr lang="en-US" sz="1100"/>
              <a:t>Focus on the existing task: Reveal: We can write this ratio as 150%. Shanice’s Kittens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Ask what a percent greater than 100 means in this situation. Listen for the idea that 150 percent is one and a half times the reference weight. Students often believe percents stop at 100; have them restate 150 percent as a ratio to 100 to break that.</a:t>
            </a:r>
          </a:p>
        </p:txBody>
      </p:sp>
      <p:sp>
        <p:nvSpPr>
          <p:cNvPr id="1099" name="Google Shape;1099;p7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p7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31 | TASK</a:t>
            </a:r>
          </a:p>
          <a:p>
            <a:pPr>
              <a:buNone/>
            </a:pPr>
            <a:r>
              <a:rPr lang="en-US" sz="1100"/>
              <a:t>Focus on the existing task: Shanice’s cat had two kittens, a gray kitten and an orange kitten. The orange kitten weighs 1.5 times as much as the gray kitten. What percent of the gray kitten’s weight does the orange kitten weigh?</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interpret values above 100 percent.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dirty="0"/>
              <a:t>UIFR TEACH — Level 4 student move: Compare pathways with a partner; name one revision.</a:t>
            </a:r>
          </a:p>
          <a:p>
            <a:r>
              <a:rPr lang="en-US"/>
              <a:t>Student move: Compare pathways with a partner; name one revision.</a:t>
            </a:r>
          </a:p>
        </p:txBody>
      </p:sp>
      <p:sp>
        <p:nvSpPr>
          <p:cNvPr id="1119" name="Google Shape;1119;p7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32 | REVEAL</a:t>
            </a:r>
          </a:p>
          <a:p>
            <a:pPr>
              <a:buNone/>
            </a:pPr>
            <a:r>
              <a:rPr lang="en-US" sz="1100"/>
              <a:t>Focus on the existing task: We can use a variable such as w to represent the unknown weight of the orange kitten. How could you compare the weights of the kittens?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represent a rate per 100.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33 | REVEAL</a:t>
            </a:r>
          </a:p>
          <a:p>
            <a:pPr>
              <a:buNone/>
            </a:pPr>
            <a:r>
              <a:rPr lang="en-US" sz="1100"/>
              <a:t>Focus on the existing task: The gray kitten’s weight at birth can be described as 100%. What tool can be used to represent the weight of the gray kitten?</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represent a rate per 100.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34 | REVEAL</a:t>
            </a:r>
          </a:p>
          <a:p>
            <a:pPr>
              <a:buNone/>
            </a:pPr>
            <a:r>
              <a:rPr lang="en-US" sz="1100"/>
              <a:t>Focus on the existing task: The orange kitten weighs 1.5 times as much as the gray kitten. We can break this up into 1 and 0.5. Reveal: We can add the percentages…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35 | PRIOR_INSERT</a:t>
            </a:r>
          </a:p>
          <a:p>
            <a:pPr>
              <a:buNone/>
            </a:pPr>
            <a:r>
              <a:rPr lang="en-US" sz="1100"/>
              <a:t>Focus on the existing task: LESSON 4.1 / CHECK YOUR WORK Pause. Check. Improve. Listen to understand. Ask for evidence. Make room for every voice. CHECK A mistake…</a:t>
            </a:r>
          </a:p>
          <a:p>
            <a:pPr>
              <a:buNone/>
            </a:pPr>
            <a:r>
              <a:rPr lang="en-US" sz="1100"/>
              <a:t>CONNECT (T1/4): Ask students to restate the displayed goal or key idea and connect it to earlier work. Relevant lesson evidence: identify the whole; represent a rate per 100; interpret values above 100 percent.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80: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36 | SUMMARIZE</a:t>
            </a:r>
          </a:p>
          <a:p>
            <a:pPr>
              <a:buNone/>
            </a:pPr>
            <a:r>
              <a:rPr lang="en-US" sz="1100"/>
              <a:t>Focus on the existing task: A percent is a ratio or rate that compares a number to 100. A percent can be written with a percent symbol, %. A percent can be greater…</a:t>
            </a:r>
          </a:p>
          <a:p>
            <a:pPr>
              <a:buNone/>
            </a:pPr>
            <a:r>
              <a:rPr lang="en-US" sz="1100"/>
              <a:t>CONNECT (T1/4): Ask students to restate the displayed goal or key idea and connect it to earlier work. Relevant lesson evidence: identify the whole; represent a rate per 100; interpret values above 100 percent.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SUMMARIZE  ·  SAY IT IN YOUR OWN WORDS</a:t>
            </a:r>
          </a:p>
        </p:txBody>
      </p:sp>
      <p:sp>
        <p:nvSpPr>
          <p:cNvPr id="1139" name="Google Shape;1139;p8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8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4.1, slide 37 | APPLY</a:t>
            </a:r>
          </a:p>
          <a:p>
            <a:pPr>
              <a:buNone/>
            </a:pPr>
            <a:r>
              <a:rPr lang="en-US" sz="1100"/>
              <a:t>Focus on the existing task: A car dealership’s sales for one month are shown. The owner of the car dealership needs to order 50 cars from the factory. Question…</a:t>
            </a:r>
          </a:p>
          <a:p>
            <a:pPr>
              <a:buNone/>
            </a:pPr>
            <a:r>
              <a:rPr lang="en-US" sz="1100"/>
              <a:t>LAUNCH (T2/3/5): Use the exact application task independently first. Ask students to justify their choice of method. Collect evidence before a partner discussion or correction.</a:t>
            </a:r>
          </a:p>
          <a:p>
            <a:pPr>
              <a:buNone/>
            </a:pPr>
            <a:r>
              <a:rPr lang="en-US" sz="1100"/>
              <a:t>LOOK FOR (T4): Where this task addresses it, students can identify the whole. Ask which feature of their work supports the claim.</a:t>
            </a:r>
          </a:p>
          <a:p>
            <a:pPr>
              <a:buNone/>
            </a:pPr>
            <a:r>
              <a:rPr lang="en-US" sz="1100"/>
              <a:t>RESPOND: If this task shows the lesson misconception—assuming a percent must be less than or equal to 100—label 100 percent on the existing grid or tape diagram before locating the part.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dirty="0"/>
              <a:t>UIFR TEACH — Level 4 student move: Defend your method; partner gives one specific next step.</a:t>
            </a:r>
          </a:p>
          <a:p>
            <a:r>
              <a:rPr lang="en-US"/>
              <a:t>Student move: Defend your method; partner gives one specific next step.</a:t>
            </a:r>
          </a:p>
          <a:p>
            <a:r>
              <a:rPr lang="en-US"/>
              <a:t>Routine: APPLY  ·  PLAN IT • SOLVE IT • PROVE IT</a:t>
            </a:r>
          </a:p>
          <a:p>
            <a:pPr>
              <a:buNone/>
            </a:pPr>
            <a:endParaRPr lang="en-US"/>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the whole; represent a rate per 100; interpret values above 100 percent. Respond with one specific next step tied to the work. Students revise and annotate what changed, then identify a criterion they can now demonstrate and one they still need to practice.</a:t>
            </a:r>
          </a:p>
          <a:p>
            <a:pPr>
              <a:buNone/>
            </a:pPr>
            <a:r>
              <a:rPr lang="en-US" sz="1100"/>
              <a:t>REFLECT &amp; ADJUST 1-2 | After the lesson (UIFR PDF pp. 15-16).</a:t>
            </a:r>
          </a:p>
          <a:p>
            <a:pPr>
              <a:buNone/>
            </a:pPr>
            <a:r>
              <a:rPr lang="en-US" sz="1100"/>
              <a:t>Sort the existing work by demonstrated reasoning, partial understanding, and the specific misconception: assuming a percent must be less than or equal to 100.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100 percent on the existing grid or tape diagram before locating the part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1153" name="Google Shape;1153;p8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4.1, slide 38 | PRIOR_INSERT</a:t>
            </a:r>
          </a:p>
          <a:p>
            <a:pPr>
              <a:buNone/>
            </a:pPr>
            <a:r>
              <a:rPr lang="en-US" sz="1100"/>
              <a:t>Focus on the existing task: LESSON 4.1 / REFLECT ON YOUR LEARNING Show your progress Listen to understand. Ask for evidence. Make room for every voice. 1 SHOW…</a:t>
            </a:r>
          </a:p>
          <a:p>
            <a:pPr>
              <a:buNone/>
            </a:pPr>
            <a:r>
              <a:rPr lang="en-US" sz="1100"/>
              <a:t>CONNECT (T1/4): Ask students to restate the displayed goal or key idea and connect it to earlier work. Relevant lesson evidence: identify the whole; represent a rate per 100; interpret values above 100 percent.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 Photo">
  <p:cSld name="2_Title Slide Photo">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1-column">
  <p:cSld name="Content 1-column">
    <p:spTree>
      <p:nvGrpSpPr>
        <p:cNvPr id="1" name="Shape 16"/>
        <p:cNvGrpSpPr/>
        <p:nvPr/>
      </p:nvGrpSpPr>
      <p:grpSpPr>
        <a:xfrm>
          <a:off x="0" y="0"/>
          <a:ext cx="0" cy="0"/>
          <a:chOff x="0" y="0"/>
          <a:chExt cx="0" cy="0"/>
        </a:xfrm>
      </p:grpSpPr>
      <p:sp>
        <p:nvSpPr>
          <p:cNvPr id="17" name="Google Shape;17;p3"/>
          <p:cNvSpPr txBox="1">
            <a:spLocks noGrp="1"/>
          </p:cNvSpPr>
          <p:nvPr>
            <p:ph type="sldNum" idx="12"/>
          </p:nvPr>
        </p:nvSpPr>
        <p:spPr>
          <a:xfrm>
            <a:off x="10436045" y="6528815"/>
            <a:ext cx="1278151" cy="2286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19" name="Google Shape;19;p3"/>
          <p:cNvSpPr txBox="1">
            <a:spLocks noGrp="1"/>
          </p:cNvSpPr>
          <p:nvPr>
            <p:ph type="ftr" idx="11"/>
          </p:nvPr>
        </p:nvSpPr>
        <p:spPr>
          <a:xfrm>
            <a:off x="1402828" y="6528816"/>
            <a:ext cx="7315200" cy="228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882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 name="Google Shape;4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8" name="Google Shape;4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9" name="Google Shape;4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7" name="Google Shape;5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6" name="Google Shape;6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7" name="Google Shape;6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3" name="Google Shape;73;p13"/>
          <p:cNvSpPr>
            <a:spLocks noGrp="1"/>
          </p:cNvSpPr>
          <p:nvPr>
            <p:ph type="pic" idx="2"/>
          </p:nvPr>
        </p:nvSpPr>
        <p:spPr>
          <a:xfrm>
            <a:off x="5183188" y="987425"/>
            <a:ext cx="6172200" cy="4873625"/>
          </a:xfrm>
          <a:prstGeom prst="rect">
            <a:avLst/>
          </a:prstGeom>
          <a:noFill/>
          <a:ln>
            <a:noFill/>
          </a:ln>
        </p:spPr>
      </p:sp>
      <p:sp>
        <p:nvSpPr>
          <p:cNvPr id="74" name="Google Shape;7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5" name="Google Shape;7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0" name="Google Shape;8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6" name="Google Shape;8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3" name="Google Shape;10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 name="Google Shape;10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5" name="Google Shape;10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 name="Google Shape;109;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10" name="Google Shape;11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5" name="Google Shape;115;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6" name="Google Shape;116;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7" name="Google Shape;11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2" name="Google Shape;122;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3" name="Google Shape;123;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5" name="Google Shape;125;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7" name="Google Shape;1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1" name="Google Shape;13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6" name="Google Shape;136;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7" name="Google Shape;137;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3" name="Google Shape;143;p25"/>
          <p:cNvSpPr>
            <a:spLocks noGrp="1"/>
          </p:cNvSpPr>
          <p:nvPr>
            <p:ph type="pic" idx="2"/>
          </p:nvPr>
        </p:nvSpPr>
        <p:spPr>
          <a:xfrm>
            <a:off x="5183188" y="987425"/>
            <a:ext cx="6172200" cy="4873625"/>
          </a:xfrm>
          <a:prstGeom prst="rect">
            <a:avLst/>
          </a:prstGeom>
          <a:noFill/>
          <a:ln>
            <a:noFill/>
          </a:ln>
        </p:spPr>
      </p:sp>
      <p:sp>
        <p:nvSpPr>
          <p:cNvPr id="144" name="Google Shape;14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45" name="Google Shape;14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7" name="Google Shape;14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0" name="Google Shape;15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1" name="Google Shape;1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3" name="Google Shape;1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6" name="Google Shape;15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9" name="Google Shape;15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5"/>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8" name="Google Shape;168;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9" name="Google Shape;1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4" name="Google Shape;174;p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75" name="Google Shape;1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0" name="Google Shape;180;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1" name="Google Shape;181;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2" name="Google Shape;18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3" name="Google Shape;18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4" name="Google Shape;18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7" name="Google Shape;187;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88" name="Google Shape;188;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90" name="Google Shape;190;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1" name="Google Shape;19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2" name="Google Shape;19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4"/>
        <p:cNvGrpSpPr/>
        <p:nvPr/>
      </p:nvGrpSpPr>
      <p:grpSpPr>
        <a:xfrm>
          <a:off x="0" y="0"/>
          <a:ext cx="0" cy="0"/>
          <a:chOff x="0" y="0"/>
          <a:chExt cx="0" cy="0"/>
        </a:xfrm>
      </p:grpSpPr>
      <p:sp>
        <p:nvSpPr>
          <p:cNvPr id="195" name="Google Shape;19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6" name="Google Shape;19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7" name="Google Shape;19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8" name="Google Shape;19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9"/>
        <p:cNvGrpSpPr/>
        <p:nvPr/>
      </p:nvGrpSpPr>
      <p:grpSpPr>
        <a:xfrm>
          <a:off x="0" y="0"/>
          <a:ext cx="0" cy="0"/>
          <a:chOff x="0" y="0"/>
          <a:chExt cx="0" cy="0"/>
        </a:xfrm>
      </p:grpSpPr>
      <p:sp>
        <p:nvSpPr>
          <p:cNvPr id="200" name="Google Shape;20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1" name="Google Shape;20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2" name="Google Shape;20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5" name="Google Shape;205;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6" name="Google Shape;206;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07" name="Google Shape;20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8" name="Google Shape;20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9" name="Google Shape;20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2" name="Google Shape;212;p37"/>
          <p:cNvSpPr>
            <a:spLocks noGrp="1"/>
          </p:cNvSpPr>
          <p:nvPr>
            <p:ph type="pic" idx="2"/>
          </p:nvPr>
        </p:nvSpPr>
        <p:spPr>
          <a:xfrm>
            <a:off x="5183188" y="987425"/>
            <a:ext cx="6172200" cy="4873625"/>
          </a:xfrm>
          <a:prstGeom prst="rect">
            <a:avLst/>
          </a:prstGeom>
          <a:noFill/>
          <a:ln>
            <a:noFill/>
          </a:ln>
        </p:spPr>
      </p:sp>
      <p:sp>
        <p:nvSpPr>
          <p:cNvPr id="213" name="Google Shape;213;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14" name="Google Shape;214;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5" name="Google Shape;215;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9" name="Google Shape;219;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0" name="Google Shape;220;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1" name="Google Shape;221;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3"/>
        <p:cNvGrpSpPr/>
        <p:nvPr/>
      </p:nvGrpSpPr>
      <p:grpSpPr>
        <a:xfrm>
          <a:off x="0" y="0"/>
          <a:ext cx="0" cy="0"/>
          <a:chOff x="0" y="0"/>
          <a:chExt cx="0" cy="0"/>
        </a:xfrm>
      </p:grpSpPr>
      <p:sp>
        <p:nvSpPr>
          <p:cNvPr id="224" name="Google Shape;224;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5" name="Google Shape;225;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7" name="Google Shape;227;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8" name="Google Shape;22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1.pn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pn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pn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5">
            <a:alphaModFix/>
          </a:blip>
          <a:srcRect/>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Copyright © McGraw Hill</a:t>
            </a:r>
            <a:endParaRPr sz="1400" b="0" i="0" u="none" strike="noStrike" cap="none">
              <a:solidFill>
                <a:srgbClr val="000000"/>
              </a:solidFill>
              <a:latin typeface="Arial"/>
              <a:ea typeface="Arial"/>
              <a:cs typeface="Arial"/>
              <a:sym typeface="Arial"/>
            </a:endParaRPr>
          </a:p>
        </p:txBody>
      </p:sp>
      <p:pic>
        <p:nvPicPr>
          <p:cNvPr id="12" name="Google Shape;12;p1"/>
          <p:cNvPicPr preferRelativeResize="0"/>
          <p:nvPr/>
        </p:nvPicPr>
        <p:blipFill rotWithShape="1">
          <a:blip r:embed="rId6">
            <a:alphaModFix/>
          </a:blip>
          <a:srcRect/>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14" name="Google Shape;14;p1"/>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87"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22" name="Google Shape;22;p4"/>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Understand Percent</a:t>
            </a:r>
            <a:endParaRPr sz="1400" b="0" i="0" u="none" strike="noStrike" cap="non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92" name="Google Shape;92;p16"/>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93" name="Google Shape;93;p16"/>
          <p:cNvSpPr txBox="1"/>
          <p:nvPr/>
        </p:nvSpPr>
        <p:spPr>
          <a:xfrm>
            <a:off x="1401178" y="6539894"/>
            <a:ext cx="4694822" cy="3246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Understand Percent</a:t>
            </a:r>
            <a:endParaRPr sz="1400" b="0" i="0" u="none" strike="noStrike" cap="non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162" name="Google Shape;162;p28"/>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3.png"/><Relationship Id="rId7"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4-1 · Understand Percent   |   Warm-Up · about 4 minutes</a:t>
            </a:r>
          </a:p>
        </p:txBody>
      </p:sp>
      <p:sp>
        <p:nvSpPr>
          <p:cNvPr id="262"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WARM-UP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Write 53 out of 100 as a fraction: ______</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9 of the 100 squares are shaded. As a percent: ______</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Write 71 hundredths as a decimal: ______</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Write 25/100 in simplest form: ______</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 / 40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7324D"/>
          </a:solidFill>
          <a:ln/>
        </p:spPr>
        <p:txBody>
          <a:bodyPr/>
          <a:lstStyle/>
          <a:p>
            <a:endParaRPr lang="en-US"/>
          </a:p>
        </p:txBody>
      </p:sp>
      <p:sp>
        <p:nvSpPr>
          <p:cNvPr id="3" name="Text 1"/>
          <p:cNvSpPr/>
          <p:nvPr/>
        </p:nvSpPr>
        <p:spPr>
          <a:xfrm>
            <a:off x="548640" y="109728"/>
            <a:ext cx="7223760" cy="82296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Vocabulary: Understand Percent</a:t>
            </a:r>
            <a:endParaRPr lang="en-US" sz="3200" dirty="0"/>
          </a:p>
        </p:txBody>
      </p:sp>
      <p:sp>
        <p:nvSpPr>
          <p:cNvPr id="4" name="Text 2"/>
          <p:cNvSpPr/>
          <p:nvPr/>
        </p:nvSpPr>
        <p:spPr>
          <a:xfrm>
            <a:off x="7955280" y="109728"/>
            <a:ext cx="3657600" cy="822960"/>
          </a:xfrm>
          <a:prstGeom prst="rect">
            <a:avLst/>
          </a:prstGeom>
          <a:noFill/>
          <a:ln/>
        </p:spPr>
        <p:txBody>
          <a:bodyPr wrap="square" lIns="0" tIns="0" rIns="0" bIns="0" rtlCol="0" anchor="ctr"/>
          <a:lstStyle/>
          <a:p>
            <a:pPr marL="0" indent="0" algn="r">
              <a:buNone/>
            </a:pPr>
            <a:r>
              <a:rPr lang="en-US" sz="1400" dirty="0">
                <a:solidFill>
                  <a:srgbClr val="DFF2EE"/>
                </a:solidFill>
                <a:latin typeface="Arial" pitchFamily="34" charset="0"/>
                <a:ea typeface="Arial" pitchFamily="34" charset="-122"/>
                <a:cs typeface="Arial" pitchFamily="34" charset="-120"/>
              </a:rPr>
              <a:t>Lesson 4-1 • Copy each word and its meaning</a:t>
            </a:r>
            <a:endParaRPr lang="en-US" sz="1400" dirty="0"/>
          </a:p>
        </p:txBody>
      </p:sp>
      <p:sp>
        <p:nvSpPr>
          <p:cNvPr id="5" name="Shape 3"/>
          <p:cNvSpPr/>
          <p:nvPr/>
        </p:nvSpPr>
        <p:spPr>
          <a:xfrm>
            <a:off x="548640" y="1325880"/>
            <a:ext cx="3931920" cy="914400"/>
          </a:xfrm>
          <a:prstGeom prst="rect">
            <a:avLst/>
          </a:prstGeom>
          <a:solidFill>
            <a:srgbClr val="DFF2EE"/>
          </a:solidFill>
          <a:ln w="12700">
            <a:solidFill>
              <a:srgbClr val="DFF2EE"/>
            </a:solidFill>
            <a:prstDash val="solid"/>
          </a:ln>
        </p:spPr>
        <p:txBody>
          <a:bodyPr/>
          <a:lstStyle/>
          <a:p>
            <a:endParaRPr lang="en-US"/>
          </a:p>
        </p:txBody>
      </p:sp>
      <p:sp>
        <p:nvSpPr>
          <p:cNvPr id="6" name="Shape 4"/>
          <p:cNvSpPr/>
          <p:nvPr/>
        </p:nvSpPr>
        <p:spPr>
          <a:xfrm>
            <a:off x="548640" y="1325880"/>
            <a:ext cx="109728" cy="914400"/>
          </a:xfrm>
          <a:prstGeom prst="rect">
            <a:avLst/>
          </a:prstGeom>
          <a:solidFill>
            <a:srgbClr val="1FA6A2"/>
          </a:solidFill>
          <a:ln w="12700">
            <a:solidFill>
              <a:srgbClr val="1FA6A2"/>
            </a:solidFill>
            <a:prstDash val="solid"/>
          </a:ln>
        </p:spPr>
        <p:txBody>
          <a:bodyPr/>
          <a:lstStyle/>
          <a:p>
            <a:endParaRPr lang="en-US"/>
          </a:p>
        </p:txBody>
      </p:sp>
      <p:sp>
        <p:nvSpPr>
          <p:cNvPr id="7" name="Text 5"/>
          <p:cNvSpPr/>
          <p:nvPr/>
        </p:nvSpPr>
        <p:spPr>
          <a:xfrm>
            <a:off x="822960" y="1399032"/>
            <a:ext cx="3566160" cy="502920"/>
          </a:xfrm>
          <a:prstGeom prst="rect">
            <a:avLst/>
          </a:prstGeom>
          <a:noFill/>
          <a:ln/>
        </p:spPr>
        <p:txBody>
          <a:bodyPr wrap="square" lIns="0" tIns="0" rIns="0" bIns="0" rtlCol="0" anchor="ctr"/>
          <a:lstStyle/>
          <a:p>
            <a:pPr marL="0" indent="0">
              <a:buNone/>
            </a:pPr>
            <a:r>
              <a:rPr lang="en-US" sz="2800" b="1" dirty="0">
                <a:solidFill>
                  <a:srgbClr val="17324D"/>
                </a:solidFill>
                <a:latin typeface="Arial" pitchFamily="34" charset="0"/>
                <a:ea typeface="Arial" pitchFamily="34" charset="-122"/>
                <a:cs typeface="Arial" pitchFamily="34" charset="-120"/>
              </a:rPr>
              <a:t>percent</a:t>
            </a:r>
            <a:endParaRPr lang="en-US" sz="2800" dirty="0"/>
          </a:p>
        </p:txBody>
      </p:sp>
      <p:sp>
        <p:nvSpPr>
          <p:cNvPr id="8" name="Text 6"/>
          <p:cNvSpPr/>
          <p:nvPr/>
        </p:nvSpPr>
        <p:spPr>
          <a:xfrm>
            <a:off x="822960" y="1874520"/>
            <a:ext cx="3566160" cy="301752"/>
          </a:xfrm>
          <a:prstGeom prst="rect">
            <a:avLst/>
          </a:prstGeom>
          <a:noFill/>
          <a:ln/>
        </p:spPr>
        <p:txBody>
          <a:bodyPr wrap="square" lIns="0" tIns="0" rIns="0" bIns="0" rtlCol="0" anchor="ctr"/>
          <a:lstStyle/>
          <a:p>
            <a:pPr marL="0" indent="0">
              <a:buNone/>
            </a:pPr>
            <a:r>
              <a:rPr lang="en-US" sz="1400" i="1" dirty="0">
                <a:solidFill>
                  <a:srgbClr val="157A77"/>
                </a:solidFill>
                <a:latin typeface="Arial" pitchFamily="34" charset="0"/>
                <a:ea typeface="Arial" pitchFamily="34" charset="-122"/>
                <a:cs typeface="Arial" pitchFamily="34" charset="-120"/>
              </a:rPr>
              <a:t>por ciento</a:t>
            </a:r>
            <a:endParaRPr lang="en-US" sz="1400" dirty="0"/>
          </a:p>
        </p:txBody>
      </p:sp>
      <p:sp>
        <p:nvSpPr>
          <p:cNvPr id="9" name="Text 7"/>
          <p:cNvSpPr/>
          <p:nvPr/>
        </p:nvSpPr>
        <p:spPr>
          <a:xfrm>
            <a:off x="4754880" y="1325880"/>
            <a:ext cx="6858000" cy="914400"/>
          </a:xfrm>
          <a:prstGeom prst="rect">
            <a:avLst/>
          </a:prstGeom>
          <a:noFill/>
          <a:ln/>
        </p:spPr>
        <p:txBody>
          <a:bodyPr wrap="square" lIns="0" tIns="0" rIns="0" bIns="0" rtlCol="0" anchor="ctr"/>
          <a:lstStyle/>
          <a:p>
            <a:pPr marL="0" indent="0">
              <a:buNone/>
            </a:pPr>
            <a:r>
              <a:rPr lang="en-US" sz="2400" dirty="0">
                <a:solidFill>
                  <a:srgbClr val="24323F"/>
                </a:solidFill>
                <a:latin typeface="Arial" pitchFamily="34" charset="0"/>
                <a:ea typeface="Arial" pitchFamily="34" charset="-122"/>
                <a:cs typeface="Arial" pitchFamily="34" charset="-120"/>
              </a:rPr>
              <a:t>A ratio per 100. The symbol is %.</a:t>
            </a:r>
            <a:endParaRPr lang="en-US" sz="2400" dirty="0"/>
          </a:p>
        </p:txBody>
      </p:sp>
      <p:sp>
        <p:nvSpPr>
          <p:cNvPr id="10" name="Shape 8"/>
          <p:cNvSpPr/>
          <p:nvPr/>
        </p:nvSpPr>
        <p:spPr>
          <a:xfrm>
            <a:off x="548640" y="2350008"/>
            <a:ext cx="3931920" cy="914400"/>
          </a:xfrm>
          <a:prstGeom prst="rect">
            <a:avLst/>
          </a:prstGeom>
          <a:solidFill>
            <a:srgbClr val="DFF2EE"/>
          </a:solidFill>
          <a:ln w="12700">
            <a:solidFill>
              <a:srgbClr val="DFF2EE"/>
            </a:solidFill>
            <a:prstDash val="solid"/>
          </a:ln>
        </p:spPr>
        <p:txBody>
          <a:bodyPr/>
          <a:lstStyle/>
          <a:p>
            <a:endParaRPr lang="en-US"/>
          </a:p>
        </p:txBody>
      </p:sp>
      <p:sp>
        <p:nvSpPr>
          <p:cNvPr id="11" name="Shape 9"/>
          <p:cNvSpPr/>
          <p:nvPr/>
        </p:nvSpPr>
        <p:spPr>
          <a:xfrm>
            <a:off x="548640" y="2350008"/>
            <a:ext cx="109728" cy="914400"/>
          </a:xfrm>
          <a:prstGeom prst="rect">
            <a:avLst/>
          </a:prstGeom>
          <a:solidFill>
            <a:srgbClr val="1FA6A2"/>
          </a:solidFill>
          <a:ln w="12700">
            <a:solidFill>
              <a:srgbClr val="1FA6A2"/>
            </a:solidFill>
            <a:prstDash val="solid"/>
          </a:ln>
        </p:spPr>
        <p:txBody>
          <a:bodyPr/>
          <a:lstStyle/>
          <a:p>
            <a:endParaRPr lang="en-US"/>
          </a:p>
        </p:txBody>
      </p:sp>
      <p:sp>
        <p:nvSpPr>
          <p:cNvPr id="12" name="Text 10"/>
          <p:cNvSpPr/>
          <p:nvPr/>
        </p:nvSpPr>
        <p:spPr>
          <a:xfrm>
            <a:off x="822960" y="2423160"/>
            <a:ext cx="3566160" cy="502920"/>
          </a:xfrm>
          <a:prstGeom prst="rect">
            <a:avLst/>
          </a:prstGeom>
          <a:noFill/>
          <a:ln/>
        </p:spPr>
        <p:txBody>
          <a:bodyPr wrap="square" lIns="0" tIns="0" rIns="0" bIns="0" rtlCol="0" anchor="ctr"/>
          <a:lstStyle/>
          <a:p>
            <a:pPr marL="0" indent="0">
              <a:buNone/>
            </a:pPr>
            <a:r>
              <a:rPr lang="en-US" sz="2800" b="1" dirty="0">
                <a:solidFill>
                  <a:srgbClr val="17324D"/>
                </a:solidFill>
                <a:latin typeface="Arial" pitchFamily="34" charset="0"/>
                <a:ea typeface="Arial" pitchFamily="34" charset="-122"/>
                <a:cs typeface="Arial" pitchFamily="34" charset="-120"/>
              </a:rPr>
              <a:t>whole</a:t>
            </a:r>
            <a:endParaRPr lang="en-US" sz="2800" dirty="0"/>
          </a:p>
        </p:txBody>
      </p:sp>
      <p:sp>
        <p:nvSpPr>
          <p:cNvPr id="13" name="Text 11"/>
          <p:cNvSpPr/>
          <p:nvPr/>
        </p:nvSpPr>
        <p:spPr>
          <a:xfrm>
            <a:off x="822960" y="2898648"/>
            <a:ext cx="3566160" cy="301752"/>
          </a:xfrm>
          <a:prstGeom prst="rect">
            <a:avLst/>
          </a:prstGeom>
          <a:noFill/>
          <a:ln/>
        </p:spPr>
        <p:txBody>
          <a:bodyPr wrap="square" lIns="0" tIns="0" rIns="0" bIns="0" rtlCol="0" anchor="ctr"/>
          <a:lstStyle/>
          <a:p>
            <a:pPr marL="0" indent="0">
              <a:buNone/>
            </a:pPr>
            <a:r>
              <a:rPr lang="en-US" sz="1400" i="1" dirty="0">
                <a:solidFill>
                  <a:srgbClr val="157A77"/>
                </a:solidFill>
                <a:latin typeface="Arial" pitchFamily="34" charset="0"/>
                <a:ea typeface="Arial" pitchFamily="34" charset="-122"/>
                <a:cs typeface="Arial" pitchFamily="34" charset="-120"/>
              </a:rPr>
              <a:t>todo / entero</a:t>
            </a:r>
            <a:endParaRPr lang="en-US" sz="1400" dirty="0"/>
          </a:p>
        </p:txBody>
      </p:sp>
      <p:sp>
        <p:nvSpPr>
          <p:cNvPr id="14" name="Text 12"/>
          <p:cNvSpPr/>
          <p:nvPr/>
        </p:nvSpPr>
        <p:spPr>
          <a:xfrm>
            <a:off x="4754880" y="2350008"/>
            <a:ext cx="6858000" cy="914400"/>
          </a:xfrm>
          <a:prstGeom prst="rect">
            <a:avLst/>
          </a:prstGeom>
          <a:noFill/>
          <a:ln/>
        </p:spPr>
        <p:txBody>
          <a:bodyPr wrap="square" lIns="0" tIns="0" rIns="0" bIns="0" rtlCol="0" anchor="ctr"/>
          <a:lstStyle/>
          <a:p>
            <a:pPr marL="0" indent="0">
              <a:buNone/>
            </a:pPr>
            <a:r>
              <a:rPr lang="en-US" sz="2400" dirty="0">
                <a:solidFill>
                  <a:srgbClr val="24323F"/>
                </a:solidFill>
                <a:latin typeface="Arial" pitchFamily="34" charset="0"/>
                <a:ea typeface="Arial" pitchFamily="34" charset="-122"/>
                <a:cs typeface="Arial" pitchFamily="34" charset="-120"/>
              </a:rPr>
              <a:t>The entire amount. One complete group is 100%.</a:t>
            </a:r>
            <a:endParaRPr lang="en-US" sz="2400" dirty="0"/>
          </a:p>
        </p:txBody>
      </p:sp>
      <p:sp>
        <p:nvSpPr>
          <p:cNvPr id="15" name="Shape 13"/>
          <p:cNvSpPr/>
          <p:nvPr/>
        </p:nvSpPr>
        <p:spPr>
          <a:xfrm>
            <a:off x="548640" y="3374136"/>
            <a:ext cx="3931920" cy="914400"/>
          </a:xfrm>
          <a:prstGeom prst="rect">
            <a:avLst/>
          </a:prstGeom>
          <a:solidFill>
            <a:srgbClr val="DFF2EE"/>
          </a:solidFill>
          <a:ln w="12700">
            <a:solidFill>
              <a:srgbClr val="DFF2EE"/>
            </a:solidFill>
            <a:prstDash val="solid"/>
          </a:ln>
        </p:spPr>
        <p:txBody>
          <a:bodyPr/>
          <a:lstStyle/>
          <a:p>
            <a:endParaRPr lang="en-US"/>
          </a:p>
        </p:txBody>
      </p:sp>
      <p:sp>
        <p:nvSpPr>
          <p:cNvPr id="16" name="Shape 14"/>
          <p:cNvSpPr/>
          <p:nvPr/>
        </p:nvSpPr>
        <p:spPr>
          <a:xfrm>
            <a:off x="548640" y="3374136"/>
            <a:ext cx="109728" cy="914400"/>
          </a:xfrm>
          <a:prstGeom prst="rect">
            <a:avLst/>
          </a:prstGeom>
          <a:solidFill>
            <a:srgbClr val="1FA6A2"/>
          </a:solidFill>
          <a:ln w="12700">
            <a:solidFill>
              <a:srgbClr val="1FA6A2"/>
            </a:solidFill>
            <a:prstDash val="solid"/>
          </a:ln>
        </p:spPr>
        <p:txBody>
          <a:bodyPr/>
          <a:lstStyle/>
          <a:p>
            <a:endParaRPr lang="en-US"/>
          </a:p>
        </p:txBody>
      </p:sp>
      <p:sp>
        <p:nvSpPr>
          <p:cNvPr id="17" name="Text 15"/>
          <p:cNvSpPr/>
          <p:nvPr/>
        </p:nvSpPr>
        <p:spPr>
          <a:xfrm>
            <a:off x="822960" y="3447288"/>
            <a:ext cx="3566160" cy="502920"/>
          </a:xfrm>
          <a:prstGeom prst="rect">
            <a:avLst/>
          </a:prstGeom>
          <a:noFill/>
          <a:ln/>
        </p:spPr>
        <p:txBody>
          <a:bodyPr wrap="square" lIns="0" tIns="0" rIns="0" bIns="0" rtlCol="0" anchor="ctr"/>
          <a:lstStyle/>
          <a:p>
            <a:pPr marL="0" indent="0">
              <a:buNone/>
            </a:pPr>
            <a:r>
              <a:rPr lang="en-US" sz="2800" b="1" dirty="0">
                <a:solidFill>
                  <a:srgbClr val="17324D"/>
                </a:solidFill>
                <a:latin typeface="Arial" pitchFamily="34" charset="0"/>
                <a:ea typeface="Arial" pitchFamily="34" charset="-122"/>
                <a:cs typeface="Arial" pitchFamily="34" charset="-120"/>
              </a:rPr>
              <a:t>compare</a:t>
            </a:r>
            <a:endParaRPr lang="en-US" sz="2800" dirty="0"/>
          </a:p>
        </p:txBody>
      </p:sp>
      <p:sp>
        <p:nvSpPr>
          <p:cNvPr id="18" name="Text 16"/>
          <p:cNvSpPr/>
          <p:nvPr/>
        </p:nvSpPr>
        <p:spPr>
          <a:xfrm>
            <a:off x="822960" y="3922776"/>
            <a:ext cx="3566160" cy="301752"/>
          </a:xfrm>
          <a:prstGeom prst="rect">
            <a:avLst/>
          </a:prstGeom>
          <a:noFill/>
          <a:ln/>
        </p:spPr>
        <p:txBody>
          <a:bodyPr wrap="square" lIns="0" tIns="0" rIns="0" bIns="0" rtlCol="0" anchor="ctr"/>
          <a:lstStyle/>
          <a:p>
            <a:pPr marL="0" indent="0">
              <a:buNone/>
            </a:pPr>
            <a:r>
              <a:rPr lang="en-US" sz="1400" i="1" dirty="0">
                <a:solidFill>
                  <a:srgbClr val="157A77"/>
                </a:solidFill>
                <a:latin typeface="Arial" pitchFamily="34" charset="0"/>
                <a:ea typeface="Arial" pitchFamily="34" charset="-122"/>
                <a:cs typeface="Arial" pitchFamily="34" charset="-120"/>
              </a:rPr>
              <a:t>comparar</a:t>
            </a:r>
            <a:endParaRPr lang="en-US" sz="1400" dirty="0"/>
          </a:p>
        </p:txBody>
      </p:sp>
      <p:sp>
        <p:nvSpPr>
          <p:cNvPr id="19" name="Text 17"/>
          <p:cNvSpPr/>
          <p:nvPr/>
        </p:nvSpPr>
        <p:spPr>
          <a:xfrm>
            <a:off x="4754880" y="3374136"/>
            <a:ext cx="6858000" cy="914400"/>
          </a:xfrm>
          <a:prstGeom prst="rect">
            <a:avLst/>
          </a:prstGeom>
          <a:noFill/>
          <a:ln/>
        </p:spPr>
        <p:txBody>
          <a:bodyPr wrap="square" lIns="0" tIns="0" rIns="0" bIns="0" rtlCol="0" anchor="ctr"/>
          <a:lstStyle/>
          <a:p>
            <a:pPr marL="0" indent="0">
              <a:buNone/>
            </a:pPr>
            <a:r>
              <a:rPr lang="en-US" sz="2400" dirty="0">
                <a:solidFill>
                  <a:srgbClr val="24323F"/>
                </a:solidFill>
                <a:latin typeface="Arial" pitchFamily="34" charset="0"/>
                <a:ea typeface="Arial" pitchFamily="34" charset="-122"/>
                <a:cs typeface="Arial" pitchFamily="34" charset="-120"/>
              </a:rPr>
              <a:t>Describe how a part relates to a whole.</a:t>
            </a:r>
            <a:endParaRPr lang="en-US" sz="2400" dirty="0"/>
          </a:p>
        </p:txBody>
      </p:sp>
      <p:sp>
        <p:nvSpPr>
          <p:cNvPr id="20" name="Shape 18"/>
          <p:cNvSpPr/>
          <p:nvPr/>
        </p:nvSpPr>
        <p:spPr>
          <a:xfrm>
            <a:off x="548640" y="4398264"/>
            <a:ext cx="3931920" cy="914400"/>
          </a:xfrm>
          <a:prstGeom prst="rect">
            <a:avLst/>
          </a:prstGeom>
          <a:solidFill>
            <a:srgbClr val="DFF2EE"/>
          </a:solidFill>
          <a:ln w="12700">
            <a:solidFill>
              <a:srgbClr val="DFF2EE"/>
            </a:solidFill>
            <a:prstDash val="solid"/>
          </a:ln>
        </p:spPr>
        <p:txBody>
          <a:bodyPr/>
          <a:lstStyle/>
          <a:p>
            <a:endParaRPr lang="en-US"/>
          </a:p>
        </p:txBody>
      </p:sp>
      <p:sp>
        <p:nvSpPr>
          <p:cNvPr id="21" name="Shape 19"/>
          <p:cNvSpPr/>
          <p:nvPr/>
        </p:nvSpPr>
        <p:spPr>
          <a:xfrm>
            <a:off x="548640" y="4398264"/>
            <a:ext cx="109728" cy="914400"/>
          </a:xfrm>
          <a:prstGeom prst="rect">
            <a:avLst/>
          </a:prstGeom>
          <a:solidFill>
            <a:srgbClr val="1FA6A2"/>
          </a:solidFill>
          <a:ln w="12700">
            <a:solidFill>
              <a:srgbClr val="1FA6A2"/>
            </a:solidFill>
            <a:prstDash val="solid"/>
          </a:ln>
        </p:spPr>
        <p:txBody>
          <a:bodyPr/>
          <a:lstStyle/>
          <a:p>
            <a:endParaRPr lang="en-US"/>
          </a:p>
        </p:txBody>
      </p:sp>
      <p:sp>
        <p:nvSpPr>
          <p:cNvPr id="22" name="Text 20"/>
          <p:cNvSpPr/>
          <p:nvPr/>
        </p:nvSpPr>
        <p:spPr>
          <a:xfrm>
            <a:off x="822960" y="4471416"/>
            <a:ext cx="3566160" cy="502920"/>
          </a:xfrm>
          <a:prstGeom prst="rect">
            <a:avLst/>
          </a:prstGeom>
          <a:noFill/>
          <a:ln/>
        </p:spPr>
        <p:txBody>
          <a:bodyPr wrap="square" lIns="0" tIns="0" rIns="0" bIns="0" rtlCol="0" anchor="ctr"/>
          <a:lstStyle/>
          <a:p>
            <a:pPr marL="0" indent="0">
              <a:buNone/>
            </a:pPr>
            <a:r>
              <a:rPr lang="en-US" sz="2800" b="1" dirty="0">
                <a:solidFill>
                  <a:srgbClr val="17324D"/>
                </a:solidFill>
                <a:latin typeface="Arial" pitchFamily="34" charset="0"/>
                <a:ea typeface="Arial" pitchFamily="34" charset="-122"/>
                <a:cs typeface="Arial" pitchFamily="34" charset="-120"/>
              </a:rPr>
              <a:t>equivalent</a:t>
            </a:r>
            <a:endParaRPr lang="en-US" sz="2800" dirty="0"/>
          </a:p>
        </p:txBody>
      </p:sp>
      <p:sp>
        <p:nvSpPr>
          <p:cNvPr id="23" name="Text 21"/>
          <p:cNvSpPr/>
          <p:nvPr/>
        </p:nvSpPr>
        <p:spPr>
          <a:xfrm>
            <a:off x="822960" y="4946904"/>
            <a:ext cx="3566160" cy="301752"/>
          </a:xfrm>
          <a:prstGeom prst="rect">
            <a:avLst/>
          </a:prstGeom>
          <a:noFill/>
          <a:ln/>
        </p:spPr>
        <p:txBody>
          <a:bodyPr wrap="square" lIns="0" tIns="0" rIns="0" bIns="0" rtlCol="0" anchor="ctr"/>
          <a:lstStyle/>
          <a:p>
            <a:pPr marL="0" indent="0">
              <a:buNone/>
            </a:pPr>
            <a:r>
              <a:rPr lang="en-US" sz="1400" i="1" dirty="0">
                <a:solidFill>
                  <a:srgbClr val="157A77"/>
                </a:solidFill>
                <a:latin typeface="Arial" pitchFamily="34" charset="0"/>
                <a:ea typeface="Arial" pitchFamily="34" charset="-122"/>
                <a:cs typeface="Arial" pitchFamily="34" charset="-120"/>
              </a:rPr>
              <a:t>equivalente</a:t>
            </a:r>
            <a:endParaRPr lang="en-US" sz="1400" dirty="0"/>
          </a:p>
        </p:txBody>
      </p:sp>
      <p:sp>
        <p:nvSpPr>
          <p:cNvPr id="24" name="Text 22"/>
          <p:cNvSpPr/>
          <p:nvPr/>
        </p:nvSpPr>
        <p:spPr>
          <a:xfrm>
            <a:off x="4754880" y="4398264"/>
            <a:ext cx="6858000" cy="914400"/>
          </a:xfrm>
          <a:prstGeom prst="rect">
            <a:avLst/>
          </a:prstGeom>
          <a:noFill/>
          <a:ln/>
        </p:spPr>
        <p:txBody>
          <a:bodyPr wrap="square" lIns="0" tIns="0" rIns="0" bIns="0" rtlCol="0" anchor="ctr"/>
          <a:lstStyle/>
          <a:p>
            <a:pPr marL="0" indent="0">
              <a:buNone/>
            </a:pPr>
            <a:r>
              <a:rPr lang="en-US" sz="2400" dirty="0">
                <a:solidFill>
                  <a:srgbClr val="24323F"/>
                </a:solidFill>
                <a:latin typeface="Arial" pitchFamily="34" charset="0"/>
                <a:ea typeface="Arial" pitchFamily="34" charset="-122"/>
                <a:cs typeface="Arial" pitchFamily="34" charset="-120"/>
              </a:rPr>
              <a:t>Different names for the same value or ratio.</a:t>
            </a:r>
            <a:endParaRPr lang="en-US" sz="2400" dirty="0"/>
          </a:p>
        </p:txBody>
      </p:sp>
      <p:sp>
        <p:nvSpPr>
          <p:cNvPr id="25" name="Shape 23"/>
          <p:cNvSpPr/>
          <p:nvPr/>
        </p:nvSpPr>
        <p:spPr>
          <a:xfrm>
            <a:off x="548640" y="5422392"/>
            <a:ext cx="3931920" cy="914400"/>
          </a:xfrm>
          <a:prstGeom prst="rect">
            <a:avLst/>
          </a:prstGeom>
          <a:solidFill>
            <a:srgbClr val="DFF2EE"/>
          </a:solidFill>
          <a:ln w="12700">
            <a:solidFill>
              <a:srgbClr val="DFF2EE"/>
            </a:solidFill>
            <a:prstDash val="solid"/>
          </a:ln>
        </p:spPr>
        <p:txBody>
          <a:bodyPr/>
          <a:lstStyle/>
          <a:p>
            <a:endParaRPr lang="en-US"/>
          </a:p>
        </p:txBody>
      </p:sp>
      <p:sp>
        <p:nvSpPr>
          <p:cNvPr id="26" name="Shape 24"/>
          <p:cNvSpPr/>
          <p:nvPr/>
        </p:nvSpPr>
        <p:spPr>
          <a:xfrm>
            <a:off x="548640" y="5422392"/>
            <a:ext cx="109728" cy="914400"/>
          </a:xfrm>
          <a:prstGeom prst="rect">
            <a:avLst/>
          </a:prstGeom>
          <a:solidFill>
            <a:srgbClr val="1FA6A2"/>
          </a:solidFill>
          <a:ln w="12700">
            <a:solidFill>
              <a:srgbClr val="1FA6A2"/>
            </a:solidFill>
            <a:prstDash val="solid"/>
          </a:ln>
        </p:spPr>
        <p:txBody>
          <a:bodyPr/>
          <a:lstStyle/>
          <a:p>
            <a:endParaRPr lang="en-US"/>
          </a:p>
        </p:txBody>
      </p:sp>
      <p:sp>
        <p:nvSpPr>
          <p:cNvPr id="27" name="Text 25"/>
          <p:cNvSpPr/>
          <p:nvPr/>
        </p:nvSpPr>
        <p:spPr>
          <a:xfrm>
            <a:off x="822960" y="5495544"/>
            <a:ext cx="3566160" cy="502920"/>
          </a:xfrm>
          <a:prstGeom prst="rect">
            <a:avLst/>
          </a:prstGeom>
          <a:noFill/>
          <a:ln/>
        </p:spPr>
        <p:txBody>
          <a:bodyPr wrap="square" lIns="0" tIns="0" rIns="0" bIns="0" rtlCol="0" anchor="ctr"/>
          <a:lstStyle/>
          <a:p>
            <a:pPr marL="0" indent="0">
              <a:buNone/>
            </a:pPr>
            <a:r>
              <a:rPr lang="en-US" sz="2800" b="1" dirty="0">
                <a:solidFill>
                  <a:srgbClr val="17324D"/>
                </a:solidFill>
                <a:latin typeface="Arial" pitchFamily="34" charset="0"/>
                <a:ea typeface="Arial" pitchFamily="34" charset="-122"/>
                <a:cs typeface="Arial" pitchFamily="34" charset="-120"/>
              </a:rPr>
              <a:t>decimal grid</a:t>
            </a:r>
            <a:endParaRPr lang="en-US" sz="2800" dirty="0"/>
          </a:p>
        </p:txBody>
      </p:sp>
      <p:sp>
        <p:nvSpPr>
          <p:cNvPr id="28" name="Text 26"/>
          <p:cNvSpPr/>
          <p:nvPr/>
        </p:nvSpPr>
        <p:spPr>
          <a:xfrm>
            <a:off x="822960" y="5971032"/>
            <a:ext cx="3566160" cy="301752"/>
          </a:xfrm>
          <a:prstGeom prst="rect">
            <a:avLst/>
          </a:prstGeom>
          <a:noFill/>
          <a:ln/>
        </p:spPr>
        <p:txBody>
          <a:bodyPr wrap="square" lIns="0" tIns="0" rIns="0" bIns="0" rtlCol="0" anchor="ctr"/>
          <a:lstStyle/>
          <a:p>
            <a:pPr marL="0" indent="0">
              <a:buNone/>
            </a:pPr>
            <a:r>
              <a:rPr lang="en-US" sz="1400" i="1" dirty="0">
                <a:solidFill>
                  <a:srgbClr val="157A77"/>
                </a:solidFill>
                <a:latin typeface="Arial" pitchFamily="34" charset="0"/>
                <a:ea typeface="Arial" pitchFamily="34" charset="-122"/>
                <a:cs typeface="Arial" pitchFamily="34" charset="-120"/>
              </a:rPr>
              <a:t>cuadrícula decimal</a:t>
            </a:r>
            <a:endParaRPr lang="en-US" sz="1400" dirty="0"/>
          </a:p>
        </p:txBody>
      </p:sp>
      <p:sp>
        <p:nvSpPr>
          <p:cNvPr id="29" name="Text 27"/>
          <p:cNvSpPr/>
          <p:nvPr/>
        </p:nvSpPr>
        <p:spPr>
          <a:xfrm>
            <a:off x="4754880" y="5422392"/>
            <a:ext cx="6858000" cy="914400"/>
          </a:xfrm>
          <a:prstGeom prst="rect">
            <a:avLst/>
          </a:prstGeom>
          <a:noFill/>
          <a:ln/>
        </p:spPr>
        <p:txBody>
          <a:bodyPr wrap="square" lIns="0" tIns="0" rIns="0" bIns="0" rtlCol="0" anchor="ctr"/>
          <a:lstStyle/>
          <a:p>
            <a:pPr marL="0" indent="0">
              <a:buNone/>
            </a:pPr>
            <a:r>
              <a:rPr lang="en-US" sz="2400" dirty="0">
                <a:solidFill>
                  <a:srgbClr val="24323F"/>
                </a:solidFill>
                <a:latin typeface="Arial" pitchFamily="34" charset="0"/>
                <a:ea typeface="Arial" pitchFamily="34" charset="-122"/>
                <a:cs typeface="Arial" pitchFamily="34" charset="-120"/>
              </a:rPr>
              <a:t>A 10 × 10 grid with 100 equal squares.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44"/>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6" name="Google Shape;336;p44"/>
          <p:cNvSpPr/>
          <p:nvPr/>
        </p:nvSpPr>
        <p:spPr>
          <a:xfrm>
            <a:off x="0" y="0"/>
            <a:ext cx="12191969" cy="713232"/>
          </a:xfrm>
          <a:prstGeom prst="rect">
            <a:avLst/>
          </a:prstGeom>
          <a:solidFill>
            <a:srgbClr val="0F7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7" name="Google Shape;337;p44"/>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Today’s Objectives</a:t>
            </a:r>
            <a:endParaRPr/>
          </a:p>
        </p:txBody>
      </p:sp>
      <p:sp>
        <p:nvSpPr>
          <p:cNvPr id="338" name="Google Shape;338;p44"/>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400" b="0" i="0" u="none" strike="noStrike" cap="none">
                <a:solidFill>
                  <a:srgbClr val="FFFFFF"/>
                </a:solidFill>
                <a:latin typeface="Arial"/>
                <a:ea typeface="Arial"/>
                <a:cs typeface="Arial"/>
                <a:sym typeface="Arial"/>
              </a:rPr>
              <a:t>Lesson 4-1 · Understand Percent</a:t>
            </a:r>
            <a:endParaRPr/>
          </a:p>
        </p:txBody>
      </p:sp>
      <p:sp>
        <p:nvSpPr>
          <p:cNvPr id="339" name="Google Shape;339;p44"/>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0" name="Google Shape;340;p44"/>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341" name="Google Shape;341;p44"/>
          <p:cNvSpPr txBox="1"/>
          <p:nvPr/>
        </p:nvSpPr>
        <p:spPr>
          <a:xfrm>
            <a:off x="640080" y="969264"/>
            <a:ext cx="10911809" cy="631952"/>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None/>
            </a:pPr>
            <a:r>
              <a:rPr lang="en-US" sz="3800" b="1" i="0" u="none" strike="noStrike" cap="none">
                <a:solidFill>
                  <a:srgbClr val="14223A"/>
                </a:solidFill>
                <a:latin typeface="Arial"/>
                <a:ea typeface="Arial"/>
                <a:cs typeface="Arial"/>
                <a:sym typeface="Arial"/>
              </a:rPr>
              <a:t>Understand Percent</a:t>
            </a:r>
            <a:endParaRPr/>
          </a:p>
        </p:txBody>
      </p:sp>
      <p:sp>
        <p:nvSpPr>
          <p:cNvPr id="342" name="Google Shape;342;p44"/>
          <p:cNvSpPr txBox="1"/>
          <p:nvPr/>
        </p:nvSpPr>
        <p:spPr>
          <a:xfrm>
            <a:off x="640080" y="1637792"/>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u="none" strike="noStrike" cap="none">
                <a:solidFill>
                  <a:srgbClr val="475569"/>
                </a:solidFill>
                <a:latin typeface="Arial"/>
                <a:ea typeface="Arial"/>
                <a:cs typeface="Arial"/>
                <a:sym typeface="Arial"/>
              </a:rPr>
              <a:t>Maryland Standard 6.AT.4</a:t>
            </a:r>
            <a:endParaRPr/>
          </a:p>
        </p:txBody>
      </p:sp>
      <p:sp>
        <p:nvSpPr>
          <p:cNvPr id="343" name="Google Shape;343;p44"/>
          <p:cNvSpPr/>
          <p:nvPr/>
        </p:nvSpPr>
        <p:spPr>
          <a:xfrm>
            <a:off x="640080" y="2432304"/>
            <a:ext cx="5349240" cy="3621024"/>
          </a:xfrm>
          <a:prstGeom prst="roundRect">
            <a:avLst>
              <a:gd name="adj" fmla="val 4500"/>
            </a:avLst>
          </a:prstGeom>
          <a:solidFill>
            <a:srgbClr val="E3F2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4" name="Google Shape;344;p44"/>
          <p:cNvSpPr/>
          <p:nvPr/>
        </p:nvSpPr>
        <p:spPr>
          <a:xfrm>
            <a:off x="640080" y="2432304"/>
            <a:ext cx="118872" cy="3621024"/>
          </a:xfrm>
          <a:prstGeom prst="rect">
            <a:avLst/>
          </a:prstGeom>
          <a:solidFill>
            <a:srgbClr val="0F7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5" name="Google Shape;345;p44"/>
          <p:cNvSpPr txBox="1"/>
          <p:nvPr/>
        </p:nvSpPr>
        <p:spPr>
          <a:xfrm>
            <a:off x="1097280" y="2798064"/>
            <a:ext cx="448055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F766E"/>
                </a:solidFill>
                <a:latin typeface="Arial"/>
                <a:ea typeface="Arial"/>
                <a:cs typeface="Arial"/>
                <a:sym typeface="Arial"/>
              </a:rPr>
              <a:t>CONTENT OBJECTIVE</a:t>
            </a:r>
            <a:endParaRPr/>
          </a:p>
        </p:txBody>
      </p:sp>
      <p:sp>
        <p:nvSpPr>
          <p:cNvPr id="346" name="Google Shape;346;p44"/>
          <p:cNvSpPr txBox="1"/>
          <p:nvPr/>
        </p:nvSpPr>
        <p:spPr>
          <a:xfrm>
            <a:off x="1097280" y="3127248"/>
            <a:ext cx="448055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0" i="1" u="none" strike="noStrike" cap="none">
                <a:solidFill>
                  <a:srgbClr val="475569"/>
                </a:solidFill>
                <a:latin typeface="Arial"/>
                <a:ea typeface="Arial"/>
                <a:cs typeface="Arial"/>
                <a:sym typeface="Arial"/>
              </a:rPr>
              <a:t>Restate the goal in your words</a:t>
            </a:r>
            <a:endParaRPr/>
          </a:p>
        </p:txBody>
      </p:sp>
      <p:sp>
        <p:nvSpPr>
          <p:cNvPr id="347" name="Google Shape;347;p44"/>
          <p:cNvSpPr txBox="1"/>
          <p:nvPr/>
        </p:nvSpPr>
        <p:spPr>
          <a:xfrm>
            <a:off x="1097280" y="3602736"/>
            <a:ext cx="4480559" cy="2048256"/>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2500" b="1" i="0" u="none" strike="noStrike" cap="none">
                <a:solidFill>
                  <a:srgbClr val="14223A"/>
                </a:solidFill>
                <a:latin typeface="Arial"/>
                <a:ea typeface="Arial"/>
                <a:cs typeface="Arial"/>
                <a:sym typeface="Arial"/>
              </a:rPr>
              <a:t>I can explain a percent as a rate per 100, model it on a decimal grid or tape diagram, and interpret percents greater than 100%.</a:t>
            </a:r>
            <a:endParaRPr/>
          </a:p>
        </p:txBody>
      </p:sp>
      <p:sp>
        <p:nvSpPr>
          <p:cNvPr id="348" name="Google Shape;348;p44"/>
          <p:cNvSpPr/>
          <p:nvPr/>
        </p:nvSpPr>
        <p:spPr>
          <a:xfrm>
            <a:off x="6382512" y="2432304"/>
            <a:ext cx="5349240" cy="3621024"/>
          </a:xfrm>
          <a:prstGeom prst="roundRect">
            <a:avLst>
              <a:gd name="adj" fmla="val 4500"/>
            </a:avLst>
          </a:prstGeom>
          <a:solidFill>
            <a:srgbClr val="FDEE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9" name="Google Shape;349;p44"/>
          <p:cNvSpPr/>
          <p:nvPr/>
        </p:nvSpPr>
        <p:spPr>
          <a:xfrm>
            <a:off x="6382512" y="2432304"/>
            <a:ext cx="118872" cy="3621024"/>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0" name="Google Shape;350;p44"/>
          <p:cNvSpPr txBox="1"/>
          <p:nvPr/>
        </p:nvSpPr>
        <p:spPr>
          <a:xfrm>
            <a:off x="6839712" y="2798064"/>
            <a:ext cx="448055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1" i="0" u="none" strike="noStrike" cap="none">
                <a:solidFill>
                  <a:srgbClr val="C2410C"/>
                </a:solidFill>
                <a:latin typeface="Arial"/>
                <a:ea typeface="Arial"/>
                <a:cs typeface="Arial"/>
                <a:sym typeface="Arial"/>
              </a:rPr>
              <a:t>LANGUAGE OBJECTIVE</a:t>
            </a:r>
            <a:endParaRPr/>
          </a:p>
        </p:txBody>
      </p:sp>
      <p:sp>
        <p:nvSpPr>
          <p:cNvPr id="351" name="Google Shape;351;p44"/>
          <p:cNvSpPr txBox="1"/>
          <p:nvPr/>
        </p:nvSpPr>
        <p:spPr>
          <a:xfrm>
            <a:off x="6839712" y="3127248"/>
            <a:ext cx="448055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400" b="0" i="1" u="none" strike="noStrike" cap="none">
                <a:solidFill>
                  <a:srgbClr val="475569"/>
                </a:solidFill>
                <a:latin typeface="Arial"/>
                <a:ea typeface="Arial"/>
                <a:cs typeface="Arial"/>
                <a:sym typeface="Arial"/>
              </a:rPr>
              <a:t>Use these words to explain why</a:t>
            </a:r>
            <a:endParaRPr/>
          </a:p>
        </p:txBody>
      </p:sp>
      <p:sp>
        <p:nvSpPr>
          <p:cNvPr id="352" name="Google Shape;352;p44"/>
          <p:cNvSpPr txBox="1"/>
          <p:nvPr/>
        </p:nvSpPr>
        <p:spPr>
          <a:xfrm>
            <a:off x="6839712" y="3602736"/>
            <a:ext cx="4480559" cy="2048256"/>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pPr>
            <a:r>
              <a:rPr lang="en-US" sz="2500" b="1" i="0" u="none" strike="noStrike" cap="none">
                <a:solidFill>
                  <a:srgbClr val="14223A"/>
                </a:solidFill>
                <a:latin typeface="Arial"/>
                <a:ea typeface="Arial"/>
                <a:cs typeface="Arial"/>
                <a:sym typeface="Arial"/>
              </a:rPr>
              <a:t>I can explain what a percent means using the words per hundred, part, whole, and equivalent ratio.</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 / 40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56"/>
          <p:cNvSpPr txBox="1"/>
          <p:nvPr/>
        </p:nvSpPr>
        <p:spPr>
          <a:xfrm>
            <a:off x="484565" y="936099"/>
            <a:ext cx="6461180" cy="377444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Middle school students voted on a new mascot for their school. The results show that four out of every ten voters selected the tiger as the new mascot.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How many students out of every 100 voted for the tiger?</a:t>
            </a:r>
            <a:endParaRPr sz="1400" b="0" i="0" u="none" strike="noStrike" cap="none">
              <a:solidFill>
                <a:srgbClr val="000000"/>
              </a:solidFill>
              <a:latin typeface="Arial"/>
              <a:ea typeface="Arial"/>
              <a:cs typeface="Arial"/>
              <a:sym typeface="Arial"/>
            </a:endParaRPr>
          </a:p>
        </p:txBody>
      </p:sp>
      <p:sp>
        <p:nvSpPr>
          <p:cNvPr id="577" name="Google Shape;577;p56"/>
          <p:cNvSpPr txBox="1"/>
          <p:nvPr/>
        </p:nvSpPr>
        <p:spPr>
          <a:xfrm>
            <a:off x="484565" y="316034"/>
            <a:ext cx="5641027" cy="399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Middle School Mascot</a:t>
            </a:r>
            <a:endParaRPr sz="1400" b="0" i="0" u="none" strike="noStrike" cap="none">
              <a:solidFill>
                <a:srgbClr val="000000"/>
              </a:solidFill>
              <a:latin typeface="Arial"/>
              <a:ea typeface="Arial"/>
              <a:cs typeface="Arial"/>
              <a:sym typeface="Arial"/>
            </a:endParaRPr>
          </a:p>
        </p:txBody>
      </p:sp>
      <p:cxnSp>
        <p:nvCxnSpPr>
          <p:cNvPr id="578" name="Google Shape;578;p56"/>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pic>
        <p:nvPicPr>
          <p:cNvPr id="579" name="Google Shape;579;p56"/>
          <p:cNvPicPr preferRelativeResize="0"/>
          <p:nvPr/>
        </p:nvPicPr>
        <p:blipFill rotWithShape="1">
          <a:blip r:embed="rId3">
            <a:alphaModFix/>
          </a:blip>
          <a:srcRect/>
          <a:stretch/>
        </p:blipFill>
        <p:spPr>
          <a:xfrm>
            <a:off x="7515514" y="1144842"/>
            <a:ext cx="2019300" cy="3876675"/>
          </a:xfrm>
          <a:prstGeom prst="rect">
            <a:avLst/>
          </a:prstGeom>
          <a:noFill/>
          <a:ln>
            <a:noFill/>
          </a:ln>
        </p:spPr>
      </p:pic>
      <p:pic>
        <p:nvPicPr>
          <p:cNvPr id="580" name="Google Shape;580;p56"/>
          <p:cNvPicPr preferRelativeResize="0"/>
          <p:nvPr/>
        </p:nvPicPr>
        <p:blipFill rotWithShape="1">
          <a:blip r:embed="rId4">
            <a:alphaModFix/>
          </a:blip>
          <a:srcRect/>
          <a:stretch/>
        </p:blipFill>
        <p:spPr>
          <a:xfrm>
            <a:off x="484565" y="5083701"/>
            <a:ext cx="7073900" cy="838200"/>
          </a:xfrm>
          <a:prstGeom prst="rect">
            <a:avLst/>
          </a:prstGeom>
          <a:noFill/>
          <a:ln>
            <a:noFill/>
          </a:ln>
        </p:spPr>
      </p:pic>
      <p:sp>
        <p:nvSpPr>
          <p:cNvPr id="581" name="Google Shape;581;p56"/>
          <p:cNvSpPr txBox="1"/>
          <p:nvPr/>
        </p:nvSpPr>
        <p:spPr>
          <a:xfrm>
            <a:off x="3156367" y="5241019"/>
            <a:ext cx="6783781" cy="6397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Using Representations</a:t>
            </a:r>
            <a:endParaRPr sz="1400" b="0" i="0" u="none" strike="noStrike" cap="non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14 / 40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63"/>
          <p:cNvSpPr txBox="1"/>
          <p:nvPr/>
        </p:nvSpPr>
        <p:spPr>
          <a:xfrm>
            <a:off x="484564" y="936100"/>
            <a:ext cx="8077545" cy="2825018"/>
          </a:xfrm>
          <a:prstGeom prst="rect">
            <a:avLst/>
          </a:prstGeom>
          <a:blipFill rotWithShape="1">
            <a:blip r:embed="rId3">
              <a:alphaModFix/>
            </a:blip>
            <a:stretch>
              <a:fillRect l="-1508" t="-2376" r="-830" b="-108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638" name="Google Shape;638;p6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39" name="Google Shape;639;p63"/>
          <p:cNvSpPr txBox="1"/>
          <p:nvPr/>
        </p:nvSpPr>
        <p:spPr>
          <a:xfrm>
            <a:off x="484565" y="4347841"/>
            <a:ext cx="8077544" cy="19518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We can create an equivalent ratio by multiplying each term by 10 so that the second term in the equivalent ratio is 100.</a:t>
            </a:r>
            <a:endParaRPr sz="1400" b="0" i="0" u="none" strike="noStrike" cap="none">
              <a:solidFill>
                <a:srgbClr val="000000"/>
              </a:solidFill>
              <a:latin typeface="Arial"/>
              <a:ea typeface="Arial"/>
              <a:cs typeface="Arial"/>
              <a:sym typeface="Arial"/>
            </a:endParaRPr>
          </a:p>
        </p:txBody>
      </p:sp>
      <p:sp>
        <p:nvSpPr>
          <p:cNvPr id="640" name="Google Shape;640;p63"/>
          <p:cNvSpPr txBox="1"/>
          <p:nvPr/>
        </p:nvSpPr>
        <p:spPr>
          <a:xfrm>
            <a:off x="484565" y="316034"/>
            <a:ext cx="5641027" cy="399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Middle School Mascot</a:t>
            </a:r>
            <a:endParaRPr sz="1400" b="0" i="0" u="none" strike="noStrike" cap="non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15 / 40</a:t>
            </a:r>
          </a:p>
        </p:txBody>
      </p:sp>
      <p:sp>
        <p:nvSpPr>
          <p:cNvPr id="9003" name="EWL-COVER-1"/>
          <p:cNvSpPr/>
          <p:nvPr/>
        </p:nvSpPr>
        <p:spPr>
          <a:xfrm>
            <a:off x="429701" y="4292977"/>
            <a:ext cx="8187272" cy="2061582"/>
          </a:xfrm>
          <a:prstGeom prst="rect">
            <a:avLst/>
          </a:prstGeom>
          <a:solidFill>
            <a:srgbClr val="FFFFFF"/>
          </a:solidFill>
          <a:ln>
            <a:noFill/>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65"/>
          <p:cNvSpPr txBox="1"/>
          <p:nvPr/>
        </p:nvSpPr>
        <p:spPr>
          <a:xfrm>
            <a:off x="484564" y="936100"/>
            <a:ext cx="8077545" cy="304263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A </a:t>
            </a:r>
            <a:r>
              <a:rPr lang="en-US" sz="2800" b="1" i="0" u="none" strike="noStrike" cap="none">
                <a:solidFill>
                  <a:srgbClr val="23282D"/>
                </a:solidFill>
                <a:highlight>
                  <a:srgbClr val="FFFF00"/>
                </a:highlight>
                <a:latin typeface="Arial"/>
                <a:ea typeface="Arial"/>
                <a:cs typeface="Arial"/>
                <a:sym typeface="Arial"/>
              </a:rPr>
              <a:t>percent</a:t>
            </a:r>
            <a:r>
              <a:rPr lang="en-US" sz="2800" b="0" i="0" u="none" strike="noStrike" cap="none">
                <a:solidFill>
                  <a:srgbClr val="23282D"/>
                </a:solidFill>
                <a:latin typeface="Arial"/>
                <a:ea typeface="Arial"/>
                <a:cs typeface="Arial"/>
                <a:sym typeface="Arial"/>
              </a:rPr>
              <a:t> is a ratio or rate that compares a number to 100. Percent means </a:t>
            </a:r>
            <a:r>
              <a:rPr lang="en-US" sz="2800" b="0" i="1" u="none" strike="noStrike" cap="none">
                <a:solidFill>
                  <a:srgbClr val="23282D"/>
                </a:solidFill>
                <a:latin typeface="Arial"/>
                <a:ea typeface="Arial"/>
                <a:cs typeface="Arial"/>
                <a:sym typeface="Arial"/>
              </a:rPr>
              <a:t>per hundred</a:t>
            </a:r>
            <a:r>
              <a:rPr lang="en-US" sz="2800" b="0" i="0" u="none" strike="noStrike" cap="none">
                <a:solidFill>
                  <a:srgbClr val="23282D"/>
                </a:solidFill>
                <a:latin typeface="Arial"/>
                <a:ea typeface="Arial"/>
                <a:cs typeface="Arial"/>
                <a:sym typeface="Arial"/>
              </a:rPr>
              <a:t>. It can also be expressed as a fraction with a denominator of 100.</a:t>
            </a:r>
            <a:endParaRPr sz="1400" b="0" i="0" u="none" strike="noStrike" cap="none">
              <a:solidFill>
                <a:srgbClr val="000000"/>
              </a:solidFill>
              <a:latin typeface="Arial"/>
              <a:ea typeface="Arial"/>
              <a:cs typeface="Arial"/>
              <a:sym typeface="Arial"/>
            </a:endParaRPr>
          </a:p>
        </p:txBody>
      </p:sp>
      <p:cxnSp>
        <p:nvCxnSpPr>
          <p:cNvPr id="653" name="Google Shape;653;p6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54" name="Google Shape;654;p65"/>
          <p:cNvSpPr txBox="1"/>
          <p:nvPr/>
        </p:nvSpPr>
        <p:spPr>
          <a:xfrm>
            <a:off x="484563" y="5206895"/>
            <a:ext cx="8077546" cy="105046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lt1"/>
              </a:buClr>
              <a:buSzPts val="2800"/>
              <a:buFont typeface="Arial"/>
              <a:buNone/>
            </a:pPr>
            <a:r>
              <a:rPr lang="en-US" sz="2800" b="1" i="0" u="none" strike="noStrike" cap="none">
                <a:solidFill>
                  <a:schemeClr val="lt1"/>
                </a:solidFill>
                <a:highlight>
                  <a:srgbClr val="1E2682"/>
                </a:highlight>
                <a:latin typeface="Arial"/>
                <a:ea typeface="Arial"/>
                <a:cs typeface="Arial"/>
                <a:sym typeface="Arial"/>
              </a:rPr>
              <a:t> Think About It</a:t>
            </a:r>
            <a:r>
              <a:rPr lang="en-US" sz="2800" b="1" i="0" u="none" strike="noStrike" cap="none">
                <a:solidFill>
                  <a:srgbClr val="1E2682"/>
                </a:solidFill>
                <a:highlight>
                  <a:srgbClr val="1E2682"/>
                </a:highlight>
                <a:latin typeface="Arial"/>
                <a:ea typeface="Arial"/>
                <a:cs typeface="Arial"/>
                <a:sym typeface="Arial"/>
              </a:rPr>
              <a:t>:</a:t>
            </a:r>
            <a:r>
              <a:rPr lang="en-US" sz="2800" b="1" i="0" u="none" strike="noStrike" cap="none">
                <a:solidFill>
                  <a:schemeClr val="lt1"/>
                </a:solidFill>
                <a:highlight>
                  <a:srgbClr val="1E2682"/>
                </a:highlight>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chemeClr val="dk2"/>
              </a:buClr>
              <a:buSzPts val="2800"/>
              <a:buFont typeface="Arial"/>
              <a:buNone/>
            </a:pPr>
            <a:endParaRPr sz="2800" b="0" i="0" u="none" strike="noStrike" cap="none">
              <a:solidFill>
                <a:srgbClr val="595959"/>
              </a:solidFill>
              <a:latin typeface="Arial"/>
              <a:ea typeface="Arial"/>
              <a:cs typeface="Arial"/>
              <a:sym typeface="Arial"/>
            </a:endParaRPr>
          </a:p>
        </p:txBody>
      </p:sp>
      <p:sp>
        <p:nvSpPr>
          <p:cNvPr id="655" name="Google Shape;655;p65"/>
          <p:cNvSpPr txBox="1"/>
          <p:nvPr/>
        </p:nvSpPr>
        <p:spPr>
          <a:xfrm>
            <a:off x="484565" y="316034"/>
            <a:ext cx="5641027" cy="399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Middle School Mascot</a:t>
            </a:r>
            <a:endParaRPr sz="1400" b="0" i="0" u="none" strike="noStrike" cap="none">
              <a:solidFill>
                <a:srgbClr val="000000"/>
              </a:solidFill>
              <a:latin typeface="Arial"/>
              <a:ea typeface="Arial"/>
              <a:cs typeface="Arial"/>
              <a:sym typeface="Arial"/>
            </a:endParaRPr>
          </a:p>
        </p:txBody>
      </p:sp>
      <p:sp>
        <p:nvSpPr>
          <p:cNvPr id="65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16 / 40</a:t>
            </a:r>
          </a:p>
        </p:txBody>
      </p:sp>
      <p:sp>
        <p:nvSpPr>
          <p:cNvPr id="657"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73"/>
          <p:cNvSpPr txBox="1"/>
          <p:nvPr/>
        </p:nvSpPr>
        <p:spPr>
          <a:xfrm>
            <a:off x="484564" y="936100"/>
            <a:ext cx="8077545" cy="3566889"/>
          </a:xfrm>
          <a:prstGeom prst="rect">
            <a:avLst/>
          </a:prstGeom>
          <a:blipFill rotWithShape="1">
            <a:blip r:embed="rId3">
              <a:alphaModFix/>
            </a:blip>
            <a:stretch>
              <a:fillRect l="-1508" t="-1881" b="-4786"/>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cxnSp>
        <p:nvCxnSpPr>
          <p:cNvPr id="718" name="Google Shape;718;p7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pic>
        <p:nvPicPr>
          <p:cNvPr id="719" name="Google Shape;719;p73"/>
          <p:cNvPicPr preferRelativeResize="0"/>
          <p:nvPr/>
        </p:nvPicPr>
        <p:blipFill rotWithShape="1">
          <a:blip r:embed="rId4">
            <a:alphaModFix/>
          </a:blip>
          <a:srcRect/>
          <a:stretch/>
        </p:blipFill>
        <p:spPr>
          <a:xfrm>
            <a:off x="9010928" y="2058604"/>
            <a:ext cx="2911377" cy="2911377"/>
          </a:xfrm>
          <a:prstGeom prst="rect">
            <a:avLst/>
          </a:prstGeom>
          <a:noFill/>
          <a:ln>
            <a:noFill/>
          </a:ln>
        </p:spPr>
      </p:pic>
      <p:sp>
        <p:nvSpPr>
          <p:cNvPr id="720" name="Google Shape;720;p73"/>
          <p:cNvSpPr txBox="1"/>
          <p:nvPr/>
        </p:nvSpPr>
        <p:spPr>
          <a:xfrm>
            <a:off x="484563" y="5307959"/>
            <a:ext cx="6761625" cy="10669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shade in 40 out of 100 squares.</a:t>
            </a:r>
            <a:endParaRPr sz="1400" b="0" i="0" u="none" strike="noStrike" cap="none">
              <a:solidFill>
                <a:srgbClr val="000000"/>
              </a:solidFill>
              <a:latin typeface="Arial"/>
              <a:ea typeface="Arial"/>
              <a:cs typeface="Arial"/>
              <a:sym typeface="Arial"/>
            </a:endParaRPr>
          </a:p>
        </p:txBody>
      </p:sp>
      <p:sp>
        <p:nvSpPr>
          <p:cNvPr id="721" name="Google Shape;721;p73"/>
          <p:cNvSpPr txBox="1"/>
          <p:nvPr/>
        </p:nvSpPr>
        <p:spPr>
          <a:xfrm>
            <a:off x="484565" y="316034"/>
            <a:ext cx="5641027" cy="399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Middle School Mascot</a:t>
            </a:r>
            <a:endParaRPr sz="1400" b="0" i="0" u="none" strike="noStrike" cap="none">
              <a:solidFill>
                <a:srgbClr val="000000"/>
              </a:solidFill>
              <a:latin typeface="Arial"/>
              <a:ea typeface="Arial"/>
              <a:cs typeface="Arial"/>
              <a:sym typeface="Arial"/>
            </a:endParaRPr>
          </a:p>
        </p:txBody>
      </p:sp>
      <p:sp>
        <p:nvSpPr>
          <p:cNvPr id="72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17 / 40</a:t>
            </a:r>
          </a:p>
        </p:txBody>
      </p:sp>
      <p:sp>
        <p:nvSpPr>
          <p:cNvPr id="723" name="EWL-COVER-1"/>
          <p:cNvSpPr/>
          <p:nvPr/>
        </p:nvSpPr>
        <p:spPr>
          <a:xfrm>
            <a:off x="429699" y="5253095"/>
            <a:ext cx="6871353" cy="1176689"/>
          </a:xfrm>
          <a:prstGeom prst="rect">
            <a:avLst/>
          </a:prstGeom>
          <a:solidFill>
            <a:srgbClr val="FFFFFF"/>
          </a:solidFill>
          <a:ln>
            <a:noFill/>
          </a:ln>
        </p:spPr>
        <p:txBody>
          <a:bodyPr/>
          <a:lstStyle/>
          <a:p>
            <a:endParaRPr/>
          </a:p>
        </p:txBody>
      </p:sp>
      <p:grpSp>
        <p:nvGrpSpPr>
          <p:cNvPr id="724" name="TEACH-2-student-move" descr="TEACH 2 · Use strategies and tasks to engage students in rigorous work"/>
          <p:cNvGrpSpPr/>
          <p:nvPr/>
        </p:nvGrpSpPr>
        <p:grpSpPr>
          <a:xfrm>
            <a:off x="502920" y="4631303"/>
            <a:ext cx="5501640" cy="594360"/>
            <a:chOff x="502920" y="4631303"/>
            <a:chExt cx="5501640" cy="594360"/>
          </a:xfrm>
        </p:grpSpPr>
        <p:sp>
          <p:nvSpPr>
            <p:cNvPr id="725" name="TEACH-move-card"/>
            <p:cNvSpPr/>
            <p:nvPr/>
          </p:nvSpPr>
          <p:spPr>
            <a:xfrm>
              <a:off x="502920" y="463130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26" name="TEACH-move-rule"/>
            <p:cNvSpPr/>
            <p:nvPr/>
          </p:nvSpPr>
          <p:spPr>
            <a:xfrm>
              <a:off x="548640" y="4744231"/>
              <a:ext cx="100584" cy="368504"/>
            </a:xfrm>
            <a:prstGeom prst="roundRect">
              <a:avLst>
                <a:gd name="adj" fmla="val 50000"/>
              </a:avLst>
            </a:prstGeom>
            <a:solidFill>
              <a:srgbClr val="01708C"/>
            </a:solidFill>
            <a:ln>
              <a:noFill/>
            </a:ln>
          </p:spPr>
          <p:txBody>
            <a:bodyPr/>
            <a:lstStyle/>
            <a:p>
              <a:endParaRPr/>
            </a:p>
          </p:txBody>
        </p:sp>
        <p:sp>
          <p:nvSpPr>
            <p:cNvPr id="727" name="TEACH-move-text"/>
            <p:cNvSpPr txBox="1"/>
            <p:nvPr/>
          </p:nvSpPr>
          <p:spPr>
            <a:xfrm>
              <a:off x="822960" y="463130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PICK YOUR STRATEGY  ·  </a:t>
              </a:r>
              <a:r>
                <a:rPr lang="en-US" sz="1200" dirty="0">
                  <a:solidFill>
                    <a:srgbClr val="13303A"/>
                  </a:solidFill>
                  <a:latin typeface="Arial"/>
                </a:rPr>
                <a:t>Choose your path — picture, table, number line, or equation — and be ready to say why you chose it.</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2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4"/>
        <p:cNvGrpSpPr/>
        <p:nvPr/>
      </p:nvGrpSpPr>
      <p:grpSpPr>
        <a:xfrm>
          <a:off x="0" y="0"/>
          <a:ext cx="0" cy="0"/>
          <a:chOff x="0" y="0"/>
          <a:chExt cx="0" cy="0"/>
        </a:xfrm>
      </p:grpSpPr>
      <p:sp>
        <p:nvSpPr>
          <p:cNvPr id="735" name="Google Shape;735;p75"/>
          <p:cNvSpPr txBox="1"/>
          <p:nvPr/>
        </p:nvSpPr>
        <p:spPr>
          <a:xfrm>
            <a:off x="484564" y="936100"/>
            <a:ext cx="8077545" cy="39378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Let’s shade 40 out of 100 squares to represent the number of students who voted for the tiger out of 100 students.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defRPr/>
            </a:pPr>
            <a:endParaRPr sz="2800" b="0"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defRPr/>
            </a:pPr>
            <a:endParaRPr sz="2800" b="0"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What percent of students voted for the tiger?</a:t>
            </a:r>
            <a:endParaRPr sz="1400" b="0" i="0" u="none" strike="noStrike" cap="none">
              <a:solidFill>
                <a:srgbClr val="000000"/>
              </a:solidFill>
              <a:latin typeface="Arial"/>
              <a:ea typeface="Arial"/>
              <a:cs typeface="Arial"/>
              <a:sym typeface="Arial"/>
            </a:endParaRPr>
          </a:p>
        </p:txBody>
      </p:sp>
      <p:cxnSp>
        <p:nvCxnSpPr>
          <p:cNvPr id="736" name="Google Shape;736;p7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37" name="Google Shape;737;p75"/>
          <p:cNvSpPr txBox="1"/>
          <p:nvPr/>
        </p:nvSpPr>
        <p:spPr>
          <a:xfrm>
            <a:off x="484564" y="4873925"/>
            <a:ext cx="8077545" cy="143055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see that 40 out of 100 squares are shaded so 40% of the students voted for the tiger.</a:t>
            </a:r>
            <a:endParaRPr sz="1400" b="0" i="0" u="none" strike="noStrike" cap="none">
              <a:solidFill>
                <a:srgbClr val="000000"/>
              </a:solidFill>
              <a:latin typeface="Arial"/>
              <a:ea typeface="Arial"/>
              <a:cs typeface="Arial"/>
              <a:sym typeface="Arial"/>
            </a:endParaRPr>
          </a:p>
        </p:txBody>
      </p:sp>
      <p:pic>
        <p:nvPicPr>
          <p:cNvPr id="738" name="Google Shape;738;p75"/>
          <p:cNvPicPr preferRelativeResize="0"/>
          <p:nvPr/>
        </p:nvPicPr>
        <p:blipFill rotWithShape="1">
          <a:blip r:embed="rId3">
            <a:alphaModFix/>
          </a:blip>
          <a:srcRect/>
          <a:stretch/>
        </p:blipFill>
        <p:spPr>
          <a:xfrm>
            <a:off x="8659345" y="1620853"/>
            <a:ext cx="3048091" cy="2560751"/>
          </a:xfrm>
          <a:prstGeom prst="rect">
            <a:avLst/>
          </a:prstGeom>
          <a:noFill/>
          <a:ln>
            <a:noFill/>
          </a:ln>
        </p:spPr>
      </p:pic>
      <p:sp>
        <p:nvSpPr>
          <p:cNvPr id="739" name="Google Shape;739;p75"/>
          <p:cNvSpPr txBox="1"/>
          <p:nvPr/>
        </p:nvSpPr>
        <p:spPr>
          <a:xfrm>
            <a:off x="484565" y="316034"/>
            <a:ext cx="5641027" cy="399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Middle School Mascot</a:t>
            </a:r>
            <a:endParaRPr sz="1400" b="0" i="0" u="none" strike="noStrike" cap="none">
              <a:solidFill>
                <a:srgbClr val="000000"/>
              </a:solidFill>
              <a:latin typeface="Arial"/>
              <a:ea typeface="Arial"/>
              <a:cs typeface="Arial"/>
              <a:sym typeface="Arial"/>
            </a:endParaRPr>
          </a:p>
        </p:txBody>
      </p:sp>
      <p:sp>
        <p:nvSpPr>
          <p:cNvPr id="74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18 / 40</a:t>
            </a:r>
          </a:p>
        </p:txBody>
      </p:sp>
      <p:sp>
        <p:nvSpPr>
          <p:cNvPr id="741" name="EWL-COVER-1"/>
          <p:cNvSpPr/>
          <p:nvPr/>
        </p:nvSpPr>
        <p:spPr>
          <a:xfrm>
            <a:off x="429700" y="4819061"/>
            <a:ext cx="8187273" cy="1540279"/>
          </a:xfrm>
          <a:prstGeom prst="rect">
            <a:avLst/>
          </a:prstGeom>
          <a:solidFill>
            <a:srgbClr val="FFFFFF"/>
          </a:solidFill>
          <a:ln>
            <a:noFill/>
          </a:ln>
        </p:spPr>
        <p:txBody>
          <a:bodyPr/>
          <a:lstStyle/>
          <a:p>
            <a:endParaRPr/>
          </a:p>
        </p:txBody>
      </p:sp>
      <p:grpSp>
        <p:nvGrpSpPr>
          <p:cNvPr id="742" name="TEACH-6-student-move" descr="TEACH 6 · Organize and implement routines to support a learning-focused classroom"/>
          <p:cNvGrpSpPr/>
          <p:nvPr/>
        </p:nvGrpSpPr>
        <p:grpSpPr>
          <a:xfrm>
            <a:off x="502920" y="4435013"/>
            <a:ext cx="11186160" cy="402336"/>
            <a:chOff x="502920" y="4435013"/>
            <a:chExt cx="11186160" cy="402336"/>
          </a:xfrm>
        </p:grpSpPr>
        <p:sp>
          <p:nvSpPr>
            <p:cNvPr id="743" name="TEACH-move-card"/>
            <p:cNvSpPr/>
            <p:nvPr/>
          </p:nvSpPr>
          <p:spPr>
            <a:xfrm>
              <a:off x="502920" y="443501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44" name="TEACH-move-rule"/>
            <p:cNvSpPr/>
            <p:nvPr/>
          </p:nvSpPr>
          <p:spPr>
            <a:xfrm>
              <a:off x="548640" y="4511457"/>
              <a:ext cx="100584" cy="249448"/>
            </a:xfrm>
            <a:prstGeom prst="roundRect">
              <a:avLst>
                <a:gd name="adj" fmla="val 50000"/>
              </a:avLst>
            </a:prstGeom>
            <a:solidFill>
              <a:srgbClr val="01708C"/>
            </a:solidFill>
            <a:ln>
              <a:noFill/>
            </a:ln>
          </p:spPr>
          <p:txBody>
            <a:bodyPr/>
            <a:lstStyle/>
            <a:p>
              <a:endParaRPr/>
            </a:p>
          </p:txBody>
        </p:sp>
        <p:sp>
          <p:nvSpPr>
            <p:cNvPr id="745" name="TEACH-move-text"/>
            <p:cNvSpPr txBox="1"/>
            <p:nvPr/>
          </p:nvSpPr>
          <p:spPr>
            <a:xfrm>
              <a:off x="822960" y="443501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77"/>
          <p:cNvSpPr txBox="1"/>
          <p:nvPr/>
        </p:nvSpPr>
        <p:spPr>
          <a:xfrm>
            <a:off x="484564" y="936100"/>
            <a:ext cx="8077545" cy="394192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We can also use a tenths decimal grid to show a percent.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pPr>
            <a:endParaRPr sz="2800" b="0"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pPr>
            <a:endParaRPr sz="2800" b="0"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If we shade one tenth of the decimal grid, what percent of the grid is shaded?</a:t>
            </a:r>
            <a:endParaRPr sz="1400" b="0" i="0" u="none" strike="noStrike" cap="none">
              <a:solidFill>
                <a:srgbClr val="000000"/>
              </a:solidFill>
              <a:latin typeface="Arial"/>
              <a:ea typeface="Arial"/>
              <a:cs typeface="Arial"/>
              <a:sym typeface="Arial"/>
            </a:endParaRPr>
          </a:p>
        </p:txBody>
      </p:sp>
      <p:cxnSp>
        <p:nvCxnSpPr>
          <p:cNvPr id="755" name="Google Shape;755;p7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pic>
        <p:nvPicPr>
          <p:cNvPr id="756" name="Google Shape;756;p77"/>
          <p:cNvPicPr preferRelativeResize="0"/>
          <p:nvPr/>
        </p:nvPicPr>
        <p:blipFill rotWithShape="1">
          <a:blip r:embed="rId3">
            <a:alphaModFix/>
          </a:blip>
          <a:srcRect/>
          <a:stretch/>
        </p:blipFill>
        <p:spPr>
          <a:xfrm>
            <a:off x="9559229" y="1728643"/>
            <a:ext cx="1885950" cy="1885950"/>
          </a:xfrm>
          <a:prstGeom prst="rect">
            <a:avLst/>
          </a:prstGeom>
          <a:noFill/>
          <a:ln>
            <a:noFill/>
          </a:ln>
        </p:spPr>
      </p:pic>
      <p:sp>
        <p:nvSpPr>
          <p:cNvPr id="757" name="Google Shape;757;p77"/>
          <p:cNvSpPr txBox="1"/>
          <p:nvPr/>
        </p:nvSpPr>
        <p:spPr>
          <a:xfrm>
            <a:off x="484565" y="316034"/>
            <a:ext cx="5382835" cy="410733"/>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    Collaborate and Connect</a:t>
            </a:r>
            <a:endParaRPr sz="1400" b="0" i="0" u="none" strike="noStrike" cap="none">
              <a:solidFill>
                <a:srgbClr val="000000"/>
              </a:solidFill>
              <a:latin typeface="Arial"/>
              <a:ea typeface="Arial"/>
              <a:cs typeface="Arial"/>
              <a:sym typeface="Arial"/>
            </a:endParaRPr>
          </a:p>
        </p:txBody>
      </p:sp>
      <p:pic>
        <p:nvPicPr>
          <p:cNvPr id="758" name="Google Shape;758;p77"/>
          <p:cNvPicPr preferRelativeResize="0"/>
          <p:nvPr/>
        </p:nvPicPr>
        <p:blipFill rotWithShape="1">
          <a:blip r:embed="rId4">
            <a:alphaModFix/>
          </a:blip>
          <a:srcRect/>
          <a:stretch/>
        </p:blipFill>
        <p:spPr>
          <a:xfrm>
            <a:off x="558276" y="386230"/>
            <a:ext cx="353635" cy="340537"/>
          </a:xfrm>
          <a:prstGeom prst="rect">
            <a:avLst/>
          </a:prstGeom>
          <a:noFill/>
          <a:ln>
            <a:noFill/>
          </a:ln>
        </p:spPr>
      </p:pic>
      <p:sp>
        <p:nvSpPr>
          <p:cNvPr id="759" name="Google Shape;759;p77"/>
          <p:cNvSpPr txBox="1"/>
          <p:nvPr/>
        </p:nvSpPr>
        <p:spPr>
          <a:xfrm>
            <a:off x="484564" y="4878026"/>
            <a:ext cx="9142515" cy="1550040"/>
          </a:xfrm>
          <a:prstGeom prst="rect">
            <a:avLst/>
          </a:prstGeom>
          <a:blipFill rotWithShape="1">
            <a:blip r:embed="rId5">
              <a:alphaModFix/>
            </a:blip>
            <a:stretch>
              <a:fillRect l="-1333" t="-3937" b="-944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19 / 40</a:t>
            </a:r>
          </a:p>
        </p:txBody>
      </p:sp>
      <p:sp>
        <p:nvSpPr>
          <p:cNvPr id="9003"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82"/>
          <p:cNvSpPr txBox="1"/>
          <p:nvPr/>
        </p:nvSpPr>
        <p:spPr>
          <a:xfrm>
            <a:off x="484565" y="927529"/>
            <a:ext cx="7178066" cy="1012107"/>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262626"/>
              </a:buClr>
              <a:buSzPts val="2800"/>
              <a:buFont typeface="Calibri"/>
              <a:buAutoNum type="alphaLcPeriod"/>
            </a:pPr>
            <a:r>
              <a:rPr lang="en-US" sz="2800" b="0" i="0" u="none" strike="noStrike" cap="none">
                <a:solidFill>
                  <a:srgbClr val="23282D"/>
                </a:solidFill>
                <a:latin typeface="Arial"/>
                <a:ea typeface="Arial"/>
                <a:cs typeface="Arial"/>
                <a:sym typeface="Arial"/>
              </a:rPr>
              <a:t>What percent of the decimal grids are not shaded?</a:t>
            </a:r>
            <a:endParaRPr sz="1400" b="0" i="0" u="none" strike="noStrike" cap="none">
              <a:solidFill>
                <a:srgbClr val="000000"/>
              </a:solidFill>
              <a:latin typeface="Arial"/>
              <a:ea typeface="Arial"/>
              <a:cs typeface="Arial"/>
              <a:sym typeface="Arial"/>
            </a:endParaRPr>
          </a:p>
        </p:txBody>
      </p:sp>
      <p:sp>
        <p:nvSpPr>
          <p:cNvPr id="800" name="Google Shape;800;p82"/>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Let’s Explore More</a:t>
            </a:r>
            <a:endParaRPr sz="1400" b="0" i="0" u="none" strike="noStrike" cap="none">
              <a:solidFill>
                <a:srgbClr val="000000"/>
              </a:solidFill>
              <a:latin typeface="Arial"/>
              <a:ea typeface="Arial"/>
              <a:cs typeface="Arial"/>
              <a:sym typeface="Arial"/>
            </a:endParaRPr>
          </a:p>
        </p:txBody>
      </p:sp>
      <p:pic>
        <p:nvPicPr>
          <p:cNvPr id="801" name="Google Shape;801;p82"/>
          <p:cNvPicPr preferRelativeResize="0"/>
          <p:nvPr/>
        </p:nvPicPr>
        <p:blipFill rotWithShape="1">
          <a:blip r:embed="rId3">
            <a:alphaModFix/>
          </a:blip>
          <a:srcRect/>
          <a:stretch/>
        </p:blipFill>
        <p:spPr>
          <a:xfrm>
            <a:off x="5424444" y="1918787"/>
            <a:ext cx="1885950" cy="1885950"/>
          </a:xfrm>
          <a:prstGeom prst="rect">
            <a:avLst/>
          </a:prstGeom>
          <a:noFill/>
          <a:ln>
            <a:noFill/>
          </a:ln>
        </p:spPr>
      </p:pic>
      <p:pic>
        <p:nvPicPr>
          <p:cNvPr id="802" name="Google Shape;802;p82"/>
          <p:cNvPicPr preferRelativeResize="0"/>
          <p:nvPr/>
        </p:nvPicPr>
        <p:blipFill rotWithShape="1">
          <a:blip r:embed="rId4">
            <a:alphaModFix/>
          </a:blip>
          <a:srcRect/>
          <a:stretch/>
        </p:blipFill>
        <p:spPr>
          <a:xfrm>
            <a:off x="7662631" y="1918787"/>
            <a:ext cx="1857375" cy="1857375"/>
          </a:xfrm>
          <a:prstGeom prst="rect">
            <a:avLst/>
          </a:prstGeom>
          <a:noFill/>
          <a:ln>
            <a:noFill/>
          </a:ln>
        </p:spPr>
      </p:pic>
      <p:sp>
        <p:nvSpPr>
          <p:cNvPr id="803" name="Google Shape;803;p82"/>
          <p:cNvSpPr txBox="1"/>
          <p:nvPr/>
        </p:nvSpPr>
        <p:spPr>
          <a:xfrm>
            <a:off x="484565" y="4044521"/>
            <a:ext cx="7388112" cy="1428195"/>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262626"/>
              </a:buClr>
              <a:buSzPts val="2800"/>
              <a:buFont typeface="Calibri"/>
              <a:buAutoNum type="alphaLcPeriod" startAt="2"/>
            </a:pPr>
            <a:r>
              <a:rPr lang="en-US" sz="2800" b="0" i="0" u="none" strike="noStrike" cap="none">
                <a:solidFill>
                  <a:srgbClr val="23282D"/>
                </a:solidFill>
                <a:latin typeface="Arial"/>
                <a:ea typeface="Arial"/>
                <a:cs typeface="Arial"/>
                <a:sym typeface="Arial"/>
              </a:rPr>
              <a:t>The results also showed that 23 out of every 100 voters selected the eagle. Which representation would you use to show 23 out of 100 voters?</a:t>
            </a:r>
            <a:endParaRPr sz="1400" b="0" i="0" u="none" strike="noStrike" cap="non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Compare strategies; persist, revise, and try again.</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20 / 40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4.1  /  DISCUSS THE TASK</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Explain and compare</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tIns="22860" rIns="0" bIns="0">
            <a:spAutoFit/>
          </a:bodyPr>
          <a:lstStyle/>
          <a:p>
            <a:pPr>
              <a:spcAft>
                <a:spcPts val="800"/>
              </a:spcAft>
              <a:defRPr sz="2000" b="1">
                <a:solidFill>
                  <a:srgbClr val="096B69"/>
                </a:solidFill>
                <a:latin typeface="Arial"/>
              </a:defRPr>
            </a:pPr>
            <a:r>
              <a:t>Use the task you just explored.</a:t>
            </a:r>
          </a:p>
        </p:txBody>
      </p:sp>
      <p:sp>
        <p:nvSpPr>
          <p:cNvPr id="6" name="TextBox 5"/>
          <p:cNvSpPr txBox="1"/>
          <p:nvPr/>
        </p:nvSpPr>
        <p:spPr>
          <a:xfrm>
            <a:off x="621792" y="2322576"/>
            <a:ext cx="6583680" cy="2057400"/>
          </a:xfrm>
          <a:prstGeom prst="rect">
            <a:avLst/>
          </a:prstGeom>
          <a:noFill/>
        </p:spPr>
        <p:txBody>
          <a:bodyPr wrap="square" lIns="0" tIns="22860" rIns="0" bIns="0">
            <a:spAutoFit/>
          </a:bodyPr>
          <a:lstStyle/>
          <a:p>
            <a:pPr>
              <a:spcAft>
                <a:spcPts val="800"/>
              </a:spcAft>
              <a:defRPr sz="2900" b="0">
                <a:solidFill>
                  <a:srgbClr val="24384B"/>
                </a:solidFill>
                <a:latin typeface="Arial"/>
              </a:defRPr>
            </a:pPr>
            <a:r>
              <a:t>What is one whole in this model, and how would more than one whole appear?</a:t>
            </a:r>
          </a:p>
        </p:txBody>
      </p:sp>
      <p:sp>
        <p:nvSpPr>
          <p:cNvPr id="7" name="TextBox 6"/>
          <p:cNvSpPr txBox="1"/>
          <p:nvPr/>
        </p:nvSpPr>
        <p:spPr>
          <a:xfrm>
            <a:off x="621792" y="4590288"/>
            <a:ext cx="6629400" cy="960120"/>
          </a:xfrm>
          <a:prstGeom prst="rect">
            <a:avLst/>
          </a:prstGeom>
          <a:noFill/>
        </p:spPr>
        <p:txBody>
          <a:bodyPr wrap="square" lIns="0" tIns="22860" rIns="0" bIns="0">
            <a:spAutoFit/>
          </a:bodyPr>
          <a:lstStyle/>
          <a:p>
            <a:pPr>
              <a:spcAft>
                <a:spcPts val="800"/>
              </a:spcAft>
              <a:defRPr sz="2300" b="0">
                <a:solidFill>
                  <a:srgbClr val="24384B"/>
                </a:solidFill>
                <a:latin typeface="Arial"/>
              </a:defRPr>
            </a:pPr>
            <a:r>
              <a:t>Point to evidence in your work.</a:t>
            </a:r>
          </a:p>
          <a:p>
            <a:pPr>
              <a:spcAft>
                <a:spcPts val="800"/>
              </a:spcAft>
              <a:defRPr sz="2300" b="0">
                <a:solidFill>
                  <a:srgbClr val="24384B"/>
                </a:solidFill>
                <a:latin typeface="Arial"/>
              </a:defRPr>
            </a:pPr>
            <a: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82712" y="2066543"/>
            <a:ext cx="320040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TAKE TURNS</a:t>
            </a:r>
          </a:p>
        </p:txBody>
      </p:sp>
      <p:sp>
        <p:nvSpPr>
          <p:cNvPr id="10" name="TextBox 9"/>
          <p:cNvSpPr txBox="1"/>
          <p:nvPr/>
        </p:nvSpPr>
        <p:spPr>
          <a:xfrm>
            <a:off x="7982712" y="2715768"/>
            <a:ext cx="3200400" cy="2606040"/>
          </a:xfrm>
          <a:prstGeom prst="rect">
            <a:avLst/>
          </a:prstGeom>
          <a:noFill/>
        </p:spPr>
        <p:txBody>
          <a:bodyPr wrap="square" lIns="0" tIns="22860" rIns="0" bIns="0">
            <a:spAutoFit/>
          </a:bodyPr>
          <a:lstStyle/>
          <a:p>
            <a:pPr>
              <a:spcAft>
                <a:spcPts val="800"/>
              </a:spcAft>
              <a:defRPr sz="2200" b="0">
                <a:solidFill>
                  <a:srgbClr val="24384B"/>
                </a:solidFill>
                <a:latin typeface="Arial"/>
              </a:defRPr>
            </a:pPr>
            <a:r>
              <a:t>Explain</a:t>
            </a:r>
          </a:p>
          <a:p>
            <a:pPr>
              <a:spcAft>
                <a:spcPts val="800"/>
              </a:spcAft>
              <a:defRPr sz="2200" b="0">
                <a:solidFill>
                  <a:srgbClr val="24384B"/>
                </a:solidFill>
                <a:latin typeface="Arial"/>
              </a:defRPr>
            </a:pPr>
            <a:r>
              <a:t>“I know this because…”</a:t>
            </a:r>
          </a:p>
          <a:p>
            <a:pPr>
              <a:spcAft>
                <a:spcPts val="800"/>
              </a:spcAft>
              <a:defRPr sz="2200" b="0">
                <a:solidFill>
                  <a:srgbClr val="24384B"/>
                </a:solidFill>
                <a:latin typeface="Arial"/>
              </a:defRPr>
            </a:pPr>
            <a:endParaRPr/>
          </a:p>
          <a:p>
            <a:pPr>
              <a:spcAft>
                <a:spcPts val="800"/>
              </a:spcAft>
              <a:defRPr sz="2200" b="0">
                <a:solidFill>
                  <a:srgbClr val="24384B"/>
                </a:solidFill>
                <a:latin typeface="Arial"/>
              </a:defRPr>
            </a:pPr>
            <a:r>
              <a:t>Ask</a:t>
            </a:r>
          </a:p>
          <a:p>
            <a:pPr>
              <a:spcAft>
                <a:spcPts val="800"/>
              </a:spcAft>
              <a:defRPr sz="2200" b="0">
                <a:solidFill>
                  <a:srgbClr val="24384B"/>
                </a:solidFill>
                <a:latin typeface="Arial"/>
              </a:defRPr>
            </a:pPr>
            <a: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Google Shape;621;p61"/>
          <p:cNvSpPr txBox="1"/>
          <p:nvPr/>
        </p:nvSpPr>
        <p:spPr>
          <a:xfrm>
            <a:off x="484564" y="936100"/>
            <a:ext cx="8077545" cy="26956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We know that four out of every ten voters selected the tiger as the new mascot.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pPr>
            <a:endParaRPr sz="2800" b="0"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62626"/>
                </a:solidFill>
                <a:latin typeface="Arial"/>
                <a:ea typeface="Arial"/>
                <a:cs typeface="Arial"/>
                <a:sym typeface="Arial"/>
              </a:rPr>
              <a:t>What type of relationship is “four out of every ten voters”?</a:t>
            </a:r>
            <a:endParaRPr sz="1400" b="0" i="0" u="none" strike="noStrike" cap="none">
              <a:solidFill>
                <a:srgbClr val="000000"/>
              </a:solidFill>
              <a:latin typeface="Arial"/>
              <a:ea typeface="Arial"/>
              <a:cs typeface="Arial"/>
              <a:sym typeface="Arial"/>
            </a:endParaRPr>
          </a:p>
        </p:txBody>
      </p:sp>
      <p:cxnSp>
        <p:nvCxnSpPr>
          <p:cNvPr id="622" name="Google Shape;622;p6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23" name="Google Shape;623;p61"/>
          <p:cNvSpPr txBox="1"/>
          <p:nvPr/>
        </p:nvSpPr>
        <p:spPr>
          <a:xfrm>
            <a:off x="484564" y="5193230"/>
            <a:ext cx="5960624" cy="11471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It is a ratio relationship. </a:t>
            </a:r>
            <a:endParaRPr sz="1400" b="0" i="0" u="none" strike="noStrike" cap="none">
              <a:solidFill>
                <a:srgbClr val="000000"/>
              </a:solidFill>
              <a:latin typeface="Arial"/>
              <a:ea typeface="Arial"/>
              <a:cs typeface="Arial"/>
              <a:sym typeface="Arial"/>
            </a:endParaRPr>
          </a:p>
        </p:txBody>
      </p:sp>
      <p:sp>
        <p:nvSpPr>
          <p:cNvPr id="624" name="Google Shape;624;p61"/>
          <p:cNvSpPr txBox="1"/>
          <p:nvPr/>
        </p:nvSpPr>
        <p:spPr>
          <a:xfrm>
            <a:off x="484565" y="316034"/>
            <a:ext cx="5641027" cy="39995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Middle School Mascot</a:t>
            </a:r>
            <a:endParaRPr sz="1400" b="0" i="0" u="none" strike="noStrike" cap="non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22 / 40</a:t>
            </a:r>
          </a:p>
        </p:txBody>
      </p:sp>
      <p:sp>
        <p:nvSpPr>
          <p:cNvPr id="900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26" name="Google Shape;826;p8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27" name="Google Shape;827;p85"/>
          <p:cNvSpPr txBox="1"/>
          <p:nvPr/>
        </p:nvSpPr>
        <p:spPr>
          <a:xfrm>
            <a:off x="474055" y="936100"/>
            <a:ext cx="4468882" cy="13452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How are they the same?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How are they different?</a:t>
            </a:r>
            <a:endParaRPr sz="1400" b="0" i="0" u="none" strike="noStrike" cap="none">
              <a:solidFill>
                <a:srgbClr val="000000"/>
              </a:solidFill>
              <a:latin typeface="Arial"/>
              <a:ea typeface="Arial"/>
              <a:cs typeface="Arial"/>
              <a:sym typeface="Arial"/>
            </a:endParaRPr>
          </a:p>
        </p:txBody>
      </p:sp>
      <p:sp>
        <p:nvSpPr>
          <p:cNvPr id="828" name="Google Shape;828;p85"/>
          <p:cNvSpPr txBox="1"/>
          <p:nvPr/>
        </p:nvSpPr>
        <p:spPr>
          <a:xfrm>
            <a:off x="474055" y="316034"/>
            <a:ext cx="3904129" cy="47759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B050"/>
              </a:buClr>
              <a:buSzPts val="2800"/>
              <a:buFont typeface="Arial"/>
              <a:buNone/>
            </a:pPr>
            <a:r>
              <a:rPr lang="en-US" sz="2800" b="1" i="0" u="none" strike="noStrike" cap="none">
                <a:solidFill>
                  <a:srgbClr val="00B050"/>
                </a:solidFill>
                <a:latin typeface="Arial"/>
                <a:ea typeface="Arial"/>
                <a:cs typeface="Arial"/>
                <a:sym typeface="Arial"/>
              </a:rPr>
              <a:t>Be Curious</a:t>
            </a:r>
            <a:endParaRPr sz="1400" b="0" i="0" u="none" strike="noStrike" cap="none">
              <a:solidFill>
                <a:srgbClr val="000000"/>
              </a:solidFill>
              <a:latin typeface="Arial"/>
              <a:ea typeface="Arial"/>
              <a:cs typeface="Arial"/>
              <a:sym typeface="Arial"/>
            </a:endParaRPr>
          </a:p>
        </p:txBody>
      </p:sp>
      <p:pic>
        <p:nvPicPr>
          <p:cNvPr id="829" name="Google Shape;829;p85"/>
          <p:cNvPicPr preferRelativeResize="0"/>
          <p:nvPr/>
        </p:nvPicPr>
        <p:blipFill rotWithShape="1">
          <a:blip r:embed="rId3">
            <a:alphaModFix/>
          </a:blip>
          <a:srcRect/>
          <a:stretch/>
        </p:blipFill>
        <p:spPr>
          <a:xfrm>
            <a:off x="6118657" y="2475641"/>
            <a:ext cx="1857375" cy="1857375"/>
          </a:xfrm>
          <a:prstGeom prst="rect">
            <a:avLst/>
          </a:prstGeom>
          <a:noFill/>
          <a:ln>
            <a:noFill/>
          </a:ln>
        </p:spPr>
      </p:pic>
      <p:pic>
        <p:nvPicPr>
          <p:cNvPr id="830" name="Google Shape;830;p85"/>
          <p:cNvPicPr preferRelativeResize="0"/>
          <p:nvPr/>
        </p:nvPicPr>
        <p:blipFill rotWithShape="1">
          <a:blip r:embed="rId4">
            <a:alphaModFix/>
          </a:blip>
          <a:srcRect/>
          <a:stretch/>
        </p:blipFill>
        <p:spPr>
          <a:xfrm>
            <a:off x="990929" y="3111237"/>
            <a:ext cx="4581234" cy="399792"/>
          </a:xfrm>
          <a:prstGeom prst="rect">
            <a:avLst/>
          </a:prstGeom>
          <a:noFill/>
          <a:ln>
            <a:noFill/>
          </a:ln>
        </p:spPr>
      </p:pic>
      <p:pic>
        <p:nvPicPr>
          <p:cNvPr id="831" name="Google Shape;831;p85"/>
          <p:cNvPicPr preferRelativeResize="0"/>
          <p:nvPr/>
        </p:nvPicPr>
        <p:blipFill rotWithShape="1">
          <a:blip r:embed="rId5">
            <a:alphaModFix/>
          </a:blip>
          <a:srcRect/>
          <a:stretch/>
        </p:blipFill>
        <p:spPr>
          <a:xfrm>
            <a:off x="474054" y="5083700"/>
            <a:ext cx="5054600" cy="838200"/>
          </a:xfrm>
          <a:prstGeom prst="rect">
            <a:avLst/>
          </a:prstGeom>
          <a:noFill/>
          <a:ln>
            <a:noFill/>
          </a:ln>
        </p:spPr>
      </p:pic>
      <p:sp>
        <p:nvSpPr>
          <p:cNvPr id="832" name="Google Shape;832;p85"/>
          <p:cNvSpPr txBox="1"/>
          <p:nvPr/>
        </p:nvSpPr>
        <p:spPr>
          <a:xfrm>
            <a:off x="3334071" y="5241018"/>
            <a:ext cx="2194584" cy="6397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Mindset</a:t>
            </a:r>
            <a:endParaRPr sz="1400" b="0" i="0" u="none" strike="noStrike" cap="none">
              <a:solidFill>
                <a:srgbClr val="000000"/>
              </a:solidFill>
              <a:latin typeface="Arial"/>
              <a:ea typeface="Arial"/>
              <a:cs typeface="Arial"/>
              <a:sym typeface="Arial"/>
            </a:endParaRPr>
          </a:p>
        </p:txBody>
      </p:sp>
      <p:sp>
        <p:nvSpPr>
          <p:cNvPr id="833" name="Google Shape;833;p85"/>
          <p:cNvSpPr/>
          <p:nvPr/>
        </p:nvSpPr>
        <p:spPr>
          <a:xfrm>
            <a:off x="687250" y="5899023"/>
            <a:ext cx="10741420"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How is a new perspective helping you with your work in math?</a:t>
            </a:r>
            <a:endParaRPr sz="1400" b="0" i="0" u="none" strike="noStrike" cap="non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23 / 40</a:t>
            </a:r>
          </a:p>
        </p:txBody>
      </p:sp>
      <p:sp>
        <p:nvSpPr>
          <p:cNvPr id="9003"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400" b="0" i="0" u="none" strike="noStrike" cap="none">
                <a:solidFill>
                  <a:srgbClr val="FFFFFF"/>
                </a:solidFill>
                <a:latin typeface="Arial"/>
                <a:ea typeface="Arial"/>
                <a:cs typeface="Arial"/>
                <a:sym typeface="Arial"/>
              </a:rPr>
              <a:t>Lesson 4-1 · Understand Percent</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2500" b="1" i="0" u="none" strike="noStrike" cap="non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0" i="1" u="none" strike="noStrike" cap="none">
                <a:solidFill>
                  <a:srgbClr val="2D3A40"/>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A percent is a ratio that compares a number to:</a:t>
            </a:r>
            <a:endParaRPr/>
          </a:p>
        </p:txBody>
      </p:sp>
      <p:sp>
        <p:nvSpPr>
          <p:cNvPr id="273" name="Google Shape;273;p43"/>
          <p:cNvSpPr/>
          <p:nvPr/>
        </p:nvSpPr>
        <p:spPr>
          <a:xfrm>
            <a:off x="1444752" y="253288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10</a:t>
            </a:r>
            <a:endParaRPr/>
          </a:p>
        </p:txBody>
      </p:sp>
      <p:sp>
        <p:nvSpPr>
          <p:cNvPr id="276" name="Google Shape;276;p43"/>
          <p:cNvSpPr/>
          <p:nvPr/>
        </p:nvSpPr>
        <p:spPr>
          <a:xfrm>
            <a:off x="1444752" y="285292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100</a:t>
            </a:r>
            <a:endParaRPr/>
          </a:p>
        </p:txBody>
      </p:sp>
      <p:sp>
        <p:nvSpPr>
          <p:cNvPr id="279" name="Google Shape;279;p43"/>
          <p:cNvSpPr/>
          <p:nvPr/>
        </p:nvSpPr>
        <p:spPr>
          <a:xfrm>
            <a:off x="1444752" y="317296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1,000</a:t>
            </a:r>
            <a:endParaRPr/>
          </a:p>
        </p:txBody>
      </p:sp>
      <p:sp>
        <p:nvSpPr>
          <p:cNvPr id="282" name="Google Shape;282;p43"/>
          <p:cNvSpPr/>
          <p:nvPr/>
        </p:nvSpPr>
        <p:spPr>
          <a:xfrm>
            <a:off x="1444752" y="349300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a:t>
            </a:r>
            <a:endParaRPr/>
          </a:p>
        </p:txBody>
      </p:sp>
      <p:sp>
        <p:nvSpPr>
          <p:cNvPr id="285" name="Google Shape;285;p43"/>
          <p:cNvSpPr/>
          <p:nvPr/>
        </p:nvSpPr>
        <p:spPr>
          <a:xfrm>
            <a:off x="6260576" y="1828800"/>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What percent is represented by 40 out of 100?</a:t>
            </a:r>
            <a:endParaRPr/>
          </a:p>
        </p:txBody>
      </p:sp>
      <p:sp>
        <p:nvSpPr>
          <p:cNvPr id="289" name="Google Shape;289;p43"/>
          <p:cNvSpPr/>
          <p:nvPr/>
        </p:nvSpPr>
        <p:spPr>
          <a:xfrm>
            <a:off x="7068312" y="253288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4%</a:t>
            </a:r>
            <a:endParaRPr/>
          </a:p>
        </p:txBody>
      </p:sp>
      <p:sp>
        <p:nvSpPr>
          <p:cNvPr id="292" name="Google Shape;292;p43"/>
          <p:cNvSpPr/>
          <p:nvPr/>
        </p:nvSpPr>
        <p:spPr>
          <a:xfrm>
            <a:off x="7068312" y="285292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40%</a:t>
            </a:r>
            <a:endParaRPr/>
          </a:p>
        </p:txBody>
      </p:sp>
      <p:sp>
        <p:nvSpPr>
          <p:cNvPr id="295" name="Google Shape;295;p43"/>
          <p:cNvSpPr/>
          <p:nvPr/>
        </p:nvSpPr>
        <p:spPr>
          <a:xfrm>
            <a:off x="7068312" y="317296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400%</a:t>
            </a:r>
            <a:endParaRPr/>
          </a:p>
        </p:txBody>
      </p:sp>
      <p:sp>
        <p:nvSpPr>
          <p:cNvPr id="298" name="Google Shape;298;p43"/>
          <p:cNvSpPr/>
          <p:nvPr/>
        </p:nvSpPr>
        <p:spPr>
          <a:xfrm>
            <a:off x="7068312" y="349300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0.4%</a:t>
            </a:r>
            <a:endParaRPr/>
          </a:p>
        </p:txBody>
      </p:sp>
      <p:sp>
        <p:nvSpPr>
          <p:cNvPr id="301" name="Google Shape;301;p43"/>
          <p:cNvSpPr/>
          <p:nvPr/>
        </p:nvSpPr>
        <p:spPr>
          <a:xfrm>
            <a:off x="640080" y="4133088"/>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On a 10 × 10 grid, 1.5 whole grids shaded equals:</a:t>
            </a:r>
            <a:endParaRPr/>
          </a:p>
        </p:txBody>
      </p:sp>
      <p:sp>
        <p:nvSpPr>
          <p:cNvPr id="305" name="Google Shape;305;p43"/>
          <p:cNvSpPr/>
          <p:nvPr/>
        </p:nvSpPr>
        <p:spPr>
          <a:xfrm>
            <a:off x="1444752" y="483717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15%</a:t>
            </a:r>
            <a:endParaRPr/>
          </a:p>
        </p:txBody>
      </p:sp>
      <p:sp>
        <p:nvSpPr>
          <p:cNvPr id="308" name="Google Shape;308;p43"/>
          <p:cNvSpPr/>
          <p:nvPr/>
        </p:nvSpPr>
        <p:spPr>
          <a:xfrm>
            <a:off x="1444752" y="515721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150%</a:t>
            </a:r>
            <a:endParaRPr/>
          </a:p>
        </p:txBody>
      </p:sp>
      <p:sp>
        <p:nvSpPr>
          <p:cNvPr id="311" name="Google Shape;311;p43"/>
          <p:cNvSpPr/>
          <p:nvPr/>
        </p:nvSpPr>
        <p:spPr>
          <a:xfrm>
            <a:off x="1444752" y="547725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1.5%</a:t>
            </a:r>
            <a:endParaRPr/>
          </a:p>
        </p:txBody>
      </p:sp>
      <p:sp>
        <p:nvSpPr>
          <p:cNvPr id="314" name="Google Shape;314;p43"/>
          <p:cNvSpPr/>
          <p:nvPr/>
        </p:nvSpPr>
        <p:spPr>
          <a:xfrm>
            <a:off x="1444752" y="579729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1500%</a:t>
            </a:r>
            <a:endParaRPr/>
          </a:p>
        </p:txBody>
      </p:sp>
      <p:sp>
        <p:nvSpPr>
          <p:cNvPr id="317" name="Google Shape;317;p43"/>
          <p:cNvSpPr/>
          <p:nvPr/>
        </p:nvSpPr>
        <p:spPr>
          <a:xfrm>
            <a:off x="6260576" y="4133088"/>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The symbol % literally means:</a:t>
            </a:r>
            <a:endParaRPr/>
          </a:p>
        </p:txBody>
      </p:sp>
      <p:sp>
        <p:nvSpPr>
          <p:cNvPr id="321" name="Google Shape;321;p43"/>
          <p:cNvSpPr/>
          <p:nvPr/>
        </p:nvSpPr>
        <p:spPr>
          <a:xfrm>
            <a:off x="7068312" y="483717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Times ten</a:t>
            </a:r>
            <a:endParaRPr/>
          </a:p>
        </p:txBody>
      </p:sp>
      <p:sp>
        <p:nvSpPr>
          <p:cNvPr id="324" name="Google Shape;324;p43"/>
          <p:cNvSpPr/>
          <p:nvPr/>
        </p:nvSpPr>
        <p:spPr>
          <a:xfrm>
            <a:off x="7068312" y="515721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Per hundred</a:t>
            </a:r>
            <a:endParaRPr/>
          </a:p>
        </p:txBody>
      </p:sp>
      <p:sp>
        <p:nvSpPr>
          <p:cNvPr id="327" name="Google Shape;327;p43"/>
          <p:cNvSpPr/>
          <p:nvPr/>
        </p:nvSpPr>
        <p:spPr>
          <a:xfrm>
            <a:off x="7068312" y="547725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Plus fifty</a:t>
            </a:r>
            <a:endParaRPr/>
          </a:p>
        </p:txBody>
      </p:sp>
      <p:sp>
        <p:nvSpPr>
          <p:cNvPr id="330" name="Google Shape;330;p43"/>
          <p:cNvSpPr/>
          <p:nvPr/>
        </p:nvSpPr>
        <p:spPr>
          <a:xfrm>
            <a:off x="7068312" y="579729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Divided by zero</a:t>
            </a:r>
            <a:endParaRPr/>
          </a:p>
        </p:txBody>
      </p:sp>
      <p:sp>
        <p:nvSpPr>
          <p:cNvPr id="33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24 / 40</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25 / 40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400" b="0" i="0" u="none" strike="noStrike" cap="none">
                <a:solidFill>
                  <a:srgbClr val="FFFFFF"/>
                </a:solidFill>
                <a:latin typeface="Arial"/>
                <a:ea typeface="Arial"/>
                <a:cs typeface="Arial"/>
                <a:sym typeface="Arial"/>
              </a:rPr>
              <a:t>Lesson 4-1 · Understand Percent</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2500" b="1" i="0" u="none" strike="noStrike" cap="non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name="adj" fmla="val 30000"/>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Percent as Ratio</a:t>
            </a:r>
            <a:endParaRPr/>
          </a:p>
        </p:txBody>
      </p:sp>
      <p:sp>
        <p:nvSpPr>
          <p:cNvPr id="533" name="Google Shape;533;p53"/>
          <p:cNvSpPr txBox="1"/>
          <p:nvPr/>
        </p:nvSpPr>
        <p:spPr>
          <a:xfrm>
            <a:off x="1389888" y="27066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A </a:t>
            </a:r>
            <a:r>
              <a:rPr lang="en-US" sz="1450" b="1" i="0" u="none" strike="noStrike" cap="none">
                <a:solidFill>
                  <a:srgbClr val="475569"/>
                </a:solidFill>
                <a:latin typeface="Arial"/>
                <a:ea typeface="Arial"/>
                <a:cs typeface="Arial"/>
                <a:sym typeface="Arial"/>
              </a:rPr>
              <a:t>percent</a:t>
            </a:r>
            <a:r>
              <a:rPr lang="en-US" sz="1450" b="0" i="0" u="none" strike="noStrike" cap="none">
                <a:solidFill>
                  <a:srgbClr val="475569"/>
                </a:solidFill>
                <a:latin typeface="Arial"/>
                <a:ea typeface="Arial"/>
                <a:cs typeface="Arial"/>
                <a:sym typeface="Arial"/>
              </a:rPr>
              <a:t> is a special </a:t>
            </a:r>
            <a:r>
              <a:rPr lang="en-US" sz="1450" b="1" i="0" u="none" strike="noStrike" cap="none">
                <a:solidFill>
                  <a:srgbClr val="475569"/>
                </a:solidFill>
                <a:latin typeface="Arial"/>
                <a:ea typeface="Arial"/>
                <a:cs typeface="Arial"/>
                <a:sym typeface="Arial"/>
              </a:rPr>
              <a:t>ratio</a:t>
            </a:r>
            <a:r>
              <a:rPr lang="en-US" sz="1450" b="0" i="0" u="none" strike="noStrike" cap="none">
                <a:solidFill>
                  <a:srgbClr val="475569"/>
                </a:solidFill>
                <a:latin typeface="Arial"/>
                <a:ea typeface="Arial"/>
                <a:cs typeface="Arial"/>
                <a:sym typeface="Arial"/>
              </a:rPr>
              <a:t> comparing a quantity to a base of 100.</a:t>
            </a:r>
            <a:endParaRPr/>
          </a:p>
        </p:txBody>
      </p:sp>
      <p:sp>
        <p:nvSpPr>
          <p:cNvPr id="534" name="Google Shape;534;p53"/>
          <p:cNvSpPr/>
          <p:nvPr/>
        </p:nvSpPr>
        <p:spPr>
          <a:xfrm>
            <a:off x="640080" y="35844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Grid Models</a:t>
            </a:r>
            <a:endParaRPr/>
          </a:p>
        </p:txBody>
      </p:sp>
      <p:sp>
        <p:nvSpPr>
          <p:cNvPr id="538" name="Google Shape;538;p53"/>
          <p:cNvSpPr txBox="1"/>
          <p:nvPr/>
        </p:nvSpPr>
        <p:spPr>
          <a:xfrm>
            <a:off x="1389888" y="40782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A full 10 × 10 </a:t>
            </a:r>
            <a:r>
              <a:rPr lang="en-US" sz="1450" b="1" i="0" u="none" strike="noStrike" cap="none">
                <a:solidFill>
                  <a:srgbClr val="475569"/>
                </a:solidFill>
                <a:latin typeface="Arial"/>
                <a:ea typeface="Arial"/>
                <a:cs typeface="Arial"/>
                <a:sym typeface="Arial"/>
              </a:rPr>
              <a:t>hundredths grid</a:t>
            </a:r>
            <a:r>
              <a:rPr lang="en-US" sz="1450" b="0" i="0" u="none" strike="noStrike" cap="none">
                <a:solidFill>
                  <a:srgbClr val="475569"/>
                </a:solidFill>
                <a:latin typeface="Arial"/>
                <a:ea typeface="Arial"/>
                <a:cs typeface="Arial"/>
                <a:sym typeface="Arial"/>
              </a:rPr>
              <a:t> equals 100%. More than one grid represents over 100%.</a:t>
            </a:r>
            <a:endParaRPr/>
          </a:p>
        </p:txBody>
      </p:sp>
      <p:sp>
        <p:nvSpPr>
          <p:cNvPr id="539" name="Google Shape;539;p53"/>
          <p:cNvSpPr/>
          <p:nvPr/>
        </p:nvSpPr>
        <p:spPr>
          <a:xfrm>
            <a:off x="640080" y="49560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Equivalent Rates</a:t>
            </a:r>
            <a:endParaRPr/>
          </a:p>
        </p:txBody>
      </p:sp>
      <p:sp>
        <p:nvSpPr>
          <p:cNvPr id="543" name="Google Shape;543;p53"/>
          <p:cNvSpPr txBox="1"/>
          <p:nvPr/>
        </p:nvSpPr>
        <p:spPr>
          <a:xfrm>
            <a:off x="1389888" y="54498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Scale parts to 100 to quickly convert common ratios to percentages.</a:t>
            </a:r>
            <a:endParaRPr/>
          </a:p>
        </p:txBody>
      </p:sp>
      <p:sp>
        <p:nvSpPr>
          <p:cNvPr id="54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26 / 40</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42"/>
        <p:cNvGrpSpPr/>
        <p:nvPr/>
      </p:nvGrpSpPr>
      <p:grpSpPr>
        <a:xfrm>
          <a:off x="0" y="0"/>
          <a:ext cx="0" cy="0"/>
          <a:chOff x="0" y="0"/>
          <a:chExt cx="0" cy="0"/>
        </a:xfrm>
      </p:grpSpPr>
      <p:sp>
        <p:nvSpPr>
          <p:cNvPr id="743" name="Google Shape;743;p73"/>
          <p:cNvSpPr txBox="1"/>
          <p:nvPr/>
        </p:nvSpPr>
        <p:spPr>
          <a:xfrm>
            <a:off x="1402828" y="2453950"/>
            <a:ext cx="9144000" cy="21764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600"/>
              <a:buFont typeface="Arial"/>
              <a:buNone/>
              <a:defRPr/>
            </a:pPr>
            <a:r>
              <a:rPr lang="en-US" sz="3600" b="1" i="0" u="none" strike="noStrike" cap="none">
                <a:solidFill>
                  <a:schemeClr val="dk1"/>
                </a:solidFill>
                <a:latin typeface="Arial"/>
                <a:ea typeface="Arial"/>
                <a:cs typeface="Arial"/>
                <a:sym typeface="Arial"/>
              </a:rPr>
              <a:t>Understand Percent</a:t>
            </a:r>
            <a:endParaRPr sz="1400" b="0" i="0" u="none" strike="noStrike" cap="none">
              <a:solidFill>
                <a:srgbClr val="000000"/>
              </a:solidFill>
              <a:latin typeface="Arial"/>
              <a:ea typeface="Arial"/>
              <a:cs typeface="Arial"/>
              <a:sym typeface="Arial"/>
            </a:endParaRPr>
          </a:p>
        </p:txBody>
      </p:sp>
      <p:sp>
        <p:nvSpPr>
          <p:cNvPr id="744" name="Google Shape;744;p73"/>
          <p:cNvSpPr/>
          <p:nvPr/>
        </p:nvSpPr>
        <p:spPr>
          <a:xfrm>
            <a:off x="1402828" y="1037162"/>
            <a:ext cx="1763624"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rgbClr val="01708C"/>
                </a:solidFill>
                <a:latin typeface="Arial"/>
                <a:ea typeface="Arial"/>
                <a:cs typeface="Arial"/>
                <a:sym typeface="Arial"/>
              </a:rPr>
              <a:t>Session 2</a:t>
            </a:r>
            <a:endParaRPr sz="2800" b="1" i="0" u="none" strike="noStrike" cap="none">
              <a:solidFill>
                <a:srgbClr val="01708C"/>
              </a:solidFill>
              <a:latin typeface="Arial"/>
              <a:ea typeface="Arial"/>
              <a:cs typeface="Arial"/>
              <a:sym typeface="Arial"/>
            </a:endParaRPr>
          </a:p>
        </p:txBody>
      </p:sp>
      <p:cxnSp>
        <p:nvCxnSpPr>
          <p:cNvPr id="745" name="Google Shape;745;p73"/>
          <p:cNvCxnSpPr/>
          <p:nvPr/>
        </p:nvCxnSpPr>
        <p:spPr>
          <a:xfrm>
            <a:off x="-1" y="1560382"/>
            <a:ext cx="3166453" cy="0"/>
          </a:xfrm>
          <a:prstGeom prst="straightConnector1">
            <a:avLst/>
          </a:prstGeom>
          <a:noFill/>
          <a:ln w="19050" cap="flat" cmpd="sng">
            <a:solidFill>
              <a:srgbClr val="01708C"/>
            </a:solidFill>
            <a:prstDash val="solid"/>
            <a:miter lim="80"/>
            <a:headEnd type="none" w="sm" len="sm"/>
            <a:tailEnd type="none" w="sm" len="sm"/>
          </a:ln>
        </p:spPr>
      </p:cxnSp>
      <p:sp>
        <p:nvSpPr>
          <p:cNvPr id="74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27 / 40</a:t>
            </a:r>
          </a:p>
        </p:txBody>
      </p:sp>
      <p:grpSp>
        <p:nvGrpSpPr>
          <p:cNvPr id="747" name="TEACH-5-student-move" descr="TEACH 5 · Facilitate student interactions and academic talk"/>
          <p:cNvGrpSpPr/>
          <p:nvPr/>
        </p:nvGrpSpPr>
        <p:grpSpPr>
          <a:xfrm>
            <a:off x="502920" y="3201929"/>
            <a:ext cx="11186160" cy="731520"/>
            <a:chOff x="502920" y="3201929"/>
            <a:chExt cx="11186160" cy="731520"/>
          </a:xfrm>
        </p:grpSpPr>
        <p:sp>
          <p:nvSpPr>
            <p:cNvPr id="74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75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TAKE TURNS  ·  </a:t>
              </a:r>
              <a:r>
                <a:rPr lang="en-US" sz="1800" dirty="0">
                  <a:solidFill>
                    <a:srgbClr val="13303A"/>
                  </a:solidFill>
                  <a:latin typeface="Arial"/>
                </a:rPr>
                <a:t>One explains, one asks a question. Then switch, so both of you talk.</a:t>
              </a:r>
              <a:endParaRPr lang="en-US" sz="18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cxnSp>
        <p:nvCxnSpPr>
          <p:cNvPr id="838" name="Google Shape;838;p86"/>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39" name="Google Shape;839;p86"/>
          <p:cNvSpPr txBox="1"/>
          <p:nvPr/>
        </p:nvSpPr>
        <p:spPr>
          <a:xfrm>
            <a:off x="484565" y="936100"/>
            <a:ext cx="7709100" cy="426397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Shanice’s cat had two kittens, a gray kitten and an orange kitten. The orange kitten weighs 1.5 times as much as the gray kitten.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What percent of the gray kitten’s weight does the orange kitten weigh?</a:t>
            </a:r>
            <a:endParaRPr sz="1400" b="0" i="0" u="none" strike="noStrike" cap="none">
              <a:solidFill>
                <a:srgbClr val="000000"/>
              </a:solidFill>
              <a:latin typeface="Arial"/>
              <a:ea typeface="Arial"/>
              <a:cs typeface="Arial"/>
              <a:sym typeface="Arial"/>
            </a:endParaRPr>
          </a:p>
        </p:txBody>
      </p:sp>
      <p:sp>
        <p:nvSpPr>
          <p:cNvPr id="840" name="Google Shape;840;p86"/>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pic>
        <p:nvPicPr>
          <p:cNvPr id="841" name="Google Shape;841;p86"/>
          <p:cNvPicPr preferRelativeResize="0"/>
          <p:nvPr/>
        </p:nvPicPr>
        <p:blipFill rotWithShape="1">
          <a:blip r:embed="rId3">
            <a:alphaModFix/>
          </a:blip>
          <a:srcRect/>
          <a:stretch/>
        </p:blipFill>
        <p:spPr>
          <a:xfrm>
            <a:off x="8193665" y="1993196"/>
            <a:ext cx="3228975" cy="1857375"/>
          </a:xfrm>
          <a:prstGeom prst="rect">
            <a:avLst/>
          </a:prstGeom>
          <a:noFill/>
          <a:ln>
            <a:noFill/>
          </a:ln>
        </p:spPr>
      </p:pic>
      <p:sp>
        <p:nvSpPr>
          <p:cNvPr id="84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28 / 40</a:t>
            </a:r>
          </a:p>
        </p:txBody>
      </p:sp>
      <p:sp>
        <p:nvSpPr>
          <p:cNvPr id="84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cxnSp>
        <p:nvCxnSpPr>
          <p:cNvPr id="945" name="Google Shape;945;p98"/>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46" name="Google Shape;946;p98"/>
          <p:cNvSpPr txBox="1"/>
          <p:nvPr/>
        </p:nvSpPr>
        <p:spPr>
          <a:xfrm>
            <a:off x="484565" y="936100"/>
            <a:ext cx="7504890" cy="2816391"/>
          </a:xfrm>
          <a:prstGeom prst="rect">
            <a:avLst/>
          </a:prstGeom>
          <a:blipFill rotWithShape="1">
            <a:blip r:embed="rId3">
              <a:alphaModFix/>
            </a:blip>
            <a:stretch>
              <a:fillRect l="-1623" t="-2380" r="-325" b="-129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47" name="Google Shape;947;p98"/>
          <p:cNvSpPr txBox="1"/>
          <p:nvPr/>
        </p:nvSpPr>
        <p:spPr>
          <a:xfrm>
            <a:off x="484565" y="4813667"/>
            <a:ext cx="9608341" cy="15500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The gray kitten’s weight is the whole (100%). We want to know what percent of the gray kitten’s weight the orange kitten weighs.</a:t>
            </a:r>
            <a:endParaRPr sz="1400" b="0" i="0" u="none" strike="noStrike" cap="none">
              <a:solidFill>
                <a:srgbClr val="000000"/>
              </a:solidFill>
              <a:latin typeface="Arial"/>
              <a:ea typeface="Arial"/>
              <a:cs typeface="Arial"/>
              <a:sym typeface="Arial"/>
            </a:endParaRPr>
          </a:p>
        </p:txBody>
      </p:sp>
      <p:pic>
        <p:nvPicPr>
          <p:cNvPr id="948" name="Google Shape;948;p98"/>
          <p:cNvPicPr preferRelativeResize="0"/>
          <p:nvPr/>
        </p:nvPicPr>
        <p:blipFill rotWithShape="1">
          <a:blip r:embed="rId4">
            <a:alphaModFix/>
          </a:blip>
          <a:srcRect/>
          <a:stretch/>
        </p:blipFill>
        <p:spPr>
          <a:xfrm>
            <a:off x="8193665" y="1993196"/>
            <a:ext cx="3228975" cy="1857375"/>
          </a:xfrm>
          <a:prstGeom prst="rect">
            <a:avLst/>
          </a:prstGeom>
          <a:noFill/>
          <a:ln>
            <a:noFill/>
          </a:ln>
        </p:spPr>
      </p:pic>
      <p:sp>
        <p:nvSpPr>
          <p:cNvPr id="949" name="Google Shape;949;p98"/>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Share a connection to prior learning or lived experience.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29 / 40</a:t>
            </a:r>
          </a:p>
        </p:txBody>
      </p:sp>
      <p:sp>
        <p:nvSpPr>
          <p:cNvPr id="9003" name="EWL-COVER-1"/>
          <p:cNvSpPr/>
          <p:nvPr/>
        </p:nvSpPr>
        <p:spPr>
          <a:xfrm>
            <a:off x="429701" y="4758803"/>
            <a:ext cx="9718069" cy="1659768"/>
          </a:xfrm>
          <a:prstGeom prst="rect">
            <a:avLst/>
          </a:prstGeom>
          <a:solidFill>
            <a:srgbClr val="FFFFFF"/>
          </a:solidFill>
          <a:ln>
            <a:noFill/>
          </a:ln>
        </p:spPr>
        <p:txBody>
          <a:bodyPr/>
          <a:lstStyle/>
          <a:p>
            <a:endParaRPr/>
          </a:p>
        </p:txBody>
      </p:sp>
      <p:sp>
        <p:nvSpPr>
          <p:cNvPr id="9004"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cxnSp>
        <p:nvCxnSpPr>
          <p:cNvPr id="1036" name="Google Shape;1036;p108"/>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1037" name="Google Shape;1037;p108"/>
          <p:cNvSpPr txBox="1"/>
          <p:nvPr/>
        </p:nvSpPr>
        <p:spPr>
          <a:xfrm>
            <a:off x="484565" y="960120"/>
            <a:ext cx="6511457" cy="145674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The orange kitten weighs 1.5 times as much as the gray kitten. We can break this up into 1 and 0.5.</a:t>
            </a:r>
            <a:endParaRPr sz="1400" b="0" i="0" u="none" strike="noStrike" cap="none">
              <a:solidFill>
                <a:srgbClr val="000000"/>
              </a:solidFill>
              <a:latin typeface="Arial"/>
              <a:ea typeface="Arial"/>
              <a:cs typeface="Arial"/>
              <a:sym typeface="Arial"/>
            </a:endParaRPr>
          </a:p>
        </p:txBody>
      </p:sp>
      <p:pic>
        <p:nvPicPr>
          <p:cNvPr id="1038" name="Google Shape;1038;p108"/>
          <p:cNvPicPr preferRelativeResize="0"/>
          <p:nvPr/>
        </p:nvPicPr>
        <p:blipFill rotWithShape="1">
          <a:blip r:embed="rId3">
            <a:alphaModFix/>
          </a:blip>
          <a:srcRect/>
          <a:stretch/>
        </p:blipFill>
        <p:spPr>
          <a:xfrm>
            <a:off x="6154288" y="1807327"/>
            <a:ext cx="5876386" cy="2722343"/>
          </a:xfrm>
          <a:prstGeom prst="rect">
            <a:avLst/>
          </a:prstGeom>
          <a:noFill/>
          <a:ln>
            <a:noFill/>
          </a:ln>
        </p:spPr>
      </p:pic>
      <p:sp>
        <p:nvSpPr>
          <p:cNvPr id="1039" name="Google Shape;1039;p108"/>
          <p:cNvSpPr txBox="1"/>
          <p:nvPr/>
        </p:nvSpPr>
        <p:spPr>
          <a:xfrm>
            <a:off x="484565" y="4879001"/>
            <a:ext cx="11425990" cy="150094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add the percentages together to find the weight of the orange kitten, which is 150% of the weight of the gray kitten.</a:t>
            </a:r>
            <a:endParaRPr sz="1400" b="0" i="0" u="none" strike="noStrike" cap="none">
              <a:solidFill>
                <a:srgbClr val="000000"/>
              </a:solidFill>
              <a:latin typeface="Arial"/>
              <a:ea typeface="Arial"/>
              <a:cs typeface="Arial"/>
              <a:sym typeface="Arial"/>
            </a:endParaRPr>
          </a:p>
        </p:txBody>
      </p:sp>
      <p:sp>
        <p:nvSpPr>
          <p:cNvPr id="1040" name="Google Shape;1040;p108"/>
          <p:cNvSpPr txBox="1"/>
          <p:nvPr/>
        </p:nvSpPr>
        <p:spPr>
          <a:xfrm>
            <a:off x="484565" y="2240280"/>
            <a:ext cx="5267306" cy="16459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defRPr/>
            </a:pPr>
            <a:r>
              <a:rPr lang="en-US" sz="2000" b="0" i="0" u="none" strike="noStrike" cap="none">
                <a:solidFill>
                  <a:srgbClr val="23282D"/>
                </a:solidFill>
                <a:latin typeface="Arial"/>
                <a:ea typeface="Arial"/>
                <a:cs typeface="Arial"/>
                <a:sym typeface="Arial"/>
              </a:rPr>
              <a:t>Shade one whole tape diagram and 0.5, or half, of the other.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2800"/>
              <a:buFont typeface="Arial"/>
              <a:buNone/>
              <a:defRPr/>
            </a:pPr>
            <a:r>
              <a:rPr lang="en-US" sz="2000" b="1" i="0" u="none" strike="noStrike" cap="none">
                <a:solidFill>
                  <a:srgbClr val="23282D"/>
                </a:solidFill>
                <a:latin typeface="Arial"/>
                <a:ea typeface="Arial"/>
                <a:cs typeface="Arial"/>
                <a:sym typeface="Arial"/>
              </a:rPr>
              <a:t>How can we determine the weight of the orange kitten as a percent of the gray kitten using the tape diagrams?</a:t>
            </a:r>
            <a:endParaRPr sz="1400" b="0" i="0" u="none" strike="noStrike" cap="none">
              <a:solidFill>
                <a:srgbClr val="000000"/>
              </a:solidFill>
              <a:latin typeface="Arial"/>
              <a:ea typeface="Arial"/>
              <a:cs typeface="Arial"/>
              <a:sym typeface="Arial"/>
            </a:endParaRPr>
          </a:p>
        </p:txBody>
      </p:sp>
      <p:sp>
        <p:nvSpPr>
          <p:cNvPr id="1041" name="Google Shape;1041;p108"/>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sp>
        <p:nvSpPr>
          <p:cNvPr id="104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30 / 40</a:t>
            </a:r>
          </a:p>
        </p:txBody>
      </p:sp>
      <p:sp>
        <p:nvSpPr>
          <p:cNvPr id="1043" name="EWL-COVER-1"/>
          <p:cNvSpPr/>
          <p:nvPr/>
        </p:nvSpPr>
        <p:spPr>
          <a:xfrm>
            <a:off x="429701" y="4824137"/>
            <a:ext cx="11535718" cy="1610672"/>
          </a:xfrm>
          <a:prstGeom prst="rect">
            <a:avLst/>
          </a:prstGeom>
          <a:solidFill>
            <a:srgbClr val="FFFFFF"/>
          </a:solidFill>
          <a:ln>
            <a:noFill/>
          </a:ln>
        </p:spPr>
        <p:txBody>
          <a:bodyPr/>
          <a:lstStyle/>
          <a:p>
            <a:endParaRPr/>
          </a:p>
        </p:txBody>
      </p:sp>
      <p:grpSp>
        <p:nvGrpSpPr>
          <p:cNvPr id="1044" name="TEACH-4-student-move" descr="TEACH 4 · Monitor progress and provide feedback"/>
          <p:cNvGrpSpPr/>
          <p:nvPr/>
        </p:nvGrpSpPr>
        <p:grpSpPr>
          <a:xfrm>
            <a:off x="502920" y="4202345"/>
            <a:ext cx="5501640" cy="594360"/>
            <a:chOff x="502920" y="4202345"/>
            <a:chExt cx="5501640" cy="594360"/>
          </a:xfrm>
        </p:grpSpPr>
        <p:sp>
          <p:nvSpPr>
            <p:cNvPr id="1045" name="TEACH-move-card"/>
            <p:cNvSpPr/>
            <p:nvPr/>
          </p:nvSpPr>
          <p:spPr>
            <a:xfrm>
              <a:off x="502920" y="420234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46" name="TEACH-move-rule"/>
            <p:cNvSpPr/>
            <p:nvPr/>
          </p:nvSpPr>
          <p:spPr>
            <a:xfrm>
              <a:off x="548640" y="4315273"/>
              <a:ext cx="100584" cy="368504"/>
            </a:xfrm>
            <a:prstGeom prst="roundRect">
              <a:avLst>
                <a:gd name="adj" fmla="val 50000"/>
              </a:avLst>
            </a:prstGeom>
            <a:solidFill>
              <a:srgbClr val="01708C"/>
            </a:solidFill>
            <a:ln>
              <a:noFill/>
            </a:ln>
          </p:spPr>
          <p:txBody>
            <a:bodyPr/>
            <a:lstStyle/>
            <a:p>
              <a:endParaRPr/>
            </a:p>
          </p:txBody>
        </p:sp>
        <p:sp>
          <p:nvSpPr>
            <p:cNvPr id="1047" name="TEACH-move-text"/>
            <p:cNvSpPr txBox="1"/>
            <p:nvPr/>
          </p:nvSpPr>
          <p:spPr>
            <a:xfrm>
              <a:off x="822960" y="420234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cxnSp>
        <p:nvCxnSpPr>
          <p:cNvPr id="1101" name="Google Shape;1101;p11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1102" name="Google Shape;1102;p115"/>
          <p:cNvSpPr txBox="1"/>
          <p:nvPr/>
        </p:nvSpPr>
        <p:spPr>
          <a:xfrm>
            <a:off x="484565" y="936100"/>
            <a:ext cx="6636671" cy="3488118"/>
          </a:xfrm>
          <a:prstGeom prst="rect">
            <a:avLst/>
          </a:prstGeom>
          <a:blipFill rotWithShape="1">
            <a:blip r:embed="rId3">
              <a:alphaModFix/>
            </a:blip>
            <a:stretch>
              <a:fillRect l="-1837" t="-192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03" name="Google Shape;1103;p115"/>
          <p:cNvSpPr txBox="1"/>
          <p:nvPr/>
        </p:nvSpPr>
        <p:spPr>
          <a:xfrm>
            <a:off x="484565" y="5146880"/>
            <a:ext cx="7504890" cy="117628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We can write this ratio as 150%.</a:t>
            </a:r>
            <a:endParaRPr sz="1400" b="0" i="0" u="none" strike="noStrike" cap="none">
              <a:solidFill>
                <a:srgbClr val="000000"/>
              </a:solidFill>
              <a:latin typeface="Arial"/>
              <a:ea typeface="Arial"/>
              <a:cs typeface="Arial"/>
              <a:sym typeface="Arial"/>
            </a:endParaRPr>
          </a:p>
        </p:txBody>
      </p:sp>
      <p:pic>
        <p:nvPicPr>
          <p:cNvPr id="1104" name="Google Shape;1104;p115"/>
          <p:cNvPicPr preferRelativeResize="0"/>
          <p:nvPr/>
        </p:nvPicPr>
        <p:blipFill rotWithShape="1">
          <a:blip r:embed="rId4">
            <a:alphaModFix/>
          </a:blip>
          <a:srcRect/>
          <a:stretch/>
        </p:blipFill>
        <p:spPr>
          <a:xfrm>
            <a:off x="6394109" y="2081417"/>
            <a:ext cx="5146650" cy="1502440"/>
          </a:xfrm>
          <a:prstGeom prst="rect">
            <a:avLst/>
          </a:prstGeom>
          <a:noFill/>
          <a:ln>
            <a:noFill/>
          </a:ln>
        </p:spPr>
      </p:pic>
      <p:sp>
        <p:nvSpPr>
          <p:cNvPr id="1105" name="Google Shape;1105;p115"/>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sp>
        <p:nvSpPr>
          <p:cNvPr id="110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31 / 40</a:t>
            </a:r>
          </a:p>
        </p:txBody>
      </p:sp>
      <p:sp>
        <p:nvSpPr>
          <p:cNvPr id="1107" name="EWL-COVER-1"/>
          <p:cNvSpPr/>
          <p:nvPr/>
        </p:nvSpPr>
        <p:spPr>
          <a:xfrm>
            <a:off x="429701" y="5092016"/>
            <a:ext cx="7614618" cy="1286010"/>
          </a:xfrm>
          <a:prstGeom prst="rect">
            <a:avLst/>
          </a:prstGeom>
          <a:solidFill>
            <a:srgbClr val="FFFFFF"/>
          </a:solidFill>
          <a:ln>
            <a:noFill/>
          </a:ln>
        </p:spPr>
        <p:txBody>
          <a:bodyPr/>
          <a:lstStyle/>
          <a:p>
            <a:endParaRPr/>
          </a:p>
        </p:txBody>
      </p:sp>
      <p:sp>
        <p:nvSpPr>
          <p:cNvPr id="1108" name="TEACH-embedded-student-prompt" descr="Student thinking and response directions"/>
          <p:cNvSpPr txBox="1"/>
          <p:nvPr/>
        </p:nvSpPr>
        <p:spPr>
          <a:xfrm>
            <a:off x="7391400" y="38221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1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20"/>
        <p:cNvGrpSpPr/>
        <p:nvPr/>
      </p:nvGrpSpPr>
      <p:grpSpPr>
        <a:xfrm>
          <a:off x="0" y="0"/>
          <a:ext cx="0" cy="0"/>
          <a:chOff x="0" y="0"/>
          <a:chExt cx="0" cy="0"/>
        </a:xfrm>
      </p:grpSpPr>
      <p:cxnSp>
        <p:nvCxnSpPr>
          <p:cNvPr id="1121" name="Google Shape;1121;p11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1122" name="Google Shape;1122;p117"/>
          <p:cNvSpPr txBox="1"/>
          <p:nvPr/>
        </p:nvSpPr>
        <p:spPr>
          <a:xfrm>
            <a:off x="484564" y="936099"/>
            <a:ext cx="7504890" cy="237051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Shanice’s cat had two kittens, a gray kitten and an orange kitten. The orange kitten weighs 1.5 times as much as the gray kitten.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What percent of the gray kitten’s weight does the orange kitten weigh?</a:t>
            </a:r>
            <a:endParaRPr sz="1400" b="0" i="0" u="none" strike="noStrike" cap="none">
              <a:solidFill>
                <a:srgbClr val="000000"/>
              </a:solidFill>
              <a:latin typeface="Arial"/>
              <a:ea typeface="Arial"/>
              <a:cs typeface="Arial"/>
              <a:sym typeface="Arial"/>
            </a:endParaRPr>
          </a:p>
        </p:txBody>
      </p:sp>
      <p:pic>
        <p:nvPicPr>
          <p:cNvPr id="1123" name="Google Shape;1123;p117"/>
          <p:cNvPicPr preferRelativeResize="0"/>
          <p:nvPr/>
        </p:nvPicPr>
        <p:blipFill rotWithShape="1">
          <a:blip r:embed="rId3">
            <a:alphaModFix/>
          </a:blip>
          <a:srcRect/>
          <a:stretch/>
        </p:blipFill>
        <p:spPr>
          <a:xfrm>
            <a:off x="8193665" y="1993196"/>
            <a:ext cx="3228975" cy="1857375"/>
          </a:xfrm>
          <a:prstGeom prst="rect">
            <a:avLst/>
          </a:prstGeom>
          <a:noFill/>
          <a:ln>
            <a:noFill/>
          </a:ln>
        </p:spPr>
      </p:pic>
      <p:sp>
        <p:nvSpPr>
          <p:cNvPr id="1124" name="Google Shape;1124;p117"/>
          <p:cNvSpPr txBox="1"/>
          <p:nvPr/>
        </p:nvSpPr>
        <p:spPr>
          <a:xfrm>
            <a:off x="484564" y="3562722"/>
            <a:ext cx="7043071" cy="1261884"/>
          </a:xfrm>
          <a:prstGeom prst="rect">
            <a:avLst/>
          </a:prstGeom>
          <a:solidFill>
            <a:schemeClr val="lt1"/>
          </a:solidFill>
          <a:ln w="12700" cap="flat" cmpd="sng">
            <a:solidFill>
              <a:srgbClr val="782DA0"/>
            </a:solidFill>
            <a:prstDash val="solid"/>
            <a:miter lim="80"/>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262626"/>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rgbClr val="23282D"/>
                </a:solidFill>
                <a:latin typeface="Arial"/>
                <a:ea typeface="Arial"/>
                <a:cs typeface="Arial"/>
                <a:sym typeface="Arial"/>
              </a:rPr>
              <a:t>The weight of the orange kitten is 150% of the weight of the gray kitten at birth.</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262626"/>
              </a:solidFill>
              <a:latin typeface="Arial"/>
              <a:ea typeface="Arial"/>
              <a:cs typeface="Arial"/>
              <a:sym typeface="Arial"/>
            </a:endParaRPr>
          </a:p>
        </p:txBody>
      </p:sp>
      <p:pic>
        <p:nvPicPr>
          <p:cNvPr id="1125" name="Google Shape;1125;p117"/>
          <p:cNvPicPr preferRelativeResize="0"/>
          <p:nvPr/>
        </p:nvPicPr>
        <p:blipFill rotWithShape="1">
          <a:blip r:embed="rId4">
            <a:alphaModFix/>
          </a:blip>
          <a:srcRect/>
          <a:stretch/>
        </p:blipFill>
        <p:spPr>
          <a:xfrm>
            <a:off x="453735" y="5080054"/>
            <a:ext cx="7073900" cy="841847"/>
          </a:xfrm>
          <a:prstGeom prst="rect">
            <a:avLst/>
          </a:prstGeom>
          <a:noFill/>
          <a:ln>
            <a:noFill/>
          </a:ln>
        </p:spPr>
      </p:pic>
      <p:sp>
        <p:nvSpPr>
          <p:cNvPr id="1126" name="Google Shape;1126;p117"/>
          <p:cNvSpPr txBox="1"/>
          <p:nvPr/>
        </p:nvSpPr>
        <p:spPr>
          <a:xfrm>
            <a:off x="3171257" y="5237373"/>
            <a:ext cx="6783781" cy="642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Using Representations</a:t>
            </a:r>
            <a:endParaRPr sz="1400" b="0" i="0" u="none" strike="noStrike" cap="none">
              <a:solidFill>
                <a:srgbClr val="000000"/>
              </a:solidFill>
              <a:latin typeface="Arial"/>
              <a:ea typeface="Arial"/>
              <a:cs typeface="Arial"/>
              <a:sym typeface="Arial"/>
            </a:endParaRPr>
          </a:p>
        </p:txBody>
      </p:sp>
      <p:sp>
        <p:nvSpPr>
          <p:cNvPr id="1127" name="Google Shape;1127;p117"/>
          <p:cNvSpPr/>
          <p:nvPr/>
        </p:nvSpPr>
        <p:spPr>
          <a:xfrm>
            <a:off x="643309" y="5895378"/>
            <a:ext cx="10741420"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What are some other representations you could use? </a:t>
            </a:r>
            <a:endParaRPr sz="1400" b="0" i="0" u="none" strike="noStrike" cap="none">
              <a:solidFill>
                <a:srgbClr val="000000"/>
              </a:solidFill>
              <a:latin typeface="Arial"/>
              <a:ea typeface="Arial"/>
              <a:cs typeface="Arial"/>
              <a:sym typeface="Arial"/>
            </a:endParaRPr>
          </a:p>
        </p:txBody>
      </p:sp>
      <p:sp>
        <p:nvSpPr>
          <p:cNvPr id="1128" name="Google Shape;1128;p117"/>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32 / 40</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27" name="Google Shape;927;p96"/>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28" name="Google Shape;928;p96"/>
          <p:cNvSpPr txBox="1"/>
          <p:nvPr/>
        </p:nvSpPr>
        <p:spPr>
          <a:xfrm>
            <a:off x="484565" y="936100"/>
            <a:ext cx="7504890" cy="271287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We can use a variable such as w to represent the unknown weight of the orange kitten.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pPr>
            <a:endParaRPr sz="2800" b="0"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62626"/>
                </a:solidFill>
                <a:latin typeface="Arial"/>
                <a:ea typeface="Arial"/>
                <a:cs typeface="Arial"/>
                <a:sym typeface="Arial"/>
              </a:rPr>
              <a:t>How could you compare the weights of the kittens?</a:t>
            </a:r>
            <a:endParaRPr sz="1400" b="0" i="0" u="none" strike="noStrike" cap="none">
              <a:solidFill>
                <a:srgbClr val="000000"/>
              </a:solidFill>
              <a:latin typeface="Arial"/>
              <a:ea typeface="Arial"/>
              <a:cs typeface="Arial"/>
              <a:sym typeface="Arial"/>
            </a:endParaRPr>
          </a:p>
        </p:txBody>
      </p:sp>
      <p:pic>
        <p:nvPicPr>
          <p:cNvPr id="929" name="Google Shape;929;p96"/>
          <p:cNvPicPr preferRelativeResize="0"/>
          <p:nvPr/>
        </p:nvPicPr>
        <p:blipFill rotWithShape="1">
          <a:blip r:embed="rId3">
            <a:alphaModFix/>
          </a:blip>
          <a:srcRect/>
          <a:stretch/>
        </p:blipFill>
        <p:spPr>
          <a:xfrm>
            <a:off x="8193665" y="1993196"/>
            <a:ext cx="3228975" cy="1857375"/>
          </a:xfrm>
          <a:prstGeom prst="rect">
            <a:avLst/>
          </a:prstGeom>
          <a:noFill/>
          <a:ln>
            <a:noFill/>
          </a:ln>
        </p:spPr>
      </p:pic>
      <p:sp>
        <p:nvSpPr>
          <p:cNvPr id="930" name="Google Shape;930;p96"/>
          <p:cNvSpPr txBox="1"/>
          <p:nvPr/>
        </p:nvSpPr>
        <p:spPr>
          <a:xfrm>
            <a:off x="484565" y="5146880"/>
            <a:ext cx="7504890" cy="117628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We can use a ratio to compare the weights.</a:t>
            </a:r>
            <a:endParaRPr sz="1400" b="0" i="0" u="none" strike="noStrike" cap="none">
              <a:solidFill>
                <a:srgbClr val="000000"/>
              </a:solidFill>
              <a:latin typeface="Arial"/>
              <a:ea typeface="Arial"/>
              <a:cs typeface="Arial"/>
              <a:sym typeface="Arial"/>
            </a:endParaRPr>
          </a:p>
        </p:txBody>
      </p:sp>
      <p:sp>
        <p:nvSpPr>
          <p:cNvPr id="931" name="Google Shape;931;p96"/>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33 / 40</a:t>
            </a:r>
          </a:p>
        </p:txBody>
      </p:sp>
      <p:sp>
        <p:nvSpPr>
          <p:cNvPr id="900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98" name="Google Shape;998;p104"/>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99" name="Google Shape;999;p104"/>
          <p:cNvSpPr txBox="1"/>
          <p:nvPr/>
        </p:nvSpPr>
        <p:spPr>
          <a:xfrm>
            <a:off x="484565" y="936100"/>
            <a:ext cx="7504890" cy="339575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The gray kitten’s weight at birth can be described as 100%.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pPr>
            <a:endParaRPr sz="2800" b="0"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62626"/>
                </a:solidFill>
                <a:latin typeface="Arial"/>
                <a:ea typeface="Arial"/>
                <a:cs typeface="Arial"/>
                <a:sym typeface="Arial"/>
              </a:rPr>
              <a:t>What tool can be used to represent the weight of the gray kitten?</a:t>
            </a:r>
            <a:endParaRPr sz="1400" b="0" i="0" u="none" strike="noStrike" cap="none">
              <a:solidFill>
                <a:srgbClr val="000000"/>
              </a:solidFill>
              <a:latin typeface="Arial"/>
              <a:ea typeface="Arial"/>
              <a:cs typeface="Arial"/>
              <a:sym typeface="Arial"/>
            </a:endParaRPr>
          </a:p>
        </p:txBody>
      </p:sp>
      <p:sp>
        <p:nvSpPr>
          <p:cNvPr id="1000" name="Google Shape;1000;p104"/>
          <p:cNvSpPr txBox="1"/>
          <p:nvPr/>
        </p:nvSpPr>
        <p:spPr>
          <a:xfrm>
            <a:off x="484565" y="5146880"/>
            <a:ext cx="7504890" cy="117628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One tool we could use is a tape diagram.</a:t>
            </a:r>
            <a:endParaRPr sz="1400" b="0" i="0" u="none" strike="noStrike" cap="none">
              <a:solidFill>
                <a:srgbClr val="000000"/>
              </a:solidFill>
              <a:latin typeface="Arial"/>
              <a:ea typeface="Arial"/>
              <a:cs typeface="Arial"/>
              <a:sym typeface="Arial"/>
            </a:endParaRPr>
          </a:p>
        </p:txBody>
      </p:sp>
      <p:sp>
        <p:nvSpPr>
          <p:cNvPr id="1001" name="Google Shape;1001;p104"/>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34 / 40</a:t>
            </a:r>
          </a:p>
        </p:txBody>
      </p:sp>
      <p:sp>
        <p:nvSpPr>
          <p:cNvPr id="900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36" name="Google Shape;1036;p108"/>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1037" name="Google Shape;1037;p108"/>
          <p:cNvSpPr txBox="1"/>
          <p:nvPr/>
        </p:nvSpPr>
        <p:spPr>
          <a:xfrm>
            <a:off x="484565" y="711555"/>
            <a:ext cx="6511457" cy="145674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62626"/>
                </a:solidFill>
                <a:latin typeface="Arial"/>
                <a:ea typeface="Arial"/>
                <a:cs typeface="Arial"/>
                <a:sym typeface="Arial"/>
              </a:rPr>
              <a:t>The orange kitten weighs 1.5 times as much as the gray kitten. We can break this up into 1 and 0.5.</a:t>
            </a:r>
            <a:endParaRPr sz="1400" b="0" i="0" u="none" strike="noStrike" cap="none">
              <a:solidFill>
                <a:srgbClr val="000000"/>
              </a:solidFill>
              <a:latin typeface="Arial"/>
              <a:ea typeface="Arial"/>
              <a:cs typeface="Arial"/>
              <a:sym typeface="Arial"/>
            </a:endParaRPr>
          </a:p>
        </p:txBody>
      </p:sp>
      <p:pic>
        <p:nvPicPr>
          <p:cNvPr id="1038" name="Google Shape;1038;p108"/>
          <p:cNvPicPr preferRelativeResize="0"/>
          <p:nvPr/>
        </p:nvPicPr>
        <p:blipFill rotWithShape="1">
          <a:blip r:embed="rId3">
            <a:alphaModFix/>
          </a:blip>
          <a:srcRect/>
          <a:stretch/>
        </p:blipFill>
        <p:spPr>
          <a:xfrm>
            <a:off x="6154288" y="1807327"/>
            <a:ext cx="5876386" cy="2722343"/>
          </a:xfrm>
          <a:prstGeom prst="rect">
            <a:avLst/>
          </a:prstGeom>
          <a:noFill/>
          <a:ln>
            <a:noFill/>
          </a:ln>
        </p:spPr>
      </p:pic>
      <p:sp>
        <p:nvSpPr>
          <p:cNvPr id="1039" name="Google Shape;1039;p108"/>
          <p:cNvSpPr txBox="1"/>
          <p:nvPr/>
        </p:nvSpPr>
        <p:spPr>
          <a:xfrm>
            <a:off x="484565" y="4879001"/>
            <a:ext cx="11425990" cy="150094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add the percentages together to find the weight of the orange kitten, which is 150% of the weight of the gray kitten.</a:t>
            </a:r>
            <a:endParaRPr sz="1400" b="0" i="0" u="none" strike="noStrike" cap="none">
              <a:solidFill>
                <a:srgbClr val="000000"/>
              </a:solidFill>
              <a:latin typeface="Arial"/>
              <a:ea typeface="Arial"/>
              <a:cs typeface="Arial"/>
              <a:sym typeface="Arial"/>
            </a:endParaRPr>
          </a:p>
        </p:txBody>
      </p:sp>
      <p:sp>
        <p:nvSpPr>
          <p:cNvPr id="1040" name="Google Shape;1040;p108"/>
          <p:cNvSpPr txBox="1"/>
          <p:nvPr/>
        </p:nvSpPr>
        <p:spPr>
          <a:xfrm>
            <a:off x="484565" y="2092195"/>
            <a:ext cx="5267306" cy="29084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rgbClr val="262626"/>
                </a:solidFill>
                <a:latin typeface="Arial"/>
                <a:ea typeface="Arial"/>
                <a:cs typeface="Arial"/>
                <a:sym typeface="Arial"/>
              </a:rPr>
              <a:t>Shade one whole tape diagram and 0.5, or half, of the other.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000000"/>
              </a:buClr>
              <a:buSzPts val="2800"/>
              <a:buFont typeface="Arial"/>
              <a:buNone/>
              <a:defRPr/>
            </a:pPr>
            <a:r>
              <a:rPr lang="en-US" sz="2800" b="1" i="0" u="none" strike="noStrike" cap="none">
                <a:solidFill>
                  <a:srgbClr val="262626"/>
                </a:solidFill>
                <a:latin typeface="Arial"/>
                <a:ea typeface="Arial"/>
                <a:cs typeface="Arial"/>
                <a:sym typeface="Arial"/>
              </a:rPr>
              <a:t>How can we determine the weight of the orange kitten as a percent of the gray kitten using the tape diagrams?</a:t>
            </a:r>
            <a:endParaRPr sz="1400" b="0" i="0" u="none" strike="noStrike" cap="none">
              <a:solidFill>
                <a:srgbClr val="000000"/>
              </a:solidFill>
              <a:latin typeface="Arial"/>
              <a:ea typeface="Arial"/>
              <a:cs typeface="Arial"/>
              <a:sym typeface="Arial"/>
            </a:endParaRPr>
          </a:p>
        </p:txBody>
      </p:sp>
      <p:sp>
        <p:nvSpPr>
          <p:cNvPr id="1041" name="Google Shape;1041;p108"/>
          <p:cNvSpPr txBox="1"/>
          <p:nvPr/>
        </p:nvSpPr>
        <p:spPr>
          <a:xfrm>
            <a:off x="484565" y="316034"/>
            <a:ext cx="499259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Shanice’s Kittens</a:t>
            </a:r>
            <a:endParaRPr sz="1400" b="0" i="0" u="none" strike="noStrike" cap="non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35 / 40</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40</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4.1  /  CHECK YOUR WORK</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Pause. Check. Improve.</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2011680"/>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CHECK</a:t>
            </a:r>
          </a:p>
        </p:txBody>
      </p:sp>
      <p:sp>
        <p:nvSpPr>
          <p:cNvPr id="7" name="TextBox 6"/>
          <p:cNvSpPr txBox="1"/>
          <p:nvPr/>
        </p:nvSpPr>
        <p:spPr>
          <a:xfrm>
            <a:off x="2340864" y="1975104"/>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A mistake to watch for: assuming a percent must be less than or equal to 100.</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3310128"/>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TRY</a:t>
            </a:r>
          </a:p>
        </p:txBody>
      </p:sp>
      <p:sp>
        <p:nvSpPr>
          <p:cNvPr id="10" name="TextBox 9"/>
          <p:cNvSpPr txBox="1"/>
          <p:nvPr/>
        </p:nvSpPr>
        <p:spPr>
          <a:xfrm>
            <a:off x="2340864" y="3273552"/>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Label 100 percent on the given grid or tape diagram before locating the part.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608576"/>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REVISE</a:t>
            </a:r>
          </a:p>
        </p:txBody>
      </p:sp>
      <p:sp>
        <p:nvSpPr>
          <p:cNvPr id="13" name="TextBox 12"/>
          <p:cNvSpPr txBox="1"/>
          <p:nvPr/>
        </p:nvSpPr>
        <p:spPr>
          <a:xfrm>
            <a:off x="2340864" y="4572000"/>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40"/>
        <p:cNvGrpSpPr/>
        <p:nvPr/>
      </p:nvGrpSpPr>
      <p:grpSpPr>
        <a:xfrm>
          <a:off x="0" y="0"/>
          <a:ext cx="0" cy="0"/>
          <a:chOff x="0" y="0"/>
          <a:chExt cx="0" cy="0"/>
        </a:xfrm>
      </p:grpSpPr>
      <p:cxnSp>
        <p:nvCxnSpPr>
          <p:cNvPr id="1141" name="Google Shape;1141;p119"/>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1142" name="Google Shape;1142;p119"/>
          <p:cNvSpPr txBox="1"/>
          <p:nvPr/>
        </p:nvSpPr>
        <p:spPr>
          <a:xfrm>
            <a:off x="484565" y="1006765"/>
            <a:ext cx="8539362" cy="2438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A percent is a ratio or rate that compares a number to 100.</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A percent can be written with a percent symbol,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A percent can be greater than 100%.</a:t>
            </a:r>
            <a:endParaRPr sz="1400" b="0" i="0" u="none" strike="noStrike" cap="none">
              <a:solidFill>
                <a:srgbClr val="000000"/>
              </a:solidFill>
              <a:latin typeface="Arial"/>
              <a:ea typeface="Arial"/>
              <a:cs typeface="Arial"/>
              <a:sym typeface="Arial"/>
            </a:endParaRPr>
          </a:p>
        </p:txBody>
      </p:sp>
      <p:sp>
        <p:nvSpPr>
          <p:cNvPr id="1143" name="Google Shape;1143;p119"/>
          <p:cNvSpPr txBox="1"/>
          <p:nvPr/>
        </p:nvSpPr>
        <p:spPr>
          <a:xfrm>
            <a:off x="484565" y="316034"/>
            <a:ext cx="6276453" cy="69073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0" i="0" u="none" strike="noStrike" cap="none">
                <a:solidFill>
                  <a:srgbClr val="782DA0"/>
                </a:solidFill>
                <a:latin typeface="Arial"/>
                <a:ea typeface="Arial"/>
                <a:cs typeface="Arial"/>
                <a:sym typeface="Arial"/>
              </a:rPr>
              <a:t>Summarize:</a:t>
            </a:r>
            <a:r>
              <a:rPr lang="en-US" sz="2800" b="1" i="0" u="none" strike="noStrike" cap="none">
                <a:solidFill>
                  <a:srgbClr val="782DA0"/>
                </a:solidFill>
                <a:latin typeface="Arial"/>
                <a:ea typeface="Arial"/>
                <a:cs typeface="Arial"/>
                <a:sym typeface="Arial"/>
              </a:rPr>
              <a:t> Understand Percent</a:t>
            </a:r>
            <a:endParaRPr sz="1400" b="0" i="0" u="none" strike="noStrike" cap="none">
              <a:solidFill>
                <a:srgbClr val="000000"/>
              </a:solidFill>
              <a:latin typeface="Arial"/>
              <a:ea typeface="Arial"/>
              <a:cs typeface="Arial"/>
              <a:sym typeface="Arial"/>
            </a:endParaRPr>
          </a:p>
        </p:txBody>
      </p:sp>
      <p:pic>
        <p:nvPicPr>
          <p:cNvPr id="1144" name="Google Shape;1144;p119"/>
          <p:cNvPicPr preferRelativeResize="0"/>
          <p:nvPr/>
        </p:nvPicPr>
        <p:blipFill rotWithShape="1">
          <a:blip r:embed="rId3">
            <a:alphaModFix/>
          </a:blip>
          <a:srcRect/>
          <a:stretch/>
        </p:blipFill>
        <p:spPr>
          <a:xfrm>
            <a:off x="964767" y="3445165"/>
            <a:ext cx="1857375" cy="1857375"/>
          </a:xfrm>
          <a:prstGeom prst="rect">
            <a:avLst/>
          </a:prstGeom>
          <a:noFill/>
          <a:ln>
            <a:noFill/>
          </a:ln>
        </p:spPr>
      </p:pic>
      <p:pic>
        <p:nvPicPr>
          <p:cNvPr id="1145" name="Google Shape;1145;p119"/>
          <p:cNvPicPr preferRelativeResize="0"/>
          <p:nvPr/>
        </p:nvPicPr>
        <p:blipFill rotWithShape="1">
          <a:blip r:embed="rId4">
            <a:alphaModFix/>
          </a:blip>
          <a:srcRect/>
          <a:stretch/>
        </p:blipFill>
        <p:spPr>
          <a:xfrm>
            <a:off x="4575247" y="3417457"/>
            <a:ext cx="2695575" cy="581025"/>
          </a:xfrm>
          <a:prstGeom prst="rect">
            <a:avLst/>
          </a:prstGeom>
          <a:noFill/>
          <a:ln>
            <a:noFill/>
          </a:ln>
        </p:spPr>
      </p:pic>
      <p:pic>
        <p:nvPicPr>
          <p:cNvPr id="1146" name="Google Shape;1146;p119"/>
          <p:cNvPicPr preferRelativeResize="0"/>
          <p:nvPr/>
        </p:nvPicPr>
        <p:blipFill rotWithShape="1">
          <a:blip r:embed="rId5">
            <a:alphaModFix/>
          </a:blip>
          <a:srcRect/>
          <a:stretch/>
        </p:blipFill>
        <p:spPr>
          <a:xfrm>
            <a:off x="4575246" y="4551651"/>
            <a:ext cx="2695575" cy="581025"/>
          </a:xfrm>
          <a:prstGeom prst="rect">
            <a:avLst/>
          </a:prstGeom>
          <a:noFill/>
          <a:ln>
            <a:noFill/>
          </a:ln>
        </p:spPr>
      </p:pic>
      <p:sp>
        <p:nvSpPr>
          <p:cNvPr id="1147" name="Google Shape;1147;p119"/>
          <p:cNvSpPr txBox="1"/>
          <p:nvPr/>
        </p:nvSpPr>
        <p:spPr>
          <a:xfrm>
            <a:off x="964767" y="5424488"/>
            <a:ext cx="1981199" cy="918154"/>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48" name="Google Shape;1148;p119"/>
          <p:cNvSpPr txBox="1"/>
          <p:nvPr/>
        </p:nvSpPr>
        <p:spPr>
          <a:xfrm>
            <a:off x="7040813" y="3443721"/>
            <a:ext cx="1888403" cy="556058"/>
          </a:xfrm>
          <a:prstGeom prst="rect">
            <a:avLst/>
          </a:prstGeom>
          <a:blipFill rotWithShape="1">
            <a:blip r:embed="rId7">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49" name="Google Shape;1149;p119"/>
          <p:cNvSpPr txBox="1"/>
          <p:nvPr/>
        </p:nvSpPr>
        <p:spPr>
          <a:xfrm>
            <a:off x="7270821" y="4579361"/>
            <a:ext cx="1428388" cy="581025"/>
          </a:xfrm>
          <a:prstGeom prst="rect">
            <a:avLst/>
          </a:prstGeom>
          <a:blipFill rotWithShape="1">
            <a:blip r:embed="rId8">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50" name="Google Shape;1150;p119"/>
          <p:cNvSpPr txBox="1"/>
          <p:nvPr/>
        </p:nvSpPr>
        <p:spPr>
          <a:xfrm>
            <a:off x="4754246" y="5424488"/>
            <a:ext cx="3454185" cy="918154"/>
          </a:xfrm>
          <a:prstGeom prst="rect">
            <a:avLst/>
          </a:prstGeom>
          <a:blipFill rotWithShape="1">
            <a:blip r:embed="rId9">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115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38 / 40</a:t>
            </a:r>
          </a:p>
        </p:txBody>
      </p:sp>
      <p:sp>
        <p:nvSpPr>
          <p:cNvPr id="1152"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1153" name="TEACH-2-student-move" descr="TEACH 2 · Use strategies and tasks to engage students in rigorous work"/>
          <p:cNvGrpSpPr/>
          <p:nvPr/>
        </p:nvGrpSpPr>
        <p:grpSpPr>
          <a:xfrm>
            <a:off x="6187440" y="4112739"/>
            <a:ext cx="5501640" cy="402336"/>
            <a:chOff x="6187440" y="4112739"/>
            <a:chExt cx="5501640" cy="402336"/>
          </a:xfrm>
        </p:grpSpPr>
        <p:sp>
          <p:nvSpPr>
            <p:cNvPr id="1154" name="TEACH-move-card"/>
            <p:cNvSpPr/>
            <p:nvPr/>
          </p:nvSpPr>
          <p:spPr>
            <a:xfrm>
              <a:off x="6187440" y="4112739"/>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155" name="TEACH-move-rule"/>
            <p:cNvSpPr/>
            <p:nvPr/>
          </p:nvSpPr>
          <p:spPr>
            <a:xfrm>
              <a:off x="6233160" y="4189183"/>
              <a:ext cx="100584" cy="249448"/>
            </a:xfrm>
            <a:prstGeom prst="roundRect">
              <a:avLst>
                <a:gd name="adj" fmla="val 50000"/>
              </a:avLst>
            </a:prstGeom>
            <a:solidFill>
              <a:srgbClr val="01708C"/>
            </a:solidFill>
            <a:ln>
              <a:noFill/>
            </a:ln>
          </p:spPr>
          <p:txBody>
            <a:bodyPr/>
            <a:lstStyle/>
            <a:p>
              <a:endParaRPr/>
            </a:p>
          </p:txBody>
        </p:sp>
        <p:sp>
          <p:nvSpPr>
            <p:cNvPr id="1156" name="TEACH-move-text"/>
            <p:cNvSpPr txBox="1"/>
            <p:nvPr/>
          </p:nvSpPr>
          <p:spPr>
            <a:xfrm>
              <a:off x="6507480" y="4112739"/>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54"/>
        <p:cNvGrpSpPr/>
        <p:nvPr/>
      </p:nvGrpSpPr>
      <p:grpSpPr>
        <a:xfrm>
          <a:off x="0" y="0"/>
          <a:ext cx="0" cy="0"/>
          <a:chOff x="0" y="0"/>
          <a:chExt cx="0" cy="0"/>
        </a:xfrm>
      </p:grpSpPr>
      <p:cxnSp>
        <p:nvCxnSpPr>
          <p:cNvPr id="1155" name="Google Shape;1155;p120"/>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1156" name="Google Shape;1156;p120"/>
          <p:cNvSpPr txBox="1"/>
          <p:nvPr/>
        </p:nvSpPr>
        <p:spPr>
          <a:xfrm>
            <a:off x="484564" y="927529"/>
            <a:ext cx="6996891" cy="481766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A car dealership’s sales for one month are shown. The owner of the car dealership needs to order 50 cars from the factory.</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Question:</a:t>
            </a:r>
            <a:r>
              <a:rPr lang="en-US" sz="2800" b="0" i="0" u="none" strike="noStrike" cap="none">
                <a:solidFill>
                  <a:srgbClr val="23282D"/>
                </a:solidFill>
                <a:latin typeface="Arial"/>
                <a:ea typeface="Arial"/>
                <a:cs typeface="Arial"/>
                <a:sym typeface="Arial"/>
              </a:rPr>
              <a:t> Based upon the sales shown, how many of each type of car do you recommend that the owner order?</a:t>
            </a:r>
            <a:endParaRPr sz="1400" b="0" i="0" u="none" strike="noStrike" cap="none">
              <a:solidFill>
                <a:srgbClr val="000000"/>
              </a:solidFill>
              <a:latin typeface="Arial"/>
              <a:ea typeface="Arial"/>
              <a:cs typeface="Arial"/>
              <a:sym typeface="Arial"/>
            </a:endParaRPr>
          </a:p>
        </p:txBody>
      </p:sp>
      <p:sp>
        <p:nvSpPr>
          <p:cNvPr id="1157" name="Google Shape;1157;p120"/>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0" i="0" u="none" strike="noStrike" cap="none">
                <a:solidFill>
                  <a:srgbClr val="782DA0"/>
                </a:solidFill>
                <a:latin typeface="Arial"/>
                <a:ea typeface="Arial"/>
                <a:cs typeface="Arial"/>
                <a:sym typeface="Arial"/>
              </a:rPr>
              <a:t>Apply:</a:t>
            </a:r>
            <a:r>
              <a:rPr lang="en-US" sz="2800" b="1" i="0" u="none" strike="noStrike" cap="none">
                <a:solidFill>
                  <a:srgbClr val="782DA0"/>
                </a:solidFill>
                <a:latin typeface="Arial"/>
                <a:ea typeface="Arial"/>
                <a:cs typeface="Arial"/>
                <a:sym typeface="Arial"/>
              </a:rPr>
              <a:t> Car Sales</a:t>
            </a:r>
            <a:endParaRPr sz="1400" b="0" i="0" u="none" strike="noStrike" cap="none">
              <a:solidFill>
                <a:srgbClr val="000000"/>
              </a:solidFill>
              <a:latin typeface="Arial"/>
              <a:ea typeface="Arial"/>
              <a:cs typeface="Arial"/>
              <a:sym typeface="Arial"/>
            </a:endParaRPr>
          </a:p>
        </p:txBody>
      </p:sp>
      <p:pic>
        <p:nvPicPr>
          <p:cNvPr id="1158" name="Google Shape;1158;p120"/>
          <p:cNvPicPr preferRelativeResize="0"/>
          <p:nvPr/>
        </p:nvPicPr>
        <p:blipFill rotWithShape="1">
          <a:blip r:embed="rId3">
            <a:alphaModFix/>
          </a:blip>
          <a:srcRect/>
          <a:stretch/>
        </p:blipFill>
        <p:spPr>
          <a:xfrm>
            <a:off x="7807757" y="1821439"/>
            <a:ext cx="3762375" cy="3387052"/>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tIns="0" r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475569"/>
                </a:solidFill>
                <a:latin typeface="Arial"/>
              </a:rPr>
              <a:t>39 / 40</a:t>
            </a:r>
          </a:p>
        </p:txBody>
      </p:sp>
      <p:sp>
        <p:nvSpPr>
          <p:cNvPr id="9003"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r>
              <a:rPr lang="en-US" sz="1200" b="1">
                <a:solidFill>
                  <a:srgbClr val="1E2682"/>
                </a:solidFill>
                <a:latin typeface="Arial"/>
              </a:rPr>
              <a:t>APPLY</a:t>
            </a:r>
            <a:r>
              <a:rPr lang="en-US" sz="1200" b="1">
                <a:solidFill>
                  <a:srgbClr val="5D6872"/>
                </a:solidFill>
                <a:latin typeface="Arial"/>
              </a:rPr>
              <a:t>  ·  PLAN IT • SOLVE IT • PROVE IT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4.1  /  REFLECT ON YOUR LEARNING</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Show your progress</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103120"/>
            <a:ext cx="4709160" cy="365760"/>
          </a:xfrm>
          <a:prstGeom prst="rect">
            <a:avLst/>
          </a:prstGeom>
          <a:noFill/>
        </p:spPr>
        <p:txBody>
          <a:bodyPr wrap="square" lIns="0" tIns="22860" rIns="0" bIns="0">
            <a:spAutoFit/>
          </a:bodyPr>
          <a:lstStyle/>
          <a:p>
            <a:pPr>
              <a:spcAft>
                <a:spcPts val="800"/>
              </a:spcAft>
              <a:defRPr sz="1800" b="1">
                <a:solidFill>
                  <a:srgbClr val="096B69"/>
                </a:solidFill>
                <a:latin typeface="Arial"/>
              </a:defRPr>
            </a:pPr>
            <a:r>
              <a:t>1  SHOW EVIDENCE</a:t>
            </a:r>
          </a:p>
        </p:txBody>
      </p:sp>
      <p:sp>
        <p:nvSpPr>
          <p:cNvPr id="8" name="TextBox 7"/>
          <p:cNvSpPr txBox="1"/>
          <p:nvPr/>
        </p:nvSpPr>
        <p:spPr>
          <a:xfrm>
            <a:off x="886968" y="2743200"/>
            <a:ext cx="4617720" cy="1353312"/>
          </a:xfrm>
          <a:prstGeom prst="rect">
            <a:avLst/>
          </a:prstGeom>
          <a:noFill/>
        </p:spPr>
        <p:txBody>
          <a:bodyPr wrap="square" lIns="0" tIns="22860" rIns="0" bIns="0">
            <a:spAutoFit/>
          </a:bodyPr>
          <a:lstStyle/>
          <a:p>
            <a:pPr>
              <a:spcAft>
                <a:spcPts val="800"/>
              </a:spcAft>
              <a:defRPr sz="2600" b="0">
                <a:solidFill>
                  <a:srgbClr val="24384B"/>
                </a:solidFill>
                <a:latin typeface="Arial"/>
              </a:defRPr>
            </a:pPr>
            <a: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tIns="22860" rIns="0" bIns="0">
            <a:spAutoFit/>
          </a:bodyPr>
          <a:lstStyle/>
          <a:p>
            <a:pPr>
              <a:spcAft>
                <a:spcPts val="800"/>
              </a:spcAft>
              <a:defRPr sz="1900" b="0">
                <a:solidFill>
                  <a:srgbClr val="506478"/>
                </a:solidFill>
                <a:latin typeface="Arial"/>
              </a:defRPr>
            </a:pPr>
            <a:r>
              <a:t>“My work shows ___ because ___.”</a:t>
            </a:r>
          </a:p>
        </p:txBody>
      </p:sp>
      <p:sp>
        <p:nvSpPr>
          <p:cNvPr id="10" name="TextBox 9"/>
          <p:cNvSpPr txBox="1"/>
          <p:nvPr/>
        </p:nvSpPr>
        <p:spPr>
          <a:xfrm>
            <a:off x="6528816" y="2103120"/>
            <a:ext cx="4700016" cy="365760"/>
          </a:xfrm>
          <a:prstGeom prst="rect">
            <a:avLst/>
          </a:prstGeom>
          <a:noFill/>
        </p:spPr>
        <p:txBody>
          <a:bodyPr wrap="square" lIns="0" tIns="22860" rIns="0" bIns="0">
            <a:spAutoFit/>
          </a:bodyPr>
          <a:lstStyle/>
          <a:p>
            <a:pPr>
              <a:spcAft>
                <a:spcPts val="800"/>
              </a:spcAft>
              <a:defRPr sz="1800" b="1">
                <a:solidFill>
                  <a:srgbClr val="096B69"/>
                </a:solidFill>
                <a:latin typeface="Arial"/>
              </a:defRPr>
            </a:pPr>
            <a:r>
              <a:t>2  CHOOSE A NEXT STEP</a:t>
            </a:r>
          </a:p>
        </p:txBody>
      </p:sp>
      <p:sp>
        <p:nvSpPr>
          <p:cNvPr id="11" name="TextBox 10"/>
          <p:cNvSpPr txBox="1"/>
          <p:nvPr/>
        </p:nvSpPr>
        <p:spPr>
          <a:xfrm>
            <a:off x="6528816" y="2743200"/>
            <a:ext cx="4617720" cy="1353312"/>
          </a:xfrm>
          <a:prstGeom prst="rect">
            <a:avLst/>
          </a:prstGeom>
          <a:noFill/>
        </p:spPr>
        <p:txBody>
          <a:bodyPr wrap="square" lIns="0" tIns="22860" rIns="0" bIns="0">
            <a:spAutoFit/>
          </a:bodyPr>
          <a:lstStyle/>
          <a:p>
            <a:pPr>
              <a:spcAft>
                <a:spcPts val="800"/>
              </a:spcAft>
              <a:defRPr sz="2600" b="0">
                <a:solidFill>
                  <a:srgbClr val="24384B"/>
                </a:solidFill>
                <a:latin typeface="Arial"/>
              </a:defRPr>
            </a:pPr>
            <a: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tIns="22860" rIns="0" bIns="0">
            <a:spAutoFit/>
          </a:bodyPr>
          <a:lstStyle/>
          <a:p>
            <a:pPr>
              <a:spcAft>
                <a:spcPts val="800"/>
              </a:spcAft>
              <a:defRPr sz="1900" b="0">
                <a:solidFill>
                  <a:srgbClr val="506478"/>
                </a:solidFill>
                <a:latin typeface="Arial"/>
              </a:defRPr>
            </a:pPr>
            <a:r>
              <a:t>“Next time, I will ___ to help me ___.”</a:t>
            </a:r>
          </a:p>
        </p:txBody>
      </p:sp>
      <p:sp>
        <p:nvSpPr>
          <p:cNvPr id="13" name="TextBox 12"/>
          <p:cNvSpPr txBox="1"/>
          <p:nvPr/>
        </p:nvSpPr>
        <p:spPr>
          <a:xfrm>
            <a:off x="621792" y="5376672"/>
            <a:ext cx="10954512" cy="685800"/>
          </a:xfrm>
          <a:prstGeom prst="rect">
            <a:avLst/>
          </a:prstGeom>
          <a:noFill/>
        </p:spPr>
        <p:txBody>
          <a:bodyPr wrap="square" lIns="0" tIns="22860" rIns="0" bIns="0">
            <a:spAutoFit/>
          </a:bodyPr>
          <a:lstStyle/>
          <a:p>
            <a:pPr>
              <a:spcAft>
                <a:spcPts val="800"/>
              </a:spcAft>
              <a:defRPr sz="2200" b="1">
                <a:solidFill>
                  <a:srgbClr val="173451"/>
                </a:solidFill>
                <a:latin typeface="Arial"/>
              </a:defRPr>
            </a:pPr>
            <a:r>
              <a:t>Today’s focus: Identify the whole.</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theme/theme1.xml><?xml version="1.0" encoding="utf-8"?>
<a:theme xmlns:a="http://schemas.openxmlformats.org/drawingml/2006/main"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10875</Words>
  <Application>Microsoft Macintosh PowerPoint</Application>
  <PresentationFormat>Widescreen</PresentationFormat>
  <Paragraphs>620</Paragraphs>
  <Slides>30</Slides>
  <Notes>28</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30</vt:i4>
      </vt:variant>
    </vt:vector>
  </HeadingPairs>
  <TitlesOfParts>
    <vt:vector size="36" baseType="lpstr">
      <vt:lpstr>Arial</vt:lpstr>
      <vt:lpstr>Calibri</vt:lpstr>
      <vt:lpstr>Title Slide</vt:lpstr>
      <vt:lpstr>1_Custom Design</vt:lpstr>
      <vt:lpstr>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4.1 — Understand Percent</dc:title>
  <dc:creator>Neft Teacher</dc:creator>
  <cp:lastModifiedBy>Neft, Joel D.</cp:lastModifiedBy>
  <cp:revision>1</cp:revision>
  <dcterms:created xsi:type="dcterms:W3CDTF">2026-09-30T12:04:43Z</dcterms:created>
  <dcterms:modified xsi:type="dcterms:W3CDTF">2026-10-13T11:14:09Z</dcterms:modified>
</cp:coreProperties>
</file>