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7" r:id="rId20"/>
    <p:sldId id="268" r:id="rId21"/>
    <p:sldId id="256" r:id="rId9"/>
    <p:sldId id="257" r:id="rId10"/>
    <p:sldId id="260" r:id="rId13"/>
    <p:sldId id="323" r:id="rId69"/>
    <p:sldId id="322" r:id="rId49"/>
    <p:sldId id="321" r:id="rId37"/>
    <p:sldId id="320" r:id="rId47"/>
    <p:sldId id="319" r:id="rId46"/>
    <p:sldId id="318" r:id="rId45"/>
    <p:sldId id="261" r:id="rId14"/>
    <p:sldId id="270" r:id="rId23"/>
    <p:sldId id="271" r:id="rId24"/>
    <p:sldId id="273" r:id="rId26"/>
    <p:sldId id="327" r:id="rId73"/>
    <p:sldId id="277" r:id="rId30"/>
    <p:sldId id="279" r:id="rId32"/>
    <p:sldId id="283" r:id="rId36"/>
    <p:sldId id="285" r:id="rId38"/>
    <p:sldId id="287" r:id="rId40"/>
    <p:sldId id="289" r:id="rId42"/>
    <p:sldId id="290" r:id="rId43"/>
    <p:sldId id="328" r:id="rId74"/>
    <p:sldId id="324" r:id="rId70"/>
    <p:sldId id="314" r:id="rId67"/>
    <p:sldId id="329" r:id="rId75"/>
    <p:sldId id="315" r:id="rId68"/>
    <p:sldId id="291" r:id="rId44"/>
    <p:sldId id="295" r:id="rId48"/>
    <p:sldId id="297" r:id="rId50"/>
    <p:sldId id="299" r:id="rId52"/>
    <p:sldId id="330" r:id="rId76"/>
    <p:sldId id="300" r:id="rId53"/>
    <p:sldId id="301" r:id="rId54"/>
    <p:sldId id="302" r:id="rId55"/>
    <p:sldId id="304" r:id="rId57"/>
    <p:sldId id="306" r:id="rId59"/>
    <p:sldId id="331" r:id="rId77"/>
    <p:sldId id="308" r:id="rId61"/>
    <p:sldId id="309" r:id="rId62"/>
    <p:sldId id="310" r:id="rId63"/>
    <p:sldId id="332" r:id="rId78"/>
    <p:sldId id="325" r:id="rId71"/>
    <p:sldId id="311" r:id="rId64"/>
    <p:sldId id="312" r:id="rId65"/>
    <p:sldId id="313" r:id="rId66"/>
    <p:sldId id="317" r:id="rId39"/>
    <p:sldId id="316" r:id="rId41"/>
    <p:sldId id="326" r:id="rId72"/>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3.xml"/><Relationship Id="rId20" Type="http://schemas.openxmlformats.org/officeDocument/2006/relationships/slide" Target="slides/slide2.xml"/><Relationship Id="rId21" Type="http://schemas.openxmlformats.org/officeDocument/2006/relationships/slide" Target="slides/slide3.xml"/><Relationship Id="rId23" Type="http://schemas.openxmlformats.org/officeDocument/2006/relationships/slide" Target="slides/slide14.xml"/><Relationship Id="rId24" Type="http://schemas.openxmlformats.org/officeDocument/2006/relationships/slide" Target="slides/slide15.xml"/><Relationship Id="rId26" Type="http://schemas.openxmlformats.org/officeDocument/2006/relationships/slide" Target="slides/slide16.xml"/><Relationship Id="rId30" Type="http://schemas.openxmlformats.org/officeDocument/2006/relationships/slide" Target="slides/slide17.xml"/><Relationship Id="rId32"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9.xml"/><Relationship Id="rId38" Type="http://schemas.openxmlformats.org/officeDocument/2006/relationships/slide" Target="slides/slide20.xml"/><Relationship Id="rId39" Type="http://schemas.openxmlformats.org/officeDocument/2006/relationships/slide" Target="slides/slide43.xml"/><Relationship Id="rId40" Type="http://schemas.openxmlformats.org/officeDocument/2006/relationships/slide" Target="slides/slide21.xml"/><Relationship Id="rId41" Type="http://schemas.openxmlformats.org/officeDocument/2006/relationships/slide" Target="slides/slide44.xml"/><Relationship Id="rId42" Type="http://schemas.openxmlformats.org/officeDocument/2006/relationships/slide" Target="slides/slide22.xml"/><Relationship Id="rId43" Type="http://schemas.openxmlformats.org/officeDocument/2006/relationships/slide" Target="slides/slide23.xml"/><Relationship Id="rId44" Type="http://schemas.openxmlformats.org/officeDocument/2006/relationships/slide" Target="slides/slide27.xml"/><Relationship Id="rId45" Type="http://schemas.openxmlformats.org/officeDocument/2006/relationships/slide" Target="slides/slide12.xml"/><Relationship Id="rId46" Type="http://schemas.openxmlformats.org/officeDocument/2006/relationships/slide" Target="slides/slide11.xml"/><Relationship Id="rId47" Type="http://schemas.openxmlformats.org/officeDocument/2006/relationships/slide" Target="slides/slide10.xml"/><Relationship Id="rId48" Type="http://schemas.openxmlformats.org/officeDocument/2006/relationships/slide" Target="slides/slide28.xml"/><Relationship Id="rId49" Type="http://schemas.openxmlformats.org/officeDocument/2006/relationships/slide" Target="slides/slide8.xml"/><Relationship Id="rId50"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7" Type="http://schemas.openxmlformats.org/officeDocument/2006/relationships/slide" Target="slides/slide34.xml"/><Relationship Id="rId59"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40.xml"/><Relationship Id="rId65" Type="http://schemas.openxmlformats.org/officeDocument/2006/relationships/slide" Target="slides/slide41.xml"/><Relationship Id="rId66" Type="http://schemas.openxmlformats.org/officeDocument/2006/relationships/slide" Target="slides/slide42.xml"/><Relationship Id="rId67" Type="http://schemas.openxmlformats.org/officeDocument/2006/relationships/slide" Target="slides/slide25.xml"/><Relationship Id="rId68" Type="http://schemas.openxmlformats.org/officeDocument/2006/relationships/slide" Target="slides/slide26.xml"/><Relationship Id="rId69" Type="http://schemas.openxmlformats.org/officeDocument/2006/relationships/slide" Target="slides/slide7.xml"/><Relationship Id="rId70" Type="http://schemas.openxmlformats.org/officeDocument/2006/relationships/slide" Target="slides/slide24.xml"/><Relationship Id="rId71" Type="http://schemas.openxmlformats.org/officeDocument/2006/relationships/slide" Target="slides/slide39.xml"/><Relationship Id="rId72" Type="http://schemas.openxmlformats.org/officeDocument/2006/relationships/slide" Target="slides/slide45.xml"/><Relationship Id="rId73" Type="http://schemas.openxmlformats.org/officeDocument/2006/relationships/slide" Target="slides/slide46.xml"/><Relationship Id="rId74" Type="http://schemas.openxmlformats.org/officeDocument/2006/relationships/slide" Target="slides/slide47.xml"/><Relationship Id="rId75" Type="http://schemas.openxmlformats.org/officeDocument/2006/relationships/slide" Target="slides/slide48.xml"/><Relationship Id="rId76" Type="http://schemas.openxmlformats.org/officeDocument/2006/relationships/slide" Target="slides/slide49.xml"/><Relationship Id="rId77" Type="http://schemas.openxmlformats.org/officeDocument/2006/relationships/slide" Target="slides/slide50.xml"/><Relationship Id="rId7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4 | DIVIDER</a:t>
            </a:r>
          </a:p>
          <a:p xmlns:a="http://schemas.openxmlformats.org/drawingml/2006/main">
            <a:pPr>
              <a:buNone/>
            </a:pPr>
            <a:r>
              <a:rPr lang="en-US" sz="1100"/>
              <a:t>Focus on the existing task: Represent Polygons on the Coordinate Plane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5 | WORKED</a:t>
            </a:r>
          </a:p>
          <a:p xmlns:a="http://schemas.openxmlformats.org/drawingml/2006/main">
            <a:pPr>
              <a:buNone/>
            </a:pPr>
            <a:r>
              <a:rPr lang="en-US" sz="1100"/>
              <a:t>Focus on the existing task: About, Between, or Exact It is about ______. It is between ______ and ______. It is exactly ______.</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 | WARMUP</a:t>
            </a:r>
          </a:p>
          <a:p xmlns:a="http://schemas.openxmlformats.org/drawingml/2006/main">
            <a:pPr>
              <a:buNone/>
            </a:pPr>
            <a:r>
              <a:rPr lang="en-US" sz="1100"/>
              <a:t>Focus on the existing task: Warm-Up WARM-UP · THINK • TRY • CHECK Do these…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rectangle   2) 4 units   3) 14 units   4) 12 square units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plot vertices in order; determine applicable side lengths; connect coordinates to perimeter or area. Review recent work and today’s warm-up to choose flexible groups and access supports; do not infer needs from identity or perceived ability. Use the existing lesson tasks and stated standards.</a:t>
            </a:r>
          </a:p>
          <a:p>
            <a:pPr>
              <a:buNone/>
            </a:pPr>
            <a:r>
              <a:rPr lang="en-US" sz="1100"/>
              <a:t>Anticipate: confusing a coordinate with a side length or applying an axis-distance rule to a slanted edge. If observed, label the vertices and axis-aligned side lengths on the original polygon.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6 | GOAL</a:t>
            </a:r>
          </a:p>
          <a:p xmlns:a="http://schemas.openxmlformats.org/drawingml/2006/main">
            <a:pPr>
              <a:buNone/>
            </a:pPr>
            <a:r>
              <a:rPr lang="en-US" sz="1100"/>
              <a:t>Focus on the existing task: Today’s Objectives Represent Polygons on the…</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plot vertices in order; determine applicable side lengths; connect coordinates to perimeter or area. Ask: “Which part of your work would show this?” Revisit that evidence after the task; a confidence rating alone is not evidence of understanding.</a:t>
            </a:r>
          </a:p>
        </p:txBody>
      </p:sp>
      <p:sp>
        <p:nvSpPr>
          <p:cNvPr id="333" name="Google Shape;333;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13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5" name="Google Shape;35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2: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 | NOTES</a:t>
            </a:r>
          </a:p>
          <a:p xmlns:a="http://schemas.openxmlformats.org/drawingml/2006/main">
            <a:pPr>
              <a:buNone/>
            </a:pPr>
            <a:r>
              <a:rPr lang="en-US" sz="1100"/>
              <a:t>Focus on the existing task: Today’s Math Notes Section 1: Math Words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477" name="Google Shape;477;p1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 | NOTES</a:t>
            </a:r>
          </a:p>
          <a:p xmlns:a="http://schemas.openxmlformats.org/drawingml/2006/main">
            <a:pPr>
              <a:buNone/>
            </a:pPr>
            <a:r>
              <a:rPr lang="en-US" sz="1100"/>
              <a:t>Focus on the existing task: Today’s Math Notes Section 2: Today’s Math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05" name="Google Shape;505;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14 | CURIOUS</a:t>
            </a:r>
          </a:p>
          <a:p xmlns:a="http://schemas.openxmlformats.org/drawingml/2006/main">
            <a:pPr>
              <a:buNone/>
            </a:pPr>
            <a:r>
              <a:rPr lang="en-US" sz="1100"/>
              <a:t>Focus on the existing task: Be Curious Mindset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39" name="Google Shape;539;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15 | TASK</a:t>
            </a:r>
          </a:p>
          <a:p xmlns:a="http://schemas.openxmlformats.org/drawingml/2006/main">
            <a:pPr>
              <a:buNone/>
            </a:pPr>
            <a:r>
              <a:rPr lang="en-US" sz="1100"/>
              <a:t>Focus on the existing task: Polygons on the Coordinate Plane What is the perimeter of the polygon?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coordinates to perimeter or area.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coordinates determine this side length, and how does that length enter the required measure?” Wait for evidence, invite another pathway, and have a student ask a follow-up question. Do not replace students’ reasoning with a sequence of leading steps.</a:t>
            </a:r>
          </a:p>
        </p:txBody>
      </p:sp>
      <p:sp>
        <p:nvSpPr>
          <p:cNvPr id="550" name="Google Shape;550;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16 | COLLABORATE</a:t>
            </a:r>
          </a:p>
          <a:p xmlns:a="http://schemas.openxmlformats.org/drawingml/2006/main">
            <a:pPr>
              <a:buNone/>
            </a:pPr>
            <a:r>
              <a:rPr lang="en-US" sz="1100"/>
              <a:t>Focus on the existing task: Collaborate and Connect How can you draw the polygon described?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coordinates to perimeter or area.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confusing a coordinate with a side length or applying an axis-distance rule to a slanted edge. If it appears, label the vertices and axis-aligned side lengths on the original polygon; then ask the student to revise the same response and explain the change. If evidence is secure, have students compare a second valid pathway or state why their approach works. Choose the next step from the responses, not a preset pace.</a:t>
            </a:r>
          </a:p>
        </p:txBody>
      </p:sp>
      <p:sp>
        <p:nvSpPr>
          <p:cNvPr id="568" name="Google Shape;568;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17 | REVEAL</a:t>
            </a:r>
          </a:p>
          <a:p xmlns:a="http://schemas.openxmlformats.org/drawingml/2006/main">
            <a:pPr>
              <a:buNone/>
            </a:pPr>
            <a:r>
              <a:rPr lang="en-US" sz="1100"/>
              <a:t>Focus on the existing task: Reveal: We need to know the side lengths. Polygons on the Coordinate Plane We can graph the points on a coordinate plane and connect them…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determine applicable side lengths.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need to know the side lengths.</a:t>
            </a:r>
          </a:p>
          <a:p>
            <a:pPr indent="0" lvl="0" marL="0" rtl="0" algn="l">
              <a:lnSpc>
                <a:spcPct val="100000"/>
              </a:lnSpc>
              <a:spcBef>
                <a:spcPts val="0"/>
              </a:spcBef>
              <a:spcAft>
                <a:spcPts val="0"/>
              </a:spcAft>
              <a:buSzPts val="1400"/>
              <a:buNone/>
            </a:pPr>
            <a:r>
              <a:t>UIFR: TEACH 3 · TEACH 4.</a:t>
            </a:r>
          </a:p>
        </p:txBody>
      </p:sp>
      <p:sp>
        <p:nvSpPr>
          <p:cNvPr id="609" name="Google Shape;609;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18 | REVEAL</a:t>
            </a:r>
          </a:p>
          <a:p xmlns:a="http://schemas.openxmlformats.org/drawingml/2006/main">
            <a:pPr>
              <a:buNone/>
            </a:pPr>
            <a:r>
              <a:rPr lang="en-US" sz="1100"/>
              <a:t>Focus on the existing task: Reveal: We can use the coordinates to find the distance between each pair of vertices that make up a side of the polygon. We can find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determine applicable side lengths.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coordinates to find the distance between each pair of vertices that make up a side of the polygon.</a:t>
            </a:r>
          </a:p>
          <a:p>
            <a:pPr indent="0" lvl="0" marL="0" rtl="0" algn="l">
              <a:lnSpc>
                <a:spcPct val="100000"/>
              </a:lnSpc>
              <a:spcBef>
                <a:spcPts val="0"/>
              </a:spcBef>
              <a:spcAft>
                <a:spcPts val="0"/>
              </a:spcAft>
              <a:buSzPts val="1400"/>
              <a:buNone/>
            </a:pPr>
            <a:r>
              <a:t>UIFR: TEACH 3 · TEACH 4.</a:t>
            </a:r>
          </a:p>
        </p:txBody>
      </p:sp>
      <p:sp>
        <p:nvSpPr>
          <p:cNvPr id="629" name="Google Shape;629;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19 | WORKED</a:t>
            </a:r>
          </a:p>
          <a:p xmlns:a="http://schemas.openxmlformats.org/drawingml/2006/main">
            <a:pPr>
              <a:buNone/>
            </a:pPr>
            <a:r>
              <a:rPr lang="en-US" sz="1100"/>
              <a:t>Focus on the existing task: Let’s find the distance between each pair of vertices that make up a side of the polygon. Polygons on the Coordinate Plane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66" name="Google Shape;666;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20 | REVEAL</a:t>
            </a:r>
          </a:p>
          <a:p xmlns:a="http://schemas.openxmlformats.org/drawingml/2006/main">
            <a:pPr>
              <a:buNone/>
            </a:pPr>
            <a:r>
              <a:rPr lang="en-US" sz="1100"/>
              <a:t>Focus on the existing task: Reveal: We can add the side lengths. How can you find the perimeter of the polygon?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determine applicable side lengths.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add the side lengths.</a:t>
            </a:r>
          </a:p>
          <a:p>
            <a:pPr indent="0" lvl="0" marL="0" rtl="0" algn="l">
              <a:lnSpc>
                <a:spcPct val="100000"/>
              </a:lnSpc>
              <a:spcBef>
                <a:spcPts val="0"/>
              </a:spcBef>
              <a:spcAft>
                <a:spcPts val="0"/>
              </a:spcAft>
              <a:buSzPts val="1400"/>
              <a:buNone/>
            </a:pPr>
            <a:r>
              <a:t>UIFR: TEACH 3 · TEACH 4.</a:t>
            </a:r>
          </a:p>
        </p:txBody>
      </p:sp>
      <p:sp>
        <p:nvSpPr>
          <p:cNvPr id="688" name="Google Shape;688;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21 | TASK</a:t>
            </a:r>
          </a:p>
          <a:p xmlns:a="http://schemas.openxmlformats.org/drawingml/2006/main">
            <a:pPr>
              <a:buNone/>
            </a:pPr>
            <a:r>
              <a:rPr lang="en-US" sz="1100"/>
              <a:t>Focus on the existing task: Think About It: Why are two of the terms multiplied by 2?</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15" name="Google Shape;715;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22 | TASK</a:t>
            </a:r>
          </a:p>
          <a:p xmlns:a="http://schemas.openxmlformats.org/drawingml/2006/main">
            <a:pPr>
              <a:buNone/>
            </a:pPr>
            <a:r>
              <a:rPr lang="en-US" sz="1100"/>
              <a:t>Focus on the existing task: Persevering How could you check your answer?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coordinates to perimeter or area.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41" name="Google Shape;741;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23 | PRACTICE</a:t>
            </a:r>
          </a:p>
          <a:p xmlns:a="http://schemas.openxmlformats.org/drawingml/2006/main">
            <a:pPr>
              <a:buNone/>
            </a:pPr>
            <a:r>
              <a:rPr lang="en-US" sz="1100"/>
              <a:t>Focus on the existing task: Let’s Explore More What operation would you use to determine the side lengths of a square with the vertices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determine applicable side lengths.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754" name="Google Shape;754;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27 | DIVIDER</a:t>
            </a:r>
          </a:p>
          <a:p xmlns:a="http://schemas.openxmlformats.org/drawingml/2006/main">
            <a:pPr>
              <a:buNone/>
            </a:pPr>
            <a:r>
              <a:rPr lang="en-US" sz="1100"/>
              <a:t>Focus on the existing task: Represent Polygons on the Coordinate Plane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767" name="Google Shape;767;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28 | TASK</a:t>
            </a:r>
          </a:p>
          <a:p xmlns:a="http://schemas.openxmlformats.org/drawingml/2006/main">
            <a:pPr>
              <a:buNone/>
            </a:pPr>
            <a:r>
              <a:rPr lang="en-US" sz="1100"/>
              <a:t>Focus on the existing task: Designing the Town Square Planning What information do you know?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coordinates determine this side length, and how does that length enter the required measure?” Wait for evidence, invite another pathway, and have a student ask a follow-up question. Do not replace students’ reasoning with a sequence of leading steps.</a:t>
            </a:r>
          </a:p>
        </p:txBody>
      </p:sp>
      <p:sp>
        <p:nvSpPr>
          <p:cNvPr id="808" name="Google Shape;808;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4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29 | TASK</a:t>
            </a:r>
          </a:p>
          <a:p xmlns:a="http://schemas.openxmlformats.org/drawingml/2006/main">
            <a:pPr>
              <a:buNone/>
            </a:pPr>
            <a:r>
              <a:rPr lang="en-US" sz="1100"/>
              <a:t>Focus on the existing task: Designing the Town Square What do you notice about the given vertices?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30" name="Google Shape;830;p4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30 | REVEAL</a:t>
            </a:r>
          </a:p>
          <a:p xmlns:a="http://schemas.openxmlformats.org/drawingml/2006/main">
            <a:pPr>
              <a:buNone/>
            </a:pPr>
            <a:r>
              <a:rPr lang="en-US" sz="1100"/>
              <a:t>Focus on the existing task: Reveal: We can find the distance between the given vertices to find the width. Then we can divide the area by the width to find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find the distance between the given vertices to find the width. Then we can divide the area by the width to find the length of the park.</a:t>
            </a:r>
          </a:p>
          <a:p>
            <a:pPr indent="0" lvl="0" marL="0" rtl="0" algn="l">
              <a:lnSpc>
                <a:spcPct val="100000"/>
              </a:lnSpc>
              <a:spcBef>
                <a:spcPts val="0"/>
              </a:spcBef>
              <a:spcAft>
                <a:spcPts val="0"/>
              </a:spcAft>
              <a:buSzPts val="1400"/>
              <a:buNone/>
            </a:pPr>
            <a:r>
              <a:t>UIFR: TEACH 3 · TEACH 4.</a:t>
            </a:r>
          </a:p>
        </p:txBody>
      </p:sp>
      <p:sp>
        <p:nvSpPr>
          <p:cNvPr id="851" name="Google Shape;851;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31 | TASK</a:t>
            </a:r>
          </a:p>
          <a:p xmlns:a="http://schemas.openxmlformats.org/drawingml/2006/main">
            <a:pPr>
              <a:buNone/>
            </a:pPr>
            <a:r>
              <a:rPr lang="en-US" sz="1100"/>
              <a:t>Focus on the existing task: Designing the Town Square Let’s use the given vertices to determine the dimensions of the park. Find the distance between the given…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62" name="Google Shape;862;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32 | WORKED</a:t>
            </a:r>
          </a:p>
          <a:p xmlns:a="http://schemas.openxmlformats.org/drawingml/2006/main">
            <a:pPr>
              <a:buNone/>
            </a:pPr>
            <a:r>
              <a:rPr lang="en-US" sz="1100"/>
              <a:t>Focus on the existing task: Designing the Town Square On the coordinate plane, the distance between the given vertices is 3 units. Each unit represents 100 feet, so…</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73" name="Google Shape;873;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33 | WORKED</a:t>
            </a:r>
          </a:p>
          <a:p xmlns:a="http://schemas.openxmlformats.org/drawingml/2006/main">
            <a:pPr>
              <a:buNone/>
            </a:pPr>
            <a:r>
              <a:rPr lang="en-US" sz="1100"/>
              <a:t>Focus on the existing task: Designing the Town Square The park will have an area of 240,000 square feet and a width of 300 feet. Each unit labeled on the grid…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connect coordinates to perimeter or area.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82" name="Google Shape;882;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34 | REVEAL</a:t>
            </a:r>
          </a:p>
          <a:p xmlns:a="http://schemas.openxmlformats.org/drawingml/2006/main">
            <a:pPr>
              <a:buNone/>
            </a:pPr>
            <a:r>
              <a:rPr lang="en-US" sz="1100"/>
              <a:t>Focus on the existing task: Designing the Town Square How can you determine the number of units that will represent the length of the park on the map?</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determine applicable side lengths.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divide the length by 100 because each unit represents 100 feet.</a:t>
            </a:r>
          </a:p>
          <a:p>
            <a:pPr indent="0" lvl="0" marL="0" rtl="0" algn="l">
              <a:lnSpc>
                <a:spcPct val="100000"/>
              </a:lnSpc>
              <a:spcBef>
                <a:spcPts val="0"/>
              </a:spcBef>
              <a:spcAft>
                <a:spcPts val="0"/>
              </a:spcAft>
              <a:buSzPts val="1400"/>
              <a:buNone/>
            </a:pPr>
            <a:r>
              <a:t>UIFR: TEACH 3 · TEACH 4.</a:t>
            </a:r>
          </a:p>
        </p:txBody>
      </p:sp>
      <p:sp>
        <p:nvSpPr>
          <p:cNvPr id="905" name="Google Shape;905;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35 | COLLABORATE</a:t>
            </a:r>
          </a:p>
          <a:p xmlns:a="http://schemas.openxmlformats.org/drawingml/2006/main">
            <a:pPr>
              <a:buNone/>
            </a:pPr>
            <a:r>
              <a:rPr lang="en-US" sz="1100"/>
              <a:t>Focus on the existing task: Collaborate and Connect The width will be 300 feet, represented by 3 units on the map. Each unit labeled on the grid represents 100 feet.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coordinates to perimeter or area.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confusing a coordinate with a side length or applying an axis-distance rule to a slanted edge. If it appears, label the vertices and axis-aligned side lengths on the original polygon; then ask the student to revise the same response and explain the change. If evidence is secure, have students compare a second valid pathway or state why their approach works. Choose the next step from the responses, not a preset pace.</a:t>
            </a:r>
          </a:p>
        </p:txBody>
      </p:sp>
      <p:sp>
        <p:nvSpPr>
          <p:cNvPr id="924" name="Google Shape;924;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36 | WORKED</a:t>
            </a:r>
          </a:p>
          <a:p xmlns:a="http://schemas.openxmlformats.org/drawingml/2006/main">
            <a:pPr>
              <a:buNone/>
            </a:pPr>
            <a:r>
              <a:rPr lang="en-US" sz="1100"/>
              <a:t>Focus on the existing task: The other two vertices need to be 8 units below the known vertices because the length of the rectangle is 800 feet, or 8 units. Designing…</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44" name="Google Shape;944;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37 | TASK</a:t>
            </a:r>
          </a:p>
          <a:p xmlns:a="http://schemas.openxmlformats.org/drawingml/2006/main">
            <a:pPr>
              <a:buNone/>
            </a:pPr>
            <a:r>
              <a:rPr lang="en-US" sz="1100"/>
              <a:t>Focus on the existing task: What will be the coordinates of the other two vertices of the park?</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54" name="Google Shape;954;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38 | PRACTICE</a:t>
            </a:r>
          </a:p>
          <a:p xmlns:a="http://schemas.openxmlformats.org/drawingml/2006/main">
            <a:pPr>
              <a:buNone/>
            </a:pPr>
            <a:r>
              <a:rPr lang="en-US" sz="1100"/>
              <a:t>Focus on the existing task: Let’s Explore More Workspace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965" name="Google Shape;965;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40 | SUMMARIZE</a:t>
            </a:r>
          </a:p>
          <a:p xmlns:a="http://schemas.openxmlformats.org/drawingml/2006/main">
            <a:pPr>
              <a:buNone/>
            </a:pPr>
            <a:r>
              <a:rPr lang="en-US" sz="1100"/>
              <a:t>Focus on the existing task: Summarize: Polygons on the Coordinate Plane You can draw or represent polygons on the coordinate plane and can solve problems involving…</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976" name="Google Shape;976;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41 | APPLY</a:t>
            </a:r>
          </a:p>
          <a:p xmlns:a="http://schemas.openxmlformats.org/drawingml/2006/main">
            <a:pPr>
              <a:buNone/>
            </a:pPr>
            <a:r>
              <a:rPr lang="en-US" sz="1100"/>
              <a:t>Focus on the existing task: Apply: Maria’s Craft Store Maria, a craft store owner, plans to rent a location in a shopping center and is considering the two spaces…</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plot vertices in order; determine applicable side lengths; connect coordinates to perimeter or area. Respond with one specific next step tied to the work. Students revise and annotate what changed, then identify a criterion they can now demonstrate and one they still need to practice.</a:t>
            </a:r>
          </a:p>
        </p:txBody>
      </p:sp>
      <p:sp>
        <p:nvSpPr>
          <p:cNvPr id="986" name="Google Shape;986;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7.7, slide 42 | REFLECTION</a:t>
            </a:r>
          </a:p>
          <a:p xmlns:a="http://schemas.openxmlformats.org/drawingml/2006/main">
            <a:pPr>
              <a:buNone/>
            </a:pPr>
            <a:r>
              <a:rPr lang="en-US" sz="1100"/>
              <a:t>Focus on the existing task: Learning Targets</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995" name="Google Shape;995;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7.7, slide 25 | WARMUP</a:t>
            </a:r>
          </a:p>
          <a:p xmlns:a="http://schemas.openxmlformats.org/drawingml/2006/main">
            <a:pPr>
              <a:buNone/>
            </a:pPr>
            <a:r>
              <a:rPr lang="en-US" sz="1100"/>
              <a:t>Focus on the existing task: Session 2 Warm-Up Session 2 Warm-Up Check what…</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plot vertices in order; determine applicable side lengths; connect coordinates to perimeter or area. Ask: “Which part of your work would show this?” Revisit that evidence after the task; a confidence rating alone is not evidence of understanding.</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7.7, slide 26 | NOTES</a:t>
            </a:r>
          </a:p>
          <a:p xmlns:a="http://schemas.openxmlformats.org/drawingml/2006/main">
            <a:pPr>
              <a:buNone/>
            </a:pPr>
            <a:r>
              <a:rPr lang="en-US" sz="1100"/>
              <a:t>Focus on the existing task: Today’s Math Notes Review Notes — Session 2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44 | REFLECTION</a:t>
            </a:r>
          </a:p>
          <a:p xmlns:a="http://schemas.openxmlformats.org/drawingml/2006/main">
            <a:pPr>
              <a:buNone/>
            </a:pPr>
            <a:r>
              <a:rPr lang="en-US" sz="1100"/>
              <a:t>Focus on the existing task: Learning Targets</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confusing a coordinate with a side length or applying an axis-distance rule to a slanted edge.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vertices and axis-aligned side lengths on the original polygon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7 | PRIOR_INSERT</a:t>
            </a:r>
          </a:p>
          <a:p xmlns:a="http://schemas.openxmlformats.org/drawingml/2006/main">
            <a:pPr>
              <a:buNone/>
            </a:pPr>
            <a:r>
              <a:rPr lang="en-US" sz="1100"/>
              <a:t>Focus on the existing task: LESSON 7.7 / OUR LEARNING What will show your learning?</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8 | VOCAB</a:t>
            </a:r>
          </a:p>
          <a:p xmlns:a="http://schemas.openxmlformats.org/drawingml/2006/main">
            <a:pPr>
              <a:buNone/>
            </a:pPr>
            <a:r>
              <a:rPr lang="en-US" sz="1100"/>
              <a:t>Focus on the existing task: Vocabulary 1 of 5 vertex A corner point of a…</a:t>
            </a:r>
          </a:p>
          <a:p xmlns:a="http://schemas.openxmlformats.org/drawingml/2006/main">
            <a:pPr>
              <a:buNone/>
            </a:pPr>
            <a:r>
              <a:rPr lang="en-US" sz="1100"/>
              <a:t>ASK (T1/3/5): Where does “vertex”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9 | VOCAB</a:t>
            </a:r>
          </a:p>
          <a:p xmlns:a="http://schemas.openxmlformats.org/drawingml/2006/main">
            <a:pPr>
              <a:buNone/>
            </a:pPr>
            <a:r>
              <a:rPr lang="en-US" sz="1100"/>
              <a:t>Focus on the existing task: Vocabulary 2 of 5 polygon A closed figure made…</a:t>
            </a:r>
          </a:p>
          <a:p xmlns:a="http://schemas.openxmlformats.org/drawingml/2006/main">
            <a:pPr>
              <a:buNone/>
            </a:pPr>
            <a:r>
              <a:rPr lang="en-US" sz="1100"/>
              <a:t>ASK (T1/3/5): Where does “polygon”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10 | VOCAB</a:t>
            </a:r>
          </a:p>
          <a:p xmlns:a="http://schemas.openxmlformats.org/drawingml/2006/main">
            <a:pPr>
              <a:buNone/>
            </a:pPr>
            <a:r>
              <a:rPr lang="en-US" sz="1100"/>
              <a:t>Focus on the existing task: Vocabulary 3 of 5 perimeter The total distance…</a:t>
            </a:r>
          </a:p>
          <a:p xmlns:a="http://schemas.openxmlformats.org/drawingml/2006/main">
            <a:pPr>
              <a:buNone/>
            </a:pPr>
            <a:r>
              <a:rPr lang="en-US" sz="1100"/>
              <a:t>ASK (T1/3/5): Where does “perimeter”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11 | VOCAB</a:t>
            </a:r>
          </a:p>
          <a:p xmlns:a="http://schemas.openxmlformats.org/drawingml/2006/main">
            <a:pPr>
              <a:buNone/>
            </a:pPr>
            <a:r>
              <a:rPr lang="en-US" sz="1100"/>
              <a:t>Focus on the existing task: Vocabulary 4 of 5 distance between vertices…</a:t>
            </a:r>
          </a:p>
          <a:p xmlns:a="http://schemas.openxmlformats.org/drawingml/2006/main">
            <a:pPr>
              <a:buNone/>
            </a:pPr>
            <a:r>
              <a:rPr lang="en-US" sz="1100"/>
              <a:t>ASK (T1/3/5): Where does “distance between vertices”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12 | VOCAB</a:t>
            </a:r>
          </a:p>
          <a:p xmlns:a="http://schemas.openxmlformats.org/drawingml/2006/main">
            <a:pPr>
              <a:buNone/>
            </a:pPr>
            <a:r>
              <a:rPr lang="en-US" sz="1100"/>
              <a:t>Focus on the existing task: Vocabulary 5 of 5 scale What one grid unit…</a:t>
            </a:r>
          </a:p>
          <a:p xmlns:a="http://schemas.openxmlformats.org/drawingml/2006/main">
            <a:pPr>
              <a:buNone/>
            </a:pPr>
            <a:r>
              <a:rPr lang="en-US" sz="1100"/>
              <a:t>ASK (T1/3/5): Where does “scale”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24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39 | PRIOR_INSERT</a:t>
            </a:r>
          </a:p>
          <a:p xmlns:a="http://schemas.openxmlformats.org/drawingml/2006/main">
            <a:pPr>
              <a:buNone/>
            </a:pPr>
            <a:r>
              <a:rPr lang="en-US" sz="1100"/>
              <a:t>Focus on the existing task: LESSON 7.7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43 | CURIOUS</a:t>
            </a:r>
          </a:p>
          <a:p xmlns:a="http://schemas.openxmlformats.org/drawingml/2006/main">
            <a:pPr>
              <a:buNone/>
            </a:pPr>
            <a:r>
              <a:rPr lang="en-US" sz="1100"/>
              <a:t>Focus on the existing task: Be Curious Be Curious How is identifying a problem helping in analyzing and solving the problem?</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plot vertices in order. Ask which feature of their work supports the claim.</a:t>
            </a:r>
          </a:p>
          <a:p xmlns:a="http://schemas.openxmlformats.org/drawingml/2006/main">
            <a:pPr>
              <a:buNone/>
            </a:pPr>
            <a:r>
              <a:rPr lang="en-US" sz="1100"/>
              <a:t>RESPOND: If this task shows the lesson misconception—confusing a coordinate with a side length or applying an axis-distance rule to a slanted edge—label the vertices and axis-aligned side lengths on the original polygon.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7.7, slide 45 | PRIOR_INSERT</a:t>
            </a:r>
          </a:p>
          <a:p xmlns:a="http://schemas.openxmlformats.org/drawingml/2006/main">
            <a:pPr>
              <a:buNone/>
            </a:pPr>
            <a:r>
              <a:rPr lang="en-US" sz="1100"/>
              <a:t>Focus on the existing task: LESSON 7.7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plot vertices in order; determine applicable side lengths; connect coordinates to perimeter or area.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Polygons on the Coordinate Plane</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Polygons on the Coordinate Plane</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6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6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6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16.png"/><Relationship Id="rId5" Type="http://schemas.openxmlformats.org/officeDocument/2006/relationships/image" Target="../media/image30.png"/><Relationship Id="rId6" Type="http://schemas.openxmlformats.org/officeDocument/2006/relationships/image" Target="../media/image25.png"/><Relationship Id="rId7"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34.png"/><Relationship Id="rId7" Type="http://schemas.openxmlformats.org/officeDocument/2006/relationships/image" Target="../media/image32.png"/><Relationship Id="rId8" Type="http://schemas.openxmlformats.org/officeDocument/2006/relationships/image" Target="../media/image35.png"/><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42.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41.png"/><Relationship Id="rId5"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9.png"/><Relationship Id="rId4" Type="http://schemas.openxmlformats.org/officeDocument/2006/relationships/image" Target="../media/image45.png"/><Relationship Id="rId5"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4.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6.png"/><Relationship Id="rId4" Type="http://schemas.openxmlformats.org/officeDocument/2006/relationships/image" Target="../media/image52.png"/><Relationship Id="rId5" Type="http://schemas.openxmlformats.org/officeDocument/2006/relationships/image" Target="../media/image4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image" Target="../media/image4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7.png"/><Relationship Id="rId4" Type="http://schemas.openxmlformats.org/officeDocument/2006/relationships/image" Target="../media/image55.png"/><Relationship Id="rId5"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6.png"/><Relationship Id="rId4" Type="http://schemas.openxmlformats.org/officeDocument/2006/relationships/image" Target="../media/image53.png"/><Relationship Id="rId5" Type="http://schemas.openxmlformats.org/officeDocument/2006/relationships/image" Target="../media/image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65.png"/><Relationship Id="rId4" Type="http://schemas.openxmlformats.org/officeDocument/2006/relationships/image" Target="../media/image63.png"/><Relationship Id="rId5"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8.png"/><Relationship Id="rId4" Type="http://schemas.openxmlformats.org/officeDocument/2006/relationships/image" Target="../media/image54.png"/><Relationship Id="rId5"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7.png"/><Relationship Id="rId4" Type="http://schemas.openxmlformats.org/officeDocument/2006/relationships/image" Target="../media/image59.png"/><Relationship Id="rId5" Type="http://schemas.openxmlformats.org/officeDocument/2006/relationships/image" Target="../media/image6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6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7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0.png"/><Relationship Id="rId3" Type="http://schemas.openxmlformats.org/officeDocument/2006/relationships/notesSlide" Target="../notesSlides/notesSlide6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7-7 · Represent Polygons on the Coordinate Plane   |   Warm-Up · about 4 minutes</a:t>
            </a:r>
          </a:p>
        </p:txBody>
      </p:sp>
      <p:sp>
        <p:nvSpPr>
          <p:cNvPr id="26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Connect (1, 1), (5, 1), (5, 4), (1, 4) in order. The shape is a ______</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From (1, 1) to (5, 1) is ______ units.</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A rectangle has sides 4, 3, 4, and 3. Perimeter = ______ units.</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Area of a rectangle 4 units by 3 units = ______ square units.</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1"/>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482" name="Google Shape;482;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483" name="Google Shape;483;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85" name="Google Shape;485;p51"/>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486" name="Google Shape;486;p51"/>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488" name="Google Shape;488;p51"/>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491" name="Google Shape;491;p51"/>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vertex</a:t>
            </a:r>
            <a:endParaRPr/>
          </a:p>
        </p:txBody>
      </p:sp>
      <p:sp>
        <p:nvSpPr>
          <p:cNvPr id="492" name="Google Shape;492;p51"/>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corner point of a </a:t>
            </a:r>
            <a:r>
              <a:rPr b="1" i="0" lang="en-US" sz="1450" u="none" cap="none" strike="noStrike">
                <a:solidFill>
                  <a:srgbClr val="475569"/>
                </a:solidFill>
                <a:latin typeface="Arial"/>
                <a:ea typeface="Arial"/>
                <a:cs typeface="Arial"/>
                <a:sym typeface="Arial"/>
              </a:rPr>
              <a:t xml:space="preserve">polygon</a:t>
            </a:r>
            <a:endParaRPr/>
          </a:p>
        </p:txBody>
      </p:sp>
      <p:sp>
        <p:nvSpPr>
          <p:cNvPr id="493" name="Google Shape;493;p51"/>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496" name="Google Shape;496;p51"/>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polygon</a:t>
            </a:r>
            <a:endParaRPr/>
          </a:p>
        </p:txBody>
      </p:sp>
      <p:sp>
        <p:nvSpPr>
          <p:cNvPr id="497" name="Google Shape;497;p51"/>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closed figure made of line segments</a:t>
            </a:r>
            <a:endParaRPr/>
          </a:p>
        </p:txBody>
      </p:sp>
      <p:sp>
        <p:nvSpPr>
          <p:cNvPr id="498" name="Google Shape;498;p51"/>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51"/>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51"/>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01" name="Google Shape;501;p51"/>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perimeter</a:t>
            </a:r>
            <a:endParaRPr/>
          </a:p>
        </p:txBody>
      </p:sp>
      <p:sp>
        <p:nvSpPr>
          <p:cNvPr id="502" name="Google Shape;502;p51"/>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total </a:t>
            </a:r>
            <a:r>
              <a:rPr b="1" i="0" lang="en-US" sz="1450" u="none" cap="none" strike="noStrike">
                <a:solidFill>
                  <a:srgbClr val="475569"/>
                </a:solidFill>
                <a:latin typeface="Arial"/>
                <a:ea typeface="Arial"/>
                <a:cs typeface="Arial"/>
                <a:sym typeface="Arial"/>
              </a:rPr>
              <a:t xml:space="preserve">distance</a:t>
            </a:r>
            <a:r>
              <a:rPr b="0" i="0" lang="en-US" sz="1450" u="none" cap="none" strike="noStrike">
                <a:solidFill>
                  <a:srgbClr val="475569"/>
                </a:solidFill>
                <a:latin typeface="Arial"/>
                <a:ea typeface="Arial"/>
                <a:cs typeface="Arial"/>
                <a:sym typeface="Arial"/>
              </a:rPr>
              <a:t xml:space="preserve"> around a polygon</a:t>
            </a:r>
            <a:endParaRPr/>
          </a:p>
        </p:txBody>
      </p:sp>
      <p:sp>
        <p:nvSpPr>
          <p:cNvPr id="50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51</a:t>
            </a:r>
          </a:p>
        </p:txBody>
      </p:sp>
      <p:grpSp>
        <p:nvGrpSpPr>
          <p:cNvPr id="504" name="TEACH-1-student-move" descr="TEACH 1 · Facilitate clear, standards-based content learning"/>
          <p:cNvGrpSpPr/>
          <p:nvPr/>
        </p:nvGrpSpPr>
        <p:grpSpPr>
          <a:xfrm>
            <a:off x="6187440" y="1682496"/>
            <a:ext cx="5501640" cy="594360"/>
            <a:chOff x="6187440" y="1682496"/>
            <a:chExt cx="5501640" cy="594360"/>
          </a:xfrm>
        </p:grpSpPr>
        <p:sp>
          <p:nvSpPr>
            <p:cNvPr id="505"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06"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07"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10" name="Google Shape;510;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511" name="Google Shape;511;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13" name="Google Shape;513;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14" name="Google Shape;514;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16" name="Google Shape;516;p5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Polygons on the Coordinate Plane</a:t>
            </a:r>
            <a:endParaRPr/>
          </a:p>
        </p:txBody>
      </p:sp>
      <p:sp>
        <p:nvSpPr>
          <p:cNvPr id="518" name="Google Shape;518;p52"/>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2"/>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0" name="Google Shape;520;p52"/>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Plot all given </a:t>
            </a:r>
            <a:r>
              <a:rPr b="1" i="0" lang="en-US" sz="1600" u="none" cap="none" strike="noStrike">
                <a:solidFill>
                  <a:srgbClr val="14223A"/>
                </a:solidFill>
                <a:latin typeface="Arial"/>
                <a:ea typeface="Arial"/>
                <a:cs typeface="Arial"/>
                <a:sym typeface="Arial"/>
              </a:rPr>
              <a:t xml:space="preserve">vertices</a:t>
            </a:r>
            <a:r>
              <a:rPr b="0" i="0" lang="en-US" sz="1600" u="none" cap="none" strike="noStrike">
                <a:solidFill>
                  <a:srgbClr val="14223A"/>
                </a:solidFill>
                <a:latin typeface="Arial"/>
                <a:ea typeface="Arial"/>
                <a:cs typeface="Arial"/>
                <a:sym typeface="Arial"/>
              </a:rPr>
              <a:t xml:space="preserve"> and connect them in order to form the </a:t>
            </a:r>
            <a:r>
              <a:rPr b="1" i="0" lang="en-US" sz="1600" u="none" cap="none" strike="noStrike">
                <a:solidFill>
                  <a:srgbClr val="14223A"/>
                </a:solidFill>
                <a:latin typeface="Arial"/>
                <a:ea typeface="Arial"/>
                <a:cs typeface="Arial"/>
                <a:sym typeface="Arial"/>
              </a:rPr>
              <a:t xml:space="preserve">polygon</a:t>
            </a:r>
            <a:endParaRPr/>
          </a:p>
        </p:txBody>
      </p:sp>
      <p:sp>
        <p:nvSpPr>
          <p:cNvPr id="521" name="Google Shape;521;p52"/>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2"/>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3" name="Google Shape;523;p52"/>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Find </a:t>
            </a:r>
            <a:r>
              <a:rPr b="1" i="0" lang="en-US" sz="1600" u="none" cap="none" strike="noStrike">
                <a:solidFill>
                  <a:srgbClr val="14223A"/>
                </a:solidFill>
                <a:latin typeface="Arial"/>
                <a:ea typeface="Arial"/>
                <a:cs typeface="Arial"/>
                <a:sym typeface="Arial"/>
              </a:rPr>
              <a:t xml:space="preserve">side lengths</a:t>
            </a:r>
            <a:r>
              <a:rPr b="0" i="0" lang="en-US" sz="1600" u="none" cap="none" strike="noStrike">
                <a:solidFill>
                  <a:srgbClr val="14223A"/>
                </a:solidFill>
                <a:latin typeface="Arial"/>
                <a:ea typeface="Arial"/>
                <a:cs typeface="Arial"/>
                <a:sym typeface="Arial"/>
              </a:rPr>
              <a:t xml:space="preserve"> by counting grid units or using coordinate </a:t>
            </a:r>
            <a:r>
              <a:rPr b="1" i="0" lang="en-US" sz="1600" u="none" cap="none" strike="noStrike">
                <a:solidFill>
                  <a:srgbClr val="14223A"/>
                </a:solidFill>
                <a:latin typeface="Arial"/>
                <a:ea typeface="Arial"/>
                <a:cs typeface="Arial"/>
                <a:sym typeface="Arial"/>
              </a:rPr>
              <a:t xml:space="preserve">distance</a:t>
            </a:r>
            <a:r>
              <a:rPr b="0" i="0" lang="en-US" sz="1600" u="none" cap="none" strike="noStrike">
                <a:solidFill>
                  <a:srgbClr val="14223A"/>
                </a:solidFill>
                <a:latin typeface="Arial"/>
                <a:ea typeface="Arial"/>
                <a:cs typeface="Arial"/>
                <a:sym typeface="Arial"/>
              </a:rPr>
              <a:t xml:space="preserve"> formulas</a:t>
            </a:r>
            <a:endParaRPr/>
          </a:p>
        </p:txBody>
      </p:sp>
      <p:sp>
        <p:nvSpPr>
          <p:cNvPr id="524" name="Google Shape;524;p52"/>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2"/>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26" name="Google Shape;526;p52"/>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 xml:space="preserve">Perimeter</a:t>
            </a:r>
            <a:r>
              <a:rPr b="0" i="0" lang="en-US" sz="1600" u="none" cap="none" strike="noStrike">
                <a:solidFill>
                  <a:srgbClr val="14223A"/>
                </a:solidFill>
                <a:latin typeface="Arial"/>
                <a:ea typeface="Arial"/>
                <a:cs typeface="Arial"/>
                <a:sym typeface="Arial"/>
              </a:rPr>
              <a:t xml:space="preserve"> = Sum of all side lengths; </a:t>
            </a:r>
            <a:r>
              <a:rPr b="1" i="0" lang="en-US" sz="1600" u="none" cap="none" strike="noStrike">
                <a:solidFill>
                  <a:srgbClr val="14223A"/>
                </a:solidFill>
                <a:latin typeface="Arial"/>
                <a:ea typeface="Arial"/>
                <a:cs typeface="Arial"/>
                <a:sym typeface="Arial"/>
              </a:rPr>
              <a:t xml:space="preserve">Area</a:t>
            </a:r>
            <a:r>
              <a:rPr b="0" i="0" lang="en-US" sz="1600" u="none" cap="none" strike="noStrike">
                <a:solidFill>
                  <a:srgbClr val="14223A"/>
                </a:solidFill>
                <a:latin typeface="Arial"/>
                <a:ea typeface="Arial"/>
                <a:cs typeface="Arial"/>
                <a:sym typeface="Arial"/>
              </a:rPr>
              <a:t xml:space="preserve"> = Use standard polygon formulas</a:t>
            </a:r>
            <a:endParaRPr/>
          </a:p>
        </p:txBody>
      </p:sp>
      <p:sp>
        <p:nvSpPr>
          <p:cNvPr id="5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51</a:t>
            </a:r>
          </a:p>
        </p:txBody>
      </p:sp>
      <p:grpSp>
        <p:nvGrpSpPr>
          <p:cNvPr id="528" name="TEACH-1-student-move" descr="TEACH 1 · Facilitate clear, standards-based content learning"/>
          <p:cNvGrpSpPr/>
          <p:nvPr/>
        </p:nvGrpSpPr>
        <p:grpSpPr>
          <a:xfrm>
            <a:off x="502920" y="5111496"/>
            <a:ext cx="11186160" cy="402336"/>
            <a:chOff x="502920" y="5111496"/>
            <a:chExt cx="11186160" cy="402336"/>
          </a:xfrm>
        </p:grpSpPr>
        <p:sp>
          <p:nvSpPr>
            <p:cNvPr id="529" name="TEACH-move-card"/>
            <p:cNvSpPr/>
            <p:nvPr/>
          </p:nvSpPr>
          <p:spPr>
            <a:xfrm>
              <a:off x="502920" y="51114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30" name="TEACH-move-rule"/>
            <p:cNvSpPr/>
            <p:nvPr/>
          </p:nvSpPr>
          <p:spPr>
            <a:xfrm>
              <a:off x="548640" y="5187940"/>
              <a:ext cx="100584" cy="249448"/>
            </a:xfrm>
            <a:prstGeom prst="roundRect">
              <a:avLst>
                <a:gd name="adj" fmla="val 50000"/>
              </a:avLst>
            </a:prstGeom>
            <a:solidFill>
              <a:srgbClr val="01708C"/>
            </a:solidFill>
            <a:ln>
              <a:noFill/>
            </a:ln>
          </p:spPr>
          <p:txBody>
            <a:bodyPr/>
            <a:lstStyle/>
            <a:p>
              <a:endParaRPr/>
            </a:p>
          </p:txBody>
        </p:sp>
        <p:sp>
          <p:nvSpPr>
            <p:cNvPr id="531" name="TEACH-move-text"/>
            <p:cNvSpPr txBox="1"/>
            <p:nvPr/>
          </p:nvSpPr>
          <p:spPr>
            <a:xfrm>
              <a:off x="822960" y="51114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Represent Polygons on the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Coordinate Plane</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51</a:t>
            </a:r>
          </a:p>
        </p:txBody>
      </p:sp>
      <p:grpSp>
        <p:nvGrpSpPr>
          <p:cNvPr id="237" name="TEACH-2-student-move" descr="TEACH 2 · Use strategies and tasks to engage students in rigorous work"/>
          <p:cNvGrpSpPr/>
          <p:nvPr/>
        </p:nvGrpSpPr>
        <p:grpSpPr>
          <a:xfrm>
            <a:off x="502920" y="3867613"/>
            <a:ext cx="11186160" cy="731520"/>
            <a:chOff x="502920" y="3867613"/>
            <a:chExt cx="11186160" cy="731520"/>
          </a:xfrm>
        </p:grpSpPr>
        <p:sp>
          <p:nvSpPr>
            <p:cNvPr id="238" name="TEACH-move-card"/>
            <p:cNvSpPr/>
            <p:nvPr/>
          </p:nvSpPr>
          <p:spPr>
            <a:xfrm>
              <a:off x="502920" y="3867613"/>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2"/>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3"/>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486000" y="313565"/>
            <a:ext cx="467110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About, Between, or Exact</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486000" y="936000"/>
            <a:ext cx="6592528" cy="18466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about 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between  ______ and ______.</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It is exactly ______.</a:t>
            </a:r>
            <a:endParaRPr b="0" i="0" sz="1400" u="none" cap="none" strike="noStrike">
              <a:solidFill>
                <a:srgbClr val="000000"/>
              </a:solidFill>
              <a:latin typeface="Arial"/>
              <a:ea typeface="Arial"/>
              <a:cs typeface="Arial"/>
              <a:sym typeface="Arial"/>
            </a:endParaRPr>
          </a:p>
        </p:txBody>
      </p:sp>
      <p:sp>
        <p:nvSpPr>
          <p:cNvPr id="243" name="Google Shape;243;p41"/>
          <p:cNvSpPr txBox="1"/>
          <p:nvPr/>
        </p:nvSpPr>
        <p:spPr>
          <a:xfrm>
            <a:off x="486000" y="3483077"/>
            <a:ext cx="2215680"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4" name="Google Shape;244;p41"/>
          <p:cNvSpPr txBox="1"/>
          <p:nvPr/>
        </p:nvSpPr>
        <p:spPr>
          <a:xfrm>
            <a:off x="4342311" y="3483077"/>
            <a:ext cx="2382339"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5" name="Google Shape;245;p41"/>
          <p:cNvSpPr txBox="1"/>
          <p:nvPr/>
        </p:nvSpPr>
        <p:spPr>
          <a:xfrm>
            <a:off x="8171977" y="3483076"/>
            <a:ext cx="2496023"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51</a:t>
            </a:r>
          </a:p>
        </p:txBody>
      </p:sp>
      <p:sp xmlns:p="http://schemas.openxmlformats.org/presentationml/2006/main" xmlns:a="http://schemas.openxmlformats.org/drawingml/2006/main">
        <p:nvSpPr>
          <p:cNvPr id="24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8" name="Google Shape;338;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339" name="Google Shape;339;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1" name="Google Shape;341;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Represent Polygons on the Coordinate Plane</a:t>
            </a:r>
            <a:endParaRPr/>
          </a:p>
        </p:txBody>
      </p:sp>
      <p:sp>
        <p:nvSpPr>
          <p:cNvPr id="342" name="Google Shape;342;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6.NOS.9</a:t>
            </a:r>
            <a:endParaRPr/>
          </a:p>
        </p:txBody>
      </p:sp>
      <p:sp>
        <p:nvSpPr>
          <p:cNvPr id="343" name="Google Shape;343;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6" name="Google Shape;346;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7" name="Google Shape;347;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150" u="none" cap="none" strike="noStrike">
                <a:solidFill>
                  <a:srgbClr val="14223A"/>
                </a:solidFill>
                <a:latin typeface="Arial"/>
                <a:ea typeface="Arial"/>
                <a:cs typeface="Arial"/>
                <a:sym typeface="Arial"/>
              </a:rPr>
              <a:t>I can draw polygons from their vertex coordinates on the coordinate plane, and use coordinates to find side lengths and solve perimeter and area problems.</a:t>
            </a:r>
            <a:endParaRPr/>
          </a:p>
        </p:txBody>
      </p:sp>
      <p:sp>
        <p:nvSpPr>
          <p:cNvPr id="348" name="Google Shape;348;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1" name="Google Shape;351;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2" name="Google Shape;352;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how I found a distance using the words vertices, coordinates, and absolute value.</a:t>
            </a:r>
            <a:endParaRPr/>
          </a:p>
        </p:txBody>
      </p:sp>
      <p:sp>
        <p:nvSpPr>
          <p:cNvPr id="3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51</a:t>
            </a:r>
          </a:p>
        </p:txBody>
      </p:sp>
      <p:grpSp>
        <p:nvGrpSpPr>
          <p:cNvPr id="354" name="TEACH-1-student-move" descr="TEACH 1 · Facilitate clear, standards-based content learning"/>
          <p:cNvGrpSpPr/>
          <p:nvPr/>
        </p:nvGrpSpPr>
        <p:grpSpPr>
          <a:xfrm>
            <a:off x="502920" y="1993392"/>
            <a:ext cx="11186160" cy="402336"/>
            <a:chOff x="502920" y="1993392"/>
            <a:chExt cx="11186160" cy="402336"/>
          </a:xfrm>
        </p:grpSpPr>
        <p:sp>
          <p:nvSpPr>
            <p:cNvPr id="355"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6"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7"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7.7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Plot vertices in order.</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Determine applicable side lengths.</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Connect coordinates to perimeter or area.</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9" name="Google Shape;389;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2" name="Google Shape;392;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393" name="Google Shape;393;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5" name="Google Shape;395;p46"/>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vertex</a:t>
            </a:r>
            <a:endParaRPr/>
          </a:p>
        </p:txBody>
      </p:sp>
      <p:sp>
        <p:nvSpPr>
          <p:cNvPr id="396" name="Google Shape;396;p46"/>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corner point of a polygon, named by an ordered pair on the coordinate plane.</a:t>
            </a:r>
            <a:endParaRPr/>
          </a:p>
        </p:txBody>
      </p:sp>
      <p:sp>
        <p:nvSpPr>
          <p:cNvPr id="398" name="Google Shape;398;p46"/>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1" name="Google Shape;401;p46"/>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park’s corner at (2, 4) — one corner, named by an ordered pair.</a:t>
            </a:r>
            <a:endParaRPr/>
          </a:p>
        </p:txBody>
      </p:sp>
      <p:pic>
        <p:nvPicPr>
          <p:cNvPr descr="ordered-pair.png" id="402" name="Google Shape;402;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51</a:t>
            </a:r>
          </a:p>
        </p:txBody>
      </p:sp>
      <p:sp xmlns:p="http://schemas.openxmlformats.org/presentationml/2006/main" xmlns:a="http://schemas.openxmlformats.org/drawingml/2006/main">
        <p:nvSpPr>
          <p:cNvPr id="4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“vertex”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7" name="Google Shape;407;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5</a:t>
            </a:r>
            <a:endParaRPr/>
          </a:p>
        </p:txBody>
      </p:sp>
      <p:sp>
        <p:nvSpPr>
          <p:cNvPr id="410" name="Google Shape;410;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411" name="Google Shape;411;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3" name="Google Shape;413;p47"/>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polygon</a:t>
            </a:r>
            <a:endParaRPr/>
          </a:p>
        </p:txBody>
      </p:sp>
      <p:sp>
        <p:nvSpPr>
          <p:cNvPr id="414" name="Google Shape;414;p47"/>
          <p:cNvSpPr/>
          <p:nvPr/>
        </p:nvSpPr>
        <p:spPr>
          <a:xfrm>
            <a:off x="658368" y="246278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closed figure made of line segments; on the plane you draw it by plotting the vertices and connecting them in order.</a:t>
            </a:r>
            <a:endParaRPr/>
          </a:p>
        </p:txBody>
      </p:sp>
      <p:sp>
        <p:nvSpPr>
          <p:cNvPr id="416" name="Google Shape;416;p47"/>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9" name="Google Shape;419;p47"/>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Plot (2, 4), (5, 4), (5, −4), (2, −4) and join them — a rectangle appears.</a:t>
            </a:r>
            <a:endParaRPr/>
          </a:p>
        </p:txBody>
      </p:sp>
      <p:pic>
        <p:nvPicPr>
          <p:cNvPr descr="regular-polygon.png" id="420" name="Google Shape;420;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51</a:t>
            </a:r>
          </a:p>
        </p:txBody>
      </p:sp>
      <p:sp xmlns:p="http://schemas.openxmlformats.org/presentationml/2006/main" xmlns:a="http://schemas.openxmlformats.org/drawingml/2006/main">
        <p:nvSpPr>
          <p:cNvPr id="42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“polygon”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5" name="Google Shape;425;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28" name="Google Shape;428;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429" name="Google Shape;429;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1" name="Google Shape;431;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perimeter</a:t>
            </a:r>
            <a:endParaRPr/>
          </a:p>
        </p:txBody>
      </p:sp>
      <p:sp>
        <p:nvSpPr>
          <p:cNvPr id="432" name="Google Shape;432;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total distance around a polygon — the sum of all its side lengths.</a:t>
            </a:r>
            <a:endParaRPr/>
          </a:p>
        </p:txBody>
      </p:sp>
      <p:sp>
        <p:nvSpPr>
          <p:cNvPr id="434" name="Google Shape;434;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7" name="Google Shape;437;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2(9.5) + 2(6.75) = 32.5 units around the deck.</a:t>
            </a:r>
            <a:endParaRPr/>
          </a:p>
        </p:txBody>
      </p:sp>
      <p:pic>
        <p:nvPicPr>
          <p:cNvPr descr="perimeter.png" id="438" name="Google Shape;438;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51</a:t>
            </a:r>
          </a:p>
        </p:txBody>
      </p:sp>
      <p:sp xmlns:p="http://schemas.openxmlformats.org/presentationml/2006/main" xmlns:a="http://schemas.openxmlformats.org/drawingml/2006/main">
        <p:nvSpPr>
          <p:cNvPr id="43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“perimeter”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3" name="Google Shape;443;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4 of 5</a:t>
            </a:r>
            <a:endParaRPr/>
          </a:p>
        </p:txBody>
      </p:sp>
      <p:sp>
        <p:nvSpPr>
          <p:cNvPr id="446" name="Google Shape;446;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447" name="Google Shape;447;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49" name="Google Shape;449;p49"/>
          <p:cNvSpPr txBox="1"/>
          <p:nvPr/>
        </p:nvSpPr>
        <p:spPr>
          <a:xfrm>
            <a:off x="640080" y="138531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distance between vertices</a:t>
            </a:r>
            <a:endParaRPr/>
          </a:p>
        </p:txBody>
      </p:sp>
      <p:sp>
        <p:nvSpPr>
          <p:cNvPr id="450" name="Google Shape;450;p49"/>
          <p:cNvSpPr/>
          <p:nvPr/>
        </p:nvSpPr>
        <p:spPr>
          <a:xfrm>
            <a:off x="658368" y="2903219"/>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640080" y="326440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When two vertices share an x- or y-coordinate, the distance between them is the absolute difference of the other coordinates.</a:t>
            </a:r>
            <a:endParaRPr/>
          </a:p>
        </p:txBody>
      </p:sp>
      <p:sp>
        <p:nvSpPr>
          <p:cNvPr id="452" name="Google Shape;452;p49"/>
          <p:cNvSpPr/>
          <p:nvPr/>
        </p:nvSpPr>
        <p:spPr>
          <a:xfrm>
            <a:off x="640080" y="474116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p:nvPr/>
        </p:nvSpPr>
        <p:spPr>
          <a:xfrm>
            <a:off x="640080" y="474116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932688" y="491490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55" name="Google Shape;455;p49"/>
          <p:cNvSpPr txBox="1"/>
          <p:nvPr/>
        </p:nvSpPr>
        <p:spPr>
          <a:xfrm>
            <a:off x="932688" y="521665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(2, 4) and (5, 4) share y, so the side is |5 − 2| = 3 units.</a:t>
            </a:r>
            <a:endParaRPr/>
          </a:p>
        </p:txBody>
      </p:sp>
      <p:pic>
        <p:nvPicPr>
          <p:cNvPr descr="distance.png" id="456" name="Google Shape;456;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51</a:t>
            </a:r>
          </a:p>
        </p:txBody>
      </p:sp>
      <p:grpSp>
        <p:nvGrpSpPr>
          <p:cNvPr id="457" name="TEACH-5-student-move" descr="TEACH 5 · Facilitate student interactions and academic talk"/>
          <p:cNvGrpSpPr/>
          <p:nvPr/>
        </p:nvGrpSpPr>
        <p:grpSpPr>
          <a:xfrm>
            <a:off x="502920" y="5829300"/>
            <a:ext cx="11186160" cy="457200"/>
            <a:chOff x="502920" y="5829300"/>
            <a:chExt cx="11186160" cy="457200"/>
          </a:xfrm>
        </p:grpSpPr>
        <p:sp>
          <p:nvSpPr>
            <p:cNvPr id="458" name="TEACH-move-card"/>
            <p:cNvSpPr/>
            <p:nvPr/>
          </p:nvSpPr>
          <p:spPr>
            <a:xfrm>
              <a:off x="502920" y="58293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459" name="TEACH-move-rule"/>
            <p:cNvSpPr/>
            <p:nvPr/>
          </p:nvSpPr>
          <p:spPr>
            <a:xfrm>
              <a:off x="548640" y="5916168"/>
              <a:ext cx="100584" cy="283464"/>
            </a:xfrm>
            <a:prstGeom prst="roundRect">
              <a:avLst>
                <a:gd name="adj" fmla="val 50000"/>
              </a:avLst>
            </a:prstGeom>
            <a:solidFill>
              <a:srgbClr val="01708C"/>
            </a:solidFill>
            <a:ln>
              <a:noFill/>
            </a:ln>
          </p:spPr>
          <p:txBody>
            <a:bodyPr/>
            <a:lstStyle/>
            <a:p>
              <a:endParaRPr/>
            </a:p>
          </p:txBody>
        </p:sp>
        <p:sp>
          <p:nvSpPr>
            <p:cNvPr id="460" name="TEACH-move-text"/>
            <p:cNvSpPr txBox="1"/>
            <p:nvPr/>
          </p:nvSpPr>
          <p:spPr>
            <a:xfrm>
              <a:off x="822960" y="58293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1" name="Google Shape;461;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64" name="Google Shape;464;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465" name="Google Shape;465;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7" name="Google Shape;467;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scale</a:t>
            </a:r>
            <a:endParaRPr/>
          </a:p>
        </p:txBody>
      </p:sp>
      <p:sp>
        <p:nvSpPr>
          <p:cNvPr id="468" name="Google Shape;468;p50"/>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What one grid unit stands for in the real situation.</a:t>
            </a:r>
            <a:endParaRPr/>
          </a:p>
        </p:txBody>
      </p:sp>
      <p:sp>
        <p:nvSpPr>
          <p:cNvPr id="470" name="Google Shape;470;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3" name="Google Shape;473;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Each grid unit = 100 feet, so 8 units of map is 800 real feet.</a:t>
            </a:r>
            <a:endParaRPr/>
          </a:p>
        </p:txBody>
      </p:sp>
      <p:pic>
        <p:nvPicPr>
          <p:cNvPr descr="scale-factor.png" id="474" name="Google Shape;474;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51</a:t>
            </a:r>
          </a:p>
        </p:txBody>
      </p:sp>
      <p:sp xmlns:p="http://schemas.openxmlformats.org/presentationml/2006/main" xmlns:a="http://schemas.openxmlformats.org/drawingml/2006/main">
        <p:nvSpPr>
          <p:cNvPr id="47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“scale”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0" name="Google Shape;360;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361" name="Google Shape;361;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3" name="Google Shape;363;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4" name="Google Shape;364;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5" name="Google Shape;365;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vertex</a:t>
            </a:r>
            <a:endParaRPr/>
          </a:p>
        </p:txBody>
      </p:sp>
      <p:sp>
        <p:nvSpPr>
          <p:cNvPr id="368" name="Google Shape;368;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corner point of a polygon, named by an ordered pair on the coordinate plane</a:t>
            </a:r>
            <a:endParaRPr/>
          </a:p>
        </p:txBody>
      </p:sp>
      <p:sp>
        <p:nvSpPr>
          <p:cNvPr id="369" name="Google Shape;369;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polygon</a:t>
            </a:r>
            <a:endParaRPr/>
          </a:p>
        </p:txBody>
      </p:sp>
      <p:sp>
        <p:nvSpPr>
          <p:cNvPr id="372" name="Google Shape;372;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closed figure made of line segments; on the plane you draw it by plotting the vertices and connecting them in order</a:t>
            </a:r>
            <a:endParaRPr/>
          </a:p>
        </p:txBody>
      </p:sp>
      <p:sp>
        <p:nvSpPr>
          <p:cNvPr id="373" name="Google Shape;373;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perimeter</a:t>
            </a:r>
            <a:endParaRPr/>
          </a:p>
        </p:txBody>
      </p:sp>
      <p:sp>
        <p:nvSpPr>
          <p:cNvPr id="376" name="Google Shape;376;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total distance around a polygon — the sum of all its side lengths</a:t>
            </a:r>
            <a:endParaRPr/>
          </a:p>
        </p:txBody>
      </p:sp>
      <p:sp>
        <p:nvSpPr>
          <p:cNvPr id="377" name="Google Shape;377;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distance between vertices</a:t>
            </a:r>
            <a:endParaRPr/>
          </a:p>
        </p:txBody>
      </p:sp>
      <p:sp>
        <p:nvSpPr>
          <p:cNvPr id="380" name="Google Shape;380;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When two vertices share an x- or y-coordinate, the distance between them is the absolute difference of the other coordinates</a:t>
            </a:r>
            <a:endParaRPr/>
          </a:p>
        </p:txBody>
      </p:sp>
      <p:sp>
        <p:nvSpPr>
          <p:cNvPr id="381" name="Google Shape;381;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scale</a:t>
            </a:r>
            <a:endParaRPr/>
          </a:p>
        </p:txBody>
      </p:sp>
      <p:sp>
        <p:nvSpPr>
          <p:cNvPr id="384" name="Google Shape;384;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What one grid unit stands for in the real situation</a:t>
            </a:r>
            <a:endParaRPr/>
          </a:p>
        </p:txBody>
      </p:sp>
      <p:sp>
        <p:nvSpPr>
          <p:cNvPr id="3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51</a:t>
            </a:r>
          </a:p>
        </p:txBody>
      </p:sp>
      <p:sp xmlns:p="http://schemas.openxmlformats.org/presentationml/2006/main" xmlns:a="http://schemas.openxmlformats.org/drawingml/2006/main">
        <p:nvSpPr>
          <p:cNvPr id="386"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cxnSp>
        <p:nvCxnSpPr>
          <p:cNvPr id="541" name="Google Shape;541;p5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2" name="Google Shape;542;p5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43" name="Google Shape;543;p54"/>
          <p:cNvPicPr preferRelativeResize="0"/>
          <p:nvPr/>
        </p:nvPicPr>
        <p:blipFill rotWithShape="1">
          <a:blip r:embed="rId3">
            <a:alphaModFix/>
          </a:blip>
          <a:srcRect b="0" l="0" r="0" t="0"/>
          <a:stretch/>
        </p:blipFill>
        <p:spPr>
          <a:xfrm>
            <a:off x="387260" y="4584267"/>
            <a:ext cx="5054600" cy="838200"/>
          </a:xfrm>
          <a:prstGeom prst="rect">
            <a:avLst/>
          </a:prstGeom>
          <a:noFill/>
          <a:ln>
            <a:noFill/>
          </a:ln>
        </p:spPr>
      </p:pic>
      <p:sp>
        <p:nvSpPr>
          <p:cNvPr id="544" name="Google Shape;544;p54"/>
          <p:cNvSpPr txBox="1"/>
          <p:nvPr/>
        </p:nvSpPr>
        <p:spPr>
          <a:xfrm>
            <a:off x="3047450" y="468350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45" name="Google Shape;545;p54"/>
          <p:cNvSpPr txBox="1"/>
          <p:nvPr/>
        </p:nvSpPr>
        <p:spPr>
          <a:xfrm>
            <a:off x="484560" y="936000"/>
            <a:ext cx="4135065" cy="13309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46" name="Google Shape;546;p54"/>
          <p:cNvSpPr/>
          <p:nvPr/>
        </p:nvSpPr>
        <p:spPr>
          <a:xfrm>
            <a:off x="380501" y="5434648"/>
            <a:ext cx="6689039"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does identifying a problem help in analyzing and solving the problem?</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assets\03305d040de443248c62f0c98953232a\narm24_c10707_se_003a-dig.png" id="547" name="Google Shape;547;p54"/>
          <p:cNvPicPr preferRelativeResize="0"/>
          <p:nvPr/>
        </p:nvPicPr>
        <p:blipFill rotWithShape="1">
          <a:blip r:embed="rId4">
            <a:alphaModFix/>
          </a:blip>
          <a:srcRect b="0" l="0" r="0" t="0"/>
          <a:stretch/>
        </p:blipFill>
        <p:spPr>
          <a:xfrm>
            <a:off x="6630175" y="1560924"/>
            <a:ext cx="4335351" cy="4320000"/>
          </a:xfrm>
          <a:prstGeom prst="rect">
            <a:avLst/>
          </a:prstGeom>
          <a:noFill/>
          <a:ln>
            <a:noFill/>
          </a:ln>
        </p:spPr>
      </p:pic>
      <p:sp>
        <p:nvSpPr>
          <p:cNvPr id="54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51</a:t>
            </a:r>
          </a:p>
        </p:txBody>
      </p:sp>
      <p:sp xmlns:p="http://schemas.openxmlformats.org/presentationml/2006/main" xmlns:a="http://schemas.openxmlformats.org/drawingml/2006/main">
        <p:nvSpPr>
          <p:cNvPr id="549" name="TEACH-embedded-student-prompt" descr="Student thinking and response directions"/>
          <p:cNvSpPr txBox="1"/>
          <p:nvPr/>
        </p:nvSpPr>
        <p:spPr>
          <a:xfrm>
            <a:off x="594360" y="36758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cxnSp>
        <p:nvCxnSpPr>
          <p:cNvPr id="552" name="Google Shape;552;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3" name="Google Shape;553;p55"/>
          <p:cNvSpPr txBox="1"/>
          <p:nvPr/>
        </p:nvSpPr>
        <p:spPr>
          <a:xfrm>
            <a:off x="486000" y="316800"/>
            <a:ext cx="5041343" cy="770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sp>
        <p:nvSpPr>
          <p:cNvPr id="554" name="Google Shape;554;p55"/>
          <p:cNvSpPr txBox="1"/>
          <p:nvPr/>
        </p:nvSpPr>
        <p:spPr>
          <a:xfrm>
            <a:off x="486000" y="1296001"/>
            <a:ext cx="7259035" cy="2323500"/>
          </a:xfrm>
          <a:prstGeom prst="rect">
            <a:avLst/>
          </a:prstGeom>
          <a:blipFill rotWithShape="1">
            <a:blip r:embed="rId3">
              <a:alphaModFix/>
            </a:blip>
            <a:stretch>
              <a:fillRect b="0" l="-1763" r="0" t="-288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55" name="Google Shape;555;p55"/>
          <p:cNvSpPr txBox="1"/>
          <p:nvPr/>
        </p:nvSpPr>
        <p:spPr>
          <a:xfrm>
            <a:off x="472489" y="2758696"/>
            <a:ext cx="699019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is the perimeter of the polygon?</a:t>
            </a:r>
            <a:endParaRPr b="0" i="0" sz="1400" u="none" cap="none" strike="noStrike">
              <a:solidFill>
                <a:srgbClr val="000000"/>
              </a:solidFill>
              <a:latin typeface="Arial"/>
              <a:ea typeface="Arial"/>
              <a:cs typeface="Arial"/>
              <a:sym typeface="Arial"/>
            </a:endParaRPr>
          </a:p>
        </p:txBody>
      </p:sp>
      <p:sp>
        <p:nvSpPr>
          <p:cNvPr id="5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51</a:t>
            </a:r>
          </a:p>
        </p:txBody>
      </p:sp>
      <p:sp xmlns:p="http://schemas.openxmlformats.org/presentationml/2006/main" xmlns:a="http://schemas.openxmlformats.org/drawingml/2006/main">
        <p:nvSpPr>
          <p:cNvPr id="557"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cxnSp>
        <p:nvCxnSpPr>
          <p:cNvPr id="570" name="Google Shape;570;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71" name="Google Shape;571;p57"/>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572" name="Google Shape;572;p57"/>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573" name="Google Shape;573;p57"/>
          <p:cNvSpPr/>
          <p:nvPr/>
        </p:nvSpPr>
        <p:spPr>
          <a:xfrm>
            <a:off x="510547" y="2615326"/>
            <a:ext cx="7459746"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draw the polygon described?</a:t>
            </a:r>
            <a:endParaRPr b="0" i="0" sz="2800" u="none" cap="none" strike="noStrike">
              <a:solidFill>
                <a:schemeClr val="dk1"/>
              </a:solidFill>
              <a:latin typeface="Arial"/>
              <a:ea typeface="Arial"/>
              <a:cs typeface="Arial"/>
              <a:sym typeface="Arial"/>
            </a:endParaRPr>
          </a:p>
        </p:txBody>
      </p:sp>
      <p:sp>
        <p:nvSpPr>
          <p:cNvPr id="574" name="Google Shape;574;p57"/>
          <p:cNvSpPr txBox="1"/>
          <p:nvPr/>
        </p:nvSpPr>
        <p:spPr>
          <a:xfrm>
            <a:off x="486000" y="3507472"/>
            <a:ext cx="9254493" cy="29668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graph the points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 xml:space="preserve"> on a coordinate plane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and connect them 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 xml:space="preserve"> form the polygon.</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c3afe8936284487a841195b6dfeb201c\narm24_c10707_se_004a-dig.png" id="575" name="Google Shape;575;p57"/>
          <p:cNvPicPr preferRelativeResize="0"/>
          <p:nvPr/>
        </p:nvPicPr>
        <p:blipFill rotWithShape="1">
          <a:blip r:embed="rId4">
            <a:alphaModFix/>
          </a:blip>
          <a:srcRect b="0" l="0" r="0" t="0"/>
          <a:stretch/>
        </p:blipFill>
        <p:spPr>
          <a:xfrm>
            <a:off x="5633040" y="3640883"/>
            <a:ext cx="2700000" cy="2700000"/>
          </a:xfrm>
          <a:prstGeom prst="rect">
            <a:avLst/>
          </a:prstGeom>
          <a:noFill/>
          <a:ln>
            <a:noFill/>
          </a:ln>
        </p:spPr>
      </p:pic>
      <p:sp>
        <p:nvSpPr>
          <p:cNvPr id="576" name="Google Shape;576;p57"/>
          <p:cNvSpPr txBox="1"/>
          <p:nvPr/>
        </p:nvSpPr>
        <p:spPr>
          <a:xfrm>
            <a:off x="486000" y="936099"/>
            <a:ext cx="8348284" cy="1356725"/>
          </a:xfrm>
          <a:prstGeom prst="rect">
            <a:avLst/>
          </a:prstGeom>
          <a:blipFill rotWithShape="1">
            <a:blip r:embed="rId5">
              <a:alphaModFix/>
            </a:blip>
            <a:stretch>
              <a:fillRect b="-13963" l="-1534" r="0" t="-49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51</a:t>
            </a:r>
          </a:p>
        </p:txBody>
      </p:sp>
      <p:sp>
        <p:nvSpPr>
          <p:cNvPr id="578" name="EWL-COVER-1"/>
          <p:cNvSpPr/>
          <p:nvPr/>
        </p:nvSpPr>
        <p:spPr>
          <a:xfrm>
            <a:off x="431136" y="3452608"/>
            <a:ext cx="9364221" cy="2993912"/>
          </a:xfrm>
          <a:prstGeom prst="rect">
            <a:avLst/>
          </a:prstGeom>
          <a:solidFill>
            <a:srgbClr val="FFFFFF"/>
          </a:solidFill>
          <a:ln>
            <a:noFill/>
          </a:ln>
        </p:spPr>
        <p:txBody>
          <a:bodyPr/>
          <a:lstStyle/>
          <a:p/>
        </p:txBody>
      </p:sp>
      <p:sp>
        <p:nvSpPr>
          <p:cNvPr id="57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7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cxnSp>
        <p:nvCxnSpPr>
          <p:cNvPr id="611" name="Google Shape;611;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2" name="Google Shape;612;p61"/>
          <p:cNvSpPr txBox="1"/>
          <p:nvPr/>
        </p:nvSpPr>
        <p:spPr>
          <a:xfrm>
            <a:off x="547722" y="4894683"/>
            <a:ext cx="6792963" cy="144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need to know the side lengths.</a:t>
            </a:r>
            <a:endParaRPr b="0" i="0" sz="1400" u="none" cap="none" strike="noStrike">
              <a:solidFill>
                <a:srgbClr val="000000"/>
              </a:solidFill>
              <a:latin typeface="Arial"/>
              <a:ea typeface="Arial"/>
              <a:cs typeface="Arial"/>
              <a:sym typeface="Arial"/>
            </a:endParaRPr>
          </a:p>
        </p:txBody>
      </p:sp>
      <p:sp>
        <p:nvSpPr>
          <p:cNvPr id="613" name="Google Shape;613;p61"/>
          <p:cNvSpPr txBox="1"/>
          <p:nvPr/>
        </p:nvSpPr>
        <p:spPr>
          <a:xfrm>
            <a:off x="486000" y="316800"/>
            <a:ext cx="5041343" cy="770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pic>
        <p:nvPicPr>
          <p:cNvPr id="614" name="Google Shape;614;p61"/>
          <p:cNvPicPr preferRelativeResize="0"/>
          <p:nvPr/>
        </p:nvPicPr>
        <p:blipFill rotWithShape="1">
          <a:blip r:embed="rId3">
            <a:alphaModFix/>
          </a:blip>
          <a:srcRect b="0" l="0" r="0" t="0"/>
          <a:stretch/>
        </p:blipFill>
        <p:spPr>
          <a:xfrm>
            <a:off x="7772400" y="1533956"/>
            <a:ext cx="3848100" cy="3857625"/>
          </a:xfrm>
          <a:prstGeom prst="rect">
            <a:avLst/>
          </a:prstGeom>
          <a:noFill/>
          <a:ln>
            <a:noFill/>
          </a:ln>
        </p:spPr>
      </p:pic>
      <p:sp>
        <p:nvSpPr>
          <p:cNvPr id="615" name="Google Shape;615;p61"/>
          <p:cNvSpPr txBox="1"/>
          <p:nvPr/>
        </p:nvSpPr>
        <p:spPr>
          <a:xfrm>
            <a:off x="486000" y="1296000"/>
            <a:ext cx="6848250" cy="1475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graph the points on a coordinate plane and connect them with line segments to form the polygon.</a:t>
            </a:r>
            <a:endParaRPr b="0" i="0" sz="1400" u="none" cap="none" strike="noStrike">
              <a:solidFill>
                <a:srgbClr val="000000"/>
              </a:solidFill>
              <a:latin typeface="Arial"/>
              <a:ea typeface="Arial"/>
              <a:cs typeface="Arial"/>
              <a:sym typeface="Arial"/>
            </a:endParaRPr>
          </a:p>
        </p:txBody>
      </p:sp>
      <p:sp>
        <p:nvSpPr>
          <p:cNvPr id="616" name="Google Shape;616;p61"/>
          <p:cNvSpPr txBox="1"/>
          <p:nvPr/>
        </p:nvSpPr>
        <p:spPr>
          <a:xfrm>
            <a:off x="486000" y="2975572"/>
            <a:ext cx="627107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need to know to find the perimeter of a polygon?</a:t>
            </a:r>
            <a:endParaRPr b="0" i="0" sz="1400" u="none" cap="none" strike="noStrike">
              <a:solidFill>
                <a:srgbClr val="000000"/>
              </a:solidFill>
              <a:latin typeface="Arial"/>
              <a:ea typeface="Arial"/>
              <a:cs typeface="Arial"/>
              <a:sym typeface="Arial"/>
            </a:endParaRPr>
          </a:p>
        </p:txBody>
      </p:sp>
      <p:sp>
        <p:nvSpPr>
          <p:cNvPr id="61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51</a:t>
            </a:r>
          </a:p>
        </p:txBody>
      </p:sp>
      <p:sp>
        <p:nvSpPr>
          <p:cNvPr id="618" name="EWL-COVER-1"/>
          <p:cNvSpPr/>
          <p:nvPr/>
        </p:nvSpPr>
        <p:spPr>
          <a:xfrm>
            <a:off x="492858" y="4839819"/>
            <a:ext cx="6902691" cy="1549828"/>
          </a:xfrm>
          <a:prstGeom prst="rect">
            <a:avLst/>
          </a:prstGeom>
          <a:solidFill>
            <a:srgbClr val="FFFFFF"/>
          </a:solidFill>
          <a:ln>
            <a:noFill/>
          </a:ln>
        </p:spPr>
        <p:txBody>
          <a:bodyPr/>
          <a:lstStyle/>
          <a:p/>
        </p:txBody>
      </p:sp>
      <p:grpSp>
        <p:nvGrpSpPr>
          <p:cNvPr id="619" name="TEACH-6-student-move" descr="TEACH 6 · Organize and implement routines to support a learning-focused classroom"/>
          <p:cNvGrpSpPr/>
          <p:nvPr/>
        </p:nvGrpSpPr>
        <p:grpSpPr>
          <a:xfrm>
            <a:off x="502920" y="4218027"/>
            <a:ext cx="5501640" cy="594360"/>
            <a:chOff x="502920" y="4218027"/>
            <a:chExt cx="5501640" cy="594360"/>
          </a:xfrm>
        </p:grpSpPr>
        <p:sp>
          <p:nvSpPr>
            <p:cNvPr id="620" name="TEACH-move-card"/>
            <p:cNvSpPr/>
            <p:nvPr/>
          </p:nvSpPr>
          <p:spPr>
            <a:xfrm>
              <a:off x="502920" y="421802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21" name="TEACH-move-rule"/>
            <p:cNvSpPr/>
            <p:nvPr/>
          </p:nvSpPr>
          <p:spPr>
            <a:xfrm>
              <a:off x="548640" y="4330955"/>
              <a:ext cx="100584" cy="368504"/>
            </a:xfrm>
            <a:prstGeom prst="roundRect">
              <a:avLst>
                <a:gd name="adj" fmla="val 50000"/>
              </a:avLst>
            </a:prstGeom>
            <a:solidFill>
              <a:srgbClr val="01708C"/>
            </a:solidFill>
            <a:ln>
              <a:noFill/>
            </a:ln>
          </p:spPr>
          <p:txBody>
            <a:bodyPr/>
            <a:lstStyle/>
            <a:p>
              <a:endParaRPr/>
            </a:p>
          </p:txBody>
        </p:sp>
        <p:sp>
          <p:nvSpPr>
            <p:cNvPr id="622" name="TEACH-move-text"/>
            <p:cNvSpPr txBox="1"/>
            <p:nvPr/>
          </p:nvSpPr>
          <p:spPr>
            <a:xfrm>
              <a:off x="822960" y="421802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cxnSp>
        <p:nvCxnSpPr>
          <p:cNvPr id="631" name="Google Shape;631;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2" name="Google Shape;632;p63"/>
          <p:cNvSpPr txBox="1"/>
          <p:nvPr/>
        </p:nvSpPr>
        <p:spPr>
          <a:xfrm>
            <a:off x="486000" y="4299798"/>
            <a:ext cx="7093126" cy="18914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the coordinates to find the distance between each pair of vertices that make up a side of the polygon.</a:t>
            </a:r>
            <a:endParaRPr b="0" i="0" sz="1400" u="none" cap="none" strike="noStrike">
              <a:solidFill>
                <a:srgbClr val="000000"/>
              </a:solidFill>
              <a:latin typeface="Arial"/>
              <a:ea typeface="Arial"/>
              <a:cs typeface="Arial"/>
              <a:sym typeface="Arial"/>
            </a:endParaRPr>
          </a:p>
        </p:txBody>
      </p:sp>
      <p:sp>
        <p:nvSpPr>
          <p:cNvPr id="633" name="Google Shape;633;p63"/>
          <p:cNvSpPr txBox="1"/>
          <p:nvPr/>
        </p:nvSpPr>
        <p:spPr>
          <a:xfrm>
            <a:off x="485999" y="1296001"/>
            <a:ext cx="6857775" cy="11328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We can find the sum of the side lengths to determine the perimeter of the polygon.</a:t>
            </a:r>
            <a:endParaRPr b="0" i="0" sz="1400" u="none" cap="none" strike="noStrike">
              <a:solidFill>
                <a:srgbClr val="000000"/>
              </a:solidFill>
              <a:latin typeface="Arial"/>
              <a:ea typeface="Arial"/>
              <a:cs typeface="Arial"/>
              <a:sym typeface="Arial"/>
            </a:endParaRPr>
          </a:p>
        </p:txBody>
      </p:sp>
      <p:sp>
        <p:nvSpPr>
          <p:cNvPr id="634" name="Google Shape;634;p63"/>
          <p:cNvSpPr txBox="1"/>
          <p:nvPr/>
        </p:nvSpPr>
        <p:spPr>
          <a:xfrm>
            <a:off x="485999" y="2637774"/>
            <a:ext cx="627107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find the side lengths of the rectangle? </a:t>
            </a:r>
            <a:endParaRPr b="0" i="0" sz="1400" u="none" cap="none" strike="noStrike">
              <a:solidFill>
                <a:srgbClr val="000000"/>
              </a:solidFill>
              <a:latin typeface="Arial"/>
              <a:ea typeface="Arial"/>
              <a:cs typeface="Arial"/>
              <a:sym typeface="Arial"/>
            </a:endParaRPr>
          </a:p>
        </p:txBody>
      </p:sp>
      <p:sp>
        <p:nvSpPr>
          <p:cNvPr id="635" name="Google Shape;635;p63"/>
          <p:cNvSpPr txBox="1"/>
          <p:nvPr/>
        </p:nvSpPr>
        <p:spPr>
          <a:xfrm>
            <a:off x="486000" y="316800"/>
            <a:ext cx="5041343" cy="770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pic>
        <p:nvPicPr>
          <p:cNvPr id="636" name="Google Shape;636;p63"/>
          <p:cNvPicPr preferRelativeResize="0"/>
          <p:nvPr/>
        </p:nvPicPr>
        <p:blipFill rotWithShape="1">
          <a:blip r:embed="rId3">
            <a:alphaModFix/>
          </a:blip>
          <a:srcRect b="0" l="0" r="0" t="0"/>
          <a:stretch/>
        </p:blipFill>
        <p:spPr>
          <a:xfrm>
            <a:off x="7772400" y="1533956"/>
            <a:ext cx="3848100" cy="3857625"/>
          </a:xfrm>
          <a:prstGeom prst="rect">
            <a:avLst/>
          </a:prstGeom>
          <a:noFill/>
          <a:ln>
            <a:noFill/>
          </a:ln>
        </p:spPr>
      </p:pic>
      <p:sp>
        <p:nvSpPr>
          <p:cNvPr id="6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51</a:t>
            </a:r>
          </a:p>
        </p:txBody>
      </p:sp>
      <p:sp>
        <p:nvSpPr>
          <p:cNvPr id="638" name="EWL-COVER-1"/>
          <p:cNvSpPr/>
          <p:nvPr/>
        </p:nvSpPr>
        <p:spPr>
          <a:xfrm>
            <a:off x="431136" y="4244934"/>
            <a:ext cx="7202854" cy="2001180"/>
          </a:xfrm>
          <a:prstGeom prst="rect">
            <a:avLst/>
          </a:prstGeom>
          <a:solidFill>
            <a:srgbClr val="FFFFFF"/>
          </a:solidFill>
          <a:ln>
            <a:noFill/>
          </a:ln>
        </p:spPr>
        <p:txBody>
          <a:bodyPr/>
          <a:lstStyle/>
          <a:p/>
        </p:txBody>
      </p:sp>
      <p:grpSp>
        <p:nvGrpSpPr>
          <p:cNvPr id="639" name="TEACH-5-student-move" descr="TEACH 5 · Facilitate student interactions and academic talk"/>
          <p:cNvGrpSpPr/>
          <p:nvPr/>
        </p:nvGrpSpPr>
        <p:grpSpPr>
          <a:xfrm>
            <a:off x="6187440" y="857089"/>
            <a:ext cx="5501640" cy="402336"/>
            <a:chOff x="6187440" y="857089"/>
            <a:chExt cx="5501640" cy="402336"/>
          </a:xfrm>
        </p:grpSpPr>
        <p:sp>
          <p:nvSpPr>
            <p:cNvPr id="640" name="TEACH-move-card"/>
            <p:cNvSpPr/>
            <p:nvPr/>
          </p:nvSpPr>
          <p:spPr>
            <a:xfrm>
              <a:off x="6187440" y="857089"/>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41" name="TEACH-move-rule"/>
            <p:cNvSpPr/>
            <p:nvPr/>
          </p:nvSpPr>
          <p:spPr>
            <a:xfrm>
              <a:off x="6233160" y="933533"/>
              <a:ext cx="100584" cy="249448"/>
            </a:xfrm>
            <a:prstGeom prst="roundRect">
              <a:avLst>
                <a:gd name="adj" fmla="val 50000"/>
              </a:avLst>
            </a:prstGeom>
            <a:solidFill>
              <a:srgbClr val="01708C"/>
            </a:solidFill>
            <a:ln>
              <a:noFill/>
            </a:ln>
          </p:spPr>
          <p:txBody>
            <a:bodyPr/>
            <a:lstStyle/>
            <a:p>
              <a:endParaRPr/>
            </a:p>
          </p:txBody>
        </p:sp>
        <p:sp>
          <p:nvSpPr>
            <p:cNvPr id="642" name="TEACH-move-text"/>
            <p:cNvSpPr txBox="1"/>
            <p:nvPr/>
          </p:nvSpPr>
          <p:spPr>
            <a:xfrm>
              <a:off x="6507480" y="857089"/>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cxnSp>
        <p:nvCxnSpPr>
          <p:cNvPr id="668" name="Google Shape;668;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9" name="Google Shape;669;p67"/>
          <p:cNvSpPr txBox="1"/>
          <p:nvPr/>
        </p:nvSpPr>
        <p:spPr>
          <a:xfrm>
            <a:off x="486000" y="2836800"/>
            <a:ext cx="6271077" cy="3262432"/>
          </a:xfrm>
          <a:prstGeom prst="rect">
            <a:avLst/>
          </a:prstGeom>
          <a:blipFill rotWithShape="1">
            <a:blip r:embed="rId3">
              <a:alphaModFix/>
            </a:blip>
            <a:stretch>
              <a:fillRect b="0" l="-2043" r="-2529" t="-18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670" name="Google Shape;670;p67"/>
          <p:cNvPicPr preferRelativeResize="0"/>
          <p:nvPr/>
        </p:nvPicPr>
        <p:blipFill rotWithShape="1">
          <a:blip r:embed="rId4">
            <a:alphaModFix/>
          </a:blip>
          <a:srcRect b="0" l="0" r="0" t="0"/>
          <a:stretch/>
        </p:blipFill>
        <p:spPr>
          <a:xfrm>
            <a:off x="7777161" y="1525365"/>
            <a:ext cx="3859200" cy="3859200"/>
          </a:xfrm>
          <a:prstGeom prst="rect">
            <a:avLst/>
          </a:prstGeom>
          <a:noFill/>
          <a:ln>
            <a:noFill/>
          </a:ln>
        </p:spPr>
      </p:pic>
      <p:sp>
        <p:nvSpPr>
          <p:cNvPr id="671" name="Google Shape;671;p67"/>
          <p:cNvSpPr txBox="1"/>
          <p:nvPr/>
        </p:nvSpPr>
        <p:spPr>
          <a:xfrm>
            <a:off x="485999" y="1296000"/>
            <a:ext cx="7000651" cy="13328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Let’s find the distance between each pair of vertices that make up a side of the polygon.</a:t>
            </a:r>
            <a:endParaRPr b="0" i="0" sz="1400" u="none" cap="none" strike="noStrike">
              <a:solidFill>
                <a:srgbClr val="000000"/>
              </a:solidFill>
              <a:latin typeface="Arial"/>
              <a:ea typeface="Arial"/>
              <a:cs typeface="Arial"/>
              <a:sym typeface="Arial"/>
            </a:endParaRPr>
          </a:p>
        </p:txBody>
      </p:sp>
      <p:sp>
        <p:nvSpPr>
          <p:cNvPr id="672" name="Google Shape;672;p67"/>
          <p:cNvSpPr txBox="1"/>
          <p:nvPr/>
        </p:nvSpPr>
        <p:spPr>
          <a:xfrm>
            <a:off x="486000" y="316800"/>
            <a:ext cx="5041343" cy="770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sp>
        <p:nvSpPr>
          <p:cNvPr id="67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51</a:t>
            </a:r>
          </a:p>
        </p:txBody>
      </p:sp>
      <p:grpSp>
        <p:nvGrpSpPr>
          <p:cNvPr id="674" name="TEACH-4-student-move" descr="TEACH 4 · Monitor progress and provide feedback"/>
          <p:cNvGrpSpPr/>
          <p:nvPr/>
        </p:nvGrpSpPr>
        <p:grpSpPr>
          <a:xfrm>
            <a:off x="6187440" y="857088"/>
            <a:ext cx="5501640" cy="402336"/>
            <a:chOff x="6187440" y="857088"/>
            <a:chExt cx="5501640" cy="402336"/>
          </a:xfrm>
        </p:grpSpPr>
        <p:sp>
          <p:nvSpPr>
            <p:cNvPr id="675" name="TEACH-move-card"/>
            <p:cNvSpPr/>
            <p:nvPr/>
          </p:nvSpPr>
          <p:spPr>
            <a:xfrm>
              <a:off x="6187440" y="857088"/>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76" name="TEACH-move-rule"/>
            <p:cNvSpPr/>
            <p:nvPr/>
          </p:nvSpPr>
          <p:spPr>
            <a:xfrm>
              <a:off x="6233160" y="933532"/>
              <a:ext cx="100584" cy="249448"/>
            </a:xfrm>
            <a:prstGeom prst="roundRect">
              <a:avLst>
                <a:gd name="adj" fmla="val 50000"/>
              </a:avLst>
            </a:prstGeom>
            <a:solidFill>
              <a:srgbClr val="01708C"/>
            </a:solidFill>
            <a:ln>
              <a:noFill/>
            </a:ln>
          </p:spPr>
          <p:txBody>
            <a:bodyPr/>
            <a:lstStyle/>
            <a:p>
              <a:endParaRPr/>
            </a:p>
          </p:txBody>
        </p:sp>
        <p:sp>
          <p:nvSpPr>
            <p:cNvPr id="677" name="TEACH-move-text"/>
            <p:cNvSpPr txBox="1"/>
            <p:nvPr/>
          </p:nvSpPr>
          <p:spPr>
            <a:xfrm>
              <a:off x="6507480" y="857088"/>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cxnSp>
        <p:nvCxnSpPr>
          <p:cNvPr id="690" name="Google Shape;690;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1" name="Google Shape;691;p69"/>
          <p:cNvSpPr txBox="1"/>
          <p:nvPr/>
        </p:nvSpPr>
        <p:spPr>
          <a:xfrm>
            <a:off x="486000" y="1296000"/>
            <a:ext cx="7022899" cy="683296"/>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c3afe8936284487a841195b6dfeb201c\narm24_c10707_se_004a-dig.png" id="692" name="Google Shape;692;p69"/>
          <p:cNvPicPr preferRelativeResize="0"/>
          <p:nvPr/>
        </p:nvPicPr>
        <p:blipFill rotWithShape="1">
          <a:blip r:embed="rId4">
            <a:alphaModFix/>
          </a:blip>
          <a:srcRect b="0" l="0" r="0" t="0"/>
          <a:stretch/>
        </p:blipFill>
        <p:spPr>
          <a:xfrm>
            <a:off x="7790949" y="1524893"/>
            <a:ext cx="3859200" cy="3859200"/>
          </a:xfrm>
          <a:prstGeom prst="rect">
            <a:avLst/>
          </a:prstGeom>
          <a:noFill/>
          <a:ln>
            <a:noFill/>
          </a:ln>
        </p:spPr>
      </p:pic>
      <p:sp>
        <p:nvSpPr>
          <p:cNvPr id="693" name="Google Shape;693;p69"/>
          <p:cNvSpPr txBox="1"/>
          <p:nvPr/>
        </p:nvSpPr>
        <p:spPr>
          <a:xfrm>
            <a:off x="486000" y="5220000"/>
            <a:ext cx="5648362" cy="9645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add the side lengths.</a:t>
            </a:r>
            <a:endParaRPr b="0" i="0" sz="1400" u="none" cap="none" strike="noStrike">
              <a:solidFill>
                <a:srgbClr val="000000"/>
              </a:solidFill>
              <a:latin typeface="Arial"/>
              <a:ea typeface="Arial"/>
              <a:cs typeface="Arial"/>
              <a:sym typeface="Arial"/>
            </a:endParaRPr>
          </a:p>
        </p:txBody>
      </p:sp>
      <p:sp>
        <p:nvSpPr>
          <p:cNvPr id="694" name="Google Shape;694;p69"/>
          <p:cNvSpPr/>
          <p:nvPr/>
        </p:nvSpPr>
        <p:spPr>
          <a:xfrm>
            <a:off x="486000" y="2104140"/>
            <a:ext cx="5919377"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5" name="Google Shape;695;p69"/>
          <p:cNvSpPr/>
          <p:nvPr/>
        </p:nvSpPr>
        <p:spPr>
          <a:xfrm>
            <a:off x="486000" y="2752204"/>
            <a:ext cx="6493252"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6" name="Google Shape;696;p69"/>
          <p:cNvSpPr/>
          <p:nvPr/>
        </p:nvSpPr>
        <p:spPr>
          <a:xfrm>
            <a:off x="486000" y="3400269"/>
            <a:ext cx="6479301" cy="52322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7" name="Google Shape;697;p69"/>
          <p:cNvSpPr/>
          <p:nvPr/>
        </p:nvSpPr>
        <p:spPr>
          <a:xfrm>
            <a:off x="487996" y="4186009"/>
            <a:ext cx="7022899"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find the perimeter of the polygon?</a:t>
            </a:r>
            <a:endParaRPr b="0" i="0" sz="2800" u="none" cap="none" strike="noStrike">
              <a:solidFill>
                <a:schemeClr val="dk1"/>
              </a:solidFill>
              <a:latin typeface="Arial"/>
              <a:ea typeface="Arial"/>
              <a:cs typeface="Arial"/>
              <a:sym typeface="Arial"/>
            </a:endParaRPr>
          </a:p>
        </p:txBody>
      </p:sp>
      <p:sp>
        <p:nvSpPr>
          <p:cNvPr id="698" name="Google Shape;698;p69"/>
          <p:cNvSpPr txBox="1"/>
          <p:nvPr/>
        </p:nvSpPr>
        <p:spPr>
          <a:xfrm>
            <a:off x="486000" y="316800"/>
            <a:ext cx="5041343" cy="770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sp>
        <p:nvSpPr>
          <p:cNvPr id="69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51</a:t>
            </a:r>
          </a:p>
        </p:txBody>
      </p:sp>
      <p:sp>
        <p:nvSpPr>
          <p:cNvPr id="700" name="EWL-COVER-1"/>
          <p:cNvSpPr/>
          <p:nvPr/>
        </p:nvSpPr>
        <p:spPr>
          <a:xfrm>
            <a:off x="431136" y="5165136"/>
            <a:ext cx="5758090" cy="1074327"/>
          </a:xfrm>
          <a:prstGeom prst="rect">
            <a:avLst/>
          </a:prstGeom>
          <a:solidFill>
            <a:srgbClr val="FFFFFF"/>
          </a:solidFill>
          <a:ln>
            <a:noFill/>
          </a:ln>
        </p:spPr>
        <p:txBody>
          <a:bodyPr/>
          <a:lstStyle/>
          <a:p/>
        </p:txBody>
      </p:sp>
      <p:grpSp>
        <p:nvGrpSpPr>
          <p:cNvPr id="701" name="TEACH-2-student-move" descr="TEACH 2 · Use strategies and tasks to engage students in rigorous work"/>
          <p:cNvGrpSpPr/>
          <p:nvPr/>
        </p:nvGrpSpPr>
        <p:grpSpPr>
          <a:xfrm>
            <a:off x="6187440" y="5472790"/>
            <a:ext cx="5501640" cy="402336"/>
            <a:chOff x="6187440" y="5472790"/>
            <a:chExt cx="5501640" cy="402336"/>
          </a:xfrm>
        </p:grpSpPr>
        <p:sp>
          <p:nvSpPr>
            <p:cNvPr id="702" name="TEACH-move-card"/>
            <p:cNvSpPr/>
            <p:nvPr/>
          </p:nvSpPr>
          <p:spPr>
            <a:xfrm>
              <a:off x="6187440" y="5472790"/>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03" name="TEACH-move-rule"/>
            <p:cNvSpPr/>
            <p:nvPr/>
          </p:nvSpPr>
          <p:spPr>
            <a:xfrm>
              <a:off x="6233160" y="5549234"/>
              <a:ext cx="100584" cy="249448"/>
            </a:xfrm>
            <a:prstGeom prst="roundRect">
              <a:avLst>
                <a:gd name="adj" fmla="val 50000"/>
              </a:avLst>
            </a:prstGeom>
            <a:solidFill>
              <a:srgbClr val="01708C"/>
            </a:solidFill>
            <a:ln>
              <a:noFill/>
            </a:ln>
          </p:spPr>
          <p:txBody>
            <a:bodyPr/>
            <a:lstStyle/>
            <a:p>
              <a:endParaRPr/>
            </a:p>
          </p:txBody>
        </p:sp>
        <p:sp>
          <p:nvSpPr>
            <p:cNvPr id="704" name="TEACH-move-text"/>
            <p:cNvSpPr txBox="1"/>
            <p:nvPr/>
          </p:nvSpPr>
          <p:spPr>
            <a:xfrm>
              <a:off x="6507480" y="5472790"/>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0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cxnSp>
        <p:nvCxnSpPr>
          <p:cNvPr id="717" name="Google Shape;717;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8" name="Google Shape;718;p71"/>
          <p:cNvSpPr txBox="1"/>
          <p:nvPr/>
        </p:nvSpPr>
        <p:spPr>
          <a:xfrm>
            <a:off x="486000" y="1296000"/>
            <a:ext cx="5471179" cy="67059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9" name="Google Shape;719;p71"/>
          <p:cNvSpPr/>
          <p:nvPr/>
        </p:nvSpPr>
        <p:spPr>
          <a:xfrm>
            <a:off x="486000" y="2630882"/>
            <a:ext cx="3315267"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0" name="Google Shape;720;p71"/>
          <p:cNvSpPr/>
          <p:nvPr/>
        </p:nvSpPr>
        <p:spPr>
          <a:xfrm>
            <a:off x="486000" y="3224638"/>
            <a:ext cx="3574953"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1" name="Google Shape;721;p71"/>
          <p:cNvSpPr/>
          <p:nvPr/>
        </p:nvSpPr>
        <p:spPr>
          <a:xfrm>
            <a:off x="486000" y="3818394"/>
            <a:ext cx="6479301"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2" name="Google Shape;722;p71"/>
          <p:cNvSpPr/>
          <p:nvPr/>
        </p:nvSpPr>
        <p:spPr>
          <a:xfrm>
            <a:off x="506680" y="4412148"/>
            <a:ext cx="5689544" cy="523220"/>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3" name="Google Shape;723;p71"/>
          <p:cNvSpPr/>
          <p:nvPr/>
        </p:nvSpPr>
        <p:spPr>
          <a:xfrm>
            <a:off x="486000" y="2037126"/>
            <a:ext cx="3717621" cy="523220"/>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24" name="Google Shape;724;p71"/>
          <p:cNvSpPr txBox="1"/>
          <p:nvPr/>
        </p:nvSpPr>
        <p:spPr>
          <a:xfrm>
            <a:off x="486000" y="5220000"/>
            <a:ext cx="7156467" cy="11243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Why are two of the terms multiplied by 2?</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c3afe8936284487a841195b6dfeb201c\narm24_c10707_se_004a-dig.png" id="725" name="Google Shape;725;p71"/>
          <p:cNvPicPr preferRelativeResize="0"/>
          <p:nvPr/>
        </p:nvPicPr>
        <p:blipFill rotWithShape="1">
          <a:blip r:embed="rId9">
            <a:alphaModFix/>
          </a:blip>
          <a:srcRect b="0" l="0" r="0" t="0"/>
          <a:stretch/>
        </p:blipFill>
        <p:spPr>
          <a:xfrm>
            <a:off x="7790949" y="1524893"/>
            <a:ext cx="3859200" cy="3859200"/>
          </a:xfrm>
          <a:prstGeom prst="rect">
            <a:avLst/>
          </a:prstGeom>
          <a:noFill/>
          <a:ln>
            <a:noFill/>
          </a:ln>
        </p:spPr>
      </p:pic>
      <p:sp>
        <p:nvSpPr>
          <p:cNvPr id="726" name="Google Shape;726;p71"/>
          <p:cNvSpPr txBox="1"/>
          <p:nvPr/>
        </p:nvSpPr>
        <p:spPr>
          <a:xfrm>
            <a:off x="486000" y="316800"/>
            <a:ext cx="5041343" cy="770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sp>
        <p:nvSpPr>
          <p:cNvPr id="7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51</a:t>
            </a:r>
          </a:p>
        </p:txBody>
      </p:sp>
      <p:grpSp>
        <p:nvGrpSpPr>
          <p:cNvPr id="728" name="TEACH-3-student-move" descr="TEACH 3 · Use intentional questioning to deepen learning"/>
          <p:cNvGrpSpPr/>
          <p:nvPr/>
        </p:nvGrpSpPr>
        <p:grpSpPr>
          <a:xfrm>
            <a:off x="6187440" y="848237"/>
            <a:ext cx="5501640" cy="594360"/>
            <a:chOff x="6187440" y="848237"/>
            <a:chExt cx="5501640" cy="594360"/>
          </a:xfrm>
        </p:grpSpPr>
        <p:sp>
          <p:nvSpPr>
            <p:cNvPr id="729" name="TEACH-move-card"/>
            <p:cNvSpPr/>
            <p:nvPr/>
          </p:nvSpPr>
          <p:spPr>
            <a:xfrm>
              <a:off x="6187440" y="84823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30" name="TEACH-move-rule"/>
            <p:cNvSpPr/>
            <p:nvPr/>
          </p:nvSpPr>
          <p:spPr>
            <a:xfrm>
              <a:off x="6233160" y="961165"/>
              <a:ext cx="100584" cy="368504"/>
            </a:xfrm>
            <a:prstGeom prst="roundRect">
              <a:avLst>
                <a:gd name="adj" fmla="val 50000"/>
              </a:avLst>
            </a:prstGeom>
            <a:solidFill>
              <a:srgbClr val="01708C"/>
            </a:solidFill>
            <a:ln>
              <a:noFill/>
            </a:ln>
          </p:spPr>
          <p:txBody>
            <a:bodyPr/>
            <a:lstStyle/>
            <a:p>
              <a:endParaRPr/>
            </a:p>
          </p:txBody>
        </p:sp>
        <p:sp>
          <p:nvSpPr>
            <p:cNvPr id="731" name="TEACH-move-text"/>
            <p:cNvSpPr txBox="1"/>
            <p:nvPr/>
          </p:nvSpPr>
          <p:spPr>
            <a:xfrm>
              <a:off x="6507480" y="84823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cxnSp>
        <p:nvCxnSpPr>
          <p:cNvPr id="743" name="Google Shape;743;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44" name="Google Shape;744;p73"/>
          <p:cNvPicPr preferRelativeResize="0"/>
          <p:nvPr/>
        </p:nvPicPr>
        <p:blipFill rotWithShape="1">
          <a:blip r:embed="rId3">
            <a:alphaModFix/>
          </a:blip>
          <a:srcRect b="0" l="0" r="0" t="0"/>
          <a:stretch/>
        </p:blipFill>
        <p:spPr>
          <a:xfrm>
            <a:off x="387260" y="4584267"/>
            <a:ext cx="5054600" cy="838200"/>
          </a:xfrm>
          <a:prstGeom prst="rect">
            <a:avLst/>
          </a:prstGeom>
          <a:noFill/>
          <a:ln>
            <a:noFill/>
          </a:ln>
        </p:spPr>
      </p:pic>
      <p:sp>
        <p:nvSpPr>
          <p:cNvPr id="745" name="Google Shape;745;p73"/>
          <p:cNvSpPr/>
          <p:nvPr/>
        </p:nvSpPr>
        <p:spPr>
          <a:xfrm>
            <a:off x="3160219" y="4741757"/>
            <a:ext cx="210781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Persevering</a:t>
            </a:r>
            <a:endParaRPr b="0" i="0" sz="1400" u="none" cap="none" strike="noStrike">
              <a:solidFill>
                <a:srgbClr val="000000"/>
              </a:solidFill>
              <a:latin typeface="Arial"/>
              <a:ea typeface="Arial"/>
              <a:cs typeface="Arial"/>
              <a:sym typeface="Arial"/>
            </a:endParaRPr>
          </a:p>
        </p:txBody>
      </p:sp>
      <p:sp>
        <p:nvSpPr>
          <p:cNvPr id="746" name="Google Shape;746;p73"/>
          <p:cNvSpPr/>
          <p:nvPr/>
        </p:nvSpPr>
        <p:spPr>
          <a:xfrm>
            <a:off x="486000" y="5422467"/>
            <a:ext cx="5436104"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could you check your answer?</a:t>
            </a:r>
            <a:endParaRPr b="0" i="0" sz="2600" u="none" cap="none" strike="noStrike">
              <a:solidFill>
                <a:srgbClr val="595959"/>
              </a:solidFill>
              <a:latin typeface="Arial"/>
              <a:ea typeface="Arial"/>
              <a:cs typeface="Arial"/>
              <a:sym typeface="Arial"/>
            </a:endParaRPr>
          </a:p>
        </p:txBody>
      </p:sp>
      <p:sp>
        <p:nvSpPr>
          <p:cNvPr id="747" name="Google Shape;747;p73"/>
          <p:cNvSpPr txBox="1"/>
          <p:nvPr/>
        </p:nvSpPr>
        <p:spPr>
          <a:xfrm>
            <a:off x="486000" y="1296000"/>
            <a:ext cx="6958784" cy="1025399"/>
          </a:xfrm>
          <a:prstGeom prst="rect">
            <a:avLst/>
          </a:prstGeom>
          <a:blipFill rotWithShape="1">
            <a:blip r:embed="rId4">
              <a:alphaModFix/>
            </a:blip>
            <a:stretch>
              <a:fillRect b="-8929" l="-1840" r="-1402" t="-654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48" name="Google Shape;748;p73"/>
          <p:cNvSpPr txBox="1"/>
          <p:nvPr/>
        </p:nvSpPr>
        <p:spPr>
          <a:xfrm>
            <a:off x="615653" y="3634541"/>
            <a:ext cx="687000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perimeter of the polygon is 32.5 units.</a:t>
            </a:r>
            <a:endParaRPr b="1" i="0" sz="2800" u="none" cap="none" strike="noStrike">
              <a:solidFill>
                <a:schemeClr val="dk1"/>
              </a:solidFill>
              <a:latin typeface="Arial"/>
              <a:ea typeface="Arial"/>
              <a:cs typeface="Arial"/>
              <a:sym typeface="Arial"/>
            </a:endParaRPr>
          </a:p>
        </p:txBody>
      </p:sp>
      <p:sp>
        <p:nvSpPr>
          <p:cNvPr id="749" name="Google Shape;749;p73"/>
          <p:cNvSpPr/>
          <p:nvPr/>
        </p:nvSpPr>
        <p:spPr>
          <a:xfrm>
            <a:off x="486000" y="2618778"/>
            <a:ext cx="663515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is the perimeter of the polygon?</a:t>
            </a:r>
            <a:endParaRPr b="0" i="0" sz="1400" u="none" cap="none" strike="noStrike">
              <a:solidFill>
                <a:srgbClr val="000000"/>
              </a:solidFill>
              <a:latin typeface="Arial"/>
              <a:ea typeface="Arial"/>
              <a:cs typeface="Arial"/>
              <a:sym typeface="Arial"/>
            </a:endParaRPr>
          </a:p>
        </p:txBody>
      </p:sp>
      <p:sp>
        <p:nvSpPr>
          <p:cNvPr id="750" name="Google Shape;750;p73"/>
          <p:cNvSpPr/>
          <p:nvPr/>
        </p:nvSpPr>
        <p:spPr>
          <a:xfrm>
            <a:off x="486000" y="3439378"/>
            <a:ext cx="7129314" cy="913547"/>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51" name="Google Shape;751;p73"/>
          <p:cNvSpPr txBox="1"/>
          <p:nvPr/>
        </p:nvSpPr>
        <p:spPr>
          <a:xfrm>
            <a:off x="486000" y="316800"/>
            <a:ext cx="5041343" cy="7703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sp>
        <p:nvSpPr>
          <p:cNvPr id="7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51</a:t>
            </a:r>
          </a:p>
        </p:txBody>
      </p:sp>
      <p:sp xmlns:p="http://schemas.openxmlformats.org/presentationml/2006/main" xmlns:a="http://schemas.openxmlformats.org/drawingml/2006/main">
        <p:nvSpPr>
          <p:cNvPr id="753"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cxnSp>
        <p:nvCxnSpPr>
          <p:cNvPr id="756" name="Google Shape;756;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7" name="Google Shape;757;p74"/>
          <p:cNvSpPr txBox="1"/>
          <p:nvPr/>
        </p:nvSpPr>
        <p:spPr>
          <a:xfrm>
            <a:off x="484564"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758" name="Google Shape;758;p74"/>
          <p:cNvSpPr txBox="1"/>
          <p:nvPr/>
        </p:nvSpPr>
        <p:spPr>
          <a:xfrm>
            <a:off x="484562" y="936000"/>
            <a:ext cx="7754563" cy="1343176"/>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Arial"/>
              <a:buAutoNum type="alphaLcPeriod"/>
              <a:defRPr/>
            </a:pPr>
            <a:r>
              <a:rPr b="0" i="0" lang="en-US" sz="2800" u="none" cap="none" strike="noStrike">
                <a:solidFill>
                  <a:schemeClr val="dk1"/>
                </a:solidFill>
                <a:latin typeface="Arial"/>
                <a:ea typeface="Arial"/>
                <a:cs typeface="Arial"/>
                <a:sym typeface="Arial"/>
              </a:rPr>
              <a:t>What operation would you use to determine the side lengths of a square with the vertices shown?</a:t>
            </a:r>
            <a:endParaRPr b="0" i="0" sz="1400" u="none" cap="none" strike="noStrike">
              <a:solidFill>
                <a:srgbClr val="000000"/>
              </a:solidFill>
              <a:latin typeface="Arial"/>
              <a:ea typeface="Arial"/>
              <a:cs typeface="Arial"/>
              <a:sym typeface="Arial"/>
            </a:endParaRPr>
          </a:p>
        </p:txBody>
      </p:sp>
      <p:sp>
        <p:nvSpPr>
          <p:cNvPr id="759" name="Google Shape;759;p74"/>
          <p:cNvSpPr/>
          <p:nvPr/>
        </p:nvSpPr>
        <p:spPr>
          <a:xfrm>
            <a:off x="486001" y="2330141"/>
            <a:ext cx="7835248" cy="952158"/>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60" name="Google Shape;760;p74"/>
          <p:cNvSpPr txBox="1"/>
          <p:nvPr/>
        </p:nvSpPr>
        <p:spPr>
          <a:xfrm>
            <a:off x="7032256" y="291188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61" name="Google Shape;761;p74"/>
          <p:cNvSpPr/>
          <p:nvPr/>
        </p:nvSpPr>
        <p:spPr>
          <a:xfrm>
            <a:off x="484564" y="5589553"/>
            <a:ext cx="7846209" cy="769324"/>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762" name="Google Shape;762;p74"/>
          <p:cNvSpPr txBox="1"/>
          <p:nvPr/>
        </p:nvSpPr>
        <p:spPr>
          <a:xfrm>
            <a:off x="7114379" y="597421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763" name="Google Shape;763;p74"/>
          <p:cNvSpPr/>
          <p:nvPr/>
        </p:nvSpPr>
        <p:spPr>
          <a:xfrm>
            <a:off x="484562" y="3342784"/>
            <a:ext cx="7459288" cy="2246769"/>
          </a:xfrm>
          <a:prstGeom prst="rect">
            <a:avLst/>
          </a:prstGeom>
          <a:blipFill rotWithShape="1">
            <a:blip r:embed="rId3">
              <a:alphaModFix/>
            </a:blip>
            <a:stretch>
              <a:fillRect b="-6504" l="-1471" r="-1062" t="-271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64" name="Google Shape;764;p74"/>
          <p:cNvPicPr preferRelativeResize="0"/>
          <p:nvPr/>
        </p:nvPicPr>
        <p:blipFill rotWithShape="1">
          <a:blip r:embed="rId4">
            <a:alphaModFix/>
          </a:blip>
          <a:srcRect b="0" l="0" r="0" t="0"/>
          <a:stretch/>
        </p:blipFill>
        <p:spPr>
          <a:xfrm>
            <a:off x="8679975" y="1957387"/>
            <a:ext cx="3209925" cy="3209925"/>
          </a:xfrm>
          <a:prstGeom prst="rect">
            <a:avLst/>
          </a:prstGeom>
          <a:noFill/>
          <a:ln>
            <a:noFill/>
          </a:ln>
        </p:spPr>
      </p:pic>
      <p:sp>
        <p:nvSpPr>
          <p:cNvPr id="7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7.7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coordinates determine this side length, and how does that length enter the required measure?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polygon on a coordinate plane has vertices at (1,1), (1,4), (5,1). Shape is: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Square</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Right Triangle</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Hexagon</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Trapezoid</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A rectangle has vertices (0,0), (6,0), (6,4), (0,4). Its perimeter is:</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20 units</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 units</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 units</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What is the area of this rectangle (length 6, height 4)?</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 square units</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20 square units</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 square units</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Side lengths of polygons on a grid are found by:</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Estimating diagonals</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100" u="none" cap="none" strike="noStrike">
                <a:solidFill>
                  <a:srgbClr val="14223A"/>
                </a:solidFill>
                <a:latin typeface="Arial"/>
                <a:ea typeface="Arial"/>
                <a:cs typeface="Arial"/>
                <a:sym typeface="Arial"/>
              </a:rPr>
              <a:t>Calculating distances between adjacent vertices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Counting total dots</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Adding all coordinates</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51</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7-7 · Represent Polygons on the Coordinate Plane</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Plotting Vertices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Plot </a:t>
            </a:r>
            <a:r>
              <a:rPr b="1" i="0" lang="en-US" sz="1450" u="none" cap="none" strike="noStrike">
                <a:solidFill>
                  <a:srgbClr val="475569"/>
                </a:solidFill>
                <a:latin typeface="Arial"/>
                <a:ea typeface="Arial"/>
                <a:cs typeface="Arial"/>
                <a:sym typeface="Arial"/>
              </a:rPr>
              <a:t xml:space="preserve">coordinates</a:t>
            </a:r>
            <a:r>
              <a:rPr b="0" i="0" lang="en-US" sz="1450" u="none" cap="none" strike="noStrike">
                <a:solidFill>
                  <a:srgbClr val="475569"/>
                </a:solidFill>
                <a:latin typeface="Arial"/>
                <a:ea typeface="Arial"/>
                <a:cs typeface="Arial"/>
                <a:sym typeface="Arial"/>
              </a:rPr>
              <a:t xml:space="preserve"> and connect consecutive points with straight segments to form </a:t>
            </a:r>
            <a:r>
              <a:rPr b="1" i="0" lang="en-US" sz="1450" u="none" cap="none" strike="noStrike">
                <a:solidFill>
                  <a:srgbClr val="475569"/>
                </a:solidFill>
                <a:latin typeface="Arial"/>
                <a:ea typeface="Arial"/>
                <a:cs typeface="Arial"/>
                <a:sym typeface="Arial"/>
              </a:rPr>
              <a:t xml:space="preserve">polygon</a:t>
            </a:r>
            <a:r>
              <a:rPr b="0" i="0" lang="en-US" sz="1450" u="none" cap="none" strike="noStrike">
                <a:solidFill>
                  <a:srgbClr val="475569"/>
                </a:solidFill>
                <a:latin typeface="Arial"/>
                <a:ea typeface="Arial"/>
                <a:cs typeface="Arial"/>
                <a:sym typeface="Arial"/>
              </a:rPr>
              <a:t xml:space="preserve"> sides.</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Side Lengths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Use horizontal and vertical </a:t>
            </a:r>
            <a:r>
              <a:rPr b="1" i="0" lang="en-US" sz="1450" u="none" cap="none" strike="noStrike">
                <a:solidFill>
                  <a:srgbClr val="475569"/>
                </a:solidFill>
                <a:latin typeface="Arial"/>
                <a:ea typeface="Arial"/>
                <a:cs typeface="Arial"/>
                <a:sym typeface="Arial"/>
              </a:rPr>
              <a:t xml:space="preserve">distance</a:t>
            </a:r>
            <a:r>
              <a:rPr b="0" i="0" lang="en-US" sz="1450" u="none" cap="none" strike="noStrike">
                <a:solidFill>
                  <a:srgbClr val="475569"/>
                </a:solidFill>
                <a:latin typeface="Arial"/>
                <a:ea typeface="Arial"/>
                <a:cs typeface="Arial"/>
                <a:sym typeface="Arial"/>
              </a:rPr>
              <a:t xml:space="preserve"> formulas between </a:t>
            </a:r>
            <a:r>
              <a:rPr b="1" i="0" lang="en-US" sz="1450" u="none" cap="none" strike="noStrike">
                <a:solidFill>
                  <a:srgbClr val="475569"/>
                </a:solidFill>
                <a:latin typeface="Arial"/>
                <a:ea typeface="Arial"/>
                <a:cs typeface="Arial"/>
                <a:sym typeface="Arial"/>
              </a:rPr>
              <a:t xml:space="preserve">vertices</a:t>
            </a:r>
            <a:r>
              <a:rPr b="0" i="0" lang="en-US" sz="1450" u="none" cap="none" strike="noStrike">
                <a:solidFill>
                  <a:srgbClr val="475569"/>
                </a:solidFill>
                <a:latin typeface="Arial"/>
                <a:ea typeface="Arial"/>
                <a:cs typeface="Arial"/>
                <a:sym typeface="Arial"/>
              </a:rPr>
              <a:t xml:space="preserve"> sharing an axis value.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Perimeter &amp; Area</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Perimeter</a:t>
            </a:r>
            <a:r>
              <a:rPr b="0" i="0" lang="en-US" sz="1450" u="none" cap="none" strike="noStrike">
                <a:solidFill>
                  <a:srgbClr val="475569"/>
                </a:solidFill>
                <a:latin typeface="Arial"/>
                <a:ea typeface="Arial"/>
                <a:cs typeface="Arial"/>
                <a:sym typeface="Arial"/>
              </a:rPr>
              <a:t xml:space="preserve"> is sum of </a:t>
            </a:r>
            <a:r>
              <a:rPr b="1" i="0" lang="en-US" sz="1450" u="none" cap="none" strike="noStrike">
                <a:solidFill>
                  <a:srgbClr val="475569"/>
                </a:solidFill>
                <a:latin typeface="Arial"/>
                <a:ea typeface="Arial"/>
                <a:cs typeface="Arial"/>
                <a:sym typeface="Arial"/>
              </a:rPr>
              <a:t xml:space="preserve">side lengths</a:t>
            </a:r>
            <a:r>
              <a:rPr b="0" i="0" lang="en-US" sz="1450" u="none" cap="none" strike="noStrike">
                <a:solidFill>
                  <a:srgbClr val="475569"/>
                </a:solidFill>
                <a:latin typeface="Arial"/>
                <a:ea typeface="Arial"/>
                <a:cs typeface="Arial"/>
                <a:sym typeface="Arial"/>
              </a:rPr>
              <a:t xml:space="preserve">; Area is calculated using geometric formulas (bh, ½bh).</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75"/>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 xml:space="preserve">Represent Polygons on the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Coordinate Plane</a:t>
            </a:r>
            <a:endParaRPr b="0" i="0" sz="1400" u="none" cap="none" strike="noStrike">
              <a:solidFill>
                <a:srgbClr val="000000"/>
              </a:solidFill>
              <a:latin typeface="Arial"/>
              <a:ea typeface="Arial"/>
              <a:cs typeface="Arial"/>
              <a:sym typeface="Arial"/>
            </a:endParaRPr>
          </a:p>
        </p:txBody>
      </p:sp>
      <p:sp>
        <p:nvSpPr>
          <p:cNvPr id="770" name="Google Shape;770;p75"/>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71" name="Google Shape;771;p75"/>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7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51</a:t>
            </a:r>
          </a:p>
        </p:txBody>
      </p:sp>
      <p:grpSp>
        <p:nvGrpSpPr>
          <p:cNvPr id="773" name="TEACH-2-student-move" descr="TEACH 2 · Use strategies and tasks to engage students in rigorous work"/>
          <p:cNvGrpSpPr/>
          <p:nvPr/>
        </p:nvGrpSpPr>
        <p:grpSpPr>
          <a:xfrm>
            <a:off x="502920" y="3867612"/>
            <a:ext cx="11186160" cy="731520"/>
            <a:chOff x="502920" y="3867612"/>
            <a:chExt cx="11186160" cy="731520"/>
          </a:xfrm>
        </p:grpSpPr>
        <p:sp>
          <p:nvSpPr>
            <p:cNvPr id="774"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75"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76"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YOUR TOOLS  ·  </a:t>
              </a:r>
              <a:r>
                <a:rPr lang="en-US" sz="1800" dirty="0">
                  <a:solidFill>
                    <a:srgbClr val="13303A"/>
                  </a:solidFill>
                  <a:latin typeface="Arial"/>
                </a:rPr>
                <a:t>Reach for your notes, a model, or a manipulative before you reach for an answer.</a:t>
              </a:r>
              <a:endParaRPr lang="en-US" sz="18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cxnSp>
        <p:nvCxnSpPr>
          <p:cNvPr id="810" name="Google Shape;810;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1" name="Google Shape;811;p79"/>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pic>
        <p:nvPicPr>
          <p:cNvPr id="812" name="Google Shape;812;p79"/>
          <p:cNvPicPr preferRelativeResize="0"/>
          <p:nvPr/>
        </p:nvPicPr>
        <p:blipFill rotWithShape="1">
          <a:blip r:embed="rId3">
            <a:alphaModFix/>
          </a:blip>
          <a:srcRect b="0" l="0" r="0" t="0"/>
          <a:stretch/>
        </p:blipFill>
        <p:spPr>
          <a:xfrm>
            <a:off x="484565" y="5083801"/>
            <a:ext cx="5054600" cy="838200"/>
          </a:xfrm>
          <a:prstGeom prst="rect">
            <a:avLst/>
          </a:prstGeom>
          <a:noFill/>
          <a:ln>
            <a:noFill/>
          </a:ln>
        </p:spPr>
      </p:pic>
      <p:sp>
        <p:nvSpPr>
          <p:cNvPr id="813" name="Google Shape;813;p79"/>
          <p:cNvSpPr/>
          <p:nvPr/>
        </p:nvSpPr>
        <p:spPr>
          <a:xfrm>
            <a:off x="3322695" y="5241291"/>
            <a:ext cx="158569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Planning</a:t>
            </a:r>
            <a:endParaRPr b="0" i="0" sz="1400" u="none" cap="none" strike="noStrike">
              <a:solidFill>
                <a:srgbClr val="000000"/>
              </a:solidFill>
              <a:latin typeface="Arial"/>
              <a:ea typeface="Arial"/>
              <a:cs typeface="Arial"/>
              <a:sym typeface="Arial"/>
            </a:endParaRPr>
          </a:p>
        </p:txBody>
      </p:sp>
      <p:sp>
        <p:nvSpPr>
          <p:cNvPr id="814" name="Google Shape;814;p79"/>
          <p:cNvSpPr/>
          <p:nvPr/>
        </p:nvSpPr>
        <p:spPr>
          <a:xfrm>
            <a:off x="484565" y="5833269"/>
            <a:ext cx="10950505"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information do you know? What information do you need?</a:t>
            </a:r>
            <a:endParaRPr b="0" i="0" sz="2600" u="none" cap="none" strike="noStrike">
              <a:solidFill>
                <a:srgbClr val="595959"/>
              </a:solidFill>
              <a:latin typeface="Arial"/>
              <a:ea typeface="Arial"/>
              <a:cs typeface="Arial"/>
              <a:sym typeface="Arial"/>
            </a:endParaRPr>
          </a:p>
        </p:txBody>
      </p:sp>
      <p:sp>
        <p:nvSpPr>
          <p:cNvPr id="815" name="Google Shape;815;p79"/>
          <p:cNvSpPr txBox="1"/>
          <p:nvPr/>
        </p:nvSpPr>
        <p:spPr>
          <a:xfrm>
            <a:off x="486001" y="935999"/>
            <a:ext cx="7172100" cy="3138972"/>
          </a:xfrm>
          <a:prstGeom prst="rect">
            <a:avLst/>
          </a:prstGeom>
          <a:blipFill rotWithShape="1">
            <a:blip r:embed="rId4">
              <a:alphaModFix/>
            </a:blip>
            <a:stretch>
              <a:fillRect b="-3696" l="-1786" r="-1956" t="-214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16" name="Google Shape;816;p79"/>
          <p:cNvSpPr/>
          <p:nvPr/>
        </p:nvSpPr>
        <p:spPr>
          <a:xfrm>
            <a:off x="486000" y="4074971"/>
            <a:ext cx="720848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will be the coordinates of the other two vertices of the park?</a:t>
            </a:r>
            <a:endParaRPr b="0" i="0" sz="2800" u="none" cap="none" strike="noStrike">
              <a:solidFill>
                <a:schemeClr val="dk1"/>
              </a:solidFill>
              <a:latin typeface="Arial"/>
              <a:ea typeface="Arial"/>
              <a:cs typeface="Arial"/>
              <a:sym typeface="Arial"/>
            </a:endParaRPr>
          </a:p>
        </p:txBody>
      </p:sp>
      <p:pic>
        <p:nvPicPr>
          <p:cNvPr id="817" name="Google Shape;817;p79"/>
          <p:cNvPicPr preferRelativeResize="0"/>
          <p:nvPr/>
        </p:nvPicPr>
        <p:blipFill rotWithShape="1">
          <a:blip r:embed="rId5">
            <a:alphaModFix/>
          </a:blip>
          <a:srcRect b="0" l="0" r="0" t="0"/>
          <a:stretch/>
        </p:blipFill>
        <p:spPr>
          <a:xfrm>
            <a:off x="8390296" y="1495578"/>
            <a:ext cx="3499200" cy="3499200"/>
          </a:xfrm>
          <a:prstGeom prst="rect">
            <a:avLst/>
          </a:prstGeom>
          <a:noFill/>
          <a:ln>
            <a:noFill/>
          </a:ln>
        </p:spPr>
      </p:pic>
      <p:sp>
        <p:nvSpPr>
          <p:cNvPr id="8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51</a:t>
            </a:r>
          </a:p>
        </p:txBody>
      </p:sp>
      <p:grpSp>
        <p:nvGrpSpPr>
          <p:cNvPr id="819" name="TEACH-3-student-move" descr="TEACH 3 · Use intentional questioning to deepen learning"/>
          <p:cNvGrpSpPr/>
          <p:nvPr/>
        </p:nvGrpSpPr>
        <p:grpSpPr>
          <a:xfrm>
            <a:off x="6187440" y="5156613"/>
            <a:ext cx="5501640" cy="594360"/>
            <a:chOff x="6187440" y="5156613"/>
            <a:chExt cx="5501640" cy="594360"/>
          </a:xfrm>
        </p:grpSpPr>
        <p:sp>
          <p:nvSpPr>
            <p:cNvPr id="820" name="TEACH-move-card"/>
            <p:cNvSpPr/>
            <p:nvPr/>
          </p:nvSpPr>
          <p:spPr>
            <a:xfrm>
              <a:off x="6187440" y="515661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21" name="TEACH-move-rule"/>
            <p:cNvSpPr/>
            <p:nvPr/>
          </p:nvSpPr>
          <p:spPr>
            <a:xfrm>
              <a:off x="6233160" y="5269541"/>
              <a:ext cx="100584" cy="368504"/>
            </a:xfrm>
            <a:prstGeom prst="roundRect">
              <a:avLst>
                <a:gd name="adj" fmla="val 50000"/>
              </a:avLst>
            </a:prstGeom>
            <a:solidFill>
              <a:srgbClr val="01708C"/>
            </a:solidFill>
            <a:ln>
              <a:noFill/>
            </a:ln>
          </p:spPr>
          <p:txBody>
            <a:bodyPr/>
            <a:lstStyle/>
            <a:p>
              <a:endParaRPr/>
            </a:p>
          </p:txBody>
        </p:sp>
        <p:sp>
          <p:nvSpPr>
            <p:cNvPr id="822" name="TEACH-move-text"/>
            <p:cNvSpPr txBox="1"/>
            <p:nvPr/>
          </p:nvSpPr>
          <p:spPr>
            <a:xfrm>
              <a:off x="6507480" y="515661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cxnSp>
        <p:nvCxnSpPr>
          <p:cNvPr id="832" name="Google Shape;832;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3" name="Google Shape;833;p81"/>
          <p:cNvSpPr txBox="1"/>
          <p:nvPr/>
        </p:nvSpPr>
        <p:spPr>
          <a:xfrm>
            <a:off x="484565" y="316034"/>
            <a:ext cx="5029132" cy="5164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sp>
        <p:nvSpPr>
          <p:cNvPr id="834" name="Google Shape;834;p81"/>
          <p:cNvSpPr txBox="1"/>
          <p:nvPr/>
        </p:nvSpPr>
        <p:spPr>
          <a:xfrm>
            <a:off x="486000" y="935999"/>
            <a:ext cx="7619775" cy="3103738"/>
          </a:xfrm>
          <a:prstGeom prst="rect">
            <a:avLst/>
          </a:prstGeom>
          <a:blipFill rotWithShape="1">
            <a:blip r:embed="rId3">
              <a:alphaModFix/>
            </a:blip>
            <a:stretch>
              <a:fillRect b="-4715" l="-1680" r="-1760" t="-21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35" name="Google Shape;835;p81"/>
          <p:cNvSpPr/>
          <p:nvPr/>
        </p:nvSpPr>
        <p:spPr>
          <a:xfrm>
            <a:off x="484564" y="4143222"/>
            <a:ext cx="7905731"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given vertices?</a:t>
            </a:r>
            <a:endParaRPr b="0" i="0" sz="2800" u="none" cap="none" strike="noStrike">
              <a:solidFill>
                <a:schemeClr val="dk1"/>
              </a:solidFill>
              <a:latin typeface="Arial"/>
              <a:ea typeface="Arial"/>
              <a:cs typeface="Arial"/>
              <a:sym typeface="Arial"/>
            </a:endParaRPr>
          </a:p>
        </p:txBody>
      </p:sp>
      <p:sp>
        <p:nvSpPr>
          <p:cNvPr id="836" name="Google Shape;836;p81"/>
          <p:cNvSpPr txBox="1"/>
          <p:nvPr/>
        </p:nvSpPr>
        <p:spPr>
          <a:xfrm>
            <a:off x="484564" y="4783130"/>
            <a:ext cx="9069932" cy="1477604"/>
          </a:xfrm>
          <a:prstGeom prst="rect">
            <a:avLst/>
          </a:prstGeom>
          <a:blipFill rotWithShape="1">
            <a:blip r:embed="rId4">
              <a:alphaModFix/>
            </a:blip>
            <a:stretch>
              <a:fillRect b="-9504" l="-1344" r="0" t="-454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837" name="Google Shape;837;p81"/>
          <p:cNvPicPr preferRelativeResize="0"/>
          <p:nvPr/>
        </p:nvPicPr>
        <p:blipFill rotWithShape="1">
          <a:blip r:embed="rId5">
            <a:alphaModFix/>
          </a:blip>
          <a:srcRect b="0" l="0" r="0" t="0"/>
          <a:stretch/>
        </p:blipFill>
        <p:spPr>
          <a:xfrm>
            <a:off x="8390296" y="1495578"/>
            <a:ext cx="3499200" cy="3499200"/>
          </a:xfrm>
          <a:prstGeom prst="rect">
            <a:avLst/>
          </a:prstGeom>
          <a:noFill/>
          <a:ln>
            <a:noFill/>
          </a:ln>
        </p:spPr>
      </p:pic>
      <p:sp>
        <p:nvSpPr>
          <p:cNvPr id="8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51</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cxnSp>
        <p:nvCxnSpPr>
          <p:cNvPr id="853" name="Google Shape;853;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4" name="Google Shape;854;p83"/>
          <p:cNvSpPr txBox="1"/>
          <p:nvPr/>
        </p:nvSpPr>
        <p:spPr>
          <a:xfrm>
            <a:off x="484565" y="4956588"/>
            <a:ext cx="11425461" cy="14442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the distance between the given vertices to find the width. Then we can divide the area by the width to find the length of the park.</a:t>
            </a:r>
            <a:endParaRPr b="0" i="0" sz="1400" u="none" cap="none" strike="noStrike">
              <a:solidFill>
                <a:srgbClr val="000000"/>
              </a:solidFill>
              <a:latin typeface="Arial"/>
              <a:ea typeface="Arial"/>
              <a:cs typeface="Arial"/>
              <a:sym typeface="Arial"/>
            </a:endParaRPr>
          </a:p>
        </p:txBody>
      </p:sp>
      <p:sp>
        <p:nvSpPr>
          <p:cNvPr id="855" name="Google Shape;855;p83"/>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sp>
        <p:nvSpPr>
          <p:cNvPr id="856" name="Google Shape;856;p83"/>
          <p:cNvSpPr txBox="1"/>
          <p:nvPr/>
        </p:nvSpPr>
        <p:spPr>
          <a:xfrm>
            <a:off x="486000" y="936000"/>
            <a:ext cx="7456998"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A rectangular park will have an area of 240,000 square feet. Each unit labeled on the grid represents 100 feet.</a:t>
            </a:r>
            <a:endParaRPr b="0" i="0" sz="1400" u="none" cap="none" strike="noStrike">
              <a:solidFill>
                <a:srgbClr val="000000"/>
              </a:solidFill>
              <a:latin typeface="Arial"/>
              <a:ea typeface="Arial"/>
              <a:cs typeface="Arial"/>
              <a:sym typeface="Arial"/>
            </a:endParaRPr>
          </a:p>
        </p:txBody>
      </p:sp>
      <p:sp>
        <p:nvSpPr>
          <p:cNvPr id="857" name="Google Shape;857;p83"/>
          <p:cNvSpPr/>
          <p:nvPr/>
        </p:nvSpPr>
        <p:spPr>
          <a:xfrm>
            <a:off x="486000" y="2355507"/>
            <a:ext cx="7482719" cy="1384995"/>
          </a:xfrm>
          <a:prstGeom prst="rect">
            <a:avLst/>
          </a:prstGeom>
          <a:blipFill rotWithShape="1">
            <a:blip r:embed="rId3">
              <a:alphaModFix/>
            </a:blip>
            <a:stretch>
              <a:fillRect b="-10965" l="-1711" r="-1793" t="-43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58" name="Google Shape;858;p83"/>
          <p:cNvSpPr/>
          <p:nvPr/>
        </p:nvSpPr>
        <p:spPr>
          <a:xfrm>
            <a:off x="486000" y="3775014"/>
            <a:ext cx="745324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the given vertices to find the dimensions of the park?</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22f52e9518d440b8b032c0b8172e8fc\narm24_c10707_se_009a-dig-a-eps.png" id="859" name="Google Shape;859;p83"/>
          <p:cNvPicPr preferRelativeResize="0"/>
          <p:nvPr/>
        </p:nvPicPr>
        <p:blipFill rotWithShape="1">
          <a:blip r:embed="rId4">
            <a:alphaModFix/>
          </a:blip>
          <a:srcRect b="0" l="0" r="0" t="0"/>
          <a:stretch/>
        </p:blipFill>
        <p:spPr>
          <a:xfrm>
            <a:off x="8154183" y="1457388"/>
            <a:ext cx="3811784" cy="3499200"/>
          </a:xfrm>
          <a:prstGeom prst="rect">
            <a:avLst/>
          </a:prstGeom>
          <a:noFill/>
          <a:ln>
            <a:noFill/>
          </a:ln>
        </p:spPr>
      </p:pic>
      <p:sp>
        <p:nvSpPr>
          <p:cNvPr id="86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51</a:t>
            </a:r>
          </a:p>
        </p:txBody>
      </p:sp>
      <p:sp>
        <p:nvSpPr>
          <p:cNvPr id="861" name="EWL-COVER-1"/>
          <p:cNvSpPr/>
          <p:nvPr/>
        </p:nvSpPr>
        <p:spPr>
          <a:xfrm>
            <a:off x="429701" y="4901724"/>
            <a:ext cx="11535189" cy="154479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cxnSp>
        <p:nvCxnSpPr>
          <p:cNvPr id="864" name="Google Shape;864;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5" name="Google Shape;865;p84"/>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sp>
        <p:nvSpPr>
          <p:cNvPr id="866" name="Google Shape;866;p84"/>
          <p:cNvSpPr txBox="1"/>
          <p:nvPr/>
        </p:nvSpPr>
        <p:spPr>
          <a:xfrm>
            <a:off x="486000" y="936000"/>
            <a:ext cx="7456998" cy="9669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Let’s use the given vertices to determine the dimensions of the park.</a:t>
            </a:r>
            <a:endParaRPr b="0" i="0" sz="1400" u="none" cap="none" strike="noStrike">
              <a:solidFill>
                <a:srgbClr val="000000"/>
              </a:solidFill>
              <a:latin typeface="Arial"/>
              <a:ea typeface="Arial"/>
              <a:cs typeface="Arial"/>
              <a:sym typeface="Arial"/>
            </a:endParaRPr>
          </a:p>
        </p:txBody>
      </p:sp>
      <p:sp>
        <p:nvSpPr>
          <p:cNvPr id="867" name="Google Shape;867;p84"/>
          <p:cNvSpPr/>
          <p:nvPr/>
        </p:nvSpPr>
        <p:spPr>
          <a:xfrm>
            <a:off x="486000" y="2198471"/>
            <a:ext cx="692298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Find the distance between the given vertices. Each unit labeled on the grid represents 100 feet.</a:t>
            </a:r>
            <a:endParaRPr b="0" i="0" sz="2800" u="none" cap="none" strike="noStrike">
              <a:solidFill>
                <a:schemeClr val="dk1"/>
              </a:solidFill>
              <a:latin typeface="Arial"/>
              <a:ea typeface="Arial"/>
              <a:cs typeface="Arial"/>
              <a:sym typeface="Arial"/>
            </a:endParaRPr>
          </a:p>
        </p:txBody>
      </p:sp>
      <p:sp>
        <p:nvSpPr>
          <p:cNvPr id="868" name="Google Shape;868;p84"/>
          <p:cNvSpPr/>
          <p:nvPr/>
        </p:nvSpPr>
        <p:spPr>
          <a:xfrm>
            <a:off x="486000" y="3879005"/>
            <a:ext cx="7081358" cy="1384995"/>
          </a:xfrm>
          <a:prstGeom prst="rect">
            <a:avLst/>
          </a:prstGeom>
          <a:blipFill rotWithShape="1">
            <a:blip r:embed="rId3">
              <a:alphaModFix/>
            </a:blip>
            <a:stretch>
              <a:fillRect b="-10965" l="-1809" r="0" t="-43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69" name="Google Shape;869;p84"/>
          <p:cNvSpPr/>
          <p:nvPr/>
        </p:nvSpPr>
        <p:spPr>
          <a:xfrm>
            <a:off x="486000" y="5559539"/>
            <a:ext cx="2369559"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122f52e9518d440b8b032c0b8172e8fc\narm24_c10707_se_009a-dig-a-eps.png" id="870" name="Google Shape;870;p84"/>
          <p:cNvPicPr preferRelativeResize="0"/>
          <p:nvPr/>
        </p:nvPicPr>
        <p:blipFill rotWithShape="1">
          <a:blip r:embed="rId5">
            <a:alphaModFix/>
          </a:blip>
          <a:srcRect b="0" l="0" r="0" t="0"/>
          <a:stretch/>
        </p:blipFill>
        <p:spPr>
          <a:xfrm>
            <a:off x="8154183" y="1457388"/>
            <a:ext cx="3811784" cy="3499200"/>
          </a:xfrm>
          <a:prstGeom prst="rect">
            <a:avLst/>
          </a:prstGeom>
          <a:noFill/>
          <a:ln>
            <a:noFill/>
          </a:ln>
        </p:spPr>
      </p:pic>
      <p:sp>
        <p:nvSpPr>
          <p:cNvPr id="8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51</a:t>
            </a:r>
          </a:p>
        </p:txBody>
      </p:sp>
      <p:sp xmlns:p="http://schemas.openxmlformats.org/presentationml/2006/main" xmlns:a="http://schemas.openxmlformats.org/drawingml/2006/main">
        <p:nvSpPr>
          <p:cNvPr id="872"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cxnSp>
        <p:nvCxnSpPr>
          <p:cNvPr id="875" name="Google Shape;875;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6" name="Google Shape;876;p85"/>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sp>
        <p:nvSpPr>
          <p:cNvPr id="877" name="Google Shape;877;p85"/>
          <p:cNvSpPr txBox="1"/>
          <p:nvPr/>
        </p:nvSpPr>
        <p:spPr>
          <a:xfrm>
            <a:off x="485999" y="935999"/>
            <a:ext cx="6870143" cy="10838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On the coordinate plane, the distance between the given vertices is 3 units. </a:t>
            </a:r>
            <a:endParaRPr b="0" i="0" sz="1400" u="none" cap="none" strike="noStrike">
              <a:solidFill>
                <a:srgbClr val="000000"/>
              </a:solidFill>
              <a:latin typeface="Arial"/>
              <a:ea typeface="Arial"/>
              <a:cs typeface="Arial"/>
              <a:sym typeface="Arial"/>
            </a:endParaRPr>
          </a:p>
        </p:txBody>
      </p:sp>
      <p:sp>
        <p:nvSpPr>
          <p:cNvPr id="878" name="Google Shape;878;p85"/>
          <p:cNvSpPr/>
          <p:nvPr/>
        </p:nvSpPr>
        <p:spPr>
          <a:xfrm>
            <a:off x="484565" y="2029963"/>
            <a:ext cx="603906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Each unit represents 100 feet, so the width will be 300 feet.</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22f52e9518d440b8b032c0b8172e8fc\narm24_c10707_se_009a-dig-a-eps.png" id="879" name="Google Shape;879;p85"/>
          <p:cNvPicPr preferRelativeResize="0"/>
          <p:nvPr/>
        </p:nvPicPr>
        <p:blipFill rotWithShape="1">
          <a:blip r:embed="rId3">
            <a:alphaModFix/>
          </a:blip>
          <a:srcRect b="0" l="0" r="0" t="0"/>
          <a:stretch/>
        </p:blipFill>
        <p:spPr>
          <a:xfrm>
            <a:off x="8154183" y="1457388"/>
            <a:ext cx="3811784" cy="3499200"/>
          </a:xfrm>
          <a:prstGeom prst="rect">
            <a:avLst/>
          </a:prstGeom>
          <a:noFill/>
          <a:ln>
            <a:noFill/>
          </a:ln>
        </p:spPr>
      </p:pic>
      <p:sp>
        <p:nvSpPr>
          <p:cNvPr id="88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51</a:t>
            </a:r>
          </a:p>
        </p:txBody>
      </p:sp>
      <p:sp xmlns:p="http://schemas.openxmlformats.org/presentationml/2006/main" xmlns:a="http://schemas.openxmlformats.org/drawingml/2006/main">
        <p:nvSpPr>
          <p:cNvPr id="88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cxnSp>
        <p:nvCxnSpPr>
          <p:cNvPr id="884" name="Google Shape;884;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5" name="Google Shape;885;p86"/>
          <p:cNvSpPr txBox="1"/>
          <p:nvPr/>
        </p:nvSpPr>
        <p:spPr>
          <a:xfrm>
            <a:off x="484565" y="316033"/>
            <a:ext cx="6039064"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sp>
        <p:nvSpPr>
          <p:cNvPr id="886" name="Google Shape;886;p86"/>
          <p:cNvSpPr txBox="1"/>
          <p:nvPr/>
        </p:nvSpPr>
        <p:spPr>
          <a:xfrm>
            <a:off x="486000" y="935999"/>
            <a:ext cx="6870143" cy="974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park will have an area of 240,000 square feet and a width of 300 feet.</a:t>
            </a:r>
            <a:endParaRPr b="0" i="0" sz="1400" u="none" cap="none" strike="noStrike">
              <a:solidFill>
                <a:srgbClr val="000000"/>
              </a:solidFill>
              <a:latin typeface="Arial"/>
              <a:ea typeface="Arial"/>
              <a:cs typeface="Arial"/>
              <a:sym typeface="Arial"/>
            </a:endParaRPr>
          </a:p>
        </p:txBody>
      </p:sp>
      <p:sp>
        <p:nvSpPr>
          <p:cNvPr id="887" name="Google Shape;887;p86"/>
          <p:cNvSpPr/>
          <p:nvPr/>
        </p:nvSpPr>
        <p:spPr>
          <a:xfrm>
            <a:off x="486000" y="1994786"/>
            <a:ext cx="707828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Each unit labeled on the grid represents 100 feet.</a:t>
            </a:r>
            <a:endParaRPr b="0" i="0" sz="2800" u="none" cap="none" strike="noStrike">
              <a:solidFill>
                <a:schemeClr val="dk1"/>
              </a:solidFill>
              <a:latin typeface="Arial"/>
              <a:ea typeface="Arial"/>
              <a:cs typeface="Arial"/>
              <a:sym typeface="Arial"/>
            </a:endParaRPr>
          </a:p>
        </p:txBody>
      </p:sp>
      <p:sp>
        <p:nvSpPr>
          <p:cNvPr id="888" name="Google Shape;888;p86"/>
          <p:cNvSpPr txBox="1"/>
          <p:nvPr/>
        </p:nvSpPr>
        <p:spPr>
          <a:xfrm>
            <a:off x="486000" y="3032993"/>
            <a:ext cx="1425775"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89" name="Google Shape;889;p86"/>
          <p:cNvSpPr txBox="1"/>
          <p:nvPr/>
        </p:nvSpPr>
        <p:spPr>
          <a:xfrm>
            <a:off x="486000" y="3640313"/>
            <a:ext cx="2782300"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90" name="Google Shape;890;p86"/>
          <p:cNvSpPr txBox="1"/>
          <p:nvPr/>
        </p:nvSpPr>
        <p:spPr>
          <a:xfrm>
            <a:off x="486000" y="4247633"/>
            <a:ext cx="3209533"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91" name="Google Shape;891;p86"/>
          <p:cNvSpPr txBox="1"/>
          <p:nvPr/>
        </p:nvSpPr>
        <p:spPr>
          <a:xfrm>
            <a:off x="486000" y="4854953"/>
            <a:ext cx="1515928"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92" name="Google Shape;892;p86"/>
          <p:cNvSpPr/>
          <p:nvPr/>
        </p:nvSpPr>
        <p:spPr>
          <a:xfrm>
            <a:off x="486000" y="5462274"/>
            <a:ext cx="9823780"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To have the desired area, the length will need to be 800 feet.</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22f52e9518d440b8b032c0b8172e8fc\narm24_c10707_se_009a-dig-a-eps.png" id="893" name="Google Shape;893;p86"/>
          <p:cNvPicPr preferRelativeResize="0"/>
          <p:nvPr/>
        </p:nvPicPr>
        <p:blipFill rotWithShape="1">
          <a:blip r:embed="rId7">
            <a:alphaModFix/>
          </a:blip>
          <a:srcRect b="0" l="0" r="0" t="0"/>
          <a:stretch/>
        </p:blipFill>
        <p:spPr>
          <a:xfrm>
            <a:off x="8154183" y="1457388"/>
            <a:ext cx="3811784" cy="3499200"/>
          </a:xfrm>
          <a:prstGeom prst="rect">
            <a:avLst/>
          </a:prstGeom>
          <a:noFill/>
          <a:ln>
            <a:noFill/>
          </a:ln>
        </p:spPr>
      </p:pic>
      <p:sp>
        <p:nvSpPr>
          <p:cNvPr id="8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51</a:t>
            </a:r>
          </a:p>
        </p:txBody>
      </p:sp>
      <p:grpSp>
        <p:nvGrpSpPr>
          <p:cNvPr id="895" name="TEACH-5-student-move" descr="TEACH 5 · Facilitate student interactions and academic talk"/>
          <p:cNvGrpSpPr/>
          <p:nvPr/>
        </p:nvGrpSpPr>
        <p:grpSpPr>
          <a:xfrm>
            <a:off x="6187440" y="5023362"/>
            <a:ext cx="5501640" cy="402336"/>
            <a:chOff x="6187440" y="5023362"/>
            <a:chExt cx="5501640" cy="402336"/>
          </a:xfrm>
        </p:grpSpPr>
        <p:sp>
          <p:nvSpPr>
            <p:cNvPr id="896" name="TEACH-move-card"/>
            <p:cNvSpPr/>
            <p:nvPr/>
          </p:nvSpPr>
          <p:spPr>
            <a:xfrm>
              <a:off x="6187440" y="5023362"/>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897" name="TEACH-move-rule"/>
            <p:cNvSpPr/>
            <p:nvPr/>
          </p:nvSpPr>
          <p:spPr>
            <a:xfrm>
              <a:off x="6233160" y="5099806"/>
              <a:ext cx="100584" cy="249448"/>
            </a:xfrm>
            <a:prstGeom prst="roundRect">
              <a:avLst>
                <a:gd name="adj" fmla="val 50000"/>
              </a:avLst>
            </a:prstGeom>
            <a:solidFill>
              <a:srgbClr val="01708C"/>
            </a:solidFill>
            <a:ln>
              <a:noFill/>
            </a:ln>
          </p:spPr>
          <p:txBody>
            <a:bodyPr/>
            <a:lstStyle/>
            <a:p>
              <a:endParaRPr/>
            </a:p>
          </p:txBody>
        </p:sp>
        <p:sp>
          <p:nvSpPr>
            <p:cNvPr id="898" name="TEACH-move-text"/>
            <p:cNvSpPr txBox="1"/>
            <p:nvPr/>
          </p:nvSpPr>
          <p:spPr>
            <a:xfrm>
              <a:off x="6507480" y="5023362"/>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cxnSp>
        <p:nvCxnSpPr>
          <p:cNvPr id="907" name="Google Shape;907;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8" name="Google Shape;908;p88"/>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sp>
        <p:nvSpPr>
          <p:cNvPr id="909" name="Google Shape;909;p88"/>
          <p:cNvSpPr txBox="1"/>
          <p:nvPr/>
        </p:nvSpPr>
        <p:spPr>
          <a:xfrm>
            <a:off x="485999" y="935999"/>
            <a:ext cx="6870143" cy="9746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How can you determine the number of units that will represent the length of the park on the map?</a:t>
            </a:r>
            <a:r>
              <a:rPr b="1" i="0" lang="en-US" sz="2800" u="none" cap="none" strike="noStrike">
                <a:solidFill>
                  <a:schemeClr val="dk2"/>
                </a:solidFill>
                <a:latin typeface="Arial"/>
                <a:ea typeface="Calibri"/>
                <a:cs typeface="Calibri"/>
                <a:sym typeface="Calibri"/>
              </a:rPr>
              <a:t> </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22f52e9518d440b8b032c0b8172e8fc\narm24_c10707_se_009a-dig-a-eps.png" id="910" name="Google Shape;910;p88"/>
          <p:cNvPicPr preferRelativeResize="0"/>
          <p:nvPr/>
        </p:nvPicPr>
        <p:blipFill rotWithShape="1">
          <a:blip r:embed="rId3">
            <a:alphaModFix/>
          </a:blip>
          <a:srcRect b="0" l="0" r="0" t="0"/>
          <a:stretch/>
        </p:blipFill>
        <p:spPr>
          <a:xfrm>
            <a:off x="8154183" y="1457388"/>
            <a:ext cx="3564000" cy="3271733"/>
          </a:xfrm>
          <a:prstGeom prst="rect">
            <a:avLst/>
          </a:prstGeom>
          <a:noFill/>
          <a:ln>
            <a:noFill/>
          </a:ln>
        </p:spPr>
      </p:pic>
      <p:sp>
        <p:nvSpPr>
          <p:cNvPr id="911" name="Google Shape;911;p88"/>
          <p:cNvSpPr txBox="1"/>
          <p:nvPr/>
        </p:nvSpPr>
        <p:spPr>
          <a:xfrm>
            <a:off x="484565" y="4729121"/>
            <a:ext cx="7316410" cy="14352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divide the length by 100 because each unit represents 100 feet.</a:t>
            </a:r>
            <a:endParaRPr b="0" i="0" sz="1400" u="none" cap="none" strike="noStrike">
              <a:solidFill>
                <a:srgbClr val="000000"/>
              </a:solidFill>
              <a:latin typeface="Arial"/>
              <a:ea typeface="Arial"/>
              <a:cs typeface="Arial"/>
              <a:sym typeface="Arial"/>
            </a:endParaRPr>
          </a:p>
        </p:txBody>
      </p:sp>
      <p:sp>
        <p:nvSpPr>
          <p:cNvPr id="91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51</a:t>
            </a:r>
          </a:p>
        </p:txBody>
      </p:sp>
      <p:sp>
        <p:nvSpPr>
          <p:cNvPr id="913" name="EWL-COVER-1"/>
          <p:cNvSpPr/>
          <p:nvPr/>
        </p:nvSpPr>
        <p:spPr>
          <a:xfrm>
            <a:off x="429701" y="4674257"/>
            <a:ext cx="7426138" cy="1544963"/>
          </a:xfrm>
          <a:prstGeom prst="rect">
            <a:avLst/>
          </a:prstGeom>
          <a:solidFill>
            <a:srgbClr val="FFFFFF"/>
          </a:solidFill>
          <a:ln>
            <a:noFill/>
          </a:ln>
        </p:spPr>
        <p:txBody>
          <a:bodyPr/>
          <a:lstStyle/>
          <a:p/>
        </p:txBody>
      </p:sp>
      <p:sp xmlns:p="http://schemas.openxmlformats.org/presentationml/2006/main" xmlns:a="http://schemas.openxmlformats.org/drawingml/2006/main">
        <p:nvSpPr>
          <p:cNvPr id="914" name="TEACH-embedded-student-prompt" descr="Student thinking and response directions"/>
          <p:cNvSpPr txBox="1"/>
          <p:nvPr/>
        </p:nvSpPr>
        <p:spPr>
          <a:xfrm>
            <a:off x="594360" y="376732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cxnSp>
        <p:nvCxnSpPr>
          <p:cNvPr id="926" name="Google Shape;926;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7" name="Google Shape;927;p90"/>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28" name="Google Shape;928;p90"/>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929" name="Google Shape;929;p90"/>
          <p:cNvSpPr txBox="1"/>
          <p:nvPr/>
        </p:nvSpPr>
        <p:spPr>
          <a:xfrm>
            <a:off x="483689" y="5180148"/>
            <a:ext cx="5780633" cy="1111470"/>
          </a:xfrm>
          <a:prstGeom prst="rect">
            <a:avLst/>
          </a:prstGeom>
          <a:blipFill rotWithShape="1">
            <a:blip r:embed="rId4">
              <a:alphaModFix/>
            </a:blip>
            <a:stretch>
              <a:fillRect b="-8243" l="-2107" r="0" t="-549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30" name="Google Shape;930;p90"/>
          <p:cNvSpPr txBox="1"/>
          <p:nvPr/>
        </p:nvSpPr>
        <p:spPr>
          <a:xfrm>
            <a:off x="484564" y="936100"/>
            <a:ext cx="7078285" cy="42440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width will be 300 feet, represented by 3 units on the map.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Each unit labeled on the grid represents 100 feet.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length will be 800 feet, represented by 8 units on the map.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Find the coordinates of the other two vertices.</a:t>
            </a:r>
            <a:endParaRPr b="1"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22f52e9518d440b8b032c0b8172e8fc\narm24_c10707_se_009a-dig-a-eps.png" id="931" name="Google Shape;931;p90"/>
          <p:cNvPicPr preferRelativeResize="0"/>
          <p:nvPr/>
        </p:nvPicPr>
        <p:blipFill rotWithShape="1">
          <a:blip r:embed="rId5">
            <a:alphaModFix/>
          </a:blip>
          <a:srcRect b="0" l="0" r="0" t="0"/>
          <a:stretch/>
        </p:blipFill>
        <p:spPr>
          <a:xfrm>
            <a:off x="8154183" y="1457388"/>
            <a:ext cx="3564000" cy="3271733"/>
          </a:xfrm>
          <a:prstGeom prst="rect">
            <a:avLst/>
          </a:prstGeom>
          <a:noFill/>
          <a:ln>
            <a:noFill/>
          </a:ln>
        </p:spPr>
      </p:pic>
      <p:sp>
        <p:nvSpPr>
          <p:cNvPr id="93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51</a:t>
            </a:r>
          </a:p>
        </p:txBody>
      </p:sp>
      <p:sp>
        <p:nvSpPr>
          <p:cNvPr id="93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cxnSp>
        <p:nvCxnSpPr>
          <p:cNvPr id="946" name="Google Shape;946;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47" name="Google Shape;947;p92"/>
          <p:cNvSpPr txBox="1"/>
          <p:nvPr/>
        </p:nvSpPr>
        <p:spPr>
          <a:xfrm>
            <a:off x="485999" y="4533903"/>
            <a:ext cx="6648225" cy="1666872"/>
          </a:xfrm>
          <a:prstGeom prst="rect">
            <a:avLst/>
          </a:prstGeom>
          <a:blipFill rotWithShape="1">
            <a:blip r:embed="rId3">
              <a:alphaModFix/>
            </a:blip>
            <a:stretch>
              <a:fillRect b="0" l="-1927" r="0" t="-402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48" name="Google Shape;948;p92"/>
          <p:cNvSpPr txBox="1"/>
          <p:nvPr/>
        </p:nvSpPr>
        <p:spPr>
          <a:xfrm>
            <a:off x="486000" y="936001"/>
            <a:ext cx="6733666" cy="18262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other two vertices need to be 8 units below the known vertices because the length of the rectangle is 800 feet, or 8 units.</a:t>
            </a:r>
            <a:endParaRPr b="1" i="0" sz="2800" u="none" cap="none" strike="noStrike">
              <a:solidFill>
                <a:schemeClr val="dk1"/>
              </a:solidFill>
              <a:latin typeface="Arial"/>
              <a:ea typeface="Arial"/>
              <a:cs typeface="Arial"/>
              <a:sym typeface="Arial"/>
            </a:endParaRPr>
          </a:p>
        </p:txBody>
      </p:sp>
      <p:sp>
        <p:nvSpPr>
          <p:cNvPr id="949" name="Google Shape;949;p92"/>
          <p:cNvSpPr/>
          <p:nvPr/>
        </p:nvSpPr>
        <p:spPr>
          <a:xfrm>
            <a:off x="486000" y="316800"/>
            <a:ext cx="489005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sp>
        <p:nvSpPr>
          <p:cNvPr id="950" name="Google Shape;950;p92"/>
          <p:cNvSpPr/>
          <p:nvPr/>
        </p:nvSpPr>
        <p:spPr>
          <a:xfrm>
            <a:off x="486000" y="2880436"/>
            <a:ext cx="6507881" cy="954107"/>
          </a:xfrm>
          <a:prstGeom prst="rect">
            <a:avLst/>
          </a:prstGeom>
          <a:blipFill rotWithShape="1">
            <a:blip r:embed="rId4">
              <a:alphaModFix/>
            </a:blip>
            <a:stretch>
              <a:fillRect b="-17308" l="-1968" r="0" t="-70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2e25effa95a43c4bc3d2d138464075b\narm24_c10707_se_006a-dig-a-eps.png" id="951" name="Google Shape;951;p92"/>
          <p:cNvPicPr preferRelativeResize="0"/>
          <p:nvPr/>
        </p:nvPicPr>
        <p:blipFill rotWithShape="1">
          <a:blip r:embed="rId5">
            <a:alphaModFix/>
          </a:blip>
          <a:srcRect b="0" l="0" r="0" t="0"/>
          <a:stretch/>
        </p:blipFill>
        <p:spPr>
          <a:xfrm>
            <a:off x="7847216" y="1427890"/>
            <a:ext cx="3859200" cy="3859200"/>
          </a:xfrm>
          <a:prstGeom prst="rect">
            <a:avLst/>
          </a:prstGeom>
          <a:noFill/>
          <a:ln>
            <a:noFill/>
          </a:ln>
        </p:spPr>
      </p:pic>
      <p:sp>
        <p:nvSpPr>
          <p:cNvPr id="95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51</a:t>
            </a:r>
          </a:p>
        </p:txBody>
      </p:sp>
      <p:sp xmlns:p="http://schemas.openxmlformats.org/presentationml/2006/main" xmlns:a="http://schemas.openxmlformats.org/drawingml/2006/main">
        <p:nvSpPr>
          <p:cNvPr id="953"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a:t>
            </a:r>
            <a:endParaRPr lang="en-US" sz="2000"/>
          </a:p>
          <a:p>
            <a:pPr>
              <a:lnSpc>
                <a:spcPts val="2400"/>
              </a:lnSpc>
              <a:buNone/>
            </a:pPr>
            <a:r>
              <a:rPr lang="en-US" sz="2000">
                <a:solidFill>
                  <a:srgbClr val="174D60"/>
                </a:solidFill>
                <a:latin typeface="Arial"/>
              </a:rPr>
              <a:t>shown supports your reasoning.</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cxnSp>
        <p:nvCxnSpPr>
          <p:cNvPr id="956" name="Google Shape;956;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7" name="Google Shape;957;p93"/>
          <p:cNvSpPr txBox="1"/>
          <p:nvPr/>
        </p:nvSpPr>
        <p:spPr>
          <a:xfrm>
            <a:off x="486001" y="936000"/>
            <a:ext cx="7124474" cy="2680657"/>
          </a:xfrm>
          <a:prstGeom prst="rect">
            <a:avLst/>
          </a:prstGeom>
          <a:blipFill rotWithShape="1">
            <a:blip r:embed="rId3">
              <a:alphaModFix/>
            </a:blip>
            <a:stretch>
              <a:fillRect b="-21412" l="-1798" r="-2654" t="-250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8" name="Google Shape;958;p93"/>
          <p:cNvSpPr/>
          <p:nvPr/>
        </p:nvSpPr>
        <p:spPr>
          <a:xfrm>
            <a:off x="485999" y="5287090"/>
            <a:ext cx="7124475" cy="954107"/>
          </a:xfrm>
          <a:prstGeom prst="rect">
            <a:avLst/>
          </a:prstGeom>
          <a:blipFill rotWithShape="1">
            <a:blip r:embed="rId4">
              <a:alphaModFix/>
            </a:blip>
            <a:stretch>
              <a:fillRect b="-16561" l="-1798" r="-274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59" name="Google Shape;959;p93"/>
          <p:cNvSpPr/>
          <p:nvPr/>
        </p:nvSpPr>
        <p:spPr>
          <a:xfrm>
            <a:off x="486000" y="5287090"/>
            <a:ext cx="7124475" cy="994432"/>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60" name="Google Shape;960;p93"/>
          <p:cNvSpPr/>
          <p:nvPr/>
        </p:nvSpPr>
        <p:spPr>
          <a:xfrm>
            <a:off x="485999" y="4099436"/>
            <a:ext cx="719790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will be the coordinates of the other two vertices of the park?</a:t>
            </a:r>
            <a:endParaRPr b="0" i="0" sz="2800" u="none" cap="none" strike="noStrike">
              <a:solidFill>
                <a:schemeClr val="dk1"/>
              </a:solidFill>
              <a:latin typeface="Arial"/>
              <a:ea typeface="Arial"/>
              <a:cs typeface="Arial"/>
              <a:sym typeface="Arial"/>
            </a:endParaRPr>
          </a:p>
        </p:txBody>
      </p:sp>
      <p:sp>
        <p:nvSpPr>
          <p:cNvPr id="961" name="Google Shape;961;p93"/>
          <p:cNvSpPr/>
          <p:nvPr/>
        </p:nvSpPr>
        <p:spPr>
          <a:xfrm>
            <a:off x="486000" y="316800"/>
            <a:ext cx="4890057"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782DA0"/>
                </a:solidFill>
                <a:latin typeface="Arial"/>
                <a:ea typeface="Arial"/>
                <a:cs typeface="Arial"/>
                <a:sym typeface="Arial"/>
              </a:rPr>
              <a:t>Designing the Town Square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2e25effa95a43c4bc3d2d138464075b\narm24_c10707_se_006a-dig-a-eps.png" id="962" name="Google Shape;962;p93"/>
          <p:cNvPicPr preferRelativeResize="0"/>
          <p:nvPr/>
        </p:nvPicPr>
        <p:blipFill rotWithShape="1">
          <a:blip r:embed="rId5">
            <a:alphaModFix/>
          </a:blip>
          <a:srcRect b="0" l="0" r="0" t="0"/>
          <a:stretch/>
        </p:blipFill>
        <p:spPr>
          <a:xfrm>
            <a:off x="7847216" y="1427890"/>
            <a:ext cx="3859200" cy="3859200"/>
          </a:xfrm>
          <a:prstGeom prst="rect">
            <a:avLst/>
          </a:prstGeom>
          <a:noFill/>
          <a:ln>
            <a:noFill/>
          </a:ln>
        </p:spPr>
      </p:pic>
      <p:sp>
        <p:nvSpPr>
          <p:cNvPr id="9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51</a:t>
            </a:r>
          </a:p>
        </p:txBody>
      </p:sp>
      <p:grpSp>
        <p:nvGrpSpPr>
          <p:cNvPr id="964" name="TEACH-4-student-move" descr="TEACH 4 · Monitor progress and provide feedback"/>
          <p:cNvGrpSpPr/>
          <p:nvPr/>
        </p:nvGrpSpPr>
        <p:grpSpPr>
          <a:xfrm>
            <a:off x="502920" y="3660524"/>
            <a:ext cx="5501640" cy="402336"/>
            <a:chOff x="502920" y="3660524"/>
            <a:chExt cx="5501640" cy="402336"/>
          </a:xfrm>
        </p:grpSpPr>
        <p:sp>
          <p:nvSpPr>
            <p:cNvPr id="965" name="TEACH-move-card"/>
            <p:cNvSpPr/>
            <p:nvPr/>
          </p:nvSpPr>
          <p:spPr>
            <a:xfrm>
              <a:off x="502920" y="3660524"/>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66" name="TEACH-move-rule"/>
            <p:cNvSpPr/>
            <p:nvPr/>
          </p:nvSpPr>
          <p:spPr>
            <a:xfrm>
              <a:off x="548640" y="3736968"/>
              <a:ext cx="100584" cy="249448"/>
            </a:xfrm>
            <a:prstGeom prst="roundRect">
              <a:avLst>
                <a:gd name="adj" fmla="val 50000"/>
              </a:avLst>
            </a:prstGeom>
            <a:solidFill>
              <a:srgbClr val="01708C"/>
            </a:solidFill>
            <a:ln>
              <a:noFill/>
            </a:ln>
          </p:spPr>
          <p:txBody>
            <a:bodyPr/>
            <a:lstStyle/>
            <a:p>
              <a:endParaRPr/>
            </a:p>
          </p:txBody>
        </p:sp>
        <p:sp>
          <p:nvSpPr>
            <p:cNvPr id="967" name="TEACH-move-text"/>
            <p:cNvSpPr txBox="1"/>
            <p:nvPr/>
          </p:nvSpPr>
          <p:spPr>
            <a:xfrm>
              <a:off x="822960" y="3660524"/>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cxnSp>
        <p:nvCxnSpPr>
          <p:cNvPr id="967" name="Google Shape;967;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8" name="Google Shape;968;p94"/>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69" name="Google Shape;969;p94"/>
          <p:cNvSpPr txBox="1"/>
          <p:nvPr/>
        </p:nvSpPr>
        <p:spPr>
          <a:xfrm>
            <a:off x="484565" y="924799"/>
            <a:ext cx="7144959" cy="3103737"/>
          </a:xfrm>
          <a:prstGeom prst="rect">
            <a:avLst/>
          </a:prstGeom>
          <a:blipFill rotWithShape="1">
            <a:blip r:embed="rId3">
              <a:alphaModFix/>
            </a:blip>
            <a:stretch>
              <a:fillRect b="-4715" l="-1535" r="-1790" t="-21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0" name="Google Shape;970;p94"/>
          <p:cNvSpPr/>
          <p:nvPr/>
        </p:nvSpPr>
        <p:spPr>
          <a:xfrm>
            <a:off x="488031" y="5035855"/>
            <a:ext cx="7141494" cy="1241535"/>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971" name="Google Shape;971;p94"/>
          <p:cNvSpPr txBox="1"/>
          <p:nvPr/>
        </p:nvSpPr>
        <p:spPr>
          <a:xfrm>
            <a:off x="6346488" y="5873897"/>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92e25effa95a43c4bc3d2d138464075b\narm24_c10707_se_006a-dig-a-eps.png" id="972" name="Google Shape;972;p94"/>
          <p:cNvPicPr preferRelativeResize="0"/>
          <p:nvPr/>
        </p:nvPicPr>
        <p:blipFill rotWithShape="1">
          <a:blip r:embed="rId4">
            <a:alphaModFix/>
          </a:blip>
          <a:srcRect b="0" l="0" r="0" t="0"/>
          <a:stretch/>
        </p:blipFill>
        <p:spPr>
          <a:xfrm>
            <a:off x="7847216" y="1427890"/>
            <a:ext cx="3859200" cy="3859200"/>
          </a:xfrm>
          <a:prstGeom prst="rect">
            <a:avLst/>
          </a:prstGeom>
          <a:noFill/>
          <a:ln>
            <a:noFill/>
          </a:ln>
        </p:spPr>
      </p:pic>
      <p:sp>
        <p:nvSpPr>
          <p:cNvPr id="973" name="Google Shape;973;p94"/>
          <p:cNvSpPr txBox="1"/>
          <p:nvPr/>
        </p:nvSpPr>
        <p:spPr>
          <a:xfrm>
            <a:off x="1002986" y="3999961"/>
            <a:ext cx="6474139" cy="1035894"/>
          </a:xfrm>
          <a:prstGeom prst="rect">
            <a:avLst/>
          </a:prstGeom>
          <a:blipFill rotWithShape="1">
            <a:blip r:embed="rId5">
              <a:alphaModFix/>
            </a:blip>
            <a:stretch>
              <a:fillRect b="-7647" l="-1977" r="0" t="-588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7.7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confusing a coordinate with a side length or applying an axis-distance rule to a slanted edge.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the vertices and axis-aligned side lengths on the given polygon.</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SPECIFIC FEEDBACK  ·  </a:t>
              </a:r>
              <a:r>
                <a:rPr lang="en-US" sz="1200" dirty="0">
                  <a:solidFill>
                    <a:srgbClr val="13303A"/>
                  </a:solidFill>
                  <a:latin typeface="Arial"/>
                </a:rPr>
                <a:t>Trade work. Give one specific comment: “This part is clear because ______.”</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95"/>
          <p:cNvSpPr txBox="1"/>
          <p:nvPr/>
        </p:nvSpPr>
        <p:spPr>
          <a:xfrm>
            <a:off x="486000" y="316800"/>
            <a:ext cx="6269641" cy="85667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Polygons on the Coordinate Plane</a:t>
            </a:r>
            <a:endParaRPr b="0" i="0" sz="1400" u="none" cap="none" strike="noStrike">
              <a:solidFill>
                <a:srgbClr val="000000"/>
              </a:solidFill>
              <a:latin typeface="Arial"/>
              <a:ea typeface="Arial"/>
              <a:cs typeface="Arial"/>
              <a:sym typeface="Arial"/>
            </a:endParaRPr>
          </a:p>
        </p:txBody>
      </p:sp>
      <p:cxnSp>
        <p:nvCxnSpPr>
          <p:cNvPr id="979" name="Google Shape;979;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0" name="Google Shape;980;p95"/>
          <p:cNvSpPr txBox="1"/>
          <p:nvPr/>
        </p:nvSpPr>
        <p:spPr>
          <a:xfrm>
            <a:off x="486000" y="1296000"/>
            <a:ext cx="5783122" cy="18566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You can draw or represent polygons on the coordinate plane and can solve problems involving distances between coordinates.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3c9a4df2c402497b82ce519389249913\narm24_c10706_se_009a-dig-a-eps.png" id="981" name="Google Shape;981;p95"/>
          <p:cNvPicPr preferRelativeResize="0"/>
          <p:nvPr/>
        </p:nvPicPr>
        <p:blipFill rotWithShape="1">
          <a:blip r:embed="rId3">
            <a:alphaModFix/>
          </a:blip>
          <a:srcRect b="0" l="0" r="0" t="0"/>
          <a:stretch/>
        </p:blipFill>
        <p:spPr>
          <a:xfrm>
            <a:off x="6098845" y="1786733"/>
            <a:ext cx="5791200" cy="3228975"/>
          </a:xfrm>
          <a:prstGeom prst="rect">
            <a:avLst/>
          </a:prstGeom>
          <a:noFill/>
          <a:ln>
            <a:noFill/>
          </a:ln>
        </p:spPr>
      </p:pic>
      <p:sp>
        <p:nvSpPr>
          <p:cNvPr id="982" name="Google Shape;982;p95"/>
          <p:cNvSpPr/>
          <p:nvPr/>
        </p:nvSpPr>
        <p:spPr>
          <a:xfrm>
            <a:off x="486000" y="3299340"/>
            <a:ext cx="5697983"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3" name="Google Shape;983;p95"/>
          <p:cNvSpPr/>
          <p:nvPr/>
        </p:nvSpPr>
        <p:spPr>
          <a:xfrm>
            <a:off x="486000" y="3969267"/>
            <a:ext cx="4988032"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51</a:t>
            </a:r>
          </a:p>
        </p:txBody>
      </p:sp>
      <p:sp>
        <p:nvSpPr>
          <p:cNvPr id="98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8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96"/>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Maria’s Craft Store</a:t>
            </a:r>
            <a:endParaRPr b="1" i="0" sz="2800" u="none" cap="none" strike="noStrike">
              <a:solidFill>
                <a:srgbClr val="7030A0"/>
              </a:solidFill>
              <a:latin typeface="Arial"/>
              <a:ea typeface="Arial"/>
              <a:cs typeface="Arial"/>
              <a:sym typeface="Arial"/>
            </a:endParaRPr>
          </a:p>
        </p:txBody>
      </p:sp>
      <p:cxnSp>
        <p:nvCxnSpPr>
          <p:cNvPr id="989" name="Google Shape;989;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0" name="Google Shape;990;p96"/>
          <p:cNvSpPr txBox="1"/>
          <p:nvPr/>
        </p:nvSpPr>
        <p:spPr>
          <a:xfrm>
            <a:off x="486000" y="935999"/>
            <a:ext cx="7456998" cy="398316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Maria, a craft store owner, plans to rent a location in a shopping center and is considering the two spaces shown. Each unit represents one foot, so each line on the grid represents 5 feet. Space A has a monthly rental cost of $13.89 per square foot. Space B has a monthly rental cost of $13.49 per square foot. Maria wants to pay the lower total monthly rental price.​</a:t>
            </a:r>
            <a:endParaRPr b="0" i="0" sz="1400" u="none" cap="none" strike="noStrike">
              <a:solidFill>
                <a:srgbClr val="000000"/>
              </a:solidFill>
              <a:latin typeface="Arial"/>
              <a:ea typeface="Arial"/>
              <a:cs typeface="Arial"/>
              <a:sym typeface="Arial"/>
            </a:endParaRPr>
          </a:p>
        </p:txBody>
      </p:sp>
      <p:sp>
        <p:nvSpPr>
          <p:cNvPr id="991" name="Google Shape;991;p96"/>
          <p:cNvSpPr/>
          <p:nvPr/>
        </p:nvSpPr>
        <p:spPr>
          <a:xfrm>
            <a:off x="484564" y="4957595"/>
            <a:ext cx="646214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Question:</a:t>
            </a:r>
            <a:r>
              <a:rPr b="0" i="0" lang="en-US" sz="2800" u="none" cap="none" strike="noStrike">
                <a:solidFill>
                  <a:schemeClr val="dk1"/>
                </a:solidFill>
                <a:latin typeface="Arial"/>
                <a:ea typeface="Arial"/>
                <a:cs typeface="Arial"/>
                <a:sym typeface="Arial"/>
              </a:rPr>
              <a:t xml:space="preserve"> Which location would you recommend that she rent? </a:t>
            </a:r>
            <a:r>
              <a:rPr b="0" i="0" lang="en-US" sz="2800" u="none" cap="none" strike="noStrike">
                <a:solidFill>
                  <a:schemeClr val="dk1"/>
                </a:solidFill>
                <a:latin typeface="Arial"/>
                <a:ea typeface="Calibri"/>
                <a:cs typeface="Calibri"/>
                <a:sym typeface="Calibri"/>
              </a:rPr>
              <a:t>​</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d05c16dc832844fe974f74ce93dda134\narm24_c10707_se_011a-dig-eps.png" id="992" name="Google Shape;992;p96"/>
          <p:cNvPicPr preferRelativeResize="0"/>
          <p:nvPr/>
        </p:nvPicPr>
        <p:blipFill rotWithShape="1">
          <a:blip r:embed="rId3">
            <a:alphaModFix/>
          </a:blip>
          <a:srcRect b="0" l="0" r="0" t="0"/>
          <a:stretch/>
        </p:blipFill>
        <p:spPr>
          <a:xfrm>
            <a:off x="8255899" y="1643165"/>
            <a:ext cx="3524250" cy="3562350"/>
          </a:xfrm>
          <a:prstGeom prst="rect">
            <a:avLst/>
          </a:prstGeom>
          <a:noFill/>
          <a:ln>
            <a:noFill/>
          </a:ln>
        </p:spPr>
      </p:pic>
      <p:sp>
        <p:nvSpPr>
          <p:cNvPr id="9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51</a:t>
            </a:r>
          </a:p>
        </p:txBody>
      </p:sp>
      <p:sp>
        <p:nvSpPr>
          <p:cNvPr id="99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xml:space="preserve">  ·  PLAN IT • SOLVE IT • PROVE IT</a:t>
            </a:r>
          </a:p>
        </p:txBody>
      </p:sp>
      <p:grpSp>
        <p:nvGrpSpPr>
          <p:cNvPr id="995" name="TEACH-2-student-move" descr="TEACH 2 · Use strategies and tasks to engage students in rigorous work"/>
          <p:cNvGrpSpPr/>
          <p:nvPr/>
        </p:nvGrpSpPr>
        <p:grpSpPr>
          <a:xfrm>
            <a:off x="502920" y="5948278"/>
            <a:ext cx="11186160" cy="320040"/>
            <a:chOff x="502920" y="5948278"/>
            <a:chExt cx="11186160" cy="320040"/>
          </a:xfrm>
        </p:grpSpPr>
        <p:sp>
          <p:nvSpPr>
            <p:cNvPr id="996" name="TEACH-move-card"/>
            <p:cNvSpPr/>
            <p:nvPr/>
          </p:nvSpPr>
          <p:spPr>
            <a:xfrm>
              <a:off x="502920" y="594827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97" name="TEACH-move-rule"/>
            <p:cNvSpPr/>
            <p:nvPr/>
          </p:nvSpPr>
          <p:spPr>
            <a:xfrm>
              <a:off x="548640" y="6009086"/>
              <a:ext cx="100584" cy="198424"/>
            </a:xfrm>
            <a:prstGeom prst="roundRect">
              <a:avLst>
                <a:gd name="adj" fmla="val 50000"/>
              </a:avLst>
            </a:prstGeom>
            <a:solidFill>
              <a:srgbClr val="01708C"/>
            </a:solidFill>
            <a:ln>
              <a:noFill/>
            </a:ln>
          </p:spPr>
          <p:txBody>
            <a:bodyPr/>
            <a:lstStyle/>
            <a:p>
              <a:endParaRPr/>
            </a:p>
          </p:txBody>
        </p:sp>
        <p:sp>
          <p:nvSpPr>
            <p:cNvPr id="998" name="TEACH-move-text"/>
            <p:cNvSpPr txBox="1"/>
            <p:nvPr/>
          </p:nvSpPr>
          <p:spPr>
            <a:xfrm>
              <a:off x="822960" y="594827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97"/>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98" name="Google Shape;998;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9" name="Google Shape;999;p97"/>
          <p:cNvSpPr txBox="1"/>
          <p:nvPr/>
        </p:nvSpPr>
        <p:spPr>
          <a:xfrm>
            <a:off x="486000" y="936000"/>
            <a:ext cx="8246481" cy="3107147"/>
          </a:xfrm>
          <a:prstGeom prst="rect">
            <a:avLst/>
          </a:prstGeom>
          <a:blipFill rotWithShape="1">
            <a:blip r:embed="rId3">
              <a:alphaModFix/>
            </a:blip>
            <a:stretch>
              <a:fillRect b="0" l="-1331" r="-1775" t="-21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0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51</a:t>
            </a:r>
          </a:p>
        </p:txBody>
      </p:sp>
      <p:sp xmlns:p="http://schemas.openxmlformats.org/presentationml/2006/main" xmlns:a="http://schemas.openxmlformats.org/drawingml/2006/main">
        <p:nvSpPr>
          <p:cNvPr id="1001"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87" name="Google Shape;787;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8" name="Google Shape;788;p77"/>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89" name="Google Shape;789;p77"/>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790" name="Google Shape;790;p77"/>
          <p:cNvSpPr/>
          <p:nvPr/>
        </p:nvSpPr>
        <p:spPr>
          <a:xfrm>
            <a:off x="484560" y="5278140"/>
            <a:ext cx="617341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How is identifying a problem helping in analyzing and solving the problem?</a:t>
            </a:r>
            <a:endParaRPr b="0" i="0" sz="2800" u="none" cap="none" strike="noStrike">
              <a:solidFill>
                <a:srgbClr val="595959"/>
              </a:solidFill>
              <a:latin typeface="Arial"/>
              <a:ea typeface="Arial"/>
              <a:cs typeface="Arial"/>
              <a:sym typeface="Arial"/>
            </a:endParaRPr>
          </a:p>
        </p:txBody>
      </p:sp>
      <p:pic>
        <p:nvPicPr>
          <p:cNvPr id="791" name="Google Shape;791;p77"/>
          <p:cNvPicPr preferRelativeResize="0"/>
          <p:nvPr/>
        </p:nvPicPr>
        <p:blipFill rotWithShape="1">
          <a:blip r:embed="rId2">
            <a:alphaModFix/>
          </a:blip>
          <a:srcRect b="0" l="0" r="0" t="0"/>
          <a:stretch/>
        </p:blipFill>
        <p:spPr>
          <a:xfrm>
            <a:off x="6929437" y="1285238"/>
            <a:ext cx="4420000" cy="4680000"/>
          </a:xfrm>
          <a:prstGeom prst="rect">
            <a:avLst/>
          </a:prstGeom>
          <a:noFill/>
          <a:ln>
            <a:noFill/>
          </a:ln>
        </p:spPr>
      </p:pic>
      <p:pic>
        <p:nvPicPr>
          <p:cNvPr id="792" name="Google Shape;792;p77"/>
          <p:cNvPicPr preferRelativeResize="0"/>
          <p:nvPr/>
        </p:nvPicPr>
        <p:blipFill rotWithShape="1">
          <a:blip r:embed="rId3">
            <a:alphaModFix/>
          </a:blip>
          <a:srcRect b="0" l="0" r="0" t="0"/>
          <a:stretch/>
        </p:blipFill>
        <p:spPr>
          <a:xfrm>
            <a:off x="484560" y="4450755"/>
            <a:ext cx="5054600" cy="838200"/>
          </a:xfrm>
          <a:prstGeom prst="rect">
            <a:avLst/>
          </a:prstGeom>
          <a:noFill/>
          <a:ln>
            <a:noFill/>
          </a:ln>
        </p:spPr>
      </p:pic>
      <p:sp>
        <p:nvSpPr>
          <p:cNvPr id="793" name="Google Shape;793;p77"/>
          <p:cNvSpPr txBox="1"/>
          <p:nvPr/>
        </p:nvSpPr>
        <p:spPr>
          <a:xfrm>
            <a:off x="3344577" y="4608073"/>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794" name="Google Shape;794;p77"/>
          <p:cNvSpPr txBox="1"/>
          <p:nvPr/>
        </p:nvSpPr>
        <p:spPr>
          <a:xfrm>
            <a:off x="484560" y="1022823"/>
            <a:ext cx="5792415" cy="2625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What’s the question?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Sheng is planning a visit to the zoo using the map shown. He plans to visit each exhibit.</a:t>
            </a:r>
            <a:endParaRPr b="0" i="0" sz="2800" u="none" cap="none" strike="noStrike">
              <a:solidFill>
                <a:schemeClr val="dk1"/>
              </a:solidFill>
              <a:latin typeface="Arial"/>
              <a:ea typeface="Arial"/>
              <a:cs typeface="Arial"/>
              <a:sym typeface="Arial"/>
            </a:endParaRPr>
          </a:p>
        </p:txBody>
      </p:sp>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51</a:t>
            </a:r>
          </a:p>
        </p:txBody>
      </p:sp>
      <p:grpSp>
        <p:nvGrpSpPr>
          <p:cNvPr id="795" name="TEACH-3-student-move" descr="TEACH 3 · Use intentional questioning to deepen learning"/>
          <p:cNvGrpSpPr/>
          <p:nvPr/>
        </p:nvGrpSpPr>
        <p:grpSpPr>
          <a:xfrm>
            <a:off x="502920" y="3774099"/>
            <a:ext cx="5501640" cy="594360"/>
            <a:chOff x="502920" y="3774099"/>
            <a:chExt cx="5501640" cy="594360"/>
          </a:xfrm>
        </p:grpSpPr>
        <p:sp>
          <p:nvSpPr>
            <p:cNvPr id="796" name="TEACH-move-card"/>
            <p:cNvSpPr/>
            <p:nvPr/>
          </p:nvSpPr>
          <p:spPr>
            <a:xfrm>
              <a:off x="502920" y="3774099"/>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97" name="TEACH-move-rule"/>
            <p:cNvSpPr/>
            <p:nvPr/>
          </p:nvSpPr>
          <p:spPr>
            <a:xfrm>
              <a:off x="548640" y="3887027"/>
              <a:ext cx="100584" cy="368504"/>
            </a:xfrm>
            <a:prstGeom prst="roundRect">
              <a:avLst>
                <a:gd name="adj" fmla="val 50000"/>
              </a:avLst>
            </a:prstGeom>
            <a:solidFill>
              <a:srgbClr val="01708C"/>
            </a:solidFill>
            <a:ln>
              <a:noFill/>
            </a:ln>
          </p:spPr>
          <p:txBody>
            <a:bodyPr/>
            <a:lstStyle/>
            <a:p>
              <a:endParaRPr/>
            </a:p>
          </p:txBody>
        </p:sp>
        <p:sp>
          <p:nvSpPr>
            <p:cNvPr id="798" name="TEACH-move-text"/>
            <p:cNvSpPr txBox="1"/>
            <p:nvPr/>
          </p:nvSpPr>
          <p:spPr>
            <a:xfrm>
              <a:off x="822960" y="3774099"/>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97" name="Google Shape;997;p97"/>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998" name="Google Shape;998;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9" name="Google Shape;999;p97"/>
          <p:cNvSpPr txBox="1"/>
          <p:nvPr/>
        </p:nvSpPr>
        <p:spPr>
          <a:xfrm>
            <a:off x="486000" y="936000"/>
            <a:ext cx="8246481" cy="3107147"/>
          </a:xfrm>
          <a:prstGeom prst="rect">
            <a:avLst/>
          </a:prstGeom>
          <a:blipFill rotWithShape="1">
            <a:blip r:embed="rId2">
              <a:alphaModFix/>
            </a:blip>
            <a:stretch>
              <a:fillRect b="0" l="-1331" r="-1775" t="-21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51</a:t>
            </a:r>
          </a:p>
        </p:txBody>
      </p:sp>
      <p:sp xmlns:p="http://schemas.openxmlformats.org/presentationml/2006/main" xmlns:a="http://schemas.openxmlformats.org/drawingml/2006/main">
        <p:nvSpPr>
          <p:cNvPr id="100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7.7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Plot vertices in order.</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17 / 51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25 / 51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28 / 51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34 / 51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40 / 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51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7.7 — Represent Polygons on the Coordinate Plane</dc:title>
  <dc:creator>Neft Teacher</dc:creator>
  <cp:lastModifiedBy>Neft Teacher</cp:lastModifiedBy>
  <dcterms:created xsi:type="dcterms:W3CDTF">2026-09-30T12:04:43Z</dcterms:created>
  <dcterms:modified xsi:type="dcterms:W3CDTF">2026-09-30T12:04:43Z</dcterms:modified>
</cp:coreProperties>
</file>