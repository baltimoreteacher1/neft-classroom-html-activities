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4.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2.xml" ContentType="application/vnd.openxmlformats-officedocument.presentationml.notesSlide+xml"/>
  <Override PartName="/ppt/notesSlides/notesSlide44.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5"/>
    <p:sldMasterId id="2147483673" r:id="rId6"/>
    <p:sldMasterId id="2147483674" r:id="rId7"/>
  </p:sldMasterIdLst>
  <p:notesMasterIdLst>
    <p:notesMasterId r:id="rId8"/>
  </p:notesMasterIdLst>
  <p:sldIdLst>
    <p:sldId id="259" r:id="rId12"/>
    <p:sldId id="268" r:id="rId21"/>
    <p:sldId id="269" r:id="rId22"/>
    <p:sldId id="256" r:id="rId9"/>
    <p:sldId id="257" r:id="rId10"/>
    <p:sldId id="260" r:id="rId13"/>
    <p:sldId id="344" r:id="rId84"/>
    <p:sldId id="340" r:id="rId80"/>
    <p:sldId id="339" r:id="rId33"/>
    <p:sldId id="338" r:id="rId35"/>
    <p:sldId id="337" r:id="rId60"/>
    <p:sldId id="336" r:id="rId37"/>
    <p:sldId id="335" r:id="rId39"/>
    <p:sldId id="334" r:id="rId57"/>
    <p:sldId id="333" r:id="rId41"/>
    <p:sldId id="261" r:id="rId14"/>
    <p:sldId id="273" r:id="rId26"/>
    <p:sldId id="275" r:id="rId28"/>
    <p:sldId id="277" r:id="rId30"/>
    <p:sldId id="345" r:id="rId85"/>
    <p:sldId id="279" r:id="rId32"/>
    <p:sldId id="281" r:id="rId34"/>
    <p:sldId id="283" r:id="rId36"/>
    <p:sldId id="285" r:id="rId38"/>
    <p:sldId id="287" r:id="rId40"/>
    <p:sldId id="289" r:id="rId42"/>
    <p:sldId id="291" r:id="rId44"/>
    <p:sldId id="292" r:id="rId45"/>
    <p:sldId id="293" r:id="rId46"/>
    <p:sldId id="341" r:id="rId81"/>
    <p:sldId id="332" r:id="rId55"/>
    <p:sldId id="331" r:id="rId54"/>
    <p:sldId id="324" r:id="rId78"/>
    <p:sldId id="346" r:id="rId86"/>
    <p:sldId id="325" r:id="rId79"/>
    <p:sldId id="323" r:id="rId47"/>
    <p:sldId id="297" r:id="rId50"/>
    <p:sldId id="299" r:id="rId52"/>
    <p:sldId id="303" r:id="rId56"/>
    <p:sldId id="305" r:id="rId58"/>
    <p:sldId id="306" r:id="rId59"/>
    <p:sldId id="308" r:id="rId61"/>
    <p:sldId id="309" r:id="rId62"/>
    <p:sldId id="310" r:id="rId63"/>
    <p:sldId id="311" r:id="rId64"/>
    <p:sldId id="313" r:id="rId66"/>
    <p:sldId id="347" r:id="rId87"/>
    <p:sldId id="315" r:id="rId68"/>
    <p:sldId id="317" r:id="rId70"/>
    <p:sldId id="318" r:id="rId71"/>
    <p:sldId id="319" r:id="rId72"/>
    <p:sldId id="320" r:id="rId73"/>
    <p:sldId id="342" r:id="rId82"/>
    <p:sldId id="330" r:id="rId53"/>
    <p:sldId id="329" r:id="rId43"/>
    <p:sldId id="328" r:id="rId51"/>
    <p:sldId id="327" r:id="rId48"/>
    <p:sldId id="321" r:id="rId74"/>
    <p:sldId id="348" r:id="rId88"/>
    <p:sldId id="322" r:id="rId75"/>
    <p:sldId id="326" r:id="rId49"/>
    <p:sldId id="343" r:id="rId83"/>
  </p:sldIdLst>
  <p:sldSz cy="6858000" cx="12192000"/>
  <p:notesSz cx="7010400" cy="9236075"/>
  <p:embeddedFontLst>
    <p:embeddedFont>
      <p:font typeface="Cambria Math"/>
      <p:regular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C3A3883-443E-49F4-BF3A-9969B1E337F0}">
  <a:tblStyle styleId="{0C3A3883-443E-49F4-BF3A-9969B1E337F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9" Type="http://schemas.openxmlformats.org/officeDocument/2006/relationships/slide" Target="slides/slide4.xml"/><Relationship Id="rId10" Type="http://schemas.openxmlformats.org/officeDocument/2006/relationships/slide" Target="slides/slide5.xml"/><Relationship Id="rId12" Type="http://schemas.openxmlformats.org/officeDocument/2006/relationships/slide" Target="slides/slide1.xml"/><Relationship Id="rId13" Type="http://schemas.openxmlformats.org/officeDocument/2006/relationships/slide" Target="slides/slide6.xml"/><Relationship Id="rId14" Type="http://schemas.openxmlformats.org/officeDocument/2006/relationships/slide" Target="slides/slide15.xml"/><Relationship Id="rId21" Type="http://schemas.openxmlformats.org/officeDocument/2006/relationships/slide" Target="slides/slide2.xml"/><Relationship Id="rId22" Type="http://schemas.openxmlformats.org/officeDocument/2006/relationships/slide" Target="slides/slide3.xml"/><Relationship Id="rId26" Type="http://schemas.openxmlformats.org/officeDocument/2006/relationships/slide" Target="slides/slide16.xml"/><Relationship Id="rId28" Type="http://schemas.openxmlformats.org/officeDocument/2006/relationships/slide" Target="slides/slide17.xml"/><Relationship Id="rId30"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8.xml"/><Relationship Id="rId34" Type="http://schemas.openxmlformats.org/officeDocument/2006/relationships/slide" Target="slides/slide20.xml"/><Relationship Id="rId35" Type="http://schemas.openxmlformats.org/officeDocument/2006/relationships/slide" Target="slides/slide9.xml"/><Relationship Id="rId36" Type="http://schemas.openxmlformats.org/officeDocument/2006/relationships/slide" Target="slides/slide21.xml"/><Relationship Id="rId37" Type="http://schemas.openxmlformats.org/officeDocument/2006/relationships/slide" Target="slides/slide11.xml"/><Relationship Id="rId38" Type="http://schemas.openxmlformats.org/officeDocument/2006/relationships/slide" Target="slides/slide22.xml"/><Relationship Id="rId39" Type="http://schemas.openxmlformats.org/officeDocument/2006/relationships/slide" Target="slides/slide12.xml"/><Relationship Id="rId40" Type="http://schemas.openxmlformats.org/officeDocument/2006/relationships/slide" Target="slides/slide23.xml"/><Relationship Id="rId41" Type="http://schemas.openxmlformats.org/officeDocument/2006/relationships/slide" Target="slides/slide14.xml"/><Relationship Id="rId42" Type="http://schemas.openxmlformats.org/officeDocument/2006/relationships/slide" Target="slides/slide24.xml"/><Relationship Id="rId43" Type="http://schemas.openxmlformats.org/officeDocument/2006/relationships/slide" Target="slides/slide51.xml"/><Relationship Id="rId44" Type="http://schemas.openxmlformats.org/officeDocument/2006/relationships/slide" Target="slides/slide25.xml"/><Relationship Id="rId45" Type="http://schemas.openxmlformats.org/officeDocument/2006/relationships/slide" Target="slides/slide26.xml"/><Relationship Id="rId46" Type="http://schemas.openxmlformats.org/officeDocument/2006/relationships/slide" Target="slides/slide27.xml"/><Relationship Id="rId47" Type="http://schemas.openxmlformats.org/officeDocument/2006/relationships/slide" Target="slides/slide33.xml"/><Relationship Id="rId48" Type="http://schemas.openxmlformats.org/officeDocument/2006/relationships/slide" Target="slides/slide53.xml"/><Relationship Id="rId49" Type="http://schemas.openxmlformats.org/officeDocument/2006/relationships/slide" Target="slides/slide56.xml"/><Relationship Id="rId50" Type="http://schemas.openxmlformats.org/officeDocument/2006/relationships/slide" Target="slides/slide34.xml"/><Relationship Id="rId51" Type="http://schemas.openxmlformats.org/officeDocument/2006/relationships/slide" Target="slides/slide52.xml"/><Relationship Id="rId52" Type="http://schemas.openxmlformats.org/officeDocument/2006/relationships/slide" Target="slides/slide35.xml"/><Relationship Id="rId53" Type="http://schemas.openxmlformats.org/officeDocument/2006/relationships/slide" Target="slides/slide50.xml"/><Relationship Id="rId54" Type="http://schemas.openxmlformats.org/officeDocument/2006/relationships/slide" Target="slides/slide30.xml"/><Relationship Id="rId55" Type="http://schemas.openxmlformats.org/officeDocument/2006/relationships/slide" Target="slides/slide29.xml"/><Relationship Id="rId56" Type="http://schemas.openxmlformats.org/officeDocument/2006/relationships/slide" Target="slides/slide36.xml"/><Relationship Id="rId57" Type="http://schemas.openxmlformats.org/officeDocument/2006/relationships/slide" Target="slides/slide13.xml"/><Relationship Id="rId58" Type="http://schemas.openxmlformats.org/officeDocument/2006/relationships/slide" Target="slides/slide37.xml"/><Relationship Id="rId59" Type="http://schemas.openxmlformats.org/officeDocument/2006/relationships/slide" Target="slides/slide38.xml"/><Relationship Id="rId60" Type="http://schemas.openxmlformats.org/officeDocument/2006/relationships/slide" Target="slides/slide10.xml"/><Relationship Id="rId61" Type="http://schemas.openxmlformats.org/officeDocument/2006/relationships/slide" Target="slides/slide39.xml"/><Relationship Id="rId62" Type="http://schemas.openxmlformats.org/officeDocument/2006/relationships/slide" Target="slides/slide40.xml"/><Relationship Id="rId63" Type="http://schemas.openxmlformats.org/officeDocument/2006/relationships/slide" Target="slides/slide41.xml"/><Relationship Id="rId64" Type="http://schemas.openxmlformats.org/officeDocument/2006/relationships/slide" Target="slides/slide42.xml"/><Relationship Id="rId66" Type="http://schemas.openxmlformats.org/officeDocument/2006/relationships/slide" Target="slides/slide43.xml"/><Relationship Id="rId68" Type="http://schemas.openxmlformats.org/officeDocument/2006/relationships/slide" Target="slides/slide44.xml"/><Relationship Id="rId70" Type="http://schemas.openxmlformats.org/officeDocument/2006/relationships/slide" Target="slides/slide45.xml"/><Relationship Id="rId71" Type="http://schemas.openxmlformats.org/officeDocument/2006/relationships/slide" Target="slides/slide46.xml"/><Relationship Id="rId72" Type="http://schemas.openxmlformats.org/officeDocument/2006/relationships/slide" Target="slides/slide47.xml"/><Relationship Id="rId73" Type="http://schemas.openxmlformats.org/officeDocument/2006/relationships/slide" Target="slides/slide48.xml"/><Relationship Id="rId74" Type="http://schemas.openxmlformats.org/officeDocument/2006/relationships/slide" Target="slides/slide54.xml"/><Relationship Id="rId75" Type="http://schemas.openxmlformats.org/officeDocument/2006/relationships/slide" Target="slides/slide55.xml"/><Relationship Id="rId77" Type="http://schemas.openxmlformats.org/officeDocument/2006/relationships/font" Target="fonts/CambriaMath-regular.fntdata"/><Relationship Id="rId78" Type="http://schemas.openxmlformats.org/officeDocument/2006/relationships/slide" Target="slides/slide31.xml"/><Relationship Id="rId79" Type="http://schemas.openxmlformats.org/officeDocument/2006/relationships/slide" Target="slides/slide32.xml"/><Relationship Id="rId80" Type="http://schemas.openxmlformats.org/officeDocument/2006/relationships/slide" Target="slides/slide7.xml"/><Relationship Id="rId81" Type="http://schemas.openxmlformats.org/officeDocument/2006/relationships/slide" Target="slides/slide28.xml"/><Relationship Id="rId82" Type="http://schemas.openxmlformats.org/officeDocument/2006/relationships/slide" Target="slides/slide49.xml"/><Relationship Id="rId83" Type="http://schemas.openxmlformats.org/officeDocument/2006/relationships/slide" Target="slides/slide57.xml"/><Relationship Id="rId84" Type="http://schemas.openxmlformats.org/officeDocument/2006/relationships/slide" Target="slides/slide58.xml"/><Relationship Id="rId85" Type="http://schemas.openxmlformats.org/officeDocument/2006/relationships/slide" Target="slides/slide59.xml"/><Relationship Id="rId86" Type="http://schemas.openxmlformats.org/officeDocument/2006/relationships/slide" Target="slides/slide60.xml"/><Relationship Id="rId87" Type="http://schemas.openxmlformats.org/officeDocument/2006/relationships/slide" Target="slides/slide61.xml"/><Relationship Id="rId88"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4 | DIVIDER</a:t>
            </a:r>
          </a:p>
          <a:p xmlns:a="http://schemas.openxmlformats.org/drawingml/2006/main">
            <a:pPr>
              <a:buNone/>
            </a:pPr>
            <a:r>
              <a:rPr lang="en-US" sz="1100"/>
              <a:t>Focus on the existing task: Represent Three-Dimensional Figures in Two Dimensions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162" name="Google Shape;162;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5 | TASK</a:t>
            </a:r>
          </a:p>
          <a:p xmlns:a="http://schemas.openxmlformats.org/drawingml/2006/main">
            <a:pPr>
              <a:buNone/>
            </a:pPr>
            <a:r>
              <a:rPr lang="en-US" sz="1100"/>
              <a:t>Focus on the existing task: This or That Would you rather have THIS or THAT coins?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169" name="Google Shape;169;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1 | WARMUP</a:t>
            </a:r>
          </a:p>
          <a:p xmlns:a="http://schemas.openxmlformats.org/drawingml/2006/main">
            <a:pPr>
              <a:buNone/>
            </a:pPr>
            <a:r>
              <a:rPr lang="en-US" sz="1100"/>
              <a:t>Focus on the existing task: Warm-Up WARM-UP · THINK • TRY •…</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6 faces, 12 edges, 8 vertices   2) 5   3) 21 square centimeters   4) 3</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match each face of the solid to a net; justify how the net folds; distinguish edges from faces. Review recent work and today’s warm-up to choose flexible groups and access supports; do not infer needs from identity or perceived ability. Use the existing lesson tasks and stated standards.</a:t>
            </a:r>
          </a:p>
          <a:p>
            <a:pPr>
              <a:buNone/>
            </a:pPr>
            <a:r>
              <a:rPr lang="en-US" sz="1100"/>
              <a:t>Anticipate: accepting a net whose faces overlap or leave an opening. If observed, use a paper trace of the existing net and mark corresponding edges.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184" name="Google Shape;184;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6 | GOAL</a:t>
            </a:r>
          </a:p>
          <a:p xmlns:a="http://schemas.openxmlformats.org/drawingml/2006/main">
            <a:pPr>
              <a:buNone/>
            </a:pPr>
            <a:r>
              <a:rPr lang="en-US" sz="1100"/>
              <a:t>Focus on the existing task: Today’s Objectives Represent…</a:t>
            </a:r>
          </a:p>
          <a:p xmlns:a="http://schemas.openxmlformats.org/drawingml/2006/main">
            <a:pPr>
              <a:buNone/>
            </a:pPr>
            <a:r>
              <a:rPr lang="en-US" sz="1100"/>
              <a:t>CONNECT (T1/4): Ask students to restate the displayed goal or key idea and connect it to earlier work. Relevant lesson evidence: match each face of the solid to a net; justify how the net folds; distinguish edges from faces.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match each face of the solid to a net; justify how the net folds; distinguish edges from faces. Ask: “Which part of your work would show this?” Revisit that evidence after the task; a confidence rating alone is not evidence of understanding.</a:t>
            </a:r>
          </a:p>
        </p:txBody>
      </p:sp>
      <p:sp>
        <p:nvSpPr>
          <p:cNvPr id="260" name="Google Shape;260;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15 | VOCAB</a:t>
            </a:r>
          </a:p>
          <a:p xmlns:a="http://schemas.openxmlformats.org/drawingml/2006/main">
            <a:pPr>
              <a:buNone/>
            </a:pPr>
            <a:r>
              <a:rPr lang="en-US" sz="1100"/>
              <a:t>Focus on the existing task: Vocabulary Today’s Math Words We…</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282" name="Google Shape;282;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3: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2 | NOTES</a:t>
            </a:r>
          </a:p>
          <a:p xmlns:a="http://schemas.openxmlformats.org/drawingml/2006/main">
            <a:pPr>
              <a:buNone/>
            </a:pPr>
            <a:r>
              <a:rPr lang="en-US" sz="1100"/>
              <a:t>Focus on the existing task: Today’s Math Notes Section 1: Math…</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426" name="Google Shape;426;p1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3 | NOTES</a:t>
            </a:r>
          </a:p>
          <a:p xmlns:a="http://schemas.openxmlformats.org/drawingml/2006/main">
            <a:pPr>
              <a:buNone/>
            </a:pPr>
            <a:r>
              <a:rPr lang="en-US" sz="1100"/>
              <a:t>Focus on the existing task: Today’s Math Notes Section 2: Today’s…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454" name="Google Shape;454;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1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16 | TASK</a:t>
            </a:r>
          </a:p>
          <a:p xmlns:a="http://schemas.openxmlformats.org/drawingml/2006/main">
            <a:pPr>
              <a:buNone/>
            </a:pPr>
            <a:r>
              <a:rPr lang="en-US" sz="1100"/>
              <a:t>Focus on the existing task: Yuzuki is making a replica of the Pyramids of Giza for a social studies project. She will make the pyramids out of paper. What can help Yuzuki make her paper pyramids?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What can help Yuzuki make her paper pyramids?</a:t>
            </a:r>
          </a:p>
          <a:p>
            <a:pPr indent="0" lvl="0" marL="0" rtl="0" algn="l">
              <a:lnSpc>
                <a:spcPct val="100000"/>
              </a:lnSpc>
              <a:spcBef>
                <a:spcPts val="0"/>
              </a:spcBef>
              <a:spcAft>
                <a:spcPts val="0"/>
              </a:spcAft>
              <a:buSzPts val="1400"/>
              <a:buNone/>
            </a:pPr>
            <a:r>
              <a:t>UIFR: TEACH 1 · TEACH 3.</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“Where will each face go when this net folds, and which edges must meet?” Wait for evidence, invite another pathway, and have a student ask a follow-up question. Do not replace students’ reasoning with a sequence of leading steps.</a:t>
            </a:r>
          </a:p>
        </p:txBody>
      </p:sp>
      <p:sp>
        <p:nvSpPr>
          <p:cNvPr id="509" name="Google Shape;509;p1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2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17 | REVEAL</a:t>
            </a:r>
          </a:p>
          <a:p xmlns:a="http://schemas.openxmlformats.org/drawingml/2006/main">
            <a:pPr>
              <a:buNone/>
            </a:pPr>
            <a:r>
              <a:rPr lang="en-US" sz="1100"/>
              <a:t>Focus on the existing task: Yuzuki is making a replica of the Pyramids of Giza for a social studies project. She will make the pyramids out of paper. What can help Yuzuki make her paper pyramids?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These figures are three-dimensional, because they have length, width, and height. Two-dimensional figures only have a length and a width.</a:t>
            </a:r>
          </a:p>
          <a:p>
            <a:pPr indent="0" lvl="0" marL="0" rtl="0" algn="l">
              <a:lnSpc>
                <a:spcPct val="100000"/>
              </a:lnSpc>
              <a:spcBef>
                <a:spcPts val="0"/>
              </a:spcBef>
              <a:spcAft>
                <a:spcPts val="0"/>
              </a:spcAft>
              <a:buSzPts val="1400"/>
              <a:buNone/>
            </a:pPr>
            <a:r>
              <a:t>UIFR: TEACH 3 · TEACH 4.</a:t>
            </a:r>
          </a:p>
        </p:txBody>
      </p:sp>
      <p:sp>
        <p:nvSpPr>
          <p:cNvPr id="529" name="Google Shape;529;p2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2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18 | REVEAL</a:t>
            </a:r>
          </a:p>
          <a:p xmlns:a="http://schemas.openxmlformats.org/drawingml/2006/main">
            <a:pPr>
              <a:buNone/>
            </a:pPr>
            <a:r>
              <a:rPr lang="en-US" sz="1100"/>
              <a:t>Focus on the existing task: A pyramid is a three-dimensional figure that has a polygonal base and triangular sides that meet at a common point. How can Yuzuki make paper pyramids that look like the three-dimensional figures?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Yuzuki can create a two-dimensional representation of the three-dimensional figure using paper.</a:t>
            </a:r>
          </a:p>
          <a:p>
            <a:pPr indent="0" lvl="0" marL="0" rtl="0" algn="l">
              <a:lnSpc>
                <a:spcPct val="100000"/>
              </a:lnSpc>
              <a:spcBef>
                <a:spcPts val="0"/>
              </a:spcBef>
              <a:spcAft>
                <a:spcPts val="0"/>
              </a:spcAft>
              <a:buSzPts val="1400"/>
              <a:buNone/>
            </a:pPr>
            <a:r>
              <a:t>UIFR: TEACH 3 · TEACH 4.</a:t>
            </a:r>
          </a:p>
        </p:txBody>
      </p:sp>
      <p:sp>
        <p:nvSpPr>
          <p:cNvPr id="547" name="Google Shape;547;p2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2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19 | TASK</a:t>
            </a:r>
          </a:p>
          <a:p xmlns:a="http://schemas.openxmlformats.org/drawingml/2006/main">
            <a:pPr>
              <a:buNone/>
            </a:pPr>
            <a:r>
              <a:rPr lang="en-US" sz="1100"/>
              <a:t>Focus on the existing task: To make the pyramids out of paper, Yuzuki can create a net, or two-dimensional representation of a three-dimensional figure. Think…</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565" name="Google Shape;565;p2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2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20 | COLLABORATE</a:t>
            </a:r>
          </a:p>
          <a:p xmlns:a="http://schemas.openxmlformats.org/drawingml/2006/main">
            <a:pPr>
              <a:buNone/>
            </a:pPr>
            <a:r>
              <a:rPr lang="en-US" sz="1100"/>
              <a:t>Focus on the existing task: Yuzuki can create a net of a pyramid. What defining attributes does the pyramid have?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edges from faces.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accepting a net whose faces overlap or leave an opening. If it appears, use a paper trace of the existing net and mark corresponding edges; then ask the student to revise the same response and explain the change. If evidence is secure, have students compare a second valid pathway or state why their approach works. Choose the next step from the responses, not a preset pace.</a:t>
            </a:r>
          </a:p>
        </p:txBody>
      </p:sp>
      <p:sp>
        <p:nvSpPr>
          <p:cNvPr id="584" name="Google Shape;584;p2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2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21 | REVEAL</a:t>
            </a:r>
          </a:p>
          <a:p xmlns:a="http://schemas.openxmlformats.org/drawingml/2006/main">
            <a:pPr>
              <a:buNone/>
            </a:pPr>
            <a:r>
              <a:rPr lang="en-US" sz="1100"/>
              <a:t>Focus on the existing task: The pyramid has 4 faces and a base. The figure has a vertex, opposite to the base, that is connected by the faces. How can you describe the faces and the base of the figure?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edges from faces.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figure has four triangular faces and a square base.</a:t>
            </a:r>
          </a:p>
          <a:p>
            <a:pPr indent="0" lvl="0" marL="0" rtl="0" algn="l">
              <a:lnSpc>
                <a:spcPct val="100000"/>
              </a:lnSpc>
              <a:spcBef>
                <a:spcPts val="0"/>
              </a:spcBef>
              <a:spcAft>
                <a:spcPts val="0"/>
              </a:spcAft>
              <a:buSzPts val="1400"/>
              <a:buNone/>
            </a:pPr>
            <a:r>
              <a:t>UIFR: TEACH 3 · TEACH 4.</a:t>
            </a:r>
          </a:p>
        </p:txBody>
      </p:sp>
      <p:sp>
        <p:nvSpPr>
          <p:cNvPr id="603" name="Google Shape;603;p2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3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22 | REVEAL</a:t>
            </a:r>
          </a:p>
          <a:p xmlns:a="http://schemas.openxmlformats.org/drawingml/2006/main">
            <a:pPr>
              <a:buNone/>
            </a:pPr>
            <a:r>
              <a:rPr lang="en-US" sz="1100"/>
              <a:t>Focus on the existing task: Reveal: To make the net, the defining attributes tell us the shape and number of faces and the shape and number of bases of the figure.…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edges from faces.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To make the net, the defining attributes tell us the shape and number of faces and the shape and number of bases of the figure. We can use this information to create a net that reflects these attributes.</a:t>
            </a:r>
          </a:p>
          <a:p>
            <a:pPr indent="0" lvl="0" marL="0" rtl="0" algn="l">
              <a:lnSpc>
                <a:spcPct val="100000"/>
              </a:lnSpc>
              <a:spcBef>
                <a:spcPts val="0"/>
              </a:spcBef>
              <a:spcAft>
                <a:spcPts val="0"/>
              </a:spcAft>
              <a:buSzPts val="1400"/>
              <a:buNone/>
            </a:pPr>
            <a:r>
              <a:t>UIFR: TEACH 3 · TEACH 4.</a:t>
            </a:r>
          </a:p>
        </p:txBody>
      </p:sp>
      <p:sp>
        <p:nvSpPr>
          <p:cNvPr id="621" name="Google Shape;621;p3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3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23 | TASK</a:t>
            </a:r>
          </a:p>
          <a:p xmlns:a="http://schemas.openxmlformats.org/drawingml/2006/main">
            <a:pPr>
              <a:buNone/>
            </a:pPr>
            <a:r>
              <a:rPr lang="en-US" sz="1100"/>
              <a:t>Focus on the existing task: Let’s draw the net of the square pyramid by using its defining attributes. The base is a square. Think About It: Do you know the number of grid squares that should be used for the base?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640" name="Google Shape;640;p3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3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24 | REVEAL</a:t>
            </a:r>
          </a:p>
          <a:p xmlns:a="http://schemas.openxmlformats.org/drawingml/2006/main">
            <a:pPr>
              <a:buNone/>
            </a:pPr>
            <a:r>
              <a:rPr lang="en-US" sz="1100"/>
              <a:t>Focus on the existing task: Reveal: The base of each triangular face connects to one side of the square base. Let’s draw the triangular faces of the pyramid. Why are the triangular faces drawn this way?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base of each triangular face connects to one side of the square base.</a:t>
            </a:r>
          </a:p>
          <a:p>
            <a:pPr indent="0" lvl="0" marL="0" rtl="0" algn="l">
              <a:lnSpc>
                <a:spcPct val="100000"/>
              </a:lnSpc>
              <a:spcBef>
                <a:spcPts val="0"/>
              </a:spcBef>
              <a:spcAft>
                <a:spcPts val="0"/>
              </a:spcAft>
              <a:buSzPts val="1400"/>
              <a:buNone/>
            </a:pPr>
            <a:r>
              <a:t>UIFR: TEACH 3 · TEACH 4.</a:t>
            </a:r>
          </a:p>
        </p:txBody>
      </p:sp>
      <p:sp>
        <p:nvSpPr>
          <p:cNvPr id="660" name="Google Shape;660;p3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3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25 | REVEAL</a:t>
            </a:r>
          </a:p>
          <a:p xmlns:a="http://schemas.openxmlformats.org/drawingml/2006/main">
            <a:pPr>
              <a:buNone/>
            </a:pPr>
            <a:r>
              <a:rPr lang="en-US" sz="1100"/>
              <a:t>Focus on the existing task: Reveal: They are all the same size because their bases are sides of the square base. What do we know about the triangular faces on a square pyramid?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edges from faces.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They are all the same size because their bases are sides of the square base.</a:t>
            </a:r>
          </a:p>
          <a:p>
            <a:pPr indent="0" lvl="0" marL="0" rtl="0" algn="l">
              <a:lnSpc>
                <a:spcPct val="100000"/>
              </a:lnSpc>
              <a:spcBef>
                <a:spcPts val="0"/>
              </a:spcBef>
              <a:spcAft>
                <a:spcPts val="0"/>
              </a:spcAft>
              <a:buSzPts val="1400"/>
              <a:buNone/>
            </a:pPr>
            <a:r>
              <a:t>UIFR: TEACH 3 · TEACH 4.</a:t>
            </a:r>
          </a:p>
        </p:txBody>
      </p:sp>
      <p:sp>
        <p:nvSpPr>
          <p:cNvPr id="679" name="Google Shape;679;p3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3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26 | TASK</a:t>
            </a:r>
          </a:p>
          <a:p xmlns:a="http://schemas.openxmlformats.org/drawingml/2006/main">
            <a:pPr>
              <a:buNone/>
            </a:pPr>
            <a:r>
              <a:rPr lang="en-US" sz="1100"/>
              <a:t>Focus on the existing task: Yuzuki is making a replica of the Pyramids of Giza for a social studies project. She will make the pyramids out of paper. What can help Yuzuki make her paper pyramids?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What can help Yuzuki make her paper pyramids?</a:t>
            </a:r>
          </a:p>
          <a:p>
            <a:pPr indent="0" lvl="0" marL="0" rtl="0" algn="l">
              <a:lnSpc>
                <a:spcPct val="100000"/>
              </a:lnSpc>
              <a:spcBef>
                <a:spcPts val="0"/>
              </a:spcBef>
              <a:spcAft>
                <a:spcPts val="0"/>
              </a:spcAft>
              <a:buSzPts val="1400"/>
              <a:buNone/>
            </a:pPr>
            <a:r>
              <a:t>UIFR: TEACH 1 · TEACH 3.</a:t>
            </a:r>
          </a:p>
        </p:txBody>
      </p:sp>
      <p:sp>
        <p:nvSpPr>
          <p:cNvPr id="688" name="Google Shape;688;p3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3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27 | PRACTICE</a:t>
            </a:r>
          </a:p>
          <a:p xmlns:a="http://schemas.openxmlformats.org/drawingml/2006/main">
            <a:pPr>
              <a:buNone/>
            </a:pPr>
            <a:r>
              <a:rPr lang="en-US" sz="1100"/>
              <a:t>Focus on the existing task: Does a square pyramid—a pyramid with a square base—have more edges or vertices?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edges from faces.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697" name="Google Shape;697;p3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3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33 | DIVIDER</a:t>
            </a:r>
          </a:p>
          <a:p xmlns:a="http://schemas.openxmlformats.org/drawingml/2006/main">
            <a:pPr>
              <a:buNone/>
            </a:pPr>
            <a:r>
              <a:rPr lang="en-US" sz="1100"/>
              <a:t>Focus on the existing task: Represent Three-Dimensional Figures in Two Dimensions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706" name="Google Shape;706;p3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4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34 | TASK</a:t>
            </a:r>
          </a:p>
          <a:p xmlns:a="http://schemas.openxmlformats.org/drawingml/2006/main">
            <a:pPr>
              <a:buNone/>
            </a:pPr>
            <a:r>
              <a:rPr lang="en-US" sz="1100"/>
              <a:t>Focus on the existing task: What three-dimensional figure can this net make?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36" name="Google Shape;736;p4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4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35 | REVEAL</a:t>
            </a:r>
          </a:p>
          <a:p xmlns:a="http://schemas.openxmlformats.org/drawingml/2006/main">
            <a:pPr>
              <a:buNone/>
            </a:pPr>
            <a:r>
              <a:rPr lang="en-US" sz="1100"/>
              <a:t>Focus on the existing task: What is the relationship between the net and the three-dimensional shape that can be made by the net?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net is a two-dimensional representation of the three-dimensional figure it can make.</a:t>
            </a:r>
          </a:p>
          <a:p>
            <a:pPr indent="0" lvl="0" marL="0" rtl="0" algn="l">
              <a:lnSpc>
                <a:spcPct val="100000"/>
              </a:lnSpc>
              <a:spcBef>
                <a:spcPts val="0"/>
              </a:spcBef>
              <a:spcAft>
                <a:spcPts val="0"/>
              </a:spcAft>
              <a:buSzPts val="1400"/>
              <a:buNone/>
            </a:pPr>
            <a:r>
              <a:t>UIFR: TEACH 3 · TEACH 4.</a:t>
            </a:r>
          </a:p>
        </p:txBody>
      </p:sp>
      <p:sp>
        <p:nvSpPr>
          <p:cNvPr id="753" name="Google Shape;753;p4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4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36 | REVEAL</a:t>
            </a:r>
          </a:p>
          <a:p xmlns:a="http://schemas.openxmlformats.org/drawingml/2006/main">
            <a:pPr>
              <a:buNone/>
            </a:pPr>
            <a:r>
              <a:rPr lang="en-US" sz="1100"/>
              <a:t>Focus on the existing task: The net is a two-dimensional representation of the three-dimensional figure it can make. How can you use this net to form a three-dimensional figure?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fold the net to create a three-dimensional figure.</a:t>
            </a:r>
          </a:p>
          <a:p>
            <a:pPr indent="0" lvl="0" marL="0" rtl="0" algn="l">
              <a:lnSpc>
                <a:spcPct val="100000"/>
              </a:lnSpc>
              <a:spcBef>
                <a:spcPts val="0"/>
              </a:spcBef>
              <a:spcAft>
                <a:spcPts val="0"/>
              </a:spcAft>
              <a:buSzPts val="1400"/>
              <a:buNone/>
            </a:pPr>
            <a:r>
              <a:t>UIFR: TEACH 3 · TEACH 4.</a:t>
            </a:r>
          </a:p>
        </p:txBody>
      </p:sp>
      <p:sp>
        <p:nvSpPr>
          <p:cNvPr id="789" name="Google Shape;789;p4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5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37 | REVEAL</a:t>
            </a:r>
          </a:p>
          <a:p xmlns:a="http://schemas.openxmlformats.org/drawingml/2006/main">
            <a:pPr>
              <a:buNone/>
            </a:pPr>
            <a:r>
              <a:rPr lang="en-US" sz="1100"/>
              <a:t>Focus on the existing task: How can you describe the shapes that appear in the net?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net is made up of 6 squares of the same size.</a:t>
            </a:r>
          </a:p>
          <a:p>
            <a:pPr indent="0" lvl="0" marL="0" rtl="0" algn="l">
              <a:lnSpc>
                <a:spcPct val="100000"/>
              </a:lnSpc>
              <a:spcBef>
                <a:spcPts val="0"/>
              </a:spcBef>
              <a:spcAft>
                <a:spcPts val="0"/>
              </a:spcAft>
              <a:buSzPts val="1400"/>
              <a:buNone/>
            </a:pPr>
            <a:r>
              <a:t>UIFR: TEACH 3 · TEACH 4.</a:t>
            </a:r>
          </a:p>
        </p:txBody>
      </p:sp>
      <p:sp>
        <p:nvSpPr>
          <p:cNvPr id="807" name="Google Shape;807;p5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5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38 | TASK</a:t>
            </a:r>
          </a:p>
          <a:p xmlns:a="http://schemas.openxmlformats.org/drawingml/2006/main">
            <a:pPr>
              <a:buNone/>
            </a:pPr>
            <a:r>
              <a:rPr lang="en-US" sz="1100"/>
              <a:t>Focus on the existing task: The net is made up of 6 squares of the same size. Think About It: What do the shapes in the net tell you about the faces of the three-dimensional figure it will make?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edges from faces.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816" name="Google Shape;816;p5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5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39 | COLLABORATE</a:t>
            </a:r>
          </a:p>
          <a:p xmlns:a="http://schemas.openxmlformats.org/drawingml/2006/main">
            <a:pPr>
              <a:buNone/>
            </a:pPr>
            <a:r>
              <a:rPr lang="en-US" sz="1100"/>
              <a:t>Focus on the existing task: To keep track of where each shape in the net will appear when folded into a three-dimensional figure, we can label each shape. How can you fold the net to create a three-dimensional figure?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p:txBody>
      </p:sp>
      <p:sp>
        <p:nvSpPr>
          <p:cNvPr id="835" name="Google Shape;835;p5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5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40 | WORKED</a:t>
            </a:r>
          </a:p>
          <a:p xmlns:a="http://schemas.openxmlformats.org/drawingml/2006/main">
            <a:pPr>
              <a:buNone/>
            </a:pPr>
            <a:r>
              <a:rPr lang="en-US" sz="1100"/>
              <a:t>Focus on the existing task: Let’s fold along the connected sides to form a three-dimensional figure. One way to fold the net is shown. Mystery Shape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45" name="Google Shape;845;p5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5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41 | WORKED</a:t>
            </a:r>
          </a:p>
          <a:p xmlns:a="http://schemas.openxmlformats.org/drawingml/2006/main">
            <a:pPr>
              <a:buNone/>
            </a:pPr>
            <a:r>
              <a:rPr lang="en-US" sz="1100"/>
              <a:t>Focus on the existing task: Faces A and D are the two side faces. Mystery Shape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distinguish edges from faces.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53" name="Google Shape;853;p5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5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42 | WORKED</a:t>
            </a:r>
          </a:p>
          <a:p xmlns:a="http://schemas.openxmlformats.org/drawingml/2006/main">
            <a:pPr>
              <a:buNone/>
            </a:pPr>
            <a:r>
              <a:rPr lang="en-US" sz="1100"/>
              <a:t>Focus on the existing task: Face B is the top face and E is the bottom face. Mystery Shape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61" name="Google Shape;861;p5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5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43 | TASK</a:t>
            </a:r>
          </a:p>
          <a:p xmlns:a="http://schemas.openxmlformats.org/drawingml/2006/main">
            <a:pPr>
              <a:buNone/>
            </a:pPr>
            <a:r>
              <a:rPr lang="en-US" sz="1100"/>
              <a:t>Focus on the existing task: Faces C and F are the front and back faces. Think About It: Is there only way to unfold a three-dimensional figure?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edges from faces.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878" name="Google Shape;878;p5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6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44 | REVEAL</a:t>
            </a:r>
          </a:p>
          <a:p xmlns:a="http://schemas.openxmlformats.org/drawingml/2006/main">
            <a:pPr>
              <a:buNone/>
            </a:pPr>
            <a:r>
              <a:rPr lang="en-US" sz="1100"/>
              <a:t>Focus on the existing task: How many faces, edges, and vertices does the three-dimensional figure have?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edges from faces.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figure has 6 faces, 12 edges, 8 vertices.</a:t>
            </a:r>
          </a:p>
          <a:p>
            <a:pPr indent="0" lvl="0" marL="0" rtl="0" algn="l">
              <a:lnSpc>
                <a:spcPct val="100000"/>
              </a:lnSpc>
              <a:spcBef>
                <a:spcPts val="0"/>
              </a:spcBef>
              <a:spcAft>
                <a:spcPts val="0"/>
              </a:spcAft>
              <a:buSzPts val="1400"/>
              <a:buNone/>
            </a:pPr>
            <a:r>
              <a:t>UIFR: TEACH 3 · TEACH 4.</a:t>
            </a:r>
          </a:p>
        </p:txBody>
      </p:sp>
      <p:sp>
        <p:nvSpPr>
          <p:cNvPr id="898" name="Google Shape;898;p6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6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45 | REVEAL</a:t>
            </a:r>
          </a:p>
          <a:p xmlns:a="http://schemas.openxmlformats.org/drawingml/2006/main">
            <a:pPr>
              <a:buNone/>
            </a:pPr>
            <a:r>
              <a:rPr lang="en-US" sz="1100"/>
              <a:t>Focus on the existing task: What three-dimensional figure is made from this net?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edges from faces.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three-dimensional figure has 6 square faces. So, it is a cube.</a:t>
            </a:r>
          </a:p>
          <a:p>
            <a:pPr indent="0" lvl="0" marL="0" rtl="0" algn="l">
              <a:lnSpc>
                <a:spcPct val="100000"/>
              </a:lnSpc>
              <a:spcBef>
                <a:spcPts val="0"/>
              </a:spcBef>
              <a:spcAft>
                <a:spcPts val="0"/>
              </a:spcAft>
              <a:buSzPts val="1400"/>
              <a:buNone/>
            </a:pPr>
            <a:r>
              <a:t>UIFR: TEACH 3 · TEACH 4.</a:t>
            </a:r>
          </a:p>
        </p:txBody>
      </p:sp>
      <p:sp>
        <p:nvSpPr>
          <p:cNvPr id="920" name="Google Shape;920;p6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p6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46 | TASK</a:t>
            </a:r>
          </a:p>
          <a:p xmlns:a="http://schemas.openxmlformats.org/drawingml/2006/main">
            <a:pPr>
              <a:buNone/>
            </a:pPr>
            <a:r>
              <a:rPr lang="en-US" sz="1100"/>
              <a:t>Focus on the existing task: What are some other representations you could use?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931" name="Google Shape;931;p6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6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47 | TASK</a:t>
            </a:r>
          </a:p>
          <a:p xmlns:a="http://schemas.openxmlformats.org/drawingml/2006/main">
            <a:pPr>
              <a:buNone/>
            </a:pPr>
            <a:r>
              <a:rPr lang="en-US" sz="1100"/>
              <a:t>Focus on the existing task: What three-dimensional figure can this net make?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943" name="Google Shape;943;p6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6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48 | PRACTICE</a:t>
            </a:r>
          </a:p>
          <a:p xmlns:a="http://schemas.openxmlformats.org/drawingml/2006/main">
            <a:pPr>
              <a:buNone/>
            </a:pPr>
            <a:r>
              <a:rPr lang="en-US" sz="1100"/>
              <a:t>Focus on the existing task: How can you determine if a net forms a cube by just looking at the net?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952" name="Google Shape;952;p6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p6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54 | SUMMARIZE</a:t>
            </a:r>
          </a:p>
          <a:p xmlns:a="http://schemas.openxmlformats.org/drawingml/2006/main">
            <a:pPr>
              <a:buNone/>
            </a:pPr>
            <a:r>
              <a:rPr lang="en-US" sz="1100"/>
              <a:t>Focus on the existing task: A net is a two-dimensional representation of a three-dimensional figure. To construct a net, you unfold the three-dimensional figure into…</a:t>
            </a:r>
          </a:p>
          <a:p xmlns:a="http://schemas.openxmlformats.org/drawingml/2006/main">
            <a:pPr>
              <a:buNone/>
            </a:pPr>
            <a:r>
              <a:rPr lang="en-US" sz="1100"/>
              <a:t>CONNECT (T1/4): Ask students to restate the displayed goal or key idea and connect it to earlier work. Relevant lesson evidence: match each face of the solid to a net; justify how the net folds; distinguish edges from faces.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959" name="Google Shape;959;p6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6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5.6, slide 55 | APPLY</a:t>
            </a:r>
          </a:p>
          <a:p xmlns:a="http://schemas.openxmlformats.org/drawingml/2006/main">
            <a:pPr>
              <a:buNone/>
            </a:pPr>
            <a:r>
              <a:rPr lang="en-US" sz="1100"/>
              <a:t>Focus on the existing task: A cookie house building kit contains three different cookie house kits. Question: Which cookie matches with which cookie house?</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match each face of the solid to a net; justify how the net folds; distinguish edges from faces. Respond with one specific next step tied to the work. Students revise and annotate what changed, then identify a criterion they can now demonstrate and one they still need to practice.</a:t>
            </a:r>
          </a:p>
        </p:txBody>
      </p:sp>
      <p:sp>
        <p:nvSpPr>
          <p:cNvPr id="968" name="Google Shape;968;p6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5.6, slide 31 | WARMUP</a:t>
            </a:r>
          </a:p>
          <a:p xmlns:a="http://schemas.openxmlformats.org/drawingml/2006/main">
            <a:pPr>
              <a:buNone/>
            </a:pPr>
            <a:r>
              <a:rPr lang="en-US" sz="1100"/>
              <a:t>Focus on the existing task: A Perimeter B A net C A scale D A volume box 2 How many faces does a rectangular prism have?</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5.6, slide 32 | NOTES</a:t>
            </a:r>
          </a:p>
          <a:p xmlns:a="http://schemas.openxmlformats.org/drawingml/2006/main">
            <a:pPr>
              <a:buNone/>
            </a:pPr>
            <a:r>
              <a:rPr lang="en-US" sz="1100"/>
              <a:t>Focus on the existing task: Review Notes — Session 2 Session 2…</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5.6, slide 56 | REFLECTION</a:t>
            </a:r>
          </a:p>
          <a:p xmlns:a="http://schemas.openxmlformats.org/drawingml/2006/main">
            <a:pPr>
              <a:buNone/>
            </a:pPr>
            <a:r>
              <a:rPr lang="en-US" sz="1100"/>
              <a:t>Focus on the existing task: Learning Targets I can use a three-dimensional figure to create a two-dimensional net. I can look for and make use of structure when using…</a:t>
            </a:r>
          </a:p>
          <a:p xmlns:a="http://schemas.openxmlformats.org/drawingml/2006/main">
            <a:pPr>
              <a:buNone/>
            </a:pPr>
            <a:r>
              <a:rPr lang="en-US" sz="1100"/>
              <a:t>CONNECT (T1/4): Ask students to restate the displayed goal or key idea and connect it to earlier work. Relevant lesson evidence: match each face of the solid to a net; justify how the net folds; distinguish edges from faces.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accepting a net whose faces overlap or leave an opening.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use a paper trace of the existing net and mark corresponding edges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5.6, slide 7 | PRIOR_INSERT</a:t>
            </a:r>
          </a:p>
          <a:p xmlns:a="http://schemas.openxmlformats.org/drawingml/2006/main">
            <a:pPr>
              <a:buNone/>
            </a:pPr>
            <a:r>
              <a:rPr lang="en-US" sz="1100"/>
              <a:t>Focus on the existing task: LESSON 5.6 / OUR LEARNING What will show your learning?</a:t>
            </a:r>
          </a:p>
          <a:p xmlns:a="http://schemas.openxmlformats.org/drawingml/2006/main">
            <a:pPr>
              <a:buNone/>
            </a:pPr>
            <a:r>
              <a:rPr lang="en-US" sz="1100"/>
              <a:t>CONNECT (T1/4): Ask students to restate the displayed goal or key idea and connect it to earlier work. Relevant lesson evidence: match each face of the solid to a net; justify how the net folds; distinguish edges from faces.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5.6, slide 8 | VOCAB</a:t>
            </a:r>
          </a:p>
          <a:p xmlns:a="http://schemas.openxmlformats.org/drawingml/2006/main">
            <a:pPr>
              <a:buNone/>
            </a:pPr>
            <a:r>
              <a:rPr lang="en-US" sz="1100"/>
              <a:t>Focus on the existing task: Vocabulary 1 of 6 Surface Area Using…</a:t>
            </a:r>
          </a:p>
          <a:p xmlns:a="http://schemas.openxmlformats.org/drawingml/2006/main">
            <a:pPr>
              <a:buNone/>
            </a:pPr>
            <a:r>
              <a:rPr lang="en-US" sz="1100"/>
              <a:t>ASK (T1/3/5): Where does “Surface Area Using Nets”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5.6, slide 9 | VOCAB</a:t>
            </a:r>
          </a:p>
          <a:p xmlns:a="http://schemas.openxmlformats.org/drawingml/2006/main">
            <a:pPr>
              <a:buNone/>
            </a:pPr>
            <a:r>
              <a:rPr lang="en-US" sz="1100"/>
              <a:t>Focus on the existing task: Vocabulary 2 of 6 Surface area The…</a:t>
            </a:r>
          </a:p>
          <a:p xmlns:a="http://schemas.openxmlformats.org/drawingml/2006/main">
            <a:pPr>
              <a:buNone/>
            </a:pPr>
            <a:r>
              <a:rPr lang="en-US" sz="1100"/>
              <a:t>ASK (T1/3/5): Where does “Surface area”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5.6, slide 10 | VOCAB</a:t>
            </a:r>
          </a:p>
          <a:p xmlns:a="http://schemas.openxmlformats.org/drawingml/2006/main">
            <a:pPr>
              <a:buNone/>
            </a:pPr>
            <a:r>
              <a:rPr lang="en-US" sz="1100"/>
              <a:t>Focus on the existing task: Vocabulary 3 of 6 Net A flat shape…</a:t>
            </a:r>
          </a:p>
          <a:p xmlns:a="http://schemas.openxmlformats.org/drawingml/2006/main">
            <a:pPr>
              <a:buNone/>
            </a:pPr>
            <a:r>
              <a:rPr lang="en-US" sz="1100"/>
              <a:t>ASK (T1/3/5): Where does “Net”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5.6, slide 11 | VOCAB</a:t>
            </a:r>
          </a:p>
          <a:p xmlns:a="http://schemas.openxmlformats.org/drawingml/2006/main">
            <a:pPr>
              <a:buNone/>
            </a:pPr>
            <a:r>
              <a:rPr lang="en-US" sz="1100"/>
              <a:t>Focus on the existing task: Vocabulary 4 of 6 Face One flat side…</a:t>
            </a:r>
          </a:p>
          <a:p xmlns:a="http://schemas.openxmlformats.org/drawingml/2006/main">
            <a:pPr>
              <a:buNone/>
            </a:pPr>
            <a:r>
              <a:rPr lang="en-US" sz="1100"/>
              <a:t>ASK (T1/3/5): Where does “Face”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5.6, slide 12 | VOCAB</a:t>
            </a:r>
          </a:p>
          <a:p xmlns:a="http://schemas.openxmlformats.org/drawingml/2006/main">
            <a:pPr>
              <a:buNone/>
            </a:pPr>
            <a:r>
              <a:rPr lang="en-US" sz="1100"/>
              <a:t>Focus on the existing task: Vocabulary 5 of 6 Two-dimensional A…</a:t>
            </a:r>
          </a:p>
          <a:p xmlns:a="http://schemas.openxmlformats.org/drawingml/2006/main">
            <a:pPr>
              <a:buNone/>
            </a:pPr>
            <a:r>
              <a:rPr lang="en-US" sz="1100"/>
              <a:t>ASK (T1/3/5): Where does “Two-dimensional”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5.6, slide 13 | VOCAB</a:t>
            </a:r>
          </a:p>
          <a:p xmlns:a="http://schemas.openxmlformats.org/drawingml/2006/main">
            <a:pPr>
              <a:buNone/>
            </a:pPr>
            <a:r>
              <a:rPr lang="en-US" sz="1100"/>
              <a:t>Focus on the existing task: Vocabulary 6 of 6 Edge The line…</a:t>
            </a:r>
          </a:p>
          <a:p xmlns:a="http://schemas.openxmlformats.org/drawingml/2006/main">
            <a:pPr>
              <a:buNone/>
            </a:pPr>
            <a:r>
              <a:rPr lang="en-US" sz="1100"/>
              <a:t>ASK (T1/3/5): Where does “Edge”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5.6, slide 14 | CURIOUS</a:t>
            </a:r>
          </a:p>
          <a:p xmlns:a="http://schemas.openxmlformats.org/drawingml/2006/main">
            <a:pPr>
              <a:buNone/>
            </a:pPr>
            <a:r>
              <a:rPr lang="en-US" sz="1100"/>
              <a:t>Focus on the existing task: How can you show others you find their ideas useful?</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5.6, slide 28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match each face of the solid to a net; justify how the net folds; distinguish edges from faces.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5.6, slide 29 | COLLABORATE</a:t>
            </a:r>
          </a:p>
          <a:p xmlns:a="http://schemas.openxmlformats.org/drawingml/2006/main">
            <a:pPr>
              <a:buNone/>
            </a:pPr>
            <a:r>
              <a:rPr lang="en-US" sz="1100"/>
              <a:t>Focus on the existing task: Yuzuki can create a net of a pyramid. What defining attributes does the pyramid have?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edges from faces.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5.6, slide 30 | CURIOUS</a:t>
            </a:r>
          </a:p>
          <a:p xmlns:a="http://schemas.openxmlformats.org/drawingml/2006/main">
            <a:pPr>
              <a:buNone/>
            </a:pPr>
            <a:r>
              <a:rPr lang="en-US" sz="1100"/>
              <a:t>Focus on the existing task: How are you showing others that you find their ideas useful?</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5.6, slide 49 | PRIOR_INSERT</a:t>
            </a:r>
          </a:p>
          <a:p xmlns:a="http://schemas.openxmlformats.org/drawingml/2006/main">
            <a:pPr>
              <a:buNone/>
            </a:pPr>
            <a:r>
              <a:rPr lang="en-US" sz="1100"/>
              <a:t>Focus on the existing task: LESSON 5.6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match each face of the solid to a net; justify how the net folds; distinguish edges from faces.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5.6, slide 50 | REVEAL</a:t>
            </a:r>
          </a:p>
          <a:p xmlns:a="http://schemas.openxmlformats.org/drawingml/2006/main">
            <a:pPr>
              <a:buNone/>
            </a:pPr>
            <a:r>
              <a:rPr lang="en-US" sz="1100"/>
              <a:t>Focus on the existing task: What is the relationship between the net and the three-dimensional shape that can be made by the net?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5.6, slide 51 | REVEAL</a:t>
            </a:r>
          </a:p>
          <a:p xmlns:a="http://schemas.openxmlformats.org/drawingml/2006/main">
            <a:pPr>
              <a:buNone/>
            </a:pPr>
            <a:r>
              <a:rPr lang="en-US" sz="1100"/>
              <a:t>Focus on the existing task: How can you describe the shapes that appear in the net?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match each face of the solid to a net.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5.6, slide 52 | REVEAL</a:t>
            </a:r>
          </a:p>
          <a:p xmlns:a="http://schemas.openxmlformats.org/drawingml/2006/main">
            <a:pPr>
              <a:buNone/>
            </a:pPr>
            <a:r>
              <a:rPr lang="en-US" sz="1100"/>
              <a:t>Focus on the existing task: How many faces, edges, and vertices does the three-dimensional figure have?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edges from faces.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5.6, slide 53 | REVEAL</a:t>
            </a:r>
          </a:p>
          <a:p xmlns:a="http://schemas.openxmlformats.org/drawingml/2006/main">
            <a:pPr>
              <a:buNone/>
            </a:pPr>
            <a:r>
              <a:rPr lang="en-US" sz="1100"/>
              <a:t>Focus on the existing task: What three-dimensional figure is made from this net?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edges from faces. Ask which feature of their work supports the claim.</a:t>
            </a:r>
          </a:p>
          <a:p xmlns:a="http://schemas.openxmlformats.org/drawingml/2006/main">
            <a:pPr>
              <a:buNone/>
            </a:pPr>
            <a:r>
              <a:rPr lang="en-US" sz="1100"/>
              <a:t>RESPOND: If this task shows the lesson misconception—accepting a net whose faces overlap or leave an opening—use a paper trace of the existing net and mark corresponding edges.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5.6, slide 57 | PRIOR_INSERT</a:t>
            </a:r>
          </a:p>
          <a:p xmlns:a="http://schemas.openxmlformats.org/drawingml/2006/main">
            <a:pPr>
              <a:buNone/>
            </a:pPr>
            <a:r>
              <a:rPr lang="en-US" sz="1100"/>
              <a:t>Focus on the existing task: LESSON 5.6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match each face of the solid to a net; justify how the net folds; distinguish edges from faces.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
        <p:nvSpPr>
          <p:cNvPr id="27" name="Google Shape;27;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8" name="Google Shape;28;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9" name="Google Shape;29;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0" name="Shape 3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 name="Google Shape;33;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4" name="Google Shape;34;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5" name="Google Shape;35;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6" name="Google Shape;36;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 name="Google Shape;39;p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40" name="Google Shape;40;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1" name="Google Shape;41;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5" name="Google Shape;45;p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6" name="Google Shape;46;p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7" name="Google Shape;47;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8" name="Google Shape;48;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9" name="Google Shape;49;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10"/>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p1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3" name="Google Shape;53;p1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4" name="Google Shape;54;p1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5" name="Google Shape;55;p1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6" name="Google Shape;56;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7" name="Google Shape;57;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1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96" name="Shape 96"/>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7" name="Shape 97"/>
        <p:cNvGrpSpPr/>
        <p:nvPr/>
      </p:nvGrpSpPr>
      <p:grpSpPr>
        <a:xfrm>
          <a:off x="0" y="0"/>
          <a:ext cx="0" cy="0"/>
          <a:chOff x="0" y="0"/>
          <a:chExt cx="0" cy="0"/>
        </a:xfrm>
      </p:grpSpPr>
      <p:sp>
        <p:nvSpPr>
          <p:cNvPr id="98" name="Google Shape;98;p1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0" name="Google Shape;100;p1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Represent Three-Dimensional Figures in Two Dimensions ​</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Represent Three-Dimensional Figures in Two Dimensions ​</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notesSlide" Target="../notesSlides/notesSlide7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notesSlide" Target="../notesSlides/notesSlide7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notesSlide" Target="../notesSlides/notesSlide7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7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7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7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notesSlide" Target="../notesSlides/notesSlide7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jp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7.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3.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3.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13.png"/><Relationship Id="rId4" Type="http://schemas.openxmlformats.org/officeDocument/2006/relationships/notesSlide" Target="../notesSlides/notesSlide8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8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 Id="rId3"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 Id="rId3"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3.xml"/><Relationship Id="rId3" Type="http://schemas.openxmlformats.org/officeDocument/2006/relationships/image" Target="../media/image26.png"/><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image" Target="../media/image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3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 Id="rId3"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 Id="rId3" Type="http://schemas.openxmlformats.org/officeDocument/2006/relationships/image" Target="../media/image27.png"/><Relationship Id="rId4" Type="http://schemas.openxmlformats.org/officeDocument/2006/relationships/image" Target="../media/image2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 Id="rId3" Type="http://schemas.openxmlformats.org/officeDocument/2006/relationships/image" Target="../media/image27.png"/><Relationship Id="rId4" Type="http://schemas.openxmlformats.org/officeDocument/2006/relationships/image" Target="../media/image2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 Id="rId3" Type="http://schemas.openxmlformats.org/officeDocument/2006/relationships/image" Target="../media/image27.png"/><Relationship Id="rId4" Type="http://schemas.openxmlformats.org/officeDocument/2006/relationships/image" Target="../media/image26.png"/><Relationship Id="rId5" Type="http://schemas.openxmlformats.org/officeDocument/2006/relationships/image" Target="../media/image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 Id="rId3"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 Id="rId3" Type="http://schemas.openxmlformats.org/officeDocument/2006/relationships/notesSlide" Target="../notesSlides/notesSlide8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 Id="rId3" Type="http://schemas.openxmlformats.org/officeDocument/2006/relationships/notesSlide" Target="../notesSlides/notesSlide8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 Id="rId3" Type="http://schemas.openxmlformats.org/officeDocument/2006/relationships/image" Target="../media/image26.png"/><Relationship Id="rId4" Type="http://schemas.openxmlformats.org/officeDocument/2006/relationships/notesSlide" Target="../notesSlides/notesSlide8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 Id="rId3" Type="http://schemas.openxmlformats.org/officeDocument/2006/relationships/image" Target="../media/image26.png"/><Relationship Id="rId4" Type="http://schemas.openxmlformats.org/officeDocument/2006/relationships/notesSlide" Target="../notesSlides/notesSlide8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 Id="rId3" Type="http://schemas.openxmlformats.org/officeDocument/2006/relationships/image" Target="../media/image23.png"/><Relationship Id="rId4" Type="http://schemas.openxmlformats.org/officeDocument/2006/relationships/image" Target="../media/image2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 Id="rId3" Type="http://schemas.openxmlformats.org/officeDocument/2006/relationships/image" Target="../media/image28.png"/><Relationship Id="rId4" Type="http://schemas.openxmlformats.org/officeDocument/2006/relationships/image" Target="../media/image3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7"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188" name="TextBox 2"/>
          <p:cNvSpPr txBox="1"/>
          <p:nvPr/>
        </p:nvSpPr>
        <p:spPr>
          <a:xfrm>
            <a:off x="521207" y="877824"/>
            <a:ext cx="10881360" cy="274320"/>
          </a:xfrm>
          <a:prstGeom prst="rect">
            <a:avLst/>
          </a:prstGeom>
          <a:noFill/>
        </p:spPr>
        <p:txBody>
          <a:bodyPr wrap="square" lIns="0" tIns="0" rIns="0" bIns="0" anchor="t">
            <a:spAutoFit/>
          </a:bodyPr>
          <a:lstStyle/>
          <a:p>
            <a:pPr algn="l"/>
            <a:r>
              <a:rPr sz="1400" b="0">
                <a:solidFill>
                  <a:srgbClr val="5D6872"/>
                </a:solidFill>
                <a:latin typeface="Arial"/>
              </a:rPr>
              <a:t>Lesson 5-6 · Represent Three-Dimensional Figures in Two Dimensions   |   Warm-Up · about 4 minutes</a:t>
            </a:r>
          </a:p>
        </p:txBody>
      </p:sp>
      <p:sp>
        <p:nvSpPr>
          <p:cNvPr id="189"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190"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191"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194"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A rectangular prism has ______ faces, ______ edges, and ______ vertices</a:t>
            </a:r>
          </a:p>
        </p:txBody>
      </p:sp>
      <p:sp>
        <p:nvSpPr>
          <p:cNvPr id="195"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198"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A square pyramid has ______ faces in all</a:t>
            </a:r>
          </a:p>
        </p:txBody>
      </p:sp>
      <p:sp>
        <p:nvSpPr>
          <p:cNvPr id="199"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02"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One face of a net is a 7 cm by 3 cm rectangle. Its area = ______</a:t>
            </a:r>
          </a:p>
        </p:txBody>
      </p:sp>
      <p:sp>
        <p:nvSpPr>
          <p:cNvPr id="203"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06"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The 6 faces of a rectangular prism form ______ matching pairs</a:t>
            </a:r>
          </a:p>
        </p:txBody>
      </p:sp>
      <p:sp>
        <p:nvSpPr>
          <p:cNvPr id="207"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08"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0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62</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40"/>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0" name="Google Shape;430;p4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431" name="Google Shape;431;p4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5-6 · Represent Three-Dimensional Figures in Two Dimensions</a:t>
            </a:r>
            <a:endParaRPr/>
          </a:p>
        </p:txBody>
      </p:sp>
      <p:sp>
        <p:nvSpPr>
          <p:cNvPr id="432" name="Google Shape;432;p4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4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34" name="Google Shape;434;p40"/>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435" name="Google Shape;435;p40"/>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40"/>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437" name="Google Shape;437;p40"/>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40"/>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0"/>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440" name="Google Shape;440;p40"/>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Surface Area Using Nets</a:t>
            </a:r>
            <a:endParaRPr/>
          </a:p>
        </p:txBody>
      </p:sp>
      <p:sp>
        <p:nvSpPr>
          <p:cNvPr id="441" name="Google Shape;441;p40"/>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total area of all the </a:t>
            </a:r>
            <a:r>
              <a:rPr b="1" i="0" lang="en-US" sz="1450" u="none" cap="none" strike="noStrike">
                <a:solidFill>
                  <a:srgbClr val="475569"/>
                </a:solidFill>
                <a:latin typeface="Arial"/>
                <a:ea typeface="Arial"/>
                <a:cs typeface="Arial"/>
                <a:sym typeface="Arial"/>
              </a:rPr>
              <a:t xml:space="preserve">faces</a:t>
            </a:r>
            <a:r>
              <a:rPr b="0" i="0" lang="en-US" sz="1450" u="none" cap="none" strike="noStrike">
                <a:solidFill>
                  <a:srgbClr val="475569"/>
                </a:solidFill>
                <a:latin typeface="Arial"/>
                <a:ea typeface="Arial"/>
                <a:cs typeface="Arial"/>
                <a:sym typeface="Arial"/>
              </a:rPr>
              <a:t xml:space="preserve"> of a solid</a:t>
            </a:r>
            <a:endParaRPr/>
          </a:p>
        </p:txBody>
      </p:sp>
      <p:sp>
        <p:nvSpPr>
          <p:cNvPr id="442" name="Google Shape;442;p40"/>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3" name="Google Shape;443;p40"/>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4" name="Google Shape;444;p40"/>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445" name="Google Shape;445;p40"/>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Surface area</a:t>
            </a:r>
            <a:endParaRPr/>
          </a:p>
        </p:txBody>
      </p:sp>
      <p:sp>
        <p:nvSpPr>
          <p:cNvPr id="446" name="Google Shape;446;p40"/>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The total area of all the flat sides of a solid</a:t>
            </a:r>
            <a:endParaRPr/>
          </a:p>
        </p:txBody>
      </p:sp>
      <p:sp>
        <p:nvSpPr>
          <p:cNvPr id="447" name="Google Shape;447;p40"/>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8" name="Google Shape;448;p40"/>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9" name="Google Shape;449;p40"/>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450" name="Google Shape;450;p40"/>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Net</a:t>
            </a:r>
            <a:endParaRPr/>
          </a:p>
        </p:txBody>
      </p:sp>
      <p:sp>
        <p:nvSpPr>
          <p:cNvPr id="451" name="Google Shape;451;p40"/>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flat shape that folds up into a solid</a:t>
            </a:r>
            <a:endParaRPr/>
          </a:p>
        </p:txBody>
      </p:sp>
      <p:sp>
        <p:nvSpPr>
          <p:cNvPr id="4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62</a:t>
            </a:r>
          </a:p>
        </p:txBody>
      </p:sp>
      <p:grpSp>
        <p:nvGrpSpPr>
          <p:cNvPr id="453" name="TEACH-1-student-move" descr="TEACH 1 · Facilitate clear, standards-based content learning"/>
          <p:cNvGrpSpPr/>
          <p:nvPr/>
        </p:nvGrpSpPr>
        <p:grpSpPr>
          <a:xfrm>
            <a:off x="6187440" y="1682496"/>
            <a:ext cx="5501640" cy="594360"/>
            <a:chOff x="6187440" y="1682496"/>
            <a:chExt cx="5501640" cy="594360"/>
          </a:xfrm>
        </p:grpSpPr>
        <p:sp>
          <p:nvSpPr>
            <p:cNvPr id="454"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455"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456"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4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41"/>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8" name="Google Shape;458;p4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459" name="Google Shape;459;p4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5-6 · Represent Three-Dimensional Figures in Two Dimensions</a:t>
            </a:r>
            <a:endParaRPr/>
          </a:p>
        </p:txBody>
      </p:sp>
      <p:sp>
        <p:nvSpPr>
          <p:cNvPr id="460" name="Google Shape;460;p4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1" name="Google Shape;461;p4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62" name="Google Shape;462;p41"/>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463" name="Google Shape;463;p41"/>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4" name="Google Shape;464;p41"/>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465" name="Google Shape;465;p41"/>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6" name="Google Shape;466;p41"/>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Representing 3D Solids with Nets</a:t>
            </a:r>
            <a:endParaRPr/>
          </a:p>
        </p:txBody>
      </p:sp>
      <p:sp>
        <p:nvSpPr>
          <p:cNvPr id="467" name="Google Shape;467;p41"/>
          <p:cNvSpPr/>
          <p:nvPr/>
        </p:nvSpPr>
        <p:spPr>
          <a:xfrm>
            <a:off x="640080" y="3182112"/>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41"/>
          <p:cNvSpPr/>
          <p:nvPr/>
        </p:nvSpPr>
        <p:spPr>
          <a:xfrm>
            <a:off x="896112" y="34655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469" name="Google Shape;469;p41"/>
          <p:cNvSpPr txBox="1"/>
          <p:nvPr/>
        </p:nvSpPr>
        <p:spPr>
          <a:xfrm>
            <a:off x="1371600" y="3264408"/>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A </a:t>
            </a:r>
            <a:r>
              <a:rPr b="1" i="0" lang="en-US" sz="1600" u="none" cap="none" strike="noStrike">
                <a:solidFill>
                  <a:srgbClr val="14223A"/>
                </a:solidFill>
                <a:latin typeface="Arial"/>
                <a:ea typeface="Arial"/>
                <a:cs typeface="Arial"/>
                <a:sym typeface="Arial"/>
              </a:rPr>
              <a:t xml:space="preserve">net</a:t>
            </a:r>
            <a:r>
              <a:rPr b="0" i="0" lang="en-US" sz="1600" u="none" cap="none" strike="noStrike">
                <a:solidFill>
                  <a:srgbClr val="14223A"/>
                </a:solidFill>
                <a:latin typeface="Arial"/>
                <a:ea typeface="Arial"/>
                <a:cs typeface="Arial"/>
                <a:sym typeface="Arial"/>
              </a:rPr>
              <a:t xml:space="preserve"> is a </a:t>
            </a:r>
            <a:r>
              <a:rPr b="1" i="0" lang="en-US" sz="1600" u="none" cap="none" strike="noStrike">
                <a:solidFill>
                  <a:srgbClr val="14223A"/>
                </a:solidFill>
                <a:latin typeface="Arial"/>
                <a:ea typeface="Arial"/>
                <a:cs typeface="Arial"/>
                <a:sym typeface="Arial"/>
              </a:rPr>
              <a:t xml:space="preserve">2D</a:t>
            </a:r>
            <a:r>
              <a:rPr b="0" i="0" lang="en-US" sz="1600" u="none" cap="none" strike="noStrike">
                <a:solidFill>
                  <a:srgbClr val="14223A"/>
                </a:solidFill>
                <a:latin typeface="Arial"/>
                <a:ea typeface="Arial"/>
                <a:cs typeface="Arial"/>
                <a:sym typeface="Arial"/>
              </a:rPr>
              <a:t xml:space="preserve"> flat pattern that folds into a 3D solid without overlapping</a:t>
            </a:r>
            <a:endParaRPr/>
          </a:p>
        </p:txBody>
      </p:sp>
      <p:sp>
        <p:nvSpPr>
          <p:cNvPr id="470" name="Google Shape;470;p41"/>
          <p:cNvSpPr/>
          <p:nvPr/>
        </p:nvSpPr>
        <p:spPr>
          <a:xfrm>
            <a:off x="640080" y="4224528"/>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1" name="Google Shape;471;p41"/>
          <p:cNvSpPr/>
          <p:nvPr/>
        </p:nvSpPr>
        <p:spPr>
          <a:xfrm>
            <a:off x="896112" y="450799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472" name="Google Shape;472;p41"/>
          <p:cNvSpPr txBox="1"/>
          <p:nvPr/>
        </p:nvSpPr>
        <p:spPr>
          <a:xfrm>
            <a:off x="1371600" y="4306824"/>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Rectangular </a:t>
            </a:r>
            <a:r>
              <a:rPr b="1" i="0" lang="en-US" sz="1600" u="none" cap="none" strike="noStrike">
                <a:solidFill>
                  <a:srgbClr val="14223A"/>
                </a:solidFill>
                <a:latin typeface="Arial"/>
                <a:ea typeface="Arial"/>
                <a:cs typeface="Arial"/>
                <a:sym typeface="Arial"/>
              </a:rPr>
              <a:t xml:space="preserve">prism</a:t>
            </a:r>
            <a:r>
              <a:rPr b="0" i="0" lang="en-US" sz="1600" u="none" cap="none" strike="noStrike">
                <a:solidFill>
                  <a:srgbClr val="14223A"/>
                </a:solidFill>
                <a:latin typeface="Arial"/>
                <a:ea typeface="Arial"/>
                <a:cs typeface="Arial"/>
                <a:sym typeface="Arial"/>
              </a:rPr>
              <a:t xml:space="preserve"> net has 6 rectangular </a:t>
            </a:r>
            <a:r>
              <a:rPr b="1" i="0" lang="en-US" sz="1600" u="none" cap="none" strike="noStrike">
                <a:solidFill>
                  <a:srgbClr val="14223A"/>
                </a:solidFill>
                <a:latin typeface="Arial"/>
                <a:ea typeface="Arial"/>
                <a:cs typeface="Arial"/>
                <a:sym typeface="Arial"/>
              </a:rPr>
              <a:t xml:space="preserve">faces</a:t>
            </a:r>
            <a:r>
              <a:rPr b="0" i="0" lang="en-US" sz="1600" u="none" cap="none" strike="noStrike">
                <a:solidFill>
                  <a:srgbClr val="14223A"/>
                </a:solidFill>
                <a:latin typeface="Arial"/>
                <a:ea typeface="Arial"/>
                <a:cs typeface="Arial"/>
                <a:sym typeface="Arial"/>
              </a:rPr>
              <a:t xml:space="preserve"> in 3 congruent opposite pairs</a:t>
            </a:r>
            <a:endParaRPr/>
          </a:p>
        </p:txBody>
      </p:sp>
      <p:sp>
        <p:nvSpPr>
          <p:cNvPr id="473" name="Google Shape;473;p41"/>
          <p:cNvSpPr/>
          <p:nvPr/>
        </p:nvSpPr>
        <p:spPr>
          <a:xfrm>
            <a:off x="640080" y="5266944"/>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41"/>
          <p:cNvSpPr/>
          <p:nvPr/>
        </p:nvSpPr>
        <p:spPr>
          <a:xfrm>
            <a:off x="896112" y="555040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475" name="Google Shape;475;p41"/>
          <p:cNvSpPr txBox="1"/>
          <p:nvPr/>
        </p:nvSpPr>
        <p:spPr>
          <a:xfrm>
            <a:off x="1371600" y="5349240"/>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Surface Area</a:t>
            </a:r>
            <a:r>
              <a:rPr b="0" i="0" lang="en-US" sz="1600" u="none" cap="none" strike="noStrike">
                <a:solidFill>
                  <a:srgbClr val="14223A"/>
                </a:solidFill>
                <a:latin typeface="Arial"/>
                <a:ea typeface="Arial"/>
                <a:cs typeface="Arial"/>
                <a:sym typeface="Arial"/>
              </a:rPr>
              <a:t xml:space="preserve"> is the total sum of the areas of all flat faces on the net</a:t>
            </a:r>
            <a:endParaRPr/>
          </a:p>
        </p:txBody>
      </p:sp>
      <p:sp>
        <p:nvSpPr>
          <p:cNvPr id="47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62</a:t>
            </a:r>
          </a:p>
        </p:txBody>
      </p:sp>
      <p:grpSp>
        <p:nvGrpSpPr>
          <p:cNvPr id="477" name="TEACH-1-student-move" descr="TEACH 1 · Facilitate clear, standards-based content learning"/>
          <p:cNvGrpSpPr/>
          <p:nvPr/>
        </p:nvGrpSpPr>
        <p:grpSpPr>
          <a:xfrm>
            <a:off x="502920" y="5111496"/>
            <a:ext cx="11186160" cy="402336"/>
            <a:chOff x="502920" y="5111496"/>
            <a:chExt cx="11186160" cy="402336"/>
          </a:xfrm>
        </p:grpSpPr>
        <p:sp>
          <p:nvSpPr>
            <p:cNvPr id="478" name="TEACH-move-card"/>
            <p:cNvSpPr/>
            <p:nvPr/>
          </p:nvSpPr>
          <p:spPr>
            <a:xfrm>
              <a:off x="502920" y="511149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479" name="TEACH-move-rule"/>
            <p:cNvSpPr/>
            <p:nvPr/>
          </p:nvSpPr>
          <p:spPr>
            <a:xfrm>
              <a:off x="548640" y="5187940"/>
              <a:ext cx="100584" cy="249448"/>
            </a:xfrm>
            <a:prstGeom prst="roundRect">
              <a:avLst>
                <a:gd name="adj" fmla="val 50000"/>
              </a:avLst>
            </a:prstGeom>
            <a:solidFill>
              <a:srgbClr val="01708C"/>
            </a:solidFill>
            <a:ln>
              <a:noFill/>
            </a:ln>
          </p:spPr>
          <p:txBody>
            <a:bodyPr/>
            <a:lstStyle/>
            <a:p>
              <a:endParaRPr/>
            </a:p>
          </p:txBody>
        </p:sp>
        <p:sp>
          <p:nvSpPr>
            <p:cNvPr id="480" name="TEACH-move-text"/>
            <p:cNvSpPr txBox="1"/>
            <p:nvPr/>
          </p:nvSpPr>
          <p:spPr>
            <a:xfrm>
              <a:off x="822960" y="511149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Represent Three-Dimensional Figures 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Two Dimensions</a:t>
            </a:r>
            <a:endParaRPr b="0" i="0" sz="1400" u="none" cap="none" strike="noStrike">
              <a:solidFill>
                <a:srgbClr val="000000"/>
              </a:solidFill>
              <a:latin typeface="Arial"/>
              <a:ea typeface="Arial"/>
              <a:cs typeface="Arial"/>
              <a:sym typeface="Arial"/>
            </a:endParaRPr>
          </a:p>
        </p:txBody>
      </p:sp>
      <p:sp>
        <p:nvSpPr>
          <p:cNvPr id="165" name="Google Shape;165;p28"/>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166" name="Google Shape;166;p28"/>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16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62</a:t>
            </a:r>
          </a:p>
        </p:txBody>
      </p:sp>
      <p:grpSp>
        <p:nvGrpSpPr>
          <p:cNvPr id="168" name="TEACH-2-student-move" descr="TEACH 2 · Use strategies and tasks to engage students in rigorous work"/>
          <p:cNvGrpSpPr/>
          <p:nvPr/>
        </p:nvGrpSpPr>
        <p:grpSpPr>
          <a:xfrm>
            <a:off x="502920" y="4533295"/>
            <a:ext cx="11186160" cy="731520"/>
            <a:chOff x="502920" y="4533295"/>
            <a:chExt cx="11186160" cy="731520"/>
          </a:xfrm>
        </p:grpSpPr>
        <p:sp>
          <p:nvSpPr>
            <p:cNvPr id="169" name="TEACH-move-card"/>
            <p:cNvSpPr/>
            <p:nvPr/>
          </p:nvSpPr>
          <p:spPr>
            <a:xfrm>
              <a:off x="502920" y="4533295"/>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170" name="TEACH-move-rule"/>
            <p:cNvSpPr/>
            <p:nvPr/>
          </p:nvSpPr>
          <p:spPr>
            <a:xfrm>
              <a:off x="548640" y="4672284"/>
              <a:ext cx="100584" cy="453542"/>
            </a:xfrm>
            <a:prstGeom prst="roundRect">
              <a:avLst>
                <a:gd name="adj" fmla="val 50000"/>
              </a:avLst>
            </a:prstGeom>
            <a:solidFill>
              <a:srgbClr val="01708C"/>
            </a:solidFill>
            <a:ln>
              <a:noFill/>
            </a:ln>
          </p:spPr>
          <p:txBody>
            <a:bodyPr/>
            <a:lstStyle/>
            <a:p>
              <a:endParaRPr/>
            </a:p>
          </p:txBody>
        </p:sp>
        <p:sp>
          <p:nvSpPr>
            <p:cNvPr id="171" name="TEACH-move-text"/>
            <p:cNvSpPr txBox="1"/>
            <p:nvPr/>
          </p:nvSpPr>
          <p:spPr>
            <a:xfrm>
              <a:off x="822960" y="4533295"/>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cxnSp>
        <p:nvCxnSpPr>
          <p:cNvPr id="171" name="Google Shape;171;p2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72" name="Google Shape;172;p29"/>
          <p:cNvSpPr txBox="1"/>
          <p:nvPr/>
        </p:nvSpPr>
        <p:spPr>
          <a:xfrm>
            <a:off x="505579" y="316034"/>
            <a:ext cx="4252852"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This or That</a:t>
            </a:r>
            <a:endParaRPr b="0" i="0" sz="1400" u="none" cap="none" strike="noStrike">
              <a:solidFill>
                <a:srgbClr val="000000"/>
              </a:solidFill>
              <a:latin typeface="Arial"/>
              <a:ea typeface="Arial"/>
              <a:cs typeface="Arial"/>
              <a:sym typeface="Arial"/>
            </a:endParaRPr>
          </a:p>
        </p:txBody>
      </p:sp>
      <p:sp>
        <p:nvSpPr>
          <p:cNvPr id="173" name="Google Shape;173;p29"/>
          <p:cNvSpPr txBox="1"/>
          <p:nvPr/>
        </p:nvSpPr>
        <p:spPr>
          <a:xfrm>
            <a:off x="484560" y="936101"/>
            <a:ext cx="7705762" cy="10931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Would you rather have THIS or THAT coins?</a:t>
            </a:r>
            <a:endParaRPr b="0" i="0" sz="2800" u="none" cap="none" strike="noStrike">
              <a:solidFill>
                <a:srgbClr val="262626"/>
              </a:solidFill>
              <a:latin typeface="Arial"/>
              <a:ea typeface="Arial"/>
              <a:cs typeface="Arial"/>
              <a:sym typeface="Arial"/>
            </a:endParaRPr>
          </a:p>
        </p:txBody>
      </p:sp>
      <p:graphicFrame>
        <p:nvGraphicFramePr>
          <p:cNvPr id="174" name="Google Shape;174;p29"/>
          <p:cNvGraphicFramePr/>
          <p:nvPr/>
        </p:nvGraphicFramePr>
        <p:xfrm>
          <a:off x="484560" y="2566357"/>
          <a:ext cx="3000000" cy="3000000"/>
        </p:xfrm>
        <a:graphic>
          <a:graphicData uri="http://schemas.openxmlformats.org/drawingml/2006/table">
            <a:tbl>
              <a:tblPr bandRow="1" firstRow="1">
                <a:noFill/>
                <a:tableStyleId>{0C3A3883-443E-49F4-BF3A-9969B1E337F0}</a:tableStyleId>
              </a:tblPr>
              <a:tblGrid>
                <a:gridCol w="4064000"/>
                <a:gridCol w="4064000"/>
              </a:tblGrid>
              <a:tr h="518150">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This</a:t>
                      </a:r>
                      <a:endParaRPr b="1" sz="2800" u="none" cap="none" strike="noStrike">
                        <a:solidFill>
                          <a:schemeClr val="lt1"/>
                        </a:solidFill>
                        <a:latin typeface="Arial"/>
                        <a:ea typeface="Arial"/>
                        <a:cs typeface="Arial"/>
                        <a:sym typeface="Arial"/>
                      </a:endParaRPr>
                    </a:p>
                  </a:txBody>
                  <a:tcPr marT="45725" marB="45725" marR="91450" marL="91450">
                    <a:lnB cap="flat" cmpd="sng" w="12700">
                      <a:solidFill>
                        <a:schemeClr val="dk1"/>
                      </a:solidFill>
                      <a:prstDash val="solid"/>
                      <a:round/>
                      <a:headEnd len="sm" w="sm" type="none"/>
                      <a:tailEnd len="sm" w="sm" type="none"/>
                    </a:lnB>
                    <a:solidFill>
                      <a:srgbClr val="695B9A"/>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That</a:t>
                      </a:r>
                      <a:endParaRPr b="1" sz="2800" u="none" cap="none" strike="noStrike">
                        <a:solidFill>
                          <a:schemeClr val="lt1"/>
                        </a:solidFill>
                        <a:latin typeface="Arial"/>
                        <a:ea typeface="Arial"/>
                        <a:cs typeface="Arial"/>
                        <a:sym typeface="Arial"/>
                      </a:endParaRPr>
                    </a:p>
                  </a:txBody>
                  <a:tcPr marT="45725" marB="45725" marR="91450" marL="91450">
                    <a:lnB cap="flat" cmpd="sng" w="12700">
                      <a:solidFill>
                        <a:schemeClr val="dk1"/>
                      </a:solidFill>
                      <a:prstDash val="solid"/>
                      <a:round/>
                      <a:headEnd len="sm" w="sm" type="none"/>
                      <a:tailEnd len="sm" w="sm" type="none"/>
                    </a:lnB>
                    <a:solidFill>
                      <a:srgbClr val="695B9A"/>
                    </a:solidFill>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7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62</a:t>
            </a:r>
          </a:p>
        </p:txBody>
      </p:sp>
      <p:sp xmlns:p="http://schemas.openxmlformats.org/presentationml/2006/main" xmlns:a="http://schemas.openxmlformats.org/drawingml/2006/main">
        <p:nvSpPr>
          <p:cNvPr id="176"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32"/>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4" name="Google Shape;264;p3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265" name="Google Shape;265;p3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5-6 · Represent Three-Dimensional Figures in Two Dimensions</a:t>
            </a:r>
            <a:endParaRPr/>
          </a:p>
        </p:txBody>
      </p:sp>
      <p:sp>
        <p:nvSpPr>
          <p:cNvPr id="266" name="Google Shape;266;p3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7" name="Google Shape;267;p3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8" name="Google Shape;268;p32"/>
          <p:cNvSpPr txBox="1"/>
          <p:nvPr/>
        </p:nvSpPr>
        <p:spPr>
          <a:xfrm>
            <a:off x="640080" y="969264"/>
            <a:ext cx="10911809" cy="10160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250" u="none" cap="none" strike="noStrike">
                <a:solidFill>
                  <a:srgbClr val="14223A"/>
                </a:solidFill>
                <a:latin typeface="Arial"/>
                <a:ea typeface="Arial"/>
                <a:cs typeface="Arial"/>
                <a:sym typeface="Arial"/>
              </a:rPr>
              <a:t>Represent Three-Dimensional Figures in Two Dimensions</a:t>
            </a:r>
            <a:endParaRPr/>
          </a:p>
        </p:txBody>
      </p:sp>
      <p:sp>
        <p:nvSpPr>
          <p:cNvPr id="269" name="Google Shape;269;p32"/>
          <p:cNvSpPr txBox="1"/>
          <p:nvPr/>
        </p:nvSpPr>
        <p:spPr>
          <a:xfrm>
            <a:off x="640080" y="2021840"/>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6.GR.4</a:t>
            </a:r>
            <a:endParaRPr/>
          </a:p>
        </p:txBody>
      </p:sp>
      <p:sp>
        <p:nvSpPr>
          <p:cNvPr id="270" name="Google Shape;270;p32"/>
          <p:cNvSpPr/>
          <p:nvPr/>
        </p:nvSpPr>
        <p:spPr>
          <a:xfrm>
            <a:off x="640080" y="2442464"/>
            <a:ext cx="5349240" cy="3610863"/>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32"/>
          <p:cNvSpPr/>
          <p:nvPr/>
        </p:nvSpPr>
        <p:spPr>
          <a:xfrm>
            <a:off x="640080" y="2442464"/>
            <a:ext cx="118872" cy="3610863"/>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2" name="Google Shape;272;p32"/>
          <p:cNvSpPr txBox="1"/>
          <p:nvPr/>
        </p:nvSpPr>
        <p:spPr>
          <a:xfrm>
            <a:off x="1097280" y="280822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273" name="Google Shape;273;p32"/>
          <p:cNvSpPr txBox="1"/>
          <p:nvPr/>
        </p:nvSpPr>
        <p:spPr>
          <a:xfrm>
            <a:off x="1097280" y="313740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274" name="Google Shape;274;p32"/>
          <p:cNvSpPr txBox="1"/>
          <p:nvPr/>
        </p:nvSpPr>
        <p:spPr>
          <a:xfrm>
            <a:off x="1097280" y="3612896"/>
            <a:ext cx="4480559" cy="2038095"/>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find the surface area of a solid by using its net.</a:t>
            </a:r>
            <a:endParaRPr/>
          </a:p>
        </p:txBody>
      </p:sp>
      <p:sp>
        <p:nvSpPr>
          <p:cNvPr id="275" name="Google Shape;275;p32"/>
          <p:cNvSpPr/>
          <p:nvPr/>
        </p:nvSpPr>
        <p:spPr>
          <a:xfrm>
            <a:off x="6382512" y="2442464"/>
            <a:ext cx="5349240" cy="3610863"/>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6" name="Google Shape;276;p32"/>
          <p:cNvSpPr/>
          <p:nvPr/>
        </p:nvSpPr>
        <p:spPr>
          <a:xfrm>
            <a:off x="6382512" y="2442464"/>
            <a:ext cx="118872" cy="3610863"/>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32"/>
          <p:cNvSpPr txBox="1"/>
          <p:nvPr/>
        </p:nvSpPr>
        <p:spPr>
          <a:xfrm>
            <a:off x="6839712" y="280822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278" name="Google Shape;278;p32"/>
          <p:cNvSpPr txBox="1"/>
          <p:nvPr/>
        </p:nvSpPr>
        <p:spPr>
          <a:xfrm>
            <a:off x="6839712" y="313740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279" name="Google Shape;279;p32"/>
          <p:cNvSpPr txBox="1"/>
          <p:nvPr/>
        </p:nvSpPr>
        <p:spPr>
          <a:xfrm>
            <a:off x="6839712" y="3612896"/>
            <a:ext cx="4480559" cy="2038095"/>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work using the words surface area, net, face, and two-dimensional.</a:t>
            </a:r>
            <a:endParaRPr/>
          </a:p>
        </p:txBody>
      </p:sp>
      <p:sp>
        <p:nvSpPr>
          <p:cNvPr id="2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62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5.6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Match each face of the solid to a net.</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Justify how the net folds.</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Distinguish edges from faces.</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20" name="Google Shape;320;p3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1" name="Google Shape;321;p34"/>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3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6</a:t>
            </a:r>
            <a:endParaRPr/>
          </a:p>
        </p:txBody>
      </p:sp>
      <p:sp>
        <p:nvSpPr>
          <p:cNvPr id="323" name="Google Shape;323;p3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5-6 · Represent Three-Dimensional Figures in Two Dimensions</a:t>
            </a:r>
            <a:endParaRPr/>
          </a:p>
        </p:txBody>
      </p:sp>
      <p:sp>
        <p:nvSpPr>
          <p:cNvPr id="324" name="Google Shape;324;p3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3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26" name="Google Shape;326;p34"/>
          <p:cNvSpPr txBox="1"/>
          <p:nvPr/>
        </p:nvSpPr>
        <p:spPr>
          <a:xfrm>
            <a:off x="640080" y="1661922"/>
            <a:ext cx="5897880" cy="7117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3950" u="none" cap="none" strike="noStrike">
                <a:solidFill>
                  <a:srgbClr val="14223A"/>
                </a:solidFill>
                <a:latin typeface="Arial"/>
                <a:ea typeface="Arial"/>
                <a:cs typeface="Arial"/>
                <a:sym typeface="Arial"/>
              </a:rPr>
              <a:t>Surface Area Using Nets</a:t>
            </a:r>
            <a:endParaRPr/>
          </a:p>
        </p:txBody>
      </p:sp>
      <p:sp>
        <p:nvSpPr>
          <p:cNvPr id="327" name="Google Shape;327;p34"/>
          <p:cNvSpPr/>
          <p:nvPr/>
        </p:nvSpPr>
        <p:spPr>
          <a:xfrm>
            <a:off x="658368" y="2428494"/>
            <a:ext cx="273405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34"/>
          <p:cNvSpPr txBox="1"/>
          <p:nvPr/>
        </p:nvSpPr>
        <p:spPr>
          <a:xfrm>
            <a:off x="640080" y="278968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The total area of all the faces of a solid. A net unfolds the solid flat so you can see every face and add their areas.</a:t>
            </a:r>
            <a:endParaRPr/>
          </a:p>
        </p:txBody>
      </p:sp>
      <p:sp>
        <p:nvSpPr>
          <p:cNvPr id="329" name="Google Shape;329;p34"/>
          <p:cNvSpPr/>
          <p:nvPr/>
        </p:nvSpPr>
        <p:spPr>
          <a:xfrm>
            <a:off x="640080" y="4266438"/>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0" name="Google Shape;330;p34"/>
          <p:cNvSpPr/>
          <p:nvPr/>
        </p:nvSpPr>
        <p:spPr>
          <a:xfrm>
            <a:off x="640080" y="4266438"/>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34"/>
          <p:cNvSpPr txBox="1"/>
          <p:nvPr/>
        </p:nvSpPr>
        <p:spPr>
          <a:xfrm>
            <a:off x="932688" y="444017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332" name="Google Shape;332;p34"/>
          <p:cNvSpPr txBox="1"/>
          <p:nvPr/>
        </p:nvSpPr>
        <p:spPr>
          <a:xfrm>
            <a:off x="932688" y="4741926"/>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A box with 6 faces: 2(8×5) + 2(8×3) + 2(5×3) = 158 square units</a:t>
            </a:r>
            <a:endParaRPr/>
          </a:p>
        </p:txBody>
      </p:sp>
      <p:pic>
        <p:nvPicPr>
          <p:cNvPr descr="surface-area-of-prisms.png" id="333" name="Google Shape;333;p34"/>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62</a:t>
            </a:r>
          </a:p>
        </p:txBody>
      </p:sp>
      <p:grpSp>
        <p:nvGrpSpPr>
          <p:cNvPr id="334" name="TEACH-5-student-move" descr="TEACH 5 · Facilitate student interactions and academic talk"/>
          <p:cNvGrpSpPr/>
          <p:nvPr/>
        </p:nvGrpSpPr>
        <p:grpSpPr>
          <a:xfrm>
            <a:off x="502920" y="5751576"/>
            <a:ext cx="11186160" cy="548640"/>
            <a:chOff x="502920" y="5751576"/>
            <a:chExt cx="11186160" cy="548640"/>
          </a:xfrm>
        </p:grpSpPr>
        <p:sp>
          <p:nvSpPr>
            <p:cNvPr id="335"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336"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337"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38" name="Google Shape;338;p3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3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0" name="Google Shape;340;p3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6</a:t>
            </a:r>
            <a:endParaRPr/>
          </a:p>
        </p:txBody>
      </p:sp>
      <p:sp>
        <p:nvSpPr>
          <p:cNvPr id="341" name="Google Shape;341;p3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5-6 · Represent Three-Dimensional Figures in Two Dimensions</a:t>
            </a:r>
            <a:endParaRPr/>
          </a:p>
        </p:txBody>
      </p:sp>
      <p:sp>
        <p:nvSpPr>
          <p:cNvPr id="342" name="Google Shape;342;p3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3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44" name="Google Shape;344;p35"/>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Surface area</a:t>
            </a:r>
            <a:endParaRPr/>
          </a:p>
        </p:txBody>
      </p:sp>
      <p:sp>
        <p:nvSpPr>
          <p:cNvPr id="345" name="Google Shape;345;p35"/>
          <p:cNvSpPr/>
          <p:nvPr/>
        </p:nvSpPr>
        <p:spPr>
          <a:xfrm>
            <a:off x="658368" y="2814828"/>
            <a:ext cx="142646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6" name="Google Shape;346;p35"/>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total area of all the flat sides of a solid.</a:t>
            </a:r>
            <a:endParaRPr/>
          </a:p>
        </p:txBody>
      </p:sp>
      <p:sp>
        <p:nvSpPr>
          <p:cNvPr id="347" name="Google Shape;347;p35"/>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35"/>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35"/>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350" name="Google Shape;350;p35"/>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box 6 × 4 × 2: SA = 2(24) + 2(12) + 2(8) = 88 in² — like wrapping paper needed</a:t>
            </a:r>
            <a:endParaRPr/>
          </a:p>
        </p:txBody>
      </p:sp>
      <p:pic>
        <p:nvPicPr>
          <p:cNvPr descr="surface-area.png" id="351" name="Google Shape;351;p35"/>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62</a:t>
            </a:r>
          </a:p>
        </p:txBody>
      </p:sp>
      <p:sp xmlns:p="http://schemas.openxmlformats.org/presentationml/2006/main" xmlns:a="http://schemas.openxmlformats.org/drawingml/2006/main">
        <p:nvSpPr>
          <p:cNvPr id="352"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“Surface area”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6" name="Google Shape;356;p3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3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3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6</a:t>
            </a:r>
            <a:endParaRPr/>
          </a:p>
        </p:txBody>
      </p:sp>
      <p:sp>
        <p:nvSpPr>
          <p:cNvPr id="359" name="Google Shape;359;p3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5-6 · Represent Three-Dimensional Figures in Two Dimensions</a:t>
            </a:r>
            <a:endParaRPr/>
          </a:p>
        </p:txBody>
      </p:sp>
      <p:sp>
        <p:nvSpPr>
          <p:cNvPr id="360" name="Google Shape;360;p3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3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2" name="Google Shape;362;p36"/>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Net</a:t>
            </a:r>
            <a:endParaRPr/>
          </a:p>
        </p:txBody>
      </p:sp>
      <p:sp>
        <p:nvSpPr>
          <p:cNvPr id="363" name="Google Shape;363;p36"/>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36"/>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flat shape that folds up into a solid.</a:t>
            </a:r>
            <a:endParaRPr/>
          </a:p>
        </p:txBody>
      </p:sp>
      <p:sp>
        <p:nvSpPr>
          <p:cNvPr id="365" name="Google Shape;365;p36"/>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36"/>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7" name="Google Shape;367;p36"/>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368" name="Google Shape;368;p36"/>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Cut along the edges of a cereal box and unfold it flat — you see all 6 faces</a:t>
            </a:r>
            <a:endParaRPr/>
          </a:p>
        </p:txBody>
      </p:sp>
      <p:pic>
        <p:nvPicPr>
          <p:cNvPr descr="net.png" id="369" name="Google Shape;369;p36"/>
          <p:cNvPicPr preferRelativeResize="0"/>
          <p:nvPr/>
        </p:nvPicPr>
        <p:blipFill rotWithShape="1">
          <a:blip r:embed="rId2">
            <a:alphaModFix/>
          </a:blip>
          <a:srcRect b="0" l="0" r="0" t="0"/>
          <a:stretch/>
        </p:blipFill>
        <p:spPr>
          <a:xfrm>
            <a:off x="6903720" y="2040774"/>
            <a:ext cx="4572000" cy="3050770"/>
          </a:xfrm>
          <a:prstGeom prst="rect">
            <a:avLst/>
          </a:prstGeom>
          <a:noFill/>
          <a:ln>
            <a:noFill/>
          </a:ln>
        </p:spPr>
      </p:pic>
      <p:sp>
        <p:nvSpPr>
          <p:cNvPr id="2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62</a:t>
            </a:r>
          </a:p>
        </p:txBody>
      </p:sp>
      <p:sp xmlns:p="http://schemas.openxmlformats.org/presentationml/2006/main" xmlns:a="http://schemas.openxmlformats.org/drawingml/2006/main">
        <p:nvSpPr>
          <p:cNvPr id="370"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“Net”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74" name="Google Shape;374;p3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5" name="Google Shape;375;p3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3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6</a:t>
            </a:r>
            <a:endParaRPr/>
          </a:p>
        </p:txBody>
      </p:sp>
      <p:sp>
        <p:nvSpPr>
          <p:cNvPr id="377" name="Google Shape;377;p3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5-6 · Represent Three-Dimensional Figures in Two Dimensions</a:t>
            </a:r>
            <a:endParaRPr/>
          </a:p>
        </p:txBody>
      </p:sp>
      <p:sp>
        <p:nvSpPr>
          <p:cNvPr id="378" name="Google Shape;378;p3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9" name="Google Shape;379;p3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80" name="Google Shape;380;p37"/>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Face</a:t>
            </a:r>
            <a:endParaRPr/>
          </a:p>
        </p:txBody>
      </p:sp>
      <p:sp>
        <p:nvSpPr>
          <p:cNvPr id="381" name="Google Shape;381;p37"/>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37"/>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One flat side of a solid shape.</a:t>
            </a:r>
            <a:endParaRPr/>
          </a:p>
        </p:txBody>
      </p:sp>
      <p:sp>
        <p:nvSpPr>
          <p:cNvPr id="383" name="Google Shape;383;p37"/>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37"/>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37"/>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386" name="Google Shape;386;p37"/>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rectangular prism has 6 faces: top, bottom, front, back, left, right</a:t>
            </a:r>
            <a:endParaRPr/>
          </a:p>
        </p:txBody>
      </p:sp>
      <p:pic>
        <p:nvPicPr>
          <p:cNvPr descr="rectangular-prism.png" id="387" name="Google Shape;387;p37"/>
          <p:cNvPicPr preferRelativeResize="0"/>
          <p:nvPr/>
        </p:nvPicPr>
        <p:blipFill rotWithShape="1">
          <a:blip r:embed="rId2">
            <a:alphaModFix/>
          </a:blip>
          <a:srcRect b="0" l="0" r="0" t="0"/>
          <a:stretch/>
        </p:blipFill>
        <p:spPr>
          <a:xfrm>
            <a:off x="6903720" y="2040774"/>
            <a:ext cx="4572000" cy="3050770"/>
          </a:xfrm>
          <a:prstGeom prst="rect">
            <a:avLst/>
          </a:prstGeom>
          <a:noFill/>
          <a:ln>
            <a:noFill/>
          </a:ln>
        </p:spPr>
      </p:pic>
      <p:sp>
        <p:nvSpPr>
          <p:cNvPr id="2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62</a:t>
            </a:r>
          </a:p>
        </p:txBody>
      </p:sp>
      <p:sp xmlns:p="http://schemas.openxmlformats.org/presentationml/2006/main" xmlns:a="http://schemas.openxmlformats.org/drawingml/2006/main">
        <p:nvSpPr>
          <p:cNvPr id="388"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“Face”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2" name="Google Shape;392;p3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 name="Google Shape;393;p3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4" name="Google Shape;394;p3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6</a:t>
            </a:r>
            <a:endParaRPr/>
          </a:p>
        </p:txBody>
      </p:sp>
      <p:sp>
        <p:nvSpPr>
          <p:cNvPr id="395" name="Google Shape;395;p3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5-6 · Represent Three-Dimensional Figures in Two Dimensions</a:t>
            </a:r>
            <a:endParaRPr/>
          </a:p>
        </p:txBody>
      </p:sp>
      <p:sp>
        <p:nvSpPr>
          <p:cNvPr id="396" name="Google Shape;396;p3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3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98" name="Google Shape;398;p38"/>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Two-dimensional</a:t>
            </a:r>
            <a:endParaRPr/>
          </a:p>
        </p:txBody>
      </p:sp>
      <p:sp>
        <p:nvSpPr>
          <p:cNvPr id="399" name="Google Shape;399;p38"/>
          <p:cNvSpPr/>
          <p:nvPr/>
        </p:nvSpPr>
        <p:spPr>
          <a:xfrm>
            <a:off x="658368" y="2638806"/>
            <a:ext cx="1783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38"/>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flat shape with length and width, but no thickness.</a:t>
            </a:r>
            <a:endParaRPr/>
          </a:p>
        </p:txBody>
      </p:sp>
      <p:sp>
        <p:nvSpPr>
          <p:cNvPr id="401" name="Google Shape;401;p38"/>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 name="Google Shape;402;p38"/>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38"/>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04" name="Google Shape;404;p38"/>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rectangle drawn on paper is 2D — it has length and width but no depth</a:t>
            </a:r>
            <a:endParaRPr/>
          </a:p>
        </p:txBody>
      </p:sp>
      <p:pic>
        <p:nvPicPr>
          <p:cNvPr descr="square-unit.png" id="405" name="Google Shape;405;p3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62</a:t>
            </a:r>
          </a:p>
        </p:txBody>
      </p:sp>
      <p:sp xmlns:p="http://schemas.openxmlformats.org/presentationml/2006/main" xmlns:a="http://schemas.openxmlformats.org/drawingml/2006/main">
        <p:nvSpPr>
          <p:cNvPr id="406"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“Two-dimensional”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0" name="Google Shape;410;p3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1" name="Google Shape;411;p3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3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6</a:t>
            </a:r>
            <a:endParaRPr/>
          </a:p>
        </p:txBody>
      </p:sp>
      <p:sp>
        <p:nvSpPr>
          <p:cNvPr id="413" name="Google Shape;413;p3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5-6 · Represent Three-Dimensional Figures in Two Dimensions</a:t>
            </a:r>
            <a:endParaRPr/>
          </a:p>
        </p:txBody>
      </p:sp>
      <p:sp>
        <p:nvSpPr>
          <p:cNvPr id="414" name="Google Shape;414;p3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3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6" name="Google Shape;416;p39"/>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Edge</a:t>
            </a:r>
            <a:endParaRPr/>
          </a:p>
        </p:txBody>
      </p:sp>
      <p:sp>
        <p:nvSpPr>
          <p:cNvPr id="417" name="Google Shape;417;p39"/>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39"/>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line where two flat sides of a solid meet.</a:t>
            </a:r>
            <a:endParaRPr/>
          </a:p>
        </p:txBody>
      </p:sp>
      <p:sp>
        <p:nvSpPr>
          <p:cNvPr id="419" name="Google Shape;419;p39"/>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39"/>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39"/>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2" name="Google Shape;422;p39"/>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cube has 12 edges — the lines where two flat faces connect</a:t>
            </a:r>
            <a:endParaRPr/>
          </a:p>
        </p:txBody>
      </p:sp>
      <p:pic>
        <p:nvPicPr>
          <p:cNvPr descr="edge.png" id="423" name="Google Shape;423;p3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62</a:t>
            </a:r>
          </a:p>
        </p:txBody>
      </p:sp>
      <p:sp xmlns:p="http://schemas.openxmlformats.org/presentationml/2006/main" xmlns:a="http://schemas.openxmlformats.org/drawingml/2006/main">
        <p:nvSpPr>
          <p:cNvPr id="424"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“Edge” to explain the example. Point to 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490" name="Google Shape;490;p4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491" name="Google Shape;491;p43"/>
          <p:cNvSpPr/>
          <p:nvPr/>
        </p:nvSpPr>
        <p:spPr>
          <a:xfrm>
            <a:off x="608921" y="5878306"/>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can you show others you find their ideas useful?</a:t>
            </a:r>
            <a:endParaRPr b="0" i="0" sz="1400" u="none" cap="none" strike="noStrike">
              <a:solidFill>
                <a:srgbClr val="000000"/>
              </a:solidFill>
              <a:latin typeface="Arial"/>
              <a:ea typeface="Arial"/>
              <a:cs typeface="Arial"/>
              <a:sym typeface="Arial"/>
            </a:endParaRPr>
          </a:p>
        </p:txBody>
      </p:sp>
      <p:pic>
        <p:nvPicPr>
          <p:cNvPr id="492" name="Google Shape;492;p43"/>
          <p:cNvPicPr preferRelativeResize="0"/>
          <p:nvPr/>
        </p:nvPicPr>
        <p:blipFill rotWithShape="1">
          <a:blip r:embed="rId2">
            <a:alphaModFix/>
          </a:blip>
          <a:srcRect b="0" l="0" r="0" t="0"/>
          <a:stretch/>
        </p:blipFill>
        <p:spPr>
          <a:xfrm>
            <a:off x="4612275" y="1065624"/>
            <a:ext cx="4320000" cy="3780000"/>
          </a:xfrm>
          <a:prstGeom prst="rect">
            <a:avLst/>
          </a:prstGeom>
          <a:noFill/>
          <a:ln>
            <a:noFill/>
          </a:ln>
        </p:spPr>
      </p:pic>
      <p:sp>
        <p:nvSpPr>
          <p:cNvPr id="493" name="Google Shape;493;p43"/>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494" name="Google Shape;494;p43"/>
          <p:cNvSpPr txBox="1"/>
          <p:nvPr/>
        </p:nvSpPr>
        <p:spPr>
          <a:xfrm>
            <a:off x="474055" y="936100"/>
            <a:ext cx="3809846"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p:txBody>
      </p:sp>
      <p:pic>
        <p:nvPicPr>
          <p:cNvPr id="495" name="Google Shape;495;p43"/>
          <p:cNvPicPr preferRelativeResize="0"/>
          <p:nvPr/>
        </p:nvPicPr>
        <p:blipFill rotWithShape="1">
          <a:blip r:embed="rId3">
            <a:alphaModFix/>
          </a:blip>
          <a:srcRect b="0" l="0" r="0" t="0"/>
          <a:stretch/>
        </p:blipFill>
        <p:spPr>
          <a:xfrm>
            <a:off x="474055" y="5040106"/>
            <a:ext cx="5054600" cy="838200"/>
          </a:xfrm>
          <a:prstGeom prst="rect">
            <a:avLst/>
          </a:prstGeom>
          <a:noFill/>
          <a:ln>
            <a:noFill/>
          </a:ln>
        </p:spPr>
      </p:pic>
      <p:sp>
        <p:nvSpPr>
          <p:cNvPr id="496" name="Google Shape;496;p43"/>
          <p:cNvSpPr txBox="1"/>
          <p:nvPr/>
        </p:nvSpPr>
        <p:spPr>
          <a:xfrm>
            <a:off x="3334072" y="5197424"/>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2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62</a:t>
            </a:r>
          </a:p>
        </p:txBody>
      </p:sp>
      <p:sp xmlns:p="http://schemas.openxmlformats.org/presentationml/2006/main" xmlns:a="http://schemas.openxmlformats.org/drawingml/2006/main">
        <p:nvSpPr>
          <p:cNvPr id="497" name="TEACH-embedded-student-prompt" descr="Student thinking and response directions"/>
          <p:cNvSpPr txBox="1"/>
          <p:nvPr/>
        </p:nvSpPr>
        <p:spPr>
          <a:xfrm>
            <a:off x="6111240" y="49560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5" name="Google Shape;285;p33"/>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3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a:t>
            </a:r>
            <a:endParaRPr/>
          </a:p>
        </p:txBody>
      </p:sp>
      <p:sp>
        <p:nvSpPr>
          <p:cNvPr id="287" name="Google Shape;287;p3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5-6 · Represent Three-Dimensional Figures in Two Dimensions</a:t>
            </a:r>
            <a:endParaRPr/>
          </a:p>
        </p:txBody>
      </p:sp>
      <p:sp>
        <p:nvSpPr>
          <p:cNvPr id="288" name="Google Shape;288;p3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9" name="Google Shape;289;p3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90" name="Google Shape;290;p33"/>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400" u="none" cap="none" strike="noStrike">
                <a:solidFill>
                  <a:srgbClr val="14223A"/>
                </a:solidFill>
                <a:latin typeface="Arial"/>
                <a:ea typeface="Arial"/>
                <a:cs typeface="Arial"/>
                <a:sym typeface="Arial"/>
              </a:rPr>
              <a:t>Today’s Math Words</a:t>
            </a:r>
            <a:endParaRPr/>
          </a:p>
        </p:txBody>
      </p:sp>
      <p:sp>
        <p:nvSpPr>
          <p:cNvPr id="291" name="Google Shape;291;p33"/>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292" name="Google Shape;292;p33"/>
          <p:cNvSpPr/>
          <p:nvPr/>
        </p:nvSpPr>
        <p:spPr>
          <a:xfrm>
            <a:off x="640080"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33"/>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4" name="Google Shape;294;p33"/>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Surface Area Using Nets</a:t>
            </a:r>
            <a:endParaRPr/>
          </a:p>
        </p:txBody>
      </p:sp>
      <p:sp>
        <p:nvSpPr>
          <p:cNvPr id="295" name="Google Shape;295;p33"/>
          <p:cNvSpPr txBox="1"/>
          <p:nvPr/>
        </p:nvSpPr>
        <p:spPr>
          <a:xfrm>
            <a:off x="950976"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The total area of all the faces of a solid</a:t>
            </a:r>
            <a:endParaRPr/>
          </a:p>
        </p:txBody>
      </p:sp>
      <p:sp>
        <p:nvSpPr>
          <p:cNvPr id="296" name="Google Shape;296;p33"/>
          <p:cNvSpPr/>
          <p:nvPr/>
        </p:nvSpPr>
        <p:spPr>
          <a:xfrm>
            <a:off x="6260576"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7" name="Google Shape;297;p33"/>
          <p:cNvSpPr/>
          <p:nvPr/>
        </p:nvSpPr>
        <p:spPr>
          <a:xfrm>
            <a:off x="6260576"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8" name="Google Shape;298;p33"/>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Surface area</a:t>
            </a:r>
            <a:endParaRPr/>
          </a:p>
        </p:txBody>
      </p:sp>
      <p:sp>
        <p:nvSpPr>
          <p:cNvPr id="299" name="Google Shape;299;p33"/>
          <p:cNvSpPr txBox="1"/>
          <p:nvPr/>
        </p:nvSpPr>
        <p:spPr>
          <a:xfrm>
            <a:off x="6571472"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The total area of all the flat sides of a solid</a:t>
            </a:r>
            <a:endParaRPr/>
          </a:p>
        </p:txBody>
      </p:sp>
      <p:sp>
        <p:nvSpPr>
          <p:cNvPr id="300" name="Google Shape;300;p33"/>
          <p:cNvSpPr/>
          <p:nvPr/>
        </p:nvSpPr>
        <p:spPr>
          <a:xfrm>
            <a:off x="640080"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1" name="Google Shape;301;p33"/>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33"/>
          <p:cNvSpPr txBox="1"/>
          <p:nvPr/>
        </p:nvSpPr>
        <p:spPr>
          <a:xfrm>
            <a:off x="950976"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Net</a:t>
            </a:r>
            <a:endParaRPr/>
          </a:p>
        </p:txBody>
      </p:sp>
      <p:sp>
        <p:nvSpPr>
          <p:cNvPr id="303" name="Google Shape;303;p33"/>
          <p:cNvSpPr txBox="1"/>
          <p:nvPr/>
        </p:nvSpPr>
        <p:spPr>
          <a:xfrm>
            <a:off x="950976"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A flat shape that folds up into a solid</a:t>
            </a:r>
            <a:endParaRPr/>
          </a:p>
        </p:txBody>
      </p:sp>
      <p:sp>
        <p:nvSpPr>
          <p:cNvPr id="304" name="Google Shape;304;p33"/>
          <p:cNvSpPr/>
          <p:nvPr/>
        </p:nvSpPr>
        <p:spPr>
          <a:xfrm>
            <a:off x="6260576"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5" name="Google Shape;305;p33"/>
          <p:cNvSpPr/>
          <p:nvPr/>
        </p:nvSpPr>
        <p:spPr>
          <a:xfrm>
            <a:off x="6260576"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33"/>
          <p:cNvSpPr txBox="1"/>
          <p:nvPr/>
        </p:nvSpPr>
        <p:spPr>
          <a:xfrm>
            <a:off x="6571472"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Face</a:t>
            </a:r>
            <a:endParaRPr/>
          </a:p>
        </p:txBody>
      </p:sp>
      <p:sp>
        <p:nvSpPr>
          <p:cNvPr id="307" name="Google Shape;307;p33"/>
          <p:cNvSpPr txBox="1"/>
          <p:nvPr/>
        </p:nvSpPr>
        <p:spPr>
          <a:xfrm>
            <a:off x="6571472"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One flat side of a solid shape</a:t>
            </a:r>
            <a:endParaRPr/>
          </a:p>
        </p:txBody>
      </p:sp>
      <p:sp>
        <p:nvSpPr>
          <p:cNvPr id="308" name="Google Shape;308;p33"/>
          <p:cNvSpPr/>
          <p:nvPr/>
        </p:nvSpPr>
        <p:spPr>
          <a:xfrm>
            <a:off x="640080"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33"/>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0" name="Google Shape;310;p33"/>
          <p:cNvSpPr txBox="1"/>
          <p:nvPr/>
        </p:nvSpPr>
        <p:spPr>
          <a:xfrm>
            <a:off x="950976"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Two-dimensional</a:t>
            </a:r>
            <a:endParaRPr/>
          </a:p>
        </p:txBody>
      </p:sp>
      <p:sp>
        <p:nvSpPr>
          <p:cNvPr id="311" name="Google Shape;311;p33"/>
          <p:cNvSpPr txBox="1"/>
          <p:nvPr/>
        </p:nvSpPr>
        <p:spPr>
          <a:xfrm>
            <a:off x="950976"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A flat shape with length and width, but no thickness</a:t>
            </a:r>
            <a:endParaRPr/>
          </a:p>
        </p:txBody>
      </p:sp>
      <p:sp>
        <p:nvSpPr>
          <p:cNvPr id="312" name="Google Shape;312;p33"/>
          <p:cNvSpPr/>
          <p:nvPr/>
        </p:nvSpPr>
        <p:spPr>
          <a:xfrm>
            <a:off x="6260576"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3" name="Google Shape;313;p33"/>
          <p:cNvSpPr/>
          <p:nvPr/>
        </p:nvSpPr>
        <p:spPr>
          <a:xfrm>
            <a:off x="6260576"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4" name="Google Shape;314;p33"/>
          <p:cNvSpPr txBox="1"/>
          <p:nvPr/>
        </p:nvSpPr>
        <p:spPr>
          <a:xfrm>
            <a:off x="6571472"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Edge</a:t>
            </a:r>
            <a:endParaRPr/>
          </a:p>
        </p:txBody>
      </p:sp>
      <p:sp>
        <p:nvSpPr>
          <p:cNvPr id="315" name="Google Shape;315;p33"/>
          <p:cNvSpPr txBox="1"/>
          <p:nvPr/>
        </p:nvSpPr>
        <p:spPr>
          <a:xfrm>
            <a:off x="6571472"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The line where two flat sides of a solid meet</a:t>
            </a:r>
            <a:endParaRPr/>
          </a:p>
        </p:txBody>
      </p:sp>
      <p:sp>
        <p:nvSpPr>
          <p:cNvPr id="31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62</a:t>
            </a:r>
          </a:p>
        </p:txBody>
      </p:sp>
      <p:grpSp>
        <p:nvGrpSpPr>
          <p:cNvPr id="317" name="TEACH-5-student-move" descr="TEACH 5 · Facilitate student interactions and academic talk"/>
          <p:cNvGrpSpPr/>
          <p:nvPr/>
        </p:nvGrpSpPr>
        <p:grpSpPr>
          <a:xfrm>
            <a:off x="502920" y="5852160"/>
            <a:ext cx="11186160" cy="457200"/>
            <a:chOff x="502920" y="5852160"/>
            <a:chExt cx="11186160" cy="457200"/>
          </a:xfrm>
        </p:grpSpPr>
        <p:sp>
          <p:nvSpPr>
            <p:cNvPr id="318" name="TEACH-move-card"/>
            <p:cNvSpPr/>
            <p:nvPr/>
          </p:nvSpPr>
          <p:spPr>
            <a:xfrm>
              <a:off x="502920" y="585216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319" name="TEACH-move-rule"/>
            <p:cNvSpPr/>
            <p:nvPr/>
          </p:nvSpPr>
          <p:spPr>
            <a:xfrm>
              <a:off x="548640" y="5939028"/>
              <a:ext cx="100584" cy="283464"/>
            </a:xfrm>
            <a:prstGeom prst="roundRect">
              <a:avLst>
                <a:gd name="adj" fmla="val 50000"/>
              </a:avLst>
            </a:prstGeom>
            <a:solidFill>
              <a:srgbClr val="01708C"/>
            </a:solidFill>
            <a:ln>
              <a:noFill/>
            </a:ln>
          </p:spPr>
          <p:txBody>
            <a:bodyPr/>
            <a:lstStyle/>
            <a:p>
              <a:endParaRPr/>
            </a:p>
          </p:txBody>
        </p:sp>
        <p:sp>
          <p:nvSpPr>
            <p:cNvPr id="320" name="TEACH-move-text"/>
            <p:cNvSpPr txBox="1"/>
            <p:nvPr/>
          </p:nvSpPr>
          <p:spPr>
            <a:xfrm>
              <a:off x="822960" y="585216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ADD ON  ·  </a:t>
              </a:r>
              <a:r>
                <a:rPr lang="en-US" sz="1400" dirty="0">
                  <a:solidFill>
                    <a:srgbClr val="13303A"/>
                  </a:solidFill>
                  <a:latin typeface="Arial"/>
                </a:rPr>
                <a:t>Add on: “I agree because ______.”  or  “I see it differently because ______.”</a:t>
              </a:r>
              <a:endParaRPr lang="en-US" sz="1400"/>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cxnSp>
        <p:nvCxnSpPr>
          <p:cNvPr id="511" name="Google Shape;511;p4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descr="A group of pyramids in a desert&#10;&#10;Description automatically generated" id="512" name="Google Shape;512;p45"/>
          <p:cNvPicPr preferRelativeResize="0"/>
          <p:nvPr/>
        </p:nvPicPr>
        <p:blipFill rotWithShape="1">
          <a:blip r:embed="rId3">
            <a:alphaModFix/>
          </a:blip>
          <a:srcRect b="0" l="0" r="0" t="0"/>
          <a:stretch/>
        </p:blipFill>
        <p:spPr>
          <a:xfrm>
            <a:off x="7826091" y="1817894"/>
            <a:ext cx="3862923" cy="2575282"/>
          </a:xfrm>
          <a:prstGeom prst="rect">
            <a:avLst/>
          </a:prstGeom>
          <a:noFill/>
          <a:ln>
            <a:noFill/>
          </a:ln>
        </p:spPr>
      </p:pic>
      <p:sp>
        <p:nvSpPr>
          <p:cNvPr id="513" name="Google Shape;513;p45"/>
          <p:cNvSpPr txBox="1"/>
          <p:nvPr/>
        </p:nvSpPr>
        <p:spPr>
          <a:xfrm>
            <a:off x="484565" y="936100"/>
            <a:ext cx="6692090" cy="3721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Yuzuki is making a replica of the Pyramids of Giza for a social studies project. She will make the pyramids out of paper.</a:t>
            </a:r>
            <a:r>
              <a:rPr b="1" i="0" lang="en-US" sz="2800" u="none" cap="none" strike="noStrike">
                <a:solidFill>
                  <a:srgbClr val="23282D"/>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can help Yuzuki make her paper pyramids?</a:t>
            </a:r>
            <a:endParaRPr b="0" i="0" sz="1400" u="none" cap="none" strike="noStrike">
              <a:solidFill>
                <a:srgbClr val="000000"/>
              </a:solidFill>
              <a:latin typeface="Arial"/>
              <a:ea typeface="Arial"/>
              <a:cs typeface="Arial"/>
              <a:sym typeface="Arial"/>
            </a:endParaRPr>
          </a:p>
        </p:txBody>
      </p:sp>
      <p:sp>
        <p:nvSpPr>
          <p:cNvPr id="514" name="Google Shape;514;p45"/>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A New Figure</a:t>
            </a:r>
            <a:endParaRPr b="0" i="0" sz="1400" u="none" cap="none" strike="noStrike">
              <a:solidFill>
                <a:srgbClr val="000000"/>
              </a:solidFill>
              <a:latin typeface="Arial"/>
              <a:ea typeface="Arial"/>
              <a:cs typeface="Arial"/>
              <a:sym typeface="Arial"/>
            </a:endParaRPr>
          </a:p>
        </p:txBody>
      </p:sp>
      <p:sp>
        <p:nvSpPr>
          <p:cNvPr id="515" name="Google Shape;515;p45"/>
          <p:cNvSpPr txBox="1"/>
          <p:nvPr/>
        </p:nvSpPr>
        <p:spPr>
          <a:xfrm>
            <a:off x="742950" y="5824657"/>
            <a:ext cx="9086850" cy="4924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can you use a picture to model the problem?</a:t>
            </a:r>
            <a:endParaRPr b="0" i="0" sz="2600" u="none" cap="none" strike="noStrike">
              <a:solidFill>
                <a:srgbClr val="595959"/>
              </a:solidFill>
              <a:latin typeface="Arial"/>
              <a:ea typeface="Arial"/>
              <a:cs typeface="Arial"/>
              <a:sym typeface="Arial"/>
            </a:endParaRPr>
          </a:p>
        </p:txBody>
      </p:sp>
      <p:pic>
        <p:nvPicPr>
          <p:cNvPr id="516" name="Google Shape;516;p45"/>
          <p:cNvPicPr preferRelativeResize="0"/>
          <p:nvPr/>
        </p:nvPicPr>
        <p:blipFill rotWithShape="1">
          <a:blip r:embed="rId4">
            <a:alphaModFix/>
          </a:blip>
          <a:srcRect b="0" l="0" r="0" t="0"/>
          <a:stretch/>
        </p:blipFill>
        <p:spPr>
          <a:xfrm>
            <a:off x="484565" y="5077897"/>
            <a:ext cx="7073900" cy="838200"/>
          </a:xfrm>
          <a:prstGeom prst="rect">
            <a:avLst/>
          </a:prstGeom>
          <a:noFill/>
          <a:ln>
            <a:noFill/>
          </a:ln>
        </p:spPr>
      </p:pic>
      <p:sp>
        <p:nvSpPr>
          <p:cNvPr id="517" name="Google Shape;517;p45"/>
          <p:cNvSpPr txBox="1"/>
          <p:nvPr/>
        </p:nvSpPr>
        <p:spPr>
          <a:xfrm>
            <a:off x="3202087" y="5235215"/>
            <a:ext cx="6783781"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Using Representations</a:t>
            </a:r>
            <a:endParaRPr b="0" i="0" sz="1400" u="none" cap="none" strike="noStrike">
              <a:solidFill>
                <a:srgbClr val="000000"/>
              </a:solidFill>
              <a:latin typeface="Arial"/>
              <a:ea typeface="Arial"/>
              <a:cs typeface="Arial"/>
              <a:sym typeface="Arial"/>
            </a:endParaRPr>
          </a:p>
        </p:txBody>
      </p:sp>
      <p:sp>
        <p:nvSpPr>
          <p:cNvPr id="51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62</a:t>
            </a:r>
          </a:p>
        </p:txBody>
      </p:sp>
      <p:grpSp>
        <p:nvGrpSpPr>
          <p:cNvPr id="519" name="TEACH-3-student-move" descr="TEACH 3 · Use intentional questioning to deepen learning"/>
          <p:cNvGrpSpPr/>
          <p:nvPr/>
        </p:nvGrpSpPr>
        <p:grpSpPr>
          <a:xfrm>
            <a:off x="502920" y="4638985"/>
            <a:ext cx="11186160" cy="402336"/>
            <a:chOff x="502920" y="4638985"/>
            <a:chExt cx="11186160" cy="402336"/>
          </a:xfrm>
        </p:grpSpPr>
        <p:sp>
          <p:nvSpPr>
            <p:cNvPr id="520" name="TEACH-move-card"/>
            <p:cNvSpPr/>
            <p:nvPr/>
          </p:nvSpPr>
          <p:spPr>
            <a:xfrm>
              <a:off x="502920" y="4638985"/>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521" name="TEACH-move-rule"/>
            <p:cNvSpPr/>
            <p:nvPr/>
          </p:nvSpPr>
          <p:spPr>
            <a:xfrm>
              <a:off x="548640" y="4715429"/>
              <a:ext cx="100584" cy="249448"/>
            </a:xfrm>
            <a:prstGeom prst="roundRect">
              <a:avLst>
                <a:gd name="adj" fmla="val 50000"/>
              </a:avLst>
            </a:prstGeom>
            <a:solidFill>
              <a:srgbClr val="01708C"/>
            </a:solidFill>
            <a:ln>
              <a:noFill/>
            </a:ln>
          </p:spPr>
          <p:txBody>
            <a:bodyPr/>
            <a:lstStyle/>
            <a:p>
              <a:endParaRPr/>
            </a:p>
          </p:txBody>
        </p:sp>
        <p:sp>
          <p:nvSpPr>
            <p:cNvPr id="522" name="TEACH-move-text"/>
            <p:cNvSpPr txBox="1"/>
            <p:nvPr/>
          </p:nvSpPr>
          <p:spPr>
            <a:xfrm>
              <a:off x="822960" y="4638985"/>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cxnSp>
        <p:nvCxnSpPr>
          <p:cNvPr id="531" name="Google Shape;531;p4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32" name="Google Shape;532;p47"/>
          <p:cNvSpPr txBox="1"/>
          <p:nvPr/>
        </p:nvSpPr>
        <p:spPr>
          <a:xfrm>
            <a:off x="484565" y="936000"/>
            <a:ext cx="6733099" cy="36774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Yuzuki is making a replica of the Pyramids of Giza for a social studies project. She will make the pyramids out of paper. What can help Yuzuki make her paper pyramids?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determine if these figures are two- or three-dimensional? Explain.</a:t>
            </a:r>
            <a:endParaRPr b="0" i="0" sz="1400" u="none" cap="none" strike="noStrike">
              <a:solidFill>
                <a:srgbClr val="000000"/>
              </a:solidFill>
              <a:latin typeface="Arial"/>
              <a:ea typeface="Arial"/>
              <a:cs typeface="Arial"/>
              <a:sym typeface="Arial"/>
            </a:endParaRPr>
          </a:p>
        </p:txBody>
      </p:sp>
      <p:pic>
        <p:nvPicPr>
          <p:cNvPr descr="A group of pyramids in a desert&#10;&#10;Description automatically generated" id="533" name="Google Shape;533;p47"/>
          <p:cNvPicPr preferRelativeResize="0"/>
          <p:nvPr/>
        </p:nvPicPr>
        <p:blipFill rotWithShape="1">
          <a:blip r:embed="rId3">
            <a:alphaModFix/>
          </a:blip>
          <a:srcRect b="0" l="0" r="0" t="0"/>
          <a:stretch/>
        </p:blipFill>
        <p:spPr>
          <a:xfrm>
            <a:off x="7826091" y="1817894"/>
            <a:ext cx="3862923" cy="2575282"/>
          </a:xfrm>
          <a:prstGeom prst="rect">
            <a:avLst/>
          </a:prstGeom>
          <a:noFill/>
          <a:ln>
            <a:noFill/>
          </a:ln>
        </p:spPr>
      </p:pic>
      <p:sp>
        <p:nvSpPr>
          <p:cNvPr id="534" name="Google Shape;534;p47"/>
          <p:cNvSpPr txBox="1"/>
          <p:nvPr/>
        </p:nvSpPr>
        <p:spPr>
          <a:xfrm>
            <a:off x="484565" y="4498868"/>
            <a:ext cx="10316785" cy="18138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500" u="none" cap="none" strike="noStrike">
                <a:solidFill>
                  <a:srgbClr val="0070C0"/>
                </a:solidFill>
                <a:highlight>
                  <a:srgbClr val="E0E0E0"/>
                </a:highlight>
                <a:latin typeface="Arial"/>
                <a:ea typeface="Arial"/>
                <a:cs typeface="Arial"/>
                <a:sym typeface="Arial"/>
              </a:rPr>
              <a:t> Reveal</a:t>
            </a:r>
            <a:r>
              <a:rPr b="1" i="0" lang="en-US" sz="2500" u="none" cap="none" strike="noStrike">
                <a:solidFill>
                  <a:srgbClr val="E0E0E0"/>
                </a:solidFill>
                <a:highlight>
                  <a:srgbClr val="E0E0E0"/>
                </a:highlight>
                <a:latin typeface="Arial"/>
                <a:ea typeface="Arial"/>
                <a:cs typeface="Arial"/>
                <a:sym typeface="Arial"/>
              </a:rPr>
              <a:t>:</a:t>
            </a:r>
            <a:r>
              <a:rPr b="1" i="0" lang="en-US" sz="2500" u="none" cap="none" strike="noStrike">
                <a:solidFill>
                  <a:srgbClr val="0070C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500" u="none" cap="none" strike="noStrike">
                <a:solidFill>
                  <a:srgbClr val="595959"/>
                </a:solidFill>
                <a:latin typeface="Arial"/>
                <a:ea typeface="Arial"/>
                <a:cs typeface="Arial"/>
                <a:sym typeface="Arial"/>
              </a:rPr>
              <a:t>These figures are three-dimensional, because they have length, width, and height. Two-dimensional figures only have a length and a width.</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defRPr/>
            </a:pPr>
            <a:r>
              <a:rPr/>
              <a:t/>
            </a:r>
            <a:endParaRPr b="0" i="0" sz="2500" u="none" cap="none" strike="noStrike">
              <a:solidFill>
                <a:srgbClr val="595959"/>
              </a:solidFill>
              <a:latin typeface="Arial"/>
              <a:ea typeface="Arial"/>
              <a:cs typeface="Arial"/>
              <a:sym typeface="Arial"/>
            </a:endParaRPr>
          </a:p>
        </p:txBody>
      </p:sp>
      <p:sp>
        <p:nvSpPr>
          <p:cNvPr id="535" name="Google Shape;535;p47"/>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A New Figure</a:t>
            </a:r>
            <a:endParaRPr b="0" i="0" sz="1400" u="none" cap="none" strike="noStrike">
              <a:solidFill>
                <a:srgbClr val="000000"/>
              </a:solidFill>
              <a:latin typeface="Arial"/>
              <a:ea typeface="Arial"/>
              <a:cs typeface="Arial"/>
              <a:sym typeface="Arial"/>
            </a:endParaRPr>
          </a:p>
        </p:txBody>
      </p:sp>
      <p:sp>
        <p:nvSpPr>
          <p:cNvPr id="5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62</a:t>
            </a:r>
          </a:p>
        </p:txBody>
      </p:sp>
      <p:sp>
        <p:nvSpPr>
          <p:cNvPr id="537" name="EWL-COVER-1"/>
          <p:cNvSpPr/>
          <p:nvPr/>
        </p:nvSpPr>
        <p:spPr>
          <a:xfrm>
            <a:off x="429701" y="4444004"/>
            <a:ext cx="10426513" cy="1923597"/>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cxnSp>
        <p:nvCxnSpPr>
          <p:cNvPr id="549" name="Google Shape;549;p4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50" name="Google Shape;550;p49"/>
          <p:cNvSpPr txBox="1"/>
          <p:nvPr/>
        </p:nvSpPr>
        <p:spPr>
          <a:xfrm>
            <a:off x="484565" y="936100"/>
            <a:ext cx="6844923" cy="317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A </a:t>
            </a:r>
            <a:r>
              <a:rPr b="1" i="0" lang="en-US" sz="2800" u="none" cap="none" strike="noStrike">
                <a:solidFill>
                  <a:srgbClr val="23282D"/>
                </a:solidFill>
                <a:highlight>
                  <a:srgbClr val="FFFF00"/>
                </a:highlight>
                <a:latin typeface="Arial"/>
                <a:ea typeface="Arial"/>
                <a:cs typeface="Arial"/>
                <a:sym typeface="Arial"/>
              </a:rPr>
              <a:t>pyramid</a:t>
            </a:r>
            <a:r>
              <a:rPr b="0" i="0" lang="en-US" sz="2800" u="none" cap="none" strike="noStrike">
                <a:solidFill>
                  <a:srgbClr val="23282D"/>
                </a:solidFill>
                <a:latin typeface="Arial"/>
                <a:ea typeface="Arial"/>
                <a:cs typeface="Arial"/>
                <a:sym typeface="Arial"/>
              </a:rPr>
              <a:t> is a three-dimensional figure that has a polygonal base and triangular sides that meet at a common point.</a:t>
            </a:r>
            <a:r>
              <a:rPr b="1" i="0" lang="en-US" sz="2800" u="none" cap="none" strike="noStrike">
                <a:solidFill>
                  <a:srgbClr val="23282D"/>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How can Yuzuki make paper pyramids that look like the three-dimensional figures? Explain.</a:t>
            </a:r>
            <a:endParaRPr b="0" i="0" sz="1400" u="none" cap="none" strike="noStrike">
              <a:solidFill>
                <a:srgbClr val="000000"/>
              </a:solidFill>
              <a:latin typeface="Arial"/>
              <a:ea typeface="Arial"/>
              <a:cs typeface="Arial"/>
              <a:sym typeface="Arial"/>
            </a:endParaRPr>
          </a:p>
        </p:txBody>
      </p:sp>
      <p:pic>
        <p:nvPicPr>
          <p:cNvPr descr="A group of pyramids in a desert&#10;&#10;Description automatically generated" id="551" name="Google Shape;551;p49"/>
          <p:cNvPicPr preferRelativeResize="0"/>
          <p:nvPr/>
        </p:nvPicPr>
        <p:blipFill rotWithShape="1">
          <a:blip r:embed="rId3">
            <a:alphaModFix/>
          </a:blip>
          <a:srcRect b="0" l="0" r="0" t="0"/>
          <a:stretch/>
        </p:blipFill>
        <p:spPr>
          <a:xfrm>
            <a:off x="7826091" y="1817894"/>
            <a:ext cx="3862923" cy="2575282"/>
          </a:xfrm>
          <a:prstGeom prst="rect">
            <a:avLst/>
          </a:prstGeom>
          <a:noFill/>
          <a:ln>
            <a:noFill/>
          </a:ln>
        </p:spPr>
      </p:pic>
      <p:sp>
        <p:nvSpPr>
          <p:cNvPr id="552" name="Google Shape;552;p49"/>
          <p:cNvSpPr txBox="1"/>
          <p:nvPr/>
        </p:nvSpPr>
        <p:spPr>
          <a:xfrm>
            <a:off x="484565" y="4393176"/>
            <a:ext cx="7638503" cy="202537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Yuzuki can create a two-dimensional representation of the three-dimensional figure using paper.</a:t>
            </a:r>
            <a:endParaRPr b="0" i="0" sz="1400" u="none" cap="none" strike="noStrike">
              <a:solidFill>
                <a:srgbClr val="000000"/>
              </a:solidFill>
              <a:latin typeface="Arial"/>
              <a:ea typeface="Arial"/>
              <a:cs typeface="Arial"/>
              <a:sym typeface="Arial"/>
            </a:endParaRPr>
          </a:p>
        </p:txBody>
      </p:sp>
      <p:sp>
        <p:nvSpPr>
          <p:cNvPr id="553" name="Google Shape;553;p49"/>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A New Figure</a:t>
            </a:r>
            <a:endParaRPr b="0" i="0" sz="1400" u="none" cap="none" strike="noStrike">
              <a:solidFill>
                <a:srgbClr val="000000"/>
              </a:solidFill>
              <a:latin typeface="Arial"/>
              <a:ea typeface="Arial"/>
              <a:cs typeface="Arial"/>
              <a:sym typeface="Arial"/>
            </a:endParaRPr>
          </a:p>
        </p:txBody>
      </p:sp>
      <p:sp>
        <p:nvSpPr>
          <p:cNvPr id="55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62</a:t>
            </a:r>
          </a:p>
        </p:txBody>
      </p:sp>
      <p:sp>
        <p:nvSpPr>
          <p:cNvPr id="555" name="EWL-COVER-1"/>
          <p:cNvSpPr/>
          <p:nvPr/>
        </p:nvSpPr>
        <p:spPr>
          <a:xfrm>
            <a:off x="429701" y="4338312"/>
            <a:ext cx="7748231" cy="2108208"/>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5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cxnSp>
        <p:nvCxnSpPr>
          <p:cNvPr id="567" name="Google Shape;567;p5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68" name="Google Shape;568;p51"/>
          <p:cNvSpPr txBox="1"/>
          <p:nvPr/>
        </p:nvSpPr>
        <p:spPr>
          <a:xfrm>
            <a:off x="484565" y="936100"/>
            <a:ext cx="7025707" cy="22088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To make the pyramids out of paper, Yuzuki can create a </a:t>
            </a:r>
            <a:r>
              <a:rPr b="1" i="0" lang="en-US" sz="2800" u="none" cap="none" strike="noStrike">
                <a:solidFill>
                  <a:srgbClr val="23282D"/>
                </a:solidFill>
                <a:highlight>
                  <a:srgbClr val="FFFF00"/>
                </a:highlight>
                <a:latin typeface="Arial"/>
                <a:ea typeface="Arial"/>
                <a:cs typeface="Arial"/>
                <a:sym typeface="Arial"/>
              </a:rPr>
              <a:t>net</a:t>
            </a:r>
            <a:r>
              <a:rPr b="0" i="0" lang="en-US" sz="2800" u="none" cap="none" strike="noStrike">
                <a:solidFill>
                  <a:schemeClr val="dk1"/>
                </a:solidFill>
                <a:latin typeface="Arial"/>
                <a:ea typeface="Arial"/>
                <a:cs typeface="Arial"/>
                <a:sym typeface="Arial"/>
              </a:rPr>
              <a:t>,</a:t>
            </a:r>
            <a:r>
              <a:rPr b="0" i="0" lang="en-US" sz="2800" u="none" cap="none" strike="noStrike">
                <a:solidFill>
                  <a:srgbClr val="23282D"/>
                </a:solidFill>
                <a:latin typeface="Arial"/>
                <a:ea typeface="Arial"/>
                <a:cs typeface="Arial"/>
                <a:sym typeface="Arial"/>
              </a:rPr>
              <a:t> or two-dimensional representation of a three-dimensional figure.</a:t>
            </a:r>
            <a:endParaRPr b="0" i="0" sz="1400" u="none" cap="none" strike="noStrike">
              <a:solidFill>
                <a:srgbClr val="000000"/>
              </a:solidFill>
              <a:latin typeface="Arial"/>
              <a:ea typeface="Arial"/>
              <a:cs typeface="Arial"/>
              <a:sym typeface="Arial"/>
            </a:endParaRPr>
          </a:p>
        </p:txBody>
      </p:sp>
      <p:pic>
        <p:nvPicPr>
          <p:cNvPr descr="A group of pyramids in a desert&#10;&#10;Description automatically generated" id="569" name="Google Shape;569;p51"/>
          <p:cNvPicPr preferRelativeResize="0"/>
          <p:nvPr/>
        </p:nvPicPr>
        <p:blipFill rotWithShape="1">
          <a:blip r:embed="rId3">
            <a:alphaModFix/>
          </a:blip>
          <a:srcRect b="0" l="0" r="0" t="0"/>
          <a:stretch/>
        </p:blipFill>
        <p:spPr>
          <a:xfrm>
            <a:off x="7826091" y="1817894"/>
            <a:ext cx="3862923" cy="2575282"/>
          </a:xfrm>
          <a:prstGeom prst="rect">
            <a:avLst/>
          </a:prstGeom>
          <a:noFill/>
          <a:ln>
            <a:noFill/>
          </a:ln>
        </p:spPr>
      </p:pic>
      <p:sp>
        <p:nvSpPr>
          <p:cNvPr id="570" name="Google Shape;570;p51"/>
          <p:cNvSpPr txBox="1"/>
          <p:nvPr/>
        </p:nvSpPr>
        <p:spPr>
          <a:xfrm>
            <a:off x="484565" y="4223551"/>
            <a:ext cx="6857268" cy="2186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How should the attributes of the three-dimensional figure be reflected in the two-dimensional representation?</a:t>
            </a:r>
            <a:endParaRPr b="0" i="0" sz="1400" u="none" cap="none" strike="noStrike">
              <a:solidFill>
                <a:srgbClr val="000000"/>
              </a:solidFill>
              <a:latin typeface="Arial"/>
              <a:ea typeface="Arial"/>
              <a:cs typeface="Arial"/>
              <a:sym typeface="Arial"/>
            </a:endParaRPr>
          </a:p>
        </p:txBody>
      </p:sp>
      <p:sp>
        <p:nvSpPr>
          <p:cNvPr id="571" name="Google Shape;571;p51"/>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A New Figure</a:t>
            </a:r>
            <a:endParaRPr b="0" i="0" sz="1400" u="none" cap="none" strike="noStrike">
              <a:solidFill>
                <a:srgbClr val="000000"/>
              </a:solidFill>
              <a:latin typeface="Arial"/>
              <a:ea typeface="Arial"/>
              <a:cs typeface="Arial"/>
              <a:sym typeface="Arial"/>
            </a:endParaRPr>
          </a:p>
        </p:txBody>
      </p:sp>
      <p:sp>
        <p:nvSpPr>
          <p:cNvPr id="57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62</a:t>
            </a:r>
          </a:p>
        </p:txBody>
      </p:sp>
      <p:sp xmlns:p="http://schemas.openxmlformats.org/presentationml/2006/main" xmlns:a="http://schemas.openxmlformats.org/drawingml/2006/main">
        <p:nvSpPr>
          <p:cNvPr id="573" name="TEACH-embedded-student-prompt" descr="Student thinking and response directions"/>
          <p:cNvSpPr txBox="1"/>
          <p:nvPr/>
        </p:nvSpPr>
        <p:spPr>
          <a:xfrm>
            <a:off x="594360" y="331012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cxnSp>
        <p:nvCxnSpPr>
          <p:cNvPr id="586" name="Google Shape;586;p5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87" name="Google Shape;587;p53"/>
          <p:cNvSpPr txBox="1"/>
          <p:nvPr/>
        </p:nvSpPr>
        <p:spPr>
          <a:xfrm>
            <a:off x="484565" y="936100"/>
            <a:ext cx="6537672" cy="248597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Yuzuki can create a net of a pyramid.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What defining attributes does the pyramid have? </a:t>
            </a:r>
            <a:endParaRPr b="0" i="0" sz="1400" u="none" cap="none" strike="noStrike">
              <a:solidFill>
                <a:srgbClr val="000000"/>
              </a:solidFill>
              <a:latin typeface="Arial"/>
              <a:ea typeface="Arial"/>
              <a:cs typeface="Arial"/>
              <a:sym typeface="Arial"/>
            </a:endParaRPr>
          </a:p>
        </p:txBody>
      </p:sp>
      <p:sp>
        <p:nvSpPr>
          <p:cNvPr id="588" name="Google Shape;588;p53"/>
          <p:cNvSpPr txBox="1"/>
          <p:nvPr/>
        </p:nvSpPr>
        <p:spPr>
          <a:xfrm>
            <a:off x="484564" y="4112582"/>
            <a:ext cx="6839513" cy="234148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pyramid has 4 faces and a base. The figure has a vertex, opposite to the base, that is connected by the faces.</a:t>
            </a:r>
            <a:endParaRPr b="0" i="0" sz="1400" u="none" cap="none" strike="noStrike">
              <a:solidFill>
                <a:srgbClr val="000000"/>
              </a:solidFill>
              <a:latin typeface="Arial"/>
              <a:ea typeface="Arial"/>
              <a:cs typeface="Arial"/>
              <a:sym typeface="Arial"/>
            </a:endParaRPr>
          </a:p>
        </p:txBody>
      </p:sp>
      <p:sp>
        <p:nvSpPr>
          <p:cNvPr id="589" name="Google Shape;589;p53"/>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    Collaborate and Connect</a:t>
            </a:r>
            <a:endParaRPr b="0" i="0" sz="1400" u="none" cap="none" strike="noStrike">
              <a:solidFill>
                <a:srgbClr val="000000"/>
              </a:solidFill>
              <a:latin typeface="Arial"/>
              <a:ea typeface="Arial"/>
              <a:cs typeface="Arial"/>
              <a:sym typeface="Arial"/>
            </a:endParaRPr>
          </a:p>
        </p:txBody>
      </p:sp>
      <p:pic>
        <p:nvPicPr>
          <p:cNvPr id="590" name="Google Shape;590;p53"/>
          <p:cNvPicPr preferRelativeResize="0"/>
          <p:nvPr/>
        </p:nvPicPr>
        <p:blipFill rotWithShape="1">
          <a:blip r:embed="rId3">
            <a:alphaModFix/>
          </a:blip>
          <a:srcRect b="0" l="0" r="0" t="0"/>
          <a:stretch/>
        </p:blipFill>
        <p:spPr>
          <a:xfrm>
            <a:off x="543714" y="414982"/>
            <a:ext cx="353635" cy="340537"/>
          </a:xfrm>
          <a:prstGeom prst="rect">
            <a:avLst/>
          </a:prstGeom>
          <a:noFill/>
          <a:ln>
            <a:noFill/>
          </a:ln>
        </p:spPr>
      </p:pic>
      <p:pic>
        <p:nvPicPr>
          <p:cNvPr id="591" name="Google Shape;591;p53"/>
          <p:cNvPicPr preferRelativeResize="0"/>
          <p:nvPr/>
        </p:nvPicPr>
        <p:blipFill rotWithShape="1">
          <a:blip r:embed="rId4">
            <a:alphaModFix/>
          </a:blip>
          <a:srcRect b="0" l="0" r="0" t="0"/>
          <a:stretch/>
        </p:blipFill>
        <p:spPr>
          <a:xfrm>
            <a:off x="7191466" y="1653638"/>
            <a:ext cx="2952750" cy="2667000"/>
          </a:xfrm>
          <a:prstGeom prst="rect">
            <a:avLst/>
          </a:prstGeom>
          <a:noFill/>
          <a:ln>
            <a:noFill/>
          </a:ln>
        </p:spPr>
      </p:pic>
      <p:sp>
        <p:nvSpPr>
          <p:cNvPr id="59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62</a:t>
            </a:r>
          </a:p>
        </p:txBody>
      </p:sp>
      <p:sp>
        <p:nvSpPr>
          <p:cNvPr id="593" name="EWL-COVER-1"/>
          <p:cNvSpPr/>
          <p:nvPr/>
        </p:nvSpPr>
        <p:spPr>
          <a:xfrm>
            <a:off x="429700" y="4057718"/>
            <a:ext cx="6949241" cy="2388802"/>
          </a:xfrm>
          <a:prstGeom prst="rect">
            <a:avLst/>
          </a:prstGeom>
          <a:solidFill>
            <a:srgbClr val="FFFFFF"/>
          </a:solidFill>
          <a:ln>
            <a:noFill/>
          </a:ln>
        </p:spPr>
        <p:txBody>
          <a:bodyPr/>
          <a:lstStyle/>
          <a:p/>
        </p:txBody>
      </p:sp>
      <p:sp>
        <p:nvSpPr>
          <p:cNvPr id="594"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  TALK IT THROUGH • AGREE ON A MODEL</a:t>
            </a:r>
          </a:p>
        </p:txBody>
      </p:sp>
      <p:grpSp>
        <p:nvGrpSpPr>
          <p:cNvPr id="595" name="TEACH-5-student-move" descr="TEACH 5 · Facilitate student interactions and academic talk"/>
          <p:cNvGrpSpPr/>
          <p:nvPr/>
        </p:nvGrpSpPr>
        <p:grpSpPr>
          <a:xfrm>
            <a:off x="502920" y="3435926"/>
            <a:ext cx="5501640" cy="594360"/>
            <a:chOff x="502920" y="3435926"/>
            <a:chExt cx="5501640" cy="594360"/>
          </a:xfrm>
        </p:grpSpPr>
        <p:sp>
          <p:nvSpPr>
            <p:cNvPr id="596" name="TEACH-move-card"/>
            <p:cNvSpPr/>
            <p:nvPr/>
          </p:nvSpPr>
          <p:spPr>
            <a:xfrm>
              <a:off x="502920" y="343592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97" name="TEACH-move-rule"/>
            <p:cNvSpPr/>
            <p:nvPr/>
          </p:nvSpPr>
          <p:spPr>
            <a:xfrm>
              <a:off x="548640" y="3548854"/>
              <a:ext cx="100584" cy="368504"/>
            </a:xfrm>
            <a:prstGeom prst="roundRect">
              <a:avLst>
                <a:gd name="adj" fmla="val 50000"/>
              </a:avLst>
            </a:prstGeom>
            <a:solidFill>
              <a:srgbClr val="01708C"/>
            </a:solidFill>
            <a:ln>
              <a:noFill/>
            </a:ln>
          </p:spPr>
          <p:txBody>
            <a:bodyPr/>
            <a:lstStyle/>
            <a:p>
              <a:endParaRPr/>
            </a:p>
          </p:txBody>
        </p:sp>
        <p:sp>
          <p:nvSpPr>
            <p:cNvPr id="598" name="TEACH-move-text"/>
            <p:cNvSpPr txBox="1"/>
            <p:nvPr/>
          </p:nvSpPr>
          <p:spPr>
            <a:xfrm>
              <a:off x="822960" y="343592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TAKE TURNS  ·  </a:t>
              </a:r>
              <a:r>
                <a:rPr lang="en-US" sz="1200" dirty="0">
                  <a:solidFill>
                    <a:srgbClr val="13303A"/>
                  </a:solidFill>
                  <a:latin typeface="Arial"/>
                </a:rPr>
                <a:t>One explains, one asks a question. Then switch, so both of you talk.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9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cxnSp>
        <p:nvCxnSpPr>
          <p:cNvPr id="605" name="Google Shape;605;p5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06" name="Google Shape;606;p55"/>
          <p:cNvSpPr txBox="1"/>
          <p:nvPr/>
        </p:nvSpPr>
        <p:spPr>
          <a:xfrm>
            <a:off x="484565" y="936101"/>
            <a:ext cx="6366435" cy="309297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pyramid has 4 faces and a base. The figure has a vertex, opposite to the base, that is connected by the faces.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describe the faces and the base of the figure?</a:t>
            </a:r>
            <a:endParaRPr b="0" i="0" sz="1400" u="none" cap="none" strike="noStrike">
              <a:solidFill>
                <a:srgbClr val="000000"/>
              </a:solidFill>
              <a:latin typeface="Arial"/>
              <a:ea typeface="Arial"/>
              <a:cs typeface="Arial"/>
              <a:sym typeface="Arial"/>
            </a:endParaRPr>
          </a:p>
        </p:txBody>
      </p:sp>
      <p:sp>
        <p:nvSpPr>
          <p:cNvPr id="607" name="Google Shape;607;p55"/>
          <p:cNvSpPr txBox="1"/>
          <p:nvPr/>
        </p:nvSpPr>
        <p:spPr>
          <a:xfrm>
            <a:off x="484565" y="4751775"/>
            <a:ext cx="6706348"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figure has four triangular faces and a square base.</a:t>
            </a:r>
            <a:endParaRPr b="0" i="0" sz="1400" u="none" cap="none" strike="noStrike">
              <a:solidFill>
                <a:srgbClr val="000000"/>
              </a:solidFill>
              <a:latin typeface="Arial"/>
              <a:ea typeface="Arial"/>
              <a:cs typeface="Arial"/>
              <a:sym typeface="Arial"/>
            </a:endParaRPr>
          </a:p>
        </p:txBody>
      </p:sp>
      <p:pic>
        <p:nvPicPr>
          <p:cNvPr id="608" name="Google Shape;608;p55"/>
          <p:cNvPicPr preferRelativeResize="0"/>
          <p:nvPr/>
        </p:nvPicPr>
        <p:blipFill rotWithShape="1">
          <a:blip r:embed="rId3">
            <a:alphaModFix/>
          </a:blip>
          <a:srcRect b="0" l="0" r="0" t="0"/>
          <a:stretch/>
        </p:blipFill>
        <p:spPr>
          <a:xfrm>
            <a:off x="7191466" y="1653638"/>
            <a:ext cx="4439702" cy="4010053"/>
          </a:xfrm>
          <a:prstGeom prst="rect">
            <a:avLst/>
          </a:prstGeom>
          <a:noFill/>
          <a:ln>
            <a:noFill/>
          </a:ln>
        </p:spPr>
      </p:pic>
      <p:sp>
        <p:nvSpPr>
          <p:cNvPr id="609" name="Google Shape;609;p55"/>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A New Figure</a:t>
            </a:r>
            <a:endParaRPr b="0" i="0" sz="1400" u="none" cap="none" strike="noStrike">
              <a:solidFill>
                <a:srgbClr val="000000"/>
              </a:solidFill>
              <a:latin typeface="Arial"/>
              <a:ea typeface="Arial"/>
              <a:cs typeface="Arial"/>
              <a:sym typeface="Arial"/>
            </a:endParaRPr>
          </a:p>
        </p:txBody>
      </p:sp>
      <p:sp>
        <p:nvSpPr>
          <p:cNvPr id="61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62</a:t>
            </a:r>
          </a:p>
        </p:txBody>
      </p:sp>
      <p:sp>
        <p:nvSpPr>
          <p:cNvPr id="611" name="EWL-COVER-1"/>
          <p:cNvSpPr/>
          <p:nvPr/>
        </p:nvSpPr>
        <p:spPr>
          <a:xfrm>
            <a:off x="429701" y="4696911"/>
            <a:ext cx="6816076" cy="1659768"/>
          </a:xfrm>
          <a:prstGeom prst="rect">
            <a:avLst/>
          </a:prstGeom>
          <a:solidFill>
            <a:srgbClr val="FFFFFF"/>
          </a:solidFill>
          <a:ln>
            <a:noFill/>
          </a:ln>
        </p:spPr>
        <p:txBody>
          <a:bodyPr/>
          <a:lstStyle/>
          <a:p/>
        </p:txBody>
      </p:sp>
      <p:grpSp>
        <p:nvGrpSpPr>
          <p:cNvPr id="612" name="TEACH-6-student-move" descr="TEACH 6 · Organize and implement routines to support a learning-focused classroom"/>
          <p:cNvGrpSpPr/>
          <p:nvPr/>
        </p:nvGrpSpPr>
        <p:grpSpPr>
          <a:xfrm>
            <a:off x="502920" y="4312863"/>
            <a:ext cx="5501640" cy="402336"/>
            <a:chOff x="502920" y="4312863"/>
            <a:chExt cx="5501640" cy="402336"/>
          </a:xfrm>
        </p:grpSpPr>
        <p:sp>
          <p:nvSpPr>
            <p:cNvPr id="613" name="TEACH-move-card"/>
            <p:cNvSpPr/>
            <p:nvPr/>
          </p:nvSpPr>
          <p:spPr>
            <a:xfrm>
              <a:off x="502920" y="4312863"/>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614" name="TEACH-move-rule"/>
            <p:cNvSpPr/>
            <p:nvPr/>
          </p:nvSpPr>
          <p:spPr>
            <a:xfrm>
              <a:off x="548640" y="4389307"/>
              <a:ext cx="100584" cy="249448"/>
            </a:xfrm>
            <a:prstGeom prst="roundRect">
              <a:avLst>
                <a:gd name="adj" fmla="val 50000"/>
              </a:avLst>
            </a:prstGeom>
            <a:solidFill>
              <a:srgbClr val="01708C"/>
            </a:solidFill>
            <a:ln>
              <a:noFill/>
            </a:ln>
          </p:spPr>
          <p:txBody>
            <a:bodyPr/>
            <a:lstStyle/>
            <a:p>
              <a:endParaRPr/>
            </a:p>
          </p:txBody>
        </p:sp>
        <p:sp>
          <p:nvSpPr>
            <p:cNvPr id="615" name="TEACH-move-text"/>
            <p:cNvSpPr txBox="1"/>
            <p:nvPr/>
          </p:nvSpPr>
          <p:spPr>
            <a:xfrm>
              <a:off x="822960" y="4312863"/>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cxnSp>
        <p:nvCxnSpPr>
          <p:cNvPr id="623" name="Google Shape;623;p5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24" name="Google Shape;624;p57"/>
          <p:cNvSpPr txBox="1"/>
          <p:nvPr/>
        </p:nvSpPr>
        <p:spPr>
          <a:xfrm>
            <a:off x="434695" y="3215938"/>
            <a:ext cx="6322080" cy="32114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To make the net, the defining attributes tell us the shape and number of faces and the shape and number of bases of the figure. We can use this information to create a net that reflects these attributes.</a:t>
            </a:r>
            <a:endParaRPr b="0" i="0" sz="1400" u="none" cap="none" strike="noStrike">
              <a:solidFill>
                <a:srgbClr val="000000"/>
              </a:solidFill>
              <a:latin typeface="Arial"/>
              <a:ea typeface="Arial"/>
              <a:cs typeface="Arial"/>
              <a:sym typeface="Arial"/>
            </a:endParaRPr>
          </a:p>
        </p:txBody>
      </p:sp>
      <p:pic>
        <p:nvPicPr>
          <p:cNvPr id="625" name="Google Shape;625;p57"/>
          <p:cNvPicPr preferRelativeResize="0"/>
          <p:nvPr/>
        </p:nvPicPr>
        <p:blipFill rotWithShape="1">
          <a:blip r:embed="rId3">
            <a:alphaModFix/>
          </a:blip>
          <a:srcRect b="0" l="0" r="0" t="0"/>
          <a:stretch/>
        </p:blipFill>
        <p:spPr>
          <a:xfrm>
            <a:off x="7191466" y="1425038"/>
            <a:ext cx="4819650" cy="3124200"/>
          </a:xfrm>
          <a:prstGeom prst="rect">
            <a:avLst/>
          </a:prstGeom>
          <a:noFill/>
          <a:ln>
            <a:noFill/>
          </a:ln>
        </p:spPr>
      </p:pic>
      <p:sp>
        <p:nvSpPr>
          <p:cNvPr id="626" name="Google Shape;626;p57"/>
          <p:cNvSpPr txBox="1"/>
          <p:nvPr/>
        </p:nvSpPr>
        <p:spPr>
          <a:xfrm>
            <a:off x="486000" y="936000"/>
            <a:ext cx="6705466" cy="17405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How can you use the defining attributes to draw a net for the pyramid? Explain</a:t>
            </a:r>
            <a:r>
              <a:rPr b="1" i="0" lang="en-US" sz="2800" u="none" cap="none" strike="noStrike">
                <a:solidFill>
                  <a:srgbClr val="23282D"/>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27" name="Google Shape;627;p57"/>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A New Figure</a:t>
            </a:r>
            <a:endParaRPr b="0" i="0" sz="1400" u="none" cap="none" strike="noStrike">
              <a:solidFill>
                <a:srgbClr val="000000"/>
              </a:solidFill>
              <a:latin typeface="Arial"/>
              <a:ea typeface="Arial"/>
              <a:cs typeface="Arial"/>
              <a:sym typeface="Arial"/>
            </a:endParaRPr>
          </a:p>
        </p:txBody>
      </p:sp>
      <p:sp>
        <p:nvSpPr>
          <p:cNvPr id="6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62</a:t>
            </a:r>
          </a:p>
        </p:txBody>
      </p:sp>
      <p:sp>
        <p:nvSpPr>
          <p:cNvPr id="629" name="EWL-COVER-1"/>
          <p:cNvSpPr/>
          <p:nvPr/>
        </p:nvSpPr>
        <p:spPr>
          <a:xfrm>
            <a:off x="379831" y="3161074"/>
            <a:ext cx="6431808" cy="3285446"/>
          </a:xfrm>
          <a:prstGeom prst="rect">
            <a:avLst/>
          </a:prstGeom>
          <a:solidFill>
            <a:srgbClr val="FFFFFF"/>
          </a:solidFill>
          <a:ln>
            <a:noFill/>
          </a:ln>
        </p:spPr>
        <p:txBody>
          <a:bodyPr/>
          <a:lstStyle/>
          <a:p/>
        </p:txBody>
      </p:sp>
      <p:sp xmlns:p="http://schemas.openxmlformats.org/presentationml/2006/main" xmlns:a="http://schemas.openxmlformats.org/drawingml/2006/main">
        <p:nvSpPr>
          <p:cNvPr id="630" name="TEACH-embedded-student-prompt" descr="Student thinking and response directions"/>
          <p:cNvSpPr txBox="1"/>
          <p:nvPr/>
        </p:nvSpPr>
        <p:spPr>
          <a:xfrm>
            <a:off x="7391400" y="5102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a:t>
            </a:r>
            <a:endParaRPr lang="en-US" sz="2000"/>
          </a:p>
          <a:p>
            <a:pPr>
              <a:lnSpc>
                <a:spcPts val="2400"/>
              </a:lnSpc>
              <a:buNone/>
            </a:pPr>
            <a:r>
              <a:rPr lang="en-US" sz="2000">
                <a:solidFill>
                  <a:srgbClr val="174D60"/>
                </a:solidFill>
                <a:latin typeface="Arial"/>
              </a:rPr>
              <a:t>reveal. Compare, then explain</a:t>
            </a:r>
            <a:endParaRPr lang="en-US" sz="2000"/>
          </a:p>
          <a:p>
            <a:pPr>
              <a:lnSpc>
                <a:spcPts val="2400"/>
              </a:lnSpc>
              <a:buNone/>
            </a:pPr>
            <a:r>
              <a:rPr lang="en-US" sz="2000">
                <a:solidFill>
                  <a:srgbClr val="174D60"/>
                </a:solidFill>
                <a:latin typeface="Arial"/>
              </a:rPr>
              <a:t>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cxnSp>
        <p:nvCxnSpPr>
          <p:cNvPr id="642" name="Google Shape;642;p5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43" name="Google Shape;643;p59"/>
          <p:cNvSpPr txBox="1"/>
          <p:nvPr/>
        </p:nvSpPr>
        <p:spPr>
          <a:xfrm>
            <a:off x="484565" y="936000"/>
            <a:ext cx="5444748" cy="29490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Let’s draw the net of the square pyramid by using its defining attributes.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base is a square.</a:t>
            </a:r>
            <a:endParaRPr b="1" i="0" sz="2800" u="none" cap="none" strike="noStrike">
              <a:solidFill>
                <a:srgbClr val="262626"/>
              </a:solidFill>
              <a:latin typeface="Arial"/>
              <a:ea typeface="Arial"/>
              <a:cs typeface="Arial"/>
              <a:sym typeface="Arial"/>
            </a:endParaRPr>
          </a:p>
        </p:txBody>
      </p:sp>
      <p:pic>
        <p:nvPicPr>
          <p:cNvPr id="644" name="Google Shape;644;p59"/>
          <p:cNvPicPr preferRelativeResize="0"/>
          <p:nvPr/>
        </p:nvPicPr>
        <p:blipFill rotWithShape="1">
          <a:blip r:embed="rId3">
            <a:alphaModFix/>
          </a:blip>
          <a:srcRect b="0" l="0" r="0" t="0"/>
          <a:stretch/>
        </p:blipFill>
        <p:spPr>
          <a:xfrm>
            <a:off x="5882896" y="1795462"/>
            <a:ext cx="3276600" cy="3267075"/>
          </a:xfrm>
          <a:prstGeom prst="rect">
            <a:avLst/>
          </a:prstGeom>
          <a:noFill/>
          <a:ln>
            <a:noFill/>
          </a:ln>
        </p:spPr>
      </p:pic>
      <p:sp>
        <p:nvSpPr>
          <p:cNvPr id="645" name="Google Shape;645;p59"/>
          <p:cNvSpPr txBox="1"/>
          <p:nvPr/>
        </p:nvSpPr>
        <p:spPr>
          <a:xfrm>
            <a:off x="484565" y="4524259"/>
            <a:ext cx="5827458" cy="18942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Do you know the number of grid squares that should be used for the base?</a:t>
            </a:r>
            <a:endParaRPr b="0" i="0" sz="1400" u="none" cap="none" strike="noStrike">
              <a:solidFill>
                <a:srgbClr val="000000"/>
              </a:solidFill>
              <a:latin typeface="Arial"/>
              <a:ea typeface="Arial"/>
              <a:cs typeface="Arial"/>
              <a:sym typeface="Arial"/>
            </a:endParaRPr>
          </a:p>
        </p:txBody>
      </p:sp>
      <p:pic>
        <p:nvPicPr>
          <p:cNvPr id="646" name="Google Shape;646;p59"/>
          <p:cNvPicPr preferRelativeResize="0"/>
          <p:nvPr/>
        </p:nvPicPr>
        <p:blipFill rotWithShape="1">
          <a:blip r:embed="rId4">
            <a:alphaModFix/>
          </a:blip>
          <a:srcRect b="0" l="0" r="0" t="0"/>
          <a:stretch/>
        </p:blipFill>
        <p:spPr>
          <a:xfrm>
            <a:off x="9527458" y="2382880"/>
            <a:ext cx="2190750" cy="2000250"/>
          </a:xfrm>
          <a:prstGeom prst="rect">
            <a:avLst/>
          </a:prstGeom>
          <a:noFill/>
          <a:ln>
            <a:noFill/>
          </a:ln>
        </p:spPr>
      </p:pic>
      <p:sp>
        <p:nvSpPr>
          <p:cNvPr id="647" name="Google Shape;647;p59"/>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A New Figure</a:t>
            </a:r>
            <a:endParaRPr b="0" i="0" sz="1400" u="none" cap="none" strike="noStrike">
              <a:solidFill>
                <a:srgbClr val="000000"/>
              </a:solidFill>
              <a:latin typeface="Arial"/>
              <a:ea typeface="Arial"/>
              <a:cs typeface="Arial"/>
              <a:sym typeface="Arial"/>
            </a:endParaRPr>
          </a:p>
        </p:txBody>
      </p:sp>
      <p:sp>
        <p:nvSpPr>
          <p:cNvPr id="64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62</a:t>
            </a:r>
          </a:p>
        </p:txBody>
      </p:sp>
      <p:grpSp>
        <p:nvGrpSpPr>
          <p:cNvPr id="649" name="TEACH-4-student-move" descr="TEACH 4 · Monitor progress and provide feedback"/>
          <p:cNvGrpSpPr/>
          <p:nvPr/>
        </p:nvGrpSpPr>
        <p:grpSpPr>
          <a:xfrm>
            <a:off x="6187440" y="1118806"/>
            <a:ext cx="5501640" cy="594360"/>
            <a:chOff x="6187440" y="1118806"/>
            <a:chExt cx="5501640" cy="594360"/>
          </a:xfrm>
        </p:grpSpPr>
        <p:sp>
          <p:nvSpPr>
            <p:cNvPr id="650" name="TEACH-move-card"/>
            <p:cNvSpPr/>
            <p:nvPr/>
          </p:nvSpPr>
          <p:spPr>
            <a:xfrm>
              <a:off x="6187440" y="111880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651" name="TEACH-move-rule"/>
            <p:cNvSpPr/>
            <p:nvPr/>
          </p:nvSpPr>
          <p:spPr>
            <a:xfrm>
              <a:off x="6233160" y="1231734"/>
              <a:ext cx="100584" cy="368504"/>
            </a:xfrm>
            <a:prstGeom prst="roundRect">
              <a:avLst>
                <a:gd name="adj" fmla="val 50000"/>
              </a:avLst>
            </a:prstGeom>
            <a:solidFill>
              <a:srgbClr val="01708C"/>
            </a:solidFill>
            <a:ln>
              <a:noFill/>
            </a:ln>
          </p:spPr>
          <p:txBody>
            <a:bodyPr/>
            <a:lstStyle/>
            <a:p>
              <a:endParaRPr/>
            </a:p>
          </p:txBody>
        </p:sp>
        <p:sp>
          <p:nvSpPr>
            <p:cNvPr id="652" name="TEACH-move-text"/>
            <p:cNvSpPr txBox="1"/>
            <p:nvPr/>
          </p:nvSpPr>
          <p:spPr>
            <a:xfrm>
              <a:off x="6507480" y="111880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cxnSp>
        <p:nvCxnSpPr>
          <p:cNvPr id="662" name="Google Shape;662;p6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3" name="Google Shape;663;p61"/>
          <p:cNvSpPr txBox="1"/>
          <p:nvPr/>
        </p:nvSpPr>
        <p:spPr>
          <a:xfrm>
            <a:off x="484565" y="4396669"/>
            <a:ext cx="5030370" cy="198637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base of each triangular face connects to one side of the square base.</a:t>
            </a:r>
            <a:endParaRPr b="0" i="0" sz="1400" u="none" cap="none" strike="noStrike">
              <a:solidFill>
                <a:srgbClr val="000000"/>
              </a:solidFill>
              <a:latin typeface="Arial"/>
              <a:ea typeface="Arial"/>
              <a:cs typeface="Arial"/>
              <a:sym typeface="Arial"/>
            </a:endParaRPr>
          </a:p>
        </p:txBody>
      </p:sp>
      <p:pic>
        <p:nvPicPr>
          <p:cNvPr id="664" name="Google Shape;664;p61"/>
          <p:cNvPicPr preferRelativeResize="0"/>
          <p:nvPr/>
        </p:nvPicPr>
        <p:blipFill rotWithShape="1">
          <a:blip r:embed="rId3">
            <a:alphaModFix/>
          </a:blip>
          <a:srcRect b="0" l="0" r="0" t="0"/>
          <a:stretch/>
        </p:blipFill>
        <p:spPr>
          <a:xfrm>
            <a:off x="9527458" y="2382880"/>
            <a:ext cx="2190750" cy="2000250"/>
          </a:xfrm>
          <a:prstGeom prst="rect">
            <a:avLst/>
          </a:prstGeom>
          <a:noFill/>
          <a:ln>
            <a:noFill/>
          </a:ln>
        </p:spPr>
      </p:pic>
      <p:pic>
        <p:nvPicPr>
          <p:cNvPr id="665" name="Google Shape;665;p61"/>
          <p:cNvPicPr preferRelativeResize="0"/>
          <p:nvPr/>
        </p:nvPicPr>
        <p:blipFill rotWithShape="1">
          <a:blip r:embed="rId4">
            <a:alphaModFix/>
          </a:blip>
          <a:srcRect b="0" l="0" r="0" t="0"/>
          <a:stretch/>
        </p:blipFill>
        <p:spPr>
          <a:xfrm>
            <a:off x="5895886" y="1795463"/>
            <a:ext cx="3276600" cy="3276600"/>
          </a:xfrm>
          <a:prstGeom prst="rect">
            <a:avLst/>
          </a:prstGeom>
          <a:noFill/>
          <a:ln>
            <a:noFill/>
          </a:ln>
        </p:spPr>
      </p:pic>
      <p:sp>
        <p:nvSpPr>
          <p:cNvPr id="666" name="Google Shape;666;p61"/>
          <p:cNvSpPr txBox="1"/>
          <p:nvPr/>
        </p:nvSpPr>
        <p:spPr>
          <a:xfrm>
            <a:off x="484565" y="936000"/>
            <a:ext cx="5030369" cy="32645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Let’s draw the triangular faces of the pyramid.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Why are the triangular faces drawn this way?</a:t>
            </a:r>
            <a:endParaRPr b="0" i="0" sz="1400" u="none" cap="none" strike="noStrike">
              <a:solidFill>
                <a:srgbClr val="000000"/>
              </a:solidFill>
              <a:latin typeface="Arial"/>
              <a:ea typeface="Arial"/>
              <a:cs typeface="Arial"/>
              <a:sym typeface="Arial"/>
            </a:endParaRPr>
          </a:p>
        </p:txBody>
      </p:sp>
      <p:sp>
        <p:nvSpPr>
          <p:cNvPr id="667" name="Google Shape;667;p61"/>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A New Figure</a:t>
            </a:r>
            <a:endParaRPr b="0" i="0" sz="1400" u="none" cap="none" strike="noStrike">
              <a:solidFill>
                <a:srgbClr val="000000"/>
              </a:solidFill>
              <a:latin typeface="Arial"/>
              <a:ea typeface="Arial"/>
              <a:cs typeface="Arial"/>
              <a:sym typeface="Arial"/>
            </a:endParaRPr>
          </a:p>
        </p:txBody>
      </p:sp>
      <p:sp>
        <p:nvSpPr>
          <p:cNvPr id="66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62</a:t>
            </a:r>
          </a:p>
        </p:txBody>
      </p:sp>
      <p:sp>
        <p:nvSpPr>
          <p:cNvPr id="669" name="EWL-COVER-1"/>
          <p:cNvSpPr/>
          <p:nvPr/>
        </p:nvSpPr>
        <p:spPr>
          <a:xfrm>
            <a:off x="429701" y="4341805"/>
            <a:ext cx="5140098" cy="2096104"/>
          </a:xfrm>
          <a:prstGeom prst="rect">
            <a:avLst/>
          </a:prstGeom>
          <a:solidFill>
            <a:srgbClr val="FFFFFF"/>
          </a:solidFill>
          <a:ln>
            <a:noFill/>
          </a:ln>
        </p:spPr>
        <p:txBody>
          <a:bodyPr/>
          <a:lstStyle/>
          <a:p/>
        </p:txBody>
      </p:sp>
      <p:sp xmlns:p="http://schemas.openxmlformats.org/presentationml/2006/main" xmlns:a="http://schemas.openxmlformats.org/drawingml/2006/main">
        <p:nvSpPr>
          <p:cNvPr id="670" name="TEACH-embedded-student-prompt" descr="Student thinking and response directions"/>
          <p:cNvSpPr txBox="1"/>
          <p:nvPr/>
        </p:nvSpPr>
        <p:spPr>
          <a:xfrm>
            <a:off x="6111240" y="5413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6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cxnSp>
        <p:nvCxnSpPr>
          <p:cNvPr id="681" name="Google Shape;681;p6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82" name="Google Shape;682;p63"/>
          <p:cNvSpPr txBox="1"/>
          <p:nvPr/>
        </p:nvSpPr>
        <p:spPr>
          <a:xfrm>
            <a:off x="484565" y="4671875"/>
            <a:ext cx="6990433" cy="165790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They are all the same size because their bases are sides of the square base.</a:t>
            </a:r>
            <a:endParaRPr b="0" i="0" sz="1400" u="none" cap="none" strike="noStrike">
              <a:solidFill>
                <a:srgbClr val="000000"/>
              </a:solidFill>
              <a:latin typeface="Arial"/>
              <a:ea typeface="Arial"/>
              <a:cs typeface="Arial"/>
              <a:sym typeface="Arial"/>
            </a:endParaRPr>
          </a:p>
        </p:txBody>
      </p:sp>
      <p:pic>
        <p:nvPicPr>
          <p:cNvPr id="683" name="Google Shape;683;p63"/>
          <p:cNvPicPr preferRelativeResize="0"/>
          <p:nvPr/>
        </p:nvPicPr>
        <p:blipFill rotWithShape="1">
          <a:blip r:embed="rId3">
            <a:alphaModFix/>
          </a:blip>
          <a:srcRect b="0" l="0" r="0" t="0"/>
          <a:stretch/>
        </p:blipFill>
        <p:spPr>
          <a:xfrm>
            <a:off x="6424433" y="1327619"/>
            <a:ext cx="4857750" cy="4743450"/>
          </a:xfrm>
          <a:prstGeom prst="rect">
            <a:avLst/>
          </a:prstGeom>
          <a:noFill/>
          <a:ln>
            <a:noFill/>
          </a:ln>
        </p:spPr>
      </p:pic>
      <p:sp>
        <p:nvSpPr>
          <p:cNvPr id="684" name="Google Shape;684;p63"/>
          <p:cNvSpPr txBox="1"/>
          <p:nvPr/>
        </p:nvSpPr>
        <p:spPr>
          <a:xfrm>
            <a:off x="484566" y="935999"/>
            <a:ext cx="5267306" cy="18167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do we know about the triangular faces on a square pyramid?</a:t>
            </a:r>
            <a:endParaRPr b="0" i="0" sz="1400" u="none" cap="none" strike="noStrike">
              <a:solidFill>
                <a:srgbClr val="000000"/>
              </a:solidFill>
              <a:latin typeface="Arial"/>
              <a:ea typeface="Arial"/>
              <a:cs typeface="Arial"/>
              <a:sym typeface="Arial"/>
            </a:endParaRPr>
          </a:p>
        </p:txBody>
      </p:sp>
      <p:sp>
        <p:nvSpPr>
          <p:cNvPr id="685" name="Google Shape;685;p63"/>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A New Figure</a:t>
            </a:r>
            <a:endParaRPr b="0" i="0" sz="1400" u="none" cap="none" strike="noStrike">
              <a:solidFill>
                <a:srgbClr val="000000"/>
              </a:solidFill>
              <a:latin typeface="Arial"/>
              <a:ea typeface="Arial"/>
              <a:cs typeface="Arial"/>
              <a:sym typeface="Arial"/>
            </a:endParaRPr>
          </a:p>
        </p:txBody>
      </p:sp>
      <p:sp>
        <p:nvSpPr>
          <p:cNvPr id="68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62</a:t>
            </a:r>
          </a:p>
        </p:txBody>
      </p:sp>
      <p:sp>
        <p:nvSpPr>
          <p:cNvPr id="687" name="EWL-COVER-1"/>
          <p:cNvSpPr/>
          <p:nvPr/>
        </p:nvSpPr>
        <p:spPr>
          <a:xfrm>
            <a:off x="429701" y="4617011"/>
            <a:ext cx="7100161" cy="1767632"/>
          </a:xfrm>
          <a:prstGeom prst="rect">
            <a:avLst/>
          </a:prstGeom>
          <a:solidFill>
            <a:srgbClr val="FFFFFF"/>
          </a:solidFill>
          <a:ln>
            <a:noFill/>
          </a:ln>
        </p:spPr>
        <p:txBody>
          <a:bodyPr/>
          <a:lstStyle/>
          <a:p/>
        </p:txBody>
      </p:sp>
      <p:sp xmlns:p="http://schemas.openxmlformats.org/presentationml/2006/main" xmlns:a="http://schemas.openxmlformats.org/drawingml/2006/main">
        <p:nvSpPr>
          <p:cNvPr id="688" name="TEACH-embedded-student-prompt" descr="Student thinking and response directions"/>
          <p:cNvSpPr txBox="1"/>
          <p:nvPr/>
        </p:nvSpPr>
        <p:spPr>
          <a:xfrm>
            <a:off x="594360" y="36758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8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cxnSp>
        <p:nvCxnSpPr>
          <p:cNvPr id="690" name="Google Shape;690;p6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91" name="Google Shape;691;p64"/>
          <p:cNvSpPr txBox="1"/>
          <p:nvPr/>
        </p:nvSpPr>
        <p:spPr>
          <a:xfrm>
            <a:off x="484565" y="936001"/>
            <a:ext cx="6973510" cy="2759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Yuzuki is making a replica of the Pyramids of Giza for a social studies project. She will make the pyramids out of paper.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can help Yuzuki make her paper pyramids?</a:t>
            </a:r>
            <a:endParaRPr b="0" i="0" sz="1400" u="none" cap="none" strike="noStrike">
              <a:solidFill>
                <a:srgbClr val="000000"/>
              </a:solidFill>
              <a:latin typeface="Arial"/>
              <a:ea typeface="Arial"/>
              <a:cs typeface="Arial"/>
              <a:sym typeface="Arial"/>
            </a:endParaRPr>
          </a:p>
        </p:txBody>
      </p:sp>
      <p:sp>
        <p:nvSpPr>
          <p:cNvPr id="692" name="Google Shape;692;p64"/>
          <p:cNvSpPr txBox="1"/>
          <p:nvPr/>
        </p:nvSpPr>
        <p:spPr>
          <a:xfrm>
            <a:off x="484565" y="3916122"/>
            <a:ext cx="6973510" cy="954107"/>
          </a:xfrm>
          <a:prstGeom prst="rect">
            <a:avLst/>
          </a:prstGeom>
          <a:solidFill>
            <a:schemeClr val="lt1"/>
          </a:solidFill>
          <a:ln cap="flat" cmpd="sng" w="12700">
            <a:solidFill>
              <a:srgbClr val="782DA0"/>
            </a:solidFill>
            <a:prstDash val="solid"/>
            <a:miter lim="8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Yuzuki can create a net of each pyramid to help her make paper pyramids.</a:t>
            </a:r>
            <a:endParaRPr b="0" i="0" sz="2800" u="none" cap="none" strike="noStrike">
              <a:solidFill>
                <a:schemeClr val="dk1"/>
              </a:solidFill>
              <a:latin typeface="Arial"/>
              <a:ea typeface="Arial"/>
              <a:cs typeface="Arial"/>
              <a:sym typeface="Arial"/>
            </a:endParaRPr>
          </a:p>
        </p:txBody>
      </p:sp>
      <p:pic>
        <p:nvPicPr>
          <p:cNvPr descr="A group of pyramids in a desert&#10;&#10;Description automatically generated" id="693" name="Google Shape;693;p64"/>
          <p:cNvPicPr preferRelativeResize="0"/>
          <p:nvPr/>
        </p:nvPicPr>
        <p:blipFill rotWithShape="1">
          <a:blip r:embed="rId3">
            <a:alphaModFix/>
          </a:blip>
          <a:srcRect b="0" l="0" r="0" t="0"/>
          <a:stretch/>
        </p:blipFill>
        <p:spPr>
          <a:xfrm>
            <a:off x="7826091" y="1817894"/>
            <a:ext cx="3862923" cy="2575282"/>
          </a:xfrm>
          <a:prstGeom prst="rect">
            <a:avLst/>
          </a:prstGeom>
          <a:noFill/>
          <a:ln>
            <a:noFill/>
          </a:ln>
        </p:spPr>
      </p:pic>
      <p:sp>
        <p:nvSpPr>
          <p:cNvPr id="694" name="Google Shape;694;p64"/>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A New Figure</a:t>
            </a:r>
            <a:endParaRPr b="0" i="0" sz="1400" u="none" cap="none" strike="noStrike">
              <a:solidFill>
                <a:srgbClr val="000000"/>
              </a:solidFill>
              <a:latin typeface="Arial"/>
              <a:ea typeface="Arial"/>
              <a:cs typeface="Arial"/>
              <a:sym typeface="Arial"/>
            </a:endParaRPr>
          </a:p>
        </p:txBody>
      </p:sp>
      <p:sp>
        <p:nvSpPr>
          <p:cNvPr id="69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62</a:t>
            </a:r>
          </a:p>
        </p:txBody>
      </p:sp>
      <p:sp xmlns:p="http://schemas.openxmlformats.org/presentationml/2006/main" xmlns:a="http://schemas.openxmlformats.org/drawingml/2006/main">
        <p:nvSpPr>
          <p:cNvPr id="696"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65"/>
          <p:cNvSpPr txBox="1"/>
          <p:nvPr/>
        </p:nvSpPr>
        <p:spPr>
          <a:xfrm>
            <a:off x="484565" y="927528"/>
            <a:ext cx="5188266" cy="1324353"/>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pPr>
            <a:r>
              <a:rPr b="0" i="0" lang="en-US" sz="2800" u="none" cap="none" strike="noStrike">
                <a:solidFill>
                  <a:srgbClr val="23282D"/>
                </a:solidFill>
                <a:latin typeface="Arial"/>
                <a:ea typeface="Arial"/>
                <a:cs typeface="Arial"/>
                <a:sym typeface="Arial"/>
              </a:rPr>
              <a:t>Does a square pyramid—a pyramid with a square base—have more edges or vertices? Explain how you know.</a:t>
            </a:r>
            <a:endParaRPr b="0" i="0" sz="1400" u="none" cap="none" strike="noStrike">
              <a:solidFill>
                <a:srgbClr val="000000"/>
              </a:solidFill>
              <a:latin typeface="Arial"/>
              <a:ea typeface="Arial"/>
              <a:cs typeface="Arial"/>
              <a:sym typeface="Arial"/>
            </a:endParaRPr>
          </a:p>
        </p:txBody>
      </p:sp>
      <p:sp>
        <p:nvSpPr>
          <p:cNvPr id="700" name="Google Shape;700;p65"/>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701" name="Google Shape;701;p65"/>
          <p:cNvSpPr txBox="1"/>
          <p:nvPr/>
        </p:nvSpPr>
        <p:spPr>
          <a:xfrm>
            <a:off x="484564" y="3537249"/>
            <a:ext cx="5056350" cy="2455178"/>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pPr>
            <a:r>
              <a:rPr b="0" i="0" lang="en-US" sz="2800" u="none" cap="none" strike="noStrike">
                <a:solidFill>
                  <a:srgbClr val="23282D"/>
                </a:solidFill>
                <a:latin typeface="Arial"/>
                <a:ea typeface="Arial"/>
                <a:cs typeface="Arial"/>
                <a:sym typeface="Arial"/>
              </a:rPr>
              <a:t>How does the net of a pyramid with a square base differ from the net of a pyramid with non-square rectangle base?</a:t>
            </a:r>
            <a:endParaRPr b="0" i="0" sz="1400" u="none" cap="none" strike="noStrike">
              <a:solidFill>
                <a:srgbClr val="000000"/>
              </a:solidFill>
              <a:latin typeface="Arial"/>
              <a:ea typeface="Arial"/>
              <a:cs typeface="Arial"/>
              <a:sym typeface="Arial"/>
            </a:endParaRPr>
          </a:p>
        </p:txBody>
      </p:sp>
      <p:pic>
        <p:nvPicPr>
          <p:cNvPr id="702" name="Google Shape;702;p65"/>
          <p:cNvPicPr preferRelativeResize="0"/>
          <p:nvPr/>
        </p:nvPicPr>
        <p:blipFill rotWithShape="1">
          <a:blip r:embed="rId3">
            <a:alphaModFix/>
          </a:blip>
          <a:srcRect b="0" l="0" r="0" t="0"/>
          <a:stretch/>
        </p:blipFill>
        <p:spPr>
          <a:xfrm>
            <a:off x="9608812" y="2400635"/>
            <a:ext cx="2190750" cy="2000250"/>
          </a:xfrm>
          <a:prstGeom prst="rect">
            <a:avLst/>
          </a:prstGeom>
          <a:noFill/>
          <a:ln>
            <a:noFill/>
          </a:ln>
        </p:spPr>
      </p:pic>
      <p:pic>
        <p:nvPicPr>
          <p:cNvPr id="703" name="Google Shape;703;p65"/>
          <p:cNvPicPr preferRelativeResize="0"/>
          <p:nvPr/>
        </p:nvPicPr>
        <p:blipFill rotWithShape="1">
          <a:blip r:embed="rId4">
            <a:alphaModFix/>
          </a:blip>
          <a:srcRect b="0" l="0" r="0" t="0"/>
          <a:stretch/>
        </p:blipFill>
        <p:spPr>
          <a:xfrm>
            <a:off x="5977240" y="1813218"/>
            <a:ext cx="3276600" cy="3276600"/>
          </a:xfrm>
          <a:prstGeom prst="rect">
            <a:avLst/>
          </a:prstGeom>
          <a:noFill/>
          <a:ln>
            <a:noFill/>
          </a:ln>
        </p:spPr>
      </p:pic>
      <p:sp>
        <p:nvSpPr>
          <p:cNvPr id="70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62</a:t>
            </a:r>
          </a:p>
        </p:txBody>
      </p:sp>
      <p:sp xmlns:p="http://schemas.openxmlformats.org/presentationml/2006/main" xmlns:a="http://schemas.openxmlformats.org/drawingml/2006/main">
        <p:nvSpPr>
          <p:cNvPr id="705" name="TEACH-embedded-student-prompt" descr="Student thinking and response directions"/>
          <p:cNvSpPr txBox="1"/>
          <p:nvPr/>
        </p:nvSpPr>
        <p:spPr>
          <a:xfrm>
            <a:off x="6111240" y="5413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 work with a</a:t>
            </a:r>
            <a:endParaRPr lang="en-US" sz="2000"/>
          </a:p>
          <a:p>
            <a:pPr>
              <a:lnSpc>
                <a:spcPts val="2400"/>
              </a:lnSpc>
              <a:buNone/>
            </a:pPr>
            <a:r>
              <a:rPr lang="en-US" sz="2000">
                <a:solidFill>
                  <a:srgbClr val="174D60"/>
                </a:solidFill>
                <a:latin typeface="Arial"/>
              </a:rPr>
              <a:t>partner; explain one choice and revise.</a:t>
            </a:r>
            <a:endParaRPr lang="en-US" sz="200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5.6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Where will each face go when this net folds, and which edges must meet?</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86" name="Google Shape;586;p5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87" name="Google Shape;587;p53"/>
          <p:cNvSpPr txBox="1"/>
          <p:nvPr/>
        </p:nvSpPr>
        <p:spPr>
          <a:xfrm>
            <a:off x="484565" y="936100"/>
            <a:ext cx="6537672" cy="248597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Yuzuki can create a net of a pyramid.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What defining attributes does the pyramid have? </a:t>
            </a:r>
            <a:endParaRPr b="0" i="0" sz="1400" u="none" cap="none" strike="noStrike">
              <a:solidFill>
                <a:srgbClr val="000000"/>
              </a:solidFill>
              <a:latin typeface="Arial"/>
              <a:ea typeface="Arial"/>
              <a:cs typeface="Arial"/>
              <a:sym typeface="Arial"/>
            </a:endParaRPr>
          </a:p>
        </p:txBody>
      </p:sp>
      <p:sp>
        <p:nvSpPr>
          <p:cNvPr id="588" name="Google Shape;588;p53"/>
          <p:cNvSpPr txBox="1"/>
          <p:nvPr/>
        </p:nvSpPr>
        <p:spPr>
          <a:xfrm>
            <a:off x="484564" y="4112582"/>
            <a:ext cx="6839513" cy="234148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pyramid has 4 faces and a base. The figure has a vertex, opposite to the base, that is connected by the faces.</a:t>
            </a:r>
            <a:endParaRPr b="0" i="0" sz="1400" u="none" cap="none" strike="noStrike">
              <a:solidFill>
                <a:srgbClr val="000000"/>
              </a:solidFill>
              <a:latin typeface="Arial"/>
              <a:ea typeface="Arial"/>
              <a:cs typeface="Arial"/>
              <a:sym typeface="Arial"/>
            </a:endParaRPr>
          </a:p>
        </p:txBody>
      </p:sp>
      <p:sp>
        <p:nvSpPr>
          <p:cNvPr id="589" name="Google Shape;589;p53"/>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    Collaborate and Connect</a:t>
            </a:r>
            <a:endParaRPr b="0" i="0" sz="1400" u="none" cap="none" strike="noStrike">
              <a:solidFill>
                <a:srgbClr val="000000"/>
              </a:solidFill>
              <a:latin typeface="Arial"/>
              <a:ea typeface="Arial"/>
              <a:cs typeface="Arial"/>
              <a:sym typeface="Arial"/>
            </a:endParaRPr>
          </a:p>
        </p:txBody>
      </p:sp>
      <p:pic>
        <p:nvPicPr>
          <p:cNvPr id="590" name="Google Shape;590;p53"/>
          <p:cNvPicPr preferRelativeResize="0"/>
          <p:nvPr/>
        </p:nvPicPr>
        <p:blipFill rotWithShape="1">
          <a:blip r:embed="rId2">
            <a:alphaModFix/>
          </a:blip>
          <a:srcRect b="0" l="0" r="0" t="0"/>
          <a:stretch/>
        </p:blipFill>
        <p:spPr>
          <a:xfrm>
            <a:off x="543714" y="414982"/>
            <a:ext cx="353635" cy="340537"/>
          </a:xfrm>
          <a:prstGeom prst="rect">
            <a:avLst/>
          </a:prstGeom>
          <a:noFill/>
          <a:ln>
            <a:noFill/>
          </a:ln>
        </p:spPr>
      </p:pic>
      <p:pic>
        <p:nvPicPr>
          <p:cNvPr id="591" name="Google Shape;591;p53"/>
          <p:cNvPicPr preferRelativeResize="0"/>
          <p:nvPr/>
        </p:nvPicPr>
        <p:blipFill rotWithShape="1">
          <a:blip r:embed="rId3">
            <a:alphaModFix/>
          </a:blip>
          <a:srcRect b="0" l="0" r="0" t="0"/>
          <a:stretch/>
        </p:blipFill>
        <p:spPr>
          <a:xfrm>
            <a:off x="7191466" y="1653638"/>
            <a:ext cx="2952750" cy="2667000"/>
          </a:xfrm>
          <a:prstGeom prst="rect">
            <a:avLst/>
          </a:prstGeom>
          <a:noFill/>
          <a:ln>
            <a:noFill/>
          </a:ln>
        </p:spPr>
      </p:pic>
      <p:sp>
        <p:nvSpPr>
          <p:cNvPr id="2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62</a:t>
            </a:r>
          </a:p>
        </p:txBody>
      </p:sp>
      <p:grpSp>
        <p:nvGrpSpPr>
          <p:cNvPr id="592" name="TEACH-5-student-move" descr="TEACH 5 · Facilitate student interactions and academic talk"/>
          <p:cNvGrpSpPr/>
          <p:nvPr/>
        </p:nvGrpSpPr>
        <p:grpSpPr>
          <a:xfrm>
            <a:off x="502920" y="3435926"/>
            <a:ext cx="5501640" cy="594360"/>
            <a:chOff x="502920" y="3435926"/>
            <a:chExt cx="5501640" cy="594360"/>
          </a:xfrm>
        </p:grpSpPr>
        <p:sp>
          <p:nvSpPr>
            <p:cNvPr id="593" name="TEACH-move-card"/>
            <p:cNvSpPr/>
            <p:nvPr/>
          </p:nvSpPr>
          <p:spPr>
            <a:xfrm>
              <a:off x="502920" y="343592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94" name="TEACH-move-rule"/>
            <p:cNvSpPr/>
            <p:nvPr/>
          </p:nvSpPr>
          <p:spPr>
            <a:xfrm>
              <a:off x="548640" y="3548854"/>
              <a:ext cx="100584" cy="368504"/>
            </a:xfrm>
            <a:prstGeom prst="roundRect">
              <a:avLst>
                <a:gd name="adj" fmla="val 50000"/>
              </a:avLst>
            </a:prstGeom>
            <a:solidFill>
              <a:srgbClr val="01708C"/>
            </a:solidFill>
            <a:ln>
              <a:noFill/>
            </a:ln>
          </p:spPr>
          <p:txBody>
            <a:bodyPr/>
            <a:lstStyle/>
            <a:p>
              <a:endParaRPr/>
            </a:p>
          </p:txBody>
        </p:sp>
        <p:sp>
          <p:nvSpPr>
            <p:cNvPr id="595" name="TEACH-move-text"/>
            <p:cNvSpPr txBox="1"/>
            <p:nvPr/>
          </p:nvSpPr>
          <p:spPr>
            <a:xfrm>
              <a:off x="822960" y="343592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RESTATE FIRST  ·  </a:t>
              </a:r>
              <a:r>
                <a:rPr lang="en-US" sz="1200" dirty="0">
                  <a:solidFill>
                    <a:srgbClr val="13303A"/>
                  </a:solidFill>
                  <a:latin typeface="Arial"/>
                </a:rPr>
                <a:t>Restate your partner’s idea in your own words before you give yours.</a:t>
              </a:r>
              <a:endParaRPr lang="en-US" sz="1200"/>
            </a:p>
          </p:txBody>
        </p:sp>
      </p:gr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26" name="Google Shape;726;p6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27" name="Google Shape;727;p68"/>
          <p:cNvSpPr/>
          <p:nvPr/>
        </p:nvSpPr>
        <p:spPr>
          <a:xfrm>
            <a:off x="725290" y="5865161"/>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are you showing others that you find their ideas useful?</a:t>
            </a:r>
            <a:endParaRPr b="0" i="0" sz="1400" u="none" cap="none" strike="noStrike">
              <a:solidFill>
                <a:srgbClr val="000000"/>
              </a:solidFill>
              <a:latin typeface="Arial"/>
              <a:ea typeface="Arial"/>
              <a:cs typeface="Arial"/>
              <a:sym typeface="Arial"/>
            </a:endParaRPr>
          </a:p>
        </p:txBody>
      </p:sp>
      <p:sp>
        <p:nvSpPr>
          <p:cNvPr id="728" name="Google Shape;728;p68"/>
          <p:cNvSpPr txBox="1"/>
          <p:nvPr/>
        </p:nvSpPr>
        <p:spPr>
          <a:xfrm>
            <a:off x="484560" y="936100"/>
            <a:ext cx="4573215" cy="121135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How are they the same?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How are they different?</a:t>
            </a:r>
            <a:endParaRPr b="0" i="0" sz="1400" u="none" cap="none" strike="noStrike">
              <a:solidFill>
                <a:srgbClr val="000000"/>
              </a:solidFill>
              <a:latin typeface="Arial"/>
              <a:ea typeface="Arial"/>
              <a:cs typeface="Arial"/>
              <a:sym typeface="Arial"/>
            </a:endParaRPr>
          </a:p>
        </p:txBody>
      </p:sp>
      <p:sp>
        <p:nvSpPr>
          <p:cNvPr id="729" name="Google Shape;729;p68"/>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730" name="Google Shape;730;p68"/>
          <p:cNvPicPr preferRelativeResize="0"/>
          <p:nvPr/>
        </p:nvPicPr>
        <p:blipFill rotWithShape="1">
          <a:blip r:embed="rId2">
            <a:alphaModFix/>
          </a:blip>
          <a:srcRect b="0" l="0" r="0" t="0"/>
          <a:stretch/>
        </p:blipFill>
        <p:spPr>
          <a:xfrm>
            <a:off x="484560" y="5113541"/>
            <a:ext cx="5054600" cy="838200"/>
          </a:xfrm>
          <a:prstGeom prst="rect">
            <a:avLst/>
          </a:prstGeom>
          <a:noFill/>
          <a:ln>
            <a:noFill/>
          </a:ln>
        </p:spPr>
      </p:pic>
      <p:sp>
        <p:nvSpPr>
          <p:cNvPr id="731" name="Google Shape;731;p68"/>
          <p:cNvSpPr txBox="1"/>
          <p:nvPr/>
        </p:nvSpPr>
        <p:spPr>
          <a:xfrm>
            <a:off x="3344577" y="5270859"/>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pic>
        <p:nvPicPr>
          <p:cNvPr id="732" name="Google Shape;732;p68"/>
          <p:cNvPicPr preferRelativeResize="0"/>
          <p:nvPr/>
        </p:nvPicPr>
        <p:blipFill rotWithShape="1">
          <a:blip r:embed="rId3">
            <a:alphaModFix/>
          </a:blip>
          <a:srcRect b="0" l="0" r="0" t="0"/>
          <a:stretch/>
        </p:blipFill>
        <p:spPr>
          <a:xfrm>
            <a:off x="1072969" y="2298270"/>
            <a:ext cx="2771775" cy="2590800"/>
          </a:xfrm>
          <a:prstGeom prst="rect">
            <a:avLst/>
          </a:prstGeom>
          <a:noFill/>
          <a:ln>
            <a:noFill/>
          </a:ln>
        </p:spPr>
      </p:pic>
      <p:pic>
        <p:nvPicPr>
          <p:cNvPr id="733" name="Google Shape;733;p68"/>
          <p:cNvPicPr preferRelativeResize="0"/>
          <p:nvPr/>
        </p:nvPicPr>
        <p:blipFill rotWithShape="1">
          <a:blip r:embed="rId4">
            <a:alphaModFix/>
          </a:blip>
          <a:srcRect b="0" l="0" r="0" t="0"/>
          <a:stretch/>
        </p:blipFill>
        <p:spPr>
          <a:xfrm>
            <a:off x="4679457" y="1649287"/>
            <a:ext cx="3543300" cy="3248025"/>
          </a:xfrm>
          <a:prstGeom prst="rect">
            <a:avLst/>
          </a:prstGeom>
          <a:noFill/>
          <a:ln>
            <a:noFill/>
          </a:ln>
        </p:spPr>
      </p:pic>
      <p:sp>
        <p:nvSpPr>
          <p:cNvPr id="2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62</a:t>
            </a:r>
          </a:p>
        </p:txBody>
      </p:sp>
      <p:grpSp>
        <p:nvGrpSpPr>
          <p:cNvPr id="734" name="TEACH-3-student-move" descr="TEACH 3 · Use intentional questioning to deepen learning"/>
          <p:cNvGrpSpPr/>
          <p:nvPr/>
        </p:nvGrpSpPr>
        <p:grpSpPr>
          <a:xfrm>
            <a:off x="6187440" y="5188505"/>
            <a:ext cx="5501640" cy="594360"/>
            <a:chOff x="6187440" y="5188505"/>
            <a:chExt cx="5501640" cy="594360"/>
          </a:xfrm>
        </p:grpSpPr>
        <p:sp>
          <p:nvSpPr>
            <p:cNvPr id="735" name="TEACH-move-card"/>
            <p:cNvSpPr/>
            <p:nvPr/>
          </p:nvSpPr>
          <p:spPr>
            <a:xfrm>
              <a:off x="6187440" y="5188505"/>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736" name="TEACH-move-rule"/>
            <p:cNvSpPr/>
            <p:nvPr/>
          </p:nvSpPr>
          <p:spPr>
            <a:xfrm>
              <a:off x="6233160" y="5301433"/>
              <a:ext cx="100584" cy="368504"/>
            </a:xfrm>
            <a:prstGeom prst="roundRect">
              <a:avLst>
                <a:gd name="adj" fmla="val 50000"/>
              </a:avLst>
            </a:prstGeom>
            <a:solidFill>
              <a:srgbClr val="01708C"/>
            </a:solidFill>
            <a:ln>
              <a:noFill/>
            </a:ln>
          </p:spPr>
          <p:txBody>
            <a:bodyPr/>
            <a:lstStyle/>
            <a:p>
              <a:endParaRPr/>
            </a:p>
          </p:txBody>
        </p:sp>
        <p:sp>
          <p:nvSpPr>
            <p:cNvPr id="737" name="TEACH-move-text"/>
            <p:cNvSpPr txBox="1"/>
            <p:nvPr/>
          </p:nvSpPr>
          <p:spPr>
            <a:xfrm>
              <a:off x="6507480" y="5188505"/>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5-6 · Represent Three-Dimensional Figures in Two Dimensions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Try alone. Explain one. Then revise.</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What is a 2D pattern that folds into a 3D figure called?</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Perimeter</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net</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scale</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volume box</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How many faces does a rectangular prism have?</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4</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8</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12</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A triangular prism has:</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 triangular bases and 3 rectangular faces</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 triangle and 4 squares</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 triangles</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No flat faces</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The faces of a net represent the 3D shape’s:</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Volume</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Surface faces</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Internal diagonals</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Angles only</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62</a:t>
            </a: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 — Session 2</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5-6 · Represent Three-Dimensional Figures in Two Dimensions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Session 2: Review Notes</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Nets of Polyhedra</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 </a:t>
            </a:r>
            <a:r>
              <a:rPr b="1" i="0" lang="en-US" sz="1450" u="none" cap="none" strike="noStrike">
                <a:solidFill>
                  <a:srgbClr val="475569"/>
                </a:solidFill>
                <a:latin typeface="Arial"/>
                <a:ea typeface="Arial"/>
                <a:cs typeface="Arial"/>
                <a:sym typeface="Arial"/>
              </a:rPr>
              <a:t xml:space="preserve">net</a:t>
            </a:r>
            <a:r>
              <a:rPr b="0" i="0" lang="en-US" sz="1450" u="none" cap="none" strike="noStrike">
                <a:solidFill>
                  <a:srgbClr val="475569"/>
                </a:solidFill>
                <a:latin typeface="Arial"/>
                <a:ea typeface="Arial"/>
                <a:cs typeface="Arial"/>
                <a:sym typeface="Arial"/>
              </a:rPr>
              <a:t xml:space="preserve"> is a flattened, </a:t>
            </a:r>
            <a:r>
              <a:rPr b="1" i="0" lang="en-US" sz="1450" u="none" cap="none" strike="noStrike">
                <a:solidFill>
                  <a:srgbClr val="475569"/>
                </a:solidFill>
                <a:latin typeface="Arial"/>
                <a:ea typeface="Arial"/>
                <a:cs typeface="Arial"/>
                <a:sym typeface="Arial"/>
              </a:rPr>
              <a:t xml:space="preserve">two-dimensional</a:t>
            </a:r>
            <a:r>
              <a:rPr b="0" i="0" lang="en-US" sz="1450" u="none" cap="none" strike="noStrike">
                <a:solidFill>
                  <a:srgbClr val="475569"/>
                </a:solidFill>
                <a:latin typeface="Arial"/>
                <a:ea typeface="Arial"/>
                <a:cs typeface="Arial"/>
                <a:sym typeface="Arial"/>
              </a:rPr>
              <a:t xml:space="preserve"> arrangement of polygons that folds to form a 3D solid.</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Prism Structure</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Prisms</a:t>
            </a:r>
            <a:r>
              <a:rPr b="0" i="0" lang="en-US" sz="1450" u="none" cap="none" strike="noStrike">
                <a:solidFill>
                  <a:srgbClr val="475569"/>
                </a:solidFill>
                <a:latin typeface="Arial"/>
                <a:ea typeface="Arial"/>
                <a:cs typeface="Arial"/>
                <a:sym typeface="Arial"/>
              </a:rPr>
              <a:t xml:space="preserve"> have two identical parallel </a:t>
            </a:r>
            <a:r>
              <a:rPr b="1" i="0" lang="en-US" sz="1450" u="none" cap="none" strike="noStrike">
                <a:solidFill>
                  <a:srgbClr val="475569"/>
                </a:solidFill>
                <a:latin typeface="Arial"/>
                <a:ea typeface="Arial"/>
                <a:cs typeface="Arial"/>
                <a:sym typeface="Arial"/>
              </a:rPr>
              <a:t xml:space="preserve">bases</a:t>
            </a:r>
            <a:r>
              <a:rPr b="0" i="0" lang="en-US" sz="1450" u="none" cap="none" strike="noStrike">
                <a:solidFill>
                  <a:srgbClr val="475569"/>
                </a:solidFill>
                <a:latin typeface="Arial"/>
                <a:ea typeface="Arial"/>
                <a:cs typeface="Arial"/>
                <a:sym typeface="Arial"/>
              </a:rPr>
              <a:t xml:space="preserve"> connected by rectangular lateral faces.</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Face Matching</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Corresponding folding edges on adjacent </a:t>
            </a:r>
            <a:r>
              <a:rPr b="1" i="0" lang="en-US" sz="1450" u="none" cap="none" strike="noStrike">
                <a:solidFill>
                  <a:srgbClr val="475569"/>
                </a:solidFill>
                <a:latin typeface="Arial"/>
                <a:ea typeface="Arial"/>
                <a:cs typeface="Arial"/>
                <a:sym typeface="Arial"/>
              </a:rPr>
              <a:t xml:space="preserve">polygons</a:t>
            </a:r>
            <a:r>
              <a:rPr b="0" i="0" lang="en-US" sz="1450" u="none" cap="none" strike="noStrike">
                <a:solidFill>
                  <a:srgbClr val="475569"/>
                </a:solidFill>
                <a:latin typeface="Arial"/>
                <a:ea typeface="Arial"/>
                <a:cs typeface="Arial"/>
                <a:sym typeface="Arial"/>
              </a:rPr>
              <a:t xml:space="preserve"> in a net must have equal lengths.</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62</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66"/>
          <p:cNvSpPr txBox="1"/>
          <p:nvPr/>
        </p:nvSpPr>
        <p:spPr>
          <a:xfrm>
            <a:off x="1402828" y="2453951"/>
            <a:ext cx="9144000" cy="975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Represent Three-Dimensional Figures 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Two Dimensions</a:t>
            </a:r>
            <a:endParaRPr b="0" i="0" sz="1400" u="none" cap="none" strike="noStrike">
              <a:solidFill>
                <a:srgbClr val="000000"/>
              </a:solidFill>
              <a:latin typeface="Arial"/>
              <a:ea typeface="Arial"/>
              <a:cs typeface="Arial"/>
              <a:sym typeface="Arial"/>
            </a:endParaRPr>
          </a:p>
        </p:txBody>
      </p:sp>
      <p:sp>
        <p:nvSpPr>
          <p:cNvPr id="709" name="Google Shape;709;p66"/>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710" name="Google Shape;710;p66"/>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71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62</a:t>
            </a:r>
          </a:p>
        </p:txBody>
      </p:sp>
      <p:grpSp>
        <p:nvGrpSpPr>
          <p:cNvPr id="712" name="TEACH-2-student-move" descr="TEACH 2 · Use strategies and tasks to engage students in rigorous work"/>
          <p:cNvGrpSpPr/>
          <p:nvPr/>
        </p:nvGrpSpPr>
        <p:grpSpPr>
          <a:xfrm>
            <a:off x="502920" y="3790697"/>
            <a:ext cx="11186160" cy="731520"/>
            <a:chOff x="502920" y="3511297"/>
            <a:chExt cx="11186160" cy="731520"/>
          </a:xfrm>
        </p:grpSpPr>
        <p:sp>
          <p:nvSpPr>
            <p:cNvPr id="713" name="TEACH-move-card"/>
            <p:cNvSpPr/>
            <p:nvPr/>
          </p:nvSpPr>
          <p:spPr>
            <a:xfrm>
              <a:off x="502920" y="3511297"/>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14" name="TEACH-move-rule"/>
            <p:cNvSpPr/>
            <p:nvPr/>
          </p:nvSpPr>
          <p:spPr>
            <a:xfrm>
              <a:off x="548640" y="3650286"/>
              <a:ext cx="100584" cy="453542"/>
            </a:xfrm>
            <a:prstGeom prst="roundRect">
              <a:avLst>
                <a:gd name="adj" fmla="val 50000"/>
              </a:avLst>
            </a:prstGeom>
            <a:solidFill>
              <a:srgbClr val="01708C"/>
            </a:solidFill>
            <a:ln>
              <a:noFill/>
            </a:ln>
          </p:spPr>
          <p:txBody>
            <a:bodyPr/>
            <a:lstStyle/>
            <a:p>
              <a:endParaRPr/>
            </a:p>
          </p:txBody>
        </p:sp>
        <p:sp>
          <p:nvSpPr>
            <p:cNvPr id="715" name="TEACH-move-text"/>
            <p:cNvSpPr txBox="1"/>
            <p:nvPr/>
          </p:nvSpPr>
          <p:spPr>
            <a:xfrm>
              <a:off x="822960" y="3511297"/>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STRUGGLE FIRST  ·  </a:t>
              </a:r>
              <a:r>
                <a:rPr lang="en-US" sz="1800" dirty="0">
                  <a:solidFill>
                    <a:srgbClr val="13303A"/>
                  </a:solidFill>
                  <a:latin typeface="Arial"/>
                </a:rPr>
                <a:t>Work on your own first. Stuck is allowed — try a second strategy before you ask.</a:t>
              </a:r>
              <a:endParaRPr lang="en-US" sz="1800"/>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cxnSp>
        <p:nvCxnSpPr>
          <p:cNvPr id="738" name="Google Shape;738;p6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39" name="Google Shape;739;p69"/>
          <p:cNvSpPr txBox="1"/>
          <p:nvPr/>
        </p:nvSpPr>
        <p:spPr>
          <a:xfrm>
            <a:off x="484565" y="936000"/>
            <a:ext cx="7260126" cy="10974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three-dimensional figure can this net make?</a:t>
            </a:r>
            <a:endParaRPr b="0" i="0" sz="1400" u="none" cap="none" strike="noStrike">
              <a:solidFill>
                <a:srgbClr val="000000"/>
              </a:solidFill>
              <a:latin typeface="Arial"/>
              <a:ea typeface="Arial"/>
              <a:cs typeface="Arial"/>
              <a:sym typeface="Arial"/>
            </a:endParaRPr>
          </a:p>
        </p:txBody>
      </p:sp>
      <p:sp>
        <p:nvSpPr>
          <p:cNvPr id="740" name="Google Shape;740;p69"/>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Mystery Shape</a:t>
            </a:r>
            <a:endParaRPr b="0" i="0" sz="1400" u="none" cap="none" strike="noStrike">
              <a:solidFill>
                <a:srgbClr val="000000"/>
              </a:solidFill>
              <a:latin typeface="Arial"/>
              <a:ea typeface="Arial"/>
              <a:cs typeface="Arial"/>
              <a:sym typeface="Arial"/>
            </a:endParaRPr>
          </a:p>
        </p:txBody>
      </p:sp>
      <p:pic>
        <p:nvPicPr>
          <p:cNvPr id="741" name="Google Shape;741;p69"/>
          <p:cNvPicPr preferRelativeResize="0"/>
          <p:nvPr/>
        </p:nvPicPr>
        <p:blipFill rotWithShape="1">
          <a:blip r:embed="rId3">
            <a:alphaModFix/>
          </a:blip>
          <a:srcRect b="0" l="0" r="0" t="0"/>
          <a:stretch/>
        </p:blipFill>
        <p:spPr>
          <a:xfrm>
            <a:off x="8354392" y="1987297"/>
            <a:ext cx="3237572" cy="2457086"/>
          </a:xfrm>
          <a:prstGeom prst="rect">
            <a:avLst/>
          </a:prstGeom>
          <a:noFill/>
          <a:ln>
            <a:noFill/>
          </a:ln>
        </p:spPr>
      </p:pic>
      <p:sp>
        <p:nvSpPr>
          <p:cNvPr id="74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62</a:t>
            </a:r>
          </a:p>
        </p:txBody>
      </p:sp>
      <p:sp xmlns:p="http://schemas.openxmlformats.org/presentationml/2006/main" xmlns:a="http://schemas.openxmlformats.org/drawingml/2006/main">
        <p:nvSpPr>
          <p:cNvPr id="743"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cxnSp>
        <p:nvCxnSpPr>
          <p:cNvPr id="755" name="Google Shape;755;p7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56" name="Google Shape;756;p71"/>
          <p:cNvSpPr txBox="1"/>
          <p:nvPr/>
        </p:nvSpPr>
        <p:spPr>
          <a:xfrm>
            <a:off x="484566" y="936100"/>
            <a:ext cx="7437564" cy="17068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is the relationship between the net and the three-dimensional shape that can be made by the net?</a:t>
            </a:r>
            <a:endParaRPr b="0" i="0" sz="1400" u="none" cap="none" strike="noStrike">
              <a:solidFill>
                <a:srgbClr val="000000"/>
              </a:solidFill>
              <a:latin typeface="Arial"/>
              <a:ea typeface="Arial"/>
              <a:cs typeface="Arial"/>
              <a:sym typeface="Arial"/>
            </a:endParaRPr>
          </a:p>
        </p:txBody>
      </p:sp>
      <p:pic>
        <p:nvPicPr>
          <p:cNvPr id="757" name="Google Shape;757;p71"/>
          <p:cNvPicPr preferRelativeResize="0"/>
          <p:nvPr/>
        </p:nvPicPr>
        <p:blipFill rotWithShape="1">
          <a:blip r:embed="rId3">
            <a:alphaModFix/>
          </a:blip>
          <a:srcRect b="0" l="0" r="0" t="0"/>
          <a:stretch/>
        </p:blipFill>
        <p:spPr>
          <a:xfrm>
            <a:off x="8354392" y="1987297"/>
            <a:ext cx="3237572" cy="2457086"/>
          </a:xfrm>
          <a:prstGeom prst="rect">
            <a:avLst/>
          </a:prstGeom>
          <a:noFill/>
          <a:ln>
            <a:noFill/>
          </a:ln>
        </p:spPr>
      </p:pic>
      <p:sp>
        <p:nvSpPr>
          <p:cNvPr id="758" name="Google Shape;758;p71"/>
          <p:cNvSpPr txBox="1"/>
          <p:nvPr/>
        </p:nvSpPr>
        <p:spPr>
          <a:xfrm>
            <a:off x="484566" y="4600855"/>
            <a:ext cx="7547198"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net is a two-dimensional representation of the three-dimensional figure it can make.</a:t>
            </a:r>
            <a:endParaRPr b="0" i="0" sz="1400" u="none" cap="none" strike="noStrike">
              <a:solidFill>
                <a:srgbClr val="000000"/>
              </a:solidFill>
              <a:latin typeface="Arial"/>
              <a:ea typeface="Arial"/>
              <a:cs typeface="Arial"/>
              <a:sym typeface="Arial"/>
            </a:endParaRPr>
          </a:p>
        </p:txBody>
      </p:sp>
      <p:sp>
        <p:nvSpPr>
          <p:cNvPr id="759" name="Google Shape;759;p71"/>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Mystery Shape</a:t>
            </a:r>
            <a:endParaRPr b="0" i="0" sz="1400" u="none" cap="none" strike="noStrike">
              <a:solidFill>
                <a:srgbClr val="000000"/>
              </a:solidFill>
              <a:latin typeface="Arial"/>
              <a:ea typeface="Arial"/>
              <a:cs typeface="Arial"/>
              <a:sym typeface="Arial"/>
            </a:endParaRPr>
          </a:p>
        </p:txBody>
      </p:sp>
      <p:sp>
        <p:nvSpPr>
          <p:cNvPr id="76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62</a:t>
            </a:r>
          </a:p>
        </p:txBody>
      </p:sp>
      <p:sp>
        <p:nvSpPr>
          <p:cNvPr id="761" name="EWL-COVER-1"/>
          <p:cNvSpPr/>
          <p:nvPr/>
        </p:nvSpPr>
        <p:spPr>
          <a:xfrm>
            <a:off x="429702" y="4545991"/>
            <a:ext cx="7656926" cy="1659768"/>
          </a:xfrm>
          <a:prstGeom prst="rect">
            <a:avLst/>
          </a:prstGeom>
          <a:solidFill>
            <a:srgbClr val="FFFFFF"/>
          </a:solidFill>
          <a:ln>
            <a:noFill/>
          </a:ln>
        </p:spPr>
        <p:txBody>
          <a:bodyPr/>
          <a:lstStyle/>
          <a:p/>
        </p:txBody>
      </p:sp>
      <p:sp xmlns:p="http://schemas.openxmlformats.org/presentationml/2006/main" xmlns:a="http://schemas.openxmlformats.org/drawingml/2006/main">
        <p:nvSpPr>
          <p:cNvPr id="762" name="TEACH-embedded-student-prompt" descr="Student thinking and response directions"/>
          <p:cNvSpPr txBox="1"/>
          <p:nvPr/>
        </p:nvSpPr>
        <p:spPr>
          <a:xfrm>
            <a:off x="594360" y="358444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a:t>
            </a:r>
            <a:endParaRPr lang="en-US" sz="2000"/>
          </a:p>
          <a:p>
            <a:pPr>
              <a:lnSpc>
                <a:spcPts val="2400"/>
              </a:lnSpc>
              <a:buNone/>
            </a:pPr>
            <a:r>
              <a:rPr lang="en-US" sz="2000">
                <a:solidFill>
                  <a:srgbClr val="174D60"/>
                </a:solidFill>
                <a:latin typeface="Arial"/>
              </a:rPr>
              <a:t>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6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cxnSp>
        <p:nvCxnSpPr>
          <p:cNvPr id="791" name="Google Shape;791;p7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92" name="Google Shape;792;p75"/>
          <p:cNvSpPr txBox="1"/>
          <p:nvPr/>
        </p:nvSpPr>
        <p:spPr>
          <a:xfrm>
            <a:off x="484566" y="936099"/>
            <a:ext cx="7437564" cy="295702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net is a two-dimensional representation of the three-dimensional figure it can make.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use this net to form a three-dimensional figure?</a:t>
            </a:r>
            <a:endParaRPr b="0" i="0" sz="1400" u="none" cap="none" strike="noStrike">
              <a:solidFill>
                <a:srgbClr val="000000"/>
              </a:solidFill>
              <a:latin typeface="Arial"/>
              <a:ea typeface="Arial"/>
              <a:cs typeface="Arial"/>
              <a:sym typeface="Arial"/>
            </a:endParaRPr>
          </a:p>
        </p:txBody>
      </p:sp>
      <p:pic>
        <p:nvPicPr>
          <p:cNvPr id="793" name="Google Shape;793;p75"/>
          <p:cNvPicPr preferRelativeResize="0"/>
          <p:nvPr/>
        </p:nvPicPr>
        <p:blipFill rotWithShape="1">
          <a:blip r:embed="rId3">
            <a:alphaModFix/>
          </a:blip>
          <a:srcRect b="0" l="0" r="0" t="0"/>
          <a:stretch/>
        </p:blipFill>
        <p:spPr>
          <a:xfrm>
            <a:off x="8354392" y="1987297"/>
            <a:ext cx="3237572" cy="2457086"/>
          </a:xfrm>
          <a:prstGeom prst="rect">
            <a:avLst/>
          </a:prstGeom>
          <a:noFill/>
          <a:ln>
            <a:noFill/>
          </a:ln>
        </p:spPr>
      </p:pic>
      <p:sp>
        <p:nvSpPr>
          <p:cNvPr id="794" name="Google Shape;794;p75"/>
          <p:cNvSpPr txBox="1"/>
          <p:nvPr/>
        </p:nvSpPr>
        <p:spPr>
          <a:xfrm>
            <a:off x="484565" y="4751775"/>
            <a:ext cx="8082385"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fold the net to create a three-dimensional figure.</a:t>
            </a:r>
            <a:endParaRPr b="0" i="0" sz="1400" u="none" cap="none" strike="noStrike">
              <a:solidFill>
                <a:srgbClr val="000000"/>
              </a:solidFill>
              <a:latin typeface="Arial"/>
              <a:ea typeface="Arial"/>
              <a:cs typeface="Arial"/>
              <a:sym typeface="Arial"/>
            </a:endParaRPr>
          </a:p>
        </p:txBody>
      </p:sp>
      <p:sp>
        <p:nvSpPr>
          <p:cNvPr id="795" name="Google Shape;795;p75"/>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Mystery Shape</a:t>
            </a:r>
            <a:endParaRPr b="0" i="0" sz="1400" u="none" cap="none" strike="noStrike">
              <a:solidFill>
                <a:srgbClr val="000000"/>
              </a:solidFill>
              <a:latin typeface="Arial"/>
              <a:ea typeface="Arial"/>
              <a:cs typeface="Arial"/>
              <a:sym typeface="Arial"/>
            </a:endParaRPr>
          </a:p>
        </p:txBody>
      </p:sp>
      <p:sp>
        <p:nvSpPr>
          <p:cNvPr id="79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62</a:t>
            </a:r>
          </a:p>
        </p:txBody>
      </p:sp>
      <p:sp>
        <p:nvSpPr>
          <p:cNvPr id="797" name="EWL-COVER-1"/>
          <p:cNvSpPr/>
          <p:nvPr/>
        </p:nvSpPr>
        <p:spPr>
          <a:xfrm>
            <a:off x="429701" y="4696911"/>
            <a:ext cx="8192113" cy="1659768"/>
          </a:xfrm>
          <a:prstGeom prst="rect">
            <a:avLst/>
          </a:prstGeom>
          <a:solidFill>
            <a:srgbClr val="FFFFFF"/>
          </a:solidFill>
          <a:ln>
            <a:noFill/>
          </a:ln>
        </p:spPr>
        <p:txBody>
          <a:bodyPr/>
          <a:lstStyle/>
          <a:p/>
        </p:txBody>
      </p:sp>
      <p:grpSp>
        <p:nvGrpSpPr>
          <p:cNvPr id="798" name="TEACH-3-student-move" descr="TEACH 3 · Use intentional questioning to deepen learning"/>
          <p:cNvGrpSpPr/>
          <p:nvPr/>
        </p:nvGrpSpPr>
        <p:grpSpPr>
          <a:xfrm>
            <a:off x="502920" y="4075119"/>
            <a:ext cx="5501640" cy="594360"/>
            <a:chOff x="502920" y="4075119"/>
            <a:chExt cx="5501640" cy="594360"/>
          </a:xfrm>
        </p:grpSpPr>
        <p:sp>
          <p:nvSpPr>
            <p:cNvPr id="799" name="TEACH-move-card"/>
            <p:cNvSpPr/>
            <p:nvPr/>
          </p:nvSpPr>
          <p:spPr>
            <a:xfrm>
              <a:off x="502920" y="4075119"/>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800" name="TEACH-move-rule"/>
            <p:cNvSpPr/>
            <p:nvPr/>
          </p:nvSpPr>
          <p:spPr>
            <a:xfrm>
              <a:off x="548640" y="4188047"/>
              <a:ext cx="100584" cy="368504"/>
            </a:xfrm>
            <a:prstGeom prst="roundRect">
              <a:avLst>
                <a:gd name="adj" fmla="val 50000"/>
              </a:avLst>
            </a:prstGeom>
            <a:solidFill>
              <a:srgbClr val="01708C"/>
            </a:solidFill>
            <a:ln>
              <a:noFill/>
            </a:ln>
          </p:spPr>
          <p:txBody>
            <a:bodyPr/>
            <a:lstStyle/>
            <a:p>
              <a:endParaRPr/>
            </a:p>
          </p:txBody>
        </p:sp>
        <p:sp>
          <p:nvSpPr>
            <p:cNvPr id="801" name="TEACH-move-text"/>
            <p:cNvSpPr txBox="1"/>
            <p:nvPr/>
          </p:nvSpPr>
          <p:spPr>
            <a:xfrm>
              <a:off x="822960" y="4075119"/>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ASK THE CLASS  ·  </a:t>
              </a:r>
              <a:r>
                <a:rPr lang="en-US" sz="1200" dirty="0">
                  <a:solidFill>
                    <a:srgbClr val="13303A"/>
                  </a:solidFill>
                  <a:latin typeface="Arial"/>
                </a:rPr>
                <a:t>Write one question about this that you could ask the class.</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9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cxnSp>
        <p:nvCxnSpPr>
          <p:cNvPr id="809" name="Google Shape;809;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10" name="Google Shape;810;p77"/>
          <p:cNvSpPr txBox="1"/>
          <p:nvPr/>
        </p:nvSpPr>
        <p:spPr>
          <a:xfrm>
            <a:off x="484564" y="936000"/>
            <a:ext cx="7173535" cy="9063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describe the shapes that appear in the net?</a:t>
            </a:r>
            <a:endParaRPr b="0" i="0" sz="1400" u="none" cap="none" strike="noStrike">
              <a:solidFill>
                <a:srgbClr val="000000"/>
              </a:solidFill>
              <a:latin typeface="Arial"/>
              <a:ea typeface="Arial"/>
              <a:cs typeface="Arial"/>
              <a:sym typeface="Arial"/>
            </a:endParaRPr>
          </a:p>
        </p:txBody>
      </p:sp>
      <p:pic>
        <p:nvPicPr>
          <p:cNvPr id="811" name="Google Shape;811;p77"/>
          <p:cNvPicPr preferRelativeResize="0"/>
          <p:nvPr/>
        </p:nvPicPr>
        <p:blipFill rotWithShape="1">
          <a:blip r:embed="rId3">
            <a:alphaModFix/>
          </a:blip>
          <a:srcRect b="0" l="0" r="0" t="0"/>
          <a:stretch/>
        </p:blipFill>
        <p:spPr>
          <a:xfrm>
            <a:off x="8354392" y="1987297"/>
            <a:ext cx="3237572" cy="2457086"/>
          </a:xfrm>
          <a:prstGeom prst="rect">
            <a:avLst/>
          </a:prstGeom>
          <a:noFill/>
          <a:ln>
            <a:noFill/>
          </a:ln>
        </p:spPr>
      </p:pic>
      <p:sp>
        <p:nvSpPr>
          <p:cNvPr id="812" name="Google Shape;812;p77"/>
          <p:cNvSpPr txBox="1"/>
          <p:nvPr/>
        </p:nvSpPr>
        <p:spPr>
          <a:xfrm>
            <a:off x="484564" y="4636365"/>
            <a:ext cx="7052578"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net is made up of 6 squares of the same size.</a:t>
            </a:r>
            <a:endParaRPr b="0" i="0" sz="1400" u="none" cap="none" strike="noStrike">
              <a:solidFill>
                <a:srgbClr val="000000"/>
              </a:solidFill>
              <a:latin typeface="Arial"/>
              <a:ea typeface="Arial"/>
              <a:cs typeface="Arial"/>
              <a:sym typeface="Arial"/>
            </a:endParaRPr>
          </a:p>
        </p:txBody>
      </p:sp>
      <p:sp>
        <p:nvSpPr>
          <p:cNvPr id="813" name="Google Shape;813;p77"/>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Mystery Shape</a:t>
            </a:r>
            <a:endParaRPr b="0" i="0" sz="1400" u="none" cap="none" strike="noStrike">
              <a:solidFill>
                <a:srgbClr val="000000"/>
              </a:solidFill>
              <a:latin typeface="Arial"/>
              <a:ea typeface="Arial"/>
              <a:cs typeface="Arial"/>
              <a:sym typeface="Arial"/>
            </a:endParaRPr>
          </a:p>
        </p:txBody>
      </p:sp>
      <p:sp>
        <p:nvSpPr>
          <p:cNvPr id="8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62</a:t>
            </a:r>
          </a:p>
        </p:txBody>
      </p:sp>
      <p:sp>
        <p:nvSpPr>
          <p:cNvPr id="815" name="EWL-COVER-1"/>
          <p:cNvSpPr/>
          <p:nvPr/>
        </p:nvSpPr>
        <p:spPr>
          <a:xfrm>
            <a:off x="429700" y="4581501"/>
            <a:ext cx="7162306" cy="1659768"/>
          </a:xfrm>
          <a:prstGeom prst="rect">
            <a:avLst/>
          </a:prstGeom>
          <a:solidFill>
            <a:srgbClr val="FFFFFF"/>
          </a:solidFill>
          <a:ln>
            <a:noFill/>
          </a:ln>
        </p:spPr>
        <p:txBody>
          <a:bodyPr/>
          <a:lstStyle/>
          <a:p/>
        </p:txBody>
      </p:sp>
      <p:sp xmlns:p="http://schemas.openxmlformats.org/presentationml/2006/main" xmlns:a="http://schemas.openxmlformats.org/drawingml/2006/main">
        <p:nvSpPr>
          <p:cNvPr id="816" name="TEACH-embedded-student-prompt" descr="Student thinking and response directions"/>
          <p:cNvSpPr txBox="1"/>
          <p:nvPr/>
        </p:nvSpPr>
        <p:spPr>
          <a:xfrm>
            <a:off x="594360" y="36758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a:t>
            </a:r>
            <a:endParaRPr lang="en-US" sz="2000"/>
          </a:p>
          <a:p>
            <a:pPr>
              <a:lnSpc>
                <a:spcPts val="2400"/>
              </a:lnSpc>
              <a:buNone/>
            </a:pPr>
            <a:r>
              <a:rPr lang="en-US" sz="2000">
                <a:solidFill>
                  <a:srgbClr val="174D60"/>
                </a:solidFill>
                <a:latin typeface="Arial"/>
              </a:rPr>
              <a:t>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cxnSp>
        <p:nvCxnSpPr>
          <p:cNvPr id="818" name="Google Shape;818;p7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19" name="Google Shape;819;p78"/>
          <p:cNvSpPr txBox="1"/>
          <p:nvPr/>
        </p:nvSpPr>
        <p:spPr>
          <a:xfrm>
            <a:off x="484564" y="936000"/>
            <a:ext cx="7173535" cy="9063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net is made up of 6 squares of the same size.</a:t>
            </a:r>
            <a:endParaRPr b="0" i="0" sz="1400" u="none" cap="none" strike="noStrike">
              <a:solidFill>
                <a:srgbClr val="000000"/>
              </a:solidFill>
              <a:latin typeface="Arial"/>
              <a:ea typeface="Arial"/>
              <a:cs typeface="Arial"/>
              <a:sym typeface="Arial"/>
            </a:endParaRPr>
          </a:p>
        </p:txBody>
      </p:sp>
      <p:pic>
        <p:nvPicPr>
          <p:cNvPr id="820" name="Google Shape;820;p78"/>
          <p:cNvPicPr preferRelativeResize="0"/>
          <p:nvPr/>
        </p:nvPicPr>
        <p:blipFill rotWithShape="1">
          <a:blip r:embed="rId3">
            <a:alphaModFix/>
          </a:blip>
          <a:srcRect b="0" l="0" r="0" t="0"/>
          <a:stretch/>
        </p:blipFill>
        <p:spPr>
          <a:xfrm>
            <a:off x="8354392" y="1987297"/>
            <a:ext cx="3237572" cy="2457086"/>
          </a:xfrm>
          <a:prstGeom prst="rect">
            <a:avLst/>
          </a:prstGeom>
          <a:noFill/>
          <a:ln>
            <a:noFill/>
          </a:ln>
        </p:spPr>
      </p:pic>
      <p:sp>
        <p:nvSpPr>
          <p:cNvPr id="821" name="Google Shape;821;p78"/>
          <p:cNvSpPr txBox="1"/>
          <p:nvPr/>
        </p:nvSpPr>
        <p:spPr>
          <a:xfrm>
            <a:off x="484564" y="4094210"/>
            <a:ext cx="7173535" cy="22089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What do the shapes in the net tell you about the faces of the three-dimensional figure it will make?</a:t>
            </a:r>
            <a:endParaRPr b="0" i="0" sz="2800" u="none" cap="none" strike="noStrike">
              <a:solidFill>
                <a:srgbClr val="595959"/>
              </a:solidFill>
              <a:latin typeface="Arial"/>
              <a:ea typeface="Arial"/>
              <a:cs typeface="Arial"/>
              <a:sym typeface="Arial"/>
            </a:endParaRPr>
          </a:p>
        </p:txBody>
      </p:sp>
      <p:sp>
        <p:nvSpPr>
          <p:cNvPr id="822" name="Google Shape;822;p78"/>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Mystery Shape</a:t>
            </a:r>
            <a:endParaRPr b="0" i="0" sz="1400" u="none" cap="none" strike="noStrike">
              <a:solidFill>
                <a:srgbClr val="000000"/>
              </a:solidFill>
              <a:latin typeface="Arial"/>
              <a:ea typeface="Arial"/>
              <a:cs typeface="Arial"/>
              <a:sym typeface="Arial"/>
            </a:endParaRPr>
          </a:p>
        </p:txBody>
      </p:sp>
      <p:sp>
        <p:nvSpPr>
          <p:cNvPr id="82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62</a:t>
            </a:r>
          </a:p>
        </p:txBody>
      </p:sp>
      <p:sp xmlns:p="http://schemas.openxmlformats.org/presentationml/2006/main" xmlns:a="http://schemas.openxmlformats.org/drawingml/2006/main">
        <p:nvSpPr>
          <p:cNvPr id="824" name="TEACH-embedded-student-prompt" descr="Student thinking and response directions"/>
          <p:cNvSpPr txBox="1"/>
          <p:nvPr/>
        </p:nvSpPr>
        <p:spPr>
          <a:xfrm>
            <a:off x="594360" y="312724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a:t>
            </a:r>
            <a:endParaRPr lang="en-US" sz="2000"/>
          </a:p>
          <a:p>
            <a:pPr>
              <a:lnSpc>
                <a:spcPts val="2400"/>
              </a:lnSpc>
              <a:buNone/>
            </a:pPr>
            <a:r>
              <a:rPr lang="en-US" sz="2000">
                <a:solidFill>
                  <a:srgbClr val="174D60"/>
                </a:solidFill>
                <a:latin typeface="Arial"/>
              </a:rPr>
              <a:t>answer?</a:t>
            </a:r>
            <a:endParaRPr lang="en-US" sz="20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cxnSp>
        <p:nvCxnSpPr>
          <p:cNvPr id="837" name="Google Shape;837;p8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38" name="Google Shape;838;p80"/>
          <p:cNvSpPr txBox="1"/>
          <p:nvPr/>
        </p:nvSpPr>
        <p:spPr>
          <a:xfrm>
            <a:off x="484563" y="935999"/>
            <a:ext cx="7135437" cy="400747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To keep track of where each shape in the net will appear when folded into a three-dimensional figure, we can label each shape.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fold the net to create a three-dimensional figure?</a:t>
            </a:r>
            <a:endParaRPr b="0" i="0" sz="1400" u="none" cap="none" strike="noStrike">
              <a:solidFill>
                <a:srgbClr val="000000"/>
              </a:solidFill>
              <a:latin typeface="Arial"/>
              <a:ea typeface="Arial"/>
              <a:cs typeface="Arial"/>
              <a:sym typeface="Arial"/>
            </a:endParaRPr>
          </a:p>
        </p:txBody>
      </p:sp>
      <p:pic>
        <p:nvPicPr>
          <p:cNvPr id="839" name="Google Shape;839;p80"/>
          <p:cNvPicPr preferRelativeResize="0"/>
          <p:nvPr/>
        </p:nvPicPr>
        <p:blipFill rotWithShape="1">
          <a:blip r:embed="rId3">
            <a:alphaModFix/>
          </a:blip>
          <a:srcRect b="0" l="0" r="0" t="0"/>
          <a:stretch/>
        </p:blipFill>
        <p:spPr>
          <a:xfrm>
            <a:off x="8394463" y="2047476"/>
            <a:ext cx="3143250" cy="2362200"/>
          </a:xfrm>
          <a:prstGeom prst="rect">
            <a:avLst/>
          </a:prstGeom>
          <a:noFill/>
          <a:ln>
            <a:noFill/>
          </a:ln>
        </p:spPr>
      </p:pic>
      <p:sp>
        <p:nvSpPr>
          <p:cNvPr id="840" name="Google Shape;840;p80"/>
          <p:cNvSpPr txBox="1"/>
          <p:nvPr/>
        </p:nvSpPr>
        <p:spPr>
          <a:xfrm>
            <a:off x="484562" y="4817071"/>
            <a:ext cx="8712703"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fold the shapes along the connected sides to form a three-dimensional figure.</a:t>
            </a:r>
            <a:endParaRPr b="0" i="0" sz="1400" u="none" cap="none" strike="noStrike">
              <a:solidFill>
                <a:srgbClr val="000000"/>
              </a:solidFill>
              <a:latin typeface="Arial"/>
              <a:ea typeface="Arial"/>
              <a:cs typeface="Arial"/>
              <a:sym typeface="Arial"/>
            </a:endParaRPr>
          </a:p>
        </p:txBody>
      </p:sp>
      <p:sp>
        <p:nvSpPr>
          <p:cNvPr id="841" name="Google Shape;841;p80"/>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    Collaborate and Connect</a:t>
            </a:r>
            <a:endParaRPr b="0" i="0" sz="1400" u="none" cap="none" strike="noStrike">
              <a:solidFill>
                <a:srgbClr val="000000"/>
              </a:solidFill>
              <a:latin typeface="Arial"/>
              <a:ea typeface="Arial"/>
              <a:cs typeface="Arial"/>
              <a:sym typeface="Arial"/>
            </a:endParaRPr>
          </a:p>
        </p:txBody>
      </p:sp>
      <p:pic>
        <p:nvPicPr>
          <p:cNvPr id="842" name="Google Shape;842;p80"/>
          <p:cNvPicPr preferRelativeResize="0"/>
          <p:nvPr/>
        </p:nvPicPr>
        <p:blipFill rotWithShape="1">
          <a:blip r:embed="rId4">
            <a:alphaModFix/>
          </a:blip>
          <a:srcRect b="0" l="0" r="0" t="0"/>
          <a:stretch/>
        </p:blipFill>
        <p:spPr>
          <a:xfrm>
            <a:off x="543714" y="414982"/>
            <a:ext cx="353635" cy="340537"/>
          </a:xfrm>
          <a:prstGeom prst="rect">
            <a:avLst/>
          </a:prstGeom>
          <a:noFill/>
          <a:ln>
            <a:noFill/>
          </a:ln>
        </p:spPr>
      </p:pic>
      <p:sp>
        <p:nvSpPr>
          <p:cNvPr id="84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62</a:t>
            </a:r>
          </a:p>
        </p:txBody>
      </p:sp>
      <p:sp>
        <p:nvSpPr>
          <p:cNvPr id="844" name="EWL-COVER-1"/>
          <p:cNvSpPr/>
          <p:nvPr/>
        </p:nvSpPr>
        <p:spPr>
          <a:xfrm>
            <a:off x="429698" y="4762207"/>
            <a:ext cx="8822431" cy="1659768"/>
          </a:xfrm>
          <a:prstGeom prst="rect">
            <a:avLst/>
          </a:prstGeom>
          <a:solidFill>
            <a:srgbClr val="FFFFFF"/>
          </a:solidFill>
          <a:ln>
            <a:noFill/>
          </a:ln>
        </p:spPr>
        <p:txBody>
          <a:bodyPr/>
          <a:lstStyle/>
          <a:p/>
        </p:txBody>
      </p:sp>
      <p:sp>
        <p:nvSpPr>
          <p:cNvPr id="845"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  TALK IT THROUGH • AGREE ON A MODEL</a:t>
            </a:r>
          </a:p>
        </p:txBody>
      </p:sp>
      <p:grpSp>
        <p:nvGrpSpPr>
          <p:cNvPr id="846" name="TEACH-5-student-move" descr="TEACH 5 · Facilitate student interactions and academic talk"/>
          <p:cNvGrpSpPr/>
          <p:nvPr/>
        </p:nvGrpSpPr>
        <p:grpSpPr>
          <a:xfrm>
            <a:off x="502920" y="4140415"/>
            <a:ext cx="5501640" cy="594360"/>
            <a:chOff x="502920" y="4140415"/>
            <a:chExt cx="5501640" cy="594360"/>
          </a:xfrm>
        </p:grpSpPr>
        <p:sp>
          <p:nvSpPr>
            <p:cNvPr id="847" name="TEACH-move-card"/>
            <p:cNvSpPr/>
            <p:nvPr/>
          </p:nvSpPr>
          <p:spPr>
            <a:xfrm>
              <a:off x="502920" y="4140415"/>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848" name="TEACH-move-rule"/>
            <p:cNvSpPr/>
            <p:nvPr/>
          </p:nvSpPr>
          <p:spPr>
            <a:xfrm>
              <a:off x="548640" y="4253343"/>
              <a:ext cx="100584" cy="368504"/>
            </a:xfrm>
            <a:prstGeom prst="roundRect">
              <a:avLst>
                <a:gd name="adj" fmla="val 50000"/>
              </a:avLst>
            </a:prstGeom>
            <a:solidFill>
              <a:srgbClr val="01708C"/>
            </a:solidFill>
            <a:ln>
              <a:noFill/>
            </a:ln>
          </p:spPr>
          <p:txBody>
            <a:bodyPr/>
            <a:lstStyle/>
            <a:p>
              <a:endParaRPr/>
            </a:p>
          </p:txBody>
        </p:sp>
        <p:sp>
          <p:nvSpPr>
            <p:cNvPr id="849" name="TEACH-move-text"/>
            <p:cNvSpPr txBox="1"/>
            <p:nvPr/>
          </p:nvSpPr>
          <p:spPr>
            <a:xfrm>
              <a:off x="822960" y="4140415"/>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TEACH A PARTNER  ·  </a:t>
              </a:r>
              <a:r>
                <a:rPr lang="en-US" sz="1200" dirty="0">
                  <a:solidFill>
                    <a:srgbClr val="13303A"/>
                  </a:solidFill>
                  <a:latin typeface="Arial"/>
                </a:rPr>
                <a:t>Teach this to someone who missed it. If you can teach it, you know it.</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4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cxnSp>
        <p:nvCxnSpPr>
          <p:cNvPr id="847" name="Google Shape;847;p8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48" name="Google Shape;848;p81"/>
          <p:cNvSpPr txBox="1"/>
          <p:nvPr/>
        </p:nvSpPr>
        <p:spPr>
          <a:xfrm>
            <a:off x="486000" y="936000"/>
            <a:ext cx="8559423" cy="1292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Let’s fold along the connected sides to form a three-dimensional figure. One way to fold the net is shown.</a:t>
            </a:r>
            <a:endParaRPr b="0" i="0" sz="1400" u="none" cap="none" strike="noStrike">
              <a:solidFill>
                <a:srgbClr val="000000"/>
              </a:solidFill>
              <a:latin typeface="Arial"/>
              <a:ea typeface="Arial"/>
              <a:cs typeface="Arial"/>
              <a:sym typeface="Arial"/>
            </a:endParaRPr>
          </a:p>
        </p:txBody>
      </p:sp>
      <p:pic>
        <p:nvPicPr>
          <p:cNvPr id="849" name="Google Shape;849;p81"/>
          <p:cNvPicPr preferRelativeResize="0"/>
          <p:nvPr/>
        </p:nvPicPr>
        <p:blipFill rotWithShape="1">
          <a:blip r:embed="rId3">
            <a:alphaModFix/>
          </a:blip>
          <a:srcRect b="0" l="0" r="0" t="0"/>
          <a:stretch/>
        </p:blipFill>
        <p:spPr>
          <a:xfrm>
            <a:off x="1665780" y="2222038"/>
            <a:ext cx="5705475" cy="2762250"/>
          </a:xfrm>
          <a:prstGeom prst="rect">
            <a:avLst/>
          </a:prstGeom>
          <a:noFill/>
          <a:ln>
            <a:noFill/>
          </a:ln>
        </p:spPr>
      </p:pic>
      <p:sp>
        <p:nvSpPr>
          <p:cNvPr id="850" name="Google Shape;850;p81"/>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Mystery Shape</a:t>
            </a:r>
            <a:endParaRPr b="0" i="0" sz="1400" u="none" cap="none" strike="noStrike">
              <a:solidFill>
                <a:srgbClr val="000000"/>
              </a:solidFill>
              <a:latin typeface="Arial"/>
              <a:ea typeface="Arial"/>
              <a:cs typeface="Arial"/>
              <a:sym typeface="Arial"/>
            </a:endParaRPr>
          </a:p>
        </p:txBody>
      </p:sp>
      <p:sp>
        <p:nvSpPr>
          <p:cNvPr id="85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62</a:t>
            </a:r>
          </a:p>
        </p:txBody>
      </p:sp>
      <p:sp xmlns:p="http://schemas.openxmlformats.org/presentationml/2006/main" xmlns:a="http://schemas.openxmlformats.org/drawingml/2006/main">
        <p:nvSpPr>
          <p:cNvPr id="852"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cxnSp>
        <p:nvCxnSpPr>
          <p:cNvPr id="855" name="Google Shape;855;p8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856" name="Google Shape;856;p82"/>
          <p:cNvPicPr preferRelativeResize="0"/>
          <p:nvPr/>
        </p:nvPicPr>
        <p:blipFill rotWithShape="1">
          <a:blip r:embed="rId3">
            <a:alphaModFix/>
          </a:blip>
          <a:srcRect b="0" l="0" r="0" t="0"/>
          <a:stretch/>
        </p:blipFill>
        <p:spPr>
          <a:xfrm>
            <a:off x="1665779" y="2222038"/>
            <a:ext cx="5705475" cy="2762250"/>
          </a:xfrm>
          <a:prstGeom prst="rect">
            <a:avLst/>
          </a:prstGeom>
          <a:noFill/>
          <a:ln>
            <a:noFill/>
          </a:ln>
        </p:spPr>
      </p:pic>
      <p:sp>
        <p:nvSpPr>
          <p:cNvPr id="857" name="Google Shape;857;p82"/>
          <p:cNvSpPr txBox="1"/>
          <p:nvPr/>
        </p:nvSpPr>
        <p:spPr>
          <a:xfrm>
            <a:off x="484565" y="936000"/>
            <a:ext cx="8590437" cy="6737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Faces A and D are the two side faces. ​</a:t>
            </a:r>
            <a:endParaRPr b="0" i="0" sz="1400" u="none" cap="none" strike="noStrike">
              <a:solidFill>
                <a:srgbClr val="000000"/>
              </a:solidFill>
              <a:latin typeface="Arial"/>
              <a:ea typeface="Arial"/>
              <a:cs typeface="Arial"/>
              <a:sym typeface="Arial"/>
            </a:endParaRPr>
          </a:p>
        </p:txBody>
      </p:sp>
      <p:sp>
        <p:nvSpPr>
          <p:cNvPr id="858" name="Google Shape;858;p82"/>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Mystery Shape</a:t>
            </a:r>
            <a:endParaRPr b="0" i="0" sz="1400" u="none" cap="none" strike="noStrike">
              <a:solidFill>
                <a:srgbClr val="000000"/>
              </a:solidFill>
              <a:latin typeface="Arial"/>
              <a:ea typeface="Arial"/>
              <a:cs typeface="Arial"/>
              <a:sym typeface="Arial"/>
            </a:endParaRPr>
          </a:p>
        </p:txBody>
      </p:sp>
      <p:sp>
        <p:nvSpPr>
          <p:cNvPr id="85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62</a:t>
            </a:r>
          </a:p>
        </p:txBody>
      </p:sp>
      <p:sp xmlns:p="http://schemas.openxmlformats.org/presentationml/2006/main" xmlns:a="http://schemas.openxmlformats.org/drawingml/2006/main">
        <p:nvSpPr>
          <p:cNvPr id="860"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pic>
        <p:nvPicPr>
          <p:cNvPr id="863" name="Google Shape;863;p83"/>
          <p:cNvPicPr preferRelativeResize="0"/>
          <p:nvPr/>
        </p:nvPicPr>
        <p:blipFill rotWithShape="1">
          <a:blip r:embed="rId3">
            <a:alphaModFix/>
          </a:blip>
          <a:srcRect b="0" l="0" r="0" t="0"/>
          <a:stretch/>
        </p:blipFill>
        <p:spPr>
          <a:xfrm>
            <a:off x="1660000" y="2222038"/>
            <a:ext cx="5705475" cy="2762250"/>
          </a:xfrm>
          <a:prstGeom prst="rect">
            <a:avLst/>
          </a:prstGeom>
          <a:noFill/>
          <a:ln>
            <a:noFill/>
          </a:ln>
        </p:spPr>
      </p:pic>
      <p:cxnSp>
        <p:nvCxnSpPr>
          <p:cNvPr id="864" name="Google Shape;864;p8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65" name="Google Shape;865;p83"/>
          <p:cNvSpPr txBox="1"/>
          <p:nvPr/>
        </p:nvSpPr>
        <p:spPr>
          <a:xfrm>
            <a:off x="484565" y="936000"/>
            <a:ext cx="8590437" cy="730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Face B is the top face and E is the bottom face. </a:t>
            </a:r>
            <a:endParaRPr b="0" i="0" sz="1400" u="none" cap="none" strike="noStrike">
              <a:solidFill>
                <a:srgbClr val="000000"/>
              </a:solidFill>
              <a:latin typeface="Arial"/>
              <a:ea typeface="Arial"/>
              <a:cs typeface="Arial"/>
              <a:sym typeface="Arial"/>
            </a:endParaRPr>
          </a:p>
        </p:txBody>
      </p:sp>
      <p:sp>
        <p:nvSpPr>
          <p:cNvPr id="866" name="Google Shape;866;p83"/>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Mystery Shape</a:t>
            </a:r>
            <a:endParaRPr b="0" i="0" sz="1400" u="none" cap="none" strike="noStrike">
              <a:solidFill>
                <a:srgbClr val="000000"/>
              </a:solidFill>
              <a:latin typeface="Arial"/>
              <a:ea typeface="Arial"/>
              <a:cs typeface="Arial"/>
              <a:sym typeface="Arial"/>
            </a:endParaRPr>
          </a:p>
        </p:txBody>
      </p:sp>
      <p:sp>
        <p:nvSpPr>
          <p:cNvPr id="86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45 / 62</a:t>
            </a:r>
          </a:p>
        </p:txBody>
      </p:sp>
      <p:sp xmlns:p="http://schemas.openxmlformats.org/presentationml/2006/main" xmlns:a="http://schemas.openxmlformats.org/drawingml/2006/main">
        <p:nvSpPr>
          <p:cNvPr id="868"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cxnSp>
        <p:nvCxnSpPr>
          <p:cNvPr id="880" name="Google Shape;880;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81" name="Google Shape;881;p85"/>
          <p:cNvSpPr txBox="1"/>
          <p:nvPr/>
        </p:nvSpPr>
        <p:spPr>
          <a:xfrm>
            <a:off x="484566" y="936001"/>
            <a:ext cx="7830759" cy="96786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Faces C and F are the front and back faces.​</a:t>
            </a:r>
            <a:endParaRPr b="0" i="0" sz="1400" u="none" cap="none" strike="noStrike">
              <a:solidFill>
                <a:srgbClr val="000000"/>
              </a:solidFill>
              <a:latin typeface="Arial"/>
              <a:ea typeface="Arial"/>
              <a:cs typeface="Arial"/>
              <a:sym typeface="Arial"/>
            </a:endParaRPr>
          </a:p>
        </p:txBody>
      </p:sp>
      <p:sp>
        <p:nvSpPr>
          <p:cNvPr id="882" name="Google Shape;882;p85"/>
          <p:cNvSpPr txBox="1"/>
          <p:nvPr/>
        </p:nvSpPr>
        <p:spPr>
          <a:xfrm>
            <a:off x="484566" y="5137866"/>
            <a:ext cx="9850059" cy="103674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Is there only way to unfold a three-dimensional figure?</a:t>
            </a:r>
            <a:endParaRPr b="0" i="0" sz="2800" u="none" cap="none" strike="noStrike">
              <a:solidFill>
                <a:srgbClr val="595959"/>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defRPr/>
            </a:pPr>
            <a:r>
              <a:rPr/>
              <a:t/>
            </a:r>
            <a:endParaRPr b="0" i="0" sz="2800" u="none" cap="none" strike="noStrike">
              <a:solidFill>
                <a:srgbClr val="595959"/>
              </a:solidFill>
              <a:latin typeface="Arial"/>
              <a:ea typeface="Arial"/>
              <a:cs typeface="Arial"/>
              <a:sym typeface="Arial"/>
            </a:endParaRPr>
          </a:p>
        </p:txBody>
      </p:sp>
      <p:pic>
        <p:nvPicPr>
          <p:cNvPr id="883" name="Google Shape;883;p85"/>
          <p:cNvPicPr preferRelativeResize="0"/>
          <p:nvPr/>
        </p:nvPicPr>
        <p:blipFill rotWithShape="1">
          <a:blip r:embed="rId3">
            <a:alphaModFix/>
          </a:blip>
          <a:srcRect b="0" l="0" r="0" t="0"/>
          <a:stretch/>
        </p:blipFill>
        <p:spPr>
          <a:xfrm>
            <a:off x="1665780" y="2222038"/>
            <a:ext cx="5705475" cy="2762250"/>
          </a:xfrm>
          <a:prstGeom prst="rect">
            <a:avLst/>
          </a:prstGeom>
          <a:noFill/>
          <a:ln>
            <a:noFill/>
          </a:ln>
        </p:spPr>
      </p:pic>
      <p:sp>
        <p:nvSpPr>
          <p:cNvPr id="884" name="Google Shape;884;p85"/>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Mystery Shape</a:t>
            </a:r>
            <a:endParaRPr b="0" i="0" sz="1400" u="none" cap="none" strike="noStrike">
              <a:solidFill>
                <a:srgbClr val="000000"/>
              </a:solidFill>
              <a:latin typeface="Arial"/>
              <a:ea typeface="Arial"/>
              <a:cs typeface="Arial"/>
              <a:sym typeface="Arial"/>
            </a:endParaRPr>
          </a:p>
        </p:txBody>
      </p:sp>
      <p:sp>
        <p:nvSpPr>
          <p:cNvPr id="88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46 / 62</a:t>
            </a: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cxnSp>
        <p:nvCxnSpPr>
          <p:cNvPr id="900" name="Google Shape;900;p8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01" name="Google Shape;901;p87"/>
          <p:cNvSpPr txBox="1"/>
          <p:nvPr/>
        </p:nvSpPr>
        <p:spPr>
          <a:xfrm>
            <a:off x="484566" y="3845554"/>
            <a:ext cx="9005798" cy="11869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many faces, edges, and vertices does the three-dimensional figure have?</a:t>
            </a:r>
            <a:endParaRPr b="0" i="0" sz="1400" u="none" cap="none" strike="noStrike">
              <a:solidFill>
                <a:srgbClr val="000000"/>
              </a:solidFill>
              <a:latin typeface="Arial"/>
              <a:ea typeface="Arial"/>
              <a:cs typeface="Arial"/>
              <a:sym typeface="Arial"/>
            </a:endParaRPr>
          </a:p>
        </p:txBody>
      </p:sp>
      <p:grpSp>
        <p:nvGrpSpPr>
          <p:cNvPr id="902" name="Google Shape;902;p87"/>
          <p:cNvGrpSpPr/>
          <p:nvPr/>
        </p:nvGrpSpPr>
        <p:grpSpPr>
          <a:xfrm>
            <a:off x="1396503" y="1109996"/>
            <a:ext cx="6794877" cy="2272597"/>
            <a:chOff x="2639253" y="2377275"/>
            <a:chExt cx="6794877" cy="2272597"/>
          </a:xfrm>
        </p:grpSpPr>
        <p:pic>
          <p:nvPicPr>
            <p:cNvPr id="903" name="Google Shape;903;p87"/>
            <p:cNvPicPr preferRelativeResize="0"/>
            <p:nvPr/>
          </p:nvPicPr>
          <p:blipFill rotWithShape="1">
            <a:blip r:embed="rId3">
              <a:alphaModFix/>
            </a:blip>
            <a:srcRect b="0" l="0" r="0" t="0"/>
            <a:stretch/>
          </p:blipFill>
          <p:spPr>
            <a:xfrm>
              <a:off x="2639253" y="2482984"/>
              <a:ext cx="2326005" cy="2114550"/>
            </a:xfrm>
            <a:prstGeom prst="rect">
              <a:avLst/>
            </a:prstGeom>
            <a:noFill/>
            <a:ln>
              <a:noFill/>
            </a:ln>
          </p:spPr>
        </p:pic>
        <p:pic>
          <p:nvPicPr>
            <p:cNvPr id="904" name="Google Shape;904;p87"/>
            <p:cNvPicPr preferRelativeResize="0"/>
            <p:nvPr/>
          </p:nvPicPr>
          <p:blipFill rotWithShape="1">
            <a:blip r:embed="rId4">
              <a:alphaModFix/>
            </a:blip>
            <a:srcRect b="0" l="0" r="0" t="0"/>
            <a:stretch/>
          </p:blipFill>
          <p:spPr>
            <a:xfrm>
              <a:off x="6410130" y="2377275"/>
              <a:ext cx="3024000" cy="2272597"/>
            </a:xfrm>
            <a:prstGeom prst="rect">
              <a:avLst/>
            </a:prstGeom>
            <a:noFill/>
            <a:ln>
              <a:noFill/>
            </a:ln>
          </p:spPr>
        </p:pic>
      </p:grpSp>
      <p:sp>
        <p:nvSpPr>
          <p:cNvPr id="905" name="Google Shape;905;p87"/>
          <p:cNvSpPr txBox="1"/>
          <p:nvPr/>
        </p:nvSpPr>
        <p:spPr>
          <a:xfrm>
            <a:off x="484566" y="5233666"/>
            <a:ext cx="7954584" cy="116713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figure has 6 faces, 12 edges, 8 vertices.</a:t>
            </a:r>
            <a:endParaRPr b="0" i="0" sz="1400" u="none" cap="none" strike="noStrike">
              <a:solidFill>
                <a:srgbClr val="000000"/>
              </a:solidFill>
              <a:latin typeface="Arial"/>
              <a:ea typeface="Arial"/>
              <a:cs typeface="Arial"/>
              <a:sym typeface="Arial"/>
            </a:endParaRPr>
          </a:p>
        </p:txBody>
      </p:sp>
      <p:sp>
        <p:nvSpPr>
          <p:cNvPr id="906" name="Google Shape;906;p87"/>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Mystery Shape</a:t>
            </a:r>
            <a:endParaRPr b="0" i="0" sz="1400" u="none" cap="none" strike="noStrike">
              <a:solidFill>
                <a:srgbClr val="000000"/>
              </a:solidFill>
              <a:latin typeface="Arial"/>
              <a:ea typeface="Arial"/>
              <a:cs typeface="Arial"/>
              <a:sym typeface="Arial"/>
            </a:endParaRPr>
          </a:p>
        </p:txBody>
      </p:sp>
      <p:sp>
        <p:nvSpPr>
          <p:cNvPr id="90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48 / 62</a:t>
            </a:r>
          </a:p>
        </p:txBody>
      </p:sp>
      <p:sp>
        <p:nvSpPr>
          <p:cNvPr id="908" name="EWL-COVER-1"/>
          <p:cNvSpPr/>
          <p:nvPr/>
        </p:nvSpPr>
        <p:spPr>
          <a:xfrm>
            <a:off x="429702" y="5178802"/>
            <a:ext cx="8064312" cy="1267718"/>
          </a:xfrm>
          <a:prstGeom prst="rect">
            <a:avLst/>
          </a:prstGeom>
          <a:solidFill>
            <a:srgbClr val="FFFFFF"/>
          </a:solidFill>
          <a:ln>
            <a:noFill/>
          </a:ln>
        </p:spPr>
        <p:txBody>
          <a:bodyPr/>
          <a:lstStyle/>
          <a:p/>
        </p:txBody>
      </p:sp>
      <p:grpSp>
        <p:nvGrpSpPr>
          <p:cNvPr id="909" name="TEACH-2-student-move" descr="TEACH 2 · Use strategies and tasks to engage students in rigorous work"/>
          <p:cNvGrpSpPr/>
          <p:nvPr/>
        </p:nvGrpSpPr>
        <p:grpSpPr>
          <a:xfrm>
            <a:off x="502920" y="3488938"/>
            <a:ext cx="11186160" cy="320040"/>
            <a:chOff x="502920" y="3488938"/>
            <a:chExt cx="11186160" cy="320040"/>
          </a:xfrm>
        </p:grpSpPr>
        <p:sp>
          <p:nvSpPr>
            <p:cNvPr id="910" name="TEACH-move-card"/>
            <p:cNvSpPr/>
            <p:nvPr/>
          </p:nvSpPr>
          <p:spPr>
            <a:xfrm>
              <a:off x="502920" y="3488938"/>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911" name="TEACH-move-rule"/>
            <p:cNvSpPr/>
            <p:nvPr/>
          </p:nvSpPr>
          <p:spPr>
            <a:xfrm>
              <a:off x="548640" y="3549746"/>
              <a:ext cx="100584" cy="198424"/>
            </a:xfrm>
            <a:prstGeom prst="roundRect">
              <a:avLst>
                <a:gd name="adj" fmla="val 50000"/>
              </a:avLst>
            </a:prstGeom>
            <a:solidFill>
              <a:srgbClr val="01708C"/>
            </a:solidFill>
            <a:ln>
              <a:noFill/>
            </a:ln>
          </p:spPr>
          <p:txBody>
            <a:bodyPr/>
            <a:lstStyle/>
            <a:p>
              <a:endParaRPr/>
            </a:p>
          </p:txBody>
        </p:sp>
        <p:sp>
          <p:nvSpPr>
            <p:cNvPr id="912" name="TEACH-move-text"/>
            <p:cNvSpPr txBox="1"/>
            <p:nvPr/>
          </p:nvSpPr>
          <p:spPr>
            <a:xfrm>
              <a:off x="822960" y="3488938"/>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YOUR TOOLS  ·  </a:t>
              </a:r>
              <a:r>
                <a:rPr lang="en-US" sz="1200" dirty="0">
                  <a:solidFill>
                    <a:srgbClr val="13303A"/>
                  </a:solidFill>
                  <a:latin typeface="Arial"/>
                </a:rPr>
                <a:t>Reach for your notes, a model, or a manipulative before you reach for an answer.</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0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cxnSp>
        <p:nvCxnSpPr>
          <p:cNvPr id="922" name="Google Shape;922;p8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3" name="Google Shape;923;p89"/>
          <p:cNvSpPr txBox="1"/>
          <p:nvPr/>
        </p:nvSpPr>
        <p:spPr>
          <a:xfrm>
            <a:off x="503501" y="3651593"/>
            <a:ext cx="7687879" cy="9503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three-dimensional figure is made from this net? Explain.</a:t>
            </a:r>
            <a:endParaRPr b="0" i="0" sz="1400" u="none" cap="none" strike="noStrike">
              <a:solidFill>
                <a:srgbClr val="000000"/>
              </a:solidFill>
              <a:latin typeface="Arial"/>
              <a:ea typeface="Arial"/>
              <a:cs typeface="Arial"/>
              <a:sym typeface="Arial"/>
            </a:endParaRPr>
          </a:p>
        </p:txBody>
      </p:sp>
      <p:grpSp>
        <p:nvGrpSpPr>
          <p:cNvPr id="924" name="Google Shape;924;p89"/>
          <p:cNvGrpSpPr/>
          <p:nvPr/>
        </p:nvGrpSpPr>
        <p:grpSpPr>
          <a:xfrm>
            <a:off x="1396503" y="1109996"/>
            <a:ext cx="6794877" cy="2272597"/>
            <a:chOff x="2639253" y="2377275"/>
            <a:chExt cx="6794877" cy="2272597"/>
          </a:xfrm>
        </p:grpSpPr>
        <p:pic>
          <p:nvPicPr>
            <p:cNvPr id="925" name="Google Shape;925;p89"/>
            <p:cNvPicPr preferRelativeResize="0"/>
            <p:nvPr/>
          </p:nvPicPr>
          <p:blipFill rotWithShape="1">
            <a:blip r:embed="rId3">
              <a:alphaModFix/>
            </a:blip>
            <a:srcRect b="0" l="0" r="0" t="0"/>
            <a:stretch/>
          </p:blipFill>
          <p:spPr>
            <a:xfrm>
              <a:off x="2639253" y="2482984"/>
              <a:ext cx="2326005" cy="2114550"/>
            </a:xfrm>
            <a:prstGeom prst="rect">
              <a:avLst/>
            </a:prstGeom>
            <a:noFill/>
            <a:ln>
              <a:noFill/>
            </a:ln>
          </p:spPr>
        </p:pic>
        <p:pic>
          <p:nvPicPr>
            <p:cNvPr id="926" name="Google Shape;926;p89"/>
            <p:cNvPicPr preferRelativeResize="0"/>
            <p:nvPr/>
          </p:nvPicPr>
          <p:blipFill rotWithShape="1">
            <a:blip r:embed="rId4">
              <a:alphaModFix/>
            </a:blip>
            <a:srcRect b="0" l="0" r="0" t="0"/>
            <a:stretch/>
          </p:blipFill>
          <p:spPr>
            <a:xfrm>
              <a:off x="6410130" y="2377275"/>
              <a:ext cx="3024000" cy="2272597"/>
            </a:xfrm>
            <a:prstGeom prst="rect">
              <a:avLst/>
            </a:prstGeom>
            <a:noFill/>
            <a:ln>
              <a:noFill/>
            </a:ln>
          </p:spPr>
        </p:pic>
      </p:grpSp>
      <p:sp>
        <p:nvSpPr>
          <p:cNvPr id="927" name="Google Shape;927;p89"/>
          <p:cNvSpPr txBox="1"/>
          <p:nvPr/>
        </p:nvSpPr>
        <p:spPr>
          <a:xfrm>
            <a:off x="503500" y="4870934"/>
            <a:ext cx="8278549"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three-dimensional figure has 6 square faces. So, it is a cube.</a:t>
            </a:r>
            <a:endParaRPr b="0" i="0" sz="1400" u="none" cap="none" strike="noStrike">
              <a:solidFill>
                <a:srgbClr val="000000"/>
              </a:solidFill>
              <a:latin typeface="Arial"/>
              <a:ea typeface="Arial"/>
              <a:cs typeface="Arial"/>
              <a:sym typeface="Arial"/>
            </a:endParaRPr>
          </a:p>
        </p:txBody>
      </p:sp>
      <p:sp>
        <p:nvSpPr>
          <p:cNvPr id="928" name="Google Shape;928;p89"/>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Mystery Shape</a:t>
            </a:r>
            <a:endParaRPr b="0" i="0" sz="1400" u="none" cap="none" strike="noStrike">
              <a:solidFill>
                <a:srgbClr val="000000"/>
              </a:solidFill>
              <a:latin typeface="Arial"/>
              <a:ea typeface="Arial"/>
              <a:cs typeface="Arial"/>
              <a:sym typeface="Arial"/>
            </a:endParaRPr>
          </a:p>
        </p:txBody>
      </p:sp>
      <p:sp>
        <p:nvSpPr>
          <p:cNvPr id="9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49 / 62</a:t>
            </a:r>
          </a:p>
        </p:txBody>
      </p:sp>
      <p:sp>
        <p:nvSpPr>
          <p:cNvPr id="930" name="EWL-COVER-1"/>
          <p:cNvSpPr/>
          <p:nvPr/>
        </p:nvSpPr>
        <p:spPr>
          <a:xfrm>
            <a:off x="448636" y="4816070"/>
            <a:ext cx="8388277" cy="1630450"/>
          </a:xfrm>
          <a:prstGeom prst="rect">
            <a:avLst/>
          </a:prstGeom>
          <a:solidFill>
            <a:srgbClr val="FFFFFF"/>
          </a:solidFill>
          <a:ln>
            <a:noFill/>
          </a:ln>
        </p:spPr>
        <p:txBody>
          <a:bodyPr/>
          <a:lstStyle/>
          <a:p/>
        </p:txBody>
      </p:sp>
      <p:grpSp>
        <p:nvGrpSpPr>
          <p:cNvPr id="931" name="TEACH-3-student-move" descr="TEACH 3 · Use intentional questioning to deepen learning"/>
          <p:cNvGrpSpPr/>
          <p:nvPr/>
        </p:nvGrpSpPr>
        <p:grpSpPr>
          <a:xfrm>
            <a:off x="6187440" y="671084"/>
            <a:ext cx="5501640" cy="402336"/>
            <a:chOff x="6187440" y="671084"/>
            <a:chExt cx="5501640" cy="402336"/>
          </a:xfrm>
        </p:grpSpPr>
        <p:sp>
          <p:nvSpPr>
            <p:cNvPr id="932" name="TEACH-move-card"/>
            <p:cNvSpPr/>
            <p:nvPr/>
          </p:nvSpPr>
          <p:spPr>
            <a:xfrm>
              <a:off x="6187440" y="671084"/>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933" name="TEACH-move-rule"/>
            <p:cNvSpPr/>
            <p:nvPr/>
          </p:nvSpPr>
          <p:spPr>
            <a:xfrm>
              <a:off x="6233160" y="747528"/>
              <a:ext cx="100584" cy="249448"/>
            </a:xfrm>
            <a:prstGeom prst="roundRect">
              <a:avLst>
                <a:gd name="adj" fmla="val 50000"/>
              </a:avLst>
            </a:prstGeom>
            <a:solidFill>
              <a:srgbClr val="01708C"/>
            </a:solidFill>
            <a:ln>
              <a:noFill/>
            </a:ln>
          </p:spPr>
          <p:txBody>
            <a:bodyPr/>
            <a:lstStyle/>
            <a:p>
              <a:endParaRPr/>
            </a:p>
          </p:txBody>
        </p:sp>
        <p:sp>
          <p:nvSpPr>
            <p:cNvPr id="934" name="TEACH-move-text"/>
            <p:cNvSpPr txBox="1"/>
            <p:nvPr/>
          </p:nvSpPr>
          <p:spPr>
            <a:xfrm>
              <a:off x="6507480" y="671084"/>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PROVE IT  ·  </a:t>
              </a:r>
              <a:r>
                <a:rPr lang="en-US" sz="1200" dirty="0">
                  <a:solidFill>
                    <a:srgbClr val="13303A"/>
                  </a:solidFill>
                  <a:latin typeface="Arial"/>
                </a:rPr>
                <a:t>Find the evidence in the problem that makes your answer right — not just the answer.</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cxnSp>
        <p:nvCxnSpPr>
          <p:cNvPr id="933" name="Google Shape;933;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grpSp>
        <p:nvGrpSpPr>
          <p:cNvPr id="934" name="Google Shape;934;p90"/>
          <p:cNvGrpSpPr/>
          <p:nvPr/>
        </p:nvGrpSpPr>
        <p:grpSpPr>
          <a:xfrm>
            <a:off x="1396503" y="1109996"/>
            <a:ext cx="6794877" cy="2272597"/>
            <a:chOff x="2639253" y="2377275"/>
            <a:chExt cx="6794877" cy="2272597"/>
          </a:xfrm>
        </p:grpSpPr>
        <p:pic>
          <p:nvPicPr>
            <p:cNvPr id="935" name="Google Shape;935;p90"/>
            <p:cNvPicPr preferRelativeResize="0"/>
            <p:nvPr/>
          </p:nvPicPr>
          <p:blipFill rotWithShape="1">
            <a:blip r:embed="rId3">
              <a:alphaModFix/>
            </a:blip>
            <a:srcRect b="0" l="0" r="0" t="0"/>
            <a:stretch/>
          </p:blipFill>
          <p:spPr>
            <a:xfrm>
              <a:off x="2639253" y="2482984"/>
              <a:ext cx="2326005" cy="2114550"/>
            </a:xfrm>
            <a:prstGeom prst="rect">
              <a:avLst/>
            </a:prstGeom>
            <a:noFill/>
            <a:ln>
              <a:noFill/>
            </a:ln>
          </p:spPr>
        </p:pic>
        <p:pic>
          <p:nvPicPr>
            <p:cNvPr id="936" name="Google Shape;936;p90"/>
            <p:cNvPicPr preferRelativeResize="0"/>
            <p:nvPr/>
          </p:nvPicPr>
          <p:blipFill rotWithShape="1">
            <a:blip r:embed="rId4">
              <a:alphaModFix/>
            </a:blip>
            <a:srcRect b="0" l="0" r="0" t="0"/>
            <a:stretch/>
          </p:blipFill>
          <p:spPr>
            <a:xfrm>
              <a:off x="6410130" y="2377275"/>
              <a:ext cx="3024000" cy="2272597"/>
            </a:xfrm>
            <a:prstGeom prst="rect">
              <a:avLst/>
            </a:prstGeom>
            <a:noFill/>
            <a:ln>
              <a:noFill/>
            </a:ln>
          </p:spPr>
        </p:pic>
      </p:grpSp>
      <p:sp>
        <p:nvSpPr>
          <p:cNvPr id="937" name="Google Shape;937;p90"/>
          <p:cNvSpPr/>
          <p:nvPr/>
        </p:nvSpPr>
        <p:spPr>
          <a:xfrm>
            <a:off x="636461" y="5799465"/>
            <a:ext cx="8037778"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are some other representations you could use?</a:t>
            </a:r>
            <a:endParaRPr b="0" i="0" sz="2600" u="none" cap="none" strike="noStrike">
              <a:solidFill>
                <a:srgbClr val="595959"/>
              </a:solidFill>
              <a:latin typeface="Arial"/>
              <a:ea typeface="Arial"/>
              <a:cs typeface="Arial"/>
              <a:sym typeface="Arial"/>
            </a:endParaRPr>
          </a:p>
        </p:txBody>
      </p:sp>
      <p:pic>
        <p:nvPicPr>
          <p:cNvPr id="938" name="Google Shape;938;p90"/>
          <p:cNvPicPr preferRelativeResize="0"/>
          <p:nvPr/>
        </p:nvPicPr>
        <p:blipFill rotWithShape="1">
          <a:blip r:embed="rId5">
            <a:alphaModFix/>
          </a:blip>
          <a:srcRect b="0" l="0" r="0" t="0"/>
          <a:stretch/>
        </p:blipFill>
        <p:spPr>
          <a:xfrm>
            <a:off x="484563" y="4961265"/>
            <a:ext cx="7073900" cy="838200"/>
          </a:xfrm>
          <a:prstGeom prst="rect">
            <a:avLst/>
          </a:prstGeom>
          <a:noFill/>
          <a:ln>
            <a:noFill/>
          </a:ln>
        </p:spPr>
      </p:pic>
      <p:sp>
        <p:nvSpPr>
          <p:cNvPr id="939" name="Google Shape;939;p90"/>
          <p:cNvSpPr/>
          <p:nvPr/>
        </p:nvSpPr>
        <p:spPr>
          <a:xfrm>
            <a:off x="3156271" y="5118755"/>
            <a:ext cx="4201791"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Using Representations </a:t>
            </a:r>
            <a:endParaRPr b="0" i="0" sz="1400" u="none" cap="none" strike="noStrike">
              <a:solidFill>
                <a:srgbClr val="000000"/>
              </a:solidFill>
              <a:latin typeface="Arial"/>
              <a:ea typeface="Arial"/>
              <a:cs typeface="Arial"/>
              <a:sym typeface="Arial"/>
            </a:endParaRPr>
          </a:p>
        </p:txBody>
      </p:sp>
      <p:sp>
        <p:nvSpPr>
          <p:cNvPr id="940" name="Google Shape;940;p90"/>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Mystery Shape</a:t>
            </a:r>
            <a:endParaRPr b="0" i="0" sz="1400" u="none" cap="none" strike="noStrike">
              <a:solidFill>
                <a:srgbClr val="000000"/>
              </a:solidFill>
              <a:latin typeface="Arial"/>
              <a:ea typeface="Arial"/>
              <a:cs typeface="Arial"/>
              <a:sym typeface="Arial"/>
            </a:endParaRPr>
          </a:p>
        </p:txBody>
      </p:sp>
      <p:sp>
        <p:nvSpPr>
          <p:cNvPr id="94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50 / 62</a:t>
            </a:r>
          </a:p>
        </p:txBody>
      </p:sp>
      <p:sp xmlns:p="http://schemas.openxmlformats.org/presentationml/2006/main" xmlns:a="http://schemas.openxmlformats.org/drawingml/2006/main">
        <p:nvSpPr>
          <p:cNvPr id="942" name="TEACH-embedded-student-prompt" descr="Student thinking and response directions"/>
          <p:cNvSpPr txBox="1"/>
          <p:nvPr/>
        </p:nvSpPr>
        <p:spPr>
          <a:xfrm>
            <a:off x="594360" y="43525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cxnSp>
        <p:nvCxnSpPr>
          <p:cNvPr id="945" name="Google Shape;945;p9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46" name="Google Shape;946;p91"/>
          <p:cNvSpPr txBox="1"/>
          <p:nvPr/>
        </p:nvSpPr>
        <p:spPr>
          <a:xfrm>
            <a:off x="484563" y="936000"/>
            <a:ext cx="7357109" cy="11157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three-dimensional figure can this net make?</a:t>
            </a:r>
            <a:endParaRPr b="0" i="0" sz="1400" u="none" cap="none" strike="noStrike">
              <a:solidFill>
                <a:srgbClr val="000000"/>
              </a:solidFill>
              <a:latin typeface="Arial"/>
              <a:ea typeface="Arial"/>
              <a:cs typeface="Arial"/>
              <a:sym typeface="Arial"/>
            </a:endParaRPr>
          </a:p>
        </p:txBody>
      </p:sp>
      <p:sp>
        <p:nvSpPr>
          <p:cNvPr id="947" name="Google Shape;947;p91"/>
          <p:cNvSpPr txBox="1"/>
          <p:nvPr/>
        </p:nvSpPr>
        <p:spPr>
          <a:xfrm>
            <a:off x="579898" y="2410264"/>
            <a:ext cx="5745841" cy="523220"/>
          </a:xfrm>
          <a:prstGeom prst="rect">
            <a:avLst/>
          </a:prstGeom>
          <a:solidFill>
            <a:schemeClr val="lt1"/>
          </a:solidFill>
          <a:ln cap="flat" cmpd="sng" w="12700">
            <a:solidFill>
              <a:srgbClr val="782DA0"/>
            </a:solidFill>
            <a:prstDash val="solid"/>
            <a:miter lim="8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This net makes a cube.</a:t>
            </a:r>
            <a:endParaRPr b="0" i="0" sz="1400" u="none" cap="none" strike="noStrike">
              <a:solidFill>
                <a:srgbClr val="000000"/>
              </a:solidFill>
              <a:latin typeface="Arial"/>
              <a:ea typeface="Arial"/>
              <a:cs typeface="Arial"/>
              <a:sym typeface="Arial"/>
            </a:endParaRPr>
          </a:p>
        </p:txBody>
      </p:sp>
      <p:pic>
        <p:nvPicPr>
          <p:cNvPr id="948" name="Google Shape;948;p91"/>
          <p:cNvPicPr preferRelativeResize="0"/>
          <p:nvPr/>
        </p:nvPicPr>
        <p:blipFill rotWithShape="1">
          <a:blip r:embed="rId3">
            <a:alphaModFix/>
          </a:blip>
          <a:srcRect b="0" l="0" r="0" t="0"/>
          <a:stretch/>
        </p:blipFill>
        <p:spPr>
          <a:xfrm>
            <a:off x="8354392" y="1987297"/>
            <a:ext cx="3237572" cy="2457086"/>
          </a:xfrm>
          <a:prstGeom prst="rect">
            <a:avLst/>
          </a:prstGeom>
          <a:noFill/>
          <a:ln>
            <a:noFill/>
          </a:ln>
        </p:spPr>
      </p:pic>
      <p:sp>
        <p:nvSpPr>
          <p:cNvPr id="949" name="Google Shape;949;p91"/>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Mystery Shape</a:t>
            </a:r>
            <a:endParaRPr b="0" i="0" sz="1400" u="none" cap="none" strike="noStrike">
              <a:solidFill>
                <a:srgbClr val="000000"/>
              </a:solidFill>
              <a:latin typeface="Arial"/>
              <a:ea typeface="Arial"/>
              <a:cs typeface="Arial"/>
              <a:sym typeface="Arial"/>
            </a:endParaRPr>
          </a:p>
        </p:txBody>
      </p:sp>
      <p:sp>
        <p:nvSpPr>
          <p:cNvPr id="95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51 / 62</a:t>
            </a:r>
          </a:p>
        </p:txBody>
      </p:sp>
      <p:sp xmlns:p="http://schemas.openxmlformats.org/presentationml/2006/main" xmlns:a="http://schemas.openxmlformats.org/drawingml/2006/main">
        <p:nvSpPr>
          <p:cNvPr id="951"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92"/>
          <p:cNvSpPr txBox="1"/>
          <p:nvPr/>
        </p:nvSpPr>
        <p:spPr>
          <a:xfrm>
            <a:off x="484565" y="927528"/>
            <a:ext cx="7406832" cy="1133284"/>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pPr>
            <a:r>
              <a:rPr b="0" i="0" lang="en-US" sz="2800" u="none" cap="none" strike="noStrike">
                <a:solidFill>
                  <a:srgbClr val="23282D"/>
                </a:solidFill>
                <a:latin typeface="Arial"/>
                <a:ea typeface="Arial"/>
                <a:cs typeface="Arial"/>
                <a:sym typeface="Arial"/>
              </a:rPr>
              <a:t>How can you determine if a net forms a cube by just looking at the net?</a:t>
            </a:r>
            <a:endParaRPr b="0" i="0" sz="1400" u="none" cap="none" strike="noStrike">
              <a:solidFill>
                <a:srgbClr val="000000"/>
              </a:solidFill>
              <a:latin typeface="Arial"/>
              <a:ea typeface="Arial"/>
              <a:cs typeface="Arial"/>
              <a:sym typeface="Arial"/>
            </a:endParaRPr>
          </a:p>
        </p:txBody>
      </p:sp>
      <p:sp>
        <p:nvSpPr>
          <p:cNvPr id="955" name="Google Shape;955;p92"/>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956" name="Google Shape;956;p92"/>
          <p:cNvSpPr txBox="1"/>
          <p:nvPr/>
        </p:nvSpPr>
        <p:spPr>
          <a:xfrm>
            <a:off x="567559" y="3585720"/>
            <a:ext cx="7147691" cy="657494"/>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pPr>
            <a:r>
              <a:rPr b="0" i="0" lang="en-US" sz="2800" u="none" cap="none" strike="noStrike">
                <a:solidFill>
                  <a:srgbClr val="23282D"/>
                </a:solidFill>
                <a:latin typeface="Arial"/>
                <a:ea typeface="Arial"/>
                <a:cs typeface="Arial"/>
                <a:sym typeface="Arial"/>
              </a:rPr>
              <a:t>Where have you seen cubes in real life?</a:t>
            </a:r>
            <a:endParaRPr b="0" i="0" sz="1400" u="none" cap="none" strike="noStrike">
              <a:solidFill>
                <a:srgbClr val="000000"/>
              </a:solidFill>
              <a:latin typeface="Arial"/>
              <a:ea typeface="Arial"/>
              <a:cs typeface="Arial"/>
              <a:sym typeface="Arial"/>
            </a:endParaRPr>
          </a:p>
        </p:txBody>
      </p:sp>
      <p:sp>
        <p:nvSpPr>
          <p:cNvPr id="95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52 / 62</a:t>
            </a:r>
          </a:p>
        </p:txBody>
      </p:sp>
      <p:sp xmlns:p="http://schemas.openxmlformats.org/presentationml/2006/main" xmlns:a="http://schemas.openxmlformats.org/drawingml/2006/main">
        <p:nvSpPr>
          <p:cNvPr id="958"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 work with a partner; explain one choice and revise.</a:t>
            </a:r>
            <a:endParaRPr lang="en-US" sz="2000"/>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5.6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accepting a net whose faces overlap or leave an opening.</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a paper trace of the given net and mark corresponding edges.</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55" name="Google Shape;755;p7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56" name="Google Shape;756;p71"/>
          <p:cNvSpPr txBox="1"/>
          <p:nvPr/>
        </p:nvSpPr>
        <p:spPr>
          <a:xfrm>
            <a:off x="484566" y="936100"/>
            <a:ext cx="7437564" cy="17068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is the relationship between the net and the three-dimensional shape that can be made by the net?</a:t>
            </a:r>
            <a:endParaRPr b="0" i="0" sz="1400" u="none" cap="none" strike="noStrike">
              <a:solidFill>
                <a:srgbClr val="000000"/>
              </a:solidFill>
              <a:latin typeface="Arial"/>
              <a:ea typeface="Arial"/>
              <a:cs typeface="Arial"/>
              <a:sym typeface="Arial"/>
            </a:endParaRPr>
          </a:p>
        </p:txBody>
      </p:sp>
      <p:pic>
        <p:nvPicPr>
          <p:cNvPr id="757" name="Google Shape;757;p71"/>
          <p:cNvPicPr preferRelativeResize="0"/>
          <p:nvPr/>
        </p:nvPicPr>
        <p:blipFill rotWithShape="1">
          <a:blip r:embed="rId2">
            <a:alphaModFix/>
          </a:blip>
          <a:srcRect b="0" l="0" r="0" t="0"/>
          <a:stretch/>
        </p:blipFill>
        <p:spPr>
          <a:xfrm>
            <a:off x="8354392" y="1987297"/>
            <a:ext cx="3237572" cy="2457086"/>
          </a:xfrm>
          <a:prstGeom prst="rect">
            <a:avLst/>
          </a:prstGeom>
          <a:noFill/>
          <a:ln>
            <a:noFill/>
          </a:ln>
        </p:spPr>
      </p:pic>
      <p:sp>
        <p:nvSpPr>
          <p:cNvPr id="758" name="Google Shape;758;p71"/>
          <p:cNvSpPr txBox="1"/>
          <p:nvPr/>
        </p:nvSpPr>
        <p:spPr>
          <a:xfrm>
            <a:off x="484566" y="4600855"/>
            <a:ext cx="7547198"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net is a two-dimensional representation of the three-dimensional figure it can make.</a:t>
            </a:r>
            <a:endParaRPr b="0" i="0" sz="1400" u="none" cap="none" strike="noStrike">
              <a:solidFill>
                <a:srgbClr val="000000"/>
              </a:solidFill>
              <a:latin typeface="Arial"/>
              <a:ea typeface="Arial"/>
              <a:cs typeface="Arial"/>
              <a:sym typeface="Arial"/>
            </a:endParaRPr>
          </a:p>
        </p:txBody>
      </p:sp>
      <p:sp>
        <p:nvSpPr>
          <p:cNvPr id="759" name="Google Shape;759;p71"/>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Mystery Shape</a:t>
            </a:r>
            <a:endParaRPr b="0" i="0" sz="1400" u="none" cap="none" strike="noStrike">
              <a:solidFill>
                <a:srgbClr val="000000"/>
              </a:solidFill>
              <a:latin typeface="Arial"/>
              <a:ea typeface="Arial"/>
              <a:cs typeface="Arial"/>
              <a:sym typeface="Arial"/>
            </a:endParaRPr>
          </a:p>
        </p:txBody>
      </p:sp>
      <p:sp>
        <p:nvSpPr>
          <p:cNvPr id="2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54 / 62</a:t>
            </a:r>
          </a:p>
        </p:txBody>
      </p:sp>
      <p:sp xmlns:p="http://schemas.openxmlformats.org/presentationml/2006/main" xmlns:a="http://schemas.openxmlformats.org/drawingml/2006/main">
        <p:nvSpPr>
          <p:cNvPr id="760" name="TEACH-embedded-student-prompt" descr="Student thinking and response directions"/>
          <p:cNvSpPr txBox="1"/>
          <p:nvPr/>
        </p:nvSpPr>
        <p:spPr>
          <a:xfrm>
            <a:off x="594360" y="36758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a:t>
            </a:r>
            <a:endParaRPr lang="en-US" sz="2000"/>
          </a:p>
          <a:p>
            <a:pPr>
              <a:lnSpc>
                <a:spcPts val="2400"/>
              </a:lnSpc>
              <a:buNone/>
            </a:pPr>
            <a:r>
              <a:rPr lang="en-US" sz="2000">
                <a:solidFill>
                  <a:srgbClr val="174D60"/>
                </a:solidFill>
                <a:latin typeface="Arial"/>
              </a:rPr>
              <a:t>revision you make.</a:t>
            </a:r>
            <a:endParaRPr lang="en-US" sz="2000"/>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09" name="Google Shape;809;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10" name="Google Shape;810;p77"/>
          <p:cNvSpPr txBox="1"/>
          <p:nvPr/>
        </p:nvSpPr>
        <p:spPr>
          <a:xfrm>
            <a:off x="484564" y="936000"/>
            <a:ext cx="7173535" cy="9063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describe the shapes that appear in the net?</a:t>
            </a:r>
            <a:endParaRPr b="0" i="0" sz="1400" u="none" cap="none" strike="noStrike">
              <a:solidFill>
                <a:srgbClr val="000000"/>
              </a:solidFill>
              <a:latin typeface="Arial"/>
              <a:ea typeface="Arial"/>
              <a:cs typeface="Arial"/>
              <a:sym typeface="Arial"/>
            </a:endParaRPr>
          </a:p>
        </p:txBody>
      </p:sp>
      <p:pic>
        <p:nvPicPr>
          <p:cNvPr id="811" name="Google Shape;811;p77"/>
          <p:cNvPicPr preferRelativeResize="0"/>
          <p:nvPr/>
        </p:nvPicPr>
        <p:blipFill rotWithShape="1">
          <a:blip r:embed="rId2">
            <a:alphaModFix/>
          </a:blip>
          <a:srcRect b="0" l="0" r="0" t="0"/>
          <a:stretch/>
        </p:blipFill>
        <p:spPr>
          <a:xfrm>
            <a:off x="8354392" y="1987297"/>
            <a:ext cx="3237572" cy="2457086"/>
          </a:xfrm>
          <a:prstGeom prst="rect">
            <a:avLst/>
          </a:prstGeom>
          <a:noFill/>
          <a:ln>
            <a:noFill/>
          </a:ln>
        </p:spPr>
      </p:pic>
      <p:sp>
        <p:nvSpPr>
          <p:cNvPr id="812" name="Google Shape;812;p77"/>
          <p:cNvSpPr txBox="1"/>
          <p:nvPr/>
        </p:nvSpPr>
        <p:spPr>
          <a:xfrm>
            <a:off x="484564" y="4636365"/>
            <a:ext cx="7052578"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net is made up of 6 squares of the same size.</a:t>
            </a:r>
            <a:endParaRPr b="0" i="0" sz="1400" u="none" cap="none" strike="noStrike">
              <a:solidFill>
                <a:srgbClr val="000000"/>
              </a:solidFill>
              <a:latin typeface="Arial"/>
              <a:ea typeface="Arial"/>
              <a:cs typeface="Arial"/>
              <a:sym typeface="Arial"/>
            </a:endParaRPr>
          </a:p>
        </p:txBody>
      </p:sp>
      <p:sp>
        <p:nvSpPr>
          <p:cNvPr id="813" name="Google Shape;813;p77"/>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Mystery Shape</a:t>
            </a:r>
            <a:endParaRPr b="0" i="0" sz="1400" u="none" cap="none" strike="noStrike">
              <a:solidFill>
                <a:srgbClr val="000000"/>
              </a:solidFill>
              <a:latin typeface="Arial"/>
              <a:ea typeface="Arial"/>
              <a:cs typeface="Arial"/>
              <a:sym typeface="Arial"/>
            </a:endParaRPr>
          </a:p>
        </p:txBody>
      </p:sp>
      <p:sp>
        <p:nvSpPr>
          <p:cNvPr id="2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55 / 62</a:t>
            </a:r>
          </a:p>
        </p:txBody>
      </p:sp>
      <p:sp xmlns:p="http://schemas.openxmlformats.org/presentationml/2006/main" xmlns:a="http://schemas.openxmlformats.org/drawingml/2006/main">
        <p:nvSpPr>
          <p:cNvPr id="814" name="TEACH-embedded-student-prompt" descr="Student thinking and response directions"/>
          <p:cNvSpPr txBox="1"/>
          <p:nvPr/>
        </p:nvSpPr>
        <p:spPr>
          <a:xfrm>
            <a:off x="594360" y="36758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a:t>
            </a:r>
            <a:endParaRPr lang="en-US" sz="2000"/>
          </a:p>
          <a:p>
            <a:pPr>
              <a:lnSpc>
                <a:spcPts val="2400"/>
              </a:lnSpc>
              <a:buNone/>
            </a:pPr>
            <a:r>
              <a:rPr lang="en-US" sz="2000">
                <a:solidFill>
                  <a:srgbClr val="174D60"/>
                </a:solidFill>
                <a:latin typeface="Arial"/>
              </a:rPr>
              <a:t>revision you make.</a:t>
            </a:r>
            <a:endParaRPr lang="en-US" sz="2000"/>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00" name="Google Shape;900;p8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01" name="Google Shape;901;p87"/>
          <p:cNvSpPr txBox="1"/>
          <p:nvPr/>
        </p:nvSpPr>
        <p:spPr>
          <a:xfrm>
            <a:off x="484566" y="3845554"/>
            <a:ext cx="9005798" cy="11869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many faces, edges, and vertices does the three-dimensional figure have?</a:t>
            </a:r>
            <a:endParaRPr b="0" i="0" sz="1400" u="none" cap="none" strike="noStrike">
              <a:solidFill>
                <a:srgbClr val="000000"/>
              </a:solidFill>
              <a:latin typeface="Arial"/>
              <a:ea typeface="Arial"/>
              <a:cs typeface="Arial"/>
              <a:sym typeface="Arial"/>
            </a:endParaRPr>
          </a:p>
        </p:txBody>
      </p:sp>
      <p:grpSp>
        <p:nvGrpSpPr>
          <p:cNvPr id="902" name="Google Shape;902;p87"/>
          <p:cNvGrpSpPr/>
          <p:nvPr/>
        </p:nvGrpSpPr>
        <p:grpSpPr>
          <a:xfrm>
            <a:off x="1396503" y="1109996"/>
            <a:ext cx="6794877" cy="2272597"/>
            <a:chOff x="2639253" y="2377275"/>
            <a:chExt cx="6794877" cy="2272597"/>
          </a:xfrm>
        </p:grpSpPr>
        <p:pic>
          <p:nvPicPr>
            <p:cNvPr id="903" name="Google Shape;903;p87"/>
            <p:cNvPicPr preferRelativeResize="0"/>
            <p:nvPr/>
          </p:nvPicPr>
          <p:blipFill rotWithShape="1">
            <a:blip r:embed="rId2">
              <a:alphaModFix/>
            </a:blip>
            <a:srcRect b="0" l="0" r="0" t="0"/>
            <a:stretch/>
          </p:blipFill>
          <p:spPr>
            <a:xfrm>
              <a:off x="2639253" y="2482984"/>
              <a:ext cx="2326005" cy="2114550"/>
            </a:xfrm>
            <a:prstGeom prst="rect">
              <a:avLst/>
            </a:prstGeom>
            <a:noFill/>
            <a:ln>
              <a:noFill/>
            </a:ln>
          </p:spPr>
        </p:pic>
        <p:pic>
          <p:nvPicPr>
            <p:cNvPr id="904" name="Google Shape;904;p87"/>
            <p:cNvPicPr preferRelativeResize="0"/>
            <p:nvPr/>
          </p:nvPicPr>
          <p:blipFill rotWithShape="1">
            <a:blip r:embed="rId3">
              <a:alphaModFix/>
            </a:blip>
            <a:srcRect b="0" l="0" r="0" t="0"/>
            <a:stretch/>
          </p:blipFill>
          <p:spPr>
            <a:xfrm>
              <a:off x="6410130" y="2377275"/>
              <a:ext cx="3024000" cy="2272597"/>
            </a:xfrm>
            <a:prstGeom prst="rect">
              <a:avLst/>
            </a:prstGeom>
            <a:noFill/>
            <a:ln>
              <a:noFill/>
            </a:ln>
          </p:spPr>
        </p:pic>
      </p:grpSp>
      <p:sp>
        <p:nvSpPr>
          <p:cNvPr id="905" name="Google Shape;905;p87"/>
          <p:cNvSpPr txBox="1"/>
          <p:nvPr/>
        </p:nvSpPr>
        <p:spPr>
          <a:xfrm>
            <a:off x="484566" y="5233666"/>
            <a:ext cx="7954584" cy="116713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figure has 6 faces, 12 edges, 8 vertices.</a:t>
            </a:r>
            <a:endParaRPr b="0" i="0" sz="1400" u="none" cap="none" strike="noStrike">
              <a:solidFill>
                <a:srgbClr val="000000"/>
              </a:solidFill>
              <a:latin typeface="Arial"/>
              <a:ea typeface="Arial"/>
              <a:cs typeface="Arial"/>
              <a:sym typeface="Arial"/>
            </a:endParaRPr>
          </a:p>
        </p:txBody>
      </p:sp>
      <p:sp>
        <p:nvSpPr>
          <p:cNvPr id="906" name="Google Shape;906;p87"/>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Mystery Shape</a:t>
            </a:r>
            <a:endParaRPr b="0" i="0" sz="1400" u="none" cap="none" strike="noStrike">
              <a:solidFill>
                <a:srgbClr val="000000"/>
              </a:solidFill>
              <a:latin typeface="Arial"/>
              <a:ea typeface="Arial"/>
              <a:cs typeface="Arial"/>
              <a:sym typeface="Arial"/>
            </a:endParaRPr>
          </a:p>
        </p:txBody>
      </p:sp>
      <p:sp>
        <p:nvSpPr>
          <p:cNvPr id="2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56 / 62</a:t>
            </a:r>
          </a:p>
        </p:txBody>
      </p:sp>
      <p:grpSp>
        <p:nvGrpSpPr>
          <p:cNvPr id="907" name="TEACH-5-student-move" descr="TEACH 5 · Facilitate student interactions and academic talk"/>
          <p:cNvGrpSpPr/>
          <p:nvPr/>
        </p:nvGrpSpPr>
        <p:grpSpPr>
          <a:xfrm>
            <a:off x="502920" y="3488938"/>
            <a:ext cx="11186160" cy="320040"/>
            <a:chOff x="502920" y="3488938"/>
            <a:chExt cx="11186160" cy="320040"/>
          </a:xfrm>
        </p:grpSpPr>
        <p:sp>
          <p:nvSpPr>
            <p:cNvPr id="908" name="TEACH-move-card"/>
            <p:cNvSpPr/>
            <p:nvPr/>
          </p:nvSpPr>
          <p:spPr>
            <a:xfrm>
              <a:off x="502920" y="3488938"/>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909" name="TEACH-move-rule"/>
            <p:cNvSpPr/>
            <p:nvPr/>
          </p:nvSpPr>
          <p:spPr>
            <a:xfrm>
              <a:off x="548640" y="3549746"/>
              <a:ext cx="100584" cy="198424"/>
            </a:xfrm>
            <a:prstGeom prst="roundRect">
              <a:avLst>
                <a:gd name="adj" fmla="val 50000"/>
              </a:avLst>
            </a:prstGeom>
            <a:solidFill>
              <a:srgbClr val="01708C"/>
            </a:solidFill>
            <a:ln>
              <a:noFill/>
            </a:ln>
          </p:spPr>
          <p:txBody>
            <a:bodyPr/>
            <a:lstStyle/>
            <a:p>
              <a:endParaRPr/>
            </a:p>
          </p:txBody>
        </p:sp>
        <p:sp>
          <p:nvSpPr>
            <p:cNvPr id="910" name="TEACH-move-text"/>
            <p:cNvSpPr txBox="1"/>
            <p:nvPr/>
          </p:nvSpPr>
          <p:spPr>
            <a:xfrm>
              <a:off x="822960" y="3488938"/>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THE MATH WORDS  ·  </a:t>
              </a:r>
              <a:r>
                <a:rPr lang="en-US" sz="1200" dirty="0">
                  <a:solidFill>
                    <a:srgbClr val="13303A"/>
                  </a:solidFill>
                  <a:latin typeface="Arial"/>
                </a:rPr>
                <a:t>Use today’s math words in your explanation — not “it” and “that thing.”</a:t>
              </a:r>
              <a:endParaRPr lang="en-US" sz="1200"/>
            </a:p>
          </p:txBody>
        </p:sp>
      </p:gr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22" name="Google Shape;922;p8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3" name="Google Shape;923;p89"/>
          <p:cNvSpPr txBox="1"/>
          <p:nvPr/>
        </p:nvSpPr>
        <p:spPr>
          <a:xfrm>
            <a:off x="503501" y="3651593"/>
            <a:ext cx="7687879" cy="9503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What three-dimensional figure is made from this net? Explain.</a:t>
            </a:r>
            <a:endParaRPr b="0" i="0" sz="1400" u="none" cap="none" strike="noStrike">
              <a:solidFill>
                <a:srgbClr val="000000"/>
              </a:solidFill>
              <a:latin typeface="Arial"/>
              <a:ea typeface="Arial"/>
              <a:cs typeface="Arial"/>
              <a:sym typeface="Arial"/>
            </a:endParaRPr>
          </a:p>
        </p:txBody>
      </p:sp>
      <p:grpSp>
        <p:nvGrpSpPr>
          <p:cNvPr id="924" name="Google Shape;924;p89"/>
          <p:cNvGrpSpPr/>
          <p:nvPr/>
        </p:nvGrpSpPr>
        <p:grpSpPr>
          <a:xfrm>
            <a:off x="1396503" y="1109996"/>
            <a:ext cx="6794877" cy="2272597"/>
            <a:chOff x="2639253" y="2377275"/>
            <a:chExt cx="6794877" cy="2272597"/>
          </a:xfrm>
        </p:grpSpPr>
        <p:pic>
          <p:nvPicPr>
            <p:cNvPr id="925" name="Google Shape;925;p89"/>
            <p:cNvPicPr preferRelativeResize="0"/>
            <p:nvPr/>
          </p:nvPicPr>
          <p:blipFill rotWithShape="1">
            <a:blip r:embed="rId2">
              <a:alphaModFix/>
            </a:blip>
            <a:srcRect b="0" l="0" r="0" t="0"/>
            <a:stretch/>
          </p:blipFill>
          <p:spPr>
            <a:xfrm>
              <a:off x="2639253" y="2482984"/>
              <a:ext cx="2326005" cy="2114550"/>
            </a:xfrm>
            <a:prstGeom prst="rect">
              <a:avLst/>
            </a:prstGeom>
            <a:noFill/>
            <a:ln>
              <a:noFill/>
            </a:ln>
          </p:spPr>
        </p:pic>
        <p:pic>
          <p:nvPicPr>
            <p:cNvPr id="926" name="Google Shape;926;p89"/>
            <p:cNvPicPr preferRelativeResize="0"/>
            <p:nvPr/>
          </p:nvPicPr>
          <p:blipFill rotWithShape="1">
            <a:blip r:embed="rId3">
              <a:alphaModFix/>
            </a:blip>
            <a:srcRect b="0" l="0" r="0" t="0"/>
            <a:stretch/>
          </p:blipFill>
          <p:spPr>
            <a:xfrm>
              <a:off x="6410130" y="2377275"/>
              <a:ext cx="3024000" cy="2272597"/>
            </a:xfrm>
            <a:prstGeom prst="rect">
              <a:avLst/>
            </a:prstGeom>
            <a:noFill/>
            <a:ln>
              <a:noFill/>
            </a:ln>
          </p:spPr>
        </p:pic>
      </p:grpSp>
      <p:sp>
        <p:nvSpPr>
          <p:cNvPr id="927" name="Google Shape;927;p89"/>
          <p:cNvSpPr txBox="1"/>
          <p:nvPr/>
        </p:nvSpPr>
        <p:spPr>
          <a:xfrm>
            <a:off x="503500" y="4870934"/>
            <a:ext cx="8278549"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three-dimensional figure has 6 square faces. So, it is a cube.</a:t>
            </a:r>
            <a:endParaRPr b="0" i="0" sz="1400" u="none" cap="none" strike="noStrike">
              <a:solidFill>
                <a:srgbClr val="000000"/>
              </a:solidFill>
              <a:latin typeface="Arial"/>
              <a:ea typeface="Arial"/>
              <a:cs typeface="Arial"/>
              <a:sym typeface="Arial"/>
            </a:endParaRPr>
          </a:p>
        </p:txBody>
      </p:sp>
      <p:sp>
        <p:nvSpPr>
          <p:cNvPr id="928" name="Google Shape;928;p89"/>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Mystery Shape</a:t>
            </a:r>
            <a:endParaRPr b="0" i="0" sz="1400" u="none" cap="none" strike="noStrike">
              <a:solidFill>
                <a:srgbClr val="000000"/>
              </a:solidFill>
              <a:latin typeface="Arial"/>
              <a:ea typeface="Arial"/>
              <a:cs typeface="Arial"/>
              <a:sym typeface="Arial"/>
            </a:endParaRPr>
          </a:p>
        </p:txBody>
      </p:sp>
      <p:sp>
        <p:nvSpPr>
          <p:cNvPr id="2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57 / 62</a:t>
            </a:r>
          </a:p>
        </p:txBody>
      </p:sp>
      <p:grpSp>
        <p:nvGrpSpPr>
          <p:cNvPr id="929" name="TEACH-4-student-move" descr="TEACH 4 · Monitor progress and provide feedback"/>
          <p:cNvGrpSpPr/>
          <p:nvPr/>
        </p:nvGrpSpPr>
        <p:grpSpPr>
          <a:xfrm>
            <a:off x="6187440" y="671084"/>
            <a:ext cx="5501640" cy="402336"/>
            <a:chOff x="6187440" y="671084"/>
            <a:chExt cx="5501640" cy="402336"/>
          </a:xfrm>
        </p:grpSpPr>
        <p:sp>
          <p:nvSpPr>
            <p:cNvPr id="930" name="TEACH-move-card"/>
            <p:cNvSpPr/>
            <p:nvPr/>
          </p:nvSpPr>
          <p:spPr>
            <a:xfrm>
              <a:off x="6187440" y="671084"/>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931" name="TEACH-move-rule"/>
            <p:cNvSpPr/>
            <p:nvPr/>
          </p:nvSpPr>
          <p:spPr>
            <a:xfrm>
              <a:off x="6233160" y="747528"/>
              <a:ext cx="100584" cy="249448"/>
            </a:xfrm>
            <a:prstGeom prst="roundRect">
              <a:avLst>
                <a:gd name="adj" fmla="val 50000"/>
              </a:avLst>
            </a:prstGeom>
            <a:solidFill>
              <a:srgbClr val="01708C"/>
            </a:solidFill>
            <a:ln>
              <a:noFill/>
            </a:ln>
          </p:spPr>
          <p:txBody>
            <a:bodyPr/>
            <a:lstStyle/>
            <a:p>
              <a:endParaRPr/>
            </a:p>
          </p:txBody>
        </p:sp>
        <p:sp>
          <p:nvSpPr>
            <p:cNvPr id="932" name="TEACH-move-text"/>
            <p:cNvSpPr txBox="1"/>
            <p:nvPr/>
          </p:nvSpPr>
          <p:spPr>
            <a:xfrm>
              <a:off x="6507480" y="671084"/>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SPECIFIC FEEDBACK  ·  </a:t>
              </a:r>
              <a:r>
                <a:rPr lang="en-US" sz="1200" dirty="0">
                  <a:solidFill>
                    <a:srgbClr val="13303A"/>
                  </a:solidFill>
                  <a:latin typeface="Arial"/>
                </a:rPr>
                <a:t>Trade work. Give one specific comment: “This part is clear because ______.”</a:t>
              </a:r>
              <a:endParaRPr lang="en-US" sz="1200"/>
            </a:p>
          </p:txBody>
        </p:sp>
      </p:gr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cxnSp>
        <p:nvCxnSpPr>
          <p:cNvPr id="961" name="Google Shape;961;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62" name="Google Shape;962;p93"/>
          <p:cNvSpPr txBox="1"/>
          <p:nvPr/>
        </p:nvSpPr>
        <p:spPr>
          <a:xfrm>
            <a:off x="484565" y="1341051"/>
            <a:ext cx="7476811" cy="501818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A net is a two-dimensional representation of a three-dimensional figure. To construct a net, you unfold the three-dimensional figure into its two-dimensional faces.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net shown represents a square pyramid; it has a square base and four triangular faces. A pyramid is a three-dimensional figure that has one polygonal base and triangular sides that meet at a common vertex. A pyramid is named by the shape of its base.</a:t>
            </a:r>
            <a:endParaRPr b="0" i="0" sz="2800" u="none" cap="none" strike="noStrike">
              <a:solidFill>
                <a:srgbClr val="262626"/>
              </a:solidFill>
              <a:latin typeface="Cambria Math"/>
              <a:ea typeface="Cambria Math"/>
              <a:cs typeface="Cambria Math"/>
              <a:sym typeface="Cambria Math"/>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sp>
        <p:nvSpPr>
          <p:cNvPr id="963" name="Google Shape;963;p93"/>
          <p:cNvSpPr txBox="1"/>
          <p:nvPr/>
        </p:nvSpPr>
        <p:spPr>
          <a:xfrm>
            <a:off x="484565" y="316800"/>
            <a:ext cx="6448498" cy="102425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Summarize: </a:t>
            </a:r>
            <a:r>
              <a:rPr b="1" i="0" lang="en-US" sz="2800" u="none" cap="none" strike="noStrike">
                <a:solidFill>
                  <a:srgbClr val="782DA0"/>
                </a:solidFill>
                <a:latin typeface="Arial"/>
                <a:ea typeface="Arial"/>
                <a:cs typeface="Arial"/>
                <a:sym typeface="Arial"/>
              </a:rPr>
              <a:t>Use Nets to Represent Figures</a:t>
            </a:r>
            <a:endParaRPr b="0" i="0" sz="1400" u="none" cap="none" strike="noStrike">
              <a:solidFill>
                <a:srgbClr val="000000"/>
              </a:solidFill>
              <a:latin typeface="Arial"/>
              <a:ea typeface="Arial"/>
              <a:cs typeface="Arial"/>
              <a:sym typeface="Arial"/>
            </a:endParaRPr>
          </a:p>
        </p:txBody>
      </p:sp>
      <p:pic>
        <p:nvPicPr>
          <p:cNvPr id="964" name="Google Shape;964;p93"/>
          <p:cNvPicPr preferRelativeResize="0"/>
          <p:nvPr/>
        </p:nvPicPr>
        <p:blipFill rotWithShape="1">
          <a:blip r:embed="rId3">
            <a:alphaModFix/>
          </a:blip>
          <a:srcRect b="0" l="0" r="0" t="0"/>
          <a:stretch/>
        </p:blipFill>
        <p:spPr>
          <a:xfrm>
            <a:off x="8784935" y="1382616"/>
            <a:ext cx="2190750" cy="2000250"/>
          </a:xfrm>
          <a:prstGeom prst="rect">
            <a:avLst/>
          </a:prstGeom>
          <a:noFill/>
          <a:ln>
            <a:noFill/>
          </a:ln>
        </p:spPr>
      </p:pic>
      <p:pic>
        <p:nvPicPr>
          <p:cNvPr id="965" name="Google Shape;965;p93"/>
          <p:cNvPicPr preferRelativeResize="0"/>
          <p:nvPr/>
        </p:nvPicPr>
        <p:blipFill rotWithShape="1">
          <a:blip r:embed="rId4">
            <a:alphaModFix/>
          </a:blip>
          <a:srcRect b="0" l="0" r="0" t="0"/>
          <a:stretch/>
        </p:blipFill>
        <p:spPr>
          <a:xfrm>
            <a:off x="8784935" y="3679250"/>
            <a:ext cx="2476500" cy="2476500"/>
          </a:xfrm>
          <a:prstGeom prst="rect">
            <a:avLst/>
          </a:prstGeom>
          <a:noFill/>
          <a:ln>
            <a:noFill/>
          </a:ln>
        </p:spPr>
      </p:pic>
      <p:sp>
        <p:nvSpPr>
          <p:cNvPr id="96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58 / 62</a:t>
            </a:r>
          </a:p>
        </p:txBody>
      </p:sp>
      <p:sp>
        <p:nvSpPr>
          <p:cNvPr id="967"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  SAY IT IN YOUR OWN WORDS</a:t>
            </a: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cxnSp>
        <p:nvCxnSpPr>
          <p:cNvPr id="970" name="Google Shape;970;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1" name="Google Shape;971;p94"/>
          <p:cNvSpPr txBox="1"/>
          <p:nvPr/>
        </p:nvSpPr>
        <p:spPr>
          <a:xfrm>
            <a:off x="484565" y="927528"/>
            <a:ext cx="6179471" cy="498417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A cookie house building kit contains three different cookie house kits.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Question: </a:t>
            </a:r>
            <a:r>
              <a:rPr b="0" i="0" lang="en-US" sz="2800" u="none" cap="none" strike="noStrike">
                <a:solidFill>
                  <a:schemeClr val="dk1"/>
                </a:solidFill>
                <a:latin typeface="Arial"/>
                <a:ea typeface="Arial"/>
                <a:cs typeface="Arial"/>
                <a:sym typeface="Arial"/>
              </a:rPr>
              <a:t>Which cookie matches with which cookie house? Explain your reasoning.</a:t>
            </a:r>
            <a:endParaRPr b="0" i="0" sz="2800" u="none" cap="none" strike="noStrike">
              <a:solidFill>
                <a:schemeClr val="dk1"/>
              </a:solidFill>
              <a:latin typeface="Arial"/>
              <a:ea typeface="Arial"/>
              <a:cs typeface="Arial"/>
              <a:sym typeface="Arial"/>
            </a:endParaRPr>
          </a:p>
        </p:txBody>
      </p:sp>
      <p:sp>
        <p:nvSpPr>
          <p:cNvPr id="972" name="Google Shape;972;p94"/>
          <p:cNvSpPr txBox="1"/>
          <p:nvPr/>
        </p:nvSpPr>
        <p:spPr>
          <a:xfrm>
            <a:off x="484565" y="316034"/>
            <a:ext cx="603164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Apply: </a:t>
            </a:r>
            <a:r>
              <a:rPr b="1" i="0" lang="en-US" sz="2800" u="none" cap="none" strike="noStrike">
                <a:solidFill>
                  <a:srgbClr val="782DA0"/>
                </a:solidFill>
                <a:latin typeface="Arial"/>
                <a:ea typeface="Arial"/>
                <a:cs typeface="Arial"/>
                <a:sym typeface="Arial"/>
              </a:rPr>
              <a:t>Cookie Houses</a:t>
            </a:r>
            <a:endParaRPr b="0" i="0" sz="1400" u="none" cap="none" strike="noStrike">
              <a:solidFill>
                <a:srgbClr val="000000"/>
              </a:solidFill>
              <a:latin typeface="Arial"/>
              <a:ea typeface="Arial"/>
              <a:cs typeface="Arial"/>
              <a:sym typeface="Arial"/>
            </a:endParaRPr>
          </a:p>
        </p:txBody>
      </p:sp>
      <p:pic>
        <p:nvPicPr>
          <p:cNvPr id="973" name="Google Shape;973;p94"/>
          <p:cNvPicPr preferRelativeResize="0"/>
          <p:nvPr/>
        </p:nvPicPr>
        <p:blipFill rotWithShape="1">
          <a:blip r:embed="rId3">
            <a:alphaModFix/>
          </a:blip>
          <a:srcRect b="0" l="0" r="0" t="0"/>
          <a:stretch/>
        </p:blipFill>
        <p:spPr>
          <a:xfrm>
            <a:off x="6776848" y="3799589"/>
            <a:ext cx="5000625" cy="1762125"/>
          </a:xfrm>
          <a:prstGeom prst="rect">
            <a:avLst/>
          </a:prstGeom>
          <a:noFill/>
          <a:ln>
            <a:noFill/>
          </a:ln>
        </p:spPr>
      </p:pic>
      <p:pic>
        <p:nvPicPr>
          <p:cNvPr id="974" name="Google Shape;974;p94"/>
          <p:cNvPicPr preferRelativeResize="0"/>
          <p:nvPr/>
        </p:nvPicPr>
        <p:blipFill rotWithShape="1">
          <a:blip r:embed="rId4">
            <a:alphaModFix/>
          </a:blip>
          <a:srcRect b="0" l="0" r="0" t="0"/>
          <a:stretch/>
        </p:blipFill>
        <p:spPr>
          <a:xfrm>
            <a:off x="6793521" y="1585498"/>
            <a:ext cx="4762500" cy="2000250"/>
          </a:xfrm>
          <a:prstGeom prst="rect">
            <a:avLst/>
          </a:prstGeom>
          <a:noFill/>
          <a:ln>
            <a:noFill/>
          </a:ln>
        </p:spPr>
      </p:pic>
      <p:sp>
        <p:nvSpPr>
          <p:cNvPr id="97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60 / 62</a:t>
            </a:r>
          </a:p>
        </p:txBody>
      </p:sp>
      <p:sp>
        <p:nvSpPr>
          <p:cNvPr id="976"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APPLY</a:t>
            </a:r>
            <a:r>
              <a:rPr lang="en-US" sz="1200" b="1">
                <a:solidFill>
                  <a:srgbClr val="5D6872"/>
                </a:solidFill>
                <a:latin typeface="Arial"/>
              </a:rPr>
              <a:t>  ·  PLAN IT • SOLVE IT • PROVE IT</a:t>
            </a:r>
          </a:p>
        </p:txBody>
      </p:sp>
      <p:grpSp>
        <p:nvGrpSpPr>
          <p:cNvPr id="977" name="TEACH-2-student-move" descr="TEACH 2 · Use strategies and tasks to engage students in rigorous work"/>
          <p:cNvGrpSpPr/>
          <p:nvPr/>
        </p:nvGrpSpPr>
        <p:grpSpPr>
          <a:xfrm>
            <a:off x="502920" y="5644010"/>
            <a:ext cx="11186160" cy="640080"/>
            <a:chOff x="502920" y="5644010"/>
            <a:chExt cx="11186160" cy="640080"/>
          </a:xfrm>
        </p:grpSpPr>
        <p:sp>
          <p:nvSpPr>
            <p:cNvPr id="978" name="TEACH-move-card"/>
            <p:cNvSpPr/>
            <p:nvPr/>
          </p:nvSpPr>
          <p:spPr>
            <a:xfrm>
              <a:off x="502920" y="5644010"/>
              <a:ext cx="11186160" cy="640080"/>
            </a:xfrm>
            <a:prstGeom prst="roundRect">
              <a:avLst>
                <a:gd name="adj" fmla="val 16000"/>
              </a:avLst>
            </a:prstGeom>
            <a:solidFill>
              <a:srgbClr val="E4F0F5"/>
            </a:solidFill>
            <a:ln w="19050">
              <a:solidFill>
                <a:srgbClr val="8CB8C7"/>
              </a:solidFill>
            </a:ln>
          </p:spPr>
          <p:txBody>
            <a:bodyPr/>
            <a:lstStyle/>
            <a:p>
              <a:endParaRPr/>
            </a:p>
          </p:txBody>
        </p:sp>
        <p:sp>
          <p:nvSpPr>
            <p:cNvPr id="979" name="TEACH-move-rule"/>
            <p:cNvSpPr/>
            <p:nvPr/>
          </p:nvSpPr>
          <p:spPr>
            <a:xfrm>
              <a:off x="548640" y="5765625"/>
              <a:ext cx="100584" cy="396850"/>
            </a:xfrm>
            <a:prstGeom prst="roundRect">
              <a:avLst>
                <a:gd name="adj" fmla="val 50000"/>
              </a:avLst>
            </a:prstGeom>
            <a:solidFill>
              <a:srgbClr val="01708C"/>
            </a:solidFill>
            <a:ln>
              <a:noFill/>
            </a:ln>
          </p:spPr>
          <p:txBody>
            <a:bodyPr/>
            <a:lstStyle/>
            <a:p>
              <a:endParaRPr/>
            </a:p>
          </p:txBody>
        </p:sp>
        <p:sp>
          <p:nvSpPr>
            <p:cNvPr id="980" name="TEACH-move-text"/>
            <p:cNvSpPr txBox="1"/>
            <p:nvPr/>
          </p:nvSpPr>
          <p:spPr>
            <a:xfrm>
              <a:off x="822960" y="5644010"/>
              <a:ext cx="10728960" cy="640080"/>
            </a:xfrm>
            <a:prstGeom prst="rect">
              <a:avLst/>
            </a:prstGeom>
            <a:noFill/>
            <a:ln>
              <a:noFill/>
            </a:ln>
          </p:spPr>
          <p:txBody>
            <a:bodyPr wrap="square" lIns="0" tIns="0" rIns="0" bIns="0" anchor="ctr">
              <a:noAutofit/>
            </a:bodyPr>
            <a:lstStyle/>
            <a:p>
              <a:pPr algn="l">
                <a:buNone/>
              </a:pPr>
              <a:r>
                <a:rPr lang="en-US" sz="1600" b="1" dirty="0">
                  <a:solidFill>
                    <a:srgbClr val="01708C"/>
                  </a:solidFill>
                  <a:latin typeface="Arial"/>
                </a:rPr>
                <a:t>TWO MINUTES SOLO  ·  </a:t>
              </a:r>
              <a:r>
                <a:rPr lang="en-US" sz="1600" dirty="0">
                  <a:solidFill>
                    <a:srgbClr val="13303A"/>
                  </a:solidFill>
                  <a:latin typeface="Arial"/>
                </a:rPr>
                <a:t>Two minutes on your own, then compare. Bring one thing you tried, even if it did not work.</a:t>
              </a:r>
              <a:endParaRPr lang="en-US" sz="1600"/>
            </a:p>
          </p:txBody>
        </p:sp>
      </p:gr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79" name="Google Shape;979;p95"/>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980" name="Google Shape;980;p9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81" name="Google Shape;981;p95"/>
          <p:cNvSpPr txBox="1"/>
          <p:nvPr/>
        </p:nvSpPr>
        <p:spPr>
          <a:xfrm>
            <a:off x="484565" y="927528"/>
            <a:ext cx="7879148"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use a three-dimensional figure to create a two-dimensional net.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look for and make use of structure when using a two-dimensional net to find a three-dimensional figure.</a:t>
            </a:r>
            <a:endParaRPr b="0" i="0" sz="1400" u="none" cap="none" strike="noStrike">
              <a:solidFill>
                <a:srgbClr val="000000"/>
              </a:solidFill>
              <a:latin typeface="Arial"/>
              <a:ea typeface="Arial"/>
              <a:cs typeface="Arial"/>
              <a:sym typeface="Arial"/>
            </a:endParaRPr>
          </a:p>
        </p:txBody>
      </p:sp>
      <p:sp>
        <p:nvSpPr>
          <p:cNvPr id="2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61 / 62</a:t>
            </a:r>
          </a:p>
        </p:txBody>
      </p:sp>
      <p:grpSp>
        <p:nvGrpSpPr>
          <p:cNvPr id="982" name="TEACH-1-student-move" descr="TEACH 1 · Facilitate clear, standards-based content learning"/>
          <p:cNvGrpSpPr/>
          <p:nvPr/>
        </p:nvGrpSpPr>
        <p:grpSpPr>
          <a:xfrm>
            <a:off x="502920" y="5472790"/>
            <a:ext cx="11186160" cy="402336"/>
            <a:chOff x="502920" y="5472790"/>
            <a:chExt cx="11186160" cy="402336"/>
          </a:xfrm>
        </p:grpSpPr>
        <p:sp>
          <p:nvSpPr>
            <p:cNvPr id="983"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84"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985"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5.6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Match each face of the solid to a net.</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5-6</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1-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SAY THE GOAL  ·  </a:t>
            </a:r>
            <a:r>
              <a:rPr lang="en-US" sz="2000" b="0" dirty="0">
                <a:solidFill>
                  <a:srgbClr val="13303A"/>
                </a:solidFill>
                <a:latin typeface="Arial"/>
              </a:rPr>
              <a:t>Say today’s goal in your own words, then name one place this shows up outside math class.</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7 / 62</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5-6</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HOW DO YOU KNOW?  ·  </a:t>
            </a:r>
            <a:r>
              <a:rPr lang="en-US" sz="2000" b="0" dirty="0">
                <a:solidFill>
                  <a:srgbClr val="13303A"/>
                </a:solidFill>
                <a:latin typeface="Arial"/>
              </a:rPr>
              <a:t>Ask your partner “How do you know?” Answer by pointing to your own work.</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20 / 62</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5-6</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34 / 62</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5-6</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ADD ON  ·  </a:t>
            </a:r>
            <a:r>
              <a:rPr lang="en-US" sz="2000" b="0" dirty="0">
                <a:solidFill>
                  <a:srgbClr val="13303A"/>
                </a:solidFill>
                <a:latin typeface="Arial"/>
              </a:rPr>
              <a:t>Add on: “I agree because ______.”  or  “I see it differently because ______.”</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47 / 62</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5-6</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4-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SHOW THE EVIDENCE  ·  </a:t>
            </a:r>
            <a:r>
              <a:rPr lang="en-US" sz="2000" b="0" dirty="0">
                <a:solidFill>
                  <a:srgbClr val="13303A"/>
                </a:solidFill>
                <a:latin typeface="Arial"/>
              </a:rPr>
              <a:t>Circle the part of your work that proves you met today’s goal.</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59 / 62</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5.6 — Represent Three-Dimensional Figures in Two Dimensions</dc:title>
  <dc:creator>Neft Teacher</dc:creator>
  <cp:lastModifiedBy>Neft Teacher</cp:lastModifiedBy>
  <dcterms:created xsi:type="dcterms:W3CDTF">2026-09-30T12:04:43Z</dcterms:created>
  <dcterms:modified xsi:type="dcterms:W3CDTF">2026-09-30T12:04:43Z</dcterms:modified>
</cp:coreProperties>
</file>