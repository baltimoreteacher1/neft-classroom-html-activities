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26.xml" ContentType="application/vnd.openxmlformats-officedocument.presentationml.notesSlide+xml"/>
  <Override PartName="/ppt/notesSlides/notesSlide32.xml" ContentType="application/vnd.openxmlformats-officedocument.presentationml.notesSlide+xml"/>
  <Override PartName="/ppt/notesSlides/notesSlide47.xml" ContentType="application/vnd.openxmlformats-officedocument.presentationml.notesSlide+xml"/>
  <Override PartName="/ppt/notesSlides/notesSlide54.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r3_notesSlide1.xml" ContentType="application/vnd.openxmlformats-officedocument.presentationml.notesSlide+xml"/>
  <Override PartName="/ppt/notesSlides/r3_notesSlide2.xml" ContentType="application/vnd.openxmlformats-officedocument.presentationml.notesSlide+xml"/>
  <Override PartName="/ppt/notesSlides/r3_notesSlide3.xml" ContentType="application/vnd.openxmlformats-officedocument.presentationml.notesSlide+xml"/>
  <Override PartName="/ppt/notesSlides/r3_notesSlide4.xml" ContentType="application/vnd.openxmlformats-officedocument.presentationml.notesSlide+xml"/>
  <Override PartName="/ppt/notesSlides/u3_notesSlide1.xml" ContentType="application/vnd.openxmlformats-officedocument.presentationml.notesSlide+xml"/>
  <Override PartName="/ppt/notesSlides/u3_notesSlide2.xml" ContentType="application/vnd.openxmlformats-officedocument.presentationml.notesSlide+xml"/>
  <Override PartName="/ppt/notesSlides/u3_notesSlide3.xml" ContentType="application/vnd.openxmlformats-officedocument.presentationml.notesSlide+xml"/>
  <Override PartName="/ppt/notesSlides/u3_notesSlide4.xml" ContentType="application/vnd.openxmlformats-officedocument.presentationml.notesSlide+xml"/>
  <Override PartName="/ppt/notesSlides/u3_notesSlide5.xml" ContentType="application/vnd.openxmlformats-officedocument.presentationml.notesSlide+xml"/>
  <Override PartName="/ppt/notesSlides/u3_notesSlide6.xml" ContentType="application/vnd.openxmlformats-officedocument.presentationml.notesSlide+xml"/>
  <Override PartName="/ppt/notesSlides/u3_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r3_slideLayout1.xml" ContentType="application/vnd.openxmlformats-officedocument.presentationml.slideLayout+xml"/>
  <Override PartName="/ppt/slideLayouts/ref_slideLayout10.xml" ContentType="application/vnd.openxmlformats-officedocument.presentationml.slideLayout+xml"/>
  <Override PartName="/ppt/slideLayouts/ref_slideLayout11.xml" ContentType="application/vnd.openxmlformats-officedocument.presentationml.slideLayout+xml"/>
  <Override PartName="/ppt/slideLayouts/ref_slideLayout12.xml" ContentType="application/vnd.openxmlformats-officedocument.presentationml.slideLayout+xml"/>
  <Override PartName="/ppt/slideLayouts/ref_slideLayout13.xml" ContentType="application/vnd.openxmlformats-officedocument.presentationml.slideLayout+xml"/>
  <Override PartName="/ppt/slideLayouts/ref_slideLayout3.xml" ContentType="application/vnd.openxmlformats-officedocument.presentationml.slideLayout+xml"/>
  <Override PartName="/ppt/slideLayouts/ref_slideLayout4.xml" ContentType="application/vnd.openxmlformats-officedocument.presentationml.slideLayout+xml"/>
  <Override PartName="/ppt/slideLayouts/ref_slideLayout5.xml" ContentType="application/vnd.openxmlformats-officedocument.presentationml.slideLayout+xml"/>
  <Override PartName="/ppt/slideLayouts/ref_slideLayout6.xml" ContentType="application/vnd.openxmlformats-officedocument.presentationml.slideLayout+xml"/>
  <Override PartName="/ppt/slideLayouts/ref_slideLayout7.xml" ContentType="application/vnd.openxmlformats-officedocument.presentationml.slideLayout+xml"/>
  <Override PartName="/ppt/slideLayouts/ref_slideLayout8.xml" ContentType="application/vnd.openxmlformats-officedocument.presentationml.slideLayout+xml"/>
  <Override PartName="/ppt/slideLayouts/ref_slideLayout9.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u3_slideLayout1.xml" ContentType="application/vnd.openxmlformats-officedocument.presentationml.slideLayout+xml"/>
  <Override PartName="/ppt/slideMasters/r3_slideMaster1.xml" ContentType="application/vnd.openxmlformats-officedocument.presentationml.slideMaster+xml"/>
  <Override PartName="/ppt/slideMasters/ref_slideMaster2.xml" ContentType="application/vnd.openxmlformats-officedocument.presentationml.slide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r3_theme2.xml" ContentType="application/vnd.openxmlformats-officedocument.theme+xml"/>
  <Override PartName="/ppt/slideMasters/theme/u3_theme2.xml" ContentType="application/vnd.openxmlformats-officedocument.theme+xml"/>
  <Override PartName="/ppt/slideMasters/u3_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ref_theme2.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49" r:id="rId6"/>
    <p:sldMasterId id="2147483650" r:id="rId7"/>
    <p:sldMasterId id="2147483651" r:id="rId8"/>
    <p:sldMasterId id="2147483652" r:id="u3_slideMaster_0"/>
    <p:sldMasterId id="2147483653" r:id="r3_sldMasterIdLst_0"/>
    <p:sldMasterId id="2147483654" r:id="ref_master2"/>
  </p:sldMasterIdLst>
  <p:notesMasterIdLst>
    <p:notesMasterId r:id="rId9"/>
  </p:notesMasterIdLst>
  <p:sldIdLst>
    <p:sldId id="5018" r:id="rIdWarmUp"/>
    <p:sldId id="5005" r:id="r3_order_5"/>
    <p:sldId id="5000" r:id="r3_order_0"/>
    <p:sldId id="5037" r:id="rId47"/>
    <p:sldId id="5036" r:id="rId64"/>
    <p:sldId id="5035" r:id="rId48"/>
    <p:sldId id="5034" r:id="rId62"/>
    <p:sldId id="5033" r:id="rId61"/>
    <p:sldId id="5032" r:id="rId60"/>
    <p:sldId id="5031" r:id="rId59"/>
    <p:sldId id="5030" r:id="rId58"/>
    <p:sldId id="5001" r:id="r3_order_1"/>
    <p:sldId id="5002" r:id="r3_order_2"/>
    <p:sldId id="5003" r:id="r3_order_3"/>
    <p:sldId id="5004" r:id="r3_order_4"/>
    <p:sldId id="5006" r:id="r3_order_6"/>
    <p:sldId id="5038" r:id="rId88"/>
    <p:sldId id="5007" r:id="r3_order_7"/>
    <p:sldId id="5029" r:id="rId57"/>
    <p:sldId id="5028" r:id="rId49"/>
    <p:sldId id="5027" r:id="rId55"/>
    <p:sldId id="5020" r:id="rId86"/>
    <p:sldId id="5021" r:id="rId87"/>
    <p:sldId id="5008" r:id="r3_order_8"/>
    <p:sldId id="5026" r:id="rId54"/>
    <p:sldId id="5009" r:id="r3_order_9"/>
    <p:sldId id="5010" r:id="r3_order_10"/>
    <p:sldId id="5011" r:id="r3_order_11"/>
    <p:sldId id="5012" r:id="r3_order_12"/>
    <p:sldId id="5013" r:id="r3_order_13"/>
    <p:sldId id="5014" r:id="r3_order_14"/>
    <p:sldId id="5039" r:id="rId89"/>
    <p:sldId id="5025" r:id="rId53"/>
    <p:sldId id="5024" r:id="rId52"/>
    <p:sldId id="5023" r:id="rId51"/>
    <p:sldId id="5019" r:id="rIdSummarize"/>
    <p:sldId id="5015" r:id="r3_order_15"/>
    <p:sldId id="5016" r:id="r3_order_16"/>
    <p:sldId id="5022" r:id="rId50"/>
    <p:sldId id="5017" r:id="r3_order_17"/>
  </p:sldIdLst>
  <p:sldSz cy="6858000" cx="12192000"/>
  <p:notesSz cx="7010400" cy="9236075"/>
  <p:embeddedFontLst>
    <p:embeddedFont>
      <p:font typeface="Cambria Math"/>
      <p:regular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C39FDA-3F10-4EAB-9FCE-946FFBF7E020}">
  <a:tblStyle styleId="{DAC39FDA-3F10-4EAB-9FCE-946FFBF7E020}"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BD40E78-1A52-4E85-9C28-5DD3DD5CADE2}"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3_order_0" Type="http://schemas.openxmlformats.org/officeDocument/2006/relationships/slide" Target="slides/slide3.xml"/><Relationship Id="r3_order_1" Type="http://schemas.openxmlformats.org/officeDocument/2006/relationships/slide" Target="slides/slide12.xml"/><Relationship Id="r3_order_10" Type="http://schemas.openxmlformats.org/officeDocument/2006/relationships/slide" Target="slides/slide27.xml"/><Relationship Id="r3_order_11" Type="http://schemas.openxmlformats.org/officeDocument/2006/relationships/slide" Target="slides/slide28.xml"/><Relationship Id="r3_order_12" Type="http://schemas.openxmlformats.org/officeDocument/2006/relationships/slide" Target="slides/slide29.xml"/><Relationship Id="r3_order_13" Type="http://schemas.openxmlformats.org/officeDocument/2006/relationships/slide" Target="slides/slide30.xml"/><Relationship Id="r3_order_14" Type="http://schemas.openxmlformats.org/officeDocument/2006/relationships/slide" Target="slides/slide31.xml"/><Relationship Id="r3_order_15" Type="http://schemas.openxmlformats.org/officeDocument/2006/relationships/slide" Target="slides/slide37.xml"/><Relationship Id="r3_order_16" Type="http://schemas.openxmlformats.org/officeDocument/2006/relationships/slide" Target="slides/slide38.xml"/><Relationship Id="r3_order_17" Type="http://schemas.openxmlformats.org/officeDocument/2006/relationships/slide" Target="slides/slide40.xml"/><Relationship Id="r3_order_2" Type="http://schemas.openxmlformats.org/officeDocument/2006/relationships/slide" Target="slides/slide13.xml"/><Relationship Id="r3_order_3" Type="http://schemas.openxmlformats.org/officeDocument/2006/relationships/slide" Target="slides/slide14.xml"/><Relationship Id="r3_order_4" Type="http://schemas.openxmlformats.org/officeDocument/2006/relationships/slide" Target="slides/slide15.xml"/><Relationship Id="r3_order_5" Type="http://schemas.openxmlformats.org/officeDocument/2006/relationships/slide" Target="slides/slide2.xml"/><Relationship Id="r3_order_6" Type="http://schemas.openxmlformats.org/officeDocument/2006/relationships/slide" Target="slides/slide16.xml"/><Relationship Id="r3_order_7" Type="http://schemas.openxmlformats.org/officeDocument/2006/relationships/slide" Target="slides/slide18.xml"/><Relationship Id="r3_order_8" Type="http://schemas.openxmlformats.org/officeDocument/2006/relationships/slide" Target="slides/slide24.xml"/><Relationship Id="r3_order_9" Type="http://schemas.openxmlformats.org/officeDocument/2006/relationships/slide" Target="slides/slide26.xml"/><Relationship Id="r3_sldMasterIdLst_0" Type="http://schemas.openxmlformats.org/officeDocument/2006/relationships/slideMaster" Target="slideMasters/r3_slideMaster1.xml"/><Relationship Id="rIdSummarize" Type="http://schemas.openxmlformats.org/officeDocument/2006/relationships/slide" Target="slides/slide36.xml"/><Relationship Id="rIdWarmUp" Type="http://schemas.openxmlformats.org/officeDocument/2006/relationships/slide" Target="slides/slide1.xml"/><Relationship Id="ref_master2" Type="http://schemas.openxmlformats.org/officeDocument/2006/relationships/slideMaster" Target="slideMasters/ref_slideMaster2.xml"/><Relationship Id="u3_slideMaster_0" Type="http://schemas.openxmlformats.org/officeDocument/2006/relationships/slideMaster" Target="slideMasters/u3_slideMaster1.xml"/><Relationship Id="u3_slide_1" Type="http://schemas.openxmlformats.org/officeDocument/2006/relationships/slide" Target="slides/slide3.xml"/><Relationship Id="u3_slide_2" Type="http://schemas.openxmlformats.org/officeDocument/2006/relationships/slide" Target="slides/slide24.xml"/><Relationship Id="u3_slide_3" Type="http://schemas.openxmlformats.org/officeDocument/2006/relationships/slide" Target="slides/slide2.xml"/><Relationship Id="u3_slide_4" Type="http://schemas.openxmlformats.org/officeDocument/2006/relationships/slide" Target="slides/slide30.xml"/><Relationship Id="u3_slide_5" Type="http://schemas.openxmlformats.org/officeDocument/2006/relationships/slide" Target="slides/slide18.xml"/><Relationship Id="u3_slide_6" Type="http://schemas.openxmlformats.org/officeDocument/2006/relationships/slide" Target="slides/slide38.xml"/><Relationship Id="u3_slide_7" Type="http://schemas.openxmlformats.org/officeDocument/2006/relationships/slide" Target="slides/slide40.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1" Type="http://schemas.openxmlformats.org/officeDocument/2006/relationships/slide" Target="slides/slide12.xml"/><Relationship Id="rId15" Type="http://schemas.openxmlformats.org/officeDocument/2006/relationships/slide" Target="slides/slide13.xml"/><Relationship Id="rId35" Type="http://schemas.openxmlformats.org/officeDocument/2006/relationships/slide" Target="slides/slide15.xml"/><Relationship Id="rId41" Type="http://schemas.openxmlformats.org/officeDocument/2006/relationships/slide" Target="slides/slide26.xml"/><Relationship Id="rId47" Type="http://schemas.openxmlformats.org/officeDocument/2006/relationships/slide" Target="slides/slide4.xml"/><Relationship Id="rId48" Type="http://schemas.openxmlformats.org/officeDocument/2006/relationships/slide" Target="slides/slide6.xml"/><Relationship Id="rId49" Type="http://schemas.openxmlformats.org/officeDocument/2006/relationships/slide" Target="slides/slide20.xml"/><Relationship Id="rId50" Type="http://schemas.openxmlformats.org/officeDocument/2006/relationships/slide" Target="slides/slide39.xml"/><Relationship Id="rId51" Type="http://schemas.openxmlformats.org/officeDocument/2006/relationships/slide" Target="slides/slide35.xml"/><Relationship Id="rId52" Type="http://schemas.openxmlformats.org/officeDocument/2006/relationships/slide" Target="slides/slide34.xml"/><Relationship Id="rId53" Type="http://schemas.openxmlformats.org/officeDocument/2006/relationships/slide" Target="slides/slide33.xml"/><Relationship Id="rId54" Type="http://schemas.openxmlformats.org/officeDocument/2006/relationships/slide" Target="slides/slide25.xml"/><Relationship Id="rId55" Type="http://schemas.openxmlformats.org/officeDocument/2006/relationships/slide" Target="slides/slide21.xml"/><Relationship Id="rId56" Type="http://schemas.openxmlformats.org/officeDocument/2006/relationships/slide" Target="slides/slide28.xml"/><Relationship Id="rId57" Type="http://schemas.openxmlformats.org/officeDocument/2006/relationships/slide" Target="slides/slide19.xml"/><Relationship Id="rId58" Type="http://schemas.openxmlformats.org/officeDocument/2006/relationships/slide" Target="slides/slide11.xml"/><Relationship Id="rId59" Type="http://schemas.openxmlformats.org/officeDocument/2006/relationships/slide" Target="slides/slide10.xml"/><Relationship Id="rId60" Type="http://schemas.openxmlformats.org/officeDocument/2006/relationships/slide" Target="slides/slide9.xml"/><Relationship Id="rId61" Type="http://schemas.openxmlformats.org/officeDocument/2006/relationships/slide" Target="slides/slide8.xml"/><Relationship Id="rId62" Type="http://schemas.openxmlformats.org/officeDocument/2006/relationships/slide" Target="slides/slide7.xml"/><Relationship Id="rId63" Type="http://schemas.openxmlformats.org/officeDocument/2006/relationships/slide" Target="slides/slide31.xml"/><Relationship Id="rId64" Type="http://schemas.openxmlformats.org/officeDocument/2006/relationships/slide" Target="slides/slide5.xml"/><Relationship Id="rId65" Type="http://schemas.openxmlformats.org/officeDocument/2006/relationships/slide" Target="slides/slide37.xml"/><Relationship Id="rId67" Type="http://schemas.openxmlformats.org/officeDocument/2006/relationships/font" Target="fonts/CambriaMath-regular.fntdata"/><Relationship Id="rId86" Type="http://schemas.openxmlformats.org/officeDocument/2006/relationships/slide" Target="slides/slide22.xml"/><Relationship Id="rId87" Type="http://schemas.openxmlformats.org/officeDocument/2006/relationships/slide" Target="slides/slide23.xml"/><Relationship Id="rId88" Type="http://schemas.openxmlformats.org/officeDocument/2006/relationships/slide" Target="slides/slide17.xml"/><Relationship Id="rId8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r3_notesSlide1.xml.rels><?xml version='1.0' encoding='UTF-8' standalone='yes'?>
<Relationships xmlns="http://schemas.openxmlformats.org/package/2006/relationships"><Relationship Id="R1ac7a109f31d4d69" Type="http://schemas.openxmlformats.org/officeDocument/2006/relationships/notesMaster" Target="../notesMasters/notesMaster1.xml"/><Relationship Id="R45cd8847baa04be1" Type="http://schemas.openxmlformats.org/officeDocument/2006/relationships/slide" Target="../slides/slide14.xml"/></Relationships>
</file>

<file path=ppt/notesSlides/_rels/r3_notesSlide2.xml.rels><?xml version='1.0' encoding='UTF-8' standalone='yes'?>
<Relationships xmlns="http://schemas.openxmlformats.org/package/2006/relationships"><Relationship Id="R717c8052a2c14d28" Type="http://schemas.openxmlformats.org/officeDocument/2006/relationships/notesMaster" Target="../notesMasters/notesMaster1.xml"/><Relationship Id="R9c6ce96af1d4478a" Type="http://schemas.openxmlformats.org/officeDocument/2006/relationships/slide" Target="../slides/slide16.xml"/></Relationships>
</file>

<file path=ppt/notesSlides/_rels/r3_notesSlide3.xml.rels><?xml version='1.0' encoding='UTF-8' standalone='yes'?>
<Relationships xmlns="http://schemas.openxmlformats.org/package/2006/relationships"><Relationship Id="R56da0a8bb6254cb8" Type="http://schemas.openxmlformats.org/officeDocument/2006/relationships/notesMaster" Target="../notesMasters/notesMaster1.xml"/><Relationship Id="Racef68c456a84770" Type="http://schemas.openxmlformats.org/officeDocument/2006/relationships/slide" Target="../slides/slide27.xml"/></Relationships>
</file>

<file path=ppt/notesSlides/_rels/r3_notesSlide4.xml.rels><?xml version='1.0' encoding='UTF-8' standalone='yes'?>
<Relationships xmlns="http://schemas.openxmlformats.org/package/2006/relationships"><Relationship Id="R086026692b3c4259" Type="http://schemas.openxmlformats.org/officeDocument/2006/relationships/notesMaster" Target="../notesMasters/notesMaster1.xml"/><Relationship Id="R8a3c844b9c2d472d" Type="http://schemas.openxmlformats.org/officeDocument/2006/relationships/slide" Target="../slides/slide29.xml"/></Relationships>
</file>

<file path=ppt/notesSlides/_rels/u3_notesSlide1.xml.rels><?xml version='1.0' encoding='UTF-8' standalone='yes'?>
<Relationships xmlns="http://schemas.openxmlformats.org/package/2006/relationships"><Relationship Id="R294e3dec832443cd" Type="http://schemas.openxmlformats.org/officeDocument/2006/relationships/notesMaster" Target="../notesMasters/notesMaster1.xml"/><Relationship Id="R41cb3b5e47454a45" Type="http://schemas.openxmlformats.org/officeDocument/2006/relationships/slide" Target="../slides/slide3.xml"/></Relationships>
</file>

<file path=ppt/notesSlides/_rels/u3_notesSlide2.xml.rels><?xml version='1.0' encoding='UTF-8' standalone='yes'?>
<Relationships xmlns="http://schemas.openxmlformats.org/package/2006/relationships"><Relationship Id="R0b08bde5e3c64e05" Type="http://schemas.openxmlformats.org/officeDocument/2006/relationships/notesMaster" Target="../notesMasters/notesMaster1.xml"/><Relationship Id="Rda50db58fbf14edf" Type="http://schemas.openxmlformats.org/officeDocument/2006/relationships/slide" Target="../slides/slide24.xml"/></Relationships>
</file>

<file path=ppt/notesSlides/_rels/u3_notesSlide3.xml.rels><?xml version='1.0' encoding='UTF-8' standalone='yes'?>
<Relationships xmlns="http://schemas.openxmlformats.org/package/2006/relationships"><Relationship Id="R4f9173bd930e43ba" Type="http://schemas.openxmlformats.org/officeDocument/2006/relationships/notesMaster" Target="../notesMasters/notesMaster1.xml"/><Relationship Id="Re231c2e942f04ddb" Type="http://schemas.openxmlformats.org/officeDocument/2006/relationships/slide" Target="../slides/slide2.xml"/></Relationships>
</file>

<file path=ppt/notesSlides/_rels/u3_notesSlide4.xml.rels><?xml version='1.0' encoding='UTF-8' standalone='yes'?>
<Relationships xmlns="http://schemas.openxmlformats.org/package/2006/relationships"><Relationship Id="R79c8967e8b6a42b2" Type="http://schemas.openxmlformats.org/officeDocument/2006/relationships/notesMaster" Target="../notesMasters/notesMaster1.xml"/><Relationship Id="Re71c1e61d0cf4c7e" Type="http://schemas.openxmlformats.org/officeDocument/2006/relationships/slide" Target="../slides/slide30.xml"/></Relationships>
</file>

<file path=ppt/notesSlides/_rels/u3_notesSlide5.xml.rels><?xml version='1.0' encoding='UTF-8' standalone='yes'?>
<Relationships xmlns="http://schemas.openxmlformats.org/package/2006/relationships"><Relationship Id="R1e3caf1efd594cb6" Type="http://schemas.openxmlformats.org/officeDocument/2006/relationships/notesMaster" Target="../notesMasters/notesMaster1.xml"/><Relationship Id="R39141087723f4478" Type="http://schemas.openxmlformats.org/officeDocument/2006/relationships/slide" Target="../slides/slide18.xml"/></Relationships>
</file>

<file path=ppt/notesSlides/_rels/u3_notesSlide6.xml.rels><?xml version='1.0' encoding='UTF-8' standalone='yes'?>
<Relationships xmlns="http://schemas.openxmlformats.org/package/2006/relationships"><Relationship Id="Rc24499807ef044a6" Type="http://schemas.openxmlformats.org/officeDocument/2006/relationships/notesMaster" Target="../notesMasters/notesMaster1.xml"/><Relationship Id="Re16d68c928c94af4" Type="http://schemas.openxmlformats.org/officeDocument/2006/relationships/slide" Target="../slides/slide38.xml"/></Relationships>
</file>

<file path=ppt/notesSlides/_rels/u3_notesSlide7.xml.rels><?xml version='1.0' encoding='UTF-8' standalone='yes'?>
<Relationships xmlns="http://schemas.openxmlformats.org/package/2006/relationships"><Relationship Id="R2b4bbd332b5749bb" Type="http://schemas.openxmlformats.org/officeDocument/2006/relationships/notesMaster" Target="../notesMasters/notesMaster1.xml"/><Relationship Id="R9315ed584c614d28" Type="http://schemas.openxmlformats.org/officeDocument/2006/relationships/slide" Target="../slides/slide40.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3.6, slide 12 | TASK</a:t>
            </a:r>
          </a:p>
          <a:p xmlns:a="http://schemas.openxmlformats.org/drawingml/2006/main">
            <a:pPr>
              <a:buNone/>
            </a:pPr>
            <a:r>
              <a:rPr lang="en-US" sz="1100"/>
              <a:t>Focus on the existing task: More or Less Than 10 0.35 + 9.18 3.098 + 6.145 4.509 + 5.294 STUDENT MOVE · ESTIMATE • DEFEND • COMPARE Estimate first. Choose one…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using matching units.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Partner press: ask Why? and answer with evidence.</a:t>
            </a:r>
          </a:p>
          <a:p>
            <a:r>
              <a:rPr lang="en-US"/>
              <a:t>Routine: STUDENT MOVE  ·  ESTIMATE • DEFEND • COMPARE</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“Why does the number change while the actual measurement stays the same?” Wait for evidence, invite another pathway, and have a student ask a follow-up question. Do not replace students’ reasoning with a sequence of leading steps.</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3.6, slide 13 | TASK</a:t>
            </a:r>
          </a:p>
          <a:p xmlns:a="http://schemas.openxmlformats.org/drawingml/2006/main">
            <a:pPr>
              <a:buNone/>
            </a:pPr>
            <a:r>
              <a:rPr lang="en-US" sz="1100"/>
              <a:t>Focus on the existing task: Riding the Attractions At an amusement park, one attraction has the height requirement shown. If there are 12 inches in every foot, can a child who is 4 feet tall go on the attraction?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Ask a partner a question; choose a model together.</a:t>
            </a:r>
          </a:p>
          <a:p>
            <a:r>
              <a:rPr lang="en-US"/>
              <a:t>Routine: STUDENT MOVE  ·  THINK → PARTNER TALK → EXPLAIN</a:t>
            </a:r>
          </a:p>
        </p:txBody>
      </p:sp>
      <p:sp>
        <p:nvSpPr>
          <p:cNvPr id="275" name="Google Shape;275;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3.6, slide 15 | TASK</a:t>
            </a:r>
          </a:p>
          <a:p xmlns:a="http://schemas.openxmlformats.org/drawingml/2006/main">
            <a:pPr>
              <a:buNone/>
            </a:pPr>
            <a:r>
              <a:rPr lang="en-US" sz="1100"/>
              <a:t>Focus on the existing task: At an amusement park, one attraction has the height requirement shown. If there are 12 inches in every foot, can a child who is 4 feet tall go on the attraction?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Student-led talk: paraphrase, agree or disagree, add on.</a:t>
            </a:r>
          </a:p>
          <a:p>
            <a:r>
              <a:rPr lang="en-US"/>
              <a:t>Routine: STUDENT MOVE  ·  THINK → PARTNER TALK → EXPLAIN</a:t>
            </a:r>
          </a:p>
        </p:txBody>
      </p:sp>
      <p:sp>
        <p:nvSpPr>
          <p:cNvPr id="467" name="Google Shape;467;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2: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3.6, slide 26 | TASK</a:t>
            </a:r>
          </a:p>
          <a:p xmlns:a="http://schemas.openxmlformats.org/drawingml/2006/main">
            <a:pPr>
              <a:buNone/>
            </a:pPr>
            <a:r>
              <a:rPr lang="en-US" sz="1100"/>
              <a:t>Focus on the existing task: Hydrating Diamond wants to drink 4 liters of water each day. She has a water bottle that holds 500 milliliters of water. How many times will she need to fill the water bottle each day to reach her goal?</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using matching units.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Compare strategies; defend one with evidence.</a:t>
            </a:r>
          </a:p>
          <a:p>
            <a:r>
              <a:rPr lang="en-US"/>
              <a:t>Routine: STUDENT MOVE  ·  THINK → PARTNER TALK → EXPLAIN</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“Why does the number change while the actual measurement stays the same?” Wait for evidence, invite another pathway, and have a student ask a follow-up question. Do not replace students’ reasoning with a sequence of leading steps.</a:t>
            </a:r>
          </a:p>
        </p:txBody>
      </p:sp>
      <p:sp>
        <p:nvSpPr>
          <p:cNvPr id="524" name="Google Shape;524;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47: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3.6, slide 28 | WORKED</a:t>
            </a:r>
          </a:p>
          <a:p xmlns:a="http://schemas.openxmlformats.org/drawingml/2006/main">
            <a:pPr>
              <a:buNone/>
            </a:pPr>
            <a:r>
              <a:rPr lang="en-US" sz="1100"/>
              <a:t>Focus on the existing task: There are 4,000 milliliters in 4 liters. 4,000 milliliters = 4 liters STUDENT MOVE · THINK → PARTNER TALK → EXPLAIN SAME AMOUNT…</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Routine: STUDENT MOVE  ·  THINK → PARTNER TALK → EXPLAIN</a:t>
            </a:r>
          </a:p>
        </p:txBody>
      </p:sp>
      <p:sp>
        <p:nvSpPr>
          <p:cNvPr id="656" name="Google Shape;656;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5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3.6, slide 31 | PRACTICE</a:t>
            </a:r>
          </a:p>
          <a:p xmlns:a="http://schemas.openxmlformats.org/drawingml/2006/main">
            <a:pPr>
              <a:buNone/>
            </a:pPr>
            <a:r>
              <a:rPr lang="en-US" sz="1100"/>
              <a:t>Focus on the existing task: Let’s Explore More How does the graph show the relationship between liters and milliliters?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Compare pathways with a partner; name one revision.</a:t>
            </a:r>
          </a:p>
          <a:p>
            <a:r>
              <a:rPr lang="en-US"/>
              <a:t>Routine: STUDENT MOVE  ·  THINK → PARTNER TALK → EXPLAIN</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multiplying or dividing without considering unit size. If it appears, label units on each step of the original conversion and reason whether the count should increase; then ask the student to revise the same response and explain the change. If evidence is secure, have students compare a second valid pathway or state why their approach works. Choose the next step from the responses, not a preset pace.</a:t>
            </a:r>
          </a:p>
        </p:txBody>
      </p:sp>
      <p:sp>
        <p:nvSpPr>
          <p:cNvPr id="711" name="Google Shape;711;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5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3.6, slide 37 | APPLY</a:t>
            </a:r>
          </a:p>
          <a:p xmlns:a="http://schemas.openxmlformats.org/drawingml/2006/main">
            <a:pPr>
              <a:buNone/>
            </a:pPr>
            <a:r>
              <a:rPr lang="en-US" sz="1100"/>
              <a:t>Focus on the existing task: Apply: Making Concrete Question: How many bags of concrete mix and quarts of water will she need?</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compare using matching units.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Routine: STUDENT MOVE  ·  THINK → PARTNER TALK → EXPLAIN</a:t>
            </a:r>
          </a:p>
        </p:txBody>
      </p:sp>
      <p:sp>
        <p:nvSpPr>
          <p:cNvPr id="730" name="Google Shape;730;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3.6, slide 1 | WARMUP</a:t>
            </a:r>
          </a:p>
          <a:p xmlns:a="http://schemas.openxmlformats.org/drawingml/2006/main">
            <a:pPr>
              <a:buNone/>
            </a:pPr>
            <a:r>
              <a:rPr lang="en-US" sz="1100"/>
              <a:t>Focus on the existing task: Warm-Up WARM-UP · THINK • TRY • CHECK Do these four on your…</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Warm-Up answers (teacher only): 1) 48   2) 12 inches   3) 3,000   4) 5</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use a same-system conversion ratio; preserve the amount; compare using matching units. Review recent work and today’s warm-up to choose flexible groups and access supports; do not infer needs from identity or perceived ability. Use the existing lesson tasks and stated standards.</a:t>
            </a:r>
          </a:p>
          <a:p>
            <a:pPr>
              <a:buNone/>
            </a:pPr>
            <a:r>
              <a:rPr lang="en-US" sz="1100"/>
              <a:t>Anticipate: multiplying or dividing without considering unit size. If observed, label units on each step of the original conversion and reason whether the count should increase.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3.6, slide 22 | WARMUP</a:t>
            </a:r>
          </a:p>
          <a:p xmlns:a="http://schemas.openxmlformats.org/drawingml/2006/main">
            <a:pPr>
              <a:buNone/>
            </a:pPr>
            <a:r>
              <a:rPr lang="en-US" sz="1100"/>
              <a:t>Focus on the existing task: Session 2 Warm-Up | Session 2 Warm-Up · about 4 minutes WARM-UP · THINK • TRY • CHECK Do…</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3.6, slide 23 | NOTES</a:t>
            </a:r>
          </a:p>
          <a:p xmlns:a="http://schemas.openxmlformats.org/drawingml/2006/main">
            <a:pPr>
              <a:buNone/>
            </a:pPr>
            <a:r>
              <a:rPr lang="en-US" sz="1100"/>
              <a:t>Focus on the existing task: Review Notes — Session 2 Review the key ideas before Session 2. COPY THESE 3 LINES 01 Convert means write the same amount in another…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3.6, slide 36 | SUMMARIZE</a:t>
            </a:r>
          </a:p>
          <a:p xmlns:a="http://schemas.openxmlformats.org/drawingml/2006/main">
            <a:pPr>
              <a:buNone/>
            </a:pPr>
            <a:r>
              <a:rPr lang="en-US" sz="1100"/>
              <a:t>Focus on the existing task: STUDENT MOVE · SUMMARIZE • TEACH A PARTNER Summarize: Convert Units Every conversion is a ratio — like 12 inches for every 1 foot, or…</a:t>
            </a:r>
          </a:p>
          <a:p xmlns:a="http://schemas.openxmlformats.org/drawingml/2006/main">
            <a:pPr>
              <a:buNone/>
            </a:pPr>
            <a:r>
              <a:rPr lang="en-US" sz="1100"/>
              <a:t>CONNECT (T1/4): Ask students to restate the displayed goal or key idea and connect it to earlier work. Relevant lesson evidence: use a same-system conversion ratio; preserve the amount; compare using matching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21 | COLLABORATE</a:t>
            </a:r>
          </a:p>
          <a:p xmlns:a="http://schemas.openxmlformats.org/drawingml/2006/main">
            <a:pPr>
              <a:buNone/>
            </a:pPr>
            <a:r>
              <a:rPr lang="en-US" sz="1100"/>
              <a:t>Focus on the existing task: The ratio of inches to feet is 12: 1. How can you use the unit ratio to convert 4 feet to inches?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multiplying or dividing without considering unit size. If it appears, label units on each step of the original conversion and reason whether the count should increase; then ask the student to revise the same response and explain the change. If evidence is secure, have students compare a second valid pathway or state why their approach works. Choose the next step from the responses, not a preset pace.</a:t>
            </a:r>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39 | REFLECTION</a:t>
            </a:r>
          </a:p>
          <a:p xmlns:a="http://schemas.openxmlformats.org/drawingml/2006/main">
            <a:pPr>
              <a:buNone/>
            </a:pPr>
            <a:r>
              <a:rPr lang="en-US" sz="1100"/>
              <a:t>Focus on the existing task: Learning Targets I can use ratio reasoning to convert between units of the same measurement system. I can reason abstractly and…</a:t>
            </a:r>
          </a:p>
          <a:p xmlns:a="http://schemas.openxmlformats.org/drawingml/2006/main">
            <a:pPr>
              <a:buNone/>
            </a:pPr>
            <a:r>
              <a:rPr lang="en-US" sz="1100"/>
              <a:t>CONNECT (T1/4): Ask students to restate the displayed goal or key idea and connect it to earlier work. Relevant lesson evidence: use a same-system conversion ratio; preserve the amount; compare using matching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multiplying or dividing without considering unit size.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units on each step of the original conversion and reason whether the count should increase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4 | VOCAB</a:t>
            </a:r>
          </a:p>
          <a:p xmlns:a="http://schemas.openxmlformats.org/drawingml/2006/main">
            <a:pPr>
              <a:buNone/>
            </a:pPr>
            <a:r>
              <a:rPr lang="en-US" sz="1100"/>
              <a:t>Focus on the existing task: Vocabulary 1 of 7 Convert…</a:t>
            </a:r>
          </a:p>
          <a:p xmlns:a="http://schemas.openxmlformats.org/drawingml/2006/main">
            <a:pPr>
              <a:buNone/>
            </a:pPr>
            <a:r>
              <a:rPr lang="en-US" sz="1100"/>
              <a:t>ASK (T1/3/5): Where does “Convert Measurements within the Same System”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5 | VOCAB</a:t>
            </a:r>
          </a:p>
          <a:p xmlns:a="http://schemas.openxmlformats.org/drawingml/2006/main">
            <a:pPr>
              <a:buNone/>
            </a:pPr>
            <a:r>
              <a:rPr lang="en-US" sz="1100"/>
              <a:t>Focus on the existing task: Vocabulary 2 of 7 Conversion…</a:t>
            </a:r>
          </a:p>
          <a:p xmlns:a="http://schemas.openxmlformats.org/drawingml/2006/main">
            <a:pPr>
              <a:buNone/>
            </a:pPr>
            <a:r>
              <a:rPr lang="en-US" sz="1100"/>
              <a:t>ASK (T1/3/5): Where does “Conversion factor”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6 | VOCAB</a:t>
            </a:r>
          </a:p>
          <a:p xmlns:a="http://schemas.openxmlformats.org/drawingml/2006/main">
            <a:pPr>
              <a:buNone/>
            </a:pPr>
            <a:r>
              <a:rPr lang="en-US" sz="1100"/>
              <a:t>Focus on the existing task: Vocabulary 3 of 7 Unit ratio…</a:t>
            </a:r>
          </a:p>
          <a:p xmlns:a="http://schemas.openxmlformats.org/drawingml/2006/main">
            <a:pPr>
              <a:buNone/>
            </a:pPr>
            <a:r>
              <a:rPr lang="en-US" sz="1100"/>
              <a:t>ASK (T1/3/5): Where does “Unit ratio”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7 | VOCAB</a:t>
            </a:r>
          </a:p>
          <a:p xmlns:a="http://schemas.openxmlformats.org/drawingml/2006/main">
            <a:pPr>
              <a:buNone/>
            </a:pPr>
            <a:r>
              <a:rPr lang="en-US" sz="1100"/>
              <a:t>Focus on the existing task: Vocabulary 4 of 7 Convert To…</a:t>
            </a:r>
          </a:p>
          <a:p xmlns:a="http://schemas.openxmlformats.org/drawingml/2006/main">
            <a:pPr>
              <a:buNone/>
            </a:pPr>
            <a:r>
              <a:rPr lang="en-US" sz="1100"/>
              <a:t>ASK (T1/3/5): Where does “Convert”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8 | VOCAB</a:t>
            </a:r>
          </a:p>
          <a:p xmlns:a="http://schemas.openxmlformats.org/drawingml/2006/main">
            <a:pPr>
              <a:buNone/>
            </a:pPr>
            <a:r>
              <a:rPr lang="en-US" sz="1100"/>
              <a:t>Focus on the existing task: Vocabulary 5 of 7 Measurement…</a:t>
            </a:r>
          </a:p>
          <a:p xmlns:a="http://schemas.openxmlformats.org/drawingml/2006/main">
            <a:pPr>
              <a:buNone/>
            </a:pPr>
            <a:r>
              <a:rPr lang="en-US" sz="1100"/>
              <a:t>ASK (T1/3/5): Where does “Measurement system”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9 | VOCAB</a:t>
            </a:r>
          </a:p>
          <a:p xmlns:a="http://schemas.openxmlformats.org/drawingml/2006/main">
            <a:pPr>
              <a:buNone/>
            </a:pPr>
            <a:r>
              <a:rPr lang="en-US" sz="1100"/>
              <a:t>Focus on the existing task: Vocabulary 6 of 7 Double…</a:t>
            </a:r>
          </a:p>
          <a:p xmlns:a="http://schemas.openxmlformats.org/drawingml/2006/main">
            <a:pPr>
              <a:buNone/>
            </a:pPr>
            <a:r>
              <a:rPr lang="en-US" sz="1100"/>
              <a:t>ASK (T1/3/5): Where does “Double number line”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10 | VOCAB</a:t>
            </a:r>
          </a:p>
          <a:p xmlns:a="http://schemas.openxmlformats.org/drawingml/2006/main">
            <a:pPr>
              <a:buNone/>
            </a:pPr>
            <a:r>
              <a:rPr lang="en-US" sz="1100"/>
              <a:t>Focus on the existing task: Vocabulary 7 of 7 Ratio table…</a:t>
            </a:r>
          </a:p>
          <a:p xmlns:a="http://schemas.openxmlformats.org/drawingml/2006/main">
            <a:pPr>
              <a:buNone/>
            </a:pPr>
            <a:r>
              <a:rPr lang="en-US" sz="1100"/>
              <a:t>ASK (T1/3/5): Where does “Ratio table”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11 | CURIOUS</a:t>
            </a:r>
          </a:p>
          <a:p xmlns:a="http://schemas.openxmlformats.org/drawingml/2006/main">
            <a:pPr>
              <a:buNone/>
            </a:pPr>
            <a:r>
              <a:rPr lang="en-US" sz="1100"/>
              <a:t>Focus on the existing task: Be Curious What is the question?</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17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use a same-system conversion ratio; preserve the amount; compare using matching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19 | REVEAL</a:t>
            </a:r>
          </a:p>
          <a:p xmlns:a="http://schemas.openxmlformats.org/drawingml/2006/main">
            <a:pPr>
              <a:buNone/>
            </a:pPr>
            <a:r>
              <a:rPr lang="en-US" sz="1100"/>
              <a:t>Focus on the existing task: What do you notice about the measurement units in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using matching units.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20 | REVEAL</a:t>
            </a:r>
          </a:p>
          <a:p xmlns:a="http://schemas.openxmlformats.org/drawingml/2006/main">
            <a:pPr>
              <a:buNone/>
            </a:pPr>
            <a:r>
              <a:rPr lang="en-US" sz="1100"/>
              <a:t>Focus on the existing task: How many inches are in one foot?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25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compare using matching units.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32 | PRIOR_INSERT</a:t>
            </a:r>
          </a:p>
          <a:p xmlns:a="http://schemas.openxmlformats.org/drawingml/2006/main">
            <a:pPr>
              <a:buNone/>
            </a:pPr>
            <a:r>
              <a:rPr lang="en-US" sz="1100"/>
              <a:t>Focus on the existing task: LESSON 3.6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use a same-system conversion ratio; preserve the amount; compare using matching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33 | REVEAL</a:t>
            </a:r>
          </a:p>
          <a:p xmlns:a="http://schemas.openxmlformats.org/drawingml/2006/main">
            <a:pPr>
              <a:buNone/>
            </a:pPr>
            <a:r>
              <a:rPr lang="en-US" sz="1100"/>
              <a:t>Focus on the existing task: What could be the first step when solving this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34 | REVEAL</a:t>
            </a:r>
          </a:p>
          <a:p xmlns:a="http://schemas.openxmlformats.org/drawingml/2006/main">
            <a:pPr>
              <a:buNone/>
            </a:pPr>
            <a:r>
              <a:rPr lang="en-US" sz="1100"/>
              <a:t>Focus on the existing task: What visual representation can you use to determine the number of milliliters in 4 liters?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3.6, slide 35 | REVEAL</a:t>
            </a:r>
          </a:p>
          <a:p xmlns:a="http://schemas.openxmlformats.org/drawingml/2006/main">
            <a:pPr>
              <a:buNone/>
            </a:pPr>
            <a:r>
              <a:rPr lang="en-US" sz="1100"/>
              <a:t>Focus on the existing task: How can you use the number line to find the number of milliliters in 4 liters?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r3_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3.6, slide 14 | WORKED</a:t>
            </a:r>
          </a:p>
          <a:p xmlns:a="http://schemas.openxmlformats.org/drawingml/2006/main">
            <a:pPr>
              <a:buNone/>
            </a:pPr>
            <a:r>
              <a:rPr lang="en-US" sz="1100"/>
              <a:t>Focus on the existing task: Feet → Inches A conversion factor relates equal measurements in different units. The unit ratio is 12 inches for 1 foot. Both are…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3_notesSlide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3.6, slide 16 | PRACTICE</a:t>
            </a:r>
          </a:p>
          <a:p xmlns:a="http://schemas.openxmlformats.org/drawingml/2006/main">
            <a:pPr>
              <a:buNone/>
            </a:pPr>
            <a:r>
              <a:rPr lang="en-US" sz="1100"/>
              <a:t>Focus on the existing task: Practice: Customary Conversions 1. Use 1 quart = 32 fluid ounces. How many fluid ounces are in 5 quarts?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3_notesSlide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3.6, slide 27 | WORKED</a:t>
            </a:r>
          </a:p>
          <a:p xmlns:a="http://schemas.openxmlformats.org/drawingml/2006/main">
            <a:pPr>
              <a:buNone/>
            </a:pPr>
            <a:r>
              <a:rPr lang="en-US" sz="1100"/>
              <a:t>Focus on the existing task: Liters → Milliliters Liters and milliliters are metric units of volume. The conversion factor is 1 liter = 1,000 milliliters. For…</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3_notesSlide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3.6, slide 29 | WORKED</a:t>
            </a:r>
          </a:p>
          <a:p xmlns:a="http://schemas.openxmlformats.org/drawingml/2006/main">
            <a:pPr>
              <a:buNone/>
            </a:pPr>
            <a:r>
              <a:rPr lang="en-US" sz="1100"/>
              <a:t>Focus on the existing task: Milliliters → Bottle Fills Diamond’s target is 4 liters, or 4,000 milliliters. Each bottle holds 500 milliliters. Divide to find the…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3.6, slide 3 | GOAL</a:t>
            </a:r>
          </a:p>
          <a:p xmlns:a="http://schemas.openxmlformats.org/drawingml/2006/main">
            <a:pPr>
              <a:buNone/>
            </a:pPr>
            <a:r>
              <a:rPr lang="en-US" sz="1100"/>
              <a:t>Focus on the existing task: Learning Target — Session 1 | Maryland Standard 6.AT.3 LEARNING TARGET · CONVERT •…</a:t>
            </a:r>
          </a:p>
          <a:p xmlns:a="http://schemas.openxmlformats.org/drawingml/2006/main">
            <a:pPr>
              <a:buNone/>
            </a:pPr>
            <a:r>
              <a:rPr lang="en-US" sz="1100"/>
              <a:t>CONNECT (T1/4): Ask students to restate the displayed goal or key idea and connect it to earlier work. Relevant lesson evidence: use a same-system conversion ratio; preserve the amount; compare using matching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Name today’s content and language goals. Briefly read the success criteria; do not teach procedures here. The original context and model follow. Return to these criteria after the worked example.</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use a same-system conversion ratio; preserve the amount; compare using matching units. Ask: “Which part of your work would show this?” Revisit that evidence after the task; a confidence rating alone is not evidence of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3.6, slide 24 | GOAL</a:t>
            </a:r>
          </a:p>
          <a:p xmlns:a="http://schemas.openxmlformats.org/drawingml/2006/main">
            <a:pPr>
              <a:buNone/>
            </a:pPr>
            <a:r>
              <a:rPr lang="en-US" sz="1100"/>
              <a:t>Focus on the existing task: Learning Target — Session 2 | Maryland Standard 6.AT.3 LEARNING TARGET · CONVERT •…</a:t>
            </a:r>
          </a:p>
          <a:p xmlns:a="http://schemas.openxmlformats.org/drawingml/2006/main">
            <a:pPr>
              <a:buNone/>
            </a:pPr>
            <a:r>
              <a:rPr lang="en-US" sz="1100"/>
              <a:t>CONNECT (T1/4): Ask students to restate the displayed goal or key idea and connect it to earlier work. Relevant lesson evidence: use a same-system conversion ratio; preserve the amount; compare using matching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Name today’s content and language goals. Briefly read the success criteria; do not teach procedures here. The original context and model follow. Return to these criteria after the worked example.</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use a same-system conversion ratio; preserve the amount; compare using matching units. Ask: “Which part of your work would show this?” Revisit that evidence after the task; a confidence rating alone is not evidence of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3.6, slide 2 | NOTES</a:t>
            </a:r>
          </a:p>
          <a:p xmlns:a="http://schemas.openxmlformats.org/drawingml/2006/main">
            <a:pPr>
              <a:buNone/>
            </a:pPr>
            <a:r>
              <a:rPr lang="en-US" sz="1100"/>
              <a:t>Focus on the existing task: Today’s Math Notes — Session 1 Keep the idea from Riding the Attractions. COPY THESE 3 LINES 01 Convert means write the same amount in…</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Use this slide only after the original worked example. Students copy the three lines on the left; the table is a reference and does not need copying. Read one line at a time. Ask one student to connect a note to the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3.6, slide 30 | NOTES</a:t>
            </a:r>
          </a:p>
          <a:p xmlns:a="http://schemas.openxmlformats.org/drawingml/2006/main">
            <a:pPr>
              <a:buNone/>
            </a:pPr>
            <a:r>
              <a:rPr lang="en-US" sz="1100"/>
              <a:t>Focus on the existing task: Today’s Math Notes — Session 2 Keep the idea from Hydrating. COPY THESE 3 LINES 01 1 liter = 1,000 milliliters. 02 Use the same units…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Use this slide only after the original worked example. Students copy the three lines on the left; the table is a reference and does not need copying. Read one line at a time. Ask one student to connect a note to the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3.6, slide 18 | TASK</a:t>
            </a:r>
          </a:p>
          <a:p xmlns:a="http://schemas.openxmlformats.org/drawingml/2006/main">
            <a:pPr>
              <a:buNone/>
            </a:pPr>
            <a:r>
              <a:rPr lang="en-US" sz="1100"/>
              <a:t>Focus on the existing task: Show a ratio table or equation. 2 — EXPLAIN + PROVE Why does the number change while the height stays the same?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a same-system conversion ratio.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Answer: 60 inches; 5 × 12. The same height is measured using smaller units. Give quiet thinking time before sharing. If a student is stuck, point back to the relevant worked model without doing the task for them. Give specific feedback, then allow a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3.6, slide 38 | ASSESSMENT</a:t>
            </a:r>
          </a:p>
          <a:p xmlns:a="http://schemas.openxmlformats.org/drawingml/2006/main">
            <a:pPr>
              <a:buNone/>
            </a:pPr>
            <a:r>
              <a:rPr lang="en-US" sz="1100"/>
              <a:t>Focus on the existing task: Exit Ticket + Self-Check STUDENT MOVE · SELF-ASSESS • NAME YOUR NEXT STEP A container holds 2 liters. A bottle holds 500 milliliters. How many full bottles fill the container?</a:t>
            </a:r>
          </a:p>
          <a:p xmlns:a="http://schemas.openxmlformats.org/drawingml/2006/main">
            <a:pPr>
              <a:buNone/>
            </a:pPr>
            <a:r>
              <a:rPr lang="en-US" sz="1100"/>
              <a:t>LAUNCH (T2/3/5): Gather an independent response before feedback. Students choose a suitable representation and justify it. Keep the first attempt separate from the revision.</a:t>
            </a:r>
          </a:p>
          <a:p xmlns:a="http://schemas.openxmlformats.org/drawingml/2006/main">
            <a:pPr>
              <a:buNone/>
            </a:pPr>
            <a:r>
              <a:rPr lang="en-US" sz="1100"/>
              <a:t>LOOK FOR (T4): Where this task addresses it, students can compare using matching units. Ask which feature of their work supports the claim.</a:t>
            </a:r>
          </a:p>
          <a:p xmlns:a="http://schemas.openxmlformats.org/drawingml/2006/main">
            <a:pPr>
              <a:buNone/>
            </a:pPr>
            <a:r>
              <a:rPr lang="en-US" sz="1100"/>
              <a:t>RESPOND: If this task shows the lesson misconception—multiplying or dividing without considering unit size—label units on each step of the original conversion and reason whether the count should increase.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Answer: 2 L = 2,000 mL; 2,000 ÷ 500 = 4 bottles. Give quiet thinking time before sharing. If a student is stuck, point back to the relevant worked model without doing the task for them. Give specific feedback, then allow a correction.</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use a same-system conversion ratio; preserve the amount; compare using matching units. Respond with one specific next step tied to the work. Students revise and annotate what changed, then identify a criterion they can now demonstrate and one they still need to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3.6, slide 40 | REFERENCE</a:t>
            </a:r>
          </a:p>
          <a:p xmlns:a="http://schemas.openxmlformats.org/drawingml/2006/main">
            <a:pPr>
              <a:buNone/>
            </a:pPr>
            <a:r>
              <a:rPr lang="en-US" sz="1100"/>
              <a:t>Focus on the existing task: UIFR TEACH — Teacher Reference Teacher reference • hidden from the student slideshow TEACH 1 · Session goals, purpose, and content-linked…</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Source: Baltimore City Public Schools, Updated Instructional Framework Rubric, June 2020. Teacher enactment determines the quality of instruction; this is a support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r3_slideLayout1.xml.rels><?xml version='1.0' encoding='UTF-8' standalone='yes'?>
<Relationships xmlns="http://schemas.openxmlformats.org/package/2006/relationships"><Relationship Id="Rfe190103b9714ad8" Type="http://schemas.openxmlformats.org/officeDocument/2006/relationships/slideMaster" Target="../slideMasters/r3_slideMaster1.xml"/></Relationships>
</file>

<file path=ppt/slideLayouts/_rels/ref_slideLayout3.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4.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5.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6.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7.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8.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9.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10.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11.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12.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ref_slideLayout13.xml.rels><?xml version='1.0' encoding='UTF-8' standalone='yes'?>
<Relationships xmlns="http://schemas.openxmlformats.org/package/2006/relationships"><Relationship Id="rId1" Type="http://schemas.openxmlformats.org/officeDocument/2006/relationships/slideMaster" Target="../slideMasters/ref_slideMaster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u3_slideLayout1.xml.rels><?xml version='1.0' encoding='UTF-8' standalone='yes'?>
<Relationships xmlns="http://schemas.openxmlformats.org/package/2006/relationships"><Relationship Id="R9183a203ba8f409d" Type="http://schemas.openxmlformats.org/officeDocument/2006/relationships/slideMaster" Target="../slideMasters/u3_slideMaster1.xml"/></Relationships>
</file>

<file path=ppt/slideLayouts/r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ref_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5272930"/>
      </p:ext>
    </p:extLst>
  </p:cSld>
  <p:clrMapOvr>
    <a:masterClrMapping/>
  </p:clrMapOvr>
</p:sldLayout>
</file>

<file path=ppt/slideLayouts/ref_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D769D-F592-2049-8CD9-3C1B32B2A75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9CB6B09-56C4-7846-91C7-D59B315A4E00}"/>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FD7E8-7200-C949-BB13-E118073F91F2}"/>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5" name="Footer Placeholder 4">
            <a:extLst>
              <a:ext uri="{FF2B5EF4-FFF2-40B4-BE49-F238E27FC236}">
                <a16:creationId xmlns:a16="http://schemas.microsoft.com/office/drawing/2014/main" id="{E7D72EFC-4EE7-4144-B95B-17CEC44247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AEEA334-DEDB-FD4F-A53E-79E012CF9F82}"/>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954597839"/>
      </p:ext>
    </p:extLst>
  </p:cSld>
  <p:clrMapOvr>
    <a:masterClrMapping/>
  </p:clrMapOvr>
</p:sldLayout>
</file>

<file path=ppt/slideLayouts/ref_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61B1-1B3F-1D4F-BAF9-3AED686D041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68BD20-3EDF-1145-A857-0A2532D8EDA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4FF297-A420-0E4D-8F5A-96354E7D482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5" name="Footer Placeholder 4">
            <a:extLst>
              <a:ext uri="{FF2B5EF4-FFF2-40B4-BE49-F238E27FC236}">
                <a16:creationId xmlns:a16="http://schemas.microsoft.com/office/drawing/2014/main" id="{91CD8232-4862-E442-8744-1E53D51884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5946B13-3CFA-694F-883B-C9278D1A9D8F}"/>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564206763"/>
      </p:ext>
    </p:extLst>
  </p:cSld>
  <p:clrMapOvr>
    <a:masterClrMapping/>
  </p:clrMapOvr>
</p:sldLayout>
</file>

<file path=ppt/slideLayouts/ref_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FD96-1F21-9341-9470-D1F6FFBAA89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9F910CA-4AF6-1749-AB0F-67BB34724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05B918-DC9E-A948-A567-F7C72364A9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B5F046-E5F8-414F-838B-1E32E10C416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6" name="Footer Placeholder 5">
            <a:extLst>
              <a:ext uri="{FF2B5EF4-FFF2-40B4-BE49-F238E27FC236}">
                <a16:creationId xmlns:a16="http://schemas.microsoft.com/office/drawing/2014/main" id="{3162DBDD-179C-CF42-B4CE-C2805343451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D6D4D96-8DBD-5C46-B28F-FAA0903CB81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796359678"/>
      </p:ext>
    </p:extLst>
  </p:cSld>
  <p:clrMapOvr>
    <a:masterClrMapping/>
  </p:clrMapOvr>
</p:sldLayout>
</file>

<file path=ppt/slideLayouts/ref_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13F92-104A-9347-A779-BB46FF26A8C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CA4409B-23B4-E649-87C8-C7FF6C11B00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428990-9B24-CB41-BA6A-B87D8AC4D5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013B01-5E24-C14E-82B9-9575D70E4BE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0F52B-161F-6A4C-B060-C83953959F0E}"/>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85CE9F-AA0C-AA41-BF7B-1F905189C3C0}"/>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8" name="Footer Placeholder 7">
            <a:extLst>
              <a:ext uri="{FF2B5EF4-FFF2-40B4-BE49-F238E27FC236}">
                <a16:creationId xmlns:a16="http://schemas.microsoft.com/office/drawing/2014/main" id="{5299CB08-02C8-4040-8A99-81393E307A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C624D65-BBE1-0840-9374-4BB6B564FBE1}"/>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29116020"/>
      </p:ext>
    </p:extLst>
  </p:cSld>
  <p:clrMapOvr>
    <a:masterClrMapping/>
  </p:clrMapOvr>
</p:sldLayout>
</file>

<file path=ppt/slideLayouts/ref_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58484-B3AD-9047-9FEB-02810EBA723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AD3965A-F46D-5147-9CCD-8A3B9831D3AF}"/>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4" name="Footer Placeholder 3">
            <a:extLst>
              <a:ext uri="{FF2B5EF4-FFF2-40B4-BE49-F238E27FC236}">
                <a16:creationId xmlns:a16="http://schemas.microsoft.com/office/drawing/2014/main" id="{FEDCDC3B-B0F5-B546-B615-443CF233118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B81633E-DE52-574B-9D1C-CB1522C6D444}"/>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60170509"/>
      </p:ext>
    </p:extLst>
  </p:cSld>
  <p:clrMapOvr>
    <a:masterClrMapping/>
  </p:clrMapOvr>
</p:sldLayout>
</file>

<file path=ppt/slideLayouts/ref_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ADF3D-2733-D541-A6F0-113535947F5D}"/>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3" name="Footer Placeholder 2">
            <a:extLst>
              <a:ext uri="{FF2B5EF4-FFF2-40B4-BE49-F238E27FC236}">
                <a16:creationId xmlns:a16="http://schemas.microsoft.com/office/drawing/2014/main" id="{2CA48EED-1BCE-484A-A04B-59E5A1FDC77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5642D01-D152-E14E-A6FF-C30AC8D49D1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4055708461"/>
      </p:ext>
    </p:extLst>
  </p:cSld>
  <p:clrMapOvr>
    <a:masterClrMapping/>
  </p:clrMapOvr>
</p:sldLayout>
</file>

<file path=ppt/slideLayouts/ref_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BB66-84CB-9947-976C-4F6A66C1906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716C2F-957B-8B41-B2E1-5905C4080AA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2202C1-BE7A-BA4C-AB5F-712D63C088B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F9417E-77FB-3C40-95FC-B74C241D71BC}"/>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6" name="Footer Placeholder 5">
            <a:extLst>
              <a:ext uri="{FF2B5EF4-FFF2-40B4-BE49-F238E27FC236}">
                <a16:creationId xmlns:a16="http://schemas.microsoft.com/office/drawing/2014/main" id="{A586D0B9-B2F1-B846-8D9E-ABA1961B47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AC2AE01-31A0-F849-9F7C-F176989D72B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570880827"/>
      </p:ext>
    </p:extLst>
  </p:cSld>
  <p:clrMapOvr>
    <a:masterClrMapping/>
  </p:clrMapOvr>
</p:sldLayout>
</file>

<file path=ppt/slideLayouts/ref_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7998-1F1A-3C40-969A-21C392F7A8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40331-6224-DA4B-80D7-D45D0B7917B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3228D2-3869-9A45-912D-C9DC1FABB9B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E8450-A06C-FD4F-A28C-49ECD9FB83B8}"/>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6" name="Footer Placeholder 5">
            <a:extLst>
              <a:ext uri="{FF2B5EF4-FFF2-40B4-BE49-F238E27FC236}">
                <a16:creationId xmlns:a16="http://schemas.microsoft.com/office/drawing/2014/main" id="{537347B8-BC56-AF4A-85A3-E7CA9A68829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E3DFB10-112C-B643-935B-970B5CC9BE7B}"/>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505071379"/>
      </p:ext>
    </p:extLst>
  </p:cSld>
  <p:clrMapOvr>
    <a:masterClrMapping/>
  </p:clrMapOvr>
</p:sldLayout>
</file>

<file path=ppt/slideLayouts/ref_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E914-F3CA-0945-B2AA-8C7AF720EE0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399F88-00FF-D140-A8A6-3C6772925C6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1986D-1C20-914A-AD35-5B63CFE0F42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5" name="Footer Placeholder 4">
            <a:extLst>
              <a:ext uri="{FF2B5EF4-FFF2-40B4-BE49-F238E27FC236}">
                <a16:creationId xmlns:a16="http://schemas.microsoft.com/office/drawing/2014/main" id="{CE9244C6-D626-EC42-9DAA-C77B5F7D1E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417302-F1F7-0044-8A67-38CA545F63BA}"/>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076149571"/>
      </p:ext>
    </p:extLst>
  </p:cSld>
  <p:clrMapOvr>
    <a:masterClrMapping/>
  </p:clrMapOvr>
</p:sldLayout>
</file>

<file path=ppt/slideLayouts/ref_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EE9C3F-1005-CB4E-B0F6-D1C0C457C647}"/>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30AEDC-2F40-0C44-AA13-1D0849FFD471}"/>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8080A-0DE6-534B-9F0D-0F62A2792B7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9/8/26</a:t>
            </a:fld>
            <a:endParaRPr lang="en-US"/>
          </a:p>
        </p:txBody>
      </p:sp>
      <p:sp>
        <p:nvSpPr>
          <p:cNvPr id="5" name="Footer Placeholder 4">
            <a:extLst>
              <a:ext uri="{FF2B5EF4-FFF2-40B4-BE49-F238E27FC236}">
                <a16:creationId xmlns:a16="http://schemas.microsoft.com/office/drawing/2014/main" id="{A659B2E0-1405-3149-B511-4F6C6FBFE11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88DFEAF-7F52-6542-9AF3-CC6A7561395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326893662"/>
      </p:ext>
    </p:extLst>
  </p:cSld>
  <p:clrMapOvr>
    <a:masterClrMapping/>
  </p:clrMapOvr>
</p:sldLayout>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900">
                <a:solidFill>
                  <a:schemeClr val="dk2"/>
                </a:solidFill>
                <a:latin typeface="Arial"/>
                <a:ea typeface="Arial"/>
                <a:cs typeface="Arial"/>
                <a:sym typeface="Arial"/>
              </a:defRPr>
            </a:lvl1pPr>
            <a:lvl2pPr indent="0" lvl="1" marL="0" marR="0" rtl="0" algn="r">
              <a:spcBef>
                <a:spcPts val="0"/>
              </a:spcBef>
              <a:buNone/>
              <a:defRPr sz="900">
                <a:solidFill>
                  <a:schemeClr val="dk2"/>
                </a:solidFill>
                <a:latin typeface="Arial"/>
                <a:ea typeface="Arial"/>
                <a:cs typeface="Arial"/>
                <a:sym typeface="Arial"/>
              </a:defRPr>
            </a:lvl2pPr>
            <a:lvl3pPr indent="0" lvl="2" marL="0" marR="0" rtl="0" algn="r">
              <a:spcBef>
                <a:spcPts val="0"/>
              </a:spcBef>
              <a:buNone/>
              <a:defRPr sz="900">
                <a:solidFill>
                  <a:schemeClr val="dk2"/>
                </a:solidFill>
                <a:latin typeface="Arial"/>
                <a:ea typeface="Arial"/>
                <a:cs typeface="Arial"/>
                <a:sym typeface="Arial"/>
              </a:defRPr>
            </a:lvl3pPr>
            <a:lvl4pPr indent="0" lvl="3" marL="0" marR="0" rtl="0" algn="r">
              <a:spcBef>
                <a:spcPts val="0"/>
              </a:spcBef>
              <a:buNone/>
              <a:defRPr sz="900">
                <a:solidFill>
                  <a:schemeClr val="dk2"/>
                </a:solidFill>
                <a:latin typeface="Arial"/>
                <a:ea typeface="Arial"/>
                <a:cs typeface="Arial"/>
                <a:sym typeface="Arial"/>
              </a:defRPr>
            </a:lvl4pPr>
            <a:lvl5pPr indent="0" lvl="4" marL="0" marR="0" rtl="0" algn="r">
              <a:spcBef>
                <a:spcPts val="0"/>
              </a:spcBef>
              <a:buNone/>
              <a:defRPr sz="900">
                <a:solidFill>
                  <a:schemeClr val="dk2"/>
                </a:solidFill>
                <a:latin typeface="Arial"/>
                <a:ea typeface="Arial"/>
                <a:cs typeface="Arial"/>
                <a:sym typeface="Arial"/>
              </a:defRPr>
            </a:lvl5pPr>
            <a:lvl6pPr indent="0" lvl="5" marL="0" marR="0" rtl="0" algn="r">
              <a:spcBef>
                <a:spcPts val="0"/>
              </a:spcBef>
              <a:buNone/>
              <a:defRPr sz="900">
                <a:solidFill>
                  <a:schemeClr val="dk2"/>
                </a:solidFill>
                <a:latin typeface="Arial"/>
                <a:ea typeface="Arial"/>
                <a:cs typeface="Arial"/>
                <a:sym typeface="Arial"/>
              </a:defRPr>
            </a:lvl6pPr>
            <a:lvl7pPr indent="0" lvl="6" marL="0" marR="0" rtl="0" algn="r">
              <a:spcBef>
                <a:spcPts val="0"/>
              </a:spcBef>
              <a:buNone/>
              <a:defRPr sz="900">
                <a:solidFill>
                  <a:schemeClr val="dk2"/>
                </a:solidFill>
                <a:latin typeface="Arial"/>
                <a:ea typeface="Arial"/>
                <a:cs typeface="Arial"/>
                <a:sym typeface="Arial"/>
              </a:defRPr>
            </a:lvl7pPr>
            <a:lvl8pPr indent="0" lvl="7" marL="0" marR="0" rtl="0" algn="r">
              <a:spcBef>
                <a:spcPts val="0"/>
              </a:spcBef>
              <a:buNone/>
              <a:defRPr sz="900">
                <a:solidFill>
                  <a:schemeClr val="dk2"/>
                </a:solidFill>
                <a:latin typeface="Arial"/>
                <a:ea typeface="Arial"/>
                <a:cs typeface="Arial"/>
                <a:sym typeface="Arial"/>
              </a:defRPr>
            </a:lvl8pPr>
            <a:lvl9pPr indent="0" lvl="8" marL="0" marR="0" rtl="0" algn="r">
              <a:spcBef>
                <a:spcPts val="0"/>
              </a:spcBef>
              <a:buNone/>
              <a:defRPr sz="9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u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r3_slideMaster1.xml.rels><?xml version='1.0' encoding='UTF-8' standalone='yes'?>
<Relationships xmlns="http://schemas.openxmlformats.org/package/2006/relationships"><Relationship Id="R9eeba4a542864514" Type="http://schemas.openxmlformats.org/officeDocument/2006/relationships/slideLayout" Target="../slideLayouts/r3_slideLayout1.xml"/><Relationship Id="Rc314cefb859941d2" Type="http://schemas.openxmlformats.org/officeDocument/2006/relationships/theme" Target="theme/r3_theme2.xml"/></Relationships>
</file>

<file path=ppt/slideMasters/_rels/ref_slideMaster2.xml.rels><?xml version='1.0' encoding='UTF-8' standalone='yes'?>
<Relationships xmlns="http://schemas.openxmlformats.org/package/2006/relationships"><Relationship Id="rId1" Type="http://schemas.openxmlformats.org/officeDocument/2006/relationships/slideLayout" Target="../slideLayouts/ref_slideLayout3.xml"/><Relationship Id="rId2" Type="http://schemas.openxmlformats.org/officeDocument/2006/relationships/slideLayout" Target="../slideLayouts/ref_slideLayout4.xml"/><Relationship Id="rId3" Type="http://schemas.openxmlformats.org/officeDocument/2006/relationships/slideLayout" Target="../slideLayouts/ref_slideLayout5.xml"/><Relationship Id="rId4" Type="http://schemas.openxmlformats.org/officeDocument/2006/relationships/slideLayout" Target="../slideLayouts/ref_slideLayout6.xml"/><Relationship Id="rId5" Type="http://schemas.openxmlformats.org/officeDocument/2006/relationships/slideLayout" Target="../slideLayouts/ref_slideLayout7.xml"/><Relationship Id="rId6" Type="http://schemas.openxmlformats.org/officeDocument/2006/relationships/slideLayout" Target="../slideLayouts/ref_slideLayout8.xml"/><Relationship Id="rId7" Type="http://schemas.openxmlformats.org/officeDocument/2006/relationships/slideLayout" Target="../slideLayouts/ref_slideLayout9.xml"/><Relationship Id="rId8" Type="http://schemas.openxmlformats.org/officeDocument/2006/relationships/slideLayout" Target="../slideLayouts/ref_slideLayout10.xml"/><Relationship Id="rId9" Type="http://schemas.openxmlformats.org/officeDocument/2006/relationships/slideLayout" Target="../slideLayouts/ref_slideLayout11.xml"/><Relationship Id="rId10" Type="http://schemas.openxmlformats.org/officeDocument/2006/relationships/slideLayout" Target="../slideLayouts/ref_slideLayout12.xml"/><Relationship Id="rId11" Type="http://schemas.openxmlformats.org/officeDocument/2006/relationships/slideLayout" Target="../slideLayouts/ref_slideLayout13.xml"/><Relationship Id="rId12" Type="http://schemas.openxmlformats.org/officeDocument/2006/relationships/theme" Target="../theme/ref_theme2.xml"/><Relationship Id="rId13" Type="http://schemas.openxmlformats.org/officeDocument/2006/relationships/image" Target="../media/ref_image1.png"/></Relationships>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3.xml"/></Relationships>
</file>

<file path=ppt/slideMasters/_rels/u3_slideMaster1.xml.rels><?xml version='1.0' encoding='UTF-8' standalone='yes'?>
<Relationships xmlns="http://schemas.openxmlformats.org/package/2006/relationships"><Relationship Id="R84cdcfdef1044aca" Type="http://schemas.openxmlformats.org/officeDocument/2006/relationships/slideLayout" Target="../slideLayouts/u3_slideLayout1.xml"/><Relationship Id="Re12eedc383d1461f" Type="http://schemas.openxmlformats.org/officeDocument/2006/relationships/theme" Target="theme/u3_theme2.xml"/></Relationships>
</file>

<file path=ppt/slideMasters/r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5" r:id="R9eeba4a5428645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ref_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223C3C7-1489-9C41-8C28-D9B5002D9755}"/>
              </a:ext>
            </a:extLst>
          </p:cNvPr>
          <p:cNvCxnSpPr/>
          <p:nvPr userDrawn="1"/>
        </p:nvCxnSpPr>
        <p:spPr>
          <a:xfrm>
            <a:off x="0" y="6432698"/>
            <a:ext cx="12192000"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9">
            <a:extLst>
              <a:ext uri="{FF2B5EF4-FFF2-40B4-BE49-F238E27FC236}">
                <a16:creationId xmlns:a16="http://schemas.microsoft.com/office/drawing/2014/main" id="{31BA0F39-6F16-BD45-B2F6-8E8E0FCE6D22}"/>
              </a:ext>
            </a:extLst>
          </p:cNvPr>
          <p:cNvSpPr txBox="1">
            <a:spLocks/>
          </p:cNvSpPr>
          <p:nvPr userDrawn="1"/>
        </p:nvSpPr>
        <p:spPr>
          <a:xfrm>
            <a:off x="490549" y="6528815"/>
            <a:ext cx="1036320" cy="32466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a:solidFill>
                  <a:schemeClr val="tx2"/>
                </a:solidFill>
                <a:latin typeface="Arial" panose="020B0604020202020204" pitchFamily="34" charset="0"/>
                <a:cs typeface="Arial" panose="020B0604020202020204" pitchFamily="34" charset="0"/>
              </a:rPr>
              <a:t xml:space="preserve">McGraw Hill   </a:t>
            </a:r>
            <a:r>
              <a:rPr lang="en-US" sz="900" b="1" spc="0" baseline="0">
                <a:solidFill>
                  <a:schemeClr val="tx2"/>
                </a:solidFill>
                <a:latin typeface="Arial" panose="020B0604020202020204" pitchFamily="34" charset="0"/>
                <a:cs typeface="Arial" panose="020B0604020202020204" pitchFamily="34" charset="0"/>
              </a:rPr>
              <a:t>|</a:t>
            </a:r>
            <a:endParaRPr lang="en-US" sz="900">
              <a:solidFill>
                <a:schemeClr val="tx2"/>
              </a:solidFill>
              <a:latin typeface="Arial" panose="020B0604020202020204" pitchFamily="34" charset="0"/>
              <a:cs typeface="Arial" panose="020B0604020202020204" pitchFamily="34" charset="0"/>
            </a:endParaRPr>
          </a:p>
        </p:txBody>
      </p:sp>
      <p:sp>
        <p:nvSpPr>
          <p:cNvPr id="10" name="Footer Placeholder 4">
            <a:extLst>
              <a:ext uri="{FF2B5EF4-FFF2-40B4-BE49-F238E27FC236}">
                <a16:creationId xmlns:a16="http://schemas.microsoft.com/office/drawing/2014/main" id="{65D709DB-80CD-BD4D-958F-080EA8C05428}"/>
              </a:ext>
            </a:extLst>
          </p:cNvPr>
          <p:cNvSpPr txBox="1">
            <a:spLocks/>
          </p:cNvSpPr>
          <p:nvPr userDrawn="1"/>
        </p:nvSpPr>
        <p:spPr>
          <a:xfrm>
            <a:off x="9064487" y="6399634"/>
            <a:ext cx="3107634" cy="47824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00">
                <a:solidFill>
                  <a:schemeClr val="tx1">
                    <a:lumMod val="75000"/>
                    <a:lumOff val="25000"/>
                  </a:schemeClr>
                </a:solidFill>
                <a:latin typeface="Arial" panose="020B0604020202020204" pitchFamily="34" charset="0"/>
                <a:cs typeface="Arial" panose="020B0604020202020204" pitchFamily="34" charset="0"/>
              </a:rPr>
              <a:t>This material may be reproduced for licensed classroom use only and may not be further reproduced or distributed.</a:t>
            </a:r>
          </a:p>
        </p:txBody>
      </p:sp>
      <p:pic>
        <p:nvPicPr>
          <p:cNvPr id="11" name="Picture 10">
            <a:extLst>
              <a:ext uri="{FF2B5EF4-FFF2-40B4-BE49-F238E27FC236}">
                <a16:creationId xmlns:a16="http://schemas.microsoft.com/office/drawing/2014/main" id="{DB6EED09-8B61-F64F-907D-F4B749DB901C}"/>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p:blipFill>
        <p:spPr>
          <a:xfrm>
            <a:off x="4896996" y="0"/>
            <a:ext cx="7295004" cy="1193294"/>
          </a:xfrm>
          <a:prstGeom prst="rect">
            <a:avLst/>
          </a:prstGeom>
        </p:spPr>
      </p:pic>
      <p:sp>
        <p:nvSpPr>
          <p:cNvPr id="12" name="Footer Placeholder 9">
            <a:extLst>
              <a:ext uri="{FF2B5EF4-FFF2-40B4-BE49-F238E27FC236}">
                <a16:creationId xmlns:a16="http://schemas.microsoft.com/office/drawing/2014/main" id="{0FFCF478-E46E-474C-A6F6-E53E48F9103D}"/>
              </a:ext>
            </a:extLst>
          </p:cNvPr>
          <p:cNvSpPr txBox="1">
            <a:spLocks/>
          </p:cNvSpPr>
          <p:nvPr userDrawn="1"/>
        </p:nvSpPr>
        <p:spPr>
          <a:xfrm>
            <a:off x="1401178" y="6548751"/>
            <a:ext cx="4694822" cy="32468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0" dirty="0">
                <a:solidFill>
                  <a:schemeClr val="tx2"/>
                </a:solidFill>
                <a:latin typeface="Arial" panose="020B0604020202020204" pitchFamily="34" charset="0"/>
                <a:cs typeface="Arial" panose="020B0604020202020204" pitchFamily="34" charset="0"/>
              </a:rPr>
              <a:t>Converting Within One System</a:t>
            </a:r>
          </a:p>
        </p:txBody>
      </p:sp>
    </p:spTree>
    <p:extLst>
      <p:ext uri="{BB962C8B-B14F-4D97-AF65-F5344CB8AC3E}">
        <p14:creationId xmlns:p14="http://schemas.microsoft.com/office/powerpoint/2010/main" val="1795604345"/>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chemeClr val="dk2"/>
                </a:solidFill>
                <a:latin typeface="Arial"/>
                <a:ea typeface="Arial"/>
                <a:cs typeface="Arial"/>
                <a:sym typeface="Arial"/>
              </a:rPr>
              <a:t>Copyright © McGraw Hill</a:t>
            </a:r>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a:p>
        </p:txBody>
      </p:sp>
    </p:spTree>
  </p:cSld>
  <p:clrMap accent1="accent1" accent2="accent2" accent3="accent3" accent4="accent4" accent5="accent5" accent6="accent6" bg1="lt1" bg2="dk2" tx1="dk1" tx2="lt2" folHlink="folHlink" hlink="hlink"/>
  <p:sldLayoutIdLst>
    <p:sldLayoutId id="2147483667" r:id="rId3"/>
    <p:sldLayoutId id="2147483668"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23" name="Google Shape;23;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24" name="Google Shape;24;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5" name="Google Shape;25;p4"/>
          <p:cNvSpPr txBox="1"/>
          <p:nvPr/>
        </p:nvSpPr>
        <p:spPr>
          <a:xfrm>
            <a:off x="1294024" y="6533319"/>
            <a:ext cx="4694822" cy="3246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00">
                <a:solidFill>
                  <a:schemeClr val="dk2"/>
                </a:solidFill>
                <a:latin typeface="Arial"/>
                <a:ea typeface="Arial"/>
                <a:cs typeface="Arial"/>
                <a:sym typeface="Arial"/>
              </a:rPr>
              <a:t>Measurement Conversion</a:t>
            </a:r>
            <a:endParaRPr/>
          </a:p>
        </p:txBody>
      </p:sp>
    </p:spTree>
  </p:cSld>
  <p:clrMap accent1="accent1" accent2="accent2" accent3="accent3" accent4="accent4" accent5="accent5" accent6="accent6" bg1="lt1" bg2="dk2" tx1="dk1" tx2="lt2" folHlink="folHlink" hlink="hlink"/>
  <p:sldLayoutIdLst>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93" name="Google Shape;93;p16"/>
          <p:cNvSpPr txBox="1"/>
          <p:nvPr/>
        </p:nvSpPr>
        <p:spPr>
          <a:xfrm>
            <a:off x="1294024" y="6533319"/>
            <a:ext cx="4694822" cy="3246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00">
                <a:solidFill>
                  <a:schemeClr val="dk2"/>
                </a:solidFill>
                <a:latin typeface="Arial"/>
                <a:ea typeface="Arial"/>
                <a:cs typeface="Arial"/>
                <a:sym typeface="Arial"/>
              </a:rPr>
              <a:t>Measurement Conversion</a:t>
            </a:r>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theme/r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u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u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02" r:id="R84cdcfdef1044a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11beb81f927b4c12" Type="http://schemas.openxmlformats.org/officeDocument/2006/relationships/slideLayout" Target="../slideLayouts/ref_slideLayout9.xml"/><Relationship Id="rIdWarmUpNotes" Type="http://schemas.openxmlformats.org/officeDocument/2006/relationships/notesSlide" Target="../notesSlides/notesSlide65.xml"/></Relationships>
</file>

<file path=ppt/slides/_rels/slide2.xml.rels><?xml version='1.0' encoding='UTF-8' standalone='yes'?>
<Relationships xmlns="http://schemas.openxmlformats.org/package/2006/relationships"><Relationship Id="Rb9bf6dd0903949ca" Type="http://schemas.openxmlformats.org/officeDocument/2006/relationships/slideLayout" Target="../slideLayouts/ref_slideLayout9.xml"/><Relationship Id="Rcfdd68ff90cf4be7" Type="http://schemas.openxmlformats.org/officeDocument/2006/relationships/notesSlide" Target="../notesSlides/u3_notesSlide3.xml"/></Relationships>
</file>

<file path=ppt/slides/_rels/slide3.xml.rels><?xml version='1.0' encoding='UTF-8' standalone='yes'?>
<Relationships xmlns="http://schemas.openxmlformats.org/package/2006/relationships"><Relationship Id="R11beb81f927b4c12" Type="http://schemas.openxmlformats.org/officeDocument/2006/relationships/slideLayout" Target="../slideLayouts/ref_slideLayout9.xml"/><Relationship Id="R2d86f422c5cf4325" Type="http://schemas.openxmlformats.org/officeDocument/2006/relationships/notesSlide" Target="../notesSlides/u3_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7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7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7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7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7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7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7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jpg"/><Relationship Id="rId3" Type="http://schemas.openxmlformats.org/officeDocument/2006/relationships/image" Target="../media/image4.png"/><Relationship Id="rId4" Type="http://schemas.openxmlformats.org/officeDocument/2006/relationships/notesSlide" Target="../notesSlides/notesSlide7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45e3e74eba65462a" Type="http://schemas.openxmlformats.org/officeDocument/2006/relationships/notesSlide" Target="../notesSlides/r3_notesSlide1.xml"/><Relationship Id="Rcf87eead095e41b4" Type="http://schemas.openxmlformats.org/officeDocument/2006/relationships/slideLayout" Target="../slideLayouts/ref_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0b3aaeeabbf144db" Type="http://schemas.openxmlformats.org/officeDocument/2006/relationships/slideLayout" Target="../slideLayouts/ref_slideLayout9.xml"/><Relationship Id="R19374b068082441b" Type="http://schemas.openxmlformats.org/officeDocument/2006/relationships/notesSlide" Target="../notesSlides/r3_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18.xml.rels><?xml version='1.0' encoding='UTF-8' standalone='yes'?>
<Relationships xmlns="http://schemas.openxmlformats.org/package/2006/relationships"><Relationship Id="R41c952182e9345aa" Type="http://schemas.openxmlformats.org/officeDocument/2006/relationships/slideLayout" Target="../slideLayouts/ref_slideLayout9.xml"/><Relationship Id="Rc48470250f104884" Type="http://schemas.openxmlformats.org/officeDocument/2006/relationships/notesSlide" Target="../notesSlides/u3_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6.png"/><Relationship Id="rId3" Type="http://schemas.openxmlformats.org/officeDocument/2006/relationships/notesSlide" Target="../notesSlides/notesSlide8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11beb81f927b4c12" Type="http://schemas.openxmlformats.org/officeDocument/2006/relationships/slideLayout" Target="../slideLayouts/ref_slideLayout9.xml"/><Relationship Id="rId1" Type="http://schemas.openxmlformats.org/officeDocument/2006/relationships/notesSlide" Target="../notesSlides/notesSlide66.xml"/></Relationships>
</file>

<file path=ppt/slides/_rels/slide23.xml.rels><?xml version='1.0' encoding='UTF-8' standalone='yes'?>
<Relationships xmlns="http://schemas.openxmlformats.org/package/2006/relationships"><Relationship Id="Rb9bf6dd0903949ca" Type="http://schemas.openxmlformats.org/officeDocument/2006/relationships/slideLayout" Target="../slideLayouts/ref_slideLayout9.xml"/><Relationship Id="rId1" Type="http://schemas.openxmlformats.org/officeDocument/2006/relationships/notesSlide" Target="../notesSlides/notesSlide67.xml"/></Relationships>
</file>

<file path=ppt/slides/_rels/slide24.xml.rels><?xml version='1.0' encoding='UTF-8' standalone='yes'?>
<Relationships xmlns="http://schemas.openxmlformats.org/package/2006/relationships"><Relationship Id="Ra10ddf15edb7471e" Type="http://schemas.openxmlformats.org/officeDocument/2006/relationships/slideLayout" Target="../slideLayouts/ref_slideLayout9.xml"/><Relationship Id="Rc38d1a5d1c614514" Type="http://schemas.openxmlformats.org/officeDocument/2006/relationships/notesSlide" Target="../notesSlides/u3_notes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054986921ee84657" Type="http://schemas.openxmlformats.org/officeDocument/2006/relationships/notesSlide" Target="../notesSlides/r3_notesSlide3.xml"/><Relationship Id="R4c50dc535ab14948" Type="http://schemas.openxmlformats.org/officeDocument/2006/relationships/slideLayout" Target="../slideLayouts/ref_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47.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03924a557265468d" Type="http://schemas.openxmlformats.org/officeDocument/2006/relationships/slideLayout" Target="../slideLayouts/ref_slideLayout9.xml"/><Relationship Id="R52b8dba5a2f046ee" Type="http://schemas.openxmlformats.org/officeDocument/2006/relationships/notesSlide" Target="../notesSlides/r3_notesSlide4.xml"/></Relationships>
</file>

<file path=ppt/slides/_rels/slide30.xml.rels><?xml version='1.0' encoding='UTF-8' standalone='yes'?>
<Relationships xmlns="http://schemas.openxmlformats.org/package/2006/relationships"><Relationship Id="R6400b41d69b549dd" Type="http://schemas.openxmlformats.org/officeDocument/2006/relationships/slideLayout" Target="../slideLayouts/ref_slideLayout9.xml"/><Relationship Id="Re46665e2b8cd4ca8" Type="http://schemas.openxmlformats.org/officeDocument/2006/relationships/notesSlide" Target="../notesSlides/u3_notes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54.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8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8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6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ref_slideLayout9.xml"/><Relationship Id="rId2" Type="http://schemas.openxmlformats.org/officeDocument/2006/relationships/notesSlide" Target="../notesSlides/notesSlide56.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09e99078e7f54078" Type="http://schemas.openxmlformats.org/officeDocument/2006/relationships/slideLayout" Target="../slideLayouts/ref_slideLayout9.xml"/><Relationship Id="R37cbfc2b52a54987" Type="http://schemas.openxmlformats.org/officeDocument/2006/relationships/notesSlide" Target="../notesSlides/u3_notesSlide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40.xml.rels><?xml version='1.0' encoding='UTF-8' standalone='yes'?>
<Relationships xmlns="http://schemas.openxmlformats.org/package/2006/relationships"><Relationship Id="R14b73e4896ee4695" Type="http://schemas.openxmlformats.org/officeDocument/2006/relationships/notesSlide" Target="../notesSlides/u3_notesSlide7.xml"/><Relationship Id="R520ace645a5d481a" Type="http://schemas.openxmlformats.org/officeDocument/2006/relationships/slideLayout" Target="../slideLayouts/ref_slideLayout9.xml"/></Relationships>
</file>

<file path=ppt/slides/slide1.xml><?xml version="1.0" encoding="utf-8"?>
<p:sld xmlns:p="http://schemas.openxmlformats.org/presentationml/2006/main">
  <p:cSld>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3-6 · Converting Within One System   |   Warm-Up · about 4 minutes</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12 × 4 = ______</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1 foot = ______ inches</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1,000 × 3 = ______</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60 ÷ 12 = ______</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40</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3E610A1-A41E-4FDE-855B-06F84A3E5F6B}"/>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00" b="1">
                <ns0:solidFill>
                  <ns0:srgbClr val="782DA0"/>
                </ns0:solidFill>
                <ns0:latin typeface="Arial"/>
                <ns0:ea typeface="Arial"/>
                <ns0:cs typeface="Arial"/>
              </ns0:defRPr>
            </ns0:pPr>
            <ns0:r>
              <ns0:rPr sz="2800" b="1">
                <ns0:solidFill>
                  <ns0:srgbClr val="782DA0"/>
                </ns0:solidFill>
                <ns0:latin typeface="Arial"/>
                <ns0:ea typeface="Arial"/>
                <ns0:cs typeface="Arial"/>
              </ns0:rPr>
              <ns0:t>Today’s Math Notes — Session 1</ns0:t>
            </ns0:r>
          </ns0:p>
        </p:txBody>
      </p:sp>
      <p:sp>
        <p:nvSpPr>
          <p:cNvPr id="2" name="">
            <a:extLst xmlns:a="http://schemas.openxmlformats.org/drawingml/2006/main">
              <a:ext uri="{FF2B5EF4-FFF2-40B4-BE49-F238E27FC236}">
                <a16:creationId xmlns:a16="http://schemas.microsoft.com/office/drawing/2014/main" id="{A4AEC878-2A0E-4240-A76C-49AA476B65F4}"/>
              </a:ext>
            </a:extLst>
          </p:cNvPr>
          <p:cNvSpPr>
            <a:spLocks xmlns:a="http://schemas.openxmlformats.org/drawingml/2006/main" noGrp="1"/>
          </p:cNvSpPr>
          <p:nvPr/>
        </p:nvSpPr>
        <p:spPr>
          <a:xfrm xmlns:a="http://schemas.openxmlformats.org/drawingml/2006/main">
            <a:off x="523875" y="1028700"/>
            <a:ext cx="866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6872"/>
                </a:solidFill>
                <a:latin typeface="Arial"/>
                <a:ea typeface="Arial"/>
                <a:cs typeface="Arial"/>
              </a:defRPr>
            </a:pPr>
            <a:r>
              <a:rPr sz="1575" b="0">
                <a:solidFill>
                  <a:srgbClr val="5D6872"/>
                </a:solidFill>
                <a:latin typeface="Arial"/>
                <a:ea typeface="Arial"/>
                <a:cs typeface="Arial"/>
              </a:rPr>
              <a:t>Keep the idea from Riding the Attractions.</a:t>
            </a:r>
          </a:p>
        </p:txBody>
      </p:sp>
      <p:sp>
        <p:nvSpPr>
          <p:cNvPr id="3" name="">
            <a:extLst xmlns:a="http://schemas.openxmlformats.org/drawingml/2006/main">
              <a:ext uri="{FF2B5EF4-FFF2-40B4-BE49-F238E27FC236}">
                <a16:creationId xmlns:a16="http://schemas.microsoft.com/office/drawing/2014/main" id="{C91E5393-5A0F-45DD-BC9B-CC7712E00515}"/>
              </a:ext>
            </a:extLst>
          </p:cNvPr>
          <p:cNvSpPr>
            <a:spLocks xmlns:a="http://schemas.openxmlformats.org/drawingml/2006/main" noGrp="1"/>
          </p:cNvSpPr>
          <p:nvPr/>
        </p:nvSpPr>
        <p:spPr>
          <a:xfrm xmlns:a="http://schemas.openxmlformats.org/drawingml/2006/main">
            <a:off x="514350" y="1609725"/>
            <a:ext cx="5762625" cy="4114800"/>
          </a:xfrm>
          <a:prstGeom xmlns:a="http://schemas.openxmlformats.org/drawingml/2006/main" prst="roundRect">
            <a:avLst>
              <a:gd name="adj" fmla="val 1852"/>
            </a:avLst>
          </a:prstGeom>
          <a:solidFill xmlns:a="http://schemas.openxmlformats.org/drawingml/2006/main">
            <a:srgbClr val="FFF0E6"/>
          </a:solidFill>
          <a:ln xmlns:a="http://schemas.openxmlformats.org/drawingml/2006/main" w="9525">
            <a:solidFill>
              <a:srgbClr val="D6E0E8"/>
            </a:solidFill>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6E6F7140-7091-44C6-B05B-B82F7005EC52}"/>
              </a:ext>
            </a:extLst>
          </p:cNvPr>
          <p:cNvSpPr>
            <a:spLocks xmlns:a="http://schemas.openxmlformats.org/drawingml/2006/main" noGrp="1"/>
          </p:cNvSpPr>
          <p:nvPr/>
        </p:nvSpPr>
        <p:spPr>
          <a:xfrm xmlns:a="http://schemas.openxmlformats.org/drawingml/2006/main">
            <a:off x="6543675" y="1609725"/>
            <a:ext cx="5114925" cy="4114800"/>
          </a:xfrm>
          <a:prstGeom xmlns:a="http://schemas.openxmlformats.org/drawingml/2006/main" prst="roundRect">
            <a:avLst>
              <a:gd name="adj" fmla="val 1852"/>
            </a:avLst>
          </a:prstGeom>
          <a:solidFill xmlns:a="http://schemas.openxmlformats.org/drawingml/2006/main">
            <a:srgbClr val="EAF7F5"/>
          </a:solidFill>
          <a:ln xmlns:a="http://schemas.openxmlformats.org/drawingml/2006/main" w="9525">
            <a:solidFill>
              <a:srgbClr val="D6E0E8"/>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0978C24-B8F5-477E-93D2-C80BBBC23A76}"/>
              </a:ext>
            </a:extLst>
          </p:cNvPr>
          <p:cNvSpPr>
            <a:spLocks xmlns:a="http://schemas.openxmlformats.org/drawingml/2006/main" noGrp="1"/>
          </p:cNvSpPr>
          <p:nvPr/>
        </p:nvSpPr>
        <p:spPr>
          <a:xfrm xmlns:a="http://schemas.openxmlformats.org/drawingml/2006/main">
            <a:off x="723900" y="18002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1:p xmlns:ns1="http://schemas.openxmlformats.org/drawingml/2006/main">
            <ns1:pPr>
              <ns1:defRPr sz="1350" b="1">
                <ns1:solidFill>
                  <ns1:srgbClr val="782DA0"/>
                </ns1:solidFill>
                <ns1:latin typeface="Arial"/>
                <ns1:ea typeface="Arial"/>
                <ns1:cs typeface="Arial"/>
              </ns1:defRPr>
            </ns1:pPr>
            <ns1:r>
              <ns1:rPr sz="1300" b="1">
                <ns1:solidFill>
                  <ns1:srgbClr val="782DA0"/>
                </ns1:solidFill>
                <ns1:latin typeface="Arial"/>
                <ns1:ea typeface="Arial"/>
                <ns1:cs typeface="Arial"/>
              </ns1:rPr>
              <ns1:t>COPY THESE 3 LINES</ns1:t>
            </ns1:r>
          </ns1:p>
        </p:txBody>
      </p:sp>
      <p:sp>
        <p:nvSpPr>
          <p:cNvPr id="6" name="">
            <a:extLst xmlns:a="http://schemas.openxmlformats.org/drawingml/2006/main">
              <a:ext uri="{FF2B5EF4-FFF2-40B4-BE49-F238E27FC236}">
                <a16:creationId xmlns:a16="http://schemas.microsoft.com/office/drawing/2014/main" id="{D540F0C9-DA29-4E5F-8719-77B69C40EE8A}"/>
              </a:ext>
            </a:extLst>
          </p:cNvPr>
          <p:cNvSpPr>
            <a:spLocks xmlns:a="http://schemas.openxmlformats.org/drawingml/2006/main" noGrp="1"/>
          </p:cNvSpPr>
          <p:nvPr/>
        </p:nvSpPr>
        <p:spPr>
          <a:xfrm xmlns:a="http://schemas.openxmlformats.org/drawingml/2006/main">
            <a:off x="733425" y="2352675"/>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851A9C5-E3A1-4AA1-AD04-57AC8377094A}"/>
              </a:ext>
            </a:extLst>
          </p:cNvPr>
          <p:cNvSpPr>
            <a:spLocks xmlns:a="http://schemas.openxmlformats.org/drawingml/2006/main" noGrp="1"/>
          </p:cNvSpPr>
          <p:nvPr/>
        </p:nvSpPr>
        <p:spPr>
          <a:xfrm xmlns:a="http://schemas.openxmlformats.org/drawingml/2006/main">
            <a:off x="1257300" y="2324100"/>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1">
                <a:solidFill>
                  <a:srgbClr val="23282D"/>
                </a:solidFill>
                <a:highlight>
                  <a:srgbClr val="FFF2A8"/>
                </a:highlight>
                <a:latin typeface="Arial"/>
                <a:ea typeface="Arial"/>
                <a:cs typeface="Arial"/>
              </a:rPr>
              <a:t>Convert</a:t>
            </a:r>
            <a:r>
              <a:rPr sz="2100" b="0">
                <a:solidFill>
                  <a:srgbClr val="23282D"/>
                </a:solidFill>
                <a:latin typeface="Arial"/>
                <a:ea typeface="Arial"/>
                <a:cs typeface="Arial"/>
              </a:rPr>
              <a:t xml:space="preserve"> means write the same amount in another </a:t>
            </a:r>
            <a:r>
              <a:rPr sz="2100" b="1">
                <a:solidFill>
                  <a:srgbClr val="23282D"/>
                </a:solidFill>
                <a:latin typeface="Arial"/>
                <a:ea typeface="Arial"/>
                <a:cs typeface="Arial"/>
              </a:rPr>
              <a:t xml:space="preserve">unit</a:t>
            </a:r>
            <a:r>
              <a:rPr sz="2100" b="0">
                <a:solidFill>
                  <a:srgbClr val="23282D"/>
                </a:solidFill>
                <a:latin typeface="Arial"/>
                <a:ea typeface="Arial"/>
                <a:cs typeface="Arial"/>
              </a:rPr>
              <a:t xml:space="preserve">.</a:t>
            </a:r>
          </a:p>
        </p:txBody>
      </p:sp>
      <p:sp>
        <p:nvSpPr>
          <p:cNvPr id="8" name="">
            <a:extLst xmlns:a="http://schemas.openxmlformats.org/drawingml/2006/main">
              <a:ext uri="{FF2B5EF4-FFF2-40B4-BE49-F238E27FC236}">
                <a16:creationId xmlns:a16="http://schemas.microsoft.com/office/drawing/2014/main" id="{E208432D-8CEF-4567-9822-F4A223086145}"/>
              </a:ext>
            </a:extLst>
          </p:cNvPr>
          <p:cNvSpPr>
            <a:spLocks xmlns:a="http://schemas.openxmlformats.org/drawingml/2006/main" noGrp="1"/>
          </p:cNvSpPr>
          <p:nvPr/>
        </p:nvSpPr>
        <p:spPr>
          <a:xfrm xmlns:a="http://schemas.openxmlformats.org/drawingml/2006/main">
            <a:off x="733425" y="3333750"/>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5BF5A34-8C0A-4BFB-ABAD-5DFA0E78FCEF}"/>
              </a:ext>
            </a:extLst>
          </p:cNvPr>
          <p:cNvSpPr>
            <a:spLocks xmlns:a="http://schemas.openxmlformats.org/drawingml/2006/main" noGrp="1"/>
          </p:cNvSpPr>
          <p:nvPr/>
        </p:nvSpPr>
        <p:spPr>
          <a:xfrm xmlns:a="http://schemas.openxmlformats.org/drawingml/2006/main">
            <a:off x="1257300" y="3305175"/>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0">
                <a:solidFill>
                  <a:srgbClr val="23282D"/>
                </a:solidFill>
                <a:latin typeface="Arial"/>
                <a:ea typeface="Arial"/>
                <a:cs typeface="Arial"/>
              </a:rPr>
              <a:t xml:space="preserve">Start with a known </a:t>
            </a:r>
            <a:r>
              <a:rPr sz="2100" b="1">
                <a:solidFill>
                  <a:srgbClr val="23282D"/>
                </a:solidFill>
                <a:latin typeface="Arial"/>
                <a:ea typeface="Arial"/>
                <a:cs typeface="Arial"/>
              </a:rPr>
              <a:t xml:space="preserve">conversion fact</a:t>
            </a:r>
            <a:r>
              <a:rPr sz="2100" b="0">
                <a:solidFill>
                  <a:srgbClr val="23282D"/>
                </a:solidFill>
                <a:latin typeface="Arial"/>
                <a:ea typeface="Arial"/>
                <a:cs typeface="Arial"/>
              </a:rPr>
              <a:t xml:space="preserve">.</a:t>
            </a:r>
          </a:p>
        </p:txBody>
      </p:sp>
      <p:sp>
        <p:nvSpPr>
          <p:cNvPr id="10" name="">
            <a:extLst xmlns:a="http://schemas.openxmlformats.org/drawingml/2006/main">
              <a:ext uri="{FF2B5EF4-FFF2-40B4-BE49-F238E27FC236}">
                <a16:creationId xmlns:a16="http://schemas.microsoft.com/office/drawing/2014/main" id="{81623BA4-18D8-4540-A7AC-DABAECEF9257}"/>
              </a:ext>
            </a:extLst>
          </p:cNvPr>
          <p:cNvSpPr>
            <a:spLocks xmlns:a="http://schemas.openxmlformats.org/drawingml/2006/main" noGrp="1"/>
          </p:cNvSpPr>
          <p:nvPr/>
        </p:nvSpPr>
        <p:spPr>
          <a:xfrm xmlns:a="http://schemas.openxmlformats.org/drawingml/2006/main">
            <a:off x="733425" y="4314825"/>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5639B0C-9D5C-4B10-B1D2-0EA58702E86D}"/>
              </a:ext>
            </a:extLst>
          </p:cNvPr>
          <p:cNvSpPr>
            <a:spLocks xmlns:a="http://schemas.openxmlformats.org/drawingml/2006/main" noGrp="1"/>
          </p:cNvSpPr>
          <p:nvPr/>
        </p:nvSpPr>
        <p:spPr>
          <a:xfrm xmlns:a="http://schemas.openxmlformats.org/drawingml/2006/main">
            <a:off x="1257300" y="4286250"/>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0">
                <a:solidFill>
                  <a:srgbClr val="23282D"/>
                </a:solidFill>
                <a:latin typeface="Arial"/>
                <a:ea typeface="Arial"/>
                <a:cs typeface="Arial"/>
              </a:rPr>
              <a:t xml:space="preserve">Use </a:t>
            </a:r>
            <a:r>
              <a:rPr sz="2100" b="1">
                <a:solidFill>
                  <a:srgbClr val="23282D"/>
                </a:solidFill>
                <a:highlight>
                  <a:srgbClr val="FFF2A8"/>
                </a:highlight>
                <a:latin typeface="Arial"/>
                <a:ea typeface="Arial"/>
                <a:cs typeface="Arial"/>
              </a:rPr>
              <a:t>equivalent ratios</a:t>
            </a:r>
            <a:r>
              <a:rPr sz="2100" b="0">
                <a:solidFill>
                  <a:srgbClr val="23282D"/>
                </a:solidFill>
                <a:latin typeface="Arial"/>
                <a:ea typeface="Arial"/>
                <a:cs typeface="Arial"/>
              </a:rPr>
              <a:t xml:space="preserve"> to find the new number.</a:t>
            </a:r>
          </a:p>
        </p:txBody>
      </p:sp>
      <p:sp>
        <p:nvSpPr>
          <p:cNvPr id="12" name="">
            <a:extLst xmlns:a="http://schemas.openxmlformats.org/drawingml/2006/main">
              <a:ext uri="{FF2B5EF4-FFF2-40B4-BE49-F238E27FC236}">
                <a16:creationId xmlns:a16="http://schemas.microsoft.com/office/drawing/2014/main" id="{A4D0E9D1-DE03-432D-B7D6-21C5D0EA8365}"/>
              </a:ext>
            </a:extLst>
          </p:cNvPr>
          <p:cNvSpPr>
            <a:spLocks xmlns:a="http://schemas.openxmlformats.org/drawingml/2006/main" noGrp="1"/>
          </p:cNvSpPr>
          <p:nvPr/>
        </p:nvSpPr>
        <p:spPr>
          <a:xfrm xmlns:a="http://schemas.openxmlformats.org/drawingml/2006/main">
            <a:off x="6743700" y="18097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0C0"/>
                </a:solidFill>
                <a:latin typeface="Arial"/>
                <a:ea typeface="Arial"/>
                <a:cs typeface="Arial"/>
              </a:defRPr>
            </a:pPr>
            <a:r>
              <a:rPr sz="1350" b="1">
                <a:solidFill>
                  <a:srgbClr val="0070C0"/>
                </a:solidFill>
                <a:latin typeface="Arial"/>
                <a:ea typeface="Arial"/>
                <a:cs typeface="Arial"/>
              </a:rPr>
              <a:t>LOOK BACK AT THE EXAMPLE</a:t>
            </a:r>
          </a:p>
        </p:txBody>
      </p:sp>
      <p:graphicFrame>
        <p:nvGraphicFramePr>
          <p:cNvPr id="27" name=""/>
          <p:cNvGraphicFramePr/>
          <p:nvPr/>
        </p:nvGraphicFramePr>
        <p:xfrm>
          <a:off xmlns:a="http://schemas.openxmlformats.org/drawingml/2006/main" x="6743700" y="2333625"/>
          <a:ext xmlns:a="http://schemas.openxmlformats.org/drawingml/2006/main" cx="4705350" cy="1514475"/>
        </p:xfrm>
        <a:graphic xmlns:a="http://schemas.openxmlformats.org/drawingml/2006/main">
          <a:graphicData uri="http://schemas.openxmlformats.org/drawingml/2006/table">
            <a:tbl>
              <a:tblPr/>
              <a:tblGrid>
                <a:gridCol w="2352675"/>
                <a:gridCol w="2352675"/>
              </a:tblGrid>
              <a:tr h="504825">
                <a:tc>
                  <a:txBody>
                    <a:bodyPr/>
                    <a:lstStyle/>
                    <a:p>
                      <a:r>
                        <a:rPr sz="1425" b="1">
                          <a:solidFill>
                            <a:srgbClr val="FFFFFF"/>
                          </a:solidFill>
                          <a:latin typeface="Arial"/>
                          <a:ea typeface="Arial"/>
                          <a:cs typeface="Arial"/>
                        </a:rPr>
                        <a:t>Feet</a:t>
                      </a:r>
                    </a:p>
                  </a:txBody>
                  <a:tcPr marL="91440" marR="91440" marT="45720" marB="45720">
                    <a:solidFill>
                      <a:srgbClr val="0070C0"/>
                    </a:solidFill>
                  </a:tcPr>
                </a:tc>
                <a:tc>
                  <a:txBody>
                    <a:bodyPr/>
                    <a:lstStyle/>
                    <a:p>
                      <a:r>
                        <a:rPr sz="1425" b="1">
                          <a:solidFill>
                            <a:srgbClr val="FFFFFF"/>
                          </a:solidFill>
                          <a:latin typeface="Arial"/>
                          <a:ea typeface="Arial"/>
                          <a:cs typeface="Arial"/>
                        </a:rPr>
                        <a:t>Inches</a:t>
                      </a:r>
                    </a:p>
                  </a:txBody>
                  <a:tcPr marL="91440" marR="91440" marT="45720" marB="45720">
                    <a:solidFill>
                      <a:srgbClr val="0070C0"/>
                    </a:solidFill>
                  </a:tcPr>
                </a:tc>
              </a:tr>
              <a:tr h="504825">
                <a:tc>
                  <a:txBody>
                    <a:bodyPr/>
                    <a:lstStyle/>
                    <a:p>
                      <a:r>
                        <a:rPr sz="1800" b="0">
                          <a:solidFill>
                            <a:srgbClr val="23282D"/>
                          </a:solidFill>
                          <a:latin typeface="Arial"/>
                          <a:ea typeface="Arial"/>
                          <a:cs typeface="Arial"/>
                        </a:rPr>
                        <a:t>1</a:t>
                      </a:r>
                    </a:p>
                  </a:txBody>
                  <a:tcPr marL="91440" marR="91440" marT="45720" marB="45720">
                    <a:solidFill>
                      <a:srgbClr val="FFFFFF"/>
                    </a:solidFill>
                  </a:tcPr>
                </a:tc>
                <a:tc>
                  <a:txBody>
                    <a:bodyPr/>
                    <a:lstStyle/>
                    <a:p>
                      <a:r>
                        <a:rPr sz="1800" b="0">
                          <a:solidFill>
                            <a:srgbClr val="23282D"/>
                          </a:solidFill>
                          <a:latin typeface="Arial"/>
                          <a:ea typeface="Arial"/>
                          <a:cs typeface="Arial"/>
                        </a:rPr>
                        <a:t>12</a:t>
                      </a:r>
                    </a:p>
                  </a:txBody>
                  <a:tcPr marL="91440" marR="91440" marT="45720" marB="45720">
                    <a:solidFill>
                      <a:srgbClr val="FFFFFF"/>
                    </a:solidFill>
                  </a:tcPr>
                </a:tc>
              </a:tr>
              <a:tr h="504825">
                <a:tc>
                  <a:txBody>
                    <a:bodyPr/>
                    <a:lstStyle/>
                    <a:p>
                      <a:r>
                        <a:rPr sz="1800" b="0">
                          <a:solidFill>
                            <a:srgbClr val="23282D"/>
                          </a:solidFill>
                          <a:latin typeface="Arial"/>
                          <a:ea typeface="Arial"/>
                          <a:cs typeface="Arial"/>
                        </a:rPr>
                        <a:t>4</a:t>
                      </a:r>
                    </a:p>
                  </a:txBody>
                  <a:tcPr marL="91440" marR="91440" marT="45720" marB="45720">
                    <a:solidFill>
                      <a:srgbClr val="FFFFFF"/>
                    </a:solidFill>
                  </a:tcPr>
                </a:tc>
                <a:tc>
                  <a:txBody>
                    <a:bodyPr/>
                    <a:lstStyle/>
                    <a:p>
                      <a:r>
                        <a:rPr sz="1800" b="0">
                          <a:solidFill>
                            <a:srgbClr val="23282D"/>
                          </a:solidFill>
                          <a:latin typeface="Arial"/>
                          <a:ea typeface="Arial"/>
                          <a:cs typeface="Arial"/>
                        </a:rPr>
                        <a:t>48</a:t>
                      </a:r>
                    </a:p>
                  </a:txBody>
                  <a:tcPr marL="91440" marR="91440" marT="45720" marB="45720">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65C94C8C-1356-4522-A1AB-B5488F085F12}"/>
              </a:ext>
            </a:extLst>
          </p:cNvPr>
          <p:cNvSpPr>
            <a:spLocks xmlns:a="http://schemas.openxmlformats.org/drawingml/2006/main" noGrp="1"/>
          </p:cNvSpPr>
          <p:nvPr/>
        </p:nvSpPr>
        <p:spPr>
          <a:xfrm xmlns:a="http://schemas.openxmlformats.org/drawingml/2006/main">
            <a:off x="6743700" y="4076700"/>
            <a:ext cx="4667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0C0"/>
                </a:solidFill>
                <a:latin typeface="Arial"/>
                <a:ea typeface="Arial"/>
                <a:cs typeface="Arial"/>
              </a:defRPr>
            </a:pPr>
            <a:r>
              <a:rPr sz="1875" b="1">
                <a:solidFill>
                  <a:srgbClr val="0070C0"/>
                </a:solidFill>
                <a:latin typeface="Arial"/>
                <a:ea typeface="Arial"/>
                <a:cs typeface="Arial"/>
              </a:rPr>
              <a:t>4 feet = 48 inches, which is above 44 inches.</a:t>
            </a:r>
          </a:p>
        </p:txBody>
      </p:sp>
      <p:sp xmlns:a="http://schemas.openxmlformats.org/drawingml/2006/main">
        <p:nvSpPr>
          <p:cNvPr id="28"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NOTES</a:t>
            </a:r>
            <a:r>
              <a:rPr lang="en-US" sz="1150" b="1" dirty="0">
                <a:solidFill>
                  <a:srgbClr val="2D3A40"/>
                </a:solidFill>
                <a:latin typeface="Arial"/>
              </a:rPr>
              <a:t xml:space="preserve">  ·  COPY LESS • UNDERSTAND MORE</a:t>
            </a:r>
          </a:p>
        </p:txBody>
      </p:sp>
      <p:sp xmlns:a="http://schemas.openxmlformats.org/drawingml/2006/main">
        <p:nvSpPr>
          <p:cNvPr id="30" name="Rounded Rectangle 17"/>
          <p:cNvSpPr/>
          <p:nvPr/>
        </p:nvSpPr>
        <p:spPr>
          <a:xfrm>
            <a:off x="502920" y="5486400"/>
            <a:ext cx="11064240" cy="77724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31" name="Rectangle 18"/>
          <p:cNvSpPr/>
          <p:nvPr/>
        </p:nvSpPr>
        <p:spPr>
          <a:xfrm>
            <a:off x="502920" y="5486400"/>
            <a:ext cx="64008" cy="77724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32" name="TextBox 19"/>
          <p:cNvSpPr txBox="1"/>
          <p:nvPr/>
        </p:nvSpPr>
        <p:spPr>
          <a:xfrm>
            <a:off x="667512" y="5596128"/>
            <a:ext cx="10771632" cy="210312"/>
          </a:xfrm>
          <a:prstGeom prst="rect">
            <a:avLst/>
          </a:prstGeom>
          <a:noFill/>
        </p:spPr>
        <p:txBody>
          <a:bodyPr wrap="square" lIns="0" tIns="0" rIns="0" bIns="0" anchor="t">
            <a:spAutoFit/>
          </a:bodyPr>
          <a:lstStyle/>
          <a:p>
            <a:pPr algn="l"/>
            <a:r>
              <a:rPr sz="1100" b="1">
                <a:solidFill>
                  <a:srgbClr val="782DA0"/>
                </a:solidFill>
                <a:latin typeface="Arial"/>
              </a:rPr>
              <a:t>EXPLAIN THE CONNECTION</a:t>
            </a:r>
          </a:p>
        </p:txBody>
      </p:sp>
      <p:sp xmlns:a="http://schemas.openxmlformats.org/drawingml/2006/main">
        <p:nvSpPr>
          <p:cNvPr id="33" name="TextBox 20"/>
          <p:cNvSpPr txBox="1"/>
          <p:nvPr/>
        </p:nvSpPr>
        <p:spPr>
          <a:xfrm>
            <a:off x="667512" y="5888736"/>
            <a:ext cx="10771632" cy="320040"/>
          </a:xfrm>
          <a:prstGeom prst="rect">
            <a:avLst/>
          </a:prstGeom>
          <a:noFill/>
        </p:spPr>
        <p:txBody>
          <a:bodyPr wrap="square" lIns="0" tIns="0" rIns="0" bIns="0" anchor="t">
            <a:spAutoFit/>
          </a:bodyPr>
          <a:lstStyle/>
          <a:p>
            <a:pPr algn="l"/>
            <a:r>
              <a:rPr sz="1600" b="0">
                <a:solidFill>
                  <a:srgbClr val="23282D"/>
                </a:solidFill>
                <a:latin typeface="Arial"/>
              </a:rPr>
              <a:t xml:space="preserve">“The </a:t>
            </a:r>
            <a:r>
              <a:rPr sz="1600" b="1">
                <a:solidFill>
                  <a:srgbClr val="23282D"/>
                </a:solidFill>
                <a:latin typeface="Arial"/>
              </a:rPr>
              <a:t xml:space="preserve">units</a:t>
            </a:r>
            <a:r>
              <a:rPr sz="1600" b="0">
                <a:solidFill>
                  <a:srgbClr val="23282D"/>
                </a:solidFill>
                <a:latin typeface="Arial"/>
              </a:rPr>
              <a:t xml:space="preserve"> changed from ___ to ___, but the amount stayed the same.”</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talk: connect today’s idea to prior learning.</a:t>
            </a:r>
          </a:p>
        </p:txBody>
      </p:sp>
      <p:sp>
        <p:nvSpPr>
          <p:cNvPr id="9002"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2 / 40</ns3:t>
            </ns3:r>
          </ns3:p>
        </p:txBody>
      </p:sp>
    </p:spTree>
    <p:extLst>
      <p:ext uri="{BB962C8B-B14F-4D97-AF65-F5344CB8AC3E}">
        <p14:creationId xmlns:p14="http://schemas.microsoft.com/office/powerpoint/2010/main" val="1718670278"/>
      </p:ext>
    </p:extLst>
  </p:cSld>
</p:sld>
</file>

<file path=ppt/slides/slide3.xml><?xml version="1.0" encoding="utf-8"?>
<p:sld xmlns:p="http://schemas.openxmlformats.org/presentationml/2006/main">
  <p:cSld>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Learning Target — Session 1</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3-6 · Converting Within One System   |   Maryland Standard 6.AT.3</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LEARNING TARGET</a:t>
            </a:r>
            <a:r>
              <a:rPr lang="en-US" sz="1150" b="1" dirty="0">
                <a:solidFill>
                  <a:srgbClr val="2D3A40"/>
                </a:solidFill>
                <a:latin typeface="Arial"/>
              </a:rPr>
              <a:t xml:space="preserve">  ·  CONVERT • COMPARE • EXPLAIN</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Today I will convert to matching units and explain what the result means.</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I can use a ratio to convert feet to inches and compare heights.</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I can explain why converting changes the unit but not the height.</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1600" b="0">
                <a:solidFill>
                  <a:srgbClr val="23282D"/>
                </a:solidFill>
                <a:latin typeface="Arial"/>
              </a:rPr>
              <a:t>✓ Write 1 foot = 12 inches.</a:t>
            </a:r>
          </a:p>
          <a:p>
            <a:pPr algn="l"/>
            <a:r>
              <a:rPr sz="1600" b="0">
                <a:solidFill>
                  <a:srgbClr val="23282D"/>
                </a:solidFill>
                <a:latin typeface="Arial"/>
              </a:rPr>
              <a:t>✓ Scale the two amounts together.</a:t>
            </a:r>
          </a:p>
          <a:p>
            <a:pPr algn="l"/>
            <a:r>
              <a:rPr sz="1600" b="0">
                <a:solidFill>
                  <a:srgbClr val="23282D"/>
                </a:solidFill>
                <a:latin typeface="Arial"/>
              </a:rPr>
              <a:t>✓ Compare heights in the same unit.</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1600" b="1">
                <a:latin typeface="Arial"/>
              </a:rPr>
              <a:t>Matching units helps us compare heights and measure ingredients.</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MATH COMMUNITY:  Different strategies are welcome  •  Ask before telling  •  Revising your thinking is part of learning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Tell a partner the goal and why it matters.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40</a:t>
            </a:r>
          </a:p>
        </p:txBody>
      </p:sp>
    </p:spTree>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4" name="Google Shape;394;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7</a:t>
            </a:r>
            <a:endParaRPr/>
          </a:p>
        </p:txBody>
      </p:sp>
      <p:sp>
        <p:nvSpPr>
          <p:cNvPr id="397" name="Google Shape;397;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3-6 · Ratio Reasoning: Convert Measurements within the Same System</a:t>
            </a:r>
            <a:endParaRPr/>
          </a:p>
        </p:txBody>
      </p:sp>
      <p:sp>
        <p:nvSpPr>
          <p:cNvPr id="398" name="Google Shape;398;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00" name="Google Shape;400;p46"/>
          <p:cNvSpPr txBox="1"/>
          <p:nvPr/>
        </p:nvSpPr>
        <p:spPr>
          <a:xfrm>
            <a:off x="640080" y="1385315"/>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Convert Measurements within the Same System</a:t>
            </a:r>
            <a:endParaRPr/>
          </a:p>
        </p:txBody>
      </p:sp>
      <p:sp>
        <p:nvSpPr>
          <p:cNvPr id="401" name="Google Shape;401;p46"/>
          <p:cNvSpPr/>
          <p:nvPr/>
        </p:nvSpPr>
        <p:spPr>
          <a:xfrm>
            <a:off x="658368" y="2903219"/>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6"/>
          <p:cNvSpPr txBox="1"/>
          <p:nvPr/>
        </p:nvSpPr>
        <p:spPr>
          <a:xfrm>
            <a:off x="640080" y="3264407"/>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Rewriting a measurement in a different unit of the SAME system, such as feet into inches or liters into milliliters.</a:t>
            </a:r>
            <a:endParaRPr/>
          </a:p>
        </p:txBody>
      </p:sp>
      <p:sp>
        <p:nvSpPr>
          <p:cNvPr id="403" name="Google Shape;403;p46"/>
          <p:cNvSpPr/>
          <p:nvPr/>
        </p:nvSpPr>
        <p:spPr>
          <a:xfrm>
            <a:off x="640080" y="474116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p:nvPr/>
        </p:nvSpPr>
        <p:spPr>
          <a:xfrm>
            <a:off x="640080" y="474116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6"/>
          <p:cNvSpPr txBox="1"/>
          <p:nvPr/>
        </p:nvSpPr>
        <p:spPr>
          <a:xfrm>
            <a:off x="932688" y="491490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6" name="Google Shape;406;p46"/>
          <p:cNvSpPr txBox="1"/>
          <p:nvPr/>
        </p:nvSpPr>
        <p:spPr>
          <a:xfrm>
            <a:off x="932688" y="521665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4 feet = 48 inches; 4 liters = 4,000 milliliters</a:t>
            </a:r>
            <a:endParaRPr/>
          </a:p>
        </p:txBody>
      </p:sp>
      <p:pic>
        <p:nvPicPr>
          <p:cNvPr descr="measurement.png" id="407" name="Google Shape;407;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40</a:t>
            </a:r>
          </a:p>
        </p:txBody>
      </p:sp>
      <p:grpSp>
        <p:nvGrpSpPr>
          <p:cNvPr id="9003" name="TEACH-5-student-move" descr="TEACH 5 · Facilitate student interactions and academic talk"/>
          <p:cNvGrpSpPr/>
          <p:nvPr/>
        </p:nvGrpSpPr>
        <p:grpSpPr>
          <a:xfrm>
            <a:off x="502920" y="5829300"/>
            <a:ext cx="11186160" cy="457200"/>
            <a:chOff x="502920" y="5829300"/>
            <a:chExt cx="11186160" cy="457200"/>
          </a:xfrm>
        </p:grpSpPr>
        <p:sp>
          <p:nvSpPr>
            <p:cNvPr id="9004" name="TEACH-move-card"/>
            <p:cNvSpPr/>
            <p:nvPr/>
          </p:nvSpPr>
          <p:spPr>
            <a:xfrm>
              <a:off x="502920" y="582930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916168"/>
              <a:ext cx="100584" cy="28346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82930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2" name="Google Shape;412;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2 of 7</a:t>
            </a:r>
            <a:endParaRPr/>
          </a:p>
        </p:txBody>
      </p:sp>
      <p:sp>
        <p:nvSpPr>
          <p:cNvPr id="415" name="Google Shape;415;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3-6 · Ratio Reasoning: Convert Measurements within the Same System</a:t>
            </a:r>
            <a:endParaRPr/>
          </a:p>
        </p:txBody>
      </p:sp>
      <p:sp>
        <p:nvSpPr>
          <p:cNvPr id="416" name="Google Shape;416;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18" name="Google Shape;418;p47"/>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4400" u="none" cap="none" strike="noStrike">
                <a:solidFill>
                  <a:srgbClr val="14223A"/>
                </a:solidFill>
                <a:latin typeface="Arial"/>
                <a:ea typeface="Arial"/>
                <a:cs typeface="Arial"/>
                <a:sym typeface="Arial"/>
              </a:rPr>
              <a:t>Conversion factor</a:t>
            </a:r>
            <a:endParaRPr/>
          </a:p>
        </p:txBody>
      </p:sp>
      <p:sp>
        <p:nvSpPr>
          <p:cNvPr id="419" name="Google Shape;419;p47"/>
          <p:cNvSpPr/>
          <p:nvPr/>
        </p:nvSpPr>
        <p:spPr>
          <a:xfrm>
            <a:off x="658368" y="2561844"/>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The ratio that links two units in the same measurement system, such as 12 inches to 1 foot. Within one system it is exact.</a:t>
            </a:r>
            <a:endParaRPr/>
          </a:p>
        </p:txBody>
      </p:sp>
      <p:sp>
        <p:nvSpPr>
          <p:cNvPr id="421" name="Google Shape;421;p47"/>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47"/>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7"/>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24" name="Google Shape;424;p47"/>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1 ft = 12 in. · 1 L = 1,000 mL · 1 lb = 16 oz</a:t>
            </a:r>
            <a:endParaRPr/>
          </a:p>
        </p:txBody>
      </p:sp>
      <p:pic>
        <p:nvPicPr>
          <p:cNvPr descr="measurement.png" id="425" name="Google Shape;425;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40</a:t>
            </a:r>
          </a:p>
        </p:txBody>
      </p:sp>
      <p:grpSp>
        <p:nvGrpSpPr>
          <p:cNvPr id="9003" name="TEACH-5-student-move" descr="TEACH 5 · Facilitate student interactions and academic talk"/>
          <p:cNvGrpSpPr/>
          <p:nvPr/>
        </p:nvGrpSpPr>
        <p:grpSpPr>
          <a:xfrm>
            <a:off x="502920" y="5751576"/>
            <a:ext cx="11186160" cy="548640"/>
            <a:chOff x="502920" y="5751576"/>
            <a:chExt cx="11186160" cy="548640"/>
          </a:xfrm>
        </p:grpSpPr>
        <p:sp>
          <p:nvSpPr>
            <p:cNvPr id="9004"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0" name="Google Shape;430;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33" name="Google Shape;433;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3-6 · Ratio Reasoning: Convert Measurements within the Same System</a:t>
            </a:r>
            <a:endParaRPr/>
          </a:p>
        </p:txBody>
      </p:sp>
      <p:sp>
        <p:nvSpPr>
          <p:cNvPr id="434" name="Google Shape;434;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6" name="Google Shape;436;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Unit ratio</a:t>
            </a:r>
            <a:endParaRPr/>
          </a:p>
        </p:txBody>
      </p:sp>
      <p:sp>
        <p:nvSpPr>
          <p:cNvPr id="437" name="Google Shape;437;p48"/>
          <p:cNvSpPr/>
          <p:nvPr/>
        </p:nvSpPr>
        <p:spPr>
          <a:xfrm>
            <a:off x="658368" y="2737866"/>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ratio that compares an amount to exactly 1 unit of another quantity, like 12 inches to 1 foot.</a:t>
            </a:r>
            <a:endParaRPr/>
          </a:p>
        </p:txBody>
      </p:sp>
      <p:sp>
        <p:nvSpPr>
          <p:cNvPr id="439" name="Google Shape;439;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2" name="Google Shape;442;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12 : 1 — twelve inches for every one foot</a:t>
            </a:r>
            <a:endParaRPr/>
          </a:p>
        </p:txBody>
      </p:sp>
      <p:pic>
        <p:nvPicPr>
          <p:cNvPr descr="unit-rate.png" id="443" name="Google Shape;443;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“Unit ratio” to explain the example. Point to evidence.</a:t>
            </a:r>
            <a:endParaRPr lang="en-US" sz="20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8" name="Google Shape;448;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451" name="Google Shape;451;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3-6 · Ratio Reasoning: Convert Measurements within the Same System</a:t>
            </a:r>
            <a:endParaRPr/>
          </a:p>
        </p:txBody>
      </p:sp>
      <p:sp>
        <p:nvSpPr>
          <p:cNvPr id="452" name="Google Shape;452;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4" name="Google Shape;454;p49"/>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Convert</a:t>
            </a:r>
            <a:endParaRPr/>
          </a:p>
        </p:txBody>
      </p:sp>
      <p:sp>
        <p:nvSpPr>
          <p:cNvPr id="455" name="Google Shape;455;p49"/>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change a measurement from one unit to another without changing how much it is.</a:t>
            </a:r>
            <a:endParaRPr/>
          </a:p>
        </p:txBody>
      </p:sp>
      <p:sp>
        <p:nvSpPr>
          <p:cNvPr id="457" name="Google Shape;457;p49"/>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49"/>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9"/>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0" name="Google Shape;460;p49"/>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4 ft and 48 in are the same height, written two ways</a:t>
            </a:r>
            <a:endParaRPr/>
          </a:p>
        </p:txBody>
      </p:sp>
      <p:pic>
        <p:nvPicPr>
          <p:cNvPr descr="measurement.png" id="461" name="Google Shape;461;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7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“Convert” to explain the example. Point to evidence.</a:t>
            </a:r>
            <a:endParaRPr lang="en-US" sz="20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6" name="Google Shape;466;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5 of 7</a:t>
            </a:r>
            <a:endParaRPr/>
          </a:p>
        </p:txBody>
      </p:sp>
      <p:sp>
        <p:nvSpPr>
          <p:cNvPr id="469" name="Google Shape;469;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3-6 · Ratio Reasoning: Convert Measurements within the Same System</a:t>
            </a:r>
            <a:endParaRPr/>
          </a:p>
        </p:txBody>
      </p:sp>
      <p:sp>
        <p:nvSpPr>
          <p:cNvPr id="470" name="Google Shape;470;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72" name="Google Shape;472;p50"/>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4400" u="none" cap="none" strike="noStrike">
                <a:solidFill>
                  <a:srgbClr val="14223A"/>
                </a:solidFill>
                <a:latin typeface="Arial"/>
                <a:ea typeface="Arial"/>
                <a:cs typeface="Arial"/>
                <a:sym typeface="Arial"/>
              </a:rPr>
              <a:t>Measurement system</a:t>
            </a:r>
            <a:endParaRPr/>
          </a:p>
        </p:txBody>
      </p:sp>
      <p:sp>
        <p:nvSpPr>
          <p:cNvPr id="473" name="Google Shape;473;p50"/>
          <p:cNvSpPr/>
          <p:nvPr/>
        </p:nvSpPr>
        <p:spPr>
          <a:xfrm>
            <a:off x="658368" y="2561844"/>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A family of units that go together — customary units like inches and feet, or metric units like milliliters and liters.</a:t>
            </a:r>
            <a:endParaRPr/>
          </a:p>
        </p:txBody>
      </p:sp>
      <p:sp>
        <p:nvSpPr>
          <p:cNvPr id="475" name="Google Shape;475;p50"/>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50"/>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0"/>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78" name="Google Shape;478;p50"/>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Customary: 12 in = 1 ft · Metric: 1,000 mL = 1 L</a:t>
            </a:r>
            <a:endParaRPr/>
          </a:p>
        </p:txBody>
      </p:sp>
      <p:pic>
        <p:nvPicPr>
          <p:cNvPr descr="measurement.png" id="479" name="Google Shape;479;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40</a:t>
            </a:r>
          </a:p>
        </p:txBody>
      </p:sp>
      <p:grpSp>
        <p:nvGrpSpPr>
          <p:cNvPr id="9003" name="TEACH-5-student-move" descr="TEACH 5 · Facilitate student interactions and academic talk"/>
          <p:cNvGrpSpPr/>
          <p:nvPr/>
        </p:nvGrpSpPr>
        <p:grpSpPr>
          <a:xfrm>
            <a:off x="502920" y="5751576"/>
            <a:ext cx="11186160" cy="548640"/>
            <a:chOff x="502920" y="5751576"/>
            <a:chExt cx="11186160" cy="548640"/>
          </a:xfrm>
        </p:grpSpPr>
        <p:sp>
          <p:nvSpPr>
            <p:cNvPr id="9004"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TAKE TURNS  ·  </a:t>
              </a:r>
              <a:r>
                <a:rPr lang="en-US" sz="1400" dirty="0">
                  <a:solidFill>
                    <a:srgbClr val="13303A"/>
                  </a:solidFill>
                  <a:latin typeface="Arial"/>
                </a:rPr>
                <a:t>One explains, one asks a question. Then switch, so both of you talk.</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4" name="Google Shape;484;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87" name="Google Shape;487;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3-6 · Ratio Reasoning: Convert Measurements within the Same System</a:t>
            </a:r>
            <a:endParaRPr/>
          </a:p>
        </p:txBody>
      </p:sp>
      <p:sp>
        <p:nvSpPr>
          <p:cNvPr id="488" name="Google Shape;488;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0" name="Google Shape;490;p51"/>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Double number line</a:t>
            </a:r>
            <a:endParaRPr/>
          </a:p>
        </p:txBody>
      </p:sp>
      <p:sp>
        <p:nvSpPr>
          <p:cNvPr id="491" name="Google Shape;491;p51"/>
          <p:cNvSpPr/>
          <p:nvPr/>
        </p:nvSpPr>
        <p:spPr>
          <a:xfrm>
            <a:off x="658368" y="2638806"/>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number lines lined up so matching tick marks show two units for the same amount.</a:t>
            </a:r>
            <a:endParaRPr/>
          </a:p>
        </p:txBody>
      </p:sp>
      <p:sp>
        <p:nvSpPr>
          <p:cNvPr id="493" name="Google Shape;493;p51"/>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1"/>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1"/>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6" name="Google Shape;496;p51"/>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Liters 0, 1, 2, 3, 4 above milliliters 0, 1,000, 2,000, 3,000, 4,000</a:t>
            </a:r>
            <a:endParaRPr/>
          </a:p>
        </p:txBody>
      </p:sp>
      <p:pic>
        <p:nvPicPr>
          <p:cNvPr descr="number-line.png" id="497" name="Google Shape;497;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“Double number line”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2" name="Google Shape;502;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3" name="Google Shape;503;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505" name="Google Shape;505;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3-6 · Ratio Reasoning: Convert Measurements within the Same System</a:t>
            </a:r>
            <a:endParaRPr/>
          </a:p>
        </p:txBody>
      </p:sp>
      <p:sp>
        <p:nvSpPr>
          <p:cNvPr id="506" name="Google Shape;506;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08" name="Google Shape;508;p52"/>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Ratio table</a:t>
            </a:r>
            <a:endParaRPr/>
          </a:p>
        </p:txBody>
      </p:sp>
      <p:sp>
        <p:nvSpPr>
          <p:cNvPr id="509" name="Google Shape;509;p52"/>
          <p:cNvSpPr/>
          <p:nvPr/>
        </p:nvSpPr>
        <p:spPr>
          <a:xfrm>
            <a:off x="658368" y="2737866"/>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table of equal ratios that lets you scale a conversion up or down one row at a time.</a:t>
            </a:r>
            <a:endParaRPr/>
          </a:p>
        </p:txBody>
      </p:sp>
      <p:sp>
        <p:nvSpPr>
          <p:cNvPr id="511" name="Google Shape;511;p52"/>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2"/>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2"/>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4" name="Google Shape;514;p52"/>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1 ft : 12 in, 2 ft : 24 in, 4 ft : 48 in</a:t>
            </a:r>
            <a:endParaRPr/>
          </a:p>
        </p:txBody>
      </p:sp>
      <p:pic>
        <p:nvPicPr>
          <p:cNvPr descr="ratio-table.png" id="515" name="Google Shape;515;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“Ratio table”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84" name="Google Shape;584;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5" name="Google Shape;585;p5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86" name="Google Shape;586;p56"/>
          <p:cNvSpPr txBox="1"/>
          <p:nvPr/>
        </p:nvSpPr>
        <p:spPr>
          <a:xfrm>
            <a:off x="484560" y="936101"/>
            <a:ext cx="4096232" cy="7091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is the question?</a:t>
            </a:r>
            <a:endParaRPr b="0" i="0" sz="1400" u="none" cap="none" strike="noStrike">
              <a:solidFill>
                <a:srgbClr val="000000"/>
              </a:solidFill>
              <a:latin typeface="Arial"/>
              <a:ea typeface="Arial"/>
              <a:cs typeface="Arial"/>
              <a:sym typeface="Arial"/>
            </a:endParaRPr>
          </a:p>
        </p:txBody>
      </p:sp>
      <p:pic>
        <p:nvPicPr>
          <p:cNvPr id="587" name="Google Shape;587;p56"/>
          <p:cNvPicPr preferRelativeResize="0"/>
          <p:nvPr/>
        </p:nvPicPr>
        <p:blipFill rotWithShape="1">
          <a:blip r:embed="rId2">
            <a:alphaModFix/>
          </a:blip>
          <a:srcRect b="0" l="0" r="0" t="0"/>
          <a:stretch/>
        </p:blipFill>
        <p:spPr>
          <a:xfrm>
            <a:off x="4604397" y="768097"/>
            <a:ext cx="3241682" cy="3789088"/>
          </a:xfrm>
          <a:prstGeom prst="rect">
            <a:avLst/>
          </a:prstGeom>
          <a:noFill/>
          <a:ln>
            <a:noFill/>
          </a:ln>
        </p:spPr>
      </p:pic>
      <p:pic>
        <p:nvPicPr>
          <p:cNvPr id="588" name="Google Shape;588;p56"/>
          <p:cNvPicPr preferRelativeResize="0"/>
          <p:nvPr/>
        </p:nvPicPr>
        <p:blipFill rotWithShape="1">
          <a:blip r:embed="rId3">
            <a:alphaModFix/>
          </a:blip>
          <a:srcRect b="0" l="0" r="0" t="0"/>
          <a:stretch/>
        </p:blipFill>
        <p:spPr>
          <a:xfrm>
            <a:off x="484560" y="4671888"/>
            <a:ext cx="5054600" cy="838200"/>
          </a:xfrm>
          <a:prstGeom prst="rect">
            <a:avLst/>
          </a:prstGeom>
          <a:noFill/>
          <a:ln>
            <a:noFill/>
          </a:ln>
        </p:spPr>
      </p:pic>
      <p:sp>
        <p:nvSpPr>
          <p:cNvPr id="589" name="Google Shape;589;p56"/>
          <p:cNvSpPr txBox="1"/>
          <p:nvPr/>
        </p:nvSpPr>
        <p:spPr>
          <a:xfrm>
            <a:off x="3344577" y="4829206"/>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90" name="Google Shape;590;p56"/>
          <p:cNvSpPr/>
          <p:nvPr/>
        </p:nvSpPr>
        <p:spPr>
          <a:xfrm>
            <a:off x="697756" y="5487211"/>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can you use your abilities and strengths in other areas to be successful in math?</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40</a:t>
            </a:r>
          </a:p>
        </p:txBody>
      </p:sp>
      <p:grpSp>
        <p:nvGrpSpPr>
          <p:cNvPr id="9003" name="TEACH-3-student-move" descr="TEACH 3 · Use intentional questioning to deepen learning"/>
          <p:cNvGrpSpPr/>
          <p:nvPr/>
        </p:nvGrpSpPr>
        <p:grpSpPr>
          <a:xfrm>
            <a:off x="6187440" y="4810555"/>
            <a:ext cx="5501640" cy="594360"/>
            <a:chOff x="6187440" y="4810555"/>
            <a:chExt cx="5501640" cy="594360"/>
          </a:xfrm>
        </p:grpSpPr>
        <p:sp>
          <p:nvSpPr>
            <p:cNvPr id="9004" name="TEACH-move-card"/>
            <p:cNvSpPr/>
            <p:nvPr/>
          </p:nvSpPr>
          <p:spPr>
            <a:xfrm>
              <a:off x="6187440" y="4810555"/>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6233160" y="4923483"/>
              <a:ext cx="100584" cy="36850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6507480" y="4810555"/>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241" name="Google Shape;241;p41"/>
          <p:cNvSpPr txBox="1"/>
          <p:nvPr/>
        </p:nvSpPr>
        <p:spPr>
          <a:xfrm>
            <a:off x="505579"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lang="en-US" sz="2800">
                <a:solidFill>
                  <a:srgbClr val="782DA0"/>
                </a:solidFill>
                <a:latin typeface="Arial"/>
                <a:ea typeface="Arial"/>
                <a:cs typeface="Arial"/>
                <a:sym typeface="Arial"/>
              </a:rPr>
              <a:t>More or Less Than 10</a:t>
            </a:r>
            <a:endParaRPr/>
          </a:p>
        </p:txBody>
      </p:sp>
      <p:sp>
        <p:nvSpPr>
          <p:cNvPr id="242" name="Google Shape;242;p41"/>
          <p:cNvSpPr txBox="1"/>
          <p:nvPr/>
        </p:nvSpPr>
        <p:spPr>
          <a:xfrm>
            <a:off x="956343" y="2775548"/>
            <a:ext cx="237533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rgbClr val="23282D"/>
                </a:solidFill>
                <a:latin typeface="Cambria Math"/>
                <a:ea typeface="Cambria Math"/>
                <a:cs typeface="Cambria Math"/>
                <a:sym typeface="Cambria Math"/>
              </a:rPr>
              <a:t>0.35 + 9.18</a:t>
            </a:r>
            <a:endParaRPr/>
          </a:p>
        </p:txBody>
      </p:sp>
      <p:sp>
        <p:nvSpPr>
          <p:cNvPr id="243" name="Google Shape;243;p41"/>
          <p:cNvSpPr txBox="1"/>
          <p:nvPr/>
        </p:nvSpPr>
        <p:spPr>
          <a:xfrm>
            <a:off x="4188274" y="2775546"/>
            <a:ext cx="237533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mbria Math"/>
                <a:ea typeface="Cambria Math"/>
                <a:cs typeface="Cambria Math"/>
                <a:sym typeface="Cambria Math"/>
              </a:rPr>
              <a:t>3.098 + 6.145</a:t>
            </a:r>
            <a:endParaRPr i="1" sz="2800">
              <a:solidFill>
                <a:srgbClr val="262626"/>
              </a:solidFill>
              <a:latin typeface="Cambria Math"/>
              <a:ea typeface="Cambria Math"/>
              <a:cs typeface="Cambria Math"/>
              <a:sym typeface="Cambria Math"/>
            </a:endParaRPr>
          </a:p>
        </p:txBody>
      </p:sp>
      <p:sp>
        <p:nvSpPr>
          <p:cNvPr id="244" name="Google Shape;244;p41"/>
          <p:cNvSpPr txBox="1"/>
          <p:nvPr/>
        </p:nvSpPr>
        <p:spPr>
          <a:xfrm>
            <a:off x="7420206" y="2775547"/>
            <a:ext cx="237533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rgbClr val="23282D"/>
                </a:solidFill>
                <a:latin typeface="Cambria Math"/>
                <a:ea typeface="Cambria Math"/>
                <a:cs typeface="Cambria Math"/>
                <a:sym typeface="Cambria Math"/>
              </a:rPr>
              <a:t>4.509 + 5.294</a:t>
            </a:r>
            <a:endParaRPr/>
          </a:p>
        </p:txBody>
      </p:sp>
      <p:sp>
        <p:nvSpPr>
          <p:cNvPr id="245"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ESTIMATE • DEFEND • COMPARE</a:t>
            </a:r>
          </a:p>
        </p:txBody>
      </p:sp>
      <p:sp>
        <p:nvSpPr>
          <p:cNvPr id="247" name="TextBox 20"/>
          <p:cNvSpPr txBox="1"/>
          <p:nvPr/>
        </p:nvSpPr>
        <p:spPr>
          <a:xfrm>
            <a:off x="502920" y="1124712"/>
            <a:ext cx="7589520" cy="548640"/>
          </a:xfrm>
          <a:prstGeom prst="rect">
            <a:avLst/>
          </a:prstGeom>
          <a:noFill/>
        </p:spPr>
        <p:txBody>
          <a:bodyPr wrap="square" lIns="0" tIns="0" rIns="0" bIns="0" anchor="t">
            <a:spAutoFit/>
          </a:bodyPr>
          <a:lstStyle/>
          <a:p>
            <a:pPr algn="l"/>
            <a:r>
              <a:rPr sz="1700" b="0">
                <a:solidFill>
                  <a:srgbClr val="23282D"/>
                </a:solidFill>
                <a:latin typeface="Arial"/>
              </a:rPr>
              <a:t>Estimate first. Choose one expression and defend your estimate.</a:t>
            </a:r>
          </a:p>
        </p:txBody>
      </p:sp>
      <p:sp>
        <p:nvSpPr>
          <p:cNvPr id="248" name="Rounded Rectangle 17"/>
          <p:cNvSpPr/>
          <p:nvPr/>
        </p:nvSpPr>
        <p:spPr>
          <a:xfrm>
            <a:off x="502920" y="4800600"/>
            <a:ext cx="8686800" cy="91440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Rectangle 18"/>
          <p:cNvSpPr/>
          <p:nvPr/>
        </p:nvSpPr>
        <p:spPr>
          <a:xfrm>
            <a:off x="502920" y="4800600"/>
            <a:ext cx="64008" cy="91440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TextBox 19"/>
          <p:cNvSpPr txBox="1"/>
          <p:nvPr/>
        </p:nvSpPr>
        <p:spPr>
          <a:xfrm>
            <a:off x="667512" y="4910328"/>
            <a:ext cx="8394192" cy="210312"/>
          </a:xfrm>
          <a:prstGeom prst="rect">
            <a:avLst/>
          </a:prstGeom>
          <a:noFill/>
        </p:spPr>
        <p:txBody>
          <a:bodyPr wrap="square" lIns="0" tIns="0" rIns="0" bIns="0" anchor="t">
            <a:spAutoFit/>
          </a:bodyPr>
          <a:lstStyle/>
          <a:p>
            <a:pPr algn="l"/>
            <a:r>
              <a:rPr sz="1100" b="1">
                <a:solidFill>
                  <a:srgbClr val="782DA0"/>
                </a:solidFill>
                <a:latin typeface="Arial"/>
              </a:rPr>
              <a:t>EXPLAIN YOUR THINKING</a:t>
            </a:r>
          </a:p>
        </p:txBody>
      </p:sp>
      <p:sp>
        <p:nvSpPr>
          <p:cNvPr id="251" name="TextBox 20"/>
          <p:cNvSpPr txBox="1"/>
          <p:nvPr/>
        </p:nvSpPr>
        <p:spPr>
          <a:xfrm>
            <a:off x="667512" y="5202936"/>
            <a:ext cx="8394192" cy="457200"/>
          </a:xfrm>
          <a:prstGeom prst="rect">
            <a:avLst/>
          </a:prstGeom>
          <a:noFill/>
        </p:spPr>
        <p:txBody>
          <a:bodyPr wrap="square" lIns="0" tIns="0" rIns="0" bIns="0" anchor="t">
            <a:spAutoFit/>
          </a:bodyPr>
          <a:lstStyle/>
          <a:p>
            <a:pPr algn="l"/>
            <a:r>
              <a:rPr sz="1600" b="0">
                <a:solidFill>
                  <a:srgbClr val="23282D"/>
                </a:solidFill>
                <a:latin typeface="Arial"/>
              </a:rPr>
              <a:t>“I think it is more/less than 10 because ___.” Compare strategies.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press: ask Why? and answer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cxnSp>
        <p:nvCxnSpPr>
          <p:cNvPr id="277" name="Google Shape;277;p45"/>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278" name="Google Shape;278;p45"/>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lang="en-US" sz="2800">
                <a:solidFill>
                  <a:srgbClr val="782DA0"/>
                </a:solidFill>
                <a:latin typeface="Arial"/>
                <a:ea typeface="Arial"/>
                <a:cs typeface="Arial"/>
                <a:sym typeface="Arial"/>
              </a:rPr>
              <a:t>Riding the Attractions</a:t>
            </a:r>
            <a:endParaRPr/>
          </a:p>
        </p:txBody>
      </p:sp>
      <p:sp>
        <p:nvSpPr>
          <p:cNvPr id="279" name="Google Shape;279;p45"/>
          <p:cNvSpPr txBox="1"/>
          <p:nvPr/>
        </p:nvSpPr>
        <p:spPr>
          <a:xfrm>
            <a:off x="484566" y="936100"/>
            <a:ext cx="6458102" cy="212773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At an amusement park, one attraction has the height requirement shown.</a:t>
            </a:r>
            <a:endParaRPr/>
          </a:p>
          <a:p>
            <a:pPr indent="0" lvl="0" marL="0" marR="0" rtl="0" algn="l">
              <a:lnSpc>
                <a:spcPct val="100000"/>
              </a:lnSpc>
              <a:spcBef>
                <a:spcPts val="1800"/>
              </a:spcBef>
              <a:spcAft>
                <a:spcPts val="0"/>
              </a:spcAft>
              <a:buClr>
                <a:srgbClr val="262626"/>
              </a:buClr>
              <a:buSzPts val="2800"/>
              <a:buFont typeface="Arial"/>
              <a:buNone/>
            </a:pPr>
            <a:r>
              <a:rPr b="1" lang="en-US" sz="2800">
                <a:solidFill>
                  <a:srgbClr val="23282D"/>
                </a:solidFill>
                <a:latin typeface="Arial"/>
                <a:ea typeface="Arial"/>
                <a:cs typeface="Arial"/>
                <a:sym typeface="Arial"/>
              </a:rPr>
              <a:t>If there are 12 inches in every foot, can a child who is 4 feet tall go on the attraction?</a:t>
            </a:r>
            <a:endParaRPr/>
          </a:p>
          <a:p>
            <a:pPr indent="0" lvl="0" marL="0" marR="0" rtl="0" algn="l">
              <a:lnSpc>
                <a:spcPct val="100000"/>
              </a:lnSpc>
              <a:spcBef>
                <a:spcPts val="1800"/>
              </a:spcBef>
              <a:spcAft>
                <a:spcPts val="0"/>
              </a:spcAft>
              <a:buClr>
                <a:schemeClr val="dk2"/>
              </a:buClr>
              <a:buSzPts val="2800"/>
              <a:buFont typeface="Arial"/>
              <a:buNone/>
            </a:pPr>
            <a:r>
              <a:t/>
            </a:r>
            <a:endParaRPr sz="2800">
              <a:solidFill>
                <a:srgbClr val="262626"/>
              </a:solidFill>
              <a:latin typeface="Arial"/>
              <a:ea typeface="Arial"/>
              <a:cs typeface="Arial"/>
              <a:sym typeface="Arial"/>
            </a:endParaRPr>
          </a:p>
        </p:txBody>
      </p:sp>
      <p:pic>
        <p:nvPicPr>
          <p:cNvPr id="280" name="Google Shape;280;p45"/>
          <p:cNvPicPr preferRelativeResize="0"/>
          <p:nvPr/>
        </p:nvPicPr>
        <p:blipFill rotWithShape="1">
          <a:blip r:embed="rId3">
            <a:alphaModFix/>
          </a:blip>
          <a:srcRect b="0" l="0" r="0" t="0"/>
          <a:stretch/>
        </p:blipFill>
        <p:spPr>
          <a:xfrm>
            <a:off x="7365665" y="1588911"/>
            <a:ext cx="3010266" cy="2240198"/>
          </a:xfrm>
          <a:prstGeom prst="rect">
            <a:avLst/>
          </a:prstGeom>
          <a:noFill/>
          <a:ln>
            <a:noFill/>
          </a:ln>
        </p:spPr>
      </p:pic>
      <p:sp>
        <p:nvSpPr>
          <p:cNvPr id="28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THINK → PARTNER TALK → EXPLAIN</a:t>
            </a:r>
          </a:p>
        </p:txBody>
      </p:sp>
      <p:sp>
        <p:nvSpPr>
          <p:cNvPr id="283" name="Rounded Rectangle 17"/>
          <p:cNvSpPr/>
          <p:nvPr/>
        </p:nvSpPr>
        <p:spPr>
          <a:xfrm>
            <a:off x="502920" y="4297680"/>
            <a:ext cx="8686800" cy="100584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Rectangle 18"/>
          <p:cNvSpPr/>
          <p:nvPr/>
        </p:nvSpPr>
        <p:spPr>
          <a:xfrm>
            <a:off x="502920" y="4297680"/>
            <a:ext cx="64008" cy="100584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TextBox 19"/>
          <p:cNvSpPr txBox="1"/>
          <p:nvPr/>
        </p:nvSpPr>
        <p:spPr>
          <a:xfrm>
            <a:off x="667512" y="4407408"/>
            <a:ext cx="8394192" cy="210312"/>
          </a:xfrm>
          <a:prstGeom prst="rect">
            <a:avLst/>
          </a:prstGeom>
          <a:noFill/>
        </p:spPr>
        <p:txBody>
          <a:bodyPr wrap="square" lIns="0" tIns="0" rIns="0" bIns="0" anchor="t">
            <a:spAutoFit/>
          </a:bodyPr>
          <a:lstStyle/>
          <a:p>
            <a:pPr algn="l"/>
            <a:r>
              <a:rPr sz="1100" b="1">
                <a:solidFill>
                  <a:srgbClr val="782DA0"/>
                </a:solidFill>
                <a:latin typeface="Arial"/>
              </a:rPr>
              <a:t>MAKE A PREDICTION</a:t>
            </a:r>
          </a:p>
        </p:txBody>
      </p:sp>
      <p:sp>
        <p:nvSpPr>
          <p:cNvPr id="286" name="TextBox 20"/>
          <p:cNvSpPr txBox="1"/>
          <p:nvPr/>
        </p:nvSpPr>
        <p:spPr>
          <a:xfrm>
            <a:off x="667512" y="4700016"/>
            <a:ext cx="8394192" cy="548640"/>
          </a:xfrm>
          <a:prstGeom prst="rect">
            <a:avLst/>
          </a:prstGeom>
          <a:noFill/>
        </p:spPr>
        <p:txBody>
          <a:bodyPr wrap="square" lIns="0" tIns="0" rIns="0" bIns="0" anchor="t">
            <a:spAutoFit/>
          </a:bodyPr>
          <a:lstStyle/>
          <a:p>
            <a:pPr algn="l"/>
            <a:r>
              <a:rPr sz="1600" b="0">
                <a:solidFill>
                  <a:srgbClr val="23282D"/>
                </a:solidFill>
                <a:latin typeface="Arial"/>
              </a:rPr>
              <a:t>“I need to compare ___ and ___ in the same unit. I can start with ___.”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Ask a partner a question; choose a model together.</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Connect a feature of the model to a step in your reasoning.</a:t>
            </a:r>
            <a:endParaRPr lang="en-US" sz="2000"/>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485B32-932E-46FB-8A1F-F021CE9D0A99}"/>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75" b="1">
                <ns0:solidFill>
                  <ns0:srgbClr val="782DA0"/>
                </ns0:solidFill>
                <ns0:latin typeface="Arial"/>
                <ns0:ea typeface="Arial"/>
                <ns0:cs typeface="Arial"/>
              </ns0:defRPr>
            </ns0:pPr>
            <ns0:r>
              <ns0:rPr sz="2800" b="1">
                <ns0:solidFill>
                  <ns0:srgbClr val="782DA0"/>
                </ns0:solidFill>
                <ns0:latin typeface="Arial"/>
                <ns0:ea typeface="Arial"/>
                <ns0:cs typeface="Arial"/>
              </ns0:rPr>
              <ns0:t>Feet → Inches</ns0:t>
            </ns0:r>
          </ns0:p>
        </p:txBody>
      </p:sp>
      <p:sp>
        <p:nvSpPr>
          <p:cNvPr id="2" name="">
            <a:extLst xmlns:a="http://schemas.openxmlformats.org/drawingml/2006/main">
              <a:ext uri="{FF2B5EF4-FFF2-40B4-BE49-F238E27FC236}">
                <a16:creationId xmlns:a16="http://schemas.microsoft.com/office/drawing/2014/main" id="{52A259F9-1BFA-42F8-9423-096A302F896A}"/>
              </a:ext>
            </a:extLst>
          </p:cNvPr>
          <p:cNvSpPr>
            <a:spLocks xmlns:a="http://schemas.openxmlformats.org/drawingml/2006/main" noGrp="1"/>
          </p:cNvSpPr>
          <p:nvPr/>
        </p:nvSpPr>
        <p:spPr>
          <a:xfrm xmlns:a="http://schemas.openxmlformats.org/drawingml/2006/main">
            <a:off x="552450" y="16192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A </a:t>
            </a:r>
            <a:r>
              <a:rPr sz="2250" b="1">
                <a:solidFill>
                  <a:srgbClr val="23282D"/>
                </a:solidFill>
                <a:highlight>
                  <a:srgbClr val="FFF2A8"/>
                </a:highlight>
                <a:latin typeface="Arial"/>
                <a:ea typeface="Arial"/>
                <a:cs typeface="Arial"/>
              </a:rPr>
              <a:t>conversion factor</a:t>
            </a:r>
            <a:r>
              <a:rPr sz="2250" b="0">
                <a:solidFill>
                  <a:srgbClr val="23282D"/>
                </a:solidFill>
                <a:latin typeface="Arial"/>
                <a:ea typeface="Arial"/>
                <a:cs typeface="Arial"/>
              </a:rPr>
              <a:t xml:space="preserve"> relates equal measurements in different units.</a:t>
            </a:r>
          </a:p>
        </p:txBody>
      </p:sp>
      <p:sp>
        <p:nvSpPr>
          <p:cNvPr id="3" name="">
            <a:extLst xmlns:a="http://schemas.openxmlformats.org/drawingml/2006/main">
              <a:ext uri="{FF2B5EF4-FFF2-40B4-BE49-F238E27FC236}">
                <a16:creationId xmlns:a16="http://schemas.microsoft.com/office/drawing/2014/main" id="{FA1D5A46-76BE-401B-996B-07F4B06E6905}"/>
              </a:ext>
            </a:extLst>
          </p:cNvPr>
          <p:cNvSpPr>
            <a:spLocks xmlns:a="http://schemas.openxmlformats.org/drawingml/2006/main" noGrp="1"/>
          </p:cNvSpPr>
          <p:nvPr/>
        </p:nvSpPr>
        <p:spPr>
          <a:xfrm xmlns:a="http://schemas.openxmlformats.org/drawingml/2006/main">
            <a:off x="552450" y="28194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The </a:t>
            </a:r>
            <a:r>
              <a:rPr sz="2250" b="1">
                <a:solidFill>
                  <a:srgbClr val="23282D"/>
                </a:solidFill>
                <a:highlight>
                  <a:srgbClr val="FFF2A8"/>
                </a:highlight>
                <a:latin typeface="Arial"/>
                <a:ea typeface="Arial"/>
                <a:cs typeface="Arial"/>
              </a:rPr>
              <a:t>unit ratio</a:t>
            </a:r>
            <a:r>
              <a:rPr sz="2250" b="0">
                <a:solidFill>
                  <a:srgbClr val="23282D"/>
                </a:solidFill>
                <a:latin typeface="Arial"/>
                <a:ea typeface="Arial"/>
                <a:cs typeface="Arial"/>
              </a:rPr>
              <a:t xml:space="preserve"> is 12 inches for 1 foot. Both are </a:t>
            </a:r>
            <a:r>
              <a:rPr sz="2250" b="1">
                <a:solidFill>
                  <a:srgbClr val="23282D"/>
                </a:solidFill>
                <a:highlight>
                  <a:srgbClr val="FFF2A8"/>
                </a:highlight>
                <a:latin typeface="Arial"/>
                <a:ea typeface="Arial"/>
                <a:cs typeface="Arial"/>
              </a:rPr>
              <a:t>customary units</a:t>
            </a:r>
            <a:r>
              <a:rPr sz="2250" b="0">
                <a:solidFill>
                  <a:srgbClr val="23282D"/>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4CE7B966-7DB1-4EE4-ACFD-41FBEB769024}"/>
              </a:ext>
            </a:extLst>
          </p:cNvPr>
          <p:cNvSpPr>
            <a:spLocks xmlns:a="http://schemas.openxmlformats.org/drawingml/2006/main" noGrp="1"/>
          </p:cNvSpPr>
          <p:nvPr/>
        </p:nvSpPr>
        <p:spPr>
          <a:xfrm xmlns:a="http://schemas.openxmlformats.org/drawingml/2006/main">
            <a:off x="552450" y="40195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Multiply both quantities by 4: 4 feet = 48 inches.</a:t>
            </a:r>
          </a:p>
        </p:txBody>
      </p:sp>
      <p:graphicFrame>
        <p:nvGraphicFramePr>
          <p:cNvPr id="11" name=""/>
          <p:cNvGraphicFramePr/>
          <p:nvPr/>
        </p:nvGraphicFramePr>
        <p:xfrm>
          <a:off xmlns:a="http://schemas.openxmlformats.org/drawingml/2006/main" x="6210300" y="1809750"/>
          <a:ext xmlns:a="http://schemas.openxmlformats.org/drawingml/2006/main" cx="5410200" cy="2514600"/>
        </p:xfrm>
        <a:graphic xmlns:a="http://schemas.openxmlformats.org/drawingml/2006/main">
          <a:graphicData uri="http://schemas.openxmlformats.org/drawingml/2006/table">
            <a:tbl>
              <a:tblPr/>
              <a:tblGrid>
                <a:gridCol w="2705100"/>
                <a:gridCol w="2705100"/>
              </a:tblGrid>
              <a:tr h="628650">
                <a:tc>
                  <a:txBody>
                    <a:bodyPr/>
                    <a:lstStyle/>
                    <a:p>
                      <a:r>
                        <a:rPr sz="1875" b="1">
                          <a:solidFill>
                            <a:srgbClr val="FFFFFF"/>
                          </a:solidFill>
                          <a:latin typeface="Arial"/>
                          <a:ea typeface="Arial"/>
                          <a:cs typeface="Arial"/>
                        </a:rPr>
                        <a:t>Feet</a:t>
                      </a:r>
                    </a:p>
                  </a:txBody>
                  <a:tcPr marL="91440" marR="91440" marT="45720" marB="45720">
                    <a:solidFill>
                      <a:srgbClr val="0070C0"/>
                    </a:solidFill>
                  </a:tcPr>
                </a:tc>
                <a:tc>
                  <a:txBody>
                    <a:bodyPr/>
                    <a:lstStyle/>
                    <a:p>
                      <a:r>
                        <a:rPr sz="1875" b="1">
                          <a:solidFill>
                            <a:srgbClr val="FFFFFF"/>
                          </a:solidFill>
                          <a:latin typeface="Arial"/>
                          <a:ea typeface="Arial"/>
                          <a:cs typeface="Arial"/>
                        </a:rPr>
                        <a:t>Inches</a:t>
                      </a:r>
                    </a:p>
                  </a:txBody>
                  <a:tcPr marL="91440" marR="91440" marT="45720" marB="45720">
                    <a:solidFill>
                      <a:srgbClr val="0070C0"/>
                    </a:solidFill>
                  </a:tcPr>
                </a:tc>
              </a:tr>
              <a:tr h="628650">
                <a:tc>
                  <a:txBody>
                    <a:bodyPr/>
                    <a:lstStyle/>
                    <a:p>
                      <a:r>
                        <a:rPr sz="1875" b="0">
                          <a:solidFill>
                            <a:srgbClr val="23282D"/>
                          </a:solidFill>
                          <a:latin typeface="Arial"/>
                          <a:ea typeface="Arial"/>
                          <a:cs typeface="Arial"/>
                        </a:rPr>
                        <a:t>1</a:t>
                      </a:r>
                    </a:p>
                  </a:txBody>
                  <a:tcPr marL="91440" marR="91440" marT="45720" marB="45720">
                    <a:solidFill>
                      <a:srgbClr val="FFFFFF"/>
                    </a:solidFill>
                  </a:tcPr>
                </a:tc>
                <a:tc>
                  <a:txBody>
                    <a:bodyPr/>
                    <a:lstStyle/>
                    <a:p>
                      <a:r>
                        <a:rPr sz="1875" b="0">
                          <a:solidFill>
                            <a:srgbClr val="23282D"/>
                          </a:solidFill>
                          <a:latin typeface="Arial"/>
                          <a:ea typeface="Arial"/>
                          <a:cs typeface="Arial"/>
                        </a:rPr>
                        <a:t>12</a:t>
                      </a:r>
                    </a:p>
                  </a:txBody>
                  <a:tcPr marL="91440" marR="91440" marT="45720" marB="45720">
                    <a:solidFill>
                      <a:srgbClr val="FFFFFF"/>
                    </a:solidFill>
                  </a:tcPr>
                </a:tc>
              </a:tr>
              <a:tr h="628650">
                <a:tc>
                  <a:txBody>
                    <a:bodyPr/>
                    <a:lstStyle/>
                    <a:p>
                      <a:r>
                        <a:rPr sz="1875" b="0">
                          <a:solidFill>
                            <a:srgbClr val="23282D"/>
                          </a:solidFill>
                          <a:latin typeface="Arial"/>
                          <a:ea typeface="Arial"/>
                          <a:cs typeface="Arial"/>
                        </a:rPr>
                        <a:t>2</a:t>
                      </a:r>
                    </a:p>
                  </a:txBody>
                  <a:tcPr marL="91440" marR="91440" marT="45720" marB="45720">
                    <a:solidFill>
                      <a:srgbClr val="FFFFFF"/>
                    </a:solidFill>
                  </a:tcPr>
                </a:tc>
                <a:tc>
                  <a:txBody>
                    <a:bodyPr/>
                    <a:lstStyle/>
                    <a:p>
                      <a:r>
                        <a:rPr sz="1875" b="0">
                          <a:solidFill>
                            <a:srgbClr val="23282D"/>
                          </a:solidFill>
                          <a:latin typeface="Arial"/>
                          <a:ea typeface="Arial"/>
                          <a:cs typeface="Arial"/>
                        </a:rPr>
                        <a:t>24</a:t>
                      </a:r>
                    </a:p>
                  </a:txBody>
                  <a:tcPr marL="91440" marR="91440" marT="45720" marB="45720">
                    <a:solidFill>
                      <a:srgbClr val="FFFFFF"/>
                    </a:solidFill>
                  </a:tcPr>
                </a:tc>
              </a:tr>
              <a:tr h="628650">
                <a:tc>
                  <a:txBody>
                    <a:bodyPr/>
                    <a:lstStyle/>
                    <a:p>
                      <a:r>
                        <a:rPr sz="1875" b="0">
                          <a:solidFill>
                            <a:srgbClr val="23282D"/>
                          </a:solidFill>
                          <a:latin typeface="Arial"/>
                          <a:ea typeface="Arial"/>
                          <a:cs typeface="Arial"/>
                        </a:rPr>
                        <a:t>4</a:t>
                      </a:r>
                    </a:p>
                  </a:txBody>
                  <a:tcPr marL="91440" marR="91440" marT="45720" marB="45720">
                    <a:solidFill>
                      <a:srgbClr val="FFFFFF"/>
                    </a:solidFill>
                  </a:tcPr>
                </a:tc>
                <a:tc>
                  <a:txBody>
                    <a:bodyPr/>
                    <a:lstStyle/>
                    <a:p>
                      <a:r>
                        <a:rPr sz="1875" b="0">
                          <a:solidFill>
                            <a:srgbClr val="23282D"/>
                          </a:solidFill>
                          <a:latin typeface="Arial"/>
                          <a:ea typeface="Arial"/>
                          <a:cs typeface="Arial"/>
                        </a:rPr>
                        <a:t>48</a:t>
                      </a:r>
                    </a:p>
                  </a:txBody>
                  <a:tcPr marL="91440" marR="91440" marT="45720" marB="45720">
                    <a:solidFill>
                      <a:srgbClr val="FFFFFF"/>
                    </a:solidFill>
                  </a:tcPr>
                </a:tc>
              </a:tr>
            </a:tbl>
          </a:graphicData>
        </a:graphic>
      </p:graphicFrame>
      <p:sp xmlns:a="http://schemas.openxmlformats.org/drawingml/2006/main">
        <p:nvSpPr>
          <p:cNvPr id="1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SCALE • LABEL • EXPLAIN</a:t>
            </a:r>
          </a:p>
        </p:txBody>
      </p:sp>
      <p:sp xmlns:a="http://schemas.openxmlformats.org/drawingml/2006/main">
        <p:nvSpPr>
          <p:cNvPr id="14" name="Rounded Rectangle 17"/>
          <p:cNvSpPr/>
          <p:nvPr/>
        </p:nvSpPr>
        <p:spPr>
          <a:xfrm>
            <a:off x="502920" y="5486400"/>
            <a:ext cx="10972800" cy="75895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Rectangle 18"/>
          <p:cNvSpPr/>
          <p:nvPr/>
        </p:nvSpPr>
        <p:spPr>
          <a:xfrm>
            <a:off x="502920" y="5486400"/>
            <a:ext cx="64008" cy="75895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6" name="TextBox 19"/>
          <p:cNvSpPr txBox="1"/>
          <p:nvPr/>
        </p:nvSpPr>
        <p:spPr>
          <a:xfrm>
            <a:off x="667512" y="5596128"/>
            <a:ext cx="10680192" cy="210312"/>
          </a:xfrm>
          <a:prstGeom prst="rect">
            <a:avLst/>
          </a:prstGeom>
          <a:noFill/>
        </p:spPr>
        <p:txBody>
          <a:bodyPr wrap="square" lIns="0" tIns="0" rIns="0" bIns="0" anchor="t">
            <a:spAutoFit/>
          </a:bodyPr>
          <a:lstStyle/>
          <a:p>
            <a:pPr algn="l"/>
            <a:r>
              <a:rPr sz="1100" b="1">
                <a:solidFill>
                  <a:srgbClr val="782DA0"/>
                </a:solidFill>
                <a:latin typeface="Arial"/>
              </a:rPr>
              <a:t>TALK TOOL</a:t>
            </a:r>
          </a:p>
        </p:txBody>
      </p:sp>
      <p:sp xmlns:a="http://schemas.openxmlformats.org/drawingml/2006/main">
        <p:nvSpPr>
          <p:cNvPr id="17" name="TextBox 20"/>
          <p:cNvSpPr txBox="1"/>
          <p:nvPr/>
        </p:nvSpPr>
        <p:spPr>
          <a:xfrm>
            <a:off x="667512" y="5888736"/>
            <a:ext cx="10680192" cy="301752"/>
          </a:xfrm>
          <a:prstGeom prst="rect">
            <a:avLst/>
          </a:prstGeom>
          <a:noFill/>
        </p:spPr>
        <p:txBody>
          <a:bodyPr wrap="square" lIns="0" tIns="0" rIns="0" bIns="0" anchor="t">
            <a:spAutoFit/>
          </a:bodyPr>
          <a:lstStyle/>
          <a:p>
            <a:pPr algn="l"/>
            <a:r>
              <a:rPr sz="1600" b="0">
                <a:solidFill>
                  <a:srgbClr val="23282D"/>
                </a:solidFill>
                <a:latin typeface="Arial"/>
              </a:rPr>
              <a:t>“I multiplied 1 foot and 12 inches by ___. The height stayed ___.”</a:t>
            </a:r>
          </a:p>
        </p:txBody>
      </p:sp>
      <p:sp>
        <p:nvSpPr>
          <p:cNvPr id="18"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14 / 40</ns3:t>
            </ns3:r>
          </ns3:p>
        </p:txBody>
      </p:sp>
      <p:sp xmlns:p="http://schemas.openxmlformats.org/presentationml/2006/main" xmlns:a="http://schemas.openxmlformats.org/drawingml/2006/main">
        <p:nvSpPr>
          <p:cNvPr id="19"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a:t>
            </a:r>
            <a:endParaRPr lang="en-US" sz="2000"/>
          </a:p>
          <a:p>
            <a:pPr>
              <a:lnSpc>
                <a:spcPts val="2400"/>
              </a:lnSpc>
              <a:buNone/>
            </a:pPr>
            <a:r>
              <a:rPr lang="en-US" sz="2000">
                <a:solidFill>
                  <a:srgbClr val="174D60"/>
                </a:solidFill>
                <a:latin typeface="Arial"/>
              </a:rPr>
              <a:t>your reasoning.</a:t>
            </a:r>
            <a:endParaRPr lang="en-US" sz="2000"/>
          </a:p>
        </p:txBody>
      </p:sp>
    </p:spTree>
    <p:extLst>
      <p:ext uri="{BB962C8B-B14F-4D97-AF65-F5344CB8AC3E}">
        <p14:creationId xmlns:p14="http://schemas.microsoft.com/office/powerpoint/2010/main" val="1186128096"/>
      </p:ext>
    </p:extLst>
  </p:cSld>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cxnSp>
        <p:nvCxnSpPr>
          <p:cNvPr id="469" name="Google Shape;469;p65"/>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470" name="Google Shape;470;p65"/>
          <p:cNvSpPr txBox="1"/>
          <p:nvPr/>
        </p:nvSpPr>
        <p:spPr>
          <a:xfrm>
            <a:off x="484560" y="471586"/>
            <a:ext cx="7756329" cy="20861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 xml:space="preserve">At an amusement park, one attraction has </a:t>
            </a:r>
            <a:br>
              <a:rPr lang="en-US" sz="2800">
                <a:solidFill>
                  <a:srgbClr val="23282D"/>
                </a:solidFill>
                <a:latin typeface="Arial"/>
                <a:ea typeface="Arial"/>
                <a:cs typeface="Arial"/>
                <a:sym typeface="Arial"/>
              </a:rPr>
            </a:br>
            <a:r>
              <a:rPr lang="en-US" sz="2800">
                <a:solidFill>
                  <a:srgbClr val="23282D"/>
                </a:solidFill>
                <a:latin typeface="Arial"/>
                <a:ea typeface="Arial"/>
                <a:cs typeface="Arial"/>
                <a:sym typeface="Arial"/>
              </a:rPr>
              <a:t>the height requirement shown.</a:t>
            </a:r>
            <a:endParaRPr/>
          </a:p>
          <a:p>
            <a:pPr indent="0" lvl="0" marL="0" marR="0" rtl="0" algn="l">
              <a:lnSpc>
                <a:spcPct val="100000"/>
              </a:lnSpc>
              <a:spcBef>
                <a:spcPts val="1800"/>
              </a:spcBef>
              <a:spcAft>
                <a:spcPts val="0"/>
              </a:spcAft>
              <a:buClr>
                <a:srgbClr val="262626"/>
              </a:buClr>
              <a:buSzPts val="2800"/>
              <a:buFont typeface="Arial"/>
              <a:buNone/>
            </a:pPr>
            <a:r>
              <a:rPr b="1" lang="en-US" sz="2800">
                <a:solidFill>
                  <a:srgbClr val="23282D"/>
                </a:solidFill>
                <a:latin typeface="Arial"/>
                <a:ea typeface="Arial"/>
                <a:cs typeface="Arial"/>
                <a:sym typeface="Arial"/>
              </a:rPr>
              <a:t>If there are 12 inches in every foot, can a child who is 4 feet tall go on the attraction?</a:t>
            </a:r>
            <a:endParaRPr/>
          </a:p>
          <a:p>
            <a:pPr indent="0" lvl="0" marL="0" marR="0" rtl="0" algn="l">
              <a:lnSpc>
                <a:spcPct val="100000"/>
              </a:lnSpc>
              <a:spcBef>
                <a:spcPts val="1800"/>
              </a:spcBef>
              <a:spcAft>
                <a:spcPts val="0"/>
              </a:spcAft>
              <a:buClr>
                <a:schemeClr val="dk2"/>
              </a:buClr>
              <a:buSzPts val="2800"/>
              <a:buFont typeface="Arial"/>
              <a:buNone/>
            </a:pPr>
            <a:r>
              <a:t/>
            </a:r>
            <a:endParaRPr sz="2800">
              <a:solidFill>
                <a:srgbClr val="262626"/>
              </a:solidFill>
              <a:latin typeface="Arial"/>
              <a:ea typeface="Arial"/>
              <a:cs typeface="Arial"/>
              <a:sym typeface="Arial"/>
            </a:endParaRPr>
          </a:p>
        </p:txBody>
      </p:sp>
      <p:sp>
        <p:nvSpPr>
          <p:cNvPr id="471" name="Google Shape;471;p65"/>
          <p:cNvSpPr txBox="1"/>
          <p:nvPr/>
        </p:nvSpPr>
        <p:spPr>
          <a:xfrm>
            <a:off x="563691" y="2791495"/>
            <a:ext cx="7144913" cy="2086180"/>
          </a:xfrm>
          <a:prstGeom prst="rect">
            <a:avLst/>
          </a:prstGeom>
          <a:noFill/>
          <a:ln cap="flat" cmpd="sng" w="9525">
            <a:solidFill>
              <a:srgbClr val="695B9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4 feet = 48 inches</a:t>
            </a:r>
            <a:endParaRPr/>
          </a:p>
          <a:p>
            <a:pPr indent="0" lvl="0" marL="0" marR="0" rtl="0" algn="l">
              <a:lnSpc>
                <a:spcPct val="100000"/>
              </a:lnSpc>
              <a:spcBef>
                <a:spcPts val="1800"/>
              </a:spcBef>
              <a:spcAft>
                <a:spcPts val="0"/>
              </a:spcAft>
              <a:buClr>
                <a:srgbClr val="262626"/>
              </a:buClr>
              <a:buSzPts val="2800"/>
              <a:buFont typeface="Arial"/>
              <a:buNone/>
            </a:pPr>
            <a:r>
              <a:rPr lang="en-US" sz="2800">
                <a:solidFill>
                  <a:srgbClr val="23282D"/>
                </a:solidFill>
                <a:latin typeface="Arial"/>
                <a:ea typeface="Arial"/>
                <a:cs typeface="Arial"/>
                <a:sym typeface="Arial"/>
              </a:rPr>
              <a:t>48 inches &gt; 44 inches</a:t>
            </a:r>
            <a:endParaRPr/>
          </a:p>
          <a:p>
            <a:pPr indent="0" lvl="0" marL="0" marR="0" rtl="0" algn="l">
              <a:lnSpc>
                <a:spcPct val="100000"/>
              </a:lnSpc>
              <a:spcBef>
                <a:spcPts val="1800"/>
              </a:spcBef>
              <a:spcAft>
                <a:spcPts val="0"/>
              </a:spcAft>
              <a:buClr>
                <a:srgbClr val="262626"/>
              </a:buClr>
              <a:buSzPts val="2800"/>
              <a:buFont typeface="Arial"/>
              <a:buNone/>
            </a:pPr>
            <a:r>
              <a:rPr lang="en-US" sz="2800">
                <a:solidFill>
                  <a:srgbClr val="23282D"/>
                </a:solidFill>
                <a:latin typeface="Arial"/>
                <a:ea typeface="Arial"/>
                <a:cs typeface="Arial"/>
                <a:sym typeface="Arial"/>
              </a:rPr>
              <a:t>A 4-foot-tall child can go on the attraction.</a:t>
            </a:r>
            <a:endParaRPr/>
          </a:p>
        </p:txBody>
      </p:sp>
      <p:pic>
        <p:nvPicPr>
          <p:cNvPr id="472" name="Google Shape;472;p65"/>
          <p:cNvPicPr preferRelativeResize="0"/>
          <p:nvPr/>
        </p:nvPicPr>
        <p:blipFill rotWithShape="1">
          <a:blip r:embed="rId3">
            <a:alphaModFix/>
          </a:blip>
          <a:srcRect b="0" l="0" r="0" t="0"/>
          <a:stretch/>
        </p:blipFill>
        <p:spPr>
          <a:xfrm>
            <a:off x="8397023" y="1546136"/>
            <a:ext cx="3010266" cy="2240198"/>
          </a:xfrm>
          <a:prstGeom prst="rect">
            <a:avLst/>
          </a:prstGeom>
          <a:noFill/>
          <a:ln>
            <a:noFill/>
          </a:ln>
        </p:spPr>
      </p:pic>
      <p:pic>
        <p:nvPicPr>
          <p:cNvPr id="473" name="Google Shape;473;p65"/>
          <p:cNvPicPr preferRelativeResize="0"/>
          <p:nvPr/>
        </p:nvPicPr>
        <p:blipFill rotWithShape="1">
          <a:blip r:embed="rId4">
            <a:alphaModFix/>
          </a:blip>
          <a:srcRect b="0" l="0" r="0" t="0"/>
          <a:stretch/>
        </p:blipFill>
        <p:spPr>
          <a:xfrm>
            <a:off x="484560" y="5012591"/>
            <a:ext cx="7073900" cy="838200"/>
          </a:xfrm>
          <a:prstGeom prst="rect">
            <a:avLst/>
          </a:prstGeom>
          <a:noFill/>
          <a:ln>
            <a:noFill/>
          </a:ln>
        </p:spPr>
      </p:pic>
      <p:sp>
        <p:nvSpPr>
          <p:cNvPr id="476"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THINK → PARTNER TALK → EXPLAIN</a:t>
            </a:r>
          </a:p>
        </p:txBody>
      </p:sp>
      <p:sp>
        <p:nvSpPr>
          <p:cNvPr id="478" name="Rounded Rectangle 17"/>
          <p:cNvSpPr/>
          <p:nvPr/>
        </p:nvSpPr>
        <p:spPr>
          <a:xfrm>
            <a:off x="502920" y="5120640"/>
            <a:ext cx="10789920" cy="100584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Rectangle 18"/>
          <p:cNvSpPr/>
          <p:nvPr/>
        </p:nvSpPr>
        <p:spPr>
          <a:xfrm>
            <a:off x="502920" y="5120640"/>
            <a:ext cx="64008" cy="100584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0" name="TextBox 19"/>
          <p:cNvSpPr txBox="1"/>
          <p:nvPr/>
        </p:nvSpPr>
        <p:spPr>
          <a:xfrm>
            <a:off x="667512" y="5230368"/>
            <a:ext cx="10497312" cy="210312"/>
          </a:xfrm>
          <a:prstGeom prst="rect">
            <a:avLst/>
          </a:prstGeom>
          <a:noFill/>
        </p:spPr>
        <p:txBody>
          <a:bodyPr wrap="square" lIns="0" tIns="0" rIns="0" bIns="0" anchor="t">
            <a:spAutoFit/>
          </a:bodyPr>
          <a:lstStyle/>
          <a:p>
            <a:pPr algn="l"/>
            <a:r>
              <a:rPr sz="1100" b="1">
                <a:solidFill>
                  <a:srgbClr val="782DA0"/>
                </a:solidFill>
                <a:latin typeface="Arial"/>
              </a:rPr>
              <a:t>CHOOSE A TOOL</a:t>
            </a:r>
          </a:p>
        </p:txBody>
      </p:sp>
      <p:sp>
        <p:nvSpPr>
          <p:cNvPr id="481" name="TextBox 20"/>
          <p:cNvSpPr txBox="1"/>
          <p:nvPr/>
        </p:nvSpPr>
        <p:spPr>
          <a:xfrm>
            <a:off x="667512" y="5522976"/>
            <a:ext cx="10497312" cy="548640"/>
          </a:xfrm>
          <a:prstGeom prst="rect">
            <a:avLst/>
          </a:prstGeom>
          <a:noFill/>
        </p:spPr>
        <p:txBody>
          <a:bodyPr wrap="square" lIns="0" tIns="0" rIns="0" bIns="0" anchor="t">
            <a:spAutoFit/>
          </a:bodyPr>
          <a:lstStyle/>
          <a:p>
            <a:pPr algn="l"/>
            <a:r>
              <a:rPr sz="1600" b="0">
                <a:solidFill>
                  <a:srgbClr val="23282D"/>
                </a:solidFill>
                <a:latin typeface="Arial"/>
              </a:rPr>
              <a:t>Use a ratio table or double number line. Explain how it proves that 48 inches is above 44 inches.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Student-led talk: paraphrase, agree or disagree, add 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40</a:t>
            </a:r>
          </a:p>
        </p:txBody>
      </p:sp>
    </p:spTree>
  </p:cSld>
  <p:clrMapOvr>
    <a:masterClrMapping/>
  </p:clrMapOvr>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1C4416-EFEC-4AE4-845A-93C827E3D63A}"/>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75" b="1">
                <ns0:solidFill>
                  <ns0:srgbClr val="782DA0"/>
                </ns0:solidFill>
                <ns0:latin typeface="Arial"/>
                <ns0:ea typeface="Arial"/>
                <ns0:cs typeface="Arial"/>
              </ns0:defRPr>
            </ns0:pPr>
            <ns0:r>
              <ns0:rPr sz="2800" b="1">
                <ns0:solidFill>
                  <ns0:srgbClr val="782DA0"/>
                </ns0:solidFill>
                <ns0:latin typeface="Arial"/>
                <ns0:ea typeface="Arial"/>
                <ns0:cs typeface="Arial"/>
              </ns0:rPr>
              <ns0:t>Practice: Customary Conversions</ns0:t>
            </ns0:r>
          </ns0:p>
        </p:txBody>
      </p:sp>
      <p:sp>
        <p:nvSpPr>
          <p:cNvPr id="2" name="">
            <a:extLst xmlns:a="http://schemas.openxmlformats.org/drawingml/2006/main">
              <a:ext uri="{FF2B5EF4-FFF2-40B4-BE49-F238E27FC236}">
                <a16:creationId xmlns:a16="http://schemas.microsoft.com/office/drawing/2014/main" id="{6458C990-422F-4FE4-83C7-BC4BB34CA898}"/>
              </a:ext>
            </a:extLst>
          </p:cNvPr>
          <p:cNvSpPr>
            <a:spLocks xmlns:a="http://schemas.openxmlformats.org/drawingml/2006/main" noGrp="1"/>
          </p:cNvSpPr>
          <p:nvPr/>
        </p:nvSpPr>
        <p:spPr>
          <a:xfrm xmlns:a="http://schemas.openxmlformats.org/drawingml/2006/main">
            <a:off x="552450" y="16192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1. Use 1 quart = 32 fluid ounces. How many fluid ounces are in 5 quarts?</a:t>
            </a:r>
          </a:p>
        </p:txBody>
      </p:sp>
      <p:sp>
        <p:nvSpPr>
          <p:cNvPr id="3" name="">
            <a:extLst xmlns:a="http://schemas.openxmlformats.org/drawingml/2006/main">
              <a:ext uri="{FF2B5EF4-FFF2-40B4-BE49-F238E27FC236}">
                <a16:creationId xmlns:a16="http://schemas.microsoft.com/office/drawing/2014/main" id="{51C0BCC4-AA82-4A05-A925-107E6365CAEA}"/>
              </a:ext>
            </a:extLst>
          </p:cNvPr>
          <p:cNvSpPr>
            <a:spLocks xmlns:a="http://schemas.openxmlformats.org/drawingml/2006/main" noGrp="1"/>
          </p:cNvSpPr>
          <p:nvPr/>
        </p:nvSpPr>
        <p:spPr>
          <a:xfrm xmlns:a="http://schemas.openxmlformats.org/drawingml/2006/main">
            <a:off x="552450" y="278130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2. Use 1 pound = 16 ounces. Write ounces : pounds and pounds : ounces.</a:t>
            </a:r>
          </a:p>
        </p:txBody>
      </p:sp>
      <p:sp>
        <p:nvSpPr>
          <p:cNvPr id="4" name="">
            <a:extLst xmlns:a="http://schemas.openxmlformats.org/drawingml/2006/main">
              <a:ext uri="{FF2B5EF4-FFF2-40B4-BE49-F238E27FC236}">
                <a16:creationId xmlns:a16="http://schemas.microsoft.com/office/drawing/2014/main" id="{F2D96784-4436-48E0-BAC6-234D52150D39}"/>
              </a:ext>
            </a:extLst>
          </p:cNvPr>
          <p:cNvSpPr>
            <a:spLocks xmlns:a="http://schemas.openxmlformats.org/drawingml/2006/main" noGrp="1"/>
          </p:cNvSpPr>
          <p:nvPr/>
        </p:nvSpPr>
        <p:spPr>
          <a:xfrm xmlns:a="http://schemas.openxmlformats.org/drawingml/2006/main">
            <a:off x="552450" y="39433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Explain why the order of the quantities matters.</a:t>
            </a:r>
          </a:p>
        </p:txBody>
      </p:sp>
      <p:sp xmlns:a="http://schemas.openxmlformats.org/drawingml/2006/main">
        <p:nvSpPr>
          <p:cNvPr id="7"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MOVE</a:t>
            </a:r>
            <a:r>
              <a:rPr lang="en-US" sz="1150" b="1" dirty="0">
                <a:solidFill>
                  <a:srgbClr val="2D3A40"/>
                </a:solidFill>
                <a:latin typeface="Arial"/>
              </a:rPr>
              <a:t xml:space="preserve">  ·  SCALE • LABEL • EXPLAIN</a:t>
            </a:r>
          </a:p>
        </p:txBody>
      </p:sp>
      <p:sp xmlns:a="http://schemas.openxmlformats.org/drawingml/2006/main">
        <p:nvSpPr>
          <p:cNvPr id="9" name="Rounded Rectangle 17"/>
          <p:cNvSpPr/>
          <p:nvPr/>
        </p:nvSpPr>
        <p:spPr>
          <a:xfrm>
            <a:off x="502920" y="5486400"/>
            <a:ext cx="10972800" cy="75895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0" name="Rectangle 18"/>
          <p:cNvSpPr/>
          <p:nvPr/>
        </p:nvSpPr>
        <p:spPr>
          <a:xfrm>
            <a:off x="502920" y="5486400"/>
            <a:ext cx="64008" cy="75895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1" name="TextBox 19"/>
          <p:cNvSpPr txBox="1"/>
          <p:nvPr/>
        </p:nvSpPr>
        <p:spPr>
          <a:xfrm>
            <a:off x="667512" y="5596128"/>
            <a:ext cx="10680192" cy="210312"/>
          </a:xfrm>
          <a:prstGeom prst="rect">
            <a:avLst/>
          </a:prstGeom>
          <a:noFill/>
        </p:spPr>
        <p:txBody>
          <a:bodyPr wrap="square" lIns="0" tIns="0" rIns="0" bIns="0" anchor="t">
            <a:spAutoFit/>
          </a:bodyPr>
          <a:lstStyle/>
          <a:p>
            <a:pPr algn="l">
              <a:defRPr/>
            </a:pPr>
            <a:r>
              <a:rPr sz="1100" b="1">
                <a:solidFill>
                  <a:srgbClr val="782DA0"/>
                </a:solidFill>
                <a:latin typeface="Arial"/>
              </a:rPr>
              <a:t>TALK TOOL</a:t>
            </a:r>
          </a:p>
        </p:txBody>
      </p:sp>
      <p:sp xmlns:a="http://schemas.openxmlformats.org/drawingml/2006/main">
        <p:nvSpPr>
          <p:cNvPr id="12" name="TextBox 20"/>
          <p:cNvSpPr txBox="1"/>
          <p:nvPr/>
        </p:nvSpPr>
        <p:spPr>
          <a:xfrm>
            <a:off x="667512" y="5888736"/>
            <a:ext cx="10680192" cy="301752"/>
          </a:xfrm>
          <a:prstGeom prst="rect">
            <a:avLst/>
          </a:prstGeom>
          <a:noFill/>
        </p:spPr>
        <p:txBody>
          <a:bodyPr wrap="square" lIns="0" tIns="0" rIns="0" bIns="0" anchor="t">
            <a:spAutoFit/>
          </a:bodyPr>
          <a:lstStyle/>
          <a:p>
            <a:pPr algn="l">
              <a:defRPr/>
            </a:pPr>
            <a:r>
              <a:rPr sz="1600" b="0">
                <a:solidFill>
                  <a:srgbClr val="23282D"/>
                </a:solidFill>
                <a:latin typeface="Arial"/>
              </a:rPr>
              <a:t>“The ratio ___ compares ounces to pounds. Reversing the order gives ___.”</a:t>
            </a:r>
          </a:p>
        </p:txBody>
      </p:sp>
      <p:sp>
        <p:nvSpPr>
          <p:cNvPr id="13"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16 / 40</ns3:t>
            </ns3:r>
          </ns3:p>
        </p:txBody>
      </p:sp>
      <p:grpSp xmlns:a="http://schemas.openxmlformats.org/drawingml/2006/main">
        <p:nvGrpSpPr>
          <p:cNvPr id="14" name="TEACH-2-student-move" descr="TEACH 2 · Use strategies and tasks to engage students in rigorous work"/>
          <p:cNvGrpSpPr/>
          <p:nvPr/>
        </p:nvGrpSpPr>
        <p:grpSpPr>
          <a:xfrm>
            <a:off x="502920" y="5047488"/>
            <a:ext cx="11186160" cy="402336"/>
            <a:chOff x="502920" y="5047488"/>
            <a:chExt cx="11186160" cy="402336"/>
          </a:xfrm>
        </p:grpSpPr>
        <p:sp>
          <p:nvSpPr>
            <p:cNvPr id="15" name="TEACH-move-card"/>
            <p:cNvSpPr/>
            <p:nvPr/>
          </p:nvSpPr>
          <p:spPr>
            <a:xfrm>
              <a:off x="502920" y="504748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12393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04748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extLst>
      <p:ext uri="{BB962C8B-B14F-4D97-AF65-F5344CB8AC3E}">
        <p14:creationId xmlns:p14="http://schemas.microsoft.com/office/powerpoint/2010/main" val="94007968"/>
      </p:ext>
    </p:extLst>
  </p:cSld>
</p:sld>
</file>

<file path=ppt/slides/slide1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3.6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Why does the number change while the actual measurement stays the same?</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18.xml><?xml version="1.0" encoding="utf-8"?>
<p:sld xmlns:p="http://schemas.openxmlformats.org/presentationml/2006/main">
  <p:cSld>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29184"/>
            <a:ext cx="7132320" cy="530352"/>
          </a:xfrm>
          <a:prstGeom prst="rect">
            <a:avLst/>
          </a:prstGeom>
          <a:noFill/>
        </p:spPr>
        <p:txBody>
          <a:bodyPr wrap="square" lIns="0" tIns="0" rIns="0" bIns="0" anchor="t">
            <a:spAutoFit/>
          </a:bodyPr>
          <a:lstStyle/>
          <a:p>
            <a:pPr algn="l"/>
            <a:r>
              <a:rPr sz="2800" b="1">
                <a:solidFill>
                  <a:srgbClr val="782DA0"/>
                </a:solidFill>
                <a:latin typeface="Arial"/>
              </a:rPr>
              <a:t>60-Second Check</a:t>
            </a:r>
          </a:p>
        </p:txBody>
      </p:sp>
      <p:sp>
        <p:nvSpPr>
          <p:cNvPr id="3" name="TextBox 2"/>
          <p:cNvSpPr txBox="1"/>
          <p:nvPr/>
        </p:nvSpPr>
        <p:spPr>
          <a:xfrm>
            <a:off x="521207" y="896112"/>
            <a:ext cx="7589520" cy="320040"/>
          </a:xfrm>
          <a:prstGeom prst="rect">
            <a:avLst/>
          </a:prstGeom>
          <a:noFill/>
        </p:spPr>
        <p:txBody>
          <a:bodyPr wrap="square" lIns="0" tIns="0" rIns="0" bIns="0" anchor="t">
            <a:spAutoFit/>
          </a:bodyPr>
          <a:lstStyle/>
          <a:p>
            <a:pPr algn="l"/>
            <a:r>
              <a:rPr sz="1500" b="0">
                <a:solidFill>
                  <a:srgbClr val="5D6872"/>
                </a:solidFill>
                <a:latin typeface="Arial"/>
              </a:rPr>
              <a:t>Work independently first. Your response tells us what to do next.</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FORMATIVE CHECK</a:t>
            </a:r>
            <a:r>
              <a:rPr lang="en-US" sz="1150" b="1" dirty="0">
                <a:solidFill>
                  <a:srgbClr val="2D3A40"/>
                </a:solidFill>
                <a:latin typeface="Arial"/>
              </a:rPr>
              <a:t xml:space="preserve">  ·  SOLO → CHECK → REVISE</a:t>
            </a:r>
          </a:p>
        </p:txBody>
      </p:sp>
      <p:sp>
        <p:nvSpPr>
          <p:cNvPr id="6" name="Rounded Rectangle 5"/>
          <p:cNvSpPr/>
          <p:nvPr/>
        </p:nvSpPr>
        <p:spPr>
          <a:xfrm>
            <a:off x="502920" y="1353312"/>
            <a:ext cx="11082528" cy="868680"/>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53312"/>
            <a:ext cx="73152" cy="868680"/>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463040"/>
            <a:ext cx="10789919" cy="219456"/>
          </a:xfrm>
          <a:prstGeom prst="rect">
            <a:avLst/>
          </a:prstGeom>
          <a:noFill/>
        </p:spPr>
        <p:txBody>
          <a:bodyPr wrap="square" lIns="0" tIns="0" rIns="0" bIns="0" anchor="t">
            <a:spAutoFit/>
          </a:bodyPr>
          <a:lstStyle/>
          <a:p>
            <a:pPr algn="l"/>
            <a:r>
              <a:rPr sz="1400" b="1">
                <a:solidFill>
                  <a:srgbClr val="01708C"/>
                </a:solidFill>
                <a:latin typeface="Arial"/>
              </a:rPr>
              <a:t>USE THIS CONVERSION FACT</a:t>
            </a:r>
          </a:p>
        </p:txBody>
      </p:sp>
      <p:sp>
        <p:nvSpPr>
          <p:cNvPr id="9" name="TextBox 8"/>
          <p:cNvSpPr txBox="1"/>
          <p:nvPr/>
        </p:nvSpPr>
        <p:spPr>
          <a:xfrm>
            <a:off x="667512" y="1737360"/>
            <a:ext cx="10771632" cy="393191"/>
          </a:xfrm>
          <a:prstGeom prst="rect">
            <a:avLst/>
          </a:prstGeom>
          <a:noFill/>
        </p:spPr>
        <p:txBody>
          <a:bodyPr wrap="square" lIns="0" tIns="0" rIns="0" bIns="0" anchor="t">
            <a:spAutoFit/>
          </a:bodyPr>
          <a:lstStyle/>
          <a:p>
            <a:pPr algn="l"/>
            <a:r>
              <a:rPr sz="1800" b="0">
                <a:solidFill>
                  <a:srgbClr val="23282D"/>
                </a:solidFill>
                <a:latin typeface="Arial"/>
              </a:rPr>
              <a:t>1 foot = 12 inches. A child is 5 feet tall.</a:t>
            </a:r>
          </a:p>
        </p:txBody>
      </p:sp>
      <p:sp>
        <p:nvSpPr>
          <p:cNvPr id="10" name="Rounded Rectangle 9"/>
          <p:cNvSpPr/>
          <p:nvPr/>
        </p:nvSpPr>
        <p:spPr>
          <a:xfrm>
            <a:off x="502920" y="2487168"/>
            <a:ext cx="3520440" cy="2395728"/>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487168"/>
            <a:ext cx="73152" cy="2395728"/>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596896"/>
            <a:ext cx="3227832" cy="219456"/>
          </a:xfrm>
          <a:prstGeom prst="rect">
            <a:avLst/>
          </a:prstGeom>
          <a:noFill/>
        </p:spPr>
        <p:txBody>
          <a:bodyPr wrap="square" lIns="0" tIns="0" rIns="0" bIns="0" anchor="t">
            <a:spAutoFit/>
          </a:bodyPr>
          <a:lstStyle/>
          <a:p>
            <a:pPr algn="l"/>
            <a:r>
              <a:rPr sz="1400" b="1">
                <a:solidFill>
                  <a:srgbClr val="782DA0"/>
                </a:solidFill>
                <a:latin typeface="Arial"/>
              </a:rPr>
              <a:t>1 — CONVERT</a:t>
            </a:r>
          </a:p>
        </p:txBody>
      </p:sp>
      <p:sp>
        <p:nvSpPr>
          <p:cNvPr id="13" name="TextBox 12"/>
          <p:cNvSpPr txBox="1"/>
          <p:nvPr/>
        </p:nvSpPr>
        <p:spPr>
          <a:xfrm>
            <a:off x="667512" y="2871216"/>
            <a:ext cx="3209544" cy="1920240"/>
          </a:xfrm>
          <a:prstGeom prst="rect">
            <a:avLst/>
          </a:prstGeom>
          <a:noFill/>
        </p:spPr>
        <p:txBody>
          <a:bodyPr wrap="square" lIns="0" tIns="0" rIns="0" bIns="0" anchor="t">
            <a:spAutoFit/>
          </a:bodyPr>
          <a:lstStyle/>
          <a:p>
            <a:pPr algn="l"/>
            <a:r>
              <a:rPr sz="1700" b="0">
                <a:solidFill>
                  <a:srgbClr val="23282D"/>
                </a:solidFill>
                <a:latin typeface="Arial"/>
              </a:rPr>
              <a:t>How tall is the child in inches? Show a ratio table or equation.</a:t>
            </a:r>
          </a:p>
        </p:txBody>
      </p:sp>
      <p:sp>
        <p:nvSpPr>
          <p:cNvPr id="14" name="Rounded Rectangle 13"/>
          <p:cNvSpPr/>
          <p:nvPr/>
        </p:nvSpPr>
        <p:spPr>
          <a:xfrm>
            <a:off x="4270248" y="2487168"/>
            <a:ext cx="3520440" cy="239572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70248" y="2487168"/>
            <a:ext cx="73152" cy="2395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34840" y="2596896"/>
            <a:ext cx="3227832" cy="219456"/>
          </a:xfrm>
          <a:prstGeom prst="rect">
            <a:avLst/>
          </a:prstGeom>
          <a:noFill/>
        </p:spPr>
        <p:txBody>
          <a:bodyPr wrap="square" lIns="0" tIns="0" rIns="0" bIns="0" anchor="t">
            <a:spAutoFit/>
          </a:bodyPr>
          <a:lstStyle/>
          <a:p>
            <a:pPr algn="l"/>
            <a:r>
              <a:rPr sz="1400" b="1">
                <a:solidFill>
                  <a:srgbClr val="0070C0"/>
                </a:solidFill>
                <a:latin typeface="Arial"/>
              </a:rPr>
              <a:t>2 — EXPLAIN + PROVE</a:t>
            </a:r>
          </a:p>
        </p:txBody>
      </p:sp>
      <p:sp>
        <p:nvSpPr>
          <p:cNvPr id="17" name="TextBox 16"/>
          <p:cNvSpPr txBox="1"/>
          <p:nvPr/>
        </p:nvSpPr>
        <p:spPr>
          <a:xfrm>
            <a:off x="4434840" y="2871216"/>
            <a:ext cx="3209544" cy="1920240"/>
          </a:xfrm>
          <a:prstGeom prst="rect">
            <a:avLst/>
          </a:prstGeom>
          <a:noFill/>
        </p:spPr>
        <p:txBody>
          <a:bodyPr wrap="square" lIns="0" tIns="0" rIns="0" bIns="0" anchor="t">
            <a:spAutoFit/>
          </a:bodyPr>
          <a:lstStyle/>
          <a:p>
            <a:pPr algn="l"/>
            <a:r>
              <a:rPr sz="1700" b="0">
                <a:solidFill>
                  <a:srgbClr val="23282D"/>
                </a:solidFill>
                <a:latin typeface="Arial"/>
              </a:rPr>
              <a:t>Why does the number change while the height stays the same?</a:t>
            </a:r>
          </a:p>
        </p:txBody>
      </p:sp>
      <p:sp>
        <p:nvSpPr>
          <p:cNvPr id="18" name="Rounded Rectangle 17"/>
          <p:cNvSpPr/>
          <p:nvPr/>
        </p:nvSpPr>
        <p:spPr>
          <a:xfrm>
            <a:off x="8046720" y="2487168"/>
            <a:ext cx="3538728" cy="239572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46720" y="2487168"/>
            <a:ext cx="73152" cy="239572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11312" y="2596896"/>
            <a:ext cx="3246120" cy="219456"/>
          </a:xfrm>
          <a:prstGeom prst="rect">
            <a:avLst/>
          </a:prstGeom>
          <a:noFill/>
        </p:spPr>
        <p:txBody>
          <a:bodyPr wrap="square" lIns="0" tIns="0" rIns="0" bIns="0" anchor="t">
            <a:spAutoFit/>
          </a:bodyPr>
          <a:lstStyle/>
          <a:p>
            <a:pPr algn="l"/>
            <a:r>
              <a:rPr sz="1400" b="1">
                <a:solidFill>
                  <a:srgbClr val="008A62"/>
                </a:solidFill>
                <a:latin typeface="Arial"/>
              </a:rPr>
              <a:t>3 — SELF-MONITOR</a:t>
            </a:r>
          </a:p>
        </p:txBody>
      </p:sp>
      <p:sp>
        <p:nvSpPr>
          <p:cNvPr id="21" name="TextBox 20"/>
          <p:cNvSpPr txBox="1"/>
          <p:nvPr/>
        </p:nvSpPr>
        <p:spPr>
          <a:xfrm>
            <a:off x="8211312" y="2871216"/>
            <a:ext cx="3227832" cy="1920240"/>
          </a:xfrm>
          <a:prstGeom prst="rect">
            <a:avLst/>
          </a:prstGeom>
          <a:noFill/>
        </p:spPr>
        <p:txBody>
          <a:bodyPr wrap="square" lIns="0" tIns="0" rIns="0" bIns="0" anchor="t">
            <a:spAutoFit/>
          </a:bodyPr>
          <a:lstStyle/>
          <a:p>
            <a:pPr algn="l"/>
            <a:r>
              <a:rPr sz="1500" b="0">
                <a:solidFill>
                  <a:srgbClr val="23282D"/>
                </a:solidFill>
                <a:latin typeface="Arial"/>
              </a:rPr>
              <a:t>Circle one:
READY — I can explain it.
ALMOST — I need one hint.
NOT YET — I need a model.</a:t>
            </a:r>
          </a:p>
        </p:txBody>
      </p:sp>
      <p:sp>
        <p:nvSpPr>
          <p:cNvPr id="22" name="TextBox 21"/>
          <p:cNvSpPr txBox="1"/>
          <p:nvPr/>
        </p:nvSpPr>
        <p:spPr>
          <a:xfrm>
            <a:off x="658368" y="5239512"/>
            <a:ext cx="10789920" cy="512064"/>
          </a:xfrm>
          <a:prstGeom prst="rect">
            <a:avLst/>
          </a:prstGeom>
          <a:noFill/>
        </p:spPr>
        <p:txBody>
          <a:bodyPr wrap="square" lIns="0" tIns="0" rIns="0" bIns="0" anchor="t">
            <a:spAutoFit/>
          </a:bodyPr>
          <a:lstStyle/>
          <a:p>
            <a:pPr algn="ctr"/>
            <a:r>
              <a:rPr sz="1400" b="1">
                <a:solidFill>
                  <a:srgbClr val="1E2682"/>
                </a:solidFill>
                <a:latin typeface="Arial"/>
              </a:rPr>
              <a:t>Partner feedback: Ask “How do you know?”  The solver may clarify or revise before sharing.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Defend your method; partner gives one specific next step.</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40</a:t>
            </a:r>
          </a:p>
        </p:txBody>
      </p:sp>
    </p:spTree>
  </p:cSld>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12" name="Google Shape;612;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3" name="Google Shape;613;p59"/>
          <p:cNvSpPr txBox="1"/>
          <p:nvPr/>
        </p:nvSpPr>
        <p:spPr>
          <a:xfrm>
            <a:off x="495330" y="3658511"/>
            <a:ext cx="6405802" cy="9012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do you notice about the measurement units in the problem?</a:t>
            </a:r>
            <a:endParaRPr b="0" i="0" sz="1400" u="none" cap="none" strike="noStrike">
              <a:solidFill>
                <a:srgbClr val="000000"/>
              </a:solidFill>
              <a:latin typeface="Arial"/>
              <a:ea typeface="Arial"/>
              <a:cs typeface="Arial"/>
              <a:sym typeface="Arial"/>
            </a:endParaRPr>
          </a:p>
        </p:txBody>
      </p:sp>
      <p:pic>
        <p:nvPicPr>
          <p:cNvPr id="614" name="Google Shape;614;p59"/>
          <p:cNvPicPr preferRelativeResize="0"/>
          <p:nvPr/>
        </p:nvPicPr>
        <p:blipFill rotWithShape="1">
          <a:blip r:embed="rId2">
            <a:alphaModFix/>
          </a:blip>
          <a:srcRect b="0" l="0" r="0" t="0"/>
          <a:stretch/>
        </p:blipFill>
        <p:spPr>
          <a:xfrm>
            <a:off x="7365665" y="1588911"/>
            <a:ext cx="3010266" cy="2240198"/>
          </a:xfrm>
          <a:prstGeom prst="rect">
            <a:avLst/>
          </a:prstGeom>
          <a:noFill/>
          <a:ln>
            <a:noFill/>
          </a:ln>
        </p:spPr>
      </p:pic>
      <p:sp>
        <p:nvSpPr>
          <p:cNvPr id="615" name="Google Shape;615;p59"/>
          <p:cNvSpPr txBox="1"/>
          <p:nvPr/>
        </p:nvSpPr>
        <p:spPr>
          <a:xfrm>
            <a:off x="495328" y="468848"/>
            <a:ext cx="6176405" cy="178264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At an amusement park, one attraction has the height requirement shown. If there are 12 inches in every foot, can a child who is 4 feet tall go on the attraction?</a:t>
            </a:r>
            <a:endParaRPr b="0" i="0" sz="1400" u="none" cap="none" strike="noStrike">
              <a:solidFill>
                <a:srgbClr val="000000"/>
              </a:solidFill>
              <a:latin typeface="Arial"/>
              <a:ea typeface="Arial"/>
              <a:cs typeface="Arial"/>
              <a:sym typeface="Arial"/>
            </a:endParaRPr>
          </a:p>
        </p:txBody>
      </p:sp>
      <p:sp>
        <p:nvSpPr>
          <p:cNvPr id="616" name="Google Shape;616;p59"/>
          <p:cNvSpPr txBox="1"/>
          <p:nvPr/>
        </p:nvSpPr>
        <p:spPr>
          <a:xfrm>
            <a:off x="495329" y="4779111"/>
            <a:ext cx="6638716"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I notice the measurement units, feet and inches, are different from each other.</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27614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86" name="Google Shape;686;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7" name="Google Shape;687;p67"/>
          <p:cNvSpPr txBox="1"/>
          <p:nvPr/>
        </p:nvSpPr>
        <p:spPr>
          <a:xfrm>
            <a:off x="484564" y="519357"/>
            <a:ext cx="6883390" cy="64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many inches are in one foot?</a:t>
            </a:r>
            <a:endParaRPr b="0" i="0" sz="1400" u="none" cap="none" strike="noStrike">
              <a:solidFill>
                <a:srgbClr val="000000"/>
              </a:solidFill>
              <a:latin typeface="Arial"/>
              <a:ea typeface="Arial"/>
              <a:cs typeface="Arial"/>
              <a:sym typeface="Arial"/>
            </a:endParaRPr>
          </a:p>
        </p:txBody>
      </p:sp>
      <p:sp>
        <p:nvSpPr>
          <p:cNvPr id="688" name="Google Shape;688;p67"/>
          <p:cNvSpPr txBox="1"/>
          <p:nvPr/>
        </p:nvSpPr>
        <p:spPr>
          <a:xfrm>
            <a:off x="484564" y="5089713"/>
            <a:ext cx="5960624" cy="114718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There are 12 inches in one foot.</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23" name="Google Shape;723;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4" name="Google Shape;724;p71"/>
          <p:cNvSpPr txBox="1"/>
          <p:nvPr/>
        </p:nvSpPr>
        <p:spPr>
          <a:xfrm>
            <a:off x="484565" y="936101"/>
            <a:ext cx="7616905" cy="6201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The ratio of inches to feet is </a:t>
            </a:r>
            <a:r>
              <a:rPr b="0" i="0" lang="en-US" sz="2800" u="none" cap="none" strike="noStrike">
                <a:solidFill>
                  <a:srgbClr val="262626"/>
                </a:solidFill>
                <a:latin typeface="Cambria Math"/>
                <a:ea typeface="Cambria Math"/>
                <a:cs typeface="Cambria Math"/>
                <a:sym typeface="Cambria Math"/>
              </a:rPr>
              <a:t>12 : 1</a:t>
            </a:r>
            <a:r>
              <a:rPr b="0" i="0" lang="en-US" sz="2800" u="none" cap="none" strike="noStrike">
                <a:solidFill>
                  <a:srgbClr val="262626"/>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25" name="Google Shape;725;p71"/>
          <p:cNvSpPr txBox="1"/>
          <p:nvPr/>
        </p:nvSpPr>
        <p:spPr>
          <a:xfrm>
            <a:off x="484563" y="4336993"/>
            <a:ext cx="10155167" cy="6022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use the unit ratio to convert 4 feet to inches?</a:t>
            </a:r>
            <a:endParaRPr b="0" i="0" sz="1400" u="none" cap="none" strike="noStrike">
              <a:solidFill>
                <a:srgbClr val="000000"/>
              </a:solidFill>
              <a:latin typeface="Arial"/>
              <a:ea typeface="Arial"/>
              <a:cs typeface="Arial"/>
              <a:sym typeface="Arial"/>
            </a:endParaRPr>
          </a:p>
        </p:txBody>
      </p:sp>
      <p:sp>
        <p:nvSpPr>
          <p:cNvPr id="726" name="Google Shape;726;p71"/>
          <p:cNvSpPr txBox="1"/>
          <p:nvPr/>
        </p:nvSpPr>
        <p:spPr>
          <a:xfrm>
            <a:off x="484563" y="3368635"/>
            <a:ext cx="11393845" cy="7947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This special type of ratio relationship in which a quantity is compared to 1 unit of another quantity is called a unit ratio.</a:t>
            </a:r>
            <a:endParaRPr b="0" i="0" sz="1400" u="none" cap="none" strike="noStrike">
              <a:solidFill>
                <a:srgbClr val="000000"/>
              </a:solidFill>
              <a:latin typeface="Arial"/>
              <a:ea typeface="Arial"/>
              <a:cs typeface="Arial"/>
              <a:sym typeface="Arial"/>
            </a:endParaRPr>
          </a:p>
        </p:txBody>
      </p:sp>
      <p:pic>
        <p:nvPicPr>
          <p:cNvPr id="727" name="Google Shape;727;p71"/>
          <p:cNvPicPr preferRelativeResize="0"/>
          <p:nvPr/>
        </p:nvPicPr>
        <p:blipFill rotWithShape="1">
          <a:blip r:embed="rId2">
            <a:alphaModFix/>
          </a:blip>
          <a:srcRect b="0" l="0" r="0" t="0"/>
          <a:stretch/>
        </p:blipFill>
        <p:spPr>
          <a:xfrm>
            <a:off x="580241" y="1858091"/>
            <a:ext cx="5543550" cy="1181100"/>
          </a:xfrm>
          <a:prstGeom prst="rect">
            <a:avLst/>
          </a:prstGeom>
          <a:noFill/>
          <a:ln>
            <a:noFill/>
          </a:ln>
        </p:spPr>
      </p:pic>
      <p:sp>
        <p:nvSpPr>
          <p:cNvPr id="728" name="Google Shape;728;p71"/>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    </a:t>
            </a:r>
            <a:r>
              <a:rPr b="1" i="0" lang="en-US" sz="2800" u="none" cap="none" strike="noStrike">
                <a:solidFill>
                  <a:srgbClr val="7030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729" name="Google Shape;729;p71"/>
          <p:cNvPicPr preferRelativeResize="0"/>
          <p:nvPr/>
        </p:nvPicPr>
        <p:blipFill rotWithShape="1">
          <a:blip r:embed="rId3">
            <a:alphaModFix/>
          </a:blip>
          <a:srcRect b="0" l="0" r="0" t="0"/>
          <a:stretch/>
        </p:blipFill>
        <p:spPr>
          <a:xfrm>
            <a:off x="558276" y="386230"/>
            <a:ext cx="353635" cy="340537"/>
          </a:xfrm>
          <a:prstGeom prst="rect">
            <a:avLst/>
          </a:prstGeom>
          <a:noFill/>
          <a:ln>
            <a:noFill/>
          </a:ln>
        </p:spPr>
      </p:pic>
      <p:sp>
        <p:nvSpPr>
          <p:cNvPr id="730" name="Google Shape;730;p71"/>
          <p:cNvSpPr txBox="1"/>
          <p:nvPr/>
        </p:nvSpPr>
        <p:spPr>
          <a:xfrm>
            <a:off x="484563" y="4939268"/>
            <a:ext cx="5960624" cy="14442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create a table of equivalent ratios.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a:t>
            </a:r>
            <a:endParaRPr lang="en-US" sz="2000"/>
          </a:p>
          <a:p>
            <a:pPr>
              <a:lnSpc>
                <a:spcPts val="2400"/>
              </a:lnSpc>
              <a:buNone/>
            </a:pPr>
            <a:r>
              <a:rPr lang="en-US" sz="2000">
                <a:solidFill>
                  <a:srgbClr val="174D60"/>
                </a:solidFill>
                <a:latin typeface="Arial"/>
              </a:rPr>
              <a:t>evidence. Switch roles; both</a:t>
            </a:r>
            <a:endParaRPr lang="en-US" sz="2000"/>
          </a:p>
          <a:p>
            <a:pPr>
              <a:lnSpc>
                <a:spcPts val="2400"/>
              </a:lnSpc>
              <a:buNone/>
            </a:pPr>
            <a:r>
              <a:rPr lang="en-US" sz="2000">
                <a:solidFill>
                  <a:srgbClr val="174D60"/>
                </a:solidFill>
                <a:latin typeface="Arial"/>
              </a:rPr>
              <a:t>revise.</a:t>
            </a:r>
            <a:endParaRPr lang="en-US" sz="2000"/>
          </a:p>
        </p:txBody>
      </p:sp>
    </p:spTree>
  </p:cSld>
  <p:clrMapOvr>
    <a:masterClrMapping/>
  </p:clrMapOvr>
</p:sld>
</file>

<file path=ppt/slides/slide22.xml><?xml version="1.0" encoding="utf-8"?>
<p:sld xmlns:p="http://schemas.openxmlformats.org/presentationml/2006/main">
  <p:cSld>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400" b="1">
                <a:solidFill>
                  <a:srgbClr val="7030A0"/>
                </a:solidFill>
                <a:latin typeface="Arial"/>
              </a:rPr>
              <a:t>Session 2 Warm-Up</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2D3A40"/>
                </a:solidFill>
                <a:latin typeface="Arial"/>
              </a:rPr>
              <a:t>Lesson 3-6 · Converting Within One System   |   Session 2 Warm-Up · about 4 minutes</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73152" rIns="73152" bIns="27432" anchor="t">
            <a:spAutoFit/>
          </a:bodyPr>
          <a:lstStyle/>
          <a:p>
            <a:pPr algn="l"/>
            <a:r>
              <a:rPr sz="1800" b="1">
                <a:solidFill>
                  <a:srgbClr val="2D3A40"/>
                </a:solidFill>
                <a:latin typeface="Arial"/>
              </a:rPr>
              <a:t>1 foot = 12 inches</a:t>
            </a:r>
          </a:p>
          <a:p>
            <a:pPr algn="l"/>
            <a:r>
              <a:rPr sz="1800" b="1">
                <a:solidFill>
                  <a:srgbClr val="2D3A40"/>
                </a:solidFill>
                <a:latin typeface="Arial"/>
              </a:rPr>
              <a:t>3 feet = ______ inches</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73152" rIns="73152" bIns="27432" anchor="t">
            <a:spAutoFit/>
          </a:bodyPr>
          <a:lstStyle/>
          <a:p>
            <a:pPr algn="l"/>
            <a:r>
              <a:rPr sz="1800" b="1">
                <a:solidFill>
                  <a:srgbClr val="2D3A40"/>
                </a:solidFill>
                <a:latin typeface="Arial"/>
              </a:rPr>
              <a:t>1 liter = 1,000 milliliters</a:t>
            </a:r>
          </a:p>
          <a:p>
            <a:pPr algn="l"/>
            <a:r>
              <a:rPr sz="1800" b="1">
                <a:solidFill>
                  <a:srgbClr val="2D3A40"/>
                </a:solidFill>
                <a:latin typeface="Arial"/>
              </a:rPr>
              <a:t>4 liters = ______ milliliters</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73152" rIns="73152" bIns="27432" anchor="t">
            <a:spAutoFit/>
          </a:bodyPr>
          <a:lstStyle/>
          <a:p>
            <a:pPr algn="l"/>
            <a:r>
              <a:rPr sz="1800" b="1">
                <a:solidFill>
                  <a:srgbClr val="2D3A40"/>
                </a:solidFill>
                <a:latin typeface="Arial"/>
              </a:rPr>
              <a:t>48 inches = ______ feet</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73152" rIns="73152" bIns="27432" anchor="t">
            <a:spAutoFit/>
          </a:bodyPr>
          <a:lstStyle/>
          <a:p>
            <a:pPr algn="l"/>
            <a:r>
              <a:rPr sz="1800" b="1">
                <a:solidFill>
                  <a:srgbClr val="2D3A40"/>
                </a:solidFill>
                <a:latin typeface="Arial"/>
              </a:rPr>
              <a:t>2,000 milliliters = ______ liters</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40</a:t>
            </a:r>
          </a:p>
        </p:txBody>
      </p:sp>
    </p:spTree>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3E610A1-A41E-4FDE-855B-06F84A3E5F6B}"/>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00" b="1">
                <ns0:solidFill>
                  <ns0:srgbClr val="782DA0"/>
                </ns0:solidFill>
                <ns0:latin typeface="Arial"/>
                <ns0:ea typeface="Arial"/>
                <ns0:cs typeface="Arial"/>
              </ns0:defRPr>
            </ns0:pPr>
            <ns0:r>
              <ns0:rPr sz="2400" b="1">
                <ns0:solidFill>
                  <ns0:srgbClr val="7030A0"/>
                </ns0:solidFill>
                <ns0:latin typeface="Arial"/>
                <ns0:ea typeface="Arial"/>
                <ns0:cs typeface="Arial"/>
              </ns0:rPr>
              <ns0:t>Review Notes — Session 2</ns0:t>
            </ns0:r>
          </ns0:p>
        </p:txBody>
      </p:sp>
      <p:sp>
        <p:nvSpPr>
          <p:cNvPr id="2" name="">
            <a:extLst xmlns:a="http://schemas.openxmlformats.org/drawingml/2006/main">
              <a:ext uri="{FF2B5EF4-FFF2-40B4-BE49-F238E27FC236}">
                <a16:creationId xmlns:a16="http://schemas.microsoft.com/office/drawing/2014/main" id="{A4AEC878-2A0E-4240-A76C-49AA476B65F4}"/>
              </a:ext>
            </a:extLst>
          </p:cNvPr>
          <p:cNvSpPr>
            <a:spLocks xmlns:a="http://schemas.openxmlformats.org/drawingml/2006/main" noGrp="1"/>
          </p:cNvSpPr>
          <p:nvPr/>
        </p:nvSpPr>
        <p:spPr>
          <a:xfrm xmlns:a="http://schemas.openxmlformats.org/drawingml/2006/main">
            <a:off x="523875" y="1028700"/>
            <a:ext cx="866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6872"/>
                </a:solidFill>
                <a:latin typeface="Arial"/>
                <a:ea typeface="Arial"/>
                <a:cs typeface="Arial"/>
              </a:defRPr>
            </a:pPr>
            <a:r>
              <a:rPr sz="1575" b="0">
                <a:solidFill>
                  <a:srgbClr val="5D6872"/>
                </a:solidFill>
                <a:latin typeface="Arial"/>
                <a:ea typeface="Arial"/>
                <a:cs typeface="Arial"/>
              </a:rPr>
              <a:t>Review the key ideas before Session 2.</a:t>
            </a:r>
          </a:p>
        </p:txBody>
      </p:sp>
      <p:sp>
        <p:nvSpPr>
          <p:cNvPr id="3" name="">
            <a:extLst xmlns:a="http://schemas.openxmlformats.org/drawingml/2006/main">
              <a:ext uri="{FF2B5EF4-FFF2-40B4-BE49-F238E27FC236}">
                <a16:creationId xmlns:a16="http://schemas.microsoft.com/office/drawing/2014/main" id="{C91E5393-5A0F-45DD-BC9B-CC7712E00515}"/>
              </a:ext>
            </a:extLst>
          </p:cNvPr>
          <p:cNvSpPr>
            <a:spLocks xmlns:a="http://schemas.openxmlformats.org/drawingml/2006/main" noGrp="1"/>
          </p:cNvSpPr>
          <p:nvPr/>
        </p:nvSpPr>
        <p:spPr>
          <a:xfrm xmlns:a="http://schemas.openxmlformats.org/drawingml/2006/main">
            <a:off x="514350" y="1609725"/>
            <a:ext cx="5762625" cy="4114800"/>
          </a:xfrm>
          <a:prstGeom xmlns:a="http://schemas.openxmlformats.org/drawingml/2006/main" prst="roundRect">
            <a:avLst>
              <a:gd name="adj" fmla="val 1852"/>
            </a:avLst>
          </a:prstGeom>
          <a:solidFill xmlns:a="http://schemas.openxmlformats.org/drawingml/2006/main">
            <a:srgbClr val="FFF0E6"/>
          </a:solidFill>
          <a:ln xmlns:a="http://schemas.openxmlformats.org/drawingml/2006/main" w="9525">
            <a:solidFill>
              <a:srgbClr val="D6E0E8"/>
            </a:solidFill>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6E6F7140-7091-44C6-B05B-B82F7005EC52}"/>
              </a:ext>
            </a:extLst>
          </p:cNvPr>
          <p:cNvSpPr>
            <a:spLocks xmlns:a="http://schemas.openxmlformats.org/drawingml/2006/main" noGrp="1"/>
          </p:cNvSpPr>
          <p:nvPr/>
        </p:nvSpPr>
        <p:spPr>
          <a:xfrm xmlns:a="http://schemas.openxmlformats.org/drawingml/2006/main">
            <a:off x="6543675" y="1609725"/>
            <a:ext cx="5114925" cy="4114800"/>
          </a:xfrm>
          <a:prstGeom xmlns:a="http://schemas.openxmlformats.org/drawingml/2006/main" prst="roundRect">
            <a:avLst>
              <a:gd name="adj" fmla="val 1852"/>
            </a:avLst>
          </a:prstGeom>
          <a:solidFill xmlns:a="http://schemas.openxmlformats.org/drawingml/2006/main">
            <a:srgbClr val="EAF7F5"/>
          </a:solidFill>
          <a:ln xmlns:a="http://schemas.openxmlformats.org/drawingml/2006/main" w="9525">
            <a:solidFill>
              <a:srgbClr val="D6E0E8"/>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0978C24-B8F5-477E-93D2-C80BBBC23A76}"/>
              </a:ext>
            </a:extLst>
          </p:cNvPr>
          <p:cNvSpPr>
            <a:spLocks xmlns:a="http://schemas.openxmlformats.org/drawingml/2006/main" noGrp="1"/>
          </p:cNvSpPr>
          <p:nvPr/>
        </p:nvSpPr>
        <p:spPr>
          <a:xfrm xmlns:a="http://schemas.openxmlformats.org/drawingml/2006/main">
            <a:off x="723900" y="18002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1:p xmlns:ns1="http://schemas.openxmlformats.org/drawingml/2006/main">
            <ns1:pPr>
              <ns1:defRPr sz="1350" b="1">
                <ns1:solidFill>
                  <ns1:srgbClr val="782DA0"/>
                </ns1:solidFill>
                <ns1:latin typeface="Arial"/>
                <ns1:ea typeface="Arial"/>
                <ns1:cs typeface="Arial"/>
              </ns1:defRPr>
            </ns1:pPr>
            <ns1:r>
              <ns1:rPr sz="1300" b="1">
                <ns1:solidFill>
                  <ns1:srgbClr val="782DA0"/>
                </ns1:solidFill>
                <ns1:latin typeface="Arial"/>
                <ns1:ea typeface="Arial"/>
                <ns1:cs typeface="Arial"/>
              </ns1:rPr>
              <ns1:t>COPY THESE 3 LINES</ns1:t>
            </ns1:r>
          </ns1:p>
        </p:txBody>
      </p:sp>
      <p:sp>
        <p:nvSpPr>
          <p:cNvPr id="6" name="">
            <a:extLst xmlns:a="http://schemas.openxmlformats.org/drawingml/2006/main">
              <a:ext uri="{FF2B5EF4-FFF2-40B4-BE49-F238E27FC236}">
                <a16:creationId xmlns:a16="http://schemas.microsoft.com/office/drawing/2014/main" id="{D540F0C9-DA29-4E5F-8719-77B69C40EE8A}"/>
              </a:ext>
            </a:extLst>
          </p:cNvPr>
          <p:cNvSpPr>
            <a:spLocks xmlns:a="http://schemas.openxmlformats.org/drawingml/2006/main" noGrp="1"/>
          </p:cNvSpPr>
          <p:nvPr/>
        </p:nvSpPr>
        <p:spPr>
          <a:xfrm xmlns:a="http://schemas.openxmlformats.org/drawingml/2006/main">
            <a:off x="733425" y="2352675"/>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851A9C5-E3A1-4AA1-AD04-57AC8377094A}"/>
              </a:ext>
            </a:extLst>
          </p:cNvPr>
          <p:cNvSpPr>
            <a:spLocks xmlns:a="http://schemas.openxmlformats.org/drawingml/2006/main" noGrp="1"/>
          </p:cNvSpPr>
          <p:nvPr/>
        </p:nvSpPr>
        <p:spPr>
          <a:xfrm xmlns:a="http://schemas.openxmlformats.org/drawingml/2006/main">
            <a:off x="1257300" y="2324100"/>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1">
                <a:solidFill>
                  <a:srgbClr val="23282D"/>
                </a:solidFill>
                <a:highlight>
                  <a:srgbClr val="FFF2A8"/>
                </a:highlight>
                <a:latin typeface="Arial"/>
                <a:ea typeface="Arial"/>
                <a:cs typeface="Arial"/>
              </a:rPr>
              <a:t>Convert</a:t>
            </a:r>
            <a:r>
              <a:rPr sz="2100" b="0">
                <a:solidFill>
                  <a:srgbClr val="23282D"/>
                </a:solidFill>
                <a:latin typeface="Arial"/>
                <a:ea typeface="Arial"/>
                <a:cs typeface="Arial"/>
              </a:rPr>
              <a:t xml:space="preserve"> means write the same amount in another </a:t>
            </a:r>
            <a:r>
              <a:rPr sz="2100" b="1">
                <a:solidFill>
                  <a:srgbClr val="23282D"/>
                </a:solidFill>
                <a:latin typeface="Arial"/>
                <a:ea typeface="Arial"/>
                <a:cs typeface="Arial"/>
              </a:rPr>
              <a:t xml:space="preserve">unit</a:t>
            </a:r>
            <a:r>
              <a:rPr sz="2100" b="0">
                <a:solidFill>
                  <a:srgbClr val="23282D"/>
                </a:solidFill>
                <a:latin typeface="Arial"/>
                <a:ea typeface="Arial"/>
                <a:cs typeface="Arial"/>
              </a:rPr>
              <a:t xml:space="preserve">.</a:t>
            </a:r>
          </a:p>
        </p:txBody>
      </p:sp>
      <p:sp>
        <p:nvSpPr>
          <p:cNvPr id="8" name="">
            <a:extLst xmlns:a="http://schemas.openxmlformats.org/drawingml/2006/main">
              <a:ext uri="{FF2B5EF4-FFF2-40B4-BE49-F238E27FC236}">
                <a16:creationId xmlns:a16="http://schemas.microsoft.com/office/drawing/2014/main" id="{E208432D-8CEF-4567-9822-F4A223086145}"/>
              </a:ext>
            </a:extLst>
          </p:cNvPr>
          <p:cNvSpPr>
            <a:spLocks xmlns:a="http://schemas.openxmlformats.org/drawingml/2006/main" noGrp="1"/>
          </p:cNvSpPr>
          <p:nvPr/>
        </p:nvSpPr>
        <p:spPr>
          <a:xfrm xmlns:a="http://schemas.openxmlformats.org/drawingml/2006/main">
            <a:off x="733425" y="3333750"/>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5BF5A34-8C0A-4BFB-ABAD-5DFA0E78FCEF}"/>
              </a:ext>
            </a:extLst>
          </p:cNvPr>
          <p:cNvSpPr>
            <a:spLocks xmlns:a="http://schemas.openxmlformats.org/drawingml/2006/main" noGrp="1"/>
          </p:cNvSpPr>
          <p:nvPr/>
        </p:nvSpPr>
        <p:spPr>
          <a:xfrm xmlns:a="http://schemas.openxmlformats.org/drawingml/2006/main">
            <a:off x="1257300" y="3305175"/>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0">
                <a:solidFill>
                  <a:srgbClr val="23282D"/>
                </a:solidFill>
                <a:latin typeface="Arial"/>
                <a:ea typeface="Arial"/>
                <a:cs typeface="Arial"/>
              </a:rPr>
              <a:t xml:space="preserve">Start with a known </a:t>
            </a:r>
            <a:r>
              <a:rPr sz="2100" b="1">
                <a:solidFill>
                  <a:srgbClr val="23282D"/>
                </a:solidFill>
                <a:latin typeface="Arial"/>
                <a:ea typeface="Arial"/>
                <a:cs typeface="Arial"/>
              </a:rPr>
              <a:t xml:space="preserve">conversion fact</a:t>
            </a:r>
            <a:r>
              <a:rPr sz="2100" b="0">
                <a:solidFill>
                  <a:srgbClr val="23282D"/>
                </a:solidFill>
                <a:latin typeface="Arial"/>
                <a:ea typeface="Arial"/>
                <a:cs typeface="Arial"/>
              </a:rPr>
              <a:t xml:space="preserve">.</a:t>
            </a:r>
          </a:p>
        </p:txBody>
      </p:sp>
      <p:sp>
        <p:nvSpPr>
          <p:cNvPr id="10" name="">
            <a:extLst xmlns:a="http://schemas.openxmlformats.org/drawingml/2006/main">
              <a:ext uri="{FF2B5EF4-FFF2-40B4-BE49-F238E27FC236}">
                <a16:creationId xmlns:a16="http://schemas.microsoft.com/office/drawing/2014/main" id="{81623BA4-18D8-4540-A7AC-DABAECEF9257}"/>
              </a:ext>
            </a:extLst>
          </p:cNvPr>
          <p:cNvSpPr>
            <a:spLocks xmlns:a="http://schemas.openxmlformats.org/drawingml/2006/main" noGrp="1"/>
          </p:cNvSpPr>
          <p:nvPr/>
        </p:nvSpPr>
        <p:spPr>
          <a:xfrm xmlns:a="http://schemas.openxmlformats.org/drawingml/2006/main">
            <a:off x="733425" y="4314825"/>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5639B0C-9D5C-4B10-B1D2-0EA58702E86D}"/>
              </a:ext>
            </a:extLst>
          </p:cNvPr>
          <p:cNvSpPr>
            <a:spLocks xmlns:a="http://schemas.openxmlformats.org/drawingml/2006/main" noGrp="1"/>
          </p:cNvSpPr>
          <p:nvPr/>
        </p:nvSpPr>
        <p:spPr>
          <a:xfrm xmlns:a="http://schemas.openxmlformats.org/drawingml/2006/main">
            <a:off x="1257300" y="4286250"/>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0">
                <a:solidFill>
                  <a:srgbClr val="23282D"/>
                </a:solidFill>
                <a:latin typeface="Arial"/>
                <a:ea typeface="Arial"/>
                <a:cs typeface="Arial"/>
              </a:rPr>
              <a:t xml:space="preserve">Use </a:t>
            </a:r>
            <a:r>
              <a:rPr sz="2100" b="1">
                <a:solidFill>
                  <a:srgbClr val="23282D"/>
                </a:solidFill>
                <a:highlight>
                  <a:srgbClr val="FFF2A8"/>
                </a:highlight>
                <a:latin typeface="Arial"/>
                <a:ea typeface="Arial"/>
                <a:cs typeface="Arial"/>
              </a:rPr>
              <a:t>equivalent ratios</a:t>
            </a:r>
            <a:r>
              <a:rPr sz="2100" b="0">
                <a:solidFill>
                  <a:srgbClr val="23282D"/>
                </a:solidFill>
                <a:latin typeface="Arial"/>
                <a:ea typeface="Arial"/>
                <a:cs typeface="Arial"/>
              </a:rPr>
              <a:t xml:space="preserve"> to find the new number.</a:t>
            </a:r>
          </a:p>
        </p:txBody>
      </p:sp>
      <p:sp>
        <p:nvSpPr>
          <p:cNvPr id="12" name="">
            <a:extLst xmlns:a="http://schemas.openxmlformats.org/drawingml/2006/main">
              <a:ext uri="{FF2B5EF4-FFF2-40B4-BE49-F238E27FC236}">
                <a16:creationId xmlns:a16="http://schemas.microsoft.com/office/drawing/2014/main" id="{A4D0E9D1-DE03-432D-B7D6-21C5D0EA8365}"/>
              </a:ext>
            </a:extLst>
          </p:cNvPr>
          <p:cNvSpPr>
            <a:spLocks xmlns:a="http://schemas.openxmlformats.org/drawingml/2006/main" noGrp="1"/>
          </p:cNvSpPr>
          <p:nvPr/>
        </p:nvSpPr>
        <p:spPr>
          <a:xfrm xmlns:a="http://schemas.openxmlformats.org/drawingml/2006/main">
            <a:off x="6743700" y="18097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0C0"/>
                </a:solidFill>
                <a:latin typeface="Arial"/>
                <a:ea typeface="Arial"/>
                <a:cs typeface="Arial"/>
              </a:defRPr>
            </a:pPr>
            <a:r>
              <a:rPr sz="1350" b="1">
                <a:solidFill>
                  <a:srgbClr val="0070C0"/>
                </a:solidFill>
                <a:latin typeface="Arial"/>
                <a:ea typeface="Arial"/>
                <a:cs typeface="Arial"/>
              </a:rPr>
              <a:t>LOOK BACK AT THE EXAMPLE</a:t>
            </a:r>
          </a:p>
        </p:txBody>
      </p:sp>
      <p:graphicFrame>
        <p:nvGraphicFramePr>
          <p:cNvPr id="27" name=""/>
          <p:cNvGraphicFramePr/>
          <p:nvPr/>
        </p:nvGraphicFramePr>
        <p:xfrm>
          <a:off xmlns:a="http://schemas.openxmlformats.org/drawingml/2006/main" x="6743700" y="2333625"/>
          <a:ext xmlns:a="http://schemas.openxmlformats.org/drawingml/2006/main" cx="4705350" cy="1514475"/>
        </p:xfrm>
        <a:graphic xmlns:a="http://schemas.openxmlformats.org/drawingml/2006/main">
          <a:graphicData uri="http://schemas.openxmlformats.org/drawingml/2006/table">
            <a:tbl>
              <a:tblPr/>
              <a:tblGrid>
                <a:gridCol w="2352675"/>
                <a:gridCol w="2352675"/>
              </a:tblGrid>
              <a:tr h="504825">
                <a:tc>
                  <a:txBody>
                    <a:bodyPr/>
                    <a:lstStyle/>
                    <a:p>
                      <a:r>
                        <a:rPr sz="1425" b="1">
                          <a:solidFill>
                            <a:srgbClr val="FFFFFF"/>
                          </a:solidFill>
                          <a:latin typeface="Arial"/>
                          <a:ea typeface="Arial"/>
                          <a:cs typeface="Arial"/>
                        </a:rPr>
                        <a:t>Feet</a:t>
                      </a:r>
                    </a:p>
                  </a:txBody>
                  <a:tcPr marL="91440" marR="91440" marT="45720" marB="45720">
                    <a:solidFill>
                      <a:srgbClr val="0070C0"/>
                    </a:solidFill>
                  </a:tcPr>
                </a:tc>
                <a:tc>
                  <a:txBody>
                    <a:bodyPr/>
                    <a:lstStyle/>
                    <a:p>
                      <a:r>
                        <a:rPr sz="1425" b="1">
                          <a:solidFill>
                            <a:srgbClr val="FFFFFF"/>
                          </a:solidFill>
                          <a:latin typeface="Arial"/>
                          <a:ea typeface="Arial"/>
                          <a:cs typeface="Arial"/>
                        </a:rPr>
                        <a:t>Inches</a:t>
                      </a:r>
                    </a:p>
                  </a:txBody>
                  <a:tcPr marL="91440" marR="91440" marT="45720" marB="45720">
                    <a:solidFill>
                      <a:srgbClr val="0070C0"/>
                    </a:solidFill>
                  </a:tcPr>
                </a:tc>
              </a:tr>
              <a:tr h="504825">
                <a:tc>
                  <a:txBody>
                    <a:bodyPr/>
                    <a:lstStyle/>
                    <a:p>
                      <a:r>
                        <a:rPr sz="1800" b="0">
                          <a:solidFill>
                            <a:srgbClr val="23282D"/>
                          </a:solidFill>
                          <a:latin typeface="Arial"/>
                          <a:ea typeface="Arial"/>
                          <a:cs typeface="Arial"/>
                        </a:rPr>
                        <a:t>1</a:t>
                      </a:r>
                    </a:p>
                  </a:txBody>
                  <a:tcPr marL="91440" marR="91440" marT="45720" marB="45720">
                    <a:solidFill>
                      <a:srgbClr val="FFFFFF"/>
                    </a:solidFill>
                  </a:tcPr>
                </a:tc>
                <a:tc>
                  <a:txBody>
                    <a:bodyPr/>
                    <a:lstStyle/>
                    <a:p>
                      <a:r>
                        <a:rPr sz="1800" b="0">
                          <a:solidFill>
                            <a:srgbClr val="23282D"/>
                          </a:solidFill>
                          <a:latin typeface="Arial"/>
                          <a:ea typeface="Arial"/>
                          <a:cs typeface="Arial"/>
                        </a:rPr>
                        <a:t>12</a:t>
                      </a:r>
                    </a:p>
                  </a:txBody>
                  <a:tcPr marL="91440" marR="91440" marT="45720" marB="45720">
                    <a:solidFill>
                      <a:srgbClr val="FFFFFF"/>
                    </a:solidFill>
                  </a:tcPr>
                </a:tc>
              </a:tr>
              <a:tr h="504825">
                <a:tc>
                  <a:txBody>
                    <a:bodyPr/>
                    <a:lstStyle/>
                    <a:p>
                      <a:r>
                        <a:rPr sz="1800" b="0">
                          <a:solidFill>
                            <a:srgbClr val="23282D"/>
                          </a:solidFill>
                          <a:latin typeface="Arial"/>
                          <a:ea typeface="Arial"/>
                          <a:cs typeface="Arial"/>
                        </a:rPr>
                        <a:t>4</a:t>
                      </a:r>
                    </a:p>
                  </a:txBody>
                  <a:tcPr marL="91440" marR="91440" marT="45720" marB="45720">
                    <a:solidFill>
                      <a:srgbClr val="FFFFFF"/>
                    </a:solidFill>
                  </a:tcPr>
                </a:tc>
                <a:tc>
                  <a:txBody>
                    <a:bodyPr/>
                    <a:lstStyle/>
                    <a:p>
                      <a:r>
                        <a:rPr sz="1800" b="0">
                          <a:solidFill>
                            <a:srgbClr val="23282D"/>
                          </a:solidFill>
                          <a:latin typeface="Arial"/>
                          <a:ea typeface="Arial"/>
                          <a:cs typeface="Arial"/>
                        </a:rPr>
                        <a:t>48</a:t>
                      </a:r>
                    </a:p>
                  </a:txBody>
                  <a:tcPr marL="91440" marR="91440" marT="45720" marB="45720">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65C94C8C-1356-4522-A1AB-B5488F085F12}"/>
              </a:ext>
            </a:extLst>
          </p:cNvPr>
          <p:cNvSpPr>
            <a:spLocks xmlns:a="http://schemas.openxmlformats.org/drawingml/2006/main" noGrp="1"/>
          </p:cNvSpPr>
          <p:nvPr/>
        </p:nvSpPr>
        <p:spPr>
          <a:xfrm xmlns:a="http://schemas.openxmlformats.org/drawingml/2006/main">
            <a:off x="6743700" y="4076700"/>
            <a:ext cx="4667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0C0"/>
                </a:solidFill>
                <a:latin typeface="Arial"/>
                <a:ea typeface="Arial"/>
                <a:cs typeface="Arial"/>
              </a:defRPr>
            </a:pPr>
            <a:r>
              <a:rPr sz="1875" b="1">
                <a:solidFill>
                  <a:srgbClr val="0070C0"/>
                </a:solidFill>
                <a:latin typeface="Arial"/>
                <a:ea typeface="Arial"/>
                <a:cs typeface="Arial"/>
              </a:rPr>
              <a:t>4 feet = 48 inches, which is above 44 inches.</a:t>
            </a:r>
          </a:p>
        </p:txBody>
      </p:sp>
      <p:sp xmlns:a="http://schemas.openxmlformats.org/drawingml/2006/main">
        <p:nvSpPr>
          <p:cNvPr id="28"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REVIEW NOTES  ·  RECALL • CONNECT • APPLY</a:t>
            </a:r>
            <a:r>
              <a:rPr lang="en-US" sz="1150" b="1" dirty="0">
                <a:solidFill>
                  <a:srgbClr val="2D3A40"/>
                </a:solidFill>
                <a:latin typeface="Arial"/>
              </a:rPr>
              <a:t xml:space="preserve"/>
            </a:r>
          </a:p>
        </p:txBody>
      </p:sp>
      <p:sp xmlns:a="http://schemas.openxmlformats.org/drawingml/2006/main">
        <p:nvSpPr>
          <p:cNvPr id="30" name="Rounded Rectangle 17"/>
          <p:cNvSpPr/>
          <p:nvPr/>
        </p:nvSpPr>
        <p:spPr>
          <a:xfrm>
            <a:off x="502920" y="5486400"/>
            <a:ext cx="11064240" cy="77724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31" name="Rectangle 18"/>
          <p:cNvSpPr/>
          <p:nvPr/>
        </p:nvSpPr>
        <p:spPr>
          <a:xfrm>
            <a:off x="502920" y="5486400"/>
            <a:ext cx="64008" cy="77724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32" name="TextBox 19"/>
          <p:cNvSpPr txBox="1"/>
          <p:nvPr/>
        </p:nvSpPr>
        <p:spPr>
          <a:xfrm>
            <a:off x="667512" y="5596128"/>
            <a:ext cx="10771632" cy="210312"/>
          </a:xfrm>
          <a:prstGeom prst="rect">
            <a:avLst/>
          </a:prstGeom>
          <a:noFill/>
        </p:spPr>
        <p:txBody>
          <a:bodyPr wrap="square" lIns="0" tIns="0" rIns="0" bIns="0" anchor="t">
            <a:spAutoFit/>
          </a:bodyPr>
          <a:lstStyle/>
          <a:p>
            <a:pPr algn="l"/>
            <a:r>
              <a:rPr sz="1100" b="1">
                <a:solidFill>
                  <a:srgbClr val="782DA0"/>
                </a:solidFill>
                <a:latin typeface="Arial"/>
              </a:rPr>
              <a:t>EXPLAIN THE CONNECTION</a:t>
            </a:r>
          </a:p>
        </p:txBody>
      </p:sp>
      <p:sp xmlns:a="http://schemas.openxmlformats.org/drawingml/2006/main">
        <p:nvSpPr>
          <p:cNvPr id="33" name="TextBox 20"/>
          <p:cNvSpPr txBox="1"/>
          <p:nvPr/>
        </p:nvSpPr>
        <p:spPr>
          <a:xfrm>
            <a:off x="667512" y="5888736"/>
            <a:ext cx="10771632" cy="320040"/>
          </a:xfrm>
          <a:prstGeom prst="rect">
            <a:avLst/>
          </a:prstGeom>
          <a:noFill/>
        </p:spPr>
        <p:txBody>
          <a:bodyPr wrap="square" lIns="0" tIns="0" rIns="0" bIns="0" anchor="t">
            <a:spAutoFit/>
          </a:bodyPr>
          <a:lstStyle/>
          <a:p>
            <a:pPr algn="l"/>
            <a:r>
              <a:rPr sz="1600" b="0">
                <a:solidFill>
                  <a:srgbClr val="23282D"/>
                </a:solidFill>
                <a:latin typeface="Arial"/>
              </a:rPr>
              <a:t xml:space="preserve">“The </a:t>
            </a:r>
            <a:r>
              <a:rPr sz="1600" b="1">
                <a:solidFill>
                  <a:srgbClr val="23282D"/>
                </a:solidFill>
                <a:latin typeface="Arial"/>
              </a:rPr>
              <a:t xml:space="preserve">units</a:t>
            </a:r>
            <a:r>
              <a:rPr sz="1600" b="0">
                <a:solidFill>
                  <a:srgbClr val="23282D"/>
                </a:solidFill>
                <a:latin typeface="Arial"/>
              </a:rPr>
              <a:t xml:space="preserve"> changed from ___ to ___, but the amount stayed the same.”</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check: explain one idea without looking.</a:t>
            </a:r>
          </a:p>
        </p:txBody>
      </p:sp>
      <p:sp>
        <p:nvSpPr>
          <p:cNvPr id="9002"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23 / 40</ns3:t>
            </ns3:r>
          </ns3:p>
        </p:txBody>
      </p:sp>
    </p:spTree>
    <p:extLst>
      <p:ext uri="{BB962C8B-B14F-4D97-AF65-F5344CB8AC3E}">
        <p14:creationId xmlns:p14="http://schemas.microsoft.com/office/powerpoint/2010/main" val="1718670278"/>
      </p:ext>
    </p:extLst>
  </p:cSld>
</p:sld>
</file>

<file path=ppt/slides/slide24.xml><?xml version="1.0" encoding="utf-8"?>
<p:sld xmlns:p="http://schemas.openxmlformats.org/presentationml/2006/main">
  <p:cSld>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Learning Target — Session 2</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3-6 · Converting Within One System   |   Maryland Standard 6.AT.3</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LEARNING TARGET</a:t>
            </a:r>
            <a:r>
              <a:rPr lang="en-US" sz="1150" b="1" dirty="0">
                <a:solidFill>
                  <a:srgbClr val="2D3A40"/>
                </a:solidFill>
                <a:latin typeface="Arial"/>
              </a:rPr>
              <a:t xml:space="preserve">  ·  CONVERT • COMPARE • EXPLAIN</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Today I will convert to matching units and explain what the result means.</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I can convert liters to milliliters and solve a capacity problem.</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I can explain a conversion and label liters and milliliters correctly.</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1600" b="0">
                <a:solidFill>
                  <a:srgbClr val="23282D"/>
                </a:solidFill>
                <a:latin typeface="Arial"/>
              </a:rPr>
              <a:t>✓ Write 1 liter = 1,000 milliliters.</a:t>
            </a:r>
          </a:p>
          <a:p>
            <a:pPr algn="l"/>
            <a:r>
              <a:rPr sz="1600" b="0">
                <a:solidFill>
                  <a:srgbClr val="23282D"/>
                </a:solidFill>
                <a:latin typeface="Arial"/>
              </a:rPr>
              <a:t>✓ Convert before comparing capacities.</a:t>
            </a:r>
          </a:p>
          <a:p>
            <a:pPr algn="l"/>
            <a:r>
              <a:rPr sz="1600" b="0">
                <a:solidFill>
                  <a:srgbClr val="23282D"/>
                </a:solidFill>
                <a:latin typeface="Arial"/>
              </a:rPr>
              <a:t>✓ Explain the number of bottle fills.</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1600" b="1">
                <a:latin typeface="Arial"/>
              </a:rPr>
              <a:t>Matching units helps us compare heights and measure ingredients.</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MATH COMMUNITY:  Different strategies are welcome  •  Ask before telling  •  Revising your thinking is part of learning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Tell a partner the new goal and how you will show it.</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40</a:t>
            </a:r>
          </a:p>
        </p:txBody>
      </p:sp>
    </p:spTree>
  </p:cSld>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33" name="Google Shape;833;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34" name="Google Shape;834;p82"/>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35" name="Google Shape;835;p82"/>
          <p:cNvSpPr txBox="1"/>
          <p:nvPr/>
        </p:nvSpPr>
        <p:spPr>
          <a:xfrm>
            <a:off x="484560" y="936100"/>
            <a:ext cx="4201740" cy="12092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descr="C:\Users\e402540\Downloads\kanchana\ePress PPT creation\sn_47fe6-1080mp4\OPS\img\.assets\240aeeb72b3147ccbefb4221f39bb324\narm24_c10306_eps_004a.png" id="836" name="Google Shape;836;p82"/>
          <p:cNvPicPr preferRelativeResize="0"/>
          <p:nvPr/>
        </p:nvPicPr>
        <p:blipFill rotWithShape="1">
          <a:blip r:embed="rId2">
            <a:alphaModFix/>
          </a:blip>
          <a:srcRect b="0" l="0" r="0" t="0"/>
          <a:stretch/>
        </p:blipFill>
        <p:spPr>
          <a:xfrm>
            <a:off x="4378184" y="1213616"/>
            <a:ext cx="6209471" cy="3013577"/>
          </a:xfrm>
          <a:prstGeom prst="rect">
            <a:avLst/>
          </a:prstGeom>
          <a:noFill/>
          <a:ln>
            <a:noFill/>
          </a:ln>
        </p:spPr>
      </p:pic>
      <p:pic>
        <p:nvPicPr>
          <p:cNvPr id="837" name="Google Shape;837;p82"/>
          <p:cNvPicPr preferRelativeResize="0"/>
          <p:nvPr/>
        </p:nvPicPr>
        <p:blipFill rotWithShape="1">
          <a:blip r:embed="rId3">
            <a:alphaModFix/>
          </a:blip>
          <a:srcRect b="0" l="0" r="0" t="0"/>
          <a:stretch/>
        </p:blipFill>
        <p:spPr>
          <a:xfrm>
            <a:off x="484560" y="4635126"/>
            <a:ext cx="5054600" cy="838200"/>
          </a:xfrm>
          <a:prstGeom prst="rect">
            <a:avLst/>
          </a:prstGeom>
          <a:noFill/>
          <a:ln>
            <a:noFill/>
          </a:ln>
        </p:spPr>
      </p:pic>
      <p:sp>
        <p:nvSpPr>
          <p:cNvPr id="838" name="Google Shape;838;p82"/>
          <p:cNvSpPr txBox="1"/>
          <p:nvPr/>
        </p:nvSpPr>
        <p:spPr>
          <a:xfrm>
            <a:off x="3344577" y="4792444"/>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39" name="Google Shape;839;p82"/>
          <p:cNvSpPr/>
          <p:nvPr/>
        </p:nvSpPr>
        <p:spPr>
          <a:xfrm>
            <a:off x="697756" y="5450449"/>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are you using your abilities and strengths in other areas to be successful in math?</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44988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cxnSp>
        <p:nvCxnSpPr>
          <p:cNvPr id="526" name="Google Shape;526;p71"/>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527" name="Google Shape;527;p71"/>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lang="en-US" sz="2800">
                <a:solidFill>
                  <a:srgbClr val="782DA0"/>
                </a:solidFill>
                <a:latin typeface="Arial"/>
                <a:ea typeface="Arial"/>
                <a:cs typeface="Arial"/>
                <a:sym typeface="Arial"/>
              </a:rPr>
              <a:t>Hydrating</a:t>
            </a:r>
            <a:endParaRPr/>
          </a:p>
        </p:txBody>
      </p:sp>
      <p:sp>
        <p:nvSpPr>
          <p:cNvPr id="528" name="Google Shape;528;p71"/>
          <p:cNvSpPr txBox="1"/>
          <p:nvPr/>
        </p:nvSpPr>
        <p:spPr>
          <a:xfrm>
            <a:off x="484565" y="936100"/>
            <a:ext cx="8246197" cy="14202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 xml:space="preserve">Diamond wants to drink 4 </a:t>
            </a:r>
            <a:r>
              <a:rPr lang="en-US" sz="2800" b="1">
                <a:solidFill>
                  <a:srgbClr val="23282D"/>
                </a:solidFill>
                <a:highlight>
                  <a:srgbClr val="FFF2A8"/>
                </a:highlight>
                <a:latin typeface="Arial"/>
                <a:ea typeface="Arial"/>
                <a:cs typeface="Arial"/>
                <a:sym typeface="Arial"/>
              </a:rPr>
              <a:t>liters</a:t>
            </a:r>
            <a:r>
              <a:rPr lang="en-US" sz="2800">
                <a:solidFill>
                  <a:srgbClr val="23282D"/>
                </a:solidFill>
                <a:latin typeface="Arial"/>
                <a:ea typeface="Arial"/>
                <a:cs typeface="Arial"/>
                <a:sym typeface="Arial"/>
              </a:rPr>
              <a:t xml:space="preserve"> of water each day. She has a water bottle that holds 500 </a:t>
            </a:r>
            <a:r>
              <a:rPr lang="en-US" sz="2800" b="1">
                <a:solidFill>
                  <a:srgbClr val="23282D"/>
                </a:solidFill>
                <a:highlight>
                  <a:srgbClr val="FFF2A8"/>
                </a:highlight>
                <a:latin typeface="Arial"/>
                <a:ea typeface="Arial"/>
                <a:cs typeface="Arial"/>
                <a:sym typeface="Arial"/>
              </a:rPr>
              <a:t>milliliters</a:t>
            </a:r>
            <a:r>
              <a:rPr lang="en-US" sz="2800">
                <a:solidFill>
                  <a:srgbClr val="23282D"/>
                </a:solidFill>
                <a:latin typeface="Arial"/>
                <a:ea typeface="Arial"/>
                <a:cs typeface="Arial"/>
                <a:sym typeface="Arial"/>
              </a:rPr>
              <a:t xml:space="preserve"> of water.</a:t>
            </a:r>
            <a:endParaRPr/>
          </a:p>
        </p:txBody>
      </p:sp>
      <p:pic>
        <p:nvPicPr>
          <p:cNvPr descr="C:\Users\e402540\Downloads\kanchana\ePress PPT creation\sn_47fe6-1080mp4\OPS\img\.assets\d868cd0d3aae463382625a7127d4503f\narm24_c10306_se_003a-dig.png" id="529" name="Google Shape;529;p71"/>
          <p:cNvPicPr preferRelativeResize="0"/>
          <p:nvPr/>
        </p:nvPicPr>
        <p:blipFill rotWithShape="1">
          <a:blip r:embed="rId3">
            <a:alphaModFix/>
          </a:blip>
          <a:srcRect b="0" l="0" r="0" t="0"/>
          <a:stretch/>
        </p:blipFill>
        <p:spPr>
          <a:xfrm>
            <a:off x="9609339" y="1386674"/>
            <a:ext cx="1273016" cy="3433286"/>
          </a:xfrm>
          <a:prstGeom prst="rect">
            <a:avLst/>
          </a:prstGeom>
          <a:noFill/>
          <a:ln>
            <a:noFill/>
          </a:ln>
        </p:spPr>
      </p:pic>
      <p:sp>
        <p:nvSpPr>
          <p:cNvPr id="530" name="Google Shape;530;p71"/>
          <p:cNvSpPr txBox="1"/>
          <p:nvPr/>
        </p:nvSpPr>
        <p:spPr>
          <a:xfrm>
            <a:off x="484564" y="2456785"/>
            <a:ext cx="8246197" cy="10392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lang="en-US" sz="2800">
                <a:solidFill>
                  <a:srgbClr val="23282D"/>
                </a:solidFill>
                <a:latin typeface="Arial"/>
                <a:ea typeface="Arial"/>
                <a:cs typeface="Arial"/>
                <a:sym typeface="Arial"/>
              </a:rPr>
              <a:t>How many times will she need to fill the water bottle each day to reach her goal?</a:t>
            </a:r>
            <a:endParaRPr/>
          </a:p>
        </p:txBody>
      </p:sp>
      <p:sp>
        <p:nvSpPr>
          <p:cNvPr id="53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THINK → PARTNER TALK → EXPLAIN</a:t>
            </a:r>
          </a:p>
        </p:txBody>
      </p:sp>
      <p:sp>
        <p:nvSpPr>
          <p:cNvPr id="533" name="Rounded Rectangle 17"/>
          <p:cNvSpPr/>
          <p:nvPr/>
        </p:nvSpPr>
        <p:spPr>
          <a:xfrm>
            <a:off x="502920" y="4480560"/>
            <a:ext cx="8412480" cy="96012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4" name="Rectangle 18"/>
          <p:cNvSpPr/>
          <p:nvPr/>
        </p:nvSpPr>
        <p:spPr>
          <a:xfrm>
            <a:off x="502920" y="4480560"/>
            <a:ext cx="64008" cy="96012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5" name="TextBox 19"/>
          <p:cNvSpPr txBox="1"/>
          <p:nvPr/>
        </p:nvSpPr>
        <p:spPr>
          <a:xfrm>
            <a:off x="667512" y="4590288"/>
            <a:ext cx="8119872" cy="210312"/>
          </a:xfrm>
          <a:prstGeom prst="rect">
            <a:avLst/>
          </a:prstGeom>
          <a:noFill/>
        </p:spPr>
        <p:txBody>
          <a:bodyPr wrap="square" lIns="0" tIns="0" rIns="0" bIns="0" anchor="t">
            <a:spAutoFit/>
          </a:bodyPr>
          <a:lstStyle/>
          <a:p>
            <a:pPr algn="l"/>
            <a:r>
              <a:rPr sz="1100" b="1">
                <a:solidFill>
                  <a:srgbClr val="782DA0"/>
                </a:solidFill>
                <a:latin typeface="Arial"/>
              </a:rPr>
              <a:t>PLAN BEFORE YOU CALCULATE</a:t>
            </a:r>
          </a:p>
        </p:txBody>
      </p:sp>
      <p:sp>
        <p:nvSpPr>
          <p:cNvPr id="536" name="TextBox 20"/>
          <p:cNvSpPr txBox="1"/>
          <p:nvPr/>
        </p:nvSpPr>
        <p:spPr>
          <a:xfrm>
            <a:off x="667512" y="4882896"/>
            <a:ext cx="8119872" cy="502920"/>
          </a:xfrm>
          <a:prstGeom prst="rect">
            <a:avLst/>
          </a:prstGeom>
          <a:noFill/>
        </p:spPr>
        <p:txBody>
          <a:bodyPr wrap="square" lIns="0" tIns="0" rIns="0" bIns="0" anchor="t">
            <a:spAutoFit/>
          </a:bodyPr>
          <a:lstStyle/>
          <a:p>
            <a:pPr algn="l"/>
            <a:r>
              <a:rPr sz="1600" b="0">
                <a:solidFill>
                  <a:srgbClr val="23282D"/>
                </a:solidFill>
                <a:latin typeface="Arial"/>
              </a:rPr>
              <a:t>“First I will convert ___ to ___. Then I will find how many groups of ___ fit.”</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Compare strategies; defend one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5144C6-EA7F-49BF-8118-8BEBF426EF83}"/>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75" b="1">
                <ns0:solidFill>
                  <ns0:srgbClr val="782DA0"/>
                </ns0:solidFill>
                <ns0:latin typeface="Arial"/>
                <ns0:ea typeface="Arial"/>
                <ns0:cs typeface="Arial"/>
              </ns0:defRPr>
            </ns0:pPr>
            <ns0:r>
              <ns0:rPr sz="2800" b="1">
                <ns0:solidFill>
                  <ns0:srgbClr val="782DA0"/>
                </ns0:solidFill>
                <ns0:highlight>
                  <ns0:srgbClr val="FFF2A8"/>
                </ns0:highlight>
                <ns0:latin typeface="Arial"/>
                <ns0:ea typeface="Arial"/>
                <ns0:cs typeface="Arial"/>
              </ns0:rPr>
              <ns0:t>Liters → Milliliters</ns0:t>
            </ns0:r>
          </ns0:p>
        </p:txBody>
      </p:sp>
      <p:sp>
        <p:nvSpPr>
          <p:cNvPr id="2" name="">
            <a:extLst xmlns:a="http://schemas.openxmlformats.org/drawingml/2006/main">
              <a:ext uri="{FF2B5EF4-FFF2-40B4-BE49-F238E27FC236}">
                <a16:creationId xmlns:a16="http://schemas.microsoft.com/office/drawing/2014/main" id="{93466782-1182-40A0-A588-2BFC0BEA3C9A}"/>
              </a:ext>
            </a:extLst>
          </p:cNvPr>
          <p:cNvSpPr>
            <a:spLocks xmlns:a="http://schemas.openxmlformats.org/drawingml/2006/main" noGrp="1"/>
          </p:cNvSpPr>
          <p:nvPr/>
        </p:nvSpPr>
        <p:spPr>
          <a:xfrm xmlns:a="http://schemas.openxmlformats.org/drawingml/2006/main">
            <a:off x="552450" y="16192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1">
                <a:solidFill>
                  <a:srgbClr val="23282D"/>
                </a:solidFill>
                <a:highlight>
                  <a:srgbClr val="FFF2A8"/>
                </a:highlight>
                <a:latin typeface="Arial"/>
                <a:ea typeface="Arial"/>
                <a:cs typeface="Arial"/>
              </a:rPr>
              <a:t>Liters</a:t>
            </a:r>
            <a:r>
              <a:rPr sz="2250" b="0">
                <a:solidFill>
                  <a:srgbClr val="23282D"/>
                </a:solidFill>
                <a:latin typeface="Arial"/>
                <a:ea typeface="Arial"/>
                <a:cs typeface="Arial"/>
              </a:rPr>
              <a:t xml:space="preserve"> and </a:t>
            </a:r>
            <a:r>
              <a:rPr sz="2250" b="1">
                <a:solidFill>
                  <a:srgbClr val="23282D"/>
                </a:solidFill>
                <a:highlight>
                  <a:srgbClr val="FFF2A8"/>
                </a:highlight>
                <a:latin typeface="Arial"/>
                <a:ea typeface="Arial"/>
                <a:cs typeface="Arial"/>
              </a:rPr>
              <a:t>milliliters</a:t>
            </a:r>
            <a:r>
              <a:rPr sz="2250" b="0">
                <a:solidFill>
                  <a:srgbClr val="23282D"/>
                </a:solidFill>
                <a:latin typeface="Arial"/>
                <a:ea typeface="Arial"/>
                <a:cs typeface="Arial"/>
              </a:rPr>
              <a:t xml:space="preserve"> are </a:t>
            </a:r>
            <a:r>
              <a:rPr sz="2250" b="1">
                <a:solidFill>
                  <a:srgbClr val="23282D"/>
                </a:solidFill>
                <a:highlight>
                  <a:srgbClr val="FFF2A8"/>
                </a:highlight>
                <a:latin typeface="Arial"/>
                <a:ea typeface="Arial"/>
                <a:cs typeface="Arial"/>
              </a:rPr>
              <a:t>metric units</a:t>
            </a:r>
            <a:r>
              <a:rPr sz="2250" b="0">
                <a:solidFill>
                  <a:srgbClr val="23282D"/>
                </a:solidFill>
                <a:latin typeface="Arial"/>
                <a:ea typeface="Arial"/>
                <a:cs typeface="Arial"/>
              </a:rPr>
              <a:t xml:space="preserve"> of volume.</a:t>
            </a:r>
          </a:p>
        </p:txBody>
      </p:sp>
      <p:sp>
        <p:nvSpPr>
          <p:cNvPr id="3" name="">
            <a:extLst xmlns:a="http://schemas.openxmlformats.org/drawingml/2006/main">
              <a:ext uri="{FF2B5EF4-FFF2-40B4-BE49-F238E27FC236}">
                <a16:creationId xmlns:a16="http://schemas.microsoft.com/office/drawing/2014/main" id="{55F376EA-38F8-4DD8-A0BA-599C5D95718E}"/>
              </a:ext>
            </a:extLst>
          </p:cNvPr>
          <p:cNvSpPr>
            <a:spLocks xmlns:a="http://schemas.openxmlformats.org/drawingml/2006/main" noGrp="1"/>
          </p:cNvSpPr>
          <p:nvPr/>
        </p:nvSpPr>
        <p:spPr>
          <a:xfrm xmlns:a="http://schemas.openxmlformats.org/drawingml/2006/main">
            <a:off x="552450" y="28194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The </a:t>
            </a:r>
            <a:r>
              <a:rPr sz="2250" b="1">
                <a:solidFill>
                  <a:srgbClr val="23282D"/>
                </a:solidFill>
                <a:highlight>
                  <a:srgbClr val="FFF2A8"/>
                </a:highlight>
                <a:latin typeface="Arial"/>
                <a:ea typeface="Arial"/>
                <a:cs typeface="Arial"/>
              </a:rPr>
              <a:t>conversion factor</a:t>
            </a:r>
            <a:r>
              <a:rPr sz="2250" b="0">
                <a:solidFill>
                  <a:srgbClr val="23282D"/>
                </a:solidFill>
                <a:latin typeface="Arial"/>
                <a:ea typeface="Arial"/>
                <a:cs typeface="Arial"/>
              </a:rPr>
              <a:t xml:space="preserve"> is 1 liter = 1,000 </a:t>
            </a:r>
            <a:r>
              <a:rPr sz="2250" b="1">
                <a:solidFill>
                  <a:srgbClr val="23282D"/>
                </a:solidFill>
                <a:highlight>
                  <a:srgbClr val="FFF2A8"/>
                </a:highlight>
                <a:latin typeface="Arial"/>
                <a:ea typeface="Arial"/>
                <a:cs typeface="Arial"/>
              </a:rPr>
              <a:t>milliliters</a:t>
            </a:r>
            <a:r>
              <a:rPr sz="2250" b="0">
                <a:solidFill>
                  <a:srgbClr val="23282D"/>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D98E89C5-6ACB-4F45-83E3-A15E7E896ECB}"/>
              </a:ext>
            </a:extLst>
          </p:cNvPr>
          <p:cNvSpPr>
            <a:spLocks xmlns:a="http://schemas.openxmlformats.org/drawingml/2006/main" noGrp="1"/>
          </p:cNvSpPr>
          <p:nvPr/>
        </p:nvSpPr>
        <p:spPr>
          <a:xfrm xmlns:a="http://schemas.openxmlformats.org/drawingml/2006/main">
            <a:off x="552450" y="40195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For 4 </a:t>
            </a:r>
            <a:r>
              <a:rPr sz="2250" b="1">
                <a:solidFill>
                  <a:srgbClr val="23282D"/>
                </a:solidFill>
                <a:highlight>
                  <a:srgbClr val="FFF2A8"/>
                </a:highlight>
                <a:latin typeface="Arial"/>
                <a:ea typeface="Arial"/>
                <a:cs typeface="Arial"/>
              </a:rPr>
              <a:t>liters</a:t>
            </a:r>
            <a:r>
              <a:rPr sz="2250" b="0">
                <a:solidFill>
                  <a:srgbClr val="23282D"/>
                </a:solidFill>
                <a:latin typeface="Arial"/>
                <a:ea typeface="Arial"/>
                <a:cs typeface="Arial"/>
              </a:rPr>
              <a:t>, multiply both quantities by 4.</a:t>
            </a:r>
          </a:p>
        </p:txBody>
      </p:sp>
      <p:graphicFrame>
        <p:nvGraphicFramePr>
          <p:cNvPr id="11" name=""/>
          <p:cNvGraphicFramePr/>
          <p:nvPr/>
        </p:nvGraphicFramePr>
        <p:xfrm>
          <a:off xmlns:a="http://schemas.openxmlformats.org/drawingml/2006/main" x="6210300" y="1809750"/>
          <a:ext xmlns:a="http://schemas.openxmlformats.org/drawingml/2006/main" cx="5410200" cy="2514600"/>
        </p:xfrm>
        <a:graphic xmlns:a="http://schemas.openxmlformats.org/drawingml/2006/main">
          <a:graphicData uri="http://schemas.openxmlformats.org/drawingml/2006/table">
            <a:tbl>
              <a:tblPr/>
              <a:tblGrid>
                <a:gridCol w="2705100"/>
                <a:gridCol w="2705100"/>
              </a:tblGrid>
              <a:tr h="628650">
                <a:tc>
                  <a:txBody>
                    <a:bodyPr/>
                    <a:lstStyle/>
                    <a:p>
                      <a:r>
                        <a:rPr sz="1875" b="1">
                          <a:solidFill>
                            <a:srgbClr val="FFFFFF"/>
                          </a:solidFill>
                          <a:latin typeface="Arial"/>
                          <a:ea typeface="Arial"/>
                          <a:cs typeface="Arial"/>
                        </a:rPr>
                        <a:t>Liters</a:t>
                      </a:r>
                    </a:p>
                  </a:txBody>
                  <a:tcPr marL="91440" marR="91440" marT="45720" marB="45720">
                    <a:solidFill>
                      <a:srgbClr val="0070C0"/>
                    </a:solidFill>
                  </a:tcPr>
                </a:tc>
                <a:tc>
                  <a:txBody>
                    <a:bodyPr/>
                    <a:lstStyle/>
                    <a:p>
                      <a:r>
                        <a:rPr sz="1875" b="1">
                          <a:solidFill>
                            <a:srgbClr val="FFFFFF"/>
                          </a:solidFill>
                          <a:latin typeface="Arial"/>
                          <a:ea typeface="Arial"/>
                          <a:cs typeface="Arial"/>
                        </a:rPr>
                        <a:t>Milliliters</a:t>
                      </a:r>
                    </a:p>
                  </a:txBody>
                  <a:tcPr marL="91440" marR="91440" marT="45720" marB="45720">
                    <a:solidFill>
                      <a:srgbClr val="0070C0"/>
                    </a:solidFill>
                  </a:tcPr>
                </a:tc>
              </a:tr>
              <a:tr h="628650">
                <a:tc>
                  <a:txBody>
                    <a:bodyPr/>
                    <a:lstStyle/>
                    <a:p>
                      <a:r>
                        <a:rPr sz="1875" b="0">
                          <a:solidFill>
                            <a:srgbClr val="23282D"/>
                          </a:solidFill>
                          <a:latin typeface="Arial"/>
                          <a:ea typeface="Arial"/>
                          <a:cs typeface="Arial"/>
                        </a:rPr>
                        <a:t>1</a:t>
                      </a:r>
                    </a:p>
                  </a:txBody>
                  <a:tcPr marL="91440" marR="91440" marT="45720" marB="45720">
                    <a:solidFill>
                      <a:srgbClr val="FFFFFF"/>
                    </a:solidFill>
                  </a:tcPr>
                </a:tc>
                <a:tc>
                  <a:txBody>
                    <a:bodyPr/>
                    <a:lstStyle/>
                    <a:p>
                      <a:r>
                        <a:rPr sz="1875" b="0">
                          <a:solidFill>
                            <a:srgbClr val="23282D"/>
                          </a:solidFill>
                          <a:latin typeface="Arial"/>
                          <a:ea typeface="Arial"/>
                          <a:cs typeface="Arial"/>
                        </a:rPr>
                        <a:t>1,000</a:t>
                      </a:r>
                    </a:p>
                  </a:txBody>
                  <a:tcPr marL="91440" marR="91440" marT="45720" marB="45720">
                    <a:solidFill>
                      <a:srgbClr val="FFFFFF"/>
                    </a:solidFill>
                  </a:tcPr>
                </a:tc>
              </a:tr>
              <a:tr h="628650">
                <a:tc>
                  <a:txBody>
                    <a:bodyPr/>
                    <a:lstStyle/>
                    <a:p>
                      <a:r>
                        <a:rPr sz="1875" b="0">
                          <a:solidFill>
                            <a:srgbClr val="23282D"/>
                          </a:solidFill>
                          <a:latin typeface="Arial"/>
                          <a:ea typeface="Arial"/>
                          <a:cs typeface="Arial"/>
                        </a:rPr>
                        <a:t>2</a:t>
                      </a:r>
                    </a:p>
                  </a:txBody>
                  <a:tcPr marL="91440" marR="91440" marT="45720" marB="45720">
                    <a:solidFill>
                      <a:srgbClr val="FFFFFF"/>
                    </a:solidFill>
                  </a:tcPr>
                </a:tc>
                <a:tc>
                  <a:txBody>
                    <a:bodyPr/>
                    <a:lstStyle/>
                    <a:p>
                      <a:r>
                        <a:rPr sz="1875" b="0">
                          <a:solidFill>
                            <a:srgbClr val="23282D"/>
                          </a:solidFill>
                          <a:latin typeface="Arial"/>
                          <a:ea typeface="Arial"/>
                          <a:cs typeface="Arial"/>
                        </a:rPr>
                        <a:t>2,000</a:t>
                      </a:r>
                    </a:p>
                  </a:txBody>
                  <a:tcPr marL="91440" marR="91440" marT="45720" marB="45720">
                    <a:solidFill>
                      <a:srgbClr val="FFFFFF"/>
                    </a:solidFill>
                  </a:tcPr>
                </a:tc>
              </a:tr>
              <a:tr h="628650">
                <a:tc>
                  <a:txBody>
                    <a:bodyPr/>
                    <a:lstStyle/>
                    <a:p>
                      <a:r>
                        <a:rPr sz="1875" b="0">
                          <a:solidFill>
                            <a:srgbClr val="23282D"/>
                          </a:solidFill>
                          <a:latin typeface="Arial"/>
                          <a:ea typeface="Arial"/>
                          <a:cs typeface="Arial"/>
                        </a:rPr>
                        <a:t>4</a:t>
                      </a:r>
                    </a:p>
                  </a:txBody>
                  <a:tcPr marL="91440" marR="91440" marT="45720" marB="45720">
                    <a:solidFill>
                      <a:srgbClr val="FFFFFF"/>
                    </a:solidFill>
                  </a:tcPr>
                </a:tc>
                <a:tc>
                  <a:txBody>
                    <a:bodyPr/>
                    <a:lstStyle/>
                    <a:p>
                      <a:r>
                        <a:rPr sz="1875" b="0">
                          <a:solidFill>
                            <a:srgbClr val="23282D"/>
                          </a:solidFill>
                          <a:latin typeface="Arial"/>
                          <a:ea typeface="Arial"/>
                          <a:cs typeface="Arial"/>
                        </a:rPr>
                        <a:t>4,000</a:t>
                      </a:r>
                    </a:p>
                  </a:txBody>
                  <a:tcPr marL="91440" marR="91440" marT="45720" marB="45720">
                    <a:solidFill>
                      <a:srgbClr val="FFFFFF"/>
                    </a:solidFill>
                  </a:tcPr>
                </a:tc>
              </a:tr>
            </a:tbl>
          </a:graphicData>
        </a:graphic>
      </p:graphicFrame>
      <p:sp xmlns:a="http://schemas.openxmlformats.org/drawingml/2006/main">
        <p:nvSpPr>
          <p:cNvPr id="1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SCALE • LABEL • EXPLAIN</a:t>
            </a:r>
          </a:p>
        </p:txBody>
      </p:sp>
      <p:sp xmlns:a="http://schemas.openxmlformats.org/drawingml/2006/main">
        <p:nvSpPr>
          <p:cNvPr id="14" name="Rounded Rectangle 17"/>
          <p:cNvSpPr/>
          <p:nvPr/>
        </p:nvSpPr>
        <p:spPr>
          <a:xfrm>
            <a:off x="502920" y="5486400"/>
            <a:ext cx="10972800" cy="75895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Rectangle 18"/>
          <p:cNvSpPr/>
          <p:nvPr/>
        </p:nvSpPr>
        <p:spPr>
          <a:xfrm>
            <a:off x="502920" y="5486400"/>
            <a:ext cx="64008" cy="75895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6" name="TextBox 19"/>
          <p:cNvSpPr txBox="1"/>
          <p:nvPr/>
        </p:nvSpPr>
        <p:spPr>
          <a:xfrm>
            <a:off x="667512" y="5596128"/>
            <a:ext cx="10680192" cy="210312"/>
          </a:xfrm>
          <a:prstGeom prst="rect">
            <a:avLst/>
          </a:prstGeom>
          <a:noFill/>
        </p:spPr>
        <p:txBody>
          <a:bodyPr wrap="square" lIns="0" tIns="0" rIns="0" bIns="0" anchor="t">
            <a:spAutoFit/>
          </a:bodyPr>
          <a:lstStyle/>
          <a:p>
            <a:pPr algn="l"/>
            <a:r>
              <a:rPr sz="1100" b="1">
                <a:solidFill>
                  <a:srgbClr val="782DA0"/>
                </a:solidFill>
                <a:latin typeface="Arial"/>
              </a:rPr>
              <a:t>TALK TOOL</a:t>
            </a:r>
          </a:p>
        </p:txBody>
      </p:sp>
      <p:sp xmlns:a="http://schemas.openxmlformats.org/drawingml/2006/main">
        <p:nvSpPr>
          <p:cNvPr id="17" name="TextBox 20"/>
          <p:cNvSpPr txBox="1"/>
          <p:nvPr/>
        </p:nvSpPr>
        <p:spPr>
          <a:xfrm>
            <a:off x="667512" y="5888736"/>
            <a:ext cx="10680192" cy="301752"/>
          </a:xfrm>
          <a:prstGeom prst="rect">
            <a:avLst/>
          </a:prstGeom>
          <a:noFill/>
        </p:spPr>
        <p:txBody>
          <a:bodyPr wrap="square" lIns="0" tIns="0" rIns="0" bIns="0" anchor="t">
            <a:spAutoFit/>
          </a:bodyPr>
          <a:lstStyle/>
          <a:p>
            <a:pPr algn="l"/>
            <a:r>
              <a:rPr sz="1600" b="0">
                <a:solidFill>
                  <a:srgbClr val="23282D"/>
                </a:solidFill>
                <a:latin typeface="Arial"/>
              </a:rPr>
              <a:t>“Both quantities were multiplied by ___. So 4 liters equals ___ milliliters.”</a:t>
            </a:r>
          </a:p>
        </p:txBody>
      </p:sp>
      <p:sp>
        <p:nvSpPr>
          <p:cNvPr id="18"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27 / 40</ns3:t>
            </ns3:r>
          </ns3:p>
        </p:txBody>
      </p:sp>
      <p:sp xmlns:p="http://schemas.openxmlformats.org/presentationml/2006/main" xmlns:a="http://schemas.openxmlformats.org/drawingml/2006/main">
        <p:nvSpPr>
          <p:cNvPr id="19"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a:t>
            </a:r>
            <a:endParaRPr lang="en-US" sz="2000"/>
          </a:p>
          <a:p>
            <a:pPr>
              <a:lnSpc>
                <a:spcPts val="2400"/>
              </a:lnSpc>
              <a:buNone/>
            </a:pPr>
            <a:r>
              <a:rPr lang="en-US" sz="2000">
                <a:solidFill>
                  <a:srgbClr val="174D60"/>
                </a:solidFill>
                <a:latin typeface="Arial"/>
              </a:rPr>
              <a:t>your reasoning.</a:t>
            </a:r>
            <a:endParaRPr lang="en-US" sz="2000"/>
          </a:p>
        </p:txBody>
      </p:sp>
    </p:spTree>
    <p:extLst>
      <p:ext uri="{BB962C8B-B14F-4D97-AF65-F5344CB8AC3E}">
        <p14:creationId xmlns:p14="http://schemas.microsoft.com/office/powerpoint/2010/main" val="1990573734"/>
      </p:ext>
    </p:extLst>
  </p:cSld>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cxnSp>
        <p:nvCxnSpPr>
          <p:cNvPr id="658" name="Google Shape;658;p86"/>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659" name="Google Shape;659;p86"/>
          <p:cNvSpPr txBox="1"/>
          <p:nvPr/>
        </p:nvSpPr>
        <p:spPr>
          <a:xfrm>
            <a:off x="473088" y="479429"/>
            <a:ext cx="6215174" cy="1934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 xml:space="preserve">There are 4,000 </a:t>
            </a:r>
            <a:r>
              <a:rPr lang="en-US" sz="2800" b="1">
                <a:solidFill>
                  <a:srgbClr val="23282D"/>
                </a:solidFill>
                <a:highlight>
                  <a:srgbClr val="FFF2A8"/>
                </a:highlight>
                <a:latin typeface="Arial"/>
                <a:ea typeface="Arial"/>
                <a:cs typeface="Arial"/>
                <a:sym typeface="Arial"/>
              </a:rPr>
              <a:t>milliliters</a:t>
            </a:r>
            <a:r>
              <a:rPr lang="en-US" sz="2800">
                <a:solidFill>
                  <a:srgbClr val="23282D"/>
                </a:solidFill>
                <a:latin typeface="Arial"/>
                <a:ea typeface="Arial"/>
                <a:cs typeface="Arial"/>
                <a:sym typeface="Arial"/>
              </a:rPr>
              <a:t xml:space="preserve"> in 4 </a:t>
            </a:r>
            <a:r>
              <a:rPr lang="en-US" sz="2800" b="1">
                <a:solidFill>
                  <a:srgbClr val="23282D"/>
                </a:solidFill>
                <a:highlight>
                  <a:srgbClr val="FFF2A8"/>
                </a:highlight>
                <a:latin typeface="Arial"/>
                <a:ea typeface="Arial"/>
                <a:cs typeface="Arial"/>
                <a:sym typeface="Arial"/>
              </a:rPr>
              <a:t>liters</a:t>
            </a:r>
            <a:r>
              <a:rPr lang="en-US" sz="2800">
                <a:solidFill>
                  <a:srgbClr val="23282D"/>
                </a:solidFill>
                <a:latin typeface="Arial"/>
                <a:ea typeface="Arial"/>
                <a:cs typeface="Arial"/>
                <a:sym typeface="Arial"/>
              </a:rPr>
              <a:t>.</a:t>
            </a:r>
            <a:endParaRPr/>
          </a:p>
          <a:p>
            <a:pPr indent="0" lvl="0" marL="0" marR="0" rtl="0" algn="l">
              <a:lnSpc>
                <a:spcPct val="100000"/>
              </a:lnSpc>
              <a:spcBef>
                <a:spcPts val="1800"/>
              </a:spcBef>
              <a:spcAft>
                <a:spcPts val="0"/>
              </a:spcAft>
              <a:buClr>
                <a:srgbClr val="262626"/>
              </a:buClr>
              <a:buSzPts val="2800"/>
              <a:buFont typeface="Arial"/>
              <a:buNone/>
            </a:pPr>
            <a:r>
              <a:rPr lang="en-US" sz="2800">
                <a:solidFill>
                  <a:srgbClr val="23282D"/>
                </a:solidFill>
                <a:latin typeface="Arial"/>
                <a:ea typeface="Arial"/>
                <a:cs typeface="Arial"/>
                <a:sym typeface="Arial"/>
              </a:rPr>
              <a:t xml:space="preserve">4,000 </a:t>
            </a:r>
            <a:r>
              <a:rPr lang="en-US" sz="2800" b="1">
                <a:solidFill>
                  <a:srgbClr val="23282D"/>
                </a:solidFill>
                <a:highlight>
                  <a:srgbClr val="FFF2A8"/>
                </a:highlight>
                <a:latin typeface="Arial"/>
                <a:ea typeface="Arial"/>
                <a:cs typeface="Arial"/>
                <a:sym typeface="Arial"/>
              </a:rPr>
              <a:t>milliliters</a:t>
            </a:r>
            <a:r>
              <a:rPr lang="en-US" sz="2800">
                <a:solidFill>
                  <a:srgbClr val="23282D"/>
                </a:solidFill>
                <a:latin typeface="Arial"/>
                <a:ea typeface="Arial"/>
                <a:cs typeface="Arial"/>
                <a:sym typeface="Arial"/>
              </a:rPr>
              <a:t xml:space="preserve"> = 4 </a:t>
            </a:r>
            <a:r>
              <a:rPr lang="en-US" sz="2800" b="1">
                <a:solidFill>
                  <a:srgbClr val="23282D"/>
                </a:solidFill>
                <a:highlight>
                  <a:srgbClr val="FFF2A8"/>
                </a:highlight>
                <a:latin typeface="Arial"/>
                <a:ea typeface="Arial"/>
                <a:cs typeface="Arial"/>
                <a:sym typeface="Arial"/>
              </a:rPr>
              <a:t>liters</a:t>
            </a:r>
            <a:endParaRPr/>
          </a:p>
        </p:txBody>
      </p:sp>
      <p:pic>
        <p:nvPicPr>
          <p:cNvPr id="660" name="Google Shape;660;p86"/>
          <p:cNvPicPr preferRelativeResize="0"/>
          <p:nvPr/>
        </p:nvPicPr>
        <p:blipFill rotWithShape="1">
          <a:blip r:embed="rId3">
            <a:alphaModFix/>
          </a:blip>
          <a:srcRect b="0" l="0" r="0" t="0"/>
          <a:stretch/>
        </p:blipFill>
        <p:spPr>
          <a:xfrm>
            <a:off x="1921706" y="2626003"/>
            <a:ext cx="6537332" cy="1918565"/>
          </a:xfrm>
          <a:prstGeom prst="rect">
            <a:avLst/>
          </a:prstGeom>
          <a:noFill/>
          <a:ln>
            <a:noFill/>
          </a:ln>
        </p:spPr>
      </p:pic>
      <p:sp>
        <p:nvSpPr>
          <p:cNvPr id="6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THINK → PARTNER TALK → EXPLAIN</a:t>
            </a:r>
          </a:p>
        </p:txBody>
      </p:sp>
      <p:sp>
        <p:nvSpPr>
          <p:cNvPr id="663" name="Rounded Rectangle 17"/>
          <p:cNvSpPr/>
          <p:nvPr/>
        </p:nvSpPr>
        <p:spPr>
          <a:xfrm>
            <a:off x="502920" y="4709160"/>
            <a:ext cx="9144000" cy="96012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4" name="Rectangle 18"/>
          <p:cNvSpPr/>
          <p:nvPr/>
        </p:nvSpPr>
        <p:spPr>
          <a:xfrm>
            <a:off x="502920" y="4709160"/>
            <a:ext cx="64008" cy="96012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5" name="TextBox 19"/>
          <p:cNvSpPr txBox="1"/>
          <p:nvPr/>
        </p:nvSpPr>
        <p:spPr>
          <a:xfrm>
            <a:off x="667512" y="4818888"/>
            <a:ext cx="8851392" cy="210312"/>
          </a:xfrm>
          <a:prstGeom prst="rect">
            <a:avLst/>
          </a:prstGeom>
          <a:noFill/>
        </p:spPr>
        <p:txBody>
          <a:bodyPr wrap="square" lIns="0" tIns="0" rIns="0" bIns="0" anchor="t">
            <a:spAutoFit/>
          </a:bodyPr>
          <a:lstStyle/>
          <a:p>
            <a:pPr algn="l"/>
            <a:r>
              <a:rPr sz="1100" b="1">
                <a:solidFill>
                  <a:srgbClr val="782DA0"/>
                </a:solidFill>
                <a:latin typeface="Arial"/>
              </a:rPr>
              <a:t>SAME AMOUNT • NEW UNIT</a:t>
            </a:r>
          </a:p>
        </p:txBody>
      </p:sp>
      <p:sp>
        <p:nvSpPr>
          <p:cNvPr id="666" name="TextBox 20"/>
          <p:cNvSpPr txBox="1"/>
          <p:nvPr/>
        </p:nvSpPr>
        <p:spPr>
          <a:xfrm>
            <a:off x="667512" y="5111496"/>
            <a:ext cx="8851392" cy="502920"/>
          </a:xfrm>
          <a:prstGeom prst="rect">
            <a:avLst/>
          </a:prstGeom>
          <a:noFill/>
        </p:spPr>
        <p:txBody>
          <a:bodyPr wrap="square" lIns="0" tIns="0" rIns="0" bIns="0" anchor="t">
            <a:spAutoFit/>
          </a:bodyPr>
          <a:lstStyle/>
          <a:p>
            <a:pPr algn="l"/>
            <a:r>
              <a:rPr sz="1600" b="0">
                <a:solidFill>
                  <a:srgbClr val="23282D"/>
                </a:solidFill>
                <a:latin typeface="Arial"/>
              </a:rPr>
              <a:t>“Four liters and 4,000 milliliters name the same volume because ___.”</a:t>
            </a:r>
          </a:p>
        </p:txBody>
      </p:sp>
      <p:sp>
        <p:nvSpPr>
          <p:cNvPr id="66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40</a:t>
            </a:r>
          </a:p>
        </p:txBody>
      </p:sp>
      <p:sp xmlns:p="http://schemas.openxmlformats.org/presentationml/2006/main" xmlns:a="http://schemas.openxmlformats.org/drawingml/2006/main">
        <p:nvSpPr>
          <p:cNvPr id="668" name="TEACH-embedded-student-prompt" descr="Student thinking and response directions"/>
          <p:cNvSpPr txBox="1"/>
          <p:nvPr/>
        </p:nvSpPr>
        <p:spPr>
          <a:xfrm>
            <a:off x="7391400" y="166420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a:t>
            </a:r>
            <a:endParaRPr lang="en-US" sz="2000"/>
          </a:p>
          <a:p>
            <a:pPr>
              <a:lnSpc>
                <a:spcPts val="2400"/>
              </a:lnSpc>
              <a:buNone/>
            </a:pPr>
            <a:r>
              <a:rPr lang="en-US" sz="2000">
                <a:solidFill>
                  <a:srgbClr val="174D60"/>
                </a:solidFill>
                <a:latin typeface="Arial"/>
              </a:rPr>
              <a:t>shown supports your reasoning.</a:t>
            </a:r>
            <a:endParaRPr lang="en-US" sz="2000"/>
          </a:p>
        </p:txBody>
      </p:sp>
    </p:spTree>
  </p:cSld>
  <p:clrMapOvr>
    <a:masterClrMapping/>
  </p:clrMapOvr>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BB2832-59ED-4D97-BB65-14C353E58A91}"/>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75" b="1">
                <ns0:solidFill>
                  <ns0:srgbClr val="782DA0"/>
                </ns0:solidFill>
                <ns0:latin typeface="Arial"/>
                <ns0:ea typeface="Arial"/>
                <ns0:cs typeface="Arial"/>
              </ns0:defRPr>
            </ns0:pPr>
            <ns0:r>
              <ns0:rPr sz="2800" b="1">
                <ns0:solidFill>
                  <ns0:srgbClr val="782DA0"/>
                </ns0:solidFill>
                <ns0:latin typeface="Arial"/>
                <ns0:ea typeface="Arial"/>
                <ns0:cs typeface="Arial"/>
              </ns0:rPr>
              <ns0:t>Milliliters → Bottle Fills</ns0:t>
            </ns0:r>
          </ns0:p>
        </p:txBody>
      </p:sp>
      <p:sp>
        <p:nvSpPr>
          <p:cNvPr id="2" name="">
            <a:extLst xmlns:a="http://schemas.openxmlformats.org/drawingml/2006/main">
              <a:ext uri="{FF2B5EF4-FFF2-40B4-BE49-F238E27FC236}">
                <a16:creationId xmlns:a16="http://schemas.microsoft.com/office/drawing/2014/main" id="{F2C378E4-E0D7-4814-9ABE-8AAE271EBC67}"/>
              </a:ext>
            </a:extLst>
          </p:cNvPr>
          <p:cNvSpPr>
            <a:spLocks xmlns:a="http://schemas.openxmlformats.org/drawingml/2006/main" noGrp="1"/>
          </p:cNvSpPr>
          <p:nvPr/>
        </p:nvSpPr>
        <p:spPr>
          <a:xfrm xmlns:a="http://schemas.openxmlformats.org/drawingml/2006/main">
            <a:off x="552450" y="16192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Diamond’s target is 4 </a:t>
            </a:r>
            <a:r>
              <a:rPr sz="2250" b="1">
                <a:solidFill>
                  <a:srgbClr val="23282D"/>
                </a:solidFill>
                <a:highlight>
                  <a:srgbClr val="FFF2A8"/>
                </a:highlight>
                <a:latin typeface="Arial"/>
                <a:ea typeface="Arial"/>
                <a:cs typeface="Arial"/>
              </a:rPr>
              <a:t>liters</a:t>
            </a:r>
            <a:r>
              <a:rPr sz="2250" b="0">
                <a:solidFill>
                  <a:srgbClr val="23282D"/>
                </a:solidFill>
                <a:latin typeface="Arial"/>
                <a:ea typeface="Arial"/>
                <a:cs typeface="Arial"/>
              </a:rPr>
              <a:t xml:space="preserve">, or 4,000 </a:t>
            </a:r>
            <a:r>
              <a:rPr sz="2250" b="1">
                <a:solidFill>
                  <a:srgbClr val="23282D"/>
                </a:solidFill>
                <a:highlight>
                  <a:srgbClr val="FFF2A8"/>
                </a:highlight>
                <a:latin typeface="Arial"/>
                <a:ea typeface="Arial"/>
                <a:cs typeface="Arial"/>
              </a:rPr>
              <a:t>milliliters</a:t>
            </a:r>
            <a:r>
              <a:rPr sz="2250" b="0">
                <a:solidFill>
                  <a:srgbClr val="23282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A6A971A8-4981-4E4A-83EA-27C5787EE806}"/>
              </a:ext>
            </a:extLst>
          </p:cNvPr>
          <p:cNvSpPr>
            <a:spLocks xmlns:a="http://schemas.openxmlformats.org/drawingml/2006/main" noGrp="1"/>
          </p:cNvSpPr>
          <p:nvPr/>
        </p:nvSpPr>
        <p:spPr>
          <a:xfrm xmlns:a="http://schemas.openxmlformats.org/drawingml/2006/main">
            <a:off x="552450" y="28194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Each bottle holds 500 </a:t>
            </a:r>
            <a:r>
              <a:rPr sz="2250" b="1">
                <a:solidFill>
                  <a:srgbClr val="23282D"/>
                </a:solidFill>
                <a:highlight>
                  <a:srgbClr val="FFF2A8"/>
                </a:highlight>
                <a:latin typeface="Arial"/>
                <a:ea typeface="Arial"/>
                <a:cs typeface="Arial"/>
              </a:rPr>
              <a:t>milliliters</a:t>
            </a:r>
            <a:r>
              <a:rPr sz="2250" b="0">
                <a:solidFill>
                  <a:srgbClr val="23282D"/>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8F2C6B13-F8E2-4D25-8FAB-B46AFF4026AD}"/>
              </a:ext>
            </a:extLst>
          </p:cNvPr>
          <p:cNvSpPr>
            <a:spLocks xmlns:a="http://schemas.openxmlformats.org/drawingml/2006/main" noGrp="1"/>
          </p:cNvSpPr>
          <p:nvPr/>
        </p:nvSpPr>
        <p:spPr>
          <a:xfrm xmlns:a="http://schemas.openxmlformats.org/drawingml/2006/main">
            <a:off x="552450" y="40195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Divide to find the number of fills: 4,000 ÷ 500 = 8.</a:t>
            </a:r>
          </a:p>
        </p:txBody>
      </p:sp>
      <p:graphicFrame>
        <p:nvGraphicFramePr>
          <p:cNvPr id="11" name=""/>
          <p:cNvGraphicFramePr/>
          <p:nvPr/>
        </p:nvGraphicFramePr>
        <p:xfrm>
          <a:off xmlns:a="http://schemas.openxmlformats.org/drawingml/2006/main" x="6210300" y="1809750"/>
          <a:ext xmlns:a="http://schemas.openxmlformats.org/drawingml/2006/main" cx="5410200" cy="2514600"/>
        </p:xfrm>
        <a:graphic xmlns:a="http://schemas.openxmlformats.org/drawingml/2006/main">
          <a:graphicData uri="http://schemas.openxmlformats.org/drawingml/2006/table">
            <a:tbl>
              <a:tblPr/>
              <a:tblGrid>
                <a:gridCol w="2705100"/>
                <a:gridCol w="2705100"/>
              </a:tblGrid>
              <a:tr h="628650">
                <a:tc>
                  <a:txBody>
                    <a:bodyPr/>
                    <a:lstStyle/>
                    <a:p>
                      <a:r>
                        <a:rPr sz="1875" b="1">
                          <a:solidFill>
                            <a:srgbClr val="FFFFFF"/>
                          </a:solidFill>
                          <a:latin typeface="Arial"/>
                          <a:ea typeface="Arial"/>
                          <a:cs typeface="Arial"/>
                        </a:rPr>
                        <a:t>Bottle fills</a:t>
                      </a:r>
                    </a:p>
                  </a:txBody>
                  <a:tcPr marL="91440" marR="91440" marT="45720" marB="45720">
                    <a:solidFill>
                      <a:srgbClr val="0070C0"/>
                    </a:solidFill>
                  </a:tcPr>
                </a:tc>
                <a:tc>
                  <a:txBody>
                    <a:bodyPr/>
                    <a:lstStyle/>
                    <a:p>
                      <a:r>
                        <a:rPr sz="1875" b="1">
                          <a:solidFill>
                            <a:srgbClr val="FFFFFF"/>
                          </a:solidFill>
                          <a:latin typeface="Arial"/>
                          <a:ea typeface="Arial"/>
                          <a:cs typeface="Arial"/>
                        </a:rPr>
                        <a:t>Total milliliters</a:t>
                      </a:r>
                    </a:p>
                  </a:txBody>
                  <a:tcPr marL="91440" marR="91440" marT="45720" marB="45720">
                    <a:solidFill>
                      <a:srgbClr val="0070C0"/>
                    </a:solidFill>
                  </a:tcPr>
                </a:tc>
              </a:tr>
              <a:tr h="628650">
                <a:tc>
                  <a:txBody>
                    <a:bodyPr/>
                    <a:lstStyle/>
                    <a:p>
                      <a:r>
                        <a:rPr sz="1875" b="0">
                          <a:solidFill>
                            <a:srgbClr val="23282D"/>
                          </a:solidFill>
                          <a:latin typeface="Arial"/>
                          <a:ea typeface="Arial"/>
                          <a:cs typeface="Arial"/>
                        </a:rPr>
                        <a:t>1</a:t>
                      </a:r>
                    </a:p>
                  </a:txBody>
                  <a:tcPr marL="91440" marR="91440" marT="45720" marB="45720">
                    <a:solidFill>
                      <a:srgbClr val="FFFFFF"/>
                    </a:solidFill>
                  </a:tcPr>
                </a:tc>
                <a:tc>
                  <a:txBody>
                    <a:bodyPr/>
                    <a:lstStyle/>
                    <a:p>
                      <a:r>
                        <a:rPr sz="1875" b="0">
                          <a:solidFill>
                            <a:srgbClr val="23282D"/>
                          </a:solidFill>
                          <a:latin typeface="Arial"/>
                          <a:ea typeface="Arial"/>
                          <a:cs typeface="Arial"/>
                        </a:rPr>
                        <a:t>500</a:t>
                      </a:r>
                    </a:p>
                  </a:txBody>
                  <a:tcPr marL="91440" marR="91440" marT="45720" marB="45720">
                    <a:solidFill>
                      <a:srgbClr val="FFFFFF"/>
                    </a:solidFill>
                  </a:tcPr>
                </a:tc>
              </a:tr>
              <a:tr h="628650">
                <a:tc>
                  <a:txBody>
                    <a:bodyPr/>
                    <a:lstStyle/>
                    <a:p>
                      <a:r>
                        <a:rPr sz="1875" b="0">
                          <a:solidFill>
                            <a:srgbClr val="23282D"/>
                          </a:solidFill>
                          <a:latin typeface="Arial"/>
                          <a:ea typeface="Arial"/>
                          <a:cs typeface="Arial"/>
                        </a:rPr>
                        <a:t>4</a:t>
                      </a:r>
                    </a:p>
                  </a:txBody>
                  <a:tcPr marL="91440" marR="91440" marT="45720" marB="45720">
                    <a:solidFill>
                      <a:srgbClr val="FFFFFF"/>
                    </a:solidFill>
                  </a:tcPr>
                </a:tc>
                <a:tc>
                  <a:txBody>
                    <a:bodyPr/>
                    <a:lstStyle/>
                    <a:p>
                      <a:r>
                        <a:rPr sz="1875" b="0">
                          <a:solidFill>
                            <a:srgbClr val="23282D"/>
                          </a:solidFill>
                          <a:latin typeface="Arial"/>
                          <a:ea typeface="Arial"/>
                          <a:cs typeface="Arial"/>
                        </a:rPr>
                        <a:t>2,000</a:t>
                      </a:r>
                    </a:p>
                  </a:txBody>
                  <a:tcPr marL="91440" marR="91440" marT="45720" marB="45720">
                    <a:solidFill>
                      <a:srgbClr val="FFFFFF"/>
                    </a:solidFill>
                  </a:tcPr>
                </a:tc>
              </a:tr>
              <a:tr h="628650">
                <a:tc>
                  <a:txBody>
                    <a:bodyPr/>
                    <a:lstStyle/>
                    <a:p>
                      <a:r>
                        <a:rPr sz="1875" b="0">
                          <a:solidFill>
                            <a:srgbClr val="23282D"/>
                          </a:solidFill>
                          <a:latin typeface="Arial"/>
                          <a:ea typeface="Arial"/>
                          <a:cs typeface="Arial"/>
                        </a:rPr>
                        <a:t>8</a:t>
                      </a:r>
                    </a:p>
                  </a:txBody>
                  <a:tcPr marL="91440" marR="91440" marT="45720" marB="45720">
                    <a:solidFill>
                      <a:srgbClr val="FFFFFF"/>
                    </a:solidFill>
                  </a:tcPr>
                </a:tc>
                <a:tc>
                  <a:txBody>
                    <a:bodyPr/>
                    <a:lstStyle/>
                    <a:p>
                      <a:r>
                        <a:rPr sz="1875" b="0">
                          <a:solidFill>
                            <a:srgbClr val="23282D"/>
                          </a:solidFill>
                          <a:latin typeface="Arial"/>
                          <a:ea typeface="Arial"/>
                          <a:cs typeface="Arial"/>
                        </a:rPr>
                        <a:t>4,000</a:t>
                      </a:r>
                    </a:p>
                  </a:txBody>
                  <a:tcPr marL="91440" marR="91440" marT="45720" marB="45720">
                    <a:solidFill>
                      <a:srgbClr val="FFFFFF"/>
                    </a:solidFill>
                  </a:tcPr>
                </a:tc>
              </a:tr>
            </a:tbl>
          </a:graphicData>
        </a:graphic>
      </p:graphicFrame>
      <p:sp xmlns:a="http://schemas.openxmlformats.org/drawingml/2006/main">
        <p:nvSpPr>
          <p:cNvPr id="1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SCALE • LABEL • EXPLAIN</a:t>
            </a:r>
          </a:p>
        </p:txBody>
      </p:sp>
      <p:sp xmlns:a="http://schemas.openxmlformats.org/drawingml/2006/main">
        <p:nvSpPr>
          <p:cNvPr id="14" name="Rounded Rectangle 17"/>
          <p:cNvSpPr/>
          <p:nvPr/>
        </p:nvSpPr>
        <p:spPr>
          <a:xfrm>
            <a:off x="502920" y="5486400"/>
            <a:ext cx="10972800" cy="75895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Rectangle 18"/>
          <p:cNvSpPr/>
          <p:nvPr/>
        </p:nvSpPr>
        <p:spPr>
          <a:xfrm>
            <a:off x="502920" y="5486400"/>
            <a:ext cx="64008" cy="75895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6" name="TextBox 19"/>
          <p:cNvSpPr txBox="1"/>
          <p:nvPr/>
        </p:nvSpPr>
        <p:spPr>
          <a:xfrm>
            <a:off x="667512" y="5596128"/>
            <a:ext cx="10680192" cy="210312"/>
          </a:xfrm>
          <a:prstGeom prst="rect">
            <a:avLst/>
          </a:prstGeom>
          <a:noFill/>
        </p:spPr>
        <p:txBody>
          <a:bodyPr wrap="square" lIns="0" tIns="0" rIns="0" bIns="0" anchor="t">
            <a:spAutoFit/>
          </a:bodyPr>
          <a:lstStyle/>
          <a:p>
            <a:pPr algn="l"/>
            <a:r>
              <a:rPr sz="1100" b="1">
                <a:solidFill>
                  <a:srgbClr val="782DA0"/>
                </a:solidFill>
                <a:latin typeface="Arial"/>
              </a:rPr>
              <a:t>TALK TOOL</a:t>
            </a:r>
          </a:p>
        </p:txBody>
      </p:sp>
      <p:sp xmlns:a="http://schemas.openxmlformats.org/drawingml/2006/main">
        <p:nvSpPr>
          <p:cNvPr id="17" name="TextBox 20"/>
          <p:cNvSpPr txBox="1"/>
          <p:nvPr/>
        </p:nvSpPr>
        <p:spPr>
          <a:xfrm>
            <a:off x="667512" y="5888736"/>
            <a:ext cx="10680192" cy="301752"/>
          </a:xfrm>
          <a:prstGeom prst="rect">
            <a:avLst/>
          </a:prstGeom>
          <a:noFill/>
        </p:spPr>
        <p:txBody>
          <a:bodyPr wrap="square" lIns="0" tIns="0" rIns="0" bIns="0" anchor="t">
            <a:spAutoFit/>
          </a:bodyPr>
          <a:lstStyle/>
          <a:p>
            <a:pPr algn="l"/>
            <a:r>
              <a:rPr sz="1600" b="0">
                <a:solidFill>
                  <a:srgbClr val="23282D"/>
                </a:solidFill>
                <a:latin typeface="Arial"/>
              </a:rPr>
              <a:t>“I divided ___ by ___ because each full bottle holds ___.”</a:t>
            </a:r>
          </a:p>
        </p:txBody>
      </p:sp>
      <p:sp>
        <p:nvSpPr>
          <p:cNvPr id="18"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29 / 40</ns3:t>
            </ns3:r>
          </ns3:p>
        </p:txBody>
      </p:sp>
      <p:sp xmlns:p="http://schemas.openxmlformats.org/presentationml/2006/main" xmlns:a="http://schemas.openxmlformats.org/drawingml/2006/main">
        <p:nvSpPr>
          <p:cNvPr id="19"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a:t>
            </a:r>
            <a:endParaRPr lang="en-US" sz="2000"/>
          </a:p>
          <a:p>
            <a:pPr>
              <a:lnSpc>
                <a:spcPts val="2400"/>
              </a:lnSpc>
              <a:buNone/>
            </a:pPr>
            <a:r>
              <a:rPr lang="en-US" sz="2000">
                <a:solidFill>
                  <a:srgbClr val="174D60"/>
                </a:solidFill>
                <a:latin typeface="Arial"/>
              </a:rPr>
              <a:t>your reasoning.</a:t>
            </a:r>
            <a:endParaRPr lang="en-US" sz="2000"/>
          </a:p>
        </p:txBody>
      </p:sp>
    </p:spTree>
    <p:extLst>
      <p:ext uri="{BB962C8B-B14F-4D97-AF65-F5344CB8AC3E}">
        <p14:creationId xmlns:p14="http://schemas.microsoft.com/office/powerpoint/2010/main" val="42096154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5B7D6D3-19EE-426D-BD6D-7E0EA86B3B0C}"/>
              </a:ext>
            </a:extLst>
          </p:cNvPr>
          <p:cNvSpPr>
            <a:spLocks xmlns:a="http://schemas.openxmlformats.org/drawingml/2006/main" noGrp="1"/>
          </p:cNvSpPr>
          <p:nvPr/>
        </p:nvSpPr>
        <p:spPr>
          <a:xfrm xmlns:a="http://schemas.openxmlformats.org/drawingml/2006/main">
            <a:off x="502920" y="320040"/>
            <a:ext cx="749808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00" b="1">
                <ns0:solidFill>
                  <ns0:srgbClr val="782DA0"/>
                </ns0:solidFill>
                <ns0:latin typeface="Arial"/>
                <ns0:ea typeface="Arial"/>
                <ns0:cs typeface="Arial"/>
              </ns0:defRPr>
            </ns0:pPr>
            <ns0:r>
              <ns0:rPr sz="2800" b="1">
                <ns0:solidFill>
                  <ns0:srgbClr val="782DA0"/>
                </ns0:solidFill>
                <ns0:latin typeface="Arial"/>
                <ns0:ea typeface="Arial"/>
                <ns0:cs typeface="Arial"/>
              </ns0:rPr>
              <ns0:t>Today’s Math Notes — Session 2</ns0:t>
            </ns0:r>
          </ns0:p>
        </p:txBody>
      </p:sp>
      <p:sp>
        <p:nvSpPr>
          <p:cNvPr id="2" name="">
            <a:extLst xmlns:a="http://schemas.openxmlformats.org/drawingml/2006/main">
              <a:ext uri="{FF2B5EF4-FFF2-40B4-BE49-F238E27FC236}">
                <a16:creationId xmlns:a16="http://schemas.microsoft.com/office/drawing/2014/main" id="{F076F526-6A61-4480-BDE1-B17DFE9C36CE}"/>
              </a:ext>
            </a:extLst>
          </p:cNvPr>
          <p:cNvSpPr>
            <a:spLocks xmlns:a="http://schemas.openxmlformats.org/drawingml/2006/main" noGrp="1"/>
          </p:cNvSpPr>
          <p:nvPr/>
        </p:nvSpPr>
        <p:spPr>
          <a:xfrm xmlns:a="http://schemas.openxmlformats.org/drawingml/2006/main">
            <a:off x="523875" y="1028700"/>
            <a:ext cx="866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6872"/>
                </a:solidFill>
                <a:latin typeface="Arial"/>
                <a:ea typeface="Arial"/>
                <a:cs typeface="Arial"/>
              </a:defRPr>
            </a:pPr>
            <a:r>
              <a:rPr sz="1575" b="0">
                <a:solidFill>
                  <a:srgbClr val="5D6872"/>
                </a:solidFill>
                <a:latin typeface="Arial"/>
                <a:ea typeface="Arial"/>
                <a:cs typeface="Arial"/>
              </a:rPr>
              <a:t>Keep the idea from Hydrating.</a:t>
            </a:r>
          </a:p>
        </p:txBody>
      </p:sp>
      <p:sp>
        <p:nvSpPr>
          <p:cNvPr id="3" name="">
            <a:extLst xmlns:a="http://schemas.openxmlformats.org/drawingml/2006/main">
              <a:ext uri="{FF2B5EF4-FFF2-40B4-BE49-F238E27FC236}">
                <a16:creationId xmlns:a16="http://schemas.microsoft.com/office/drawing/2014/main" id="{1A0BEB89-ED23-4999-B175-4A7E8C39D26C}"/>
              </a:ext>
            </a:extLst>
          </p:cNvPr>
          <p:cNvSpPr>
            <a:spLocks xmlns:a="http://schemas.openxmlformats.org/drawingml/2006/main" noGrp="1"/>
          </p:cNvSpPr>
          <p:nvPr/>
        </p:nvSpPr>
        <p:spPr>
          <a:xfrm xmlns:a="http://schemas.openxmlformats.org/drawingml/2006/main">
            <a:off x="514350" y="1609725"/>
            <a:ext cx="5762625" cy="4114800"/>
          </a:xfrm>
          <a:prstGeom xmlns:a="http://schemas.openxmlformats.org/drawingml/2006/main" prst="roundRect">
            <a:avLst>
              <a:gd name="adj" fmla="val 1852"/>
            </a:avLst>
          </a:prstGeom>
          <a:solidFill xmlns:a="http://schemas.openxmlformats.org/drawingml/2006/main">
            <a:srgbClr val="FFF0E6"/>
          </a:solidFill>
          <a:ln xmlns:a="http://schemas.openxmlformats.org/drawingml/2006/main" w="9525">
            <a:solidFill>
              <a:srgbClr val="D6E0E8"/>
            </a:solidFill>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0E2ED564-7EC7-44B9-A2F0-3C8B7987B68F}"/>
              </a:ext>
            </a:extLst>
          </p:cNvPr>
          <p:cNvSpPr>
            <a:spLocks xmlns:a="http://schemas.openxmlformats.org/drawingml/2006/main" noGrp="1"/>
          </p:cNvSpPr>
          <p:nvPr/>
        </p:nvSpPr>
        <p:spPr>
          <a:xfrm xmlns:a="http://schemas.openxmlformats.org/drawingml/2006/main">
            <a:off x="6543675" y="1609725"/>
            <a:ext cx="5114925" cy="4114800"/>
          </a:xfrm>
          <a:prstGeom xmlns:a="http://schemas.openxmlformats.org/drawingml/2006/main" prst="roundRect">
            <a:avLst>
              <a:gd name="adj" fmla="val 1852"/>
            </a:avLst>
          </a:prstGeom>
          <a:solidFill xmlns:a="http://schemas.openxmlformats.org/drawingml/2006/main">
            <a:srgbClr val="EAF7F5"/>
          </a:solidFill>
          <a:ln xmlns:a="http://schemas.openxmlformats.org/drawingml/2006/main" w="9525">
            <a:solidFill>
              <a:srgbClr val="D6E0E8"/>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A745EE3-E3B9-4F11-8BAE-8A1A85BE4054}"/>
              </a:ext>
            </a:extLst>
          </p:cNvPr>
          <p:cNvSpPr>
            <a:spLocks xmlns:a="http://schemas.openxmlformats.org/drawingml/2006/main" noGrp="1"/>
          </p:cNvSpPr>
          <p:nvPr/>
        </p:nvSpPr>
        <p:spPr>
          <a:xfrm xmlns:a="http://schemas.openxmlformats.org/drawingml/2006/main">
            <a:off x="723900" y="18002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1:p xmlns:ns1="http://schemas.openxmlformats.org/drawingml/2006/main">
            <ns1:pPr>
              <ns1:defRPr sz="1350" b="1">
                <ns1:solidFill>
                  <ns1:srgbClr val="782DA0"/>
                </ns1:solidFill>
                <ns1:latin typeface="Arial"/>
                <ns1:ea typeface="Arial"/>
                <ns1:cs typeface="Arial"/>
              </ns1:defRPr>
            </ns1:pPr>
            <ns1:r>
              <ns1:rPr sz="1300" b="1">
                <ns1:solidFill>
                  <ns1:srgbClr val="782DA0"/>
                </ns1:solidFill>
                <ns1:latin typeface="Arial"/>
                <ns1:ea typeface="Arial"/>
                <ns1:cs typeface="Arial"/>
              </ns1:rPr>
              <ns1:t>COPY THESE 3 LINES</ns1:t>
            </ns1:r>
          </ns1:p>
        </p:txBody>
      </p:sp>
      <p:sp>
        <p:nvSpPr>
          <p:cNvPr id="6" name="">
            <a:extLst xmlns:a="http://schemas.openxmlformats.org/drawingml/2006/main">
              <a:ext uri="{FF2B5EF4-FFF2-40B4-BE49-F238E27FC236}">
                <a16:creationId xmlns:a16="http://schemas.microsoft.com/office/drawing/2014/main" id="{126520C0-37EC-4F44-980D-0A97BBBF78CD}"/>
              </a:ext>
            </a:extLst>
          </p:cNvPr>
          <p:cNvSpPr>
            <a:spLocks xmlns:a="http://schemas.openxmlformats.org/drawingml/2006/main" noGrp="1"/>
          </p:cNvSpPr>
          <p:nvPr/>
        </p:nvSpPr>
        <p:spPr>
          <a:xfrm xmlns:a="http://schemas.openxmlformats.org/drawingml/2006/main">
            <a:off x="733425" y="2352675"/>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4FE7386-F184-4DDF-B791-C8E86F92E09A}"/>
              </a:ext>
            </a:extLst>
          </p:cNvPr>
          <p:cNvSpPr>
            <a:spLocks xmlns:a="http://schemas.openxmlformats.org/drawingml/2006/main" noGrp="1"/>
          </p:cNvSpPr>
          <p:nvPr/>
        </p:nvSpPr>
        <p:spPr>
          <a:xfrm xmlns:a="http://schemas.openxmlformats.org/drawingml/2006/main">
            <a:off x="1257300" y="2324100"/>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0">
                <a:solidFill>
                  <a:srgbClr val="23282D"/>
                </a:solidFill>
                <a:latin typeface="Arial"/>
                <a:ea typeface="Arial"/>
                <a:cs typeface="Arial"/>
              </a:rPr>
              <a:t xml:space="preserve">1 liter = 1,000 </a:t>
            </a:r>
            <a:r>
              <a:rPr sz="2100" b="1">
                <a:solidFill>
                  <a:srgbClr val="23282D"/>
                </a:solidFill>
                <a:highlight>
                  <a:srgbClr val="FFF2A8"/>
                </a:highlight>
                <a:latin typeface="Arial"/>
                <a:ea typeface="Arial"/>
                <a:cs typeface="Arial"/>
              </a:rPr>
              <a:t>milliliters</a:t>
            </a:r>
            <a:r>
              <a:rPr sz="2100" b="0">
                <a:solidFill>
                  <a:srgbClr val="23282D"/>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8D8968D6-E1BD-4D36-A15B-BBC60FAC0D1D}"/>
              </a:ext>
            </a:extLst>
          </p:cNvPr>
          <p:cNvSpPr>
            <a:spLocks xmlns:a="http://schemas.openxmlformats.org/drawingml/2006/main" noGrp="1"/>
          </p:cNvSpPr>
          <p:nvPr/>
        </p:nvSpPr>
        <p:spPr>
          <a:xfrm xmlns:a="http://schemas.openxmlformats.org/drawingml/2006/main">
            <a:off x="733425" y="3333750"/>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8D97331-C4BF-40F3-AADF-592F9204C293}"/>
              </a:ext>
            </a:extLst>
          </p:cNvPr>
          <p:cNvSpPr>
            <a:spLocks xmlns:a="http://schemas.openxmlformats.org/drawingml/2006/main" noGrp="1"/>
          </p:cNvSpPr>
          <p:nvPr/>
        </p:nvSpPr>
        <p:spPr>
          <a:xfrm xmlns:a="http://schemas.openxmlformats.org/drawingml/2006/main">
            <a:off x="1257300" y="3305175"/>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0">
                <a:solidFill>
                  <a:srgbClr val="23282D"/>
                </a:solidFill>
                <a:latin typeface="Arial"/>
                <a:ea typeface="Arial"/>
                <a:cs typeface="Arial"/>
              </a:rPr>
              <a:t xml:space="preserve">Use the same </a:t>
            </a:r>
            <a:r>
              <a:rPr sz="2100" b="1">
                <a:solidFill>
                  <a:srgbClr val="23282D"/>
                </a:solidFill>
                <a:latin typeface="Arial"/>
                <a:ea typeface="Arial"/>
                <a:cs typeface="Arial"/>
              </a:rPr>
              <a:t xml:space="preserve">units</a:t>
            </a:r>
            <a:r>
              <a:rPr sz="2100" b="0">
                <a:solidFill>
                  <a:srgbClr val="23282D"/>
                </a:solidFill>
                <a:latin typeface="Arial"/>
                <a:ea typeface="Arial"/>
                <a:cs typeface="Arial"/>
              </a:rPr>
              <a:t xml:space="preserve"> before comparing amounts.</a:t>
            </a:r>
          </a:p>
        </p:txBody>
      </p:sp>
      <p:sp>
        <p:nvSpPr>
          <p:cNvPr id="10" name="">
            <a:extLst xmlns:a="http://schemas.openxmlformats.org/drawingml/2006/main">
              <a:ext uri="{FF2B5EF4-FFF2-40B4-BE49-F238E27FC236}">
                <a16:creationId xmlns:a16="http://schemas.microsoft.com/office/drawing/2014/main" id="{8AE54208-1617-4BEB-A203-DE22A9136565}"/>
              </a:ext>
            </a:extLst>
          </p:cNvPr>
          <p:cNvSpPr>
            <a:spLocks xmlns:a="http://schemas.openxmlformats.org/drawingml/2006/main" noGrp="1"/>
          </p:cNvSpPr>
          <p:nvPr/>
        </p:nvSpPr>
        <p:spPr>
          <a:xfrm xmlns:a="http://schemas.openxmlformats.org/drawingml/2006/main">
            <a:off x="733425" y="4314825"/>
            <a:ext cx="447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2DA0"/>
                </a:solidFill>
                <a:latin typeface="Arial"/>
                <a:ea typeface="Arial"/>
                <a:cs typeface="Arial"/>
              </a:defRPr>
            </a:pPr>
            <a:r>
              <a:rPr sz="1875" b="1">
                <a:solidFill>
                  <a:srgbClr val="782DA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32D1381-69FD-4D15-8458-662ECB71B079}"/>
              </a:ext>
            </a:extLst>
          </p:cNvPr>
          <p:cNvSpPr>
            <a:spLocks xmlns:a="http://schemas.openxmlformats.org/drawingml/2006/main" noGrp="1"/>
          </p:cNvSpPr>
          <p:nvPr/>
        </p:nvSpPr>
        <p:spPr>
          <a:xfrm xmlns:a="http://schemas.openxmlformats.org/drawingml/2006/main">
            <a:off x="1257300" y="4286250"/>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82D"/>
                </a:solidFill>
                <a:latin typeface="Arial"/>
                <a:ea typeface="Arial"/>
                <a:cs typeface="Arial"/>
              </a:defRPr>
            </a:pPr>
            <a:r>
              <a:rPr sz="2100" b="0">
                <a:solidFill>
                  <a:srgbClr val="23282D"/>
                </a:solidFill>
                <a:latin typeface="Arial"/>
                <a:ea typeface="Arial"/>
                <a:cs typeface="Arial"/>
              </a:rPr>
              <a:t>Check that the answer fits the situation.</a:t>
            </a:r>
          </a:p>
        </p:txBody>
      </p:sp>
      <p:sp>
        <p:nvSpPr>
          <p:cNvPr id="12" name="">
            <a:extLst xmlns:a="http://schemas.openxmlformats.org/drawingml/2006/main">
              <a:ext uri="{FF2B5EF4-FFF2-40B4-BE49-F238E27FC236}">
                <a16:creationId xmlns:a16="http://schemas.microsoft.com/office/drawing/2014/main" id="{223372F0-9C1F-4C07-8338-AA25950EE1D5}"/>
              </a:ext>
            </a:extLst>
          </p:cNvPr>
          <p:cNvSpPr>
            <a:spLocks xmlns:a="http://schemas.openxmlformats.org/drawingml/2006/main" noGrp="1"/>
          </p:cNvSpPr>
          <p:nvPr/>
        </p:nvSpPr>
        <p:spPr>
          <a:xfrm xmlns:a="http://schemas.openxmlformats.org/drawingml/2006/main">
            <a:off x="6743700" y="18097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0C0"/>
                </a:solidFill>
                <a:latin typeface="Arial"/>
                <a:ea typeface="Arial"/>
                <a:cs typeface="Arial"/>
              </a:defRPr>
            </a:pPr>
            <a:r>
              <a:rPr sz="1350" b="1">
                <a:solidFill>
                  <a:srgbClr val="0070C0"/>
                </a:solidFill>
                <a:latin typeface="Arial"/>
                <a:ea typeface="Arial"/>
                <a:cs typeface="Arial"/>
              </a:rPr>
              <a:t>LOOK BACK AT THE EXAMPLE</a:t>
            </a:r>
          </a:p>
        </p:txBody>
      </p:sp>
      <p:graphicFrame>
        <p:nvGraphicFramePr>
          <p:cNvPr id="27" name=""/>
          <p:cNvGraphicFramePr/>
          <p:nvPr/>
        </p:nvGraphicFramePr>
        <p:xfrm>
          <a:off xmlns:a="http://schemas.openxmlformats.org/drawingml/2006/main" x="6743700" y="2333625"/>
          <a:ext xmlns:a="http://schemas.openxmlformats.org/drawingml/2006/main" cx="4705350" cy="1514475"/>
        </p:xfrm>
        <a:graphic xmlns:a="http://schemas.openxmlformats.org/drawingml/2006/main">
          <a:graphicData uri="http://schemas.openxmlformats.org/drawingml/2006/table">
            <a:tbl>
              <a:tblPr/>
              <a:tblGrid>
                <a:gridCol w="2352675"/>
                <a:gridCol w="2352675"/>
              </a:tblGrid>
              <a:tr h="504825">
                <a:tc>
                  <a:txBody>
                    <a:bodyPr/>
                    <a:lstStyle/>
                    <a:p>
                      <a:r>
                        <a:rPr sz="1425" b="1">
                          <a:solidFill>
                            <a:srgbClr val="FFFFFF"/>
                          </a:solidFill>
                          <a:latin typeface="Arial"/>
                          <a:ea typeface="Arial"/>
                          <a:cs typeface="Arial"/>
                        </a:rPr>
                        <a:t>Liters</a:t>
                      </a:r>
                    </a:p>
                  </a:txBody>
                  <a:tcPr marL="91440" marR="91440" marT="45720" marB="45720">
                    <a:solidFill>
                      <a:srgbClr val="0070C0"/>
                    </a:solidFill>
                  </a:tcPr>
                </a:tc>
                <a:tc>
                  <a:txBody>
                    <a:bodyPr/>
                    <a:lstStyle/>
                    <a:p>
                      <a:r>
                        <a:rPr sz="1425" b="1">
                          <a:solidFill>
                            <a:srgbClr val="FFFFFF"/>
                          </a:solidFill>
                          <a:latin typeface="Arial"/>
                          <a:ea typeface="Arial"/>
                          <a:cs typeface="Arial"/>
                        </a:rPr>
                        <a:t>Milliliters</a:t>
                      </a:r>
                    </a:p>
                  </a:txBody>
                  <a:tcPr marL="91440" marR="91440" marT="45720" marB="45720">
                    <a:solidFill>
                      <a:srgbClr val="0070C0"/>
                    </a:solidFill>
                  </a:tcPr>
                </a:tc>
              </a:tr>
              <a:tr h="504825">
                <a:tc>
                  <a:txBody>
                    <a:bodyPr/>
                    <a:lstStyle/>
                    <a:p>
                      <a:r>
                        <a:rPr sz="1800" b="0">
                          <a:solidFill>
                            <a:srgbClr val="23282D"/>
                          </a:solidFill>
                          <a:latin typeface="Arial"/>
                          <a:ea typeface="Arial"/>
                          <a:cs typeface="Arial"/>
                        </a:rPr>
                        <a:t>1</a:t>
                      </a:r>
                    </a:p>
                  </a:txBody>
                  <a:tcPr marL="91440" marR="91440" marT="45720" marB="45720">
                    <a:solidFill>
                      <a:srgbClr val="FFFFFF"/>
                    </a:solidFill>
                  </a:tcPr>
                </a:tc>
                <a:tc>
                  <a:txBody>
                    <a:bodyPr/>
                    <a:lstStyle/>
                    <a:p>
                      <a:r>
                        <a:rPr sz="1800" b="0">
                          <a:solidFill>
                            <a:srgbClr val="23282D"/>
                          </a:solidFill>
                          <a:latin typeface="Arial"/>
                          <a:ea typeface="Arial"/>
                          <a:cs typeface="Arial"/>
                        </a:rPr>
                        <a:t>1,000</a:t>
                      </a:r>
                    </a:p>
                  </a:txBody>
                  <a:tcPr marL="91440" marR="91440" marT="45720" marB="45720">
                    <a:solidFill>
                      <a:srgbClr val="FFFFFF"/>
                    </a:solidFill>
                  </a:tcPr>
                </a:tc>
              </a:tr>
              <a:tr h="504825">
                <a:tc>
                  <a:txBody>
                    <a:bodyPr/>
                    <a:lstStyle/>
                    <a:p>
                      <a:r>
                        <a:rPr sz="1800" b="0">
                          <a:solidFill>
                            <a:srgbClr val="23282D"/>
                          </a:solidFill>
                          <a:latin typeface="Arial"/>
                          <a:ea typeface="Arial"/>
                          <a:cs typeface="Arial"/>
                        </a:rPr>
                        <a:t>4</a:t>
                      </a:r>
                    </a:p>
                  </a:txBody>
                  <a:tcPr marL="91440" marR="91440" marT="45720" marB="45720">
                    <a:solidFill>
                      <a:srgbClr val="FFFFFF"/>
                    </a:solidFill>
                  </a:tcPr>
                </a:tc>
                <a:tc>
                  <a:txBody>
                    <a:bodyPr/>
                    <a:lstStyle/>
                    <a:p>
                      <a:r>
                        <a:rPr sz="1800" b="0">
                          <a:solidFill>
                            <a:srgbClr val="23282D"/>
                          </a:solidFill>
                          <a:latin typeface="Arial"/>
                          <a:ea typeface="Arial"/>
                          <a:cs typeface="Arial"/>
                        </a:rPr>
                        <a:t>4,000</a:t>
                      </a:r>
                    </a:p>
                  </a:txBody>
                  <a:tcPr marL="91440" marR="91440" marT="45720" marB="45720">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BDFF5FE6-C495-4589-B679-7D7890CFDB05}"/>
              </a:ext>
            </a:extLst>
          </p:cNvPr>
          <p:cNvSpPr>
            <a:spLocks xmlns:a="http://schemas.openxmlformats.org/drawingml/2006/main" noGrp="1"/>
          </p:cNvSpPr>
          <p:nvPr/>
        </p:nvSpPr>
        <p:spPr>
          <a:xfrm xmlns:a="http://schemas.openxmlformats.org/drawingml/2006/main">
            <a:off x="6743700" y="4076700"/>
            <a:ext cx="4667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0C0"/>
                </a:solidFill>
                <a:latin typeface="Arial"/>
                <a:ea typeface="Arial"/>
                <a:cs typeface="Arial"/>
              </a:defRPr>
            </a:pPr>
            <a:r>
              <a:rPr sz="1875" b="1">
                <a:solidFill>
                  <a:srgbClr val="0070C0"/>
                </a:solidFill>
                <a:latin typeface="Arial"/>
                <a:ea typeface="Arial"/>
                <a:cs typeface="Arial"/>
              </a:rPr>
              <a:t>4,000 ÷ 500 = 8 bottle fills.</a:t>
            </a:r>
          </a:p>
        </p:txBody>
      </p:sp>
      <p:sp xmlns:a="http://schemas.openxmlformats.org/drawingml/2006/main">
        <p:nvSpPr>
          <p:cNvPr id="28"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NOTES</a:t>
            </a:r>
            <a:r>
              <a:rPr lang="en-US" sz="1150" b="1" dirty="0">
                <a:solidFill>
                  <a:srgbClr val="2D3A40"/>
                </a:solidFill>
                <a:latin typeface="Arial"/>
              </a:rPr>
              <a:t xml:space="preserve">  ·  COPY LESS • UNDERSTAND MORE</a:t>
            </a:r>
          </a:p>
        </p:txBody>
      </p:sp>
      <p:sp xmlns:a="http://schemas.openxmlformats.org/drawingml/2006/main">
        <p:nvSpPr>
          <p:cNvPr id="30" name="Rounded Rectangle 17"/>
          <p:cNvSpPr/>
          <p:nvPr/>
        </p:nvSpPr>
        <p:spPr>
          <a:xfrm>
            <a:off x="502920" y="5486400"/>
            <a:ext cx="11064240" cy="77724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31" name="Rectangle 18"/>
          <p:cNvSpPr/>
          <p:nvPr/>
        </p:nvSpPr>
        <p:spPr>
          <a:xfrm>
            <a:off x="502920" y="5486400"/>
            <a:ext cx="64008" cy="77724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32" name="TextBox 19"/>
          <p:cNvSpPr txBox="1"/>
          <p:nvPr/>
        </p:nvSpPr>
        <p:spPr>
          <a:xfrm>
            <a:off x="667512" y="5596128"/>
            <a:ext cx="10771632" cy="210312"/>
          </a:xfrm>
          <a:prstGeom prst="rect">
            <a:avLst/>
          </a:prstGeom>
          <a:noFill/>
        </p:spPr>
        <p:txBody>
          <a:bodyPr wrap="square" lIns="0" tIns="0" rIns="0" bIns="0" anchor="t">
            <a:spAutoFit/>
          </a:bodyPr>
          <a:lstStyle/>
          <a:p>
            <a:pPr algn="l">
              <a:defRPr/>
            </a:pPr>
            <a:r>
              <a:rPr sz="1100" b="1">
                <a:solidFill>
                  <a:srgbClr val="782DA0"/>
                </a:solidFill>
                <a:latin typeface="Arial"/>
              </a:rPr>
              <a:t>EXPLAIN THE CONNECTION</a:t>
            </a:r>
          </a:p>
        </p:txBody>
      </p:sp>
      <p:sp xmlns:a="http://schemas.openxmlformats.org/drawingml/2006/main">
        <p:nvSpPr>
          <p:cNvPr id="33" name="TextBox 20"/>
          <p:cNvSpPr txBox="1"/>
          <p:nvPr/>
        </p:nvSpPr>
        <p:spPr>
          <a:xfrm>
            <a:off x="667512" y="5888736"/>
            <a:ext cx="10771632" cy="320040"/>
          </a:xfrm>
          <a:prstGeom prst="rect">
            <a:avLst/>
          </a:prstGeom>
          <a:noFill/>
        </p:spPr>
        <p:txBody>
          <a:bodyPr wrap="square" lIns="0" tIns="0" rIns="0" bIns="0" anchor="t">
            <a:spAutoFit/>
          </a:bodyPr>
          <a:lstStyle/>
          <a:p>
            <a:pPr algn="l">
              <a:defRPr/>
            </a:pPr>
            <a:r>
              <a:rPr sz="1600" b="0">
                <a:solidFill>
                  <a:srgbClr val="23282D"/>
                </a:solidFill>
                <a:latin typeface="Arial"/>
              </a:rPr>
              <a:t>“The units changed from ___ to ___, but the amount stayed the same.”</a:t>
            </a:r>
          </a:p>
        </p:txBody>
      </p:sp>
      <p:sp>
        <p:nvSpPr>
          <p:cNvPr id="34"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30 / 40</ns3:t>
            </ns3:r>
          </ns3:p>
        </p:txBody>
      </p:sp>
      <p:grpSp xmlns:a="http://schemas.openxmlformats.org/drawingml/2006/main">
        <p:nvGrpSpPr>
          <p:cNvPr id="35" name="TEACH-1-student-move" descr="TEACH 1 · Facilitate clear, standards-based content learning"/>
          <p:cNvGrpSpPr/>
          <p:nvPr/>
        </p:nvGrpSpPr>
        <p:grpSpPr>
          <a:xfrm>
            <a:off x="502920" y="1361313"/>
            <a:ext cx="11186160" cy="402336"/>
            <a:chOff x="502920" y="1361313"/>
            <a:chExt cx="11186160" cy="402336"/>
          </a:xfrm>
        </p:grpSpPr>
        <p:sp>
          <p:nvSpPr>
            <p:cNvPr id="36" name="TEACH-move-card"/>
            <p:cNvSpPr/>
            <p:nvPr/>
          </p:nvSpPr>
          <p:spPr>
            <a:xfrm>
              <a:off x="502920" y="1361313"/>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7" name="TEACH-move-rule"/>
            <p:cNvSpPr/>
            <p:nvPr/>
          </p:nvSpPr>
          <p:spPr>
            <a:xfrm>
              <a:off x="548640" y="1437757"/>
              <a:ext cx="100584" cy="249448"/>
            </a:xfrm>
            <a:prstGeom prst="roundRect">
              <a:avLst>
                <a:gd name="adj" fmla="val 50000"/>
              </a:avLst>
            </a:prstGeom>
            <a:solidFill>
              <a:srgbClr val="01708C"/>
            </a:solidFill>
            <a:ln>
              <a:noFill/>
            </a:ln>
          </p:spPr>
          <p:txBody>
            <a:bodyPr/>
            <a:lstStyle/>
            <a:p>
              <a:endParaRPr/>
            </a:p>
          </p:txBody>
        </p:sp>
        <p:sp>
          <p:nvSpPr>
            <p:cNvPr id="38" name="TEACH-move-text"/>
            <p:cNvSpPr txBox="1"/>
            <p:nvPr/>
          </p:nvSpPr>
          <p:spPr>
            <a:xfrm>
              <a:off x="822960" y="1361313"/>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extLst>
      <p:ext uri="{BB962C8B-B14F-4D97-AF65-F5344CB8AC3E}">
        <p14:creationId xmlns:p14="http://schemas.microsoft.com/office/powerpoint/2010/main" val="2087708649"/>
      </p:ext>
    </p:extLst>
  </p:cSld>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9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lang="en-US" sz="2800">
                <a:solidFill>
                  <a:srgbClr val="782DA0"/>
                </a:solidFill>
                <a:latin typeface="Arial"/>
                <a:ea typeface="Arial"/>
                <a:cs typeface="Arial"/>
                <a:sym typeface="Arial"/>
              </a:rPr>
              <a:t>Let’s Explore More</a:t>
            </a:r>
            <a:endParaRPr/>
          </a:p>
        </p:txBody>
      </p:sp>
      <p:sp>
        <p:nvSpPr>
          <p:cNvPr id="714" name="Google Shape;714;p93"/>
          <p:cNvSpPr txBox="1"/>
          <p:nvPr/>
        </p:nvSpPr>
        <p:spPr>
          <a:xfrm>
            <a:off x="484565" y="927529"/>
            <a:ext cx="7465117" cy="1442448"/>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lang="en-US" sz="2600">
                <a:solidFill>
                  <a:srgbClr val="23282D"/>
                </a:solidFill>
                <a:latin typeface="Arial"/>
                <a:ea typeface="Arial"/>
                <a:cs typeface="Arial"/>
                <a:sym typeface="Arial"/>
              </a:rPr>
              <a:t>How does the graph show the relationship between liters and milliliters? Connect a point to the double number line.</a:t>
            </a:r>
          </a:p>
        </p:txBody>
      </p:sp>
      <p:pic>
        <p:nvPicPr>
          <p:cNvPr id="715" name="Google Shape;715;p93"/>
          <p:cNvPicPr preferRelativeResize="0"/>
          <p:nvPr/>
        </p:nvPicPr>
        <p:blipFill rotWithShape="1">
          <a:blip r:embed="rId3">
            <a:alphaModFix/>
          </a:blip>
          <a:srcRect b="0" l="0" r="0" t="0"/>
          <a:stretch/>
        </p:blipFill>
        <p:spPr>
          <a:xfrm>
            <a:off x="7909560" y="1572768"/>
            <a:ext cx="3977639" cy="3639312"/>
          </a:xfrm>
          <a:prstGeom prst="rect">
            <a:avLst/>
          </a:prstGeom>
          <a:noFill/>
          <a:ln>
            <a:noFill/>
          </a:ln>
        </p:spPr>
      </p:pic>
      <p:sp>
        <p:nvSpPr>
          <p:cNvPr id="716" name="Google Shape;716;p93"/>
          <p:cNvSpPr txBox="1"/>
          <p:nvPr/>
        </p:nvSpPr>
        <p:spPr>
          <a:xfrm>
            <a:off x="6742811" y="2978775"/>
            <a:ext cx="12068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BFBF"/>
                </a:solidFill>
                <a:latin typeface="Arial"/>
                <a:ea typeface="Arial"/>
                <a:cs typeface="Arial"/>
                <a:sym typeface="Arial"/>
              </a:rPr>
              <a:t/>
            </a:r>
            <a:endParaRPr/>
          </a:p>
        </p:txBody>
      </p:sp>
      <p:sp>
        <p:nvSpPr>
          <p:cNvPr id="717" name="Google Shape;717;p93"/>
          <p:cNvSpPr/>
          <p:nvPr/>
        </p:nvSpPr>
        <p:spPr>
          <a:xfrm>
            <a:off x="567558" y="2369977"/>
            <a:ext cx="7382123" cy="1035696"/>
          </a:xfrm>
          <a:prstGeom prst="rect">
            <a:avLst/>
          </a:prstGeom>
          <a:noFill/>
          <a:ln cap="flat" cmpd="sng" w="12700">
            <a:solidFill>
              <a:srgbClr val="8296B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Calibri"/>
              <a:cs typeface="Calibri"/>
              <a:sym typeface="Calibri"/>
            </a:endParaRPr>
          </a:p>
        </p:txBody>
      </p:sp>
      <p:sp>
        <p:nvSpPr>
          <p:cNvPr id="718" name="Google Shape;718;p93"/>
          <p:cNvSpPr txBox="1"/>
          <p:nvPr/>
        </p:nvSpPr>
        <p:spPr>
          <a:xfrm>
            <a:off x="567557" y="3567538"/>
            <a:ext cx="7382123" cy="1418857"/>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lang="en-US" sz="2800">
                <a:solidFill>
                  <a:srgbClr val="23282D"/>
                </a:solidFill>
                <a:latin typeface="Arial"/>
                <a:ea typeface="Arial"/>
                <a:cs typeface="Arial"/>
                <a:sym typeface="Arial"/>
              </a:rPr>
              <a:t>How are the ratios between units in the metric system alike? How are they different?</a:t>
            </a:r>
            <a:endParaRPr/>
          </a:p>
        </p:txBody>
      </p:sp>
      <p:sp>
        <p:nvSpPr>
          <p:cNvPr id="719" name="Google Shape;719;p93"/>
          <p:cNvSpPr txBox="1"/>
          <p:nvPr/>
        </p:nvSpPr>
        <p:spPr>
          <a:xfrm>
            <a:off x="6742810" y="5769635"/>
            <a:ext cx="12068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BFBF"/>
                </a:solidFill>
                <a:latin typeface="Arial"/>
                <a:ea typeface="Arial"/>
                <a:cs typeface="Arial"/>
                <a:sym typeface="Arial"/>
              </a:rPr>
              <a:t/>
            </a:r>
            <a:endParaRPr/>
          </a:p>
        </p:txBody>
      </p:sp>
      <p:sp>
        <p:nvSpPr>
          <p:cNvPr id="720" name="Google Shape;720;p93"/>
          <p:cNvSpPr/>
          <p:nvPr/>
        </p:nvSpPr>
        <p:spPr>
          <a:xfrm>
            <a:off x="567557" y="5160837"/>
            <a:ext cx="7382123" cy="1035696"/>
          </a:xfrm>
          <a:prstGeom prst="rect">
            <a:avLst/>
          </a:prstGeom>
          <a:noFill/>
          <a:ln cap="flat" cmpd="sng" w="12700">
            <a:solidFill>
              <a:srgbClr val="8296B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Calibri"/>
              <a:cs typeface="Calibri"/>
              <a:sym typeface="Calibri"/>
            </a:endParaRPr>
          </a:p>
        </p:txBody>
      </p:sp>
      <p:sp>
        <p:nvSpPr>
          <p:cNvPr id="72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THINK → PARTNER TALK → EXPLAIN</a:t>
            </a:r>
          </a:p>
        </p:txBody>
      </p:sp>
      <p:sp>
        <p:nvSpPr>
          <p:cNvPr id="723" name="Rounded Rectangle 17"/>
          <p:cNvSpPr/>
          <p:nvPr/>
        </p:nvSpPr>
        <p:spPr>
          <a:xfrm>
            <a:off x="566928" y="2450592"/>
            <a:ext cx="7132320" cy="91440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4" name="Rectangle 18"/>
          <p:cNvSpPr/>
          <p:nvPr/>
        </p:nvSpPr>
        <p:spPr>
          <a:xfrm>
            <a:off x="566928" y="2450592"/>
            <a:ext cx="64008" cy="91440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5" name="TextBox 19"/>
          <p:cNvSpPr txBox="1"/>
          <p:nvPr/>
        </p:nvSpPr>
        <p:spPr>
          <a:xfrm>
            <a:off x="731520" y="2560320"/>
            <a:ext cx="6839712" cy="210312"/>
          </a:xfrm>
          <a:prstGeom prst="rect">
            <a:avLst/>
          </a:prstGeom>
          <a:noFill/>
        </p:spPr>
        <p:txBody>
          <a:bodyPr wrap="square" lIns="0" tIns="0" rIns="0" bIns="0" anchor="t">
            <a:spAutoFit/>
          </a:bodyPr>
          <a:lstStyle/>
          <a:p>
            <a:pPr algn="l"/>
            <a:r>
              <a:rPr sz="1100" b="1">
                <a:solidFill>
                  <a:srgbClr val="782DA0"/>
                </a:solidFill>
                <a:latin typeface="Arial"/>
              </a:rPr>
              <a:t>CONNECT THE REPRESENTATIONS</a:t>
            </a:r>
          </a:p>
        </p:txBody>
      </p:sp>
      <p:sp>
        <p:nvSpPr>
          <p:cNvPr id="726" name="TextBox 20"/>
          <p:cNvSpPr txBox="1"/>
          <p:nvPr/>
        </p:nvSpPr>
        <p:spPr>
          <a:xfrm>
            <a:off x="731520" y="2852928"/>
            <a:ext cx="6839712" cy="457200"/>
          </a:xfrm>
          <a:prstGeom prst="rect">
            <a:avLst/>
          </a:prstGeom>
          <a:noFill/>
        </p:spPr>
        <p:txBody>
          <a:bodyPr wrap="square" lIns="0" tIns="0" rIns="0" bIns="0" anchor="t">
            <a:spAutoFit/>
          </a:bodyPr>
          <a:lstStyle/>
          <a:p>
            <a:pPr algn="l"/>
            <a:r>
              <a:rPr sz="1600" b="0">
                <a:solidFill>
                  <a:srgbClr val="23282D"/>
                </a:solidFill>
                <a:latin typeface="Arial"/>
              </a:rPr>
              <a:t>“The point (___, ___) matches the ratio ___ because ___.”</a:t>
            </a:r>
          </a:p>
        </p:txBody>
      </p:sp>
      <p:sp>
        <p:nvSpPr>
          <p:cNvPr id="727" name="Rounded Rectangle 17"/>
          <p:cNvSpPr/>
          <p:nvPr/>
        </p:nvSpPr>
        <p:spPr>
          <a:xfrm>
            <a:off x="566928" y="5239512"/>
            <a:ext cx="7132320" cy="896112"/>
          </a:xfrm>
          <a:prstGeom prst="roundRect">
            <a:avLst/>
          </a:prstGeom>
          <a:solidFill>
            <a:srgbClr val="EAF7F5"/>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8" name="Rectangle 18"/>
          <p:cNvSpPr/>
          <p:nvPr/>
        </p:nvSpPr>
        <p:spPr>
          <a:xfrm>
            <a:off x="566928" y="5239512"/>
            <a:ext cx="64008" cy="896112"/>
          </a:xfrm>
          <a:prstGeom prst="rect">
            <a:avLst/>
          </a:prstGeom>
          <a:solidFill>
            <a:srgbClr val="008B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9" name="TextBox 19"/>
          <p:cNvSpPr txBox="1"/>
          <p:nvPr/>
        </p:nvSpPr>
        <p:spPr>
          <a:xfrm>
            <a:off x="731520" y="5349240"/>
            <a:ext cx="6839712" cy="210312"/>
          </a:xfrm>
          <a:prstGeom prst="rect">
            <a:avLst/>
          </a:prstGeom>
          <a:noFill/>
        </p:spPr>
        <p:txBody>
          <a:bodyPr wrap="square" lIns="0" tIns="0" rIns="0" bIns="0" anchor="t">
            <a:spAutoFit/>
          </a:bodyPr>
          <a:lstStyle/>
          <a:p>
            <a:pPr algn="l"/>
            <a:r>
              <a:rPr sz="1100" b="1">
                <a:solidFill>
                  <a:srgbClr val="008B78"/>
                </a:solidFill>
                <a:latin typeface="Arial"/>
              </a:rPr>
              <a:t>COMPARE THE FACTORS</a:t>
            </a:r>
          </a:p>
        </p:txBody>
      </p:sp>
      <p:sp>
        <p:nvSpPr>
          <p:cNvPr id="730" name="TextBox 20"/>
          <p:cNvSpPr txBox="1"/>
          <p:nvPr/>
        </p:nvSpPr>
        <p:spPr>
          <a:xfrm>
            <a:off x="731520" y="5641848"/>
            <a:ext cx="6839712" cy="438912"/>
          </a:xfrm>
          <a:prstGeom prst="rect">
            <a:avLst/>
          </a:prstGeom>
          <a:noFill/>
        </p:spPr>
        <p:txBody>
          <a:bodyPr wrap="square" lIns="0" tIns="0" rIns="0" bIns="0" anchor="t">
            <a:spAutoFit/>
          </a:bodyPr>
          <a:lstStyle/>
          <a:p>
            <a:pPr algn="l"/>
            <a:r>
              <a:rPr sz="1600" b="0">
                <a:solidFill>
                  <a:srgbClr val="23282D"/>
                </a:solidFill>
                <a:latin typeface="Arial"/>
              </a:rPr>
              <a:t>“These metric conversions use powers of ten. The factor changes because ___.”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Compare pathways with a partner; name one revision.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3.6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multiplying or dividing without considering unit size.</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Label units on each step of the given conversion and reason whether the count should increase.</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62" name="Google Shape;862;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descr="C:\Users\e402540\Downloads\kanchana\ePress PPT creation\sn_47fe6-1080mp4\OPS\img\.assets\d868cd0d3aae463382625a7127d4503f\narm24_c10306_se_003a-dig.png" id="863" name="Google Shape;863;p85"/>
          <p:cNvPicPr preferRelativeResize="0"/>
          <p:nvPr/>
        </p:nvPicPr>
        <p:blipFill rotWithShape="1">
          <a:blip r:embed="rId2">
            <a:alphaModFix/>
          </a:blip>
          <a:srcRect b="0" l="0" r="0" t="0"/>
          <a:stretch/>
        </p:blipFill>
        <p:spPr>
          <a:xfrm>
            <a:off x="9774360" y="1831730"/>
            <a:ext cx="942975" cy="2543175"/>
          </a:xfrm>
          <a:prstGeom prst="rect">
            <a:avLst/>
          </a:prstGeom>
          <a:noFill/>
          <a:ln>
            <a:noFill/>
          </a:ln>
        </p:spPr>
      </p:pic>
      <p:sp>
        <p:nvSpPr>
          <p:cNvPr id="864" name="Google Shape;864;p85"/>
          <p:cNvSpPr txBox="1"/>
          <p:nvPr/>
        </p:nvSpPr>
        <p:spPr>
          <a:xfrm>
            <a:off x="484565" y="3488800"/>
            <a:ext cx="8246197" cy="10392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could be the first step when solving this problem?</a:t>
            </a:r>
            <a:endParaRPr b="0" i="0" sz="1400" u="none" cap="none" strike="noStrike">
              <a:solidFill>
                <a:srgbClr val="000000"/>
              </a:solidFill>
              <a:latin typeface="Arial"/>
              <a:ea typeface="Arial"/>
              <a:cs typeface="Arial"/>
              <a:sym typeface="Arial"/>
            </a:endParaRPr>
          </a:p>
        </p:txBody>
      </p:sp>
      <p:sp>
        <p:nvSpPr>
          <p:cNvPr id="865" name="Google Shape;865;p85"/>
          <p:cNvSpPr txBox="1"/>
          <p:nvPr/>
        </p:nvSpPr>
        <p:spPr>
          <a:xfrm>
            <a:off x="484566" y="682498"/>
            <a:ext cx="8101294" cy="23443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Diamond wants to drink 4 liters of water each day. She has a water bottle that holds 500 milliliters of water. How many times will she need to fill the water bottle each day to reach her goal?</a:t>
            </a:r>
            <a:endParaRPr b="0" i="0" sz="1400" u="none" cap="none" strike="noStrike">
              <a:solidFill>
                <a:srgbClr val="000000"/>
              </a:solidFill>
              <a:latin typeface="Arial"/>
              <a:ea typeface="Arial"/>
              <a:cs typeface="Arial"/>
              <a:sym typeface="Arial"/>
            </a:endParaRPr>
          </a:p>
        </p:txBody>
      </p:sp>
      <p:sp>
        <p:nvSpPr>
          <p:cNvPr id="866" name="Google Shape;866;p85"/>
          <p:cNvSpPr txBox="1"/>
          <p:nvPr/>
        </p:nvSpPr>
        <p:spPr>
          <a:xfrm>
            <a:off x="484565" y="4782944"/>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Determine how many milliliters are in 4 liters.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06" name="Google Shape;906;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7" name="Google Shape;907;p91"/>
          <p:cNvSpPr txBox="1"/>
          <p:nvPr/>
        </p:nvSpPr>
        <p:spPr>
          <a:xfrm>
            <a:off x="581279" y="929550"/>
            <a:ext cx="6983302" cy="16648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visual representation can you use to determine the number of milliliters in 4 liters?</a:t>
            </a:r>
            <a:endParaRPr b="0" i="0" sz="1400" u="none" cap="none" strike="noStrike">
              <a:solidFill>
                <a:srgbClr val="000000"/>
              </a:solidFill>
              <a:latin typeface="Arial"/>
              <a:ea typeface="Arial"/>
              <a:cs typeface="Arial"/>
              <a:sym typeface="Arial"/>
            </a:endParaRPr>
          </a:p>
        </p:txBody>
      </p:sp>
      <p:sp>
        <p:nvSpPr>
          <p:cNvPr id="908" name="Google Shape;908;p91"/>
          <p:cNvSpPr txBox="1"/>
          <p:nvPr/>
        </p:nvSpPr>
        <p:spPr>
          <a:xfrm>
            <a:off x="581279" y="4175312"/>
            <a:ext cx="5960624" cy="20529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a double number line to determine the number of milliliters in 4 liters.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3529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68" name="Google Shape;968;p97"/>
          <p:cNvPicPr preferRelativeResize="0"/>
          <p:nvPr/>
        </p:nvPicPr>
        <p:blipFill rotWithShape="1">
          <a:blip r:embed="rId2">
            <a:alphaModFix/>
          </a:blip>
          <a:srcRect b="0" l="0" r="0" t="0"/>
          <a:stretch/>
        </p:blipFill>
        <p:spPr>
          <a:xfrm>
            <a:off x="1913080" y="2148451"/>
            <a:ext cx="4363352" cy="1280549"/>
          </a:xfrm>
          <a:prstGeom prst="rect">
            <a:avLst/>
          </a:prstGeom>
          <a:noFill/>
          <a:ln>
            <a:noFill/>
          </a:ln>
        </p:spPr>
      </p:pic>
      <p:cxnSp>
        <p:nvCxnSpPr>
          <p:cNvPr id="969" name="Google Shape;969;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0" name="Google Shape;970;p97"/>
          <p:cNvSpPr txBox="1"/>
          <p:nvPr/>
        </p:nvSpPr>
        <p:spPr>
          <a:xfrm>
            <a:off x="475937" y="477931"/>
            <a:ext cx="6511459" cy="14648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use the number line to find the number of milliliters in 4 liters?</a:t>
            </a:r>
            <a:endParaRPr b="0" i="0" sz="1400" u="none" cap="none" strike="noStrike">
              <a:solidFill>
                <a:srgbClr val="000000"/>
              </a:solidFill>
              <a:latin typeface="Arial"/>
              <a:ea typeface="Arial"/>
              <a:cs typeface="Arial"/>
              <a:sym typeface="Arial"/>
            </a:endParaRPr>
          </a:p>
        </p:txBody>
      </p:sp>
      <p:sp>
        <p:nvSpPr>
          <p:cNvPr id="971" name="Google Shape;971;p97"/>
          <p:cNvSpPr txBox="1"/>
          <p:nvPr/>
        </p:nvSpPr>
        <p:spPr>
          <a:xfrm>
            <a:off x="475937" y="4019145"/>
            <a:ext cx="5960624" cy="23609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identify the label on the milliliters number line that corresponds to the 4-liter mark on the liters number line.</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EWL-Eyebrow"/>
          <p:cNvSpPr txBox="1"/>
          <p:nvPr/>
        </p:nvSpPr>
        <p:spPr>
          <a:xfrm>
            <a:off x="502920" y="54864"/>
            <a:ext cx="6035040" cy="237744"/>
          </a:xfrm>
          <a:prstGeom prst="rect">
            <a:avLst/>
          </a:prstGeom>
          <a:noFill/>
          <a:ln>
            <a:noFill/>
          </a:ln>
        </p:spPr>
        <p:txBody>
          <a:bodyPr wrap="square" lIns="0" tIns="0" rIns="0" bIns="45700" anchor="t"/>
          <a:lstStyle/>
          <a:p>
            <a:pPr algn="l">
              <a:lnSpc>
                <a:spcPct val="115000"/>
              </a:lnSpc>
              <a:defRPr/>
            </a:pPr>
            <a:r>
              <a:rPr lang="en-US" sz="1200" b="1">
                <a:solidFill>
                  <a:srgbClr val="1E2682"/>
                </a:solidFill>
                <a:latin typeface="Arial"/>
                <a:ea typeface="Arial"/>
                <a:cs typeface="Arial"/>
              </a:rPr>
              <a:t xml:space="preserve">STUDENT MOVE  ·  </a:t>
            </a:r>
            <a:r>
              <a:rPr lang="en-US" sz="1200" b="1">
                <a:solidFill>
                  <a:srgbClr val="595959"/>
                </a:solidFill>
                <a:latin typeface="Arial"/>
                <a:ea typeface="Arial"/>
                <a:cs typeface="Arial"/>
              </a:rPr>
              <a:t>SUMMARIZE • TEACH A PARTNER</a:t>
            </a:r>
          </a:p>
        </p:txBody>
      </p:sp>
      <p:sp>
        <p:nvSpPr>
          <p:cNvPr id="802" name="EWL-Title"/>
          <p:cNvSpPr txBox="1"/>
          <p:nvPr/>
        </p:nvSpPr>
        <p:spPr>
          <a:xfrm>
            <a:off x="484632" y="365760"/>
            <a:ext cx="9144000" cy="822960"/>
          </a:xfrm>
          <a:prstGeom prst="rect">
            <a:avLst/>
          </a:prstGeom>
          <a:noFill/>
          <a:ln>
            <a:noFill/>
          </a:ln>
        </p:spPr>
        <p:txBody>
          <a:bodyPr wrap="square" lIns="91425" tIns="45700" rIns="91425" bIns="45700" anchor="t"/>
          <a:lstStyle/>
          <a:p>
            <a:pPr algn="l">
              <a:lnSpc>
                <a:spcPct val="115000"/>
              </a:lnSpc>
              <a:defRPr/>
            </a:pPr>
            <a:r>
              <a:rPr lang="en-US" sz="2700" b="1">
                <a:solidFill>
                  <a:srgbClr val="782DA0"/>
                </a:solidFill>
                <a:latin typeface="Arial"/>
                <a:ea typeface="Arial"/>
                <a:cs typeface="Arial"/>
              </a:rPr>
              <a:t>Summarize: Convert Units</a:t>
            </a:r>
          </a:p>
        </p:txBody>
      </p:sp>
      <p:sp>
        <p:nvSpPr>
          <p:cNvPr id="803" name="EWL-Card1"/>
          <p:cNvSpPr txBox="1"/>
          <p:nvPr/>
        </p:nvSpPr>
        <p:spPr>
          <a:xfrm>
            <a:off x="548640" y="1554480"/>
            <a:ext cx="5440680" cy="2468880"/>
          </a:xfrm>
          <a:prstGeom prst="roundRect">
            <a:avLst>
              <a:gd name="adj" fmla="val 6000"/>
            </a:avLst>
          </a:prstGeom>
          <a:solidFill>
            <a:srgbClr val="EAF6F2"/>
          </a:solidFill>
          <a:ln w="19050">
            <a:solidFill>
              <a:srgbClr val="0E8476"/>
            </a:solidFill>
          </a:ln>
        </p:spPr>
        <p:txBody>
          <a:bodyPr wrap="square" lIns="201168" tIns="658368" rIns="201168" bIns="45700" anchor="t"/>
          <a:lstStyle/>
          <a:p>
            <a:pPr algn="l">
              <a:lnSpc>
                <a:spcPct val="115000"/>
              </a:lnSpc>
            </a:pPr>
            <a:r>
              <a:rPr lang="en-US" sz="1600">
                <a:solidFill>
                  <a:srgbClr val="262626"/>
                </a:solidFill>
                <a:latin typeface="Arial"/>
                <a:ea typeface="Arial"/>
                <a:cs typeface="Arial"/>
              </a:rPr>
              <a:t>Every conversion is a ratio — like 12 inches for every 1 foot, or 1,000 milliliters for every 1 liter.</a:t>
            </a:r>
          </a:p>
        </p:txBody>
      </p:sp>
      <p:sp>
        <p:nvSpPr>
          <p:cNvPr id="804" name="EWL-Chip1"/>
          <p:cNvSpPr txBox="1"/>
          <p:nvPr/>
        </p:nvSpPr>
        <p:spPr>
          <a:xfrm>
            <a:off x="777240" y="1783080"/>
            <a:ext cx="2377440" cy="420624"/>
          </a:xfrm>
          <a:prstGeom prst="roundRect">
            <a:avLst>
              <a:gd name="adj" fmla="val 50000"/>
            </a:avLst>
          </a:prstGeom>
          <a:solidFill>
            <a:srgbClr val="0E8476"/>
          </a:solidFill>
          <a:ln>
            <a:noFill/>
          </a:ln>
        </p:spPr>
        <p:txBody>
          <a:bodyPr wrap="square" lIns="0" tIns="0" rIns="0" bIns="45700" anchor="ctr"/>
          <a:lstStyle/>
          <a:p>
            <a:pPr algn="ctr">
              <a:lnSpc>
                <a:spcPct val="115000"/>
              </a:lnSpc>
            </a:pPr>
            <a:r>
              <a:rPr lang="en-US" sz="1400" b="1">
                <a:solidFill>
                  <a:srgbClr val="FFFFFF"/>
                </a:solidFill>
                <a:latin typeface="Arial"/>
                <a:ea typeface="Arial"/>
                <a:cs typeface="Arial"/>
              </a:rPr>
              <a:t>CONVERSION RATIO</a:t>
            </a:r>
          </a:p>
        </p:txBody>
      </p:sp>
      <p:sp>
        <p:nvSpPr>
          <p:cNvPr id="805" name="EWL-Card2"/>
          <p:cNvSpPr txBox="1"/>
          <p:nvPr/>
        </p:nvSpPr>
        <p:spPr>
          <a:xfrm>
            <a:off x="6217920" y="1554480"/>
            <a:ext cx="5440680" cy="2468880"/>
          </a:xfrm>
          <a:prstGeom prst="roundRect">
            <a:avLst>
              <a:gd name="adj" fmla="val 6000"/>
            </a:avLst>
          </a:prstGeom>
          <a:solidFill>
            <a:srgbClr val="FDF1E3"/>
          </a:solidFill>
          <a:ln w="19050">
            <a:solidFill>
              <a:srgbClr val="C46A0C"/>
            </a:solidFill>
          </a:ln>
        </p:spPr>
        <p:txBody>
          <a:bodyPr wrap="square" lIns="201168" tIns="658368" rIns="201168" bIns="45700" anchor="t"/>
          <a:lstStyle/>
          <a:p>
            <a:pPr algn="l">
              <a:lnSpc>
                <a:spcPct val="115000"/>
              </a:lnSpc>
            </a:pPr>
            <a:r>
              <a:rPr lang="en-US" sz="1600">
                <a:solidFill>
                  <a:srgbClr val="262626"/>
                </a:solidFill>
                <a:latin typeface="Arial"/>
                <a:ea typeface="Arial"/>
                <a:cs typeface="Arial"/>
              </a:rPr>
              <a:t>To compare two measurements, convert them into the same unit first — then compare the numbers.</a:t>
            </a:r>
          </a:p>
        </p:txBody>
      </p:sp>
      <p:sp>
        <p:nvSpPr>
          <p:cNvPr id="806" name="EWL-Chip2"/>
          <p:cNvSpPr txBox="1"/>
          <p:nvPr/>
        </p:nvSpPr>
        <p:spPr>
          <a:xfrm>
            <a:off x="6446520" y="1783080"/>
            <a:ext cx="2377440" cy="420624"/>
          </a:xfrm>
          <a:prstGeom prst="roundRect">
            <a:avLst>
              <a:gd name="adj" fmla="val 50000"/>
            </a:avLst>
          </a:prstGeom>
          <a:solidFill>
            <a:srgbClr val="C46A0C"/>
          </a:solidFill>
          <a:ln>
            <a:noFill/>
          </a:ln>
        </p:spPr>
        <p:txBody>
          <a:bodyPr wrap="square" lIns="0" tIns="0" rIns="0" bIns="45700" anchor="ctr"/>
          <a:lstStyle/>
          <a:p>
            <a:pPr algn="ctr">
              <a:lnSpc>
                <a:spcPct val="115000"/>
              </a:lnSpc>
            </a:pPr>
            <a:r>
              <a:rPr lang="en-US" sz="1400" b="1">
                <a:solidFill>
                  <a:srgbClr val="FFFFFF"/>
                </a:solidFill>
                <a:latin typeface="Arial"/>
                <a:ea typeface="Arial"/>
                <a:cs typeface="Arial"/>
              </a:rPr>
              <a:t>SAME UNIT FIRST</a:t>
            </a:r>
          </a:p>
        </p:txBody>
      </p:sp>
      <p:sp>
        <p:nvSpPr>
          <p:cNvPr id="807" name="EWL-Takeaway"/>
          <p:cNvSpPr txBox="1"/>
          <p:nvPr/>
        </p:nvSpPr>
        <p:spPr>
          <a:xfrm>
            <a:off x="548640" y="4434840"/>
            <a:ext cx="11091672" cy="1234440"/>
          </a:xfrm>
          <a:prstGeom prst="rect">
            <a:avLst/>
          </a:prstGeom>
          <a:solidFill>
            <a:srgbClr val="F6EFFA"/>
          </a:solidFill>
          <a:ln w="12700">
            <a:solidFill>
              <a:srgbClr val="782DA0"/>
            </a:solidFill>
          </a:ln>
        </p:spPr>
        <p:txBody>
          <a:bodyPr wrap="square" lIns="228600" tIns="45700" rIns="228600" bIns="45700" anchor="ctr"/>
          <a:lstStyle/>
          <a:p>
            <a:pPr algn="l">
              <a:lnSpc>
                <a:spcPct val="115000"/>
              </a:lnSpc>
            </a:pPr>
            <a:r>
              <a:rPr lang="en-US" sz="1600" b="1">
                <a:solidFill>
                  <a:srgbClr val="782DA0"/>
                </a:solidFill>
                <a:latin typeface="Arial"/>
                <a:ea typeface="Arial"/>
                <a:cs typeface="Arial"/>
              </a:rPr>
              <a:t xml:space="preserve">Key idea: </a:t>
            </a:r>
            <a:r>
              <a:rPr lang="en-US" sz="1600">
                <a:solidFill>
                  <a:srgbClr val="262626"/>
                </a:solidFill>
                <a:latin typeface="Arial"/>
                <a:ea typeface="Arial"/>
                <a:cs typeface="Arial"/>
              </a:rPr>
              <a:t>Converting units multiplies by a conversion ratio — the amount stays the same, the label changes.</a:t>
            </a:r>
          </a:p>
          <a:p>
            <a:pPr algn="l">
              <a:lnSpc>
                <a:spcPct val="115000"/>
              </a:lnSpc>
            </a:pPr>
            <a:r>
              <a:rPr lang="en-US" sz="1500" b="1">
                <a:solidFill>
                  <a:srgbClr val="1E2682"/>
                </a:solidFill>
                <a:latin typeface="Arial"/>
                <a:ea typeface="Arial"/>
                <a:cs typeface="Arial"/>
              </a:rPr>
              <a:t xml:space="preserve">Teach a partner: </a:t>
            </a:r>
            <a:r>
              <a:rPr lang="en-US" sz="1500">
                <a:solidFill>
                  <a:srgbClr val="262626"/>
                </a:solidFill>
                <a:latin typeface="Arial"/>
                <a:ea typeface="Arial"/>
                <a:cs typeface="Arial"/>
              </a:rPr>
              <a:t>How do you decide whether to multiply or divide when converting?</a:t>
            </a:r>
          </a:p>
        </p:txBody>
      </p:sp>
      <p:sp>
        <p:nvSpPr>
          <p:cNvPr id="808" name="EWL-SlideNumber"/>
          <p:cNvSpPr txBox="1"/>
          <p:nvPr/>
        </p:nvSpPr>
        <p:spPr>
          <a:xfrm>
            <a:off x="5577840" y="6492240"/>
            <a:ext cx="1033272" cy="256032"/>
          </a:xfrm>
          <a:prstGeom prst="rect">
            <a:avLst/>
          </a:prstGeom>
          <a:noFill/>
          <a:ln>
            <a:noFill/>
          </a:ln>
        </p:spPr>
        <p:txBody>
          <a:bodyPr wrap="square" lIns="0" tIns="0" rIns="0" bIns="45700" anchor="t"/>
          <a:lstStyle/>
          <a:p>
            <a:pPr algn="ctr">
              <a:lnSpc>
                <a:spcPct val="115000"/>
              </a:lnSpc>
            </a:pPr>
            <a:r>
              <a:rPr lang="en-US" sz="1100">
                <a:solidFill>
                  <a:srgbClr val="767171"/>
                </a:solidFill>
                <a:latin typeface="Arial"/>
                <a:ea typeface="Arial"/>
                <a:cs typeface="Arial"/>
              </a:rPr>
              <a:t>36 / 40</a:t>
            </a:r>
          </a:p>
        </p:txBody>
      </p:sp>
      <p:grpSp>
        <p:nvGrpSpPr>
          <p:cNvPr id="809" name="TEACH-7-student-move" descr="TEACH 7 · Cultivate a supportive learning community"/>
          <p:cNvGrpSpPr/>
          <p:nvPr/>
        </p:nvGrpSpPr>
        <p:grpSpPr>
          <a:xfrm>
            <a:off x="502920" y="5751576"/>
            <a:ext cx="11186160" cy="548640"/>
            <a:chOff x="502920" y="5751576"/>
            <a:chExt cx="11186160" cy="548640"/>
          </a:xfrm>
        </p:grpSpPr>
        <p:sp>
          <p:nvSpPr>
            <p:cNvPr id="810"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811"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812"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CREDIT A CLASSMATE  ·  </a:t>
              </a:r>
              <a:r>
                <a:rPr lang="en-US" sz="1400" dirty="0">
                  <a:solidFill>
                    <a:srgbClr val="13303A"/>
                  </a:solidFill>
                  <a:latin typeface="Arial"/>
                </a:rPr>
                <a:t>Name one classmate whose idea helped you today, and say what they said.</a:t>
              </a:r>
              <a:endParaRPr lang="en-US" sz="1400"/>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95"/>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lang="en-US" sz="2800">
                <a:solidFill>
                  <a:srgbClr val="782DA0"/>
                </a:solidFill>
                <a:latin typeface="Arial"/>
                <a:ea typeface="Arial"/>
                <a:cs typeface="Arial"/>
                <a:sym typeface="Arial"/>
              </a:rPr>
              <a:t>Apply:</a:t>
            </a:r>
            <a:r>
              <a:rPr b="1" lang="en-US" sz="2800">
                <a:solidFill>
                  <a:srgbClr val="782DA0"/>
                </a:solidFill>
                <a:latin typeface="Arial"/>
                <a:ea typeface="Arial"/>
                <a:cs typeface="Arial"/>
                <a:sym typeface="Arial"/>
              </a:rPr>
              <a:t xml:space="preserve"> Making Concrete</a:t>
            </a:r>
            <a:endParaRPr/>
          </a:p>
        </p:txBody>
      </p:sp>
      <p:cxnSp>
        <p:nvCxnSpPr>
          <p:cNvPr id="733" name="Google Shape;733;p95"/>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734" name="Google Shape;734;p95"/>
          <p:cNvSpPr txBox="1"/>
          <p:nvPr/>
        </p:nvSpPr>
        <p:spPr>
          <a:xfrm>
            <a:off x="484565" y="3445629"/>
            <a:ext cx="7451958" cy="9689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lang="en-US" sz="2800">
                <a:solidFill>
                  <a:srgbClr val="23282D"/>
                </a:solidFill>
                <a:latin typeface="Arial"/>
                <a:ea typeface="Arial"/>
                <a:cs typeface="Arial"/>
                <a:sym typeface="Arial"/>
              </a:rPr>
              <a:t xml:space="preserve">Question: </a:t>
            </a:r>
            <a:r>
              <a:rPr lang="en-US" sz="2800">
                <a:solidFill>
                  <a:srgbClr val="23282D"/>
                </a:solidFill>
                <a:latin typeface="Arial"/>
                <a:ea typeface="Arial"/>
                <a:cs typeface="Arial"/>
                <a:sym typeface="Arial"/>
              </a:rPr>
              <a:t>How many bags of concrete mix and quarts of water will she need?</a:t>
            </a:r>
            <a:endParaRPr/>
          </a:p>
        </p:txBody>
      </p:sp>
      <p:sp>
        <p:nvSpPr>
          <p:cNvPr id="735" name="Google Shape;735;p95"/>
          <p:cNvSpPr txBox="1"/>
          <p:nvPr/>
        </p:nvSpPr>
        <p:spPr>
          <a:xfrm>
            <a:off x="484565" y="1036796"/>
            <a:ext cx="7519610" cy="181095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lang="en-US" sz="2800">
                <a:solidFill>
                  <a:srgbClr val="23282D"/>
                </a:solidFill>
                <a:latin typeface="Arial"/>
                <a:ea typeface="Arial"/>
                <a:cs typeface="Arial"/>
                <a:sym typeface="Arial"/>
              </a:rPr>
              <a:t>Michael’s mother needs to secure four posts for her garden fence. She uses the concrete mix shown for the project. Each post requires 250 ounces of concrete mix.</a:t>
            </a:r>
            <a:endParaRPr/>
          </a:p>
        </p:txBody>
      </p:sp>
      <p:pic>
        <p:nvPicPr>
          <p:cNvPr descr="C:\Users\e402540\Downloads\kanchana\ePress PPT creation\sn_47fe6-1080mp4\OPS\img\chapter55\narm24_c10306_se_007a-dig.png" id="736" name="Google Shape;736;p95"/>
          <p:cNvPicPr preferRelativeResize="0"/>
          <p:nvPr/>
        </p:nvPicPr>
        <p:blipFill rotWithShape="1">
          <a:blip r:embed="rId3">
            <a:alphaModFix/>
          </a:blip>
          <a:srcRect b="0" l="0" r="0" t="0"/>
          <a:stretch/>
        </p:blipFill>
        <p:spPr>
          <a:xfrm>
            <a:off x="8156575" y="2420508"/>
            <a:ext cx="3733800" cy="1905000"/>
          </a:xfrm>
          <a:prstGeom prst="rect">
            <a:avLst/>
          </a:prstGeom>
          <a:noFill/>
          <a:ln>
            <a:noFill/>
          </a:ln>
        </p:spPr>
      </p:pic>
      <p:sp>
        <p:nvSpPr>
          <p:cNvPr id="737"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MOVE</a:t>
            </a:r>
            <a:r>
              <a:rPr lang="en-US" sz="1150" b="1" dirty="0">
                <a:solidFill>
                  <a:srgbClr val="2D3A40"/>
                </a:solidFill>
                <a:latin typeface="Arial"/>
              </a:rPr>
              <a:t xml:space="preserve">  ·  THINK → PARTNER TALK → EXPLAIN</a:t>
            </a:r>
          </a:p>
        </p:txBody>
      </p:sp>
      <p:sp>
        <p:nvSpPr>
          <p:cNvPr id="739" name="Rounded Rectangle 17"/>
          <p:cNvSpPr/>
          <p:nvPr/>
        </p:nvSpPr>
        <p:spPr>
          <a:xfrm>
            <a:off x="502920" y="4846320"/>
            <a:ext cx="10789920" cy="96012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0" name="Rectangle 18"/>
          <p:cNvSpPr/>
          <p:nvPr/>
        </p:nvSpPr>
        <p:spPr>
          <a:xfrm>
            <a:off x="502920" y="4846320"/>
            <a:ext cx="64008" cy="96012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1" name="TextBox 19"/>
          <p:cNvSpPr txBox="1"/>
          <p:nvPr/>
        </p:nvSpPr>
        <p:spPr>
          <a:xfrm>
            <a:off x="667512" y="4956048"/>
            <a:ext cx="10497312" cy="210312"/>
          </a:xfrm>
          <a:prstGeom prst="rect">
            <a:avLst/>
          </a:prstGeom>
          <a:noFill/>
        </p:spPr>
        <p:txBody>
          <a:bodyPr wrap="square" lIns="0" tIns="0" rIns="0" bIns="0" anchor="t">
            <a:spAutoFit/>
          </a:bodyPr>
          <a:lstStyle/>
          <a:p>
            <a:pPr algn="l">
              <a:defRPr/>
            </a:pPr>
            <a:r>
              <a:rPr sz="1100" b="1">
                <a:solidFill>
                  <a:srgbClr val="782DA0"/>
                </a:solidFill>
                <a:latin typeface="Arial"/>
              </a:rPr>
              <a:t>BEFORE YOU FINISH</a:t>
            </a:r>
          </a:p>
        </p:txBody>
      </p:sp>
      <p:sp>
        <p:nvSpPr>
          <p:cNvPr id="742" name="TextBox 20"/>
          <p:cNvSpPr txBox="1"/>
          <p:nvPr/>
        </p:nvSpPr>
        <p:spPr>
          <a:xfrm>
            <a:off x="667512" y="5248656"/>
            <a:ext cx="10497312" cy="502920"/>
          </a:xfrm>
          <a:prstGeom prst="rect">
            <a:avLst/>
          </a:prstGeom>
          <a:noFill/>
        </p:spPr>
        <p:txBody>
          <a:bodyPr wrap="square" lIns="0" tIns="0" rIns="0" bIns="0" anchor="t">
            <a:spAutoFit/>
          </a:bodyPr>
          <a:lstStyle/>
          <a:p>
            <a:pPr algn="l">
              <a:defRPr/>
            </a:pPr>
            <a:r>
              <a:rPr sz="1600" b="0">
                <a:solidFill>
                  <a:srgbClr val="23282D"/>
                </a:solidFill>
                <a:latin typeface="Arial"/>
              </a:rPr>
              <a:t>Find the total mix for all 4 posts. Match the units, then explain how you found bags and water.</a:t>
            </a:r>
          </a:p>
        </p:txBody>
      </p:sp>
      <p:sp>
        <p:nvSpPr>
          <p:cNvPr id="7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40</a:t>
            </a:r>
          </a:p>
        </p:txBody>
      </p:sp>
      <p:grpSp>
        <p:nvGrpSpPr>
          <p:cNvPr id="744" name="TEACH-6-student-move" descr="TEACH 6 · Organize and implement routines to support a learning-focused classroom"/>
          <p:cNvGrpSpPr/>
          <p:nvPr/>
        </p:nvGrpSpPr>
        <p:grpSpPr>
          <a:xfrm>
            <a:off x="502920" y="5843016"/>
            <a:ext cx="11186160" cy="457200"/>
            <a:chOff x="502920" y="5843016"/>
            <a:chExt cx="11186160" cy="457200"/>
          </a:xfrm>
        </p:grpSpPr>
        <p:sp>
          <p:nvSpPr>
            <p:cNvPr id="745" name="TEACH-move-card"/>
            <p:cNvSpPr/>
            <p:nvPr/>
          </p:nvSpPr>
          <p:spPr>
            <a:xfrm>
              <a:off x="502920" y="5843016"/>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746" name="TEACH-move-rule"/>
            <p:cNvSpPr/>
            <p:nvPr/>
          </p:nvSpPr>
          <p:spPr>
            <a:xfrm>
              <a:off x="548640" y="5929884"/>
              <a:ext cx="100584" cy="283464"/>
            </a:xfrm>
            <a:prstGeom prst="roundRect">
              <a:avLst>
                <a:gd name="adj" fmla="val 50000"/>
              </a:avLst>
            </a:prstGeom>
            <a:solidFill>
              <a:srgbClr val="01708C"/>
            </a:solidFill>
            <a:ln>
              <a:noFill/>
            </a:ln>
          </p:spPr>
          <p:txBody>
            <a:bodyPr/>
            <a:lstStyle/>
            <a:p>
              <a:endParaRPr/>
            </a:p>
          </p:txBody>
        </p:sp>
        <p:sp>
          <p:nvSpPr>
            <p:cNvPr id="747" name="TEACH-move-text"/>
            <p:cNvSpPr txBox="1"/>
            <p:nvPr/>
          </p:nvSpPr>
          <p:spPr>
            <a:xfrm>
              <a:off x="822960" y="5843016"/>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TRY IT BEFORE YOU’RE SURE  ·  </a:t>
              </a:r>
              <a:r>
                <a:rPr lang="en-US" sz="1400" dirty="0">
                  <a:solidFill>
                    <a:srgbClr val="13303A"/>
                  </a:solidFill>
                  <a:latin typeface="Arial"/>
                </a:rPr>
                <a:t>Start even if you are not sure. A revised answer counts as much as a first-try answer.</a:t>
              </a:r>
              <a:endParaRPr lang="en-US" sz="1400"/>
            </a:p>
          </p:txBody>
        </p:sp>
      </p:grpSp>
    </p:spTree>
  </p:cSld>
  <p:clrMapOvr>
    <a:masterClrMapping/>
  </p:clrMapOvr>
</p:sld>
</file>

<file path=ppt/slides/slide38.xml><?xml version="1.0" encoding="utf-8"?>
<p:sld xmlns:p="http://schemas.openxmlformats.org/presentationml/2006/main">
  <p:cSld>
    <p:spTree xmlns:a="http://schemas.openxmlformats.org/drawingml/2006/main">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sz="2800" b="1">
                <a:solidFill>
                  <a:srgbClr val="782DA0"/>
                </a:solidFill>
                <a:latin typeface="Arial"/>
              </a:rPr>
              <a:t>Exit Ticket + Self-Check</a:t>
            </a:r>
          </a:p>
        </p:txBody>
      </p:sp>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SELF-ASSESS • NAME YOUR NEXT STEP</a:t>
            </a:r>
          </a:p>
        </p:txBody>
      </p:sp>
      <p:sp>
        <p:nvSpPr>
          <p:cNvPr id="17" name="TextBox 16"/>
          <p:cNvSpPr txBox="1"/>
          <p:nvPr/>
        </p:nvSpPr>
        <p:spPr>
          <a:xfrm>
            <a:off x="530352" y="1115568"/>
            <a:ext cx="7360920" cy="502920"/>
          </a:xfrm>
          <a:prstGeom prst="rect">
            <a:avLst/>
          </a:prstGeom>
          <a:noFill/>
        </p:spPr>
        <p:txBody>
          <a:bodyPr wrap="square" lIns="0" tIns="0" rIns="0" bIns="0" anchor="t">
            <a:spAutoFit/>
          </a:bodyPr>
          <a:lstStyle/>
          <a:p>
            <a:pPr algn="l"/>
            <a:r>
              <a:rPr sz="1900" b="0">
                <a:solidFill>
                  <a:srgbClr val="23282D"/>
                </a:solidFill>
                <a:latin typeface="Arial"/>
              </a:rPr>
              <a:t>A container holds 2 liters. A bottle holds 500 milliliters.</a:t>
            </a:r>
          </a:p>
        </p:txBody>
      </p:sp>
      <p:sp>
        <p:nvSpPr>
          <p:cNvPr id="18" name="TextBox 17"/>
          <p:cNvSpPr txBox="1"/>
          <p:nvPr/>
        </p:nvSpPr>
        <p:spPr>
          <a:xfrm>
            <a:off x="530352" y="1828800"/>
            <a:ext cx="7360920" cy="713232"/>
          </a:xfrm>
          <a:prstGeom prst="rect">
            <a:avLst/>
          </a:prstGeom>
          <a:noFill/>
        </p:spPr>
        <p:txBody>
          <a:bodyPr wrap="square" lIns="0" tIns="0" rIns="0" bIns="0" anchor="t">
            <a:spAutoFit/>
          </a:bodyPr>
          <a:lstStyle/>
          <a:p>
            <a:pPr algn="l"/>
            <a:r>
              <a:rPr sz="2200" b="1">
                <a:solidFill>
                  <a:srgbClr val="23282D"/>
                </a:solidFill>
                <a:latin typeface="Arial"/>
              </a:rPr>
              <a:t>How many full bottles fill the container?</a:t>
            </a:r>
          </a:p>
        </p:txBody>
      </p:sp>
      <p:sp>
        <p:nvSpPr>
          <p:cNvPr id="19" name="TextBox 18"/>
          <p:cNvSpPr txBox="1"/>
          <p:nvPr/>
        </p:nvSpPr>
        <p:spPr>
          <a:xfrm>
            <a:off x="530352" y="2761488"/>
            <a:ext cx="7360920" cy="685800"/>
          </a:xfrm>
          <a:prstGeom prst="rect">
            <a:avLst/>
          </a:prstGeom>
          <a:noFill/>
        </p:spPr>
        <p:txBody>
          <a:bodyPr wrap="square" lIns="0" tIns="0" rIns="0" bIns="0" anchor="t">
            <a:spAutoFit/>
          </a:bodyPr>
          <a:lstStyle/>
          <a:p>
            <a:pPr algn="l"/>
            <a:r>
              <a:rPr sz="1900" b="0">
                <a:solidFill>
                  <a:srgbClr val="5D6872"/>
                </a:solidFill>
                <a:latin typeface="Arial"/>
              </a:rPr>
              <a:t>Use 1 L = 1,000 mL. Show the conversion, then find the number of bottles.</a:t>
            </a:r>
          </a:p>
        </p:txBody>
      </p:sp>
      <p:sp>
        <p:nvSpPr>
          <p:cNvPr id="20" name="TextBox 19"/>
          <p:cNvSpPr txBox="1"/>
          <p:nvPr/>
        </p:nvSpPr>
        <p:spPr>
          <a:xfrm>
            <a:off x="530352" y="3584448"/>
            <a:ext cx="7360920" cy="640080"/>
          </a:xfrm>
          <a:prstGeom prst="rect">
            <a:avLst/>
          </a:prstGeom>
          <a:noFill/>
        </p:spPr>
        <p:txBody>
          <a:bodyPr wrap="square" lIns="0" tIns="0" rIns="0" bIns="0" anchor="t">
            <a:spAutoFit/>
          </a:bodyPr>
          <a:lstStyle/>
          <a:p>
            <a:pPr algn="l"/>
            <a:r>
              <a:rPr sz="1900" b="1">
                <a:solidFill>
                  <a:srgbClr val="1E2682"/>
                </a:solidFill>
                <a:latin typeface="Arial"/>
              </a:rPr>
              <a:t>Explain: “I changed ___ to ___ so I could compare ___.”</a:t>
            </a:r>
          </a:p>
        </p:txBody>
      </p:sp>
      <p:sp>
        <p:nvSpPr>
          <p:cNvPr id="21" name="Rounded Rectangle 20"/>
          <p:cNvSpPr/>
          <p:nvPr/>
        </p:nvSpPr>
        <p:spPr>
          <a:xfrm>
            <a:off x="8275320" y="1325880"/>
            <a:ext cx="3200400" cy="4462272"/>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75320" y="1325880"/>
            <a:ext cx="73152" cy="4462272"/>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39912" y="1435607"/>
            <a:ext cx="2907792" cy="219456"/>
          </a:xfrm>
          <a:prstGeom prst="rect">
            <a:avLst/>
          </a:prstGeom>
          <a:noFill/>
        </p:spPr>
        <p:txBody>
          <a:bodyPr wrap="square" lIns="0" tIns="0" rIns="0" bIns="0" anchor="t">
            <a:spAutoFit/>
          </a:bodyPr>
          <a:lstStyle/>
          <a:p>
            <a:pPr algn="l"/>
            <a:r>
              <a:rPr sz="1400" b="1">
                <a:solidFill>
                  <a:srgbClr val="008A62"/>
                </a:solidFill>
                <a:latin typeface="Arial"/>
              </a:rPr>
              <a:t>SELF-CHECK</a:t>
            </a:r>
          </a:p>
        </p:txBody>
      </p:sp>
      <p:sp>
        <p:nvSpPr>
          <p:cNvPr id="24" name="TextBox 23"/>
          <p:cNvSpPr txBox="1"/>
          <p:nvPr/>
        </p:nvSpPr>
        <p:spPr>
          <a:xfrm>
            <a:off x="8439912" y="1709928"/>
            <a:ext cx="2889504" cy="3986783"/>
          </a:xfrm>
          <a:prstGeom prst="rect">
            <a:avLst/>
          </a:prstGeom>
          <a:noFill/>
        </p:spPr>
        <p:txBody>
          <a:bodyPr wrap="square" lIns="0" tIns="0" rIns="0" bIns="0" anchor="t">
            <a:spAutoFit/>
          </a:bodyPr>
          <a:lstStyle/>
          <a:p>
            <a:pPr algn="l"/>
            <a:r>
              <a:rPr sz="1400" b="0">
                <a:solidFill>
                  <a:srgbClr val="23282D"/>
                </a:solidFill>
                <a:latin typeface="Arial"/>
              </a:rPr>
              <a:t>1. I can convert to matching units.</a:t>
            </a:r>
          </a:p>
          <a:p>
            <a:pPr algn="l"/>
            <a:r>
              <a:rPr sz="1400" b="0">
                <a:solidFill>
                  <a:srgbClr val="23282D"/>
                </a:solidFill>
                <a:latin typeface="Arial"/>
              </a:rPr>
              <a:t>□ Alone   □ With a hint   □ Not yet</a:t>
            </a:r>
          </a:p>
          <a:p>
            <a:pPr algn="l"/>
            <a:r>
              <a:rPr sz="1400" b="0">
                <a:solidFill>
                  <a:srgbClr val="23282D"/>
                </a:solidFill>
                <a:latin typeface="Arial"/>
              </a:rPr>
              <a:t/>
            </a:r>
          </a:p>
          <a:p>
            <a:pPr algn="l"/>
            <a:r>
              <a:rPr sz="1400" b="0">
                <a:solidFill>
                  <a:srgbClr val="23282D"/>
                </a:solidFill>
                <a:latin typeface="Arial"/>
              </a:rPr>
              <a:t>2. I can explain my result.</a:t>
            </a:r>
          </a:p>
          <a:p>
            <a:pPr algn="l"/>
            <a:r>
              <a:rPr sz="1400" b="0">
                <a:solidFill>
                  <a:srgbClr val="23282D"/>
                </a:solidFill>
                <a:latin typeface="Arial"/>
              </a:rPr>
              <a:t>□ Alone   □ With a hint   □ Not yet</a:t>
            </a:r>
          </a:p>
          <a:p>
            <a:pPr algn="l"/>
            <a:r>
              <a:rPr sz="1400" b="0">
                <a:solidFill>
                  <a:srgbClr val="23282D"/>
                </a:solidFill>
                <a:latin typeface="Arial"/>
              </a:rPr>
              <a:t/>
            </a:r>
          </a:p>
          <a:p>
            <a:pPr algn="l"/>
            <a:r>
              <a:rPr sz="1400" b="0">
                <a:solidFill>
                  <a:srgbClr val="23282D"/>
                </a:solidFill>
                <a:latin typeface="Arial"/>
              </a:rPr>
              <a:t>My next step:</a:t>
            </a:r>
          </a:p>
          <a:p>
            <a:pPr algn="l"/>
            <a:r>
              <a:rPr sz="1400" b="0">
                <a:solidFill>
                  <a:srgbClr val="23282D"/>
                </a:solidFill>
                <a:latin typeface="Arial"/>
              </a:rPr>
              <a:t>____________________</a:t>
            </a:r>
          </a:p>
        </p:txBody>
      </p:sp>
      <p:sp>
        <p:nvSpPr>
          <p:cNvPr id="25" name="Rounded Rectangle 24"/>
          <p:cNvSpPr/>
          <p:nvPr/>
        </p:nvSpPr>
        <p:spPr>
          <a:xfrm>
            <a:off x="585216" y="4443984"/>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 y="4453128"/>
            <a:ext cx="2148840" cy="347472"/>
          </a:xfrm>
          <a:prstGeom prst="rect">
            <a:avLst/>
          </a:prstGeom>
          <a:noFill/>
        </p:spPr>
        <p:txBody>
          <a:bodyPr wrap="none" lIns="9144" tIns="9144" rIns="9144" bIns="9144" anchor="ctr">
            <a:spAutoFit/>
          </a:bodyPr>
          <a:lstStyle/>
          <a:p>
            <a:pPr algn="ctr"/>
            <a:r>
              <a:rPr sz="1400" b="1">
                <a:solidFill>
                  <a:srgbClr val="FFFFFF"/>
                </a:solidFill>
                <a:latin typeface="Arial"/>
              </a:rPr>
              <a:t>CONVERT → CHECK</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debrief: name your evidence and one next step.</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4132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Work independently and show why. Use feedback to revise</a:t>
            </a:r>
            <a:endParaRPr lang="en-US" sz="2000"/>
          </a:p>
          <a:p>
            <a:pPr>
              <a:lnSpc>
                <a:spcPts val="2400"/>
              </a:lnSpc>
              <a:buNone/>
            </a:pPr>
            <a:r>
              <a:rPr lang="en-US" sz="2000">
                <a:solidFill>
                  <a:srgbClr val="174D60"/>
                </a:solidFill>
                <a:latin typeface="Arial"/>
              </a:rPr>
              <a:t>in a second color.</a:t>
            </a:r>
            <a:endParaRPr lang="en-US" sz="2000"/>
          </a:p>
        </p:txBody>
      </p:sp>
    </p:spTree>
  </p:cSld>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59" name="Google Shape;1059;p10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60" name="Google Shape;1060;p10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61" name="Google Shape;1061;p108"/>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use ratio reasoning to convert between units of the same measurement system.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reason abstractly and quantitatively to manipulate and transform units of measure.</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40</a:t>
            </a:r>
          </a:p>
        </p:txBody>
      </p:sp>
      <p:grpSp>
        <p:nvGrpSpPr>
          <p:cNvPr id="9003" name="TEACH-1-student-move" descr="TEACH 1 · Facilitate clear, standards-based content learning"/>
          <p:cNvGrpSpPr/>
          <p:nvPr/>
        </p:nvGrpSpPr>
        <p:grpSpPr>
          <a:xfrm>
            <a:off x="502920" y="5472790"/>
            <a:ext cx="11186160" cy="402336"/>
            <a:chOff x="502920" y="5472790"/>
            <a:chExt cx="11186160" cy="402336"/>
          </a:xfrm>
        </p:grpSpPr>
        <p:sp>
          <p:nvSpPr>
            <p:cNvPr id="9004"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E63364-5978-4CC6-B1F9-1FAE0CD357E8}"/>
              </a:ext>
            </a:extLst>
          </p:cNvPr>
          <p:cNvSpPr>
            <a:spLocks xmlns:a="http://schemas.openxmlformats.org/drawingml/2006/main" noGrp="1"/>
          </p:cNvSpPr>
          <p:nvPr/>
        </p:nvSpPr>
        <p:spPr>
          <a:xfrm xmlns:a="http://schemas.openxmlformats.org/drawingml/2006/main">
            <a:off x="514350" y="381000"/>
            <a:ext cx="1028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82DA0"/>
                </a:solidFill>
                <a:latin typeface="Arial"/>
                <a:ea typeface="Arial"/>
                <a:cs typeface="Arial"/>
              </a:defRPr>
            </a:pPr>
            <a:r>
              <a:rPr sz="2700" b="1">
                <a:solidFill>
                  <a:srgbClr val="782DA0"/>
                </a:solidFill>
                <a:latin typeface="Arial"/>
                <a:ea typeface="Arial"/>
                <a:cs typeface="Arial"/>
              </a:rPr>
              <a:t>UIFR TEACH — Teacher Reference</a:t>
            </a:r>
          </a:p>
        </p:txBody>
      </p:sp>
      <p:sp>
        <p:nvSpPr>
          <p:cNvPr id="2" name="">
            <a:extLst xmlns:a="http://schemas.openxmlformats.org/drawingml/2006/main">
              <a:ext uri="{FF2B5EF4-FFF2-40B4-BE49-F238E27FC236}">
                <a16:creationId xmlns:a16="http://schemas.microsoft.com/office/drawing/2014/main" id="{3C1698BA-C7BF-4E0B-BAC7-C03ECC9D0982}"/>
              </a:ext>
            </a:extLst>
          </p:cNvPr>
          <p:cNvSpPr>
            <a:spLocks xmlns:a="http://schemas.openxmlformats.org/drawingml/2006/main" noGrp="1"/>
          </p:cNvSpPr>
          <p:nvPr/>
        </p:nvSpPr>
        <p:spPr>
          <a:xfrm xmlns:a="http://schemas.openxmlformats.org/drawingml/2006/main">
            <a:off x="523875" y="1028700"/>
            <a:ext cx="866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6872"/>
                </a:solidFill>
                <a:latin typeface="Arial"/>
                <a:ea typeface="Arial"/>
                <a:cs typeface="Arial"/>
              </a:defRPr>
            </a:pPr>
            <a:r>
              <a:rPr sz="1575" b="0">
                <a:solidFill>
                  <a:srgbClr val="5D6872"/>
                </a:solidFill>
                <a:latin typeface="Arial"/>
                <a:ea typeface="Arial"/>
                <a:cs typeface="Arial"/>
              </a:rPr>
              <a:t>Teacher reference • hidden from the student slideshow</a:t>
            </a:r>
          </a:p>
        </p:txBody>
      </p:sp>
      <p:sp>
        <p:nvSpPr>
          <p:cNvPr id="3" name="">
            <a:extLst xmlns:a="http://schemas.openxmlformats.org/drawingml/2006/main">
              <a:ext uri="{FF2B5EF4-FFF2-40B4-BE49-F238E27FC236}">
                <a16:creationId xmlns:a16="http://schemas.microsoft.com/office/drawing/2014/main" id="{54EF43A5-138A-4E88-8721-D65ED0F0AA95}"/>
              </a:ext>
            </a:extLst>
          </p:cNvPr>
          <p:cNvSpPr>
            <a:spLocks xmlns:a="http://schemas.openxmlformats.org/drawingml/2006/main" noGrp="1"/>
          </p:cNvSpPr>
          <p:nvPr/>
        </p:nvSpPr>
        <p:spPr>
          <a:xfrm xmlns:a="http://schemas.openxmlformats.org/drawingml/2006/main">
            <a:off x="647700" y="1666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1 · Session goals, purpose, and content-linked success criteria.</a:t>
            </a:r>
          </a:p>
        </p:txBody>
      </p:sp>
      <p:sp>
        <p:nvSpPr>
          <p:cNvPr id="4" name="">
            <a:extLst xmlns:a="http://schemas.openxmlformats.org/drawingml/2006/main">
              <a:ext uri="{FF2B5EF4-FFF2-40B4-BE49-F238E27FC236}">
                <a16:creationId xmlns:a16="http://schemas.microsoft.com/office/drawing/2014/main" id="{64BE8D7C-632F-4131-8177-F2D90B9D5B02}"/>
              </a:ext>
            </a:extLst>
          </p:cNvPr>
          <p:cNvSpPr>
            <a:spLocks xmlns:a="http://schemas.openxmlformats.org/drawingml/2006/main" noGrp="1"/>
          </p:cNvSpPr>
          <p:nvPr/>
        </p:nvSpPr>
        <p:spPr>
          <a:xfrm xmlns:a="http://schemas.openxmlformats.org/drawingml/2006/main">
            <a:off x="647700" y="22479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2 · Original models precede checks and independent application.</a:t>
            </a:r>
          </a:p>
        </p:txBody>
      </p:sp>
      <p:sp>
        <p:nvSpPr>
          <p:cNvPr id="5" name="">
            <a:extLst xmlns:a="http://schemas.openxmlformats.org/drawingml/2006/main">
              <a:ext uri="{FF2B5EF4-FFF2-40B4-BE49-F238E27FC236}">
                <a16:creationId xmlns:a16="http://schemas.microsoft.com/office/drawing/2014/main" id="{E60A19FC-9456-469D-9B51-556D4A054371}"/>
              </a:ext>
            </a:extLst>
          </p:cNvPr>
          <p:cNvSpPr>
            <a:spLocks xmlns:a="http://schemas.openxmlformats.org/drawingml/2006/main" noGrp="1"/>
          </p:cNvSpPr>
          <p:nvPr/>
        </p:nvSpPr>
        <p:spPr>
          <a:xfrm xmlns:a="http://schemas.openxmlformats.org/drawingml/2006/main">
            <a:off x="647700" y="28289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3 · Original inquiry questions prompt reasoning and justification.</a:t>
            </a:r>
          </a:p>
        </p:txBody>
      </p:sp>
      <p:sp>
        <p:nvSpPr>
          <p:cNvPr id="6" name="">
            <a:extLst xmlns:a="http://schemas.openxmlformats.org/drawingml/2006/main">
              <a:ext uri="{FF2B5EF4-FFF2-40B4-BE49-F238E27FC236}">
                <a16:creationId xmlns:a16="http://schemas.microsoft.com/office/drawing/2014/main" id="{7164F7BA-D216-4A72-92CA-D56F66AC3D83}"/>
              </a:ext>
            </a:extLst>
          </p:cNvPr>
          <p:cNvSpPr>
            <a:spLocks xmlns:a="http://schemas.openxmlformats.org/drawingml/2006/main" noGrp="1"/>
          </p:cNvSpPr>
          <p:nvPr/>
        </p:nvSpPr>
        <p:spPr>
          <a:xfrm xmlns:a="http://schemas.openxmlformats.org/drawingml/2006/main">
            <a:off x="647700" y="34099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4 · Checks, feedback, and time to revise follow instruction.</a:t>
            </a:r>
          </a:p>
        </p:txBody>
      </p:sp>
      <p:sp>
        <p:nvSpPr>
          <p:cNvPr id="7" name="">
            <a:extLst xmlns:a="http://schemas.openxmlformats.org/drawingml/2006/main">
              <a:ext uri="{FF2B5EF4-FFF2-40B4-BE49-F238E27FC236}">
                <a16:creationId xmlns:a16="http://schemas.microsoft.com/office/drawing/2014/main" id="{199745E5-EB28-4D3D-98CD-E71E8D8E62FF}"/>
              </a:ext>
            </a:extLst>
          </p:cNvPr>
          <p:cNvSpPr>
            <a:spLocks xmlns:a="http://schemas.openxmlformats.org/drawingml/2006/main" noGrp="1"/>
          </p:cNvSpPr>
          <p:nvPr/>
        </p:nvSpPr>
        <p:spPr>
          <a:xfrm xmlns:a="http://schemas.openxmlformats.org/drawingml/2006/main">
            <a:off x="647700" y="39909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5 · Think time and purposeful partner explanations.</a:t>
            </a:r>
          </a:p>
        </p:txBody>
      </p:sp>
      <p:sp>
        <p:nvSpPr>
          <p:cNvPr id="8" name="">
            <a:extLst xmlns:a="http://schemas.openxmlformats.org/drawingml/2006/main">
              <a:ext uri="{FF2B5EF4-FFF2-40B4-BE49-F238E27FC236}">
                <a16:creationId xmlns:a16="http://schemas.microsoft.com/office/drawing/2014/main" id="{689F1024-BBDE-45CF-BC38-92AA04ABE4A3}"/>
              </a:ext>
            </a:extLst>
          </p:cNvPr>
          <p:cNvSpPr>
            <a:spLocks xmlns:a="http://schemas.openxmlformats.org/drawingml/2006/main" noGrp="1"/>
          </p:cNvSpPr>
          <p:nvPr/>
        </p:nvSpPr>
        <p:spPr>
          <a:xfrm xmlns:a="http://schemas.openxmlformats.org/drawingml/2006/main">
            <a:off x="647700" y="45720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6 · Consistent model → notes → practice sequence.</a:t>
            </a:r>
          </a:p>
        </p:txBody>
      </p:sp>
      <p:sp>
        <p:nvSpPr>
          <p:cNvPr id="9" name="">
            <a:extLst xmlns:a="http://schemas.openxmlformats.org/drawingml/2006/main">
              <a:ext uri="{FF2B5EF4-FFF2-40B4-BE49-F238E27FC236}">
                <a16:creationId xmlns:a16="http://schemas.microsoft.com/office/drawing/2014/main" id="{1E55DA92-5256-466D-8880-2044A4B8C8B0}"/>
              </a:ext>
            </a:extLst>
          </p:cNvPr>
          <p:cNvSpPr>
            <a:spLocks xmlns:a="http://schemas.openxmlformats.org/drawingml/2006/main" noGrp="1"/>
          </p:cNvSpPr>
          <p:nvPr/>
        </p:nvSpPr>
        <p:spPr>
          <a:xfrm xmlns:a="http://schemas.openxmlformats.org/drawingml/2006/main">
            <a:off x="647700" y="51530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282D"/>
                </a:solidFill>
                <a:latin typeface="Arial"/>
                <a:ea typeface="Arial"/>
                <a:cs typeface="Arial"/>
              </a:defRPr>
            </a:pPr>
            <a:r>
              <a:rPr sz="1875" b="0">
                <a:solidFill>
                  <a:srgbClr val="23282D"/>
                </a:solidFill>
                <a:latin typeface="Arial"/>
                <a:ea typeface="Arial"/>
                <a:cs typeface="Arial"/>
              </a:rPr>
              <a:t>TEACH 7 · Brief notes, scaffolds, and respectful sharing of strategies.</a:t>
            </a:r>
          </a:p>
        </p:txBody>
      </p:sp>
      <p:sp xmlns:a="http://schemas.openxmlformats.org/drawingml/2006/main">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40</a:t>
            </a:r>
          </a:p>
        </p:txBody>
      </p:sp>
      <p:grpSp xmlns:a="http://schemas.openxmlformats.org/drawingml/2006/main">
        <p:nvGrpSpPr>
          <p:cNvPr id="9003" name="TEACH-1-student-move" descr="TEACH 1 · Facilitate clear, standards-based content learning"/>
          <p:cNvGrpSpPr/>
          <p:nvPr/>
        </p:nvGrpSpPr>
        <p:grpSpPr>
          <a:xfrm>
            <a:off x="502920" y="5582031"/>
            <a:ext cx="11186160" cy="640080"/>
            <a:chOff x="502920" y="5582031"/>
            <a:chExt cx="11186160" cy="640080"/>
          </a:xfrm>
        </p:grpSpPr>
        <p:sp>
          <p:nvSpPr>
            <p:cNvPr id="9004" name="TEACH-move-card"/>
            <p:cNvSpPr/>
            <p:nvPr/>
          </p:nvSpPr>
          <p:spPr>
            <a:xfrm>
              <a:off x="502920" y="5582031"/>
              <a:ext cx="11186160" cy="64008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703646"/>
              <a:ext cx="100584" cy="396850"/>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582031"/>
              <a:ext cx="10728960" cy="640080"/>
            </a:xfrm>
            <a:prstGeom prst="rect">
              <a:avLst/>
            </a:prstGeom>
            <a:noFill/>
            <a:ln>
              <a:noFill/>
            </a:ln>
          </p:spPr>
          <p:txBody>
            <a:bodyPr wrap="square" lIns="0" tIns="0" rIns="0" bIns="0" anchor="ctr">
              <a:noAutofit/>
            </a:bodyPr>
            <a:lstStyle/>
            <a:p>
              <a:pPr algn="l">
                <a:buNone/>
              </a:pPr>
              <a:r>
                <a:rPr lang="en-US" sz="1600" b="1" dirty="0">
                  <a:solidFill>
                    <a:srgbClr val="01708C"/>
                  </a:solidFill>
                  <a:latin typeface="Arial"/>
                </a:rPr>
                <a:t>SHOW YOUR THINKING  ·  </a:t>
              </a:r>
              <a:r>
                <a:rPr lang="en-US" sz="1600" dirty="0">
                  <a:solidFill>
                    <a:srgbClr val="13303A"/>
                  </a:solidFill>
                  <a:latin typeface="Arial"/>
                </a:rPr>
                <a:t>Show what you know — write it, draw it, or build it. A picture counts as an explanation.</a:t>
              </a:r>
              <a:endParaRPr lang="en-US" sz="1600"/>
            </a:p>
          </p:txBody>
        </p:sp>
      </p:grpSp>
    </p:spTree>
    <p:extLst>
      <p:ext uri="{BB962C8B-B14F-4D97-AF65-F5344CB8AC3E}">
        <p14:creationId xmlns:p14="http://schemas.microsoft.com/office/powerpoint/2010/main" val="1978810537"/>
      </p:ext>
    </p:extLst>
  </p:cSld>
</p:sld>
</file>

<file path=ppt/theme/ref_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3.6 — Ratio Reasoning: Convert Measurements within the Same System</dc:title>
  <dc:creator>Neft Teacher</dc:creator>
  <cp:lastModifiedBy>Neft Teacher</cp:lastModifiedBy>
  <dcterms:created xsi:type="dcterms:W3CDTF">2026-09-30T12:04:43Z</dcterms:created>
  <dcterms:modified xsi:type="dcterms:W3CDTF">2026-09-30T12:04:43Z</dcterms:modified>
</cp:coreProperties>
</file>