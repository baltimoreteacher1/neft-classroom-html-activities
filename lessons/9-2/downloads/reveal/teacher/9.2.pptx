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4.xml" ContentType="application/vnd.openxmlformats-officedocument.presentationml.notesSlide+xml"/>
  <Override PartName="/ppt/notesSlides/notesSlide30.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4.xml" ContentType="application/vnd.openxmlformats-officedocument.presentationml.notesSlide+xml"/>
  <Override PartName="/ppt/notesSlides/notesSlide46.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53.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64.xml" ContentType="application/vnd.openxmlformats-officedocument.presentationml.notesSlide+xml"/>
  <Override PartName="/ppt/notesSlides/notesSlide66.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4" r:id="rId5"/>
    <p:sldMasterId id="2147483685" r:id="rId6"/>
    <p:sldMasterId id="2147483686" r:id="rId7"/>
    <p:sldMasterId id="2147483687" r:id="rId8"/>
  </p:sldMasterIdLst>
  <p:notesMasterIdLst>
    <p:notesMasterId r:id="rId9"/>
  </p:notesMasterIdLst>
  <p:sldIdLst>
    <p:sldId id="259" r:id="rId13"/>
    <p:sldId id="267" r:id="rId21"/>
    <p:sldId id="268" r:id="rId22"/>
    <p:sldId id="256" r:id="rId10"/>
    <p:sldId id="257" r:id="rId11"/>
    <p:sldId id="260" r:id="rId14"/>
    <p:sldId id="340" r:id="rId87"/>
    <p:sldId id="336" r:id="rId83"/>
    <p:sldId id="335" r:id="rId45"/>
    <p:sldId id="334" r:id="rId44"/>
    <p:sldId id="333" r:id="rId43"/>
    <p:sldId id="332" r:id="rId42"/>
    <p:sldId id="331" r:id="rId41"/>
    <p:sldId id="261" r:id="rId15"/>
    <p:sldId id="270" r:id="rId24"/>
    <p:sldId id="271" r:id="rId25"/>
    <p:sldId id="275" r:id="rId29"/>
    <p:sldId id="341" r:id="rId88"/>
    <p:sldId id="279" r:id="rId33"/>
    <p:sldId id="285" r:id="rId39"/>
    <p:sldId id="342" r:id="rId89"/>
    <p:sldId id="293" r:id="rId47"/>
    <p:sldId id="295" r:id="rId49"/>
    <p:sldId id="299" r:id="rId53"/>
    <p:sldId id="337" r:id="rId84"/>
    <p:sldId id="330" r:id="rId40"/>
    <p:sldId id="343" r:id="rId90"/>
    <p:sldId id="329" r:id="rId36"/>
    <p:sldId id="328" r:id="rId38"/>
    <p:sldId id="325" r:id="rId81"/>
    <p:sldId id="344" r:id="rId91"/>
    <p:sldId id="326" r:id="rId82"/>
    <p:sldId id="301" r:id="rId55"/>
    <p:sldId id="304" r:id="rId58"/>
    <p:sldId id="306" r:id="rId60"/>
    <p:sldId id="345" r:id="rId92"/>
    <p:sldId id="308" r:id="rId62"/>
    <p:sldId id="312" r:id="rId66"/>
    <p:sldId id="346" r:id="rId93"/>
    <p:sldId id="319" r:id="rId73"/>
    <p:sldId id="321" r:id="rId75"/>
    <p:sldId id="338" r:id="rId85"/>
    <p:sldId id="323" r:id="rId77"/>
    <p:sldId id="347" r:id="rId94"/>
    <p:sldId id="324" r:id="rId78"/>
    <p:sldId id="327" r:id="rId37"/>
    <p:sldId id="339" r:id="rId86"/>
  </p:sldIdLst>
  <p:sldSz cy="6858000" cx="12192000"/>
  <p:notesSz cx="7010400" cy="9236075"/>
  <p:embeddedFontLst>
    <p:embeddedFont>
      <p:font typeface="Cambria Math"/>
      <p:regular r:id="rId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3DEDED9-13C0-4318-B47F-5909D5EAF5C1}">
  <a:tblStyle styleId="{D3DEDED9-13C0-4318-B47F-5909D5EAF5C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3.xml"/><Relationship Id="rId21" Type="http://schemas.openxmlformats.org/officeDocument/2006/relationships/slide" Target="slides/slide2.xml"/><Relationship Id="rId22" Type="http://schemas.openxmlformats.org/officeDocument/2006/relationships/slide" Target="slides/slide3.xml"/><Relationship Id="rId24" Type="http://schemas.openxmlformats.org/officeDocument/2006/relationships/slide" Target="slides/slide14.xml"/><Relationship Id="rId25" Type="http://schemas.openxmlformats.org/officeDocument/2006/relationships/slide" Target="slides/slide15.xml"/><Relationship Id="rId29" Type="http://schemas.openxmlformats.org/officeDocument/2006/relationships/slide" Target="slides/slide16.xml"/><Relationship Id="rId33" Type="http://schemas.openxmlformats.org/officeDocument/2006/relationships/slide" Target="slides/slide17.xml"/><Relationship Id="rId36" Type="http://schemas.openxmlformats.org/officeDocument/2006/relationships/slide" Target="slides/slide24.xml"/><Relationship Id="rId37" Type="http://schemas.openxmlformats.org/officeDocument/2006/relationships/slide" Target="slides/slide38.xml"/><Relationship Id="rId38" Type="http://schemas.openxmlformats.org/officeDocument/2006/relationships/slide" Target="slides/slide25.xml"/><Relationship Id="rId39" Type="http://schemas.openxmlformats.org/officeDocument/2006/relationships/slide" Target="slides/slide18.xml"/><Relationship Id="rId40" Type="http://schemas.openxmlformats.org/officeDocument/2006/relationships/slide" Target="slides/slide23.xml"/><Relationship Id="rId41" Type="http://schemas.openxmlformats.org/officeDocument/2006/relationships/slide" Target="slides/slide12.xml"/><Relationship Id="rId42" Type="http://schemas.openxmlformats.org/officeDocument/2006/relationships/slide" Target="slides/slide11.xml"/><Relationship Id="rId43" Type="http://schemas.openxmlformats.org/officeDocument/2006/relationships/slide" Target="slides/slide10.xml"/><Relationship Id="rId44" Type="http://schemas.openxmlformats.org/officeDocument/2006/relationships/slide" Target="slides/slide9.xml"/><Relationship Id="rId45" Type="http://schemas.openxmlformats.org/officeDocument/2006/relationships/slide" Target="slides/slide8.xml"/><Relationship Id="rId47" Type="http://schemas.openxmlformats.org/officeDocument/2006/relationships/slide" Target="slides/slide19.xml"/><Relationship Id="rId49" Type="http://schemas.openxmlformats.org/officeDocument/2006/relationships/slide" Target="slides/slide20.xml"/><Relationship Id="rId53" Type="http://schemas.openxmlformats.org/officeDocument/2006/relationships/slide" Target="slides/slide21.xml"/><Relationship Id="rId55" Type="http://schemas.openxmlformats.org/officeDocument/2006/relationships/slide" Target="slides/slide28.xml"/><Relationship Id="rId58" Type="http://schemas.openxmlformats.org/officeDocument/2006/relationships/slide" Target="slides/slide29.xml"/><Relationship Id="rId60" Type="http://schemas.openxmlformats.org/officeDocument/2006/relationships/slide" Target="slides/slide30.xml"/><Relationship Id="rId62" Type="http://schemas.openxmlformats.org/officeDocument/2006/relationships/slide" Target="slides/slide31.xml"/><Relationship Id="rId66" Type="http://schemas.openxmlformats.org/officeDocument/2006/relationships/slide" Target="slides/slide32.xml"/><Relationship Id="rId73" Type="http://schemas.openxmlformats.org/officeDocument/2006/relationships/slide" Target="slides/slide33.xml"/><Relationship Id="rId75" Type="http://schemas.openxmlformats.org/officeDocument/2006/relationships/slide" Target="slides/slide34.xml"/><Relationship Id="rId77" Type="http://schemas.openxmlformats.org/officeDocument/2006/relationships/slide" Target="slides/slide36.xml"/><Relationship Id="rId78" Type="http://schemas.openxmlformats.org/officeDocument/2006/relationships/slide" Target="slides/slide37.xml"/><Relationship Id="rId80" Type="http://schemas.openxmlformats.org/officeDocument/2006/relationships/font" Target="fonts/CambriaMath-regular.fntdata"/><Relationship Id="rId81" Type="http://schemas.openxmlformats.org/officeDocument/2006/relationships/slide" Target="slides/slide26.xml"/><Relationship Id="rId82" Type="http://schemas.openxmlformats.org/officeDocument/2006/relationships/slide" Target="slides/slide27.xml"/><Relationship Id="rId83" Type="http://schemas.openxmlformats.org/officeDocument/2006/relationships/slide" Target="slides/slide7.xml"/><Relationship Id="rId84" Type="http://schemas.openxmlformats.org/officeDocument/2006/relationships/slide" Target="slides/slide22.xml"/><Relationship Id="rId85" Type="http://schemas.openxmlformats.org/officeDocument/2006/relationships/slide" Target="slides/slide35.xml"/><Relationship Id="rId86" Type="http://schemas.openxmlformats.org/officeDocument/2006/relationships/slide" Target="slides/slide39.xml"/><Relationship Id="rId87" Type="http://schemas.openxmlformats.org/officeDocument/2006/relationships/slide" Target="slides/slide40.xml"/><Relationship Id="rId88" Type="http://schemas.openxmlformats.org/officeDocument/2006/relationships/slide" Target="slides/slide41.xml"/><Relationship Id="rId89" Type="http://schemas.openxmlformats.org/officeDocument/2006/relationships/slide" Target="slides/slide42.xml"/><Relationship Id="rId90" Type="http://schemas.openxmlformats.org/officeDocument/2006/relationships/slide" Target="slides/slide43.xml"/><Relationship Id="rId91" Type="http://schemas.openxmlformats.org/officeDocument/2006/relationships/slide" Target="slides/slide44.xml"/><Relationship Id="rId92" Type="http://schemas.openxmlformats.org/officeDocument/2006/relationships/slide" Target="slides/slide45.xml"/><Relationship Id="rId93" Type="http://schemas.openxmlformats.org/officeDocument/2006/relationships/slide" Target="slides/slide46.xml"/><Relationship Id="rId9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4 | DIVIDER</a:t>
            </a:r>
          </a:p>
          <a:p xmlns:a="http://schemas.openxmlformats.org/drawingml/2006/main">
            <a:pPr>
              <a:buNone/>
            </a:pPr>
            <a:r>
              <a:rPr lang="en-US" sz="1100"/>
              <a:t>Focus on the existing task: Analyze Graphs of Relationships Between Two Variables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5" name="Google Shape;235;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5 | WORKED</a:t>
            </a:r>
          </a:p>
          <a:p xmlns:a="http://schemas.openxmlformats.org/drawingml/2006/main">
            <a:pPr>
              <a:buNone/>
            </a:pPr>
            <a:r>
              <a:rPr lang="en-US" sz="1100"/>
              <a:t>Focus on the existing task: More or Less Than</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connect table rows to graph points. Ask which feature of their work supports the claim.</a:t>
            </a:r>
          </a:p>
          <a:p xmlns:a="http://schemas.openxmlformats.org/drawingml/2006/main">
            <a:pPr>
              <a:buNone/>
            </a:pPr>
            <a:r>
              <a:rPr lang="en-US" sz="1100"/>
              <a:t>RESPOND: If this task shows the lesson misconception—misreading the axis scale or assuming every relationship starts at zero—trace one original table row to its graph point and label both units.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42" name="Google Shape;242;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1 | WARMUP</a:t>
            </a:r>
          </a:p>
          <a:p xmlns:a="http://schemas.openxmlformats.org/drawingml/2006/main">
            <a:pPr>
              <a:buNone/>
            </a:pPr>
            <a:r>
              <a:rPr lang="en-US" sz="1100"/>
              <a:t>Focus on the existing task: Warm-Up WARM-UP · THINK • TRY •…</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(3, 8)   2) (5, 2)   3) 10   4) (4, 16)</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connect table rows to graph points; interpret axes and scale; describe the relationship. Review recent work and today’s warm-up to choose flexible groups and access supports; do not infer needs from identity or perceived ability. Use the existing lesson tasks and stated standards.</a:t>
            </a:r>
          </a:p>
          <a:p>
            <a:pPr>
              <a:buNone/>
            </a:pPr>
            <a:r>
              <a:rPr lang="en-US" sz="1100"/>
              <a:t>Anticipate: misreading the axis scale or assuming every relationship starts at zero. If observed, trace one original table row to its graph point and label both units.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63" name="Google Shape;263;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6 | GOAL</a:t>
            </a:r>
          </a:p>
          <a:p xmlns:a="http://schemas.openxmlformats.org/drawingml/2006/main">
            <a:pPr>
              <a:buNone/>
            </a:pPr>
            <a:r>
              <a:rPr lang="en-US" sz="1100"/>
              <a:t>Focus on the existing task: Today’s Objectives Analyze Graphs of…</a:t>
            </a:r>
          </a:p>
          <a:p xmlns:a="http://schemas.openxmlformats.org/drawingml/2006/main">
            <a:pPr>
              <a:buNone/>
            </a:pPr>
            <a:r>
              <a:rPr lang="en-US" sz="1100"/>
              <a:t>CONNECT (T1/4): Ask students to restate the displayed goal or key idea and connect it to earlier work. Relevant lesson evidence: connect table rows to graph points; interpret axes and scale; describe the relationship.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connect table rows to graph points; interpret axes and scale; describe the relationship. Ask: “Which part of your work would show this?” Revisit that evidence after the task; a confidence rating alone is not evidence of understanding.</a:t>
            </a:r>
          </a:p>
        </p:txBody>
      </p:sp>
      <p:sp>
        <p:nvSpPr>
          <p:cNvPr id="339" name="Google Shape;339;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13 | VOCAB</a:t>
            </a:r>
          </a:p>
          <a:p xmlns:a="http://schemas.openxmlformats.org/drawingml/2006/main">
            <a:pPr>
              <a:buNone/>
            </a:pPr>
            <a:r>
              <a:rPr lang="en-US" sz="1100"/>
              <a:t>Focus on the existing task: Vocabulary Today’s Math Words We…</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61" name="Google Shape;361;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12: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2 | NOTES</a:t>
            </a:r>
          </a:p>
          <a:p xmlns:a="http://schemas.openxmlformats.org/drawingml/2006/main">
            <a:pPr>
              <a:buNone/>
            </a:pPr>
            <a:r>
              <a:rPr lang="en-US" sz="1100"/>
              <a:t>Focus on the existing task: Today’s Math Notes Section 1: Math…</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483" name="Google Shape;483;p1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13: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3 | NOTES</a:t>
            </a:r>
          </a:p>
          <a:p xmlns:a="http://schemas.openxmlformats.org/drawingml/2006/main">
            <a:pPr>
              <a:buNone/>
            </a:pPr>
            <a:r>
              <a:rPr lang="en-US" sz="1100"/>
              <a:t>Focus on the existing task: Today’s Math Notes Section 2: Today’s…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11" name="Google Shape;511;p1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1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14 | CURIOUS</a:t>
            </a:r>
          </a:p>
          <a:p xmlns:a="http://schemas.openxmlformats.org/drawingml/2006/main">
            <a:pPr>
              <a:buNone/>
            </a:pPr>
            <a:r>
              <a:rPr lang="en-US" sz="1100"/>
              <a:t>Focus on the existing task: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connect table rows to graph points. Ask which feature of their work supports the claim.</a:t>
            </a:r>
          </a:p>
          <a:p xmlns:a="http://schemas.openxmlformats.org/drawingml/2006/main">
            <a:pPr>
              <a:buNone/>
            </a:pPr>
            <a:r>
              <a:rPr lang="en-US" sz="1100"/>
              <a:t>RESPOND: If this task shows the lesson misconception—misreading the axis scale or assuming every relationship starts at zero—trace one original table row to its graph point and label both units.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48" name="Google Shape;548;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1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15 | TASK</a:t>
            </a:r>
          </a:p>
          <a:p xmlns:a="http://schemas.openxmlformats.org/drawingml/2006/main">
            <a:pPr>
              <a:buNone/>
            </a:pPr>
            <a:r>
              <a:rPr lang="en-US" sz="1100"/>
              <a:t>Focus on the existing task: Football Game Tickets The ticket shows the cost to attend a college football game. How does the total cost of tickets relate to the number of tickets purchased?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connect table rows to graph points. Ask which feature of their work supports the claim.</a:t>
            </a:r>
          </a:p>
          <a:p xmlns:a="http://schemas.openxmlformats.org/drawingml/2006/main">
            <a:pPr>
              <a:buNone/>
            </a:pPr>
            <a:r>
              <a:rPr lang="en-US" sz="1100"/>
              <a:t>RESPOND: If this task shows the lesson misconception—misreading the axis scale or assuming every relationship starts at zero—trace one original table row to its graph point and label both units.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does this point mean in the situation, and what does the graph show when the input is zero?” Wait for evidence, invite another pathway, and have a student ask a follow-up question. Do not replace students’ reasoning with a sequence of leading steps.</a:t>
            </a:r>
          </a:p>
        </p:txBody>
      </p:sp>
      <p:sp>
        <p:nvSpPr>
          <p:cNvPr id="560" name="Google Shape;560;p1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2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16 | COLLABORATE</a:t>
            </a:r>
          </a:p>
          <a:p xmlns:a="http://schemas.openxmlformats.org/drawingml/2006/main">
            <a:pPr>
              <a:buNone/>
            </a:pPr>
            <a:r>
              <a:rPr lang="en-US" sz="1100"/>
              <a:t>Focus on the existing task: We can use a table to represent the relationship between two variables. Collaborate and Connect How can you complete the table of values to relate the cost of tickets to the number of tickets purchased?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connect table rows to graph points. Ask which feature of their work supports the claim.</a:t>
            </a:r>
          </a:p>
          <a:p xmlns:a="http://schemas.openxmlformats.org/drawingml/2006/main">
            <a:pPr>
              <a:buNone/>
            </a:pPr>
            <a:r>
              <a:rPr lang="en-US" sz="1100"/>
              <a:t>RESPOND: If this task shows the lesson misconception—misreading the axis scale or assuming every relationship starts at zero—trace one original table row to its graph point and label both units.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misreading the axis scale or assuming every relationship starts at zero. If it appears, trace one original table row to its graph point and label both units; then ask the student to revise the same response and explain the change. If evidence is secure, have students compare a second valid pathway or state why their approach works. Choose the next step from the responses, not a preset pace.</a:t>
            </a:r>
          </a:p>
        </p:txBody>
      </p:sp>
      <p:sp>
        <p:nvSpPr>
          <p:cNvPr id="600" name="Google Shape;600;p2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2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17 | REVEAL</a:t>
            </a:r>
          </a:p>
          <a:p xmlns:a="http://schemas.openxmlformats.org/drawingml/2006/main">
            <a:pPr>
              <a:buNone/>
            </a:pPr>
            <a:r>
              <a:rPr lang="en-US" sz="1100"/>
              <a:t>Focus on the existing task: Reveal: As the number of tickets increases, the total cost increases. The total cost is 45 times the number of tickets. We can multiply…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connect table rows to graph points. Ask which feature of their work supports the claim.</a:t>
            </a:r>
          </a:p>
          <a:p xmlns:a="http://schemas.openxmlformats.org/drawingml/2006/main">
            <a:pPr>
              <a:buNone/>
            </a:pPr>
            <a:r>
              <a:rPr lang="en-US" sz="1100"/>
              <a:t>RESPOND: If this task shows the lesson misconception—misreading the axis scale or assuming every relationship starts at zero—trace one original table row to its graph point and label both units.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As the number of tickets increases, the total cost increases. The total cost is 45 times the number of tickets.</a:t>
            </a:r>
          </a:p>
          <a:p>
            <a:pPr indent="0" lvl="0" marL="0" rtl="0" algn="l">
              <a:lnSpc>
                <a:spcPct val="100000"/>
              </a:lnSpc>
              <a:spcBef>
                <a:spcPts val="0"/>
              </a:spcBef>
              <a:spcAft>
                <a:spcPts val="0"/>
              </a:spcAft>
              <a:buSzPts val="1400"/>
              <a:buNone/>
            </a:pPr>
            <a:r>
              <a:t>UIFR: TEACH 3 · TEACH 4.</a:t>
            </a:r>
          </a:p>
        </p:txBody>
      </p:sp>
      <p:sp>
        <p:nvSpPr>
          <p:cNvPr id="643" name="Google Shape;643;p2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18 | WORKED</a:t>
            </a:r>
          </a:p>
          <a:p xmlns:a="http://schemas.openxmlformats.org/drawingml/2006/main">
            <a:pPr>
              <a:buNone/>
            </a:pPr>
            <a:r>
              <a:rPr lang="en-US" sz="1100"/>
              <a:t>Focus on the existing task: Football Game Tickets Tickets Number of Tickets Total Cost ($) 10 450</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connect table rows to graph points. Ask which feature of their work supports the claim.</a:t>
            </a:r>
          </a:p>
          <a:p xmlns:a="http://schemas.openxmlformats.org/drawingml/2006/main">
            <a:pPr>
              <a:buNone/>
            </a:pPr>
            <a:r>
              <a:rPr lang="en-US" sz="1100"/>
              <a:t>RESPOND: If this task shows the lesson misconception—misreading the axis scale or assuming every relationship starts at zero—trace one original table row to its graph point and label both units.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01" name="Google Shape;701;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3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19 | TASK</a:t>
            </a:r>
          </a:p>
          <a:p xmlns:a="http://schemas.openxmlformats.org/drawingml/2006/main">
            <a:pPr>
              <a:buNone/>
            </a:pPr>
            <a:r>
              <a:rPr lang="en-US" sz="1100"/>
              <a:t>Focus on the existing task: Tickets Number of Tickets Total Cost ($) 10 450 What do you notice about the two representations?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connect table rows to graph points. Ask which feature of their work supports the claim.</a:t>
            </a:r>
          </a:p>
          <a:p xmlns:a="http://schemas.openxmlformats.org/drawingml/2006/main">
            <a:pPr>
              <a:buNone/>
            </a:pPr>
            <a:r>
              <a:rPr lang="en-US" sz="1100"/>
              <a:t>RESPOND: If this task shows the lesson misconception—misreading the axis scale or assuming every relationship starts at zero—trace one original table row to its graph point and label both units.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67" name="Google Shape;767;p3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4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20 | REVEAL</a:t>
            </a:r>
          </a:p>
          <a:p xmlns:a="http://schemas.openxmlformats.org/drawingml/2006/main">
            <a:pPr>
              <a:buNone/>
            </a:pPr>
            <a:r>
              <a:rPr lang="en-US" sz="1100"/>
              <a:t>Focus on the existing task: What do you notice about the two representations?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connect table rows to graph points. Ask which feature of their work supports the claim.</a:t>
            </a:r>
          </a:p>
          <a:p xmlns:a="http://schemas.openxmlformats.org/drawingml/2006/main">
            <a:pPr>
              <a:buNone/>
            </a:pPr>
            <a:r>
              <a:rPr lang="en-US" sz="1100"/>
              <a:t>RESPOND: If this task shows the lesson misconception—misreading the axis scale or assuming every relationship starts at zero—trace one original table row to its graph point and label both units.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Both representations show the same relationship. The table shows the relationship using numerical values, while the graph shows the relationship in a more visual way.</a:t>
            </a:r>
          </a:p>
          <a:p>
            <a:pPr indent="0" lvl="0" marL="0" rtl="0" algn="l">
              <a:lnSpc>
                <a:spcPct val="100000"/>
              </a:lnSpc>
              <a:spcBef>
                <a:spcPts val="0"/>
              </a:spcBef>
              <a:spcAft>
                <a:spcPts val="0"/>
              </a:spcAft>
              <a:buSzPts val="1400"/>
              <a:buNone/>
            </a:pPr>
            <a:r>
              <a:t>UIFR: TEACH 3 · TEACH 4.</a:t>
            </a:r>
          </a:p>
        </p:txBody>
      </p:sp>
      <p:sp>
        <p:nvSpPr>
          <p:cNvPr id="784" name="Google Shape;784;p4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p4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21 | PRACTICE</a:t>
            </a:r>
          </a:p>
          <a:p xmlns:a="http://schemas.openxmlformats.org/drawingml/2006/main">
            <a:pPr>
              <a:buNone/>
            </a:pPr>
            <a:r>
              <a:rPr lang="en-US" sz="1100"/>
              <a:t>Focus on the existing task: Let’s Explore More Tickets to a college football game cost $45 each. Ticket Cost Number of Tickets Total Cost ($) 10 450</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connect table rows to graph points. Ask which feature of their work supports the claim.</a:t>
            </a:r>
          </a:p>
          <a:p xmlns:a="http://schemas.openxmlformats.org/drawingml/2006/main">
            <a:pPr>
              <a:buNone/>
            </a:pPr>
            <a:r>
              <a:rPr lang="en-US" sz="1100"/>
              <a:t>RESPOND: If this task shows the lesson misconception—misreading the axis scale or assuming every relationship starts at zero—trace one original table row to its graph point and label both units.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822" name="Google Shape;822;p4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28 | DIVIDER</a:t>
            </a:r>
          </a:p>
          <a:p xmlns:a="http://schemas.openxmlformats.org/drawingml/2006/main">
            <a:pPr>
              <a:buNone/>
            </a:pPr>
            <a:r>
              <a:rPr lang="en-US" sz="1100"/>
              <a:t>Focus on the existing task: Analyze Graphs of Relationships Between Two Variables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843" name="Google Shape;843;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4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29 | TASK</a:t>
            </a:r>
          </a:p>
          <a:p xmlns:a="http://schemas.openxmlformats.org/drawingml/2006/main">
            <a:pPr>
              <a:buNone/>
            </a:pPr>
            <a:r>
              <a:rPr lang="en-US" sz="1100"/>
              <a:t>Focus on the existing task: Riding the Tramway The Sandia Peak tram travels a distance of 1,200 feet each minute to take visitors from the base in Albuquerque, New…</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describe the relationship. Ask which feature of their work supports the claim.</a:t>
            </a:r>
          </a:p>
          <a:p xmlns:a="http://schemas.openxmlformats.org/drawingml/2006/main">
            <a:pPr>
              <a:buNone/>
            </a:pPr>
            <a:r>
              <a:rPr lang="en-US" sz="1100"/>
              <a:t>RESPOND: If this task shows the lesson misconception—misreading the axis scale or assuming every relationship starts at zero—trace one original table row to its graph point and label both units.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How can you describe the relationship between the distance the tram has traveled and the time it has traveled?</a:t>
            </a:r>
          </a:p>
          <a:p>
            <a:pPr indent="0" lvl="0" marL="0" rtl="0" algn="l">
              <a:lnSpc>
                <a:spcPct val="100000"/>
              </a:lnSpc>
              <a:spcBef>
                <a:spcPts val="0"/>
              </a:spcBef>
              <a:spcAft>
                <a:spcPts val="0"/>
              </a:spcAft>
              <a:buSzPts val="1400"/>
              <a:buNone/>
            </a:pPr>
            <a:r>
              <a:t>UIFR: TEACH 1 · TEACH 3.</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does this point mean in the situation, and what does the graph show when the input is zero?” Wait for evidence, invite another pathway, and have a student ask a follow-up question. Do not replace students’ reasoning with a sequence of leading steps.</a:t>
            </a:r>
          </a:p>
        </p:txBody>
      </p:sp>
      <p:sp>
        <p:nvSpPr>
          <p:cNvPr id="873" name="Google Shape;873;p4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5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30 | REVEAL</a:t>
            </a:r>
          </a:p>
          <a:p xmlns:a="http://schemas.openxmlformats.org/drawingml/2006/main">
            <a:pPr>
              <a:buNone/>
            </a:pPr>
            <a:r>
              <a:rPr lang="en-US" sz="1100"/>
              <a:t>Focus on the existing task: What information do you know?</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describe the relationship. Ask which feature of their work supports the claim.</a:t>
            </a:r>
          </a:p>
          <a:p xmlns:a="http://schemas.openxmlformats.org/drawingml/2006/main">
            <a:pPr>
              <a:buNone/>
            </a:pPr>
            <a:r>
              <a:rPr lang="en-US" sz="1100"/>
              <a:t>RESPOND: If this task shows the lesson misconception—misreading the axis scale or assuming every relationship starts at zero—trace one original table row to its graph point and label both units.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tram travels 1,200 feet every minute, and it takes 15 minutes for the tram to travel from the base to the top of Sandia Peak.</a:t>
            </a:r>
          </a:p>
          <a:p>
            <a:pPr indent="0" lvl="0" marL="0" rtl="0" algn="l">
              <a:lnSpc>
                <a:spcPct val="100000"/>
              </a:lnSpc>
              <a:spcBef>
                <a:spcPts val="0"/>
              </a:spcBef>
              <a:spcAft>
                <a:spcPts val="0"/>
              </a:spcAft>
              <a:buSzPts val="1400"/>
              <a:buNone/>
            </a:pPr>
            <a:r>
              <a:t>UIFR: TEACH 3 · TEACH 4.</a:t>
            </a:r>
          </a:p>
        </p:txBody>
      </p:sp>
      <p:sp>
        <p:nvSpPr>
          <p:cNvPr id="892" name="Google Shape;892;p5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5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31 | REVEAL</a:t>
            </a:r>
          </a:p>
          <a:p xmlns:a="http://schemas.openxmlformats.org/drawingml/2006/main">
            <a:pPr>
              <a:buNone/>
            </a:pPr>
            <a:r>
              <a:rPr lang="en-US" sz="1100"/>
              <a:t>Focus on the existing task: Which quantity is the independent variable, and which is the dependent variable?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connect table rows to graph points. Ask which feature of their work supports the claim.</a:t>
            </a:r>
          </a:p>
          <a:p xmlns:a="http://schemas.openxmlformats.org/drawingml/2006/main">
            <a:pPr>
              <a:buNone/>
            </a:pPr>
            <a:r>
              <a:rPr lang="en-US" sz="1100"/>
              <a:t>RESPOND: If this task shows the lesson misconception—misreading the axis scale or assuming every relationship starts at zero—trace one original table row to its graph point and label both units.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quantities are time and distance. Time is the independent variable, and distance is the dependent variable.</a:t>
            </a:r>
          </a:p>
          <a:p>
            <a:pPr indent="0" lvl="0" marL="0" rtl="0" algn="l">
              <a:lnSpc>
                <a:spcPct val="100000"/>
              </a:lnSpc>
              <a:spcBef>
                <a:spcPts val="0"/>
              </a:spcBef>
              <a:spcAft>
                <a:spcPts val="0"/>
              </a:spcAft>
              <a:buSzPts val="1400"/>
              <a:buNone/>
            </a:pPr>
            <a:r>
              <a:t>UIFR: TEACH 3 · TEACH 4.</a:t>
            </a:r>
          </a:p>
        </p:txBody>
      </p:sp>
      <p:sp>
        <p:nvSpPr>
          <p:cNvPr id="913" name="Google Shape;913;p5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32 | COLLABORATE</a:t>
            </a:r>
          </a:p>
          <a:p xmlns:a="http://schemas.openxmlformats.org/drawingml/2006/main">
            <a:pPr>
              <a:buNone/>
            </a:pPr>
            <a:r>
              <a:rPr lang="en-US" sz="1100"/>
              <a:t>Focus on the existing task: We can use a table of values to create a graph that shows the relationship between time and distance. Every minute, the tram travels 1,200…</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connect table rows to graph points. Ask which feature of their work supports the claim.</a:t>
            </a:r>
          </a:p>
          <a:p xmlns:a="http://schemas.openxmlformats.org/drawingml/2006/main">
            <a:pPr>
              <a:buNone/>
            </a:pPr>
            <a:r>
              <a:rPr lang="en-US" sz="1100"/>
              <a:t>RESPOND: If this task shows the lesson misconception—misreading the axis scale or assuming every relationship starts at zero—trace one original table row to its graph point and label both units.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misreading the axis scale or assuming every relationship starts at zero. If it appears, trace one original table row to its graph point and label both units; then ask the student to revise the same response and explain the change. If evidence is secure, have students compare a second valid pathway or state why their approach works. Choose the next step from the responses, not a preset pace.</a:t>
            </a:r>
          </a:p>
        </p:txBody>
      </p:sp>
      <p:sp>
        <p:nvSpPr>
          <p:cNvPr id="955" name="Google Shape;955;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6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33 | REVEAL</a:t>
            </a:r>
          </a:p>
          <a:p xmlns:a="http://schemas.openxmlformats.org/drawingml/2006/main">
            <a:pPr>
              <a:buNone/>
            </a:pPr>
            <a:r>
              <a:rPr lang="en-US" sz="1100"/>
              <a:t>Focus on the existing task: Reveal: The greater the time of travel, the farther the tram has traveled. Riding the Tramway How can you describe the relationship between the distance the tram has traveled and the time it has traveled?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describe the relationship. Ask which feature of their work supports the claim.</a:t>
            </a:r>
          </a:p>
          <a:p xmlns:a="http://schemas.openxmlformats.org/drawingml/2006/main">
            <a:pPr>
              <a:buNone/>
            </a:pPr>
            <a:r>
              <a:rPr lang="en-US" sz="1100"/>
              <a:t>RESPOND: If this task shows the lesson misconception—misreading the axis scale or assuming every relationship starts at zero—trace one original table row to its graph point and label both units.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greater the time of travel, the farther the tram has traveled.</a:t>
            </a:r>
          </a:p>
          <a:p>
            <a:pPr indent="0" lvl="0" marL="0" rtl="0" algn="l">
              <a:lnSpc>
                <a:spcPct val="100000"/>
              </a:lnSpc>
              <a:spcBef>
                <a:spcPts val="0"/>
              </a:spcBef>
              <a:spcAft>
                <a:spcPts val="0"/>
              </a:spcAft>
              <a:buSzPts val="1400"/>
              <a:buNone/>
            </a:pPr>
            <a:r>
              <a:t>UIFR: TEACH 3 · TEACH 4.</a:t>
            </a:r>
          </a:p>
        </p:txBody>
      </p:sp>
      <p:sp>
        <p:nvSpPr>
          <p:cNvPr id="1020" name="Google Shape;1020;p6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6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34 | PRACTICE</a:t>
            </a:r>
          </a:p>
          <a:p xmlns:a="http://schemas.openxmlformats.org/drawingml/2006/main">
            <a:pPr>
              <a:buNone/>
            </a:pPr>
            <a:r>
              <a:rPr lang="en-US" sz="1100"/>
              <a:t>Focus on the existing task: Let’s Explore More It takes 15 minutes for the Sandia Peak tram to travel from the base to the top of Sandia Peak. Which quantity is the independent variable?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connect table rows to graph points. Ask which feature of their work supports the claim.</a:t>
            </a:r>
          </a:p>
          <a:p xmlns:a="http://schemas.openxmlformats.org/drawingml/2006/main">
            <a:pPr>
              <a:buNone/>
            </a:pPr>
            <a:r>
              <a:rPr lang="en-US" sz="1100"/>
              <a:t>RESPOND: If this task shows the lesson misconception—misreading the axis scale or assuming every relationship starts at zero—trace one original table row to its graph point and label both units.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1040" name="Google Shape;1040;p6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6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36 | SUMMARIZE</a:t>
            </a:r>
          </a:p>
          <a:p xmlns:a="http://schemas.openxmlformats.org/drawingml/2006/main">
            <a:pPr>
              <a:buNone/>
            </a:pPr>
            <a:r>
              <a:rPr lang="en-US" sz="1100"/>
              <a:t>Focus on the existing task: Summarize: Analyze Relationships Between Two Quantities You can use graphs or tables to analyze the relationship between the quantities of…</a:t>
            </a:r>
          </a:p>
          <a:p xmlns:a="http://schemas.openxmlformats.org/drawingml/2006/main">
            <a:pPr>
              <a:buNone/>
            </a:pPr>
            <a:r>
              <a:rPr lang="en-US" sz="1100"/>
              <a:t>CONNECT (T1/4): Ask students to restate the displayed goal or key idea and connect it to earlier work. Relevant lesson evidence: connect table rows to graph points; interpret axes and scale; describe the relationship.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1063" name="Google Shape;1063;p6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p6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9.2, slide 37 | APPLY</a:t>
            </a:r>
          </a:p>
          <a:p xmlns:a="http://schemas.openxmlformats.org/drawingml/2006/main">
            <a:pPr>
              <a:buNone/>
            </a:pPr>
            <a:r>
              <a:rPr lang="en-US" sz="1100"/>
              <a:t>Focus on the existing task: Apply: Nakai’s Savings Account Question: What observations can you make about the data using the graph?</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connect table rows to graph points. Ask which feature of their work supports the claim.</a:t>
            </a:r>
          </a:p>
          <a:p xmlns:a="http://schemas.openxmlformats.org/drawingml/2006/main">
            <a:pPr>
              <a:buNone/>
            </a:pPr>
            <a:r>
              <a:rPr lang="en-US" sz="1100"/>
              <a:t>RESPOND: If this task shows the lesson misconception—misreading the axis scale or assuming every relationship starts at zero—trace one original table row to its graph point and label both units.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connect table rows to graph points; interpret axes and scale; describe the relationship. Respond with one specific next step tied to the work. Students revise and annotate what changed, then identify a criterion they can now demonstrate and one they still need to practice.</a:t>
            </a:r>
          </a:p>
        </p:txBody>
      </p:sp>
      <p:sp>
        <p:nvSpPr>
          <p:cNvPr id="1071" name="Google Shape;1071;p6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9.2, slide 26 | WARMUP</a:t>
            </a:r>
          </a:p>
          <a:p xmlns:a="http://schemas.openxmlformats.org/drawingml/2006/main">
            <a:pPr>
              <a:buNone/>
            </a:pPr>
            <a:r>
              <a:rPr lang="en-US" sz="1100"/>
              <a:t>Focus on the existing task: Session 2 Warm-Up Session 2 Warm-Up…</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connect table rows to graph points; interpret axes and scale; describe the relationship. Ask: “Which part of your work would show this?” Revisit that evidence after the task; a confidence rating alone is not evidence of understanding.</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9.2, slide 27 | NOTES</a:t>
            </a:r>
          </a:p>
          <a:p xmlns:a="http://schemas.openxmlformats.org/drawingml/2006/main">
            <a:pPr>
              <a:buNone/>
            </a:pPr>
            <a:r>
              <a:rPr lang="en-US" sz="1100"/>
              <a:t>Focus on the existing task: Today’s Math Notes Review Notes…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9.2, slide 38 | REFLECTION</a:t>
            </a:r>
          </a:p>
          <a:p xmlns:a="http://schemas.openxmlformats.org/drawingml/2006/main">
            <a:pPr>
              <a:buNone/>
            </a:pPr>
            <a:r>
              <a:rPr lang="en-US" sz="1100"/>
              <a:t>Focus on the existing task: Learning Targets I can use a table and a graph to determine the relationship between two variable quantities. I can use a graph as a tool…</a:t>
            </a:r>
          </a:p>
          <a:p xmlns:a="http://schemas.openxmlformats.org/drawingml/2006/main">
            <a:pPr>
              <a:buNone/>
            </a:pPr>
            <a:r>
              <a:rPr lang="en-US" sz="1100"/>
              <a:t>CONNECT (T1/4): Ask students to restate the displayed goal or key idea and connect it to earlier work. Relevant lesson evidence: connect table rows to graph points; interpret axes and scale; describe the relationship.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misreading the axis scale or assuming every relationship starts at zero.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trace one original table row to its graph point and label both units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9.2, slide 7 | PRIOR_INSERT</a:t>
            </a:r>
          </a:p>
          <a:p xmlns:a="http://schemas.openxmlformats.org/drawingml/2006/main">
            <a:pPr>
              <a:buNone/>
            </a:pPr>
            <a:r>
              <a:rPr lang="en-US" sz="1100"/>
              <a:t>Focus on the existing task: LESSON 9.2 / OUR LEARNING What will show your learning?</a:t>
            </a:r>
          </a:p>
          <a:p xmlns:a="http://schemas.openxmlformats.org/drawingml/2006/main">
            <a:pPr>
              <a:buNone/>
            </a:pPr>
            <a:r>
              <a:rPr lang="en-US" sz="1100"/>
              <a:t>CONNECT (T1/4): Ask students to restate the displayed goal or key idea and connect it to earlier work. Relevant lesson evidence: connect table rows to graph points; interpret axes and scale; describe the relationship.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9.2, slide 8 | VOCAB</a:t>
            </a:r>
          </a:p>
          <a:p xmlns:a="http://schemas.openxmlformats.org/drawingml/2006/main">
            <a:pPr>
              <a:buNone/>
            </a:pPr>
            <a:r>
              <a:rPr lang="en-US" sz="1100"/>
              <a:t>Focus on the existing task: Vocabulary 1 of 5 graph A picture on…</a:t>
            </a:r>
          </a:p>
          <a:p xmlns:a="http://schemas.openxmlformats.org/drawingml/2006/main">
            <a:pPr>
              <a:buNone/>
            </a:pPr>
            <a:r>
              <a:rPr lang="en-US" sz="1100"/>
              <a:t>ASK (T1/3/5): Where does “graph”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9.2, slide 9 | VOCAB</a:t>
            </a:r>
          </a:p>
          <a:p xmlns:a="http://schemas.openxmlformats.org/drawingml/2006/main">
            <a:pPr>
              <a:buNone/>
            </a:pPr>
            <a:r>
              <a:rPr lang="en-US" sz="1100"/>
              <a:t>Focus on the existing task: Vocabulary 2 of 5 table of values A…</a:t>
            </a:r>
          </a:p>
          <a:p xmlns:a="http://schemas.openxmlformats.org/drawingml/2006/main">
            <a:pPr>
              <a:buNone/>
            </a:pPr>
            <a:r>
              <a:rPr lang="en-US" sz="1100"/>
              <a:t>ASK (T1/3/5): Where does “table of values”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9.2, slide 10 | VOCAB</a:t>
            </a:r>
          </a:p>
          <a:p xmlns:a="http://schemas.openxmlformats.org/drawingml/2006/main">
            <a:pPr>
              <a:buNone/>
            </a:pPr>
            <a:r>
              <a:rPr lang="en-US" sz="1100"/>
              <a:t>Focus on the existing task: Vocabulary 3 of 5 ordered pair Two…</a:t>
            </a:r>
          </a:p>
          <a:p xmlns:a="http://schemas.openxmlformats.org/drawingml/2006/main">
            <a:pPr>
              <a:buNone/>
            </a:pPr>
            <a:r>
              <a:rPr lang="en-US" sz="1100"/>
              <a:t>ASK (T1/3/5): Where does “ordered pair”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9.2, slide 11 | VOCAB</a:t>
            </a:r>
          </a:p>
          <a:p xmlns:a="http://schemas.openxmlformats.org/drawingml/2006/main">
            <a:pPr>
              <a:buNone/>
            </a:pPr>
            <a:r>
              <a:rPr lang="en-US" sz="1100"/>
              <a:t>Focus on the existing task: Vocabulary 4 of 5 axis One of the…</a:t>
            </a:r>
          </a:p>
          <a:p xmlns:a="http://schemas.openxmlformats.org/drawingml/2006/main">
            <a:pPr>
              <a:buNone/>
            </a:pPr>
            <a:r>
              <a:rPr lang="en-US" sz="1100"/>
              <a:t>ASK (T1/3/5): Where does “axis”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9.2, slide 12 | VOCAB</a:t>
            </a:r>
          </a:p>
          <a:p xmlns:a="http://schemas.openxmlformats.org/drawingml/2006/main">
            <a:pPr>
              <a:buNone/>
            </a:pPr>
            <a:r>
              <a:rPr lang="en-US" sz="1100"/>
              <a:t>Focus on the existing task: Vocabulary 5 of 5 coordinates The…</a:t>
            </a:r>
          </a:p>
          <a:p xmlns:a="http://schemas.openxmlformats.org/drawingml/2006/main">
            <a:pPr>
              <a:buNone/>
            </a:pPr>
            <a:r>
              <a:rPr lang="en-US" sz="1100"/>
              <a:t>ASK (T1/3/5): Where does “coordinates”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9.2, slide 22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connect table rows to graph points; interpret axes and scale; describe the relationship.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9.2, slide 23 | REVEAL</a:t>
            </a:r>
          </a:p>
          <a:p xmlns:a="http://schemas.openxmlformats.org/drawingml/2006/main">
            <a:pPr>
              <a:buNone/>
            </a:pPr>
            <a:r>
              <a:rPr lang="en-US" sz="1100"/>
              <a:t>Focus on the existing task: Reveal: We can plot points that represent the different combinations of tickets and costs shown in the table. As the number of tickets…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connect table rows to graph points. Ask which feature of their work supports the claim.</a:t>
            </a:r>
          </a:p>
          <a:p xmlns:a="http://schemas.openxmlformats.org/drawingml/2006/main">
            <a:pPr>
              <a:buNone/>
            </a:pPr>
            <a:r>
              <a:rPr lang="en-US" sz="1100"/>
              <a:t>RESPOND: If this task shows the lesson misconception—misreading the axis scale or assuming every relationship starts at zero—trace one original table row to its graph point and label both units.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9.2, slide 24 | REVEAL</a:t>
            </a:r>
          </a:p>
          <a:p xmlns:a="http://schemas.openxmlformats.org/drawingml/2006/main">
            <a:pPr>
              <a:buNone/>
            </a:pPr>
            <a:r>
              <a:rPr lang="en-US" sz="1100"/>
              <a:t>Focus on the existing task: Reveal: The cost increases as more tickets are purchased. What can you conclude about how the cost changes in relation to the number of tickets purchased?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connect table rows to graph points. Ask which feature of their work supports the claim.</a:t>
            </a:r>
          </a:p>
          <a:p xmlns:a="http://schemas.openxmlformats.org/drawingml/2006/main">
            <a:pPr>
              <a:buNone/>
            </a:pPr>
            <a:r>
              <a:rPr lang="en-US" sz="1100"/>
              <a:t>RESPOND: If this task shows the lesson misconception—misreading the axis scale or assuming every relationship starts at zero—trace one original table row to its graph point and label both units.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9.2, slide 25 | CURIOUS</a:t>
            </a:r>
          </a:p>
          <a:p xmlns:a="http://schemas.openxmlformats.org/drawingml/2006/main">
            <a:pPr>
              <a:buNone/>
            </a:pPr>
            <a:r>
              <a:rPr lang="en-US" sz="1100"/>
              <a:t>Focus on the existing task: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connect table rows to graph points. Ask which feature of their work supports the claim.</a:t>
            </a:r>
          </a:p>
          <a:p xmlns:a="http://schemas.openxmlformats.org/drawingml/2006/main">
            <a:pPr>
              <a:buNone/>
            </a:pPr>
            <a:r>
              <a:rPr lang="en-US" sz="1100"/>
              <a:t>RESPOND: If this task shows the lesson misconception—misreading the axis scale or assuming every relationship starts at zero—trace one original table row to its graph point and label both units.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9.2, slide 35 | PRIOR_INSERT</a:t>
            </a:r>
          </a:p>
          <a:p xmlns:a="http://schemas.openxmlformats.org/drawingml/2006/main">
            <a:pPr>
              <a:buNone/>
            </a:pPr>
            <a:r>
              <a:rPr lang="en-US" sz="1100"/>
              <a:t>Focus on the existing task: LESSON 9.2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connect table rows to graph points; interpret axes and scale; describe the relationship.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9.2, slide 39 | PRIOR_INSERT</a:t>
            </a:r>
          </a:p>
          <a:p xmlns:a="http://schemas.openxmlformats.org/drawingml/2006/main">
            <a:pPr>
              <a:buNone/>
            </a:pPr>
            <a:r>
              <a:rPr lang="en-US" sz="1100"/>
              <a:t>Focus on the existing task: LESSON 9.2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connect table rows to graph points; interpret axes and scale; describe the relationship.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9" name="Google Shape;2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 name="Google Shape;33;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4" name="Google Shape;34;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5" name="Google Shape;35;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6" name="Google Shape;36;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 name="Google Shape;39;p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40" name="Google Shape;40;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1" name="Google Shape;41;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5" name="Google Shape;45;p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6" name="Google Shape;46;p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7" name="Google Shape;47;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8" name="Google Shape;48;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9" name="Google Shape;49;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10"/>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p1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3" name="Google Shape;53;p1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4" name="Google Shape;54;p1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5" name="Google Shape;55;p1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6" name="Google Shape;56;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7" name="Google Shape;57;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1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00" name="Shape 100"/>
        <p:cNvGrpSpPr/>
        <p:nvPr/>
      </p:nvGrpSpPr>
      <p:grpSpPr>
        <a:xfrm>
          <a:off x="0" y="0"/>
          <a:ext cx="0" cy="0"/>
          <a:chOff x="0" y="0"/>
          <a:chExt cx="0" cy="0"/>
        </a:xfrm>
      </p:grpSpPr>
      <p:sp>
        <p:nvSpPr>
          <p:cNvPr id="101" name="Google Shape;101;p1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2" name="Google Shape;102;p1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3" name="Google Shape;103;p1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4" name="Shape 104"/>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5" name="Shape 105"/>
        <p:cNvGrpSpPr/>
        <p:nvPr/>
      </p:nvGrpSpPr>
      <p:grpSpPr>
        <a:xfrm>
          <a:off x="0" y="0"/>
          <a:ext cx="0" cy="0"/>
          <a:chOff x="0" y="0"/>
          <a:chExt cx="0" cy="0"/>
        </a:xfrm>
      </p:grpSpPr>
      <p:sp>
        <p:nvSpPr>
          <p:cNvPr id="106" name="Google Shape;106;p2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7" name="Google Shape;107;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8" name="Google Shape;108;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9" name="Google Shape;109;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0" name="Google Shape;110;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1" name="Shape 111"/>
        <p:cNvGrpSpPr/>
        <p:nvPr/>
      </p:nvGrpSpPr>
      <p:grpSpPr>
        <a:xfrm>
          <a:off x="0" y="0"/>
          <a:ext cx="0" cy="0"/>
          <a:chOff x="0" y="0"/>
          <a:chExt cx="0" cy="0"/>
        </a:xfrm>
      </p:grpSpPr>
      <p:sp>
        <p:nvSpPr>
          <p:cNvPr id="112" name="Google Shape;112;p2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3" name="Google Shape;113;p2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4" name="Google Shape;114;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5" name="Google Shape;115;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7" name="Shape 117"/>
        <p:cNvGrpSpPr/>
        <p:nvPr/>
      </p:nvGrpSpPr>
      <p:grpSpPr>
        <a:xfrm>
          <a:off x="0" y="0"/>
          <a:ext cx="0" cy="0"/>
          <a:chOff x="0" y="0"/>
          <a:chExt cx="0" cy="0"/>
        </a:xfrm>
      </p:grpSpPr>
      <p:sp>
        <p:nvSpPr>
          <p:cNvPr id="118" name="Google Shape;118;p2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9" name="Google Shape;119;p2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0" name="Google Shape;120;p2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1" name="Google Shape;121;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2" name="Google Shape;122;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3" name="Google Shape;123;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4" name="Shape 124"/>
        <p:cNvGrpSpPr/>
        <p:nvPr/>
      </p:nvGrpSpPr>
      <p:grpSpPr>
        <a:xfrm>
          <a:off x="0" y="0"/>
          <a:ext cx="0" cy="0"/>
          <a:chOff x="0" y="0"/>
          <a:chExt cx="0" cy="0"/>
        </a:xfrm>
      </p:grpSpPr>
      <p:sp>
        <p:nvSpPr>
          <p:cNvPr id="125" name="Google Shape;125;p2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6" name="Google Shape;126;p2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7" name="Google Shape;127;p2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8" name="Google Shape;128;p2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9" name="Google Shape;129;p2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0" name="Google Shape;130;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1" name="Google Shape;131;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3" name="Shape 133"/>
        <p:cNvGrpSpPr/>
        <p:nvPr/>
      </p:nvGrpSpPr>
      <p:grpSpPr>
        <a:xfrm>
          <a:off x="0" y="0"/>
          <a:ext cx="0" cy="0"/>
          <a:chOff x="0" y="0"/>
          <a:chExt cx="0" cy="0"/>
        </a:xfrm>
      </p:grpSpPr>
      <p:sp>
        <p:nvSpPr>
          <p:cNvPr id="134" name="Google Shape;134;p2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5" name="Google Shape;135;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6" name="Google Shape;136;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7" name="Google Shape;137;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8" name="Shape 138"/>
        <p:cNvGrpSpPr/>
        <p:nvPr/>
      </p:nvGrpSpPr>
      <p:grpSpPr>
        <a:xfrm>
          <a:off x="0" y="0"/>
          <a:ext cx="0" cy="0"/>
          <a:chOff x="0" y="0"/>
          <a:chExt cx="0" cy="0"/>
        </a:xfrm>
      </p:grpSpPr>
      <p:sp>
        <p:nvSpPr>
          <p:cNvPr id="139" name="Google Shape;139;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0" name="Google Shape;140;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41" name="Google Shape;141;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2" name="Google Shape;142;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3" name="Google Shape;143;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4" name="Google Shape;144;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5" name="Shape 145"/>
        <p:cNvGrpSpPr/>
        <p:nvPr/>
      </p:nvGrpSpPr>
      <p:grpSpPr>
        <a:xfrm>
          <a:off x="0" y="0"/>
          <a:ext cx="0" cy="0"/>
          <a:chOff x="0" y="0"/>
          <a:chExt cx="0" cy="0"/>
        </a:xfrm>
      </p:grpSpPr>
      <p:sp>
        <p:nvSpPr>
          <p:cNvPr id="146" name="Google Shape;146;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7" name="Google Shape;147;p26"/>
          <p:cNvSpPr/>
          <p:nvPr>
            <p:ph idx="2" type="pic"/>
          </p:nvPr>
        </p:nvSpPr>
        <p:spPr>
          <a:xfrm>
            <a:off x="5183188" y="987425"/>
            <a:ext cx="6172200" cy="4873625"/>
          </a:xfrm>
          <a:prstGeom prst="rect">
            <a:avLst/>
          </a:prstGeom>
          <a:noFill/>
          <a:ln>
            <a:noFill/>
          </a:ln>
        </p:spPr>
      </p:sp>
      <p:sp>
        <p:nvSpPr>
          <p:cNvPr id="148" name="Google Shape;148;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9" name="Google Shape;149;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0" name="Google Shape;150;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2" name="Shape 152"/>
        <p:cNvGrpSpPr/>
        <p:nvPr/>
      </p:nvGrpSpPr>
      <p:grpSpPr>
        <a:xfrm>
          <a:off x="0" y="0"/>
          <a:ext cx="0" cy="0"/>
          <a:chOff x="0" y="0"/>
          <a:chExt cx="0" cy="0"/>
        </a:xfrm>
      </p:grpSpPr>
      <p:sp>
        <p:nvSpPr>
          <p:cNvPr id="153" name="Google Shape;153;p2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4" name="Google Shape;154;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5" name="Google Shape;155;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6" name="Google Shape;156;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8" name="Shape 158"/>
        <p:cNvGrpSpPr/>
        <p:nvPr/>
      </p:nvGrpSpPr>
      <p:grpSpPr>
        <a:xfrm>
          <a:off x="0" y="0"/>
          <a:ext cx="0" cy="0"/>
          <a:chOff x="0" y="0"/>
          <a:chExt cx="0" cy="0"/>
        </a:xfrm>
      </p:grpSpPr>
      <p:sp>
        <p:nvSpPr>
          <p:cNvPr id="159" name="Google Shape;159;p28"/>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0" name="Google Shape;160;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1" name="Google Shape;161;p2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62" name="Google Shape;162;p2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63" name="Google Shape;163;p2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9" name="Shape 169"/>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0" name="Shape 170"/>
        <p:cNvGrpSpPr/>
        <p:nvPr/>
      </p:nvGrpSpPr>
      <p:grpSpPr>
        <a:xfrm>
          <a:off x="0" y="0"/>
          <a:ext cx="0" cy="0"/>
          <a:chOff x="0" y="0"/>
          <a:chExt cx="0" cy="0"/>
        </a:xfrm>
      </p:grpSpPr>
      <p:sp>
        <p:nvSpPr>
          <p:cNvPr id="171" name="Google Shape;171;p3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2" name="Google Shape;172;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3" name="Google Shape;173;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4" name="Google Shape;174;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5" name="Google Shape;175;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6" name="Shape 176"/>
        <p:cNvGrpSpPr/>
        <p:nvPr/>
      </p:nvGrpSpPr>
      <p:grpSpPr>
        <a:xfrm>
          <a:off x="0" y="0"/>
          <a:ext cx="0" cy="0"/>
          <a:chOff x="0" y="0"/>
          <a:chExt cx="0" cy="0"/>
        </a:xfrm>
      </p:grpSpPr>
      <p:sp>
        <p:nvSpPr>
          <p:cNvPr id="177" name="Google Shape;177;p3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8" name="Google Shape;178;p3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9" name="Google Shape;179;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0" name="Google Shape;180;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2" name="Shape 182"/>
        <p:cNvGrpSpPr/>
        <p:nvPr/>
      </p:nvGrpSpPr>
      <p:grpSpPr>
        <a:xfrm>
          <a:off x="0" y="0"/>
          <a:ext cx="0" cy="0"/>
          <a:chOff x="0" y="0"/>
          <a:chExt cx="0" cy="0"/>
        </a:xfrm>
      </p:grpSpPr>
      <p:sp>
        <p:nvSpPr>
          <p:cNvPr id="183" name="Google Shape;183;p3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4" name="Google Shape;184;p3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5" name="Google Shape;185;p3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6" name="Google Shape;186;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7" name="Google Shape;187;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8" name="Google Shape;188;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9" name="Shape 189"/>
        <p:cNvGrpSpPr/>
        <p:nvPr/>
      </p:nvGrpSpPr>
      <p:grpSpPr>
        <a:xfrm>
          <a:off x="0" y="0"/>
          <a:ext cx="0" cy="0"/>
          <a:chOff x="0" y="0"/>
          <a:chExt cx="0" cy="0"/>
        </a:xfrm>
      </p:grpSpPr>
      <p:sp>
        <p:nvSpPr>
          <p:cNvPr id="190" name="Google Shape;190;p34"/>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1" name="Google Shape;191;p3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2" name="Google Shape;192;p3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3" name="Google Shape;193;p3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4" name="Google Shape;194;p3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5" name="Google Shape;195;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6" name="Google Shape;196;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8" name="Shape 198"/>
        <p:cNvGrpSpPr/>
        <p:nvPr/>
      </p:nvGrpSpPr>
      <p:grpSpPr>
        <a:xfrm>
          <a:off x="0" y="0"/>
          <a:ext cx="0" cy="0"/>
          <a:chOff x="0" y="0"/>
          <a:chExt cx="0" cy="0"/>
        </a:xfrm>
      </p:grpSpPr>
      <p:sp>
        <p:nvSpPr>
          <p:cNvPr id="199" name="Google Shape;199;p35"/>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3" name="Shape 203"/>
        <p:cNvGrpSpPr/>
        <p:nvPr/>
      </p:nvGrpSpPr>
      <p:grpSpPr>
        <a:xfrm>
          <a:off x="0" y="0"/>
          <a:ext cx="0" cy="0"/>
          <a:chOff x="0" y="0"/>
          <a:chExt cx="0" cy="0"/>
        </a:xfrm>
      </p:grpSpPr>
      <p:sp>
        <p:nvSpPr>
          <p:cNvPr id="204" name="Google Shape;204;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5" name="Google Shape;205;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6" name="Google Shape;206;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7" name="Shape 207"/>
        <p:cNvGrpSpPr/>
        <p:nvPr/>
      </p:nvGrpSpPr>
      <p:grpSpPr>
        <a:xfrm>
          <a:off x="0" y="0"/>
          <a:ext cx="0" cy="0"/>
          <a:chOff x="0" y="0"/>
          <a:chExt cx="0" cy="0"/>
        </a:xfrm>
      </p:grpSpPr>
      <p:sp>
        <p:nvSpPr>
          <p:cNvPr id="208" name="Google Shape;208;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9" name="Google Shape;209;p3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10" name="Google Shape;210;p3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1" name="Google Shape;211;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2" name="Google Shape;212;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3" name="Google Shape;213;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4" name="Shape 214"/>
        <p:cNvGrpSpPr/>
        <p:nvPr/>
      </p:nvGrpSpPr>
      <p:grpSpPr>
        <a:xfrm>
          <a:off x="0" y="0"/>
          <a:ext cx="0" cy="0"/>
          <a:chOff x="0" y="0"/>
          <a:chExt cx="0" cy="0"/>
        </a:xfrm>
      </p:grpSpPr>
      <p:sp>
        <p:nvSpPr>
          <p:cNvPr id="215" name="Google Shape;215;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6" name="Google Shape;216;p38"/>
          <p:cNvSpPr/>
          <p:nvPr>
            <p:ph idx="2" type="pic"/>
          </p:nvPr>
        </p:nvSpPr>
        <p:spPr>
          <a:xfrm>
            <a:off x="5183188" y="987425"/>
            <a:ext cx="6172200" cy="4873625"/>
          </a:xfrm>
          <a:prstGeom prst="rect">
            <a:avLst/>
          </a:prstGeom>
          <a:noFill/>
          <a:ln>
            <a:noFill/>
          </a:ln>
        </p:spPr>
      </p:sp>
      <p:sp>
        <p:nvSpPr>
          <p:cNvPr id="217" name="Google Shape;217;p3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8" name="Google Shape;218;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9" name="Google Shape;219;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21" name="Shape 221"/>
        <p:cNvGrpSpPr/>
        <p:nvPr/>
      </p:nvGrpSpPr>
      <p:grpSpPr>
        <a:xfrm>
          <a:off x="0" y="0"/>
          <a:ext cx="0" cy="0"/>
          <a:chOff x="0" y="0"/>
          <a:chExt cx="0" cy="0"/>
        </a:xfrm>
      </p:grpSpPr>
      <p:sp>
        <p:nvSpPr>
          <p:cNvPr id="222" name="Google Shape;222;p3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3" name="Google Shape;223;p3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4" name="Google Shape;224;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5" name="Google Shape;225;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7" name="Shape 227"/>
        <p:cNvGrpSpPr/>
        <p:nvPr/>
      </p:nvGrpSpPr>
      <p:grpSpPr>
        <a:xfrm>
          <a:off x="0" y="0"/>
          <a:ext cx="0" cy="0"/>
          <a:chOff x="0" y="0"/>
          <a:chExt cx="0" cy="0"/>
        </a:xfrm>
      </p:grpSpPr>
      <p:sp>
        <p:nvSpPr>
          <p:cNvPr id="228" name="Google Shape;228;p40"/>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9" name="Google Shape;229;p4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0" name="Google Shape;230;p4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31" name="Google Shape;231;p4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32" name="Google Shape;232;p4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Analyze Graphs of Relationships Between Two Variables</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Analyze Graphs of Relationships Between Two Variables</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4" name="Shape 164"/>
        <p:cNvGrpSpPr/>
        <p:nvPr/>
      </p:nvGrpSpPr>
      <p:grpSpPr>
        <a:xfrm>
          <a:off x="0" y="0"/>
          <a:ext cx="0" cy="0"/>
          <a:chOff x="0" y="0"/>
          <a:chExt cx="0" cy="0"/>
        </a:xfrm>
      </p:grpSpPr>
      <p:cxnSp>
        <p:nvCxnSpPr>
          <p:cNvPr id="165" name="Google Shape;165;p29"/>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6" name="Google Shape;166;p29"/>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 xml:space="preserve">McGraw Hill   </a:t>
            </a:r>
            <a:endParaRPr b="0" i="0" sz="900" u="none" cap="none" strike="noStrike">
              <a:solidFill>
                <a:schemeClr val="dk2"/>
              </a:solidFill>
              <a:latin typeface="Arial"/>
              <a:ea typeface="Arial"/>
              <a:cs typeface="Arial"/>
              <a:sym typeface="Arial"/>
            </a:endParaRPr>
          </a:p>
        </p:txBody>
      </p:sp>
      <p:sp>
        <p:nvSpPr>
          <p:cNvPr id="167" name="Google Shape;167;p29"/>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8" name="Google Shape;168;p29"/>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image" Target="../media/image18.png"/><Relationship Id="rId6"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7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7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7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7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7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30.png"/><Relationship Id="rId5"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openxmlformats.org/officeDocument/2006/relationships/image" Target="../media/image2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notesSlide" Target="../notesSlides/notesSlide8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1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1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 Id="rId3" Type="http://schemas.openxmlformats.org/officeDocument/2006/relationships/image" Target="../media/image26.png"/><Relationship Id="rId4" Type="http://schemas.openxmlformats.org/officeDocument/2006/relationships/image" Target="../media/image25.png"/><Relationship Id="rId5"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 Id="rId3" Type="http://schemas.openxmlformats.org/officeDocument/2006/relationships/image" Target="../media/image35.png"/><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7" name="TextBox 2"/>
          <p:cNvSpPr txBox="1"/>
          <p:nvPr/>
        </p:nvSpPr>
        <p:spPr>
          <a:xfrm>
            <a:off x="521207" y="877824"/>
            <a:ext cx="10881360" cy="274320"/>
          </a:xfrm>
          <a:prstGeom prst="rect">
            <a:avLst/>
          </a:prstGeom>
          <a:noFill/>
        </p:spPr>
        <p:txBody>
          <a:bodyPr wrap="square" lIns="0" tIns="0" rIns="0" bIns="0" anchor="t">
            <a:spAutoFit/>
          </a:bodyPr>
          <a:lstStyle/>
          <a:p>
            <a:pPr algn="l"/>
            <a:r>
              <a:rPr sz="1400" b="0">
                <a:solidFill>
                  <a:srgbClr val="5D6872"/>
                </a:solidFill>
                <a:latin typeface="Arial"/>
              </a:rPr>
              <a:t>Lesson 9-2 · Analyze Graphs of Relationships Between Two Variables   |   Warm-Up · about 4 minutes</a:t>
            </a:r>
          </a:p>
        </p:txBody>
      </p:sp>
      <p:sp>
        <p:nvSpPr>
          <p:cNvPr id="268"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9"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70"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73"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Table row: x = 3, y = 8. Ordered pair: ______</a:t>
            </a:r>
          </a:p>
        </p:txBody>
      </p:sp>
      <p:sp>
        <p:nvSpPr>
          <p:cNvPr id="274"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7"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A point is 5 across and 2 up. Write it: ______</a:t>
            </a:r>
          </a:p>
        </p:txBody>
      </p:sp>
      <p:sp>
        <p:nvSpPr>
          <p:cNvPr id="278"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81"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An axis is marked 0, 10, 20, 30. One step is ______</a:t>
            </a:r>
          </a:p>
        </p:txBody>
      </p:sp>
      <p:sp>
        <p:nvSpPr>
          <p:cNvPr id="282"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85"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(1, 4), (2, 8), (3, 12), then ______</a:t>
            </a:r>
          </a:p>
        </p:txBody>
      </p:sp>
      <p:sp>
        <p:nvSpPr>
          <p:cNvPr id="286"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7"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47</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52"/>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488" name="Google Shape;488;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9-2 · Analyze Graphs of Relationships Between Two Variables</a:t>
            </a:r>
            <a:endParaRPr/>
          </a:p>
        </p:txBody>
      </p:sp>
      <p:sp>
        <p:nvSpPr>
          <p:cNvPr id="489" name="Google Shape;489;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91" name="Google Shape;491;p52"/>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492" name="Google Shape;492;p52"/>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2"/>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494" name="Google Shape;494;p52"/>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52"/>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52"/>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497" name="Google Shape;497;p52"/>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graph</a:t>
            </a:r>
            <a:endParaRPr/>
          </a:p>
        </p:txBody>
      </p:sp>
      <p:sp>
        <p:nvSpPr>
          <p:cNvPr id="498" name="Google Shape;498;p52"/>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 picture on a </a:t>
            </a:r>
            <a:r>
              <a:rPr b="1" i="0" lang="en-US" sz="1450" u="none" cap="none" strike="noStrike">
                <a:solidFill>
                  <a:srgbClr val="475569"/>
                </a:solidFill>
                <a:latin typeface="Arial"/>
                <a:ea typeface="Arial"/>
                <a:cs typeface="Arial"/>
                <a:sym typeface="Arial"/>
              </a:rPr>
              <a:t xml:space="preserve">coordinate plane</a:t>
            </a:r>
            <a:endParaRPr/>
          </a:p>
        </p:txBody>
      </p:sp>
      <p:sp>
        <p:nvSpPr>
          <p:cNvPr id="499" name="Google Shape;499;p52"/>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0" name="Google Shape;500;p52"/>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1" name="Google Shape;501;p52"/>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02" name="Google Shape;502;p52"/>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table of values</a:t>
            </a:r>
            <a:endParaRPr/>
          </a:p>
        </p:txBody>
      </p:sp>
      <p:sp>
        <p:nvSpPr>
          <p:cNvPr id="503" name="Google Shape;503;p52"/>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list of matched pairs of values</a:t>
            </a:r>
            <a:endParaRPr/>
          </a:p>
        </p:txBody>
      </p:sp>
      <p:sp>
        <p:nvSpPr>
          <p:cNvPr id="504" name="Google Shape;504;p52"/>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5" name="Google Shape;505;p52"/>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6" name="Google Shape;506;p52"/>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07" name="Google Shape;507;p52"/>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ordered pair</a:t>
            </a:r>
            <a:endParaRPr/>
          </a:p>
        </p:txBody>
      </p:sp>
      <p:sp>
        <p:nvSpPr>
          <p:cNvPr id="508" name="Google Shape;508;p52"/>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Two numbers written</a:t>
            </a:r>
            <a:endParaRPr/>
          </a:p>
        </p:txBody>
      </p:sp>
      <p:sp>
        <p:nvSpPr>
          <p:cNvPr id="50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47</a:t>
            </a:r>
          </a:p>
        </p:txBody>
      </p:sp>
      <p:grpSp>
        <p:nvGrpSpPr>
          <p:cNvPr id="510" name="TEACH-1-student-move" descr="TEACH 1 · Facilitate clear, standards-based content learning"/>
          <p:cNvGrpSpPr/>
          <p:nvPr/>
        </p:nvGrpSpPr>
        <p:grpSpPr>
          <a:xfrm>
            <a:off x="6187440" y="1682496"/>
            <a:ext cx="5501640" cy="594360"/>
            <a:chOff x="6187440" y="1682496"/>
            <a:chExt cx="5501640" cy="594360"/>
          </a:xfrm>
        </p:grpSpPr>
        <p:sp>
          <p:nvSpPr>
            <p:cNvPr id="511"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12"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13"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5" name="Google Shape;515;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16" name="Google Shape;516;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9-2 · Analyze Graphs of Relationships Between Two Variables</a:t>
            </a:r>
            <a:endParaRPr/>
          </a:p>
        </p:txBody>
      </p:sp>
      <p:sp>
        <p:nvSpPr>
          <p:cNvPr id="517" name="Google Shape;517;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8" name="Google Shape;518;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19" name="Google Shape;519;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520" name="Google Shape;520;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2" name="Google Shape;522;p53"/>
          <p:cNvSpPr/>
          <p:nvPr/>
        </p:nvSpPr>
        <p:spPr>
          <a:xfrm>
            <a:off x="640080" y="2231136"/>
            <a:ext cx="10911809" cy="1106424"/>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3" name="Google Shape;523;p53"/>
          <p:cNvSpPr txBox="1"/>
          <p:nvPr/>
        </p:nvSpPr>
        <p:spPr>
          <a:xfrm>
            <a:off x="960120" y="2359152"/>
            <a:ext cx="10271729" cy="850392"/>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Representing Two-Variable Relationships with Tables &amp; Graphs</a:t>
            </a:r>
            <a:endParaRPr/>
          </a:p>
        </p:txBody>
      </p:sp>
      <p:sp>
        <p:nvSpPr>
          <p:cNvPr id="524" name="Google Shape;524;p53"/>
          <p:cNvSpPr/>
          <p:nvPr/>
        </p:nvSpPr>
        <p:spPr>
          <a:xfrm>
            <a:off x="640080" y="3538728"/>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768096" y="3621024"/>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defRPr/>
            </a:pPr>
            <a:r>
              <a:rPr b="1" i="0" lang="en-US" sz="1800" u="none" cap="none" strike="noStrike">
                <a:solidFill>
                  <a:srgbClr val="C2410C"/>
                </a:solidFill>
                <a:latin typeface="Arial"/>
                <a:ea typeface="Arial"/>
                <a:cs typeface="Arial"/>
                <a:sym typeface="Arial"/>
              </a:rPr>
              <a:t>Table (x, y) → Graph Point (x, y)</a:t>
            </a:r>
            <a:endParaRPr/>
          </a:p>
        </p:txBody>
      </p:sp>
      <p:sp>
        <p:nvSpPr>
          <p:cNvPr id="526" name="Google Shape;526;p53"/>
          <p:cNvSpPr/>
          <p:nvPr/>
        </p:nvSpPr>
        <p:spPr>
          <a:xfrm>
            <a:off x="640080" y="4361688"/>
            <a:ext cx="10911809" cy="502919"/>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7" name="Google Shape;527;p53"/>
          <p:cNvSpPr/>
          <p:nvPr/>
        </p:nvSpPr>
        <p:spPr>
          <a:xfrm>
            <a:off x="896112" y="444855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28" name="Google Shape;528;p53"/>
          <p:cNvSpPr txBox="1"/>
          <p:nvPr/>
        </p:nvSpPr>
        <p:spPr>
          <a:xfrm>
            <a:off x="1371600" y="4443984"/>
            <a:ext cx="10043129" cy="338327"/>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Construct table: </a:t>
            </a:r>
            <a:r>
              <a:rPr b="0" i="0" lang="en-US" sz="1600" u="none" cap="none" strike="noStrike">
                <a:solidFill>
                  <a:srgbClr val="14223A"/>
                </a:solidFill>
                <a:latin typeface="Arial"/>
                <a:ea typeface="Arial"/>
                <a:cs typeface="Arial"/>
                <a:sym typeface="Arial"/>
              </a:rPr>
              <a:t xml:space="preserve">Put </a:t>
            </a:r>
            <a:r>
              <a:rPr b="1" i="0" lang="en-US" sz="1600" u="none" cap="none" strike="noStrike">
                <a:solidFill>
                  <a:srgbClr val="14223A"/>
                </a:solidFill>
                <a:latin typeface="Arial"/>
                <a:ea typeface="Arial"/>
                <a:cs typeface="Arial"/>
                <a:sym typeface="Arial"/>
              </a:rPr>
              <a:t xml:space="preserve">independent variable</a:t>
            </a:r>
            <a:r>
              <a:rPr b="0" i="0" lang="en-US" sz="1600" u="none" cap="none" strike="noStrike">
                <a:solidFill>
                  <a:srgbClr val="14223A"/>
                </a:solidFill>
                <a:latin typeface="Arial"/>
                <a:ea typeface="Arial"/>
                <a:cs typeface="Arial"/>
                <a:sym typeface="Arial"/>
              </a:rPr>
              <a:t xml:space="preserve"> in column 1 (x) and dependent in column 2 (y)</a:t>
            </a:r>
            <a:endParaRPr/>
          </a:p>
        </p:txBody>
      </p:sp>
      <p:sp>
        <p:nvSpPr>
          <p:cNvPr id="529" name="Google Shape;529;p53"/>
          <p:cNvSpPr/>
          <p:nvPr/>
        </p:nvSpPr>
        <p:spPr>
          <a:xfrm>
            <a:off x="640080" y="5010912"/>
            <a:ext cx="10911809" cy="502919"/>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896112" y="5097780"/>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31" name="Google Shape;531;p53"/>
          <p:cNvSpPr txBox="1"/>
          <p:nvPr/>
        </p:nvSpPr>
        <p:spPr>
          <a:xfrm>
            <a:off x="1371600" y="5093208"/>
            <a:ext cx="10043129" cy="338327"/>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Identify the </a:t>
            </a:r>
            <a:r>
              <a:rPr b="1" i="0" lang="en-US" sz="1600" u="none" cap="none" strike="noStrike">
                <a:solidFill>
                  <a:srgbClr val="14223A"/>
                </a:solidFill>
                <a:latin typeface="Arial"/>
                <a:ea typeface="Arial"/>
                <a:cs typeface="Arial"/>
                <a:sym typeface="Arial"/>
              </a:rPr>
              <a:t xml:space="preserve">rate of change</a:t>
            </a:r>
            <a:r>
              <a:rPr b="0" i="0" lang="en-US" sz="1600" u="none" cap="none" strike="noStrike">
                <a:solidFill>
                  <a:srgbClr val="14223A"/>
                </a:solidFill>
                <a:latin typeface="Arial"/>
                <a:ea typeface="Arial"/>
                <a:cs typeface="Arial"/>
                <a:sym typeface="Arial"/>
              </a:rPr>
              <a:t xml:space="preserve"> or rule connecting x to y</a:t>
            </a:r>
            <a:endParaRPr/>
          </a:p>
        </p:txBody>
      </p:sp>
      <p:sp>
        <p:nvSpPr>
          <p:cNvPr id="532" name="Google Shape;532;p53"/>
          <p:cNvSpPr/>
          <p:nvPr/>
        </p:nvSpPr>
        <p:spPr>
          <a:xfrm>
            <a:off x="640080" y="5660136"/>
            <a:ext cx="10911809" cy="502919"/>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3" name="Google Shape;533;p53"/>
          <p:cNvSpPr/>
          <p:nvPr/>
        </p:nvSpPr>
        <p:spPr>
          <a:xfrm>
            <a:off x="896112" y="5747004"/>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34" name="Google Shape;534;p53"/>
          <p:cNvSpPr txBox="1"/>
          <p:nvPr/>
        </p:nvSpPr>
        <p:spPr>
          <a:xfrm>
            <a:off x="1371600" y="5742432"/>
            <a:ext cx="10043129" cy="338327"/>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Plot the </a:t>
            </a:r>
            <a:r>
              <a:rPr b="1" i="0" lang="en-US" sz="1600" u="none" cap="none" strike="noStrike">
                <a:solidFill>
                  <a:srgbClr val="14223A"/>
                </a:solidFill>
                <a:latin typeface="Arial"/>
                <a:ea typeface="Arial"/>
                <a:cs typeface="Arial"/>
                <a:sym typeface="Arial"/>
              </a:rPr>
              <a:t xml:space="preserve">ordered pairs</a:t>
            </a:r>
            <a:r>
              <a:rPr b="0" i="0" lang="en-US" sz="1600" u="none" cap="none" strike="noStrike">
                <a:solidFill>
                  <a:srgbClr val="14223A"/>
                </a:solidFill>
                <a:latin typeface="Arial"/>
                <a:ea typeface="Arial"/>
                <a:cs typeface="Arial"/>
                <a:sym typeface="Arial"/>
              </a:rPr>
              <a:t xml:space="preserve"> on the </a:t>
            </a:r>
            <a:r>
              <a:rPr b="1" i="0" lang="en-US" sz="1600" u="none" cap="none" strike="noStrike">
                <a:solidFill>
                  <a:srgbClr val="14223A"/>
                </a:solidFill>
                <a:latin typeface="Arial"/>
                <a:ea typeface="Arial"/>
                <a:cs typeface="Arial"/>
                <a:sym typeface="Arial"/>
              </a:rPr>
              <a:t xml:space="preserve">coordinate plane</a:t>
            </a:r>
            <a:r>
              <a:rPr b="0" i="0" lang="en-US" sz="1600" u="none" cap="none" strike="noStrike">
                <a:solidFill>
                  <a:srgbClr val="14223A"/>
                </a:solidFill>
                <a:latin typeface="Arial"/>
                <a:ea typeface="Arial"/>
                <a:cs typeface="Arial"/>
                <a:sym typeface="Arial"/>
              </a:rPr>
              <a:t xml:space="preserve"> with x on horizontal axis and y on vertical</a:t>
            </a:r>
            <a:endParaRPr/>
          </a:p>
        </p:txBody>
      </p:sp>
      <p:sp>
        <p:nvSpPr>
          <p:cNvPr id="53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47</a:t>
            </a:r>
          </a:p>
        </p:txBody>
      </p:sp>
      <p:grpSp>
        <p:nvGrpSpPr>
          <p:cNvPr id="536" name="TEACH-1-student-move" descr="TEACH 1 · Facilitate clear, standards-based content learning"/>
          <p:cNvGrpSpPr/>
          <p:nvPr/>
        </p:nvGrpSpPr>
        <p:grpSpPr>
          <a:xfrm>
            <a:off x="6187440" y="3685032"/>
            <a:ext cx="5501640" cy="594360"/>
            <a:chOff x="6187440" y="3685032"/>
            <a:chExt cx="5501640" cy="594360"/>
          </a:xfrm>
        </p:grpSpPr>
        <p:sp>
          <p:nvSpPr>
            <p:cNvPr id="537" name="TEACH-move-card"/>
            <p:cNvSpPr/>
            <p:nvPr/>
          </p:nvSpPr>
          <p:spPr>
            <a:xfrm>
              <a:off x="6187440" y="3685032"/>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38" name="TEACH-move-rule"/>
            <p:cNvSpPr/>
            <p:nvPr/>
          </p:nvSpPr>
          <p:spPr>
            <a:xfrm>
              <a:off x="6233160" y="3797960"/>
              <a:ext cx="100584" cy="368504"/>
            </a:xfrm>
            <a:prstGeom prst="roundRect">
              <a:avLst>
                <a:gd name="adj" fmla="val 50000"/>
              </a:avLst>
            </a:prstGeom>
            <a:solidFill>
              <a:srgbClr val="01708C"/>
            </a:solidFill>
            <a:ln>
              <a:noFill/>
            </a:ln>
          </p:spPr>
          <p:txBody>
            <a:bodyPr/>
            <a:lstStyle/>
            <a:p>
              <a:endParaRPr/>
            </a:p>
          </p:txBody>
        </p:sp>
        <p:sp>
          <p:nvSpPr>
            <p:cNvPr id="539" name="TEACH-move-text"/>
            <p:cNvSpPr txBox="1"/>
            <p:nvPr/>
          </p:nvSpPr>
          <p:spPr>
            <a:xfrm>
              <a:off x="6507480" y="3685032"/>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1"/>
          <p:cNvSpPr txBox="1"/>
          <p:nvPr/>
        </p:nvSpPr>
        <p:spPr>
          <a:xfrm>
            <a:off x="1402828" y="2453950"/>
            <a:ext cx="8935791"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Analyze Graphs of Relationships Between Two Variables</a:t>
            </a:r>
            <a:endParaRPr b="1" i="0" sz="3600" u="none" cap="none" strike="noStrike">
              <a:solidFill>
                <a:schemeClr val="dk1"/>
              </a:solidFill>
              <a:latin typeface="Arial"/>
              <a:ea typeface="Arial"/>
              <a:cs typeface="Arial"/>
              <a:sym typeface="Arial"/>
            </a:endParaRPr>
          </a:p>
        </p:txBody>
      </p:sp>
      <p:sp>
        <p:nvSpPr>
          <p:cNvPr id="238" name="Google Shape;238;p41"/>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9" name="Google Shape;239;p41"/>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4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47</a:t>
            </a:r>
          </a:p>
        </p:txBody>
      </p:sp>
      <p:grpSp>
        <p:nvGrpSpPr>
          <p:cNvPr id="241" name="TEACH-6-student-move" descr="TEACH 6 · Organize and implement routines to support a learning-focused classroom"/>
          <p:cNvGrpSpPr/>
          <p:nvPr/>
        </p:nvGrpSpPr>
        <p:grpSpPr>
          <a:xfrm>
            <a:off x="502920" y="3867612"/>
            <a:ext cx="11186160" cy="731520"/>
            <a:chOff x="502920" y="3867612"/>
            <a:chExt cx="11186160" cy="731520"/>
          </a:xfrm>
        </p:grpSpPr>
        <p:sp>
          <p:nvSpPr>
            <p:cNvPr id="242"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43"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244"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TRY IT BEFORE YOU’RE SURE  ·  </a:t>
              </a:r>
              <a:r>
                <a:rPr lang="en-US" sz="1800" dirty="0">
                  <a:solidFill>
                    <a:srgbClr val="13303A"/>
                  </a:solidFill>
                  <a:latin typeface="Arial"/>
                </a:rPr>
                <a:t>Start even if you are not sure. A revised answer counts as much as a first-try answer.</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cxnSp>
        <p:nvCxnSpPr>
          <p:cNvPr id="244" name="Google Shape;244;p4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5" name="Google Shape;245;p42"/>
          <p:cNvSpPr txBox="1"/>
          <p:nvPr/>
        </p:nvSpPr>
        <p:spPr>
          <a:xfrm>
            <a:off x="486000" y="316800"/>
            <a:ext cx="467110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More or Less Than</a:t>
            </a:r>
            <a:endParaRPr b="0" i="0" sz="1400" u="none" cap="none" strike="noStrike">
              <a:solidFill>
                <a:srgbClr val="000000"/>
              </a:solidFill>
              <a:latin typeface="Arial"/>
              <a:ea typeface="Arial"/>
              <a:cs typeface="Arial"/>
              <a:sym typeface="Arial"/>
            </a:endParaRPr>
          </a:p>
        </p:txBody>
      </p:sp>
      <p:sp>
        <p:nvSpPr>
          <p:cNvPr id="246" name="Google Shape;246;p42"/>
          <p:cNvSpPr txBox="1"/>
          <p:nvPr/>
        </p:nvSpPr>
        <p:spPr>
          <a:xfrm>
            <a:off x="486000" y="2279044"/>
            <a:ext cx="2054000"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7" name="Google Shape;247;p42"/>
          <p:cNvSpPr txBox="1"/>
          <p:nvPr/>
        </p:nvSpPr>
        <p:spPr>
          <a:xfrm>
            <a:off x="3394823" y="2279044"/>
            <a:ext cx="2161813"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8" name="Google Shape;248;p42"/>
          <p:cNvSpPr txBox="1"/>
          <p:nvPr/>
        </p:nvSpPr>
        <p:spPr>
          <a:xfrm>
            <a:off x="6344785" y="2279044"/>
            <a:ext cx="1767340"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9" name="Google Shape;249;p42"/>
          <p:cNvSpPr txBox="1"/>
          <p:nvPr/>
        </p:nvSpPr>
        <p:spPr>
          <a:xfrm>
            <a:off x="486000" y="1105262"/>
            <a:ext cx="3862480" cy="523220"/>
          </a:xfrm>
          <a:prstGeom prst="rect">
            <a:avLst/>
          </a:prstGeom>
          <a:blipFill rotWithShape="1">
            <a:blip r:embed="rId6">
              <a:alphaModFix/>
            </a:blip>
            <a:stretch>
              <a:fillRect b="-31395" l="-3318" r="0" t="-116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5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47</a:t>
            </a:r>
          </a:p>
        </p:txBody>
      </p:sp>
      <p:sp xmlns:p="http://schemas.openxmlformats.org/presentationml/2006/main" xmlns:a="http://schemas.openxmlformats.org/drawingml/2006/main">
        <p:nvSpPr>
          <p:cNvPr id="251"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45"/>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44" name="Google Shape;344;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9-2 · Analyze Graphs of Relationships Between Two Variables</a:t>
            </a:r>
            <a:endParaRPr/>
          </a:p>
        </p:txBody>
      </p:sp>
      <p:sp>
        <p:nvSpPr>
          <p:cNvPr id="345" name="Google Shape;345;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6" name="Google Shape;346;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7" name="Google Shape;347;p45"/>
          <p:cNvSpPr txBox="1"/>
          <p:nvPr/>
        </p:nvSpPr>
        <p:spPr>
          <a:xfrm>
            <a:off x="640080" y="969264"/>
            <a:ext cx="10911809" cy="10160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250" u="none" cap="none" strike="noStrike">
                <a:solidFill>
                  <a:srgbClr val="14223A"/>
                </a:solidFill>
                <a:latin typeface="Arial"/>
                <a:ea typeface="Arial"/>
                <a:cs typeface="Arial"/>
                <a:sym typeface="Arial"/>
              </a:rPr>
              <a:t>Analyze Graphs of Relationships Between Two Variables</a:t>
            </a:r>
            <a:endParaRPr/>
          </a:p>
        </p:txBody>
      </p:sp>
      <p:sp>
        <p:nvSpPr>
          <p:cNvPr id="348" name="Google Shape;348;p45"/>
          <p:cNvSpPr txBox="1"/>
          <p:nvPr/>
        </p:nvSpPr>
        <p:spPr>
          <a:xfrm>
            <a:off x="640080" y="2021840"/>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6.AT.11</a:t>
            </a:r>
            <a:endParaRPr/>
          </a:p>
        </p:txBody>
      </p:sp>
      <p:sp>
        <p:nvSpPr>
          <p:cNvPr id="349" name="Google Shape;349;p45"/>
          <p:cNvSpPr/>
          <p:nvPr/>
        </p:nvSpPr>
        <p:spPr>
          <a:xfrm>
            <a:off x="640080" y="2442464"/>
            <a:ext cx="5349240" cy="3610863"/>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0" name="Google Shape;350;p45"/>
          <p:cNvSpPr/>
          <p:nvPr/>
        </p:nvSpPr>
        <p:spPr>
          <a:xfrm>
            <a:off x="640080" y="2442464"/>
            <a:ext cx="118872" cy="3610863"/>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1" name="Google Shape;351;p45"/>
          <p:cNvSpPr txBox="1"/>
          <p:nvPr/>
        </p:nvSpPr>
        <p:spPr>
          <a:xfrm>
            <a:off x="1097280" y="280822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52" name="Google Shape;352;p45"/>
          <p:cNvSpPr txBox="1"/>
          <p:nvPr/>
        </p:nvSpPr>
        <p:spPr>
          <a:xfrm>
            <a:off x="1097280" y="313740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53" name="Google Shape;353;p45"/>
          <p:cNvSpPr txBox="1"/>
          <p:nvPr/>
        </p:nvSpPr>
        <p:spPr>
          <a:xfrm>
            <a:off x="1097280" y="3612896"/>
            <a:ext cx="4480559" cy="2038095"/>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use a table and a graph to determine and analyze the relationship between two variable quantities.</a:t>
            </a:r>
            <a:endParaRPr/>
          </a:p>
        </p:txBody>
      </p:sp>
      <p:sp>
        <p:nvSpPr>
          <p:cNvPr id="354" name="Google Shape;354;p45"/>
          <p:cNvSpPr/>
          <p:nvPr/>
        </p:nvSpPr>
        <p:spPr>
          <a:xfrm>
            <a:off x="6382512" y="2442464"/>
            <a:ext cx="5349240" cy="3610863"/>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5" name="Google Shape;355;p45"/>
          <p:cNvSpPr/>
          <p:nvPr/>
        </p:nvSpPr>
        <p:spPr>
          <a:xfrm>
            <a:off x="6382512" y="2442464"/>
            <a:ext cx="118872" cy="3610863"/>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6" name="Google Shape;356;p45"/>
          <p:cNvSpPr txBox="1"/>
          <p:nvPr/>
        </p:nvSpPr>
        <p:spPr>
          <a:xfrm>
            <a:off x="6839712" y="280822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7" name="Google Shape;357;p45"/>
          <p:cNvSpPr txBox="1"/>
          <p:nvPr/>
        </p:nvSpPr>
        <p:spPr>
          <a:xfrm>
            <a:off x="6839712" y="313740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8" name="Google Shape;358;p45"/>
          <p:cNvSpPr txBox="1"/>
          <p:nvPr/>
        </p:nvSpPr>
        <p:spPr>
          <a:xfrm>
            <a:off x="6839712" y="3612896"/>
            <a:ext cx="4480559" cy="2038095"/>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describe what a point on a graph represents using the words ordered pair, axis, and coordinates.</a:t>
            </a:r>
            <a:endParaRPr/>
          </a:p>
        </p:txBody>
      </p:sp>
      <p:sp>
        <p:nvSpPr>
          <p:cNvPr id="35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9.2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Connect table rows to graph points.</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Interpret axes and scale.</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Describe the relationship.</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5" name="Google Shape;395;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 name="Google Shape;396;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 of 5</a:t>
            </a:r>
            <a:endParaRPr/>
          </a:p>
        </p:txBody>
      </p:sp>
      <p:sp>
        <p:nvSpPr>
          <p:cNvPr id="398" name="Google Shape;398;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9-2 · Analyze Graphs of Relationships Between Two Variables</a:t>
            </a:r>
            <a:endParaRPr/>
          </a:p>
        </p:txBody>
      </p:sp>
      <p:sp>
        <p:nvSpPr>
          <p:cNvPr id="399" name="Google Shape;399;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01" name="Google Shape;401;p47"/>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graph</a:t>
            </a:r>
            <a:endParaRPr/>
          </a:p>
        </p:txBody>
      </p:sp>
      <p:sp>
        <p:nvSpPr>
          <p:cNvPr id="402" name="Google Shape;402;p47"/>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47"/>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picture on a coordinate plane that shows how two quantities are related.</a:t>
            </a:r>
            <a:endParaRPr/>
          </a:p>
        </p:txBody>
      </p:sp>
      <p:sp>
        <p:nvSpPr>
          <p:cNvPr id="404" name="Google Shape;404;p47"/>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47"/>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47"/>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07" name="Google Shape;407;p47"/>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Points (1, 45), (2, 90), (3, 135) climbing left to right — cost by tickets.</a:t>
            </a:r>
            <a:endParaRPr/>
          </a:p>
        </p:txBody>
      </p:sp>
      <p:pic>
        <p:nvPicPr>
          <p:cNvPr descr="coordinate-plane.png" id="408" name="Google Shape;408;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47</a:t>
            </a:r>
          </a:p>
        </p:txBody>
      </p:sp>
      <p:sp xmlns:p="http://schemas.openxmlformats.org/presentationml/2006/main" xmlns:a="http://schemas.openxmlformats.org/drawingml/2006/main">
        <p:nvSpPr>
          <p:cNvPr id="409"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“graph” to explain the example. Point to 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3" name="Google Shape;413;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5</a:t>
            </a:r>
            <a:endParaRPr/>
          </a:p>
        </p:txBody>
      </p:sp>
      <p:sp>
        <p:nvSpPr>
          <p:cNvPr id="416" name="Google Shape;416;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9-2 · Analyze Graphs of Relationships Between Two Variables</a:t>
            </a:r>
            <a:endParaRPr/>
          </a:p>
        </p:txBody>
      </p:sp>
      <p:sp>
        <p:nvSpPr>
          <p:cNvPr id="417" name="Google Shape;417;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9" name="Google Shape;419;p48"/>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table of values</a:t>
            </a:r>
            <a:endParaRPr/>
          </a:p>
        </p:txBody>
      </p:sp>
      <p:sp>
        <p:nvSpPr>
          <p:cNvPr id="420" name="Google Shape;420;p48"/>
          <p:cNvSpPr/>
          <p:nvPr/>
        </p:nvSpPr>
        <p:spPr>
          <a:xfrm>
            <a:off x="658368" y="2638806"/>
            <a:ext cx="1783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8"/>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list of matched pairs of values that shows a relationship using numbers.</a:t>
            </a:r>
            <a:endParaRPr/>
          </a:p>
        </p:txBody>
      </p:sp>
      <p:sp>
        <p:nvSpPr>
          <p:cNvPr id="422" name="Google Shape;422;p48"/>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48"/>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48"/>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5" name="Google Shape;425;p48"/>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months 1, 2, 4 beside cost 24.95, 49.90, 99.80 — one row per pair.</a:t>
            </a:r>
            <a:endParaRPr/>
          </a:p>
        </p:txBody>
      </p:sp>
      <p:pic>
        <p:nvPicPr>
          <p:cNvPr descr="table-of-values.png" id="426" name="Google Shape;426;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47</a:t>
            </a:r>
          </a:p>
        </p:txBody>
      </p:sp>
      <p:sp xmlns:p="http://schemas.openxmlformats.org/presentationml/2006/main" xmlns:a="http://schemas.openxmlformats.org/drawingml/2006/main">
        <p:nvSpPr>
          <p:cNvPr id="427"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“table of values”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1" name="Google Shape;431;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5</a:t>
            </a:r>
            <a:endParaRPr/>
          </a:p>
        </p:txBody>
      </p:sp>
      <p:sp>
        <p:nvSpPr>
          <p:cNvPr id="434" name="Google Shape;434;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9-2 · Analyze Graphs of Relationships Between Two Variables</a:t>
            </a:r>
            <a:endParaRPr/>
          </a:p>
        </p:txBody>
      </p:sp>
      <p:sp>
        <p:nvSpPr>
          <p:cNvPr id="435" name="Google Shape;435;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7" name="Google Shape;437;p49"/>
          <p:cNvSpPr txBox="1"/>
          <p:nvPr/>
        </p:nvSpPr>
        <p:spPr>
          <a:xfrm>
            <a:off x="640080" y="162763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ordered pair</a:t>
            </a:r>
            <a:endParaRPr/>
          </a:p>
        </p:txBody>
      </p:sp>
      <p:sp>
        <p:nvSpPr>
          <p:cNvPr id="438" name="Google Shape;438;p49"/>
          <p:cNvSpPr/>
          <p:nvPr/>
        </p:nvSpPr>
        <p:spPr>
          <a:xfrm>
            <a:off x="658368" y="2462784"/>
            <a:ext cx="142646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9"/>
          <p:cNvSpPr txBox="1"/>
          <p:nvPr/>
        </p:nvSpPr>
        <p:spPr>
          <a:xfrm>
            <a:off x="640080" y="282397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Two numbers written as (x, y) that name one point on a graph. The independent variable comes first.</a:t>
            </a:r>
            <a:endParaRPr/>
          </a:p>
        </p:txBody>
      </p:sp>
      <p:sp>
        <p:nvSpPr>
          <p:cNvPr id="440" name="Google Shape;440;p49"/>
          <p:cNvSpPr/>
          <p:nvPr/>
        </p:nvSpPr>
        <p:spPr>
          <a:xfrm>
            <a:off x="640080" y="4300728"/>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49"/>
          <p:cNvSpPr/>
          <p:nvPr/>
        </p:nvSpPr>
        <p:spPr>
          <a:xfrm>
            <a:off x="640080" y="4300728"/>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49"/>
          <p:cNvSpPr txBox="1"/>
          <p:nvPr/>
        </p:nvSpPr>
        <p:spPr>
          <a:xfrm>
            <a:off x="932688" y="447446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3" name="Google Shape;443;p49"/>
          <p:cNvSpPr txBox="1"/>
          <p:nvPr/>
        </p:nvSpPr>
        <p:spPr>
          <a:xfrm>
            <a:off x="932688" y="4776215"/>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 135): 3 tickets cost $135 — the independent quantity comes first.</a:t>
            </a:r>
            <a:endParaRPr/>
          </a:p>
        </p:txBody>
      </p:sp>
      <p:pic>
        <p:nvPicPr>
          <p:cNvPr descr="ordered-pair.png" id="444" name="Google Shape;444;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47</a:t>
            </a:r>
          </a:p>
        </p:txBody>
      </p:sp>
      <p:sp xmlns:p="http://schemas.openxmlformats.org/presentationml/2006/main" xmlns:a="http://schemas.openxmlformats.org/drawingml/2006/main">
        <p:nvSpPr>
          <p:cNvPr id="445"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“ordered pair”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9" name="Google Shape;449;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5</a:t>
            </a:r>
            <a:endParaRPr/>
          </a:p>
        </p:txBody>
      </p:sp>
      <p:sp>
        <p:nvSpPr>
          <p:cNvPr id="452" name="Google Shape;452;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9-2 · Analyze Graphs of Relationships Between Two Variables</a:t>
            </a:r>
            <a:endParaRPr/>
          </a:p>
        </p:txBody>
      </p:sp>
      <p:sp>
        <p:nvSpPr>
          <p:cNvPr id="453" name="Google Shape;453;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5" name="Google Shape;455;p50"/>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axis</a:t>
            </a:r>
            <a:endParaRPr/>
          </a:p>
        </p:txBody>
      </p:sp>
      <p:sp>
        <p:nvSpPr>
          <p:cNvPr id="456" name="Google Shape;456;p50"/>
          <p:cNvSpPr/>
          <p:nvPr/>
        </p:nvSpPr>
        <p:spPr>
          <a:xfrm>
            <a:off x="658368" y="2561844"/>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50"/>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One of the two number lines that frame a graph. Each axis is labeled with a quantity from the problem.</a:t>
            </a:r>
            <a:endParaRPr/>
          </a:p>
        </p:txBody>
      </p:sp>
      <p:sp>
        <p:nvSpPr>
          <p:cNvPr id="458" name="Google Shape;458;p50"/>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50"/>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50"/>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1" name="Google Shape;461;p50"/>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Horizontal axis: months. Vertical axis: total cost.</a:t>
            </a:r>
            <a:endParaRPr/>
          </a:p>
        </p:txBody>
      </p:sp>
      <p:pic>
        <p:nvPicPr>
          <p:cNvPr descr="axis.png" id="462" name="Google Shape;462;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47</a:t>
            </a:r>
          </a:p>
        </p:txBody>
      </p:sp>
      <p:sp xmlns:p="http://schemas.openxmlformats.org/presentationml/2006/main" xmlns:a="http://schemas.openxmlformats.org/drawingml/2006/main">
        <p:nvSpPr>
          <p:cNvPr id="46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“axis”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7" name="Google Shape;467;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5</a:t>
            </a:r>
            <a:endParaRPr/>
          </a:p>
        </p:txBody>
      </p:sp>
      <p:sp>
        <p:nvSpPr>
          <p:cNvPr id="470" name="Google Shape;470;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9-2 · Analyze Graphs of Relationships Between Two Variables</a:t>
            </a:r>
            <a:endParaRPr/>
          </a:p>
        </p:txBody>
      </p:sp>
      <p:sp>
        <p:nvSpPr>
          <p:cNvPr id="471" name="Google Shape;471;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3" name="Google Shape;473;p51"/>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coordinates</a:t>
            </a:r>
            <a:endParaRPr/>
          </a:p>
        </p:txBody>
      </p:sp>
      <p:sp>
        <p:nvSpPr>
          <p:cNvPr id="474" name="Google Shape;474;p51"/>
          <p:cNvSpPr/>
          <p:nvPr/>
        </p:nvSpPr>
        <p:spPr>
          <a:xfrm>
            <a:off x="658368" y="2737866"/>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51"/>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numbers in an ordered pair that tell how far to move along each axis to reach a point.</a:t>
            </a:r>
            <a:endParaRPr/>
          </a:p>
        </p:txBody>
      </p:sp>
      <p:sp>
        <p:nvSpPr>
          <p:cNvPr id="476" name="Google Shape;476;p51"/>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51"/>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8" name="Google Shape;478;p51"/>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9" name="Google Shape;479;p51"/>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In (4, 105), 4 says how far across and 105 how far up.</a:t>
            </a:r>
            <a:endParaRPr/>
          </a:p>
        </p:txBody>
      </p:sp>
      <p:pic>
        <p:nvPicPr>
          <p:cNvPr descr="ordered-pair.png" id="480" name="Google Shape;480;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47</a:t>
            </a:r>
          </a:p>
        </p:txBody>
      </p:sp>
      <p:sp xmlns:p="http://schemas.openxmlformats.org/presentationml/2006/main" xmlns:a="http://schemas.openxmlformats.org/drawingml/2006/main">
        <p:nvSpPr>
          <p:cNvPr id="481"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“coordinates” to explain the example. Point to evidence.</a:t>
            </a:r>
            <a:endParaRPr lang="en-US"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66" name="Google Shape;366;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9-2 · Analyze Graphs of Relationships Between Two Variables</a:t>
            </a:r>
            <a:endParaRPr/>
          </a:p>
        </p:txBody>
      </p:sp>
      <p:sp>
        <p:nvSpPr>
          <p:cNvPr id="367" name="Google Shape;367;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9" name="Google Shape;369;p46"/>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70" name="Google Shape;370;p46"/>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71" name="Google Shape;371;p46"/>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46"/>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6"/>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graph</a:t>
            </a:r>
            <a:endParaRPr/>
          </a:p>
        </p:txBody>
      </p:sp>
      <p:sp>
        <p:nvSpPr>
          <p:cNvPr id="374" name="Google Shape;374;p46"/>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picture on a coordinate plane that shows how two quantities are related</a:t>
            </a:r>
            <a:endParaRPr/>
          </a:p>
        </p:txBody>
      </p:sp>
      <p:sp>
        <p:nvSpPr>
          <p:cNvPr id="375" name="Google Shape;375;p46"/>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46"/>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6"/>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table of values</a:t>
            </a:r>
            <a:endParaRPr/>
          </a:p>
        </p:txBody>
      </p:sp>
      <p:sp>
        <p:nvSpPr>
          <p:cNvPr id="378" name="Google Shape;378;p46"/>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list of matched pairs of values that shows a relationship using numbers</a:t>
            </a:r>
            <a:endParaRPr/>
          </a:p>
        </p:txBody>
      </p:sp>
      <p:sp>
        <p:nvSpPr>
          <p:cNvPr id="379" name="Google Shape;379;p46"/>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p46"/>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6"/>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ordered pair</a:t>
            </a:r>
            <a:endParaRPr/>
          </a:p>
        </p:txBody>
      </p:sp>
      <p:sp>
        <p:nvSpPr>
          <p:cNvPr id="382" name="Google Shape;382;p46"/>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Two numbers written as (x, y) that name one point on a graph</a:t>
            </a:r>
            <a:endParaRPr/>
          </a:p>
        </p:txBody>
      </p:sp>
      <p:sp>
        <p:nvSpPr>
          <p:cNvPr id="383" name="Google Shape;383;p46"/>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46"/>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6"/>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axis</a:t>
            </a:r>
            <a:endParaRPr/>
          </a:p>
        </p:txBody>
      </p:sp>
      <p:sp>
        <p:nvSpPr>
          <p:cNvPr id="386" name="Google Shape;386;p46"/>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One of the two number lines that frame a graph</a:t>
            </a:r>
            <a:endParaRPr/>
          </a:p>
        </p:txBody>
      </p:sp>
      <p:sp>
        <p:nvSpPr>
          <p:cNvPr id="387" name="Google Shape;387;p46"/>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 name="Google Shape;388;p46"/>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46"/>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coordinates</a:t>
            </a:r>
            <a:endParaRPr/>
          </a:p>
        </p:txBody>
      </p:sp>
      <p:sp>
        <p:nvSpPr>
          <p:cNvPr id="390" name="Google Shape;390;p46"/>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The numbers in an ordered pair that tell how far to move along each axis to reach a point</a:t>
            </a:r>
            <a:endParaRPr/>
          </a:p>
        </p:txBody>
      </p:sp>
      <p:sp>
        <p:nvSpPr>
          <p:cNvPr id="39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47</a:t>
            </a:r>
          </a:p>
        </p:txBody>
      </p:sp>
      <p:sp xmlns:p="http://schemas.openxmlformats.org/presentationml/2006/main" xmlns:a="http://schemas.openxmlformats.org/drawingml/2006/main">
        <p:nvSpPr>
          <p:cNvPr id="392"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cxnSp>
        <p:nvCxnSpPr>
          <p:cNvPr id="550" name="Google Shape;550;p5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51" name="Google Shape;551;p55"/>
          <p:cNvSpPr txBox="1"/>
          <p:nvPr/>
        </p:nvSpPr>
        <p:spPr>
          <a:xfrm>
            <a:off x="484561" y="365845"/>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52" name="Google Shape;552;p55"/>
          <p:cNvSpPr txBox="1"/>
          <p:nvPr/>
        </p:nvSpPr>
        <p:spPr>
          <a:xfrm>
            <a:off x="459052" y="937946"/>
            <a:ext cx="4441401" cy="524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p:txBody>
      </p:sp>
      <p:pic>
        <p:nvPicPr>
          <p:cNvPr id="553" name="Google Shape;553;p55"/>
          <p:cNvPicPr preferRelativeResize="0"/>
          <p:nvPr/>
        </p:nvPicPr>
        <p:blipFill rotWithShape="1">
          <a:blip r:embed="rId3">
            <a:alphaModFix/>
          </a:blip>
          <a:srcRect b="0" l="0" r="0" t="0"/>
          <a:stretch/>
        </p:blipFill>
        <p:spPr>
          <a:xfrm>
            <a:off x="484561" y="5024465"/>
            <a:ext cx="5054600" cy="838200"/>
          </a:xfrm>
          <a:prstGeom prst="rect">
            <a:avLst/>
          </a:prstGeom>
          <a:noFill/>
          <a:ln>
            <a:noFill/>
          </a:ln>
        </p:spPr>
      </p:pic>
      <p:sp>
        <p:nvSpPr>
          <p:cNvPr id="554" name="Google Shape;554;p55"/>
          <p:cNvSpPr txBox="1"/>
          <p:nvPr/>
        </p:nvSpPr>
        <p:spPr>
          <a:xfrm>
            <a:off x="3086402" y="5188384"/>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55" name="Google Shape;555;p55"/>
          <p:cNvSpPr txBox="1"/>
          <p:nvPr/>
        </p:nvSpPr>
        <p:spPr>
          <a:xfrm>
            <a:off x="459052" y="1497342"/>
            <a:ext cx="3929638" cy="524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556" name="Google Shape;556;p55"/>
          <p:cNvSpPr txBox="1"/>
          <p:nvPr/>
        </p:nvSpPr>
        <p:spPr>
          <a:xfrm>
            <a:off x="484561" y="5819422"/>
            <a:ext cx="8213423" cy="4924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goal will you set for today’s math class?</a:t>
            </a:r>
            <a:endParaRPr b="0" i="0" sz="2600" u="none" cap="none" strike="noStrike">
              <a:solidFill>
                <a:srgbClr val="595959"/>
              </a:solidFill>
              <a:latin typeface="Arial"/>
              <a:ea typeface="Arial"/>
              <a:cs typeface="Arial"/>
              <a:sym typeface="Arial"/>
            </a:endParaRPr>
          </a:p>
        </p:txBody>
      </p:sp>
      <p:pic>
        <p:nvPicPr>
          <p:cNvPr descr="A picture containing sky, outdoor, transport, crane&#10;&#10;Description automatically generated" id="557" name="Google Shape;557;p55"/>
          <p:cNvPicPr preferRelativeResize="0"/>
          <p:nvPr/>
        </p:nvPicPr>
        <p:blipFill rotWithShape="1">
          <a:blip r:embed="rId4">
            <a:alphaModFix/>
          </a:blip>
          <a:srcRect b="0" l="0" r="0" t="0"/>
          <a:stretch/>
        </p:blipFill>
        <p:spPr>
          <a:xfrm>
            <a:off x="6039540" y="1449000"/>
            <a:ext cx="5588000" cy="3960000"/>
          </a:xfrm>
          <a:prstGeom prst="rect">
            <a:avLst/>
          </a:prstGeom>
          <a:noFill/>
          <a:ln>
            <a:noFill/>
          </a:ln>
        </p:spPr>
      </p:pic>
      <p:sp>
        <p:nvSpPr>
          <p:cNvPr id="5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47</a:t>
            </a:r>
          </a:p>
        </p:txBody>
      </p:sp>
      <p:sp xmlns:p="http://schemas.openxmlformats.org/presentationml/2006/main" xmlns:a="http://schemas.openxmlformats.org/drawingml/2006/main">
        <p:nvSpPr>
          <p:cNvPr id="559" name="TEACH-embedded-student-prompt" descr="Student thinking and response directions"/>
          <p:cNvSpPr txBox="1"/>
          <p:nvPr/>
        </p:nvSpPr>
        <p:spPr>
          <a:xfrm>
            <a:off x="594360" y="38221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a:t>
            </a:r>
            <a:endParaRPr lang="en-US" sz="2000"/>
          </a:p>
          <a:p>
            <a:pPr>
              <a:lnSpc>
                <a:spcPts val="2400"/>
              </a:lnSpc>
              <a:buNone/>
            </a:pPr>
            <a:r>
              <a:rPr lang="en-US" sz="2000">
                <a:solidFill>
                  <a:srgbClr val="174D60"/>
                </a:solidFill>
                <a:latin typeface="Arial"/>
              </a:rPr>
              <a:t>question; build on a classmate’s</a:t>
            </a:r>
            <a:endParaRPr lang="en-US" sz="2000"/>
          </a:p>
          <a:p>
            <a:pPr>
              <a:lnSpc>
                <a:spcPts val="2400"/>
              </a:lnSpc>
              <a:buNone/>
            </a:pPr>
            <a:r>
              <a:rPr lang="en-US" sz="2000">
                <a:solidFill>
                  <a:srgbClr val="174D60"/>
                </a:solidFill>
                <a:latin typeface="Arial"/>
              </a:rPr>
              <a:t>idea.</a:t>
            </a: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cxnSp>
        <p:nvCxnSpPr>
          <p:cNvPr id="562" name="Google Shape;562;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63" name="Google Shape;563;p56"/>
          <p:cNvSpPr txBox="1"/>
          <p:nvPr/>
        </p:nvSpPr>
        <p:spPr>
          <a:xfrm>
            <a:off x="484565"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Football Game Tickets</a:t>
            </a:r>
            <a:endParaRPr b="1" i="0" sz="2800" u="none" cap="none" strike="noStrike">
              <a:solidFill>
                <a:srgbClr val="782DA0"/>
              </a:solidFill>
              <a:latin typeface="Arial"/>
              <a:ea typeface="Arial"/>
              <a:cs typeface="Arial"/>
              <a:sym typeface="Arial"/>
            </a:endParaRPr>
          </a:p>
        </p:txBody>
      </p:sp>
      <p:sp>
        <p:nvSpPr>
          <p:cNvPr id="564" name="Google Shape;564;p56"/>
          <p:cNvSpPr txBox="1"/>
          <p:nvPr/>
        </p:nvSpPr>
        <p:spPr>
          <a:xfrm>
            <a:off x="484564" y="936000"/>
            <a:ext cx="7392611"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ticket shows the cost to attend a college football game.</a:t>
            </a:r>
            <a:endParaRPr b="0" i="0" sz="1400" u="none" cap="none" strike="noStrike">
              <a:solidFill>
                <a:srgbClr val="000000"/>
              </a:solidFill>
              <a:latin typeface="Arial"/>
              <a:ea typeface="Arial"/>
              <a:cs typeface="Arial"/>
              <a:sym typeface="Arial"/>
            </a:endParaRPr>
          </a:p>
        </p:txBody>
      </p:sp>
      <p:sp>
        <p:nvSpPr>
          <p:cNvPr id="565" name="Google Shape;565;p56"/>
          <p:cNvSpPr txBox="1"/>
          <p:nvPr/>
        </p:nvSpPr>
        <p:spPr>
          <a:xfrm>
            <a:off x="484564" y="2453276"/>
            <a:ext cx="7804029"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does the total cost of tickets relate to the number of tickets purchased?</a:t>
            </a:r>
            <a:endParaRPr b="0" i="0" sz="1400" u="none" cap="none" strike="noStrike">
              <a:solidFill>
                <a:srgbClr val="000000"/>
              </a:solidFill>
              <a:latin typeface="Arial"/>
              <a:ea typeface="Arial"/>
              <a:cs typeface="Arial"/>
              <a:sym typeface="Arial"/>
            </a:endParaRPr>
          </a:p>
        </p:txBody>
      </p:sp>
      <p:pic>
        <p:nvPicPr>
          <p:cNvPr descr="A green and white sign&#10;&#10;Description automatically generated with medium confidence" id="566" name="Google Shape;566;p56"/>
          <p:cNvPicPr preferRelativeResize="0"/>
          <p:nvPr/>
        </p:nvPicPr>
        <p:blipFill rotWithShape="1">
          <a:blip r:embed="rId3">
            <a:alphaModFix/>
          </a:blip>
          <a:srcRect b="0" l="0" r="0" t="0"/>
          <a:stretch/>
        </p:blipFill>
        <p:spPr>
          <a:xfrm>
            <a:off x="9001718" y="1402350"/>
            <a:ext cx="2081168" cy="4320000"/>
          </a:xfrm>
          <a:prstGeom prst="rect">
            <a:avLst/>
          </a:prstGeom>
          <a:noFill/>
          <a:ln>
            <a:noFill/>
          </a:ln>
        </p:spPr>
      </p:pic>
      <p:sp>
        <p:nvSpPr>
          <p:cNvPr id="567" name="Google Shape;567;p56"/>
          <p:cNvSpPr txBox="1"/>
          <p:nvPr/>
        </p:nvSpPr>
        <p:spPr>
          <a:xfrm>
            <a:off x="484566" y="3970551"/>
            <a:ext cx="7464815" cy="20762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1" i="0" sz="2800" u="none" cap="none" strike="noStrike">
              <a:solidFill>
                <a:schemeClr val="lt1"/>
              </a:solidFill>
              <a:highlight>
                <a:srgbClr val="1E2682"/>
              </a:highlight>
              <a:latin typeface="Arial"/>
              <a:ea typeface="Arial"/>
              <a:cs typeface="Arial"/>
              <a:sym typeface="Arial"/>
            </a:endParaRPr>
          </a:p>
        </p:txBody>
      </p:sp>
      <p:sp>
        <p:nvSpPr>
          <p:cNvPr id="56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47</a:t>
            </a:r>
          </a:p>
        </p:txBody>
      </p:sp>
      <p:grpSp>
        <p:nvGrpSpPr>
          <p:cNvPr id="569" name="TEACH-3-student-move" descr="TEACH 3 · Use intentional questioning to deepen learning"/>
          <p:cNvGrpSpPr/>
          <p:nvPr/>
        </p:nvGrpSpPr>
        <p:grpSpPr>
          <a:xfrm>
            <a:off x="502920" y="5758926"/>
            <a:ext cx="11186160" cy="457200"/>
            <a:chOff x="502920" y="5758926"/>
            <a:chExt cx="11186160" cy="457200"/>
          </a:xfrm>
        </p:grpSpPr>
        <p:sp>
          <p:nvSpPr>
            <p:cNvPr id="570" name="TEACH-move-card"/>
            <p:cNvSpPr/>
            <p:nvPr/>
          </p:nvSpPr>
          <p:spPr>
            <a:xfrm>
              <a:off x="502920" y="5758926"/>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571" name="TEACH-move-rule"/>
            <p:cNvSpPr/>
            <p:nvPr/>
          </p:nvSpPr>
          <p:spPr>
            <a:xfrm>
              <a:off x="548640" y="5845794"/>
              <a:ext cx="100584" cy="283464"/>
            </a:xfrm>
            <a:prstGeom prst="roundRect">
              <a:avLst>
                <a:gd name="adj" fmla="val 50000"/>
              </a:avLst>
            </a:prstGeom>
            <a:solidFill>
              <a:srgbClr val="01708C"/>
            </a:solidFill>
            <a:ln>
              <a:noFill/>
            </a:ln>
          </p:spPr>
          <p:txBody>
            <a:bodyPr/>
            <a:lstStyle/>
            <a:p>
              <a:endParaRPr/>
            </a:p>
          </p:txBody>
        </p:sp>
        <p:sp>
          <p:nvSpPr>
            <p:cNvPr id="572" name="TEACH-move-text"/>
            <p:cNvSpPr txBox="1"/>
            <p:nvPr/>
          </p:nvSpPr>
          <p:spPr>
            <a:xfrm>
              <a:off x="822960" y="5758926"/>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HOW DO YOU KNOW?  ·  </a:t>
              </a:r>
              <a:r>
                <a:rPr lang="en-US" sz="1400" dirty="0">
                  <a:solidFill>
                    <a:srgbClr val="13303A"/>
                  </a:solidFill>
                  <a:latin typeface="Arial"/>
                </a:rPr>
                <a:t>Ask your partner “How do you know?” Answer by pointing to your own work.</a:t>
              </a:r>
              <a:endParaRPr lang="en-US" sz="1400"/>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cxnSp>
        <p:nvCxnSpPr>
          <p:cNvPr id="602" name="Google Shape;602;p6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03" name="Google Shape;603;p60"/>
          <p:cNvSpPr txBox="1"/>
          <p:nvPr/>
        </p:nvSpPr>
        <p:spPr>
          <a:xfrm>
            <a:off x="485999" y="936000"/>
            <a:ext cx="7819801" cy="9594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We can use a table to represent the relationship between two variables.</a:t>
            </a:r>
            <a:endParaRPr b="0" i="0" sz="1400" u="none" cap="none" strike="noStrike">
              <a:solidFill>
                <a:srgbClr val="000000"/>
              </a:solidFill>
              <a:latin typeface="Arial"/>
              <a:ea typeface="Arial"/>
              <a:cs typeface="Arial"/>
              <a:sym typeface="Arial"/>
            </a:endParaRPr>
          </a:p>
        </p:txBody>
      </p:sp>
      <p:sp>
        <p:nvSpPr>
          <p:cNvPr id="604" name="Google Shape;604;p60"/>
          <p:cNvSpPr txBox="1"/>
          <p:nvPr/>
        </p:nvSpPr>
        <p:spPr>
          <a:xfrm>
            <a:off x="892354" y="316800"/>
            <a:ext cx="450468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605" name="Google Shape;605;p60"/>
          <p:cNvPicPr preferRelativeResize="0"/>
          <p:nvPr/>
        </p:nvPicPr>
        <p:blipFill rotWithShape="1">
          <a:blip r:embed="rId3">
            <a:alphaModFix/>
          </a:blip>
          <a:srcRect b="0" l="0" r="0" t="0"/>
          <a:stretch/>
        </p:blipFill>
        <p:spPr>
          <a:xfrm>
            <a:off x="486000" y="348550"/>
            <a:ext cx="353635" cy="340537"/>
          </a:xfrm>
          <a:prstGeom prst="rect">
            <a:avLst/>
          </a:prstGeom>
          <a:noFill/>
          <a:ln>
            <a:noFill/>
          </a:ln>
        </p:spPr>
      </p:pic>
      <p:pic>
        <p:nvPicPr>
          <p:cNvPr id="606" name="Google Shape;606;p60"/>
          <p:cNvPicPr preferRelativeResize="0"/>
          <p:nvPr/>
        </p:nvPicPr>
        <p:blipFill rotWithShape="1">
          <a:blip r:embed="rId4">
            <a:alphaModFix/>
          </a:blip>
          <a:srcRect b="0" l="0" r="0" t="0"/>
          <a:stretch/>
        </p:blipFill>
        <p:spPr>
          <a:xfrm>
            <a:off x="2127894" y="1895475"/>
            <a:ext cx="4156138" cy="3110400"/>
          </a:xfrm>
          <a:prstGeom prst="rect">
            <a:avLst/>
          </a:prstGeom>
          <a:noFill/>
          <a:ln>
            <a:noFill/>
          </a:ln>
        </p:spPr>
      </p:pic>
      <p:pic>
        <p:nvPicPr>
          <p:cNvPr descr="A green and white sign&#10;&#10;Description automatically generated with medium confidence" id="607" name="Google Shape;607;p60"/>
          <p:cNvPicPr preferRelativeResize="0"/>
          <p:nvPr/>
        </p:nvPicPr>
        <p:blipFill rotWithShape="1">
          <a:blip r:embed="rId5">
            <a:alphaModFix/>
          </a:blip>
          <a:srcRect b="0" l="0" r="0" t="0"/>
          <a:stretch/>
        </p:blipFill>
        <p:spPr>
          <a:xfrm>
            <a:off x="9001718" y="1402350"/>
            <a:ext cx="2081168" cy="4320000"/>
          </a:xfrm>
          <a:prstGeom prst="rect">
            <a:avLst/>
          </a:prstGeom>
          <a:noFill/>
          <a:ln>
            <a:noFill/>
          </a:ln>
        </p:spPr>
      </p:pic>
      <p:sp>
        <p:nvSpPr>
          <p:cNvPr id="608" name="Google Shape;608;p60"/>
          <p:cNvSpPr txBox="1"/>
          <p:nvPr/>
        </p:nvSpPr>
        <p:spPr>
          <a:xfrm>
            <a:off x="485999" y="4965212"/>
            <a:ext cx="7699612"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complete the table of values to relate the cost of tickets to the number of tickets purchased? Explain your reasoning.</a:t>
            </a:r>
            <a:endParaRPr b="0" i="0" sz="1400" u="none" cap="none" strike="noStrike">
              <a:solidFill>
                <a:srgbClr val="000000"/>
              </a:solidFill>
              <a:latin typeface="Arial"/>
              <a:ea typeface="Arial"/>
              <a:cs typeface="Arial"/>
              <a:sym typeface="Arial"/>
            </a:endParaRPr>
          </a:p>
        </p:txBody>
      </p:sp>
      <p:sp>
        <p:nvSpPr>
          <p:cNvPr id="60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47</a:t>
            </a:r>
          </a:p>
        </p:txBody>
      </p:sp>
      <p:sp>
        <p:nvSpPr>
          <p:cNvPr id="610"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cxnSp>
        <p:nvCxnSpPr>
          <p:cNvPr id="645" name="Google Shape;645;p6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46" name="Google Shape;646;p64"/>
          <p:cNvSpPr txBox="1"/>
          <p:nvPr/>
        </p:nvSpPr>
        <p:spPr>
          <a:xfrm>
            <a:off x="484563" y="3857875"/>
            <a:ext cx="6329191" cy="211522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As the number of tickets increases, the total cost increases. The total cost is 45 times the number of tickets.</a:t>
            </a:r>
            <a:endParaRPr b="1" i="0" sz="2800" u="none" cap="none" strike="noStrike">
              <a:solidFill>
                <a:srgbClr val="595959"/>
              </a:solidFill>
              <a:latin typeface="Arial"/>
              <a:ea typeface="Arial"/>
              <a:cs typeface="Arial"/>
              <a:sym typeface="Arial"/>
            </a:endParaRPr>
          </a:p>
        </p:txBody>
      </p:sp>
      <p:sp>
        <p:nvSpPr>
          <p:cNvPr id="647" name="Google Shape;647;p64"/>
          <p:cNvSpPr txBox="1"/>
          <p:nvPr/>
        </p:nvSpPr>
        <p:spPr>
          <a:xfrm>
            <a:off x="484566" y="936000"/>
            <a:ext cx="6329188"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We can multiply the cost of one ticket by the number of tickets purchased.</a:t>
            </a:r>
            <a:endParaRPr b="1" i="0" sz="2800" u="none" cap="none" strike="noStrike">
              <a:solidFill>
                <a:schemeClr val="dk1"/>
              </a:solidFill>
              <a:latin typeface="Arial"/>
              <a:ea typeface="Arial"/>
              <a:cs typeface="Arial"/>
              <a:sym typeface="Arial"/>
            </a:endParaRPr>
          </a:p>
        </p:txBody>
      </p:sp>
      <p:sp>
        <p:nvSpPr>
          <p:cNvPr id="648" name="Google Shape;648;p64"/>
          <p:cNvSpPr txBox="1"/>
          <p:nvPr/>
        </p:nvSpPr>
        <p:spPr>
          <a:xfrm>
            <a:off x="484565"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Football Game Tickets</a:t>
            </a:r>
            <a:endParaRPr b="1" i="0" sz="2800" u="none" cap="none" strike="noStrike">
              <a:solidFill>
                <a:srgbClr val="782DA0"/>
              </a:solidFill>
              <a:latin typeface="Arial"/>
              <a:ea typeface="Arial"/>
              <a:cs typeface="Arial"/>
              <a:sym typeface="Arial"/>
            </a:endParaRPr>
          </a:p>
        </p:txBody>
      </p:sp>
      <p:graphicFrame>
        <p:nvGraphicFramePr>
          <p:cNvPr id="649" name="Google Shape;649;p64"/>
          <p:cNvGraphicFramePr/>
          <p:nvPr/>
        </p:nvGraphicFramePr>
        <p:xfrm>
          <a:off x="7039590" y="1382874"/>
          <a:ext cx="3000000" cy="3000000"/>
        </p:xfrm>
        <a:graphic>
          <a:graphicData uri="http://schemas.openxmlformats.org/drawingml/2006/table">
            <a:tbl>
              <a:tblPr bandRow="1" firstRow="1">
                <a:noFill/>
                <a:tableStyleId>{D3DEDED9-13C0-4318-B47F-5909D5EAF5C1}</a:tableStyleId>
              </a:tblPr>
              <a:tblGrid>
                <a:gridCol w="2228100"/>
                <a:gridCol w="2668350"/>
              </a:tblGrid>
              <a:tr h="518150">
                <a:tc gridSpan="2">
                  <a:txBody>
                    <a:bodyPr/>
                    <a:lstStyle/>
                    <a:p>
                      <a:pPr indent="0" lvl="0" marL="0" marR="0" rtl="0" algn="l">
                        <a:lnSpc>
                          <a:spcPct val="100000"/>
                        </a:lnSpc>
                        <a:spcBef>
                          <a:spcPts val="0"/>
                        </a:spcBef>
                        <a:spcAft>
                          <a:spcPts val="0"/>
                        </a:spcAft>
                        <a:buClr>
                          <a:schemeClr val="dk1"/>
                        </a:buClr>
                        <a:buSzPts val="2800"/>
                        <a:buFont typeface="Arial"/>
                        <a:buNone/>
                      </a:pPr>
                      <a:r>
                        <a:rPr b="1" lang="en-US" sz="2800" u="none" cap="none" strike="noStrike">
                          <a:solidFill>
                            <a:schemeClr val="dk1"/>
                          </a:solidFill>
                          <a:latin typeface="Arial"/>
                          <a:ea typeface="Arial"/>
                          <a:cs typeface="Arial"/>
                          <a:sym typeface="Arial"/>
                        </a:rPr>
                        <a:t>Tickets</a:t>
                      </a:r>
                      <a:endParaRPr b="1" sz="2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944875">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Number of Tickets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Total Cost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8150">
                <a:tc>
                  <a:txBody>
                    <a:bodyPr/>
                    <a:lstStyle/>
                    <a:p>
                      <a:pPr indent="0" lvl="0" marL="0" marR="0" rtl="0" algn="ctr">
                        <a:lnSpc>
                          <a:spcPct val="100000"/>
                        </a:lnSpc>
                        <a:spcBef>
                          <a:spcPts val="0"/>
                        </a:spcBef>
                        <a:spcAft>
                          <a:spcPts val="0"/>
                        </a:spcAft>
                        <a:buClr>
                          <a:schemeClr val="dk1"/>
                        </a:buClr>
                        <a:buSzPts val="2800"/>
                        <a:buFont typeface="Cambria Math"/>
                        <a:buNone/>
                      </a:pPr>
                      <a:r>
                        <a:rPr lang="en-US" sz="2800" u="none" cap="none" strike="noStrike">
                          <a:latin typeface="Cambria Math"/>
                          <a:ea typeface="Cambria Math"/>
                          <a:cs typeface="Cambria Math"/>
                          <a:sym typeface="Cambria Math"/>
                        </a:rPr>
                        <a:t>10</a:t>
                      </a:r>
                      <a:endParaRPr sz="2800" u="none" cap="none" strike="noStrike">
                        <a:latin typeface="Cambria Math"/>
                        <a:ea typeface="Cambria Math"/>
                        <a:cs typeface="Cambria Math"/>
                        <a:sym typeface="Cambria Math"/>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lang="en-US" sz="2800" u="none" cap="none" strike="noStrike">
                          <a:latin typeface="Cambria Math"/>
                          <a:ea typeface="Cambria Math"/>
                          <a:cs typeface="Cambria Math"/>
                          <a:sym typeface="Cambria Math"/>
                        </a:rPr>
                        <a:t>450</a:t>
                      </a:r>
                      <a:endParaRPr sz="2800" u="none" cap="none" strike="noStrike">
                        <a:latin typeface="Cambria Math"/>
                        <a:ea typeface="Cambria Math"/>
                        <a:cs typeface="Cambria Math"/>
                        <a:sym typeface="Cambria Math"/>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650" name="Google Shape;650;p64"/>
          <p:cNvSpPr txBox="1"/>
          <p:nvPr/>
        </p:nvSpPr>
        <p:spPr>
          <a:xfrm>
            <a:off x="484563" y="2196607"/>
            <a:ext cx="632919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relationships do you notice in the table?</a:t>
            </a:r>
            <a:endParaRPr b="0" i="0" sz="1400" u="none" cap="none" strike="noStrike">
              <a:solidFill>
                <a:srgbClr val="000000"/>
              </a:solidFill>
              <a:latin typeface="Arial"/>
              <a:ea typeface="Arial"/>
              <a:cs typeface="Arial"/>
              <a:sym typeface="Arial"/>
            </a:endParaRPr>
          </a:p>
        </p:txBody>
      </p:sp>
      <p:sp>
        <p:nvSpPr>
          <p:cNvPr id="65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47</a:t>
            </a:r>
          </a:p>
        </p:txBody>
      </p:sp>
      <p:sp>
        <p:nvSpPr>
          <p:cNvPr id="652" name="EWL-COVER-1"/>
          <p:cNvSpPr/>
          <p:nvPr/>
        </p:nvSpPr>
        <p:spPr>
          <a:xfrm>
            <a:off x="429699" y="3803011"/>
            <a:ext cx="6438919" cy="2224949"/>
          </a:xfrm>
          <a:prstGeom prst="rect">
            <a:avLst/>
          </a:prstGeom>
          <a:solidFill>
            <a:srgbClr val="FFFFFF"/>
          </a:solidFill>
          <a:ln>
            <a:noFill/>
          </a:ln>
        </p:spPr>
        <p:txBody>
          <a:bodyPr/>
          <a:lstStyle/>
          <a:p/>
        </p:txBody>
      </p:sp>
      <p:sp xmlns:p="http://schemas.openxmlformats.org/presentationml/2006/main" xmlns:a="http://schemas.openxmlformats.org/drawingml/2006/main">
        <p:nvSpPr>
          <p:cNvPr id="653"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a:t>
            </a:r>
            <a:endParaRPr lang="en-US" sz="2000"/>
          </a:p>
          <a:p>
            <a:pPr>
              <a:lnSpc>
                <a:spcPts val="2400"/>
              </a:lnSpc>
              <a:buNone/>
            </a:pPr>
            <a:r>
              <a:rPr lang="en-US" sz="2000">
                <a:solidFill>
                  <a:srgbClr val="174D60"/>
                </a:solidFill>
                <a:latin typeface="Arial"/>
              </a:rPr>
              <a:t>reveal. Compare, then explain</a:t>
            </a:r>
            <a:endParaRPr lang="en-US" sz="2000"/>
          </a:p>
          <a:p>
            <a:pPr>
              <a:lnSpc>
                <a:spcPts val="2400"/>
              </a:lnSpc>
              <a:buNone/>
            </a:pPr>
            <a:r>
              <a:rPr lang="en-US" sz="2000">
                <a:solidFill>
                  <a:srgbClr val="174D60"/>
                </a:solidFill>
                <a:latin typeface="Arial"/>
              </a:rPr>
              <a:t>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5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cxnSp>
        <p:nvCxnSpPr>
          <p:cNvPr id="703" name="Google Shape;703;p7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04" name="Google Shape;704;p70"/>
          <p:cNvSpPr txBox="1"/>
          <p:nvPr/>
        </p:nvSpPr>
        <p:spPr>
          <a:xfrm>
            <a:off x="484565" y="874243"/>
            <a:ext cx="7487860" cy="1384995"/>
          </a:xfrm>
          <a:prstGeom prst="rect">
            <a:avLst/>
          </a:prstGeom>
          <a:blipFill rotWithShape="1">
            <a:blip r:embed="rId3">
              <a:alphaModFix/>
            </a:blip>
            <a:stretch>
              <a:fillRect b="-10965" l="-1627" r="0" t="-526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hart&#10;&#10;Description automatically generated" id="705" name="Google Shape;705;p70"/>
          <p:cNvPicPr preferRelativeResize="0"/>
          <p:nvPr/>
        </p:nvPicPr>
        <p:blipFill rotWithShape="1">
          <a:blip r:embed="rId4">
            <a:alphaModFix/>
          </a:blip>
          <a:srcRect b="0" l="0" r="0" t="0"/>
          <a:stretch/>
        </p:blipFill>
        <p:spPr>
          <a:xfrm>
            <a:off x="5876925" y="1958005"/>
            <a:ext cx="6000750" cy="4305300"/>
          </a:xfrm>
          <a:prstGeom prst="rect">
            <a:avLst/>
          </a:prstGeom>
          <a:noFill/>
          <a:ln>
            <a:noFill/>
          </a:ln>
        </p:spPr>
      </p:pic>
      <p:sp>
        <p:nvSpPr>
          <p:cNvPr id="706" name="Google Shape;706;p70"/>
          <p:cNvSpPr txBox="1"/>
          <p:nvPr/>
        </p:nvSpPr>
        <p:spPr>
          <a:xfrm>
            <a:off x="484562" y="316800"/>
            <a:ext cx="5015483" cy="55744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Football Game Tickets</a:t>
            </a:r>
            <a:endParaRPr b="1" i="0" sz="2800" u="none" cap="none" strike="noStrike">
              <a:solidFill>
                <a:srgbClr val="782DA0"/>
              </a:solidFill>
              <a:latin typeface="Arial"/>
              <a:ea typeface="Arial"/>
              <a:cs typeface="Arial"/>
              <a:sym typeface="Arial"/>
            </a:endParaRPr>
          </a:p>
        </p:txBody>
      </p:sp>
      <p:graphicFrame>
        <p:nvGraphicFramePr>
          <p:cNvPr id="707" name="Google Shape;707;p70"/>
          <p:cNvGraphicFramePr/>
          <p:nvPr/>
        </p:nvGraphicFramePr>
        <p:xfrm>
          <a:off x="484562" y="2448077"/>
          <a:ext cx="3000000" cy="3000000"/>
        </p:xfrm>
        <a:graphic>
          <a:graphicData uri="http://schemas.openxmlformats.org/drawingml/2006/table">
            <a:tbl>
              <a:tblPr bandRow="1" firstRow="1">
                <a:noFill/>
                <a:tableStyleId>{D3DEDED9-13C0-4318-B47F-5909D5EAF5C1}</a:tableStyleId>
              </a:tblPr>
              <a:tblGrid>
                <a:gridCol w="2228100"/>
                <a:gridCol w="2668350"/>
              </a:tblGrid>
              <a:tr h="518150">
                <a:tc gridSpan="2">
                  <a:txBody>
                    <a:bodyPr/>
                    <a:lstStyle/>
                    <a:p>
                      <a:pPr indent="0" lvl="0" marL="0" marR="0" rtl="0" algn="l">
                        <a:lnSpc>
                          <a:spcPct val="100000"/>
                        </a:lnSpc>
                        <a:spcBef>
                          <a:spcPts val="0"/>
                        </a:spcBef>
                        <a:spcAft>
                          <a:spcPts val="0"/>
                        </a:spcAft>
                        <a:buClr>
                          <a:schemeClr val="dk1"/>
                        </a:buClr>
                        <a:buSzPts val="2800"/>
                        <a:buFont typeface="Arial"/>
                        <a:buNone/>
                      </a:pPr>
                      <a:r>
                        <a:rPr b="1" lang="en-US" sz="2800" u="none" cap="none" strike="noStrike">
                          <a:solidFill>
                            <a:schemeClr val="dk1"/>
                          </a:solidFill>
                          <a:latin typeface="Arial"/>
                          <a:ea typeface="Arial"/>
                          <a:cs typeface="Arial"/>
                          <a:sym typeface="Arial"/>
                        </a:rPr>
                        <a:t>Tickets</a:t>
                      </a:r>
                      <a:endParaRPr b="1" sz="2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944875">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Number of Tickets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Total Cost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8150">
                <a:tc>
                  <a:txBody>
                    <a:bodyPr/>
                    <a:lstStyle/>
                    <a:p>
                      <a:pPr indent="0" lvl="0" marL="0" marR="0" rtl="0" algn="ctr">
                        <a:lnSpc>
                          <a:spcPct val="100000"/>
                        </a:lnSpc>
                        <a:spcBef>
                          <a:spcPts val="0"/>
                        </a:spcBef>
                        <a:spcAft>
                          <a:spcPts val="0"/>
                        </a:spcAft>
                        <a:buClr>
                          <a:schemeClr val="dk1"/>
                        </a:buClr>
                        <a:buSzPts val="2800"/>
                        <a:buFont typeface="Cambria Math"/>
                        <a:buNone/>
                      </a:pPr>
                      <a:r>
                        <a:rPr lang="en-US" sz="2800" u="none" cap="none" strike="noStrike">
                          <a:latin typeface="Cambria Math"/>
                          <a:ea typeface="Cambria Math"/>
                          <a:cs typeface="Cambria Math"/>
                          <a:sym typeface="Cambria Math"/>
                        </a:rPr>
                        <a:t>10</a:t>
                      </a:r>
                      <a:endParaRPr sz="2800" u="none" cap="none" strike="noStrike">
                        <a:latin typeface="Cambria Math"/>
                        <a:ea typeface="Cambria Math"/>
                        <a:cs typeface="Cambria Math"/>
                        <a:sym typeface="Cambria Math"/>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lang="en-US" sz="2800" u="none" cap="none" strike="noStrike">
                          <a:latin typeface="Cambria Math"/>
                          <a:ea typeface="Cambria Math"/>
                          <a:cs typeface="Cambria Math"/>
                          <a:sym typeface="Cambria Math"/>
                        </a:rPr>
                        <a:t>450</a:t>
                      </a:r>
                      <a:endParaRPr sz="2800" u="none" cap="none" strike="noStrike">
                        <a:latin typeface="Cambria Math"/>
                        <a:ea typeface="Cambria Math"/>
                        <a:cs typeface="Cambria Math"/>
                        <a:sym typeface="Cambria Math"/>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70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47</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cxnSp>
        <p:nvCxnSpPr>
          <p:cNvPr id="769" name="Google Shape;769;p7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graphicFrame>
        <p:nvGraphicFramePr>
          <p:cNvPr id="770" name="Google Shape;770;p78"/>
          <p:cNvGraphicFramePr/>
          <p:nvPr/>
        </p:nvGraphicFramePr>
        <p:xfrm>
          <a:off x="484562" y="936000"/>
          <a:ext cx="3000000" cy="3000000"/>
        </p:xfrm>
        <a:graphic>
          <a:graphicData uri="http://schemas.openxmlformats.org/drawingml/2006/table">
            <a:tbl>
              <a:tblPr bandRow="1" firstRow="1">
                <a:noFill/>
                <a:tableStyleId>{D3DEDED9-13C0-4318-B47F-5909D5EAF5C1}</a:tableStyleId>
              </a:tblPr>
              <a:tblGrid>
                <a:gridCol w="2813425"/>
                <a:gridCol w="2206875"/>
              </a:tblGrid>
              <a:tr h="531200">
                <a:tc gridSpan="2">
                  <a:txBody>
                    <a:bodyPr/>
                    <a:lstStyle/>
                    <a:p>
                      <a:pPr indent="0" lvl="0" marL="0" marR="0" rtl="0" algn="l">
                        <a:lnSpc>
                          <a:spcPct val="100000"/>
                        </a:lnSpc>
                        <a:spcBef>
                          <a:spcPts val="0"/>
                        </a:spcBef>
                        <a:spcAft>
                          <a:spcPts val="0"/>
                        </a:spcAft>
                        <a:buClr>
                          <a:schemeClr val="dk1"/>
                        </a:buClr>
                        <a:buSzPts val="2800"/>
                        <a:buFont typeface="Arial"/>
                        <a:buNone/>
                      </a:pPr>
                      <a:r>
                        <a:rPr b="1" lang="en-US" sz="2800" u="none" cap="none" strike="noStrike">
                          <a:solidFill>
                            <a:schemeClr val="dk1"/>
                          </a:solidFill>
                          <a:latin typeface="Arial"/>
                          <a:ea typeface="Arial"/>
                          <a:cs typeface="Arial"/>
                          <a:sym typeface="Arial"/>
                        </a:rPr>
                        <a:t>Tickets</a:t>
                      </a:r>
                      <a:endParaRPr b="1" sz="2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944875">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Number of Tickets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Total Cost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r>
              <a:tr h="5312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312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312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31200">
                <a:tc>
                  <a:txBody>
                    <a:bodyPr/>
                    <a:lstStyle/>
                    <a:p>
                      <a:pPr indent="0" lvl="0" marL="0" marR="0" rtl="0" algn="ctr">
                        <a:lnSpc>
                          <a:spcPct val="100000"/>
                        </a:lnSpc>
                        <a:spcBef>
                          <a:spcPts val="0"/>
                        </a:spcBef>
                        <a:spcAft>
                          <a:spcPts val="0"/>
                        </a:spcAft>
                        <a:buClr>
                          <a:schemeClr val="dk1"/>
                        </a:buClr>
                        <a:buSzPts val="2800"/>
                        <a:buFont typeface="Cambria Math"/>
                        <a:buNone/>
                      </a:pPr>
                      <a:r>
                        <a:rPr lang="en-US" sz="2800" u="none" cap="none" strike="noStrike">
                          <a:latin typeface="Cambria Math"/>
                          <a:ea typeface="Cambria Math"/>
                          <a:cs typeface="Cambria Math"/>
                          <a:sym typeface="Cambria Math"/>
                        </a:rPr>
                        <a:t>10</a:t>
                      </a:r>
                      <a:endParaRPr sz="2800" u="none" cap="none" strike="noStrike">
                        <a:latin typeface="Cambria Math"/>
                        <a:ea typeface="Cambria Math"/>
                        <a:cs typeface="Cambria Math"/>
                        <a:sym typeface="Cambria Math"/>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lang="en-US" sz="2800" u="none" cap="none" strike="noStrike">
                          <a:latin typeface="Cambria Math"/>
                          <a:ea typeface="Cambria Math"/>
                          <a:cs typeface="Cambria Math"/>
                          <a:sym typeface="Cambria Math"/>
                        </a:rPr>
                        <a:t>450</a:t>
                      </a:r>
                      <a:endParaRPr sz="2800" u="none" cap="none" strike="noStrike">
                        <a:latin typeface="Cambria Math"/>
                        <a:ea typeface="Cambria Math"/>
                        <a:cs typeface="Cambria Math"/>
                        <a:sym typeface="Cambria Math"/>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pic>
        <p:nvPicPr>
          <p:cNvPr id="771" name="Google Shape;771;p78"/>
          <p:cNvPicPr preferRelativeResize="0"/>
          <p:nvPr/>
        </p:nvPicPr>
        <p:blipFill rotWithShape="1">
          <a:blip r:embed="rId3">
            <a:alphaModFix/>
          </a:blip>
          <a:srcRect b="0" l="0" r="0" t="0"/>
          <a:stretch/>
        </p:blipFill>
        <p:spPr>
          <a:xfrm>
            <a:off x="5674361" y="1054252"/>
            <a:ext cx="3629129" cy="3870000"/>
          </a:xfrm>
          <a:prstGeom prst="rect">
            <a:avLst/>
          </a:prstGeom>
          <a:noFill/>
          <a:ln>
            <a:noFill/>
          </a:ln>
        </p:spPr>
      </p:pic>
      <p:sp>
        <p:nvSpPr>
          <p:cNvPr id="772" name="Google Shape;772;p78"/>
          <p:cNvSpPr txBox="1"/>
          <p:nvPr/>
        </p:nvSpPr>
        <p:spPr>
          <a:xfrm>
            <a:off x="367523" y="5231251"/>
            <a:ext cx="1007454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notice about the two representations?</a:t>
            </a:r>
            <a:endParaRPr b="0" i="0" sz="1400" u="none" cap="none" strike="noStrike">
              <a:solidFill>
                <a:srgbClr val="000000"/>
              </a:solidFill>
              <a:latin typeface="Arial"/>
              <a:ea typeface="Arial"/>
              <a:cs typeface="Arial"/>
              <a:sym typeface="Arial"/>
            </a:endParaRPr>
          </a:p>
        </p:txBody>
      </p:sp>
      <p:sp>
        <p:nvSpPr>
          <p:cNvPr id="773" name="Google Shape;773;p78"/>
          <p:cNvSpPr txBox="1"/>
          <p:nvPr/>
        </p:nvSpPr>
        <p:spPr>
          <a:xfrm>
            <a:off x="484562" y="316800"/>
            <a:ext cx="5015483" cy="55744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Football Game Tickets</a:t>
            </a:r>
            <a:endParaRPr b="1" i="0" sz="2800" u="none" cap="none" strike="noStrike">
              <a:solidFill>
                <a:srgbClr val="782DA0"/>
              </a:solidFill>
              <a:latin typeface="Arial"/>
              <a:ea typeface="Arial"/>
              <a:cs typeface="Arial"/>
              <a:sym typeface="Arial"/>
            </a:endParaRPr>
          </a:p>
        </p:txBody>
      </p:sp>
      <p:sp>
        <p:nvSpPr>
          <p:cNvPr id="77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47</a:t>
            </a:r>
          </a:p>
        </p:txBody>
      </p:sp>
      <p:grpSp>
        <p:nvGrpSpPr>
          <p:cNvPr id="775" name="TEACH-3-student-move" descr="TEACH 3 · Use intentional questioning to deepen learning"/>
          <p:cNvGrpSpPr/>
          <p:nvPr/>
        </p:nvGrpSpPr>
        <p:grpSpPr>
          <a:xfrm>
            <a:off x="502920" y="5785580"/>
            <a:ext cx="11186160" cy="457200"/>
            <a:chOff x="502920" y="5785580"/>
            <a:chExt cx="11186160" cy="457200"/>
          </a:xfrm>
        </p:grpSpPr>
        <p:sp>
          <p:nvSpPr>
            <p:cNvPr id="776" name="TEACH-move-card"/>
            <p:cNvSpPr/>
            <p:nvPr/>
          </p:nvSpPr>
          <p:spPr>
            <a:xfrm>
              <a:off x="502920" y="578558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777" name="TEACH-move-rule"/>
            <p:cNvSpPr/>
            <p:nvPr/>
          </p:nvSpPr>
          <p:spPr>
            <a:xfrm>
              <a:off x="548640" y="5872448"/>
              <a:ext cx="100584" cy="283464"/>
            </a:xfrm>
            <a:prstGeom prst="roundRect">
              <a:avLst>
                <a:gd name="adj" fmla="val 50000"/>
              </a:avLst>
            </a:prstGeom>
            <a:solidFill>
              <a:srgbClr val="01708C"/>
            </a:solidFill>
            <a:ln>
              <a:noFill/>
            </a:ln>
          </p:spPr>
          <p:txBody>
            <a:bodyPr/>
            <a:lstStyle/>
            <a:p>
              <a:endParaRPr/>
            </a:p>
          </p:txBody>
        </p:sp>
        <p:sp>
          <p:nvSpPr>
            <p:cNvPr id="778" name="TEACH-move-text"/>
            <p:cNvSpPr txBox="1"/>
            <p:nvPr/>
          </p:nvSpPr>
          <p:spPr>
            <a:xfrm>
              <a:off x="822960" y="578558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JUSTIFY IT  ·  </a:t>
              </a:r>
              <a:r>
                <a:rPr lang="en-US" sz="1400" dirty="0">
                  <a:solidFill>
                    <a:srgbClr val="13303A"/>
                  </a:solidFill>
                  <a:latin typeface="Arial"/>
                </a:rPr>
                <a:t>Say it like this: “I know ______ because ______.”</a:t>
              </a:r>
              <a:endParaRPr lang="en-US" sz="1400"/>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cxnSp>
        <p:nvCxnSpPr>
          <p:cNvPr id="786" name="Google Shape;786;p8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87" name="Google Shape;787;p80"/>
          <p:cNvSpPr txBox="1"/>
          <p:nvPr/>
        </p:nvSpPr>
        <p:spPr>
          <a:xfrm>
            <a:off x="484562" y="936000"/>
            <a:ext cx="7764085"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do you notice about the two representations?</a:t>
            </a:r>
            <a:endParaRPr b="0" i="0" sz="1400" u="none" cap="none" strike="noStrike">
              <a:solidFill>
                <a:srgbClr val="000000"/>
              </a:solidFill>
              <a:latin typeface="Arial"/>
              <a:ea typeface="Arial"/>
              <a:cs typeface="Arial"/>
              <a:sym typeface="Arial"/>
            </a:endParaRPr>
          </a:p>
        </p:txBody>
      </p:sp>
      <p:sp>
        <p:nvSpPr>
          <p:cNvPr id="788" name="Google Shape;788;p80"/>
          <p:cNvSpPr txBox="1"/>
          <p:nvPr/>
        </p:nvSpPr>
        <p:spPr>
          <a:xfrm>
            <a:off x="484562" y="3187685"/>
            <a:ext cx="8535613" cy="263209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Both representations show the same relationship. The table shows the relationship using numerical values, while the graph shows the relationship in a more visual way.</a:t>
            </a:r>
            <a:endParaRPr b="1" i="0" sz="2800" u="none" cap="none" strike="noStrike">
              <a:solidFill>
                <a:srgbClr val="595959"/>
              </a:solidFill>
              <a:latin typeface="Arial"/>
              <a:ea typeface="Arial"/>
              <a:cs typeface="Arial"/>
              <a:sym typeface="Arial"/>
            </a:endParaRPr>
          </a:p>
        </p:txBody>
      </p:sp>
      <p:sp>
        <p:nvSpPr>
          <p:cNvPr id="789" name="Google Shape;789;p80"/>
          <p:cNvSpPr txBox="1"/>
          <p:nvPr/>
        </p:nvSpPr>
        <p:spPr>
          <a:xfrm>
            <a:off x="484562" y="316800"/>
            <a:ext cx="5015483" cy="55744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Football Game Tickets</a:t>
            </a:r>
            <a:endParaRPr b="1" i="0" sz="2800" u="none" cap="none" strike="noStrike">
              <a:solidFill>
                <a:srgbClr val="782DA0"/>
              </a:solidFill>
              <a:latin typeface="Arial"/>
              <a:ea typeface="Arial"/>
              <a:cs typeface="Arial"/>
              <a:sym typeface="Arial"/>
            </a:endParaRPr>
          </a:p>
        </p:txBody>
      </p:sp>
      <p:sp>
        <p:nvSpPr>
          <p:cNvPr id="79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47</a:t>
            </a:r>
          </a:p>
        </p:txBody>
      </p:sp>
      <p:sp>
        <p:nvSpPr>
          <p:cNvPr id="791" name="EWL-COVER-1"/>
          <p:cNvSpPr/>
          <p:nvPr/>
        </p:nvSpPr>
        <p:spPr>
          <a:xfrm>
            <a:off x="429698" y="3132821"/>
            <a:ext cx="8645341" cy="2741818"/>
          </a:xfrm>
          <a:prstGeom prst="rect">
            <a:avLst/>
          </a:prstGeom>
          <a:solidFill>
            <a:srgbClr val="FFFFFF"/>
          </a:solidFill>
          <a:ln>
            <a:noFill/>
          </a:ln>
        </p:spPr>
        <p:txBody>
          <a:bodyPr/>
          <a:lstStyle/>
          <a:p/>
        </p:txBody>
      </p:sp>
      <p:sp xmlns:p="http://schemas.openxmlformats.org/presentationml/2006/main" xmlns:a="http://schemas.openxmlformats.org/drawingml/2006/main">
        <p:nvSpPr>
          <p:cNvPr id="792" name="TEACH-embedded-student-prompt" descr="Student thinking and response directions"/>
          <p:cNvSpPr txBox="1"/>
          <p:nvPr/>
        </p:nvSpPr>
        <p:spPr>
          <a:xfrm>
            <a:off x="594360" y="25237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9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cxnSp>
        <p:nvCxnSpPr>
          <p:cNvPr id="824" name="Google Shape;824;p8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descr="Chart, line chart&#10;&#10;Description automatically generated" id="825" name="Google Shape;825;p84"/>
          <p:cNvPicPr preferRelativeResize="0"/>
          <p:nvPr/>
        </p:nvPicPr>
        <p:blipFill rotWithShape="1">
          <a:blip r:embed="rId3">
            <a:alphaModFix/>
          </a:blip>
          <a:srcRect b="0" l="0" r="0" t="0"/>
          <a:stretch/>
        </p:blipFill>
        <p:spPr>
          <a:xfrm>
            <a:off x="6332978" y="2338699"/>
            <a:ext cx="3375933" cy="3600000"/>
          </a:xfrm>
          <a:prstGeom prst="rect">
            <a:avLst/>
          </a:prstGeom>
          <a:noFill/>
          <a:ln>
            <a:noFill/>
          </a:ln>
        </p:spPr>
      </p:pic>
      <p:sp>
        <p:nvSpPr>
          <p:cNvPr id="826" name="Google Shape;826;p84"/>
          <p:cNvSpPr txBox="1"/>
          <p:nvPr/>
        </p:nvSpPr>
        <p:spPr>
          <a:xfrm>
            <a:off x="486000"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1" i="0" sz="1500" u="none" cap="none" strike="noStrike">
              <a:solidFill>
                <a:srgbClr val="782DA0"/>
              </a:solidFill>
              <a:latin typeface="Arial"/>
              <a:ea typeface="Arial"/>
              <a:cs typeface="Arial"/>
              <a:sym typeface="Arial"/>
            </a:endParaRPr>
          </a:p>
        </p:txBody>
      </p:sp>
      <p:sp>
        <p:nvSpPr>
          <p:cNvPr id="827" name="Google Shape;827;p84"/>
          <p:cNvSpPr txBox="1"/>
          <p:nvPr/>
        </p:nvSpPr>
        <p:spPr>
          <a:xfrm>
            <a:off x="486000" y="936000"/>
            <a:ext cx="7704395"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Tickets to a college football game cost $45 each.</a:t>
            </a:r>
            <a:endParaRPr b="1" i="0" sz="2800" u="none" cap="none" strike="noStrike">
              <a:solidFill>
                <a:schemeClr val="dk1"/>
              </a:solidFill>
              <a:latin typeface="Arial"/>
              <a:ea typeface="Arial"/>
              <a:cs typeface="Arial"/>
              <a:sym typeface="Arial"/>
            </a:endParaRPr>
          </a:p>
        </p:txBody>
      </p:sp>
      <p:graphicFrame>
        <p:nvGraphicFramePr>
          <p:cNvPr id="828" name="Google Shape;828;p84"/>
          <p:cNvGraphicFramePr/>
          <p:nvPr/>
        </p:nvGraphicFramePr>
        <p:xfrm>
          <a:off x="486000" y="2010562"/>
          <a:ext cx="3000000" cy="3000000"/>
        </p:xfrm>
        <a:graphic>
          <a:graphicData uri="http://schemas.openxmlformats.org/drawingml/2006/table">
            <a:tbl>
              <a:tblPr bandRow="1" firstRow="1">
                <a:noFill/>
                <a:tableStyleId>{D3DEDED9-13C0-4318-B47F-5909D5EAF5C1}</a:tableStyleId>
              </a:tblPr>
              <a:tblGrid>
                <a:gridCol w="2813425"/>
                <a:gridCol w="2206875"/>
              </a:tblGrid>
              <a:tr h="531200">
                <a:tc gridSpan="2">
                  <a:txBody>
                    <a:bodyPr/>
                    <a:lstStyle/>
                    <a:p>
                      <a:pPr indent="0" lvl="0" marL="0" marR="0" rtl="0" algn="l">
                        <a:lnSpc>
                          <a:spcPct val="100000"/>
                        </a:lnSpc>
                        <a:spcBef>
                          <a:spcPts val="0"/>
                        </a:spcBef>
                        <a:spcAft>
                          <a:spcPts val="0"/>
                        </a:spcAft>
                        <a:buClr>
                          <a:schemeClr val="dk1"/>
                        </a:buClr>
                        <a:buSzPts val="2800"/>
                        <a:buFont typeface="Arial"/>
                        <a:buNone/>
                      </a:pPr>
                      <a:r>
                        <a:rPr b="1" lang="en-US" sz="2800" u="none" cap="none" strike="noStrike">
                          <a:solidFill>
                            <a:schemeClr val="dk1"/>
                          </a:solidFill>
                          <a:latin typeface="Arial"/>
                          <a:ea typeface="Arial"/>
                          <a:cs typeface="Arial"/>
                          <a:sym typeface="Arial"/>
                        </a:rPr>
                        <a:t>Ticket Cost</a:t>
                      </a:r>
                      <a:endParaRPr b="1" sz="2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944875">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Number of Tickets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Total Cost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r>
              <a:tr h="5312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312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312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31200">
                <a:tc>
                  <a:txBody>
                    <a:bodyPr/>
                    <a:lstStyle/>
                    <a:p>
                      <a:pPr indent="0" lvl="0" marL="0" marR="0" rtl="0" algn="ctr">
                        <a:lnSpc>
                          <a:spcPct val="100000"/>
                        </a:lnSpc>
                        <a:spcBef>
                          <a:spcPts val="0"/>
                        </a:spcBef>
                        <a:spcAft>
                          <a:spcPts val="0"/>
                        </a:spcAft>
                        <a:buClr>
                          <a:schemeClr val="dk1"/>
                        </a:buClr>
                        <a:buSzPts val="2800"/>
                        <a:buFont typeface="Cambria Math"/>
                        <a:buNone/>
                      </a:pPr>
                      <a:r>
                        <a:rPr lang="en-US" sz="2800" u="none" cap="none" strike="noStrike">
                          <a:latin typeface="Cambria Math"/>
                          <a:ea typeface="Cambria Math"/>
                          <a:cs typeface="Cambria Math"/>
                          <a:sym typeface="Cambria Math"/>
                        </a:rPr>
                        <a:t>10</a:t>
                      </a:r>
                      <a:endParaRPr sz="2800" u="none" cap="none" strike="noStrike">
                        <a:latin typeface="Cambria Math"/>
                        <a:ea typeface="Cambria Math"/>
                        <a:cs typeface="Cambria Math"/>
                        <a:sym typeface="Cambria Math"/>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lang="en-US" sz="2800" u="none" cap="none" strike="noStrike">
                          <a:latin typeface="Cambria Math"/>
                          <a:ea typeface="Cambria Math"/>
                          <a:cs typeface="Cambria Math"/>
                          <a:sym typeface="Cambria Math"/>
                        </a:rPr>
                        <a:t>450</a:t>
                      </a:r>
                      <a:endParaRPr sz="2800" u="none" cap="none" strike="noStrike">
                        <a:latin typeface="Cambria Math"/>
                        <a:ea typeface="Cambria Math"/>
                        <a:cs typeface="Cambria Math"/>
                        <a:sym typeface="Cambria Math"/>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8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47</a:t>
            </a:r>
          </a:p>
        </p:txBody>
      </p:sp>
      <p:grpSp>
        <p:nvGrpSpPr>
          <p:cNvPr id="830" name="TEACH-2-student-move" descr="TEACH 2 · Use strategies and tasks to engage students in rigorous work"/>
          <p:cNvGrpSpPr/>
          <p:nvPr/>
        </p:nvGrpSpPr>
        <p:grpSpPr>
          <a:xfrm>
            <a:off x="502920" y="5590646"/>
            <a:ext cx="5501640" cy="594360"/>
            <a:chOff x="502920" y="5235046"/>
            <a:chExt cx="5501640" cy="594360"/>
          </a:xfrm>
        </p:grpSpPr>
        <p:sp>
          <p:nvSpPr>
            <p:cNvPr id="831" name="TEACH-move-card"/>
            <p:cNvSpPr/>
            <p:nvPr/>
          </p:nvSpPr>
          <p:spPr>
            <a:xfrm>
              <a:off x="502920" y="523504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832" name="TEACH-move-rule"/>
            <p:cNvSpPr/>
            <p:nvPr/>
          </p:nvSpPr>
          <p:spPr>
            <a:xfrm>
              <a:off x="548640" y="5347974"/>
              <a:ext cx="100584" cy="368504"/>
            </a:xfrm>
            <a:prstGeom prst="roundRect">
              <a:avLst>
                <a:gd name="adj" fmla="val 50000"/>
              </a:avLst>
            </a:prstGeom>
            <a:solidFill>
              <a:srgbClr val="01708C"/>
            </a:solidFill>
            <a:ln>
              <a:noFill/>
            </a:ln>
          </p:spPr>
          <p:txBody>
            <a:bodyPr/>
            <a:lstStyle/>
            <a:p>
              <a:endParaRPr/>
            </a:p>
          </p:txBody>
        </p:sp>
        <p:sp>
          <p:nvSpPr>
            <p:cNvPr id="833" name="TEACH-move-text"/>
            <p:cNvSpPr txBox="1"/>
            <p:nvPr/>
          </p:nvSpPr>
          <p:spPr>
            <a:xfrm>
              <a:off x="822960" y="523504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PICK YOUR STRATEGY  ·  </a:t>
              </a:r>
              <a:r>
                <a:rPr lang="en-US" sz="1200" dirty="0">
                  <a:solidFill>
                    <a:srgbClr val="13303A"/>
                  </a:solidFill>
                  <a:latin typeface="Arial"/>
                </a:rPr>
                <a:t>Choose your path — picture, table, number line, or equation — and be ready to say why you chose it.</a:t>
              </a:r>
              <a:endParaRPr lang="en-US" sz="1200"/>
            </a:p>
          </p:txBody>
        </p:sp>
      </p:gr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9.2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What does this point mean in the situation, and what does the graph show when the input is zero?</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66" name="Google Shape;666;p6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7" name="Google Shape;667;p66"/>
          <p:cNvSpPr txBox="1"/>
          <p:nvPr/>
        </p:nvSpPr>
        <p:spPr>
          <a:xfrm>
            <a:off x="484562" y="4419613"/>
            <a:ext cx="6459163" cy="19430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plot points that represent the different combinations of tickets and costs shown in the table.</a:t>
            </a:r>
            <a:endParaRPr b="1" i="0" sz="2800" u="none" cap="none" strike="noStrike">
              <a:solidFill>
                <a:srgbClr val="595959"/>
              </a:solidFill>
              <a:latin typeface="Arial"/>
              <a:ea typeface="Arial"/>
              <a:cs typeface="Arial"/>
              <a:sym typeface="Arial"/>
            </a:endParaRPr>
          </a:p>
        </p:txBody>
      </p:sp>
      <p:sp>
        <p:nvSpPr>
          <p:cNvPr id="668" name="Google Shape;668;p66"/>
          <p:cNvSpPr txBox="1"/>
          <p:nvPr/>
        </p:nvSpPr>
        <p:spPr>
          <a:xfrm>
            <a:off x="484562" y="936000"/>
            <a:ext cx="632919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As the number of tickets increases, the total cost increases.</a:t>
            </a:r>
            <a:endParaRPr b="1" i="0" sz="2800" u="none" cap="none" strike="noStrike">
              <a:solidFill>
                <a:schemeClr val="dk1"/>
              </a:solidFill>
              <a:latin typeface="Arial"/>
              <a:ea typeface="Arial"/>
              <a:cs typeface="Arial"/>
              <a:sym typeface="Arial"/>
            </a:endParaRPr>
          </a:p>
        </p:txBody>
      </p:sp>
      <p:sp>
        <p:nvSpPr>
          <p:cNvPr id="669" name="Google Shape;669;p66"/>
          <p:cNvSpPr txBox="1"/>
          <p:nvPr/>
        </p:nvSpPr>
        <p:spPr>
          <a:xfrm>
            <a:off x="484562" y="1953575"/>
            <a:ext cx="6329191"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The number of tickets is the independent variable, and the total cost is the dependent variable.</a:t>
            </a:r>
            <a:endParaRPr b="1" i="0" sz="2800" u="none" cap="none" strike="noStrike">
              <a:solidFill>
                <a:schemeClr val="dk1"/>
              </a:solidFill>
              <a:latin typeface="Arial"/>
              <a:ea typeface="Arial"/>
              <a:cs typeface="Arial"/>
              <a:sym typeface="Arial"/>
            </a:endParaRPr>
          </a:p>
        </p:txBody>
      </p:sp>
      <p:sp>
        <p:nvSpPr>
          <p:cNvPr id="670" name="Google Shape;670;p66"/>
          <p:cNvSpPr txBox="1"/>
          <p:nvPr/>
        </p:nvSpPr>
        <p:spPr>
          <a:xfrm>
            <a:off x="484562" y="3402038"/>
            <a:ext cx="632919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use the table to help create a graph of the relationship?</a:t>
            </a:r>
            <a:endParaRPr b="0" i="0" sz="1400" u="none" cap="none" strike="noStrike">
              <a:solidFill>
                <a:srgbClr val="000000"/>
              </a:solidFill>
              <a:latin typeface="Arial"/>
              <a:ea typeface="Arial"/>
              <a:cs typeface="Arial"/>
              <a:sym typeface="Arial"/>
            </a:endParaRPr>
          </a:p>
        </p:txBody>
      </p:sp>
      <p:graphicFrame>
        <p:nvGraphicFramePr>
          <p:cNvPr id="671" name="Google Shape;671;p66"/>
          <p:cNvGraphicFramePr/>
          <p:nvPr/>
        </p:nvGraphicFramePr>
        <p:xfrm>
          <a:off x="7039590" y="1382874"/>
          <a:ext cx="3000000" cy="3000000"/>
        </p:xfrm>
        <a:graphic>
          <a:graphicData uri="http://schemas.openxmlformats.org/drawingml/2006/table">
            <a:tbl>
              <a:tblPr bandRow="1" firstRow="1">
                <a:noFill/>
                <a:tableStyleId>{9FCD93CC-FC0D-4396-BB2E-91144DF9D240}</a:tableStyleId>
              </a:tblPr>
              <a:tblGrid>
                <a:gridCol w="2228100"/>
                <a:gridCol w="2668350"/>
              </a:tblGrid>
              <a:tr h="518150">
                <a:tc gridSpan="2">
                  <a:txBody>
                    <a:bodyPr/>
                    <a:lstStyle/>
                    <a:p>
                      <a:pPr indent="0" lvl="0" marL="0" marR="0" rtl="0" algn="l">
                        <a:lnSpc>
                          <a:spcPct val="100000"/>
                        </a:lnSpc>
                        <a:spcBef>
                          <a:spcPts val="0"/>
                        </a:spcBef>
                        <a:spcAft>
                          <a:spcPts val="0"/>
                        </a:spcAft>
                        <a:buClr>
                          <a:schemeClr val="dk1"/>
                        </a:buClr>
                        <a:buSzPts val="2800"/>
                        <a:buFont typeface="Arial"/>
                        <a:buNone/>
                      </a:pPr>
                      <a:r>
                        <a:rPr b="1" lang="en-US" sz="2800" u="none" cap="none" strike="noStrike">
                          <a:solidFill>
                            <a:schemeClr val="dk1"/>
                          </a:solidFill>
                          <a:latin typeface="Arial"/>
                          <a:ea typeface="Arial"/>
                          <a:cs typeface="Arial"/>
                          <a:sym typeface="Arial"/>
                        </a:rPr>
                        <a:t>Tickets</a:t>
                      </a:r>
                      <a:endParaRPr b="1" sz="2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944875">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Number of Tickets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Total Cost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8150">
                <a:tc>
                  <a:txBody>
                    <a:bodyPr/>
                    <a:lstStyle/>
                    <a:p>
                      <a:pPr indent="0" lvl="0" marL="0" marR="0" rtl="0" algn="ctr">
                        <a:lnSpc>
                          <a:spcPct val="100000"/>
                        </a:lnSpc>
                        <a:spcBef>
                          <a:spcPts val="0"/>
                        </a:spcBef>
                        <a:spcAft>
                          <a:spcPts val="0"/>
                        </a:spcAft>
                        <a:buClr>
                          <a:schemeClr val="dk1"/>
                        </a:buClr>
                        <a:buSzPts val="2800"/>
                        <a:buFont typeface="Cambria Math"/>
                        <a:buNone/>
                      </a:pPr>
                      <a:r>
                        <a:rPr lang="en-US" sz="2800" u="none" cap="none" strike="noStrike">
                          <a:latin typeface="Cambria Math"/>
                          <a:ea typeface="Cambria Math"/>
                          <a:cs typeface="Cambria Math"/>
                          <a:sym typeface="Cambria Math"/>
                        </a:rPr>
                        <a:t>10</a:t>
                      </a:r>
                      <a:endParaRPr sz="2800" u="none" cap="none" strike="noStrike">
                        <a:latin typeface="Cambria Math"/>
                        <a:ea typeface="Cambria Math"/>
                        <a:cs typeface="Cambria Math"/>
                        <a:sym typeface="Cambria Math"/>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lang="en-US" sz="2800" u="none" cap="none" strike="noStrike">
                          <a:latin typeface="Cambria Math"/>
                          <a:ea typeface="Cambria Math"/>
                          <a:cs typeface="Cambria Math"/>
                          <a:sym typeface="Cambria Math"/>
                        </a:rPr>
                        <a:t>450</a:t>
                      </a:r>
                      <a:endParaRPr sz="2800" u="none" cap="none" strike="noStrike">
                        <a:latin typeface="Cambria Math"/>
                        <a:ea typeface="Cambria Math"/>
                        <a:cs typeface="Cambria Math"/>
                        <a:sym typeface="Cambria Math"/>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672" name="Google Shape;672;p66"/>
          <p:cNvSpPr txBox="1"/>
          <p:nvPr/>
        </p:nvSpPr>
        <p:spPr>
          <a:xfrm>
            <a:off x="484565" y="316800"/>
            <a:ext cx="5015483" cy="5239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Football Game Tickets</a:t>
            </a:r>
            <a:endParaRPr b="1" i="0" sz="2800" u="none" cap="none" strike="noStrike">
              <a:solidFill>
                <a:srgbClr val="782DA0"/>
              </a:solidFill>
              <a:latin typeface="Arial"/>
              <a:ea typeface="Arial"/>
              <a:cs typeface="Arial"/>
              <a:sym typeface="Arial"/>
            </a:endParaRPr>
          </a:p>
        </p:txBody>
      </p:sp>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47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61" name="Google Shape;761;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62" name="Google Shape;762;p77"/>
          <p:cNvSpPr txBox="1"/>
          <p:nvPr/>
        </p:nvSpPr>
        <p:spPr>
          <a:xfrm>
            <a:off x="484565" y="3600000"/>
            <a:ext cx="9647577" cy="13625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cost increases as more tickets are purchased.</a:t>
            </a:r>
            <a:endParaRPr b="1" i="0" sz="2800" u="none" cap="none" strike="noStrike">
              <a:solidFill>
                <a:srgbClr val="595959"/>
              </a:solidFill>
              <a:highlight>
                <a:srgbClr val="E0E0E0"/>
              </a:highlight>
              <a:latin typeface="Arial"/>
              <a:ea typeface="Arial"/>
              <a:cs typeface="Arial"/>
              <a:sym typeface="Arial"/>
            </a:endParaRPr>
          </a:p>
        </p:txBody>
      </p:sp>
      <p:sp>
        <p:nvSpPr>
          <p:cNvPr id="763" name="Google Shape;763;p77"/>
          <p:cNvSpPr txBox="1"/>
          <p:nvPr/>
        </p:nvSpPr>
        <p:spPr>
          <a:xfrm>
            <a:off x="484565" y="936000"/>
            <a:ext cx="7774532"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can you conclude about how the cost changes in relation to the number of tickets purchased?</a:t>
            </a:r>
            <a:endParaRPr b="0" i="0" sz="1400" u="none" cap="none" strike="noStrike">
              <a:solidFill>
                <a:srgbClr val="000000"/>
              </a:solidFill>
              <a:latin typeface="Arial"/>
              <a:ea typeface="Arial"/>
              <a:cs typeface="Arial"/>
              <a:sym typeface="Arial"/>
            </a:endParaRPr>
          </a:p>
        </p:txBody>
      </p:sp>
      <p:sp>
        <p:nvSpPr>
          <p:cNvPr id="764" name="Google Shape;764;p77"/>
          <p:cNvSpPr txBox="1"/>
          <p:nvPr/>
        </p:nvSpPr>
        <p:spPr>
          <a:xfrm>
            <a:off x="484562" y="316800"/>
            <a:ext cx="5015483" cy="55744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Football Game Tickets</a:t>
            </a:r>
            <a:endParaRPr b="1" i="0" sz="2800" u="none" cap="none" strike="noStrike">
              <a:solidFill>
                <a:srgbClr val="782DA0"/>
              </a:solidFill>
              <a:latin typeface="Arial"/>
              <a:ea typeface="Arial"/>
              <a:cs typeface="Arial"/>
              <a:sym typeface="Arial"/>
            </a:endParaRPr>
          </a:p>
        </p:txBody>
      </p:sp>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47</a:t>
            </a:r>
          </a:p>
        </p:txBody>
      </p:sp>
      <p:sp xmlns:p="http://schemas.openxmlformats.org/presentationml/2006/main" xmlns:a="http://schemas.openxmlformats.org/drawingml/2006/main">
        <p:nvSpPr>
          <p:cNvPr id="765"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63" name="Google Shape;863;p8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64" name="Google Shape;864;p88"/>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865" name="Google Shape;865;p88"/>
          <p:cNvSpPr txBox="1"/>
          <p:nvPr/>
        </p:nvSpPr>
        <p:spPr>
          <a:xfrm>
            <a:off x="459052" y="937946"/>
            <a:ext cx="4441401" cy="524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p:txBody>
      </p:sp>
      <p:sp>
        <p:nvSpPr>
          <p:cNvPr id="866" name="Google Shape;866;p88"/>
          <p:cNvSpPr txBox="1"/>
          <p:nvPr/>
        </p:nvSpPr>
        <p:spPr>
          <a:xfrm>
            <a:off x="459052" y="1497342"/>
            <a:ext cx="3929638" cy="524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867" name="Google Shape;867;p88"/>
          <p:cNvSpPr txBox="1"/>
          <p:nvPr/>
        </p:nvSpPr>
        <p:spPr>
          <a:xfrm>
            <a:off x="484560" y="5485380"/>
            <a:ext cx="11248388" cy="4924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are you doing to meet the goal you set for today’s math class?</a:t>
            </a:r>
            <a:endParaRPr b="0" i="0" sz="2600" u="none" cap="none" strike="noStrike">
              <a:solidFill>
                <a:srgbClr val="595959"/>
              </a:solidFill>
              <a:latin typeface="Arial"/>
              <a:ea typeface="Arial"/>
              <a:cs typeface="Arial"/>
              <a:sym typeface="Arial"/>
            </a:endParaRPr>
          </a:p>
        </p:txBody>
      </p:sp>
      <p:pic>
        <p:nvPicPr>
          <p:cNvPr id="868" name="Google Shape;868;p88"/>
          <p:cNvPicPr preferRelativeResize="0"/>
          <p:nvPr/>
        </p:nvPicPr>
        <p:blipFill rotWithShape="1">
          <a:blip r:embed="rId2">
            <a:alphaModFix/>
          </a:blip>
          <a:srcRect b="0" l="0" r="0" t="0"/>
          <a:stretch/>
        </p:blipFill>
        <p:spPr>
          <a:xfrm>
            <a:off x="484560" y="4643417"/>
            <a:ext cx="5054600" cy="838200"/>
          </a:xfrm>
          <a:prstGeom prst="rect">
            <a:avLst/>
          </a:prstGeom>
          <a:noFill/>
          <a:ln>
            <a:noFill/>
          </a:ln>
        </p:spPr>
      </p:pic>
      <p:sp>
        <p:nvSpPr>
          <p:cNvPr id="869" name="Google Shape;869;p88"/>
          <p:cNvSpPr txBox="1"/>
          <p:nvPr/>
        </p:nvSpPr>
        <p:spPr>
          <a:xfrm>
            <a:off x="3134026" y="4799809"/>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graphicFrame>
        <p:nvGraphicFramePr>
          <p:cNvPr id="870" name="Google Shape;870;p88"/>
          <p:cNvGraphicFramePr/>
          <p:nvPr/>
        </p:nvGraphicFramePr>
        <p:xfrm>
          <a:off x="4456280" y="1633517"/>
          <a:ext cx="3000000" cy="3000000"/>
        </p:xfrm>
        <a:graphic>
          <a:graphicData uri="http://schemas.openxmlformats.org/drawingml/2006/table">
            <a:tbl>
              <a:tblPr bandRow="1" firstRow="1">
                <a:noFill/>
                <a:tableStyleId>{9FCD93CC-FC0D-4396-BB2E-91144DF9D240}</a:tableStyleId>
              </a:tblPr>
              <a:tblGrid>
                <a:gridCol w="3944150"/>
                <a:gridCol w="3332525"/>
              </a:tblGrid>
              <a:tr h="460475">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latin typeface="Arial"/>
                          <a:ea typeface="Arial"/>
                          <a:cs typeface="Arial"/>
                          <a:sym typeface="Arial"/>
                        </a:rPr>
                        <a:t>Number of Kilometers</a:t>
                      </a:r>
                      <a:endParaRPr sz="28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latin typeface="Arial"/>
                          <a:ea typeface="Arial"/>
                          <a:cs typeface="Arial"/>
                          <a:sym typeface="Arial"/>
                        </a:rPr>
                        <a:t>Number of Hours</a:t>
                      </a:r>
                      <a:endParaRPr sz="28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r>
              <a:tr h="460475">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latin typeface="Arial"/>
                          <a:ea typeface="Arial"/>
                          <a:cs typeface="Arial"/>
                          <a:sym typeface="Arial"/>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800"/>
                        <a:buFont typeface="Arial"/>
                        <a:buNone/>
                      </a:pPr>
                      <a:r>
                        <a:rPr lang="en-US" sz="2800" u="none" cap="none" strike="noStrike">
                          <a:latin typeface="Arial"/>
                          <a:ea typeface="Arial"/>
                          <a:cs typeface="Arial"/>
                          <a:sym typeface="Arial"/>
                        </a:rPr>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60475">
                <a:tc>
                  <a:txBody>
                    <a:bodyPr/>
                    <a:lstStyle/>
                    <a:p>
                      <a:pPr indent="0" lvl="0" marL="0" marR="0" rtl="0" algn="l">
                        <a:lnSpc>
                          <a:spcPct val="100000"/>
                        </a:lnSpc>
                        <a:spcBef>
                          <a:spcPts val="0"/>
                        </a:spcBef>
                        <a:spcAft>
                          <a:spcPts val="0"/>
                        </a:spcAft>
                        <a:buClr>
                          <a:schemeClr val="dk1"/>
                        </a:buClr>
                        <a:buSzPts val="2800"/>
                        <a:buFont typeface="Arial"/>
                        <a:buNone/>
                      </a:pPr>
                      <a:r>
                        <a:rPr lang="en-US" sz="2800" u="none" cap="none" strike="noStrike">
                          <a:latin typeface="Arial"/>
                          <a:ea typeface="Arial"/>
                          <a:cs typeface="Arial"/>
                          <a:sym typeface="Arial"/>
                        </a:rPr>
                        <a:t>48</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latin typeface="Arial"/>
                          <a:ea typeface="Arial"/>
                          <a:cs typeface="Arial"/>
                          <a:sym typeface="Arial"/>
                        </a:rPr>
                        <a:t>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60475">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latin typeface="Arial"/>
                          <a:ea typeface="Arial"/>
                          <a:cs typeface="Arial"/>
                          <a:sym typeface="Arial"/>
                        </a:rPr>
                        <a:t>96</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latin typeface="Arial"/>
                          <a:ea typeface="Arial"/>
                          <a:cs typeface="Arial"/>
                          <a:sym typeface="Arial"/>
                        </a:rPr>
                        <a:t>2</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60475">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latin typeface="Arial"/>
                          <a:ea typeface="Arial"/>
                          <a:cs typeface="Arial"/>
                          <a:sym typeface="Arial"/>
                        </a:rPr>
                        <a:t>240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latin typeface="Arial"/>
                          <a:ea typeface="Arial"/>
                          <a:cs typeface="Arial"/>
                          <a:sym typeface="Arial"/>
                        </a:rPr>
                        <a:t>5</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47</a:t>
            </a:r>
          </a:p>
        </p:txBody>
      </p:sp>
      <p:grpSp>
        <p:nvGrpSpPr>
          <p:cNvPr id="871" name="TEACH-3-student-move" descr="TEACH 3 · Use intentional questioning to deepen learning"/>
          <p:cNvGrpSpPr/>
          <p:nvPr/>
        </p:nvGrpSpPr>
        <p:grpSpPr>
          <a:xfrm>
            <a:off x="6187440" y="4808724"/>
            <a:ext cx="5501640" cy="594360"/>
            <a:chOff x="6187440" y="4808724"/>
            <a:chExt cx="5501640" cy="594360"/>
          </a:xfrm>
        </p:grpSpPr>
        <p:sp>
          <p:nvSpPr>
            <p:cNvPr id="872" name="TEACH-move-card"/>
            <p:cNvSpPr/>
            <p:nvPr/>
          </p:nvSpPr>
          <p:spPr>
            <a:xfrm>
              <a:off x="6187440" y="4808724"/>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873" name="TEACH-move-rule"/>
            <p:cNvSpPr/>
            <p:nvPr/>
          </p:nvSpPr>
          <p:spPr>
            <a:xfrm>
              <a:off x="6233160" y="4921652"/>
              <a:ext cx="100584" cy="368504"/>
            </a:xfrm>
            <a:prstGeom prst="roundRect">
              <a:avLst>
                <a:gd name="adj" fmla="val 50000"/>
              </a:avLst>
            </a:prstGeom>
            <a:solidFill>
              <a:srgbClr val="01708C"/>
            </a:solidFill>
            <a:ln>
              <a:noFill/>
            </a:ln>
          </p:spPr>
          <p:txBody>
            <a:bodyPr/>
            <a:lstStyle/>
            <a:p>
              <a:endParaRPr/>
            </a:p>
          </p:txBody>
        </p:sp>
        <p:sp>
          <p:nvSpPr>
            <p:cNvPr id="874" name="TEACH-move-text"/>
            <p:cNvSpPr txBox="1"/>
            <p:nvPr/>
          </p:nvSpPr>
          <p:spPr>
            <a:xfrm>
              <a:off x="6507480" y="4808724"/>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ASK THE CLASS  ·  </a:t>
              </a:r>
              <a:r>
                <a:rPr lang="en-US" sz="1200" dirty="0">
                  <a:solidFill>
                    <a:srgbClr val="13303A"/>
                  </a:solidFill>
                  <a:latin typeface="Arial"/>
                </a:rPr>
                <a:t>Write one question about this that you could ask the class.</a:t>
              </a:r>
              <a:endParaRPr lang="en-US" sz="1200"/>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9-2 · Analyze Graphs of Relationships Between Two Variables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Check what you remember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A line graph showing cost per ticket that starts at (0,0) and rises shows a:</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Decreasing relationship</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Constant rate of change</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Negative slope</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Random scatter</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If 1 ticket costs $5, 2 cost $10, 3 cost $15, the unit rate is:</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 per ticket</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$15</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To read the value of y when x = 4 on a graph:</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Look at x=0</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Find 4 on x-axis and trace vertically to the line</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Multiply by 4</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Count the axes</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Points on a line representing two variables can be recorded in:</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frequency histogram</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An input-output table</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box plot</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pie chart</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47</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9-2 · Analyze Graphs of Relationships Between Two Variables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Graphing Coordinates</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Each point (x, y) on the line represents a pair of related values from the situation.</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Rate of Change</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steepness of the linear path reflects the </a:t>
            </a:r>
            <a:r>
              <a:rPr b="1" i="0" lang="en-US" sz="1450" u="none" cap="none" strike="noStrike">
                <a:solidFill>
                  <a:srgbClr val="475569"/>
                </a:solidFill>
                <a:latin typeface="Arial"/>
                <a:ea typeface="Arial"/>
                <a:cs typeface="Arial"/>
                <a:sym typeface="Arial"/>
              </a:rPr>
              <a:t xml:space="preserve">unit rate</a:t>
            </a:r>
            <a:r>
              <a:rPr b="0" i="0" lang="en-US" sz="1450" u="none" cap="none" strike="noStrike">
                <a:solidFill>
                  <a:srgbClr val="475569"/>
                </a:solidFill>
                <a:latin typeface="Arial"/>
                <a:ea typeface="Arial"/>
                <a:cs typeface="Arial"/>
                <a:sym typeface="Arial"/>
              </a:rPr>
              <a:t xml:space="preserve"> between the two quantities.</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Connecting Representations</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Move fluidly between situations, data </a:t>
            </a:r>
            <a:r>
              <a:rPr b="1" i="0" lang="en-US" sz="1450" u="none" cap="none" strike="noStrike">
                <a:solidFill>
                  <a:srgbClr val="475569"/>
                </a:solidFill>
                <a:latin typeface="Arial"/>
                <a:ea typeface="Arial"/>
                <a:cs typeface="Arial"/>
                <a:sym typeface="Arial"/>
              </a:rPr>
              <a:t xml:space="preserve">tables</a:t>
            </a:r>
            <a:r>
              <a:rPr b="0" i="0" lang="en-US" sz="1450" u="none" cap="none" strike="noStrike">
                <a:solidFill>
                  <a:srgbClr val="475569"/>
                </a:solidFill>
                <a:latin typeface="Arial"/>
                <a:ea typeface="Arial"/>
                <a:cs typeface="Arial"/>
                <a:sym typeface="Arial"/>
              </a:rPr>
              <a:t xml:space="preserve">, </a:t>
            </a:r>
            <a:r>
              <a:rPr b="1" i="0" lang="en-US" sz="1450" u="none" cap="none" strike="noStrike">
                <a:solidFill>
                  <a:srgbClr val="475569"/>
                </a:solidFill>
                <a:latin typeface="Arial"/>
                <a:ea typeface="Arial"/>
                <a:cs typeface="Arial"/>
                <a:sym typeface="Arial"/>
              </a:rPr>
              <a:t xml:space="preserve">graphs</a:t>
            </a:r>
            <a:r>
              <a:rPr b="0" i="0" lang="en-US" sz="1450" u="none" cap="none" strike="noStrike">
                <a:solidFill>
                  <a:srgbClr val="475569"/>
                </a:solidFill>
                <a:latin typeface="Arial"/>
                <a:ea typeface="Arial"/>
                <a:cs typeface="Arial"/>
                <a:sym typeface="Arial"/>
              </a:rPr>
              <a:t xml:space="preserve">, and algebraic equations.</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47</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86"/>
          <p:cNvSpPr txBox="1"/>
          <p:nvPr/>
        </p:nvSpPr>
        <p:spPr>
          <a:xfrm>
            <a:off x="1402828" y="2453950"/>
            <a:ext cx="8935791"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Analyze Graphs of Relationships Between Two Variables</a:t>
            </a:r>
            <a:endParaRPr b="1" i="0" sz="3600" u="none" cap="none" strike="noStrike">
              <a:solidFill>
                <a:schemeClr val="dk1"/>
              </a:solidFill>
              <a:latin typeface="Arial"/>
              <a:ea typeface="Arial"/>
              <a:cs typeface="Arial"/>
              <a:sym typeface="Arial"/>
            </a:endParaRPr>
          </a:p>
        </p:txBody>
      </p:sp>
      <p:sp>
        <p:nvSpPr>
          <p:cNvPr id="846" name="Google Shape;846;p86"/>
          <p:cNvSpPr/>
          <p:nvPr/>
        </p:nvSpPr>
        <p:spPr>
          <a:xfrm>
            <a:off x="1412615" y="1038560"/>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847" name="Google Shape;847;p86"/>
          <p:cNvCxnSpPr/>
          <p:nvPr/>
        </p:nvCxnSpPr>
        <p:spPr>
          <a:xfrm>
            <a:off x="9786" y="1561780"/>
            <a:ext cx="3166453" cy="0"/>
          </a:xfrm>
          <a:prstGeom prst="straightConnector1">
            <a:avLst/>
          </a:prstGeom>
          <a:noFill/>
          <a:ln cap="flat" cmpd="sng" w="19050">
            <a:solidFill>
              <a:srgbClr val="01708C"/>
            </a:solidFill>
            <a:prstDash val="solid"/>
            <a:miter lim="80"/>
            <a:headEnd len="sm" w="sm" type="none"/>
            <a:tailEnd len="sm" w="sm" type="none"/>
          </a:ln>
        </p:spPr>
      </p:cxnSp>
      <p:sp>
        <p:nvSpPr>
          <p:cNvPr id="84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47</a:t>
            </a:r>
          </a:p>
        </p:txBody>
      </p:sp>
      <p:grpSp>
        <p:nvGrpSpPr>
          <p:cNvPr id="849" name="TEACH-5-student-move" descr="TEACH 5 · Facilitate student interactions and academic talk"/>
          <p:cNvGrpSpPr/>
          <p:nvPr/>
        </p:nvGrpSpPr>
        <p:grpSpPr>
          <a:xfrm>
            <a:off x="502920" y="3867612"/>
            <a:ext cx="11186160" cy="731520"/>
            <a:chOff x="502920" y="3867612"/>
            <a:chExt cx="11186160" cy="731520"/>
          </a:xfrm>
        </p:grpSpPr>
        <p:sp>
          <p:nvSpPr>
            <p:cNvPr id="850"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851"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852"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USE THE MATH WORDS  ·  </a:t>
              </a:r>
              <a:r>
                <a:rPr lang="en-US" sz="1800" dirty="0">
                  <a:solidFill>
                    <a:srgbClr val="13303A"/>
                  </a:solidFill>
                  <a:latin typeface="Arial"/>
                </a:rPr>
                <a:t>Use today’s math words in your explanation — not “it” and “that thing.”</a:t>
              </a:r>
              <a:endParaRPr lang="en-US" sz="1800"/>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cxnSp>
        <p:nvCxnSpPr>
          <p:cNvPr id="875" name="Google Shape;875;p8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6" name="Google Shape;876;p89"/>
          <p:cNvSpPr txBox="1"/>
          <p:nvPr/>
        </p:nvSpPr>
        <p:spPr>
          <a:xfrm>
            <a:off x="484565"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Riding the Tramway</a:t>
            </a:r>
            <a:endParaRPr b="1" i="0" sz="2800" u="none" cap="none" strike="noStrike">
              <a:solidFill>
                <a:srgbClr val="782DA0"/>
              </a:solidFill>
              <a:latin typeface="Arial"/>
              <a:ea typeface="Arial"/>
              <a:cs typeface="Arial"/>
              <a:sym typeface="Arial"/>
            </a:endParaRPr>
          </a:p>
        </p:txBody>
      </p:sp>
      <p:sp>
        <p:nvSpPr>
          <p:cNvPr id="877" name="Google Shape;877;p89"/>
          <p:cNvSpPr txBox="1"/>
          <p:nvPr/>
        </p:nvSpPr>
        <p:spPr>
          <a:xfrm>
            <a:off x="484565" y="935999"/>
            <a:ext cx="6712423" cy="42170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Sandia Peak tram travels a distance of 1,200 feet each minute to take visitors from the base in Albuquerque, New Mexico to the top of Sandia Peak. The ascent takes 15 minutes.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How can you describe the relationship between the distance the tram has traveled and the time it has traveled?</a:t>
            </a:r>
            <a:endParaRPr b="0" i="0" sz="1400" u="none" cap="none" strike="noStrike">
              <a:solidFill>
                <a:srgbClr val="000000"/>
              </a:solidFill>
              <a:latin typeface="Arial"/>
              <a:ea typeface="Arial"/>
              <a:cs typeface="Arial"/>
              <a:sym typeface="Arial"/>
            </a:endParaRPr>
          </a:p>
        </p:txBody>
      </p:sp>
      <p:pic>
        <p:nvPicPr>
          <p:cNvPr descr="A picture containing sky, outdoor, transport, crane&#10;&#10;Description automatically generated" id="878" name="Google Shape;878;p89"/>
          <p:cNvPicPr preferRelativeResize="0"/>
          <p:nvPr/>
        </p:nvPicPr>
        <p:blipFill rotWithShape="1">
          <a:blip r:embed="rId3">
            <a:alphaModFix/>
          </a:blip>
          <a:srcRect b="0" l="0" r="0" t="0"/>
          <a:stretch/>
        </p:blipFill>
        <p:spPr>
          <a:xfrm>
            <a:off x="7347584" y="1809000"/>
            <a:ext cx="4572000" cy="3240000"/>
          </a:xfrm>
          <a:prstGeom prst="rect">
            <a:avLst/>
          </a:prstGeom>
          <a:noFill/>
          <a:ln>
            <a:noFill/>
          </a:ln>
        </p:spPr>
      </p:pic>
      <p:sp>
        <p:nvSpPr>
          <p:cNvPr id="87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47</a:t>
            </a:r>
          </a:p>
        </p:txBody>
      </p:sp>
      <p:sp xmlns:p="http://schemas.openxmlformats.org/presentationml/2006/main" xmlns:a="http://schemas.openxmlformats.org/drawingml/2006/main">
        <p:nvSpPr>
          <p:cNvPr id="880"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cxnSp>
        <p:nvCxnSpPr>
          <p:cNvPr id="894" name="Google Shape;894;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95" name="Google Shape;895;p91"/>
          <p:cNvSpPr txBox="1"/>
          <p:nvPr/>
        </p:nvSpPr>
        <p:spPr>
          <a:xfrm>
            <a:off x="484565" y="5002018"/>
            <a:ext cx="11305376" cy="14178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br>
              <a:rPr b="1" i="0" lang="en-US" sz="2800" u="none" cap="none" strike="noStrike">
                <a:solidFill>
                  <a:srgbClr val="E0E0E0"/>
                </a:solidFill>
                <a:highlight>
                  <a:srgbClr val="E0E0E0"/>
                </a:highlight>
                <a:latin typeface="Arial"/>
                <a:ea typeface="Arial"/>
                <a:cs typeface="Arial"/>
                <a:sym typeface="Arial"/>
              </a:rPr>
            </a:br>
            <a:r>
              <a:rPr b="0" i="0" lang="en-US" sz="2800" u="none" cap="none" strike="noStrike">
                <a:solidFill>
                  <a:srgbClr val="595959"/>
                </a:solidFill>
                <a:latin typeface="Arial"/>
                <a:ea typeface="Arial"/>
                <a:cs typeface="Arial"/>
                <a:sym typeface="Arial"/>
              </a:rPr>
              <a:t>The tram travels 1,200 feet every minute, and it takes 15 minutes for the tram to travel from the base to the top of Sandia Peak.</a:t>
            </a:r>
            <a:endParaRPr b="1" i="0" sz="2800" u="none" cap="none" strike="noStrike">
              <a:solidFill>
                <a:srgbClr val="595959"/>
              </a:solidFill>
              <a:highlight>
                <a:srgbClr val="E0E0E0"/>
              </a:highlight>
              <a:latin typeface="Arial"/>
              <a:ea typeface="Arial"/>
              <a:cs typeface="Arial"/>
              <a:sym typeface="Arial"/>
            </a:endParaRPr>
          </a:p>
        </p:txBody>
      </p:sp>
      <p:sp>
        <p:nvSpPr>
          <p:cNvPr id="896" name="Google Shape;896;p91"/>
          <p:cNvSpPr txBox="1"/>
          <p:nvPr/>
        </p:nvSpPr>
        <p:spPr>
          <a:xfrm>
            <a:off x="484565" y="936000"/>
            <a:ext cx="6773384" cy="225190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Sandia Peak tram travels a distance of 1,200 feet each minute to take visitors from the base in Albuquerque, New Mexico to the top of Sandia Peak. The ascent takes 15 minutes.</a:t>
            </a:r>
            <a:endParaRPr b="0" i="0" sz="1400" u="none" cap="none" strike="noStrike">
              <a:solidFill>
                <a:srgbClr val="000000"/>
              </a:solidFill>
              <a:latin typeface="Arial"/>
              <a:ea typeface="Arial"/>
              <a:cs typeface="Arial"/>
              <a:sym typeface="Arial"/>
            </a:endParaRPr>
          </a:p>
        </p:txBody>
      </p:sp>
      <p:sp>
        <p:nvSpPr>
          <p:cNvPr id="897" name="Google Shape;897;p91"/>
          <p:cNvSpPr txBox="1"/>
          <p:nvPr/>
        </p:nvSpPr>
        <p:spPr>
          <a:xfrm>
            <a:off x="484565" y="3108160"/>
            <a:ext cx="6773384"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How can you describe the relationship between the distance the tram has traveled and the time it has traveled?</a:t>
            </a:r>
            <a:endParaRPr b="0" i="0" sz="1400" u="none" cap="none" strike="noStrike">
              <a:solidFill>
                <a:srgbClr val="000000"/>
              </a:solidFill>
              <a:latin typeface="Arial"/>
              <a:ea typeface="Arial"/>
              <a:cs typeface="Arial"/>
              <a:sym typeface="Arial"/>
            </a:endParaRPr>
          </a:p>
        </p:txBody>
      </p:sp>
      <p:sp>
        <p:nvSpPr>
          <p:cNvPr id="898" name="Google Shape;898;p91"/>
          <p:cNvSpPr txBox="1"/>
          <p:nvPr/>
        </p:nvSpPr>
        <p:spPr>
          <a:xfrm>
            <a:off x="484565" y="4413413"/>
            <a:ext cx="704399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information do you know?</a:t>
            </a:r>
            <a:endParaRPr b="0" i="0" sz="2800" u="none" cap="none" strike="noStrike">
              <a:solidFill>
                <a:schemeClr val="dk1"/>
              </a:solidFill>
              <a:latin typeface="Arial"/>
              <a:ea typeface="Arial"/>
              <a:cs typeface="Arial"/>
              <a:sym typeface="Arial"/>
            </a:endParaRPr>
          </a:p>
        </p:txBody>
      </p:sp>
      <p:pic>
        <p:nvPicPr>
          <p:cNvPr descr="A picture containing sky, outdoor, transport, crane&#10;&#10;Description automatically generated" id="899" name="Google Shape;899;p91"/>
          <p:cNvPicPr preferRelativeResize="0"/>
          <p:nvPr/>
        </p:nvPicPr>
        <p:blipFill rotWithShape="1">
          <a:blip r:embed="rId3">
            <a:alphaModFix/>
          </a:blip>
          <a:srcRect b="0" l="0" r="0" t="0"/>
          <a:stretch/>
        </p:blipFill>
        <p:spPr>
          <a:xfrm>
            <a:off x="7347584" y="1809000"/>
            <a:ext cx="4572000" cy="3240000"/>
          </a:xfrm>
          <a:prstGeom prst="rect">
            <a:avLst/>
          </a:prstGeom>
          <a:noFill/>
          <a:ln>
            <a:noFill/>
          </a:ln>
        </p:spPr>
      </p:pic>
      <p:sp>
        <p:nvSpPr>
          <p:cNvPr id="900" name="Google Shape;900;p91"/>
          <p:cNvSpPr txBox="1"/>
          <p:nvPr/>
        </p:nvSpPr>
        <p:spPr>
          <a:xfrm>
            <a:off x="484565"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Riding the Tramway</a:t>
            </a:r>
            <a:endParaRPr b="1" i="0" sz="2800" u="none" cap="none" strike="noStrike">
              <a:solidFill>
                <a:srgbClr val="782DA0"/>
              </a:solidFill>
              <a:latin typeface="Arial"/>
              <a:ea typeface="Arial"/>
              <a:cs typeface="Arial"/>
              <a:sym typeface="Arial"/>
            </a:endParaRPr>
          </a:p>
        </p:txBody>
      </p:sp>
      <p:sp>
        <p:nvSpPr>
          <p:cNvPr id="90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47</a:t>
            </a:r>
          </a:p>
        </p:txBody>
      </p:sp>
      <p:sp>
        <p:nvSpPr>
          <p:cNvPr id="902" name="EWL-COVER-1"/>
          <p:cNvSpPr/>
          <p:nvPr/>
        </p:nvSpPr>
        <p:spPr>
          <a:xfrm>
            <a:off x="429701" y="4947154"/>
            <a:ext cx="11415104" cy="1499366"/>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0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cxnSp>
        <p:nvCxnSpPr>
          <p:cNvPr id="915" name="Google Shape;915;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6" name="Google Shape;916;p93"/>
          <p:cNvSpPr txBox="1"/>
          <p:nvPr/>
        </p:nvSpPr>
        <p:spPr>
          <a:xfrm>
            <a:off x="463904" y="4320000"/>
            <a:ext cx="9963206" cy="188015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br>
              <a:rPr b="1" i="0" lang="en-US" sz="2800" u="none" cap="none" strike="noStrike">
                <a:solidFill>
                  <a:srgbClr val="E0E0E0"/>
                </a:solidFill>
                <a:highlight>
                  <a:srgbClr val="E0E0E0"/>
                </a:highlight>
                <a:latin typeface="Arial"/>
                <a:ea typeface="Arial"/>
                <a:cs typeface="Arial"/>
                <a:sym typeface="Arial"/>
              </a:rPr>
            </a:br>
            <a:r>
              <a:rPr b="0" i="0" lang="en-US" sz="2800" u="none" cap="none" strike="noStrike">
                <a:solidFill>
                  <a:srgbClr val="595959"/>
                </a:solidFill>
                <a:latin typeface="Arial"/>
                <a:ea typeface="Arial"/>
                <a:cs typeface="Arial"/>
                <a:sym typeface="Arial"/>
              </a:rPr>
              <a:t>The quantities are time and distance. Time is the independent variable, and distance is the dependent variable.</a:t>
            </a:r>
            <a:endParaRPr b="1" i="0" sz="2800" u="none" cap="none" strike="noStrike">
              <a:solidFill>
                <a:srgbClr val="595959"/>
              </a:solidFill>
              <a:highlight>
                <a:srgbClr val="E0E0E0"/>
              </a:highlight>
              <a:latin typeface="Arial"/>
              <a:ea typeface="Arial"/>
              <a:cs typeface="Arial"/>
              <a:sym typeface="Arial"/>
            </a:endParaRPr>
          </a:p>
        </p:txBody>
      </p:sp>
      <p:sp>
        <p:nvSpPr>
          <p:cNvPr id="917" name="Google Shape;917;p93"/>
          <p:cNvSpPr txBox="1"/>
          <p:nvPr/>
        </p:nvSpPr>
        <p:spPr>
          <a:xfrm>
            <a:off x="486000" y="936000"/>
            <a:ext cx="6773384" cy="6611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Every minute, the tram travels 1,200 feet.</a:t>
            </a:r>
            <a:endParaRPr b="0" i="0" sz="1400" u="none" cap="none" strike="noStrike">
              <a:solidFill>
                <a:srgbClr val="000000"/>
              </a:solidFill>
              <a:latin typeface="Arial"/>
              <a:ea typeface="Arial"/>
              <a:cs typeface="Arial"/>
              <a:sym typeface="Arial"/>
            </a:endParaRPr>
          </a:p>
        </p:txBody>
      </p:sp>
      <p:sp>
        <p:nvSpPr>
          <p:cNvPr id="918" name="Google Shape;918;p93"/>
          <p:cNvSpPr txBox="1"/>
          <p:nvPr/>
        </p:nvSpPr>
        <p:spPr>
          <a:xfrm>
            <a:off x="486000" y="1712850"/>
            <a:ext cx="9795062"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It takes 15 minutes for the tram to travel from the base to the top of Sandia Peak.</a:t>
            </a:r>
            <a:endParaRPr b="0" i="0" sz="1400" u="none" cap="none" strike="noStrike">
              <a:solidFill>
                <a:srgbClr val="000000"/>
              </a:solidFill>
              <a:latin typeface="Arial"/>
              <a:ea typeface="Arial"/>
              <a:cs typeface="Arial"/>
              <a:sym typeface="Arial"/>
            </a:endParaRPr>
          </a:p>
        </p:txBody>
      </p:sp>
      <p:sp>
        <p:nvSpPr>
          <p:cNvPr id="919" name="Google Shape;919;p93"/>
          <p:cNvSpPr txBox="1"/>
          <p:nvPr/>
        </p:nvSpPr>
        <p:spPr>
          <a:xfrm>
            <a:off x="486000" y="2782687"/>
            <a:ext cx="9942546"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are the quantities in the situation? Which quantity is the independent variable, and which is the dependent variable?</a:t>
            </a:r>
            <a:endParaRPr b="0" i="0" sz="2800" u="none" cap="none" strike="noStrike">
              <a:solidFill>
                <a:schemeClr val="dk1"/>
              </a:solidFill>
              <a:latin typeface="Arial"/>
              <a:ea typeface="Arial"/>
              <a:cs typeface="Arial"/>
              <a:sym typeface="Arial"/>
            </a:endParaRPr>
          </a:p>
        </p:txBody>
      </p:sp>
      <p:sp>
        <p:nvSpPr>
          <p:cNvPr id="920" name="Google Shape;920;p93"/>
          <p:cNvSpPr txBox="1"/>
          <p:nvPr/>
        </p:nvSpPr>
        <p:spPr>
          <a:xfrm>
            <a:off x="484565"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Riding the Tramway</a:t>
            </a:r>
            <a:endParaRPr b="1" i="0" sz="2800" u="none" cap="none" strike="noStrike">
              <a:solidFill>
                <a:srgbClr val="782DA0"/>
              </a:solidFill>
              <a:latin typeface="Arial"/>
              <a:ea typeface="Arial"/>
              <a:cs typeface="Arial"/>
              <a:sym typeface="Arial"/>
            </a:endParaRPr>
          </a:p>
        </p:txBody>
      </p:sp>
      <p:sp>
        <p:nvSpPr>
          <p:cNvPr id="92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47</a:t>
            </a:r>
          </a:p>
        </p:txBody>
      </p:sp>
      <p:sp>
        <p:nvSpPr>
          <p:cNvPr id="922" name="EWL-COVER-1"/>
          <p:cNvSpPr/>
          <p:nvPr/>
        </p:nvSpPr>
        <p:spPr>
          <a:xfrm>
            <a:off x="409040" y="4265136"/>
            <a:ext cx="10072934" cy="1989887"/>
          </a:xfrm>
          <a:prstGeom prst="rect">
            <a:avLst/>
          </a:prstGeom>
          <a:solidFill>
            <a:srgbClr val="FFFFFF"/>
          </a:solidFill>
          <a:ln>
            <a:noFill/>
          </a:ln>
        </p:spPr>
        <p:txBody>
          <a:bodyPr/>
          <a:lstStyle/>
          <a:p/>
        </p:txBody>
      </p:sp>
      <p:grpSp>
        <p:nvGrpSpPr>
          <p:cNvPr id="923" name="TEACH-2-student-move" descr="TEACH 2 · Use strategies and tasks to engage students in rigorous work"/>
          <p:cNvGrpSpPr/>
          <p:nvPr/>
        </p:nvGrpSpPr>
        <p:grpSpPr>
          <a:xfrm>
            <a:off x="502920" y="5948278"/>
            <a:ext cx="11186160" cy="320040"/>
            <a:chOff x="502920" y="5948278"/>
            <a:chExt cx="11186160" cy="320040"/>
          </a:xfrm>
        </p:grpSpPr>
        <p:sp>
          <p:nvSpPr>
            <p:cNvPr id="924" name="TEACH-move-card"/>
            <p:cNvSpPr/>
            <p:nvPr/>
          </p:nvSpPr>
          <p:spPr>
            <a:xfrm>
              <a:off x="502920" y="5948278"/>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925" name="TEACH-move-rule"/>
            <p:cNvSpPr/>
            <p:nvPr/>
          </p:nvSpPr>
          <p:spPr>
            <a:xfrm>
              <a:off x="548640" y="6009086"/>
              <a:ext cx="100584" cy="198424"/>
            </a:xfrm>
            <a:prstGeom prst="roundRect">
              <a:avLst>
                <a:gd name="adj" fmla="val 50000"/>
              </a:avLst>
            </a:prstGeom>
            <a:solidFill>
              <a:srgbClr val="01708C"/>
            </a:solidFill>
            <a:ln>
              <a:noFill/>
            </a:ln>
          </p:spPr>
          <p:txBody>
            <a:bodyPr/>
            <a:lstStyle/>
            <a:p>
              <a:endParaRPr/>
            </a:p>
          </p:txBody>
        </p:sp>
        <p:sp>
          <p:nvSpPr>
            <p:cNvPr id="926" name="TEACH-move-text"/>
            <p:cNvSpPr txBox="1"/>
            <p:nvPr/>
          </p:nvSpPr>
          <p:spPr>
            <a:xfrm>
              <a:off x="822960" y="5948278"/>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cxnSp>
        <p:nvCxnSpPr>
          <p:cNvPr id="957" name="Google Shape;957;p9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958" name="Google Shape;958;p97"/>
          <p:cNvPicPr preferRelativeResize="0"/>
          <p:nvPr/>
        </p:nvPicPr>
        <p:blipFill rotWithShape="1">
          <a:blip r:embed="rId3">
            <a:alphaModFix/>
          </a:blip>
          <a:srcRect b="0" l="0" r="0" t="0"/>
          <a:stretch/>
        </p:blipFill>
        <p:spPr>
          <a:xfrm>
            <a:off x="2697195" y="3620504"/>
            <a:ext cx="3305137" cy="2606400"/>
          </a:xfrm>
          <a:prstGeom prst="rect">
            <a:avLst/>
          </a:prstGeom>
          <a:noFill/>
          <a:ln>
            <a:noFill/>
          </a:ln>
        </p:spPr>
      </p:pic>
      <p:pic>
        <p:nvPicPr>
          <p:cNvPr descr="Chart, line chart&#10;&#10;Description automatically generated" id="959" name="Google Shape;959;p97"/>
          <p:cNvPicPr preferRelativeResize="0"/>
          <p:nvPr/>
        </p:nvPicPr>
        <p:blipFill rotWithShape="1">
          <a:blip r:embed="rId4">
            <a:alphaModFix/>
          </a:blip>
          <a:srcRect b="0" l="0" r="0" t="0"/>
          <a:stretch/>
        </p:blipFill>
        <p:spPr>
          <a:xfrm>
            <a:off x="8518326" y="2645918"/>
            <a:ext cx="3198284" cy="3240000"/>
          </a:xfrm>
          <a:prstGeom prst="rect">
            <a:avLst/>
          </a:prstGeom>
          <a:noFill/>
          <a:ln>
            <a:noFill/>
          </a:ln>
        </p:spPr>
      </p:pic>
      <p:sp>
        <p:nvSpPr>
          <p:cNvPr id="960" name="Google Shape;960;p97"/>
          <p:cNvSpPr txBox="1"/>
          <p:nvPr/>
        </p:nvSpPr>
        <p:spPr>
          <a:xfrm>
            <a:off x="486000" y="936000"/>
            <a:ext cx="8553225" cy="247151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We can use a table of values to create a graph that shows the relationship between time and distance.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Every minute, the tram travels 1,200 feet.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How can you complete the table and create a graph that represents the relationship?</a:t>
            </a:r>
            <a:endParaRPr b="0" i="0" sz="2800" u="none" cap="none" strike="noStrike">
              <a:solidFill>
                <a:schemeClr val="dk1"/>
              </a:solidFill>
              <a:latin typeface="Arial"/>
              <a:ea typeface="Arial"/>
              <a:cs typeface="Arial"/>
              <a:sym typeface="Arial"/>
            </a:endParaRPr>
          </a:p>
        </p:txBody>
      </p:sp>
      <p:sp>
        <p:nvSpPr>
          <p:cNvPr id="961" name="Google Shape;961;p97"/>
          <p:cNvSpPr txBox="1"/>
          <p:nvPr/>
        </p:nvSpPr>
        <p:spPr>
          <a:xfrm>
            <a:off x="894079" y="310300"/>
            <a:ext cx="450468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962" name="Google Shape;962;p97"/>
          <p:cNvPicPr preferRelativeResize="0"/>
          <p:nvPr/>
        </p:nvPicPr>
        <p:blipFill rotWithShape="1">
          <a:blip r:embed="rId5">
            <a:alphaModFix/>
          </a:blip>
          <a:srcRect b="0" l="0" r="0" t="0"/>
          <a:stretch/>
        </p:blipFill>
        <p:spPr>
          <a:xfrm>
            <a:off x="540444" y="382472"/>
            <a:ext cx="353635" cy="340537"/>
          </a:xfrm>
          <a:prstGeom prst="rect">
            <a:avLst/>
          </a:prstGeom>
          <a:noFill/>
          <a:ln>
            <a:noFill/>
          </a:ln>
        </p:spPr>
      </p:pic>
      <p:sp>
        <p:nvSpPr>
          <p:cNvPr id="96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47</a:t>
            </a:r>
          </a:p>
        </p:txBody>
      </p:sp>
      <p:sp>
        <p:nvSpPr>
          <p:cNvPr id="964"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cxnSp>
        <p:nvCxnSpPr>
          <p:cNvPr id="1022" name="Google Shape;1022;p10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23" name="Google Shape;1023;p104"/>
          <p:cNvSpPr txBox="1"/>
          <p:nvPr/>
        </p:nvSpPr>
        <p:spPr>
          <a:xfrm>
            <a:off x="484564" y="5035284"/>
            <a:ext cx="9373811" cy="13083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br>
              <a:rPr b="1" i="0" lang="en-US" sz="2800" u="none" cap="none" strike="noStrike">
                <a:solidFill>
                  <a:srgbClr val="E0E0E0"/>
                </a:solidFill>
                <a:highlight>
                  <a:srgbClr val="E0E0E0"/>
                </a:highlight>
                <a:latin typeface="Arial"/>
                <a:ea typeface="Arial"/>
                <a:cs typeface="Arial"/>
                <a:sym typeface="Arial"/>
              </a:rPr>
            </a:br>
            <a:r>
              <a:rPr b="0" i="0" lang="en-US" sz="2800" u="none" cap="none" strike="noStrike">
                <a:solidFill>
                  <a:srgbClr val="595959"/>
                </a:solidFill>
                <a:latin typeface="Arial"/>
                <a:ea typeface="Arial"/>
                <a:cs typeface="Arial"/>
                <a:sym typeface="Arial"/>
              </a:rPr>
              <a:t>The greater the time of travel, the farther the tram has traveled.</a:t>
            </a:r>
            <a:endParaRPr b="1" i="0" sz="2800" u="none" cap="none" strike="noStrike">
              <a:solidFill>
                <a:srgbClr val="595959"/>
              </a:solidFill>
              <a:highlight>
                <a:srgbClr val="E0E0E0"/>
              </a:highlight>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1" i="0" sz="2800" u="none" cap="none" strike="noStrike">
              <a:solidFill>
                <a:srgbClr val="E0E0E0"/>
              </a:solidFill>
              <a:highlight>
                <a:srgbClr val="E0E0E0"/>
              </a:highlight>
              <a:latin typeface="Arial"/>
              <a:ea typeface="Arial"/>
              <a:cs typeface="Arial"/>
              <a:sym typeface="Arial"/>
            </a:endParaRPr>
          </a:p>
          <a:p>
            <a:pPr indent="0" lvl="0" marL="0" marR="0" rtl="0" algn="l">
              <a:lnSpc>
                <a:spcPct val="100000"/>
              </a:lnSpc>
              <a:spcBef>
                <a:spcPts val="600"/>
              </a:spcBef>
              <a:spcAft>
                <a:spcPts val="0"/>
              </a:spcAft>
              <a:buClr>
                <a:srgbClr val="E0E0E0"/>
              </a:buClr>
              <a:buSzPts val="2800"/>
              <a:buFont typeface="Arial"/>
              <a:buNone/>
              <a:defRPr/>
            </a:pPr>
            <a:br>
              <a:rPr b="1" i="0" lang="en-US" sz="2800" u="none" cap="none" strike="noStrike">
                <a:solidFill>
                  <a:srgbClr val="E0E0E0"/>
                </a:solidFill>
                <a:highlight>
                  <a:srgbClr val="E0E0E0"/>
                </a:highlight>
                <a:latin typeface="Arial"/>
                <a:ea typeface="Arial"/>
                <a:cs typeface="Arial"/>
                <a:sym typeface="Arial"/>
              </a:rPr>
            </a:br>
            <a:endParaRPr b="1" i="0" sz="2800" u="none" cap="none" strike="noStrike">
              <a:solidFill>
                <a:srgbClr val="595959"/>
              </a:solidFill>
              <a:highlight>
                <a:srgbClr val="E0E0E0"/>
              </a:highlight>
              <a:latin typeface="Arial"/>
              <a:ea typeface="Arial"/>
              <a:cs typeface="Arial"/>
              <a:sym typeface="Arial"/>
            </a:endParaRPr>
          </a:p>
        </p:txBody>
      </p:sp>
      <p:sp>
        <p:nvSpPr>
          <p:cNvPr id="1024" name="Google Shape;1024;p104"/>
          <p:cNvSpPr txBox="1"/>
          <p:nvPr/>
        </p:nvSpPr>
        <p:spPr>
          <a:xfrm>
            <a:off x="484565"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Riding the Tramway</a:t>
            </a:r>
            <a:endParaRPr b="1" i="0" sz="2800" u="none" cap="none" strike="noStrike">
              <a:solidFill>
                <a:srgbClr val="782DA0"/>
              </a:solidFill>
              <a:latin typeface="Arial"/>
              <a:ea typeface="Arial"/>
              <a:cs typeface="Arial"/>
              <a:sym typeface="Arial"/>
            </a:endParaRPr>
          </a:p>
        </p:txBody>
      </p:sp>
      <p:sp>
        <p:nvSpPr>
          <p:cNvPr id="1025" name="Google Shape;1025;p104"/>
          <p:cNvSpPr txBox="1"/>
          <p:nvPr/>
        </p:nvSpPr>
        <p:spPr>
          <a:xfrm>
            <a:off x="484565" y="936000"/>
            <a:ext cx="5857241" cy="1416675"/>
          </a:xfrm>
          <a:prstGeom prst="rect">
            <a:avLst/>
          </a:prstGeom>
          <a:blipFill rotWithShape="1">
            <a:blip r:embed="rId3">
              <a:alphaModFix/>
            </a:blip>
            <a:stretch>
              <a:fillRect b="-9052" l="-2081" r="-1040" t="-47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26" name="Google Shape;1026;p104"/>
          <p:cNvSpPr txBox="1"/>
          <p:nvPr/>
        </p:nvSpPr>
        <p:spPr>
          <a:xfrm>
            <a:off x="484564" y="2542766"/>
            <a:ext cx="5857241"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describe the relationship between the distance the tram has traveled and the time it has traveled?</a:t>
            </a:r>
            <a:endParaRPr b="0" i="0" sz="2800" u="none" cap="none" strike="noStrike">
              <a:solidFill>
                <a:schemeClr val="dk1"/>
              </a:solidFill>
              <a:latin typeface="Arial"/>
              <a:ea typeface="Arial"/>
              <a:cs typeface="Arial"/>
              <a:sym typeface="Arial"/>
            </a:endParaRPr>
          </a:p>
        </p:txBody>
      </p:sp>
      <p:pic>
        <p:nvPicPr>
          <p:cNvPr descr="Chart, line chart&#10;&#10;Description automatically generated" id="1027" name="Google Shape;1027;p104"/>
          <p:cNvPicPr preferRelativeResize="0"/>
          <p:nvPr/>
        </p:nvPicPr>
        <p:blipFill rotWithShape="1">
          <a:blip r:embed="rId4">
            <a:alphaModFix/>
          </a:blip>
          <a:srcRect b="0" l="0" r="0" t="0"/>
          <a:stretch/>
        </p:blipFill>
        <p:spPr>
          <a:xfrm>
            <a:off x="6583850" y="1435285"/>
            <a:ext cx="5164838" cy="3600000"/>
          </a:xfrm>
          <a:prstGeom prst="rect">
            <a:avLst/>
          </a:prstGeom>
          <a:noFill/>
          <a:ln>
            <a:noFill/>
          </a:ln>
        </p:spPr>
      </p:pic>
      <p:sp>
        <p:nvSpPr>
          <p:cNvPr id="10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47</a:t>
            </a:r>
          </a:p>
        </p:txBody>
      </p:sp>
      <p:sp>
        <p:nvSpPr>
          <p:cNvPr id="1029" name="EWL-COVER-1"/>
          <p:cNvSpPr/>
          <p:nvPr/>
        </p:nvSpPr>
        <p:spPr>
          <a:xfrm>
            <a:off x="429700" y="4980420"/>
            <a:ext cx="9483539" cy="1418093"/>
          </a:xfrm>
          <a:prstGeom prst="rect">
            <a:avLst/>
          </a:prstGeom>
          <a:solidFill>
            <a:srgbClr val="FFFFFF"/>
          </a:solidFill>
          <a:ln>
            <a:noFill/>
          </a:ln>
        </p:spPr>
        <p:txBody>
          <a:bodyPr/>
          <a:lstStyle/>
          <a:p/>
        </p:txBody>
      </p:sp>
      <p:grpSp>
        <p:nvGrpSpPr>
          <p:cNvPr id="1030" name="TEACH-4-student-move" descr="TEACH 4 · Monitor progress and provide feedback"/>
          <p:cNvGrpSpPr/>
          <p:nvPr/>
        </p:nvGrpSpPr>
        <p:grpSpPr>
          <a:xfrm>
            <a:off x="502920" y="4596372"/>
            <a:ext cx="5501640" cy="402336"/>
            <a:chOff x="502920" y="4596372"/>
            <a:chExt cx="5501640" cy="402336"/>
          </a:xfrm>
        </p:grpSpPr>
        <p:sp>
          <p:nvSpPr>
            <p:cNvPr id="1031" name="TEACH-move-card"/>
            <p:cNvSpPr/>
            <p:nvPr/>
          </p:nvSpPr>
          <p:spPr>
            <a:xfrm>
              <a:off x="502920" y="4596372"/>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1032" name="TEACH-move-rule"/>
            <p:cNvSpPr/>
            <p:nvPr/>
          </p:nvSpPr>
          <p:spPr>
            <a:xfrm>
              <a:off x="548640" y="4672816"/>
              <a:ext cx="100584" cy="249448"/>
            </a:xfrm>
            <a:prstGeom prst="roundRect">
              <a:avLst>
                <a:gd name="adj" fmla="val 50000"/>
              </a:avLst>
            </a:prstGeom>
            <a:solidFill>
              <a:srgbClr val="01708C"/>
            </a:solidFill>
            <a:ln>
              <a:noFill/>
            </a:ln>
          </p:spPr>
          <p:txBody>
            <a:bodyPr/>
            <a:lstStyle/>
            <a:p>
              <a:endParaRPr/>
            </a:p>
          </p:txBody>
        </p:sp>
        <p:sp>
          <p:nvSpPr>
            <p:cNvPr id="1033" name="TEACH-move-text"/>
            <p:cNvSpPr txBox="1"/>
            <p:nvPr/>
          </p:nvSpPr>
          <p:spPr>
            <a:xfrm>
              <a:off x="822960" y="4596372"/>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cxnSp>
        <p:nvCxnSpPr>
          <p:cNvPr id="1042" name="Google Shape;1042;p10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43" name="Google Shape;1043;p106"/>
          <p:cNvSpPr txBox="1"/>
          <p:nvPr/>
        </p:nvSpPr>
        <p:spPr>
          <a:xfrm>
            <a:off x="486000"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1044" name="Google Shape;1044;p106"/>
          <p:cNvSpPr txBox="1"/>
          <p:nvPr/>
        </p:nvSpPr>
        <p:spPr>
          <a:xfrm>
            <a:off x="486000" y="936000"/>
            <a:ext cx="606720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It takes 15 minutes for the Sandia Peak tram to travel from the base to the top of Sandia Peak.</a:t>
            </a:r>
            <a:endParaRPr b="1" i="0" sz="2800" u="none" cap="none" strike="noStrike">
              <a:solidFill>
                <a:schemeClr val="dk1"/>
              </a:solidFill>
              <a:latin typeface="Arial"/>
              <a:ea typeface="Arial"/>
              <a:cs typeface="Arial"/>
              <a:sym typeface="Arial"/>
            </a:endParaRPr>
          </a:p>
        </p:txBody>
      </p:sp>
      <p:pic>
        <p:nvPicPr>
          <p:cNvPr descr="Chart, line chart&#10;&#10;Description automatically generated" id="1045" name="Google Shape;1045;p106"/>
          <p:cNvPicPr preferRelativeResize="0"/>
          <p:nvPr/>
        </p:nvPicPr>
        <p:blipFill rotWithShape="1">
          <a:blip r:embed="rId3">
            <a:alphaModFix/>
          </a:blip>
          <a:srcRect b="0" l="0" r="0" t="0"/>
          <a:stretch/>
        </p:blipFill>
        <p:spPr>
          <a:xfrm>
            <a:off x="6840945" y="1628497"/>
            <a:ext cx="4381500" cy="4438650"/>
          </a:xfrm>
          <a:prstGeom prst="rect">
            <a:avLst/>
          </a:prstGeom>
          <a:noFill/>
          <a:ln>
            <a:noFill/>
          </a:ln>
        </p:spPr>
      </p:pic>
      <p:sp>
        <p:nvSpPr>
          <p:cNvPr id="1046" name="Google Shape;1046;p106"/>
          <p:cNvSpPr txBox="1"/>
          <p:nvPr/>
        </p:nvSpPr>
        <p:spPr>
          <a:xfrm>
            <a:off x="486000" y="2572042"/>
            <a:ext cx="6067200" cy="99323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defRPr/>
            </a:pPr>
            <a:r>
              <a:rPr b="0" i="0" lang="en-US" sz="2800" u="none" cap="none" strike="noStrike">
                <a:solidFill>
                  <a:schemeClr val="dk1"/>
                </a:solidFill>
                <a:latin typeface="Arial"/>
                <a:ea typeface="Arial"/>
                <a:cs typeface="Arial"/>
                <a:sym typeface="Arial"/>
              </a:rPr>
              <a:t>Which quantity is the independent variable? Explain how you know.</a:t>
            </a:r>
            <a:endParaRPr b="0" i="0" sz="1400" u="none" cap="none" strike="noStrike">
              <a:solidFill>
                <a:srgbClr val="000000"/>
              </a:solidFill>
              <a:latin typeface="Arial"/>
              <a:ea typeface="Arial"/>
              <a:cs typeface="Arial"/>
              <a:sym typeface="Arial"/>
            </a:endParaRPr>
          </a:p>
        </p:txBody>
      </p:sp>
      <p:sp>
        <p:nvSpPr>
          <p:cNvPr id="1047" name="Google Shape;1047;p106"/>
          <p:cNvSpPr/>
          <p:nvPr/>
        </p:nvSpPr>
        <p:spPr>
          <a:xfrm>
            <a:off x="486000" y="3649784"/>
            <a:ext cx="6067200" cy="1960441"/>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048" name="Google Shape;1048;p106"/>
          <p:cNvSpPr txBox="1"/>
          <p:nvPr/>
        </p:nvSpPr>
        <p:spPr>
          <a:xfrm>
            <a:off x="5346331" y="5174474"/>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104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47</a:t>
            </a:r>
          </a:p>
        </p:txBody>
      </p:sp>
      <p:grpSp>
        <p:nvGrpSpPr>
          <p:cNvPr id="1050" name="TEACH-2-student-move" descr="TEACH 2 · Use strategies and tasks to engage students in rigorous work"/>
          <p:cNvGrpSpPr/>
          <p:nvPr/>
        </p:nvGrpSpPr>
        <p:grpSpPr>
          <a:xfrm>
            <a:off x="502920" y="5692521"/>
            <a:ext cx="5501640" cy="594360"/>
            <a:chOff x="502920" y="5692521"/>
            <a:chExt cx="5501640" cy="594360"/>
          </a:xfrm>
        </p:grpSpPr>
        <p:sp>
          <p:nvSpPr>
            <p:cNvPr id="1051" name="TEACH-move-card"/>
            <p:cNvSpPr/>
            <p:nvPr/>
          </p:nvSpPr>
          <p:spPr>
            <a:xfrm>
              <a:off x="502920" y="5692521"/>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1052" name="TEACH-move-rule"/>
            <p:cNvSpPr/>
            <p:nvPr/>
          </p:nvSpPr>
          <p:spPr>
            <a:xfrm>
              <a:off x="548640" y="5805449"/>
              <a:ext cx="100584" cy="368504"/>
            </a:xfrm>
            <a:prstGeom prst="roundRect">
              <a:avLst>
                <a:gd name="adj" fmla="val 50000"/>
              </a:avLst>
            </a:prstGeom>
            <a:solidFill>
              <a:srgbClr val="01708C"/>
            </a:solidFill>
            <a:ln>
              <a:noFill/>
            </a:ln>
          </p:spPr>
          <p:txBody>
            <a:bodyPr/>
            <a:lstStyle/>
            <a:p>
              <a:endParaRPr/>
            </a:p>
          </p:txBody>
        </p:sp>
        <p:sp>
          <p:nvSpPr>
            <p:cNvPr id="1053" name="TEACH-move-text"/>
            <p:cNvSpPr txBox="1"/>
            <p:nvPr/>
          </p:nvSpPr>
          <p:spPr>
            <a:xfrm>
              <a:off x="822960" y="5692521"/>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YOUR TOOLS  ·  </a:t>
              </a:r>
              <a:r>
                <a:rPr lang="en-US" sz="1200" dirty="0">
                  <a:solidFill>
                    <a:srgbClr val="13303A"/>
                  </a:solidFill>
                  <a:latin typeface="Arial"/>
                </a:rPr>
                <a:t>Reach for your notes, a model, or a manipulative before you reach for an answer.</a:t>
              </a:r>
              <a:endParaRPr lang="en-US" sz="1200"/>
            </a:p>
          </p:txBody>
        </p:sp>
      </p:gr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9.2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misreading the axis scale or assuming every relationship starts at zero.</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Trace one given table row to its graph point and label both units.</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cxnSp>
        <p:nvCxnSpPr>
          <p:cNvPr id="1065" name="Google Shape;1065;p10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66" name="Google Shape;1066;p108"/>
          <p:cNvSpPr txBox="1"/>
          <p:nvPr/>
        </p:nvSpPr>
        <p:spPr>
          <a:xfrm>
            <a:off x="486001" y="316800"/>
            <a:ext cx="6257700" cy="97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Summarize: Analyze Relationships Between Two Quantities</a:t>
            </a:r>
            <a:endParaRPr b="0" i="0" sz="1400" u="none" cap="none" strike="noStrike">
              <a:solidFill>
                <a:srgbClr val="000000"/>
              </a:solidFill>
              <a:latin typeface="Arial"/>
              <a:ea typeface="Arial"/>
              <a:cs typeface="Arial"/>
              <a:sym typeface="Arial"/>
            </a:endParaRPr>
          </a:p>
        </p:txBody>
      </p:sp>
      <p:sp>
        <p:nvSpPr>
          <p:cNvPr id="1067" name="Google Shape;1067;p108"/>
          <p:cNvSpPr txBox="1"/>
          <p:nvPr/>
        </p:nvSpPr>
        <p:spPr>
          <a:xfrm>
            <a:off x="486001" y="1296000"/>
            <a:ext cx="8296050" cy="14047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You can use graphs or tables to analyze the relationship between the quantities of a given situation.</a:t>
            </a:r>
            <a:endParaRPr b="0" i="0" sz="1400" u="none" cap="none" strike="noStrike">
              <a:solidFill>
                <a:srgbClr val="000000"/>
              </a:solidFill>
              <a:latin typeface="Arial"/>
              <a:ea typeface="Arial"/>
              <a:cs typeface="Arial"/>
              <a:sym typeface="Arial"/>
            </a:endParaRPr>
          </a:p>
        </p:txBody>
      </p:sp>
      <p:pic>
        <p:nvPicPr>
          <p:cNvPr descr="Diagram&#10;&#10;Description automatically generated" id="1068" name="Google Shape;1068;p108"/>
          <p:cNvPicPr preferRelativeResize="0"/>
          <p:nvPr/>
        </p:nvPicPr>
        <p:blipFill rotWithShape="1">
          <a:blip r:embed="rId3">
            <a:alphaModFix/>
          </a:blip>
          <a:srcRect b="0" l="0" r="0" t="0"/>
          <a:stretch/>
        </p:blipFill>
        <p:spPr>
          <a:xfrm>
            <a:off x="1053380" y="2815054"/>
            <a:ext cx="7396089" cy="3564000"/>
          </a:xfrm>
          <a:prstGeom prst="rect">
            <a:avLst/>
          </a:prstGeom>
          <a:noFill/>
          <a:ln>
            <a:noFill/>
          </a:ln>
        </p:spPr>
      </p:pic>
      <p:sp>
        <p:nvSpPr>
          <p:cNvPr id="106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47</a:t>
            </a:r>
          </a:p>
        </p:txBody>
      </p:sp>
      <p:sp>
        <p:nvSpPr>
          <p:cNvPr id="1070"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xml:space="preserve">  ·  SAY IT IN YOUR OWN WORDS</a:t>
            </a: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p109"/>
          <p:cNvSpPr txBox="1"/>
          <p:nvPr/>
        </p:nvSpPr>
        <p:spPr>
          <a:xfrm>
            <a:off x="484565" y="316034"/>
            <a:ext cx="561143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Apply: Nakai’s Savings Account</a:t>
            </a:r>
            <a:endParaRPr b="1" i="0" sz="2800" u="none" cap="none" strike="noStrike">
              <a:solidFill>
                <a:srgbClr val="782DA0"/>
              </a:solidFill>
              <a:latin typeface="Arial"/>
              <a:ea typeface="Arial"/>
              <a:cs typeface="Arial"/>
              <a:sym typeface="Arial"/>
            </a:endParaRPr>
          </a:p>
        </p:txBody>
      </p:sp>
      <p:cxnSp>
        <p:nvCxnSpPr>
          <p:cNvPr id="1074" name="Google Shape;1074;p10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75" name="Google Shape;1075;p109"/>
          <p:cNvSpPr txBox="1"/>
          <p:nvPr/>
        </p:nvSpPr>
        <p:spPr>
          <a:xfrm>
            <a:off x="484565" y="1106121"/>
            <a:ext cx="7011388" cy="17948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2800"/>
              <a:buFont typeface="Arial"/>
              <a:buNone/>
            </a:pPr>
            <a:r>
              <a:t/>
            </a:r>
            <a:endParaRPr b="0" i="0" sz="2800" u="none" cap="none" strike="noStrike">
              <a:solidFill>
                <a:schemeClr val="dk1"/>
              </a:solidFill>
              <a:latin typeface="Arial"/>
              <a:ea typeface="Arial"/>
              <a:cs typeface="Arial"/>
              <a:sym typeface="Arial"/>
            </a:endParaRPr>
          </a:p>
        </p:txBody>
      </p:sp>
      <p:sp>
        <p:nvSpPr>
          <p:cNvPr id="1076" name="Google Shape;1076;p109"/>
          <p:cNvSpPr txBox="1"/>
          <p:nvPr/>
        </p:nvSpPr>
        <p:spPr>
          <a:xfrm>
            <a:off x="484564" y="4747123"/>
            <a:ext cx="7572315" cy="102502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Question:</a:t>
            </a:r>
            <a:r>
              <a:rPr b="0" i="0" lang="en-US" sz="2800" u="none" cap="none" strike="noStrike">
                <a:solidFill>
                  <a:schemeClr val="dk1"/>
                </a:solidFill>
                <a:latin typeface="Arial"/>
                <a:ea typeface="Arial"/>
                <a:cs typeface="Arial"/>
                <a:sym typeface="Arial"/>
              </a:rPr>
              <a:t xml:space="preserve"> What observations can you make about the data using the graph?</a:t>
            </a:r>
            <a:endParaRPr b="0" i="0" sz="1400" u="none" cap="none" strike="noStrike">
              <a:solidFill>
                <a:srgbClr val="000000"/>
              </a:solidFill>
              <a:latin typeface="Arial"/>
              <a:ea typeface="Arial"/>
              <a:cs typeface="Arial"/>
              <a:sym typeface="Arial"/>
            </a:endParaRPr>
          </a:p>
        </p:txBody>
      </p:sp>
      <p:pic>
        <p:nvPicPr>
          <p:cNvPr descr="Chart, line chart&#10;&#10;Description automatically generated" id="1077" name="Google Shape;1077;p109"/>
          <p:cNvPicPr preferRelativeResize="0"/>
          <p:nvPr/>
        </p:nvPicPr>
        <p:blipFill rotWithShape="1">
          <a:blip r:embed="rId3">
            <a:alphaModFix/>
          </a:blip>
          <a:srcRect b="0" l="0" r="0" t="0"/>
          <a:stretch/>
        </p:blipFill>
        <p:spPr>
          <a:xfrm>
            <a:off x="8659801" y="1634833"/>
            <a:ext cx="2543226" cy="4320000"/>
          </a:xfrm>
          <a:prstGeom prst="rect">
            <a:avLst/>
          </a:prstGeom>
          <a:noFill/>
          <a:ln>
            <a:noFill/>
          </a:ln>
        </p:spPr>
      </p:pic>
      <p:sp>
        <p:nvSpPr>
          <p:cNvPr id="1078" name="Google Shape;1078;p109"/>
          <p:cNvSpPr txBox="1"/>
          <p:nvPr/>
        </p:nvSpPr>
        <p:spPr>
          <a:xfrm>
            <a:off x="484565" y="1234440"/>
            <a:ext cx="7572314" cy="3474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Nakai opened a savings account with an initial deposit, or principal, of $750. The account earns 3.5% simple interest each year. Interest is the amount paid or earned for the use of the principal. Interest is called simple interest when it is calculated using the principal amount. The graph shows the interest Nakai has earned over a period of time.</a:t>
            </a:r>
            <a:endParaRPr b="0" i="0" sz="1400" u="none" cap="none" strike="noStrike">
              <a:solidFill>
                <a:srgbClr val="000000"/>
              </a:solidFill>
              <a:latin typeface="Arial"/>
              <a:ea typeface="Arial"/>
              <a:cs typeface="Arial"/>
              <a:sym typeface="Arial"/>
            </a:endParaRPr>
          </a:p>
        </p:txBody>
      </p:sp>
      <p:sp>
        <p:nvSpPr>
          <p:cNvPr id="107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45 / 47</a:t>
            </a:r>
          </a:p>
        </p:txBody>
      </p:sp>
      <p:sp>
        <p:nvSpPr>
          <p:cNvPr id="1080"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APPLY</a:t>
            </a:r>
            <a:r>
              <a:rPr lang="en-US" sz="1200" b="1">
                <a:solidFill>
                  <a:srgbClr val="5D6872"/>
                </a:solidFill>
                <a:latin typeface="Arial"/>
              </a:rPr>
              <a:t xml:space="preserve">  ·  PLAN IT • SOLVE IT • PROVE IT</a:t>
            </a:r>
          </a:p>
        </p:txBody>
      </p:sp>
      <p:grpSp>
        <p:nvGrpSpPr>
          <p:cNvPr id="1081" name="TEACH-2-student-move" descr="TEACH 2 · Use strategies and tasks to engage students in rigorous work"/>
          <p:cNvGrpSpPr/>
          <p:nvPr/>
        </p:nvGrpSpPr>
        <p:grpSpPr>
          <a:xfrm>
            <a:off x="6187440" y="667209"/>
            <a:ext cx="5501640" cy="402336"/>
            <a:chOff x="6187440" y="667209"/>
            <a:chExt cx="5501640" cy="402336"/>
          </a:xfrm>
        </p:grpSpPr>
        <p:sp>
          <p:nvSpPr>
            <p:cNvPr id="1082" name="TEACH-move-card"/>
            <p:cNvSpPr/>
            <p:nvPr/>
          </p:nvSpPr>
          <p:spPr>
            <a:xfrm>
              <a:off x="6187440" y="667209"/>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1083" name="TEACH-move-rule"/>
            <p:cNvSpPr/>
            <p:nvPr/>
          </p:nvSpPr>
          <p:spPr>
            <a:xfrm>
              <a:off x="6233160" y="743653"/>
              <a:ext cx="100584" cy="249448"/>
            </a:xfrm>
            <a:prstGeom prst="roundRect">
              <a:avLst>
                <a:gd name="adj" fmla="val 50000"/>
              </a:avLst>
            </a:prstGeom>
            <a:solidFill>
              <a:srgbClr val="01708C"/>
            </a:solidFill>
            <a:ln>
              <a:noFill/>
            </a:ln>
          </p:spPr>
          <p:txBody>
            <a:bodyPr/>
            <a:lstStyle/>
            <a:p>
              <a:endParaRPr/>
            </a:p>
          </p:txBody>
        </p:sp>
        <p:sp>
          <p:nvSpPr>
            <p:cNvPr id="1084" name="TEACH-move-text"/>
            <p:cNvSpPr txBox="1"/>
            <p:nvPr/>
          </p:nvSpPr>
          <p:spPr>
            <a:xfrm>
              <a:off x="6507480" y="667209"/>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TWO MINUTES SOLO  ·  </a:t>
              </a:r>
              <a:r>
                <a:rPr lang="en-US" sz="1200" dirty="0">
                  <a:solidFill>
                    <a:srgbClr val="13303A"/>
                  </a:solidFill>
                  <a:latin typeface="Arial"/>
                </a:rPr>
                <a:t>Two minutes on your own, then compare. Bring one thing you tried, even if it did not work.</a:t>
              </a:r>
              <a:endParaRPr lang="en-US" sz="1200"/>
            </a:p>
          </p:txBody>
        </p:sp>
      </p:gr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83" name="Google Shape;1083;p110"/>
          <p:cNvSpPr txBox="1"/>
          <p:nvPr/>
        </p:nvSpPr>
        <p:spPr>
          <a:xfrm>
            <a:off x="484565"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84" name="Google Shape;1084;p11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85" name="Google Shape;1085;p110"/>
          <p:cNvSpPr txBox="1"/>
          <p:nvPr/>
        </p:nvSpPr>
        <p:spPr>
          <a:xfrm>
            <a:off x="484565" y="936000"/>
            <a:ext cx="7706935" cy="277431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use a table and a graph to determine the relationship between two variable quantities.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use a graph as a tool to analyze the relationship between two variable quantities.</a:t>
            </a:r>
            <a:endParaRPr b="0" i="0" sz="1400" u="none" cap="none" strike="noStrike">
              <a:solidFill>
                <a:srgbClr val="000000"/>
              </a:solidFill>
              <a:latin typeface="Arial"/>
              <a:ea typeface="Arial"/>
              <a:cs typeface="Arial"/>
              <a:sym typeface="Arial"/>
            </a:endParaRPr>
          </a:p>
        </p:txBody>
      </p:sp>
      <p:sp>
        <p:nvSpPr>
          <p:cNvPr id="3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47</a:t>
            </a:r>
          </a:p>
        </p:txBody>
      </p:sp>
      <p:sp xmlns:p="http://schemas.openxmlformats.org/presentationml/2006/main" xmlns:a="http://schemas.openxmlformats.org/drawingml/2006/main">
        <p:nvSpPr>
          <p:cNvPr id="1086"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9.2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Connect table rows to graph points.</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1-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NAME THE MATH  ·  </a:t>
            </a:r>
            <a:r>
              <a:rPr lang="en-US" sz="2000" b="0" dirty="0">
                <a:solidFill>
                  <a:srgbClr val="13303A"/>
                </a:solidFill>
                <a:latin typeface="Arial"/>
              </a:rPr>
              <a:t>Point to the part of this that is new today, and say what it changes.</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7 / 47</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ADD ON  ·  </a:t>
            </a:r>
            <a:r>
              <a:rPr lang="en-US" sz="2000" b="0" dirty="0">
                <a:solidFill>
                  <a:srgbClr val="13303A"/>
                </a:solidFill>
                <a:latin typeface="Arial"/>
              </a:rPr>
              <a:t>Add on: “I agree because ______.”  or  “I see it differently because ______.”</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18 / 47</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21 / 47</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PICK YOUR STRATEGY  ·  </a:t>
            </a:r>
            <a:r>
              <a:rPr lang="en-US" sz="2000" b="0" dirty="0">
                <a:solidFill>
                  <a:srgbClr val="13303A"/>
                </a:solidFill>
                <a:latin typeface="Arial"/>
              </a:rPr>
              <a:t>Choose your path — picture, table, number line, or equation — and be ready to say why you chose it.</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27 / 47</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31 / 47</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PROVE IT  ·  </a:t>
            </a:r>
            <a:r>
              <a:rPr lang="en-US" sz="2000" b="0" dirty="0">
                <a:solidFill>
                  <a:srgbClr val="13303A"/>
                </a:solidFill>
                <a:latin typeface="Arial"/>
              </a:rPr>
              <a:t>Find the evidence in the problem that makes your answer right — not just the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36 / 47</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TAKE TURNS  ·  </a:t>
            </a:r>
            <a:r>
              <a:rPr lang="en-US" sz="2000" b="0" dirty="0">
                <a:solidFill>
                  <a:srgbClr val="13303A"/>
                </a:solidFill>
                <a:latin typeface="Arial"/>
              </a:rPr>
              <a:t>One explains, one asks a question. Then switch, so both of you talk.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39 / 47</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RESTATE FIRST  ·  </a:t>
            </a:r>
            <a:r>
              <a:rPr lang="en-US" sz="2000" b="0" dirty="0">
                <a:solidFill>
                  <a:srgbClr val="13303A"/>
                </a:solidFill>
                <a:latin typeface="Arial"/>
              </a:rPr>
              <a:t>Restate your partner’s idea in your own words before you give yours.</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44 / 47</a:t>
            </a:r>
          </a:p>
        </p:txBody>
      </p:sp>
    </p:spTree>
  </p:cSld>
  <p:clrMapOvr>
    <a:masterClrMapping/>
  </p:clrMapOvr>
</p:sld>
</file>

<file path=ppt/theme/theme1.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9.2 — Analyze Graphs of Relationships Between Two Variables</dc:title>
  <dc:creator>Neft Teacher</dc:creator>
  <cp:lastModifiedBy>Neft Teacher</cp:lastModifiedBy>
  <dcterms:created xsi:type="dcterms:W3CDTF">2026-09-30T12:04:43Z</dcterms:created>
  <dcterms:modified xsi:type="dcterms:W3CDTF">2026-09-30T12:04:43Z</dcterms:modified>
</cp:coreProperties>
</file>