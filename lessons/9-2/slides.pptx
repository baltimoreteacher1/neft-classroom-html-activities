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Absolute value gives the DISTANCE from zero, which is always positive or zero. |-6| = 6. The student incorrectly applied 'opposite' a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C0654A">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Integers and Absolute Value</a:t>
            </a:r>
            <a:endParaRPr lang="en-US" sz="3000" dirty="0"/>
          </a:p>
        </p:txBody>
      </p:sp>
      <p:sp>
        <p:nvSpPr>
          <p:cNvPr id="7" name="Text 5"/>
          <p:cNvSpPr/>
          <p:nvPr/>
        </p:nvSpPr>
        <p:spPr>
          <a:xfrm>
            <a:off x="411480" y="4160520"/>
            <a:ext cx="1188720" cy="310896"/>
          </a:xfrm>
          <a:prstGeom prst="rect">
            <a:avLst>
              <a:gd name="adj" fmla="val 50000"/>
            </a:avLst>
          </a:prstGeom>
          <a:solidFill>
            <a:srgbClr val="C0654A"/>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6.NS.7</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9  ·  Lesson 9-2</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identify integers and find their absolute value.</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C0654A"/>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reasoning using the words integer, positive, negative, absolute value, and opposite.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Treasure Map Elevation</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Captain Vega's treasure map has clues hidden at different elevations! Some treasures are buried underground (below sea level) and some are on mountaintops (above sea level). Sea level is marked as 0. A treasure chest is at -4 (4 meters below sea level) and a lookout tower is at +6 (6 meters above sea level). How far is each from sea level?</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does the negative sign tell you about the treasure chest's location?</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Which location is farther from sea level — the chest at -4 or the tower at +6?</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can you find the distance from sea level without worrying about direction?</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Can two different integers have the same absolute value?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happens to the absolute value as numbers get farther from zero?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Integer</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Número entero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whole number that can be positive, negative, or zero.</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entero que puede ser positivo, negativo o cero.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 -3, -2, -1, 0, 1, 2, 3 ... shown on a number line with 0 in the center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Positive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Positivo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bigger than zero, to the right of zero on a number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mayor que cero, a la derecha del cero en la recta numérica.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+5 means 5 above zero, like 5 floors above ground level</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Negative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Negativo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number smaller than zero, to the left of zero on a number line.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número menor que cero, a la izquierda del cero en la recta numérica.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means 3 below zero, like 3 floors underground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Absolute value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Valor absoluto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How far a number is from zero. It is never negative.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Qué tan lejos está un número de cero. Nunca es negativo.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|-5| = 5 and |5| = 5 — both are 5 units from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Opposite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Opuesto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Two numbers the same distance from zero, on opposite sides, like 3 and -3.</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Dos números a la misma distancia de cero, en lados opuestos, como 3 y -3.</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3 and -3 are opposites — both are 3 units from 0</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Integer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−7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the opposite of a whole number.</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2/3  </a:t>
            </a:r>
            <a:pPr indent="0" marL="0">
              <a:buNone/>
            </a:pPr>
            <a:r>
              <a:rPr lang="en-US" sz="800" dirty="0">
                <a:solidFill>
                  <a:srgbClr val="24323F"/>
                </a:solidFill>
                <a:latin typeface="Hanken Grotesk" pitchFamily="34" charset="0"/>
                <a:ea typeface="Hanken Grotesk" pitchFamily="34" charset="-122"/>
                <a:cs typeface="Hanken Grotesk" pitchFamily="34" charset="-120"/>
              </a:rPr>
              <a:t>It is a fraction, not an integer.</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What is absolute value?</a:t>
            </a:r>
            <a:endParaRPr lang="en-US" sz="1200" dirty="0"/>
          </a:p>
        </p:txBody>
      </p:sp>
      <p:sp>
        <p:nvSpPr>
          <p:cNvPr id="20" name="Shape 18"/>
          <p:cNvSpPr/>
          <p:nvPr/>
        </p:nvSpPr>
        <p:spPr>
          <a:xfrm>
            <a:off x="640080" y="1609344"/>
            <a:ext cx="274320" cy="274320"/>
          </a:xfrm>
          <a:prstGeom prst="ellipse">
            <a:avLst/>
          </a:prstGeom>
          <a:solidFill>
            <a:srgbClr val="C0654A"/>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let's find |3|. Where is 3 on the number line? It is 3 steps to the right of zero.</a:t>
            </a:r>
            <a:endParaRPr lang="en-US" sz="1050" dirty="0"/>
          </a:p>
        </p:txBody>
      </p:sp>
      <p:sp>
        <p:nvSpPr>
          <p:cNvPr id="23" name="Shape 21"/>
          <p:cNvSpPr/>
          <p:nvPr/>
        </p:nvSpPr>
        <p:spPr>
          <a:xfrm>
            <a:off x="640080" y="2084832"/>
            <a:ext cx="274320" cy="274320"/>
          </a:xfrm>
          <a:prstGeom prst="ellipse">
            <a:avLst/>
          </a:prstGeom>
          <a:solidFill>
            <a:srgbClr val="C0654A"/>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How far is it from zero? It is 3 units away.</a:t>
            </a:r>
            <a:endParaRPr lang="en-US" sz="1050" dirty="0"/>
          </a:p>
        </p:txBody>
      </p:sp>
      <p:sp>
        <p:nvSpPr>
          <p:cNvPr id="26" name="Shape 24"/>
          <p:cNvSpPr/>
          <p:nvPr/>
        </p:nvSpPr>
        <p:spPr>
          <a:xfrm>
            <a:off x="640080" y="2560320"/>
            <a:ext cx="274320" cy="274320"/>
          </a:xfrm>
          <a:prstGeom prst="ellipse">
            <a:avLst/>
          </a:prstGeom>
          <a:solidFill>
            <a:srgbClr val="C0654A"/>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|3| equals what? It equals 3.</a:t>
            </a:r>
            <a:endParaRPr lang="en-US" sz="1050" dirty="0"/>
          </a:p>
        </p:txBody>
      </p:sp>
      <p:sp>
        <p:nvSpPr>
          <p:cNvPr id="29" name="Text 27"/>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0" name="Shape 28"/>
          <p:cNvSpPr/>
          <p:nvPr/>
        </p:nvSpPr>
        <p:spPr>
          <a:xfrm>
            <a:off x="640080" y="4297680"/>
            <a:ext cx="5120640" cy="0"/>
          </a:xfrm>
          <a:prstGeom prst="line">
            <a:avLst/>
          </a:prstGeom>
          <a:noFill/>
          <a:ln w="9525">
            <a:solidFill>
              <a:srgbClr val="C7CDD2"/>
            </a:solidFill>
            <a:prstDash val="dash"/>
          </a:ln>
        </p:spPr>
      </p:sp>
      <p:sp>
        <p:nvSpPr>
          <p:cNvPr id="31" name="Shape 29"/>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3" name="Text 31"/>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Why are -5 and 5 both the same distance from zero on the number line, even though one is negative and one is positive?</a:t>
            </a:r>
            <a:endParaRPr lang="en-US" sz="1000" dirty="0"/>
          </a:p>
        </p:txBody>
      </p:sp>
      <p:sp>
        <p:nvSpPr>
          <p:cNvPr id="34" name="Shape 32"/>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C0654A"/>
                </a:solidFill>
                <a:latin typeface="Outfit" pitchFamily="34" charset="0"/>
                <a:ea typeface="Outfit" pitchFamily="34" charset="-122"/>
                <a:cs typeface="Outfit" pitchFamily="34" charset="-120"/>
              </a:rPr>
              <a:t>🔑 Key Idea</a:t>
            </a:r>
            <a:endParaRPr lang="en-US" sz="950" dirty="0"/>
          </a:p>
        </p:txBody>
      </p:sp>
      <p:sp>
        <p:nvSpPr>
          <p:cNvPr id="36" name="Text 34"/>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Absolute value tells you the distance from zero, so it is always positive or zero.</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Plot each integer on the number line and find its absolute value (distance from zero).</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Text 18"/>
          <p:cNvSpPr/>
          <p:nvPr/>
        </p:nvSpPr>
        <p:spPr>
          <a:xfrm>
            <a:off x="59436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1" name="Text 19"/>
          <p:cNvSpPr/>
          <p:nvPr/>
        </p:nvSpPr>
        <p:spPr>
          <a:xfrm>
            <a:off x="236220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2" name="Text 20"/>
          <p:cNvSpPr/>
          <p:nvPr/>
        </p:nvSpPr>
        <p:spPr>
          <a:xfrm>
            <a:off x="4130040" y="1481328"/>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3" name="Text 21"/>
          <p:cNvSpPr/>
          <p:nvPr/>
        </p:nvSpPr>
        <p:spPr>
          <a:xfrm>
            <a:off x="594360" y="1975104"/>
            <a:ext cx="1630680" cy="384048"/>
          </a:xfrm>
          <a:prstGeom prst="roundRect">
            <a:avLst>
              <a:gd name="adj" fmla="val 11905"/>
            </a:avLst>
          </a:prstGeom>
          <a:solidFill>
            <a:srgbClr val="FBEFD0"/>
          </a:solidFill>
          <a:ln w="12700">
            <a:solidFill>
              <a:srgbClr val="D6DBDF"/>
            </a:solidFill>
          </a:ln>
        </p:spPr>
        <p:txBody>
          <a:bodyPr wrap="square" rtlCol="0" anchor="ctr"/>
          <a:lstStyle/>
          <a:p>
            <a:pPr algn="ctr" indent="0" marL="0">
              <a:buNone/>
            </a:pPr>
            <a:r>
              <a:rPr lang="en-US" sz="900" b="1"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4" name="Shape 22"/>
          <p:cNvSpPr/>
          <p:nvPr/>
        </p:nvSpPr>
        <p:spPr>
          <a:xfrm>
            <a:off x="59436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59436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26" name="Shape 24"/>
          <p:cNvSpPr/>
          <p:nvPr/>
        </p:nvSpPr>
        <p:spPr>
          <a:xfrm>
            <a:off x="3246120" y="2560320"/>
            <a:ext cx="2514600" cy="1965960"/>
          </a:xfrm>
          <a:prstGeom prst="roundRect">
            <a:avLst>
              <a:gd name="adj" fmla="val 2326"/>
            </a:avLst>
          </a:prstGeom>
          <a:solidFill>
            <a:srgbClr val="FFFFFF"/>
          </a:solidFill>
          <a:ln w="12700">
            <a:solidFill>
              <a:srgbClr val="C0654A"/>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3246120" y="2560320"/>
            <a:ext cx="2514600" cy="292608"/>
          </a:xfrm>
          <a:prstGeom prst="rect">
            <a:avLst/>
          </a:prstGeom>
          <a:solidFill>
            <a:srgbClr val="C0654A"/>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28" name="Shape 26"/>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0" name="Text 28"/>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diver is at -30 feet and a hawk is at +30 feet. How can absolute value help you describe how far each is from sea level?</a:t>
            </a:r>
            <a:endParaRPr lang="en-US" sz="1000" dirty="0"/>
          </a:p>
        </p:txBody>
      </p:sp>
      <p:sp>
        <p:nvSpPr>
          <p:cNvPr id="31" name="Shape 29"/>
          <p:cNvSpPr/>
          <p:nvPr/>
        </p:nvSpPr>
        <p:spPr>
          <a:xfrm>
            <a:off x="6217920" y="2743200"/>
            <a:ext cx="2423160" cy="0"/>
          </a:xfrm>
          <a:prstGeom prst="line">
            <a:avLst/>
          </a:prstGeom>
          <a:noFill/>
          <a:ln w="9525">
            <a:solidFill>
              <a:srgbClr val="C7CDD2"/>
            </a:solidFill>
            <a:prstDash val="dash"/>
          </a:ln>
        </p:spPr>
      </p:sp>
      <p:sp>
        <p:nvSpPr>
          <p:cNvPr id="32" name="Shape 30"/>
          <p:cNvSpPr/>
          <p:nvPr/>
        </p:nvSpPr>
        <p:spPr>
          <a:xfrm>
            <a:off x="6217920" y="3072384"/>
            <a:ext cx="2423160" cy="0"/>
          </a:xfrm>
          <a:prstGeom prst="line">
            <a:avLst/>
          </a:prstGeom>
          <a:noFill/>
          <a:ln w="9525">
            <a:solidFill>
              <a:srgbClr val="C7CDD2"/>
            </a:solidFill>
            <a:prstDash val="dash"/>
          </a:ln>
        </p:spPr>
      </p:sp>
      <p:sp>
        <p:nvSpPr>
          <p:cNvPr id="33" name="Shape 31"/>
          <p:cNvSpPr/>
          <p:nvPr/>
        </p:nvSpPr>
        <p:spPr>
          <a:xfrm>
            <a:off x="6217920" y="3401568"/>
            <a:ext cx="2423160" cy="0"/>
          </a:xfrm>
          <a:prstGeom prst="line">
            <a:avLst/>
          </a:prstGeom>
          <a:noFill/>
          <a:ln w="9525">
            <a:solidFill>
              <a:srgbClr val="C7CDD2"/>
            </a:solidFill>
            <a:prstDash val="dash"/>
          </a:ln>
        </p:spPr>
      </p:sp>
      <p:sp>
        <p:nvSpPr>
          <p:cNvPr id="34" name="Shape 32"/>
          <p:cNvSpPr/>
          <p:nvPr/>
        </p:nvSpPr>
        <p:spPr>
          <a:xfrm>
            <a:off x="6217920" y="3730752"/>
            <a:ext cx="2423160" cy="0"/>
          </a:xfrm>
          <a:prstGeom prst="line">
            <a:avLst/>
          </a:prstGeom>
          <a:noFill/>
          <a:ln w="9525">
            <a:solidFill>
              <a:srgbClr val="C7CDD2"/>
            </a:solidFill>
            <a:prstDash val="dash"/>
          </a:ln>
        </p:spPr>
      </p:sp>
      <p:sp>
        <p:nvSpPr>
          <p:cNvPr id="35" name="Shape 33"/>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Absolute Value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517904"/>
          </a:xfrm>
          <a:prstGeom prst="roundRect">
            <a:avLst>
              <a:gd name="adj" fmla="val 3012"/>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Problem:  </a:t>
            </a:r>
            <a:pPr indent="0" marL="0">
              <a:buNone/>
            </a:pPr>
            <a:r>
              <a:rPr lang="en-US" sz="950" b="1" dirty="0">
                <a:solidFill>
                  <a:srgbClr val="24323F"/>
                </a:solidFill>
                <a:latin typeface="Courier New" pitchFamily="34" charset="0"/>
                <a:ea typeface="Courier New" pitchFamily="34" charset="-122"/>
                <a:cs typeface="Courier New" pitchFamily="34" charset="-120"/>
              </a:rPr>
              <a:t>Find |-6|</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Student thinking:  </a:t>
            </a:r>
            <a:pPr indent="0" marL="0">
              <a:buNone/>
            </a:pPr>
            <a:r>
              <a:rPr lang="en-US" sz="950" b="1" dirty="0">
                <a:solidFill>
                  <a:srgbClr val="24323F"/>
                </a:solidFill>
                <a:latin typeface="Courier New" pitchFamily="34" charset="0"/>
                <a:ea typeface="Courier New" pitchFamily="34" charset="-122"/>
                <a:cs typeface="Courier New" pitchFamily="34" charset="-120"/>
              </a:rPr>
              <a:t>The number is -6, and absolute value makes it the opposite</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Student answer:  </a:t>
            </a:r>
            <a:pPr indent="0" marL="0">
              <a:buNone/>
            </a:pPr>
            <a:r>
              <a:rPr lang="en-US" sz="950" b="1" dirty="0">
                <a:solidFill>
                  <a:srgbClr val="24323F"/>
                </a:solidFill>
                <a:latin typeface="Courier New" pitchFamily="34" charset="0"/>
                <a:ea typeface="Courier New" pitchFamily="34" charset="-122"/>
                <a:cs typeface="Courier New" pitchFamily="34" charset="-120"/>
              </a:rPr>
              <a:t>|-6| = 6, and since we take the opposite, the answer is -6</a:t>
            </a:r>
            <a:endParaRPr lang="en-US" sz="950" dirty="0"/>
          </a:p>
        </p:txBody>
      </p:sp>
      <p:sp>
        <p:nvSpPr>
          <p:cNvPr id="26" name="Text 24"/>
          <p:cNvSpPr/>
          <p:nvPr/>
        </p:nvSpPr>
        <p:spPr>
          <a:xfrm>
            <a:off x="594360" y="3282696"/>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7" name="Shape 25"/>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29" name="Text 27"/>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0" name="Shape 28"/>
          <p:cNvSpPr/>
          <p:nvPr/>
        </p:nvSpPr>
        <p:spPr>
          <a:xfrm>
            <a:off x="6217920" y="1783080"/>
            <a:ext cx="2423160" cy="0"/>
          </a:xfrm>
          <a:prstGeom prst="line">
            <a:avLst/>
          </a:prstGeom>
          <a:noFill/>
          <a:ln w="9525">
            <a:solidFill>
              <a:srgbClr val="C7CDD2"/>
            </a:solidFill>
            <a:prstDash val="dash"/>
          </a:ln>
        </p:spPr>
      </p:sp>
      <p:sp>
        <p:nvSpPr>
          <p:cNvPr id="31" name="Shape 29"/>
          <p:cNvSpPr/>
          <p:nvPr/>
        </p:nvSpPr>
        <p:spPr>
          <a:xfrm>
            <a:off x="6217920" y="2075688"/>
            <a:ext cx="2423160" cy="0"/>
          </a:xfrm>
          <a:prstGeom prst="line">
            <a:avLst/>
          </a:prstGeom>
          <a:noFill/>
          <a:ln w="9525">
            <a:solidFill>
              <a:srgbClr val="C7CDD2"/>
            </a:solidFill>
            <a:prstDash val="dash"/>
          </a:ln>
        </p:spPr>
      </p:sp>
      <p:sp>
        <p:nvSpPr>
          <p:cNvPr id="32" name="Shape 30"/>
          <p:cNvSpPr/>
          <p:nvPr/>
        </p:nvSpPr>
        <p:spPr>
          <a:xfrm>
            <a:off x="6217920" y="2368296"/>
            <a:ext cx="2423160" cy="0"/>
          </a:xfrm>
          <a:prstGeom prst="line">
            <a:avLst/>
          </a:prstGeom>
          <a:noFill/>
          <a:ln w="9525">
            <a:solidFill>
              <a:srgbClr val="C7CDD2"/>
            </a:solidFill>
            <a:prstDash val="dash"/>
          </a:ln>
        </p:spPr>
      </p:sp>
      <p:sp>
        <p:nvSpPr>
          <p:cNvPr id="33" name="Text 31"/>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4" name="Shape 32"/>
          <p:cNvSpPr/>
          <p:nvPr/>
        </p:nvSpPr>
        <p:spPr>
          <a:xfrm>
            <a:off x="6217920" y="3246120"/>
            <a:ext cx="2423160" cy="0"/>
          </a:xfrm>
          <a:prstGeom prst="line">
            <a:avLst/>
          </a:prstGeom>
          <a:noFill/>
          <a:ln w="9525">
            <a:solidFill>
              <a:srgbClr val="C7CDD2"/>
            </a:solidFill>
            <a:prstDash val="dash"/>
          </a:ln>
        </p:spPr>
      </p:sp>
      <p:sp>
        <p:nvSpPr>
          <p:cNvPr id="35" name="Shape 33"/>
          <p:cNvSpPr/>
          <p:nvPr/>
        </p:nvSpPr>
        <p:spPr>
          <a:xfrm>
            <a:off x="6217920" y="3538728"/>
            <a:ext cx="2423160" cy="0"/>
          </a:xfrm>
          <a:prstGeom prst="line">
            <a:avLst/>
          </a:prstGeom>
          <a:noFill/>
          <a:ln w="9525">
            <a:solidFill>
              <a:srgbClr val="C7CDD2"/>
            </a:solidFill>
            <a:prstDash val="dash"/>
          </a:ln>
        </p:spPr>
      </p:sp>
      <p:sp>
        <p:nvSpPr>
          <p:cNvPr id="36" name="Shape 34"/>
          <p:cNvSpPr/>
          <p:nvPr/>
        </p:nvSpPr>
        <p:spPr>
          <a:xfrm>
            <a:off x="6217920" y="3831336"/>
            <a:ext cx="2423160" cy="0"/>
          </a:xfrm>
          <a:prstGeom prst="line">
            <a:avLst/>
          </a:prstGeom>
          <a:noFill/>
          <a:ln w="9525">
            <a:solidFill>
              <a:srgbClr val="C7CDD2"/>
            </a:solidFill>
            <a:prstDash val="dash"/>
          </a:ln>
        </p:spPr>
      </p:sp>
      <p:sp>
        <p:nvSpPr>
          <p:cNvPr id="37" name="Shape 35"/>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C0654A"/>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want to find the absolute value of -6, written |-6|.</a:t>
            </a:r>
            <a:endParaRPr lang="en-US" sz="1050" dirty="0"/>
          </a:p>
        </p:txBody>
      </p:sp>
      <p:sp>
        <p:nvSpPr>
          <p:cNvPr id="22" name="Shape 20"/>
          <p:cNvSpPr/>
          <p:nvPr/>
        </p:nvSpPr>
        <p:spPr>
          <a:xfrm>
            <a:off x="594360" y="1719072"/>
            <a:ext cx="274320" cy="274320"/>
          </a:xfrm>
          <a:prstGeom prst="ellipse">
            <a:avLst/>
          </a:prstGeom>
          <a:solidFill>
            <a:srgbClr val="C0654A"/>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find -6 on the number line. It sits 6 steps to the left of zero.</a:t>
            </a:r>
            <a:endParaRPr lang="en-US" sz="1050" dirty="0"/>
          </a:p>
        </p:txBody>
      </p:sp>
      <p:sp>
        <p:nvSpPr>
          <p:cNvPr id="25" name="Shape 23"/>
          <p:cNvSpPr/>
          <p:nvPr/>
        </p:nvSpPr>
        <p:spPr>
          <a:xfrm>
            <a:off x="594360" y="2194560"/>
            <a:ext cx="274320" cy="274320"/>
          </a:xfrm>
          <a:prstGeom prst="ellipse">
            <a:avLst/>
          </a:prstGeom>
          <a:solidFill>
            <a:srgbClr val="C0654A"/>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Distance does not care about direction, so -6 is 6 units from zero.</a:t>
            </a:r>
            <a:endParaRPr lang="en-US" sz="1050" dirty="0"/>
          </a:p>
        </p:txBody>
      </p:sp>
      <p:sp>
        <p:nvSpPr>
          <p:cNvPr id="28" name="Shape 26"/>
          <p:cNvSpPr/>
          <p:nvPr/>
        </p:nvSpPr>
        <p:spPr>
          <a:xfrm>
            <a:off x="594360" y="2670048"/>
            <a:ext cx="274320" cy="274320"/>
          </a:xfrm>
          <a:prstGeom prst="ellipse">
            <a:avLst/>
          </a:prstGeom>
          <a:solidFill>
            <a:srgbClr val="C0654A"/>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So |-6| = 6. Even though -6 is negative, its absolute value is positive 6.</a:t>
            </a:r>
            <a:endParaRPr lang="en-US" sz="1050" dirty="0"/>
          </a:p>
        </p:txBody>
      </p:sp>
      <p:sp>
        <p:nvSpPr>
          <p:cNvPr id="31" name="Shape 29"/>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2" name="Text 30"/>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3" name="Text 31"/>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4" name="Shape 32"/>
          <p:cNvSpPr/>
          <p:nvPr/>
        </p:nvSpPr>
        <p:spPr>
          <a:xfrm>
            <a:off x="4892040" y="1783080"/>
            <a:ext cx="3749040" cy="0"/>
          </a:xfrm>
          <a:prstGeom prst="line">
            <a:avLst/>
          </a:prstGeom>
          <a:noFill/>
          <a:ln w="9525">
            <a:solidFill>
              <a:srgbClr val="C7CDD2"/>
            </a:solidFill>
            <a:prstDash val="dash"/>
          </a:ln>
        </p:spPr>
      </p:sp>
      <p:sp>
        <p:nvSpPr>
          <p:cNvPr id="35" name="Shape 33"/>
          <p:cNvSpPr/>
          <p:nvPr/>
        </p:nvSpPr>
        <p:spPr>
          <a:xfrm>
            <a:off x="4892040" y="2112264"/>
            <a:ext cx="3749040" cy="0"/>
          </a:xfrm>
          <a:prstGeom prst="line">
            <a:avLst/>
          </a:prstGeom>
          <a:noFill/>
          <a:ln w="9525">
            <a:solidFill>
              <a:srgbClr val="C7CDD2"/>
            </a:solidFill>
            <a:prstDash val="dash"/>
          </a:ln>
        </p:spPr>
      </p:sp>
      <p:sp>
        <p:nvSpPr>
          <p:cNvPr id="36" name="Shape 34"/>
          <p:cNvSpPr/>
          <p:nvPr/>
        </p:nvSpPr>
        <p:spPr>
          <a:xfrm>
            <a:off x="4892040" y="2441448"/>
            <a:ext cx="3749040" cy="0"/>
          </a:xfrm>
          <a:prstGeom prst="line">
            <a:avLst/>
          </a:prstGeom>
          <a:noFill/>
          <a:ln w="9525">
            <a:solidFill>
              <a:srgbClr val="C7CDD2"/>
            </a:solidFill>
            <a:prstDash val="dash"/>
          </a:ln>
        </p:spPr>
      </p:sp>
      <p:sp>
        <p:nvSpPr>
          <p:cNvPr id="37" name="Shape 35"/>
          <p:cNvSpPr/>
          <p:nvPr/>
        </p:nvSpPr>
        <p:spPr>
          <a:xfrm>
            <a:off x="4892040" y="2770632"/>
            <a:ext cx="3749040" cy="0"/>
          </a:xfrm>
          <a:prstGeom prst="line">
            <a:avLst/>
          </a:prstGeom>
          <a:noFill/>
          <a:ln w="9525">
            <a:solidFill>
              <a:srgbClr val="C7CDD2"/>
            </a:solidFill>
            <a:prstDash val="dash"/>
          </a:ln>
        </p:spPr>
      </p:sp>
      <p:sp>
        <p:nvSpPr>
          <p:cNvPr id="38" name="Shape 36"/>
          <p:cNvSpPr/>
          <p:nvPr/>
        </p:nvSpPr>
        <p:spPr>
          <a:xfrm>
            <a:off x="4892040" y="3099816"/>
            <a:ext cx="3749040" cy="0"/>
          </a:xfrm>
          <a:prstGeom prst="line">
            <a:avLst/>
          </a:prstGeom>
          <a:noFill/>
          <a:ln w="9525">
            <a:solidFill>
              <a:srgbClr val="C7CDD2"/>
            </a:solidFill>
            <a:prstDash val="dash"/>
          </a:ln>
        </p:spPr>
      </p:sp>
      <p:sp>
        <p:nvSpPr>
          <p:cNvPr id="39" name="Shape 37"/>
          <p:cNvSpPr/>
          <p:nvPr/>
        </p:nvSpPr>
        <p:spPr>
          <a:xfrm>
            <a:off x="4892040" y="3429000"/>
            <a:ext cx="3749040" cy="0"/>
          </a:xfrm>
          <a:prstGeom prst="line">
            <a:avLst/>
          </a:prstGeom>
          <a:noFill/>
          <a:ln w="9525">
            <a:solidFill>
              <a:srgbClr val="C7CDD2"/>
            </a:solidFill>
            <a:prstDash val="dash"/>
          </a:ln>
        </p:spPr>
      </p:sp>
      <p:sp>
        <p:nvSpPr>
          <p:cNvPr id="40" name="Shape 38"/>
          <p:cNvSpPr/>
          <p:nvPr/>
        </p:nvSpPr>
        <p:spPr>
          <a:xfrm>
            <a:off x="4892040" y="3758184"/>
            <a:ext cx="3749040" cy="0"/>
          </a:xfrm>
          <a:prstGeom prst="line">
            <a:avLst/>
          </a:prstGeom>
          <a:noFill/>
          <a:ln w="9525">
            <a:solidFill>
              <a:srgbClr val="C7CDD2"/>
            </a:solidFill>
            <a:prstDash val="dash"/>
          </a:ln>
        </p:spPr>
      </p:sp>
      <p:sp>
        <p:nvSpPr>
          <p:cNvPr id="41" name="Shape 39"/>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Integer and Positive.</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"Absolute value tells you the distance from zero, so it is always positive or zero."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Integer,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statement about absolute value is TRUE?</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What is the absolute value of -9?</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integer has the GREATEST absolute value: -3, 7, -5, 2?</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How is the opposite of a number different from the absolute value of a number?</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C0654A"/>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"Absolute value tells you the distance from zero, so it is always positive or zero."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C0654A"/>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Integer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C0654A"/>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Integer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Which integer has an absolute value of 8 and is located to the LEFT of zero on the number line?</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8</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-8</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0</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-80</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C0654A"/>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6.NS.7</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9  ·  Lesson 9-2</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identify integers and find their absolute value.</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C0654A"/>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C0654A"/>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C0654A"/>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C0654A"/>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C0654A"/>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9-2: Integers and Absolute Value</dc:title>
  <dc:subject>6.NS.7</dc:subject>
  <dc:creator>Neft Teacher</dc:creator>
  <cp:lastModifiedBy>Neft Teacher</cp:lastModifiedBy>
  <cp:revision>1</cp:revision>
  <dcterms:created xsi:type="dcterms:W3CDTF">2026-06-08T12:33:42Z</dcterms:created>
  <dcterms:modified xsi:type="dcterms:W3CDTF">2026-06-08T12:33:42Z</dcterms:modified>
</cp:coreProperties>
</file>