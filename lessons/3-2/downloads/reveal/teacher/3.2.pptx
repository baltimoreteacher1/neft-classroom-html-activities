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49" r:id="rId2"/>
    <p:sldMasterId id="2147483650" r:id="rId3"/>
    <p:sldMasterId id="2147483651" r:id="rId4"/>
    <p:sldMasterId id="2147483652" r:id="rId5"/>
    <p:sldMasterId id="2147483653" r:id="rId6"/>
  </p:sldMasterIdLst>
  <p:notesMasterIdLst>
    <p:notesMasterId r:id="rId25"/>
  </p:notesMasterIdLst>
  <p:sldIdLst>
    <p:sldId id="5018" r:id="rIdWarmUp"/>
    <p:sldId id="5005" r:id="rId12"/>
    <p:sldId id="5000" r:id="rId7"/>
    <p:sldId id="5037" r:id="rId50"/>
    <p:sldId id="5036" r:id="rId49"/>
    <p:sldId id="5035" r:id="rId48"/>
    <p:sldId id="5034" r:id="rId47"/>
    <p:sldId id="5033" r:id="rId46"/>
    <p:sldId id="5032" r:id="rId45"/>
    <p:sldId id="5031" r:id="rId44"/>
    <p:sldId id="5030" r:id="rId43"/>
    <p:sldId id="5029" r:id="rId42"/>
    <p:sldId id="5001" r:id="rId8"/>
    <p:sldId id="5002" r:id="rId9"/>
    <p:sldId id="5003" r:id="rId10"/>
    <p:sldId id="5004" r:id="rId11"/>
    <p:sldId id="5006" r:id="rId13"/>
    <p:sldId id="5038" r:id="rId51"/>
    <p:sldId id="5028" r:id="rId41"/>
    <p:sldId id="5027" r:id="rId40"/>
    <p:sldId id="5026" r:id="rId39"/>
    <p:sldId id="5007" r:id="rId14"/>
    <p:sldId id="5019" r:id="rId31"/>
    <p:sldId id="5020" r:id="rId32"/>
    <p:sldId id="5008" r:id="rId15"/>
    <p:sldId id="5025" r:id="rId38"/>
    <p:sldId id="5009" r:id="rId16"/>
    <p:sldId id="5010" r:id="rId17"/>
    <p:sldId id="5011" r:id="rId18"/>
    <p:sldId id="5012" r:id="rId19"/>
    <p:sldId id="5013" r:id="rId20"/>
    <p:sldId id="5039" r:id="rId52"/>
    <p:sldId id="5024" r:id="rId37"/>
    <p:sldId id="5023" r:id="rId36"/>
    <p:sldId id="5022" r:id="rId35"/>
    <p:sldId id="5014" r:id="rId21"/>
    <p:sldId id="5015" r:id="rId22"/>
    <p:sldId id="5016" r:id="rId23"/>
    <p:sldId id="5021" r:id="rId34"/>
    <p:sldId id="5017" r:id="rId24"/>
  </p:sldIdLst>
  <p:sldSz cx="12192000" cy="6858000"/>
  <p:notesSz cx="7010400" cy="9236075"/>
  <p:embeddedFontLst>
    <p:embeddedFont>
      <p:font typeface="Cambria Math" panose="02040503050406030204" pitchFamily="18" charset="0"/>
      <p:regular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AD6C970-8B71-4BF7-81CA-03388DE0D615}">
  <a:tblStyle styleId="{AAD6C970-8B71-4BF7-81CA-03388DE0D615}"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FEC2A03-D0E9-4743-8480-7427E409344A}" styleName="Table_1">
    <a:wholeTbl>
      <a:tcTxStyle b="off" i="off">
        <a:font>
          <a:latin typeface="Calibri"/>
          <a:ea typeface="Calibri"/>
          <a:cs typeface="Calibri"/>
        </a:font>
        <a:schemeClr val="dk1"/>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tcBdr>
      </a:tcStyle>
    </a:band1H>
    <a:band2H>
      <a:tcTxStyle/>
      <a:tcStyle>
        <a:tcBdr/>
      </a:tcStyle>
    </a:band2H>
    <a:band1V>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1V>
    <a:band2V>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1"/>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Calibri"/>
          <a:ea typeface="Calibri"/>
          <a:cs typeface="Calibri"/>
        </a:font>
        <a:schemeClr val="lt1"/>
      </a:tcTxStyle>
      <a:tcStyle>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28"/>
  </p:normalViewPr>
  <p:slideViewPr>
    <p:cSldViewPr snapToGrid="0">
      <p:cViewPr varScale="1">
        <p:scale>
          <a:sx n="114" d="100"/>
          <a:sy n="114" d="100"/>
        </p:scale>
        <p:origin x="496" y="184"/>
      </p:cViewPr>
      <p:guideLst>
        <p:guide pos="1512"/>
        <p:guide orient="horz" pos="3024"/>
        <p:guide orient="horz" pos="384"/>
        <p:guide orient="horz" pos="2520"/>
        <p:guide orient="horz" pos="1080"/>
        <p:guide orient="horz" pos="1680"/>
        <p:guide orient="horz" pos="3432"/>
        <p:guide orient="horz" pos="3120"/>
        <p:guide pos="48"/>
        <p:guide pos="384"/>
        <p:guide pos="6480"/>
        <p:guide pos="2597"/>
        <p:guide pos="288"/>
        <p:guide orient="horz" pos="2160"/>
        <p:guide orient="horz" pos="216"/>
        <p:guide orient="horz" pos="936"/>
        <p:guide pos="4368"/>
        <p:guide pos="7296"/>
        <p:guide pos="3288"/>
        <p:guide pos="5904"/>
        <p:guide pos="55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WarmUp" Type="http://schemas.openxmlformats.org/officeDocument/2006/relationships/slide" Target="slides/slide1.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 Target="slides/slide3.xml"/><Relationship Id="rId8" Type="http://schemas.openxmlformats.org/officeDocument/2006/relationships/slide" Target="slides/slide13.xml"/><Relationship Id="rId9" Type="http://schemas.openxmlformats.org/officeDocument/2006/relationships/slide" Target="slides/slide14.xml"/><Relationship Id="rId10" Type="http://schemas.openxmlformats.org/officeDocument/2006/relationships/slide" Target="slides/slide15.xml"/><Relationship Id="rId11" Type="http://schemas.openxmlformats.org/officeDocument/2006/relationships/slide" Target="slides/slide16.xml"/><Relationship Id="rId12" Type="http://schemas.openxmlformats.org/officeDocument/2006/relationships/slide" Target="slides/slide2.xml"/><Relationship Id="rId13" Type="http://schemas.openxmlformats.org/officeDocument/2006/relationships/slide" Target="slides/slide17.xml"/><Relationship Id="rId14" Type="http://schemas.openxmlformats.org/officeDocument/2006/relationships/slide" Target="slides/slide22.xml"/><Relationship Id="rId15" Type="http://schemas.openxmlformats.org/officeDocument/2006/relationships/slide" Target="slides/slide25.xml"/><Relationship Id="rId16" Type="http://schemas.openxmlformats.org/officeDocument/2006/relationships/slide" Target="slides/slide27.xml"/><Relationship Id="rId17" Type="http://schemas.openxmlformats.org/officeDocument/2006/relationships/slide" Target="slides/slide28.xml"/><Relationship Id="rId18" Type="http://schemas.openxmlformats.org/officeDocument/2006/relationships/slide" Target="slides/slide29.xml"/><Relationship Id="rId19" Type="http://schemas.openxmlformats.org/officeDocument/2006/relationships/slide" Target="slides/slide30.xml"/><Relationship Id="rId20" Type="http://schemas.openxmlformats.org/officeDocument/2006/relationships/slide" Target="slides/slide31.xml"/><Relationship Id="rId21" Type="http://schemas.openxmlformats.org/officeDocument/2006/relationships/slide" Target="slides/slide36.xml"/><Relationship Id="rId22" Type="http://schemas.openxmlformats.org/officeDocument/2006/relationships/slide" Target="slides/slide37.xml"/><Relationship Id="rId23" Type="http://schemas.openxmlformats.org/officeDocument/2006/relationships/slide" Target="slides/slide38.xml"/><Relationship Id="rId24" Type="http://schemas.openxmlformats.org/officeDocument/2006/relationships/slide" Target="slides/slide40.xml"/><Relationship Id="rId25" Type="http://schemas.openxmlformats.org/officeDocument/2006/relationships/notesMaster" Target="notesMasters/notesMaster1.xml"/><Relationship Id="rId26" Type="http://schemas.openxmlformats.org/officeDocument/2006/relationships/font" Target="fonts/font1.fntdata"/><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3.xml"/><Relationship Id="rId32" Type="http://schemas.openxmlformats.org/officeDocument/2006/relationships/slide" Target="slides/slide24.xml"/><Relationship Id="rId34" Type="http://schemas.openxmlformats.org/officeDocument/2006/relationships/slide" Target="slides/slide39.xml"/><Relationship Id="rId35" Type="http://schemas.openxmlformats.org/officeDocument/2006/relationships/slide" Target="slides/slide35.xml"/><Relationship Id="rId36" Type="http://schemas.openxmlformats.org/officeDocument/2006/relationships/slide" Target="slides/slide34.xml"/><Relationship Id="rId37" Type="http://schemas.openxmlformats.org/officeDocument/2006/relationships/slide" Target="slides/slide33.xml"/><Relationship Id="rId38" Type="http://schemas.openxmlformats.org/officeDocument/2006/relationships/slide" Target="slides/slide26.xml"/><Relationship Id="rId39" Type="http://schemas.openxmlformats.org/officeDocument/2006/relationships/slide" Target="slides/slide21.xml"/><Relationship Id="rId40" Type="http://schemas.openxmlformats.org/officeDocument/2006/relationships/slide" Target="slides/slide20.xml"/><Relationship Id="rId41" Type="http://schemas.openxmlformats.org/officeDocument/2006/relationships/slide" Target="slides/slide19.xml"/><Relationship Id="rId42" Type="http://schemas.openxmlformats.org/officeDocument/2006/relationships/slide" Target="slides/slide12.xml"/><Relationship Id="rId43" Type="http://schemas.openxmlformats.org/officeDocument/2006/relationships/slide" Target="slides/slide11.xml"/><Relationship Id="rId44" Type="http://schemas.openxmlformats.org/officeDocument/2006/relationships/slide" Target="slides/slide10.xml"/><Relationship Id="rId45" Type="http://schemas.openxmlformats.org/officeDocument/2006/relationships/slide" Target="slides/slide9.xml"/><Relationship Id="rId46" Type="http://schemas.openxmlformats.org/officeDocument/2006/relationships/slide" Target="slides/slide8.xml"/><Relationship Id="rId47" Type="http://schemas.openxmlformats.org/officeDocument/2006/relationships/slide" Target="slides/slide7.xml"/><Relationship Id="rId48" Type="http://schemas.openxmlformats.org/officeDocument/2006/relationships/slide" Target="slides/slide6.xml"/><Relationship Id="rId49" Type="http://schemas.openxmlformats.org/officeDocument/2006/relationships/slide" Target="slides/slide5.xml"/><Relationship Id="rId50" Type="http://schemas.openxmlformats.org/officeDocument/2006/relationships/slide" Target="slides/slide4.xml"/><Relationship Id="rId51" Type="http://schemas.openxmlformats.org/officeDocument/2006/relationships/slide" Target="slides/slide18.xml"/><Relationship Id="rId52"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2"/>
            <a:ext cx="3037840" cy="463407"/>
          </a:xfrm>
          <a:prstGeom prst="rect">
            <a:avLst/>
          </a:prstGeom>
          <a:noFill/>
          <a:ln>
            <a:noFill/>
          </a:ln>
        </p:spPr>
        <p:txBody>
          <a:bodyPr spcFirstLastPara="1" wrap="square" lIns="92275" tIns="46125" rIns="92275" bIns="461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70938" y="2"/>
            <a:ext cx="3037840" cy="463407"/>
          </a:xfrm>
          <a:prstGeom prst="rect">
            <a:avLst/>
          </a:prstGeom>
          <a:noFill/>
          <a:ln>
            <a:noFill/>
          </a:ln>
        </p:spPr>
        <p:txBody>
          <a:bodyPr spcFirstLastPara="1" wrap="square" lIns="92275" tIns="46125" rIns="92275" bIns="461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772669"/>
            <a:ext cx="3037840" cy="463406"/>
          </a:xfrm>
          <a:prstGeom prst="rect">
            <a:avLst/>
          </a:prstGeom>
          <a:noFill/>
          <a:ln>
            <a:noFill/>
          </a:ln>
        </p:spPr>
        <p:txBody>
          <a:bodyPr spcFirstLastPara="1" wrap="square" lIns="92275" tIns="46125" rIns="92275" bIns="461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70938" y="8772669"/>
            <a:ext cx="3037840" cy="463406"/>
          </a:xfrm>
          <a:prstGeom prst="rect">
            <a:avLst/>
          </a:prstGeom>
          <a:noFill/>
          <a:ln>
            <a:noFill/>
          </a:ln>
        </p:spPr>
        <p:txBody>
          <a:bodyPr spcFirstLastPara="1" wrap="square" lIns="92275" tIns="46125" rIns="92275" bIns="4612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xmlns:a="http://schemas.openxmlformats.org/drawingml/2006/main">
            <a:pPr>
              <a:buNone/>
            </a:pPr>
            <a:r>
              <a:rPr lang="en-US" sz="1100"/>
              <a:t>TEACH IN PRACTICE | Embedded facilitation | Lesson 3.2, slide 3 | GOAL</a:t>
            </a:r>
          </a:p>
          <a:p xmlns:a="http://schemas.openxmlformats.org/drawingml/2006/main">
            <a:pPr>
              <a:buNone/>
            </a:pPr>
            <a:r>
              <a:rPr lang="en-US" sz="1100"/>
              <a:t>Focus on the existing task: Learning Target — Session 1 | Maryland Standard 6.AT.2 LEARNING TARGET · LABEL • MODEL • EXPLAIN…</a:t>
            </a:r>
          </a:p>
          <a:p xmlns:a="http://schemas.openxmlformats.org/drawingml/2006/main">
            <a:pPr>
              <a:buNone/>
            </a:pPr>
            <a:r>
              <a:rPr lang="en-US" sz="1100"/>
              <a:t>CONNECT (T1/4): Ask students to restate the displayed goal or key idea and connect it to earlier work. Relevant lesson evidence: label both units; interpret a rate per one unit; use the rate in the existing travel model.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Name today’s content and language goals. Briefly read the success criteria; do not teach procedures here. The original context and model follow. Return to these criteria after the worked example.</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label both units; interpret a rate per one unit; use the rate in the existing travel model. Ask: “Which part of your work would show this?” Revisit that evidence after the task; a confidence rating alone is not evidence of understanding.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notes"/>
          <p:cNvSpPr txBox="1">
            <a:spLocks noGrp="1"/>
          </p:cNvSpPr>
          <p:nvPr>
            <p:ph type="body" idx="1"/>
          </p:nvPr>
        </p:nvSpPr>
        <p:spPr>
          <a:xfrm>
            <a:off x="701040" y="4444862"/>
            <a:ext cx="5608320" cy="3636705"/>
          </a:xfrm>
          <a:prstGeom prst="rect">
            <a:avLst/>
          </a:prstGeom>
        </p:spPr>
        <p:txBody>
          <a:bodyPr spcFirstLastPara="1" wrap="square" lIns="92275" tIns="46125" rIns="92275" bIns="46125" anchor="t" anchorCtr="0">
            <a:noAutofit/>
          </a:bodyPr>
          <a:lstStyle/>
          <a:p xmlns:a="http://schemas.openxmlformats.org/drawingml/2006/main">
            <a:pPr>
              <a:buNone/>
            </a:pPr>
            <a:r>
              <a:rPr lang="en-US" sz="1100"/>
              <a:t>TEACH IN PRACTICE | Embedded facilitation | Lesson 3.2, slide 13 | TASK</a:t>
            </a:r>
          </a:p>
          <a:p xmlns:a="http://schemas.openxmlformats.org/drawingml/2006/main">
            <a:pPr>
              <a:buNone/>
            </a:pPr>
            <a:r>
              <a:rPr lang="en-US" sz="1100"/>
              <a:t>Focus on the existing task: More or Less Than 1,000 43 × 52 15 × 91 37 × 38 STUDENT MOVE · ESTIMATE • DEFEND • COMPARE EXPLAIN YOUR THINKING “I estimate…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label both units. Ask which feature of their work supports the claim.</a:t>
            </a:r>
          </a:p>
          <a:p xmlns:a="http://schemas.openxmlformats.org/drawingml/2006/main">
            <a:pPr>
              <a:buNone/>
            </a:pPr>
            <a:r>
              <a:rPr lang="en-US" sz="1100"/>
              <a:t>RESPOND: If this task shows the lesson misconception—giving a rate without units or reversing the comparison—label distance and time separately on the existing representation.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marL="0" lvl="0" indent="0" algn="l" rtl="0">
              <a:spcBef>
                <a:spcPts val="0"/>
              </a:spcBef>
              <a:spcAft>
                <a:spcPts val="0"/>
              </a:spcAft>
              <a:buNone/>
            </a:pPr>
            <a:endParaRPr/>
          </a:p>
          <a:p>
            <a:r>
              <a:rPr lang="en-US"/>
              <a:t>Student move: Partner press: ask Why? and answer with evidence.</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“What does one unit of the second quantity correspond to, and how can the model show it?” Wait for evidence, invite another pathway, and have a student ask a follow-up question. Do not replace students’ reasoning with a sequence of leading steps.</a:t>
            </a:r>
          </a:p>
        </p:txBody>
      </p:sp>
      <p:sp>
        <p:nvSpPr>
          <p:cNvPr id="238" name="Google Shape;238;p2: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6:notes"/>
          <p:cNvSpPr txBox="1">
            <a:spLocks noGrp="1"/>
          </p:cNvSpPr>
          <p:nvPr>
            <p:ph type="body" idx="1"/>
          </p:nvPr>
        </p:nvSpPr>
        <p:spPr>
          <a:xfrm>
            <a:off x="701040" y="4444862"/>
            <a:ext cx="5608320" cy="3636705"/>
          </a:xfrm>
          <a:prstGeom prst="rect">
            <a:avLst/>
          </a:prstGeom>
        </p:spPr>
        <p:txBody>
          <a:bodyPr spcFirstLastPara="1" wrap="square" lIns="92275" tIns="46125" rIns="92275" bIns="46125" anchor="t" anchorCtr="0">
            <a:noAutofit/>
          </a:bodyPr>
          <a:lstStyle/>
          <a:p xmlns:a="http://schemas.openxmlformats.org/drawingml/2006/main">
            <a:pPr>
              <a:buNone/>
            </a:pPr>
            <a:r>
              <a:rPr lang="en-US" sz="1100"/>
              <a:t>TEACH IN PRACTICE | Embedded facilitation | Lesson 3.2, slide 14 | TASK</a:t>
            </a:r>
          </a:p>
          <a:p xmlns:a="http://schemas.openxmlformats.org/drawingml/2006/main">
            <a:pPr>
              <a:buNone/>
            </a:pPr>
            <a:r>
              <a:rPr lang="en-US" sz="1100"/>
              <a:t>Focus on the existing task: Metro Trains A high-speed train can travel 150 miles per hour. Some tracks require slower speeds. If it traveled at 150 miles per hour for…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the rate in the existing travel model. Ask which feature of their work supports the claim.</a:t>
            </a:r>
          </a:p>
          <a:p xmlns:a="http://schemas.openxmlformats.org/drawingml/2006/main">
            <a:pPr>
              <a:buNone/>
            </a:pPr>
            <a:r>
              <a:rPr lang="en-US" sz="1100"/>
              <a:t>RESPOND: If this task shows the lesson misconception—giving a rate without units or reversing the comparison—label distance and time separately on the existing representation.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marL="0" lvl="0" indent="0" algn="l" rtl="0">
              <a:spcBef>
                <a:spcPts val="0"/>
              </a:spcBef>
              <a:spcAft>
                <a:spcPts val="0"/>
              </a:spcAft>
              <a:buNone/>
            </a:pPr>
            <a:endParaRPr/>
          </a:p>
          <a:p>
            <a:r>
              <a:rPr lang="en-US"/>
              <a:t>Student move: Ask a partner a question; choose a model together.</a:t>
            </a:r>
          </a:p>
        </p:txBody>
      </p:sp>
      <p:sp>
        <p:nvSpPr>
          <p:cNvPr id="275" name="Google Shape;275;p6: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xmlns:a="http://schemas.openxmlformats.org/drawingml/2006/main">
            <a:pPr>
              <a:buNone/>
            </a:pPr>
            <a:r>
              <a:rPr lang="en-US" sz="1100"/>
              <a:t>TEACH IN PRACTICE | Embedded facilitation | Lesson 3.2, slide 15 | TASK</a:t>
            </a:r>
          </a:p>
          <a:p xmlns:a="http://schemas.openxmlformats.org/drawingml/2006/main">
            <a:pPr>
              <a:buNone/>
            </a:pPr>
            <a:r>
              <a:rPr lang="en-US" sz="1100"/>
              <a:t>Focus on the existing task: Rates and unit rates A rate compares two quantities with different units. A unit rate gives the amount for 1 unit. “ Per hour ”…</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label both units. Ask which feature of their work supports the claim.</a:t>
            </a:r>
          </a:p>
          <a:p xmlns:a="http://schemas.openxmlformats.org/drawingml/2006/main">
            <a:pPr>
              <a:buNone/>
            </a:pPr>
            <a:r>
              <a:rPr lang="en-US" sz="1100"/>
              <a:t>RESPOND: If this task shows the lesson misconception—giving a rate without units or reversing the comparison—label distance and time separately on the existing representation.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Teach this step before assigning independent practice. Read the highlighted term and connect it to the example. Model the calculation, then ask students to explain why the same factor applies to both quantities. Give thinking time and invite a partner explanation. Source content: supplied McGraw Hill Unit 3 lesson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24:notes"/>
          <p:cNvSpPr txBox="1">
            <a:spLocks noGrp="1"/>
          </p:cNvSpPr>
          <p:nvPr>
            <p:ph type="body" idx="1"/>
          </p:nvPr>
        </p:nvSpPr>
        <p:spPr>
          <a:xfrm>
            <a:off x="701040" y="4444862"/>
            <a:ext cx="5608320" cy="3636705"/>
          </a:xfrm>
          <a:prstGeom prst="rect">
            <a:avLst/>
          </a:prstGeom>
        </p:spPr>
        <p:txBody>
          <a:bodyPr spcFirstLastPara="1" wrap="square" lIns="92275" tIns="46125" rIns="92275" bIns="46125" anchor="t" anchorCtr="0">
            <a:noAutofit/>
          </a:bodyPr>
          <a:lstStyle/>
          <a:p xmlns:a="http://schemas.openxmlformats.org/drawingml/2006/main">
            <a:pPr>
              <a:buNone/>
            </a:pPr>
            <a:r>
              <a:rPr lang="en-US" sz="1100"/>
              <a:t>TEACH IN PRACTICE | Embedded facilitation | Lesson 3.2, slide 16 | REVEAL</a:t>
            </a:r>
          </a:p>
          <a:p xmlns:a="http://schemas.openxmlformats.org/drawingml/2006/main">
            <a:pPr>
              <a:buNone/>
            </a:pPr>
            <a:r>
              <a:rPr lang="en-US" sz="1100"/>
              <a:t>Focus on the existing task: We can label the top number line with intervals of 150 miles, and the bottom number with intervals of 1 hour. How many hours will it take the train to travel 450 miles?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the rate in the existing travel model. Ask which feature of their work supports the claim.</a:t>
            </a:r>
          </a:p>
          <a:p xmlns:a="http://schemas.openxmlformats.org/drawingml/2006/main">
            <a:pPr>
              <a:buNone/>
            </a:pPr>
            <a:r>
              <a:rPr lang="en-US" sz="1100"/>
              <a:t>RESPOND: If this task shows the lesson misconception—giving a rate without units or reversing the comparison—label distance and time separately on the existing representation.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a:t>Walk the double number line left to right: every 150 miles pairs with 1 hour. Ask how the model shows 450 miles before clicking the check open. Common slip: students label only one of the two lines.</a:t>
            </a:r>
          </a:p>
        </p:txBody>
      </p:sp>
      <p:sp>
        <p:nvSpPr>
          <p:cNvPr id="420" name="Google Shape;420;p24: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xmlns:a="http://schemas.openxmlformats.org/drawingml/2006/main">
            <a:pPr>
              <a:buNone/>
            </a:pPr>
            <a:r>
              <a:rPr lang="en-US" sz="1100"/>
              <a:t>TEACH IN PRACTICE | Embedded facilitation | Lesson 3.2, slide 2 | NOTES</a:t>
            </a:r>
          </a:p>
          <a:p xmlns:a="http://schemas.openxmlformats.org/drawingml/2006/main">
            <a:pPr>
              <a:buNone/>
            </a:pPr>
            <a:r>
              <a:rPr lang="en-US" sz="1100"/>
              <a:t>Focus on the existing task: Math Notes — Session 1 Keep the idea from Metro Trains. COPY THESE THREE LINES 01 A rate compares amounts with different units. 02 Per…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Use this slide only after the original worked example. Students copy the three lines on the left; the table is a reference and does not need copying. Read one line at a time. Ask one student to connect a note to the example.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26:notes"/>
          <p:cNvSpPr txBox="1">
            <a:spLocks noGrp="1"/>
          </p:cNvSpPr>
          <p:nvPr>
            <p:ph type="body" idx="1"/>
          </p:nvPr>
        </p:nvSpPr>
        <p:spPr>
          <a:xfrm>
            <a:off x="701040" y="4444862"/>
            <a:ext cx="5608320" cy="3636705"/>
          </a:xfrm>
          <a:prstGeom prst="rect">
            <a:avLst/>
          </a:prstGeom>
        </p:spPr>
        <p:txBody>
          <a:bodyPr spcFirstLastPara="1" wrap="square" lIns="92275" tIns="46125" rIns="92275" bIns="46125" anchor="t" anchorCtr="0">
            <a:noAutofit/>
          </a:bodyPr>
          <a:lstStyle/>
          <a:p xmlns:a="http://schemas.openxmlformats.org/drawingml/2006/main">
            <a:pPr>
              <a:buNone/>
            </a:pPr>
            <a:r>
              <a:rPr lang="en-US" sz="1100"/>
              <a:t>TEACH IN PRACTICE | Embedded facilitation | Lesson 3.2, slide 17 | PRACTICE</a:t>
            </a:r>
          </a:p>
          <a:p xmlns:a="http://schemas.openxmlformats.org/drawingml/2006/main">
            <a:pPr>
              <a:buNone/>
            </a:pPr>
            <a:r>
              <a:rPr lang="en-US" sz="1100"/>
              <a:t>Focus on the existing task: Let’s Explore More What do the two units in a rate tell you?</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label both units. Ask which feature of their work supports the claim.</a:t>
            </a:r>
          </a:p>
          <a:p xmlns:a="http://schemas.openxmlformats.org/drawingml/2006/main">
            <a:pPr>
              <a:buNone/>
            </a:pPr>
            <a:r>
              <a:rPr lang="en-US" sz="1100"/>
              <a:t>RESPOND: If this task shows the lesson misconception—giving a rate without units or reversing the comparison—label distance and time separately on the existing representation.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marL="0" lvl="0" indent="0" algn="l" rtl="0">
              <a:spcBef>
                <a:spcPts val="0"/>
              </a:spcBef>
              <a:spcAft>
                <a:spcPts val="0"/>
              </a:spcAft>
              <a:buNone/>
            </a:pPr>
            <a:endParaRPr/>
          </a:p>
          <a:p>
            <a:r>
              <a:rPr lang="en-US"/>
              <a:t>Student move: Student-led talk: paraphrase, agree or disagree, add on.</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giving a rate without units or reversing the comparison. If it appears, label distance and time separately on the existing representation; then ask the student to revise the same response and explain the change. If evidence is secure, have students compare a second valid pathway or state why their approach works. Choose the next step from the responses, not a preset pace.</a:t>
            </a:r>
          </a:p>
        </p:txBody>
      </p:sp>
      <p:sp>
        <p:nvSpPr>
          <p:cNvPr id="436" name="Google Shape;436;p26: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xmlns:a="http://schemas.openxmlformats.org/drawingml/2006/main">
            <a:pPr>
              <a:buNone/>
            </a:pPr>
            <a:r>
              <a:rPr lang="en-US" sz="1100"/>
              <a:t>TEACH IN PRACTICE | Embedded facilitation | Lesson 3.2, slide 22 | ASSESSMENT</a:t>
            </a:r>
          </a:p>
          <a:p xmlns:a="http://schemas.openxmlformats.org/drawingml/2006/main">
            <a:pPr>
              <a:buNone/>
            </a:pPr>
            <a:r>
              <a:rPr lang="en-US" sz="1100"/>
              <a:t>Focus on the existing task: Quick Check — Session 1 Use the model to explain your thinking. A train travels 150 miles each hour. How far does it travel in 2 hours at that rate?</a:t>
            </a:r>
          </a:p>
          <a:p xmlns:a="http://schemas.openxmlformats.org/drawingml/2006/main">
            <a:pPr>
              <a:buNone/>
            </a:pPr>
            <a:r>
              <a:rPr lang="en-US" sz="1100"/>
              <a:t>LAUNCH (T2/3/5): Gather an independent response before feedback. Students choose a suitable representation and justify it. Keep the first attempt separate from the revision.</a:t>
            </a:r>
          </a:p>
          <a:p xmlns:a="http://schemas.openxmlformats.org/drawingml/2006/main">
            <a:pPr>
              <a:buNone/>
            </a:pPr>
            <a:r>
              <a:rPr lang="en-US" sz="1100"/>
              <a:t>LOOK FOR (T4): Where this task addresses it, students can use the rate in the existing travel model. Ask which feature of their work supports the claim.</a:t>
            </a:r>
          </a:p>
          <a:p xmlns:a="http://schemas.openxmlformats.org/drawingml/2006/main">
            <a:pPr>
              <a:buNone/>
            </a:pPr>
            <a:r>
              <a:rPr lang="en-US" sz="1100"/>
              <a:t>RESPOND: If this task shows the lesson misconception—giving a rate without units or reversing the comparison—label distance and time separately on the existing representation.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Answer: 300 miles. 2 × 150 = 300. Give quiet thinking time before sharing. If a student is stuck, point back to the relevant worked model without doing the task for them. Give specific feedback, then allow a correction.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xmlns:a="http://schemas.openxmlformats.org/drawingml/2006/main">
            <a:pPr>
              <a:buNone/>
            </a:pPr>
            <a:r>
              <a:rPr lang="en-US" sz="1100"/>
              <a:t>TEACH IN PRACTICE | Embedded facilitation | Lesson 3.2, slide 25 | GOAL</a:t>
            </a:r>
          </a:p>
          <a:p xmlns:a="http://schemas.openxmlformats.org/drawingml/2006/main">
            <a:pPr>
              <a:buNone/>
            </a:pPr>
            <a:r>
              <a:rPr lang="en-US" sz="1100"/>
              <a:t>Focus on the existing task: Learning Target — Session 2 | Maryland Standard 6.AT.2 LEARNING TARGET · DIVIDE • COMPARE • JUSTIFY…</a:t>
            </a:r>
          </a:p>
          <a:p xmlns:a="http://schemas.openxmlformats.org/drawingml/2006/main">
            <a:pPr>
              <a:buNone/>
            </a:pPr>
            <a:r>
              <a:rPr lang="en-US" sz="1100"/>
              <a:t>CONNECT (T1/4): Ask students to restate the displayed goal or key idea and connect it to earlier work. Relevant lesson evidence: label both units; interpret a rate per one unit; use the rate in the existing travel model.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Name today’s content and language goals. Briefly read the success criteria; do not teach procedures here. The original context and model follow. Return to these criteria after the worked example.</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label both units; interpret a rate per one unit; use the rate in the existing travel model. Ask: “Which part of your work would show this?” Revisit that evidence after the task; a confidence rating alone is not evidence of understanding.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p30:notes"/>
          <p:cNvSpPr txBox="1">
            <a:spLocks noGrp="1"/>
          </p:cNvSpPr>
          <p:nvPr>
            <p:ph type="body" idx="1"/>
          </p:nvPr>
        </p:nvSpPr>
        <p:spPr>
          <a:xfrm>
            <a:off x="701040" y="4444862"/>
            <a:ext cx="5608320" cy="3636705"/>
          </a:xfrm>
          <a:prstGeom prst="rect">
            <a:avLst/>
          </a:prstGeom>
        </p:spPr>
        <p:txBody>
          <a:bodyPr spcFirstLastPara="1" wrap="square" lIns="92275" tIns="46125" rIns="92275" bIns="46125" anchor="t" anchorCtr="0">
            <a:noAutofit/>
          </a:bodyPr>
          <a:lstStyle/>
          <a:p xmlns:a="http://schemas.openxmlformats.org/drawingml/2006/main">
            <a:pPr>
              <a:buNone/>
            </a:pPr>
            <a:r>
              <a:rPr lang="en-US" sz="1100"/>
              <a:t>TEACH IN PRACTICE | Embedded facilitation | Lesson 3.2, slide 27 | TASK</a:t>
            </a:r>
          </a:p>
          <a:p xmlns:a="http://schemas.openxmlformats.org/drawingml/2006/main">
            <a:pPr>
              <a:buNone/>
            </a:pPr>
            <a:r>
              <a:rPr lang="en-US" sz="1100"/>
              <a:t>Focus on the existing task: Metro Train Pass Cost Yelina will take the train into the city each day for one week. Which pass offers her the lower cost per day?</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label both units. Ask which feature of their work supports the claim.</a:t>
            </a:r>
          </a:p>
          <a:p xmlns:a="http://schemas.openxmlformats.org/drawingml/2006/main">
            <a:pPr>
              <a:buNone/>
            </a:pPr>
            <a:r>
              <a:rPr lang="en-US" sz="1100"/>
              <a:t>RESPOND: If this task shows the lesson misconception—giving a rate without units or reversing the comparison—label distance and time separately on the existing representation.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marL="0" lvl="0" indent="0" algn="l" rtl="0">
              <a:spcBef>
                <a:spcPts val="0"/>
              </a:spcBef>
              <a:spcAft>
                <a:spcPts val="0"/>
              </a:spcAft>
              <a:buNone/>
            </a:pPr>
            <a:endParaRPr/>
          </a:p>
          <a:p>
            <a:r>
              <a:rPr lang="en-US"/>
              <a:t>Student move: Compare strategies; defend one with evidence.</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“What does one unit of the second quantity correspond to, and how can the model show it?” Wait for evidence, invite another pathway, and have a student ask a follow-up question. Do not replace students’ reasoning with a sequence of leading steps.</a:t>
            </a:r>
          </a:p>
        </p:txBody>
      </p:sp>
      <p:sp>
        <p:nvSpPr>
          <p:cNvPr id="475" name="Google Shape;475;p30: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xmlns:a="http://schemas.openxmlformats.org/drawingml/2006/main">
            <a:pPr>
              <a:buNone/>
            </a:pPr>
            <a:r>
              <a:rPr lang="en-US" sz="1100"/>
              <a:t>TEACH IN PRACTICE | Embedded facilitation | Lesson 3.2, slide 28 | TASK</a:t>
            </a:r>
          </a:p>
          <a:p xmlns:a="http://schemas.openxmlformats.org/drawingml/2006/main">
            <a:pPr>
              <a:buNone/>
            </a:pPr>
            <a:r>
              <a:rPr lang="en-US" sz="1100"/>
              <a:t>Focus on the existing task: Unit price: cost for one day Unit price is the cost for 1 item or unit. Divide the total cost by the number of days. Compare both passes…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label both units. Ask which feature of their work supports the claim.</a:t>
            </a:r>
          </a:p>
          <a:p xmlns:a="http://schemas.openxmlformats.org/drawingml/2006/main">
            <a:pPr>
              <a:buNone/>
            </a:pPr>
            <a:r>
              <a:rPr lang="en-US" sz="1100"/>
              <a:t>RESPOND: If this task shows the lesson misconception—giving a rate without units or reversing the comparison—label distance and time separately on the existing representation.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Teach this step before assigning independent practice. Read the highlighted term and connect it to the example. Model the calculation, then ask students to explain why the same factor applies to both quantities. Give thinking time and invite a partner explanation. Source content: supplied McGraw Hill Unit 3 lesson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p45:notes"/>
          <p:cNvSpPr txBox="1">
            <a:spLocks noGrp="1"/>
          </p:cNvSpPr>
          <p:nvPr>
            <p:ph type="body" idx="1"/>
          </p:nvPr>
        </p:nvSpPr>
        <p:spPr>
          <a:xfrm>
            <a:off x="701040" y="4444862"/>
            <a:ext cx="5608320" cy="3636705"/>
          </a:xfrm>
          <a:prstGeom prst="rect">
            <a:avLst/>
          </a:prstGeom>
        </p:spPr>
        <p:txBody>
          <a:bodyPr spcFirstLastPara="1" wrap="square" lIns="92275" tIns="46125" rIns="92275" bIns="46125" anchor="t" anchorCtr="0">
            <a:noAutofit/>
          </a:bodyPr>
          <a:lstStyle/>
          <a:p xmlns:a="http://schemas.openxmlformats.org/drawingml/2006/main">
            <a:pPr>
              <a:buNone/>
            </a:pPr>
            <a:r>
              <a:rPr lang="en-US" sz="1100"/>
              <a:t>TEACH IN PRACTICE | Embedded facilitation | Lesson 3.2, slide 29 | WORKED</a:t>
            </a:r>
          </a:p>
          <a:p xmlns:a="http://schemas.openxmlformats.org/drawingml/2006/main">
            <a:pPr>
              <a:buNone/>
            </a:pPr>
            <a:r>
              <a:rPr lang="en-US" sz="1100"/>
              <a:t>Focus on the existing task: The 7-day pass costs $35 for every 7 days. We can label the cost number line with intervals of 5 and the days number line with intervals…</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label both units. Ask which feature of their work supports the claim.</a:t>
            </a:r>
          </a:p>
          <a:p xmlns:a="http://schemas.openxmlformats.org/drawingml/2006/main">
            <a:pPr>
              <a:buNone/>
            </a:pPr>
            <a:r>
              <a:rPr lang="en-US" sz="1100"/>
              <a:t>RESPOND: If this task shows the lesson misconception—giving a rate without units or reversing the comparison—label distance and time separately on the existing representation.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a:t>Same reading move as Session 1: each $5 on the cost line pairs with 1 day. Have a student explain why 35 divided by 7 and the number line tell the same story.</a:t>
            </a:r>
          </a:p>
        </p:txBody>
      </p:sp>
      <p:sp>
        <p:nvSpPr>
          <p:cNvPr id="602" name="Google Shape;602;p45: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xmlns:a="http://schemas.openxmlformats.org/drawingml/2006/main">
            <a:pPr>
              <a:buNone/>
            </a:pPr>
            <a:r>
              <a:rPr lang="en-US" sz="1100"/>
              <a:t>TEACH IN PRACTICE | Embedded facilitation | Lesson 3.2, slide 30 | NOTES</a:t>
            </a:r>
          </a:p>
          <a:p xmlns:a="http://schemas.openxmlformats.org/drawingml/2006/main">
            <a:pPr>
              <a:buNone/>
            </a:pPr>
            <a:r>
              <a:rPr lang="en-US" sz="1100"/>
              <a:t>Focus on the existing task: Math Notes — Session 2 Keep the idea from Train Pass Cost. COPY THESE THREE LINES 01 A unit rate tells the amount for 1 unit. 02 Unit…</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Use this slide only after the original worked example. Students copy the three lines on the left; the table is a reference and does not need copying. Read one line at a time. Ask one student to connect a note to the example.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p47:notes"/>
          <p:cNvSpPr txBox="1">
            <a:spLocks noGrp="1"/>
          </p:cNvSpPr>
          <p:nvPr>
            <p:ph type="body" idx="1"/>
          </p:nvPr>
        </p:nvSpPr>
        <p:spPr>
          <a:xfrm>
            <a:off x="701040" y="4444862"/>
            <a:ext cx="5608320" cy="3636705"/>
          </a:xfrm>
          <a:prstGeom prst="rect">
            <a:avLst/>
          </a:prstGeom>
        </p:spPr>
        <p:txBody>
          <a:bodyPr spcFirstLastPara="1" wrap="square" lIns="92275" tIns="46125" rIns="92275" bIns="46125" anchor="t" anchorCtr="0">
            <a:noAutofit/>
          </a:bodyPr>
          <a:lstStyle/>
          <a:p xmlns:a="http://schemas.openxmlformats.org/drawingml/2006/main">
            <a:pPr>
              <a:buNone/>
            </a:pPr>
            <a:r>
              <a:rPr lang="en-US" sz="1100"/>
              <a:t>TEACH IN PRACTICE | Embedded facilitation | Lesson 3.2, slide 31 | PRACTICE</a:t>
            </a:r>
          </a:p>
          <a:p xmlns:a="http://schemas.openxmlformats.org/drawingml/2006/main">
            <a:pPr>
              <a:buNone/>
            </a:pPr>
            <a:r>
              <a:rPr lang="en-US" sz="1100"/>
              <a:t>Focus on the existing task: Let’s Explore More Which pass would you recommend Yelina buys if she only takes the train on weekdays?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label both units. Ask which feature of their work supports the claim.</a:t>
            </a:r>
          </a:p>
          <a:p xmlns:a="http://schemas.openxmlformats.org/drawingml/2006/main">
            <a:pPr>
              <a:buNone/>
            </a:pPr>
            <a:r>
              <a:rPr lang="en-US" sz="1100"/>
              <a:t>RESPOND: If this task shows the lesson misconception—giving a rate without units or reversing the comparison—label distance and time separately on the existing representation.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marL="0" lvl="0" indent="0" algn="l" rtl="0">
              <a:spcBef>
                <a:spcPts val="0"/>
              </a:spcBef>
              <a:spcAft>
                <a:spcPts val="0"/>
              </a:spcAft>
              <a:buNone/>
            </a:pPr>
            <a:endParaRPr/>
          </a:p>
          <a:p>
            <a:r>
              <a:rPr lang="en-US"/>
              <a:t>Student move: Compare pathways with a partner; name one revision.</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giving a rate without units or reversing the comparison. If it appears, label distance and time separately on the existing representation; then ask the student to revise the same response and explain the change. If evidence is secure, have students compare a second valid pathway or state why their approach works. Choose the next step from the responses, not a preset pace.</a:t>
            </a:r>
          </a:p>
        </p:txBody>
      </p:sp>
      <p:sp>
        <p:nvSpPr>
          <p:cNvPr id="617" name="Google Shape;617;p47: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p49:notes"/>
          <p:cNvSpPr txBox="1">
            <a:spLocks noGrp="1"/>
          </p:cNvSpPr>
          <p:nvPr>
            <p:ph type="body" idx="1"/>
          </p:nvPr>
        </p:nvSpPr>
        <p:spPr>
          <a:xfrm>
            <a:off x="701040" y="4444862"/>
            <a:ext cx="5608320" cy="3636705"/>
          </a:xfrm>
          <a:prstGeom prst="rect">
            <a:avLst/>
          </a:prstGeom>
        </p:spPr>
        <p:txBody>
          <a:bodyPr spcFirstLastPara="1" wrap="square" lIns="92275" tIns="46125" rIns="92275" bIns="46125" anchor="t" anchorCtr="0">
            <a:noAutofit/>
          </a:bodyPr>
          <a:lstStyle/>
          <a:p xmlns:a="http://schemas.openxmlformats.org/drawingml/2006/main">
            <a:pPr>
              <a:buNone/>
            </a:pPr>
            <a:r>
              <a:rPr lang="en-US" sz="1100"/>
              <a:t>TEACH IN PRACTICE | Embedded facilitation | Lesson 3.2, slide 36 | SUMMARIZE</a:t>
            </a:r>
          </a:p>
          <a:p xmlns:a="http://schemas.openxmlformats.org/drawingml/2006/main">
            <a:pPr>
              <a:buNone/>
            </a:pPr>
            <a:r>
              <a:rPr lang="en-US" sz="1100"/>
              <a:t>Focus on the existing task: Summarize: Rates and Unit Rates Rate Unit Rates A babysitter earns $44 after working 4 hours. $44 for 4 hours 44: 4 $11 for 1 hour…</a:t>
            </a:r>
          </a:p>
          <a:p xmlns:a="http://schemas.openxmlformats.org/drawingml/2006/main">
            <a:pPr>
              <a:buNone/>
            </a:pPr>
            <a:r>
              <a:rPr lang="en-US" sz="1100"/>
              <a:t>CONNECT (T1/4): Ask students to restate the displayed goal or key idea and connect it to earlier work. Relevant lesson evidence: label both units; interpret a rate per one unit; use the rate in the existing travel model.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a:t>Partner teach-back: what is a rate, and what makes it a UNIT rate. Keep the table on screen while partners talk. Listen for the phrase ‘for every one.’</a:t>
            </a:r>
          </a:p>
        </p:txBody>
      </p:sp>
      <p:sp>
        <p:nvSpPr>
          <p:cNvPr id="633" name="Google Shape;633;p49: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50:notes"/>
          <p:cNvSpPr txBox="1">
            <a:spLocks noGrp="1"/>
          </p:cNvSpPr>
          <p:nvPr>
            <p:ph type="body" idx="1"/>
          </p:nvPr>
        </p:nvSpPr>
        <p:spPr>
          <a:xfrm>
            <a:off x="701040" y="4444862"/>
            <a:ext cx="5608320" cy="3636705"/>
          </a:xfrm>
          <a:prstGeom prst="rect">
            <a:avLst/>
          </a:prstGeom>
        </p:spPr>
        <p:txBody>
          <a:bodyPr spcFirstLastPara="1" wrap="square" lIns="92275" tIns="46125" rIns="92275" bIns="46125" anchor="t" anchorCtr="0">
            <a:noAutofit/>
          </a:bodyPr>
          <a:lstStyle/>
          <a:p xmlns:a="http://schemas.openxmlformats.org/drawingml/2006/main">
            <a:pPr>
              <a:buNone/>
            </a:pPr>
            <a:r>
              <a:rPr lang="en-US" sz="1100"/>
              <a:t>TEACH IN PRACTICE | Embedded facilitation | Lesson 3.2, slide 37 | APPLY</a:t>
            </a:r>
          </a:p>
          <a:p xmlns:a="http://schemas.openxmlformats.org/drawingml/2006/main">
            <a:pPr>
              <a:buNone/>
            </a:pPr>
            <a:r>
              <a:rPr lang="en-US" sz="1100"/>
              <a:t>Focus on the existing task: Apply: Metro Train Versus Car Cost Yelina’s mother is considering a monthly transit pass for $145. The walk from the station to work…</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use the rate in the existing travel model. Ask which feature of their work supports the claim.</a:t>
            </a:r>
          </a:p>
          <a:p xmlns:a="http://schemas.openxmlformats.org/drawingml/2006/main">
            <a:pPr>
              <a:buNone/>
            </a:pPr>
            <a:r>
              <a:rPr lang="en-US" sz="1100"/>
              <a:t>RESPOND: If this task shows the lesson misconception—giving a rate without units or reversing the comparison—label distance and time separately on the existing representation.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a:t>Students recommend train or car and support it with a unit-rate comparison. Any supported recommendation is acceptable — the comparison is the math. Share two answers that disagree and let the class test both.</a:t>
            </a:r>
          </a:p>
        </p:txBody>
      </p:sp>
      <p:sp>
        <p:nvSpPr>
          <p:cNvPr id="641" name="Google Shape;641;p50: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xmlns:a="http://schemas.openxmlformats.org/drawingml/2006/main">
            <a:pPr>
              <a:buNone/>
            </a:pPr>
            <a:r>
              <a:rPr lang="en-US" sz="1100"/>
              <a:t>TEACH IN PRACTICE | Embedded facilitation | Lesson 3.2, slide 38 | ASSESSMENT</a:t>
            </a:r>
          </a:p>
          <a:p xmlns:a="http://schemas.openxmlformats.org/drawingml/2006/main">
            <a:pPr>
              <a:buNone/>
            </a:pPr>
            <a:r>
              <a:rPr lang="en-US" sz="1100"/>
              <a:t>Focus on the existing task: Exit Ticket + Self-Check STUDENT MOVE · SELF-ASSESS • NAME YOUR NEXT STEP A 1-day pass costs $6.25. A 7-day pass costs $35. Yelina needs to travel on 5 days. Which option costs less in total?</a:t>
            </a:r>
          </a:p>
          <a:p xmlns:a="http://schemas.openxmlformats.org/drawingml/2006/main">
            <a:pPr>
              <a:buNone/>
            </a:pPr>
            <a:r>
              <a:rPr lang="en-US" sz="1100"/>
              <a:t>LAUNCH (T2/3/5): Gather an independent response before feedback. Students choose a suitable representation and justify it. Keep the first attempt separate from the revision.</a:t>
            </a:r>
          </a:p>
          <a:p xmlns:a="http://schemas.openxmlformats.org/drawingml/2006/main">
            <a:pPr>
              <a:buNone/>
            </a:pPr>
            <a:r>
              <a:rPr lang="en-US" sz="1100"/>
              <a:t>LOOK FOR (T4): Where this task addresses it, students can label both units. Ask which feature of their work supports the claim.</a:t>
            </a:r>
          </a:p>
          <a:p xmlns:a="http://schemas.openxmlformats.org/drawingml/2006/main">
            <a:pPr>
              <a:buNone/>
            </a:pPr>
            <a:r>
              <a:rPr lang="en-US" sz="1100"/>
              <a:t>RESPOND: If this task shows the lesson misconception—giving a rate without units or reversing the comparison—label distance and time separately on the existing representation.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Answer: Five 1-day passes cost $31.25; the 7-day pass costs $35. The daily passes save $3.75. Give quiet thinking time before sharing. If a student is stuck, point back to the relevant worked model without doing the task for them. Give specific feedback, then allow a correction.</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label both units; interpret a rate per one unit; use the rate in the existing travel model. Respond with one specific next step tied to the work. Students revise and annotate what changed, then identify a criterion they can now demonstrate and one they still need to practice.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xmlns:a="http://schemas.openxmlformats.org/drawingml/2006/main">
            <a:pPr>
              <a:buNone/>
            </a:pPr>
            <a:r>
              <a:rPr lang="en-US" sz="1100"/>
              <a:t>TEACH IN PRACTICE | Embedded facilitation | Lesson 3.2, slide 40 | REFERENCE</a:t>
            </a:r>
          </a:p>
          <a:p xmlns:a="http://schemas.openxmlformats.org/drawingml/2006/main">
            <a:pPr>
              <a:buNone/>
            </a:pPr>
            <a:r>
              <a:rPr lang="en-US" sz="1100"/>
              <a:t>Focus on the existing task: UIFR TEACH — Teacher Reference Teacher reference • hidden from the student slideshow TEACH 1 · Session goals, purpose, and content-linked…</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Source: Baltimore City Public Schools, Updated Instructional Framework Rubric, June 2020. Teacher enactment determines the quality of instruction; this is a support map.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xmlns:a="http://schemas.openxmlformats.org/drawingml/2006/main">
            <a:pPr>
              <a:buNone/>
            </a:pPr>
            <a:r>
              <a:rPr lang="en-US" sz="1100"/>
              <a:t>TEACH IN PRACTICE | Embedded facilitation | Lesson 3.2, slide 1 | WARMUP</a:t>
            </a:r>
          </a:p>
          <a:p xmlns:a="http://schemas.openxmlformats.org/drawingml/2006/main">
            <a:pPr>
              <a:buNone/>
            </a:pPr>
            <a:r>
              <a:rPr lang="en-US" sz="1100"/>
              <a:t>Focus on the existing task: ______ QUESTION 4 3 apples cost $6. What does 1 apple cost?</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dirty="0"/>
              <a:t>Warm-Up answers (teacher only): 1) 15   2) 25, 30   3) 60 miles   4) $2</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label both units; interpret a rate per one unit; use the rate in the existing travel model. Review recent work and today’s warm-up to choose flexible groups and access supports; do not infer needs from identity or perceived ability. Use the existing lesson tasks and stated standards.</a:t>
            </a:r>
          </a:p>
          <a:p>
            <a:pPr>
              <a:buNone/>
            </a:pPr>
            <a:r>
              <a:rPr lang="en-US" sz="1100"/>
              <a:t>Anticipate: giving a rate without units or reversing the comparison. If observed, label distance and time separately on the existing representation.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3.2, slide 23 | WARMUP</a:t>
            </a:r>
          </a:p>
          <a:p xmlns:a="http://schemas.openxmlformats.org/drawingml/2006/main">
            <a:pPr>
              <a:buNone/>
            </a:pPr>
            <a:r>
              <a:rPr lang="en-US" sz="1100"/>
              <a:t>Focus on the existing task: Session 2 Warm-Up | Session 2 Warm-Up · about 4 minutes WARM-UP · THINK • TRY • CHECK Do these…</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3.2, slide 24 | NOTES</a:t>
            </a:r>
          </a:p>
          <a:p xmlns:a="http://schemas.openxmlformats.org/drawingml/2006/main">
            <a:pPr>
              <a:buNone/>
            </a:pPr>
            <a:r>
              <a:rPr lang="en-US" sz="1100"/>
              <a:t>Focus on the existing task: Review Notes — Session 2 Review the key ideas before Session 2. COPY THESE THREE LINES 01 A rate compares amounts with different units.…</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3.2, slide 39 | REFLECTION</a:t>
            </a:r>
          </a:p>
          <a:p xmlns:a="http://schemas.openxmlformats.org/drawingml/2006/main">
            <a:pPr>
              <a:buNone/>
            </a:pPr>
            <a:r>
              <a:rPr lang="en-US" sz="1100"/>
              <a:t>Focus on the existing task: Learning Targets I can describe a rate as a kind of ratio. I can make use of structure to describe a unit rate as a rate with 1 as the…</a:t>
            </a:r>
          </a:p>
          <a:p xmlns:a="http://schemas.openxmlformats.org/drawingml/2006/main">
            <a:pPr>
              <a:buNone/>
            </a:pPr>
            <a:r>
              <a:rPr lang="en-US" sz="1100"/>
              <a:t>CONNECT (T1/4): Ask students to restate the displayed goal or key idea and connect it to earlier work. Relevant lesson evidence: label both units; interpret a rate per one unit; use the rate in the existing travel model.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giving a rate without units or reversing the comparison.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label distance and time separately on the existing representation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3.2, slide 4 | VOCAB</a:t>
            </a:r>
          </a:p>
          <a:p xmlns:a="http://schemas.openxmlformats.org/drawingml/2006/main">
            <a:pPr>
              <a:buNone/>
            </a:pPr>
            <a:r>
              <a:rPr lang="en-US" sz="1100"/>
              <a:t>Focus on the existing task: Vocabulary 1 of 8 Rates and Unit Rates A rate compares…</a:t>
            </a:r>
          </a:p>
          <a:p xmlns:a="http://schemas.openxmlformats.org/drawingml/2006/main">
            <a:pPr>
              <a:buNone/>
            </a:pPr>
            <a:r>
              <a:rPr lang="en-US" sz="1100"/>
              <a:t>ASK (T1/3/5): Where does “Rates and Unit Rates”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2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3.2, slide 5 | VOCAB</a:t>
            </a:r>
          </a:p>
          <a:p xmlns:a="http://schemas.openxmlformats.org/drawingml/2006/main">
            <a:pPr>
              <a:buNone/>
            </a:pPr>
            <a:r>
              <a:rPr lang="en-US" sz="1100"/>
              <a:t>Focus on the existing task: Vocabulary 2 of 8 Rate A ratio comparing two amounts with…</a:t>
            </a:r>
          </a:p>
          <a:p xmlns:a="http://schemas.openxmlformats.org/drawingml/2006/main">
            <a:pPr>
              <a:buNone/>
            </a:pPr>
            <a:r>
              <a:rPr lang="en-US" sz="1100"/>
              <a:t>ASK (T1/3/5): Where does “Rate”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2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3.2, slide 6 | VOCAB</a:t>
            </a:r>
          </a:p>
          <a:p xmlns:a="http://schemas.openxmlformats.org/drawingml/2006/main">
            <a:pPr>
              <a:buNone/>
            </a:pPr>
            <a:r>
              <a:rPr lang="en-US" sz="1100"/>
              <a:t>Focus on the existing task: Vocabulary 3 of 8 Unit Rate A rate for just 1 of…</a:t>
            </a:r>
          </a:p>
          <a:p xmlns:a="http://schemas.openxmlformats.org/drawingml/2006/main">
            <a:pPr>
              <a:buNone/>
            </a:pPr>
            <a:r>
              <a:rPr lang="en-US" sz="1100"/>
              <a:t>ASK (T1/3/5): Where does “Unit Rate”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2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3.2, slide 7 | VOCAB</a:t>
            </a:r>
          </a:p>
          <a:p xmlns:a="http://schemas.openxmlformats.org/drawingml/2006/main">
            <a:pPr>
              <a:buNone/>
            </a:pPr>
            <a:r>
              <a:rPr lang="en-US" sz="1100"/>
              <a:t>Focus on the existing task: Vocabulary 4 of 8 Per For each one. Example: 5 dollars per…</a:t>
            </a:r>
          </a:p>
          <a:p xmlns:a="http://schemas.openxmlformats.org/drawingml/2006/main">
            <a:pPr>
              <a:buNone/>
            </a:pPr>
            <a:r>
              <a:rPr lang="en-US" sz="1100"/>
              <a:t>ASK (T1/3/5): Where does “Per”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2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3.2, slide 8 | VOCAB</a:t>
            </a:r>
          </a:p>
          <a:p xmlns:a="http://schemas.openxmlformats.org/drawingml/2006/main">
            <a:pPr>
              <a:buNone/>
            </a:pPr>
            <a:r>
              <a:rPr lang="en-US" sz="1100"/>
              <a:t>Focus on the existing task: Vocabulary 5 of 8 Ratio A way to compare two amounts, like…</a:t>
            </a:r>
          </a:p>
          <a:p xmlns:a="http://schemas.openxmlformats.org/drawingml/2006/main">
            <a:pPr>
              <a:buNone/>
            </a:pPr>
            <a:r>
              <a:rPr lang="en-US" sz="1100"/>
              <a:t>ASK (T1/3/5): Where does “Ratio”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2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3.2, slide 9 | VOCAB</a:t>
            </a:r>
          </a:p>
          <a:p xmlns:a="http://schemas.openxmlformats.org/drawingml/2006/main">
            <a:pPr>
              <a:buNone/>
            </a:pPr>
            <a:r>
              <a:rPr lang="en-US" sz="1100"/>
              <a:t>Focus on the existing task: Vocabulary 6 of 8 Unit price A unit rate that gives the…</a:t>
            </a:r>
          </a:p>
          <a:p xmlns:a="http://schemas.openxmlformats.org/drawingml/2006/main">
            <a:pPr>
              <a:buNone/>
            </a:pPr>
            <a:r>
              <a:rPr lang="en-US" sz="1100"/>
              <a:t>ASK (T1/3/5): Where does “Unit price”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2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3.2, slide 10 | VOCAB</a:t>
            </a:r>
          </a:p>
          <a:p xmlns:a="http://schemas.openxmlformats.org/drawingml/2006/main">
            <a:pPr>
              <a:buNone/>
            </a:pPr>
            <a:r>
              <a:rPr lang="en-US" sz="1100"/>
              <a:t>Focus on the existing task: Vocabulary 7 of 8 Better Buy The choice that costs less…</a:t>
            </a:r>
          </a:p>
          <a:p xmlns:a="http://schemas.openxmlformats.org/drawingml/2006/main">
            <a:pPr>
              <a:buNone/>
            </a:pPr>
            <a:r>
              <a:rPr lang="en-US" sz="1100"/>
              <a:t>ASK (T1/3/5): Where does “Better Buy”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3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3.2, slide 11 | VOCAB</a:t>
            </a:r>
          </a:p>
          <a:p xmlns:a="http://schemas.openxmlformats.org/drawingml/2006/main">
            <a:pPr>
              <a:buNone/>
            </a:pPr>
            <a:r>
              <a:rPr lang="en-US" sz="1100"/>
              <a:t>Focus on the existing task: Vocabulary 8 of 8 Divide Splitting a total into equal…</a:t>
            </a:r>
          </a:p>
          <a:p xmlns:a="http://schemas.openxmlformats.org/drawingml/2006/main">
            <a:pPr>
              <a:buNone/>
            </a:pPr>
            <a:r>
              <a:rPr lang="en-US" sz="1100"/>
              <a:t>ASK (T1/3/5): Where does “Divide”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3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3.2, slide 12 | CURIOUS</a:t>
            </a:r>
          </a:p>
          <a:p xmlns:a="http://schemas.openxmlformats.org/drawingml/2006/main">
            <a:pPr>
              <a:buNone/>
            </a:pPr>
            <a:r>
              <a:rPr lang="en-US" sz="1100"/>
              <a:t>Focus on the existing task: Be Curious How are they the same?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label both units. Ask which feature of their work supports the claim.</a:t>
            </a:r>
          </a:p>
          <a:p xmlns:a="http://schemas.openxmlformats.org/drawingml/2006/main">
            <a:pPr>
              <a:buNone/>
            </a:pPr>
            <a:r>
              <a:rPr lang="en-US" sz="1100"/>
              <a:t>RESPOND: If this task shows the lesson misconception—giving a rate without units or reversing the comparison—label distance and time separately on the existing representation.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3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3.2, slide 18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label both units; interpret a rate per one unit; use the rate in the existing travel model.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3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3.2, slide 19 | REVEAL</a:t>
            </a:r>
          </a:p>
          <a:p xmlns:a="http://schemas.openxmlformats.org/drawingml/2006/main">
            <a:pPr>
              <a:buNone/>
            </a:pPr>
            <a:r>
              <a:rPr lang="en-US" sz="1100"/>
              <a:t>Focus on the existing task: What do you need to find in this problem?</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the rate in the existing travel model. Ask which feature of their work supports the claim.</a:t>
            </a:r>
          </a:p>
          <a:p xmlns:a="http://schemas.openxmlformats.org/drawingml/2006/main">
            <a:pPr>
              <a:buNone/>
            </a:pPr>
            <a:r>
              <a:rPr lang="en-US" sz="1100"/>
              <a:t>RESPOND: If this task shows the lesson misconception—giving a rate without units or reversing the comparison—label distance and time separately on the existing representation.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3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3.2, slide 20 | REVEAL</a:t>
            </a:r>
          </a:p>
          <a:p xmlns:a="http://schemas.openxmlformats.org/drawingml/2006/main">
            <a:pPr>
              <a:buNone/>
            </a:pPr>
            <a:r>
              <a:rPr lang="en-US" sz="1100"/>
              <a:t>Focus on the existing task: We know the train is traveling a distance of 450 miles at a speed of 150 miles per hour. How can you interpret the information about the maximum speed of the train for the entire duration of the trip?</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interpret a rate per one unit. Ask which feature of their work supports the claim.</a:t>
            </a:r>
          </a:p>
          <a:p xmlns:a="http://schemas.openxmlformats.org/drawingml/2006/main">
            <a:pPr>
              <a:buNone/>
            </a:pPr>
            <a:r>
              <a:rPr lang="en-US" sz="1100"/>
              <a:t>RESPOND: If this task shows the lesson misconception—giving a rate without units or reversing the comparison—label distance and time separately on the existing representation.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3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3.2, slide 21 | COLLABORATE</a:t>
            </a:r>
          </a:p>
          <a:p xmlns:a="http://schemas.openxmlformats.org/drawingml/2006/main">
            <a:pPr>
              <a:buNone/>
            </a:pPr>
            <a:r>
              <a:rPr lang="en-US" sz="1100"/>
              <a:t>Focus on the existing task: A rate is a ratio that compares two related quantities with different units. What does “per hour” represent in this rate?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label both units. Ask which feature of their work supports the claim.</a:t>
            </a:r>
          </a:p>
          <a:p xmlns:a="http://schemas.openxmlformats.org/drawingml/2006/main">
            <a:pPr>
              <a:buNone/>
            </a:pPr>
            <a:r>
              <a:rPr lang="en-US" sz="1100"/>
              <a:t>RESPOND: If this task shows the lesson misconception—giving a rate without units or reversing the comparison—label distance and time separately on the existing representation.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3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3.2, slide 26 | CURIOUS</a:t>
            </a:r>
          </a:p>
          <a:p xmlns:a="http://schemas.openxmlformats.org/drawingml/2006/main">
            <a:pPr>
              <a:buNone/>
            </a:pPr>
            <a:r>
              <a:rPr lang="en-US" sz="1100"/>
              <a:t>Focus on the existing task: Be Curious What do you see?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label both units. Ask which feature of their work supports the claim.</a:t>
            </a:r>
          </a:p>
          <a:p xmlns:a="http://schemas.openxmlformats.org/drawingml/2006/main">
            <a:pPr>
              <a:buNone/>
            </a:pPr>
            <a:r>
              <a:rPr lang="en-US" sz="1100"/>
              <a:t>RESPOND: If this task shows the lesson misconception—giving a rate without units or reversing the comparison—label distance and time separately on the existing representation.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3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3.2, slide 32 | PRIOR_INSERT</a:t>
            </a:r>
          </a:p>
          <a:p xmlns:a="http://schemas.openxmlformats.org/drawingml/2006/main">
            <a:pPr>
              <a:buNone/>
            </a:pPr>
            <a:r>
              <a:rPr lang="en-US" sz="1100"/>
              <a:t>Focus on the existing task: LESSON 3.2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label both units; interpret a rate per one unit; use the rate in the existing travel model.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3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3.2, slide 33 | REVEAL</a:t>
            </a:r>
          </a:p>
          <a:p xmlns:a="http://schemas.openxmlformats.org/drawingml/2006/main">
            <a:pPr>
              <a:buNone/>
            </a:pPr>
            <a:r>
              <a:rPr lang="en-US" sz="1100"/>
              <a:t>Focus on the existing task: Yelina will take the train into the city each day for one week. Which pass offers her the lower cost per day?</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label both units. Ask which feature of their work supports the claim.</a:t>
            </a:r>
          </a:p>
          <a:p xmlns:a="http://schemas.openxmlformats.org/drawingml/2006/main">
            <a:pPr>
              <a:buNone/>
            </a:pPr>
            <a:r>
              <a:rPr lang="en-US" sz="1100"/>
              <a:t>RESPOND: If this task shows the lesson misconception—giving a rate without units or reversing the comparison—label distance and time separately on the existing representation.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3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3.2, slide 34 | REVEAL</a:t>
            </a:r>
          </a:p>
          <a:p xmlns:a="http://schemas.openxmlformats.org/drawingml/2006/main">
            <a:pPr>
              <a:buNone/>
            </a:pPr>
            <a:r>
              <a:rPr lang="en-US" sz="1100"/>
              <a:t>Focus on the existing task: How can you express the cost of a 1-day pass as a rate?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interpret a rate per one unit. Ask which feature of their work supports the claim.</a:t>
            </a:r>
          </a:p>
          <a:p xmlns:a="http://schemas.openxmlformats.org/drawingml/2006/main">
            <a:pPr>
              <a:buNone/>
            </a:pPr>
            <a:r>
              <a:rPr lang="en-US" sz="1100"/>
              <a:t>RESPOND: If this task shows the lesson misconception—giving a rate without units or reversing the comparison—label distance and time separately on the existing representation.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4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3.2, slide 35 | REVEAL</a:t>
            </a:r>
          </a:p>
          <a:p xmlns:a="http://schemas.openxmlformats.org/drawingml/2006/main">
            <a:pPr>
              <a:buNone/>
            </a:pPr>
            <a:r>
              <a:rPr lang="en-US" sz="1100"/>
              <a:t>Focus on the existing task: The 7-day pass costs $35 for every 7 days. What is the rate for a 7-day pass?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interpret a rate per one unit. Ask which feature of their work supports the claim.</a:t>
            </a:r>
          </a:p>
          <a:p xmlns:a="http://schemas.openxmlformats.org/drawingml/2006/main">
            <a:pPr>
              <a:buNone/>
            </a:pPr>
            <a:r>
              <a:rPr lang="en-US" sz="1100"/>
              <a:t>RESPOND: If this task shows the lesson misconception—giving a rate without units or reversing the comparison—label distance and time separately on the existing representation.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Title Slide Photo">
  <p:cSld name="2_Title Slide Photo">
    <p:spTree>
      <p:nvGrpSpPr>
        <p:cNvPr id="1" name="Shape 15"/>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1-column">
  <p:cSld name="Content 1-column">
    <p:spTree>
      <p:nvGrpSpPr>
        <p:cNvPr id="1" name="Shape 16"/>
        <p:cNvGrpSpPr/>
        <p:nvPr/>
      </p:nvGrpSpPr>
      <p:grpSpPr>
        <a:xfrm>
          <a:off x="0" y="0"/>
          <a:ext cx="0" cy="0"/>
          <a:chOff x="0" y="0"/>
          <a:chExt cx="0" cy="0"/>
        </a:xfrm>
      </p:grpSpPr>
      <p:sp>
        <p:nvSpPr>
          <p:cNvPr id="17" name="Google Shape;17;p3"/>
          <p:cNvSpPr txBox="1">
            <a:spLocks noGrp="1"/>
          </p:cNvSpPr>
          <p:nvPr>
            <p:ph type="sldNum" idx="12"/>
          </p:nvPr>
        </p:nvSpPr>
        <p:spPr>
          <a:xfrm>
            <a:off x="10436045" y="6528815"/>
            <a:ext cx="1278151" cy="2286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a:solidFill>
                  <a:schemeClr val="dk2"/>
                </a:solidFill>
                <a:latin typeface="Arial"/>
                <a:ea typeface="Arial"/>
                <a:cs typeface="Arial"/>
                <a:sym typeface="Arial"/>
              </a:defRPr>
            </a:lvl1pPr>
            <a:lvl2pPr marL="0" marR="0" lvl="1" indent="0" algn="r" rtl="0">
              <a:spcBef>
                <a:spcPts val="0"/>
              </a:spcBef>
              <a:buNone/>
              <a:defRPr sz="900">
                <a:solidFill>
                  <a:schemeClr val="dk2"/>
                </a:solidFill>
                <a:latin typeface="Arial"/>
                <a:ea typeface="Arial"/>
                <a:cs typeface="Arial"/>
                <a:sym typeface="Arial"/>
              </a:defRPr>
            </a:lvl2pPr>
            <a:lvl3pPr marL="0" marR="0" lvl="2" indent="0" algn="r" rtl="0">
              <a:spcBef>
                <a:spcPts val="0"/>
              </a:spcBef>
              <a:buNone/>
              <a:defRPr sz="900">
                <a:solidFill>
                  <a:schemeClr val="dk2"/>
                </a:solidFill>
                <a:latin typeface="Arial"/>
                <a:ea typeface="Arial"/>
                <a:cs typeface="Arial"/>
                <a:sym typeface="Arial"/>
              </a:defRPr>
            </a:lvl3pPr>
            <a:lvl4pPr marL="0" marR="0" lvl="3" indent="0" algn="r" rtl="0">
              <a:spcBef>
                <a:spcPts val="0"/>
              </a:spcBef>
              <a:buNone/>
              <a:defRPr sz="900">
                <a:solidFill>
                  <a:schemeClr val="dk2"/>
                </a:solidFill>
                <a:latin typeface="Arial"/>
                <a:ea typeface="Arial"/>
                <a:cs typeface="Arial"/>
                <a:sym typeface="Arial"/>
              </a:defRPr>
            </a:lvl4pPr>
            <a:lvl5pPr marL="0" marR="0" lvl="4" indent="0" algn="r" rtl="0">
              <a:spcBef>
                <a:spcPts val="0"/>
              </a:spcBef>
              <a:buNone/>
              <a:defRPr sz="900">
                <a:solidFill>
                  <a:schemeClr val="dk2"/>
                </a:solidFill>
                <a:latin typeface="Arial"/>
                <a:ea typeface="Arial"/>
                <a:cs typeface="Arial"/>
                <a:sym typeface="Arial"/>
              </a:defRPr>
            </a:lvl5pPr>
            <a:lvl6pPr marL="0" marR="0" lvl="5" indent="0" algn="r" rtl="0">
              <a:spcBef>
                <a:spcPts val="0"/>
              </a:spcBef>
              <a:buNone/>
              <a:defRPr sz="900">
                <a:solidFill>
                  <a:schemeClr val="dk2"/>
                </a:solidFill>
                <a:latin typeface="Arial"/>
                <a:ea typeface="Arial"/>
                <a:cs typeface="Arial"/>
                <a:sym typeface="Arial"/>
              </a:defRPr>
            </a:lvl6pPr>
            <a:lvl7pPr marL="0" marR="0" lvl="6" indent="0" algn="r" rtl="0">
              <a:spcBef>
                <a:spcPts val="0"/>
              </a:spcBef>
              <a:buNone/>
              <a:defRPr sz="900">
                <a:solidFill>
                  <a:schemeClr val="dk2"/>
                </a:solidFill>
                <a:latin typeface="Arial"/>
                <a:ea typeface="Arial"/>
                <a:cs typeface="Arial"/>
                <a:sym typeface="Arial"/>
              </a:defRPr>
            </a:lvl7pPr>
            <a:lvl8pPr marL="0" marR="0" lvl="7" indent="0" algn="r" rtl="0">
              <a:spcBef>
                <a:spcPts val="0"/>
              </a:spcBef>
              <a:buNone/>
              <a:defRPr sz="900">
                <a:solidFill>
                  <a:schemeClr val="dk2"/>
                </a:solidFill>
                <a:latin typeface="Arial"/>
                <a:ea typeface="Arial"/>
                <a:cs typeface="Arial"/>
                <a:sym typeface="Arial"/>
              </a:defRPr>
            </a:lvl8pPr>
            <a:lvl9pPr marL="0" marR="0" lvl="8" indent="0" algn="r" rtl="0">
              <a:spcBef>
                <a:spcPts val="0"/>
              </a:spcBef>
              <a:buNone/>
              <a:defRPr sz="900">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b="1">
                <a:solidFill>
                  <a:schemeClr val="dk2"/>
                </a:solidFill>
                <a:latin typeface="Arial"/>
                <a:ea typeface="Arial"/>
                <a:cs typeface="Arial"/>
                <a:sym typeface="Arial"/>
              </a:rPr>
              <a:t>McGraw Hill   |</a:t>
            </a:r>
            <a:endParaRPr sz="900">
              <a:solidFill>
                <a:schemeClr val="dk2"/>
              </a:solidFill>
              <a:latin typeface="Arial"/>
              <a:ea typeface="Arial"/>
              <a:cs typeface="Arial"/>
              <a:sym typeface="Arial"/>
            </a:endParaRPr>
          </a:p>
        </p:txBody>
      </p:sp>
      <p:sp>
        <p:nvSpPr>
          <p:cNvPr id="19" name="Google Shape;19;p3"/>
          <p:cNvSpPr txBox="1">
            <a:spLocks noGrp="1"/>
          </p:cNvSpPr>
          <p:nvPr>
            <p:ph type="ftr" idx="11"/>
          </p:nvPr>
        </p:nvSpPr>
        <p:spPr>
          <a:xfrm>
            <a:off x="1402828" y="6528816"/>
            <a:ext cx="7315200" cy="2286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a:solidFill>
                  <a:schemeClr val="dk2"/>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 name="Google Shape;30;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5" name="Google Shape;35;p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6" name="Google Shape;3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7" name="Google Shape;3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1" name="Google Shape;41;p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2" name="Google Shape;42;p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3" name="Google Shape;43;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4" name="Google Shape;44;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5" name="Google Shape;45;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8" name="Google Shape;48;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9" name="Google Shape;49;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0" name="Google Shape;50;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51" name="Google Shape;51;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2" name="Google Shape;5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7" name="Google Shape;57;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8" name="Google Shape;58;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2" name="Google Shape;6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4"/>
        <p:cNvGrpSpPr/>
        <p:nvPr/>
      </p:nvGrpSpPr>
      <p:grpSpPr>
        <a:xfrm>
          <a:off x="0" y="0"/>
          <a:ext cx="0" cy="0"/>
          <a:chOff x="0" y="0"/>
          <a:chExt cx="0" cy="0"/>
        </a:xfrm>
      </p:grpSpPr>
      <p:sp>
        <p:nvSpPr>
          <p:cNvPr id="65" name="Google Shape;65;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6" name="Google Shape;66;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7" name="Google Shape;67;p1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8" name="Google Shape;6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9" name="Google Shape;6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1"/>
        <p:cNvGrpSpPr/>
        <p:nvPr/>
      </p:nvGrpSpPr>
      <p:grpSpPr>
        <a:xfrm>
          <a:off x="0" y="0"/>
          <a:ext cx="0" cy="0"/>
          <a:chOff x="0" y="0"/>
          <a:chExt cx="0" cy="0"/>
        </a:xfrm>
      </p:grpSpPr>
      <p:sp>
        <p:nvSpPr>
          <p:cNvPr id="72" name="Google Shape;72;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3" name="Google Shape;73;p13"/>
          <p:cNvSpPr>
            <a:spLocks noGrp="1"/>
          </p:cNvSpPr>
          <p:nvPr>
            <p:ph type="pic" idx="2"/>
          </p:nvPr>
        </p:nvSpPr>
        <p:spPr>
          <a:xfrm>
            <a:off x="5183188" y="987425"/>
            <a:ext cx="6172200" cy="4873625"/>
          </a:xfrm>
          <a:prstGeom prst="rect">
            <a:avLst/>
          </a:prstGeom>
          <a:noFill/>
          <a:ln>
            <a:noFill/>
          </a:ln>
        </p:spPr>
      </p:sp>
      <p:sp>
        <p:nvSpPr>
          <p:cNvPr id="74" name="Google Shape;74;p1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75" name="Google Shape;75;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4"/>
        <p:cNvGrpSpPr/>
        <p:nvPr/>
      </p:nvGrpSpPr>
      <p:grpSpPr>
        <a:xfrm>
          <a:off x="0" y="0"/>
          <a:ext cx="0" cy="0"/>
          <a:chOff x="0" y="0"/>
          <a:chExt cx="0" cy="0"/>
        </a:xfrm>
      </p:grpSpPr>
      <p:sp>
        <p:nvSpPr>
          <p:cNvPr id="85" name="Google Shape;85;p1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6" name="Google Shape;86;p1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7" name="Google Shape;8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6"/>
        <p:cNvGrpSpPr/>
        <p:nvPr/>
      </p:nvGrpSpPr>
      <p:grpSpPr>
        <a:xfrm>
          <a:off x="0" y="0"/>
          <a:ext cx="0" cy="0"/>
          <a:chOff x="0" y="0"/>
          <a:chExt cx="0" cy="0"/>
        </a:xfrm>
      </p:grpSpPr>
      <p:sp>
        <p:nvSpPr>
          <p:cNvPr id="97" name="Google Shape;9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8" name="Google Shape;9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9" name="Google Shape;9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1"/>
        <p:cNvGrpSpPr/>
        <p:nvPr/>
      </p:nvGrpSpPr>
      <p:grpSpPr>
        <a:xfrm>
          <a:off x="0" y="0"/>
          <a:ext cx="0" cy="0"/>
          <a:chOff x="0" y="0"/>
          <a:chExt cx="0" cy="0"/>
        </a:xfrm>
      </p:grpSpPr>
      <p:sp>
        <p:nvSpPr>
          <p:cNvPr id="102" name="Google Shape;102;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3" name="Google Shape;103;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4" name="Google Shape;10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5" name="Google Shape;10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6" name="Google Shape;10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7"/>
        <p:cNvGrpSpPr/>
        <p:nvPr/>
      </p:nvGrpSpPr>
      <p:grpSpPr>
        <a:xfrm>
          <a:off x="0" y="0"/>
          <a:ext cx="0" cy="0"/>
          <a:chOff x="0" y="0"/>
          <a:chExt cx="0" cy="0"/>
        </a:xfrm>
      </p:grpSpPr>
      <p:sp>
        <p:nvSpPr>
          <p:cNvPr id="108" name="Google Shape;108;p2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2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110" name="Google Shape;110;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1" name="Google Shape;111;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2" name="Google Shape;112;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13"/>
        <p:cNvGrpSpPr/>
        <p:nvPr/>
      </p:nvGrpSpPr>
      <p:grpSpPr>
        <a:xfrm>
          <a:off x="0" y="0"/>
          <a:ext cx="0" cy="0"/>
          <a:chOff x="0" y="0"/>
          <a:chExt cx="0" cy="0"/>
        </a:xfrm>
      </p:grpSpPr>
      <p:sp>
        <p:nvSpPr>
          <p:cNvPr id="114" name="Google Shape;114;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5" name="Google Shape;115;p2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6" name="Google Shape;116;p2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7" name="Google Shape;11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8" name="Google Shape;11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9" name="Google Shape;11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20"/>
        <p:cNvGrpSpPr/>
        <p:nvPr/>
      </p:nvGrpSpPr>
      <p:grpSpPr>
        <a:xfrm>
          <a:off x="0" y="0"/>
          <a:ext cx="0" cy="0"/>
          <a:chOff x="0" y="0"/>
          <a:chExt cx="0" cy="0"/>
        </a:xfrm>
      </p:grpSpPr>
      <p:sp>
        <p:nvSpPr>
          <p:cNvPr id="121" name="Google Shape;121;p2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2" name="Google Shape;122;p2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23" name="Google Shape;123;p2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4" name="Google Shape;124;p2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25" name="Google Shape;125;p2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6" name="Google Shape;12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7" name="Google Shape;12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8" name="Google Shape;12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9"/>
        <p:cNvGrpSpPr/>
        <p:nvPr/>
      </p:nvGrpSpPr>
      <p:grpSpPr>
        <a:xfrm>
          <a:off x="0" y="0"/>
          <a:ext cx="0" cy="0"/>
          <a:chOff x="0" y="0"/>
          <a:chExt cx="0" cy="0"/>
        </a:xfrm>
      </p:grpSpPr>
      <p:sp>
        <p:nvSpPr>
          <p:cNvPr id="130" name="Google Shape;130;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1" name="Google Shape;131;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2" name="Google Shape;132;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3" name="Google Shape;133;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34"/>
        <p:cNvGrpSpPr/>
        <p:nvPr/>
      </p:nvGrpSpPr>
      <p:grpSpPr>
        <a:xfrm>
          <a:off x="0" y="0"/>
          <a:ext cx="0" cy="0"/>
          <a:chOff x="0" y="0"/>
          <a:chExt cx="0" cy="0"/>
        </a:xfrm>
      </p:grpSpPr>
      <p:sp>
        <p:nvSpPr>
          <p:cNvPr id="135" name="Google Shape;135;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6" name="Google Shape;136;p2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7" name="Google Shape;137;p2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138" name="Google Shape;138;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9" name="Google Shape;139;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0" name="Google Shape;14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1"/>
        <p:cNvGrpSpPr/>
        <p:nvPr/>
      </p:nvGrpSpPr>
      <p:grpSpPr>
        <a:xfrm>
          <a:off x="0" y="0"/>
          <a:ext cx="0" cy="0"/>
          <a:chOff x="0" y="0"/>
          <a:chExt cx="0" cy="0"/>
        </a:xfrm>
      </p:grpSpPr>
      <p:sp>
        <p:nvSpPr>
          <p:cNvPr id="142" name="Google Shape;142;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3" name="Google Shape;143;p25"/>
          <p:cNvSpPr>
            <a:spLocks noGrp="1"/>
          </p:cNvSpPr>
          <p:nvPr>
            <p:ph type="pic" idx="2"/>
          </p:nvPr>
        </p:nvSpPr>
        <p:spPr>
          <a:xfrm>
            <a:off x="5183188" y="987425"/>
            <a:ext cx="6172200" cy="4873625"/>
          </a:xfrm>
          <a:prstGeom prst="rect">
            <a:avLst/>
          </a:prstGeom>
          <a:noFill/>
          <a:ln>
            <a:noFill/>
          </a:ln>
        </p:spPr>
      </p:sp>
      <p:sp>
        <p:nvSpPr>
          <p:cNvPr id="144" name="Google Shape;144;p2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145" name="Google Shape;14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6" name="Google Shape;14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7" name="Google Shape;14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8"/>
        <p:cNvGrpSpPr/>
        <p:nvPr/>
      </p:nvGrpSpPr>
      <p:grpSpPr>
        <a:xfrm>
          <a:off x="0" y="0"/>
          <a:ext cx="0" cy="0"/>
          <a:chOff x="0" y="0"/>
          <a:chExt cx="0" cy="0"/>
        </a:xfrm>
      </p:grpSpPr>
      <p:sp>
        <p:nvSpPr>
          <p:cNvPr id="149" name="Google Shape;149;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0" name="Google Shape;150;p2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1" name="Google Shape;151;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2" name="Google Shape;152;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3" name="Google Shape;153;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4"/>
        <p:cNvGrpSpPr/>
        <p:nvPr/>
      </p:nvGrpSpPr>
      <p:grpSpPr>
        <a:xfrm>
          <a:off x="0" y="0"/>
          <a:ext cx="0" cy="0"/>
          <a:chOff x="0" y="0"/>
          <a:chExt cx="0" cy="0"/>
        </a:xfrm>
      </p:grpSpPr>
      <p:sp>
        <p:nvSpPr>
          <p:cNvPr id="155" name="Google Shape;155;p2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6" name="Google Shape;156;p2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7" name="Google Shape;15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8" name="Google Shape;15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9" name="Google Shape;15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6"/>
        <p:cNvGrpSpPr/>
        <p:nvPr/>
      </p:nvGrpSpPr>
      <p:grpSpPr>
        <a:xfrm>
          <a:off x="0" y="0"/>
          <a:ext cx="0" cy="0"/>
          <a:chOff x="0" y="0"/>
          <a:chExt cx="0" cy="0"/>
        </a:xfrm>
      </p:grpSpPr>
      <p:sp>
        <p:nvSpPr>
          <p:cNvPr id="167" name="Google Shape;167;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8" name="Google Shape;168;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9" name="Google Shape;16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0" name="Google Shape;17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1" name="Google Shape;17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2"/>
        <p:cNvGrpSpPr/>
        <p:nvPr/>
      </p:nvGrpSpPr>
      <p:grpSpPr>
        <a:xfrm>
          <a:off x="0" y="0"/>
          <a:ext cx="0" cy="0"/>
          <a:chOff x="0" y="0"/>
          <a:chExt cx="0" cy="0"/>
        </a:xfrm>
      </p:grpSpPr>
      <p:sp>
        <p:nvSpPr>
          <p:cNvPr id="173" name="Google Shape;173;p3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4" name="Google Shape;174;p3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175" name="Google Shape;17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6" name="Google Shape;17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7" name="Google Shape;17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8"/>
        <p:cNvGrpSpPr/>
        <p:nvPr/>
      </p:nvGrpSpPr>
      <p:grpSpPr>
        <a:xfrm>
          <a:off x="0" y="0"/>
          <a:ext cx="0" cy="0"/>
          <a:chOff x="0" y="0"/>
          <a:chExt cx="0" cy="0"/>
        </a:xfrm>
      </p:grpSpPr>
      <p:sp>
        <p:nvSpPr>
          <p:cNvPr id="179" name="Google Shape;179;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80" name="Google Shape;180;p3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1" name="Google Shape;181;p3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2" name="Google Shape;182;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3" name="Google Shape;183;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4" name="Google Shape;184;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85"/>
        <p:cNvGrpSpPr/>
        <p:nvPr/>
      </p:nvGrpSpPr>
      <p:grpSpPr>
        <a:xfrm>
          <a:off x="0" y="0"/>
          <a:ext cx="0" cy="0"/>
          <a:chOff x="0" y="0"/>
          <a:chExt cx="0" cy="0"/>
        </a:xfrm>
      </p:grpSpPr>
      <p:sp>
        <p:nvSpPr>
          <p:cNvPr id="186" name="Google Shape;186;p3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87" name="Google Shape;187;p3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88" name="Google Shape;188;p3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9" name="Google Shape;189;p3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90" name="Google Shape;190;p3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91" name="Google Shape;191;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2" name="Google Shape;192;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3" name="Google Shape;193;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4"/>
        <p:cNvGrpSpPr/>
        <p:nvPr/>
      </p:nvGrpSpPr>
      <p:grpSpPr>
        <a:xfrm>
          <a:off x="0" y="0"/>
          <a:ext cx="0" cy="0"/>
          <a:chOff x="0" y="0"/>
          <a:chExt cx="0" cy="0"/>
        </a:xfrm>
      </p:grpSpPr>
      <p:sp>
        <p:nvSpPr>
          <p:cNvPr id="195" name="Google Shape;195;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96" name="Google Shape;196;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7" name="Google Shape;197;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8" name="Google Shape;198;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9"/>
        <p:cNvGrpSpPr/>
        <p:nvPr/>
      </p:nvGrpSpPr>
      <p:grpSpPr>
        <a:xfrm>
          <a:off x="0" y="0"/>
          <a:ext cx="0" cy="0"/>
          <a:chOff x="0" y="0"/>
          <a:chExt cx="0" cy="0"/>
        </a:xfrm>
      </p:grpSpPr>
      <p:sp>
        <p:nvSpPr>
          <p:cNvPr id="200" name="Google Shape;200;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1" name="Google Shape;201;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2" name="Google Shape;202;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03"/>
        <p:cNvGrpSpPr/>
        <p:nvPr/>
      </p:nvGrpSpPr>
      <p:grpSpPr>
        <a:xfrm>
          <a:off x="0" y="0"/>
          <a:ext cx="0" cy="0"/>
          <a:chOff x="0" y="0"/>
          <a:chExt cx="0" cy="0"/>
        </a:xfrm>
      </p:grpSpPr>
      <p:sp>
        <p:nvSpPr>
          <p:cNvPr id="204" name="Google Shape;204;p3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5" name="Google Shape;205;p3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06" name="Google Shape;206;p3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207" name="Google Shape;207;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8" name="Google Shape;208;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9" name="Google Shape;209;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10"/>
        <p:cNvGrpSpPr/>
        <p:nvPr/>
      </p:nvGrpSpPr>
      <p:grpSpPr>
        <a:xfrm>
          <a:off x="0" y="0"/>
          <a:ext cx="0" cy="0"/>
          <a:chOff x="0" y="0"/>
          <a:chExt cx="0" cy="0"/>
        </a:xfrm>
      </p:grpSpPr>
      <p:sp>
        <p:nvSpPr>
          <p:cNvPr id="211" name="Google Shape;211;p3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12" name="Google Shape;212;p37"/>
          <p:cNvSpPr>
            <a:spLocks noGrp="1"/>
          </p:cNvSpPr>
          <p:nvPr>
            <p:ph type="pic" idx="2"/>
          </p:nvPr>
        </p:nvSpPr>
        <p:spPr>
          <a:xfrm>
            <a:off x="5183188" y="987425"/>
            <a:ext cx="6172200" cy="4873625"/>
          </a:xfrm>
          <a:prstGeom prst="rect">
            <a:avLst/>
          </a:prstGeom>
          <a:noFill/>
          <a:ln>
            <a:noFill/>
          </a:ln>
        </p:spPr>
      </p:sp>
      <p:sp>
        <p:nvSpPr>
          <p:cNvPr id="213" name="Google Shape;213;p3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214" name="Google Shape;214;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15" name="Google Shape;215;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16" name="Google Shape;216;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17"/>
        <p:cNvGrpSpPr/>
        <p:nvPr/>
      </p:nvGrpSpPr>
      <p:grpSpPr>
        <a:xfrm>
          <a:off x="0" y="0"/>
          <a:ext cx="0" cy="0"/>
          <a:chOff x="0" y="0"/>
          <a:chExt cx="0" cy="0"/>
        </a:xfrm>
      </p:grpSpPr>
      <p:sp>
        <p:nvSpPr>
          <p:cNvPr id="218" name="Google Shape;218;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19" name="Google Shape;219;p3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0" name="Google Shape;220;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1" name="Google Shape;221;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2" name="Google Shape;222;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23"/>
        <p:cNvGrpSpPr/>
        <p:nvPr/>
      </p:nvGrpSpPr>
      <p:grpSpPr>
        <a:xfrm>
          <a:off x="0" y="0"/>
          <a:ext cx="0" cy="0"/>
          <a:chOff x="0" y="0"/>
          <a:chExt cx="0" cy="0"/>
        </a:xfrm>
      </p:grpSpPr>
      <p:sp>
        <p:nvSpPr>
          <p:cNvPr id="224" name="Google Shape;224;p3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25" name="Google Shape;225;p3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6" name="Google Shape;226;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7" name="Google Shape;227;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8" name="Google Shape;228;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 Id="rId5"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theme" Target="../theme/theme2.xml"/><Relationship Id="rId13"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theme" Target="../theme/theme3.xml"/><Relationship Id="rId13"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 Id="rId11" Type="http://schemas.openxmlformats.org/officeDocument/2006/relationships/slideLayout" Target="../slideLayouts/slideLayout35.xml"/><Relationship Id="rId12" Type="http://schemas.openxmlformats.org/officeDocument/2006/relationships/theme" Target="../theme/theme4.xml"/><Relationship Id="rId13"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
          <p:cNvPicPr preferRelativeResize="0"/>
          <p:nvPr/>
        </p:nvPicPr>
        <p:blipFill rotWithShape="1">
          <a:blip r:embed="rId4">
            <a:alphaModFix/>
          </a:blip>
          <a:srcRect/>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900" b="0" i="0" u="none" strike="noStrike" cap="none">
                <a:solidFill>
                  <a:schemeClr val="dk2"/>
                </a:solidFill>
                <a:latin typeface="Arial"/>
                <a:ea typeface="Arial"/>
                <a:cs typeface="Arial"/>
                <a:sym typeface="Arial"/>
              </a:rPr>
              <a:t>Copyright © McGraw Hill</a:t>
            </a:r>
            <a:endParaRPr/>
          </a:p>
        </p:txBody>
      </p:sp>
      <p:pic>
        <p:nvPicPr>
          <p:cNvPr id="12" name="Google Shape;12;p1"/>
          <p:cNvPicPr preferRelativeResize="0"/>
          <p:nvPr/>
        </p:nvPicPr>
        <p:blipFill rotWithShape="1">
          <a:blip r:embed="rId5">
            <a:alphaModFix/>
          </a:blip>
          <a:srcRect/>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w="22225" cap="flat" cmpd="sng">
            <a:solidFill>
              <a:srgbClr val="BFBFBF"/>
            </a:solidFill>
            <a:prstDash val="solid"/>
            <a:miter lim="8000"/>
            <a:headEnd type="none" w="sm" len="sm"/>
            <a:tailEnd type="none" w="sm" len="sm"/>
          </a:ln>
        </p:spPr>
      </p:cxnSp>
      <p:sp>
        <p:nvSpPr>
          <p:cNvPr id="14" name="Google Shape;14;p1"/>
          <p:cNvSpPr txBox="1"/>
          <p:nvPr/>
        </p:nvSpPr>
        <p:spPr>
          <a:xfrm>
            <a:off x="9064487" y="6399634"/>
            <a:ext cx="3107634" cy="47824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800" b="0" i="0" u="none" strike="noStrike" cap="none">
                <a:solidFill>
                  <a:srgbClr val="3F3F3F"/>
                </a:solidFill>
                <a:latin typeface="Arial"/>
                <a:ea typeface="Arial"/>
                <a:cs typeface="Arial"/>
                <a:sym typeface="Arial"/>
              </a:rPr>
              <a:t>This material may be reproduced for licensed classroom use only and may not be further reproduced or distributed.</a:t>
            </a:r>
            <a:endParaRPr/>
          </a:p>
        </p:txBody>
      </p:sp>
    </p:spTree>
  </p:cSld>
  <p:clrMap bg1="lt1" tx1="dk1" bg2="dk2" tx2="lt2" accent1="accent1" accent2="accent2" accent3="accent3" accent4="accent4" accent5="accent5" accent6="accent6" hlink="hlink" folHlink="folHlink"/>
  <p:sldLayoutIdLst>
    <p:sldLayoutId id="2147483654" r:id="rId1"/>
    <p:sldLayoutId id="2147483655"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w="22225" cap="flat" cmpd="sng">
            <a:solidFill>
              <a:srgbClr val="BFBFBF"/>
            </a:solidFill>
            <a:prstDash val="solid"/>
            <a:miter lim="8000"/>
            <a:headEnd type="none" w="sm" len="sm"/>
            <a:tailEnd type="none" w="sm" len="sm"/>
          </a:ln>
        </p:spPr>
      </p:cxnSp>
      <p:sp>
        <p:nvSpPr>
          <p:cNvPr id="22" name="Google Shape;22;p4"/>
          <p:cNvSpPr txBox="1"/>
          <p:nvPr/>
        </p:nvSpPr>
        <p:spPr>
          <a:xfrm>
            <a:off x="490549" y="6528815"/>
            <a:ext cx="1036320" cy="32466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b="1">
                <a:solidFill>
                  <a:schemeClr val="dk2"/>
                </a:solidFill>
                <a:latin typeface="Arial"/>
                <a:ea typeface="Arial"/>
                <a:cs typeface="Arial"/>
                <a:sym typeface="Arial"/>
              </a:rPr>
              <a:t>McGraw Hill   |</a:t>
            </a:r>
            <a:endParaRPr sz="900">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b="0">
                <a:solidFill>
                  <a:schemeClr val="dk2"/>
                </a:solidFill>
                <a:latin typeface="Arial"/>
                <a:ea typeface="Arial"/>
                <a:cs typeface="Arial"/>
                <a:sym typeface="Arial"/>
              </a:rPr>
              <a:t>Understand Rates and Unit Rates</a:t>
            </a:r>
            <a:endParaRPr/>
          </a:p>
        </p:txBody>
      </p:sp>
      <p:sp>
        <p:nvSpPr>
          <p:cNvPr id="24" name="Google Shape;24;p4"/>
          <p:cNvSpPr txBox="1"/>
          <p:nvPr/>
        </p:nvSpPr>
        <p:spPr>
          <a:xfrm>
            <a:off x="9064487" y="6399634"/>
            <a:ext cx="3107634" cy="47824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800">
                <a:solidFill>
                  <a:srgbClr val="3F3F3F"/>
                </a:solidFill>
                <a:latin typeface="Arial"/>
                <a:ea typeface="Arial"/>
                <a:cs typeface="Arial"/>
                <a:sym typeface="Arial"/>
              </a:rPr>
              <a:t>This material may be reproduced for licensed classroom use only and may not be further reproduced or distributed.</a:t>
            </a:r>
            <a:endParaRPr/>
          </a:p>
        </p:txBody>
      </p:sp>
      <p:pic>
        <p:nvPicPr>
          <p:cNvPr id="25" name="Google Shape;25;p4"/>
          <p:cNvPicPr preferRelativeResize="0"/>
          <p:nvPr/>
        </p:nvPicPr>
        <p:blipFill rotWithShape="1">
          <a:blip r:embed="rId13">
            <a:alphaModFix/>
          </a:blip>
          <a:srcRect/>
          <a:stretch/>
        </p:blipFill>
        <p:spPr>
          <a:xfrm>
            <a:off x="4896996" y="0"/>
            <a:ext cx="7295004" cy="119329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w="22225" cap="flat" cmpd="sng">
            <a:solidFill>
              <a:srgbClr val="BFBFBF"/>
            </a:solidFill>
            <a:prstDash val="solid"/>
            <a:miter lim="8000"/>
            <a:headEnd type="none" w="sm" len="sm"/>
            <a:tailEnd type="none" w="sm" len="sm"/>
          </a:ln>
        </p:spPr>
      </p:cxnSp>
      <p:sp>
        <p:nvSpPr>
          <p:cNvPr id="92" name="Google Shape;92;p16"/>
          <p:cNvSpPr txBox="1"/>
          <p:nvPr/>
        </p:nvSpPr>
        <p:spPr>
          <a:xfrm>
            <a:off x="490549" y="6528815"/>
            <a:ext cx="1036320" cy="32466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b="1">
                <a:solidFill>
                  <a:schemeClr val="dk2"/>
                </a:solidFill>
                <a:latin typeface="Arial"/>
                <a:ea typeface="Arial"/>
                <a:cs typeface="Arial"/>
                <a:sym typeface="Arial"/>
              </a:rPr>
              <a:t>McGraw Hill   |</a:t>
            </a:r>
            <a:endParaRPr sz="900">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b="0">
                <a:solidFill>
                  <a:schemeClr val="dk2"/>
                </a:solidFill>
                <a:latin typeface="Arial"/>
                <a:ea typeface="Arial"/>
                <a:cs typeface="Arial"/>
                <a:sym typeface="Arial"/>
              </a:rPr>
              <a:t>Understand Rates and Unit Rates</a:t>
            </a:r>
            <a:endParaRPr/>
          </a:p>
        </p:txBody>
      </p:sp>
      <p:sp>
        <p:nvSpPr>
          <p:cNvPr id="94" name="Google Shape;94;p16"/>
          <p:cNvSpPr txBox="1"/>
          <p:nvPr/>
        </p:nvSpPr>
        <p:spPr>
          <a:xfrm>
            <a:off x="9064487" y="6399634"/>
            <a:ext cx="3107634" cy="47824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800">
                <a:solidFill>
                  <a:srgbClr val="3F3F3F"/>
                </a:solidFill>
                <a:latin typeface="Arial"/>
                <a:ea typeface="Arial"/>
                <a:cs typeface="Arial"/>
                <a:sym typeface="Arial"/>
              </a:rPr>
              <a:t>This material may be reproduced for licensed classroom use only and may not be further reproduced or distributed.</a:t>
            </a:r>
            <a:endParaRPr/>
          </a:p>
        </p:txBody>
      </p:sp>
      <p:pic>
        <p:nvPicPr>
          <p:cNvPr id="95" name="Google Shape;95;p16"/>
          <p:cNvPicPr preferRelativeResize="0"/>
          <p:nvPr/>
        </p:nvPicPr>
        <p:blipFill rotWithShape="1">
          <a:blip r:embed="rId13">
            <a:alphaModFix/>
          </a:blip>
          <a:srcRect/>
          <a:stretch/>
        </p:blipFill>
        <p:spPr>
          <a:xfrm>
            <a:off x="4896996" y="0"/>
            <a:ext cx="7295004" cy="119329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w="22225" cap="flat" cmpd="sng">
            <a:solidFill>
              <a:srgbClr val="BFBFBF"/>
            </a:solidFill>
            <a:prstDash val="solid"/>
            <a:miter lim="8000"/>
            <a:headEnd type="none" w="sm" len="sm"/>
            <a:tailEnd type="none" w="sm" len="sm"/>
          </a:ln>
        </p:spPr>
      </p:cxnSp>
      <p:sp>
        <p:nvSpPr>
          <p:cNvPr id="162" name="Google Shape;162;p28"/>
          <p:cNvSpPr txBox="1"/>
          <p:nvPr/>
        </p:nvSpPr>
        <p:spPr>
          <a:xfrm>
            <a:off x="490549" y="6528815"/>
            <a:ext cx="1036320" cy="32466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b="1">
                <a:solidFill>
                  <a:schemeClr val="dk2"/>
                </a:solidFill>
                <a:latin typeface="Arial"/>
                <a:ea typeface="Arial"/>
                <a:cs typeface="Arial"/>
                <a:sym typeface="Arial"/>
              </a:rPr>
              <a:t>McGraw Hill   |</a:t>
            </a:r>
            <a:endParaRPr sz="900">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800">
                <a:solidFill>
                  <a:srgbClr val="3F3F3F"/>
                </a:solidFill>
                <a:latin typeface="Arial"/>
                <a:ea typeface="Arial"/>
                <a:cs typeface="Arial"/>
                <a:sym typeface="Arial"/>
              </a:rPr>
              <a:t>This material may be reproduced for licensed classroom use only and may not be further reproduced or distributed.</a:t>
            </a:r>
            <a:endParaRPr/>
          </a:p>
        </p:txBody>
      </p:sp>
      <p:pic>
        <p:nvPicPr>
          <p:cNvPr id="164" name="Google Shape;164;p28"/>
          <p:cNvPicPr preferRelativeResize="0"/>
          <p:nvPr/>
        </p:nvPicPr>
        <p:blipFill rotWithShape="1">
          <a:blip r:embed="rId13">
            <a:alphaModFix/>
          </a:blip>
          <a:srcRect/>
          <a:stretch/>
        </p:blipFill>
        <p:spPr>
          <a:xfrm>
            <a:off x="4896996" y="0"/>
            <a:ext cx="7295004" cy="119329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0"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ReferenceHeader3233" Type="http://schemas.openxmlformats.org/officeDocument/2006/relationships/image" Target="../media/reference_header_32_33.png"/><Relationship Id="rIdWarmUpNotes"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ReferenceHeader3233" Type="http://schemas.openxmlformats.org/officeDocument/2006/relationships/image" Target="../media/reference_header_32_33.png"/><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3.xml.rels><?xml version='1.0' encoding='UTF-8' standalone='yes'?>
<Relationships xmlns="http://schemas.openxmlformats.org/package/2006/relationships"><Relationship Id="rIdReferenceHeader3233" Type="http://schemas.openxmlformats.org/officeDocument/2006/relationships/image" Target="../media/reference_header_32_33.png"/><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notesSlide" Target="../notesSlides/notesSlide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notesSlide" Target="../notesSlides/notesSlide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notesSlide" Target="../notesSlides/notesSlide2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notesSlide" Target="../notesSlides/notesSlide2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notesSlide" Target="../notesSlides/notesSlide2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notesSlide" Target="../notesSlides/notesSlide3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 Id="rId3" Type="http://schemas.openxmlformats.org/officeDocument/2006/relationships/image" Target="../media/image10.png"/><Relationship Id="rId4" Type="http://schemas.openxmlformats.org/officeDocument/2006/relationships/notesSlide" Target="../notesSlides/notesSlide31.xml"/></Relationships>
</file>

<file path=ppt/slides/_rels/slide13.xml.rels><?xml version='1.0' encoding='UTF-8' standalone='yes'?>
<Relationships xmlns="http://schemas.openxmlformats.org/package/2006/relationships"><Relationship Id="rIdReferenceHeader3233" Type="http://schemas.openxmlformats.org/officeDocument/2006/relationships/image" Target="../media/reference_header_32_33.png"/><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14.xml.rels><?xml version='1.0' encoding='UTF-8' standalone='yes'?>
<Relationships xmlns="http://schemas.openxmlformats.org/package/2006/relationships"><Relationship Id="rIdReferenceHeader3233" Type="http://schemas.openxmlformats.org/officeDocument/2006/relationships/image" Target="../media/reference_header_32_33.png"/><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ReferenceHeader3233" Type="http://schemas.openxmlformats.org/officeDocument/2006/relationships/image" Target="../media/reference_header_32_33.png"/><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16.xml.rels><?xml version='1.0' encoding='UTF-8' standalone='yes'?>
<Relationships xmlns="http://schemas.openxmlformats.org/package/2006/relationships"><Relationship Id="rIdReferenceHeader3233" Type="http://schemas.openxmlformats.org/officeDocument/2006/relationships/image" Target="../media/reference_header_32_33.png"/><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ReferenceHeader3233" Type="http://schemas.openxmlformats.org/officeDocument/2006/relationships/image" Target="../media/reference_header_32_33.png"/><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35.xml"/></Relationships>
</file>

<file path=ppt/slides/_rels/slide22.xml.rels><?xml version='1.0' encoding='UTF-8' standalone='yes'?>
<Relationships xmlns="http://schemas.openxmlformats.org/package/2006/relationships"><Relationship Id="rIdReferenceHeader3233" Type="http://schemas.openxmlformats.org/officeDocument/2006/relationships/image" Target="../media/reference_header_32_33.png"/><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23.xml.rels><?xml version='1.0' encoding='UTF-8' standalone='yes'?>
<Relationships xmlns="http://schemas.openxmlformats.org/package/2006/relationships"><Relationship Id="rIdReferenceHeader3233" Type="http://schemas.openxmlformats.org/officeDocument/2006/relationships/image" Target="../media/reference_header_32_33.png"/><Relationship Id="rId1" Type="http://schemas.openxmlformats.org/officeDocument/2006/relationships/slideLayout" Target="../slideLayouts/slideLayout9.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ReferenceHeader3233" Type="http://schemas.openxmlformats.org/officeDocument/2006/relationships/image" Target="../media/reference_header_32_33.png"/><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ReferenceHeader3233" Type="http://schemas.openxmlformats.org/officeDocument/2006/relationships/image" Target="../media/reference_header_32_33.png"/><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36.xml"/></Relationships>
</file>

<file path=ppt/slides/_rels/slide27.xml.rels><?xml version='1.0' encoding='UTF-8' standalone='yes'?>
<Relationships xmlns="http://schemas.openxmlformats.org/package/2006/relationships"><Relationship Id="rIdReferenceHeader3233" Type="http://schemas.openxmlformats.org/officeDocument/2006/relationships/image" Target="../media/reference_header_32_33.png"/><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ReferenceHeader3233" Type="http://schemas.openxmlformats.org/officeDocument/2006/relationships/image" Target="../media/reference_header_32_33.png"/><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29.xml.rels><?xml version='1.0' encoding='UTF-8' standalone='yes'?>
<Relationships xmlns="http://schemas.openxmlformats.org/package/2006/relationships"><Relationship Id="rIdReferenceHeader3233" Type="http://schemas.openxmlformats.org/officeDocument/2006/relationships/image" Target="../media/reference_header_32_33.png"/><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ReferenceHeader3233" Type="http://schemas.openxmlformats.org/officeDocument/2006/relationships/image" Target="../media/reference_header_32_33.png"/><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31.xml.rels><?xml version='1.0' encoding='UTF-8' standalone='yes'?>
<Relationships xmlns="http://schemas.openxmlformats.org/package/2006/relationships"><Relationship Id="rIdReferenceHeader3233" Type="http://schemas.openxmlformats.org/officeDocument/2006/relationships/image" Target="../media/reference_header_32_33.png"/><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notesSlide" Target="../notesSlides/notesSlide3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notesSlide" Target="../notesSlides/notesSlide3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openxmlformats.org/officeDocument/2006/relationships/notesSlide" Target="../notesSlides/notesSlide40.xml"/></Relationships>
</file>

<file path=ppt/slides/_rels/slide36.xml.rels><?xml version='1.0' encoding='UTF-8' standalone='yes'?>
<Relationships xmlns="http://schemas.openxmlformats.org/package/2006/relationships"><Relationship Id="rIdReferenceHeader3233" Type="http://schemas.openxmlformats.org/officeDocument/2006/relationships/image" Target="../media/reference_header_32_33.png"/><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37.xml.rels><?xml version='1.0' encoding='UTF-8' standalone='yes'?>
<Relationships xmlns="http://schemas.openxmlformats.org/package/2006/relationships"><Relationship Id="rIdReferenceHeader3233" Type="http://schemas.openxmlformats.org/officeDocument/2006/relationships/image" Target="../media/reference_header_32_33.png"/><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38.xml.rels><?xml version='1.0' encoding='UTF-8' standalone='yes'?>
<Relationships xmlns="http://schemas.openxmlformats.org/package/2006/relationships"><Relationship Id="rIdReferenceHeader3233" Type="http://schemas.openxmlformats.org/officeDocument/2006/relationships/image" Target="../media/reference_header_32_33.png"/><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4" name="Reference style 24">
            <a:extLst>
              <a:ext uri="{FF2B5EF4-FFF2-40B4-BE49-F238E27FC236}">
                <a16:creationId xmlns:a16="http://schemas.microsoft.com/office/drawing/2014/main" id="{DB6EED09-8B61-F64F-907D-F4B749DB901C}"/>
              </a:ext>
            </a:extLst>
          </p:cNvPr>
          <p:cNvPicPr>
            <a:picLocks noChangeAspect="1"/>
          </p:cNvPicPr>
          <p:nvPr userDrawn="1"/>
        </p:nvPicPr>
        <p:blipFill>
          <a:blip r:embed="rIdReferenceHeader323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2" name="TextBox 1"/>
          <p:cNvSpPr txBox="1"/>
          <p:nvPr/>
        </p:nvSpPr>
        <p:spPr>
          <a:xfrm>
            <a:off x="502920" y="310896"/>
            <a:ext cx="7315200" cy="502920"/>
          </a:xfrm>
          <a:prstGeom prst="rect">
            <a:avLst/>
          </a:prstGeom>
          <a:noFill/>
        </p:spPr>
        <p:txBody>
          <a:bodyPr wrap="square" lIns="0" tIns="0" rIns="0" bIns="0" anchor="t">
            <a:noAutofit/>
          </a:bodyPr>
          <a:lstStyle/>
          <a:p>
            <a:pPr algn="l" marL="0" indent="0">
              <a:buNone/>
            </a:pPr>
            <a:r>
              <a:rPr sz="2750" b="1">
                <a:solidFill>
                  <a:srgbClr val="782DA0"/>
                </a:solidFill>
                <a:latin typeface="Arial"/>
              </a:rPr>
              <a:t>Warm-Up</a:t>
            </a:r>
          </a:p>
        </p:txBody>
      </p:sp>
      <p:sp>
        <p:nvSpPr>
          <p:cNvPr id="3" name="TextBox 2"/>
          <p:cNvSpPr txBox="1"/>
          <p:nvPr/>
        </p:nvSpPr>
        <p:spPr>
          <a:xfrm>
            <a:off x="521207" y="877824"/>
            <a:ext cx="7680960" cy="274320"/>
          </a:xfrm>
          <a:prstGeom prst="rect">
            <a:avLst/>
          </a:prstGeom>
          <a:noFill/>
        </p:spPr>
        <p:txBody>
          <a:bodyPr wrap="square" lIns="0" tIns="0" rIns="0" bIns="0" anchor="t">
            <a:noAutofit/>
          </a:bodyPr>
          <a:lstStyle/>
          <a:p>
            <a:pPr algn="l" marL="0" indent="0">
              <a:buNone/>
            </a:pPr>
            <a:r>
              <a:rPr sz="1420" b="0">
                <a:solidFill>
                  <a:srgbClr val="5D6872"/>
                </a:solidFill>
                <a:latin typeface="Arial"/>
              </a:rPr>
              <a:t>Lesson 3-2 · Rates and Unit Rates   |   Warm-Up · about 4 minutes</a:t>
            </a:r>
          </a:p>
        </p:txBody>
      </p:sp>
      <p:sp>
        <p:nvSpPr>
          <p:cNvPr id="4"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6" name="TextBox 5"/>
          <p:cNvSpPr txBox="1"/>
          <p:nvPr/>
        </p:nvSpPr>
        <p:spPr>
          <a:xfrm>
            <a:off x="521207" y="1207008"/>
            <a:ext cx="10881360" cy="438912"/>
          </a:xfrm>
          <a:prstGeom prst="rect">
            <a:avLst/>
          </a:prstGeom>
          <a:noFill/>
        </p:spPr>
        <p:txBody>
          <a:bodyPr wrap="square" lIns="0" tIns="0" rIns="0" bIns="0" anchor="t">
            <a:noAutofit/>
          </a:bodyPr>
          <a:lstStyle/>
          <a:p>
            <a:pPr algn="l" marL="0" indent="0">
              <a:buNone/>
            </a:pPr>
            <a:r>
              <a:rPr sz="1630" b="0">
                <a:solidFill>
                  <a:srgbClr val="5D6872"/>
                </a:solidFill>
                <a:latin typeface="Arial"/>
              </a:rPr>
              <a:t>Try each on your own. Mark an unsure answer; explain and revise when we check.</a:t>
            </a:r>
          </a:p>
        </p:txBody>
      </p:sp>
      <p:sp>
        <p:nvSpPr>
          <p:cNvPr id="7"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10" name="TextBox 9"/>
          <p:cNvSpPr txBox="1"/>
          <p:nvPr/>
        </p:nvSpPr>
        <p:spPr>
          <a:xfrm>
            <a:off x="667512" y="2212848"/>
            <a:ext cx="5111496" cy="1051560"/>
          </a:xfrm>
          <a:prstGeom prst="rect">
            <a:avLst/>
          </a:prstGeom>
          <a:noFill/>
        </p:spPr>
        <p:txBody>
          <a:bodyPr wrap="square" lIns="0" tIns="0" rIns="0" bIns="0" anchor="t">
            <a:noAutofit/>
          </a:bodyPr>
          <a:lstStyle/>
          <a:p>
            <a:pPr algn="l" marL="0" indent="0">
              <a:buNone/>
            </a:pPr>
            <a:r>
              <a:rPr sz="1800" b="1">
                <a:solidFill>
                  <a:srgbClr val="23282D"/>
                </a:solidFill>
                <a:latin typeface="Arial"/>
              </a:rPr>
              <a:t>60 ÷ 4 = ______</a:t>
            </a:r>
          </a:p>
        </p:txBody>
      </p:sp>
      <p:sp>
        <p:nvSpPr>
          <p:cNvPr id="11"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14" name="TextBox 13"/>
          <p:cNvSpPr txBox="1"/>
          <p:nvPr/>
        </p:nvSpPr>
        <p:spPr>
          <a:xfrm>
            <a:off x="6345936" y="2212848"/>
            <a:ext cx="5102352" cy="1051560"/>
          </a:xfrm>
          <a:prstGeom prst="rect">
            <a:avLst/>
          </a:prstGeom>
          <a:noFill/>
        </p:spPr>
        <p:txBody>
          <a:bodyPr wrap="square" lIns="0" tIns="0" rIns="0" bIns="0" anchor="t">
            <a:noAutofit/>
          </a:bodyPr>
          <a:lstStyle/>
          <a:p>
            <a:pPr algn="l" marL="0" indent="0">
              <a:buNone/>
            </a:pPr>
            <a:r>
              <a:rPr sz="1800" b="1">
                <a:solidFill>
                  <a:srgbClr val="23282D"/>
                </a:solidFill>
                <a:latin typeface="Arial"/>
              </a:rPr>
              <a:t>Keep the pattern going:</a:t>
            </a:r>
          </a:p>
          <a:p>
            <a:pPr algn="l" marL="0" indent="0">
              <a:buNone/>
            </a:pPr>
            <a:r>
              <a:rPr sz="1800" b="1">
                <a:solidFill>
                  <a:srgbClr val="23282D"/>
                </a:solidFill>
                <a:latin typeface="Arial"/>
              </a:rPr>
              <a:t>5, 10, 15, 20, ______, ______</a:t>
            </a:r>
          </a:p>
        </p:txBody>
      </p:sp>
      <p:sp>
        <p:nvSpPr>
          <p:cNvPr id="15"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18" name="TextBox 17"/>
          <p:cNvSpPr txBox="1"/>
          <p:nvPr/>
        </p:nvSpPr>
        <p:spPr>
          <a:xfrm>
            <a:off x="667512" y="4023360"/>
            <a:ext cx="5111496" cy="1143000"/>
          </a:xfrm>
          <a:prstGeom prst="rect">
            <a:avLst/>
          </a:prstGeom>
          <a:noFill/>
        </p:spPr>
        <p:txBody>
          <a:bodyPr wrap="square" lIns="0" tIns="0" rIns="0" bIns="0" anchor="t">
            <a:noAutofit/>
          </a:bodyPr>
          <a:lstStyle/>
          <a:p>
            <a:pPr algn="l" marL="0" indent="0">
              <a:buNone/>
            </a:pPr>
            <a:r>
              <a:rPr sz="1800" b="1">
                <a:solidFill>
                  <a:srgbClr val="23282D"/>
                </a:solidFill>
                <a:latin typeface="Arial"/>
              </a:rPr>
              <a:t>A car goes 120 miles in 2 hours.</a:t>
            </a:r>
          </a:p>
          <a:p>
            <a:pPr algn="l" marL="0" indent="0">
              <a:buNone/>
            </a:pPr>
            <a:r>
              <a:rPr sz="1800" b="1">
                <a:solidFill>
                  <a:srgbClr val="23282D"/>
                </a:solidFill>
                <a:latin typeface="Arial"/>
              </a:rPr>
              <a:t>How far in 1 hour? ______</a:t>
            </a:r>
          </a:p>
        </p:txBody>
      </p:sp>
      <p:sp>
        <p:nvSpPr>
          <p:cNvPr id="19"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2" name="TextBox 21"/>
          <p:cNvSpPr txBox="1"/>
          <p:nvPr/>
        </p:nvSpPr>
        <p:spPr>
          <a:xfrm>
            <a:off x="6345936" y="4023360"/>
            <a:ext cx="5102352" cy="1143000"/>
          </a:xfrm>
          <a:prstGeom prst="rect">
            <a:avLst/>
          </a:prstGeom>
          <a:noFill/>
        </p:spPr>
        <p:txBody>
          <a:bodyPr wrap="square" lIns="0" tIns="0" rIns="0" bIns="0" anchor="t">
            <a:noAutofit/>
          </a:bodyPr>
          <a:lstStyle/>
          <a:p>
            <a:pPr algn="l" marL="0" indent="0">
              <a:buNone/>
            </a:pPr>
            <a:r>
              <a:rPr sz="1800" b="1">
                <a:solidFill>
                  <a:srgbClr val="23282D"/>
                </a:solidFill>
                <a:latin typeface="Arial"/>
              </a:rPr>
              <a:t>3 apples cost $6.</a:t>
            </a:r>
          </a:p>
          <a:p>
            <a:pPr algn="l" marL="0" indent="0">
              <a:buNone/>
            </a:pPr>
            <a:r>
              <a:rPr sz="1800" b="1">
                <a:solidFill>
                  <a:srgbClr val="23282D"/>
                </a:solidFill>
                <a:latin typeface="Arial"/>
              </a:rPr>
              <a:t>What does 1 apple cost? ______</a:t>
            </a:r>
          </a:p>
        </p:txBody>
      </p:sp>
      <p:sp>
        <p:nvSpPr>
          <p:cNvPr id="23"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marL="0" indent="0">
              <a:buNone/>
            </a:pPr>
            <a:r>
              <a:rPr sz="1400" b="1">
                <a:solidFill>
                  <a:srgbClr val="1E2682"/>
                </a:solidFill>
                <a:latin typeface="Arial"/>
              </a:rPr>
              <a:t>TALK IT OVER:  “I got ______ because ______.”   •   Compare with a partner before we check as a class.</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40</a:t>
            </a:r>
          </a:p>
        </p:txBody>
      </p:sp>
    </p:spTree>
    <p:extLst>
      <p:ext uri="{BB962C8B-B14F-4D97-AF65-F5344CB8AC3E}">
        <p14:creationId xmlns:p14="http://schemas.microsoft.com/office/powerpoint/2010/main" val="7052900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0" name="Reference style 30">
            <a:extLst>
              <a:ext uri="{FF2B5EF4-FFF2-40B4-BE49-F238E27FC236}">
                <a16:creationId xmlns:a16="http://schemas.microsoft.com/office/drawing/2014/main" id="{DB6EED09-8B61-F64F-907D-F4B749DB901C}"/>
              </a:ext>
            </a:extLst>
          </p:cNvPr>
          <p:cNvPicPr>
            <a:picLocks noChangeAspect="1"/>
          </p:cNvPicPr>
          <p:nvPr userDrawn="1"/>
        </p:nvPicPr>
        <p:blipFill>
          <a:blip r:embed="rIdReferenceHeader323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15" name="Rectangle 14">
            <a:extLst>
              <a:ext uri="{FF2B5EF4-FFF2-40B4-BE49-F238E27FC236}">
                <a16:creationId xmlns:a16="http://schemas.microsoft.com/office/drawing/2014/main" id="{C8930636-8F9C-4E77-BA0B-207B9CB2F468}"/>
              </a:ext>
            </a:extLst>
          </p:cNvPr>
          <p:cNvSpPr>
            <a:spLocks noGrp="1"/>
          </p:cNvSpPr>
          <p:nvPr/>
        </p:nvSpPr>
        <p:spPr>
          <a:xfrm>
            <a:off x="514350" y="381000"/>
            <a:ext cx="6858000" cy="542925"/>
          </a:xfrm>
          <a:prstGeom prst="rect">
            <a:avLst/>
          </a:prstGeom>
          <a:noFill/>
          <a:ln w="0">
            <a:noFill/>
          </a:ln>
        </p:spPr>
        <p:txBody>
          <a:bodyPr>
            <a:noAutofit/>
          </a:bodyPr>
          <a:lstStyle/>
          <a:p>
            <a:pPr>
              <a:defRPr sz="2700" b="1">
                <a:solidFill>
                  <a:srgbClr val="782DA0"/>
                </a:solidFill>
                <a:latin typeface="Arial"/>
                <a:ea typeface="Arial"/>
                <a:cs typeface="Arial"/>
              </a:defRPr>
            </a:pPr>
            <a:r>
              <a:rPr sz="2800" b="1">
                <a:solidFill>
                  <a:srgbClr val="782DA0"/>
                </a:solidFill>
                <a:latin typeface="Arial"/>
                <a:ea typeface="Arial"/>
                <a:cs typeface="Arial"/>
              </a:rPr>
              <a:t>Math Notes — Session 1</a:t>
            </a:r>
          </a:p>
        </p:txBody>
      </p:sp>
      <p:sp>
        <p:nvSpPr>
          <p:cNvPr id="2" name="Rectangle 1">
            <a:extLst>
              <a:ext uri="{FF2B5EF4-FFF2-40B4-BE49-F238E27FC236}">
                <a16:creationId xmlns:a16="http://schemas.microsoft.com/office/drawing/2014/main" id="{8427627B-55DA-4DA0-8E04-A1E3FE9C41E3}"/>
              </a:ext>
            </a:extLst>
          </p:cNvPr>
          <p:cNvSpPr>
            <a:spLocks noGrp="1"/>
          </p:cNvSpPr>
          <p:nvPr/>
        </p:nvSpPr>
        <p:spPr>
          <a:xfrm>
            <a:off x="523875" y="1028700"/>
            <a:ext cx="8667750" cy="342900"/>
          </a:xfrm>
          <a:prstGeom prst="rect">
            <a:avLst/>
          </a:prstGeom>
          <a:noFill/>
          <a:ln w="0">
            <a:noFill/>
          </a:ln>
        </p:spPr>
        <p:txBody>
          <a:bodyPr>
            <a:noAutofit/>
          </a:bodyPr>
          <a:lstStyle/>
          <a:p>
            <a:pPr>
              <a:defRPr sz="1575" b="0">
                <a:solidFill>
                  <a:srgbClr val="5D6872"/>
                </a:solidFill>
                <a:latin typeface="Arial"/>
                <a:ea typeface="Arial"/>
                <a:cs typeface="Arial"/>
              </a:defRPr>
            </a:pPr>
            <a:r>
              <a:rPr sz="1575" b="0">
                <a:solidFill>
                  <a:srgbClr val="5D6872"/>
                </a:solidFill>
                <a:latin typeface="Arial"/>
                <a:ea typeface="Arial"/>
                <a:cs typeface="Arial"/>
              </a:rPr>
              <a:t>Keep the idea from Metro Trains.</a:t>
            </a:r>
          </a:p>
        </p:txBody>
      </p:sp>
      <p:sp>
        <p:nvSpPr>
          <p:cNvPr id="3" name="Rounded Rectangle 2">
            <a:extLst>
              <a:ext uri="{FF2B5EF4-FFF2-40B4-BE49-F238E27FC236}">
                <a16:creationId xmlns:a16="http://schemas.microsoft.com/office/drawing/2014/main" id="{99C55011-AA5A-4657-B72D-643A735FEAB4}"/>
              </a:ext>
            </a:extLst>
          </p:cNvPr>
          <p:cNvSpPr>
            <a:spLocks noGrp="1"/>
          </p:cNvSpPr>
          <p:nvPr/>
        </p:nvSpPr>
        <p:spPr>
          <a:xfrm>
            <a:off x="514350" y="1609725"/>
            <a:ext cx="5762625" cy="4114800"/>
          </a:xfrm>
          <a:prstGeom prst="roundRect">
            <a:avLst>
              <a:gd name="adj" fmla="val 1852"/>
            </a:avLst>
          </a:prstGeom>
          <a:solidFill>
            <a:srgbClr val="EAF6F5"/>
          </a:solidFill>
          <a:ln w="9525">
            <a:solidFill>
              <a:srgbClr val="D6E0E8"/>
            </a:solidFill>
          </a:ln>
        </p:spPr>
        <p:txBody>
          <a:bodyPr/>
          <a:lstStyle/>
          <a:p>
            <a:endParaRPr lang="en-US"/>
          </a:p>
        </p:txBody>
      </p:sp>
      <p:sp>
        <p:nvSpPr>
          <p:cNvPr id="4" name="Rounded Rectangle 3">
            <a:extLst>
              <a:ext uri="{FF2B5EF4-FFF2-40B4-BE49-F238E27FC236}">
                <a16:creationId xmlns:a16="http://schemas.microsoft.com/office/drawing/2014/main" id="{8BC95A69-0828-4FE1-8C0A-F33503007FAC}"/>
              </a:ext>
            </a:extLst>
          </p:cNvPr>
          <p:cNvSpPr>
            <a:spLocks noGrp="1"/>
          </p:cNvSpPr>
          <p:nvPr/>
        </p:nvSpPr>
        <p:spPr>
          <a:xfrm>
            <a:off x="6543675" y="1609725"/>
            <a:ext cx="5114925" cy="4114800"/>
          </a:xfrm>
          <a:prstGeom prst="roundRect">
            <a:avLst>
              <a:gd name="adj" fmla="val 1852"/>
            </a:avLst>
          </a:prstGeom>
          <a:solidFill>
            <a:srgbClr val="FFF0E7"/>
          </a:solidFill>
          <a:ln w="9525">
            <a:solidFill>
              <a:srgbClr val="D6E0E8"/>
            </a:solidFill>
          </a:ln>
        </p:spPr>
        <p:txBody>
          <a:bodyPr/>
          <a:lstStyle/>
          <a:p>
            <a:endParaRPr lang="en-US"/>
          </a:p>
        </p:txBody>
      </p:sp>
      <p:sp>
        <p:nvSpPr>
          <p:cNvPr id="5" name="Rectangle 4">
            <a:extLst>
              <a:ext uri="{FF2B5EF4-FFF2-40B4-BE49-F238E27FC236}">
                <a16:creationId xmlns:a16="http://schemas.microsoft.com/office/drawing/2014/main" id="{E257E694-822D-4703-AFA7-3471ECE37574}"/>
              </a:ext>
            </a:extLst>
          </p:cNvPr>
          <p:cNvSpPr>
            <a:spLocks noGrp="1"/>
          </p:cNvSpPr>
          <p:nvPr/>
        </p:nvSpPr>
        <p:spPr>
          <a:xfrm>
            <a:off x="723900" y="1800225"/>
            <a:ext cx="5238750" cy="266700"/>
          </a:xfrm>
          <a:prstGeom prst="rect">
            <a:avLst/>
          </a:prstGeom>
          <a:noFill/>
          <a:ln w="0">
            <a:noFill/>
          </a:ln>
        </p:spPr>
        <p:txBody>
          <a:bodyPr>
            <a:noAutofit/>
          </a:bodyPr>
          <a:lstStyle/>
          <a:p>
            <a:pPr>
              <a:defRPr sz="1350" b="1">
                <a:solidFill>
                  <a:srgbClr val="782DA0"/>
                </a:solidFill>
                <a:latin typeface="Arial"/>
                <a:ea typeface="Arial"/>
                <a:cs typeface="Arial"/>
              </a:defRPr>
            </a:pPr>
            <a:r>
              <a:rPr sz="1350" b="1">
                <a:solidFill>
                  <a:srgbClr val="782DA0"/>
                </a:solidFill>
                <a:latin typeface="Arial"/>
                <a:ea typeface="Arial"/>
                <a:cs typeface="Arial"/>
              </a:rPr>
              <a:t>COPY, EXPLAIN, THEN CHECK</a:t>
            </a:r>
          </a:p>
        </p:txBody>
      </p:sp>
      <p:sp>
        <p:nvSpPr>
          <p:cNvPr id="6" name="Rectangle 5">
            <a:extLst>
              <a:ext uri="{FF2B5EF4-FFF2-40B4-BE49-F238E27FC236}">
                <a16:creationId xmlns:a16="http://schemas.microsoft.com/office/drawing/2014/main" id="{8B78922A-54F6-44FF-B7CD-375CE60AD24B}"/>
              </a:ext>
            </a:extLst>
          </p:cNvPr>
          <p:cNvSpPr>
            <a:spLocks noGrp="1"/>
          </p:cNvSpPr>
          <p:nvPr/>
        </p:nvSpPr>
        <p:spPr>
          <a:xfrm>
            <a:off x="733425" y="2352675"/>
            <a:ext cx="447675" cy="476250"/>
          </a:xfrm>
          <a:prstGeom prst="rect">
            <a:avLst/>
          </a:prstGeom>
          <a:noFill/>
          <a:ln w="0">
            <a:noFill/>
          </a:ln>
        </p:spPr>
        <p:txBody>
          <a:bodyPr>
            <a:noAutofit/>
          </a:bodyPr>
          <a:lstStyle/>
          <a:p>
            <a:pPr>
              <a:defRPr sz="1875" b="1">
                <a:solidFill>
                  <a:srgbClr val="782DA0"/>
                </a:solidFill>
                <a:latin typeface="Arial"/>
                <a:ea typeface="Arial"/>
                <a:cs typeface="Arial"/>
              </a:defRPr>
            </a:pPr>
            <a:r>
              <a:rPr sz="1875" b="1">
                <a:solidFill>
                  <a:srgbClr val="782DA0"/>
                </a:solidFill>
                <a:latin typeface="Arial"/>
                <a:ea typeface="Arial"/>
                <a:cs typeface="Arial"/>
              </a:rPr>
              <a:t>01</a:t>
            </a:r>
          </a:p>
        </p:txBody>
      </p:sp>
      <p:sp>
        <p:nvSpPr>
          <p:cNvPr id="7" name="Rectangle 6">
            <a:extLst>
              <a:ext uri="{FF2B5EF4-FFF2-40B4-BE49-F238E27FC236}">
                <a16:creationId xmlns:a16="http://schemas.microsoft.com/office/drawing/2014/main" id="{5EFB66A5-396E-4A8E-9789-49DD838D4549}"/>
              </a:ext>
            </a:extLst>
          </p:cNvPr>
          <p:cNvSpPr>
            <a:spLocks noGrp="1"/>
          </p:cNvSpPr>
          <p:nvPr/>
        </p:nvSpPr>
        <p:spPr>
          <a:xfrm>
            <a:off x="1257300" y="2324100"/>
            <a:ext cx="4752975" cy="847725"/>
          </a:xfrm>
          <a:prstGeom prst="rect">
            <a:avLst/>
          </a:prstGeom>
          <a:noFill/>
          <a:ln w="0">
            <a:noFill/>
          </a:ln>
        </p:spPr>
        <p:txBody>
          <a:bodyPr>
            <a:noAutofit/>
          </a:bodyPr>
          <a:lstStyle/>
          <a:p>
            <a:pPr>
              <a:defRPr sz="2100" b="0">
                <a:solidFill>
                  <a:srgbClr val="23282D"/>
                </a:solidFill>
                <a:latin typeface="Arial"/>
                <a:ea typeface="Arial"/>
                <a:cs typeface="Arial"/>
              </a:defRPr>
            </a:pPr>
            <a:r>
              <a:rPr sz="2100" b="0">
                <a:solidFill>
                  <a:srgbClr val="23282D"/>
                </a:solidFill>
                <a:latin typeface="Arial"/>
                <a:ea typeface="Arial"/>
                <a:cs typeface="Arial"/>
              </a:rPr>
              <a:t xml:space="preserve">A </a:t>
            </a:r>
            <a:r>
              <a:rPr sz="2100" b="1">
                <a:solidFill>
                  <a:srgbClr val="23282D"/>
                </a:solidFill>
                <a:highlight>
                  <a:srgbClr val="FFF2A8"/>
                </a:highlight>
                <a:latin typeface="Arial"/>
                <a:ea typeface="Arial"/>
                <a:cs typeface="Arial"/>
              </a:rPr>
              <a:t>rate</a:t>
            </a:r>
            <a:r>
              <a:rPr sz="2100" b="0">
                <a:solidFill>
                  <a:srgbClr val="23282D"/>
                </a:solidFill>
                <a:latin typeface="Arial"/>
                <a:ea typeface="Arial"/>
                <a:cs typeface="Arial"/>
              </a:rPr>
              <a:t xml:space="preserve"> compares amounts with different units.</a:t>
            </a:r>
          </a:p>
        </p:txBody>
      </p:sp>
      <p:sp>
        <p:nvSpPr>
          <p:cNvPr id="8" name="Rectangle 7">
            <a:extLst>
              <a:ext uri="{FF2B5EF4-FFF2-40B4-BE49-F238E27FC236}">
                <a16:creationId xmlns:a16="http://schemas.microsoft.com/office/drawing/2014/main" id="{F8BB22C9-51EE-46AC-8AF5-3386B00359E6}"/>
              </a:ext>
            </a:extLst>
          </p:cNvPr>
          <p:cNvSpPr>
            <a:spLocks noGrp="1"/>
          </p:cNvSpPr>
          <p:nvPr/>
        </p:nvSpPr>
        <p:spPr>
          <a:xfrm>
            <a:off x="733425" y="3333750"/>
            <a:ext cx="447675" cy="476250"/>
          </a:xfrm>
          <a:prstGeom prst="rect">
            <a:avLst/>
          </a:prstGeom>
          <a:noFill/>
          <a:ln w="0">
            <a:noFill/>
          </a:ln>
        </p:spPr>
        <p:txBody>
          <a:bodyPr>
            <a:noAutofit/>
          </a:bodyPr>
          <a:lstStyle/>
          <a:p>
            <a:pPr>
              <a:defRPr sz="1875" b="1">
                <a:solidFill>
                  <a:srgbClr val="782DA0"/>
                </a:solidFill>
                <a:latin typeface="Arial"/>
                <a:ea typeface="Arial"/>
                <a:cs typeface="Arial"/>
              </a:defRPr>
            </a:pPr>
            <a:r>
              <a:rPr sz="1875" b="1">
                <a:solidFill>
                  <a:srgbClr val="782DA0"/>
                </a:solidFill>
                <a:latin typeface="Arial"/>
                <a:ea typeface="Arial"/>
                <a:cs typeface="Arial"/>
              </a:rPr>
              <a:t>02</a:t>
            </a:r>
          </a:p>
        </p:txBody>
      </p:sp>
      <p:sp>
        <p:nvSpPr>
          <p:cNvPr id="9" name="Rectangle 8">
            <a:extLst>
              <a:ext uri="{FF2B5EF4-FFF2-40B4-BE49-F238E27FC236}">
                <a16:creationId xmlns:a16="http://schemas.microsoft.com/office/drawing/2014/main" id="{8881EECB-093D-4787-92BE-F2E263EC74BA}"/>
              </a:ext>
            </a:extLst>
          </p:cNvPr>
          <p:cNvSpPr>
            <a:spLocks noGrp="1"/>
          </p:cNvSpPr>
          <p:nvPr/>
        </p:nvSpPr>
        <p:spPr>
          <a:xfrm>
            <a:off x="1257300" y="3305175"/>
            <a:ext cx="4752975" cy="847725"/>
          </a:xfrm>
          <a:prstGeom prst="rect">
            <a:avLst/>
          </a:prstGeom>
          <a:noFill/>
          <a:ln w="0">
            <a:noFill/>
          </a:ln>
        </p:spPr>
        <p:txBody>
          <a:bodyPr>
            <a:noAutofit/>
          </a:bodyPr>
          <a:lstStyle/>
          <a:p>
            <a:pPr>
              <a:defRPr sz="2100" b="0">
                <a:solidFill>
                  <a:srgbClr val="23282D"/>
                </a:solidFill>
                <a:latin typeface="Arial"/>
                <a:ea typeface="Arial"/>
                <a:cs typeface="Arial"/>
              </a:defRPr>
            </a:pPr>
            <a:r>
              <a:rPr sz="2100" b="1">
                <a:solidFill>
                  <a:srgbClr val="23282D"/>
                </a:solidFill>
                <a:highlight>
                  <a:srgbClr val="FFF2A8"/>
                </a:highlight>
                <a:latin typeface="Arial"/>
                <a:ea typeface="Arial"/>
                <a:cs typeface="Arial"/>
              </a:rPr>
              <a:t>Per hour</a:t>
            </a:r>
            <a:r>
              <a:rPr sz="2100" b="0">
                <a:solidFill>
                  <a:srgbClr val="23282D"/>
                </a:solidFill>
                <a:latin typeface="Arial"/>
                <a:ea typeface="Arial"/>
                <a:cs typeface="Arial"/>
              </a:rPr>
              <a:t xml:space="preserve"> means “for each hour.”</a:t>
            </a:r>
          </a:p>
        </p:txBody>
      </p:sp>
      <p:sp>
        <p:nvSpPr>
          <p:cNvPr id="10" name="Rectangle 9">
            <a:extLst>
              <a:ext uri="{FF2B5EF4-FFF2-40B4-BE49-F238E27FC236}">
                <a16:creationId xmlns:a16="http://schemas.microsoft.com/office/drawing/2014/main" id="{A206983B-16EF-4D6E-AEAF-F5EA4D6AAEFA}"/>
              </a:ext>
            </a:extLst>
          </p:cNvPr>
          <p:cNvSpPr>
            <a:spLocks noGrp="1"/>
          </p:cNvSpPr>
          <p:nvPr/>
        </p:nvSpPr>
        <p:spPr>
          <a:xfrm>
            <a:off x="733425" y="4314825"/>
            <a:ext cx="447675" cy="476250"/>
          </a:xfrm>
          <a:prstGeom prst="rect">
            <a:avLst/>
          </a:prstGeom>
          <a:noFill/>
          <a:ln w="0">
            <a:noFill/>
          </a:ln>
        </p:spPr>
        <p:txBody>
          <a:bodyPr>
            <a:noAutofit/>
          </a:bodyPr>
          <a:lstStyle/>
          <a:p>
            <a:pPr>
              <a:defRPr sz="1875" b="1">
                <a:solidFill>
                  <a:srgbClr val="782DA0"/>
                </a:solidFill>
                <a:latin typeface="Arial"/>
                <a:ea typeface="Arial"/>
                <a:cs typeface="Arial"/>
              </a:defRPr>
            </a:pPr>
            <a:r>
              <a:rPr sz="1875" b="1">
                <a:solidFill>
                  <a:srgbClr val="782DA0"/>
                </a:solidFill>
                <a:latin typeface="Arial"/>
                <a:ea typeface="Arial"/>
                <a:cs typeface="Arial"/>
              </a:rPr>
              <a:t>03</a:t>
            </a:r>
          </a:p>
        </p:txBody>
      </p:sp>
      <p:sp>
        <p:nvSpPr>
          <p:cNvPr id="11" name="Rectangle 10">
            <a:extLst>
              <a:ext uri="{FF2B5EF4-FFF2-40B4-BE49-F238E27FC236}">
                <a16:creationId xmlns:a16="http://schemas.microsoft.com/office/drawing/2014/main" id="{B7526408-E9B2-46CC-BA51-A88631E11932}"/>
              </a:ext>
            </a:extLst>
          </p:cNvPr>
          <p:cNvSpPr>
            <a:spLocks noGrp="1"/>
          </p:cNvSpPr>
          <p:nvPr/>
        </p:nvSpPr>
        <p:spPr>
          <a:xfrm>
            <a:off x="1257300" y="4286250"/>
            <a:ext cx="4752975" cy="847725"/>
          </a:xfrm>
          <a:prstGeom prst="rect">
            <a:avLst/>
          </a:prstGeom>
          <a:noFill/>
          <a:ln w="0">
            <a:noFill/>
          </a:ln>
        </p:spPr>
        <p:txBody>
          <a:bodyPr>
            <a:noAutofit/>
          </a:bodyPr>
          <a:lstStyle/>
          <a:p>
            <a:pPr>
              <a:defRPr sz="2100" b="0">
                <a:solidFill>
                  <a:srgbClr val="23282D"/>
                </a:solidFill>
                <a:latin typeface="Arial"/>
                <a:ea typeface="Arial"/>
                <a:cs typeface="Arial"/>
              </a:defRPr>
            </a:pPr>
            <a:r>
              <a:rPr sz="2100" b="0">
                <a:solidFill>
                  <a:srgbClr val="23282D"/>
                </a:solidFill>
                <a:latin typeface="Arial"/>
                <a:ea typeface="Arial"/>
                <a:cs typeface="Arial"/>
              </a:rPr>
              <a:t xml:space="preserve">Keep the same </a:t>
            </a:r>
            <a:r>
              <a:rPr sz="2100" b="1">
                <a:solidFill>
                  <a:srgbClr val="23282D"/>
                </a:solidFill>
                <a:highlight>
                  <a:srgbClr val="FFF2A8"/>
                </a:highlight>
                <a:latin typeface="Arial"/>
                <a:ea typeface="Arial"/>
                <a:cs typeface="Arial"/>
              </a:rPr>
              <a:t>rate</a:t>
            </a:r>
            <a:r>
              <a:rPr sz="2100" b="0">
                <a:solidFill>
                  <a:srgbClr val="23282D"/>
                </a:solidFill>
                <a:latin typeface="Arial"/>
                <a:ea typeface="Arial"/>
                <a:cs typeface="Arial"/>
              </a:rPr>
              <a:t xml:space="preserve"> as both amounts change.</a:t>
            </a:r>
          </a:p>
        </p:txBody>
      </p:sp>
      <p:sp>
        <p:nvSpPr>
          <p:cNvPr id="12" name="Rectangle 11">
            <a:extLst>
              <a:ext uri="{FF2B5EF4-FFF2-40B4-BE49-F238E27FC236}">
                <a16:creationId xmlns:a16="http://schemas.microsoft.com/office/drawing/2014/main" id="{1BD7297A-0394-45D1-8249-8FAB26001FE8}"/>
              </a:ext>
            </a:extLst>
          </p:cNvPr>
          <p:cNvSpPr>
            <a:spLocks noGrp="1"/>
          </p:cNvSpPr>
          <p:nvPr/>
        </p:nvSpPr>
        <p:spPr>
          <a:xfrm>
            <a:off x="6743700" y="1809750"/>
            <a:ext cx="4667250" cy="266700"/>
          </a:xfrm>
          <a:prstGeom prst="rect">
            <a:avLst/>
          </a:prstGeom>
          <a:noFill/>
          <a:ln w="0">
            <a:noFill/>
          </a:ln>
        </p:spPr>
        <p:txBody>
          <a:bodyPr>
            <a:noAutofit/>
          </a:bodyPr>
          <a:lstStyle/>
          <a:p>
            <a:pPr>
              <a:defRPr sz="1350" b="1">
                <a:solidFill>
                  <a:srgbClr val="0070C0"/>
                </a:solidFill>
                <a:latin typeface="Arial"/>
                <a:ea typeface="Arial"/>
                <a:cs typeface="Arial"/>
              </a:defRPr>
            </a:pPr>
            <a:r>
              <a:rPr sz="1350" b="1">
                <a:solidFill>
                  <a:srgbClr val="0070C0"/>
                </a:solidFill>
                <a:latin typeface="Arial"/>
                <a:ea typeface="Arial"/>
                <a:cs typeface="Arial"/>
              </a:rPr>
              <a:t>LOOK BACK AT THE EXAMPLE</a:t>
            </a:r>
          </a:p>
        </p:txBody>
      </p:sp>
      <p:graphicFrame>
        <p:nvGraphicFramePr>
          <p:cNvPr id="27" name="Table 26"/>
          <p:cNvGraphicFramePr/>
          <p:nvPr/>
        </p:nvGraphicFramePr>
        <p:xfrm>
          <a:off x="6743700" y="2333625"/>
          <a:ext cx="4705350" cy="2019300"/>
        </p:xfrm>
        <a:graphic>
          <a:graphicData uri="http://schemas.openxmlformats.org/drawingml/2006/table">
            <a:tbl>
              <a:tblPr/>
              <a:tblGrid>
                <a:gridCol w="2352675">
                  <a:extLst>
                    <a:ext uri="{9D8B030D-6E8A-4147-A177-3AD203B41FA5}">
                      <a16:colId xmlns:a16="http://schemas.microsoft.com/office/drawing/2014/main" val="20000"/>
                    </a:ext>
                  </a:extLst>
                </a:gridCol>
                <a:gridCol w="2352675">
                  <a:extLst>
                    <a:ext uri="{9D8B030D-6E8A-4147-A177-3AD203B41FA5}">
                      <a16:colId xmlns:a16="http://schemas.microsoft.com/office/drawing/2014/main" val="20001"/>
                    </a:ext>
                  </a:extLst>
                </a:gridCol>
              </a:tblGrid>
              <a:tr h="504825">
                <a:tc>
                  <a:txBody>
                    <a:bodyPr/>
                    <a:lstStyle/>
                    <a:p>
                      <a:r>
                        <a:rPr sz="1425" b="1">
                          <a:solidFill>
                            <a:srgbClr val="FFFFFF"/>
                          </a:solidFill>
                          <a:latin typeface="Arial"/>
                          <a:ea typeface="Arial"/>
                          <a:cs typeface="Arial"/>
                        </a:rPr>
                        <a:t>Hours</a:t>
                      </a:r>
                    </a:p>
                  </a:txBody>
                  <a:tcPr>
                    <a:solidFill>
                      <a:srgbClr val="0070C0"/>
                    </a:solidFill>
                  </a:tcPr>
                </a:tc>
                <a:tc>
                  <a:txBody>
                    <a:bodyPr/>
                    <a:lstStyle/>
                    <a:p>
                      <a:r>
                        <a:rPr sz="1425" b="1">
                          <a:solidFill>
                            <a:srgbClr val="FFFFFF"/>
                          </a:solidFill>
                          <a:latin typeface="Arial"/>
                          <a:ea typeface="Arial"/>
                          <a:cs typeface="Arial"/>
                        </a:rPr>
                        <a:t>Miles</a:t>
                      </a:r>
                    </a:p>
                  </a:txBody>
                  <a:tcPr>
                    <a:solidFill>
                      <a:srgbClr val="0070C0"/>
                    </a:solidFill>
                  </a:tcPr>
                </a:tc>
                <a:extLst>
                  <a:ext uri="{0D108BD9-81ED-4DB2-BD59-A6C34878D82A}">
                    <a16:rowId xmlns:a16="http://schemas.microsoft.com/office/drawing/2014/main" val="10000"/>
                  </a:ext>
                </a:extLst>
              </a:tr>
              <a:tr h="504825">
                <a:tc>
                  <a:txBody>
                    <a:bodyPr/>
                    <a:lstStyle/>
                    <a:p>
                      <a:r>
                        <a:rPr sz="1800" b="0">
                          <a:solidFill>
                            <a:srgbClr val="23282D"/>
                          </a:solidFill>
                          <a:latin typeface="Arial"/>
                          <a:ea typeface="Arial"/>
                          <a:cs typeface="Arial"/>
                        </a:rPr>
                        <a:t>1</a:t>
                      </a:r>
                    </a:p>
                  </a:txBody>
                  <a:tcPr>
                    <a:solidFill>
                      <a:srgbClr val="FFFFFF"/>
                    </a:solidFill>
                  </a:tcPr>
                </a:tc>
                <a:tc>
                  <a:txBody>
                    <a:bodyPr/>
                    <a:lstStyle/>
                    <a:p>
                      <a:r>
                        <a:rPr sz="1800" b="0">
                          <a:solidFill>
                            <a:srgbClr val="23282D"/>
                          </a:solidFill>
                          <a:latin typeface="Arial"/>
                          <a:ea typeface="Arial"/>
                          <a:cs typeface="Arial"/>
                        </a:rPr>
                        <a:t>150</a:t>
                      </a:r>
                    </a:p>
                  </a:txBody>
                  <a:tcPr>
                    <a:solidFill>
                      <a:srgbClr val="FFFFFF"/>
                    </a:solidFill>
                  </a:tcPr>
                </a:tc>
                <a:extLst>
                  <a:ext uri="{0D108BD9-81ED-4DB2-BD59-A6C34878D82A}">
                    <a16:rowId xmlns:a16="http://schemas.microsoft.com/office/drawing/2014/main" val="10001"/>
                  </a:ext>
                </a:extLst>
              </a:tr>
              <a:tr h="504825">
                <a:tc>
                  <a:txBody>
                    <a:bodyPr/>
                    <a:lstStyle/>
                    <a:p>
                      <a:r>
                        <a:rPr sz="1800" b="0">
                          <a:solidFill>
                            <a:srgbClr val="23282D"/>
                          </a:solidFill>
                          <a:latin typeface="Arial"/>
                          <a:ea typeface="Arial"/>
                          <a:cs typeface="Arial"/>
                        </a:rPr>
                        <a:t>2</a:t>
                      </a:r>
                    </a:p>
                  </a:txBody>
                  <a:tcPr>
                    <a:solidFill>
                      <a:srgbClr val="FFFFFF"/>
                    </a:solidFill>
                  </a:tcPr>
                </a:tc>
                <a:tc>
                  <a:txBody>
                    <a:bodyPr/>
                    <a:lstStyle/>
                    <a:p>
                      <a:r>
                        <a:rPr sz="1800" b="0">
                          <a:solidFill>
                            <a:srgbClr val="23282D"/>
                          </a:solidFill>
                          <a:latin typeface="Arial"/>
                          <a:ea typeface="Arial"/>
                          <a:cs typeface="Arial"/>
                        </a:rPr>
                        <a:t>300</a:t>
                      </a:r>
                    </a:p>
                  </a:txBody>
                  <a:tcPr>
                    <a:solidFill>
                      <a:srgbClr val="FFFFFF"/>
                    </a:solidFill>
                  </a:tcPr>
                </a:tc>
                <a:extLst>
                  <a:ext uri="{0D108BD9-81ED-4DB2-BD59-A6C34878D82A}">
                    <a16:rowId xmlns:a16="http://schemas.microsoft.com/office/drawing/2014/main" val="10002"/>
                  </a:ext>
                </a:extLst>
              </a:tr>
              <a:tr h="504825">
                <a:tc>
                  <a:txBody>
                    <a:bodyPr/>
                    <a:lstStyle/>
                    <a:p>
                      <a:r>
                        <a:rPr sz="1800" b="0">
                          <a:solidFill>
                            <a:srgbClr val="23282D"/>
                          </a:solidFill>
                          <a:latin typeface="Arial"/>
                          <a:ea typeface="Arial"/>
                          <a:cs typeface="Arial"/>
                        </a:rPr>
                        <a:t>3</a:t>
                      </a:r>
                    </a:p>
                  </a:txBody>
                  <a:tcPr>
                    <a:solidFill>
                      <a:srgbClr val="FFFFFF"/>
                    </a:solidFill>
                  </a:tcPr>
                </a:tc>
                <a:tc>
                  <a:txBody>
                    <a:bodyPr/>
                    <a:lstStyle/>
                    <a:p>
                      <a:r>
                        <a:rPr sz="1800" b="0">
                          <a:solidFill>
                            <a:srgbClr val="23282D"/>
                          </a:solidFill>
                          <a:latin typeface="Arial"/>
                          <a:ea typeface="Arial"/>
                          <a:cs typeface="Arial"/>
                        </a:rPr>
                        <a:t>450</a:t>
                      </a:r>
                    </a:p>
                  </a:txBody>
                  <a:tcPr>
                    <a:solidFill>
                      <a:srgbClr val="FFFFFF"/>
                    </a:solidFill>
                  </a:tcPr>
                </a:tc>
                <a:extLst>
                  <a:ext uri="{0D108BD9-81ED-4DB2-BD59-A6C34878D82A}">
                    <a16:rowId xmlns:a16="http://schemas.microsoft.com/office/drawing/2014/main" val="10003"/>
                  </a:ext>
                </a:extLst>
              </a:tr>
            </a:tbl>
          </a:graphicData>
        </a:graphic>
      </p:graphicFrame>
      <p:sp>
        <p:nvSpPr>
          <p:cNvPr id="14" name="Rectangle 13">
            <a:extLst>
              <a:ext uri="{FF2B5EF4-FFF2-40B4-BE49-F238E27FC236}">
                <a16:creationId xmlns:a16="http://schemas.microsoft.com/office/drawing/2014/main" id="{0693DB76-5F81-40DB-BFC5-24013C8C398F}"/>
              </a:ext>
            </a:extLst>
          </p:cNvPr>
          <p:cNvSpPr>
            <a:spLocks noGrp="1"/>
          </p:cNvSpPr>
          <p:nvPr/>
        </p:nvSpPr>
        <p:spPr>
          <a:xfrm>
            <a:off x="6743700" y="4581525"/>
            <a:ext cx="4667250" cy="933450"/>
          </a:xfrm>
          <a:prstGeom prst="rect">
            <a:avLst/>
          </a:prstGeom>
          <a:noFill/>
          <a:ln w="0">
            <a:noFill/>
          </a:ln>
        </p:spPr>
        <p:txBody>
          <a:bodyPr>
            <a:noAutofit/>
          </a:bodyPr>
          <a:lstStyle/>
          <a:p>
            <a:pPr>
              <a:defRPr sz="1875" b="1">
                <a:solidFill>
                  <a:srgbClr val="0070C0"/>
                </a:solidFill>
                <a:latin typeface="Arial"/>
                <a:ea typeface="Arial"/>
                <a:cs typeface="Arial"/>
              </a:defRPr>
            </a:pPr>
            <a:r>
              <a:rPr sz="1875" b="1">
                <a:solidFill>
                  <a:srgbClr val="0070C0"/>
                </a:solidFill>
                <a:latin typeface="Arial"/>
                <a:ea typeface="Arial"/>
                <a:cs typeface="Arial"/>
              </a:rPr>
              <a:t xml:space="preserve">450 miles takes 3 hours at 150 miles </a:t>
            </a:r>
            <a:r>
              <a:rPr sz="1875" b="1">
                <a:solidFill>
                  <a:srgbClr val="23282D"/>
                </a:solidFill>
                <a:highlight>
                  <a:srgbClr val="FFF2A8"/>
                </a:highlight>
                <a:latin typeface="Arial"/>
                <a:ea typeface="Arial"/>
                <a:cs typeface="Arial"/>
              </a:rPr>
              <a:t>per hour</a:t>
            </a:r>
            <a:r>
              <a:rPr sz="1875" b="1">
                <a:solidFill>
                  <a:srgbClr val="0070C0"/>
                </a:solidFill>
                <a:latin typeface="Arial"/>
                <a:ea typeface="Arial"/>
                <a:cs typeface="Arial"/>
              </a:rPr>
              <a:t>.</a:t>
            </a:r>
          </a:p>
        </p:txBody>
      </p:sp>
      <p:sp>
        <p:nvSpPr>
          <p:cNvPr id="28" name="Reference style 28"/>
          <p:cNvSpPr txBox="1"/>
          <p:nvPr/>
        </p:nvSpPr>
        <p:spPr>
          <a:xfrm>
            <a:off x="502920" y="54864"/>
            <a:ext cx="6035040" cy="237744"/>
          </a:xfrm>
          <a:prstGeom prst="rect">
            <a:avLst/>
          </a:prstGeom>
          <a:noFill/>
        </p:spPr>
        <p:txBody>
          <a:bodyPr wrap="square" lIns="0" rIns="0" tIns="0" bIns="0" anchor="ctr">
            <a:noAutofit/>
          </a:bodyPr>
          <a:lstStyle/>
          <a:p>
            <a:pPr algn="l"/>
            <a:r>
              <a:rPr lang="en-US" sz="1200" b="1" dirty="0">
                <a:solidFill>
                  <a:srgbClr val="1E2682"/>
                </a:solidFill>
                <a:latin typeface="Arial"/>
              </a:rPr>
              <a:t>STUDENT NOTES</a:t>
            </a:r>
            <a:r>
              <a:rPr lang="en-US" sz="1200" b="1" dirty="0">
                <a:solidFill>
                  <a:srgbClr val="5D6872"/>
                </a:solidFill>
                <a:latin typeface="Arial"/>
              </a:rPr>
              <a:t xml:space="preserve">  ·  COPY LESS • UNDERSTAND MORE</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Partner talk: connect today’s idea to prior learning.</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40</a:t>
            </a:r>
          </a:p>
        </p:txBody>
      </p:sp>
    </p:spTree>
    <p:extLst>
      <p:ext uri="{BB962C8B-B14F-4D97-AF65-F5344CB8AC3E}">
        <p14:creationId xmlns:p14="http://schemas.microsoft.com/office/powerpoint/2010/main" val="20966564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4" name="Reference style 24">
            <a:extLst>
              <a:ext uri="{FF2B5EF4-FFF2-40B4-BE49-F238E27FC236}">
                <a16:creationId xmlns:a16="http://schemas.microsoft.com/office/drawing/2014/main" id="{DB6EED09-8B61-F64F-907D-F4B749DB901C}"/>
              </a:ext>
            </a:extLst>
          </p:cNvPr>
          <p:cNvPicPr>
            <a:picLocks noChangeAspect="1"/>
          </p:cNvPicPr>
          <p:nvPr userDrawn="1"/>
        </p:nvPicPr>
        <p:blipFill>
          <a:blip r:embed="rIdReferenceHeader323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2" name="TextBox 1"/>
          <p:cNvSpPr txBox="1"/>
          <p:nvPr/>
        </p:nvSpPr>
        <p:spPr>
          <a:xfrm>
            <a:off x="502920" y="310896"/>
            <a:ext cx="7315200" cy="502920"/>
          </a:xfrm>
          <a:prstGeom prst="rect">
            <a:avLst/>
          </a:prstGeom>
          <a:noFill/>
        </p:spPr>
        <p:txBody>
          <a:bodyPr wrap="square" lIns="0" tIns="0" rIns="0" bIns="0" anchor="t">
            <a:noAutofit/>
          </a:bodyPr>
          <a:lstStyle/>
          <a:p>
            <a:pPr algn="l" marL="0" indent="0">
              <a:buNone/>
            </a:pPr>
            <a:r>
              <a:rPr sz="2750" b="1">
                <a:solidFill>
                  <a:srgbClr val="782DA0"/>
                </a:solidFill>
                <a:latin typeface="Arial"/>
              </a:rPr>
              <a:t>Learning Target — Session 1</a:t>
            </a:r>
          </a:p>
        </p:txBody>
      </p:sp>
      <p:sp>
        <p:nvSpPr>
          <p:cNvPr id="3" name="TextBox 2"/>
          <p:cNvSpPr txBox="1"/>
          <p:nvPr/>
        </p:nvSpPr>
        <p:spPr>
          <a:xfrm>
            <a:off x="521207" y="877824"/>
            <a:ext cx="7680960" cy="274320"/>
          </a:xfrm>
          <a:prstGeom prst="rect">
            <a:avLst/>
          </a:prstGeom>
          <a:noFill/>
        </p:spPr>
        <p:txBody>
          <a:bodyPr wrap="square" lIns="0" tIns="0" rIns="0" bIns="0" anchor="t">
            <a:noAutofit/>
          </a:bodyPr>
          <a:lstStyle/>
          <a:p>
            <a:pPr algn="l" marL="0" indent="0">
              <a:buNone/>
            </a:pPr>
            <a:r>
              <a:rPr sz="1420" b="0">
                <a:solidFill>
                  <a:srgbClr val="5D6872"/>
                </a:solidFill>
                <a:latin typeface="Arial"/>
              </a:rPr>
              <a:t>Lesson 3-2 · Rates and Unit Rates  |  Maryland Standard 6.AT.2</a:t>
            </a:r>
          </a:p>
        </p:txBody>
      </p:sp>
      <p:sp>
        <p:nvSpPr>
          <p:cNvPr id="4"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LEARNING TARGET</a:t>
            </a:r>
            <a:r>
              <a:rPr lang="en-US" sz="1150" b="1" dirty="0">
                <a:solidFill>
                  <a:srgbClr val="2D3A40"/>
                </a:solidFill>
                <a:latin typeface="Arial"/>
              </a:rPr>
              <a:t xml:space="preserve">  ·  LABEL • MODEL • EXPLAIN</a:t>
            </a:r>
          </a:p>
        </p:txBody>
      </p:sp>
      <p:sp>
        <p:nvSpPr>
          <p:cNvPr id="6" name="TextBox 5"/>
          <p:cNvSpPr txBox="1"/>
          <p:nvPr/>
        </p:nvSpPr>
        <p:spPr>
          <a:xfrm>
            <a:off x="521207" y="1207008"/>
            <a:ext cx="10881360" cy="438912"/>
          </a:xfrm>
          <a:prstGeom prst="rect">
            <a:avLst/>
          </a:prstGeom>
          <a:noFill/>
        </p:spPr>
        <p:txBody>
          <a:bodyPr wrap="square" lIns="0" tIns="0" rIns="0" bIns="0" anchor="t">
            <a:noAutofit/>
          </a:bodyPr>
          <a:lstStyle/>
          <a:p>
            <a:pPr algn="l" marL="0" indent="0">
              <a:buNone/>
            </a:pPr>
            <a:r>
              <a:rPr sz="1630" b="0">
                <a:solidFill>
                  <a:srgbClr val="5D6872"/>
                </a:solidFill>
                <a:latin typeface="Arial"/>
              </a:rPr>
              <a:t>Today I will connect distance and time, then explain what a rate means.</a:t>
            </a:r>
          </a:p>
        </p:txBody>
      </p:sp>
      <p:sp>
        <p:nvSpPr>
          <p:cNvPr id="7"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CONTENT OBJECTIVE</a:t>
            </a:r>
          </a:p>
        </p:txBody>
      </p:sp>
      <p:sp>
        <p:nvSpPr>
          <p:cNvPr id="10" name="TextBox 9"/>
          <p:cNvSpPr txBox="1"/>
          <p:nvPr/>
        </p:nvSpPr>
        <p:spPr>
          <a:xfrm>
            <a:off x="667512" y="2212848"/>
            <a:ext cx="5111496" cy="1051560"/>
          </a:xfrm>
          <a:prstGeom prst="rect">
            <a:avLst/>
          </a:prstGeom>
          <a:noFill/>
        </p:spPr>
        <p:txBody>
          <a:bodyPr wrap="square" lIns="0" tIns="0" rIns="0" bIns="0" anchor="t">
            <a:noAutofit/>
          </a:bodyPr>
          <a:lstStyle/>
          <a:p>
            <a:pPr algn="l" marL="0" indent="0">
              <a:buNone/>
            </a:pPr>
            <a:r>
              <a:rPr sz="1900" b="1">
                <a:solidFill>
                  <a:srgbClr val="23282D"/>
                </a:solidFill>
                <a:latin typeface="Arial"/>
              </a:rPr>
              <a:t>I can describe a rate and use a model to find a travel time.</a:t>
            </a:r>
          </a:p>
        </p:txBody>
      </p:sp>
      <p:sp>
        <p:nvSpPr>
          <p:cNvPr id="11"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LANGUAGE OBJECTIVE</a:t>
            </a:r>
          </a:p>
        </p:txBody>
      </p:sp>
      <p:sp>
        <p:nvSpPr>
          <p:cNvPr id="14" name="TextBox 13"/>
          <p:cNvSpPr txBox="1"/>
          <p:nvPr/>
        </p:nvSpPr>
        <p:spPr>
          <a:xfrm>
            <a:off x="6345936" y="2212848"/>
            <a:ext cx="5102352" cy="1051560"/>
          </a:xfrm>
          <a:prstGeom prst="rect">
            <a:avLst/>
          </a:prstGeom>
          <a:noFill/>
        </p:spPr>
        <p:txBody>
          <a:bodyPr wrap="square" lIns="0" tIns="0" rIns="0" bIns="0" anchor="t">
            <a:noAutofit/>
          </a:bodyPr>
          <a:lstStyle/>
          <a:p>
            <a:pPr algn="l" marL="0" indent="0">
              <a:buNone/>
            </a:pPr>
            <a:r>
              <a:rPr sz="1900" b="1">
                <a:solidFill>
                  <a:srgbClr val="23282D"/>
                </a:solidFill>
                <a:latin typeface="Arial"/>
              </a:rPr>
              <a:t>I can explain “150 miles per hour” using distance and time units.</a:t>
            </a:r>
          </a:p>
        </p:txBody>
      </p:sp>
      <p:sp>
        <p:nvSpPr>
          <p:cNvPr id="15"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SUCCESS CHECK</a:t>
            </a:r>
          </a:p>
        </p:txBody>
      </p:sp>
      <p:sp>
        <p:nvSpPr>
          <p:cNvPr id="18" name="TextBox 17"/>
          <p:cNvSpPr txBox="1"/>
          <p:nvPr/>
        </p:nvSpPr>
        <p:spPr>
          <a:xfrm>
            <a:off x="667512" y="4023360"/>
            <a:ext cx="5111496" cy="1143000"/>
          </a:xfrm>
          <a:prstGeom prst="rect">
            <a:avLst/>
          </a:prstGeom>
          <a:noFill/>
        </p:spPr>
        <p:txBody>
          <a:bodyPr wrap="square" lIns="0" tIns="0" rIns="0" bIns="0" anchor="t">
            <a:noAutofit/>
          </a:bodyPr>
          <a:lstStyle/>
          <a:p>
            <a:pPr algn="l" marL="0" indent="0">
              <a:buNone/>
            </a:pPr>
            <a:r>
              <a:rPr sz="1900" b="0">
                <a:solidFill>
                  <a:srgbClr val="23282D"/>
                </a:solidFill>
                <a:latin typeface="Arial"/>
              </a:rPr>
              <a:t>✓ Name both units.</a:t>
            </a:r>
          </a:p>
          <a:p>
            <a:pPr algn="l" marL="0" indent="0">
              <a:buNone/>
            </a:pPr>
            <a:r>
              <a:rPr sz="1900" b="0">
                <a:solidFill>
                  <a:srgbClr val="23282D"/>
                </a:solidFill>
                <a:latin typeface="Arial"/>
              </a:rPr>
              <a:t>✓ Show 150 miles for each hour.</a:t>
            </a:r>
          </a:p>
          <a:p>
            <a:pPr algn="l" marL="0" indent="0">
              <a:buNone/>
            </a:pPr>
            <a:r>
              <a:rPr sz="1900" b="0">
                <a:solidFill>
                  <a:srgbClr val="23282D"/>
                </a:solidFill>
                <a:latin typeface="Arial"/>
              </a:rPr>
              <a:t>✓ Use a model to find travel time.</a:t>
            </a:r>
          </a:p>
        </p:txBody>
      </p:sp>
      <p:sp>
        <p:nvSpPr>
          <p:cNvPr id="19"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WHY THIS MATTERS</a:t>
            </a:r>
          </a:p>
        </p:txBody>
      </p:sp>
      <p:sp>
        <p:nvSpPr>
          <p:cNvPr id="22" name="TextBox 21"/>
          <p:cNvSpPr txBox="1"/>
          <p:nvPr/>
        </p:nvSpPr>
        <p:spPr>
          <a:xfrm>
            <a:off x="6345936" y="4023360"/>
            <a:ext cx="5102352" cy="1143000"/>
          </a:xfrm>
          <a:prstGeom prst="rect">
            <a:avLst/>
          </a:prstGeom>
          <a:noFill/>
        </p:spPr>
        <p:txBody>
          <a:bodyPr wrap="square" lIns="0" tIns="0" rIns="0" bIns="0" anchor="t">
            <a:noAutofit/>
          </a:bodyPr>
          <a:lstStyle/>
          <a:p>
            <a:pPr algn="l" marL="0" indent="0">
              <a:buNone/>
            </a:pPr>
            <a:r>
              <a:rPr sz="1900" b="0">
                <a:latin typeface="Arial"/>
              </a:rPr>
              <a:t>Unit rates help us compare prices and plan travel.</a:t>
            </a:r>
          </a:p>
        </p:txBody>
      </p:sp>
      <p:sp>
        <p:nvSpPr>
          <p:cNvPr id="23"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marL="0" indent="0">
              <a:buNone/>
            </a:pPr>
            <a:r>
              <a:rPr sz="1400" b="1">
                <a:solidFill>
                  <a:srgbClr val="1E2682"/>
                </a:solidFill>
                <a:latin typeface="Arial"/>
              </a:rPr>
              <a:t>MATH COMMUNITY:  Different strategies are welcome  •  Ask before telling  •  Revise your thinking</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Tell a partner the goal and why it matters.</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40</a:t>
            </a:r>
          </a:p>
        </p:txBody>
      </p:sp>
    </p:spTree>
    <p:extLst>
      <p:ext uri="{BB962C8B-B14F-4D97-AF65-F5344CB8AC3E}">
        <p14:creationId xmlns:p14="http://schemas.microsoft.com/office/powerpoint/2010/main" val="705290030"/>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8" name="Google Shape;398;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9" name="Google Shape;399;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0" name="Google Shape;400;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1 of 8</a:t>
            </a:r>
            <a:endParaRPr/>
          </a:p>
        </p:txBody>
      </p:sp>
      <p:sp>
        <p:nvSpPr>
          <p:cNvPr id="401" name="Google Shape;401;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3-2 · Understand Rates and Unit Rates</a:t>
            </a:r>
            <a:endParaRPr/>
          </a:p>
        </p:txBody>
      </p:sp>
      <p:sp>
        <p:nvSpPr>
          <p:cNvPr id="402" name="Google Shape;402;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3" name="Google Shape;403;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04" name="Google Shape;404;p46"/>
          <p:cNvSpPr txBox="1"/>
          <p:nvPr/>
        </p:nvSpPr>
        <p:spPr>
          <a:xfrm>
            <a:off x="640080" y="1761743"/>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5200" u="none" cap="none" strike="noStrike">
                <a:solidFill>
                  <a:srgbClr val="14223A"/>
                </a:solidFill>
                <a:latin typeface="Arial"/>
                <a:ea typeface="Arial"/>
                <a:cs typeface="Arial"/>
                <a:sym typeface="Arial"/>
              </a:rPr>
              <a:t>Rates and Unit Rates</a:t>
            </a:r>
            <a:endParaRPr/>
          </a:p>
        </p:txBody>
      </p:sp>
      <p:sp>
        <p:nvSpPr>
          <p:cNvPr id="405" name="Google Shape;405;p46"/>
          <p:cNvSpPr/>
          <p:nvPr/>
        </p:nvSpPr>
        <p:spPr>
          <a:xfrm>
            <a:off x="658368" y="2718816"/>
            <a:ext cx="237744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6" name="Google Shape;406;p46"/>
          <p:cNvSpPr txBox="1"/>
          <p:nvPr/>
        </p:nvSpPr>
        <p:spPr>
          <a:xfrm>
            <a:off x="640080" y="3080004"/>
            <a:ext cx="10911809" cy="86410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700" u="none" cap="none" strike="noStrike">
                <a:solidFill>
                  <a:srgbClr val="14223A"/>
                </a:solidFill>
                <a:latin typeface="Arial"/>
                <a:ea typeface="Arial"/>
                <a:cs typeface="Arial"/>
                <a:sym typeface="Arial"/>
              </a:rPr>
              <a:t>A rate compares different units; a unit rate compares a quantity to 1 unit.</a:t>
            </a:r>
            <a:endParaRPr/>
          </a:p>
        </p:txBody>
      </p:sp>
      <p:sp>
        <p:nvSpPr>
          <p:cNvPr id="407" name="Google Shape;407;p46"/>
          <p:cNvSpPr/>
          <p:nvPr/>
        </p:nvSpPr>
        <p:spPr>
          <a:xfrm>
            <a:off x="640080" y="4364736"/>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8" name="Google Shape;408;p46"/>
          <p:cNvSpPr/>
          <p:nvPr/>
        </p:nvSpPr>
        <p:spPr>
          <a:xfrm>
            <a:off x="640080" y="436473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9" name="Google Shape;409;p46"/>
          <p:cNvSpPr txBox="1"/>
          <p:nvPr/>
        </p:nvSpPr>
        <p:spPr>
          <a:xfrm>
            <a:off x="932688" y="4538472"/>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10" name="Google Shape;410;p46"/>
          <p:cNvSpPr txBox="1"/>
          <p:nvPr/>
        </p:nvSpPr>
        <p:spPr>
          <a:xfrm>
            <a:off x="932688" y="4840224"/>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2100" u="none" cap="none" strike="noStrike">
                <a:solidFill>
                  <a:srgbClr val="14223A"/>
                </a:solidFill>
                <a:latin typeface="Arial"/>
                <a:ea typeface="Arial"/>
                <a:cs typeface="Arial"/>
                <a:sym typeface="Arial"/>
              </a:rPr>
              <a:t>180 miles in 3 hours = 60 miles per 1 hour.</a:t>
            </a:r>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40</a:t>
            </a:r>
          </a:p>
        </p:txBody>
      </p:sp>
      <p:grpSp>
        <p:nvGrpSpPr>
          <p:cNvPr id="9003" name="TEACH-5-student-move" descr="TEACH 5 · Facilitate student interactions and academic talk"/>
          <p:cNvGrpSpPr/>
          <p:nvPr/>
        </p:nvGrpSpPr>
        <p:grpSpPr>
          <a:xfrm>
            <a:off x="502920" y="5751576"/>
            <a:ext cx="11186160" cy="548640"/>
            <a:chOff x="502920" y="5751576"/>
            <a:chExt cx="11186160" cy="548640"/>
          </a:xfrm>
        </p:grpSpPr>
        <p:sp>
          <p:nvSpPr>
            <p:cNvPr id="9004"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5" name="Google Shape;415;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6" name="Google Shape;416;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7" name="Google Shape;417;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8</a:t>
            </a:r>
            <a:endParaRPr/>
          </a:p>
        </p:txBody>
      </p:sp>
      <p:sp>
        <p:nvSpPr>
          <p:cNvPr id="418" name="Google Shape;418;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3-2 · Understand Rates and Unit Rates</a:t>
            </a:r>
            <a:endParaRPr/>
          </a:p>
        </p:txBody>
      </p:sp>
      <p:sp>
        <p:nvSpPr>
          <p:cNvPr id="419" name="Google Shape;419;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0" name="Google Shape;420;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21" name="Google Shape;421;p47"/>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Rate</a:t>
            </a:r>
            <a:endParaRPr/>
          </a:p>
        </p:txBody>
      </p:sp>
      <p:sp>
        <p:nvSpPr>
          <p:cNvPr id="422" name="Google Shape;422;p47"/>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3" name="Google Shape;423;p47"/>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ratio comparing two amounts with different units, like miles per hour.</a:t>
            </a:r>
            <a:endParaRPr/>
          </a:p>
        </p:txBody>
      </p:sp>
      <p:sp>
        <p:nvSpPr>
          <p:cNvPr id="424" name="Google Shape;424;p47"/>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5" name="Google Shape;425;p47"/>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6" name="Google Shape;426;p47"/>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7" name="Google Shape;427;p47"/>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$12 for 4 games is a rate</a:t>
            </a:r>
            <a:endParaRPr/>
          </a:p>
        </p:txBody>
      </p:sp>
      <p:pic>
        <p:nvPicPr>
          <p:cNvPr descr="rate.png" id="428" name="Google Shape;428;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“Rate” to explain the example. Point to evidence.</a:t>
            </a:r>
            <a:endParaRPr lang="en-US" sz="200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33" name="Google Shape;433;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4" name="Google Shape;434;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5" name="Google Shape;435;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8</a:t>
            </a:r>
            <a:endParaRPr/>
          </a:p>
        </p:txBody>
      </p:sp>
      <p:sp>
        <p:nvSpPr>
          <p:cNvPr id="436" name="Google Shape;436;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3-2 · Understand Rates and Unit Rates</a:t>
            </a:r>
            <a:endParaRPr/>
          </a:p>
        </p:txBody>
      </p:sp>
      <p:sp>
        <p:nvSpPr>
          <p:cNvPr id="437" name="Google Shape;437;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8" name="Google Shape;438;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9" name="Google Shape;439;p48"/>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Unit Rate</a:t>
            </a:r>
            <a:endParaRPr/>
          </a:p>
        </p:txBody>
      </p:sp>
      <p:sp>
        <p:nvSpPr>
          <p:cNvPr id="440" name="Google Shape;440;p48"/>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1" name="Google Shape;441;p48"/>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rate for just 1 of something, like cost for 1 item.</a:t>
            </a:r>
            <a:endParaRPr/>
          </a:p>
        </p:txBody>
      </p:sp>
      <p:sp>
        <p:nvSpPr>
          <p:cNvPr id="442" name="Google Shape;442;p48"/>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3" name="Google Shape;443;p48"/>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4" name="Google Shape;444;p48"/>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5" name="Google Shape;445;p48"/>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$3 per 1 game</a:t>
            </a:r>
            <a:endParaRPr/>
          </a:p>
        </p:txBody>
      </p:sp>
      <p:pic>
        <p:nvPicPr>
          <p:cNvPr descr="rate.png" id="446" name="Google Shape;446;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“Unit Rate” to explain the example. Point to evidence.</a:t>
            </a:r>
            <a:endParaRPr lang="en-US" sz="20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51" name="Google Shape;451;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2" name="Google Shape;452;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3" name="Google Shape;453;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8</a:t>
            </a:r>
            <a:endParaRPr/>
          </a:p>
        </p:txBody>
      </p:sp>
      <p:sp>
        <p:nvSpPr>
          <p:cNvPr id="454" name="Google Shape;454;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3-2 · Understand Rates and Unit Rates</a:t>
            </a:r>
            <a:endParaRPr/>
          </a:p>
        </p:txBody>
      </p:sp>
      <p:sp>
        <p:nvSpPr>
          <p:cNvPr id="455" name="Google Shape;455;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6" name="Google Shape;456;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7" name="Google Shape;457;p49"/>
          <p:cNvSpPr txBox="1"/>
          <p:nvPr/>
        </p:nvSpPr>
        <p:spPr>
          <a:xfrm>
            <a:off x="640080" y="207873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Per</a:t>
            </a:r>
            <a:endParaRPr/>
          </a:p>
        </p:txBody>
      </p:sp>
      <p:sp>
        <p:nvSpPr>
          <p:cNvPr id="458" name="Google Shape;458;p49"/>
          <p:cNvSpPr/>
          <p:nvPr/>
        </p:nvSpPr>
        <p:spPr>
          <a:xfrm>
            <a:off x="658368" y="291388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9" name="Google Shape;459;p49"/>
          <p:cNvSpPr txBox="1"/>
          <p:nvPr/>
        </p:nvSpPr>
        <p:spPr>
          <a:xfrm>
            <a:off x="640080" y="327507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For each one. Example: 5 dollars per book.</a:t>
            </a:r>
            <a:endParaRPr/>
          </a:p>
        </p:txBody>
      </p:sp>
      <p:sp>
        <p:nvSpPr>
          <p:cNvPr id="460" name="Google Shape;460;p49"/>
          <p:cNvSpPr/>
          <p:nvPr/>
        </p:nvSpPr>
        <p:spPr>
          <a:xfrm>
            <a:off x="640080" y="4047744"/>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1" name="Google Shape;461;p49"/>
          <p:cNvSpPr/>
          <p:nvPr/>
        </p:nvSpPr>
        <p:spPr>
          <a:xfrm>
            <a:off x="640080" y="4047744"/>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2" name="Google Shape;462;p49"/>
          <p:cNvSpPr txBox="1"/>
          <p:nvPr/>
        </p:nvSpPr>
        <p:spPr>
          <a:xfrm>
            <a:off x="932688" y="422148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63" name="Google Shape;463;p49"/>
          <p:cNvSpPr txBox="1"/>
          <p:nvPr/>
        </p:nvSpPr>
        <p:spPr>
          <a:xfrm>
            <a:off x="932688" y="4523232"/>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60 miles per hour means 60 miles for every 1 hour</a:t>
            </a:r>
            <a:endParaRPr/>
          </a:p>
        </p:txBody>
      </p:sp>
      <p:pic>
        <p:nvPicPr>
          <p:cNvPr descr="rate.png" id="464" name="Google Shape;464;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7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“Per” to explain the example. Point to evidence.</a:t>
            </a:r>
            <a:endParaRPr lang="en-US" sz="20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9" name="Google Shape;469;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0" name="Google Shape;470;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1" name="Google Shape;471;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8</a:t>
            </a:r>
            <a:endParaRPr/>
          </a:p>
        </p:txBody>
      </p:sp>
      <p:sp>
        <p:nvSpPr>
          <p:cNvPr id="472" name="Google Shape;472;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3-2 · Understand Rates and Unit Rates</a:t>
            </a:r>
            <a:endParaRPr/>
          </a:p>
        </p:txBody>
      </p:sp>
      <p:sp>
        <p:nvSpPr>
          <p:cNvPr id="473" name="Google Shape;473;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4" name="Google Shape;474;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5" name="Google Shape;475;p50"/>
          <p:cNvSpPr txBox="1"/>
          <p:nvPr/>
        </p:nvSpPr>
        <p:spPr>
          <a:xfrm>
            <a:off x="640080" y="207873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Ratio</a:t>
            </a:r>
            <a:endParaRPr/>
          </a:p>
        </p:txBody>
      </p:sp>
      <p:sp>
        <p:nvSpPr>
          <p:cNvPr id="476" name="Google Shape;476;p50"/>
          <p:cNvSpPr/>
          <p:nvPr/>
        </p:nvSpPr>
        <p:spPr>
          <a:xfrm>
            <a:off x="658368" y="291388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7" name="Google Shape;477;p50"/>
          <p:cNvSpPr txBox="1"/>
          <p:nvPr/>
        </p:nvSpPr>
        <p:spPr>
          <a:xfrm>
            <a:off x="640080" y="327507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way to compare two amounts, like 3 to 2.</a:t>
            </a:r>
            <a:endParaRPr/>
          </a:p>
        </p:txBody>
      </p:sp>
      <p:sp>
        <p:nvSpPr>
          <p:cNvPr id="478" name="Google Shape;478;p50"/>
          <p:cNvSpPr/>
          <p:nvPr/>
        </p:nvSpPr>
        <p:spPr>
          <a:xfrm>
            <a:off x="640080" y="4047744"/>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9" name="Google Shape;479;p50"/>
          <p:cNvSpPr/>
          <p:nvPr/>
        </p:nvSpPr>
        <p:spPr>
          <a:xfrm>
            <a:off x="640080" y="4047744"/>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0" name="Google Shape;480;p50"/>
          <p:cNvSpPr txBox="1"/>
          <p:nvPr/>
        </p:nvSpPr>
        <p:spPr>
          <a:xfrm>
            <a:off x="932688" y="422148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81" name="Google Shape;481;p50"/>
          <p:cNvSpPr txBox="1"/>
          <p:nvPr/>
        </p:nvSpPr>
        <p:spPr>
          <a:xfrm>
            <a:off x="932688" y="4523232"/>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5 to 3 or 5:3</a:t>
            </a:r>
            <a:endParaRPr/>
          </a:p>
        </p:txBody>
      </p:sp>
      <p:pic>
        <p:nvPicPr>
          <p:cNvPr descr="ratio.png" id="482" name="Google Shape;482;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“Ratio” to explain the example. Point to evidence.</a:t>
            </a:r>
            <a:endParaRPr lang="en-US" sz="20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7" name="Google Shape;487;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8" name="Google Shape;488;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9" name="Google Shape;489;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8</a:t>
            </a:r>
            <a:endParaRPr/>
          </a:p>
        </p:txBody>
      </p:sp>
      <p:sp>
        <p:nvSpPr>
          <p:cNvPr id="490" name="Google Shape;490;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3-2 · Understand Rates and Unit Rates</a:t>
            </a:r>
            <a:endParaRPr/>
          </a:p>
        </p:txBody>
      </p:sp>
      <p:sp>
        <p:nvSpPr>
          <p:cNvPr id="491" name="Google Shape;491;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2" name="Google Shape;492;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93" name="Google Shape;493;p51"/>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Unit price</a:t>
            </a:r>
            <a:endParaRPr/>
          </a:p>
        </p:txBody>
      </p:sp>
      <p:sp>
        <p:nvSpPr>
          <p:cNvPr id="494" name="Google Shape;494;p51"/>
          <p:cNvSpPr/>
          <p:nvPr/>
        </p:nvSpPr>
        <p:spPr>
          <a:xfrm>
            <a:off x="658368" y="2737866"/>
            <a:ext cx="118872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5" name="Google Shape;495;p51"/>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unit rate that gives the cost of exactly 1 item, like $0.60 per game.</a:t>
            </a:r>
            <a:endParaRPr/>
          </a:p>
        </p:txBody>
      </p:sp>
      <p:sp>
        <p:nvSpPr>
          <p:cNvPr id="496" name="Google Shape;496;p51"/>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7" name="Google Shape;497;p51"/>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8" name="Google Shape;498;p51"/>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99" name="Google Shape;499;p51"/>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$3 for 5 games → $0.60 per 1 game</a:t>
            </a:r>
            <a:endParaRPr/>
          </a:p>
        </p:txBody>
      </p:sp>
      <p:pic>
        <p:nvPicPr>
          <p:cNvPr descr="rate.png" id="500" name="Google Shape;500;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“Unit price”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05" name="Google Shape;505;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6" name="Google Shape;506;p52"/>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7" name="Google Shape;507;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7 of 8</a:t>
            </a:r>
            <a:endParaRPr/>
          </a:p>
        </p:txBody>
      </p:sp>
      <p:sp>
        <p:nvSpPr>
          <p:cNvPr id="508" name="Google Shape;508;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3-2 · Understand Rates and Unit Rates</a:t>
            </a:r>
            <a:endParaRPr/>
          </a:p>
        </p:txBody>
      </p:sp>
      <p:sp>
        <p:nvSpPr>
          <p:cNvPr id="509" name="Google Shape;509;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0" name="Google Shape;510;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11" name="Google Shape;511;p52"/>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Better Buy</a:t>
            </a:r>
            <a:endParaRPr/>
          </a:p>
        </p:txBody>
      </p:sp>
      <p:sp>
        <p:nvSpPr>
          <p:cNvPr id="512" name="Google Shape;512;p52"/>
          <p:cNvSpPr/>
          <p:nvPr/>
        </p:nvSpPr>
        <p:spPr>
          <a:xfrm>
            <a:off x="658368" y="2814828"/>
            <a:ext cx="118872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3" name="Google Shape;513;p52"/>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choice that costs less for each item.</a:t>
            </a:r>
            <a:endParaRPr/>
          </a:p>
        </p:txBody>
      </p:sp>
      <p:sp>
        <p:nvSpPr>
          <p:cNvPr id="514" name="Google Shape;514;p52"/>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5" name="Google Shape;515;p52"/>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6" name="Google Shape;516;p52"/>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17" name="Google Shape;517;p52"/>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Pack A: $0.50 per pencil vs Pack B: $0.40 per pencil — Pack B is the better buy</a:t>
            </a:r>
            <a:endParaRPr/>
          </a:p>
        </p:txBody>
      </p:sp>
      <p:pic>
        <p:nvPicPr>
          <p:cNvPr descr="rate.png" id="518" name="Google Shape;518;p52"/>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“Better Buy”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23" name="Google Shape;523;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4" name="Google Shape;524;p53"/>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8 of 8</a:t>
            </a:r>
            <a:endParaRPr/>
          </a:p>
        </p:txBody>
      </p:sp>
      <p:sp>
        <p:nvSpPr>
          <p:cNvPr id="526" name="Google Shape;526;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3-2 · Understand Rates and Unit Rates</a:t>
            </a:r>
            <a:endParaRPr/>
          </a:p>
        </p:txBody>
      </p:sp>
      <p:sp>
        <p:nvSpPr>
          <p:cNvPr id="527" name="Google Shape;527;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29" name="Google Shape;529;p53"/>
          <p:cNvSpPr txBox="1"/>
          <p:nvPr/>
        </p:nvSpPr>
        <p:spPr>
          <a:xfrm>
            <a:off x="640080" y="207873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Divide</a:t>
            </a:r>
            <a:endParaRPr/>
          </a:p>
        </p:txBody>
      </p:sp>
      <p:sp>
        <p:nvSpPr>
          <p:cNvPr id="530" name="Google Shape;530;p53"/>
          <p:cNvSpPr/>
          <p:nvPr/>
        </p:nvSpPr>
        <p:spPr>
          <a:xfrm>
            <a:off x="658368" y="291388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txBox="1"/>
          <p:nvPr/>
        </p:nvSpPr>
        <p:spPr>
          <a:xfrm>
            <a:off x="640080" y="327507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Splitting a total into equal groups.</a:t>
            </a:r>
            <a:endParaRPr/>
          </a:p>
        </p:txBody>
      </p:sp>
      <p:sp>
        <p:nvSpPr>
          <p:cNvPr id="532" name="Google Shape;532;p53"/>
          <p:cNvSpPr/>
          <p:nvPr/>
        </p:nvSpPr>
        <p:spPr>
          <a:xfrm>
            <a:off x="640080" y="4047744"/>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3" name="Google Shape;533;p53"/>
          <p:cNvSpPr/>
          <p:nvPr/>
        </p:nvSpPr>
        <p:spPr>
          <a:xfrm>
            <a:off x="640080" y="4047744"/>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4" name="Google Shape;534;p53"/>
          <p:cNvSpPr txBox="1"/>
          <p:nvPr/>
        </p:nvSpPr>
        <p:spPr>
          <a:xfrm>
            <a:off x="932688" y="422148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35" name="Google Shape;535;p53"/>
          <p:cNvSpPr txBox="1"/>
          <p:nvPr/>
        </p:nvSpPr>
        <p:spPr>
          <a:xfrm>
            <a:off x="932688" y="4523232"/>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$12 ÷ 4 games = $3 per game</a:t>
            </a:r>
            <a:endParaRPr/>
          </a:p>
        </p:txBody>
      </p:sp>
      <p:pic>
        <p:nvPicPr>
          <p:cNvPr descr="divide.png" id="536" name="Google Shape;536;p53"/>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“Divide”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05" name="Google Shape;605;p5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06" name="Google Shape;606;p57"/>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defRPr/>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607" name="Google Shape;607;p57"/>
          <p:cNvSpPr txBox="1"/>
          <p:nvPr/>
        </p:nvSpPr>
        <p:spPr>
          <a:xfrm>
            <a:off x="484560" y="936100"/>
            <a:ext cx="4139198" cy="13415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How are they the same?</a:t>
            </a:r>
            <a:br>
              <a:rPr b="0" i="0" lang="en-US" sz="2800" u="none" cap="none" strike="noStrike">
                <a:solidFill>
                  <a:srgbClr val="262626"/>
                </a:solidFill>
                <a:latin typeface="Arial"/>
                <a:ea typeface="Arial"/>
                <a:cs typeface="Arial"/>
                <a:sym typeface="Arial"/>
              </a:rPr>
            </a:br>
            <a:r>
              <a:rPr b="0" i="0" lang="en-US" sz="2800" u="none" cap="none" strike="noStrike">
                <a:solidFill>
                  <a:srgbClr val="262626"/>
                </a:solidFill>
                <a:latin typeface="Arial"/>
                <a:ea typeface="Arial"/>
                <a:cs typeface="Arial"/>
                <a:sym typeface="Arial"/>
              </a:rPr>
              <a:t>How are they different?</a:t>
            </a:r>
            <a:endParaRPr b="0" i="0" sz="1400" u="none" cap="none" strike="noStrike">
              <a:solidFill>
                <a:srgbClr val="000000"/>
              </a:solidFill>
              <a:latin typeface="Arial"/>
              <a:ea typeface="Arial"/>
              <a:cs typeface="Arial"/>
              <a:sym typeface="Arial"/>
            </a:endParaRPr>
          </a:p>
        </p:txBody>
      </p:sp>
      <p:pic>
        <p:nvPicPr>
          <p:cNvPr id="608" name="Google Shape;608;p57"/>
          <p:cNvPicPr preferRelativeResize="0"/>
          <p:nvPr/>
        </p:nvPicPr>
        <p:blipFill rotWithShape="1">
          <a:blip r:embed="rId2">
            <a:alphaModFix/>
          </a:blip>
          <a:srcRect b="0" l="0" r="0" t="0"/>
          <a:stretch/>
        </p:blipFill>
        <p:spPr>
          <a:xfrm>
            <a:off x="4706595" y="981691"/>
            <a:ext cx="3815777" cy="3945419"/>
          </a:xfrm>
          <a:prstGeom prst="rect">
            <a:avLst/>
          </a:prstGeom>
          <a:noFill/>
          <a:ln>
            <a:noFill/>
          </a:ln>
        </p:spPr>
      </p:pic>
      <p:pic>
        <p:nvPicPr>
          <p:cNvPr id="609" name="Google Shape;609;p57"/>
          <p:cNvPicPr preferRelativeResize="0"/>
          <p:nvPr/>
        </p:nvPicPr>
        <p:blipFill rotWithShape="1">
          <a:blip r:embed="rId3">
            <a:alphaModFix/>
          </a:blip>
          <a:srcRect b="0" l="0" r="0" t="0"/>
          <a:stretch/>
        </p:blipFill>
        <p:spPr>
          <a:xfrm>
            <a:off x="484560" y="5083700"/>
            <a:ext cx="5054600" cy="838200"/>
          </a:xfrm>
          <a:prstGeom prst="rect">
            <a:avLst/>
          </a:prstGeom>
          <a:noFill/>
          <a:ln>
            <a:noFill/>
          </a:ln>
        </p:spPr>
      </p:pic>
      <p:sp>
        <p:nvSpPr>
          <p:cNvPr id="610" name="Google Shape;610;p57"/>
          <p:cNvSpPr txBox="1"/>
          <p:nvPr/>
        </p:nvSpPr>
        <p:spPr>
          <a:xfrm>
            <a:off x="3344577" y="5241018"/>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611" name="Google Shape;611;p57"/>
          <p:cNvSpPr/>
          <p:nvPr/>
        </p:nvSpPr>
        <p:spPr>
          <a:xfrm>
            <a:off x="697756" y="5899023"/>
            <a:ext cx="7169535"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What does success in math look like for you?</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40</a:t>
            </a:r>
          </a:p>
        </p:txBody>
      </p:sp>
      <p:grpSp>
        <p:nvGrpSpPr>
          <p:cNvPr id="9003" name="TEACH-3-student-move" descr="TEACH 3 · Use intentional questioning to deepen learning"/>
          <p:cNvGrpSpPr/>
          <p:nvPr/>
        </p:nvGrpSpPr>
        <p:grpSpPr>
          <a:xfrm>
            <a:off x="6187440" y="5222367"/>
            <a:ext cx="5501640" cy="594360"/>
            <a:chOff x="6187440" y="5222367"/>
            <a:chExt cx="5501640" cy="594360"/>
          </a:xfrm>
        </p:grpSpPr>
        <p:sp>
          <p:nvSpPr>
            <p:cNvPr id="9004" name="TEACH-move-card"/>
            <p:cNvSpPr/>
            <p:nvPr/>
          </p:nvSpPr>
          <p:spPr>
            <a:xfrm>
              <a:off x="6187440" y="5222367"/>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6233160" y="5335295"/>
              <a:ext cx="100584" cy="368504"/>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6507480" y="5222367"/>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pic>
        <p:nvPicPr>
          <p:cNvPr id="252" name="Reference style 252">
            <a:extLst>
              <a:ext uri="{FF2B5EF4-FFF2-40B4-BE49-F238E27FC236}">
                <a16:creationId xmlns:a16="http://schemas.microsoft.com/office/drawing/2014/main" id="{DB6EED09-8B61-F64F-907D-F4B749DB901C}"/>
              </a:ext>
            </a:extLst>
          </p:cNvPr>
          <p:cNvPicPr>
            <a:picLocks noChangeAspect="1"/>
          </p:cNvPicPr>
          <p:nvPr userDrawn="1"/>
        </p:nvPicPr>
        <p:blipFill>
          <a:blip r:embed="rIdReferenceHeader323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cxnSp>
        <p:nvCxnSpPr>
          <p:cNvPr id="240" name="Google Shape;240;p41"/>
          <p:cNvCxnSpPr/>
          <p:nvPr/>
        </p:nvCxnSpPr>
        <p:spPr>
          <a:xfrm>
            <a:off x="13164879" y="5911702"/>
            <a:ext cx="0" cy="0"/>
          </a:xfrm>
          <a:prstGeom prst="straightConnector1">
            <a:avLst/>
          </a:prstGeom>
          <a:noFill/>
          <a:ln w="9525" cap="flat" cmpd="sng">
            <a:solidFill>
              <a:schemeClr val="accent1"/>
            </a:solidFill>
            <a:prstDash val="solid"/>
            <a:miter lim="8000"/>
            <a:headEnd type="none" w="sm" len="sm"/>
            <a:tailEnd type="none" w="sm" len="sm"/>
          </a:ln>
        </p:spPr>
      </p:cxnSp>
      <p:sp>
        <p:nvSpPr>
          <p:cNvPr id="241" name="Google Shape;241;p41"/>
          <p:cNvSpPr txBox="1"/>
          <p:nvPr/>
        </p:nvSpPr>
        <p:spPr>
          <a:xfrm>
            <a:off x="505578" y="316034"/>
            <a:ext cx="6858000"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pPr>
            <a:r>
              <a:rPr lang="en-US" sz="2800" b="1">
                <a:solidFill>
                  <a:srgbClr val="782DA0"/>
                </a:solidFill>
                <a:latin typeface="Arial"/>
                <a:ea typeface="Arial"/>
                <a:cs typeface="Arial"/>
                <a:sym typeface="Arial"/>
              </a:rPr>
              <a:t>More or Less Than 1,000</a:t>
            </a:r>
            <a:endParaRPr/>
          </a:p>
        </p:txBody>
      </p:sp>
      <p:sp>
        <p:nvSpPr>
          <p:cNvPr id="242" name="Google Shape;242;p41"/>
          <p:cNvSpPr txBox="1"/>
          <p:nvPr/>
        </p:nvSpPr>
        <p:spPr>
          <a:xfrm>
            <a:off x="956343" y="2775548"/>
            <a:ext cx="2375338"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rgbClr val="23282D"/>
                </a:solidFill>
                <a:latin typeface="Cambria Math"/>
                <a:ea typeface="Cambria Math"/>
                <a:cs typeface="Cambria Math"/>
                <a:sym typeface="Cambria Math"/>
              </a:rPr>
              <a:t xml:space="preserve">43 </a:t>
            </a:r>
            <a:r>
              <a:rPr lang="en-US" sz="2800">
                <a:solidFill>
                  <a:schemeClr val="dk1"/>
                </a:solidFill>
                <a:latin typeface="Cambria Math"/>
                <a:ea typeface="Cambria Math"/>
                <a:cs typeface="Cambria Math"/>
                <a:sym typeface="Cambria Math"/>
              </a:rPr>
              <a:t>×</a:t>
            </a:r>
            <a:r>
              <a:rPr lang="en-US" sz="2800">
                <a:solidFill>
                  <a:srgbClr val="23282D"/>
                </a:solidFill>
                <a:latin typeface="Cambria Math"/>
                <a:ea typeface="Cambria Math"/>
                <a:cs typeface="Cambria Math"/>
                <a:sym typeface="Cambria Math"/>
              </a:rPr>
              <a:t xml:space="preserve"> 52</a:t>
            </a:r>
            <a:endParaRPr/>
          </a:p>
        </p:txBody>
      </p:sp>
      <p:sp>
        <p:nvSpPr>
          <p:cNvPr id="243" name="Google Shape;243;p41"/>
          <p:cNvSpPr txBox="1"/>
          <p:nvPr/>
        </p:nvSpPr>
        <p:spPr>
          <a:xfrm>
            <a:off x="4188274" y="2775546"/>
            <a:ext cx="2375338"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dk1"/>
                </a:solidFill>
                <a:latin typeface="Cambria Math"/>
                <a:ea typeface="Cambria Math"/>
                <a:cs typeface="Cambria Math"/>
                <a:sym typeface="Cambria Math"/>
              </a:rPr>
              <a:t>15 × 91</a:t>
            </a:r>
            <a:endParaRPr sz="2800" i="1">
              <a:solidFill>
                <a:srgbClr val="262626"/>
              </a:solidFill>
              <a:latin typeface="Cambria Math"/>
              <a:ea typeface="Cambria Math"/>
              <a:cs typeface="Cambria Math"/>
              <a:sym typeface="Cambria Math"/>
            </a:endParaRPr>
          </a:p>
        </p:txBody>
      </p:sp>
      <p:sp>
        <p:nvSpPr>
          <p:cNvPr id="244" name="Google Shape;244;p41"/>
          <p:cNvSpPr txBox="1"/>
          <p:nvPr/>
        </p:nvSpPr>
        <p:spPr>
          <a:xfrm>
            <a:off x="7420206" y="2775547"/>
            <a:ext cx="2375338"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rgbClr val="23282D"/>
                </a:solidFill>
                <a:latin typeface="Cambria Math"/>
                <a:ea typeface="Cambria Math"/>
                <a:cs typeface="Cambria Math"/>
                <a:sym typeface="Cambria Math"/>
              </a:rPr>
              <a:t xml:space="preserve">37 </a:t>
            </a:r>
            <a:r>
              <a:rPr lang="en-US" sz="2800">
                <a:solidFill>
                  <a:schemeClr val="dk1"/>
                </a:solidFill>
                <a:latin typeface="Cambria Math"/>
                <a:ea typeface="Cambria Math"/>
                <a:cs typeface="Cambria Math"/>
                <a:sym typeface="Cambria Math"/>
              </a:rPr>
              <a:t>×</a:t>
            </a:r>
            <a:r>
              <a:rPr lang="en-US" sz="2800">
                <a:solidFill>
                  <a:srgbClr val="23282D"/>
                </a:solidFill>
                <a:latin typeface="Cambria Math"/>
                <a:ea typeface="Cambria Math"/>
                <a:cs typeface="Cambria Math"/>
                <a:sym typeface="Cambria Math"/>
              </a:rPr>
              <a:t xml:space="preserve"> 38</a:t>
            </a:r>
            <a:endParaRPr/>
          </a:p>
        </p:txBody>
      </p:sp>
      <p:sp>
        <p:nvSpPr>
          <p:cNvPr id="245" name="Reference style 245"/>
          <p:cNvSpPr txBox="1"/>
          <p:nvPr/>
        </p:nvSpPr>
        <p:spPr>
          <a:xfrm>
            <a:off x="502920" y="54864"/>
            <a:ext cx="6035040" cy="237744"/>
          </a:xfrm>
          <a:prstGeom prst="rect">
            <a:avLst/>
          </a:prstGeom>
          <a:noFill/>
        </p:spPr>
        <p:txBody>
          <a:bodyPr wrap="square" lIns="0" rIns="0" tIns="0" bIns="0" anchor="ctr">
            <a:noAutofit/>
          </a:bodyPr>
          <a:lstStyle/>
          <a:p>
            <a:pPr algn="l"/>
            <a:r>
              <a:rPr lang="en-US" sz="1200" b="1" dirty="0">
                <a:solidFill>
                  <a:srgbClr val="1E2682"/>
                </a:solidFill>
                <a:latin typeface="Arial"/>
              </a:rPr>
              <a:t>STUDENT MOVE</a:t>
            </a:r>
            <a:r>
              <a:rPr lang="en-US" sz="1200" b="1" dirty="0">
                <a:solidFill>
                  <a:srgbClr val="5D6872"/>
                </a:solidFill>
                <a:latin typeface="Arial"/>
              </a:rPr>
              <a:t xml:space="preserve">  ·  ESTIMATE • DEFEND • COMPARE</a:t>
            </a:r>
          </a:p>
        </p:txBody>
      </p:sp>
      <p:sp>
        <p:nvSpPr>
          <p:cNvPr id="247" name="Reference style 247"/>
          <p:cNvSpPr/>
          <p:nvPr/>
        </p:nvSpPr>
        <p:spPr>
          <a:xfrm>
            <a:off x="548640" y="4800600"/>
            <a:ext cx="7406640" cy="868680"/>
          </a:xfrm>
          <a:prstGeom prst="roundRect">
            <a:avLst/>
          </a:prstGeom>
          <a:solidFill>
            <a:srgbClr val="F1EC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Reference style 248"/>
          <p:cNvSpPr/>
          <p:nvPr/>
        </p:nvSpPr>
        <p:spPr>
          <a:xfrm>
            <a:off x="548640" y="4800600"/>
            <a:ext cx="64008" cy="868680"/>
          </a:xfrm>
          <a:prstGeom prst="rect">
            <a:avLst/>
          </a:prstGeom>
          <a:solidFill>
            <a:srgbClr val="7A2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Reference style 249"/>
          <p:cNvSpPr txBox="1"/>
          <p:nvPr/>
        </p:nvSpPr>
        <p:spPr>
          <a:xfrm>
            <a:off x="713232" y="4910328"/>
            <a:ext cx="7114032" cy="201168"/>
          </a:xfrm>
          <a:prstGeom prst="rect">
            <a:avLst/>
          </a:prstGeom>
          <a:noFill/>
        </p:spPr>
        <p:txBody>
          <a:bodyPr wrap="square" lIns="0" tIns="0" rIns="0" bIns="0" anchor="t">
            <a:noAutofit/>
          </a:bodyPr>
          <a:lstStyle/>
          <a:p>
            <a:pPr algn="l" marL="0" indent="0">
              <a:buNone/>
            </a:pPr>
            <a:r>
              <a:rPr sz="1200" b="1">
                <a:solidFill>
                  <a:srgbClr val="782DA0"/>
                </a:solidFill>
                <a:latin typeface="Arial"/>
              </a:rPr>
              <a:t>EXPLAIN YOUR THINKING</a:t>
            </a:r>
          </a:p>
        </p:txBody>
      </p:sp>
      <p:sp>
        <p:nvSpPr>
          <p:cNvPr id="250" name="Reference style 250"/>
          <p:cNvSpPr txBox="1"/>
          <p:nvPr/>
        </p:nvSpPr>
        <p:spPr>
          <a:xfrm>
            <a:off x="713232" y="5202936"/>
            <a:ext cx="7086600" cy="429768"/>
          </a:xfrm>
          <a:prstGeom prst="rect">
            <a:avLst/>
          </a:prstGeom>
          <a:noFill/>
        </p:spPr>
        <p:txBody>
          <a:bodyPr wrap="square" lIns="0" tIns="0" rIns="0" bIns="0" anchor="t">
            <a:noAutofit/>
          </a:bodyPr>
          <a:lstStyle/>
          <a:p>
            <a:pPr algn="l" marL="0" indent="0">
              <a:buNone/>
            </a:pPr>
            <a:r>
              <a:rPr sz="1600" b="0">
                <a:solidFill>
                  <a:srgbClr val="262C30"/>
                </a:solidFill>
                <a:latin typeface="Arial"/>
              </a:rPr>
              <a:t>“I estimate more/less than 1,000 because ___.”</a:t>
            </a:r>
          </a:p>
        </p:txBody>
      </p:sp>
      <p:sp>
        <p:nvSpPr>
          <p:cNvPr id="251" name="Reference style 251"/>
          <p:cNvSpPr txBox="1"/>
          <p:nvPr/>
        </p:nvSpPr>
        <p:spPr>
          <a:xfrm>
            <a:off x="521207" y="1170432"/>
            <a:ext cx="6492240" cy="411480"/>
          </a:xfrm>
          <a:prstGeom prst="rect">
            <a:avLst/>
          </a:prstGeom>
          <a:noFill/>
        </p:spPr>
        <p:txBody>
          <a:bodyPr wrap="square" lIns="0" tIns="0" rIns="0" bIns="0" anchor="t">
            <a:noAutofit/>
          </a:bodyPr>
          <a:lstStyle/>
          <a:p>
            <a:pPr algn="l" marL="0" indent="0">
              <a:buNone/>
            </a:pPr>
            <a:r>
              <a:rPr sz="1800" b="0">
                <a:solidFill>
                  <a:srgbClr val="5D6872"/>
                </a:solidFill>
                <a:latin typeface="Arial"/>
              </a:rPr>
              <a:t>Estimate first. Choose one expression and defend your estimate.</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Partner press: ask Why? and answer with evidence.</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pic>
        <p:nvPicPr>
          <p:cNvPr id="287" name="Reference style 287">
            <a:extLst>
              <a:ext uri="{FF2B5EF4-FFF2-40B4-BE49-F238E27FC236}">
                <a16:creationId xmlns:a16="http://schemas.microsoft.com/office/drawing/2014/main" id="{DB6EED09-8B61-F64F-907D-F4B749DB901C}"/>
              </a:ext>
            </a:extLst>
          </p:cNvPr>
          <p:cNvPicPr>
            <a:picLocks noChangeAspect="1"/>
          </p:cNvPicPr>
          <p:nvPr userDrawn="1"/>
        </p:nvPicPr>
        <p:blipFill>
          <a:blip r:embed="rIdReferenceHeader323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cxnSp>
        <p:nvCxnSpPr>
          <p:cNvPr id="277" name="Google Shape;277;p45"/>
          <p:cNvCxnSpPr/>
          <p:nvPr/>
        </p:nvCxnSpPr>
        <p:spPr>
          <a:xfrm>
            <a:off x="13164879" y="5911702"/>
            <a:ext cx="0" cy="0"/>
          </a:xfrm>
          <a:prstGeom prst="straightConnector1">
            <a:avLst/>
          </a:prstGeom>
          <a:noFill/>
          <a:ln w="9525" cap="flat" cmpd="sng">
            <a:solidFill>
              <a:schemeClr val="accent1"/>
            </a:solidFill>
            <a:prstDash val="solid"/>
            <a:miter lim="8000"/>
            <a:headEnd type="none" w="sm" len="sm"/>
            <a:tailEnd type="none" w="sm" len="sm"/>
          </a:ln>
        </p:spPr>
      </p:cxnSp>
      <p:sp>
        <p:nvSpPr>
          <p:cNvPr id="278" name="Google Shape;278;p45"/>
          <p:cNvSpPr txBox="1"/>
          <p:nvPr/>
        </p:nvSpPr>
        <p:spPr>
          <a:xfrm>
            <a:off x="484565" y="316034"/>
            <a:ext cx="6858000"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030A0"/>
              </a:buClr>
              <a:buSzPts val="2800"/>
              <a:buFont typeface="Arial"/>
              <a:buNone/>
            </a:pPr>
            <a:r>
              <a:rPr lang="en-US" sz="2800" b="1">
                <a:solidFill>
                  <a:srgbClr val="782DA0"/>
                </a:solidFill>
                <a:latin typeface="Arial"/>
                <a:ea typeface="Arial"/>
                <a:cs typeface="Arial"/>
                <a:sym typeface="Arial"/>
              </a:rPr>
              <a:t>Metro Trains</a:t>
            </a:r>
            <a:endParaRPr/>
          </a:p>
        </p:txBody>
      </p:sp>
      <p:sp>
        <p:nvSpPr>
          <p:cNvPr id="279" name="Google Shape;279;p45"/>
          <p:cNvSpPr txBox="1"/>
          <p:nvPr/>
        </p:nvSpPr>
        <p:spPr>
          <a:xfrm>
            <a:off x="484565" y="936100"/>
            <a:ext cx="6662193" cy="435133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500">
                <a:solidFill>
                  <a:srgbClr val="23282D"/>
                </a:solidFill>
                <a:latin typeface="Arial"/>
                <a:ea typeface="Arial"/>
                <a:cs typeface="Arial"/>
                <a:sym typeface="Arial"/>
              </a:rPr>
              <a:t>A high-speed train can travel 150 miles per hour. Some tracks require slower speeds.</a:t>
            </a:r>
          </a:p>
          <a:p>
            <a:pPr marL="0" marR="0" lvl="0" indent="0" algn="l" rtl="0">
              <a:lnSpc>
                <a:spcPct val="100000"/>
              </a:lnSpc>
              <a:spcBef>
                <a:spcPts val="0"/>
              </a:spcBef>
              <a:spcAft>
                <a:spcPts val="0"/>
              </a:spcAft>
              <a:buNone/>
            </a:pPr>
            <a:r>
              <a:rPr lang="en-US" sz="2500">
                <a:solidFill>
                  <a:srgbClr val="23282D"/>
                </a:solidFill>
                <a:latin typeface="Arial"/>
                <a:ea typeface="Arial"/>
                <a:cs typeface="Arial"/>
                <a:sym typeface="Arial"/>
              </a:rPr>
              <a:t/>
            </a:r>
          </a:p>
          <a:p>
            <a:pPr marL="0" marR="0" lvl="0" indent="0" algn="l" rtl="0">
              <a:lnSpc>
                <a:spcPct val="100000"/>
              </a:lnSpc>
              <a:spcBef>
                <a:spcPts val="0"/>
              </a:spcBef>
              <a:spcAft>
                <a:spcPts val="0"/>
              </a:spcAft>
              <a:buNone/>
            </a:pPr>
            <a:r>
              <a:rPr lang="en-US" sz="2500">
                <a:solidFill>
                  <a:srgbClr val="23282D"/>
                </a:solidFill>
                <a:latin typeface="Arial"/>
                <a:ea typeface="Arial"/>
                <a:cs typeface="Arial"/>
                <a:sym typeface="Arial"/>
              </a:rPr>
              <a:t>If it traveled at 150 miles per hour for all 450 miles from Boston to Washington, D.C., how long would the trip take?</a:t>
            </a:r>
          </a:p>
        </p:txBody>
      </p:sp>
      <p:pic>
        <p:nvPicPr>
          <p:cNvPr id="280" name="Google Shape;280;p45"/>
          <p:cNvPicPr preferRelativeResize="0"/>
          <p:nvPr/>
        </p:nvPicPr>
        <p:blipFill rotWithShape="1">
          <a:blip r:embed="rId3">
            <a:alphaModFix/>
          </a:blip>
          <a:srcRect/>
          <a:stretch/>
        </p:blipFill>
        <p:spPr>
          <a:xfrm>
            <a:off x="7150608" y="1965960"/>
            <a:ext cx="4480560" cy="2331720"/>
          </a:xfrm>
          <a:prstGeom prst="rect">
            <a:avLst/>
          </a:prstGeom>
          <a:noFill/>
          <a:ln>
            <a:noFill/>
          </a:ln>
        </p:spPr>
      </p:pic>
      <p:sp>
        <p:nvSpPr>
          <p:cNvPr id="281" name="Reference style 281"/>
          <p:cNvSpPr txBox="1"/>
          <p:nvPr/>
        </p:nvSpPr>
        <p:spPr>
          <a:xfrm>
            <a:off x="502920" y="54864"/>
            <a:ext cx="6035040" cy="237744"/>
          </a:xfrm>
          <a:prstGeom prst="rect">
            <a:avLst/>
          </a:prstGeom>
          <a:noFill/>
        </p:spPr>
        <p:txBody>
          <a:bodyPr wrap="square" lIns="0" rIns="0" tIns="0" bIns="0" anchor="ctr">
            <a:noAutofit/>
          </a:bodyPr>
          <a:lstStyle/>
          <a:p>
            <a:pPr algn="l"/>
            <a:r>
              <a:rPr lang="en-US" sz="1200" b="1" dirty="0">
                <a:solidFill>
                  <a:srgbClr val="1E2682"/>
                </a:solidFill>
                <a:latin typeface="Arial"/>
              </a:rPr>
              <a:t>STUDENT MOVE</a:t>
            </a:r>
            <a:r>
              <a:rPr lang="en-US" sz="1200" b="1" dirty="0">
                <a:solidFill>
                  <a:srgbClr val="5D6872"/>
                </a:solidFill>
                <a:latin typeface="Arial"/>
              </a:rPr>
              <a:t xml:space="preserve">  ·  PREDICT • MODEL • EXPLAIN</a:t>
            </a:r>
          </a:p>
        </p:txBody>
      </p:sp>
      <p:sp>
        <p:nvSpPr>
          <p:cNvPr id="283" name="Reference style 283"/>
          <p:cNvSpPr/>
          <p:nvPr/>
        </p:nvSpPr>
        <p:spPr>
          <a:xfrm>
            <a:off x="7452360" y="4572000"/>
            <a:ext cx="4206240" cy="1051560"/>
          </a:xfrm>
          <a:prstGeom prst="roundRect">
            <a:avLst/>
          </a:prstGeom>
          <a:solidFill>
            <a:srgbClr val="F1EC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 name="Reference style 284"/>
          <p:cNvSpPr/>
          <p:nvPr/>
        </p:nvSpPr>
        <p:spPr>
          <a:xfrm>
            <a:off x="7452360" y="4572000"/>
            <a:ext cx="64008" cy="1051560"/>
          </a:xfrm>
          <a:prstGeom prst="rect">
            <a:avLst/>
          </a:prstGeom>
          <a:solidFill>
            <a:srgbClr val="7A2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 name="Reference style 285"/>
          <p:cNvSpPr txBox="1"/>
          <p:nvPr/>
        </p:nvSpPr>
        <p:spPr>
          <a:xfrm>
            <a:off x="7616952" y="4681728"/>
            <a:ext cx="3913632" cy="201168"/>
          </a:xfrm>
          <a:prstGeom prst="rect">
            <a:avLst/>
          </a:prstGeom>
          <a:noFill/>
        </p:spPr>
        <p:txBody>
          <a:bodyPr wrap="square" lIns="0" tIns="0" rIns="0" bIns="0" anchor="t">
            <a:noAutofit/>
          </a:bodyPr>
          <a:lstStyle/>
          <a:p>
            <a:pPr algn="l" marL="0" indent="0">
              <a:buNone/>
            </a:pPr>
            <a:r>
              <a:rPr sz="1200" b="1">
                <a:solidFill>
                  <a:srgbClr val="782DA0"/>
                </a:solidFill>
                <a:latin typeface="Arial"/>
              </a:rPr>
              <a:t>TALK TOOL</a:t>
            </a:r>
          </a:p>
        </p:txBody>
      </p:sp>
      <p:sp>
        <p:nvSpPr>
          <p:cNvPr id="286" name="Reference style 286"/>
          <p:cNvSpPr txBox="1"/>
          <p:nvPr/>
        </p:nvSpPr>
        <p:spPr>
          <a:xfrm>
            <a:off x="7616952" y="4974336"/>
            <a:ext cx="3886200" cy="612648"/>
          </a:xfrm>
          <a:prstGeom prst="rect">
            <a:avLst/>
          </a:prstGeom>
          <a:noFill/>
        </p:spPr>
        <p:txBody>
          <a:bodyPr wrap="square" lIns="0" tIns="0" rIns="0" bIns="0" anchor="t">
            <a:noAutofit/>
          </a:bodyPr>
          <a:lstStyle/>
          <a:p>
            <a:pPr algn="l" marL="0" indent="0">
              <a:buNone/>
            </a:pPr>
            <a:r>
              <a:rPr sz="1600" b="0">
                <a:solidFill>
                  <a:srgbClr val="262C30"/>
                </a:solidFill>
                <a:latin typeface="Arial"/>
              </a:rPr>
              <a:t>“For every ___ hour(s), the train travels ___ miles.”</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Ask a partner a question; choose a model together.</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5413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Connect a feature of the model to a</a:t>
            </a:r>
            <a:endParaRPr lang="en-US" sz="2000"/>
          </a:p>
          <a:p>
            <a:pPr>
              <a:lnSpc>
                <a:spcPts val="2400"/>
              </a:lnSpc>
              <a:buNone/>
            </a:pPr>
            <a:r>
              <a:rPr lang="en-US" sz="2000">
                <a:solidFill>
                  <a:srgbClr val="174D60"/>
                </a:solidFill>
                <a:latin typeface="Arial"/>
              </a:rPr>
              <a:t>step in your reasoning.</a:t>
            </a:r>
            <a:endParaRPr lang="en-US" sz="2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4" name="Reference style 14">
            <a:extLst>
              <a:ext uri="{FF2B5EF4-FFF2-40B4-BE49-F238E27FC236}">
                <a16:creationId xmlns:a16="http://schemas.microsoft.com/office/drawing/2014/main" id="{DB6EED09-8B61-F64F-907D-F4B749DB901C}"/>
              </a:ext>
            </a:extLst>
          </p:cNvPr>
          <p:cNvPicPr>
            <a:picLocks noChangeAspect="1"/>
          </p:cNvPicPr>
          <p:nvPr userDrawn="1"/>
        </p:nvPicPr>
        <p:blipFill>
          <a:blip r:embed="rIdReferenceHeader323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7" name="Rectangle 6">
            <a:extLst>
              <a:ext uri="{FF2B5EF4-FFF2-40B4-BE49-F238E27FC236}">
                <a16:creationId xmlns:a16="http://schemas.microsoft.com/office/drawing/2014/main" id="{825335AF-FEDC-451F-ACF4-6EA6D5A64B91}"/>
              </a:ext>
            </a:extLst>
          </p:cNvPr>
          <p:cNvSpPr>
            <a:spLocks noGrp="1"/>
          </p:cNvSpPr>
          <p:nvPr/>
        </p:nvSpPr>
        <p:spPr>
          <a:xfrm>
            <a:off x="523875" y="400050"/>
            <a:ext cx="6858000" cy="876300"/>
          </a:xfrm>
          <a:prstGeom prst="rect">
            <a:avLst/>
          </a:prstGeom>
          <a:noFill/>
          <a:ln w="0">
            <a:noFill/>
          </a:ln>
        </p:spPr>
        <p:txBody>
          <a:bodyPr>
            <a:noAutofit/>
          </a:bodyPr>
          <a:lstStyle/>
          <a:p>
            <a:pPr>
              <a:defRPr sz="2775" b="1">
                <a:solidFill>
                  <a:srgbClr val="782DA0"/>
                </a:solidFill>
                <a:latin typeface="Arial"/>
                <a:ea typeface="Arial"/>
                <a:cs typeface="Arial"/>
              </a:defRPr>
            </a:pPr>
            <a:r>
              <a:rPr sz="2800" b="1">
                <a:solidFill>
                  <a:srgbClr val="782DA0"/>
                </a:solidFill>
                <a:highlight>
                  <a:srgbClr val="FFF2A8"/>
                </a:highlight>
                <a:latin typeface="Arial"/>
                <a:ea typeface="Arial"/>
                <a:cs typeface="Arial"/>
              </a:rPr>
              <a:t>Rates</a:t>
            </a:r>
            <a:r>
              <a:rPr sz="2800" b="1">
                <a:solidFill>
                  <a:srgbClr val="782DA0"/>
                </a:solidFill>
                <a:latin typeface="Arial"/>
                <a:ea typeface="Arial"/>
                <a:cs typeface="Arial"/>
              </a:rPr>
              <a:t xml:space="preserve"> and </a:t>
            </a:r>
            <a:r>
              <a:rPr sz="2800" b="1">
                <a:solidFill>
                  <a:srgbClr val="782DA0"/>
                </a:solidFill>
                <a:highlight>
                  <a:srgbClr val="FFF2A8"/>
                </a:highlight>
                <a:latin typeface="Arial"/>
                <a:ea typeface="Arial"/>
                <a:cs typeface="Arial"/>
              </a:rPr>
              <a:t>unit rates</a:t>
            </a:r>
          </a:p>
        </p:txBody>
      </p:sp>
      <p:sp>
        <p:nvSpPr>
          <p:cNvPr id="2" name="Rectangle 1">
            <a:extLst>
              <a:ext uri="{FF2B5EF4-FFF2-40B4-BE49-F238E27FC236}">
                <a16:creationId xmlns:a16="http://schemas.microsoft.com/office/drawing/2014/main" id="{08169982-A0E3-4629-9A33-BFEEE9C381CB}"/>
              </a:ext>
            </a:extLst>
          </p:cNvPr>
          <p:cNvSpPr>
            <a:spLocks noGrp="1"/>
          </p:cNvSpPr>
          <p:nvPr/>
        </p:nvSpPr>
        <p:spPr>
          <a:xfrm>
            <a:off x="552450" y="1619250"/>
            <a:ext cx="5286375" cy="1066800"/>
          </a:xfrm>
          <a:prstGeom prst="rect">
            <a:avLst/>
          </a:prstGeom>
          <a:noFill/>
          <a:ln w="0">
            <a:noFill/>
          </a:ln>
        </p:spPr>
        <p:txBody>
          <a:bodyPr>
            <a:noAutofit/>
          </a:bodyPr>
          <a:lstStyle/>
          <a:p>
            <a:pPr>
              <a:defRPr sz="2250" b="0">
                <a:solidFill>
                  <a:srgbClr val="23282D"/>
                </a:solidFill>
                <a:latin typeface="Arial"/>
                <a:ea typeface="Arial"/>
                <a:cs typeface="Arial"/>
              </a:defRPr>
            </a:pPr>
            <a:r>
              <a:rPr sz="2250" b="0">
                <a:solidFill>
                  <a:srgbClr val="23282D"/>
                </a:solidFill>
                <a:latin typeface="Arial"/>
                <a:ea typeface="Arial"/>
                <a:cs typeface="Arial"/>
              </a:rPr>
              <a:t xml:space="preserve">A </a:t>
            </a:r>
            <a:r>
              <a:rPr sz="2250" b="1">
                <a:solidFill>
                  <a:srgbClr val="23282D"/>
                </a:solidFill>
                <a:highlight>
                  <a:srgbClr val="FFF2A8"/>
                </a:highlight>
                <a:latin typeface="Arial"/>
                <a:ea typeface="Arial"/>
                <a:cs typeface="Arial"/>
              </a:rPr>
              <a:t>rate</a:t>
            </a:r>
            <a:r>
              <a:rPr sz="2250" b="0">
                <a:solidFill>
                  <a:srgbClr val="23282D"/>
                </a:solidFill>
                <a:latin typeface="Arial"/>
                <a:ea typeface="Arial"/>
                <a:cs typeface="Arial"/>
              </a:rPr>
              <a:t xml:space="preserve"> compares two quantities with different units.</a:t>
            </a:r>
          </a:p>
        </p:txBody>
      </p:sp>
      <p:sp>
        <p:nvSpPr>
          <p:cNvPr id="3" name="Rectangle 2">
            <a:extLst>
              <a:ext uri="{FF2B5EF4-FFF2-40B4-BE49-F238E27FC236}">
                <a16:creationId xmlns:a16="http://schemas.microsoft.com/office/drawing/2014/main" id="{5C46C310-C698-4FE9-A11A-CA3050722C80}"/>
              </a:ext>
            </a:extLst>
          </p:cNvPr>
          <p:cNvSpPr>
            <a:spLocks noGrp="1"/>
          </p:cNvSpPr>
          <p:nvPr/>
        </p:nvSpPr>
        <p:spPr>
          <a:xfrm>
            <a:off x="552450" y="2819400"/>
            <a:ext cx="5286375" cy="1066800"/>
          </a:xfrm>
          <a:prstGeom prst="rect">
            <a:avLst/>
          </a:prstGeom>
          <a:noFill/>
          <a:ln w="0">
            <a:noFill/>
          </a:ln>
        </p:spPr>
        <p:txBody>
          <a:bodyPr>
            <a:noAutofit/>
          </a:bodyPr>
          <a:lstStyle/>
          <a:p>
            <a:pPr>
              <a:defRPr sz="2250" b="0">
                <a:solidFill>
                  <a:srgbClr val="23282D"/>
                </a:solidFill>
                <a:latin typeface="Arial"/>
                <a:ea typeface="Arial"/>
                <a:cs typeface="Arial"/>
              </a:defRPr>
            </a:pPr>
            <a:r>
              <a:rPr sz="2250" b="0">
                <a:solidFill>
                  <a:srgbClr val="23282D"/>
                </a:solidFill>
                <a:latin typeface="Arial"/>
                <a:ea typeface="Arial"/>
                <a:cs typeface="Arial"/>
              </a:rPr>
              <a:t xml:space="preserve">A </a:t>
            </a:r>
            <a:r>
              <a:rPr sz="2250" b="1">
                <a:solidFill>
                  <a:srgbClr val="23282D"/>
                </a:solidFill>
                <a:highlight>
                  <a:srgbClr val="FFF2A8"/>
                </a:highlight>
                <a:latin typeface="Arial"/>
                <a:ea typeface="Arial"/>
                <a:cs typeface="Arial"/>
              </a:rPr>
              <a:t>unit rate</a:t>
            </a:r>
            <a:r>
              <a:rPr sz="2250" b="0">
                <a:solidFill>
                  <a:srgbClr val="23282D"/>
                </a:solidFill>
                <a:latin typeface="Arial"/>
                <a:ea typeface="Arial"/>
                <a:cs typeface="Arial"/>
              </a:rPr>
              <a:t xml:space="preserve"> gives the amount for 1 unit. “</a:t>
            </a:r>
            <a:r>
              <a:rPr sz="2250" b="1">
                <a:solidFill>
                  <a:srgbClr val="23282D"/>
                </a:solidFill>
                <a:highlight>
                  <a:srgbClr val="FFF2A8"/>
                </a:highlight>
                <a:latin typeface="Arial"/>
                <a:ea typeface="Arial"/>
                <a:cs typeface="Arial"/>
              </a:rPr>
              <a:t>Per hour</a:t>
            </a:r>
            <a:r>
              <a:rPr sz="2250" b="0">
                <a:solidFill>
                  <a:srgbClr val="23282D"/>
                </a:solidFill>
                <a:latin typeface="Arial"/>
                <a:ea typeface="Arial"/>
                <a:cs typeface="Arial"/>
              </a:rPr>
              <a:t>” means for each hour.</a:t>
            </a:r>
          </a:p>
        </p:txBody>
      </p:sp>
      <p:sp>
        <p:nvSpPr>
          <p:cNvPr id="4" name="Rectangle 3">
            <a:extLst>
              <a:ext uri="{FF2B5EF4-FFF2-40B4-BE49-F238E27FC236}">
                <a16:creationId xmlns:a16="http://schemas.microsoft.com/office/drawing/2014/main" id="{E698192E-14D3-45C7-9C66-26FC712B5E34}"/>
              </a:ext>
            </a:extLst>
          </p:cNvPr>
          <p:cNvSpPr>
            <a:spLocks noGrp="1"/>
          </p:cNvSpPr>
          <p:nvPr/>
        </p:nvSpPr>
        <p:spPr>
          <a:xfrm>
            <a:off x="552450" y="4019550"/>
            <a:ext cx="5286375" cy="1066800"/>
          </a:xfrm>
          <a:prstGeom prst="rect">
            <a:avLst/>
          </a:prstGeom>
          <a:noFill/>
          <a:ln w="0">
            <a:noFill/>
          </a:ln>
        </p:spPr>
        <p:txBody>
          <a:bodyPr>
            <a:noAutofit/>
          </a:bodyPr>
          <a:lstStyle/>
          <a:p>
            <a:pPr>
              <a:defRPr sz="2250" b="0">
                <a:solidFill>
                  <a:srgbClr val="23282D"/>
                </a:solidFill>
                <a:latin typeface="Arial"/>
                <a:ea typeface="Arial"/>
                <a:cs typeface="Arial"/>
              </a:defRPr>
            </a:pPr>
            <a:r>
              <a:rPr sz="2250" b="0">
                <a:solidFill>
                  <a:srgbClr val="23282D"/>
                </a:solidFill>
                <a:latin typeface="Arial"/>
                <a:ea typeface="Arial"/>
                <a:cs typeface="Arial"/>
              </a:rPr>
              <a:t xml:space="preserve">The train travels 150 miles </a:t>
            </a:r>
            <a:r>
              <a:rPr sz="2250" b="1">
                <a:solidFill>
                  <a:srgbClr val="23282D"/>
                </a:solidFill>
                <a:highlight>
                  <a:srgbClr val="FFF2A8"/>
                </a:highlight>
                <a:latin typeface="Arial"/>
                <a:ea typeface="Arial"/>
                <a:cs typeface="Arial"/>
              </a:rPr>
              <a:t>per hour</a:t>
            </a:r>
            <a:r>
              <a:rPr sz="2250" b="0">
                <a:solidFill>
                  <a:srgbClr val="23282D"/>
                </a:solidFill>
                <a:latin typeface="Arial"/>
                <a:ea typeface="Arial"/>
                <a:cs typeface="Arial"/>
              </a:rPr>
              <a:t>. We need the time for 450 miles.</a:t>
            </a:r>
          </a:p>
        </p:txBody>
      </p:sp>
      <p:graphicFrame>
        <p:nvGraphicFramePr>
          <p:cNvPr id="11" name="Table 10"/>
          <p:cNvGraphicFramePr/>
          <p:nvPr/>
        </p:nvGraphicFramePr>
        <p:xfrm>
          <a:off x="6210300" y="1809750"/>
          <a:ext cx="5410200" cy="1885950"/>
        </p:xfrm>
        <a:graphic>
          <a:graphicData uri="http://schemas.openxmlformats.org/drawingml/2006/table">
            <a:tbl>
              <a:tblPr/>
              <a:tblGrid>
                <a:gridCol w="2705100">
                  <a:extLst>
                    <a:ext uri="{9D8B030D-6E8A-4147-A177-3AD203B41FA5}">
                      <a16:colId xmlns:a16="http://schemas.microsoft.com/office/drawing/2014/main" val="20000"/>
                    </a:ext>
                  </a:extLst>
                </a:gridCol>
                <a:gridCol w="2705100">
                  <a:extLst>
                    <a:ext uri="{9D8B030D-6E8A-4147-A177-3AD203B41FA5}">
                      <a16:colId xmlns:a16="http://schemas.microsoft.com/office/drawing/2014/main" val="20001"/>
                    </a:ext>
                  </a:extLst>
                </a:gridCol>
              </a:tblGrid>
              <a:tr h="628650">
                <a:tc>
                  <a:txBody>
                    <a:bodyPr/>
                    <a:lstStyle/>
                    <a:p>
                      <a:r>
                        <a:rPr sz="1875" b="1">
                          <a:solidFill>
                            <a:srgbClr val="FFFFFF"/>
                          </a:solidFill>
                          <a:latin typeface="Arial"/>
                          <a:ea typeface="Arial"/>
                          <a:cs typeface="Arial"/>
                        </a:rPr>
                        <a:t>Distance (miles)</a:t>
                      </a:r>
                    </a:p>
                  </a:txBody>
                  <a:tcPr>
                    <a:solidFill>
                      <a:srgbClr val="0070C0"/>
                    </a:solidFill>
                  </a:tcPr>
                </a:tc>
                <a:tc>
                  <a:txBody>
                    <a:bodyPr/>
                    <a:lstStyle/>
                    <a:p>
                      <a:r>
                        <a:rPr sz="1875" b="1">
                          <a:solidFill>
                            <a:srgbClr val="FFFFFF"/>
                          </a:solidFill>
                          <a:latin typeface="Arial"/>
                          <a:ea typeface="Arial"/>
                          <a:cs typeface="Arial"/>
                        </a:rPr>
                        <a:t>Time (hours)</a:t>
                      </a:r>
                    </a:p>
                  </a:txBody>
                  <a:tcPr>
                    <a:solidFill>
                      <a:srgbClr val="0070C0"/>
                    </a:solidFill>
                  </a:tcPr>
                </a:tc>
                <a:extLst>
                  <a:ext uri="{0D108BD9-81ED-4DB2-BD59-A6C34878D82A}">
                    <a16:rowId xmlns:a16="http://schemas.microsoft.com/office/drawing/2014/main" val="10000"/>
                  </a:ext>
                </a:extLst>
              </a:tr>
              <a:tr h="628650">
                <a:tc>
                  <a:txBody>
                    <a:bodyPr/>
                    <a:lstStyle/>
                    <a:p>
                      <a:r>
                        <a:rPr sz="1875" b="0">
                          <a:solidFill>
                            <a:srgbClr val="23282D"/>
                          </a:solidFill>
                          <a:latin typeface="Arial"/>
                          <a:ea typeface="Arial"/>
                          <a:cs typeface="Arial"/>
                        </a:rPr>
                        <a:t>150</a:t>
                      </a:r>
                    </a:p>
                  </a:txBody>
                  <a:tcPr>
                    <a:solidFill>
                      <a:srgbClr val="FFFFFF"/>
                    </a:solidFill>
                  </a:tcPr>
                </a:tc>
                <a:tc>
                  <a:txBody>
                    <a:bodyPr/>
                    <a:lstStyle/>
                    <a:p>
                      <a:r>
                        <a:rPr sz="1875" b="0">
                          <a:solidFill>
                            <a:srgbClr val="23282D"/>
                          </a:solidFill>
                          <a:latin typeface="Arial"/>
                          <a:ea typeface="Arial"/>
                          <a:cs typeface="Arial"/>
                        </a:rPr>
                        <a:t>1</a:t>
                      </a:r>
                    </a:p>
                  </a:txBody>
                  <a:tcPr>
                    <a:solidFill>
                      <a:srgbClr val="FFFFFF"/>
                    </a:solidFill>
                  </a:tcPr>
                </a:tc>
                <a:extLst>
                  <a:ext uri="{0D108BD9-81ED-4DB2-BD59-A6C34878D82A}">
                    <a16:rowId xmlns:a16="http://schemas.microsoft.com/office/drawing/2014/main" val="10001"/>
                  </a:ext>
                </a:extLst>
              </a:tr>
              <a:tr h="628650">
                <a:tc>
                  <a:txBody>
                    <a:bodyPr/>
                    <a:lstStyle/>
                    <a:p>
                      <a:r>
                        <a:rPr sz="1875" b="0">
                          <a:solidFill>
                            <a:srgbClr val="23282D"/>
                          </a:solidFill>
                          <a:latin typeface="Arial"/>
                          <a:ea typeface="Arial"/>
                          <a:cs typeface="Arial"/>
                        </a:rPr>
                        <a:t>450</a:t>
                      </a:r>
                    </a:p>
                  </a:txBody>
                  <a:tcPr>
                    <a:solidFill>
                      <a:srgbClr val="FFFFFF"/>
                    </a:solidFill>
                  </a:tcPr>
                </a:tc>
                <a:tc>
                  <a:txBody>
                    <a:bodyPr/>
                    <a:lstStyle/>
                    <a:p>
                      <a:r>
                        <a:rPr sz="1875" b="0">
                          <a:solidFill>
                            <a:srgbClr val="23282D"/>
                          </a:solidFill>
                          <a:latin typeface="Arial"/>
                          <a:ea typeface="Arial"/>
                          <a:cs typeface="Arial"/>
                        </a:rPr>
                        <a:t>?</a:t>
                      </a:r>
                    </a:p>
                  </a:txBody>
                  <a:tcPr>
                    <a:solidFill>
                      <a:srgbClr val="FFFFFF"/>
                    </a:solidFill>
                  </a:tcPr>
                </a:tc>
                <a:extLst>
                  <a:ext uri="{0D108BD9-81ED-4DB2-BD59-A6C34878D82A}">
                    <a16:rowId xmlns:a16="http://schemas.microsoft.com/office/drawing/2014/main" val="10002"/>
                  </a:ext>
                </a:extLst>
              </a:tr>
            </a:tbl>
          </a:graphicData>
        </a:graphic>
      </p:graphicFrame>
      <p:sp>
        <p:nvSpPr>
          <p:cNvPr id="6" name="Rectangle 5">
            <a:extLst>
              <a:ext uri="{FF2B5EF4-FFF2-40B4-BE49-F238E27FC236}">
                <a16:creationId xmlns:a16="http://schemas.microsoft.com/office/drawing/2014/main" id="{BD8E5885-2D94-460D-8C22-D5735D011C42}"/>
              </a:ext>
            </a:extLst>
          </p:cNvPr>
          <p:cNvSpPr>
            <a:spLocks noGrp="1"/>
          </p:cNvSpPr>
          <p:nvPr/>
        </p:nvSpPr>
        <p:spPr>
          <a:xfrm>
            <a:off x="552450" y="5553075"/>
            <a:ext cx="10858500" cy="742950"/>
          </a:xfrm>
          <a:prstGeom prst="rect">
            <a:avLst/>
          </a:prstGeom>
          <a:noFill/>
          <a:ln w="0">
            <a:noFill/>
          </a:ln>
        </p:spPr>
        <p:txBody>
          <a:bodyPr>
            <a:noAutofit/>
          </a:bodyPr>
          <a:lstStyle/>
          <a:p>
            <a:pPr marL="0" indent="0">
              <a:defRPr sz="2100" b="1">
                <a:solidFill>
                  <a:srgbClr val="0068A8"/>
                </a:solidFill>
                <a:latin typeface="Arial"/>
                <a:ea typeface="Arial"/>
                <a:cs typeface="Arial"/>
              </a:defRPr>
              <a:buNone/>
            </a:pPr>
            <a:r>
              <a:rPr sz="1800" b="1">
                <a:solidFill>
                  <a:srgbClr val="0068A8"/>
                </a:solidFill>
                <a:latin typeface="Arial"/>
                <a:ea typeface="Arial"/>
                <a:cs typeface="Arial"/>
              </a:rPr>
              <a:t>Explain: “150 miles per hour means ___ miles for every ___ hour.”</a:t>
            </a:r>
          </a:p>
        </p:txBody>
      </p:sp>
      <p:sp>
        <p:nvSpPr>
          <p:cNvPr id="12" name="Reference style 12"/>
          <p:cNvSpPr txBox="1"/>
          <p:nvPr/>
        </p:nvSpPr>
        <p:spPr>
          <a:xfrm>
            <a:off x="502920" y="54864"/>
            <a:ext cx="6035040" cy="237744"/>
          </a:xfrm>
          <a:prstGeom prst="rect">
            <a:avLst/>
          </a:prstGeom>
          <a:noFill/>
        </p:spPr>
        <p:txBody>
          <a:bodyPr wrap="square" lIns="0" rIns="0" tIns="0" bIns="0" anchor="ctr">
            <a:noAutofit/>
          </a:bodyPr>
          <a:lstStyle/>
          <a:p>
            <a:pPr algn="l"/>
            <a:r>
              <a:rPr lang="en-US" sz="1200" b="1" dirty="0">
                <a:solidFill>
                  <a:srgbClr val="1E2682"/>
                </a:solidFill>
                <a:latin typeface="Arial"/>
              </a:rPr>
              <a:t>STUDENT MOVE</a:t>
            </a:r>
            <a:r>
              <a:rPr lang="en-US" sz="1200" b="1" dirty="0">
                <a:solidFill>
                  <a:srgbClr val="5D6872"/>
                </a:solidFill>
                <a:latin typeface="Arial"/>
              </a:rPr>
              <a:t xml:space="preserve">  ·  NAME BOTH UNITS</a:t>
            </a:r>
          </a:p>
        </p:txBody>
      </p:sp>
      <p:sp>
        <p:nvSpPr>
          <p:cNvPr id="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40</a:t>
            </a:r>
          </a:p>
        </p:txBody>
      </p:sp>
      <p:sp xmlns:p="http://schemas.openxmlformats.org/presentationml/2006/main" xmlns:a="http://schemas.openxmlformats.org/drawingml/2006/main">
        <p:nvSpPr>
          <p:cNvPr id="16" name="TEACH-embedded-student-prompt" descr="Student thinking and response directions"/>
          <p:cNvSpPr txBox="1"/>
          <p:nvPr/>
        </p:nvSpPr>
        <p:spPr>
          <a:xfrm>
            <a:off x="6111240" y="45902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a:t>
            </a:r>
            <a:endParaRPr lang="en-US" sz="2000"/>
          </a:p>
          <a:p>
            <a:pPr>
              <a:lnSpc>
                <a:spcPts val="2400"/>
              </a:lnSpc>
              <a:buNone/>
            </a:pPr>
            <a:r>
              <a:rPr lang="en-US" sz="2000">
                <a:solidFill>
                  <a:srgbClr val="174D60"/>
                </a:solidFill>
                <a:latin typeface="Arial"/>
              </a:rPr>
              <a:t>work supports your answer?</a:t>
            </a:r>
            <a:endParaRPr lang="en-US" sz="2000"/>
          </a:p>
        </p:txBody>
      </p:sp>
    </p:spTree>
    <p:extLst>
      <p:ext uri="{BB962C8B-B14F-4D97-AF65-F5344CB8AC3E}">
        <p14:creationId xmlns:p14="http://schemas.microsoft.com/office/powerpoint/2010/main" val="7903515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pic>
        <p:nvPicPr>
          <p:cNvPr id="432" name="Reference style 432">
            <a:extLst>
              <a:ext uri="{FF2B5EF4-FFF2-40B4-BE49-F238E27FC236}">
                <a16:creationId xmlns:a16="http://schemas.microsoft.com/office/drawing/2014/main" id="{DB6EED09-8B61-F64F-907D-F4B749DB901C}"/>
              </a:ext>
            </a:extLst>
          </p:cNvPr>
          <p:cNvPicPr>
            <a:picLocks noChangeAspect="1"/>
          </p:cNvPicPr>
          <p:nvPr userDrawn="1"/>
        </p:nvPicPr>
        <p:blipFill>
          <a:blip r:embed="rIdReferenceHeader323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cxnSp>
        <p:nvCxnSpPr>
          <p:cNvPr id="422" name="Google Shape;422;p63"/>
          <p:cNvCxnSpPr/>
          <p:nvPr/>
        </p:nvCxnSpPr>
        <p:spPr>
          <a:xfrm>
            <a:off x="13164879" y="5911702"/>
            <a:ext cx="0" cy="0"/>
          </a:xfrm>
          <a:prstGeom prst="straightConnector1">
            <a:avLst/>
          </a:prstGeom>
          <a:noFill/>
          <a:ln w="9525" cap="flat" cmpd="sng">
            <a:solidFill>
              <a:schemeClr val="accent1"/>
            </a:solidFill>
            <a:prstDash val="solid"/>
            <a:miter lim="8000"/>
            <a:headEnd type="none" w="sm" len="sm"/>
            <a:tailEnd type="none" w="sm" len="sm"/>
          </a:ln>
        </p:spPr>
      </p:cxnSp>
      <p:sp>
        <p:nvSpPr>
          <p:cNvPr id="423" name="Google Shape;423;p63"/>
          <p:cNvSpPr txBox="1"/>
          <p:nvPr/>
        </p:nvSpPr>
        <p:spPr>
          <a:xfrm>
            <a:off x="467312" y="504779"/>
            <a:ext cx="5628688" cy="423112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defRPr/>
            </a:pPr>
            <a:r>
              <a:rPr lang="en-US" sz="2800">
                <a:solidFill>
                  <a:srgbClr val="23282D"/>
                </a:solidFill>
                <a:latin typeface="Arial"/>
                <a:ea typeface="Arial"/>
                <a:cs typeface="Arial"/>
                <a:sym typeface="Arial"/>
              </a:rPr>
              <a:t>We can label the top number line with intervals of 150 miles, and the bottom number with intervals of 1 hour.</a:t>
            </a:r>
            <a:endParaRPr/>
          </a:p>
          <a:p>
            <a:pPr marL="0" marR="0" lvl="0" indent="0" algn="l" rtl="0">
              <a:lnSpc>
                <a:spcPct val="100000"/>
              </a:lnSpc>
              <a:spcBef>
                <a:spcPts val="1800"/>
              </a:spcBef>
              <a:spcAft>
                <a:spcPts val="0"/>
              </a:spcAft>
              <a:buClr>
                <a:schemeClr val="dk2"/>
              </a:buClr>
              <a:buSzPts val="2800"/>
              <a:buFont typeface="Arial"/>
              <a:buNone/>
              <a:defRPr/>
            </a:pPr>
            <a:endParaRPr sz="2800" b="1">
              <a:solidFill>
                <a:srgbClr val="262626"/>
              </a:solidFill>
              <a:latin typeface="Arial"/>
              <a:ea typeface="Arial"/>
              <a:cs typeface="Arial"/>
              <a:sym typeface="Arial"/>
            </a:endParaRPr>
          </a:p>
          <a:p>
            <a:pPr marL="0" marR="0" lvl="0" indent="0" algn="l" rtl="0">
              <a:lnSpc>
                <a:spcPct val="100000"/>
              </a:lnSpc>
              <a:spcBef>
                <a:spcPts val="1800"/>
              </a:spcBef>
              <a:spcAft>
                <a:spcPts val="0"/>
              </a:spcAft>
              <a:buClr>
                <a:schemeClr val="dk2"/>
              </a:buClr>
              <a:buSzPts val="2800"/>
              <a:buFont typeface="Arial"/>
              <a:buNone/>
              <a:defRPr/>
            </a:pPr>
            <a:endParaRPr sz="2800" b="1">
              <a:solidFill>
                <a:srgbClr val="262626"/>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defRPr/>
            </a:pPr>
            <a:r>
              <a:rPr lang="en-US" sz="2800" b="1">
                <a:solidFill>
                  <a:srgbClr val="23282D"/>
                </a:solidFill>
                <a:latin typeface="Arial"/>
                <a:ea typeface="Arial"/>
                <a:cs typeface="Arial"/>
                <a:sym typeface="Arial"/>
              </a:rPr>
              <a:t>How many hours will it take the train to travel 450 miles?</a:t>
            </a:r>
            <a:endParaRPr/>
          </a:p>
          <a:p>
            <a:pPr marL="0" marR="0" lvl="0" indent="0" algn="l" rtl="0">
              <a:lnSpc>
                <a:spcPct val="100000"/>
              </a:lnSpc>
              <a:spcBef>
                <a:spcPts val="1800"/>
              </a:spcBef>
              <a:spcAft>
                <a:spcPts val="0"/>
              </a:spcAft>
              <a:buClr>
                <a:schemeClr val="dk2"/>
              </a:buClr>
              <a:buSzPts val="2800"/>
              <a:buFont typeface="Arial"/>
              <a:buNone/>
              <a:defRPr/>
            </a:pPr>
            <a:endParaRPr sz="2800" b="1">
              <a:solidFill>
                <a:srgbClr val="262626"/>
              </a:solidFill>
              <a:latin typeface="Arial"/>
              <a:ea typeface="Arial"/>
              <a:cs typeface="Arial"/>
              <a:sym typeface="Arial"/>
            </a:endParaRPr>
          </a:p>
        </p:txBody>
      </p:sp>
      <p:pic>
        <p:nvPicPr>
          <p:cNvPr id="424" name="Google Shape;424;p63"/>
          <p:cNvPicPr preferRelativeResize="0"/>
          <p:nvPr/>
        </p:nvPicPr>
        <p:blipFill rotWithShape="1">
          <a:blip r:embed="rId3">
            <a:alphaModFix/>
          </a:blip>
          <a:srcRect/>
          <a:stretch/>
        </p:blipFill>
        <p:spPr>
          <a:xfrm>
            <a:off x="7883334" y="2145806"/>
            <a:ext cx="3507430" cy="1218491"/>
          </a:xfrm>
          <a:prstGeom prst="rect">
            <a:avLst/>
          </a:prstGeom>
          <a:noFill/>
          <a:ln>
            <a:noFill/>
          </a:ln>
        </p:spPr>
      </p:pic>
      <p:sp>
        <p:nvSpPr>
          <p:cNvPr id="425" name="Google Shape;425;p63"/>
          <p:cNvSpPr txBox="1"/>
          <p:nvPr/>
        </p:nvSpPr>
        <p:spPr>
          <a:xfrm>
            <a:off x="466344" y="5330952"/>
            <a:ext cx="5961888" cy="914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defRPr/>
            </a:pPr>
            <a:r>
              <a:rPr lang="en-US" sz="2800" b="1">
                <a:solidFill>
                  <a:srgbClr val="0070C0"/>
                </a:solidFill>
                <a:highlight>
                  <a:srgbClr val="E0E0E0"/>
                </a:highlight>
                <a:latin typeface="Arial"/>
                <a:ea typeface="Arial"/>
                <a:cs typeface="Arial"/>
                <a:sym typeface="Arial"/>
              </a:rPr>
              <a:t xml:space="preserve"> Check</a:t>
            </a:r>
            <a:r>
              <a:rPr lang="en-US" sz="2800" b="1">
                <a:solidFill>
                  <a:srgbClr val="E0E0E0"/>
                </a:solidFill>
                <a:highlight>
                  <a:srgbClr val="E0E0E0"/>
                </a:highlight>
                <a:latin typeface="Arial"/>
                <a:ea typeface="Arial"/>
                <a:cs typeface="Arial"/>
                <a:sym typeface="Arial"/>
              </a:rPr>
              <a:t>:</a:t>
            </a:r>
            <a:r>
              <a:rPr lang="en-US" sz="2800" b="1">
                <a:solidFill>
                  <a:srgbClr val="0070C0"/>
                </a:solidFill>
                <a:latin typeface="Arial"/>
                <a:ea typeface="Arial"/>
                <a:cs typeface="Arial"/>
                <a:sym typeface="Arial"/>
              </a:rPr>
              <a:t xml:space="preserve"> </a:t>
            </a:r>
            <a:endParaRPr/>
          </a:p>
          <a:p>
            <a:pPr marL="0" marR="0" lvl="0" indent="0" algn="l" rtl="0">
              <a:lnSpc>
                <a:spcPct val="100000"/>
              </a:lnSpc>
              <a:spcBef>
                <a:spcPts val="1200"/>
              </a:spcBef>
              <a:spcAft>
                <a:spcPts val="0"/>
              </a:spcAft>
              <a:buClr>
                <a:srgbClr val="595959"/>
              </a:buClr>
              <a:buSzPts val="2800"/>
              <a:buFont typeface="Arial"/>
              <a:buNone/>
              <a:defRPr/>
            </a:pPr>
            <a:r>
              <a:rPr lang="en-US" sz="2800">
                <a:solidFill>
                  <a:srgbClr val="595959"/>
                </a:solidFill>
                <a:latin typeface="Arial"/>
                <a:ea typeface="Arial"/>
                <a:cs typeface="Arial"/>
                <a:sym typeface="Arial"/>
              </a:rPr>
              <a:t>3 hours</a:t>
            </a:r>
            <a:endParaRPr/>
          </a:p>
        </p:txBody>
      </p:sp>
      <p:sp>
        <p:nvSpPr>
          <p:cNvPr id="426" name="Reference style 426"/>
          <p:cNvSpPr txBox="1"/>
          <p:nvPr/>
        </p:nvSpPr>
        <p:spPr>
          <a:xfrm>
            <a:off x="502920" y="54864"/>
            <a:ext cx="6035040" cy="237744"/>
          </a:xfrm>
          <a:prstGeom prst="rect">
            <a:avLst/>
          </a:prstGeom>
          <a:noFill/>
        </p:spPr>
        <p:txBody>
          <a:bodyPr wrap="square" lIns="0" rIns="0" tIns="0" bIns="0" anchor="ctr">
            <a:noAutofit/>
          </a:bodyPr>
          <a:lstStyle/>
          <a:p>
            <a:pPr algn="l">
              <a:defRPr/>
            </a:pPr>
            <a:r>
              <a:rPr lang="en-US" sz="1200" b="1" dirty="0">
                <a:solidFill>
                  <a:srgbClr val="1E2682"/>
                </a:solidFill>
                <a:latin typeface="Arial"/>
              </a:rPr>
              <a:t>STUDENT MOVE</a:t>
            </a:r>
            <a:r>
              <a:rPr lang="en-US" sz="1200" b="1" dirty="0">
                <a:solidFill>
                  <a:srgbClr val="5D6872"/>
                </a:solidFill>
                <a:latin typeface="Arial"/>
              </a:rPr>
              <a:t xml:space="preserve">  ·  READ THE MODEL • CHECK</a:t>
            </a:r>
          </a:p>
        </p:txBody>
      </p:sp>
      <p:sp>
        <p:nvSpPr>
          <p:cNvPr id="428" name="Reference style 428"/>
          <p:cNvSpPr/>
          <p:nvPr/>
        </p:nvSpPr>
        <p:spPr>
          <a:xfrm>
            <a:off x="7406640" y="4069080"/>
            <a:ext cx="4251960" cy="1325880"/>
          </a:xfrm>
          <a:prstGeom prst="roundRect">
            <a:avLst/>
          </a:prstGeom>
          <a:solidFill>
            <a:srgbClr val="F1EC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 name="Reference style 429"/>
          <p:cNvSpPr/>
          <p:nvPr/>
        </p:nvSpPr>
        <p:spPr>
          <a:xfrm>
            <a:off x="7406640" y="4069080"/>
            <a:ext cx="64008" cy="1325880"/>
          </a:xfrm>
          <a:prstGeom prst="rect">
            <a:avLst/>
          </a:prstGeom>
          <a:solidFill>
            <a:srgbClr val="7A2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 name="Reference style 430"/>
          <p:cNvSpPr txBox="1"/>
          <p:nvPr/>
        </p:nvSpPr>
        <p:spPr>
          <a:xfrm>
            <a:off x="7571232" y="4178808"/>
            <a:ext cx="3959352" cy="201168"/>
          </a:xfrm>
          <a:prstGeom prst="rect">
            <a:avLst/>
          </a:prstGeom>
          <a:noFill/>
        </p:spPr>
        <p:txBody>
          <a:bodyPr wrap="square" lIns="0" tIns="0" rIns="0" bIns="0" anchor="t">
            <a:noAutofit/>
          </a:bodyPr>
          <a:lstStyle/>
          <a:p>
            <a:pPr algn="l" marL="0" indent="0">
              <a:buNone/>
              <a:defRPr/>
            </a:pPr>
            <a:r>
              <a:rPr sz="1200" b="1">
                <a:solidFill>
                  <a:srgbClr val="782DA0"/>
                </a:solidFill>
                <a:latin typeface="Arial"/>
              </a:rPr>
              <a:t>CHECK THE RELATIONSHIP</a:t>
            </a:r>
          </a:p>
        </p:txBody>
      </p:sp>
      <p:sp>
        <p:nvSpPr>
          <p:cNvPr id="431" name="Reference style 431"/>
          <p:cNvSpPr txBox="1"/>
          <p:nvPr/>
        </p:nvSpPr>
        <p:spPr>
          <a:xfrm>
            <a:off x="7571232" y="4471416"/>
            <a:ext cx="3931920" cy="886968"/>
          </a:xfrm>
          <a:prstGeom prst="rect">
            <a:avLst/>
          </a:prstGeom>
          <a:noFill/>
        </p:spPr>
        <p:txBody>
          <a:bodyPr wrap="square" lIns="0" tIns="0" rIns="0" bIns="0" anchor="t">
            <a:noAutofit/>
          </a:bodyPr>
          <a:lstStyle/>
          <a:p>
            <a:pPr algn="l" marL="0" indent="0">
              <a:buNone/>
              <a:defRPr/>
            </a:pPr>
            <a:r>
              <a:rPr sz="1600" b="0">
                <a:solidFill>
                  <a:srgbClr val="262C30"/>
                </a:solidFill>
                <a:latin typeface="Arial"/>
              </a:rPr>
              <a:t>“450 ÷ 150 = ___, so the trip takes ___ hours.”</a:t>
            </a:r>
          </a:p>
        </p:txBody>
      </p:sp>
      <p:sp>
        <p:nvSpPr>
          <p:cNvPr id="4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40</a:t>
            </a:r>
          </a:p>
        </p:txBody>
      </p:sp>
      <p:sp>
        <p:nvSpPr>
          <p:cNvPr id="434" name="EWL-COVER-1"/>
          <p:cNvSpPr/>
          <p:nvPr/>
        </p:nvSpPr>
        <p:spPr>
          <a:xfrm>
            <a:off x="411480" y="5276088"/>
            <a:ext cx="1759900" cy="1146028"/>
          </a:xfrm>
          <a:prstGeom prst="rect">
            <a:avLst/>
          </a:prstGeom>
          <a:solidFill>
            <a:srgbClr val="FFFFFF"/>
          </a:solidFill>
          <a:ln>
            <a:noFill/>
          </a:ln>
        </p:spPr>
        <p:txBody>
          <a:bodyPr/>
          <a:lstStyle/>
          <a:p/>
        </p:txBody>
      </p:sp>
      <p:grpSp>
        <p:nvGrpSpPr>
          <p:cNvPr id="435" name="TEACH-2-student-move" descr="TEACH 2 · Use strategies and tasks to engage students in rigorous work"/>
          <p:cNvGrpSpPr/>
          <p:nvPr/>
        </p:nvGrpSpPr>
        <p:grpSpPr>
          <a:xfrm>
            <a:off x="6187440" y="1469150"/>
            <a:ext cx="5501640" cy="594360"/>
            <a:chOff x="6187440" y="1469150"/>
            <a:chExt cx="5501640" cy="594360"/>
          </a:xfrm>
        </p:grpSpPr>
        <p:sp>
          <p:nvSpPr>
            <p:cNvPr id="436" name="TEACH-move-card"/>
            <p:cNvSpPr/>
            <p:nvPr/>
          </p:nvSpPr>
          <p:spPr>
            <a:xfrm>
              <a:off x="6187440" y="1469150"/>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437" name="TEACH-move-rule"/>
            <p:cNvSpPr/>
            <p:nvPr/>
          </p:nvSpPr>
          <p:spPr>
            <a:xfrm>
              <a:off x="6233160" y="1582078"/>
              <a:ext cx="100584" cy="368504"/>
            </a:xfrm>
            <a:prstGeom prst="roundRect">
              <a:avLst>
                <a:gd name="adj" fmla="val 50000"/>
              </a:avLst>
            </a:prstGeom>
            <a:solidFill>
              <a:srgbClr val="01708C"/>
            </a:solidFill>
            <a:ln>
              <a:noFill/>
            </a:ln>
          </p:spPr>
          <p:txBody>
            <a:bodyPr/>
            <a:lstStyle/>
            <a:p>
              <a:endParaRPr/>
            </a:p>
          </p:txBody>
        </p:sp>
        <p:sp>
          <p:nvSpPr>
            <p:cNvPr id="438" name="TEACH-move-text"/>
            <p:cNvSpPr txBox="1"/>
            <p:nvPr/>
          </p:nvSpPr>
          <p:spPr>
            <a:xfrm>
              <a:off x="6507480" y="1469150"/>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PICK YOUR STRATEGY  ·  </a:t>
              </a:r>
              <a:r>
                <a:rPr lang="en-US" sz="1200" dirty="0">
                  <a:solidFill>
                    <a:srgbClr val="13303A"/>
                  </a:solidFill>
                  <a:latin typeface="Arial"/>
                </a:rPr>
                <a:t>Choose your path — picture, table, number line, or equation — and be ready to say why you chose it.</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pic>
        <p:nvPicPr>
          <p:cNvPr id="451" name="Reference style 451">
            <a:extLst>
              <a:ext uri="{FF2B5EF4-FFF2-40B4-BE49-F238E27FC236}">
                <a16:creationId xmlns:a16="http://schemas.microsoft.com/office/drawing/2014/main" id="{DB6EED09-8B61-F64F-907D-F4B749DB901C}"/>
              </a:ext>
            </a:extLst>
          </p:cNvPr>
          <p:cNvPicPr>
            <a:picLocks noChangeAspect="1"/>
          </p:cNvPicPr>
          <p:nvPr userDrawn="1"/>
        </p:nvPicPr>
        <p:blipFill>
          <a:blip r:embed="rIdReferenceHeader323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438" name="Google Shape;438;p65"/>
          <p:cNvSpPr txBox="1"/>
          <p:nvPr/>
        </p:nvSpPr>
        <p:spPr>
          <a:xfrm>
            <a:off x="484565" y="316034"/>
            <a:ext cx="6858000" cy="53740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pPr>
            <a:r>
              <a:rPr lang="en-US" sz="2800" b="1">
                <a:solidFill>
                  <a:srgbClr val="782DA0"/>
                </a:solidFill>
                <a:latin typeface="Arial"/>
                <a:ea typeface="Arial"/>
                <a:cs typeface="Arial"/>
                <a:sym typeface="Arial"/>
              </a:rPr>
              <a:t>Let’s Explore More</a:t>
            </a:r>
            <a:endParaRPr/>
          </a:p>
        </p:txBody>
      </p:sp>
      <p:sp>
        <p:nvSpPr>
          <p:cNvPr id="439" name="Google Shape;439;p65"/>
          <p:cNvSpPr txBox="1"/>
          <p:nvPr/>
        </p:nvSpPr>
        <p:spPr>
          <a:xfrm>
            <a:off x="484565" y="927528"/>
            <a:ext cx="7230130" cy="537406"/>
          </a:xfrm>
          <a:prstGeom prst="rect">
            <a:avLst/>
          </a:prstGeom>
          <a:noFill/>
          <a:ln>
            <a:noFill/>
          </a:ln>
        </p:spPr>
        <p:txBody>
          <a:bodyPr spcFirstLastPara="1" wrap="square" lIns="91425" tIns="45700" rIns="91425" bIns="45700" anchor="t" anchorCtr="0">
            <a:noAutofit/>
          </a:bodyPr>
          <a:lstStyle/>
          <a:p>
            <a:pPr marL="514350" marR="0" lvl="0" indent="-514350" algn="l" rtl="0">
              <a:lnSpc>
                <a:spcPct val="100000"/>
              </a:lnSpc>
              <a:spcBef>
                <a:spcPts val="0"/>
              </a:spcBef>
              <a:spcAft>
                <a:spcPts val="0"/>
              </a:spcAft>
              <a:buClr>
                <a:srgbClr val="262626"/>
              </a:buClr>
              <a:buSzPts val="2800"/>
              <a:buFont typeface="Calibri"/>
              <a:buAutoNum type="alphaLcPeriod"/>
            </a:pPr>
            <a:r>
              <a:rPr lang="en-US" sz="2800">
                <a:solidFill>
                  <a:srgbClr val="23282D"/>
                </a:solidFill>
                <a:latin typeface="Arial"/>
                <a:ea typeface="Arial"/>
                <a:cs typeface="Arial"/>
                <a:sym typeface="Arial"/>
              </a:rPr>
              <a:t xml:space="preserve">What do the two units in a </a:t>
            </a:r>
            <a:r>
              <a:rPr lang="en-US" sz="2800" b="1">
                <a:solidFill>
                  <a:srgbClr val="23282D"/>
                </a:solidFill>
                <a:highlight>
                  <a:srgbClr val="FFF2A8"/>
                </a:highlight>
                <a:latin typeface="Arial"/>
                <a:ea typeface="Arial"/>
                <a:cs typeface="Arial"/>
                <a:sym typeface="Arial"/>
              </a:rPr>
              <a:t>rate</a:t>
            </a:r>
            <a:r>
              <a:rPr lang="en-US" sz="2800">
                <a:solidFill>
                  <a:srgbClr val="23282D"/>
                </a:solidFill>
                <a:latin typeface="Arial"/>
                <a:ea typeface="Arial"/>
                <a:cs typeface="Arial"/>
                <a:sym typeface="Arial"/>
              </a:rPr>
              <a:t xml:space="preserve"> tell you?</a:t>
            </a:r>
            <a:endParaRPr/>
          </a:p>
        </p:txBody>
      </p:sp>
      <p:sp>
        <p:nvSpPr>
          <p:cNvPr id="440" name="Google Shape;440;p65"/>
          <p:cNvSpPr txBox="1"/>
          <p:nvPr/>
        </p:nvSpPr>
        <p:spPr>
          <a:xfrm>
            <a:off x="484565" y="3299286"/>
            <a:ext cx="7230130" cy="131534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300">
                <a:solidFill>
                  <a:srgbClr val="23282D"/>
                </a:solidFill>
                <a:latin typeface="Arial"/>
                <a:ea typeface="Arial"/>
                <a:cs typeface="Arial"/>
                <a:sym typeface="Arial"/>
              </a:rPr>
              <a:t>A bus travels 10 meters each second. How far in 10 minutes?</a:t>
            </a:r>
          </a:p>
          <a:p>
            <a:pPr marL="0" marR="0" lvl="0" indent="0" algn="l" rtl="0">
              <a:lnSpc>
                <a:spcPct val="100000"/>
              </a:lnSpc>
              <a:spcBef>
                <a:spcPts val="0"/>
              </a:spcBef>
              <a:spcAft>
                <a:spcPts val="0"/>
              </a:spcAft>
              <a:buNone/>
            </a:pPr>
            <a:r>
              <a:rPr lang="en-US" sz="2300">
                <a:solidFill>
                  <a:srgbClr val="23282D"/>
                </a:solidFill>
                <a:latin typeface="Arial"/>
                <a:ea typeface="Arial"/>
                <a:cs typeface="Arial"/>
                <a:sym typeface="Arial"/>
              </a:rPr>
              <a:t>(1 minute = 60 seconds)</a:t>
            </a:r>
          </a:p>
        </p:txBody>
      </p:sp>
      <p:sp>
        <p:nvSpPr>
          <p:cNvPr id="441" name="Google Shape;441;p65"/>
          <p:cNvSpPr txBox="1"/>
          <p:nvPr/>
        </p:nvSpPr>
        <p:spPr>
          <a:xfrm>
            <a:off x="5967931" y="5963726"/>
            <a:ext cx="1206869"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a:p>
        </p:txBody>
      </p:sp>
      <p:sp>
        <p:nvSpPr>
          <p:cNvPr id="442" name="Google Shape;442;p65"/>
          <p:cNvSpPr/>
          <p:nvPr/>
        </p:nvSpPr>
        <p:spPr>
          <a:xfrm>
            <a:off x="584812" y="4649637"/>
            <a:ext cx="6589988" cy="1771687"/>
          </a:xfrm>
          <a:prstGeom prst="rect">
            <a:avLst/>
          </a:prstGeom>
          <a:noFill/>
          <a:ln w="12700" cap="flat" cmpd="sng">
            <a:solidFill>
              <a:srgbClr val="8296B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Calibri"/>
              <a:cs typeface="Calibri"/>
              <a:sym typeface="Calibri"/>
            </a:endParaRPr>
          </a:p>
        </p:txBody>
      </p:sp>
      <p:sp>
        <p:nvSpPr>
          <p:cNvPr id="443" name="Google Shape;443;p65"/>
          <p:cNvSpPr txBox="1"/>
          <p:nvPr/>
        </p:nvSpPr>
        <p:spPr>
          <a:xfrm>
            <a:off x="5967931" y="2776102"/>
            <a:ext cx="1206869"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a:p>
        </p:txBody>
      </p:sp>
      <p:sp>
        <p:nvSpPr>
          <p:cNvPr id="444" name="Google Shape;444;p65"/>
          <p:cNvSpPr/>
          <p:nvPr/>
        </p:nvSpPr>
        <p:spPr>
          <a:xfrm>
            <a:off x="584812" y="1499945"/>
            <a:ext cx="6589988" cy="1733755"/>
          </a:xfrm>
          <a:prstGeom prst="rect">
            <a:avLst/>
          </a:prstGeom>
          <a:noFill/>
          <a:ln w="12700" cap="flat" cmpd="sng">
            <a:solidFill>
              <a:srgbClr val="8296B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Calibri"/>
              <a:cs typeface="Calibri"/>
              <a:sym typeface="Calibri"/>
            </a:endParaRPr>
          </a:p>
        </p:txBody>
      </p:sp>
      <p:sp>
        <p:nvSpPr>
          <p:cNvPr id="445" name="Reference style 445"/>
          <p:cNvSpPr txBox="1"/>
          <p:nvPr/>
        </p:nvSpPr>
        <p:spPr>
          <a:xfrm>
            <a:off x="502920" y="54864"/>
            <a:ext cx="6035040" cy="237744"/>
          </a:xfrm>
          <a:prstGeom prst="rect">
            <a:avLst/>
          </a:prstGeom>
          <a:noFill/>
        </p:spPr>
        <p:txBody>
          <a:bodyPr wrap="square" lIns="0" rIns="0" tIns="0" bIns="0" anchor="ctr">
            <a:noAutofit/>
          </a:bodyPr>
          <a:lstStyle/>
          <a:p>
            <a:pPr algn="l"/>
            <a:r>
              <a:rPr lang="en-US" sz="1200" b="1" dirty="0">
                <a:solidFill>
                  <a:srgbClr val="1E2682"/>
                </a:solidFill>
                <a:latin typeface="Arial"/>
              </a:rPr>
              <a:t>STUDENT MOVE</a:t>
            </a:r>
            <a:r>
              <a:rPr lang="en-US" sz="1200" b="1" dirty="0">
                <a:solidFill>
                  <a:srgbClr val="5D6872"/>
                </a:solidFill>
                <a:latin typeface="Arial"/>
              </a:rPr>
              <a:t xml:space="preserve">  ·  LABEL UNITS • CONNECT</a:t>
            </a:r>
          </a:p>
        </p:txBody>
      </p:sp>
      <p:sp>
        <p:nvSpPr>
          <p:cNvPr id="447" name="Reference style 447"/>
          <p:cNvSpPr/>
          <p:nvPr/>
        </p:nvSpPr>
        <p:spPr>
          <a:xfrm>
            <a:off x="7863840" y="3108960"/>
            <a:ext cx="3749040" cy="1920240"/>
          </a:xfrm>
          <a:prstGeom prst="roundRect">
            <a:avLst/>
          </a:prstGeom>
          <a:solidFill>
            <a:srgbClr val="FFF0E7"/>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 name="Reference style 448"/>
          <p:cNvSpPr/>
          <p:nvPr/>
        </p:nvSpPr>
        <p:spPr>
          <a:xfrm>
            <a:off x="7863840" y="3108960"/>
            <a:ext cx="64008" cy="1920240"/>
          </a:xfrm>
          <a:prstGeom prst="rect">
            <a:avLst/>
          </a:prstGeom>
          <a:solidFill>
            <a:srgbClr val="CC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 name="Reference style 449"/>
          <p:cNvSpPr txBox="1"/>
          <p:nvPr/>
        </p:nvSpPr>
        <p:spPr>
          <a:xfrm>
            <a:off x="8028432" y="3218688"/>
            <a:ext cx="3456432" cy="201168"/>
          </a:xfrm>
          <a:prstGeom prst="rect">
            <a:avLst/>
          </a:prstGeom>
          <a:noFill/>
        </p:spPr>
        <p:txBody>
          <a:bodyPr wrap="square" lIns="0" tIns="0" rIns="0" bIns="0" anchor="t">
            <a:noAutofit/>
          </a:bodyPr>
          <a:lstStyle/>
          <a:p>
            <a:pPr algn="l" marL="0" indent="0">
              <a:buNone/>
            </a:pPr>
            <a:r>
              <a:rPr sz="1200" b="1">
                <a:solidFill>
                  <a:srgbClr val="CC4400"/>
                </a:solidFill>
                <a:latin typeface="Arial"/>
              </a:rPr>
              <a:t>MATCH THE TIME UNITS</a:t>
            </a:r>
          </a:p>
        </p:txBody>
      </p:sp>
      <p:sp>
        <p:nvSpPr>
          <p:cNvPr id="450" name="Reference style 450"/>
          <p:cNvSpPr txBox="1"/>
          <p:nvPr/>
        </p:nvSpPr>
        <p:spPr>
          <a:xfrm>
            <a:off x="8028432" y="3511296"/>
            <a:ext cx="3429000" cy="1481328"/>
          </a:xfrm>
          <a:prstGeom prst="rect">
            <a:avLst/>
          </a:prstGeom>
          <a:noFill/>
        </p:spPr>
        <p:txBody>
          <a:bodyPr wrap="square" lIns="0" tIns="0" rIns="0" bIns="0" anchor="t">
            <a:noAutofit/>
          </a:bodyPr>
          <a:lstStyle/>
          <a:p>
            <a:pPr algn="l" marL="0" indent="0">
              <a:buNone/>
            </a:pPr>
            <a:r>
              <a:rPr sz="1600" b="0">
                <a:solidFill>
                  <a:srgbClr val="262C30"/>
                </a:solidFill>
                <a:latin typeface="Arial"/>
              </a:rPr>
              <a:t>Convert minutes to seconds first. Then use 10 meters for each second.</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Student-led talk: paraphrase, agree or disagree, add on.</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7391400" y="19019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it yourself. Compare your</a:t>
            </a:r>
            <a:endParaRPr lang="en-US" sz="2000"/>
          </a:p>
          <a:p>
            <a:pPr>
              <a:lnSpc>
                <a:spcPts val="2400"/>
              </a:lnSpc>
              <a:buNone/>
            </a:pPr>
            <a:r>
              <a:rPr lang="en-US" sz="2000">
                <a:solidFill>
                  <a:srgbClr val="174D60"/>
                </a:solidFill>
                <a:latin typeface="Arial"/>
              </a:rPr>
              <a:t>work with a partner; explain one</a:t>
            </a:r>
            <a:endParaRPr lang="en-US" sz="2000"/>
          </a:p>
          <a:p>
            <a:pPr>
              <a:lnSpc>
                <a:spcPts val="2400"/>
              </a:lnSpc>
              <a:buNone/>
            </a:pPr>
            <a:r>
              <a:rPr lang="en-US" sz="2000">
                <a:solidFill>
                  <a:srgbClr val="174D60"/>
                </a:solidFill>
                <a:latin typeface="Arial"/>
              </a:rPr>
              <a:t>choice and revise.</a:t>
            </a:r>
            <a:endParaRPr lang="en-US" sz="200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3.2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What does one unit of the second quantity correspond to, and how can the model show it?</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32" name="Google Shape;632;p6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33" name="Google Shape;633;p60"/>
          <p:cNvSpPr txBox="1"/>
          <p:nvPr/>
        </p:nvSpPr>
        <p:spPr>
          <a:xfrm>
            <a:off x="614744" y="623124"/>
            <a:ext cx="6700456" cy="3810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A high-speed train can travel at a maximum speed of 150 miles per hour. In many places, the tracks do not allow the train to travel at its maximum speed.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If the train were able to travel at its maximum speed for the 450 miles between Boston and Washington D.C., how long would the trip take?</a:t>
            </a:r>
            <a:endParaRPr b="1" i="0" sz="2800" u="none" cap="none" strike="noStrike">
              <a:solidFill>
                <a:srgbClr val="262626"/>
              </a:solidFill>
              <a:latin typeface="Arial"/>
              <a:ea typeface="Arial"/>
              <a:cs typeface="Arial"/>
              <a:sym typeface="Arial"/>
            </a:endParaRPr>
          </a:p>
        </p:txBody>
      </p:sp>
      <p:sp>
        <p:nvSpPr>
          <p:cNvPr id="634" name="Google Shape;634;p60"/>
          <p:cNvSpPr txBox="1"/>
          <p:nvPr/>
        </p:nvSpPr>
        <p:spPr>
          <a:xfrm>
            <a:off x="614744" y="4491173"/>
            <a:ext cx="6700456"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62626"/>
                </a:solidFill>
                <a:latin typeface="Arial"/>
                <a:ea typeface="Arial"/>
                <a:cs typeface="Arial"/>
                <a:sym typeface="Arial"/>
              </a:rPr>
              <a:t>What do you need to find in this problem?</a:t>
            </a:r>
            <a:endParaRPr b="0" i="0" sz="1400" u="none" cap="none" strike="noStrike">
              <a:solidFill>
                <a:srgbClr val="000000"/>
              </a:solidFill>
              <a:latin typeface="Arial"/>
              <a:ea typeface="Arial"/>
              <a:cs typeface="Arial"/>
              <a:sym typeface="Arial"/>
            </a:endParaRPr>
          </a:p>
        </p:txBody>
      </p:sp>
      <p:sp>
        <p:nvSpPr>
          <p:cNvPr id="635" name="Google Shape;635;p60"/>
          <p:cNvSpPr txBox="1"/>
          <p:nvPr/>
        </p:nvSpPr>
        <p:spPr>
          <a:xfrm>
            <a:off x="7987634" y="4114814"/>
            <a:ext cx="3997994" cy="193087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need to find out how long it will take the train to travel 450 miles.</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40</a:t>
            </a:r>
          </a:p>
        </p:txBody>
      </p:sp>
      <p:grpSp>
        <p:nvGrpSpPr>
          <p:cNvPr id="9003" name="TEACH-6-student-move" descr="TEACH 6 · Organize and implement routines to support a learning-focused classroom"/>
          <p:cNvGrpSpPr/>
          <p:nvPr/>
        </p:nvGrpSpPr>
        <p:grpSpPr>
          <a:xfrm>
            <a:off x="502920" y="5527576"/>
            <a:ext cx="5501640" cy="731520"/>
            <a:chOff x="502920" y="5527576"/>
            <a:chExt cx="5501640" cy="731520"/>
          </a:xfrm>
        </p:grpSpPr>
        <p:sp>
          <p:nvSpPr>
            <p:cNvPr id="9004" name="TEACH-move-card"/>
            <p:cNvSpPr/>
            <p:nvPr/>
          </p:nvSpPr>
          <p:spPr>
            <a:xfrm>
              <a:off x="502920" y="5527576"/>
              <a:ext cx="5501640" cy="73152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5666565"/>
              <a:ext cx="100584" cy="453542"/>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5527576"/>
              <a:ext cx="5044440" cy="73152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TRY IT BEFORE YOU’RE SURE  ·  </a:t>
              </a:r>
              <a:r>
                <a:rPr lang="en-US" sz="1400" dirty="0">
                  <a:solidFill>
                    <a:srgbClr val="13303A"/>
                  </a:solidFill>
                  <a:latin typeface="Arial"/>
                </a:rPr>
                <a:t>Start even if you are not sure. A revised answer counts as much as a first-try answer.</a:t>
              </a:r>
              <a:endParaRPr lang="en-US" sz="1400"/>
            </a:p>
          </p:txBody>
        </p:sp>
      </p:gr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63" name="Google Shape;663;p6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64" name="Google Shape;664;p64"/>
          <p:cNvSpPr txBox="1"/>
          <p:nvPr/>
        </p:nvSpPr>
        <p:spPr>
          <a:xfrm>
            <a:off x="614744" y="496153"/>
            <a:ext cx="6942778" cy="39910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We know the train is traveling a distance of 450 miles at a speed of 150 miles per hour.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interpret the information about the maximum speed of the train for the entire duration of the trip?</a:t>
            </a:r>
            <a:endParaRPr b="0" i="0" sz="1400" u="none" cap="none" strike="noStrike">
              <a:solidFill>
                <a:srgbClr val="000000"/>
              </a:solidFill>
              <a:latin typeface="Arial"/>
              <a:ea typeface="Arial"/>
              <a:cs typeface="Arial"/>
              <a:sym typeface="Arial"/>
            </a:endParaRPr>
          </a:p>
        </p:txBody>
      </p:sp>
      <p:sp>
        <p:nvSpPr>
          <p:cNvPr id="665" name="Google Shape;665;p64"/>
          <p:cNvSpPr txBox="1"/>
          <p:nvPr/>
        </p:nvSpPr>
        <p:spPr>
          <a:xfrm>
            <a:off x="614744" y="4487163"/>
            <a:ext cx="5960624"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We are considering a constant speed for the duration of the trip.</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7391400" y="51023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a:t>
            </a:r>
            <a:endParaRPr lang="en-US" sz="2000"/>
          </a:p>
          <a:p>
            <a:pPr>
              <a:lnSpc>
                <a:spcPts val="2400"/>
              </a:lnSpc>
              <a:buNone/>
            </a:pPr>
            <a:r>
              <a:rPr lang="en-US" sz="2000">
                <a:solidFill>
                  <a:srgbClr val="174D60"/>
                </a:solidFill>
                <a:latin typeface="Arial"/>
              </a:rPr>
              <a:t>you make.</a:t>
            </a:r>
            <a:endParaRPr lang="en-US" sz="200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94" name="Google Shape;694;p6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95" name="Google Shape;695;p68"/>
          <p:cNvSpPr txBox="1"/>
          <p:nvPr/>
        </p:nvSpPr>
        <p:spPr>
          <a:xfrm>
            <a:off x="484565" y="936100"/>
            <a:ext cx="8215552" cy="29889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A </a:t>
            </a:r>
            <a:r>
              <a:rPr b="1" i="0" lang="en-US" sz="2800" u="none" cap="none" strike="noStrike">
                <a:solidFill>
                  <a:srgbClr val="262626"/>
                </a:solidFill>
                <a:highlight>
                  <a:srgbClr val="FFFF00"/>
                </a:highlight>
                <a:latin typeface="Arial"/>
                <a:ea typeface="Arial"/>
                <a:cs typeface="Arial"/>
                <a:sym typeface="Arial"/>
              </a:rPr>
              <a:t>rate</a:t>
            </a:r>
            <a:r>
              <a:rPr b="0" i="0" lang="en-US" sz="2800" u="none" cap="none" strike="noStrike">
                <a:solidFill>
                  <a:srgbClr val="262626"/>
                </a:solidFill>
                <a:latin typeface="Arial"/>
                <a:ea typeface="Arial"/>
                <a:cs typeface="Arial"/>
                <a:sym typeface="Arial"/>
              </a:rPr>
              <a:t> is a ratio that compares two related quantities with different units.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What does “per hour” represent in this rate?</a:t>
            </a:r>
            <a:endParaRPr b="0" i="0" sz="1400" u="none" cap="none" strike="noStrike">
              <a:solidFill>
                <a:srgbClr val="000000"/>
              </a:solidFill>
              <a:latin typeface="Arial"/>
              <a:ea typeface="Arial"/>
              <a:cs typeface="Arial"/>
              <a:sym typeface="Arial"/>
            </a:endParaRPr>
          </a:p>
        </p:txBody>
      </p:sp>
      <p:sp>
        <p:nvSpPr>
          <p:cNvPr id="696" name="Google Shape;696;p68"/>
          <p:cNvSpPr txBox="1"/>
          <p:nvPr/>
        </p:nvSpPr>
        <p:spPr>
          <a:xfrm>
            <a:off x="484565" y="316034"/>
            <a:ext cx="538283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    </a:t>
            </a:r>
            <a:r>
              <a:rPr b="1" i="0" lang="en-US" sz="2800" u="none" cap="none" strike="noStrike">
                <a:solidFill>
                  <a:srgbClr val="7030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697" name="Google Shape;697;p68"/>
          <p:cNvPicPr preferRelativeResize="0"/>
          <p:nvPr/>
        </p:nvPicPr>
        <p:blipFill rotWithShape="1">
          <a:blip r:embed="rId2">
            <a:alphaModFix/>
          </a:blip>
          <a:srcRect b="0" l="0" r="0" t="0"/>
          <a:stretch/>
        </p:blipFill>
        <p:spPr>
          <a:xfrm>
            <a:off x="558276" y="386230"/>
            <a:ext cx="353635" cy="340537"/>
          </a:xfrm>
          <a:prstGeom prst="rect">
            <a:avLst/>
          </a:prstGeom>
          <a:noFill/>
          <a:ln>
            <a:noFill/>
          </a:ln>
        </p:spPr>
      </p:pic>
      <p:pic>
        <p:nvPicPr>
          <p:cNvPr id="698" name="Google Shape;698;p68"/>
          <p:cNvPicPr preferRelativeResize="0"/>
          <p:nvPr/>
        </p:nvPicPr>
        <p:blipFill rotWithShape="1">
          <a:blip r:embed="rId3">
            <a:alphaModFix/>
          </a:blip>
          <a:srcRect b="0" l="0" r="0" t="0"/>
          <a:stretch/>
        </p:blipFill>
        <p:spPr>
          <a:xfrm>
            <a:off x="1294926" y="2177202"/>
            <a:ext cx="6588407" cy="1071286"/>
          </a:xfrm>
          <a:prstGeom prst="rect">
            <a:avLst/>
          </a:prstGeom>
          <a:noFill/>
          <a:ln>
            <a:noFill/>
          </a:ln>
        </p:spPr>
      </p:pic>
      <p:sp>
        <p:nvSpPr>
          <p:cNvPr id="699" name="Google Shape;699;p68"/>
          <p:cNvSpPr txBox="1"/>
          <p:nvPr/>
        </p:nvSpPr>
        <p:spPr>
          <a:xfrm>
            <a:off x="484565" y="4489590"/>
            <a:ext cx="6019752" cy="193042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“Per hour” means the distance traveled in one hour so, 150 miles for every hour traveled.</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7391400" y="51023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a:t>
            </a:r>
            <a:endParaRPr lang="en-US" sz="2000"/>
          </a:p>
          <a:p>
            <a:pPr>
              <a:lnSpc>
                <a:spcPts val="2400"/>
              </a:lnSpc>
              <a:buNone/>
            </a:pPr>
            <a:r>
              <a:rPr lang="en-US" sz="2000">
                <a:solidFill>
                  <a:srgbClr val="174D60"/>
                </a:solidFill>
                <a:latin typeface="Arial"/>
              </a:rPr>
              <a:t>evidence. Switch roles; both</a:t>
            </a:r>
            <a:endParaRPr lang="en-US" sz="2000"/>
          </a:p>
          <a:p>
            <a:pPr>
              <a:lnSpc>
                <a:spcPts val="2400"/>
              </a:lnSpc>
              <a:buNone/>
            </a:pPr>
            <a:r>
              <a:rPr lang="en-US" sz="2000">
                <a:solidFill>
                  <a:srgbClr val="174D60"/>
                </a:solidFill>
                <a:latin typeface="Arial"/>
              </a:rPr>
              <a:t>revise.</a:t>
            </a:r>
            <a:endParaRPr lang="en-US" sz="2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 name="Reference style 15">
            <a:extLst>
              <a:ext uri="{FF2B5EF4-FFF2-40B4-BE49-F238E27FC236}">
                <a16:creationId xmlns:a16="http://schemas.microsoft.com/office/drawing/2014/main" id="{DB6EED09-8B61-F64F-907D-F4B749DB901C}"/>
              </a:ext>
            </a:extLst>
          </p:cNvPr>
          <p:cNvPicPr>
            <a:picLocks noChangeAspect="1"/>
          </p:cNvPicPr>
          <p:nvPr userDrawn="1"/>
        </p:nvPicPr>
        <p:blipFill>
          <a:blip r:embed="rIdReferenceHeader323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8" name="Rectangle 7">
            <a:extLst>
              <a:ext uri="{FF2B5EF4-FFF2-40B4-BE49-F238E27FC236}">
                <a16:creationId xmlns:a16="http://schemas.microsoft.com/office/drawing/2014/main" id="{E1D5EE06-2408-483F-BBAF-BEE36D884B89}"/>
              </a:ext>
            </a:extLst>
          </p:cNvPr>
          <p:cNvSpPr>
            <a:spLocks noGrp="1"/>
          </p:cNvSpPr>
          <p:nvPr/>
        </p:nvSpPr>
        <p:spPr>
          <a:xfrm>
            <a:off x="514350" y="381000"/>
            <a:ext cx="6858000" cy="542925"/>
          </a:xfrm>
          <a:prstGeom prst="rect">
            <a:avLst/>
          </a:prstGeom>
          <a:noFill/>
          <a:ln w="0">
            <a:noFill/>
          </a:ln>
        </p:spPr>
        <p:txBody>
          <a:bodyPr>
            <a:noAutofit/>
          </a:bodyPr>
          <a:lstStyle/>
          <a:p>
            <a:pPr>
              <a:defRPr sz="2700" b="1">
                <a:solidFill>
                  <a:srgbClr val="782DA0"/>
                </a:solidFill>
                <a:latin typeface="Arial"/>
                <a:ea typeface="Arial"/>
                <a:cs typeface="Arial"/>
              </a:defRPr>
            </a:pPr>
            <a:r>
              <a:rPr sz="2800" b="1">
                <a:solidFill>
                  <a:srgbClr val="782DA0"/>
                </a:solidFill>
                <a:latin typeface="Arial"/>
                <a:ea typeface="Arial"/>
                <a:cs typeface="Arial"/>
              </a:rPr>
              <a:t>Quick Check — Session 1</a:t>
            </a:r>
          </a:p>
        </p:txBody>
      </p:sp>
      <p:sp>
        <p:nvSpPr>
          <p:cNvPr id="2" name="Rectangle 1">
            <a:extLst>
              <a:ext uri="{FF2B5EF4-FFF2-40B4-BE49-F238E27FC236}">
                <a16:creationId xmlns:a16="http://schemas.microsoft.com/office/drawing/2014/main" id="{316AB89E-BAFB-48D5-A81D-D0CC74450397}"/>
              </a:ext>
            </a:extLst>
          </p:cNvPr>
          <p:cNvSpPr>
            <a:spLocks noGrp="1"/>
          </p:cNvSpPr>
          <p:nvPr/>
        </p:nvSpPr>
        <p:spPr>
          <a:xfrm>
            <a:off x="523875" y="1028700"/>
            <a:ext cx="8667750" cy="342900"/>
          </a:xfrm>
          <a:prstGeom prst="rect">
            <a:avLst/>
          </a:prstGeom>
          <a:noFill/>
          <a:ln w="0">
            <a:noFill/>
          </a:ln>
        </p:spPr>
        <p:txBody>
          <a:bodyPr>
            <a:noAutofit/>
          </a:bodyPr>
          <a:lstStyle/>
          <a:p>
            <a:pPr>
              <a:defRPr sz="1575" b="0">
                <a:solidFill>
                  <a:srgbClr val="5D6872"/>
                </a:solidFill>
                <a:latin typeface="Arial"/>
                <a:ea typeface="Arial"/>
                <a:cs typeface="Arial"/>
              </a:defRPr>
            </a:pPr>
            <a:r>
              <a:rPr sz="1575" b="0">
                <a:solidFill>
                  <a:srgbClr val="5D6872"/>
                </a:solidFill>
                <a:latin typeface="Arial"/>
                <a:ea typeface="Arial"/>
                <a:cs typeface="Arial"/>
              </a:rPr>
              <a:t>Use the model to explain your thinking.</a:t>
            </a:r>
          </a:p>
        </p:txBody>
      </p:sp>
      <p:sp>
        <p:nvSpPr>
          <p:cNvPr id="3" name="Rounded Rectangle 2">
            <a:extLst>
              <a:ext uri="{FF2B5EF4-FFF2-40B4-BE49-F238E27FC236}">
                <a16:creationId xmlns:a16="http://schemas.microsoft.com/office/drawing/2014/main" id="{0FEEBE0A-21CD-4578-AAE7-C942BC0C7727}"/>
              </a:ext>
            </a:extLst>
          </p:cNvPr>
          <p:cNvSpPr>
            <a:spLocks noGrp="1"/>
          </p:cNvSpPr>
          <p:nvPr/>
        </p:nvSpPr>
        <p:spPr>
          <a:xfrm>
            <a:off x="514350" y="1647825"/>
            <a:ext cx="11144250" cy="1133475"/>
          </a:xfrm>
          <a:prstGeom prst="roundRect">
            <a:avLst>
              <a:gd name="adj" fmla="val 6723"/>
            </a:avLst>
          </a:prstGeom>
          <a:solidFill>
            <a:srgbClr val="EBF5FB"/>
          </a:solidFill>
          <a:ln w="9525">
            <a:solidFill>
              <a:srgbClr val="D6E0E8"/>
            </a:solidFill>
          </a:ln>
        </p:spPr>
        <p:txBody>
          <a:bodyPr/>
          <a:lstStyle/>
          <a:p>
            <a:endParaRPr lang="en-US"/>
          </a:p>
        </p:txBody>
      </p:sp>
      <p:sp>
        <p:nvSpPr>
          <p:cNvPr id="4" name="Rectangle 3">
            <a:extLst>
              <a:ext uri="{FF2B5EF4-FFF2-40B4-BE49-F238E27FC236}">
                <a16:creationId xmlns:a16="http://schemas.microsoft.com/office/drawing/2014/main" id="{3501EF3C-6A3F-41A5-B735-517BB32C8DB7}"/>
              </a:ext>
            </a:extLst>
          </p:cNvPr>
          <p:cNvSpPr>
            <a:spLocks noGrp="1"/>
          </p:cNvSpPr>
          <p:nvPr/>
        </p:nvSpPr>
        <p:spPr>
          <a:xfrm>
            <a:off x="742950" y="1885950"/>
            <a:ext cx="10620375" cy="809625"/>
          </a:xfrm>
          <a:prstGeom prst="rect">
            <a:avLst/>
          </a:prstGeom>
          <a:noFill/>
          <a:ln w="0">
            <a:noFill/>
          </a:ln>
        </p:spPr>
        <p:txBody>
          <a:bodyPr>
            <a:noAutofit/>
          </a:bodyPr>
          <a:lstStyle/>
          <a:p>
            <a:pPr>
              <a:defRPr sz="2250" b="0">
                <a:solidFill>
                  <a:srgbClr val="23282D"/>
                </a:solidFill>
                <a:latin typeface="Arial"/>
                <a:ea typeface="Arial"/>
                <a:cs typeface="Arial"/>
              </a:defRPr>
            </a:pPr>
            <a:r>
              <a:rPr sz="2250" b="0">
                <a:solidFill>
                  <a:srgbClr val="23282D"/>
                </a:solidFill>
                <a:latin typeface="Arial"/>
                <a:ea typeface="Arial"/>
                <a:cs typeface="Arial"/>
              </a:rPr>
              <a:t>A train travels 150 miles each hour.</a:t>
            </a:r>
          </a:p>
        </p:txBody>
      </p:sp>
      <p:sp>
        <p:nvSpPr>
          <p:cNvPr id="5" name="Rectangle 4">
            <a:extLst>
              <a:ext uri="{FF2B5EF4-FFF2-40B4-BE49-F238E27FC236}">
                <a16:creationId xmlns:a16="http://schemas.microsoft.com/office/drawing/2014/main" id="{3B103037-4340-4B49-8E6D-540B8564EE5C}"/>
              </a:ext>
            </a:extLst>
          </p:cNvPr>
          <p:cNvSpPr>
            <a:spLocks noGrp="1"/>
          </p:cNvSpPr>
          <p:nvPr/>
        </p:nvSpPr>
        <p:spPr>
          <a:xfrm>
            <a:off x="723900" y="3219450"/>
            <a:ext cx="10620375" cy="885825"/>
          </a:xfrm>
          <a:prstGeom prst="rect">
            <a:avLst/>
          </a:prstGeom>
          <a:noFill/>
          <a:ln w="0">
            <a:noFill/>
          </a:ln>
        </p:spPr>
        <p:txBody>
          <a:bodyPr>
            <a:noAutofit/>
          </a:bodyPr>
          <a:lstStyle/>
          <a:p>
            <a:pPr>
              <a:defRPr sz="2475" b="1">
                <a:solidFill>
                  <a:srgbClr val="782DA0"/>
                </a:solidFill>
                <a:latin typeface="Arial"/>
                <a:ea typeface="Arial"/>
                <a:cs typeface="Arial"/>
              </a:defRPr>
            </a:pPr>
            <a:r>
              <a:rPr sz="2475" b="1">
                <a:solidFill>
                  <a:srgbClr val="782DA0"/>
                </a:solidFill>
                <a:latin typeface="Arial"/>
                <a:ea typeface="Arial"/>
                <a:cs typeface="Arial"/>
              </a:rPr>
              <a:t xml:space="preserve">How far does it travel in 2 hours at that </a:t>
            </a:r>
            <a:r>
              <a:rPr sz="2475" b="1">
                <a:solidFill>
                  <a:srgbClr val="23282D"/>
                </a:solidFill>
                <a:highlight>
                  <a:srgbClr val="FFF2A8"/>
                </a:highlight>
                <a:latin typeface="Arial"/>
                <a:ea typeface="Arial"/>
                <a:cs typeface="Arial"/>
              </a:rPr>
              <a:t>rate</a:t>
            </a:r>
            <a:r>
              <a:rPr sz="2475" b="1">
                <a:solidFill>
                  <a:srgbClr val="782DA0"/>
                </a:solidFill>
                <a:latin typeface="Arial"/>
                <a:ea typeface="Arial"/>
                <a:cs typeface="Arial"/>
              </a:rPr>
              <a:t>?</a:t>
            </a:r>
          </a:p>
        </p:txBody>
      </p:sp>
      <p:sp>
        <p:nvSpPr>
          <p:cNvPr id="6" name="Rectangle 5">
            <a:extLst>
              <a:ext uri="{FF2B5EF4-FFF2-40B4-BE49-F238E27FC236}">
                <a16:creationId xmlns:a16="http://schemas.microsoft.com/office/drawing/2014/main" id="{EDF30CF2-5647-4099-9601-42309CFCAFFE}"/>
              </a:ext>
            </a:extLst>
          </p:cNvPr>
          <p:cNvSpPr>
            <a:spLocks noGrp="1"/>
          </p:cNvSpPr>
          <p:nvPr/>
        </p:nvSpPr>
        <p:spPr>
          <a:xfrm>
            <a:off x="723900" y="4248150"/>
            <a:ext cx="10620375" cy="752475"/>
          </a:xfrm>
          <a:prstGeom prst="rect">
            <a:avLst/>
          </a:prstGeom>
          <a:noFill/>
          <a:ln w="0">
            <a:noFill/>
          </a:ln>
        </p:spPr>
        <p:txBody>
          <a:bodyPr>
            <a:noAutofit/>
          </a:bodyPr>
          <a:lstStyle/>
          <a:p>
            <a:pPr>
              <a:defRPr sz="2025" b="0">
                <a:solidFill>
                  <a:srgbClr val="23282D"/>
                </a:solidFill>
                <a:latin typeface="Arial"/>
                <a:ea typeface="Arial"/>
                <a:cs typeface="Arial"/>
              </a:defRPr>
            </a:pPr>
            <a:r>
              <a:rPr sz="2025" b="0">
                <a:solidFill>
                  <a:srgbClr val="23282D"/>
                </a:solidFill>
                <a:latin typeface="Arial"/>
                <a:ea typeface="Arial"/>
                <a:cs typeface="Arial"/>
              </a:rPr>
              <a:t>Show a model or equation. Include the unit.</a:t>
            </a:r>
          </a:p>
        </p:txBody>
      </p:sp>
      <p:sp>
        <p:nvSpPr>
          <p:cNvPr id="9" name="Reference style 9"/>
          <p:cNvSpPr txBox="1"/>
          <p:nvPr/>
        </p:nvSpPr>
        <p:spPr>
          <a:xfrm>
            <a:off x="502920" y="54864"/>
            <a:ext cx="6035040" cy="237744"/>
          </a:xfrm>
          <a:prstGeom prst="rect">
            <a:avLst/>
          </a:prstGeom>
          <a:noFill/>
        </p:spPr>
        <p:txBody>
          <a:bodyPr wrap="square" lIns="0" rIns="0" tIns="0" bIns="0" anchor="ctr">
            <a:noAutofit/>
          </a:bodyPr>
          <a:lstStyle/>
          <a:p>
            <a:pPr algn="l"/>
            <a:r>
              <a:rPr lang="en-US" sz="1200" b="1" dirty="0">
                <a:solidFill>
                  <a:srgbClr val="1E2682"/>
                </a:solidFill>
                <a:latin typeface="Arial"/>
              </a:rPr>
              <a:t>STUDENT MOVE</a:t>
            </a:r>
            <a:r>
              <a:rPr lang="en-US" sz="1200" b="1" dirty="0">
                <a:solidFill>
                  <a:srgbClr val="5D6872"/>
                </a:solidFill>
                <a:latin typeface="Arial"/>
              </a:rPr>
              <a:t xml:space="preserve">  ·  SOLO → CHECK → REVISE</a:t>
            </a:r>
          </a:p>
        </p:txBody>
      </p:sp>
      <p:sp>
        <p:nvSpPr>
          <p:cNvPr id="11" name="Reference style 11"/>
          <p:cNvSpPr/>
          <p:nvPr/>
        </p:nvSpPr>
        <p:spPr>
          <a:xfrm>
            <a:off x="548640" y="5349240"/>
            <a:ext cx="9692640" cy="868680"/>
          </a:xfrm>
          <a:prstGeom prst="roundRect">
            <a:avLst/>
          </a:prstGeom>
          <a:solidFill>
            <a:srgbClr val="F1EC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ference style 12"/>
          <p:cNvSpPr/>
          <p:nvPr/>
        </p:nvSpPr>
        <p:spPr>
          <a:xfrm>
            <a:off x="548640" y="5349240"/>
            <a:ext cx="64008" cy="868680"/>
          </a:xfrm>
          <a:prstGeom prst="rect">
            <a:avLst/>
          </a:prstGeom>
          <a:solidFill>
            <a:srgbClr val="7A2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ference style 13"/>
          <p:cNvSpPr txBox="1"/>
          <p:nvPr/>
        </p:nvSpPr>
        <p:spPr>
          <a:xfrm>
            <a:off x="713232" y="5458968"/>
            <a:ext cx="9400032" cy="201168"/>
          </a:xfrm>
          <a:prstGeom prst="rect">
            <a:avLst/>
          </a:prstGeom>
          <a:noFill/>
        </p:spPr>
        <p:txBody>
          <a:bodyPr wrap="square" lIns="0" tIns="0" rIns="0" bIns="0" anchor="t">
            <a:noAutofit/>
          </a:bodyPr>
          <a:lstStyle/>
          <a:p>
            <a:pPr algn="l" marL="0" indent="0">
              <a:buNone/>
            </a:pPr>
            <a:r>
              <a:rPr sz="1200" b="1">
                <a:solidFill>
                  <a:srgbClr val="782DA0"/>
                </a:solidFill>
                <a:latin typeface="Arial"/>
              </a:rPr>
              <a:t>EXPLAIN YOUR MODEL</a:t>
            </a:r>
          </a:p>
        </p:txBody>
      </p:sp>
      <p:sp>
        <p:nvSpPr>
          <p:cNvPr id="14" name="Reference style 14"/>
          <p:cNvSpPr txBox="1"/>
          <p:nvPr/>
        </p:nvSpPr>
        <p:spPr>
          <a:xfrm>
            <a:off x="713232" y="5751576"/>
            <a:ext cx="9372600" cy="429768"/>
          </a:xfrm>
          <a:prstGeom prst="rect">
            <a:avLst/>
          </a:prstGeom>
          <a:noFill/>
        </p:spPr>
        <p:txBody>
          <a:bodyPr wrap="square" lIns="0" tIns="0" rIns="0" bIns="0" anchor="t">
            <a:noAutofit/>
          </a:bodyPr>
          <a:lstStyle/>
          <a:p>
            <a:pPr algn="l" marL="0" indent="0">
              <a:buNone/>
            </a:pPr>
            <a:r>
              <a:rPr sz="1600" b="0">
                <a:solidFill>
                  <a:srgbClr val="262C30"/>
                </a:solidFill>
                <a:latin typeface="Arial"/>
              </a:rPr>
              <a:t>“Each hour adds ___ miles, so in 2 hours ___.”</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Defend your method; partner gives one specific next step.</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40</a:t>
            </a:r>
          </a:p>
        </p:txBody>
      </p:sp>
    </p:spTree>
    <p:extLst>
      <p:ext uri="{BB962C8B-B14F-4D97-AF65-F5344CB8AC3E}">
        <p14:creationId xmlns:p14="http://schemas.microsoft.com/office/powerpoint/2010/main" val="13792552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4" name="Reference style 24">
            <a:extLst>
              <a:ext uri="{FF2B5EF4-FFF2-40B4-BE49-F238E27FC236}">
                <a16:creationId xmlns:a16="http://schemas.microsoft.com/office/drawing/2014/main" id="{DB6EED09-8B61-F64F-907D-F4B749DB901C}"/>
              </a:ext>
            </a:extLst>
          </p:cNvPr>
          <p:cNvPicPr>
            <a:picLocks noChangeAspect="1"/>
          </p:cNvPicPr>
          <p:nvPr userDrawn="1"/>
        </p:nvPicPr>
        <p:blipFill>
          <a:blip r:embed="rIdReferenceHeader323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2" name="TextBox 1"/>
          <p:cNvSpPr txBox="1"/>
          <p:nvPr/>
        </p:nvSpPr>
        <p:spPr>
          <a:xfrm>
            <a:off x="502920" y="310896"/>
            <a:ext cx="7315200" cy="502920"/>
          </a:xfrm>
          <a:prstGeom prst="rect">
            <a:avLst/>
          </a:prstGeom>
          <a:noFill/>
        </p:spPr>
        <p:txBody>
          <a:bodyPr wrap="square" lIns="0" tIns="0" rIns="0" bIns="0" anchor="t">
            <a:noAutofit/>
          </a:bodyPr>
          <a:lstStyle/>
          <a:p>
            <a:pPr algn="l" marL="0" indent="0">
              <a:buNone/>
            </a:pPr>
            <a:r>
              <a:rPr sz="2400" b="1">
                <a:solidFill>
                  <a:srgbClr val="7030A0"/>
                </a:solidFill>
                <a:latin typeface="Arial"/>
              </a:rPr>
              <a:t>Session 2 Warm-Up</a:t>
            </a:r>
          </a:p>
        </p:txBody>
      </p:sp>
      <p:sp>
        <p:nvSpPr>
          <p:cNvPr id="3" name="TextBox 2"/>
          <p:cNvSpPr txBox="1"/>
          <p:nvPr/>
        </p:nvSpPr>
        <p:spPr>
          <a:xfrm>
            <a:off x="521207" y="877824"/>
            <a:ext cx="7680960" cy="274320"/>
          </a:xfrm>
          <a:prstGeom prst="rect">
            <a:avLst/>
          </a:prstGeom>
          <a:noFill/>
        </p:spPr>
        <p:txBody>
          <a:bodyPr wrap="square" lIns="0" tIns="0" rIns="0" bIns="0" anchor="t">
            <a:noAutofit/>
          </a:bodyPr>
          <a:lstStyle/>
          <a:p>
            <a:pPr algn="l" marL="0" indent="0">
              <a:buNone/>
            </a:pPr>
            <a:r>
              <a:rPr sz="1400" b="0">
                <a:solidFill>
                  <a:srgbClr val="2D3A40"/>
                </a:solidFill>
                <a:latin typeface="Arial"/>
              </a:rPr>
              <a:t>Lesson 3-2 · Rates and Unit Rates   |   Session 2 Warm-Up · about 4 minutes</a:t>
            </a:r>
          </a:p>
        </p:txBody>
      </p:sp>
      <p:sp>
        <p:nvSpPr>
          <p:cNvPr id="4"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6" name="TextBox 5"/>
          <p:cNvSpPr txBox="1"/>
          <p:nvPr/>
        </p:nvSpPr>
        <p:spPr>
          <a:xfrm>
            <a:off x="521207" y="1207008"/>
            <a:ext cx="10881360" cy="438912"/>
          </a:xfrm>
          <a:prstGeom prst="rect">
            <a:avLst/>
          </a:prstGeom>
          <a:noFill/>
        </p:spPr>
        <p:txBody>
          <a:bodyPr wrap="square" lIns="0" tIns="0" rIns="0" bIns="0" anchor="t">
            <a:noAutofit/>
          </a:bodyPr>
          <a:lstStyle/>
          <a:p>
            <a:pPr algn="l" marL="0" indent="0">
              <a:buNone/>
            </a:pPr>
            <a:r>
              <a:rPr sz="1630" b="0">
                <a:solidFill>
                  <a:srgbClr val="5D6872"/>
                </a:solidFill>
                <a:latin typeface="Arial"/>
              </a:rPr>
              <a:t>Try each on your own. Mark an unsure answer; explain and revise when we check.</a:t>
            </a:r>
          </a:p>
        </p:txBody>
      </p:sp>
      <p:sp>
        <p:nvSpPr>
          <p:cNvPr id="7"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10" name="TextBox 9"/>
          <p:cNvSpPr txBox="1"/>
          <p:nvPr/>
        </p:nvSpPr>
        <p:spPr>
          <a:xfrm>
            <a:off x="667512" y="2212848"/>
            <a:ext cx="5111496" cy="1051560"/>
          </a:xfrm>
          <a:prstGeom prst="rect">
            <a:avLst/>
          </a:prstGeom>
          <a:noFill/>
        </p:spPr>
        <p:txBody>
          <a:bodyPr wrap="square" lIns="73152" rIns="73152" bIns="27432" anchor="t">
            <a:noAutofit/>
          </a:bodyPr>
          <a:lstStyle/>
          <a:p>
            <a:pPr algn="l" marL="0" indent="0">
              <a:buNone/>
            </a:pPr>
            <a:r>
              <a:rPr sz="1800" b="1">
                <a:solidFill>
                  <a:srgbClr val="2D3A40"/>
                </a:solidFill>
                <a:latin typeface="Arial"/>
              </a:rPr>
              <a:t>A train travels 150 miles each hour.</a:t>
            </a:r>
          </a:p>
          <a:p>
            <a:pPr algn="l"/>
            <a:r>
              <a:rPr sz="1800" b="1">
                <a:solidFill>
                  <a:srgbClr val="2D3A40"/>
                </a:solidFill>
                <a:latin typeface="Arial"/>
              </a:rPr>
              <a:t>How far in 2 hours? ______</a:t>
            </a:r>
          </a:p>
        </p:txBody>
      </p:sp>
      <p:sp>
        <p:nvSpPr>
          <p:cNvPr id="11"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14" name="TextBox 13"/>
          <p:cNvSpPr txBox="1"/>
          <p:nvPr/>
        </p:nvSpPr>
        <p:spPr>
          <a:xfrm>
            <a:off x="6345936" y="2212848"/>
            <a:ext cx="5102352" cy="1051560"/>
          </a:xfrm>
          <a:prstGeom prst="rect">
            <a:avLst/>
          </a:prstGeom>
          <a:noFill/>
        </p:spPr>
        <p:txBody>
          <a:bodyPr wrap="square" lIns="73152" rIns="73152" bIns="27432" anchor="t">
            <a:noAutofit/>
          </a:bodyPr>
          <a:lstStyle/>
          <a:p>
            <a:pPr algn="l" marL="0" indent="0">
              <a:buNone/>
            </a:pPr>
            <a:r>
              <a:rPr sz="1800" b="1">
                <a:solidFill>
                  <a:srgbClr val="2D3A40"/>
                </a:solidFill>
                <a:latin typeface="Arial"/>
              </a:rPr>
              <a:t>450 miles in 3 hours = ______ miles per hour</a:t>
            </a:r>
          </a:p>
        </p:txBody>
      </p:sp>
      <p:sp>
        <p:nvSpPr>
          <p:cNvPr id="15"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18" name="TextBox 17"/>
          <p:cNvSpPr txBox="1"/>
          <p:nvPr/>
        </p:nvSpPr>
        <p:spPr>
          <a:xfrm>
            <a:off x="667512" y="4023360"/>
            <a:ext cx="5111496" cy="1143000"/>
          </a:xfrm>
          <a:prstGeom prst="rect">
            <a:avLst/>
          </a:prstGeom>
          <a:noFill/>
        </p:spPr>
        <p:txBody>
          <a:bodyPr wrap="square" lIns="73152" rIns="73152" bIns="27432" anchor="t">
            <a:noAutofit/>
          </a:bodyPr>
          <a:lstStyle/>
          <a:p>
            <a:pPr algn="l" marL="0" indent="0">
              <a:buNone/>
            </a:pPr>
            <a:r>
              <a:rPr sz="1800" b="1">
                <a:solidFill>
                  <a:srgbClr val="2D3A40"/>
                </a:solidFill>
                <a:latin typeface="Arial"/>
              </a:rPr>
              <a:t>Circle the unit rate:</a:t>
            </a:r>
          </a:p>
          <a:p>
            <a:pPr algn="l"/>
            <a:r>
              <a:rPr sz="1800" b="1">
                <a:solidFill>
                  <a:srgbClr val="2D3A40"/>
                </a:solidFill>
                <a:latin typeface="Arial"/>
              </a:rPr>
              <a:t>150 miles in 1 hour   or   300 miles in 2 hours</a:t>
            </a:r>
          </a:p>
        </p:txBody>
      </p:sp>
      <p:sp>
        <p:nvSpPr>
          <p:cNvPr id="19"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2" name="TextBox 21"/>
          <p:cNvSpPr txBox="1"/>
          <p:nvPr/>
        </p:nvSpPr>
        <p:spPr>
          <a:xfrm>
            <a:off x="6345936" y="4023360"/>
            <a:ext cx="5102352" cy="1143000"/>
          </a:xfrm>
          <a:prstGeom prst="rect">
            <a:avLst/>
          </a:prstGeom>
          <a:noFill/>
        </p:spPr>
        <p:txBody>
          <a:bodyPr wrap="square" lIns="73152" rIns="73152" bIns="27432" anchor="t">
            <a:noAutofit/>
          </a:bodyPr>
          <a:lstStyle/>
          <a:p>
            <a:pPr algn="l" marL="0" indent="0">
              <a:buNone/>
            </a:pPr>
            <a:r>
              <a:rPr sz="1800" b="1">
                <a:solidFill>
                  <a:srgbClr val="2D3A40"/>
                </a:solidFill>
                <a:latin typeface="Arial"/>
              </a:rPr>
              <a:t>A 7-day pass costs $35.</a:t>
            </a:r>
          </a:p>
          <a:p>
            <a:pPr algn="l"/>
            <a:r>
              <a:rPr sz="1800" b="1">
                <a:solidFill>
                  <a:srgbClr val="2D3A40"/>
                </a:solidFill>
                <a:latin typeface="Arial"/>
              </a:rPr>
              <a:t>Cost per day: $______</a:t>
            </a:r>
          </a:p>
        </p:txBody>
      </p:sp>
      <p:sp>
        <p:nvSpPr>
          <p:cNvPr id="23"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marL="0" indent="0">
              <a:buNone/>
            </a:pPr>
            <a:r>
              <a:rPr sz="1400" b="1">
                <a:solidFill>
                  <a:srgbClr val="1E2682"/>
                </a:solidFill>
                <a:latin typeface="Arial"/>
              </a:rPr>
              <a:t>TALK IT OVER:  “I got ______ because ______.”   •   Compare with a partner before we check as a class.</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40</a:t>
            </a:r>
          </a:p>
        </p:txBody>
      </p:sp>
    </p:spTree>
    <p:extLst>
      <p:ext uri="{BB962C8B-B14F-4D97-AF65-F5344CB8AC3E}">
        <p14:creationId xmlns:p14="http://schemas.microsoft.com/office/powerpoint/2010/main" val="7052900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0" name="Reference style 30">
            <a:extLst>
              <a:ext uri="{FF2B5EF4-FFF2-40B4-BE49-F238E27FC236}">
                <a16:creationId xmlns:a16="http://schemas.microsoft.com/office/drawing/2014/main" id="{DB6EED09-8B61-F64F-907D-F4B749DB901C}"/>
              </a:ext>
            </a:extLst>
          </p:cNvPr>
          <p:cNvPicPr>
            <a:picLocks noChangeAspect="1"/>
          </p:cNvPicPr>
          <p:nvPr userDrawn="1"/>
        </p:nvPicPr>
        <p:blipFill>
          <a:blip r:embed="rIdReferenceHeader323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15" name="Rectangle 14">
            <a:extLst>
              <a:ext uri="{FF2B5EF4-FFF2-40B4-BE49-F238E27FC236}">
                <a16:creationId xmlns:a16="http://schemas.microsoft.com/office/drawing/2014/main" id="{C8930636-8F9C-4E77-BA0B-207B9CB2F468}"/>
              </a:ext>
            </a:extLst>
          </p:cNvPr>
          <p:cNvSpPr>
            <a:spLocks noGrp="1"/>
          </p:cNvSpPr>
          <p:nvPr/>
        </p:nvSpPr>
        <p:spPr>
          <a:xfrm>
            <a:off x="514350" y="381000"/>
            <a:ext cx="6858000" cy="542925"/>
          </a:xfrm>
          <a:prstGeom prst="rect">
            <a:avLst/>
          </a:prstGeom>
          <a:noFill/>
          <a:ln w="0">
            <a:noFill/>
          </a:ln>
        </p:spPr>
        <p:txBody>
          <a:bodyPr>
            <a:noAutofit/>
          </a:bodyPr>
          <a:lstStyle/>
          <a:p>
            <a:pPr>
              <a:defRPr sz="2700" b="1">
                <a:solidFill>
                  <a:srgbClr val="782DA0"/>
                </a:solidFill>
                <a:latin typeface="Arial"/>
                <a:ea typeface="Arial"/>
                <a:cs typeface="Arial"/>
              </a:defRPr>
            </a:pPr>
            <a:r>
              <a:rPr sz="2400" b="1">
                <a:solidFill>
                  <a:srgbClr val="7030A0"/>
                </a:solidFill>
                <a:latin typeface="Arial"/>
                <a:ea typeface="Arial"/>
                <a:cs typeface="Arial"/>
              </a:rPr>
              <a:t>Review Notes — Session 2</a:t>
            </a:r>
          </a:p>
        </p:txBody>
      </p:sp>
      <p:sp>
        <p:nvSpPr>
          <p:cNvPr id="2" name="Rectangle 1">
            <a:extLst>
              <a:ext uri="{FF2B5EF4-FFF2-40B4-BE49-F238E27FC236}">
                <a16:creationId xmlns:a16="http://schemas.microsoft.com/office/drawing/2014/main" id="{8427627B-55DA-4DA0-8E04-A1E3FE9C41E3}"/>
              </a:ext>
            </a:extLst>
          </p:cNvPr>
          <p:cNvSpPr>
            <a:spLocks noGrp="1"/>
          </p:cNvSpPr>
          <p:nvPr/>
        </p:nvSpPr>
        <p:spPr>
          <a:xfrm>
            <a:off x="523875" y="1028700"/>
            <a:ext cx="8667750" cy="342900"/>
          </a:xfrm>
          <a:prstGeom prst="rect">
            <a:avLst/>
          </a:prstGeom>
          <a:noFill/>
          <a:ln w="0">
            <a:noFill/>
          </a:ln>
        </p:spPr>
        <p:txBody>
          <a:bodyPr>
            <a:noAutofit/>
          </a:bodyPr>
          <a:lstStyle/>
          <a:p>
            <a:pPr>
              <a:defRPr sz="1575" b="0">
                <a:solidFill>
                  <a:srgbClr val="5D6872"/>
                </a:solidFill>
                <a:latin typeface="Arial"/>
                <a:ea typeface="Arial"/>
                <a:cs typeface="Arial"/>
              </a:defRPr>
            </a:pPr>
            <a:r>
              <a:rPr sz="1575" b="0">
                <a:solidFill>
                  <a:srgbClr val="5D6872"/>
                </a:solidFill>
                <a:latin typeface="Arial"/>
                <a:ea typeface="Arial"/>
                <a:cs typeface="Arial"/>
              </a:rPr>
              <a:t>Review the key ideas before Session 2.</a:t>
            </a:r>
          </a:p>
        </p:txBody>
      </p:sp>
      <p:sp>
        <p:nvSpPr>
          <p:cNvPr id="3" name="Rounded Rectangle 2">
            <a:extLst>
              <a:ext uri="{FF2B5EF4-FFF2-40B4-BE49-F238E27FC236}">
                <a16:creationId xmlns:a16="http://schemas.microsoft.com/office/drawing/2014/main" id="{99C55011-AA5A-4657-B72D-643A735FEAB4}"/>
              </a:ext>
            </a:extLst>
          </p:cNvPr>
          <p:cNvSpPr>
            <a:spLocks noGrp="1"/>
          </p:cNvSpPr>
          <p:nvPr/>
        </p:nvSpPr>
        <p:spPr>
          <a:xfrm>
            <a:off x="514350" y="1609725"/>
            <a:ext cx="5762625" cy="4114800"/>
          </a:xfrm>
          <a:prstGeom prst="roundRect">
            <a:avLst>
              <a:gd name="adj" fmla="val 1852"/>
            </a:avLst>
          </a:prstGeom>
          <a:solidFill>
            <a:srgbClr val="EAF6F5"/>
          </a:solidFill>
          <a:ln w="9525">
            <a:solidFill>
              <a:srgbClr val="D6E0E8"/>
            </a:solidFill>
          </a:ln>
        </p:spPr>
        <p:txBody>
          <a:bodyPr/>
          <a:lstStyle/>
          <a:p>
            <a:endParaRPr lang="en-US"/>
          </a:p>
        </p:txBody>
      </p:sp>
      <p:sp>
        <p:nvSpPr>
          <p:cNvPr id="4" name="Rounded Rectangle 3">
            <a:extLst>
              <a:ext uri="{FF2B5EF4-FFF2-40B4-BE49-F238E27FC236}">
                <a16:creationId xmlns:a16="http://schemas.microsoft.com/office/drawing/2014/main" id="{8BC95A69-0828-4FE1-8C0A-F33503007FAC}"/>
              </a:ext>
            </a:extLst>
          </p:cNvPr>
          <p:cNvSpPr>
            <a:spLocks noGrp="1"/>
          </p:cNvSpPr>
          <p:nvPr/>
        </p:nvSpPr>
        <p:spPr>
          <a:xfrm>
            <a:off x="6543675" y="1609725"/>
            <a:ext cx="5114925" cy="4114800"/>
          </a:xfrm>
          <a:prstGeom prst="roundRect">
            <a:avLst>
              <a:gd name="adj" fmla="val 1852"/>
            </a:avLst>
          </a:prstGeom>
          <a:solidFill>
            <a:srgbClr val="FFF0E7"/>
          </a:solidFill>
          <a:ln w="9525">
            <a:solidFill>
              <a:srgbClr val="D6E0E8"/>
            </a:solidFill>
          </a:ln>
        </p:spPr>
        <p:txBody>
          <a:bodyPr/>
          <a:lstStyle/>
          <a:p>
            <a:endParaRPr lang="en-US"/>
          </a:p>
        </p:txBody>
      </p:sp>
      <p:sp>
        <p:nvSpPr>
          <p:cNvPr id="5" name="Rectangle 4">
            <a:extLst>
              <a:ext uri="{FF2B5EF4-FFF2-40B4-BE49-F238E27FC236}">
                <a16:creationId xmlns:a16="http://schemas.microsoft.com/office/drawing/2014/main" id="{E257E694-822D-4703-AFA7-3471ECE37574}"/>
              </a:ext>
            </a:extLst>
          </p:cNvPr>
          <p:cNvSpPr>
            <a:spLocks noGrp="1"/>
          </p:cNvSpPr>
          <p:nvPr/>
        </p:nvSpPr>
        <p:spPr>
          <a:xfrm>
            <a:off x="723900" y="1800225"/>
            <a:ext cx="5238750" cy="266700"/>
          </a:xfrm>
          <a:prstGeom prst="rect">
            <a:avLst/>
          </a:prstGeom>
          <a:noFill/>
          <a:ln w="0">
            <a:noFill/>
          </a:ln>
        </p:spPr>
        <p:txBody>
          <a:bodyPr>
            <a:noAutofit/>
          </a:bodyPr>
          <a:lstStyle/>
          <a:p>
            <a:pPr>
              <a:defRPr sz="1350" b="1">
                <a:solidFill>
                  <a:srgbClr val="782DA0"/>
                </a:solidFill>
                <a:latin typeface="Arial"/>
                <a:ea typeface="Arial"/>
                <a:cs typeface="Arial"/>
              </a:defRPr>
            </a:pPr>
            <a:r>
              <a:rPr sz="1350" b="1">
                <a:solidFill>
                  <a:srgbClr val="782DA0"/>
                </a:solidFill>
                <a:latin typeface="Arial"/>
                <a:ea typeface="Arial"/>
                <a:cs typeface="Arial"/>
              </a:rPr>
              <a:t>COPY, EXPLAIN, THEN CHECK</a:t>
            </a:r>
          </a:p>
        </p:txBody>
      </p:sp>
      <p:sp>
        <p:nvSpPr>
          <p:cNvPr id="6" name="Rectangle 5">
            <a:extLst>
              <a:ext uri="{FF2B5EF4-FFF2-40B4-BE49-F238E27FC236}">
                <a16:creationId xmlns:a16="http://schemas.microsoft.com/office/drawing/2014/main" id="{8B78922A-54F6-44FF-B7CD-375CE60AD24B}"/>
              </a:ext>
            </a:extLst>
          </p:cNvPr>
          <p:cNvSpPr>
            <a:spLocks noGrp="1"/>
          </p:cNvSpPr>
          <p:nvPr/>
        </p:nvSpPr>
        <p:spPr>
          <a:xfrm>
            <a:off x="733425" y="2352675"/>
            <a:ext cx="447675" cy="476250"/>
          </a:xfrm>
          <a:prstGeom prst="rect">
            <a:avLst/>
          </a:prstGeom>
          <a:noFill/>
          <a:ln w="0">
            <a:noFill/>
          </a:ln>
        </p:spPr>
        <p:txBody>
          <a:bodyPr>
            <a:noAutofit/>
          </a:bodyPr>
          <a:lstStyle/>
          <a:p>
            <a:pPr>
              <a:defRPr sz="1875" b="1">
                <a:solidFill>
                  <a:srgbClr val="782DA0"/>
                </a:solidFill>
                <a:latin typeface="Arial"/>
                <a:ea typeface="Arial"/>
                <a:cs typeface="Arial"/>
              </a:defRPr>
            </a:pPr>
            <a:r>
              <a:rPr sz="1875" b="1">
                <a:solidFill>
                  <a:srgbClr val="782DA0"/>
                </a:solidFill>
                <a:latin typeface="Arial"/>
                <a:ea typeface="Arial"/>
                <a:cs typeface="Arial"/>
              </a:rPr>
              <a:t>01</a:t>
            </a:r>
          </a:p>
        </p:txBody>
      </p:sp>
      <p:sp>
        <p:nvSpPr>
          <p:cNvPr id="7" name="Rectangle 6">
            <a:extLst>
              <a:ext uri="{FF2B5EF4-FFF2-40B4-BE49-F238E27FC236}">
                <a16:creationId xmlns:a16="http://schemas.microsoft.com/office/drawing/2014/main" id="{5EFB66A5-396E-4A8E-9789-49DD838D4549}"/>
              </a:ext>
            </a:extLst>
          </p:cNvPr>
          <p:cNvSpPr>
            <a:spLocks noGrp="1"/>
          </p:cNvSpPr>
          <p:nvPr/>
        </p:nvSpPr>
        <p:spPr>
          <a:xfrm>
            <a:off x="1257300" y="2324100"/>
            <a:ext cx="4752975" cy="847725"/>
          </a:xfrm>
          <a:prstGeom prst="rect">
            <a:avLst/>
          </a:prstGeom>
          <a:noFill/>
          <a:ln w="0">
            <a:noFill/>
          </a:ln>
        </p:spPr>
        <p:txBody>
          <a:bodyPr>
            <a:noAutofit/>
          </a:bodyPr>
          <a:lstStyle/>
          <a:p>
            <a:pPr>
              <a:defRPr sz="2100" b="0">
                <a:solidFill>
                  <a:srgbClr val="23282D"/>
                </a:solidFill>
                <a:latin typeface="Arial"/>
                <a:ea typeface="Arial"/>
                <a:cs typeface="Arial"/>
              </a:defRPr>
            </a:pPr>
            <a:r>
              <a:rPr sz="2100" b="0">
                <a:solidFill>
                  <a:srgbClr val="23282D"/>
                </a:solidFill>
                <a:latin typeface="Arial"/>
                <a:ea typeface="Arial"/>
                <a:cs typeface="Arial"/>
              </a:rPr>
              <a:t xml:space="preserve">A </a:t>
            </a:r>
            <a:r>
              <a:rPr sz="2100" b="1">
                <a:solidFill>
                  <a:srgbClr val="23282D"/>
                </a:solidFill>
                <a:highlight>
                  <a:srgbClr val="FFF2A8"/>
                </a:highlight>
                <a:latin typeface="Arial"/>
                <a:ea typeface="Arial"/>
                <a:cs typeface="Arial"/>
              </a:rPr>
              <a:t>rate</a:t>
            </a:r>
            <a:r>
              <a:rPr sz="2100" b="0">
                <a:solidFill>
                  <a:srgbClr val="23282D"/>
                </a:solidFill>
                <a:latin typeface="Arial"/>
                <a:ea typeface="Arial"/>
                <a:cs typeface="Arial"/>
              </a:rPr>
              <a:t xml:space="preserve"> compares amounts with different units.</a:t>
            </a:r>
          </a:p>
        </p:txBody>
      </p:sp>
      <p:sp>
        <p:nvSpPr>
          <p:cNvPr id="8" name="Rectangle 7">
            <a:extLst>
              <a:ext uri="{FF2B5EF4-FFF2-40B4-BE49-F238E27FC236}">
                <a16:creationId xmlns:a16="http://schemas.microsoft.com/office/drawing/2014/main" id="{F8BB22C9-51EE-46AC-8AF5-3386B00359E6}"/>
              </a:ext>
            </a:extLst>
          </p:cNvPr>
          <p:cNvSpPr>
            <a:spLocks noGrp="1"/>
          </p:cNvSpPr>
          <p:nvPr/>
        </p:nvSpPr>
        <p:spPr>
          <a:xfrm>
            <a:off x="733425" y="3333750"/>
            <a:ext cx="447675" cy="476250"/>
          </a:xfrm>
          <a:prstGeom prst="rect">
            <a:avLst/>
          </a:prstGeom>
          <a:noFill/>
          <a:ln w="0">
            <a:noFill/>
          </a:ln>
        </p:spPr>
        <p:txBody>
          <a:bodyPr>
            <a:noAutofit/>
          </a:bodyPr>
          <a:lstStyle/>
          <a:p>
            <a:pPr>
              <a:defRPr sz="1875" b="1">
                <a:solidFill>
                  <a:srgbClr val="782DA0"/>
                </a:solidFill>
                <a:latin typeface="Arial"/>
                <a:ea typeface="Arial"/>
                <a:cs typeface="Arial"/>
              </a:defRPr>
            </a:pPr>
            <a:r>
              <a:rPr sz="1875" b="1">
                <a:solidFill>
                  <a:srgbClr val="782DA0"/>
                </a:solidFill>
                <a:latin typeface="Arial"/>
                <a:ea typeface="Arial"/>
                <a:cs typeface="Arial"/>
              </a:rPr>
              <a:t>02</a:t>
            </a:r>
          </a:p>
        </p:txBody>
      </p:sp>
      <p:sp>
        <p:nvSpPr>
          <p:cNvPr id="9" name="Rectangle 8">
            <a:extLst>
              <a:ext uri="{FF2B5EF4-FFF2-40B4-BE49-F238E27FC236}">
                <a16:creationId xmlns:a16="http://schemas.microsoft.com/office/drawing/2014/main" id="{8881EECB-093D-4787-92BE-F2E263EC74BA}"/>
              </a:ext>
            </a:extLst>
          </p:cNvPr>
          <p:cNvSpPr>
            <a:spLocks noGrp="1"/>
          </p:cNvSpPr>
          <p:nvPr/>
        </p:nvSpPr>
        <p:spPr>
          <a:xfrm>
            <a:off x="1257300" y="3305175"/>
            <a:ext cx="4752975" cy="847725"/>
          </a:xfrm>
          <a:prstGeom prst="rect">
            <a:avLst/>
          </a:prstGeom>
          <a:noFill/>
          <a:ln w="0">
            <a:noFill/>
          </a:ln>
        </p:spPr>
        <p:txBody>
          <a:bodyPr>
            <a:noAutofit/>
          </a:bodyPr>
          <a:lstStyle/>
          <a:p>
            <a:pPr>
              <a:defRPr sz="2100" b="0">
                <a:solidFill>
                  <a:srgbClr val="23282D"/>
                </a:solidFill>
                <a:latin typeface="Arial"/>
                <a:ea typeface="Arial"/>
                <a:cs typeface="Arial"/>
              </a:defRPr>
            </a:pPr>
            <a:r>
              <a:rPr sz="2100" b="1">
                <a:solidFill>
                  <a:srgbClr val="23282D"/>
                </a:solidFill>
                <a:highlight>
                  <a:srgbClr val="FFF2A8"/>
                </a:highlight>
                <a:latin typeface="Arial"/>
                <a:ea typeface="Arial"/>
                <a:cs typeface="Arial"/>
              </a:rPr>
              <a:t>Per hour</a:t>
            </a:r>
            <a:r>
              <a:rPr sz="2100" b="0">
                <a:solidFill>
                  <a:srgbClr val="23282D"/>
                </a:solidFill>
                <a:latin typeface="Arial"/>
                <a:ea typeface="Arial"/>
                <a:cs typeface="Arial"/>
              </a:rPr>
              <a:t xml:space="preserve"> means “for each hour.”</a:t>
            </a:r>
          </a:p>
        </p:txBody>
      </p:sp>
      <p:sp>
        <p:nvSpPr>
          <p:cNvPr id="10" name="Rectangle 9">
            <a:extLst>
              <a:ext uri="{FF2B5EF4-FFF2-40B4-BE49-F238E27FC236}">
                <a16:creationId xmlns:a16="http://schemas.microsoft.com/office/drawing/2014/main" id="{A206983B-16EF-4D6E-AEAF-F5EA4D6AAEFA}"/>
              </a:ext>
            </a:extLst>
          </p:cNvPr>
          <p:cNvSpPr>
            <a:spLocks noGrp="1"/>
          </p:cNvSpPr>
          <p:nvPr/>
        </p:nvSpPr>
        <p:spPr>
          <a:xfrm>
            <a:off x="733425" y="4314825"/>
            <a:ext cx="447675" cy="476250"/>
          </a:xfrm>
          <a:prstGeom prst="rect">
            <a:avLst/>
          </a:prstGeom>
          <a:noFill/>
          <a:ln w="0">
            <a:noFill/>
          </a:ln>
        </p:spPr>
        <p:txBody>
          <a:bodyPr>
            <a:noAutofit/>
          </a:bodyPr>
          <a:lstStyle/>
          <a:p>
            <a:pPr>
              <a:defRPr sz="1875" b="1">
                <a:solidFill>
                  <a:srgbClr val="782DA0"/>
                </a:solidFill>
                <a:latin typeface="Arial"/>
                <a:ea typeface="Arial"/>
                <a:cs typeface="Arial"/>
              </a:defRPr>
            </a:pPr>
            <a:r>
              <a:rPr sz="1875" b="1">
                <a:solidFill>
                  <a:srgbClr val="782DA0"/>
                </a:solidFill>
                <a:latin typeface="Arial"/>
                <a:ea typeface="Arial"/>
                <a:cs typeface="Arial"/>
              </a:rPr>
              <a:t>03</a:t>
            </a:r>
          </a:p>
        </p:txBody>
      </p:sp>
      <p:sp>
        <p:nvSpPr>
          <p:cNvPr id="11" name="Rectangle 10">
            <a:extLst>
              <a:ext uri="{FF2B5EF4-FFF2-40B4-BE49-F238E27FC236}">
                <a16:creationId xmlns:a16="http://schemas.microsoft.com/office/drawing/2014/main" id="{B7526408-E9B2-46CC-BA51-A88631E11932}"/>
              </a:ext>
            </a:extLst>
          </p:cNvPr>
          <p:cNvSpPr>
            <a:spLocks noGrp="1"/>
          </p:cNvSpPr>
          <p:nvPr/>
        </p:nvSpPr>
        <p:spPr>
          <a:xfrm>
            <a:off x="1257300" y="4286250"/>
            <a:ext cx="4752975" cy="847725"/>
          </a:xfrm>
          <a:prstGeom prst="rect">
            <a:avLst/>
          </a:prstGeom>
          <a:noFill/>
          <a:ln w="0">
            <a:noFill/>
          </a:ln>
        </p:spPr>
        <p:txBody>
          <a:bodyPr>
            <a:noAutofit/>
          </a:bodyPr>
          <a:lstStyle/>
          <a:p>
            <a:pPr>
              <a:defRPr sz="2100" b="0">
                <a:solidFill>
                  <a:srgbClr val="23282D"/>
                </a:solidFill>
                <a:latin typeface="Arial"/>
                <a:ea typeface="Arial"/>
                <a:cs typeface="Arial"/>
              </a:defRPr>
            </a:pPr>
            <a:r>
              <a:rPr sz="2100" b="0">
                <a:solidFill>
                  <a:srgbClr val="23282D"/>
                </a:solidFill>
                <a:latin typeface="Arial"/>
                <a:ea typeface="Arial"/>
                <a:cs typeface="Arial"/>
              </a:rPr>
              <a:t xml:space="preserve">Keep the same </a:t>
            </a:r>
            <a:r>
              <a:rPr sz="2100" b="1">
                <a:solidFill>
                  <a:srgbClr val="23282D"/>
                </a:solidFill>
                <a:highlight>
                  <a:srgbClr val="FFF2A8"/>
                </a:highlight>
                <a:latin typeface="Arial"/>
                <a:ea typeface="Arial"/>
                <a:cs typeface="Arial"/>
              </a:rPr>
              <a:t>rate</a:t>
            </a:r>
            <a:r>
              <a:rPr sz="2100" b="0">
                <a:solidFill>
                  <a:srgbClr val="23282D"/>
                </a:solidFill>
                <a:latin typeface="Arial"/>
                <a:ea typeface="Arial"/>
                <a:cs typeface="Arial"/>
              </a:rPr>
              <a:t xml:space="preserve"> as both amounts change.</a:t>
            </a:r>
          </a:p>
        </p:txBody>
      </p:sp>
      <p:sp>
        <p:nvSpPr>
          <p:cNvPr id="12" name="Rectangle 11">
            <a:extLst>
              <a:ext uri="{FF2B5EF4-FFF2-40B4-BE49-F238E27FC236}">
                <a16:creationId xmlns:a16="http://schemas.microsoft.com/office/drawing/2014/main" id="{1BD7297A-0394-45D1-8249-8FAB26001FE8}"/>
              </a:ext>
            </a:extLst>
          </p:cNvPr>
          <p:cNvSpPr>
            <a:spLocks noGrp="1"/>
          </p:cNvSpPr>
          <p:nvPr/>
        </p:nvSpPr>
        <p:spPr>
          <a:xfrm>
            <a:off x="6743700" y="1809750"/>
            <a:ext cx="4667250" cy="266700"/>
          </a:xfrm>
          <a:prstGeom prst="rect">
            <a:avLst/>
          </a:prstGeom>
          <a:noFill/>
          <a:ln w="0">
            <a:noFill/>
          </a:ln>
        </p:spPr>
        <p:txBody>
          <a:bodyPr>
            <a:noAutofit/>
          </a:bodyPr>
          <a:lstStyle/>
          <a:p>
            <a:pPr>
              <a:defRPr sz="1350" b="1">
                <a:solidFill>
                  <a:srgbClr val="0070C0"/>
                </a:solidFill>
                <a:latin typeface="Arial"/>
                <a:ea typeface="Arial"/>
                <a:cs typeface="Arial"/>
              </a:defRPr>
            </a:pPr>
            <a:r>
              <a:rPr sz="1350" b="1">
                <a:solidFill>
                  <a:srgbClr val="0070C0"/>
                </a:solidFill>
                <a:latin typeface="Arial"/>
                <a:ea typeface="Arial"/>
                <a:cs typeface="Arial"/>
              </a:rPr>
              <a:t>LOOK BACK AT THE EXAMPLE</a:t>
            </a:r>
          </a:p>
        </p:txBody>
      </p:sp>
      <p:graphicFrame>
        <p:nvGraphicFramePr>
          <p:cNvPr id="27" name="Table 26"/>
          <p:cNvGraphicFramePr/>
          <p:nvPr/>
        </p:nvGraphicFramePr>
        <p:xfrm>
          <a:off x="6743700" y="2333625"/>
          <a:ext cx="4705350" cy="2019300"/>
        </p:xfrm>
        <a:graphic>
          <a:graphicData uri="http://schemas.openxmlformats.org/drawingml/2006/table">
            <a:tbl>
              <a:tblPr/>
              <a:tblGrid>
                <a:gridCol w="2352675">
                  <a:extLst>
                    <a:ext uri="{9D8B030D-6E8A-4147-A177-3AD203B41FA5}">
                      <a16:colId xmlns:a16="http://schemas.microsoft.com/office/drawing/2014/main" val="20000"/>
                    </a:ext>
                  </a:extLst>
                </a:gridCol>
                <a:gridCol w="2352675">
                  <a:extLst>
                    <a:ext uri="{9D8B030D-6E8A-4147-A177-3AD203B41FA5}">
                      <a16:colId xmlns:a16="http://schemas.microsoft.com/office/drawing/2014/main" val="20001"/>
                    </a:ext>
                  </a:extLst>
                </a:gridCol>
              </a:tblGrid>
              <a:tr h="504825">
                <a:tc>
                  <a:txBody>
                    <a:bodyPr/>
                    <a:lstStyle/>
                    <a:p>
                      <a:r>
                        <a:rPr sz="1425" b="1">
                          <a:solidFill>
                            <a:srgbClr val="FFFFFF"/>
                          </a:solidFill>
                          <a:latin typeface="Arial"/>
                          <a:ea typeface="Arial"/>
                          <a:cs typeface="Arial"/>
                        </a:rPr>
                        <a:t>Hours</a:t>
                      </a:r>
                    </a:p>
                  </a:txBody>
                  <a:tcPr>
                    <a:solidFill>
                      <a:srgbClr val="0070C0"/>
                    </a:solidFill>
                  </a:tcPr>
                </a:tc>
                <a:tc>
                  <a:txBody>
                    <a:bodyPr/>
                    <a:lstStyle/>
                    <a:p>
                      <a:r>
                        <a:rPr sz="1425" b="1">
                          <a:solidFill>
                            <a:srgbClr val="FFFFFF"/>
                          </a:solidFill>
                          <a:latin typeface="Arial"/>
                          <a:ea typeface="Arial"/>
                          <a:cs typeface="Arial"/>
                        </a:rPr>
                        <a:t>Miles</a:t>
                      </a:r>
                    </a:p>
                  </a:txBody>
                  <a:tcPr>
                    <a:solidFill>
                      <a:srgbClr val="0070C0"/>
                    </a:solidFill>
                  </a:tcPr>
                </a:tc>
                <a:extLst>
                  <a:ext uri="{0D108BD9-81ED-4DB2-BD59-A6C34878D82A}">
                    <a16:rowId xmlns:a16="http://schemas.microsoft.com/office/drawing/2014/main" val="10000"/>
                  </a:ext>
                </a:extLst>
              </a:tr>
              <a:tr h="504825">
                <a:tc>
                  <a:txBody>
                    <a:bodyPr/>
                    <a:lstStyle/>
                    <a:p>
                      <a:r>
                        <a:rPr sz="1800" b="0">
                          <a:solidFill>
                            <a:srgbClr val="23282D"/>
                          </a:solidFill>
                          <a:latin typeface="Arial"/>
                          <a:ea typeface="Arial"/>
                          <a:cs typeface="Arial"/>
                        </a:rPr>
                        <a:t>1</a:t>
                      </a:r>
                    </a:p>
                  </a:txBody>
                  <a:tcPr>
                    <a:solidFill>
                      <a:srgbClr val="FFFFFF"/>
                    </a:solidFill>
                  </a:tcPr>
                </a:tc>
                <a:tc>
                  <a:txBody>
                    <a:bodyPr/>
                    <a:lstStyle/>
                    <a:p>
                      <a:r>
                        <a:rPr sz="1800" b="0">
                          <a:solidFill>
                            <a:srgbClr val="23282D"/>
                          </a:solidFill>
                          <a:latin typeface="Arial"/>
                          <a:ea typeface="Arial"/>
                          <a:cs typeface="Arial"/>
                        </a:rPr>
                        <a:t>150</a:t>
                      </a:r>
                    </a:p>
                  </a:txBody>
                  <a:tcPr>
                    <a:solidFill>
                      <a:srgbClr val="FFFFFF"/>
                    </a:solidFill>
                  </a:tcPr>
                </a:tc>
                <a:extLst>
                  <a:ext uri="{0D108BD9-81ED-4DB2-BD59-A6C34878D82A}">
                    <a16:rowId xmlns:a16="http://schemas.microsoft.com/office/drawing/2014/main" val="10001"/>
                  </a:ext>
                </a:extLst>
              </a:tr>
              <a:tr h="504825">
                <a:tc>
                  <a:txBody>
                    <a:bodyPr/>
                    <a:lstStyle/>
                    <a:p>
                      <a:r>
                        <a:rPr sz="1800" b="0">
                          <a:solidFill>
                            <a:srgbClr val="23282D"/>
                          </a:solidFill>
                          <a:latin typeface="Arial"/>
                          <a:ea typeface="Arial"/>
                          <a:cs typeface="Arial"/>
                        </a:rPr>
                        <a:t>2</a:t>
                      </a:r>
                    </a:p>
                  </a:txBody>
                  <a:tcPr>
                    <a:solidFill>
                      <a:srgbClr val="FFFFFF"/>
                    </a:solidFill>
                  </a:tcPr>
                </a:tc>
                <a:tc>
                  <a:txBody>
                    <a:bodyPr/>
                    <a:lstStyle/>
                    <a:p>
                      <a:r>
                        <a:rPr sz="1800" b="0">
                          <a:solidFill>
                            <a:srgbClr val="23282D"/>
                          </a:solidFill>
                          <a:latin typeface="Arial"/>
                          <a:ea typeface="Arial"/>
                          <a:cs typeface="Arial"/>
                        </a:rPr>
                        <a:t>300</a:t>
                      </a:r>
                    </a:p>
                  </a:txBody>
                  <a:tcPr>
                    <a:solidFill>
                      <a:srgbClr val="FFFFFF"/>
                    </a:solidFill>
                  </a:tcPr>
                </a:tc>
                <a:extLst>
                  <a:ext uri="{0D108BD9-81ED-4DB2-BD59-A6C34878D82A}">
                    <a16:rowId xmlns:a16="http://schemas.microsoft.com/office/drawing/2014/main" val="10002"/>
                  </a:ext>
                </a:extLst>
              </a:tr>
              <a:tr h="504825">
                <a:tc>
                  <a:txBody>
                    <a:bodyPr/>
                    <a:lstStyle/>
                    <a:p>
                      <a:r>
                        <a:rPr sz="1800" b="0">
                          <a:solidFill>
                            <a:srgbClr val="23282D"/>
                          </a:solidFill>
                          <a:latin typeface="Arial"/>
                          <a:ea typeface="Arial"/>
                          <a:cs typeface="Arial"/>
                        </a:rPr>
                        <a:t>3</a:t>
                      </a:r>
                    </a:p>
                  </a:txBody>
                  <a:tcPr>
                    <a:solidFill>
                      <a:srgbClr val="FFFFFF"/>
                    </a:solidFill>
                  </a:tcPr>
                </a:tc>
                <a:tc>
                  <a:txBody>
                    <a:bodyPr/>
                    <a:lstStyle/>
                    <a:p>
                      <a:r>
                        <a:rPr sz="1800" b="0">
                          <a:solidFill>
                            <a:srgbClr val="23282D"/>
                          </a:solidFill>
                          <a:latin typeface="Arial"/>
                          <a:ea typeface="Arial"/>
                          <a:cs typeface="Arial"/>
                        </a:rPr>
                        <a:t>450</a:t>
                      </a:r>
                    </a:p>
                  </a:txBody>
                  <a:tcPr>
                    <a:solidFill>
                      <a:srgbClr val="FFFFFF"/>
                    </a:solidFill>
                  </a:tcPr>
                </a:tc>
                <a:extLst>
                  <a:ext uri="{0D108BD9-81ED-4DB2-BD59-A6C34878D82A}">
                    <a16:rowId xmlns:a16="http://schemas.microsoft.com/office/drawing/2014/main" val="10003"/>
                  </a:ext>
                </a:extLst>
              </a:tr>
            </a:tbl>
          </a:graphicData>
        </a:graphic>
      </p:graphicFrame>
      <p:sp>
        <p:nvSpPr>
          <p:cNvPr id="14" name="Rectangle 13">
            <a:extLst>
              <a:ext uri="{FF2B5EF4-FFF2-40B4-BE49-F238E27FC236}">
                <a16:creationId xmlns:a16="http://schemas.microsoft.com/office/drawing/2014/main" id="{0693DB76-5F81-40DB-BFC5-24013C8C398F}"/>
              </a:ext>
            </a:extLst>
          </p:cNvPr>
          <p:cNvSpPr>
            <a:spLocks noGrp="1"/>
          </p:cNvSpPr>
          <p:nvPr/>
        </p:nvSpPr>
        <p:spPr>
          <a:xfrm>
            <a:off x="6743700" y="4581525"/>
            <a:ext cx="4667250" cy="933450"/>
          </a:xfrm>
          <a:prstGeom prst="rect">
            <a:avLst/>
          </a:prstGeom>
          <a:noFill/>
          <a:ln w="0">
            <a:noFill/>
          </a:ln>
        </p:spPr>
        <p:txBody>
          <a:bodyPr>
            <a:noAutofit/>
          </a:bodyPr>
          <a:lstStyle/>
          <a:p>
            <a:pPr>
              <a:defRPr sz="1875" b="1">
                <a:solidFill>
                  <a:srgbClr val="0070C0"/>
                </a:solidFill>
                <a:latin typeface="Arial"/>
                <a:ea typeface="Arial"/>
                <a:cs typeface="Arial"/>
              </a:defRPr>
            </a:pPr>
            <a:r>
              <a:rPr sz="1875" b="1">
                <a:solidFill>
                  <a:srgbClr val="0070C0"/>
                </a:solidFill>
                <a:latin typeface="Arial"/>
                <a:ea typeface="Arial"/>
                <a:cs typeface="Arial"/>
              </a:rPr>
              <a:t xml:space="preserve">450 miles takes 3 hours at 150 miles </a:t>
            </a:r>
            <a:r>
              <a:rPr sz="1875" b="1">
                <a:solidFill>
                  <a:srgbClr val="23282D"/>
                </a:solidFill>
                <a:highlight>
                  <a:srgbClr val="FFF2A8"/>
                </a:highlight>
                <a:latin typeface="Arial"/>
                <a:ea typeface="Arial"/>
                <a:cs typeface="Arial"/>
              </a:rPr>
              <a:t>per hour</a:t>
            </a:r>
            <a:r>
              <a:rPr sz="1875" b="1">
                <a:solidFill>
                  <a:srgbClr val="0070C0"/>
                </a:solidFill>
                <a:latin typeface="Arial"/>
                <a:ea typeface="Arial"/>
                <a:cs typeface="Arial"/>
              </a:rPr>
              <a:t>.</a:t>
            </a:r>
          </a:p>
        </p:txBody>
      </p:sp>
      <p:sp>
        <p:nvSpPr>
          <p:cNvPr id="28" name="Reference style 28"/>
          <p:cNvSpPr txBox="1"/>
          <p:nvPr/>
        </p:nvSpPr>
        <p:spPr>
          <a:xfrm>
            <a:off x="502920" y="54864"/>
            <a:ext cx="6035040" cy="237744"/>
          </a:xfrm>
          <a:prstGeom prst="rect">
            <a:avLst/>
          </a:prstGeom>
          <a:noFill/>
        </p:spPr>
        <p:txBody>
          <a:bodyPr wrap="square" lIns="0" rIns="0" tIns="0" bIns="0" anchor="ctr">
            <a:noAutofit/>
          </a:bodyPr>
          <a:lstStyle/>
          <a:p>
            <a:pPr algn="l"/>
            <a:r>
              <a:rPr lang="en-US" sz="1150" b="1" dirty="0">
                <a:solidFill>
                  <a:srgbClr val="1F2D74"/>
                </a:solidFill>
                <a:latin typeface="Arial"/>
              </a:rPr>
              <a:t>REVIEW NOTES  ·  RECALL • CONNECT • APPLY</a:t>
            </a:r>
            <a:r>
              <a:rPr lang="en-US" sz="1150" b="1" dirty="0">
                <a:solidFill>
                  <a:srgbClr val="1F2D74"/>
                </a:solidFill>
                <a:latin typeface="Arial"/>
              </a:rPr>
              <a:t xml:space="preserve"/>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Partner check: explain one idea without looking.</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24 / 40</a:t>
            </a:r>
          </a:p>
        </p:txBody>
      </p:sp>
    </p:spTree>
    <p:extLst>
      <p:ext uri="{BB962C8B-B14F-4D97-AF65-F5344CB8AC3E}">
        <p14:creationId xmlns:p14="http://schemas.microsoft.com/office/powerpoint/2010/main" val="20966564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4" name="Reference style 24">
            <a:extLst>
              <a:ext uri="{FF2B5EF4-FFF2-40B4-BE49-F238E27FC236}">
                <a16:creationId xmlns:a16="http://schemas.microsoft.com/office/drawing/2014/main" id="{DB6EED09-8B61-F64F-907D-F4B749DB901C}"/>
              </a:ext>
            </a:extLst>
          </p:cNvPr>
          <p:cNvPicPr>
            <a:picLocks noChangeAspect="1"/>
          </p:cNvPicPr>
          <p:nvPr userDrawn="1"/>
        </p:nvPicPr>
        <p:blipFill>
          <a:blip r:embed="rIdReferenceHeader323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2" name="TextBox 1"/>
          <p:cNvSpPr txBox="1"/>
          <p:nvPr/>
        </p:nvSpPr>
        <p:spPr>
          <a:xfrm>
            <a:off x="502920" y="310896"/>
            <a:ext cx="7315200" cy="502920"/>
          </a:xfrm>
          <a:prstGeom prst="rect">
            <a:avLst/>
          </a:prstGeom>
          <a:noFill/>
        </p:spPr>
        <p:txBody>
          <a:bodyPr wrap="square" lIns="0" tIns="0" rIns="0" bIns="0" anchor="t">
            <a:noAutofit/>
          </a:bodyPr>
          <a:lstStyle/>
          <a:p>
            <a:pPr algn="l" marL="0" indent="0">
              <a:buNone/>
            </a:pPr>
            <a:r>
              <a:rPr sz="2750" b="1">
                <a:solidFill>
                  <a:srgbClr val="782DA0"/>
                </a:solidFill>
                <a:latin typeface="Arial"/>
              </a:rPr>
              <a:t>Learning Target — Session 2</a:t>
            </a:r>
          </a:p>
        </p:txBody>
      </p:sp>
      <p:sp>
        <p:nvSpPr>
          <p:cNvPr id="3" name="TextBox 2"/>
          <p:cNvSpPr txBox="1"/>
          <p:nvPr/>
        </p:nvSpPr>
        <p:spPr>
          <a:xfrm>
            <a:off x="521207" y="877824"/>
            <a:ext cx="7680960" cy="274320"/>
          </a:xfrm>
          <a:prstGeom prst="rect">
            <a:avLst/>
          </a:prstGeom>
          <a:noFill/>
        </p:spPr>
        <p:txBody>
          <a:bodyPr wrap="square" lIns="0" tIns="0" rIns="0" bIns="0" anchor="t">
            <a:noAutofit/>
          </a:bodyPr>
          <a:lstStyle/>
          <a:p>
            <a:pPr algn="l" marL="0" indent="0">
              <a:buNone/>
            </a:pPr>
            <a:r>
              <a:rPr sz="1420" b="0">
                <a:solidFill>
                  <a:srgbClr val="5D6872"/>
                </a:solidFill>
                <a:latin typeface="Arial"/>
              </a:rPr>
              <a:t>Lesson 3-2 · Rates and Unit Rates  |  Maryland Standard 6.AT.2</a:t>
            </a:r>
          </a:p>
        </p:txBody>
      </p:sp>
      <p:sp>
        <p:nvSpPr>
          <p:cNvPr id="4"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LEARNING TARGET</a:t>
            </a:r>
            <a:r>
              <a:rPr lang="en-US" sz="1150" b="1" dirty="0">
                <a:solidFill>
                  <a:srgbClr val="2D3A40"/>
                </a:solidFill>
                <a:latin typeface="Arial"/>
              </a:rPr>
              <a:t xml:space="preserve">  ·  DIVIDE • COMPARE • JUSTIFY</a:t>
            </a:r>
          </a:p>
        </p:txBody>
      </p:sp>
      <p:sp>
        <p:nvSpPr>
          <p:cNvPr id="6" name="TextBox 5"/>
          <p:cNvSpPr txBox="1"/>
          <p:nvPr/>
        </p:nvSpPr>
        <p:spPr>
          <a:xfrm>
            <a:off x="521207" y="1207008"/>
            <a:ext cx="10881360" cy="438912"/>
          </a:xfrm>
          <a:prstGeom prst="rect">
            <a:avLst/>
          </a:prstGeom>
          <a:noFill/>
        </p:spPr>
        <p:txBody>
          <a:bodyPr wrap="square" lIns="0" tIns="0" rIns="0" bIns="0" anchor="t">
            <a:noAutofit/>
          </a:bodyPr>
          <a:lstStyle/>
          <a:p>
            <a:pPr algn="l" marL="0" indent="0">
              <a:buNone/>
            </a:pPr>
            <a:r>
              <a:rPr sz="1630" b="0">
                <a:solidFill>
                  <a:srgbClr val="5D6872"/>
                </a:solidFill>
                <a:latin typeface="Arial"/>
              </a:rPr>
              <a:t>Today I will find a cost for one day and use it to compare train passes.</a:t>
            </a:r>
          </a:p>
        </p:txBody>
      </p:sp>
      <p:sp>
        <p:nvSpPr>
          <p:cNvPr id="7"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CONTENT OBJECTIVE</a:t>
            </a:r>
          </a:p>
        </p:txBody>
      </p:sp>
      <p:sp>
        <p:nvSpPr>
          <p:cNvPr id="10" name="TextBox 9"/>
          <p:cNvSpPr txBox="1"/>
          <p:nvPr/>
        </p:nvSpPr>
        <p:spPr>
          <a:xfrm>
            <a:off x="667512" y="2212848"/>
            <a:ext cx="5111496" cy="1051560"/>
          </a:xfrm>
          <a:prstGeom prst="rect">
            <a:avLst/>
          </a:prstGeom>
          <a:noFill/>
        </p:spPr>
        <p:txBody>
          <a:bodyPr wrap="square" lIns="0" tIns="0" rIns="0" bIns="0" anchor="t">
            <a:noAutofit/>
          </a:bodyPr>
          <a:lstStyle/>
          <a:p>
            <a:pPr algn="l" marL="0" indent="0">
              <a:buNone/>
            </a:pPr>
            <a:r>
              <a:rPr sz="1900" b="1">
                <a:solidFill>
                  <a:srgbClr val="23282D"/>
                </a:solidFill>
                <a:latin typeface="Arial"/>
              </a:rPr>
              <a:t>I can find a unit price and compare the cost of train passes.</a:t>
            </a:r>
          </a:p>
        </p:txBody>
      </p:sp>
      <p:sp>
        <p:nvSpPr>
          <p:cNvPr id="11"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LANGUAGE OBJECTIVE</a:t>
            </a:r>
          </a:p>
        </p:txBody>
      </p:sp>
      <p:sp>
        <p:nvSpPr>
          <p:cNvPr id="14" name="TextBox 13"/>
          <p:cNvSpPr txBox="1"/>
          <p:nvPr/>
        </p:nvSpPr>
        <p:spPr>
          <a:xfrm>
            <a:off x="6345936" y="2212848"/>
            <a:ext cx="5102352" cy="1051560"/>
          </a:xfrm>
          <a:prstGeom prst="rect">
            <a:avLst/>
          </a:prstGeom>
          <a:noFill/>
        </p:spPr>
        <p:txBody>
          <a:bodyPr wrap="square" lIns="0" tIns="0" rIns="0" bIns="0" anchor="t">
            <a:noAutofit/>
          </a:bodyPr>
          <a:lstStyle/>
          <a:p>
            <a:pPr algn="l" marL="0" indent="0">
              <a:buNone/>
            </a:pPr>
            <a:r>
              <a:rPr sz="1900" b="1">
                <a:solidFill>
                  <a:srgbClr val="23282D"/>
                </a:solidFill>
                <a:latin typeface="Arial"/>
              </a:rPr>
              <a:t>I can explain a comparison using “cost per day” and “total cost.”</a:t>
            </a:r>
          </a:p>
        </p:txBody>
      </p:sp>
      <p:sp>
        <p:nvSpPr>
          <p:cNvPr id="15"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SUCCESS CHECK</a:t>
            </a:r>
          </a:p>
        </p:txBody>
      </p:sp>
      <p:sp>
        <p:nvSpPr>
          <p:cNvPr id="18" name="TextBox 17"/>
          <p:cNvSpPr txBox="1"/>
          <p:nvPr/>
        </p:nvSpPr>
        <p:spPr>
          <a:xfrm>
            <a:off x="667512" y="4023360"/>
            <a:ext cx="5111496" cy="1143000"/>
          </a:xfrm>
          <a:prstGeom prst="rect">
            <a:avLst/>
          </a:prstGeom>
          <a:noFill/>
        </p:spPr>
        <p:txBody>
          <a:bodyPr wrap="square" lIns="0" tIns="0" rIns="0" bIns="0" anchor="t">
            <a:noAutofit/>
          </a:bodyPr>
          <a:lstStyle/>
          <a:p>
            <a:pPr algn="l" marL="0" indent="0">
              <a:buNone/>
            </a:pPr>
            <a:r>
              <a:rPr sz="1900" b="0">
                <a:solidFill>
                  <a:srgbClr val="23282D"/>
                </a:solidFill>
                <a:latin typeface="Arial"/>
              </a:rPr>
              <a:t>✓ Find the cost for one day.</a:t>
            </a:r>
          </a:p>
          <a:p>
            <a:pPr algn="l" marL="0" indent="0">
              <a:buNone/>
            </a:pPr>
            <a:r>
              <a:rPr sz="1900" b="0">
                <a:solidFill>
                  <a:srgbClr val="23282D"/>
                </a:solidFill>
                <a:latin typeface="Arial"/>
              </a:rPr>
              <a:t>✓ Compare the same number of days.</a:t>
            </a:r>
          </a:p>
          <a:p>
            <a:pPr algn="l" marL="0" indent="0">
              <a:buNone/>
            </a:pPr>
            <a:r>
              <a:rPr sz="1900" b="0">
                <a:solidFill>
                  <a:srgbClr val="23282D"/>
                </a:solidFill>
                <a:latin typeface="Arial"/>
              </a:rPr>
              <a:t>✓ Explain which option costs less.</a:t>
            </a:r>
          </a:p>
        </p:txBody>
      </p:sp>
      <p:sp>
        <p:nvSpPr>
          <p:cNvPr id="19"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WHY THIS MATTERS</a:t>
            </a:r>
          </a:p>
        </p:txBody>
      </p:sp>
      <p:sp>
        <p:nvSpPr>
          <p:cNvPr id="22" name="TextBox 21"/>
          <p:cNvSpPr txBox="1"/>
          <p:nvPr/>
        </p:nvSpPr>
        <p:spPr>
          <a:xfrm>
            <a:off x="6345936" y="4023360"/>
            <a:ext cx="5102352" cy="1143000"/>
          </a:xfrm>
          <a:prstGeom prst="rect">
            <a:avLst/>
          </a:prstGeom>
          <a:noFill/>
        </p:spPr>
        <p:txBody>
          <a:bodyPr wrap="square" lIns="0" tIns="0" rIns="0" bIns="0" anchor="t">
            <a:noAutofit/>
          </a:bodyPr>
          <a:lstStyle/>
          <a:p>
            <a:pPr algn="l" marL="0" indent="0">
              <a:buNone/>
            </a:pPr>
            <a:r>
              <a:rPr sz="1900" b="0">
                <a:latin typeface="Arial"/>
              </a:rPr>
              <a:t>A lower unit price does not always mean a lower total cost for the amount we need.</a:t>
            </a:r>
          </a:p>
        </p:txBody>
      </p:sp>
      <p:sp>
        <p:nvSpPr>
          <p:cNvPr id="23"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marL="0" indent="0">
              <a:buNone/>
            </a:pPr>
            <a:r>
              <a:rPr sz="1400" b="1">
                <a:solidFill>
                  <a:srgbClr val="1E2682"/>
                </a:solidFill>
                <a:latin typeface="Arial"/>
              </a:rPr>
              <a:t>MATH COMMUNITY:  Different strategies are welcome  •  Ask before telling  •  Revise your thinking</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Tell a partner the new goal and how you will show it.</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40</a:t>
            </a:r>
          </a:p>
        </p:txBody>
      </p:sp>
    </p:spTree>
    <p:extLst>
      <p:ext uri="{BB962C8B-B14F-4D97-AF65-F5344CB8AC3E}">
        <p14:creationId xmlns:p14="http://schemas.microsoft.com/office/powerpoint/2010/main" val="1582796279"/>
      </p:ext>
    </p:extLst>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05" name="Google Shape;805;p8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06" name="Google Shape;806;p81"/>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807" name="Google Shape;807;p81"/>
          <p:cNvSpPr txBox="1"/>
          <p:nvPr/>
        </p:nvSpPr>
        <p:spPr>
          <a:xfrm>
            <a:off x="484560" y="936101"/>
            <a:ext cx="3078149" cy="57819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see?</a:t>
            </a:r>
            <a:br>
              <a:rPr b="0" i="0" lang="en-US" sz="2800" u="none" cap="none" strike="noStrike">
                <a:solidFill>
                  <a:srgbClr val="262626"/>
                </a:solidFill>
                <a:latin typeface="Arial"/>
                <a:ea typeface="Arial"/>
                <a:cs typeface="Arial"/>
                <a:sym typeface="Arial"/>
              </a:rPr>
            </a:br>
            <a:endParaRPr b="0" i="0" sz="2800" u="none" cap="none" strike="noStrike">
              <a:solidFill>
                <a:srgbClr val="262626"/>
              </a:solidFill>
              <a:latin typeface="Arial"/>
              <a:ea typeface="Arial"/>
              <a:cs typeface="Arial"/>
              <a:sym typeface="Arial"/>
            </a:endParaRPr>
          </a:p>
        </p:txBody>
      </p:sp>
      <p:pic>
        <p:nvPicPr>
          <p:cNvPr id="808" name="Google Shape;808;p81"/>
          <p:cNvPicPr preferRelativeResize="0"/>
          <p:nvPr/>
        </p:nvPicPr>
        <p:blipFill rotWithShape="1">
          <a:blip r:embed="rId2">
            <a:alphaModFix/>
          </a:blip>
          <a:srcRect b="0" l="0" r="0" t="0"/>
          <a:stretch/>
        </p:blipFill>
        <p:spPr>
          <a:xfrm>
            <a:off x="4995862" y="627174"/>
            <a:ext cx="2200275" cy="4076700"/>
          </a:xfrm>
          <a:prstGeom prst="rect">
            <a:avLst/>
          </a:prstGeom>
          <a:noFill/>
          <a:ln>
            <a:noFill/>
          </a:ln>
        </p:spPr>
      </p:pic>
      <p:pic>
        <p:nvPicPr>
          <p:cNvPr id="809" name="Google Shape;809;p81"/>
          <p:cNvPicPr preferRelativeResize="0"/>
          <p:nvPr/>
        </p:nvPicPr>
        <p:blipFill rotWithShape="1">
          <a:blip r:embed="rId3">
            <a:alphaModFix/>
          </a:blip>
          <a:srcRect b="0" l="0" r="0" t="0"/>
          <a:stretch/>
        </p:blipFill>
        <p:spPr>
          <a:xfrm>
            <a:off x="474055" y="5083700"/>
            <a:ext cx="5054600" cy="838200"/>
          </a:xfrm>
          <a:prstGeom prst="rect">
            <a:avLst/>
          </a:prstGeom>
          <a:noFill/>
          <a:ln>
            <a:noFill/>
          </a:ln>
        </p:spPr>
      </p:pic>
      <p:sp>
        <p:nvSpPr>
          <p:cNvPr id="810" name="Google Shape;810;p81"/>
          <p:cNvSpPr txBox="1"/>
          <p:nvPr/>
        </p:nvSpPr>
        <p:spPr>
          <a:xfrm>
            <a:off x="3334072" y="5241018"/>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811" name="Google Shape;811;p81"/>
          <p:cNvSpPr/>
          <p:nvPr/>
        </p:nvSpPr>
        <p:spPr>
          <a:xfrm>
            <a:off x="687251" y="5899023"/>
            <a:ext cx="7146766"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is success in math looking like for you?</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6111240" y="49560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pic>
        <p:nvPicPr>
          <p:cNvPr id="487" name="Reference style 487">
            <a:extLst>
              <a:ext uri="{FF2B5EF4-FFF2-40B4-BE49-F238E27FC236}">
                <a16:creationId xmlns:a16="http://schemas.microsoft.com/office/drawing/2014/main" id="{DB6EED09-8B61-F64F-907D-F4B749DB901C}"/>
              </a:ext>
            </a:extLst>
          </p:cNvPr>
          <p:cNvPicPr>
            <a:picLocks noChangeAspect="1"/>
          </p:cNvPicPr>
          <p:nvPr userDrawn="1"/>
        </p:nvPicPr>
        <p:blipFill>
          <a:blip r:embed="rIdReferenceHeader323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cxnSp>
        <p:nvCxnSpPr>
          <p:cNvPr id="477" name="Google Shape;477;p69"/>
          <p:cNvCxnSpPr/>
          <p:nvPr/>
        </p:nvCxnSpPr>
        <p:spPr>
          <a:xfrm>
            <a:off x="13164879" y="5911702"/>
            <a:ext cx="0" cy="0"/>
          </a:xfrm>
          <a:prstGeom prst="straightConnector1">
            <a:avLst/>
          </a:prstGeom>
          <a:noFill/>
          <a:ln w="9525" cap="flat" cmpd="sng">
            <a:solidFill>
              <a:schemeClr val="accent1"/>
            </a:solidFill>
            <a:prstDash val="solid"/>
            <a:miter lim="8000"/>
            <a:headEnd type="none" w="sm" len="sm"/>
            <a:tailEnd type="none" w="sm" len="sm"/>
          </a:ln>
        </p:spPr>
      </p:cxnSp>
      <p:sp>
        <p:nvSpPr>
          <p:cNvPr id="478" name="Google Shape;478;p69"/>
          <p:cNvSpPr txBox="1"/>
          <p:nvPr/>
        </p:nvSpPr>
        <p:spPr>
          <a:xfrm>
            <a:off x="484565" y="316034"/>
            <a:ext cx="6858000"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800"/>
              <a:buFont typeface="Arial"/>
              <a:buNone/>
            </a:pPr>
            <a:r>
              <a:rPr lang="en-US" sz="2800" b="1">
                <a:solidFill>
                  <a:srgbClr val="782DA0"/>
                </a:solidFill>
                <a:latin typeface="Arial"/>
                <a:ea typeface="Arial"/>
                <a:cs typeface="Arial"/>
                <a:sym typeface="Arial"/>
              </a:rPr>
              <a:t>Metro Train Pass Cost</a:t>
            </a:r>
            <a:endParaRPr/>
          </a:p>
        </p:txBody>
      </p:sp>
      <p:sp>
        <p:nvSpPr>
          <p:cNvPr id="479" name="Google Shape;479;p69"/>
          <p:cNvSpPr txBox="1"/>
          <p:nvPr/>
        </p:nvSpPr>
        <p:spPr>
          <a:xfrm>
            <a:off x="484565" y="936100"/>
            <a:ext cx="5611435" cy="509683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pPr>
            <a:r>
              <a:rPr lang="en-US" sz="2800">
                <a:solidFill>
                  <a:srgbClr val="23282D"/>
                </a:solidFill>
                <a:latin typeface="Arial"/>
                <a:ea typeface="Arial"/>
                <a:cs typeface="Arial"/>
                <a:sym typeface="Arial"/>
              </a:rPr>
              <a:t>Yelina will take the train into the city each day for one week.</a:t>
            </a:r>
            <a:endParaRPr/>
          </a:p>
          <a:p>
            <a:pPr marL="0" marR="0" lvl="0" indent="0" algn="l" rtl="0">
              <a:lnSpc>
                <a:spcPct val="100000"/>
              </a:lnSpc>
              <a:spcBef>
                <a:spcPts val="1800"/>
              </a:spcBef>
              <a:spcAft>
                <a:spcPts val="0"/>
              </a:spcAft>
              <a:buClr>
                <a:schemeClr val="dk2"/>
              </a:buClr>
              <a:buSzPts val="2800"/>
              <a:buFont typeface="Arial"/>
              <a:buNone/>
            </a:pPr>
            <a:endParaRPr sz="2800">
              <a:solidFill>
                <a:srgbClr val="262626"/>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pPr>
            <a:r>
              <a:rPr lang="en-US" sz="2800" b="1">
                <a:solidFill>
                  <a:srgbClr val="23282D"/>
                </a:solidFill>
                <a:latin typeface="Arial"/>
                <a:ea typeface="Arial"/>
                <a:cs typeface="Arial"/>
                <a:sym typeface="Arial"/>
              </a:rPr>
              <a:t>Which pass offers her the lower cost per day?</a:t>
            </a:r>
            <a:r>
              <a:rPr lang="en-US" sz="2800">
                <a:solidFill>
                  <a:srgbClr val="23282D"/>
                </a:solidFill>
                <a:latin typeface="Arial"/>
                <a:ea typeface="Arial"/>
                <a:cs typeface="Arial"/>
                <a:sym typeface="Arial"/>
              </a:rPr>
              <a:t xml:space="preserve"> </a:t>
            </a:r>
            <a:endParaRPr/>
          </a:p>
        </p:txBody>
      </p:sp>
      <p:pic>
        <p:nvPicPr>
          <p:cNvPr id="480" name="Google Shape;480;p69" descr="D:\Sujatha\Job\Epres_New\PPT\G6U3\sn_47fe6-360mp4\OPS\img\.assets\e066808edad244009dce5dfd1d5f999c\narm24_c10302_se_003a-dig.png"/>
          <p:cNvPicPr preferRelativeResize="0"/>
          <p:nvPr/>
        </p:nvPicPr>
        <p:blipFill rotWithShape="1">
          <a:blip r:embed="rId3">
            <a:alphaModFix/>
          </a:blip>
          <a:srcRect/>
          <a:stretch/>
        </p:blipFill>
        <p:spPr>
          <a:xfrm>
            <a:off x="6687582" y="1809000"/>
            <a:ext cx="5254055" cy="1620000"/>
          </a:xfrm>
          <a:prstGeom prst="rect">
            <a:avLst/>
          </a:prstGeom>
          <a:noFill/>
          <a:ln>
            <a:noFill/>
          </a:ln>
        </p:spPr>
      </p:pic>
      <p:sp>
        <p:nvSpPr>
          <p:cNvPr id="481" name="Reference style 481"/>
          <p:cNvSpPr txBox="1"/>
          <p:nvPr/>
        </p:nvSpPr>
        <p:spPr>
          <a:xfrm>
            <a:off x="502920" y="54864"/>
            <a:ext cx="6035040" cy="237744"/>
          </a:xfrm>
          <a:prstGeom prst="rect">
            <a:avLst/>
          </a:prstGeom>
          <a:noFill/>
        </p:spPr>
        <p:txBody>
          <a:bodyPr wrap="square" lIns="0" rIns="0" tIns="0" bIns="0" anchor="ctr">
            <a:noAutofit/>
          </a:bodyPr>
          <a:lstStyle/>
          <a:p>
            <a:pPr algn="l"/>
            <a:r>
              <a:rPr lang="en-US" sz="1200" b="1" dirty="0">
                <a:solidFill>
                  <a:srgbClr val="1E2682"/>
                </a:solidFill>
                <a:latin typeface="Arial"/>
              </a:rPr>
              <a:t>STUDENT MOVE</a:t>
            </a:r>
            <a:r>
              <a:rPr lang="en-US" sz="1200" b="1" dirty="0">
                <a:solidFill>
                  <a:srgbClr val="5D6872"/>
                </a:solidFill>
                <a:latin typeface="Arial"/>
              </a:rPr>
              <a:t xml:space="preserve">  ·  PREDICT • COMPARE COSTS</a:t>
            </a:r>
          </a:p>
        </p:txBody>
      </p:sp>
      <p:sp>
        <p:nvSpPr>
          <p:cNvPr id="483" name="Reference style 483"/>
          <p:cNvSpPr/>
          <p:nvPr/>
        </p:nvSpPr>
        <p:spPr>
          <a:xfrm>
            <a:off x="6858000" y="4114800"/>
            <a:ext cx="4663440" cy="1371600"/>
          </a:xfrm>
          <a:prstGeom prst="roundRect">
            <a:avLst/>
          </a:prstGeom>
          <a:solidFill>
            <a:srgbClr val="F1EC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4" name="Reference style 484"/>
          <p:cNvSpPr/>
          <p:nvPr/>
        </p:nvSpPr>
        <p:spPr>
          <a:xfrm>
            <a:off x="6858000" y="4114800"/>
            <a:ext cx="64008" cy="1371600"/>
          </a:xfrm>
          <a:prstGeom prst="rect">
            <a:avLst/>
          </a:prstGeom>
          <a:solidFill>
            <a:srgbClr val="7A2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5" name="Reference style 485"/>
          <p:cNvSpPr txBox="1"/>
          <p:nvPr/>
        </p:nvSpPr>
        <p:spPr>
          <a:xfrm>
            <a:off x="7022592" y="4224528"/>
            <a:ext cx="4370832" cy="201168"/>
          </a:xfrm>
          <a:prstGeom prst="rect">
            <a:avLst/>
          </a:prstGeom>
          <a:noFill/>
        </p:spPr>
        <p:txBody>
          <a:bodyPr wrap="square" lIns="0" tIns="0" rIns="0" bIns="0" anchor="t">
            <a:noAutofit/>
          </a:bodyPr>
          <a:lstStyle/>
          <a:p>
            <a:pPr algn="l" marL="0" indent="0">
              <a:buNone/>
            </a:pPr>
            <a:r>
              <a:rPr sz="1200" b="1">
                <a:solidFill>
                  <a:srgbClr val="782DA0"/>
                </a:solidFill>
                <a:latin typeface="Arial"/>
              </a:rPr>
              <a:t>TALK TOOL</a:t>
            </a:r>
          </a:p>
        </p:txBody>
      </p:sp>
      <p:sp>
        <p:nvSpPr>
          <p:cNvPr id="486" name="Reference style 486"/>
          <p:cNvSpPr txBox="1"/>
          <p:nvPr/>
        </p:nvSpPr>
        <p:spPr>
          <a:xfrm>
            <a:off x="7022592" y="4517136"/>
            <a:ext cx="4343400" cy="932688"/>
          </a:xfrm>
          <a:prstGeom prst="rect">
            <a:avLst/>
          </a:prstGeom>
          <a:noFill/>
        </p:spPr>
        <p:txBody>
          <a:bodyPr wrap="square" lIns="0" tIns="0" rIns="0" bIns="0" anchor="t">
            <a:noAutofit/>
          </a:bodyPr>
          <a:lstStyle/>
          <a:p>
            <a:pPr algn="l" marL="0" indent="0">
              <a:buNone/>
            </a:pPr>
            <a:r>
              <a:rPr sz="1600" b="0">
                <a:solidFill>
                  <a:srgbClr val="262C30"/>
                </a:solidFill>
                <a:latin typeface="Arial"/>
              </a:rPr>
              <a:t>“The ___-day pass costs $___ for one day because ___.”</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Compare strategies; defend one with evidence.</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40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4" name="Reference style 14">
            <a:extLst>
              <a:ext uri="{FF2B5EF4-FFF2-40B4-BE49-F238E27FC236}">
                <a16:creationId xmlns:a16="http://schemas.microsoft.com/office/drawing/2014/main" id="{DB6EED09-8B61-F64F-907D-F4B749DB901C}"/>
              </a:ext>
            </a:extLst>
          </p:cNvPr>
          <p:cNvPicPr>
            <a:picLocks noChangeAspect="1"/>
          </p:cNvPicPr>
          <p:nvPr userDrawn="1"/>
        </p:nvPicPr>
        <p:blipFill>
          <a:blip r:embed="rIdReferenceHeader323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7" name="Rectangle 6">
            <a:extLst>
              <a:ext uri="{FF2B5EF4-FFF2-40B4-BE49-F238E27FC236}">
                <a16:creationId xmlns:a16="http://schemas.microsoft.com/office/drawing/2014/main" id="{550FAEB9-B976-4A5B-9221-6E3DAD68942E}"/>
              </a:ext>
            </a:extLst>
          </p:cNvPr>
          <p:cNvSpPr>
            <a:spLocks noGrp="1"/>
          </p:cNvSpPr>
          <p:nvPr/>
        </p:nvSpPr>
        <p:spPr>
          <a:xfrm>
            <a:off x="523875" y="400050"/>
            <a:ext cx="6858000" cy="876300"/>
          </a:xfrm>
          <a:prstGeom prst="rect">
            <a:avLst/>
          </a:prstGeom>
          <a:noFill/>
          <a:ln w="0">
            <a:noFill/>
          </a:ln>
        </p:spPr>
        <p:txBody>
          <a:bodyPr>
            <a:noAutofit/>
          </a:bodyPr>
          <a:lstStyle/>
          <a:p>
            <a:pPr>
              <a:defRPr sz="2775" b="1">
                <a:solidFill>
                  <a:srgbClr val="782DA0"/>
                </a:solidFill>
                <a:latin typeface="Arial"/>
                <a:ea typeface="Arial"/>
                <a:cs typeface="Arial"/>
              </a:defRPr>
            </a:pPr>
            <a:r>
              <a:rPr sz="2800" b="1">
                <a:solidFill>
                  <a:srgbClr val="782DA0"/>
                </a:solidFill>
                <a:highlight>
                  <a:srgbClr val="FFF2A8"/>
                </a:highlight>
                <a:latin typeface="Arial"/>
                <a:ea typeface="Arial"/>
                <a:cs typeface="Arial"/>
              </a:rPr>
              <a:t>Unit price</a:t>
            </a:r>
            <a:r>
              <a:rPr sz="2800" b="1">
                <a:solidFill>
                  <a:srgbClr val="782DA0"/>
                </a:solidFill>
                <a:latin typeface="Arial"/>
                <a:ea typeface="Arial"/>
                <a:cs typeface="Arial"/>
              </a:rPr>
              <a:t>: cost for one day</a:t>
            </a:r>
          </a:p>
        </p:txBody>
      </p:sp>
      <p:sp>
        <p:nvSpPr>
          <p:cNvPr id="2" name="Rectangle 1">
            <a:extLst>
              <a:ext uri="{FF2B5EF4-FFF2-40B4-BE49-F238E27FC236}">
                <a16:creationId xmlns:a16="http://schemas.microsoft.com/office/drawing/2014/main" id="{2EDECC58-7744-40F5-A41E-1484D7D10DB9}"/>
              </a:ext>
            </a:extLst>
          </p:cNvPr>
          <p:cNvSpPr>
            <a:spLocks noGrp="1"/>
          </p:cNvSpPr>
          <p:nvPr/>
        </p:nvSpPr>
        <p:spPr>
          <a:xfrm>
            <a:off x="552450" y="1619250"/>
            <a:ext cx="5286375" cy="1066800"/>
          </a:xfrm>
          <a:prstGeom prst="rect">
            <a:avLst/>
          </a:prstGeom>
          <a:noFill/>
          <a:ln w="0">
            <a:noFill/>
          </a:ln>
        </p:spPr>
        <p:txBody>
          <a:bodyPr>
            <a:noAutofit/>
          </a:bodyPr>
          <a:lstStyle/>
          <a:p>
            <a:pPr>
              <a:defRPr sz="2250" b="0">
                <a:solidFill>
                  <a:srgbClr val="23282D"/>
                </a:solidFill>
                <a:latin typeface="Arial"/>
                <a:ea typeface="Arial"/>
                <a:cs typeface="Arial"/>
              </a:defRPr>
            </a:pPr>
            <a:r>
              <a:rPr sz="2250" b="1">
                <a:solidFill>
                  <a:srgbClr val="23282D"/>
                </a:solidFill>
                <a:highlight>
                  <a:srgbClr val="FFF2A8"/>
                </a:highlight>
                <a:latin typeface="Arial"/>
                <a:ea typeface="Arial"/>
                <a:cs typeface="Arial"/>
              </a:rPr>
              <a:t>Unit price</a:t>
            </a:r>
            <a:r>
              <a:rPr sz="2250" b="0">
                <a:solidFill>
                  <a:srgbClr val="23282D"/>
                </a:solidFill>
                <a:latin typeface="Arial"/>
                <a:ea typeface="Arial"/>
                <a:cs typeface="Arial"/>
              </a:rPr>
              <a:t xml:space="preserve"> is the cost for 1 item or unit.</a:t>
            </a:r>
          </a:p>
        </p:txBody>
      </p:sp>
      <p:sp>
        <p:nvSpPr>
          <p:cNvPr id="3" name="Rectangle 2">
            <a:extLst>
              <a:ext uri="{FF2B5EF4-FFF2-40B4-BE49-F238E27FC236}">
                <a16:creationId xmlns:a16="http://schemas.microsoft.com/office/drawing/2014/main" id="{629CDC1C-138C-4160-A761-7B99E721893B}"/>
              </a:ext>
            </a:extLst>
          </p:cNvPr>
          <p:cNvSpPr>
            <a:spLocks noGrp="1"/>
          </p:cNvSpPr>
          <p:nvPr/>
        </p:nvSpPr>
        <p:spPr>
          <a:xfrm>
            <a:off x="552450" y="2819400"/>
            <a:ext cx="5286375" cy="1066800"/>
          </a:xfrm>
          <a:prstGeom prst="rect">
            <a:avLst/>
          </a:prstGeom>
          <a:noFill/>
          <a:ln w="0">
            <a:noFill/>
          </a:ln>
        </p:spPr>
        <p:txBody>
          <a:bodyPr>
            <a:noAutofit/>
          </a:bodyPr>
          <a:lstStyle/>
          <a:p>
            <a:pPr>
              <a:defRPr sz="2250" b="0">
                <a:solidFill>
                  <a:srgbClr val="23282D"/>
                </a:solidFill>
                <a:latin typeface="Arial"/>
                <a:ea typeface="Arial"/>
                <a:cs typeface="Arial"/>
              </a:defRPr>
            </a:pPr>
            <a:r>
              <a:rPr sz="2250" b="0">
                <a:solidFill>
                  <a:srgbClr val="23282D"/>
                </a:solidFill>
                <a:latin typeface="Arial"/>
                <a:ea typeface="Arial"/>
                <a:cs typeface="Arial"/>
              </a:rPr>
              <a:t>Divide the total cost by the number of days.</a:t>
            </a:r>
          </a:p>
        </p:txBody>
      </p:sp>
      <p:sp>
        <p:nvSpPr>
          <p:cNvPr id="4" name="Rectangle 3">
            <a:extLst>
              <a:ext uri="{FF2B5EF4-FFF2-40B4-BE49-F238E27FC236}">
                <a16:creationId xmlns:a16="http://schemas.microsoft.com/office/drawing/2014/main" id="{C9B5E9C0-1977-4E13-8DF3-7AF688002B88}"/>
              </a:ext>
            </a:extLst>
          </p:cNvPr>
          <p:cNvSpPr>
            <a:spLocks noGrp="1"/>
          </p:cNvSpPr>
          <p:nvPr/>
        </p:nvSpPr>
        <p:spPr>
          <a:xfrm>
            <a:off x="552450" y="4019550"/>
            <a:ext cx="5286375" cy="1066800"/>
          </a:xfrm>
          <a:prstGeom prst="rect">
            <a:avLst/>
          </a:prstGeom>
          <a:noFill/>
          <a:ln w="0">
            <a:noFill/>
          </a:ln>
        </p:spPr>
        <p:txBody>
          <a:bodyPr>
            <a:noAutofit/>
          </a:bodyPr>
          <a:lstStyle/>
          <a:p>
            <a:pPr>
              <a:defRPr sz="2250" b="0">
                <a:solidFill>
                  <a:srgbClr val="23282D"/>
                </a:solidFill>
                <a:latin typeface="Arial"/>
                <a:ea typeface="Arial"/>
                <a:cs typeface="Arial"/>
              </a:defRPr>
            </a:pPr>
            <a:r>
              <a:rPr sz="2250" b="0">
                <a:solidFill>
                  <a:srgbClr val="23282D"/>
                </a:solidFill>
                <a:latin typeface="Arial"/>
                <a:ea typeface="Arial"/>
                <a:cs typeface="Arial"/>
              </a:rPr>
              <a:t>Compare both passes in dollars per day.</a:t>
            </a:r>
          </a:p>
        </p:txBody>
      </p:sp>
      <p:graphicFrame>
        <p:nvGraphicFramePr>
          <p:cNvPr id="11" name="Table 10"/>
          <p:cNvGraphicFramePr/>
          <p:nvPr/>
        </p:nvGraphicFramePr>
        <p:xfrm>
          <a:off x="6210300" y="1809750"/>
          <a:ext cx="5410200" cy="1885950"/>
        </p:xfrm>
        <a:graphic>
          <a:graphicData uri="http://schemas.openxmlformats.org/drawingml/2006/table">
            <a:tbl>
              <a:tblPr/>
              <a:tblGrid>
                <a:gridCol w="2705100">
                  <a:extLst>
                    <a:ext uri="{9D8B030D-6E8A-4147-A177-3AD203B41FA5}">
                      <a16:colId xmlns:a16="http://schemas.microsoft.com/office/drawing/2014/main" val="20000"/>
                    </a:ext>
                  </a:extLst>
                </a:gridCol>
                <a:gridCol w="2705100">
                  <a:extLst>
                    <a:ext uri="{9D8B030D-6E8A-4147-A177-3AD203B41FA5}">
                      <a16:colId xmlns:a16="http://schemas.microsoft.com/office/drawing/2014/main" val="20001"/>
                    </a:ext>
                  </a:extLst>
                </a:gridCol>
              </a:tblGrid>
              <a:tr h="628650">
                <a:tc>
                  <a:txBody>
                    <a:bodyPr/>
                    <a:lstStyle/>
                    <a:p>
                      <a:r>
                        <a:rPr sz="1875" b="1">
                          <a:solidFill>
                            <a:srgbClr val="FFFFFF"/>
                          </a:solidFill>
                          <a:latin typeface="Arial"/>
                          <a:ea typeface="Arial"/>
                          <a:cs typeface="Arial"/>
                        </a:rPr>
                        <a:t>Pass</a:t>
                      </a:r>
                    </a:p>
                  </a:txBody>
                  <a:tcPr>
                    <a:solidFill>
                      <a:srgbClr val="0070C0"/>
                    </a:solidFill>
                  </a:tcPr>
                </a:tc>
                <a:tc>
                  <a:txBody>
                    <a:bodyPr/>
                    <a:lstStyle/>
                    <a:p>
                      <a:r>
                        <a:rPr sz="1875" b="1">
                          <a:solidFill>
                            <a:srgbClr val="FFFFFF"/>
                          </a:solidFill>
                          <a:latin typeface="Arial"/>
                          <a:ea typeface="Arial"/>
                          <a:cs typeface="Arial"/>
                        </a:rPr>
                        <a:t>Cost per day</a:t>
                      </a:r>
                    </a:p>
                  </a:txBody>
                  <a:tcPr>
                    <a:solidFill>
                      <a:srgbClr val="0070C0"/>
                    </a:solidFill>
                  </a:tcPr>
                </a:tc>
                <a:extLst>
                  <a:ext uri="{0D108BD9-81ED-4DB2-BD59-A6C34878D82A}">
                    <a16:rowId xmlns:a16="http://schemas.microsoft.com/office/drawing/2014/main" val="10000"/>
                  </a:ext>
                </a:extLst>
              </a:tr>
              <a:tr h="628650">
                <a:tc>
                  <a:txBody>
                    <a:bodyPr/>
                    <a:lstStyle/>
                    <a:p>
                      <a:r>
                        <a:rPr sz="1875" b="0">
                          <a:solidFill>
                            <a:srgbClr val="23282D"/>
                          </a:solidFill>
                          <a:latin typeface="Arial"/>
                          <a:ea typeface="Arial"/>
                          <a:cs typeface="Arial"/>
                        </a:rPr>
                        <a:t>1 day: $6.25</a:t>
                      </a:r>
                    </a:p>
                  </a:txBody>
                  <a:tcPr>
                    <a:solidFill>
                      <a:srgbClr val="FFFFFF"/>
                    </a:solidFill>
                  </a:tcPr>
                </a:tc>
                <a:tc>
                  <a:txBody>
                    <a:bodyPr/>
                    <a:lstStyle/>
                    <a:p>
                      <a:r>
                        <a:rPr sz="1875" b="0">
                          <a:solidFill>
                            <a:srgbClr val="23282D"/>
                          </a:solidFill>
                          <a:latin typeface="Arial"/>
                          <a:ea typeface="Arial"/>
                          <a:cs typeface="Arial"/>
                        </a:rPr>
                        <a:t>$6.25 ÷ 1 = $6.25</a:t>
                      </a:r>
                    </a:p>
                  </a:txBody>
                  <a:tcPr>
                    <a:solidFill>
                      <a:srgbClr val="FFFFFF"/>
                    </a:solidFill>
                  </a:tcPr>
                </a:tc>
                <a:extLst>
                  <a:ext uri="{0D108BD9-81ED-4DB2-BD59-A6C34878D82A}">
                    <a16:rowId xmlns:a16="http://schemas.microsoft.com/office/drawing/2014/main" val="10001"/>
                  </a:ext>
                </a:extLst>
              </a:tr>
              <a:tr h="628650">
                <a:tc>
                  <a:txBody>
                    <a:bodyPr/>
                    <a:lstStyle/>
                    <a:p>
                      <a:r>
                        <a:rPr sz="1875" b="0">
                          <a:solidFill>
                            <a:srgbClr val="23282D"/>
                          </a:solidFill>
                          <a:latin typeface="Arial"/>
                          <a:ea typeface="Arial"/>
                          <a:cs typeface="Arial"/>
                        </a:rPr>
                        <a:t>7 days: $35</a:t>
                      </a:r>
                    </a:p>
                  </a:txBody>
                  <a:tcPr>
                    <a:solidFill>
                      <a:srgbClr val="FFFFFF"/>
                    </a:solidFill>
                  </a:tcPr>
                </a:tc>
                <a:tc>
                  <a:txBody>
                    <a:bodyPr/>
                    <a:lstStyle/>
                    <a:p>
                      <a:r>
                        <a:rPr sz="1875" b="0">
                          <a:solidFill>
                            <a:srgbClr val="23282D"/>
                          </a:solidFill>
                          <a:latin typeface="Arial"/>
                          <a:ea typeface="Arial"/>
                          <a:cs typeface="Arial"/>
                        </a:rPr>
                        <a:t>$35 ÷ 7 = $5</a:t>
                      </a:r>
                    </a:p>
                  </a:txBody>
                  <a:tcPr>
                    <a:solidFill>
                      <a:srgbClr val="FFFFFF"/>
                    </a:solidFill>
                  </a:tcPr>
                </a:tc>
                <a:extLst>
                  <a:ext uri="{0D108BD9-81ED-4DB2-BD59-A6C34878D82A}">
                    <a16:rowId xmlns:a16="http://schemas.microsoft.com/office/drawing/2014/main" val="10002"/>
                  </a:ext>
                </a:extLst>
              </a:tr>
            </a:tbl>
          </a:graphicData>
        </a:graphic>
      </p:graphicFrame>
      <p:sp>
        <p:nvSpPr>
          <p:cNvPr id="6" name="Rectangle 5">
            <a:extLst>
              <a:ext uri="{FF2B5EF4-FFF2-40B4-BE49-F238E27FC236}">
                <a16:creationId xmlns:a16="http://schemas.microsoft.com/office/drawing/2014/main" id="{D311C132-0AEF-4644-93FF-7B89F678A8CD}"/>
              </a:ext>
            </a:extLst>
          </p:cNvPr>
          <p:cNvSpPr>
            <a:spLocks noGrp="1"/>
          </p:cNvSpPr>
          <p:nvPr/>
        </p:nvSpPr>
        <p:spPr>
          <a:xfrm>
            <a:off x="552450" y="5553075"/>
            <a:ext cx="10858500" cy="742950"/>
          </a:xfrm>
          <a:prstGeom prst="rect">
            <a:avLst/>
          </a:prstGeom>
          <a:noFill/>
          <a:ln w="0">
            <a:noFill/>
          </a:ln>
        </p:spPr>
        <p:txBody>
          <a:bodyPr>
            <a:noAutofit/>
          </a:bodyPr>
          <a:lstStyle/>
          <a:p>
            <a:pPr marL="0" indent="0">
              <a:defRPr sz="2100" b="1">
                <a:solidFill>
                  <a:srgbClr val="0068A8"/>
                </a:solidFill>
                <a:latin typeface="Arial"/>
                <a:ea typeface="Arial"/>
                <a:cs typeface="Arial"/>
              </a:defRPr>
              <a:buNone/>
            </a:pPr>
            <a:r>
              <a:rPr sz="1800" b="1">
                <a:solidFill>
                  <a:srgbClr val="0068A8"/>
                </a:solidFill>
                <a:latin typeface="Arial"/>
                <a:ea typeface="Arial"/>
                <a:cs typeface="Arial"/>
              </a:rPr>
              <a:t>Explain: “$35 ÷ 7 = $5 per day. This is $1.25 less per day if all 7 days are used.”</a:t>
            </a:r>
          </a:p>
        </p:txBody>
      </p:sp>
      <p:sp>
        <p:nvSpPr>
          <p:cNvPr id="12" name="Reference style 12"/>
          <p:cNvSpPr txBox="1"/>
          <p:nvPr/>
        </p:nvSpPr>
        <p:spPr>
          <a:xfrm>
            <a:off x="502920" y="54864"/>
            <a:ext cx="6035040" cy="237744"/>
          </a:xfrm>
          <a:prstGeom prst="rect">
            <a:avLst/>
          </a:prstGeom>
          <a:noFill/>
        </p:spPr>
        <p:txBody>
          <a:bodyPr wrap="square" lIns="0" rIns="0" tIns="0" bIns="0" anchor="ctr">
            <a:noAutofit/>
          </a:bodyPr>
          <a:lstStyle/>
          <a:p>
            <a:pPr algn="l"/>
            <a:r>
              <a:rPr lang="en-US" sz="1200" b="1" dirty="0">
                <a:solidFill>
                  <a:srgbClr val="1E2682"/>
                </a:solidFill>
                <a:latin typeface="Arial"/>
              </a:rPr>
              <a:t>STUDENT MOVE</a:t>
            </a:r>
            <a:r>
              <a:rPr lang="en-US" sz="1200" b="1" dirty="0">
                <a:solidFill>
                  <a:srgbClr val="5D6872"/>
                </a:solidFill>
                <a:latin typeface="Arial"/>
              </a:rPr>
              <a:t xml:space="preserve">  ·  DIVIDE • LABEL • COMPARE</a:t>
            </a:r>
          </a:p>
        </p:txBody>
      </p:sp>
      <p:sp>
        <p:nvSpPr>
          <p:cNvPr id="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40</a:t>
            </a:r>
          </a:p>
        </p:txBody>
      </p:sp>
      <p:sp xmlns:p="http://schemas.openxmlformats.org/presentationml/2006/main" xmlns:a="http://schemas.openxmlformats.org/drawingml/2006/main">
        <p:nvSpPr>
          <p:cNvPr id="16" name="TEACH-embedded-student-prompt" descr="Student thinking and response directions"/>
          <p:cNvSpPr txBox="1"/>
          <p:nvPr/>
        </p:nvSpPr>
        <p:spPr>
          <a:xfrm>
            <a:off x="6111240" y="45902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a:t>
            </a:r>
            <a:endParaRPr lang="en-US" sz="2000"/>
          </a:p>
          <a:p>
            <a:pPr>
              <a:lnSpc>
                <a:spcPts val="2400"/>
              </a:lnSpc>
              <a:buNone/>
            </a:pPr>
            <a:r>
              <a:rPr lang="en-US" sz="2000">
                <a:solidFill>
                  <a:srgbClr val="174D60"/>
                </a:solidFill>
                <a:latin typeface="Arial"/>
              </a:rPr>
              <a:t>work supports your answer?</a:t>
            </a:r>
            <a:endParaRPr lang="en-US" sz="2000"/>
          </a:p>
        </p:txBody>
      </p:sp>
    </p:spTree>
    <p:extLst>
      <p:ext uri="{BB962C8B-B14F-4D97-AF65-F5344CB8AC3E}">
        <p14:creationId xmlns:p14="http://schemas.microsoft.com/office/powerpoint/2010/main" val="17963611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pic>
        <p:nvPicPr>
          <p:cNvPr id="613" name="Reference style 613">
            <a:extLst>
              <a:ext uri="{FF2B5EF4-FFF2-40B4-BE49-F238E27FC236}">
                <a16:creationId xmlns:a16="http://schemas.microsoft.com/office/drawing/2014/main" id="{DB6EED09-8B61-F64F-907D-F4B749DB901C}"/>
              </a:ext>
            </a:extLst>
          </p:cNvPr>
          <p:cNvPicPr>
            <a:picLocks noChangeAspect="1"/>
          </p:cNvPicPr>
          <p:nvPr userDrawn="1"/>
        </p:nvPicPr>
        <p:blipFill>
          <a:blip r:embed="rIdReferenceHeader323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cxnSp>
        <p:nvCxnSpPr>
          <p:cNvPr id="604" name="Google Shape;604;p84"/>
          <p:cNvCxnSpPr/>
          <p:nvPr/>
        </p:nvCxnSpPr>
        <p:spPr>
          <a:xfrm>
            <a:off x="13164879" y="5911702"/>
            <a:ext cx="0" cy="0"/>
          </a:xfrm>
          <a:prstGeom prst="straightConnector1">
            <a:avLst/>
          </a:prstGeom>
          <a:noFill/>
          <a:ln w="9525" cap="flat" cmpd="sng">
            <a:solidFill>
              <a:schemeClr val="accent1"/>
            </a:solidFill>
            <a:prstDash val="solid"/>
            <a:miter lim="8000"/>
            <a:headEnd type="none" w="sm" len="sm"/>
            <a:tailEnd type="none" w="sm" len="sm"/>
          </a:ln>
        </p:spPr>
      </p:cxnSp>
      <p:sp>
        <p:nvSpPr>
          <p:cNvPr id="605" name="Google Shape;605;p84"/>
          <p:cNvSpPr txBox="1"/>
          <p:nvPr/>
        </p:nvSpPr>
        <p:spPr>
          <a:xfrm>
            <a:off x="432806" y="480601"/>
            <a:ext cx="8160671" cy="273705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pPr>
            <a:r>
              <a:rPr lang="en-US" sz="2800">
                <a:solidFill>
                  <a:srgbClr val="23282D"/>
                </a:solidFill>
                <a:latin typeface="Arial"/>
                <a:ea typeface="Arial"/>
                <a:cs typeface="Arial"/>
                <a:sym typeface="Arial"/>
              </a:rPr>
              <a:t>The 7-day pass costs $35 for every 7 days.</a:t>
            </a:r>
            <a:endParaRPr/>
          </a:p>
          <a:p>
            <a:pPr marL="0" marR="0" lvl="0" indent="0" algn="l" rtl="0">
              <a:lnSpc>
                <a:spcPct val="100000"/>
              </a:lnSpc>
              <a:spcBef>
                <a:spcPts val="1800"/>
              </a:spcBef>
              <a:spcAft>
                <a:spcPts val="0"/>
              </a:spcAft>
              <a:buClr>
                <a:srgbClr val="262626"/>
              </a:buClr>
              <a:buSzPts val="2800"/>
              <a:buFont typeface="Arial"/>
              <a:buNone/>
            </a:pPr>
            <a:r>
              <a:rPr lang="en-US" sz="2800">
                <a:solidFill>
                  <a:srgbClr val="23282D"/>
                </a:solidFill>
                <a:latin typeface="Arial"/>
                <a:ea typeface="Arial"/>
                <a:cs typeface="Arial"/>
                <a:sym typeface="Arial"/>
              </a:rPr>
              <a:t xml:space="preserve">We can label the cost number line with intervals </a:t>
            </a:r>
            <a:br>
              <a:rPr lang="en-US" sz="2800">
                <a:solidFill>
                  <a:srgbClr val="23282D"/>
                </a:solidFill>
                <a:latin typeface="Arial"/>
                <a:ea typeface="Arial"/>
                <a:cs typeface="Arial"/>
                <a:sym typeface="Arial"/>
              </a:rPr>
            </a:br>
            <a:r>
              <a:rPr lang="en-US" sz="2800">
                <a:solidFill>
                  <a:srgbClr val="23282D"/>
                </a:solidFill>
                <a:latin typeface="Arial"/>
                <a:ea typeface="Arial"/>
                <a:cs typeface="Arial"/>
                <a:sym typeface="Arial"/>
              </a:rPr>
              <a:t>of 5 and the days number line with intervals of 1.</a:t>
            </a:r>
            <a:endParaRPr/>
          </a:p>
          <a:p>
            <a:pPr marL="0" marR="0" lvl="0" indent="0" algn="l" rtl="0">
              <a:lnSpc>
                <a:spcPct val="100000"/>
              </a:lnSpc>
              <a:spcBef>
                <a:spcPts val="1800"/>
              </a:spcBef>
              <a:spcAft>
                <a:spcPts val="0"/>
              </a:spcAft>
              <a:buClr>
                <a:srgbClr val="262626"/>
              </a:buClr>
              <a:buSzPts val="2800"/>
              <a:buFont typeface="Arial"/>
              <a:buNone/>
            </a:pPr>
            <a:r>
              <a:rPr lang="en-US" sz="2800">
                <a:solidFill>
                  <a:srgbClr val="23282D"/>
                </a:solidFill>
                <a:latin typeface="Arial"/>
                <a:ea typeface="Arial"/>
                <a:cs typeface="Arial"/>
                <a:sym typeface="Arial"/>
              </a:rPr>
              <a:t>The double number line shows that the cost per day for a 7-day pass is $5.</a:t>
            </a:r>
            <a:endParaRPr/>
          </a:p>
          <a:p>
            <a:pPr marL="0" marR="0" lvl="0" indent="0" algn="l" rtl="0">
              <a:lnSpc>
                <a:spcPct val="100000"/>
              </a:lnSpc>
              <a:spcBef>
                <a:spcPts val="1800"/>
              </a:spcBef>
              <a:spcAft>
                <a:spcPts val="0"/>
              </a:spcAft>
              <a:buClr>
                <a:schemeClr val="dk2"/>
              </a:buClr>
              <a:buSzPts val="2800"/>
              <a:buFont typeface="Arial"/>
              <a:buNone/>
            </a:pPr>
            <a:endParaRPr sz="2800">
              <a:solidFill>
                <a:srgbClr val="262626"/>
              </a:solidFill>
              <a:latin typeface="Arial"/>
              <a:ea typeface="Arial"/>
              <a:cs typeface="Arial"/>
              <a:sym typeface="Arial"/>
            </a:endParaRPr>
          </a:p>
          <a:p>
            <a:pPr marL="0" marR="0" lvl="0" indent="0" algn="l" rtl="0">
              <a:lnSpc>
                <a:spcPct val="100000"/>
              </a:lnSpc>
              <a:spcBef>
                <a:spcPts val="1800"/>
              </a:spcBef>
              <a:spcAft>
                <a:spcPts val="0"/>
              </a:spcAft>
              <a:buClr>
                <a:schemeClr val="dk2"/>
              </a:buClr>
              <a:buSzPts val="2800"/>
              <a:buFont typeface="Arial"/>
              <a:buNone/>
            </a:pPr>
            <a:endParaRPr sz="2800">
              <a:solidFill>
                <a:srgbClr val="262626"/>
              </a:solidFill>
              <a:latin typeface="Arial"/>
              <a:ea typeface="Arial"/>
              <a:cs typeface="Arial"/>
              <a:sym typeface="Arial"/>
            </a:endParaRPr>
          </a:p>
        </p:txBody>
      </p:sp>
      <p:pic>
        <p:nvPicPr>
          <p:cNvPr id="606" name="Google Shape;606;p84" descr="C:\Users\Admin\Downloads\cf861a4fc78b62203e3eee5af4.png"/>
          <p:cNvPicPr preferRelativeResize="0"/>
          <p:nvPr/>
        </p:nvPicPr>
        <p:blipFill rotWithShape="1">
          <a:blip r:embed="rId3">
            <a:alphaModFix/>
          </a:blip>
          <a:srcRect/>
          <a:stretch/>
        </p:blipFill>
        <p:spPr>
          <a:xfrm>
            <a:off x="2704369" y="3429000"/>
            <a:ext cx="4623679" cy="1908000"/>
          </a:xfrm>
          <a:prstGeom prst="rect">
            <a:avLst/>
          </a:prstGeom>
          <a:noFill/>
          <a:ln>
            <a:noFill/>
          </a:ln>
        </p:spPr>
      </p:pic>
      <p:sp>
        <p:nvSpPr>
          <p:cNvPr id="607" name="Reference style 607"/>
          <p:cNvSpPr txBox="1"/>
          <p:nvPr/>
        </p:nvSpPr>
        <p:spPr>
          <a:xfrm>
            <a:off x="502920" y="54864"/>
            <a:ext cx="6035040" cy="237744"/>
          </a:xfrm>
          <a:prstGeom prst="rect">
            <a:avLst/>
          </a:prstGeom>
          <a:noFill/>
        </p:spPr>
        <p:txBody>
          <a:bodyPr wrap="square" lIns="0" rIns="0" tIns="0" bIns="0" anchor="ctr">
            <a:noAutofit/>
          </a:bodyPr>
          <a:lstStyle/>
          <a:p>
            <a:pPr algn="l"/>
            <a:r>
              <a:rPr lang="en-US" sz="1200" b="1" dirty="0">
                <a:solidFill>
                  <a:srgbClr val="1E2682"/>
                </a:solidFill>
                <a:latin typeface="Arial"/>
              </a:rPr>
              <a:t>STUDENT MOVE</a:t>
            </a:r>
            <a:r>
              <a:rPr lang="en-US" sz="1200" b="1" dirty="0">
                <a:solidFill>
                  <a:srgbClr val="5D6872"/>
                </a:solidFill>
                <a:latin typeface="Arial"/>
              </a:rPr>
              <a:t xml:space="preserve">  ·  READ THE MODEL • EXPLAIN</a:t>
            </a:r>
          </a:p>
        </p:txBody>
      </p:sp>
      <p:sp>
        <p:nvSpPr>
          <p:cNvPr id="609" name="Reference style 609"/>
          <p:cNvSpPr/>
          <p:nvPr/>
        </p:nvSpPr>
        <p:spPr>
          <a:xfrm>
            <a:off x="7818120" y="3749040"/>
            <a:ext cx="3794760" cy="1600200"/>
          </a:xfrm>
          <a:prstGeom prst="roundRect">
            <a:avLst/>
          </a:prstGeom>
          <a:solidFill>
            <a:srgbClr val="F1EC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0" name="Reference style 610"/>
          <p:cNvSpPr/>
          <p:nvPr/>
        </p:nvSpPr>
        <p:spPr>
          <a:xfrm>
            <a:off x="7818120" y="3749040"/>
            <a:ext cx="64008" cy="1600200"/>
          </a:xfrm>
          <a:prstGeom prst="rect">
            <a:avLst/>
          </a:prstGeom>
          <a:solidFill>
            <a:srgbClr val="7A2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1" name="Reference style 611"/>
          <p:cNvSpPr txBox="1"/>
          <p:nvPr/>
        </p:nvSpPr>
        <p:spPr>
          <a:xfrm>
            <a:off x="7982712" y="3858768"/>
            <a:ext cx="3502152" cy="201168"/>
          </a:xfrm>
          <a:prstGeom prst="rect">
            <a:avLst/>
          </a:prstGeom>
          <a:noFill/>
        </p:spPr>
        <p:txBody>
          <a:bodyPr wrap="square" lIns="0" tIns="0" rIns="0" bIns="0" anchor="t">
            <a:noAutofit/>
          </a:bodyPr>
          <a:lstStyle/>
          <a:p>
            <a:pPr algn="l" marL="0" indent="0">
              <a:buNone/>
            </a:pPr>
            <a:r>
              <a:rPr sz="1200" b="1">
                <a:solidFill>
                  <a:srgbClr val="782DA0"/>
                </a:solidFill>
                <a:latin typeface="Arial"/>
              </a:rPr>
              <a:t>READ ONE INTERVAL</a:t>
            </a:r>
          </a:p>
        </p:txBody>
      </p:sp>
      <p:sp>
        <p:nvSpPr>
          <p:cNvPr id="612" name="Reference style 612"/>
          <p:cNvSpPr txBox="1"/>
          <p:nvPr/>
        </p:nvSpPr>
        <p:spPr>
          <a:xfrm>
            <a:off x="7982712" y="4151376"/>
            <a:ext cx="3474720" cy="1161288"/>
          </a:xfrm>
          <a:prstGeom prst="rect">
            <a:avLst/>
          </a:prstGeom>
          <a:noFill/>
        </p:spPr>
        <p:txBody>
          <a:bodyPr wrap="square" lIns="0" tIns="0" rIns="0" bIns="0" anchor="t">
            <a:noAutofit/>
          </a:bodyPr>
          <a:lstStyle/>
          <a:p>
            <a:pPr algn="l" marL="0" indent="0">
              <a:buNone/>
            </a:pPr>
            <a:r>
              <a:rPr sz="1600" b="0">
                <a:solidFill>
                  <a:srgbClr val="262C30"/>
                </a:solidFill>
                <a:latin typeface="Arial"/>
              </a:rPr>
              <a:t>“Each step is $___ and ___ day, so the unit price is ___.”</a:t>
            </a:r>
          </a:p>
        </p:txBody>
      </p:sp>
      <p:sp>
        <p:nvSpPr>
          <p:cNvPr id="6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40</a:t>
            </a:r>
          </a:p>
        </p:txBody>
      </p:sp>
      <p:sp xmlns:p="http://schemas.openxmlformats.org/presentationml/2006/main" xmlns:a="http://schemas.openxmlformats.org/drawingml/2006/main">
        <p:nvSpPr>
          <p:cNvPr id="615"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the scale and positions on the number line to justify your answer.</a:t>
            </a:r>
            <a:endParaRPr lang="en-US" sz="20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0" name="Reference style 30">
            <a:extLst>
              <a:ext uri="{FF2B5EF4-FFF2-40B4-BE49-F238E27FC236}">
                <a16:creationId xmlns:a16="http://schemas.microsoft.com/office/drawing/2014/main" id="{DB6EED09-8B61-F64F-907D-F4B749DB901C}"/>
              </a:ext>
            </a:extLst>
          </p:cNvPr>
          <p:cNvPicPr>
            <a:picLocks noChangeAspect="1"/>
          </p:cNvPicPr>
          <p:nvPr userDrawn="1"/>
        </p:nvPicPr>
        <p:blipFill>
          <a:blip r:embed="rIdReferenceHeader323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15" name="Rectangle 14">
            <a:extLst>
              <a:ext uri="{FF2B5EF4-FFF2-40B4-BE49-F238E27FC236}">
                <a16:creationId xmlns:a16="http://schemas.microsoft.com/office/drawing/2014/main" id="{1D43BE5E-AEBA-45C5-9595-80EBA4B2614A}"/>
              </a:ext>
            </a:extLst>
          </p:cNvPr>
          <p:cNvSpPr>
            <a:spLocks noGrp="1"/>
          </p:cNvSpPr>
          <p:nvPr/>
        </p:nvSpPr>
        <p:spPr>
          <a:xfrm>
            <a:off x="514350" y="381000"/>
            <a:ext cx="6858000" cy="542925"/>
          </a:xfrm>
          <a:prstGeom prst="rect">
            <a:avLst/>
          </a:prstGeom>
          <a:noFill/>
          <a:ln w="0">
            <a:noFill/>
          </a:ln>
        </p:spPr>
        <p:txBody>
          <a:bodyPr>
            <a:noAutofit/>
          </a:bodyPr>
          <a:lstStyle/>
          <a:p>
            <a:pPr>
              <a:defRPr sz="2700" b="1">
                <a:solidFill>
                  <a:srgbClr val="782DA0"/>
                </a:solidFill>
                <a:latin typeface="Arial"/>
                <a:ea typeface="Arial"/>
                <a:cs typeface="Arial"/>
              </a:defRPr>
            </a:pPr>
            <a:r>
              <a:rPr sz="2800" b="1">
                <a:solidFill>
                  <a:srgbClr val="782DA0"/>
                </a:solidFill>
                <a:latin typeface="Arial"/>
                <a:ea typeface="Arial"/>
                <a:cs typeface="Arial"/>
              </a:rPr>
              <a:t>Math Notes — Session 2</a:t>
            </a:r>
          </a:p>
        </p:txBody>
      </p:sp>
      <p:sp>
        <p:nvSpPr>
          <p:cNvPr id="2" name="Rectangle 1">
            <a:extLst>
              <a:ext uri="{FF2B5EF4-FFF2-40B4-BE49-F238E27FC236}">
                <a16:creationId xmlns:a16="http://schemas.microsoft.com/office/drawing/2014/main" id="{441B8027-F9E3-4255-9D55-4DA5E170D5DF}"/>
              </a:ext>
            </a:extLst>
          </p:cNvPr>
          <p:cNvSpPr>
            <a:spLocks noGrp="1"/>
          </p:cNvSpPr>
          <p:nvPr/>
        </p:nvSpPr>
        <p:spPr>
          <a:xfrm>
            <a:off x="523875" y="1028700"/>
            <a:ext cx="8667750" cy="342900"/>
          </a:xfrm>
          <a:prstGeom prst="rect">
            <a:avLst/>
          </a:prstGeom>
          <a:noFill/>
          <a:ln w="0">
            <a:noFill/>
          </a:ln>
        </p:spPr>
        <p:txBody>
          <a:bodyPr>
            <a:noAutofit/>
          </a:bodyPr>
          <a:lstStyle/>
          <a:p>
            <a:pPr>
              <a:defRPr sz="1575" b="0">
                <a:solidFill>
                  <a:srgbClr val="5D6872"/>
                </a:solidFill>
                <a:latin typeface="Arial"/>
                <a:ea typeface="Arial"/>
                <a:cs typeface="Arial"/>
              </a:defRPr>
            </a:pPr>
            <a:r>
              <a:rPr sz="1575" b="0">
                <a:solidFill>
                  <a:srgbClr val="5D6872"/>
                </a:solidFill>
                <a:latin typeface="Arial"/>
                <a:ea typeface="Arial"/>
                <a:cs typeface="Arial"/>
              </a:rPr>
              <a:t>Keep the idea from Train Pass Cost.</a:t>
            </a:r>
          </a:p>
        </p:txBody>
      </p:sp>
      <p:sp>
        <p:nvSpPr>
          <p:cNvPr id="3" name="Rounded Rectangle 2">
            <a:extLst>
              <a:ext uri="{FF2B5EF4-FFF2-40B4-BE49-F238E27FC236}">
                <a16:creationId xmlns:a16="http://schemas.microsoft.com/office/drawing/2014/main" id="{0CA016DE-2679-4DC7-9337-A4EE9F4FC6BB}"/>
              </a:ext>
            </a:extLst>
          </p:cNvPr>
          <p:cNvSpPr>
            <a:spLocks noGrp="1"/>
          </p:cNvSpPr>
          <p:nvPr/>
        </p:nvSpPr>
        <p:spPr>
          <a:xfrm>
            <a:off x="514350" y="1609725"/>
            <a:ext cx="5762625" cy="4114800"/>
          </a:xfrm>
          <a:prstGeom prst="roundRect">
            <a:avLst>
              <a:gd name="adj" fmla="val 1852"/>
            </a:avLst>
          </a:prstGeom>
          <a:solidFill>
            <a:srgbClr val="EAF6F5"/>
          </a:solidFill>
          <a:ln w="9525">
            <a:solidFill>
              <a:srgbClr val="D6E0E8"/>
            </a:solidFill>
          </a:ln>
        </p:spPr>
        <p:txBody>
          <a:bodyPr/>
          <a:lstStyle/>
          <a:p>
            <a:endParaRPr lang="en-US"/>
          </a:p>
        </p:txBody>
      </p:sp>
      <p:sp>
        <p:nvSpPr>
          <p:cNvPr id="4" name="Rounded Rectangle 3">
            <a:extLst>
              <a:ext uri="{FF2B5EF4-FFF2-40B4-BE49-F238E27FC236}">
                <a16:creationId xmlns:a16="http://schemas.microsoft.com/office/drawing/2014/main" id="{BA1E0861-3E8D-493B-A95D-20947F118BF5}"/>
              </a:ext>
            </a:extLst>
          </p:cNvPr>
          <p:cNvSpPr>
            <a:spLocks noGrp="1"/>
          </p:cNvSpPr>
          <p:nvPr/>
        </p:nvSpPr>
        <p:spPr>
          <a:xfrm>
            <a:off x="6543675" y="1609725"/>
            <a:ext cx="5114925" cy="4114800"/>
          </a:xfrm>
          <a:prstGeom prst="roundRect">
            <a:avLst>
              <a:gd name="adj" fmla="val 1852"/>
            </a:avLst>
          </a:prstGeom>
          <a:solidFill>
            <a:srgbClr val="FFF0E7"/>
          </a:solidFill>
          <a:ln w="9525">
            <a:solidFill>
              <a:srgbClr val="D6E0E8"/>
            </a:solidFill>
          </a:ln>
        </p:spPr>
        <p:txBody>
          <a:bodyPr/>
          <a:lstStyle/>
          <a:p>
            <a:endParaRPr lang="en-US"/>
          </a:p>
        </p:txBody>
      </p:sp>
      <p:sp>
        <p:nvSpPr>
          <p:cNvPr id="5" name="Rectangle 4">
            <a:extLst>
              <a:ext uri="{FF2B5EF4-FFF2-40B4-BE49-F238E27FC236}">
                <a16:creationId xmlns:a16="http://schemas.microsoft.com/office/drawing/2014/main" id="{0759BA5B-3EE9-4E91-A0F0-1DEFFF2BC148}"/>
              </a:ext>
            </a:extLst>
          </p:cNvPr>
          <p:cNvSpPr>
            <a:spLocks noGrp="1"/>
          </p:cNvSpPr>
          <p:nvPr/>
        </p:nvSpPr>
        <p:spPr>
          <a:xfrm>
            <a:off x="723900" y="1800225"/>
            <a:ext cx="5238750" cy="266700"/>
          </a:xfrm>
          <a:prstGeom prst="rect">
            <a:avLst/>
          </a:prstGeom>
          <a:noFill/>
          <a:ln w="0">
            <a:noFill/>
          </a:ln>
        </p:spPr>
        <p:txBody>
          <a:bodyPr>
            <a:noAutofit/>
          </a:bodyPr>
          <a:lstStyle/>
          <a:p>
            <a:pPr>
              <a:defRPr sz="1350" b="1">
                <a:solidFill>
                  <a:srgbClr val="782DA0"/>
                </a:solidFill>
                <a:latin typeface="Arial"/>
                <a:ea typeface="Arial"/>
                <a:cs typeface="Arial"/>
              </a:defRPr>
            </a:pPr>
            <a:r>
              <a:rPr sz="1350" b="1">
                <a:solidFill>
                  <a:srgbClr val="782DA0"/>
                </a:solidFill>
                <a:latin typeface="Arial"/>
                <a:ea typeface="Arial"/>
                <a:cs typeface="Arial"/>
              </a:rPr>
              <a:t>COPY, EXPLAIN, THEN CHECK</a:t>
            </a:r>
          </a:p>
        </p:txBody>
      </p:sp>
      <p:sp>
        <p:nvSpPr>
          <p:cNvPr id="6" name="Rectangle 5">
            <a:extLst>
              <a:ext uri="{FF2B5EF4-FFF2-40B4-BE49-F238E27FC236}">
                <a16:creationId xmlns:a16="http://schemas.microsoft.com/office/drawing/2014/main" id="{645F8DE4-4E04-4F70-A8F5-B9C18B9877B8}"/>
              </a:ext>
            </a:extLst>
          </p:cNvPr>
          <p:cNvSpPr>
            <a:spLocks noGrp="1"/>
          </p:cNvSpPr>
          <p:nvPr/>
        </p:nvSpPr>
        <p:spPr>
          <a:xfrm>
            <a:off x="733425" y="2352675"/>
            <a:ext cx="447675" cy="476250"/>
          </a:xfrm>
          <a:prstGeom prst="rect">
            <a:avLst/>
          </a:prstGeom>
          <a:noFill/>
          <a:ln w="0">
            <a:noFill/>
          </a:ln>
        </p:spPr>
        <p:txBody>
          <a:bodyPr>
            <a:noAutofit/>
          </a:bodyPr>
          <a:lstStyle/>
          <a:p>
            <a:pPr>
              <a:defRPr sz="1875" b="1">
                <a:solidFill>
                  <a:srgbClr val="782DA0"/>
                </a:solidFill>
                <a:latin typeface="Arial"/>
                <a:ea typeface="Arial"/>
                <a:cs typeface="Arial"/>
              </a:defRPr>
            </a:pPr>
            <a:r>
              <a:rPr sz="1875" b="1">
                <a:solidFill>
                  <a:srgbClr val="782DA0"/>
                </a:solidFill>
                <a:latin typeface="Arial"/>
                <a:ea typeface="Arial"/>
                <a:cs typeface="Arial"/>
              </a:rPr>
              <a:t>01</a:t>
            </a:r>
          </a:p>
        </p:txBody>
      </p:sp>
      <p:sp>
        <p:nvSpPr>
          <p:cNvPr id="7" name="Rectangle 6">
            <a:extLst>
              <a:ext uri="{FF2B5EF4-FFF2-40B4-BE49-F238E27FC236}">
                <a16:creationId xmlns:a16="http://schemas.microsoft.com/office/drawing/2014/main" id="{1D527760-D924-4247-A55B-57623C9CE704}"/>
              </a:ext>
            </a:extLst>
          </p:cNvPr>
          <p:cNvSpPr>
            <a:spLocks noGrp="1"/>
          </p:cNvSpPr>
          <p:nvPr/>
        </p:nvSpPr>
        <p:spPr>
          <a:xfrm>
            <a:off x="1257300" y="2324100"/>
            <a:ext cx="4752975" cy="847725"/>
          </a:xfrm>
          <a:prstGeom prst="rect">
            <a:avLst/>
          </a:prstGeom>
          <a:noFill/>
          <a:ln w="0">
            <a:noFill/>
          </a:ln>
        </p:spPr>
        <p:txBody>
          <a:bodyPr>
            <a:noAutofit/>
          </a:bodyPr>
          <a:lstStyle/>
          <a:p>
            <a:pPr>
              <a:defRPr sz="2100" b="0">
                <a:solidFill>
                  <a:srgbClr val="23282D"/>
                </a:solidFill>
                <a:latin typeface="Arial"/>
                <a:ea typeface="Arial"/>
                <a:cs typeface="Arial"/>
              </a:defRPr>
            </a:pPr>
            <a:r>
              <a:rPr sz="2100" b="0">
                <a:solidFill>
                  <a:srgbClr val="23282D"/>
                </a:solidFill>
                <a:latin typeface="Arial"/>
                <a:ea typeface="Arial"/>
                <a:cs typeface="Arial"/>
              </a:rPr>
              <a:t xml:space="preserve">A </a:t>
            </a:r>
            <a:r>
              <a:rPr sz="2100" b="1">
                <a:solidFill>
                  <a:srgbClr val="23282D"/>
                </a:solidFill>
                <a:highlight>
                  <a:srgbClr val="FFF2A8"/>
                </a:highlight>
                <a:latin typeface="Arial"/>
                <a:ea typeface="Arial"/>
                <a:cs typeface="Arial"/>
              </a:rPr>
              <a:t>unit rate</a:t>
            </a:r>
            <a:r>
              <a:rPr sz="2100" b="0">
                <a:solidFill>
                  <a:srgbClr val="23282D"/>
                </a:solidFill>
                <a:latin typeface="Arial"/>
                <a:ea typeface="Arial"/>
                <a:cs typeface="Arial"/>
              </a:rPr>
              <a:t xml:space="preserve"> tells the amount for 1 unit.</a:t>
            </a:r>
          </a:p>
        </p:txBody>
      </p:sp>
      <p:sp>
        <p:nvSpPr>
          <p:cNvPr id="8" name="Rectangle 7">
            <a:extLst>
              <a:ext uri="{FF2B5EF4-FFF2-40B4-BE49-F238E27FC236}">
                <a16:creationId xmlns:a16="http://schemas.microsoft.com/office/drawing/2014/main" id="{0822D94C-A183-4237-851A-14FB2209251F}"/>
              </a:ext>
            </a:extLst>
          </p:cNvPr>
          <p:cNvSpPr>
            <a:spLocks noGrp="1"/>
          </p:cNvSpPr>
          <p:nvPr/>
        </p:nvSpPr>
        <p:spPr>
          <a:xfrm>
            <a:off x="733425" y="3333750"/>
            <a:ext cx="447675" cy="476250"/>
          </a:xfrm>
          <a:prstGeom prst="rect">
            <a:avLst/>
          </a:prstGeom>
          <a:noFill/>
          <a:ln w="0">
            <a:noFill/>
          </a:ln>
        </p:spPr>
        <p:txBody>
          <a:bodyPr>
            <a:noAutofit/>
          </a:bodyPr>
          <a:lstStyle/>
          <a:p>
            <a:pPr>
              <a:defRPr sz="1875" b="1">
                <a:solidFill>
                  <a:srgbClr val="782DA0"/>
                </a:solidFill>
                <a:latin typeface="Arial"/>
                <a:ea typeface="Arial"/>
                <a:cs typeface="Arial"/>
              </a:defRPr>
            </a:pPr>
            <a:r>
              <a:rPr sz="1875" b="1">
                <a:solidFill>
                  <a:srgbClr val="782DA0"/>
                </a:solidFill>
                <a:latin typeface="Arial"/>
                <a:ea typeface="Arial"/>
                <a:cs typeface="Arial"/>
              </a:rPr>
              <a:t>02</a:t>
            </a:r>
          </a:p>
        </p:txBody>
      </p:sp>
      <p:sp>
        <p:nvSpPr>
          <p:cNvPr id="9" name="Rectangle 8">
            <a:extLst>
              <a:ext uri="{FF2B5EF4-FFF2-40B4-BE49-F238E27FC236}">
                <a16:creationId xmlns:a16="http://schemas.microsoft.com/office/drawing/2014/main" id="{640D754C-3F19-422F-9B36-F9EC7233E690}"/>
              </a:ext>
            </a:extLst>
          </p:cNvPr>
          <p:cNvSpPr>
            <a:spLocks noGrp="1"/>
          </p:cNvSpPr>
          <p:nvPr/>
        </p:nvSpPr>
        <p:spPr>
          <a:xfrm>
            <a:off x="1257300" y="3305175"/>
            <a:ext cx="4752975" cy="847725"/>
          </a:xfrm>
          <a:prstGeom prst="rect">
            <a:avLst/>
          </a:prstGeom>
          <a:noFill/>
          <a:ln w="0">
            <a:noFill/>
          </a:ln>
        </p:spPr>
        <p:txBody>
          <a:bodyPr>
            <a:noAutofit/>
          </a:bodyPr>
          <a:lstStyle/>
          <a:p>
            <a:pPr>
              <a:defRPr sz="2100" b="0">
                <a:solidFill>
                  <a:srgbClr val="23282D"/>
                </a:solidFill>
                <a:latin typeface="Arial"/>
                <a:ea typeface="Arial"/>
                <a:cs typeface="Arial"/>
              </a:defRPr>
            </a:pPr>
            <a:r>
              <a:rPr sz="2100" b="1">
                <a:solidFill>
                  <a:srgbClr val="23282D"/>
                </a:solidFill>
                <a:highlight>
                  <a:srgbClr val="FFF2A8"/>
                </a:highlight>
                <a:latin typeface="Arial"/>
                <a:ea typeface="Arial"/>
                <a:cs typeface="Arial"/>
              </a:rPr>
              <a:t>Unit price</a:t>
            </a:r>
            <a:r>
              <a:rPr sz="2100" b="0">
                <a:solidFill>
                  <a:srgbClr val="23282D"/>
                </a:solidFill>
                <a:latin typeface="Arial"/>
                <a:ea typeface="Arial"/>
                <a:cs typeface="Arial"/>
              </a:rPr>
              <a:t xml:space="preserve"> = total cost ÷ number of units.</a:t>
            </a:r>
          </a:p>
        </p:txBody>
      </p:sp>
      <p:sp>
        <p:nvSpPr>
          <p:cNvPr id="10" name="Rectangle 9">
            <a:extLst>
              <a:ext uri="{FF2B5EF4-FFF2-40B4-BE49-F238E27FC236}">
                <a16:creationId xmlns:a16="http://schemas.microsoft.com/office/drawing/2014/main" id="{1E4CF3EA-611D-440A-8680-E158E01A5981}"/>
              </a:ext>
            </a:extLst>
          </p:cNvPr>
          <p:cNvSpPr>
            <a:spLocks noGrp="1"/>
          </p:cNvSpPr>
          <p:nvPr/>
        </p:nvSpPr>
        <p:spPr>
          <a:xfrm>
            <a:off x="733425" y="4314825"/>
            <a:ext cx="447675" cy="476250"/>
          </a:xfrm>
          <a:prstGeom prst="rect">
            <a:avLst/>
          </a:prstGeom>
          <a:noFill/>
          <a:ln w="0">
            <a:noFill/>
          </a:ln>
        </p:spPr>
        <p:txBody>
          <a:bodyPr>
            <a:noAutofit/>
          </a:bodyPr>
          <a:lstStyle/>
          <a:p>
            <a:pPr>
              <a:defRPr sz="1875" b="1">
                <a:solidFill>
                  <a:srgbClr val="782DA0"/>
                </a:solidFill>
                <a:latin typeface="Arial"/>
                <a:ea typeface="Arial"/>
                <a:cs typeface="Arial"/>
              </a:defRPr>
            </a:pPr>
            <a:r>
              <a:rPr sz="1875" b="1">
                <a:solidFill>
                  <a:srgbClr val="782DA0"/>
                </a:solidFill>
                <a:latin typeface="Arial"/>
                <a:ea typeface="Arial"/>
                <a:cs typeface="Arial"/>
              </a:rPr>
              <a:t>03</a:t>
            </a:r>
          </a:p>
        </p:txBody>
      </p:sp>
      <p:sp>
        <p:nvSpPr>
          <p:cNvPr id="11" name="Rectangle 10">
            <a:extLst>
              <a:ext uri="{FF2B5EF4-FFF2-40B4-BE49-F238E27FC236}">
                <a16:creationId xmlns:a16="http://schemas.microsoft.com/office/drawing/2014/main" id="{B977CCA2-3DBA-4159-BC65-965F190038D0}"/>
              </a:ext>
            </a:extLst>
          </p:cNvPr>
          <p:cNvSpPr>
            <a:spLocks noGrp="1"/>
          </p:cNvSpPr>
          <p:nvPr/>
        </p:nvSpPr>
        <p:spPr>
          <a:xfrm>
            <a:off x="1257300" y="4286250"/>
            <a:ext cx="4752975" cy="847725"/>
          </a:xfrm>
          <a:prstGeom prst="rect">
            <a:avLst/>
          </a:prstGeom>
          <a:noFill/>
          <a:ln w="0">
            <a:noFill/>
          </a:ln>
        </p:spPr>
        <p:txBody>
          <a:bodyPr>
            <a:noAutofit/>
          </a:bodyPr>
          <a:lstStyle/>
          <a:p>
            <a:pPr>
              <a:defRPr sz="2100" b="0">
                <a:solidFill>
                  <a:srgbClr val="23282D"/>
                </a:solidFill>
                <a:latin typeface="Arial"/>
                <a:ea typeface="Arial"/>
                <a:cs typeface="Arial"/>
              </a:defRPr>
            </a:pPr>
            <a:r>
              <a:rPr sz="2100" b="0">
                <a:solidFill>
                  <a:srgbClr val="23282D"/>
                </a:solidFill>
                <a:latin typeface="Arial"/>
                <a:ea typeface="Arial"/>
                <a:cs typeface="Arial"/>
              </a:rPr>
              <a:t>Compare prices using the same unit.</a:t>
            </a:r>
          </a:p>
        </p:txBody>
      </p:sp>
      <p:sp>
        <p:nvSpPr>
          <p:cNvPr id="12" name="Rectangle 11">
            <a:extLst>
              <a:ext uri="{FF2B5EF4-FFF2-40B4-BE49-F238E27FC236}">
                <a16:creationId xmlns:a16="http://schemas.microsoft.com/office/drawing/2014/main" id="{DD978AF4-6EED-4406-89BB-15D2341E0D83}"/>
              </a:ext>
            </a:extLst>
          </p:cNvPr>
          <p:cNvSpPr>
            <a:spLocks noGrp="1"/>
          </p:cNvSpPr>
          <p:nvPr/>
        </p:nvSpPr>
        <p:spPr>
          <a:xfrm>
            <a:off x="6743700" y="1809750"/>
            <a:ext cx="4667250" cy="266700"/>
          </a:xfrm>
          <a:prstGeom prst="rect">
            <a:avLst/>
          </a:prstGeom>
          <a:noFill/>
          <a:ln w="0">
            <a:noFill/>
          </a:ln>
        </p:spPr>
        <p:txBody>
          <a:bodyPr>
            <a:noAutofit/>
          </a:bodyPr>
          <a:lstStyle/>
          <a:p>
            <a:pPr>
              <a:defRPr sz="1350" b="1">
                <a:solidFill>
                  <a:srgbClr val="0070C0"/>
                </a:solidFill>
                <a:latin typeface="Arial"/>
                <a:ea typeface="Arial"/>
                <a:cs typeface="Arial"/>
              </a:defRPr>
            </a:pPr>
            <a:r>
              <a:rPr sz="1350" b="1">
                <a:solidFill>
                  <a:srgbClr val="0070C0"/>
                </a:solidFill>
                <a:latin typeface="Arial"/>
                <a:ea typeface="Arial"/>
                <a:cs typeface="Arial"/>
              </a:rPr>
              <a:t>LOOK BACK AT THE EXAMPLE</a:t>
            </a:r>
          </a:p>
        </p:txBody>
      </p:sp>
      <p:graphicFrame>
        <p:nvGraphicFramePr>
          <p:cNvPr id="27" name="Table 26"/>
          <p:cNvGraphicFramePr/>
          <p:nvPr/>
        </p:nvGraphicFramePr>
        <p:xfrm>
          <a:off x="6743700" y="2333625"/>
          <a:ext cx="4705350" cy="1514475"/>
        </p:xfrm>
        <a:graphic>
          <a:graphicData uri="http://schemas.openxmlformats.org/drawingml/2006/table">
            <a:tbl>
              <a:tblPr/>
              <a:tblGrid>
                <a:gridCol w="2352675">
                  <a:extLst>
                    <a:ext uri="{9D8B030D-6E8A-4147-A177-3AD203B41FA5}">
                      <a16:colId xmlns:a16="http://schemas.microsoft.com/office/drawing/2014/main" val="20000"/>
                    </a:ext>
                  </a:extLst>
                </a:gridCol>
                <a:gridCol w="2352675">
                  <a:extLst>
                    <a:ext uri="{9D8B030D-6E8A-4147-A177-3AD203B41FA5}">
                      <a16:colId xmlns:a16="http://schemas.microsoft.com/office/drawing/2014/main" val="20001"/>
                    </a:ext>
                  </a:extLst>
                </a:gridCol>
              </a:tblGrid>
              <a:tr h="504825">
                <a:tc>
                  <a:txBody>
                    <a:bodyPr/>
                    <a:lstStyle/>
                    <a:p>
                      <a:r>
                        <a:rPr sz="1425" b="1">
                          <a:solidFill>
                            <a:srgbClr val="FFFFFF"/>
                          </a:solidFill>
                          <a:latin typeface="Arial"/>
                          <a:ea typeface="Arial"/>
                          <a:cs typeface="Arial"/>
                        </a:rPr>
                        <a:t>Pass</a:t>
                      </a:r>
                    </a:p>
                  </a:txBody>
                  <a:tcPr>
                    <a:solidFill>
                      <a:srgbClr val="0070C0"/>
                    </a:solidFill>
                  </a:tcPr>
                </a:tc>
                <a:tc>
                  <a:txBody>
                    <a:bodyPr/>
                    <a:lstStyle/>
                    <a:p>
                      <a:r>
                        <a:rPr sz="1425" b="1">
                          <a:solidFill>
                            <a:srgbClr val="FFFFFF"/>
                          </a:solidFill>
                          <a:latin typeface="Arial"/>
                          <a:ea typeface="Arial"/>
                          <a:cs typeface="Arial"/>
                        </a:rPr>
                        <a:t>Cost per day</a:t>
                      </a:r>
                    </a:p>
                  </a:txBody>
                  <a:tcPr>
                    <a:solidFill>
                      <a:srgbClr val="0070C0"/>
                    </a:solidFill>
                  </a:tcPr>
                </a:tc>
                <a:extLst>
                  <a:ext uri="{0D108BD9-81ED-4DB2-BD59-A6C34878D82A}">
                    <a16:rowId xmlns:a16="http://schemas.microsoft.com/office/drawing/2014/main" val="10000"/>
                  </a:ext>
                </a:extLst>
              </a:tr>
              <a:tr h="504825">
                <a:tc>
                  <a:txBody>
                    <a:bodyPr/>
                    <a:lstStyle/>
                    <a:p>
                      <a:r>
                        <a:rPr sz="1800" b="0">
                          <a:solidFill>
                            <a:srgbClr val="23282D"/>
                          </a:solidFill>
                          <a:latin typeface="Arial"/>
                          <a:ea typeface="Arial"/>
                          <a:cs typeface="Arial"/>
                        </a:rPr>
                        <a:t>1-day</a:t>
                      </a:r>
                    </a:p>
                  </a:txBody>
                  <a:tcPr>
                    <a:solidFill>
                      <a:srgbClr val="FFFFFF"/>
                    </a:solidFill>
                  </a:tcPr>
                </a:tc>
                <a:tc>
                  <a:txBody>
                    <a:bodyPr/>
                    <a:lstStyle/>
                    <a:p>
                      <a:r>
                        <a:rPr sz="1800" b="0">
                          <a:solidFill>
                            <a:srgbClr val="23282D"/>
                          </a:solidFill>
                          <a:latin typeface="Arial"/>
                          <a:ea typeface="Arial"/>
                          <a:cs typeface="Arial"/>
                        </a:rPr>
                        <a:t>$6.25</a:t>
                      </a:r>
                    </a:p>
                  </a:txBody>
                  <a:tcPr>
                    <a:solidFill>
                      <a:srgbClr val="FFFFFF"/>
                    </a:solidFill>
                  </a:tcPr>
                </a:tc>
                <a:extLst>
                  <a:ext uri="{0D108BD9-81ED-4DB2-BD59-A6C34878D82A}">
                    <a16:rowId xmlns:a16="http://schemas.microsoft.com/office/drawing/2014/main" val="10001"/>
                  </a:ext>
                </a:extLst>
              </a:tr>
              <a:tr h="504825">
                <a:tc>
                  <a:txBody>
                    <a:bodyPr/>
                    <a:lstStyle/>
                    <a:p>
                      <a:r>
                        <a:rPr sz="1800" b="0">
                          <a:solidFill>
                            <a:srgbClr val="23282D"/>
                          </a:solidFill>
                          <a:latin typeface="Arial"/>
                          <a:ea typeface="Arial"/>
                          <a:cs typeface="Arial"/>
                        </a:rPr>
                        <a:t>7-day</a:t>
                      </a:r>
                    </a:p>
                  </a:txBody>
                  <a:tcPr>
                    <a:solidFill>
                      <a:srgbClr val="FFFFFF"/>
                    </a:solidFill>
                  </a:tcPr>
                </a:tc>
                <a:tc>
                  <a:txBody>
                    <a:bodyPr/>
                    <a:lstStyle/>
                    <a:p>
                      <a:r>
                        <a:rPr sz="1800" b="0">
                          <a:solidFill>
                            <a:srgbClr val="23282D"/>
                          </a:solidFill>
                          <a:latin typeface="Arial"/>
                          <a:ea typeface="Arial"/>
                          <a:cs typeface="Arial"/>
                        </a:rPr>
                        <a:t>$35 ÷ 7 = $5</a:t>
                      </a:r>
                    </a:p>
                  </a:txBody>
                  <a:tcPr>
                    <a:solidFill>
                      <a:srgbClr val="FFFFFF"/>
                    </a:solidFill>
                  </a:tcPr>
                </a:tc>
                <a:extLst>
                  <a:ext uri="{0D108BD9-81ED-4DB2-BD59-A6C34878D82A}">
                    <a16:rowId xmlns:a16="http://schemas.microsoft.com/office/drawing/2014/main" val="10002"/>
                  </a:ext>
                </a:extLst>
              </a:tr>
            </a:tbl>
          </a:graphicData>
        </a:graphic>
      </p:graphicFrame>
      <p:sp>
        <p:nvSpPr>
          <p:cNvPr id="14" name="Rectangle 13">
            <a:extLst>
              <a:ext uri="{FF2B5EF4-FFF2-40B4-BE49-F238E27FC236}">
                <a16:creationId xmlns:a16="http://schemas.microsoft.com/office/drawing/2014/main" id="{A1E56721-508E-4F82-ACD0-BFEA10BCC94C}"/>
              </a:ext>
            </a:extLst>
          </p:cNvPr>
          <p:cNvSpPr>
            <a:spLocks noGrp="1"/>
          </p:cNvSpPr>
          <p:nvPr/>
        </p:nvSpPr>
        <p:spPr>
          <a:xfrm>
            <a:off x="6743700" y="4076700"/>
            <a:ext cx="4667250" cy="933450"/>
          </a:xfrm>
          <a:prstGeom prst="rect">
            <a:avLst/>
          </a:prstGeom>
          <a:noFill/>
          <a:ln w="0">
            <a:noFill/>
          </a:ln>
        </p:spPr>
        <p:txBody>
          <a:bodyPr>
            <a:noAutofit/>
          </a:bodyPr>
          <a:lstStyle/>
          <a:p>
            <a:pPr>
              <a:defRPr sz="1875" b="1">
                <a:solidFill>
                  <a:srgbClr val="0070C0"/>
                </a:solidFill>
                <a:latin typeface="Arial"/>
                <a:ea typeface="Arial"/>
                <a:cs typeface="Arial"/>
              </a:defRPr>
            </a:pPr>
            <a:r>
              <a:rPr sz="1875" b="1">
                <a:solidFill>
                  <a:srgbClr val="0070C0"/>
                </a:solidFill>
                <a:latin typeface="Arial"/>
                <a:ea typeface="Arial"/>
                <a:cs typeface="Arial"/>
              </a:rPr>
              <a:t>The 7-day pass costs $1.25 less per day.</a:t>
            </a:r>
          </a:p>
        </p:txBody>
      </p:sp>
      <p:sp>
        <p:nvSpPr>
          <p:cNvPr id="28" name="Reference style 28"/>
          <p:cNvSpPr txBox="1"/>
          <p:nvPr/>
        </p:nvSpPr>
        <p:spPr>
          <a:xfrm>
            <a:off x="502920" y="54864"/>
            <a:ext cx="6035040" cy="237744"/>
          </a:xfrm>
          <a:prstGeom prst="rect">
            <a:avLst/>
          </a:prstGeom>
          <a:noFill/>
        </p:spPr>
        <p:txBody>
          <a:bodyPr wrap="square" lIns="0" rIns="0" tIns="0" bIns="0" anchor="ctr">
            <a:noAutofit/>
          </a:bodyPr>
          <a:lstStyle/>
          <a:p>
            <a:pPr algn="l">
              <a:defRPr/>
            </a:pPr>
            <a:r>
              <a:rPr lang="en-US" sz="1200" b="1" dirty="0">
                <a:solidFill>
                  <a:srgbClr val="1E2682"/>
                </a:solidFill>
                <a:latin typeface="Arial"/>
              </a:rPr>
              <a:t>STUDENT NOTES</a:t>
            </a:r>
            <a:r>
              <a:rPr lang="en-US" sz="1200" b="1" dirty="0">
                <a:solidFill>
                  <a:srgbClr val="5D6872"/>
                </a:solidFill>
                <a:latin typeface="Arial"/>
              </a:rPr>
              <a:t xml:space="preserve">  ·  COPY LESS • UNDERSTAND MORE</a:t>
            </a:r>
          </a:p>
        </p:txBody>
      </p:sp>
      <p:sp>
        <p:nvSpPr>
          <p:cNvPr id="3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40</a:t>
            </a:r>
          </a:p>
        </p:txBody>
      </p:sp>
      <p:grpSp>
        <p:nvGrpSpPr>
          <p:cNvPr id="32" name="TEACH-1-student-move" descr="TEACH 1 · Facilitate clear, standards-based content learning"/>
          <p:cNvGrpSpPr/>
          <p:nvPr/>
        </p:nvGrpSpPr>
        <p:grpSpPr>
          <a:xfrm>
            <a:off x="502920" y="5145176"/>
            <a:ext cx="11186160" cy="731520"/>
            <a:chOff x="502920" y="5145176"/>
            <a:chExt cx="11186160" cy="731520"/>
          </a:xfrm>
        </p:grpSpPr>
        <p:sp>
          <p:nvSpPr>
            <p:cNvPr id="33" name="TEACH-move-card"/>
            <p:cNvSpPr/>
            <p:nvPr/>
          </p:nvSpPr>
          <p:spPr>
            <a:xfrm>
              <a:off x="502920" y="5145176"/>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34" name="TEACH-move-rule"/>
            <p:cNvSpPr/>
            <p:nvPr/>
          </p:nvSpPr>
          <p:spPr>
            <a:xfrm>
              <a:off x="548640" y="5284165"/>
              <a:ext cx="100584" cy="453542"/>
            </a:xfrm>
            <a:prstGeom prst="roundRect">
              <a:avLst>
                <a:gd name="adj" fmla="val 50000"/>
              </a:avLst>
            </a:prstGeom>
            <a:solidFill>
              <a:srgbClr val="01708C"/>
            </a:solidFill>
            <a:ln>
              <a:noFill/>
            </a:ln>
          </p:spPr>
          <p:txBody>
            <a:bodyPr/>
            <a:lstStyle/>
            <a:p>
              <a:endParaRPr/>
            </a:p>
          </p:txBody>
        </p:sp>
        <p:sp>
          <p:nvSpPr>
            <p:cNvPr id="35" name="TEACH-move-text"/>
            <p:cNvSpPr txBox="1"/>
            <p:nvPr/>
          </p:nvSpPr>
          <p:spPr>
            <a:xfrm>
              <a:off x="822960" y="5145176"/>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SAY THE GOAL  ·  </a:t>
              </a:r>
              <a:r>
                <a:rPr lang="en-US" sz="1800" dirty="0">
                  <a:solidFill>
                    <a:srgbClr val="13303A"/>
                  </a:solidFill>
                  <a:latin typeface="Arial"/>
                </a:rPr>
                <a:t>Say today’s goal in your own words, then name one place this shows up outside math class.</a:t>
              </a:r>
              <a:endParaRPr lang="en-US" sz="1800"/>
            </a:p>
          </p:txBody>
        </p:sp>
      </p:grpSp>
    </p:spTree>
    <p:extLst>
      <p:ext uri="{BB962C8B-B14F-4D97-AF65-F5344CB8AC3E}">
        <p14:creationId xmlns:p14="http://schemas.microsoft.com/office/powerpoint/2010/main" val="20401507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pic>
        <p:nvPicPr>
          <p:cNvPr id="630" name="Reference style 630">
            <a:extLst>
              <a:ext uri="{FF2B5EF4-FFF2-40B4-BE49-F238E27FC236}">
                <a16:creationId xmlns:a16="http://schemas.microsoft.com/office/drawing/2014/main" id="{DB6EED09-8B61-F64F-907D-F4B749DB901C}"/>
              </a:ext>
            </a:extLst>
          </p:cNvPr>
          <p:cNvPicPr>
            <a:picLocks noChangeAspect="1"/>
          </p:cNvPicPr>
          <p:nvPr userDrawn="1"/>
        </p:nvPicPr>
        <p:blipFill>
          <a:blip r:embed="rIdReferenceHeader323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619" name="Google Shape;619;p86"/>
          <p:cNvSpPr txBox="1"/>
          <p:nvPr/>
        </p:nvSpPr>
        <p:spPr>
          <a:xfrm>
            <a:off x="484565" y="316034"/>
            <a:ext cx="6858000" cy="53740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pPr>
            <a:r>
              <a:rPr lang="en-US" sz="2800" b="1">
                <a:solidFill>
                  <a:srgbClr val="782DA0"/>
                </a:solidFill>
                <a:latin typeface="Arial"/>
                <a:ea typeface="Arial"/>
                <a:cs typeface="Arial"/>
                <a:sym typeface="Arial"/>
              </a:rPr>
              <a:t>Let’s Explore More</a:t>
            </a:r>
            <a:endParaRPr/>
          </a:p>
        </p:txBody>
      </p:sp>
      <p:sp>
        <p:nvSpPr>
          <p:cNvPr id="620" name="Google Shape;620;p86"/>
          <p:cNvSpPr txBox="1"/>
          <p:nvPr/>
        </p:nvSpPr>
        <p:spPr>
          <a:xfrm>
            <a:off x="5950678" y="5860209"/>
            <a:ext cx="1206869"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a:p>
        </p:txBody>
      </p:sp>
      <p:sp>
        <p:nvSpPr>
          <p:cNvPr id="621" name="Google Shape;621;p86"/>
          <p:cNvSpPr/>
          <p:nvPr/>
        </p:nvSpPr>
        <p:spPr>
          <a:xfrm>
            <a:off x="567559" y="2733260"/>
            <a:ext cx="6589988" cy="3584548"/>
          </a:xfrm>
          <a:prstGeom prst="rect">
            <a:avLst/>
          </a:prstGeom>
          <a:noFill/>
          <a:ln w="12700" cap="flat" cmpd="sng">
            <a:solidFill>
              <a:srgbClr val="8296B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Calibri"/>
              <a:cs typeface="Calibri"/>
              <a:sym typeface="Calibri"/>
            </a:endParaRPr>
          </a:p>
        </p:txBody>
      </p:sp>
      <p:sp>
        <p:nvSpPr>
          <p:cNvPr id="622" name="Google Shape;622;p86"/>
          <p:cNvSpPr txBox="1"/>
          <p:nvPr/>
        </p:nvSpPr>
        <p:spPr>
          <a:xfrm>
            <a:off x="484565" y="1088500"/>
            <a:ext cx="6414999" cy="1409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pPr>
            <a:r>
              <a:rPr lang="en-US" sz="2800">
                <a:solidFill>
                  <a:srgbClr val="23282D"/>
                </a:solidFill>
                <a:latin typeface="Arial"/>
                <a:ea typeface="Arial"/>
                <a:cs typeface="Arial"/>
                <a:sym typeface="Arial"/>
              </a:rPr>
              <a:t>Which pass would you recommend Yelina buys if she only takes the train on weekdays? Explain.</a:t>
            </a:r>
            <a:endParaRPr/>
          </a:p>
        </p:txBody>
      </p:sp>
      <p:pic>
        <p:nvPicPr>
          <p:cNvPr id="623" name="Google Shape;623;p86" descr="D:\Sujatha\Job\Epres_New\PPT\G6U3\sn_47fe6-360mp4\OPS\img\.assets\e066808edad244009dce5dfd1d5f999c\narm24_c10302_se_003a-dig.png"/>
          <p:cNvPicPr preferRelativeResize="0"/>
          <p:nvPr/>
        </p:nvPicPr>
        <p:blipFill rotWithShape="1">
          <a:blip r:embed="rId3">
            <a:alphaModFix/>
          </a:blip>
          <a:srcRect/>
          <a:stretch/>
        </p:blipFill>
        <p:spPr>
          <a:xfrm>
            <a:off x="7429619" y="1601762"/>
            <a:ext cx="4572000" cy="1409700"/>
          </a:xfrm>
          <a:prstGeom prst="rect">
            <a:avLst/>
          </a:prstGeom>
          <a:noFill/>
          <a:ln>
            <a:noFill/>
          </a:ln>
        </p:spPr>
      </p:pic>
      <p:sp>
        <p:nvSpPr>
          <p:cNvPr id="624" name="Reference style 624"/>
          <p:cNvSpPr txBox="1"/>
          <p:nvPr/>
        </p:nvSpPr>
        <p:spPr>
          <a:xfrm>
            <a:off x="502920" y="54864"/>
            <a:ext cx="6035040" cy="237744"/>
          </a:xfrm>
          <a:prstGeom prst="rect">
            <a:avLst/>
          </a:prstGeom>
          <a:noFill/>
        </p:spPr>
        <p:txBody>
          <a:bodyPr wrap="square" lIns="0" rIns="0" tIns="0" bIns="0" anchor="ctr">
            <a:noAutofit/>
          </a:bodyPr>
          <a:lstStyle/>
          <a:p>
            <a:pPr algn="l"/>
            <a:r>
              <a:rPr lang="en-US" sz="1200" b="1" dirty="0">
                <a:solidFill>
                  <a:srgbClr val="1E2682"/>
                </a:solidFill>
                <a:latin typeface="Arial"/>
              </a:rPr>
              <a:t>STUDENT MOVE</a:t>
            </a:r>
            <a:r>
              <a:rPr lang="en-US" sz="1200" b="1" dirty="0">
                <a:solidFill>
                  <a:srgbClr val="5D6872"/>
                </a:solidFill>
                <a:latin typeface="Arial"/>
              </a:rPr>
              <a:t xml:space="preserve">  ·  COMPARE TOTALS • JUSTIFY</a:t>
            </a:r>
          </a:p>
        </p:txBody>
      </p:sp>
      <p:sp>
        <p:nvSpPr>
          <p:cNvPr id="626" name="Reference style 626"/>
          <p:cNvSpPr/>
          <p:nvPr/>
        </p:nvSpPr>
        <p:spPr>
          <a:xfrm>
            <a:off x="7406640" y="3657600"/>
            <a:ext cx="4251960" cy="1783080"/>
          </a:xfrm>
          <a:prstGeom prst="roundRect">
            <a:avLst/>
          </a:prstGeom>
          <a:solidFill>
            <a:srgbClr val="FFF0E7"/>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7" name="Reference style 627"/>
          <p:cNvSpPr/>
          <p:nvPr/>
        </p:nvSpPr>
        <p:spPr>
          <a:xfrm>
            <a:off x="7406640" y="3657600"/>
            <a:ext cx="64008" cy="1783080"/>
          </a:xfrm>
          <a:prstGeom prst="rect">
            <a:avLst/>
          </a:prstGeom>
          <a:solidFill>
            <a:srgbClr val="CC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8" name="Reference style 628"/>
          <p:cNvSpPr txBox="1"/>
          <p:nvPr/>
        </p:nvSpPr>
        <p:spPr>
          <a:xfrm>
            <a:off x="7571232" y="3767328"/>
            <a:ext cx="3959352" cy="201168"/>
          </a:xfrm>
          <a:prstGeom prst="rect">
            <a:avLst/>
          </a:prstGeom>
          <a:noFill/>
        </p:spPr>
        <p:txBody>
          <a:bodyPr wrap="square" lIns="0" tIns="0" rIns="0" bIns="0" anchor="t">
            <a:noAutofit/>
          </a:bodyPr>
          <a:lstStyle/>
          <a:p>
            <a:pPr algn="l" marL="0" indent="0">
              <a:buNone/>
            </a:pPr>
            <a:r>
              <a:rPr sz="1200" b="1">
                <a:solidFill>
                  <a:srgbClr val="CC4400"/>
                </a:solidFill>
                <a:latin typeface="Arial"/>
              </a:rPr>
              <a:t>COMPARE WHAT SHE NEEDS</a:t>
            </a:r>
          </a:p>
        </p:txBody>
      </p:sp>
      <p:sp>
        <p:nvSpPr>
          <p:cNvPr id="629" name="Reference style 629"/>
          <p:cNvSpPr txBox="1"/>
          <p:nvPr/>
        </p:nvSpPr>
        <p:spPr>
          <a:xfrm>
            <a:off x="7571232" y="4059936"/>
            <a:ext cx="3931920" cy="1344168"/>
          </a:xfrm>
          <a:prstGeom prst="rect">
            <a:avLst/>
          </a:prstGeom>
          <a:noFill/>
        </p:spPr>
        <p:txBody>
          <a:bodyPr wrap="square" lIns="0" tIns="0" rIns="0" bIns="0" anchor="t">
            <a:noAutofit/>
          </a:bodyPr>
          <a:lstStyle/>
          <a:p>
            <a:pPr algn="l" marL="0" indent="0">
              <a:buNone/>
            </a:pPr>
            <a:r>
              <a:rPr sz="1600" b="0">
                <a:solidFill>
                  <a:srgbClr val="262C30"/>
                </a:solidFill>
                <a:latin typeface="Arial"/>
              </a:rPr>
              <a:t>Find the total cost for 5 daily passes. Compare it with $35 for the weekly pass.</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Compare pathways with a partner; name one revision.</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40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3.2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giving a rate without units or reversing the comparison.</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Label both quantities and their units in the given representation.</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32" name="Google Shape;832;p8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33" name="Google Shape;833;p84"/>
          <p:cNvSpPr txBox="1"/>
          <p:nvPr/>
        </p:nvSpPr>
        <p:spPr>
          <a:xfrm>
            <a:off x="484565" y="485269"/>
            <a:ext cx="6366435" cy="31723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Yelina will take the train into the city each day for one week. Which pass offers her the lower cost per day?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What information is given in the problem?</a:t>
            </a:r>
            <a:r>
              <a:rPr b="0" i="0" lang="en-US" sz="2800" u="none" cap="none" strike="noStrike">
                <a:solidFill>
                  <a:srgbClr val="262626"/>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descr="D:\Sujatha\Job\Epres_New\PPT\G6U3\sn_47fe6-360mp4\OPS\img\.assets\e066808edad244009dce5dfd1d5f999c\narm24_c10302_se_003a-dig.png" id="834" name="Google Shape;834;p84"/>
          <p:cNvPicPr preferRelativeResize="0"/>
          <p:nvPr/>
        </p:nvPicPr>
        <p:blipFill rotWithShape="1">
          <a:blip r:embed="rId2">
            <a:alphaModFix/>
          </a:blip>
          <a:srcRect b="0" l="0" r="0" t="0"/>
          <a:stretch/>
        </p:blipFill>
        <p:spPr>
          <a:xfrm>
            <a:off x="6687582" y="1809000"/>
            <a:ext cx="5254055" cy="1620000"/>
          </a:xfrm>
          <a:prstGeom prst="rect">
            <a:avLst/>
          </a:prstGeom>
          <a:noFill/>
          <a:ln>
            <a:noFill/>
          </a:ln>
        </p:spPr>
      </p:pic>
      <p:sp>
        <p:nvSpPr>
          <p:cNvPr id="835" name="Google Shape;835;p84"/>
          <p:cNvSpPr txBox="1"/>
          <p:nvPr/>
        </p:nvSpPr>
        <p:spPr>
          <a:xfrm>
            <a:off x="484565" y="4822691"/>
            <a:ext cx="5960624"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cost of a 1-day pass and the cost of a 7-day pass.</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41696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64" name="Google Shape;864;p8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65" name="Google Shape;865;p88"/>
          <p:cNvSpPr txBox="1"/>
          <p:nvPr/>
        </p:nvSpPr>
        <p:spPr>
          <a:xfrm>
            <a:off x="432807" y="485269"/>
            <a:ext cx="6366435" cy="11387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express the cost of a 1-day pass as a rate?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p:txBody>
      </p:sp>
      <p:pic>
        <p:nvPicPr>
          <p:cNvPr descr="D:\Sujatha\Job\Epres_New\PPT\G6U3\sn_47fe6-360mp4\OPS\img\.assets\e066808edad244009dce5dfd1d5f999c\narm24_c10302_se_003a-dig.png" id="866" name="Google Shape;866;p88"/>
          <p:cNvPicPr preferRelativeResize="0"/>
          <p:nvPr/>
        </p:nvPicPr>
        <p:blipFill rotWithShape="1">
          <a:blip r:embed="rId2">
            <a:alphaModFix/>
          </a:blip>
          <a:srcRect b="0" l="0" r="0" t="0"/>
          <a:stretch/>
        </p:blipFill>
        <p:spPr>
          <a:xfrm>
            <a:off x="2028488" y="1967904"/>
            <a:ext cx="7005410" cy="2160000"/>
          </a:xfrm>
          <a:prstGeom prst="rect">
            <a:avLst/>
          </a:prstGeom>
          <a:noFill/>
          <a:ln>
            <a:noFill/>
          </a:ln>
        </p:spPr>
      </p:pic>
      <p:sp>
        <p:nvSpPr>
          <p:cNvPr id="867" name="Google Shape;867;p88"/>
          <p:cNvSpPr txBox="1"/>
          <p:nvPr/>
        </p:nvSpPr>
        <p:spPr>
          <a:xfrm>
            <a:off x="484566" y="4822691"/>
            <a:ext cx="5960624"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rate of a 1-day pass is 6.25 to 1 or 6.25 : 1.</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a:t>
            </a:r>
            <a:endParaRPr lang="en-US" sz="2000"/>
          </a:p>
          <a:p>
            <a:pPr>
              <a:lnSpc>
                <a:spcPts val="2400"/>
              </a:lnSpc>
              <a:buNone/>
            </a:pPr>
            <a:r>
              <a:rPr lang="en-US" sz="2000">
                <a:solidFill>
                  <a:srgbClr val="174D60"/>
                </a:solidFill>
                <a:latin typeface="Arial"/>
              </a:rPr>
              <a:t>you make.</a:t>
            </a:r>
            <a:endParaRPr lang="en-US" sz="200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15" name="Google Shape;915;p9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16" name="Google Shape;916;p94"/>
          <p:cNvSpPr txBox="1"/>
          <p:nvPr/>
        </p:nvSpPr>
        <p:spPr>
          <a:xfrm>
            <a:off x="614744" y="582417"/>
            <a:ext cx="8160671" cy="18933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The 7-day pass costs $35 for every 7 days.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What is the rate for a 7-day pass?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p:txBody>
      </p:sp>
      <p:pic>
        <p:nvPicPr>
          <p:cNvPr descr="D:\Sujatha\Job\Epres_New\PPT\G6U3\sn_47fe6-360mp4\OPS\img\.assets\eab6014e798848eca95eaed32b8e5d78\narm24_c10302_se_004a-dig-a.png" id="917" name="Google Shape;917;p94"/>
          <p:cNvPicPr preferRelativeResize="0"/>
          <p:nvPr/>
        </p:nvPicPr>
        <p:blipFill rotWithShape="1">
          <a:blip r:embed="rId2">
            <a:alphaModFix/>
          </a:blip>
          <a:srcRect b="0" l="0" r="0" t="0"/>
          <a:stretch/>
        </p:blipFill>
        <p:spPr>
          <a:xfrm>
            <a:off x="2411830" y="2762220"/>
            <a:ext cx="5980371" cy="1620000"/>
          </a:xfrm>
          <a:prstGeom prst="rect">
            <a:avLst/>
          </a:prstGeom>
          <a:noFill/>
          <a:ln>
            <a:noFill/>
          </a:ln>
        </p:spPr>
      </p:pic>
      <p:sp>
        <p:nvSpPr>
          <p:cNvPr id="918" name="Google Shape;918;p94"/>
          <p:cNvSpPr txBox="1"/>
          <p:nvPr/>
        </p:nvSpPr>
        <p:spPr>
          <a:xfrm>
            <a:off x="467312" y="4883075"/>
            <a:ext cx="5960624"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rate for a 7-day pass is 35 to 7 or  35 : 7.</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a:t>
            </a:r>
            <a:endParaRPr lang="en-US" sz="2000"/>
          </a:p>
          <a:p>
            <a:pPr>
              <a:lnSpc>
                <a:spcPts val="2400"/>
              </a:lnSpc>
              <a:buNone/>
            </a:pPr>
            <a:r>
              <a:rPr lang="en-US" sz="2000">
                <a:solidFill>
                  <a:srgbClr val="174D60"/>
                </a:solidFill>
                <a:latin typeface="Arial"/>
              </a:rPr>
              <a:t>you make.</a:t>
            </a:r>
            <a:endParaRPr lang="en-US" sz="20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pic>
        <p:nvPicPr>
          <p:cNvPr id="641" name="Reference style 641">
            <a:extLst>
              <a:ext uri="{FF2B5EF4-FFF2-40B4-BE49-F238E27FC236}">
                <a16:creationId xmlns:a16="http://schemas.microsoft.com/office/drawing/2014/main" id="{DB6EED09-8B61-F64F-907D-F4B749DB901C}"/>
              </a:ext>
            </a:extLst>
          </p:cNvPr>
          <p:cNvPicPr>
            <a:picLocks noChangeAspect="1"/>
          </p:cNvPicPr>
          <p:nvPr userDrawn="1"/>
        </p:nvPicPr>
        <p:blipFill>
          <a:blip r:embed="rIdReferenceHeader323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cxnSp>
        <p:nvCxnSpPr>
          <p:cNvPr id="635" name="Google Shape;635;p88"/>
          <p:cNvCxnSpPr/>
          <p:nvPr/>
        </p:nvCxnSpPr>
        <p:spPr>
          <a:xfrm>
            <a:off x="13164879" y="5911702"/>
            <a:ext cx="0" cy="0"/>
          </a:xfrm>
          <a:prstGeom prst="straightConnector1">
            <a:avLst/>
          </a:prstGeom>
          <a:noFill/>
          <a:ln w="9525" cap="flat" cmpd="sng">
            <a:solidFill>
              <a:schemeClr val="accent1"/>
            </a:solidFill>
            <a:prstDash val="solid"/>
            <a:miter lim="8000"/>
            <a:headEnd type="none" w="sm" len="sm"/>
            <a:tailEnd type="none" w="sm" len="sm"/>
          </a:ln>
        </p:spPr>
      </p:cxnSp>
      <p:sp>
        <p:nvSpPr>
          <p:cNvPr id="636" name="Google Shape;636;p88"/>
          <p:cNvSpPr txBox="1"/>
          <p:nvPr/>
        </p:nvSpPr>
        <p:spPr>
          <a:xfrm>
            <a:off x="484565" y="316034"/>
            <a:ext cx="6858000" cy="92617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defRPr/>
            </a:pPr>
            <a:r>
              <a:rPr lang="en-US" sz="2700" b="1">
                <a:solidFill>
                  <a:srgbClr val="782DA0"/>
                </a:solidFill>
                <a:latin typeface="Arial"/>
                <a:ea typeface="Arial"/>
                <a:cs typeface="Arial"/>
                <a:sym typeface="Arial"/>
              </a:rPr>
              <a:t>Summarize: Rates and Unit Rates</a:t>
            </a:r>
          </a:p>
        </p:txBody>
      </p:sp>
      <p:graphicFrame>
        <p:nvGraphicFramePr>
          <p:cNvPr id="637" name="Google Shape;637;p88"/>
          <p:cNvGraphicFramePr/>
          <p:nvPr/>
        </p:nvGraphicFramePr>
        <p:xfrm>
          <a:off x="484566" y="1966136"/>
          <a:ext cx="10197300" cy="3742335"/>
        </p:xfrm>
        <a:graphic>
          <a:graphicData uri="http://schemas.openxmlformats.org/drawingml/2006/table">
            <a:tbl>
              <a:tblPr firstRow="1" bandRow="1">
                <a:noFill/>
                <a:tableStyleId>{BFEC2A03-D0E9-4743-8480-7427E409344A}</a:tableStyleId>
              </a:tblPr>
              <a:tblGrid>
                <a:gridCol w="3399100">
                  <a:extLst>
                    <a:ext uri="{9D8B030D-6E8A-4147-A177-3AD203B41FA5}">
                      <a16:colId xmlns:a16="http://schemas.microsoft.com/office/drawing/2014/main" val="20000"/>
                    </a:ext>
                  </a:extLst>
                </a:gridCol>
                <a:gridCol w="3399100">
                  <a:extLst>
                    <a:ext uri="{9D8B030D-6E8A-4147-A177-3AD203B41FA5}">
                      <a16:colId xmlns:a16="http://schemas.microsoft.com/office/drawing/2014/main" val="20001"/>
                    </a:ext>
                  </a:extLst>
                </a:gridCol>
                <a:gridCol w="3399100">
                  <a:extLst>
                    <a:ext uri="{9D8B030D-6E8A-4147-A177-3AD203B41FA5}">
                      <a16:colId xmlns:a16="http://schemas.microsoft.com/office/drawing/2014/main" val="20002"/>
                    </a:ext>
                  </a:extLst>
                </a:gridCol>
              </a:tblGrid>
              <a:tr h="886625">
                <a:tc>
                  <a:txBody>
                    <a:bodyPr/>
                    <a:lstStyle/>
                    <a:p>
                      <a:pPr marL="0" marR="0" lvl="0" indent="0" algn="l" rtl="0">
                        <a:spcBef>
                          <a:spcPts val="0"/>
                        </a:spcBef>
                        <a:spcAft>
                          <a:spcPts val="0"/>
                        </a:spcAft>
                        <a:buNone/>
                      </a:pPr>
                      <a:endParaRPr sz="2800">
                        <a:latin typeface="Arial"/>
                        <a:ea typeface="Arial"/>
                        <a:cs typeface="Arial"/>
                        <a:sym typeface="Arial"/>
                      </a:endParaRPr>
                    </a:p>
                  </a:txBody>
                  <a:tcPr marL="91450" marR="91450" marT="45725" marB="45725">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2800"/>
                        <a:buFont typeface="Arial"/>
                        <a:buNone/>
                      </a:pPr>
                      <a:r>
                        <a:rPr lang="en-US" sz="2800">
                          <a:latin typeface="Arial"/>
                          <a:ea typeface="Arial"/>
                          <a:cs typeface="Arial"/>
                          <a:sym typeface="Arial"/>
                        </a:rPr>
                        <a:t>Rate</a:t>
                      </a:r>
                      <a:endParaRPr sz="2800">
                        <a:latin typeface="Arial"/>
                        <a:ea typeface="Arial"/>
                        <a:cs typeface="Arial"/>
                        <a:sym typeface="Aria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695B9A"/>
                    </a:solidFill>
                  </a:tcPr>
                </a:tc>
                <a:tc>
                  <a:txBody>
                    <a:bodyPr/>
                    <a:lstStyle/>
                    <a:p>
                      <a:pPr marL="0" marR="0" lvl="0" indent="0" algn="l" rtl="0">
                        <a:spcBef>
                          <a:spcPts val="0"/>
                        </a:spcBef>
                        <a:spcAft>
                          <a:spcPts val="0"/>
                        </a:spcAft>
                        <a:buNone/>
                      </a:pPr>
                      <a:r>
                        <a:rPr lang="en-US" sz="2800">
                          <a:latin typeface="Arial"/>
                          <a:ea typeface="Arial"/>
                          <a:cs typeface="Arial"/>
                          <a:sym typeface="Arial"/>
                        </a:rPr>
                        <a:t>Unit Rates</a:t>
                      </a:r>
                      <a:endParaRPr sz="2800">
                        <a:latin typeface="Arial"/>
                        <a:ea typeface="Arial"/>
                        <a:cs typeface="Arial"/>
                        <a:sym typeface="Aria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695B9A"/>
                    </a:solidFill>
                  </a:tcPr>
                </a:tc>
                <a:extLst>
                  <a:ext uri="{0D108BD9-81ED-4DB2-BD59-A6C34878D82A}">
                    <a16:rowId xmlns:a16="http://schemas.microsoft.com/office/drawing/2014/main" val="10000"/>
                  </a:ext>
                </a:extLst>
              </a:tr>
              <a:tr h="1484100">
                <a:tc>
                  <a:txBody>
                    <a:bodyPr/>
                    <a:lstStyle/>
                    <a:p>
                      <a:pPr marL="0" marR="0" lvl="0" indent="0" algn="l" rtl="0">
                        <a:spcBef>
                          <a:spcPts val="0"/>
                        </a:spcBef>
                        <a:spcAft>
                          <a:spcPts val="0"/>
                        </a:spcAft>
                        <a:buNone/>
                      </a:pPr>
                      <a:r>
                        <a:rPr lang="en-US" sz="2800">
                          <a:latin typeface="Arial"/>
                          <a:ea typeface="Arial"/>
                          <a:cs typeface="Arial"/>
                          <a:sym typeface="Arial"/>
                        </a:rPr>
                        <a:t>A babysitter earns $44 after working 4 hours.</a:t>
                      </a:r>
                      <a:endParaRPr sz="2800">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2800">
                          <a:latin typeface="Arial"/>
                          <a:ea typeface="Arial"/>
                          <a:cs typeface="Arial"/>
                          <a:sym typeface="Arial"/>
                        </a:rPr>
                        <a:t xml:space="preserve">$44 for 4 hours </a:t>
                      </a:r>
                      <a:endParaRPr/>
                    </a:p>
                    <a:p>
                      <a:pPr marL="0" marR="0" lvl="0" indent="0" algn="l" rtl="0">
                        <a:spcBef>
                          <a:spcPts val="0"/>
                        </a:spcBef>
                        <a:spcAft>
                          <a:spcPts val="0"/>
                        </a:spcAft>
                        <a:buNone/>
                      </a:pPr>
                      <a:r>
                        <a:rPr lang="en-US" sz="2800">
                          <a:latin typeface="Cambria Math"/>
                          <a:ea typeface="Cambria Math"/>
                          <a:cs typeface="Cambria Math"/>
                          <a:sym typeface="Cambria Math"/>
                        </a:rPr>
                        <a:t>44 : 4</a:t>
                      </a:r>
                      <a:r>
                        <a:rPr lang="en-US" sz="2800">
                          <a:latin typeface="Arial"/>
                          <a:ea typeface="Arial"/>
                          <a:cs typeface="Arial"/>
                          <a:sym typeface="Arial"/>
                        </a:rPr>
                        <a:t xml:space="preserve"> </a:t>
                      </a:r>
                      <a:endParaRPr sz="2800">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2800">
                          <a:latin typeface="Arial"/>
                          <a:ea typeface="Arial"/>
                          <a:cs typeface="Arial"/>
                          <a:sym typeface="Arial"/>
                        </a:rPr>
                        <a:t xml:space="preserve">$11 for 1 hour </a:t>
                      </a:r>
                      <a:endParaRPr/>
                    </a:p>
                    <a:p>
                      <a:pPr marL="0" marR="0" lvl="0" indent="0" algn="l" rtl="0">
                        <a:spcBef>
                          <a:spcPts val="0"/>
                        </a:spcBef>
                        <a:spcAft>
                          <a:spcPts val="0"/>
                        </a:spcAft>
                        <a:buNone/>
                      </a:pPr>
                      <a:r>
                        <a:rPr lang="en-US" sz="2800">
                          <a:latin typeface="Arial"/>
                          <a:ea typeface="Arial"/>
                          <a:cs typeface="Arial"/>
                          <a:sym typeface="Arial"/>
                        </a:rPr>
                        <a:t xml:space="preserve">$11 per hour </a:t>
                      </a:r>
                      <a:endParaRPr/>
                    </a:p>
                    <a:p>
                      <a:pPr marL="0" marR="0" lvl="0" indent="0" algn="l" rtl="0">
                        <a:spcBef>
                          <a:spcPts val="0"/>
                        </a:spcBef>
                        <a:spcAft>
                          <a:spcPts val="0"/>
                        </a:spcAft>
                        <a:buNone/>
                      </a:pPr>
                      <a:r>
                        <a:rPr lang="en-US" sz="2800">
                          <a:latin typeface="Cambria Math"/>
                          <a:ea typeface="Cambria Math"/>
                          <a:cs typeface="Cambria Math"/>
                          <a:sym typeface="Cambria Math"/>
                        </a:rPr>
                        <a:t>11 : 1</a:t>
                      </a:r>
                      <a:r>
                        <a:rPr lang="en-US" sz="2800">
                          <a:latin typeface="Arial"/>
                          <a:ea typeface="Arial"/>
                          <a:cs typeface="Arial"/>
                          <a:sym typeface="Arial"/>
                        </a:rPr>
                        <a:t xml:space="preserve"> </a:t>
                      </a:r>
                      <a:endParaRPr sz="2800">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303200">
                <a:tc>
                  <a:txBody>
                    <a:bodyPr/>
                    <a:lstStyle/>
                    <a:p>
                      <a:pPr marL="0" marR="0" lvl="0" indent="0" algn="l" rtl="0">
                        <a:spcBef>
                          <a:spcPts val="0"/>
                        </a:spcBef>
                        <a:spcAft>
                          <a:spcPts val="0"/>
                        </a:spcAft>
                        <a:buNone/>
                      </a:pPr>
                      <a:r>
                        <a:rPr lang="en-US" sz="2800">
                          <a:latin typeface="Arial"/>
                          <a:ea typeface="Arial"/>
                          <a:cs typeface="Arial"/>
                          <a:sym typeface="Arial"/>
                        </a:rPr>
                        <a:t>A car drives 200 miles in 5 hours at a constant speed.</a:t>
                      </a:r>
                      <a:endParaRPr sz="2800">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800"/>
                        <a:buFont typeface="Arial"/>
                        <a:buNone/>
                      </a:pPr>
                      <a:r>
                        <a:rPr lang="en-US" sz="2800">
                          <a:latin typeface="Arial"/>
                          <a:ea typeface="Arial"/>
                          <a:cs typeface="Arial"/>
                          <a:sym typeface="Arial"/>
                        </a:rPr>
                        <a:t xml:space="preserve">200 miles in 5 hours </a:t>
                      </a:r>
                      <a:r>
                        <a:rPr lang="en-US" sz="2800">
                          <a:latin typeface="Cambria Math"/>
                          <a:ea typeface="Cambria Math"/>
                          <a:cs typeface="Cambria Math"/>
                          <a:sym typeface="Cambria Math"/>
                        </a:rPr>
                        <a:t>200 : 5</a:t>
                      </a:r>
                      <a:r>
                        <a:rPr lang="en-US" sz="2800">
                          <a:latin typeface="Arial"/>
                          <a:ea typeface="Arial"/>
                          <a:cs typeface="Arial"/>
                          <a:sym typeface="Arial"/>
                        </a:rPr>
                        <a:t xml:space="preserve"> </a:t>
                      </a:r>
                      <a:endParaRPr sz="2800">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2800">
                          <a:latin typeface="Arial"/>
                          <a:ea typeface="Arial"/>
                          <a:cs typeface="Arial"/>
                          <a:sym typeface="Arial"/>
                        </a:rPr>
                        <a:t>40 miles in 1 hour 40 miles per hour</a:t>
                      </a:r>
                      <a:endParaRPr/>
                    </a:p>
                    <a:p>
                      <a:pPr marL="0" marR="0" lvl="0" indent="0" algn="l" rtl="0">
                        <a:spcBef>
                          <a:spcPts val="0"/>
                        </a:spcBef>
                        <a:spcAft>
                          <a:spcPts val="0"/>
                        </a:spcAft>
                        <a:buNone/>
                      </a:pPr>
                      <a:r>
                        <a:rPr lang="en-US" sz="2800">
                          <a:latin typeface="Cambria Math"/>
                          <a:ea typeface="Cambria Math"/>
                          <a:cs typeface="Cambria Math"/>
                          <a:sym typeface="Cambria Math"/>
                        </a:rPr>
                        <a:t>40 : 1</a:t>
                      </a:r>
                      <a:r>
                        <a:rPr lang="en-US" sz="2800">
                          <a:latin typeface="Arial"/>
                          <a:ea typeface="Arial"/>
                          <a:cs typeface="Arial"/>
                          <a:sym typeface="Arial"/>
                        </a:rPr>
                        <a:t xml:space="preserve"> </a:t>
                      </a:r>
                      <a:endParaRPr sz="2800">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38" name="Google Shape;638;p88"/>
          <p:cNvSpPr txBox="1"/>
          <p:nvPr/>
        </p:nvSpPr>
        <p:spPr>
          <a:xfrm>
            <a:off x="0" y="1489082"/>
            <a:ext cx="4243526" cy="523220"/>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defRPr/>
            </a:pPr>
            <a:r>
              <a:rPr lang="en-US" sz="2800" b="1" i="0" u="none" strike="noStrike" cap="none">
                <a:solidFill>
                  <a:srgbClr val="23282D"/>
                </a:solidFill>
                <a:highlight>
                  <a:srgbClr val="FFF2A8"/>
                </a:highlight>
                <a:latin typeface="Arial"/>
                <a:ea typeface="Arial"/>
                <a:cs typeface="Arial"/>
                <a:sym typeface="Arial"/>
              </a:rPr>
              <a:t>Rates</a:t>
            </a:r>
            <a:r>
              <a:rPr lang="en-US" sz="2800" b="1" i="0" u="none" strike="noStrike" cap="none">
                <a:solidFill>
                  <a:schemeClr val="dk1"/>
                </a:solidFill>
                <a:latin typeface="Arial"/>
                <a:ea typeface="Arial"/>
                <a:cs typeface="Arial"/>
                <a:sym typeface="Arial"/>
              </a:rPr>
              <a:t xml:space="preserve"> and </a:t>
            </a:r>
            <a:r>
              <a:rPr lang="en-US" sz="2800" b="1" i="0" u="none" strike="noStrike" cap="none">
                <a:solidFill>
                  <a:srgbClr val="23282D"/>
                </a:solidFill>
                <a:highlight>
                  <a:srgbClr val="FFF2A8"/>
                </a:highlight>
                <a:latin typeface="Arial"/>
                <a:ea typeface="Arial"/>
                <a:cs typeface="Arial"/>
                <a:sym typeface="Arial"/>
              </a:rPr>
              <a:t>Unit Rates</a:t>
            </a:r>
            <a:endParaRPr/>
          </a:p>
        </p:txBody>
      </p:sp>
      <p:sp>
        <p:nvSpPr>
          <p:cNvPr id="639" name="Reference style 639"/>
          <p:cNvSpPr txBox="1"/>
          <p:nvPr/>
        </p:nvSpPr>
        <p:spPr>
          <a:xfrm>
            <a:off x="502920" y="54864"/>
            <a:ext cx="6035040" cy="237744"/>
          </a:xfrm>
          <a:prstGeom prst="rect">
            <a:avLst/>
          </a:prstGeom>
          <a:noFill/>
        </p:spPr>
        <p:txBody>
          <a:bodyPr wrap="square" lIns="0" rIns="0" tIns="0" bIns="0" anchor="ctr">
            <a:noAutofit/>
          </a:bodyPr>
          <a:lstStyle/>
          <a:p>
            <a:pPr algn="l">
              <a:defRPr/>
            </a:pPr>
            <a:r>
              <a:rPr lang="en-US" sz="1200" b="1" dirty="0">
                <a:solidFill>
                  <a:srgbClr val="1E2682"/>
                </a:solidFill>
                <a:latin typeface="Arial"/>
              </a:rPr>
              <a:t>STUDENT MOVE</a:t>
            </a:r>
            <a:r>
              <a:rPr lang="en-US" sz="1200" b="1" dirty="0">
                <a:solidFill>
                  <a:srgbClr val="5D6872"/>
                </a:solidFill>
                <a:latin typeface="Arial"/>
              </a:rPr>
              <a:t xml:space="preserve">  ·  CONNECT RATE TO UNIT RATE</a:t>
            </a:r>
          </a:p>
        </p:txBody>
      </p:sp>
      <p:sp>
        <p:nvSpPr>
          <p:cNvPr id="64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40</a:t>
            </a:r>
          </a:p>
        </p:txBody>
      </p:sp>
      <p:grpSp>
        <p:nvGrpSpPr>
          <p:cNvPr id="643" name="TEACH-7-student-move" descr="TEACH 7 · Cultivate a supportive learning community"/>
          <p:cNvGrpSpPr/>
          <p:nvPr/>
        </p:nvGrpSpPr>
        <p:grpSpPr>
          <a:xfrm>
            <a:off x="502920" y="5745047"/>
            <a:ext cx="11186160" cy="457200"/>
            <a:chOff x="502920" y="5745047"/>
            <a:chExt cx="11186160" cy="457200"/>
          </a:xfrm>
        </p:grpSpPr>
        <p:sp>
          <p:nvSpPr>
            <p:cNvPr id="644" name="TEACH-move-card"/>
            <p:cNvSpPr/>
            <p:nvPr/>
          </p:nvSpPr>
          <p:spPr>
            <a:xfrm>
              <a:off x="502920" y="5745047"/>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645" name="TEACH-move-rule"/>
            <p:cNvSpPr/>
            <p:nvPr/>
          </p:nvSpPr>
          <p:spPr>
            <a:xfrm>
              <a:off x="548640" y="5831915"/>
              <a:ext cx="100584" cy="283464"/>
            </a:xfrm>
            <a:prstGeom prst="roundRect">
              <a:avLst>
                <a:gd name="adj" fmla="val 50000"/>
              </a:avLst>
            </a:prstGeom>
            <a:solidFill>
              <a:srgbClr val="01708C"/>
            </a:solidFill>
            <a:ln>
              <a:noFill/>
            </a:ln>
          </p:spPr>
          <p:txBody>
            <a:bodyPr/>
            <a:lstStyle/>
            <a:p>
              <a:endParaRPr/>
            </a:p>
          </p:txBody>
        </p:sp>
        <p:sp>
          <p:nvSpPr>
            <p:cNvPr id="646" name="TEACH-move-text"/>
            <p:cNvSpPr txBox="1"/>
            <p:nvPr/>
          </p:nvSpPr>
          <p:spPr>
            <a:xfrm>
              <a:off x="822960" y="5745047"/>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CREDIT A CLASSMATE  ·  </a:t>
              </a:r>
              <a:r>
                <a:rPr lang="en-US" sz="1400" dirty="0">
                  <a:solidFill>
                    <a:srgbClr val="13303A"/>
                  </a:solidFill>
                  <a:latin typeface="Arial"/>
                </a:rPr>
                <a:t>Name one classmate whose idea helped you today, and say what they said.</a:t>
              </a:r>
              <a:endParaRPr lang="en-US" sz="1400"/>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pic>
        <p:nvPicPr>
          <p:cNvPr id="653" name="Reference style 653">
            <a:extLst>
              <a:ext uri="{FF2B5EF4-FFF2-40B4-BE49-F238E27FC236}">
                <a16:creationId xmlns:a16="http://schemas.microsoft.com/office/drawing/2014/main" id="{DB6EED09-8B61-F64F-907D-F4B749DB901C}"/>
              </a:ext>
            </a:extLst>
          </p:cNvPr>
          <p:cNvPicPr>
            <a:picLocks noChangeAspect="1"/>
          </p:cNvPicPr>
          <p:nvPr userDrawn="1"/>
        </p:nvPicPr>
        <p:blipFill>
          <a:blip r:embed="rIdReferenceHeader323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643" name="Google Shape;643;p89"/>
          <p:cNvSpPr txBox="1"/>
          <p:nvPr/>
        </p:nvSpPr>
        <p:spPr>
          <a:xfrm>
            <a:off x="484565" y="316034"/>
            <a:ext cx="6858000" cy="53740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defRPr/>
            </a:pPr>
            <a:r>
              <a:rPr lang="en-US" sz="2800" b="1">
                <a:solidFill>
                  <a:srgbClr val="782DA0"/>
                </a:solidFill>
                <a:latin typeface="Arial"/>
                <a:ea typeface="Arial"/>
                <a:cs typeface="Arial"/>
                <a:sym typeface="Arial"/>
              </a:rPr>
              <a:t>Apply:</a:t>
            </a:r>
            <a:r>
              <a:rPr lang="en-US" sz="2800" b="1">
                <a:solidFill>
                  <a:srgbClr val="782DA0"/>
                </a:solidFill>
                <a:latin typeface="Arial"/>
                <a:ea typeface="Arial"/>
                <a:cs typeface="Arial"/>
                <a:sym typeface="Arial"/>
              </a:rPr>
              <a:t xml:space="preserve"> Metro Train Versus Car Cost</a:t>
            </a:r>
            <a:endParaRPr sz="2800" b="1">
              <a:solidFill>
                <a:srgbClr val="782DA0"/>
              </a:solidFill>
              <a:latin typeface="Arial"/>
              <a:ea typeface="Arial"/>
              <a:cs typeface="Arial"/>
              <a:sym typeface="Arial"/>
            </a:endParaRPr>
          </a:p>
        </p:txBody>
      </p:sp>
      <p:cxnSp>
        <p:nvCxnSpPr>
          <p:cNvPr id="644" name="Google Shape;644;p89"/>
          <p:cNvCxnSpPr/>
          <p:nvPr/>
        </p:nvCxnSpPr>
        <p:spPr>
          <a:xfrm>
            <a:off x="13164879" y="5911702"/>
            <a:ext cx="0" cy="0"/>
          </a:xfrm>
          <a:prstGeom prst="straightConnector1">
            <a:avLst/>
          </a:prstGeom>
          <a:noFill/>
          <a:ln w="9525" cap="flat" cmpd="sng">
            <a:solidFill>
              <a:schemeClr val="accent1"/>
            </a:solidFill>
            <a:prstDash val="solid"/>
            <a:miter lim="8000"/>
            <a:headEnd type="none" w="sm" len="sm"/>
            <a:tailEnd type="none" w="sm" len="sm"/>
          </a:ln>
        </p:spPr>
      </p:cxnSp>
      <p:sp>
        <p:nvSpPr>
          <p:cNvPr id="645" name="Google Shape;645;p89"/>
          <p:cNvSpPr txBox="1"/>
          <p:nvPr/>
        </p:nvSpPr>
        <p:spPr>
          <a:xfrm>
            <a:off x="484565" y="1353627"/>
            <a:ext cx="6705944" cy="4927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defRPr/>
            </a:pPr>
            <a:r>
              <a:rPr lang="en-US" sz="2400">
                <a:solidFill>
                  <a:srgbClr val="23282D"/>
                </a:solidFill>
                <a:latin typeface="Arial"/>
                <a:ea typeface="Arial"/>
                <a:cs typeface="Arial"/>
                <a:sym typeface="Arial"/>
              </a:rPr>
              <a:t>Yelina’s mother is considering a monthly transit pass for $145. The walk from the station to work takes about 25 minutes. Her current commuting budget is shown.</a:t>
            </a:r>
          </a:p>
          <a:p>
            <a:pPr marL="0" marR="0" lvl="0" indent="0" algn="l" rtl="0">
              <a:lnSpc>
                <a:spcPct val="100000"/>
              </a:lnSpc>
              <a:spcBef>
                <a:spcPts val="0"/>
              </a:spcBef>
              <a:spcAft>
                <a:spcPts val="0"/>
              </a:spcAft>
              <a:buNone/>
              <a:defRPr/>
            </a:pPr>
            <a:r>
              <a:rPr lang="en-US" sz="2400">
                <a:solidFill>
                  <a:srgbClr val="23282D"/>
                </a:solidFill>
                <a:latin typeface="Arial"/>
                <a:ea typeface="Arial"/>
                <a:cs typeface="Arial"/>
                <a:sym typeface="Arial"/>
              </a:rPr>
              <a:t/>
            </a:r>
          </a:p>
          <a:p>
            <a:pPr marL="0" marR="0" lvl="0" indent="0" algn="l" rtl="0">
              <a:lnSpc>
                <a:spcPct val="100000"/>
              </a:lnSpc>
              <a:spcBef>
                <a:spcPts val="0"/>
              </a:spcBef>
              <a:spcAft>
                <a:spcPts val="0"/>
              </a:spcAft>
              <a:buNone/>
              <a:defRPr/>
            </a:pPr>
            <a:r>
              <a:rPr lang="en-US" sz="2400">
                <a:solidFill>
                  <a:srgbClr val="23282D"/>
                </a:solidFill>
                <a:latin typeface="Arial"/>
                <a:ea typeface="Arial"/>
                <a:cs typeface="Arial"/>
                <a:sym typeface="Arial"/>
              </a:rPr>
              <a:t>What do you recommend? Estimate a 4-week month using the weekly budget shown. Compare costs and explain how travel time affects your choice.</a:t>
            </a:r>
          </a:p>
        </p:txBody>
      </p:sp>
      <p:pic>
        <p:nvPicPr>
          <p:cNvPr id="646" name="Google Shape;646;p89" descr="D:\Sujatha\Job\Epres_New\PPT\G6U3\sn_47fe6-360mp4\OPS\img\.assets\3e1295de1fb64c27a43752a3c28cfe7f\narm24_c10302_se_008a-dig.png"/>
          <p:cNvPicPr preferRelativeResize="0"/>
          <p:nvPr/>
        </p:nvPicPr>
        <p:blipFill rotWithShape="1">
          <a:blip r:embed="rId3">
            <a:alphaModFix/>
          </a:blip>
          <a:srcRect/>
          <a:stretch/>
        </p:blipFill>
        <p:spPr>
          <a:xfrm>
            <a:off x="7573585" y="1672598"/>
            <a:ext cx="4133850" cy="3933825"/>
          </a:xfrm>
          <a:prstGeom prst="rect">
            <a:avLst/>
          </a:prstGeom>
          <a:noFill/>
          <a:ln>
            <a:noFill/>
          </a:ln>
        </p:spPr>
      </p:pic>
      <p:sp>
        <p:nvSpPr>
          <p:cNvPr id="647" name="Reference style 647"/>
          <p:cNvSpPr txBox="1"/>
          <p:nvPr/>
        </p:nvSpPr>
        <p:spPr>
          <a:xfrm>
            <a:off x="502920" y="54864"/>
            <a:ext cx="6035040" cy="237744"/>
          </a:xfrm>
          <a:prstGeom prst="rect">
            <a:avLst/>
          </a:prstGeom>
          <a:noFill/>
        </p:spPr>
        <p:txBody>
          <a:bodyPr wrap="square" lIns="0" rIns="0" tIns="0" bIns="0" anchor="ctr">
            <a:noAutofit/>
          </a:bodyPr>
          <a:lstStyle/>
          <a:p>
            <a:pPr algn="l">
              <a:defRPr/>
            </a:pPr>
            <a:r>
              <a:rPr lang="en-US" sz="1200" b="1" dirty="0">
                <a:solidFill>
                  <a:srgbClr val="1E2682"/>
                </a:solidFill>
                <a:latin typeface="Arial"/>
              </a:rPr>
              <a:t>STUDENT MOVE</a:t>
            </a:r>
            <a:r>
              <a:rPr lang="en-US" sz="1200" b="1" dirty="0">
                <a:solidFill>
                  <a:srgbClr val="5D6872"/>
                </a:solidFill>
                <a:latin typeface="Arial"/>
              </a:rPr>
              <a:t xml:space="preserve">  ·  RECOMMEND • SUPPORT IT</a:t>
            </a:r>
          </a:p>
        </p:txBody>
      </p:sp>
      <p:sp>
        <p:nvSpPr>
          <p:cNvPr id="649" name="Reference style 649"/>
          <p:cNvSpPr/>
          <p:nvPr/>
        </p:nvSpPr>
        <p:spPr>
          <a:xfrm>
            <a:off x="548640" y="5486400"/>
            <a:ext cx="6492240" cy="868680"/>
          </a:xfrm>
          <a:prstGeom prst="roundRect">
            <a:avLst/>
          </a:prstGeom>
          <a:solidFill>
            <a:srgbClr val="F1EC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0" name="Reference style 650"/>
          <p:cNvSpPr/>
          <p:nvPr/>
        </p:nvSpPr>
        <p:spPr>
          <a:xfrm>
            <a:off x="548640" y="5486400"/>
            <a:ext cx="64008" cy="868680"/>
          </a:xfrm>
          <a:prstGeom prst="rect">
            <a:avLst/>
          </a:prstGeom>
          <a:solidFill>
            <a:srgbClr val="7A2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1" name="Reference style 651"/>
          <p:cNvSpPr txBox="1"/>
          <p:nvPr/>
        </p:nvSpPr>
        <p:spPr>
          <a:xfrm>
            <a:off x="713232" y="5596128"/>
            <a:ext cx="6199632" cy="201168"/>
          </a:xfrm>
          <a:prstGeom prst="rect">
            <a:avLst/>
          </a:prstGeom>
          <a:noFill/>
        </p:spPr>
        <p:txBody>
          <a:bodyPr wrap="square" lIns="0" tIns="0" rIns="0" bIns="0" anchor="t">
            <a:noAutofit/>
          </a:bodyPr>
          <a:lstStyle/>
          <a:p>
            <a:pPr algn="l" marL="0" indent="0">
              <a:buNone/>
              <a:defRPr/>
            </a:pPr>
            <a:r>
              <a:rPr sz="1200" b="1">
                <a:solidFill>
                  <a:srgbClr val="782DA0"/>
                </a:solidFill>
                <a:latin typeface="Arial"/>
              </a:rPr>
              <a:t>SUPPORT YOUR RECOMMENDATION</a:t>
            </a:r>
          </a:p>
        </p:txBody>
      </p:sp>
      <p:sp>
        <p:nvSpPr>
          <p:cNvPr id="652" name="Reference style 652"/>
          <p:cNvSpPr txBox="1"/>
          <p:nvPr/>
        </p:nvSpPr>
        <p:spPr>
          <a:xfrm>
            <a:off x="713232" y="5888736"/>
            <a:ext cx="6172200" cy="429768"/>
          </a:xfrm>
          <a:prstGeom prst="rect">
            <a:avLst/>
          </a:prstGeom>
          <a:noFill/>
        </p:spPr>
        <p:txBody>
          <a:bodyPr wrap="square" lIns="0" tIns="0" rIns="0" bIns="0" anchor="t">
            <a:noAutofit/>
          </a:bodyPr>
          <a:lstStyle/>
          <a:p>
            <a:pPr algn="l" marL="0" indent="0">
              <a:buNone/>
              <a:defRPr/>
            </a:pPr>
            <a:r>
              <a:rPr sz="1600" b="0">
                <a:solidFill>
                  <a:srgbClr val="262C30"/>
                </a:solidFill>
                <a:latin typeface="Arial"/>
              </a:rPr>
              <a:t>“I recommend ___ because the monthly cost is ___ and ___.”</a:t>
            </a:r>
          </a:p>
        </p:txBody>
      </p:sp>
      <p:sp>
        <p:nvSpPr>
          <p:cNvPr id="65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40</a:t>
            </a:r>
          </a:p>
        </p:txBody>
      </p:sp>
      <p:grpSp>
        <p:nvGrpSpPr>
          <p:cNvPr id="655" name="TEACH-4-student-move" descr="TEACH 4 · Monitor progress and provide feedback"/>
          <p:cNvGrpSpPr/>
          <p:nvPr/>
        </p:nvGrpSpPr>
        <p:grpSpPr>
          <a:xfrm>
            <a:off x="502920" y="914715"/>
            <a:ext cx="5501640" cy="402336"/>
            <a:chOff x="502920" y="914715"/>
            <a:chExt cx="5501640" cy="402336"/>
          </a:xfrm>
        </p:grpSpPr>
        <p:sp>
          <p:nvSpPr>
            <p:cNvPr id="656" name="TEACH-move-card"/>
            <p:cNvSpPr/>
            <p:nvPr/>
          </p:nvSpPr>
          <p:spPr>
            <a:xfrm>
              <a:off x="502920" y="914715"/>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657" name="TEACH-move-rule"/>
            <p:cNvSpPr/>
            <p:nvPr/>
          </p:nvSpPr>
          <p:spPr>
            <a:xfrm>
              <a:off x="548640" y="991159"/>
              <a:ext cx="100584" cy="249448"/>
            </a:xfrm>
            <a:prstGeom prst="roundRect">
              <a:avLst>
                <a:gd name="adj" fmla="val 50000"/>
              </a:avLst>
            </a:prstGeom>
            <a:solidFill>
              <a:srgbClr val="01708C"/>
            </a:solidFill>
            <a:ln>
              <a:noFill/>
            </a:ln>
          </p:spPr>
          <p:txBody>
            <a:bodyPr/>
            <a:lstStyle/>
            <a:p>
              <a:endParaRPr/>
            </a:p>
          </p:txBody>
        </p:sp>
        <p:sp>
          <p:nvSpPr>
            <p:cNvPr id="658" name="TEACH-move-text"/>
            <p:cNvSpPr txBox="1"/>
            <p:nvPr/>
          </p:nvSpPr>
          <p:spPr>
            <a:xfrm>
              <a:off x="822960" y="914715"/>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7" name="Reference style 27">
            <a:extLst>
              <a:ext uri="{FF2B5EF4-FFF2-40B4-BE49-F238E27FC236}">
                <a16:creationId xmlns:a16="http://schemas.microsoft.com/office/drawing/2014/main" id="{DB6EED09-8B61-F64F-907D-F4B749DB901C}"/>
              </a:ext>
            </a:extLst>
          </p:cNvPr>
          <p:cNvPicPr>
            <a:picLocks noChangeAspect="1"/>
          </p:cNvPicPr>
          <p:nvPr userDrawn="1"/>
        </p:nvPicPr>
        <p:blipFill>
          <a:blip r:embed="rIdReferenceHeader323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9" name="Title 1">
            <a:extLst>
              <a:ext uri="{FF2B5EF4-FFF2-40B4-BE49-F238E27FC236}">
                <a16:creationId xmlns:a16="http://schemas.microsoft.com/office/drawing/2014/main" id="{3CF4AF49-89F7-5C44-B082-4D1951B38CC4}"/>
              </a:ext>
            </a:extLst>
          </p:cNvPr>
          <p:cNvSpPr txBox="1">
            <a:spLocks/>
          </p:cNvSpPr>
          <p:nvPr/>
        </p:nvSpPr>
        <p:spPr>
          <a:xfrm>
            <a:off x="484565" y="316034"/>
            <a:ext cx="5492675" cy="53740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r>
              <a:rPr sz="2800" b="1">
                <a:solidFill>
                  <a:srgbClr val="782DA0"/>
                </a:solidFill>
                <a:latin typeface="Arial"/>
              </a:rPr>
              <a:t>Exit Ticket + Self-Check</a:t>
            </a:r>
          </a:p>
        </p:txBody>
      </p:sp>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SELF-ASSESS • NAME YOUR NEXT STEP</a:t>
            </a:r>
          </a:p>
        </p:txBody>
      </p:sp>
      <p:sp>
        <p:nvSpPr>
          <p:cNvPr id="17" name="TextBox 16"/>
          <p:cNvSpPr txBox="1"/>
          <p:nvPr/>
        </p:nvSpPr>
        <p:spPr>
          <a:xfrm>
            <a:off x="530352" y="1115568"/>
            <a:ext cx="7360920" cy="502920"/>
          </a:xfrm>
          <a:prstGeom prst="rect">
            <a:avLst/>
          </a:prstGeom>
          <a:noFill/>
        </p:spPr>
        <p:txBody>
          <a:bodyPr wrap="square" lIns="0" tIns="0" rIns="0" bIns="0" anchor="t">
            <a:noAutofit/>
          </a:bodyPr>
          <a:lstStyle/>
          <a:p>
            <a:pPr algn="l" marL="0" indent="0">
              <a:buNone/>
            </a:pPr>
            <a:r>
              <a:rPr sz="2100" b="0">
                <a:solidFill>
                  <a:srgbClr val="23282D"/>
                </a:solidFill>
                <a:latin typeface="Arial"/>
              </a:rPr>
              <a:t>A 1-day pass costs $6.25. A 7-day pass costs $35.</a:t>
            </a:r>
          </a:p>
        </p:txBody>
      </p:sp>
      <p:sp>
        <p:nvSpPr>
          <p:cNvPr id="18" name="TextBox 17"/>
          <p:cNvSpPr txBox="1"/>
          <p:nvPr/>
        </p:nvSpPr>
        <p:spPr>
          <a:xfrm>
            <a:off x="530352" y="1828800"/>
            <a:ext cx="7360920" cy="713232"/>
          </a:xfrm>
          <a:prstGeom prst="rect">
            <a:avLst/>
          </a:prstGeom>
          <a:noFill/>
        </p:spPr>
        <p:txBody>
          <a:bodyPr wrap="square" lIns="0" tIns="0" rIns="0" bIns="0" anchor="t">
            <a:noAutofit/>
          </a:bodyPr>
          <a:lstStyle/>
          <a:p>
            <a:pPr algn="l" marL="0" indent="0">
              <a:buNone/>
            </a:pPr>
            <a:r>
              <a:rPr sz="2100" b="1">
                <a:solidFill>
                  <a:srgbClr val="23282D"/>
                </a:solidFill>
                <a:latin typeface="Arial"/>
              </a:rPr>
              <a:t>Yelina needs to travel on 5 days. Which option costs less in total?</a:t>
            </a:r>
          </a:p>
        </p:txBody>
      </p:sp>
      <p:sp>
        <p:nvSpPr>
          <p:cNvPr id="19" name="TextBox 18"/>
          <p:cNvSpPr txBox="1"/>
          <p:nvPr/>
        </p:nvSpPr>
        <p:spPr>
          <a:xfrm>
            <a:off x="530352" y="2761488"/>
            <a:ext cx="7360920" cy="685800"/>
          </a:xfrm>
          <a:prstGeom prst="rect">
            <a:avLst/>
          </a:prstGeom>
          <a:noFill/>
        </p:spPr>
        <p:txBody>
          <a:bodyPr wrap="square" lIns="0" tIns="0" rIns="0" bIns="0" anchor="t">
            <a:noAutofit/>
          </a:bodyPr>
          <a:lstStyle/>
          <a:p>
            <a:pPr algn="l" marL="0" indent="0">
              <a:buNone/>
            </a:pPr>
            <a:r>
              <a:rPr sz="2100" b="0">
                <a:solidFill>
                  <a:srgbClr val="5D6872"/>
                </a:solidFill>
                <a:latin typeface="Arial"/>
              </a:rPr>
              <a:t>Show both totals. Label dollars and days. Explain why the lower daily rate may not be the better choice.</a:t>
            </a:r>
          </a:p>
        </p:txBody>
      </p:sp>
      <p:sp>
        <p:nvSpPr>
          <p:cNvPr id="20" name="TextBox 19"/>
          <p:cNvSpPr txBox="1"/>
          <p:nvPr/>
        </p:nvSpPr>
        <p:spPr>
          <a:xfrm>
            <a:off x="530352" y="3584448"/>
            <a:ext cx="7360920" cy="640080"/>
          </a:xfrm>
          <a:prstGeom prst="rect">
            <a:avLst/>
          </a:prstGeom>
          <a:noFill/>
        </p:spPr>
        <p:txBody>
          <a:bodyPr wrap="square" lIns="0" tIns="0" rIns="0" bIns="0" anchor="t">
            <a:noAutofit/>
          </a:bodyPr>
          <a:lstStyle/>
          <a:p>
            <a:pPr algn="l" marL="0" indent="0">
              <a:buNone/>
            </a:pPr>
            <a:r>
              <a:rPr sz="2100" b="1">
                <a:solidFill>
                  <a:srgbClr val="1E2682"/>
                </a:solidFill>
                <a:latin typeface="Arial"/>
              </a:rPr>
              <a:t>Explain: “For 5 days, ___ costs $___, so I recommend ___.”</a:t>
            </a:r>
          </a:p>
        </p:txBody>
      </p:sp>
      <p:sp>
        <p:nvSpPr>
          <p:cNvPr id="21" name="Rounded Rectangle 20"/>
          <p:cNvSpPr/>
          <p:nvPr/>
        </p:nvSpPr>
        <p:spPr>
          <a:xfrm>
            <a:off x="8275320" y="1325880"/>
            <a:ext cx="3200400" cy="4462272"/>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275320" y="1325880"/>
            <a:ext cx="73152" cy="4462272"/>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39912" y="1435607"/>
            <a:ext cx="2907792" cy="219456"/>
          </a:xfrm>
          <a:prstGeom prst="rect">
            <a:avLst/>
          </a:prstGeom>
          <a:noFill/>
        </p:spPr>
        <p:txBody>
          <a:bodyPr wrap="square" lIns="0" tIns="0" rIns="0" bIns="0" anchor="t">
            <a:spAutoFit/>
          </a:bodyPr>
          <a:lstStyle/>
          <a:p>
            <a:pPr algn="l"/>
            <a:r>
              <a:rPr sz="1400" b="1">
                <a:solidFill>
                  <a:srgbClr val="008A62"/>
                </a:solidFill>
                <a:latin typeface="Arial"/>
              </a:rPr>
              <a:t>SELF-CHECK</a:t>
            </a:r>
          </a:p>
        </p:txBody>
      </p:sp>
      <p:sp>
        <p:nvSpPr>
          <p:cNvPr id="24" name="TextBox 23"/>
          <p:cNvSpPr txBox="1"/>
          <p:nvPr/>
        </p:nvSpPr>
        <p:spPr>
          <a:xfrm>
            <a:off x="8439912" y="1709928"/>
            <a:ext cx="2889504" cy="3986783"/>
          </a:xfrm>
          <a:prstGeom prst="rect">
            <a:avLst/>
          </a:prstGeom>
          <a:noFill/>
        </p:spPr>
        <p:txBody>
          <a:bodyPr wrap="square" lIns="0" tIns="0" rIns="0" bIns="0" anchor="t">
            <a:noAutofit/>
          </a:bodyPr>
          <a:lstStyle/>
          <a:p>
            <a:pPr algn="l" marL="0" indent="0">
              <a:buNone/>
            </a:pPr>
            <a:r>
              <a:rPr sz="1600" b="0">
                <a:solidFill>
                  <a:srgbClr val="23282D"/>
                </a:solidFill>
                <a:latin typeface="Arial"/>
              </a:rPr>
              <a:t>1. I can find a unit price.</a:t>
            </a:r>
          </a:p>
          <a:p>
            <a:pPr algn="l" marL="0" indent="0">
              <a:buNone/>
            </a:pPr>
            <a:r>
              <a:rPr sz="1600" b="0">
                <a:solidFill>
                  <a:srgbClr val="23282D"/>
                </a:solidFill>
                <a:latin typeface="Arial"/>
              </a:rPr>
              <a:t>□ Alone  □ With a hint</a:t>
            </a:r>
          </a:p>
          <a:p>
            <a:pPr algn="l" marL="0" indent="0">
              <a:buNone/>
            </a:pPr>
            <a:r>
              <a:rPr sz="1600" b="0">
                <a:solidFill>
                  <a:srgbClr val="23282D"/>
                </a:solidFill>
                <a:latin typeface="Arial"/>
              </a:rPr>
              <a:t>□ Not yet</a:t>
            </a:r>
          </a:p>
          <a:p>
            <a:pPr algn="l" marL="0" indent="0">
              <a:buNone/>
            </a:pPr>
            <a:r>
              <a:rPr sz="1600" b="0">
                <a:solidFill>
                  <a:srgbClr val="23282D"/>
                </a:solidFill>
                <a:latin typeface="Arial"/>
              </a:rPr>
              <a:t/>
            </a:r>
          </a:p>
          <a:p>
            <a:pPr algn="l" marL="0" indent="0">
              <a:buNone/>
            </a:pPr>
            <a:r>
              <a:rPr sz="1600" b="0">
                <a:solidFill>
                  <a:srgbClr val="23282D"/>
                </a:solidFill>
                <a:latin typeface="Arial"/>
              </a:rPr>
              <a:t>2. I can compare total costs.</a:t>
            </a:r>
          </a:p>
          <a:p>
            <a:pPr algn="l" marL="0" indent="0">
              <a:buNone/>
            </a:pPr>
            <a:r>
              <a:rPr sz="1600" b="0">
                <a:solidFill>
                  <a:srgbClr val="23282D"/>
                </a:solidFill>
                <a:latin typeface="Arial"/>
              </a:rPr>
              <a:t>□ Alone  □ With a hint</a:t>
            </a:r>
          </a:p>
          <a:p>
            <a:pPr algn="l" marL="0" indent="0">
              <a:buNone/>
            </a:pPr>
            <a:r>
              <a:rPr sz="1600" b="0">
                <a:solidFill>
                  <a:srgbClr val="23282D"/>
                </a:solidFill>
                <a:latin typeface="Arial"/>
              </a:rPr>
              <a:t>□ Not yet</a:t>
            </a:r>
          </a:p>
          <a:p>
            <a:pPr algn="l" marL="0" indent="0">
              <a:buNone/>
            </a:pPr>
            <a:r>
              <a:rPr sz="1600" b="0">
                <a:solidFill>
                  <a:srgbClr val="23282D"/>
                </a:solidFill>
                <a:latin typeface="Arial"/>
              </a:rPr>
              <a:t/>
            </a:r>
          </a:p>
          <a:p>
            <a:pPr algn="l" marL="0" indent="0">
              <a:buNone/>
            </a:pPr>
            <a:r>
              <a:rPr sz="1600" b="0">
                <a:solidFill>
                  <a:srgbClr val="23282D"/>
                </a:solidFill>
                <a:latin typeface="Arial"/>
              </a:rPr>
              <a:t>My next step:</a:t>
            </a:r>
          </a:p>
          <a:p>
            <a:pPr algn="l" marL="0" indent="0">
              <a:buNone/>
            </a:pPr>
            <a:r>
              <a:rPr sz="1600" b="0">
                <a:solidFill>
                  <a:srgbClr val="23282D"/>
                </a:solidFill>
                <a:latin typeface="Arial"/>
              </a:rPr>
              <a:t>________________</a:t>
            </a:r>
          </a:p>
        </p:txBody>
      </p:sp>
      <p:sp>
        <p:nvSpPr>
          <p:cNvPr id="25" name="Rounded Rectangle 24"/>
          <p:cNvSpPr/>
          <p:nvPr/>
        </p:nvSpPr>
        <p:spPr>
          <a:xfrm>
            <a:off x="585216" y="4443984"/>
            <a:ext cx="2240280" cy="384048"/>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0936" y="4453128"/>
            <a:ext cx="2148840" cy="347472"/>
          </a:xfrm>
          <a:prstGeom prst="rect">
            <a:avLst/>
          </a:prstGeom>
          <a:noFill/>
        </p:spPr>
        <p:txBody>
          <a:bodyPr wrap="none" lIns="9144" tIns="9144" rIns="9144" bIns="9144" anchor="ctr">
            <a:noAutofit/>
          </a:bodyPr>
          <a:lstStyle/>
          <a:p>
            <a:pPr algn="ctr" marL="0" indent="0">
              <a:buNone/>
            </a:pPr>
            <a:r>
              <a:rPr sz="1500" b="1">
                <a:solidFill>
                  <a:srgbClr val="FFFFFF"/>
                </a:solidFill>
                <a:latin typeface="Arial"/>
              </a:rPr>
              <a:t>SOLVE • EXPLAIN</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Partner debrief: name your evidence and one next step.</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40</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541324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Work independently and show why. Use feedback to revise</a:t>
            </a:r>
            <a:endParaRPr lang="en-US" sz="2000"/>
          </a:p>
          <a:p>
            <a:pPr>
              <a:lnSpc>
                <a:spcPts val="2400"/>
              </a:lnSpc>
              <a:buNone/>
            </a:pPr>
            <a:r>
              <a:rPr lang="en-US" sz="2000">
                <a:solidFill>
                  <a:srgbClr val="174D60"/>
                </a:solidFill>
                <a:latin typeface="Arial"/>
              </a:rPr>
              <a:t>in a second color.</a:t>
            </a:r>
            <a:endParaRPr lang="en-US" sz="2000"/>
          </a:p>
        </p:txBody>
      </p:sp>
    </p:spTree>
    <p:extLst>
      <p:ext uri="{BB962C8B-B14F-4D97-AF65-F5344CB8AC3E}">
        <p14:creationId xmlns:p14="http://schemas.microsoft.com/office/powerpoint/2010/main" val="1408933872"/>
      </p:ext>
    </p:extLst>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90" name="Google Shape;990;p103"/>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991" name="Google Shape;991;p10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92" name="Google Shape;992;p103"/>
          <p:cNvSpPr txBox="1"/>
          <p:nvPr/>
        </p:nvSpPr>
        <p:spPr>
          <a:xfrm>
            <a:off x="484564" y="927528"/>
            <a:ext cx="8459745"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describe a rate as a kind of ratio.</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make use of structure to describe a unit rate as a rate with 1 as the second term.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40</a:t>
            </a:r>
          </a:p>
        </p:txBody>
      </p:sp>
      <p:grpSp>
        <p:nvGrpSpPr>
          <p:cNvPr id="9003" name="TEACH-1-student-move" descr="TEACH 1 · Facilitate clear, standards-based content learning"/>
          <p:cNvGrpSpPr/>
          <p:nvPr/>
        </p:nvGrpSpPr>
        <p:grpSpPr>
          <a:xfrm>
            <a:off x="502920" y="5472790"/>
            <a:ext cx="11186160" cy="402336"/>
            <a:chOff x="502920" y="5472790"/>
            <a:chExt cx="11186160" cy="402336"/>
          </a:xfrm>
        </p:grpSpPr>
        <p:sp>
          <p:nvSpPr>
            <p:cNvPr id="9004"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3D2A38D-2F7F-4342-96D1-B5040A46BE1B}"/>
              </a:ext>
            </a:extLst>
          </p:cNvPr>
          <p:cNvSpPr>
            <a:spLocks noGrp="1"/>
          </p:cNvSpPr>
          <p:nvPr/>
        </p:nvSpPr>
        <p:spPr>
          <a:xfrm>
            <a:off x="514350" y="381000"/>
            <a:ext cx="10287000" cy="542925"/>
          </a:xfrm>
          <a:prstGeom prst="rect">
            <a:avLst/>
          </a:prstGeom>
          <a:noFill/>
          <a:ln w="0">
            <a:noFill/>
          </a:ln>
        </p:spPr>
        <p:txBody>
          <a:bodyPr>
            <a:noAutofit/>
          </a:bodyPr>
          <a:lstStyle/>
          <a:p>
            <a:pPr>
              <a:defRPr sz="2700" b="1">
                <a:solidFill>
                  <a:srgbClr val="782DA0"/>
                </a:solidFill>
                <a:latin typeface="Arial"/>
                <a:ea typeface="Arial"/>
                <a:cs typeface="Arial"/>
              </a:defRPr>
            </a:pPr>
            <a:r>
              <a:rPr sz="2700" b="1">
                <a:solidFill>
                  <a:srgbClr val="782DA0"/>
                </a:solidFill>
                <a:latin typeface="Arial"/>
                <a:ea typeface="Arial"/>
                <a:cs typeface="Arial"/>
              </a:rPr>
              <a:t>UIFR TEACH — Teacher Reference</a:t>
            </a:r>
          </a:p>
        </p:txBody>
      </p:sp>
      <p:sp>
        <p:nvSpPr>
          <p:cNvPr id="2" name="Rectangle 1">
            <a:extLst>
              <a:ext uri="{FF2B5EF4-FFF2-40B4-BE49-F238E27FC236}">
                <a16:creationId xmlns:a16="http://schemas.microsoft.com/office/drawing/2014/main" id="{665CCFC6-8677-44C2-9DA7-CC24D2B99D06}"/>
              </a:ext>
            </a:extLst>
          </p:cNvPr>
          <p:cNvSpPr>
            <a:spLocks noGrp="1"/>
          </p:cNvSpPr>
          <p:nvPr/>
        </p:nvSpPr>
        <p:spPr>
          <a:xfrm>
            <a:off x="523875" y="1028700"/>
            <a:ext cx="8667750" cy="342900"/>
          </a:xfrm>
          <a:prstGeom prst="rect">
            <a:avLst/>
          </a:prstGeom>
          <a:noFill/>
          <a:ln w="0">
            <a:noFill/>
          </a:ln>
        </p:spPr>
        <p:txBody>
          <a:bodyPr>
            <a:noAutofit/>
          </a:bodyPr>
          <a:lstStyle/>
          <a:p>
            <a:pPr>
              <a:defRPr sz="1575" b="0">
                <a:solidFill>
                  <a:srgbClr val="5D6872"/>
                </a:solidFill>
                <a:latin typeface="Arial"/>
                <a:ea typeface="Arial"/>
                <a:cs typeface="Arial"/>
              </a:defRPr>
            </a:pPr>
            <a:r>
              <a:rPr sz="1575" b="0">
                <a:solidFill>
                  <a:srgbClr val="5D6872"/>
                </a:solidFill>
                <a:latin typeface="Arial"/>
                <a:ea typeface="Arial"/>
                <a:cs typeface="Arial"/>
              </a:rPr>
              <a:t>Teacher reference • hidden from the student slideshow</a:t>
            </a:r>
          </a:p>
        </p:txBody>
      </p:sp>
      <p:sp>
        <p:nvSpPr>
          <p:cNvPr id="3" name="Rectangle 2">
            <a:extLst>
              <a:ext uri="{FF2B5EF4-FFF2-40B4-BE49-F238E27FC236}">
                <a16:creationId xmlns:a16="http://schemas.microsoft.com/office/drawing/2014/main" id="{E1CBF95A-1D1E-4411-8DC0-483A248D4704}"/>
              </a:ext>
            </a:extLst>
          </p:cNvPr>
          <p:cNvSpPr>
            <a:spLocks noGrp="1"/>
          </p:cNvSpPr>
          <p:nvPr/>
        </p:nvSpPr>
        <p:spPr>
          <a:xfrm>
            <a:off x="647700" y="1666875"/>
            <a:ext cx="10763250" cy="523875"/>
          </a:xfrm>
          <a:prstGeom prst="rect">
            <a:avLst/>
          </a:prstGeom>
          <a:noFill/>
          <a:ln w="0">
            <a:noFill/>
          </a:ln>
        </p:spPr>
        <p:txBody>
          <a:bodyPr>
            <a:noAutofit/>
          </a:bodyPr>
          <a:lstStyle/>
          <a:p>
            <a:pPr>
              <a:defRPr sz="1875" b="0">
                <a:solidFill>
                  <a:srgbClr val="23282D"/>
                </a:solidFill>
                <a:latin typeface="Arial"/>
                <a:ea typeface="Arial"/>
                <a:cs typeface="Arial"/>
              </a:defRPr>
            </a:pPr>
            <a:r>
              <a:rPr sz="1875" b="0">
                <a:solidFill>
                  <a:srgbClr val="23282D"/>
                </a:solidFill>
                <a:latin typeface="Arial"/>
                <a:ea typeface="Arial"/>
                <a:cs typeface="Arial"/>
              </a:rPr>
              <a:t>TEACH 1 · Session goals, purpose, and content-linked success criteria.</a:t>
            </a:r>
          </a:p>
        </p:txBody>
      </p:sp>
      <p:sp>
        <p:nvSpPr>
          <p:cNvPr id="4" name="Rectangle 3">
            <a:extLst>
              <a:ext uri="{FF2B5EF4-FFF2-40B4-BE49-F238E27FC236}">
                <a16:creationId xmlns:a16="http://schemas.microsoft.com/office/drawing/2014/main" id="{4C14253E-FC9B-4A0E-A536-5673C9A29446}"/>
              </a:ext>
            </a:extLst>
          </p:cNvPr>
          <p:cNvSpPr>
            <a:spLocks noGrp="1"/>
          </p:cNvSpPr>
          <p:nvPr/>
        </p:nvSpPr>
        <p:spPr>
          <a:xfrm>
            <a:off x="647700" y="2247900"/>
            <a:ext cx="10763250" cy="523875"/>
          </a:xfrm>
          <a:prstGeom prst="rect">
            <a:avLst/>
          </a:prstGeom>
          <a:noFill/>
          <a:ln w="0">
            <a:noFill/>
          </a:ln>
        </p:spPr>
        <p:txBody>
          <a:bodyPr>
            <a:noAutofit/>
          </a:bodyPr>
          <a:lstStyle/>
          <a:p>
            <a:pPr>
              <a:defRPr sz="1875" b="0">
                <a:solidFill>
                  <a:srgbClr val="23282D"/>
                </a:solidFill>
                <a:latin typeface="Arial"/>
                <a:ea typeface="Arial"/>
                <a:cs typeface="Arial"/>
              </a:defRPr>
            </a:pPr>
            <a:r>
              <a:rPr sz="1875" b="0">
                <a:solidFill>
                  <a:srgbClr val="23282D"/>
                </a:solidFill>
                <a:latin typeface="Arial"/>
                <a:ea typeface="Arial"/>
                <a:cs typeface="Arial"/>
              </a:rPr>
              <a:t>TEACH 2 · Original models precede checks and independent application.</a:t>
            </a:r>
          </a:p>
        </p:txBody>
      </p:sp>
      <p:sp>
        <p:nvSpPr>
          <p:cNvPr id="5" name="Rectangle 4">
            <a:extLst>
              <a:ext uri="{FF2B5EF4-FFF2-40B4-BE49-F238E27FC236}">
                <a16:creationId xmlns:a16="http://schemas.microsoft.com/office/drawing/2014/main" id="{6B8F9A9A-7CFB-480F-ABF0-6B482D4346EE}"/>
              </a:ext>
            </a:extLst>
          </p:cNvPr>
          <p:cNvSpPr>
            <a:spLocks noGrp="1"/>
          </p:cNvSpPr>
          <p:nvPr/>
        </p:nvSpPr>
        <p:spPr>
          <a:xfrm>
            <a:off x="647700" y="2828925"/>
            <a:ext cx="10763250" cy="523875"/>
          </a:xfrm>
          <a:prstGeom prst="rect">
            <a:avLst/>
          </a:prstGeom>
          <a:noFill/>
          <a:ln w="0">
            <a:noFill/>
          </a:ln>
        </p:spPr>
        <p:txBody>
          <a:bodyPr>
            <a:noAutofit/>
          </a:bodyPr>
          <a:lstStyle/>
          <a:p>
            <a:pPr>
              <a:defRPr sz="1875" b="0">
                <a:solidFill>
                  <a:srgbClr val="23282D"/>
                </a:solidFill>
                <a:latin typeface="Arial"/>
                <a:ea typeface="Arial"/>
                <a:cs typeface="Arial"/>
              </a:defRPr>
            </a:pPr>
            <a:r>
              <a:rPr sz="1875" b="0">
                <a:solidFill>
                  <a:srgbClr val="23282D"/>
                </a:solidFill>
                <a:latin typeface="Arial"/>
                <a:ea typeface="Arial"/>
                <a:cs typeface="Arial"/>
              </a:rPr>
              <a:t>TEACH 3 · Original inquiry questions prompt reasoning and justification.</a:t>
            </a:r>
          </a:p>
        </p:txBody>
      </p:sp>
      <p:sp>
        <p:nvSpPr>
          <p:cNvPr id="6" name="Rectangle 5">
            <a:extLst>
              <a:ext uri="{FF2B5EF4-FFF2-40B4-BE49-F238E27FC236}">
                <a16:creationId xmlns:a16="http://schemas.microsoft.com/office/drawing/2014/main" id="{80C90300-18B5-45F6-8F8E-C20E03CB6FF1}"/>
              </a:ext>
            </a:extLst>
          </p:cNvPr>
          <p:cNvSpPr>
            <a:spLocks noGrp="1"/>
          </p:cNvSpPr>
          <p:nvPr/>
        </p:nvSpPr>
        <p:spPr>
          <a:xfrm>
            <a:off x="647700" y="3409950"/>
            <a:ext cx="10763250" cy="523875"/>
          </a:xfrm>
          <a:prstGeom prst="rect">
            <a:avLst/>
          </a:prstGeom>
          <a:noFill/>
          <a:ln w="0">
            <a:noFill/>
          </a:ln>
        </p:spPr>
        <p:txBody>
          <a:bodyPr>
            <a:noAutofit/>
          </a:bodyPr>
          <a:lstStyle/>
          <a:p>
            <a:pPr>
              <a:defRPr sz="1875" b="0">
                <a:solidFill>
                  <a:srgbClr val="23282D"/>
                </a:solidFill>
                <a:latin typeface="Arial"/>
                <a:ea typeface="Arial"/>
                <a:cs typeface="Arial"/>
              </a:defRPr>
            </a:pPr>
            <a:r>
              <a:rPr sz="1875" b="0">
                <a:solidFill>
                  <a:srgbClr val="23282D"/>
                </a:solidFill>
                <a:latin typeface="Arial"/>
                <a:ea typeface="Arial"/>
                <a:cs typeface="Arial"/>
              </a:rPr>
              <a:t>TEACH 4 · Checks, feedback, and time to revise follow instruction.</a:t>
            </a:r>
          </a:p>
        </p:txBody>
      </p:sp>
      <p:sp>
        <p:nvSpPr>
          <p:cNvPr id="7" name="Rectangle 6">
            <a:extLst>
              <a:ext uri="{FF2B5EF4-FFF2-40B4-BE49-F238E27FC236}">
                <a16:creationId xmlns:a16="http://schemas.microsoft.com/office/drawing/2014/main" id="{E3E33B07-75C9-427C-B8C8-2352D33C0924}"/>
              </a:ext>
            </a:extLst>
          </p:cNvPr>
          <p:cNvSpPr>
            <a:spLocks noGrp="1"/>
          </p:cNvSpPr>
          <p:nvPr/>
        </p:nvSpPr>
        <p:spPr>
          <a:xfrm>
            <a:off x="647700" y="3990975"/>
            <a:ext cx="10763250" cy="523875"/>
          </a:xfrm>
          <a:prstGeom prst="rect">
            <a:avLst/>
          </a:prstGeom>
          <a:noFill/>
          <a:ln w="0">
            <a:noFill/>
          </a:ln>
        </p:spPr>
        <p:txBody>
          <a:bodyPr>
            <a:noAutofit/>
          </a:bodyPr>
          <a:lstStyle/>
          <a:p>
            <a:pPr>
              <a:defRPr sz="1875" b="0">
                <a:solidFill>
                  <a:srgbClr val="23282D"/>
                </a:solidFill>
                <a:latin typeface="Arial"/>
                <a:ea typeface="Arial"/>
                <a:cs typeface="Arial"/>
              </a:defRPr>
            </a:pPr>
            <a:r>
              <a:rPr sz="1875" b="0">
                <a:solidFill>
                  <a:srgbClr val="23282D"/>
                </a:solidFill>
                <a:latin typeface="Arial"/>
                <a:ea typeface="Arial"/>
                <a:cs typeface="Arial"/>
              </a:rPr>
              <a:t>TEACH 5 · Think time and purposeful partner explanations.</a:t>
            </a:r>
          </a:p>
        </p:txBody>
      </p:sp>
      <p:sp>
        <p:nvSpPr>
          <p:cNvPr id="8" name="Rectangle 7">
            <a:extLst>
              <a:ext uri="{FF2B5EF4-FFF2-40B4-BE49-F238E27FC236}">
                <a16:creationId xmlns:a16="http://schemas.microsoft.com/office/drawing/2014/main" id="{77832A41-73AF-404D-9D43-641C55E02F5C}"/>
              </a:ext>
            </a:extLst>
          </p:cNvPr>
          <p:cNvSpPr>
            <a:spLocks noGrp="1"/>
          </p:cNvSpPr>
          <p:nvPr/>
        </p:nvSpPr>
        <p:spPr>
          <a:xfrm>
            <a:off x="647700" y="4572000"/>
            <a:ext cx="10763250" cy="523875"/>
          </a:xfrm>
          <a:prstGeom prst="rect">
            <a:avLst/>
          </a:prstGeom>
          <a:noFill/>
          <a:ln w="0">
            <a:noFill/>
          </a:ln>
        </p:spPr>
        <p:txBody>
          <a:bodyPr>
            <a:noAutofit/>
          </a:bodyPr>
          <a:lstStyle/>
          <a:p>
            <a:pPr>
              <a:defRPr sz="1875" b="0">
                <a:solidFill>
                  <a:srgbClr val="23282D"/>
                </a:solidFill>
                <a:latin typeface="Arial"/>
                <a:ea typeface="Arial"/>
                <a:cs typeface="Arial"/>
              </a:defRPr>
            </a:pPr>
            <a:r>
              <a:rPr sz="1875" b="0">
                <a:solidFill>
                  <a:srgbClr val="23282D"/>
                </a:solidFill>
                <a:latin typeface="Arial"/>
                <a:ea typeface="Arial"/>
                <a:cs typeface="Arial"/>
              </a:rPr>
              <a:t>TEACH 6 · Consistent model → notes → practice sequence.</a:t>
            </a:r>
          </a:p>
        </p:txBody>
      </p:sp>
      <p:sp>
        <p:nvSpPr>
          <p:cNvPr id="9" name="Rectangle 8">
            <a:extLst>
              <a:ext uri="{FF2B5EF4-FFF2-40B4-BE49-F238E27FC236}">
                <a16:creationId xmlns:a16="http://schemas.microsoft.com/office/drawing/2014/main" id="{AA716641-6C23-43F0-B7AF-F8EB3CE4EAA4}"/>
              </a:ext>
            </a:extLst>
          </p:cNvPr>
          <p:cNvSpPr>
            <a:spLocks noGrp="1"/>
          </p:cNvSpPr>
          <p:nvPr/>
        </p:nvSpPr>
        <p:spPr>
          <a:xfrm>
            <a:off x="647700" y="5153025"/>
            <a:ext cx="10763250" cy="523875"/>
          </a:xfrm>
          <a:prstGeom prst="rect">
            <a:avLst/>
          </a:prstGeom>
          <a:noFill/>
          <a:ln w="0">
            <a:noFill/>
          </a:ln>
        </p:spPr>
        <p:txBody>
          <a:bodyPr>
            <a:noAutofit/>
          </a:bodyPr>
          <a:lstStyle/>
          <a:p>
            <a:pPr>
              <a:defRPr sz="1875" b="0">
                <a:solidFill>
                  <a:srgbClr val="23282D"/>
                </a:solidFill>
                <a:latin typeface="Arial"/>
                <a:ea typeface="Arial"/>
                <a:cs typeface="Arial"/>
              </a:defRPr>
            </a:pPr>
            <a:r>
              <a:rPr sz="1875" b="0">
                <a:solidFill>
                  <a:srgbClr val="23282D"/>
                </a:solidFill>
                <a:latin typeface="Arial"/>
                <a:ea typeface="Arial"/>
                <a:cs typeface="Arial"/>
              </a:rPr>
              <a:t>TEACH 7 · Brief notes, scaffolds, and respectful sharing of strategies.</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40</a:t>
            </a:r>
          </a:p>
        </p:txBody>
      </p:sp>
      <p:grpSp>
        <p:nvGrpSpPr>
          <p:cNvPr id="9003" name="TEACH-1-student-move" descr="TEACH 1 · Facilitate clear, standards-based content learning"/>
          <p:cNvGrpSpPr/>
          <p:nvPr/>
        </p:nvGrpSpPr>
        <p:grpSpPr>
          <a:xfrm>
            <a:off x="502920" y="5582031"/>
            <a:ext cx="11186160" cy="640080"/>
            <a:chOff x="502920" y="5582031"/>
            <a:chExt cx="11186160" cy="640080"/>
          </a:xfrm>
        </p:grpSpPr>
        <p:sp>
          <p:nvSpPr>
            <p:cNvPr id="9004" name="TEACH-move-card"/>
            <p:cNvSpPr/>
            <p:nvPr/>
          </p:nvSpPr>
          <p:spPr>
            <a:xfrm>
              <a:off x="502920" y="5582031"/>
              <a:ext cx="11186160" cy="64008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5703646"/>
              <a:ext cx="100584" cy="396850"/>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5582031"/>
              <a:ext cx="10728960" cy="640080"/>
            </a:xfrm>
            <a:prstGeom prst="rect">
              <a:avLst/>
            </a:prstGeom>
            <a:noFill/>
            <a:ln>
              <a:noFill/>
            </a:ln>
          </p:spPr>
          <p:txBody>
            <a:bodyPr wrap="square" lIns="0" tIns="0" rIns="0" bIns="0" anchor="ctr">
              <a:noAutofit/>
            </a:bodyPr>
            <a:lstStyle/>
            <a:p>
              <a:pPr algn="l">
                <a:buNone/>
              </a:pPr>
              <a:r>
                <a:rPr lang="en-US" sz="1600" b="1" dirty="0">
                  <a:solidFill>
                    <a:srgbClr val="01708C"/>
                  </a:solidFill>
                  <a:latin typeface="Arial"/>
                </a:rPr>
                <a:t>SHOW YOUR THINKING  ·  </a:t>
              </a:r>
              <a:r>
                <a:rPr lang="en-US" sz="1600" dirty="0">
                  <a:solidFill>
                    <a:srgbClr val="13303A"/>
                  </a:solidFill>
                  <a:latin typeface="Arial"/>
                </a:rPr>
                <a:t>Show what you know — write it, draw it, or build it. A picture counts as an explanation.</a:t>
              </a:r>
              <a:endParaRPr lang="en-US" sz="1600"/>
            </a:p>
          </p:txBody>
        </p:sp>
      </p:grpSp>
    </p:spTree>
    <p:extLst>
      <p:ext uri="{BB962C8B-B14F-4D97-AF65-F5344CB8AC3E}">
        <p14:creationId xmlns:p14="http://schemas.microsoft.com/office/powerpoint/2010/main" val="1143004299"/>
      </p:ext>
    </p:extLst>
  </p:cSld>
  <p:clrMapOvr>
    <a:masterClrMapping/>
  </p:clrMapOvr>
</p:sld>
</file>

<file path=ppt/theme/theme1.xml><?xml version="1.0" encoding="utf-8"?>
<a:theme xmlns:a="http://schemas.openxmlformats.org/drawingml/2006/main"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6.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7.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1497</Words>
  <Application>Microsoft Macintosh PowerPoint</Application>
  <PresentationFormat>Widescreen</PresentationFormat>
  <Paragraphs>155</Paragraphs>
  <Slides>18</Slides>
  <Notes>18</Notes>
  <HiddenSlides>1</HiddenSlides>
  <MMClips>0</MMClips>
  <ScaleCrop>false</ScaleCrop>
  <HeadingPairs>
    <vt:vector size="6" baseType="variant">
      <vt:variant>
        <vt:lpstr>Fonts Used</vt:lpstr>
      </vt:variant>
      <vt:variant>
        <vt:i4>3</vt:i4>
      </vt:variant>
      <vt:variant>
        <vt:lpstr>Theme</vt:lpstr>
      </vt:variant>
      <vt:variant>
        <vt:i4>6</vt:i4>
      </vt:variant>
      <vt:variant>
        <vt:lpstr>Slide Titles</vt:lpstr>
      </vt:variant>
      <vt:variant>
        <vt:i4>18</vt:i4>
      </vt:variant>
    </vt:vector>
  </HeadingPairs>
  <TitlesOfParts>
    <vt:vector size="27" baseType="lpstr">
      <vt:lpstr>Calibri</vt:lpstr>
      <vt:lpstr>Arial</vt:lpstr>
      <vt:lpstr>Cambria Math</vt:lpstr>
      <vt:lpstr>Title Slide</vt:lpstr>
      <vt:lpstr>1_Custom Design</vt:lpstr>
      <vt:lpstr>Custom Design</vt:lpstr>
      <vt:lpstr>2_Custom Design</vt:lpstr>
      <vt:lpstr>ChatGPT</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Neft, Joel D.</cp:lastModifiedBy>
  <cp:revision>1</cp:revision>
  <dcterms:modified xsi:type="dcterms:W3CDTF">2026-09-08T17:33:47Z</dcterms:modified>
  <dc:title>Reveal Math Grade 6 · Lesson 3.2 — Rates and Unit Rates</dc:title>
</cp:coreProperties>
</file>