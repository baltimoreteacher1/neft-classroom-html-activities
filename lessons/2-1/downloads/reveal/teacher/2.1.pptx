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9.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6.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5.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Core1"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83" r:id="rId5"/>
    <p:sldMasterId id="2147483684" r:id="rId6"/>
    <p:sldMasterId id="2147483685" r:id="rId7"/>
    <p:sldMasterId id="2147483686" r:id="rId8"/>
  </p:sldMasterIdLst>
  <p:notesMasterIdLst>
    <p:notesMasterId r:id="rId9"/>
  </p:notesMasterIdLst>
  <p:sldIdLst>
    <p:sldId id="259" r:id="rId13"/>
    <p:sldId id="269" r:id="rId23"/>
    <p:sldId id="270" r:id="rId24"/>
    <p:sldId id="256" r:id="rId10"/>
    <p:sldId id="257" r:id="rId11"/>
    <p:sldId id="260" r:id="rId14"/>
    <p:sldId id="326" r:id="rId67"/>
    <p:sldId id="325" r:id="rId48"/>
    <p:sldId id="324" r:id="rId29"/>
    <p:sldId id="323" r:id="rId46"/>
    <p:sldId id="322" r:id="rId30"/>
    <p:sldId id="321" r:id="rId44"/>
    <p:sldId id="320" r:id="rId31"/>
    <p:sldId id="319" r:id="rId34"/>
    <p:sldId id="261" r:id="rId15"/>
    <p:sldId id="272" r:id="rId26"/>
    <p:sldId id="274" r:id="rId28"/>
    <p:sldId id="278" r:id="rId32"/>
    <p:sldId id="279" r:id="rId33"/>
    <p:sldId id="284" r:id="rId38"/>
    <p:sldId id="288" r:id="rId42"/>
    <p:sldId id="330" r:id="rId71"/>
    <p:sldId id="327" r:id="rId68"/>
    <p:sldId id="318" r:id="rId41"/>
    <p:sldId id="317" r:id="rId40"/>
    <p:sldId id="331" r:id="rId72"/>
    <p:sldId id="316" r:id="rId39"/>
    <p:sldId id="311" r:id="rId65"/>
    <p:sldId id="332" r:id="rId73"/>
    <p:sldId id="312" r:id="rId66"/>
    <p:sldId id="289" r:id="rId43"/>
    <p:sldId id="291" r:id="rId45"/>
    <p:sldId id="315" r:id="rId35"/>
    <p:sldId id="314" r:id="rId37"/>
    <p:sldId id="333" r:id="rId74"/>
    <p:sldId id="313" r:id="rId36"/>
    <p:sldId id="293" r:id="rId47"/>
    <p:sldId id="295" r:id="rId49"/>
    <p:sldId id="334" r:id="rId75"/>
    <p:sldId id="300" r:id="rId54"/>
    <p:sldId id="304" r:id="rId58"/>
    <p:sldId id="305" r:id="rId59"/>
    <p:sldId id="307" r:id="rId61"/>
    <p:sldId id="335" r:id="rId76"/>
    <p:sldId id="328" r:id="rId69"/>
    <p:sldId id="308" r:id="rId62"/>
    <p:sldId id="336" r:id="rId77"/>
    <p:sldId id="309" r:id="rId63"/>
    <p:sldId id="310" r:id="rId64"/>
    <p:sldId id="329" r:id="rId70"/>
  </p:sldIdLst>
  <p:sldSz cy="6858000" cx="12192000"/>
  <p:notesSz cx="7010400" cy="92360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1512">
          <p15:clr>
            <a:srgbClr val="A4A3A4"/>
          </p15:clr>
        </p15:guide>
        <p15:guide id="2" orient="horz" pos="3024">
          <p15:clr>
            <a:srgbClr val="A4A3A4"/>
          </p15:clr>
        </p15:guide>
        <p15:guide id="3" orient="horz" pos="384">
          <p15:clr>
            <a:srgbClr val="A4A3A4"/>
          </p15:clr>
        </p15:guide>
        <p15:guide id="4" orient="horz" pos="2520">
          <p15:clr>
            <a:srgbClr val="A4A3A4"/>
          </p15:clr>
        </p15:guide>
        <p15:guide id="5" orient="horz" pos="1080">
          <p15:clr>
            <a:srgbClr val="A4A3A4"/>
          </p15:clr>
        </p15:guide>
        <p15:guide id="6" orient="horz" pos="1680">
          <p15:clr>
            <a:srgbClr val="A4A3A4"/>
          </p15:clr>
        </p15:guide>
        <p15:guide id="7" orient="horz" pos="3432">
          <p15:clr>
            <a:srgbClr val="A4A3A4"/>
          </p15:clr>
        </p15:guide>
        <p15:guide id="8" orient="horz" pos="3120">
          <p15:clr>
            <a:srgbClr val="A4A3A4"/>
          </p15:clr>
        </p15:guide>
        <p15:guide id="9" pos="48">
          <p15:clr>
            <a:srgbClr val="A4A3A4"/>
          </p15:clr>
        </p15:guide>
        <p15:guide id="10" pos="384">
          <p15:clr>
            <a:srgbClr val="A4A3A4"/>
          </p15:clr>
        </p15:guide>
        <p15:guide id="11" pos="6480">
          <p15:clr>
            <a:srgbClr val="A4A3A4"/>
          </p15:clr>
        </p15:guide>
        <p15:guide id="12" pos="2597">
          <p15:clr>
            <a:srgbClr val="A4A3A4"/>
          </p15:clr>
        </p15:guide>
        <p15:guide id="13" pos="288">
          <p15:clr>
            <a:srgbClr val="A4A3A4"/>
          </p15:clr>
        </p15:guide>
        <p15:guide id="14" orient="horz" pos="2160">
          <p15:clr>
            <a:srgbClr val="A4A3A4"/>
          </p15:clr>
        </p15:guide>
        <p15:guide id="15" orient="horz" pos="216">
          <p15:clr>
            <a:srgbClr val="A4A3A4"/>
          </p15:clr>
        </p15:guide>
        <p15:guide id="16" orient="horz" pos="936">
          <p15:clr>
            <a:srgbClr val="A4A3A4"/>
          </p15:clr>
        </p15:guide>
        <p15:guide id="17" pos="4368">
          <p15:clr>
            <a:srgbClr val="A4A3A4"/>
          </p15:clr>
        </p15:guide>
        <p15:guide id="18" pos="7296">
          <p15:clr>
            <a:srgbClr val="A4A3A4"/>
          </p15:clr>
        </p15:guide>
        <p15:guide id="19" pos="3288">
          <p15:clr>
            <a:srgbClr val="A4A3A4"/>
          </p15:clr>
        </p15:guide>
        <p15:guide id="20" pos="5904">
          <p15:clr>
            <a:srgbClr val="A4A3A4"/>
          </p15:clr>
        </p15:guide>
        <p15:guide id="21" pos="55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4BF7A6C-7B32-46BC-8D96-0B2058209815}">
  <a:tblStyle styleId="{44BF7A6C-7B32-46BC-8D96-0B2058209815}"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b="off" i="off"/>
      <a:tcStyle>
        <a:fill>
          <a:solidFill>
            <a:srgbClr val="CDD4EA"/>
          </a:solidFill>
        </a:fill>
      </a:tcStyle>
    </a:band1H>
    <a:band2H>
      <a:tcTxStyle b="off" i="off"/>
    </a:band2H>
    <a:band1V>
      <a:tcTxStyle b="off" i="off"/>
      <a:tcStyle>
        <a:fill>
          <a:solidFill>
            <a:srgbClr val="CDD4EA"/>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512"/>
        <p:guide pos="3024" orient="horz"/>
        <p:guide pos="384" orient="horz"/>
        <p:guide pos="2520" orient="horz"/>
        <p:guide pos="1080" orient="horz"/>
        <p:guide pos="1680" orient="horz"/>
        <p:guide pos="3432" orient="horz"/>
        <p:guide pos="3120" orient="horz"/>
        <p:guide pos="48"/>
        <p:guide pos="384"/>
        <p:guide pos="6480"/>
        <p:guide pos="2597"/>
        <p:guide pos="288"/>
        <p:guide pos="2160" orient="horz"/>
        <p:guide pos="216" orient="horz"/>
        <p:guide pos="936" orient="horz"/>
        <p:guide pos="4368"/>
        <p:guide pos="7296"/>
        <p:guide pos="3288"/>
        <p:guide pos="5904"/>
        <p:guide pos="55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9" Type="http://schemas.openxmlformats.org/officeDocument/2006/relationships/notesMaster" Target="notesMasters/notesMaster1.xml"/><Relationship Id="rId10" Type="http://schemas.openxmlformats.org/officeDocument/2006/relationships/slide" Target="slides/slide4.xml"/><Relationship Id="rId11" Type="http://schemas.openxmlformats.org/officeDocument/2006/relationships/slide" Target="slides/slide5.xml"/><Relationship Id="rId13" Type="http://schemas.openxmlformats.org/officeDocument/2006/relationships/slide" Target="slides/slide1.xml"/><Relationship Id="rId14" Type="http://schemas.openxmlformats.org/officeDocument/2006/relationships/slide" Target="slides/slide6.xml"/><Relationship Id="rId15" Type="http://schemas.openxmlformats.org/officeDocument/2006/relationships/slide" Target="slides/slide15.xml"/><Relationship Id="rId23" Type="http://schemas.openxmlformats.org/officeDocument/2006/relationships/slide" Target="slides/slide2.xml"/><Relationship Id="rId24" Type="http://schemas.openxmlformats.org/officeDocument/2006/relationships/slide" Target="slides/slide3.xml"/><Relationship Id="rId26"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9.xml"/><Relationship Id="rId30" Type="http://schemas.openxmlformats.org/officeDocument/2006/relationships/slide" Target="slides/slide11.xml"/><Relationship Id="rId31" Type="http://schemas.openxmlformats.org/officeDocument/2006/relationships/slide" Target="slides/slide13.xml"/><Relationship Id="rId32" Type="http://schemas.openxmlformats.org/officeDocument/2006/relationships/slide" Target="slides/slide18.xml"/><Relationship Id="rId33" Type="http://schemas.openxmlformats.org/officeDocument/2006/relationships/slide" Target="slides/slide19.xml"/><Relationship Id="rId34" Type="http://schemas.openxmlformats.org/officeDocument/2006/relationships/slide" Target="slides/slide14.xml"/><Relationship Id="rId35" Type="http://schemas.openxmlformats.org/officeDocument/2006/relationships/slide" Target="slides/slide30.xml"/><Relationship Id="rId36" Type="http://schemas.openxmlformats.org/officeDocument/2006/relationships/slide" Target="slides/slide32.xml"/><Relationship Id="rId37" Type="http://schemas.openxmlformats.org/officeDocument/2006/relationships/slide" Target="slides/slide31.xml"/><Relationship Id="rId38" Type="http://schemas.openxmlformats.org/officeDocument/2006/relationships/slide" Target="slides/slide20.xml"/><Relationship Id="rId39" Type="http://schemas.openxmlformats.org/officeDocument/2006/relationships/slide" Target="slides/slide25.xml"/><Relationship Id="rId40" Type="http://schemas.openxmlformats.org/officeDocument/2006/relationships/slide" Target="slides/slide24.xml"/><Relationship Id="rId41" Type="http://schemas.openxmlformats.org/officeDocument/2006/relationships/slide" Target="slides/slide23.xml"/><Relationship Id="rId42" Type="http://schemas.openxmlformats.org/officeDocument/2006/relationships/slide" Target="slides/slide21.xml"/><Relationship Id="rId43" Type="http://schemas.openxmlformats.org/officeDocument/2006/relationships/slide" Target="slides/slide28.xml"/><Relationship Id="rId44" Type="http://schemas.openxmlformats.org/officeDocument/2006/relationships/slide" Target="slides/slide12.xml"/><Relationship Id="rId45" Type="http://schemas.openxmlformats.org/officeDocument/2006/relationships/slide" Target="slides/slide29.xml"/><Relationship Id="rId46" Type="http://schemas.openxmlformats.org/officeDocument/2006/relationships/slide" Target="slides/slide10.xml"/><Relationship Id="rId47" Type="http://schemas.openxmlformats.org/officeDocument/2006/relationships/slide" Target="slides/slide33.xml"/><Relationship Id="rId48" Type="http://schemas.openxmlformats.org/officeDocument/2006/relationships/slide" Target="slides/slide8.xml"/><Relationship Id="rId49" Type="http://schemas.openxmlformats.org/officeDocument/2006/relationships/slide" Target="slides/slide34.xml"/><Relationship Id="rId54" Type="http://schemas.openxmlformats.org/officeDocument/2006/relationships/slide" Target="slides/slide35.xml"/><Relationship Id="rId58" Type="http://schemas.openxmlformats.org/officeDocument/2006/relationships/slide" Target="slides/slide36.xml"/><Relationship Id="rId59" Type="http://schemas.openxmlformats.org/officeDocument/2006/relationships/slide" Target="slides/slide37.xml"/><Relationship Id="rId61" Type="http://schemas.openxmlformats.org/officeDocument/2006/relationships/slide" Target="slides/slide38.xml"/><Relationship Id="rId62" Type="http://schemas.openxmlformats.org/officeDocument/2006/relationships/slide" Target="slides/slide40.xml"/><Relationship Id="rId63" Type="http://schemas.openxmlformats.org/officeDocument/2006/relationships/slide" Target="slides/slide41.xml"/><Relationship Id="rId64" Type="http://schemas.openxmlformats.org/officeDocument/2006/relationships/slide" Target="slides/slide42.xml"/><Relationship Id="rId65" Type="http://schemas.openxmlformats.org/officeDocument/2006/relationships/slide" Target="slides/slide26.xml"/><Relationship Id="rId66" Type="http://schemas.openxmlformats.org/officeDocument/2006/relationships/slide" Target="slides/slide27.xml"/><Relationship Id="rId67" Type="http://schemas.openxmlformats.org/officeDocument/2006/relationships/slide" Target="slides/slide7.xml"/><Relationship Id="rId68" Type="http://schemas.openxmlformats.org/officeDocument/2006/relationships/slide" Target="slides/slide22.xml"/><Relationship Id="rId69" Type="http://schemas.openxmlformats.org/officeDocument/2006/relationships/slide" Target="slides/slide39.xml"/><Relationship Id="rId70" Type="http://schemas.openxmlformats.org/officeDocument/2006/relationships/slide" Target="slides/slide43.xml"/><Relationship Id="rId71" Type="http://schemas.openxmlformats.org/officeDocument/2006/relationships/slide" Target="slides/slide44.xml"/><Relationship Id="rId72" Type="http://schemas.openxmlformats.org/officeDocument/2006/relationships/slide" Target="slides/slide45.xml"/><Relationship Id="rId73" Type="http://schemas.openxmlformats.org/officeDocument/2006/relationships/slide" Target="slides/slide46.xml"/><Relationship Id="rId74" Type="http://schemas.openxmlformats.org/officeDocument/2006/relationships/slide" Target="slides/slide47.xml"/><Relationship Id="rId75" Type="http://schemas.openxmlformats.org/officeDocument/2006/relationships/slide" Target="slides/slide48.xml"/><Relationship Id="rId76" Type="http://schemas.openxmlformats.org/officeDocument/2006/relationships/slide" Target="slides/slide49.xml"/><Relationship Id="rId77"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2"/>
            <a:ext cx="3037840" cy="463407"/>
          </a:xfrm>
          <a:prstGeom prst="rect">
            <a:avLst/>
          </a:prstGeom>
          <a:noFill/>
          <a:ln>
            <a:noFill/>
          </a:ln>
        </p:spPr>
        <p:txBody>
          <a:bodyPr anchorCtr="0" anchor="t"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70938" y="2"/>
            <a:ext cx="3037840" cy="463407"/>
          </a:xfrm>
          <a:prstGeom prst="rect">
            <a:avLst/>
          </a:prstGeom>
          <a:noFill/>
          <a:ln>
            <a:noFill/>
          </a:ln>
        </p:spPr>
        <p:txBody>
          <a:bodyPr anchorCtr="0" anchor="t" bIns="46125" lIns="92275" spcFirstLastPara="1" rIns="92275" wrap="square" tIns="4612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772669"/>
            <a:ext cx="3037840" cy="463406"/>
          </a:xfrm>
          <a:prstGeom prst="rect">
            <a:avLst/>
          </a:prstGeom>
          <a:noFill/>
          <a:ln>
            <a:noFill/>
          </a:ln>
        </p:spPr>
        <p:txBody>
          <a:bodyPr anchorCtr="0" anchor="b"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2.1, slide 4 | DIVIDER</a:t>
            </a:r>
          </a:p>
          <a:p xmlns:a="http://schemas.openxmlformats.org/drawingml/2006/main">
            <a:pPr>
              <a:buNone/>
            </a:pPr>
            <a:r>
              <a:rPr lang="en-US" sz="1100"/>
              <a:t>Focus on the existing task: Understand Statistical Questions Session 1</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231" name="Google Shape;231;p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2.1, slide 5 | WORKED</a:t>
            </a:r>
          </a:p>
          <a:p xmlns:a="http://schemas.openxmlformats.org/drawingml/2006/main">
            <a:pPr>
              <a:buNone/>
            </a:pPr>
            <a:r>
              <a:rPr lang="en-US" sz="1100"/>
              <a:t>Focus on the existing task: Give Me Five Use all the numbers in any order with any operation to equal the target number (in red).</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identify a question that anticipates variability. Ask which feature of their work supports the claim.</a:t>
            </a:r>
          </a:p>
          <a:p xmlns:a="http://schemas.openxmlformats.org/drawingml/2006/main">
            <a:pPr>
              <a:buNone/>
            </a:pPr>
            <a:r>
              <a:rPr lang="en-US" sz="1100"/>
              <a:t>RESPOND: If this task shows the lesson misconception—assuming any question with a numerical answer is statistical—revisit the existing survey and sort its possible responses before classifying the question.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Number-sense routine — every voice in. Give quiet think time, then hear from at least three students.</a:t>
            </a:r>
          </a:p>
          <a:p>
            <a:pPr indent="0" lvl="0" marL="0" rtl="0" algn="l">
              <a:lnSpc>
                <a:spcPct val="100000"/>
              </a:lnSpc>
              <a:spcBef>
                <a:spcPts val="0"/>
              </a:spcBef>
              <a:spcAft>
                <a:spcPts val="0"/>
              </a:spcAft>
              <a:buSzPts val="1400"/>
              <a:buNone/>
            </a:pPr>
            <a:r>
              <a:t>Always follow with “How do you know?” — the reasoning is the point, not the answer.</a:t>
            </a:r>
          </a:p>
          <a:p>
            <a:pPr indent="0" lvl="0" marL="0" rtl="0" algn="l">
              <a:lnSpc>
                <a:spcPct val="100000"/>
              </a:lnSpc>
              <a:spcBef>
                <a:spcPts val="0"/>
              </a:spcBef>
              <a:spcAft>
                <a:spcPts val="0"/>
              </a:spcAft>
              <a:buSzPts val="1400"/>
              <a:buNone/>
            </a:pPr>
            <a:r>
              <a:t>There is more than one path; name and celebrate different strategies.</a:t>
            </a:r>
          </a:p>
          <a:p>
            <a:pPr indent="0" lvl="0" marL="0" rtl="0" algn="l">
              <a:lnSpc>
                <a:spcPct val="100000"/>
              </a:lnSpc>
              <a:spcBef>
                <a:spcPts val="0"/>
              </a:spcBef>
              <a:spcAft>
                <a:spcPts val="0"/>
              </a:spcAft>
              <a:buSzPts val="1400"/>
              <a:buNone/>
            </a:pPr>
            <a:r>
              <a:t>UIFR: TEACH 3 · TEACH 5 · TEACH 6.</a:t>
            </a:r>
          </a:p>
        </p:txBody>
      </p:sp>
      <p:sp>
        <p:nvSpPr>
          <p:cNvPr id="238" name="Google Shape;238;p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2.1, slide 1 | WARMUP</a:t>
            </a:r>
          </a:p>
          <a:p xmlns:a="http://schemas.openxmlformats.org/drawingml/2006/main">
            <a:pPr>
              <a:buNone/>
            </a:pPr>
            <a:r>
              <a:rPr lang="en-US" sz="1100"/>
              <a:t>Focus on the existing task: Warm-Up WARM-UP · THINK • TRY • CHECK Do these four on…</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Warm-Up answers (teacher only): 1) 3, 5, 8, 11   2) 5   3) 23   4) 87</a:t>
            </a:r>
          </a:p>
          <a:p>
            <a:pPr>
              <a:buNone/>
            </a:pPr>
            <a:r>
              <a:rPr lang="en-US" sz="1100"/>
              <a:t/>
            </a:r>
          </a:p>
          <a:p>
            <a:pPr>
              <a:buNone/>
            </a:pPr>
            <a:r>
              <a:rPr lang="en-US" sz="1100"/>
              <a:t>UIFR FULL | Lesson-specific facilitation</a:t>
            </a:r>
          </a:p>
          <a:p>
            <a:pPr>
              <a:buNone/>
            </a:pPr>
            <a:r>
              <a:rPr lang="en-US" sz="1100"/>
              <a:t>PREPARE 1-2 | Before teaching (UIFR PDF pp. 6-7).</a:t>
            </a:r>
          </a:p>
          <a:p>
            <a:pPr>
              <a:buNone/>
            </a:pPr>
            <a:r>
              <a:rPr lang="en-US" sz="1100"/>
              <a:t>Plan to gather evidence that students can identify a question that anticipates variability; describe possible data and what a dot represents. Review recent work and today’s warm-up to choose flexible groups and access supports; do not infer needs from identity or perceived ability. Use the existing lesson tasks and stated standards.</a:t>
            </a:r>
          </a:p>
          <a:p>
            <a:pPr>
              <a:buNone/>
            </a:pPr>
            <a:r>
              <a:rPr lang="en-US" sz="1100"/>
              <a:t>Anticipate: assuming any question with a numerical answer is statistical. If observed, revisit the existing survey and sort its possible responses before classifying the question. Offer oral rehearsal, drawing, pointing, or home-language processing as needed; retain the original mathematical demand. Ask students which support helps and fade it as evidence improves.</a:t>
            </a:r>
          </a:p>
          <a:p>
            <a:pPr>
              <a:buNone/>
            </a:pPr>
            <a:r>
              <a:rPr lang="en-US" sz="1100"/>
              <a:t>TEACH 6-7 | Before the first transition, agree on materials, partner roles, and how to request help. Invite students to restate the routine. Normalize revising an idea, recognize a specific contribution, and check privately when frustration blocks participation. Source: UIFR PDF pp. 13-14.</a:t>
            </a:r>
          </a:p>
        </p:txBody>
      </p:sp>
      <p:sp>
        <p:nvSpPr>
          <p:cNvPr id="256" name="Google Shape;256;p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2.1, slide 6 | GOAL</a:t>
            </a:r>
          </a:p>
          <a:p xmlns:a="http://schemas.openxmlformats.org/drawingml/2006/main">
            <a:pPr>
              <a:buNone/>
            </a:pPr>
            <a:r>
              <a:rPr lang="en-US" sz="1100"/>
              <a:t>Focus on the existing task: Today’s Objectives Understand Statistical Questions…</a:t>
            </a:r>
          </a:p>
          <a:p xmlns:a="http://schemas.openxmlformats.org/drawingml/2006/main">
            <a:pPr>
              <a:buNone/>
            </a:pPr>
            <a:r>
              <a:rPr lang="en-US" sz="1100"/>
              <a:t>CONNECT (T1/4): Ask students to restate the displayed goal or key idea and connect it to earlier work. Relevant lesson evidence: identify a question that anticipates variability; describe possible data and what a dot represents.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Read the objective together, then have one or two students restate today’s goal in their own words.</a:t>
            </a:r>
          </a:p>
          <a:p>
            <a:pPr indent="0" lvl="0" marL="0" rtl="0" algn="l">
              <a:spcBef>
                <a:spcPts val="0"/>
              </a:spcBef>
              <a:spcAft>
                <a:spcPts val="0"/>
              </a:spcAft>
              <a:buNone/>
            </a:pPr>
            <a:r>
              <a:t>Connect it to what the class learned last lesson.</a:t>
            </a:r>
          </a:p>
          <a:p>
            <a:pPr indent="0" lvl="0" marL="0" rtl="0" algn="l">
              <a:spcBef>
                <a:spcPts val="0"/>
              </a:spcBef>
              <a:spcAft>
                <a:spcPts val="0"/>
              </a:spcAft>
              <a:buNone/>
            </a:pPr>
            <a:r>
              <a:t>Return to this goal at the end of class to check it was met.</a:t>
            </a:r>
          </a:p>
          <a:p>
            <a:pPr indent="0" lvl="0" marL="0" rtl="0" algn="l">
              <a:spcBef>
                <a:spcPts val="0"/>
              </a:spcBef>
              <a:spcAft>
                <a:spcPts val="0"/>
              </a:spcAft>
              <a:buNone/>
            </a:pPr>
            <a:r>
              <a:t>UIFR: TEACH 1.</a:t>
            </a:r>
          </a:p>
          <a:p>
            <a:pPr>
              <a:buNone/>
            </a:pPr>
            <a:r>
              <a:rPr lang="en-US" sz="1100"/>
              <a:t/>
            </a:r>
          </a:p>
          <a:p>
            <a:pPr>
              <a:buNone/>
            </a:pPr>
            <a:r>
              <a:rPr lang="en-US" sz="1100"/>
              <a:t>UIFR FULL | Lesson-specific facilitation</a:t>
            </a:r>
          </a:p>
          <a:p>
            <a:pPr>
              <a:buNone/>
            </a:pPr>
            <a:r>
              <a:rPr lang="en-US" sz="1100"/>
              <a:t>TEACH 1 | Session 1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identify a question that anticipates variability; describe possible data and what a dot represents. Ask: “Which part of your work would show this?” Revisit that evidence after the task; a confidence rating alone is not evidence of understanding.</a:t>
            </a:r>
          </a:p>
        </p:txBody>
      </p:sp>
      <p:sp>
        <p:nvSpPr>
          <p:cNvPr id="332" name="Google Shape;332;p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6: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2.1, slide 15 | VOCAB</a:t>
            </a:r>
          </a:p>
          <a:p xmlns:a="http://schemas.openxmlformats.org/drawingml/2006/main">
            <a:pPr>
              <a:buNone/>
            </a:pPr>
            <a:r>
              <a:rPr lang="en-US" sz="1100"/>
              <a:t>Focus on the existing task: Vocabulary Today’s Math Words We learn every word — what…</a:t>
            </a:r>
          </a:p>
          <a:p xmlns:a="http://schemas.openxmlformats.org/drawingml/2006/main">
            <a:pPr>
              <a:buNone/>
            </a:pPr>
            <a:r>
              <a:rPr lang="en-US" sz="1100"/>
              <a:t>ASK (T1/3/5): Where does “the displayed term”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Choral-read each word, its meaning, and what it looks like.</a:t>
            </a:r>
          </a:p>
          <a:p>
            <a:pPr indent="0" lvl="0" marL="0" rtl="0" algn="l">
              <a:spcBef>
                <a:spcPts val="0"/>
              </a:spcBef>
              <a:spcAft>
                <a:spcPts val="0"/>
              </a:spcAft>
              <a:buNone/>
            </a:pPr>
            <a:r>
              <a:t>Students should use these words out loud today — listen for them in partner talk and revoice student ideas with the academic term.</a:t>
            </a:r>
          </a:p>
          <a:p>
            <a:pPr indent="0" lvl="0" marL="0" rtl="0" algn="l">
              <a:spcBef>
                <a:spcPts val="0"/>
              </a:spcBef>
              <a:spcAft>
                <a:spcPts val="0"/>
              </a:spcAft>
              <a:buNone/>
            </a:pPr>
            <a:r>
              <a:t>UIFR: TEACH 1 · TEACH 5.</a:t>
            </a:r>
          </a:p>
        </p:txBody>
      </p:sp>
      <p:sp>
        <p:nvSpPr>
          <p:cNvPr id="354" name="Google Shape;354;p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1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2.1, slide 2 | NOTES</a:t>
            </a:r>
          </a:p>
          <a:p xmlns:a="http://schemas.openxmlformats.org/drawingml/2006/main">
            <a:pPr>
              <a:buNone/>
            </a:pPr>
            <a:r>
              <a:rPr lang="en-US" sz="1100"/>
              <a:t>Focus on the existing task: Today’s Math Notes Section 1: Math Words Copy into your…</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518" name="Google Shape;518;p1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1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2.1, slide 3 | NOTES</a:t>
            </a:r>
          </a:p>
          <a:p xmlns:a="http://schemas.openxmlformats.org/drawingml/2006/main">
            <a:pPr>
              <a:buNone/>
            </a:pPr>
            <a:r>
              <a:rPr lang="en-US" sz="1100"/>
              <a:t>Focus on the existing task: Today’s Math Notes Section 2: Today’s Math Copy into your…</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546" name="Google Shape;546;p1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1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2.1, slide 16 | CURIOUS</a:t>
            </a:r>
          </a:p>
          <a:p xmlns:a="http://schemas.openxmlformats.org/drawingml/2006/main">
            <a:pPr>
              <a:buNone/>
            </a:pPr>
            <a:r>
              <a:rPr lang="en-US" sz="1100"/>
              <a:t>Focus on the existing task: What do you notice?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describe possible data and what a dot represents. Ask which feature of their work supports the claim.</a:t>
            </a:r>
          </a:p>
          <a:p xmlns:a="http://schemas.openxmlformats.org/drawingml/2006/main">
            <a:pPr>
              <a:buNone/>
            </a:pPr>
            <a:r>
              <a:rPr lang="en-US" sz="1100"/>
              <a:t>RESPOND: If this task shows the lesson misconception—assuming any question with a numerical answer is statistical—revisit the existing survey and sort its possible responses before classifying the question.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Accept all noticings and wonderings — there are no wrong answers here.</a:t>
            </a:r>
          </a:p>
          <a:p>
            <a:pPr indent="0" lvl="0" marL="0" rtl="0" algn="l">
              <a:lnSpc>
                <a:spcPct val="100000"/>
              </a:lnSpc>
              <a:spcBef>
                <a:spcPts val="0"/>
              </a:spcBef>
              <a:spcAft>
                <a:spcPts val="0"/>
              </a:spcAft>
              <a:buSzPts val="1400"/>
              <a:buNone/>
            </a:pPr>
            <a:r>
              <a:t>Give 20–30 seconds of quiet think time before taking responses; mix cold and warm calls so it is not always the same voices.</a:t>
            </a:r>
          </a:p>
          <a:p>
            <a:pPr indent="0" lvl="0" marL="0" rtl="0" algn="l">
              <a:lnSpc>
                <a:spcPct val="100000"/>
              </a:lnSpc>
              <a:spcBef>
                <a:spcPts val="0"/>
              </a:spcBef>
              <a:spcAft>
                <a:spcPts val="0"/>
              </a:spcAft>
              <a:buSzPts val="1400"/>
              <a:buNone/>
            </a:pPr>
            <a:r>
              <a:t>Read the mindset question aloud and let two students respond.</a:t>
            </a:r>
          </a:p>
          <a:p>
            <a:pPr indent="0" lvl="0" marL="0" rtl="0" algn="l">
              <a:lnSpc>
                <a:spcPct val="100000"/>
              </a:lnSpc>
              <a:spcBef>
                <a:spcPts val="0"/>
              </a:spcBef>
              <a:spcAft>
                <a:spcPts val="0"/>
              </a:spcAft>
              <a:buSzPts val="1400"/>
              <a:buNone/>
            </a:pPr>
            <a:r>
              <a:t>UIFR: TEACH 3 · TEACH 7.</a:t>
            </a:r>
          </a:p>
        </p:txBody>
      </p:sp>
      <p:sp>
        <p:nvSpPr>
          <p:cNvPr id="580" name="Google Shape;580;p1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1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2.1, slide 17 | TASK</a:t>
            </a:r>
          </a:p>
          <a:p xmlns:a="http://schemas.openxmlformats.org/drawingml/2006/main">
            <a:pPr>
              <a:buNone/>
            </a:pPr>
            <a:r>
              <a:rPr lang="en-US" sz="1100"/>
              <a:t>Focus on the existing task: Diamond surveyed her classmates about U.S. National Parks and organized the data. Which of these questions could Diamond have asked her classmates?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describe possible data and what a dot represents. Ask which feature of their work supports the claim.</a:t>
            </a:r>
          </a:p>
          <a:p xmlns:a="http://schemas.openxmlformats.org/drawingml/2006/main">
            <a:pPr>
              <a:buNone/>
            </a:pPr>
            <a:r>
              <a:rPr lang="en-US" sz="1100"/>
              <a:t>RESPOND: If this task shows the lesson misconception—assuming any question with a numerical answer is statistical—revisit the existing survey and sort its possible responses before classifying the question.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a:p>
            <a:pPr>
              <a:buNone/>
            </a:pPr>
            <a:r>
              <a:rPr lang="en-US" sz="1100"/>
              <a:t/>
            </a:r>
          </a:p>
          <a:p>
            <a:pPr>
              <a:buNone/>
            </a:pPr>
            <a:r>
              <a:rPr lang="en-US" sz="1100"/>
              <a:t>UIFR FULL | Lesson-specific facilitation</a:t>
            </a:r>
          </a:p>
          <a:p>
            <a:pPr>
              <a:buNone/>
            </a:pPr>
            <a:r>
              <a:rPr lang="en-US" sz="1100"/>
              <a:t>TEACH 2-3 | Session 1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“What different answers could this question produce, and why would we need data from a group?” Wait for evidence, invite another pathway, and have a student ask a follow-up question. Do not replace students’ reasoning with a sequence of leading steps.</a:t>
            </a:r>
          </a:p>
        </p:txBody>
      </p:sp>
      <p:sp>
        <p:nvSpPr>
          <p:cNvPr id="602" name="Google Shape;602;p1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2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2.1, slide 18 | REVEAL</a:t>
            </a:r>
          </a:p>
          <a:p xmlns:a="http://schemas.openxmlformats.org/drawingml/2006/main">
            <a:pPr>
              <a:buNone/>
            </a:pPr>
            <a:r>
              <a:rPr lang="en-US" sz="1100"/>
              <a:t>Focus on the existing task: What do you notice about the survey results?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identify a question that anticipates variability. Ask which feature of their work supports the claim.</a:t>
            </a:r>
          </a:p>
          <a:p xmlns:a="http://schemas.openxmlformats.org/drawingml/2006/main">
            <a:pPr>
              <a:buNone/>
            </a:pPr>
            <a:r>
              <a:rPr lang="en-US" sz="1100"/>
              <a:t>RESPOND: If this task shows the lesson misconception—assuming any question with a numerical answer is statistical—revisit the existing survey and sort its possible responses before classifying the question.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There is variability in the results because students’ answers included different parks.</a:t>
            </a:r>
          </a:p>
          <a:p>
            <a:pPr indent="0" lvl="0" marL="0" rtl="0" algn="l">
              <a:lnSpc>
                <a:spcPct val="100000"/>
              </a:lnSpc>
              <a:spcBef>
                <a:spcPts val="0"/>
              </a:spcBef>
              <a:spcAft>
                <a:spcPts val="0"/>
              </a:spcAft>
              <a:buSzPts val="1400"/>
              <a:buNone/>
            </a:pPr>
            <a:r>
              <a:t>UIFR: TEACH 3 · TEACH 4.</a:t>
            </a:r>
          </a:p>
        </p:txBody>
      </p:sp>
      <p:sp>
        <p:nvSpPr>
          <p:cNvPr id="636" name="Google Shape;636;p2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p2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2.1, slide 19 | COLLABORATE</a:t>
            </a:r>
          </a:p>
          <a:p xmlns:a="http://schemas.openxmlformats.org/drawingml/2006/main">
            <a:pPr>
              <a:buNone/>
            </a:pPr>
            <a:r>
              <a:rPr lang="en-US" sz="1100"/>
              <a:t>Focus on the existing task: Variability means there can be many possible responses. Which questions could have variability in the responses?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describe possible data and what a dot represents. Ask which feature of their work supports the claim.</a:t>
            </a:r>
          </a:p>
          <a:p xmlns:a="http://schemas.openxmlformats.org/drawingml/2006/main">
            <a:pPr>
              <a:buNone/>
            </a:pPr>
            <a:r>
              <a:rPr lang="en-US" sz="1100"/>
              <a:t>RESPOND: If this task shows the lesson misconception—assuming any question with a numerical answer is statistical—revisit the existing survey and sort its possible responses before classifying the question.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COLLABORATE  ·  TALK IT THROUGH • AGREE ON A MODEL</a:t>
            </a:r>
          </a:p>
          <a:p>
            <a:pPr>
              <a:buNone/>
            </a:pPr>
            <a:r>
              <a:rPr lang="en-US" sz="1100"/>
              <a:t/>
            </a:r>
          </a:p>
          <a:p>
            <a:pPr>
              <a:buNone/>
            </a:pPr>
            <a:r>
              <a:rPr lang="en-US" sz="1100"/>
              <a:t>UIFR FULL | Lesson-specific facilitation</a:t>
            </a:r>
          </a:p>
          <a:p>
            <a:pPr>
              <a:buNone/>
            </a:pPr>
            <a:r>
              <a:rPr lang="en-US" sz="1100"/>
              <a:t>TEACH 4-5 | Session 1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assuming any question with a numerical answer is statistical. If it appears, revisit the existing survey and sort its possible responses before classifying the question; then ask the student to revise the same response and explain the change. If evidence is secure, have students compare a second valid pathway or state why their approach works. Choose the next step from the responses, not a preset pace.</a:t>
            </a:r>
          </a:p>
        </p:txBody>
      </p:sp>
      <p:sp>
        <p:nvSpPr>
          <p:cNvPr id="644" name="Google Shape;644;p2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p2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2.1, slide 20 | REVEAL</a:t>
            </a:r>
          </a:p>
          <a:p xmlns:a="http://schemas.openxmlformats.org/drawingml/2006/main">
            <a:pPr>
              <a:buNone/>
            </a:pPr>
            <a:r>
              <a:rPr lang="en-US" sz="1100"/>
              <a:t>Focus on the existing task: These questions are not statistical questions. There is no variability in the responses. In what state is Acadia National Park found?</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identify a question that anticipates variability. Ask which feature of their work supports the claim.</a:t>
            </a:r>
          </a:p>
          <a:p xmlns:a="http://schemas.openxmlformats.org/drawingml/2006/main">
            <a:pPr>
              <a:buNone/>
            </a:pPr>
            <a:r>
              <a:rPr lang="en-US" sz="1100"/>
              <a:t>RESPOND: If this task shows the lesson misconception—assuming any question with a numerical answer is statistical—revisit the existing survey and sort its possible responses before classifying the question.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Students should have shared predictions before this reveal.</a:t>
            </a:r>
          </a:p>
          <a:p>
            <a:pPr indent="0" lvl="0" marL="0" rtl="0" algn="l">
              <a:lnSpc>
                <a:spcPct val="100000"/>
              </a:lnSpc>
              <a:spcBef>
                <a:spcPts val="0"/>
              </a:spcBef>
              <a:spcAft>
                <a:spcPts val="0"/>
              </a:spcAft>
              <a:buSzPts val="1400"/>
              <a:buNone/>
            </a:pPr>
            <a:r>
              <a:t>Have them compare their thinking to what is shown: “Is this the same as what we said? Where is it different?”</a:t>
            </a:r>
          </a:p>
          <a:p>
            <a:pPr indent="0" lvl="0" marL="0" rtl="0" algn="l">
              <a:lnSpc>
                <a:spcPct val="100000"/>
              </a:lnSpc>
              <a:spcBef>
                <a:spcPts val="0"/>
              </a:spcBef>
              <a:spcAft>
                <a:spcPts val="0"/>
              </a:spcAft>
              <a:buSzPts val="1400"/>
              <a:buNone/>
            </a:pPr>
            <a:r>
              <a:t>Press one student to explain the reveal in their own words.</a:t>
            </a:r>
          </a:p>
          <a:p>
            <a:pPr indent="0" lvl="0" marL="0" rtl="0" algn="l">
              <a:lnSpc>
                <a:spcPct val="100000"/>
              </a:lnSpc>
              <a:spcBef>
                <a:spcPts val="0"/>
              </a:spcBef>
              <a:spcAft>
                <a:spcPts val="0"/>
              </a:spcAft>
              <a:buSzPts val="1400"/>
              <a:buNone/>
            </a:pPr>
            <a:r>
              <a:t>UIFR: TEACH 3 · TEACH 4.</a:t>
            </a:r>
          </a:p>
        </p:txBody>
      </p:sp>
      <p:sp>
        <p:nvSpPr>
          <p:cNvPr id="687" name="Google Shape;687;p2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p3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2.1, slide 21 | PRACTICE</a:t>
            </a:r>
          </a:p>
          <a:p xmlns:a="http://schemas.openxmlformats.org/drawingml/2006/main">
            <a:pPr>
              <a:buNone/>
            </a:pPr>
            <a:r>
              <a:rPr lang="en-US" sz="1100"/>
              <a:t>Focus on the existing task: Workspace Why does a survey need to have a statistical question?</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identify a question that anticipates variability. Ask which feature of their work supports the claim.</a:t>
            </a:r>
          </a:p>
          <a:p xmlns:a="http://schemas.openxmlformats.org/drawingml/2006/main">
            <a:pPr>
              <a:buNone/>
            </a:pPr>
            <a:r>
              <a:rPr lang="en-US" sz="1100"/>
              <a:t>RESPOND: If this task shows the lesson misconception—assuming any question with a numerical answer is statistical—revisit the existing survey and sort its possible responses before classifying the question.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719" name="Google Shape;719;p3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p3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2.1, slide 28 | DIVIDER</a:t>
            </a:r>
          </a:p>
          <a:p xmlns:a="http://schemas.openxmlformats.org/drawingml/2006/main">
            <a:pPr>
              <a:buNone/>
            </a:pPr>
            <a:r>
              <a:rPr lang="en-US" sz="1100"/>
              <a:t>Focus on the existing task: Understand Statistical Questions Session 2</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730" name="Google Shape;730;p3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p3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2.1, slide 29 | CURIOUS</a:t>
            </a:r>
          </a:p>
          <a:p xmlns:a="http://schemas.openxmlformats.org/drawingml/2006/main">
            <a:pPr>
              <a:buNone/>
            </a:pPr>
            <a:r>
              <a:rPr lang="en-US" sz="1100"/>
              <a:t>Focus on the existing task: What do you notice?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describe possible data and what a dot represents. Ask which feature of their work supports the claim.</a:t>
            </a:r>
          </a:p>
          <a:p xmlns:a="http://schemas.openxmlformats.org/drawingml/2006/main">
            <a:pPr>
              <a:buNone/>
            </a:pPr>
            <a:r>
              <a:rPr lang="en-US" sz="1100"/>
              <a:t>RESPOND: If this task shows the lesson misconception—assuming any question with a numerical answer is statistical—revisit the existing survey and sort its possible responses before classifying the question.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Accept all noticings and wonderings — there are no wrong answers here.</a:t>
            </a:r>
          </a:p>
          <a:p>
            <a:pPr indent="0" lvl="0" marL="0" rtl="0" algn="l">
              <a:lnSpc>
                <a:spcPct val="100000"/>
              </a:lnSpc>
              <a:spcBef>
                <a:spcPts val="0"/>
              </a:spcBef>
              <a:spcAft>
                <a:spcPts val="0"/>
              </a:spcAft>
              <a:buSzPts val="1400"/>
              <a:buNone/>
            </a:pPr>
            <a:r>
              <a:t>Give 20–30 seconds of quiet think time before taking responses; mix cold and warm calls so it is not always the same voices.</a:t>
            </a:r>
          </a:p>
          <a:p>
            <a:pPr indent="0" lvl="0" marL="0" rtl="0" algn="l">
              <a:lnSpc>
                <a:spcPct val="100000"/>
              </a:lnSpc>
              <a:spcBef>
                <a:spcPts val="0"/>
              </a:spcBef>
              <a:spcAft>
                <a:spcPts val="0"/>
              </a:spcAft>
              <a:buSzPts val="1400"/>
              <a:buNone/>
            </a:pPr>
            <a:r>
              <a:t>Read the mindset question aloud and let two students respond.</a:t>
            </a:r>
          </a:p>
          <a:p>
            <a:pPr indent="0" lvl="0" marL="0" rtl="0" algn="l">
              <a:lnSpc>
                <a:spcPct val="100000"/>
              </a:lnSpc>
              <a:spcBef>
                <a:spcPts val="0"/>
              </a:spcBef>
              <a:spcAft>
                <a:spcPts val="0"/>
              </a:spcAft>
              <a:buSzPts val="1400"/>
              <a:buNone/>
            </a:pPr>
            <a:r>
              <a:t>UIFR: TEACH 3 · TEACH 7.</a:t>
            </a:r>
          </a:p>
        </p:txBody>
      </p:sp>
      <p:sp>
        <p:nvSpPr>
          <p:cNvPr id="747" name="Google Shape;747;p3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p3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2.1, slide 33 | TASK</a:t>
            </a:r>
          </a:p>
          <a:p xmlns:a="http://schemas.openxmlformats.org/drawingml/2006/main">
            <a:pPr>
              <a:buNone/>
            </a:pPr>
            <a:r>
              <a:rPr lang="en-US" sz="1100"/>
              <a:t>Focus on the existing task: Ayasha conducted a survey about the number of pets the students in her class have. The results of her survey are shown. How can Ayasha display the data to help her summarize her findings?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describe possible data and what a dot represents. Ask which feature of their work supports the claim.</a:t>
            </a:r>
          </a:p>
          <a:p xmlns:a="http://schemas.openxmlformats.org/drawingml/2006/main">
            <a:pPr>
              <a:buNone/>
            </a:pPr>
            <a:r>
              <a:rPr lang="en-US" sz="1100"/>
              <a:t>RESPOND: If this task shows the lesson misconception—assuming any question with a numerical answer is statistical—revisit the existing survey and sort its possible responses before classifying the question.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SUMMARIZE  ·  SAY IT IN YOUR OWN WORDS</a:t>
            </a:r>
          </a:p>
        </p:txBody>
      </p:sp>
      <p:sp>
        <p:nvSpPr>
          <p:cNvPr id="767" name="Google Shape;767;p3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p4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2.1, slide 34 | REVEAL</a:t>
            </a:r>
          </a:p>
          <a:p xmlns:a="http://schemas.openxmlformats.org/drawingml/2006/main">
            <a:pPr>
              <a:buNone/>
            </a:pPr>
            <a:r>
              <a:rPr lang="en-US" sz="1100"/>
              <a:t>Focus on the existing task: You can display the data collected in the survey by creating a dot plot. A dot plot is similar to a line plot, except it uses dots to…</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describe possible data and what a dot represents. Ask which feature of their work supports the claim.</a:t>
            </a:r>
          </a:p>
          <a:p xmlns:a="http://schemas.openxmlformats.org/drawingml/2006/main">
            <a:pPr>
              <a:buNone/>
            </a:pPr>
            <a:r>
              <a:rPr lang="en-US" sz="1100"/>
              <a:t>RESPOND: If this task shows the lesson misconception—assuming any question with a numerical answer is statistical—revisit the existing survey and sort its possible responses before classifying the question.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Each dot represents a student with that number of pets.</a:t>
            </a:r>
          </a:p>
          <a:p>
            <a:pPr indent="0" lvl="0" marL="0" rtl="0" algn="l">
              <a:lnSpc>
                <a:spcPct val="100000"/>
              </a:lnSpc>
              <a:spcBef>
                <a:spcPts val="0"/>
              </a:spcBef>
              <a:spcAft>
                <a:spcPts val="0"/>
              </a:spcAft>
              <a:buSzPts val="1400"/>
              <a:buNone/>
            </a:pPr>
            <a:r>
              <a:t>UIFR: TEACH 3 · TEACH 4.</a:t>
            </a:r>
          </a:p>
        </p:txBody>
      </p:sp>
      <p:sp>
        <p:nvSpPr>
          <p:cNvPr id="786" name="Google Shape;786;p4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p4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2.1, slide 35 | REVEAL</a:t>
            </a:r>
          </a:p>
          <a:p xmlns:a="http://schemas.openxmlformats.org/drawingml/2006/main">
            <a:pPr>
              <a:buNone/>
            </a:pPr>
            <a:r>
              <a:rPr lang="en-US" sz="1100"/>
              <a:t>Focus on the existing task: Next, let’s analyze the data in the dot plot. What is the least number of pets owned?</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describe possible data and what a dot represents. Ask which feature of their work supports the claim.</a:t>
            </a:r>
          </a:p>
          <a:p xmlns:a="http://schemas.openxmlformats.org/drawingml/2006/main">
            <a:pPr>
              <a:buNone/>
            </a:pPr>
            <a:r>
              <a:rPr lang="en-US" sz="1100"/>
              <a:t>RESPOND: If this task shows the lesson misconception—assuming any question with a numerical answer is statistical—revisit the existing survey and sort its possible responses before classifying the question.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 least number of pets is zero and the greatest number of pets is 5.</a:t>
            </a:r>
          </a:p>
          <a:p>
            <a:pPr indent="0" lvl="0" marL="0" rtl="0" algn="l">
              <a:lnSpc>
                <a:spcPct val="100000"/>
              </a:lnSpc>
              <a:spcBef>
                <a:spcPts val="0"/>
              </a:spcBef>
              <a:spcAft>
                <a:spcPts val="0"/>
              </a:spcAft>
              <a:buSzPts val="1400"/>
              <a:buNone/>
            </a:pPr>
            <a:r>
              <a:t>UIFR: TEACH 3 · TEACH 4.</a:t>
            </a:r>
          </a:p>
        </p:txBody>
      </p:sp>
      <p:sp>
        <p:nvSpPr>
          <p:cNvPr id="831" name="Google Shape;831;p4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p4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2.1, slide 36 | COLLABORATE</a:t>
            </a:r>
          </a:p>
          <a:p xmlns:a="http://schemas.openxmlformats.org/drawingml/2006/main">
            <a:pPr>
              <a:buNone/>
            </a:pPr>
            <a:r>
              <a:rPr lang="en-US" sz="1100"/>
              <a:t>Focus on the existing task: Two is the most common number of pets. A dot plot also shows the distribution, or the shape of the data. What do you notice about the shape of the dot plot?</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describe possible data and what a dot represents. Ask which feature of their work supports the claim.</a:t>
            </a:r>
          </a:p>
          <a:p xmlns:a="http://schemas.openxmlformats.org/drawingml/2006/main">
            <a:pPr>
              <a:buNone/>
            </a:pPr>
            <a:r>
              <a:rPr lang="en-US" sz="1100"/>
              <a:t>RESPOND: If this task shows the lesson misconception—assuming any question with a numerical answer is statistical—revisit the existing survey and sort its possible responses before classifying the question.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COLLABORATE  ·  TALK IT THROUGH • AGREE ON A MODEL</a:t>
            </a:r>
          </a:p>
          <a:p>
            <a:pPr>
              <a:buNone/>
            </a:pPr>
            <a:r>
              <a:rPr lang="en-US" sz="1100"/>
              <a:t/>
            </a:r>
          </a:p>
          <a:p>
            <a:pPr>
              <a:buNone/>
            </a:pPr>
            <a:r>
              <a:rPr lang="en-US" sz="1100"/>
              <a:t>UIFR FULL | Lesson-specific facilitation</a:t>
            </a:r>
          </a:p>
          <a:p>
            <a:pPr>
              <a:buNone/>
            </a:pPr>
            <a:r>
              <a:rPr lang="en-US" sz="1100"/>
              <a:t>TEACH 4-5 | Session 2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assuming any question with a numerical answer is statistical. If it appears, revisit the existing survey and sort its possible responses before classifying the question; then ask the student to revise the same response and explain the change. If evidence is secure, have students compare a second valid pathway or state why their approach works. Choose the next step from the responses, not a preset pace.</a:t>
            </a:r>
          </a:p>
        </p:txBody>
      </p:sp>
      <p:sp>
        <p:nvSpPr>
          <p:cNvPr id="865" name="Google Shape;865;p4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p5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2.1, slide 37 | WORKED</a:t>
            </a:r>
          </a:p>
          <a:p xmlns:a="http://schemas.openxmlformats.org/drawingml/2006/main">
            <a:pPr>
              <a:buNone/>
            </a:pPr>
            <a:r>
              <a:rPr lang="en-US" sz="1100"/>
              <a:t>Focus on the existing task: You can see the shape of the data is almost symmetric because the number of dots to the left of the highest point is almost equal to the…</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identify a question that anticipates variability. Ask which feature of their work supports the claim.</a:t>
            </a:r>
          </a:p>
          <a:p xmlns:a="http://schemas.openxmlformats.org/drawingml/2006/main">
            <a:pPr>
              <a:buNone/>
            </a:pPr>
            <a:r>
              <a:rPr lang="en-US" sz="1100"/>
              <a:t>RESPOND: If this task shows the lesson misconception—assuming any question with a numerical answer is statistical—revisit the existing survey and sort its possible responses before classifying the question.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875" name="Google Shape;875;p5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 name="Shape 889"/>
        <p:cNvGrpSpPr/>
        <p:nvPr/>
      </p:nvGrpSpPr>
      <p:grpSpPr>
        <a:xfrm>
          <a:off x="0" y="0"/>
          <a:ext cx="0" cy="0"/>
          <a:chOff x="0" y="0"/>
          <a:chExt cx="0" cy="0"/>
        </a:xfrm>
      </p:grpSpPr>
      <p:sp>
        <p:nvSpPr>
          <p:cNvPr id="890" name="Google Shape;890;p5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2.1, slide 38 | PRACTICE</a:t>
            </a:r>
          </a:p>
          <a:p xmlns:a="http://schemas.openxmlformats.org/drawingml/2006/main">
            <a:pPr>
              <a:buNone/>
            </a:pPr>
            <a:r>
              <a:rPr lang="en-US" sz="1100"/>
              <a:t>Focus on the existing task: Workspace Based on the data collected, how many pets would the typical student in Ayasha’s class, selected at random, have?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describe possible data and what a dot represents. Ask which feature of their work supports the claim.</a:t>
            </a:r>
          </a:p>
          <a:p xmlns:a="http://schemas.openxmlformats.org/drawingml/2006/main">
            <a:pPr>
              <a:buNone/>
            </a:pPr>
            <a:r>
              <a:rPr lang="en-US" sz="1100"/>
              <a:t>RESPOND: If this task shows the lesson misconception—assuming any question with a numerical answer is statistical—revisit the existing survey and sort its possible responses before classifying the question.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SUMMARIZE  ·  SAY IT IN YOUR OWN WORDS</a:t>
            </a:r>
          </a:p>
        </p:txBody>
      </p:sp>
      <p:sp>
        <p:nvSpPr>
          <p:cNvPr id="891" name="Google Shape;891;p5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 name="Shape 902"/>
        <p:cNvGrpSpPr/>
        <p:nvPr/>
      </p:nvGrpSpPr>
      <p:grpSpPr>
        <a:xfrm>
          <a:off x="0" y="0"/>
          <a:ext cx="0" cy="0"/>
          <a:chOff x="0" y="0"/>
          <a:chExt cx="0" cy="0"/>
        </a:xfrm>
      </p:grpSpPr>
      <p:sp>
        <p:nvSpPr>
          <p:cNvPr id="903" name="Google Shape;903;p5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2.1, slide 40 | SUMMARIZE</a:t>
            </a:r>
          </a:p>
          <a:p xmlns:a="http://schemas.openxmlformats.org/drawingml/2006/main">
            <a:pPr>
              <a:buNone/>
            </a:pPr>
            <a:r>
              <a:rPr lang="en-US" sz="1100"/>
              <a:t>Focus on the existing task: Statistical Questions Not statistical Questions How many text messages does a middle school student send each day?</a:t>
            </a:r>
          </a:p>
          <a:p xmlns:a="http://schemas.openxmlformats.org/drawingml/2006/main">
            <a:pPr>
              <a:buNone/>
            </a:pPr>
            <a:r>
              <a:rPr lang="en-US" sz="1100"/>
              <a:t>CONNECT (T1/4): Ask students to restate the displayed goal or key idea and connect it to earlier work. Relevant lesson evidence: identify a question that anticipates variability; describe possible data and what a dot represents.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SUMMARIZE  ·  SAY IT IN YOUR OWN WORDS</a:t>
            </a:r>
          </a:p>
        </p:txBody>
      </p:sp>
      <p:sp>
        <p:nvSpPr>
          <p:cNvPr id="904" name="Google Shape;904;p5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p5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2.1, slide 41 | APPLY</a:t>
            </a:r>
          </a:p>
          <a:p xmlns:a="http://schemas.openxmlformats.org/drawingml/2006/main">
            <a:pPr>
              <a:buNone/>
            </a:pPr>
            <a:r>
              <a:rPr lang="en-US" sz="1100"/>
              <a:t>Focus on the existing task: Some sixth-grade students want to get more food choices in the cafeteria. They will conduct a survey of students who buy lunch in the cafeteria. Question: What questions should they include in their survey?</a:t>
            </a:r>
          </a:p>
          <a:p xmlns:a="http://schemas.openxmlformats.org/drawingml/2006/main">
            <a:pPr>
              <a:buNone/>
            </a:pPr>
            <a:r>
              <a:rPr lang="en-US" sz="1100"/>
              <a:t>LAUNCH (T2/3/5): Use the exact application task independently first. Ask students to justify their choice of method. Collect evidence before a partner discussion or correction.</a:t>
            </a:r>
          </a:p>
          <a:p xmlns:a="http://schemas.openxmlformats.org/drawingml/2006/main">
            <a:pPr>
              <a:buNone/>
            </a:pPr>
            <a:r>
              <a:rPr lang="en-US" sz="1100"/>
              <a:t>LOOK FOR (T4): Where this task addresses it, students can identify a question that anticipates variability. Ask which feature of their work supports the claim.</a:t>
            </a:r>
          </a:p>
          <a:p xmlns:a="http://schemas.openxmlformats.org/drawingml/2006/main">
            <a:pPr>
              <a:buNone/>
            </a:pPr>
            <a:r>
              <a:rPr lang="en-US" sz="1100"/>
              <a:t>RESPOND: If this task shows the lesson misconception—assuming any question with a numerical answer is statistical—revisit the existing survey and sort its possible responses before classifying the question.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APPLY  ·  PLAN IT • SOLVE IT • PROVE IT</a:t>
            </a:r>
          </a:p>
          <a:p>
            <a:pPr>
              <a:buNone/>
            </a:pPr>
            <a:r>
              <a:rPr lang="en-US" sz="1100"/>
              <a:t/>
            </a:r>
          </a:p>
          <a:p>
            <a:pPr>
              <a:buNone/>
            </a:pPr>
            <a:r>
              <a:rPr lang="en-US" sz="1100"/>
              <a:t>UIFR FULL | Lesson-specific facilitation</a:t>
            </a:r>
          </a:p>
          <a:p>
            <a:pPr>
              <a:buNone/>
            </a:pPr>
            <a:r>
              <a:rPr lang="en-US" sz="1100"/>
              <a:t>TEACH 4 | Independent evidence and revision (UIFR PDF p. 11).</a:t>
            </a:r>
          </a:p>
          <a:p>
            <a:pPr>
              <a:buNone/>
            </a:pPr>
            <a:r>
              <a:rPr lang="en-US" sz="1100"/>
              <a:t>Use the existing application/exit problem as the independent check. If this is a learning-target slide, have students point to and explain their work on the preceding task. Separate initial independent evidence from the revision after feedback.</a:t>
            </a:r>
          </a:p>
          <a:p>
            <a:pPr>
              <a:buNone/>
            </a:pPr>
            <a:r>
              <a:rPr lang="en-US" sz="1100"/>
              <a:t>Check the relevant criteria: identify a question that anticipates variability; describe possible data and what a dot represents. Respond with one specific next step tied to the work. Students revise and annotate what changed, then identify a criterion they can now demonstrate and one they still need to practice.</a:t>
            </a:r>
          </a:p>
        </p:txBody>
      </p:sp>
      <p:sp>
        <p:nvSpPr>
          <p:cNvPr id="912" name="Google Shape;912;p5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p5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2.1, slide 42 | REFLECTION</a:t>
            </a:r>
          </a:p>
          <a:p xmlns:a="http://schemas.openxmlformats.org/drawingml/2006/main">
            <a:pPr>
              <a:buNone/>
            </a:pPr>
            <a:r>
              <a:rPr lang="en-US" sz="1100"/>
              <a:t>Focus on the existing task: I can explain what a statistical question is. I can explain how a dot plot is used to represent the number of observations in a data set.…</a:t>
            </a:r>
          </a:p>
          <a:p xmlns:a="http://schemas.openxmlformats.org/drawingml/2006/main">
            <a:pPr>
              <a:buNone/>
            </a:pPr>
            <a:r>
              <a:rPr lang="en-US" sz="1100"/>
              <a:t>CONNECT (T1/4): Ask students to restate the displayed goal or key idea and connect it to earlier work. Relevant lesson evidence: identify a question that anticipates variability; describe possible data and what a dot represents.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Read each target; students self-rate with fist-to-five or thumbs.</a:t>
            </a:r>
          </a:p>
          <a:p>
            <a:pPr indent="0" lvl="0" marL="0" rtl="0" algn="l">
              <a:lnSpc>
                <a:spcPct val="100000"/>
              </a:lnSpc>
              <a:spcBef>
                <a:spcPts val="0"/>
              </a:spcBef>
              <a:spcAft>
                <a:spcPts val="0"/>
              </a:spcAft>
              <a:buSzPts val="1400"/>
              <a:buNone/>
            </a:pPr>
            <a:r>
              <a:t>Tie back to the goal from the start of class: did we get there?</a:t>
            </a:r>
          </a:p>
          <a:p>
            <a:pPr indent="0" lvl="0" marL="0" rtl="0" algn="l">
              <a:lnSpc>
                <a:spcPct val="100000"/>
              </a:lnSpc>
              <a:spcBef>
                <a:spcPts val="0"/>
              </a:spcBef>
              <a:spcAft>
                <a:spcPts val="0"/>
              </a:spcAft>
              <a:buSzPts val="1400"/>
              <a:buNone/>
            </a:pPr>
            <a:r>
              <a:t>Note any target that rates low — revisit it tomorrow.</a:t>
            </a:r>
          </a:p>
          <a:p>
            <a:pPr indent="0" lvl="0" marL="0" rtl="0" algn="l">
              <a:lnSpc>
                <a:spcPct val="100000"/>
              </a:lnSpc>
              <a:spcBef>
                <a:spcPts val="0"/>
              </a:spcBef>
              <a:spcAft>
                <a:spcPts val="0"/>
              </a:spcAft>
              <a:buSzPts val="1400"/>
              <a:buNone/>
            </a:pPr>
            <a:r>
              <a:t>UIFR: TEACH 1 · TEACH 4.</a:t>
            </a:r>
          </a:p>
          <a:p>
            <a:pPr>
              <a:buNone/>
            </a:pPr>
            <a:r>
              <a:rPr lang="en-US" sz="1100"/>
              <a:t/>
            </a:r>
          </a:p>
          <a:p>
            <a:pPr>
              <a:buNone/>
            </a:pPr>
            <a:r>
              <a:rPr lang="en-US" sz="1100"/>
              <a:t>UIFR FULL | Lesson-specific facilitation</a:t>
            </a:r>
          </a:p>
          <a:p>
            <a:pPr>
              <a:buNone/>
            </a:pPr>
            <a:r>
              <a:rPr lang="en-US" sz="1100"/>
              <a:t>REFLECT &amp; ADJUST 1-2 | After the lesson (UIFR PDF pp. 15-16).</a:t>
            </a:r>
          </a:p>
          <a:p>
            <a:pPr>
              <a:buNone/>
            </a:pPr>
            <a:r>
              <a:rPr lang="en-US" sz="1100"/>
              <a:t>Sort the existing work by demonstrated reasoning, partial understanding, and the specific misconception: assuming any question with a numerical answer is statistical. Compare the initial response with the revision. Record which teaching move plausibly helped, which did not, and whose participation or access needs a different approach; do not record sensitive student details in this shared deck.</a:t>
            </a:r>
          </a:p>
          <a:p>
            <a:pPr>
              <a:buNone/>
            </a:pPr>
            <a:r>
              <a:rPr lang="en-US" sz="1100"/>
              <a:t>Plan the next lesson from that evidence: if the misconception persists, revisit the existing survey and sort its possible responses before classifying the question using the current example before returning to the next grade-level task; if understanding is secure, use an existing extension or ask for a general explanation. Check the targeted idea again at the next warm-up.</a:t>
            </a:r>
          </a:p>
          <a:p>
            <a:pPr>
              <a:buNone/>
            </a:pPr>
            <a:r>
              <a:rPr lang="en-US" sz="1100"/>
              <a:t>Ask students what supported their thinking and what would help next time. Identify one change to try and one successful practice to retain. Seek colleague feedback on anonymized work when useful; these prompts support reflection and do not establish an evaluation rating. Source: Baltimore City Public Schools, Updated Instructional Framework Rubric, June 2020 (UIFR_Full.pdf).</a:t>
            </a:r>
          </a:p>
        </p:txBody>
      </p:sp>
      <p:sp>
        <p:nvSpPr>
          <p:cNvPr id="920" name="Google Shape;920;p5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2.1, slide 26 | WARMUP</a:t>
            </a:r>
          </a:p>
          <a:p xmlns:a="http://schemas.openxmlformats.org/drawingml/2006/main">
            <a:pPr>
              <a:buNone/>
            </a:pPr>
            <a:r>
              <a:rPr lang="en-US" sz="1100"/>
              <a:t>Focus on the existing task: Session 2 Warm-Up Session 2 Warm-Up Quick review from Session 1 · about 4 minutes 1 Which question is a statistical question?</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Warm-up routine: students start silently on entry; keep it to about 4 minutes.</a:t>
            </a:r>
          </a:p>
          <a:p>
            <a:r>
              <a:t>Circulate and note who is stuck — use what you see to choose who you check on first today.</a:t>
            </a:r>
          </a:p>
          <a:p>
            <a:r>
              <a:t>Go over answers quickly; ask one student to explain a step, not just say the answer.</a:t>
            </a:r>
          </a:p>
          <a:p>
            <a:r>
              <a:t>UIFR: TEACH 4 · TEACH 6.</a:t>
            </a:r>
          </a:p>
          <a:p>
            <a:pPr>
              <a:buNone/>
            </a:pPr>
            <a:r>
              <a:rPr lang="en-US" sz="1100"/>
              <a:t/>
            </a:r>
          </a:p>
          <a:p>
            <a:pPr>
              <a:buNone/>
            </a:pPr>
            <a:r>
              <a:rPr lang="en-US" sz="1100"/>
              <a:t>UIFR FULL | Lesson-specific facilitation</a:t>
            </a:r>
          </a:p>
          <a:p>
            <a:pPr>
              <a:buNone/>
            </a:pPr>
            <a:r>
              <a:rPr lang="en-US" sz="1100"/>
              <a:t>TEACH 1 | Session 2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identify a question that anticipates variability; describe possible data and what a dot represents. Ask: “Which part of your work would show this?” Revisit that evidence after the task; a confidence rating alone is not evidence of understanding.</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2.1, slide 27 | NOTES</a:t>
            </a:r>
          </a:p>
          <a:p xmlns:a="http://schemas.openxmlformats.org/drawingml/2006/main">
            <a:pPr>
              <a:buNone/>
            </a:pPr>
            <a:r>
              <a:rPr lang="en-US" sz="1100"/>
              <a:t>Focus on the existing task: Review Notes Review Notes — Session 2 Copy into your…</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Copy routine: read one line at a time; students copy, then explain that line to a partner.</a:t>
            </a:r>
          </a:p>
          <a:p>
            <a:r>
              <a:t>Keep it brisk — the understanding work happens in the examples, not the copying.</a:t>
            </a:r>
          </a:p>
          <a:p>
            <a:r>
              <a:t>UIFR: TEACH 1 · TEACH 6.</a:t>
            </a:r>
          </a:p>
        </p:txBody>
      </p:sp>
    </p:spTree>
  </p:cSld>
  <p:clrMapOvr>
    <a:masterClrMapping/>
  </p:clrMapOvr>
</p:notes>
</file>

<file path=ppt/notesSlides/notesSlide5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2.1, slide 30 | REVEAL</a:t>
            </a:r>
          </a:p>
          <a:p xmlns:a="http://schemas.openxmlformats.org/drawingml/2006/main">
            <a:pPr>
              <a:buNone/>
            </a:pPr>
            <a:r>
              <a:rPr lang="en-US" sz="1100"/>
              <a:t>Focus on the existing task: Each dot represents a student with that number of pets. How can you determine how many students Ayasha surveyed?</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identify a question that anticipates variability. Ask which feature of their work supports the claim.</a:t>
            </a:r>
          </a:p>
          <a:p xmlns:a="http://schemas.openxmlformats.org/drawingml/2006/main">
            <a:pPr>
              <a:buNone/>
            </a:pPr>
            <a:r>
              <a:rPr lang="en-US" sz="1100"/>
              <a:t>RESPOND: If this task shows the lesson misconception—assuming any question with a numerical answer is statistical—revisit the existing survey and sort its possible responses before classifying the question.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
            <a:pPr>
              <a:buNone/>
            </a:pPr>
            <a:r>
              <a:rPr lang="en-US" sz="1100"/>
              <a:t/>
            </a:r>
          </a:p>
          <a:p>
            <a:pPr>
              <a:buNone/>
            </a:pPr>
            <a:r>
              <a:rPr lang="en-US" sz="1100"/>
              <a:t>UIFR FULL | Lesson-specific facilitation</a:t>
            </a:r>
          </a:p>
          <a:p>
            <a:pPr>
              <a:buNone/>
            </a:pPr>
            <a:r>
              <a:rPr lang="en-US" sz="1100"/>
              <a:t>TEACH 2-3 | Session 2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“What different answers could this question produce, and why would we need data from a group?” Wait for evidence, invite another pathway, and have a student ask a follow-up question. Do not replace students’ reasoning with a sequence of leading steps.</a:t>
            </a:r>
          </a:p>
        </p:txBody>
      </p:sp>
    </p:spTree>
  </p:cSld>
  <p:clrMapOvr>
    <a:masterClrMapping/>
  </p:clrMapOvr>
</p:notes>
</file>

<file path=ppt/notesSlides/notesSlide5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2.1, slide 7 | PRIOR_INSERT</a:t>
            </a:r>
          </a:p>
          <a:p xmlns:a="http://schemas.openxmlformats.org/drawingml/2006/main">
            <a:pPr>
              <a:buNone/>
            </a:pPr>
            <a:r>
              <a:rPr lang="en-US" sz="1100"/>
              <a:t>Focus on the existing task: LESSON 2.1 / OUR LEARNING What will show your learning?</a:t>
            </a:r>
          </a:p>
          <a:p xmlns:a="http://schemas.openxmlformats.org/drawingml/2006/main">
            <a:pPr>
              <a:buNone/>
            </a:pPr>
            <a:r>
              <a:rPr lang="en-US" sz="1100"/>
              <a:t>CONNECT (T1/4): Ask students to restate the displayed goal or key idea and connect it to earlier work. Relevant lesson evidence: identify a question that anticipates variability; describe possible data and what a dot represents.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2.1, slide 8 | VOCAB</a:t>
            </a:r>
          </a:p>
          <a:p xmlns:a="http://schemas.openxmlformats.org/drawingml/2006/main">
            <a:pPr>
              <a:buNone/>
            </a:pPr>
            <a:r>
              <a:rPr lang="en-US" sz="1100"/>
              <a:t>Focus on the existing task: Vocabulary 1 of 7 Statistical Questions and Data A…</a:t>
            </a:r>
          </a:p>
          <a:p xmlns:a="http://schemas.openxmlformats.org/drawingml/2006/main">
            <a:pPr>
              <a:buNone/>
            </a:pPr>
            <a:r>
              <a:rPr lang="en-US" sz="1100"/>
              <a:t>ASK (T1/3/5): Where does “Statistical Questions and Data”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2.1, slide 9 | VOCAB</a:t>
            </a:r>
          </a:p>
          <a:p xmlns:a="http://schemas.openxmlformats.org/drawingml/2006/main">
            <a:pPr>
              <a:buNone/>
            </a:pPr>
            <a:r>
              <a:rPr lang="en-US" sz="1100"/>
              <a:t>Focus on the existing task: Vocabulary 2 of 7 Statistical Question A question where…</a:t>
            </a:r>
          </a:p>
          <a:p xmlns:a="http://schemas.openxmlformats.org/drawingml/2006/main">
            <a:pPr>
              <a:buNone/>
            </a:pPr>
            <a:r>
              <a:rPr lang="en-US" sz="1100"/>
              <a:t>ASK (T1/3/5): Where does “Statistical Question”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2.1, slide 10 | VOCAB</a:t>
            </a:r>
          </a:p>
          <a:p xmlns:a="http://schemas.openxmlformats.org/drawingml/2006/main">
            <a:pPr>
              <a:buNone/>
            </a:pPr>
            <a:r>
              <a:rPr lang="en-US" sz="1100"/>
              <a:t>Focus on the existing task: Vocabulary 3 of 7 Non-statistical Question A question…</a:t>
            </a:r>
          </a:p>
          <a:p xmlns:a="http://schemas.openxmlformats.org/drawingml/2006/main">
            <a:pPr>
              <a:buNone/>
            </a:pPr>
            <a:r>
              <a:rPr lang="en-US" sz="1100"/>
              <a:t>ASK (T1/3/5): Where does “Non-statistical Question”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2.1, slide 11 | VOCAB</a:t>
            </a:r>
          </a:p>
          <a:p xmlns:a="http://schemas.openxmlformats.org/drawingml/2006/main">
            <a:pPr>
              <a:buNone/>
            </a:pPr>
            <a:r>
              <a:rPr lang="en-US" sz="1100"/>
              <a:t>Focus on the existing task: Vocabulary 4 of 7 Data Facts and numbers you collect…</a:t>
            </a:r>
          </a:p>
          <a:p xmlns:a="http://schemas.openxmlformats.org/drawingml/2006/main">
            <a:pPr>
              <a:buNone/>
            </a:pPr>
            <a:r>
              <a:rPr lang="en-US" sz="1100"/>
              <a:t>ASK (T1/3/5): Where does “Data”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2.1, slide 12 | VOCAB</a:t>
            </a:r>
          </a:p>
          <a:p xmlns:a="http://schemas.openxmlformats.org/drawingml/2006/main">
            <a:pPr>
              <a:buNone/>
            </a:pPr>
            <a:r>
              <a:rPr lang="en-US" sz="1100"/>
              <a:t>Focus on the existing task: Vocabulary 5 of 7 Variability How spread out the numbers…</a:t>
            </a:r>
          </a:p>
          <a:p xmlns:a="http://schemas.openxmlformats.org/drawingml/2006/main">
            <a:pPr>
              <a:buNone/>
            </a:pPr>
            <a:r>
              <a:rPr lang="en-US" sz="1100"/>
              <a:t>ASK (T1/3/5): Where does “Variability”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2.1, slide 13 | VOCAB</a:t>
            </a:r>
          </a:p>
          <a:p xmlns:a="http://schemas.openxmlformats.org/drawingml/2006/main">
            <a:pPr>
              <a:buNone/>
            </a:pPr>
            <a:r>
              <a:rPr lang="en-US" sz="1100"/>
              <a:t>Focus on the existing task: Vocabulary 6 of 7 Survey Collecting facts by asking people questions. EXAMPLE Asking 50 students ‘What is your favorite sport?</a:t>
            </a:r>
          </a:p>
          <a:p xmlns:a="http://schemas.openxmlformats.org/drawingml/2006/main">
            <a:pPr>
              <a:buNone/>
            </a:pPr>
            <a:r>
              <a:rPr lang="en-US" sz="1100"/>
              <a:t>ASK (T1/3/5): Where does “Survey”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2.1, slide 14 | VOCAB</a:t>
            </a:r>
          </a:p>
          <a:p xmlns:a="http://schemas.openxmlformats.org/drawingml/2006/main">
            <a:pPr>
              <a:buNone/>
            </a:pPr>
            <a:r>
              <a:rPr lang="en-US" sz="1100"/>
              <a:t>Focus on the existing task: Vocabulary 7 of 7 Data distribution How the data looks…</a:t>
            </a:r>
          </a:p>
          <a:p xmlns:a="http://schemas.openxmlformats.org/drawingml/2006/main">
            <a:pPr>
              <a:buNone/>
            </a:pPr>
            <a:r>
              <a:rPr lang="en-US" sz="1100"/>
              <a:t>ASK (T1/3/5): Where does “Data distribution”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2.1, slide 22 | PRIOR_INSERT</a:t>
            </a:r>
          </a:p>
          <a:p xmlns:a="http://schemas.openxmlformats.org/drawingml/2006/main">
            <a:pPr>
              <a:buNone/>
            </a:pPr>
            <a:r>
              <a:rPr lang="en-US" sz="1100"/>
              <a:t>Focus on the existing task: Point to evidence in your work. Then compare your approach with a partner’s. TAKE TURNS Explain “I know this because…” Ask “Where does your work show that?</a:t>
            </a:r>
          </a:p>
          <a:p xmlns:a="http://schemas.openxmlformats.org/drawingml/2006/main">
            <a:pPr>
              <a:buNone/>
            </a:pPr>
            <a:r>
              <a:rPr lang="en-US" sz="1100"/>
              <a:t>CONNECT (T1/4): Ask students to restate the displayed goal or key idea and connect it to earlier work. Relevant lesson evidence: identify a question that anticipates variability; describe possible data and what a dot represents.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2.1, slide 23 | REVEAL</a:t>
            </a:r>
          </a:p>
          <a:p xmlns:a="http://schemas.openxmlformats.org/drawingml/2006/main">
            <a:pPr>
              <a:buNone/>
            </a:pPr>
            <a:r>
              <a:rPr lang="en-US" sz="1100"/>
              <a:t>Focus on the existing task: What do you notice about the questions?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describe possible data and what a dot represents. Ask which feature of their work supports the claim.</a:t>
            </a:r>
          </a:p>
          <a:p xmlns:a="http://schemas.openxmlformats.org/drawingml/2006/main">
            <a:pPr>
              <a:buNone/>
            </a:pPr>
            <a:r>
              <a:rPr lang="en-US" sz="1100"/>
              <a:t>RESPOND: If this task shows the lesson misconception—assuming any question with a numerical answer is statistical—revisit the existing survey and sort its possible responses before classifying the question.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2.1, slide 24 | REVEAL</a:t>
            </a:r>
          </a:p>
          <a:p xmlns:a="http://schemas.openxmlformats.org/drawingml/2006/main">
            <a:pPr>
              <a:buNone/>
            </a:pPr>
            <a:r>
              <a:rPr lang="en-US" sz="1100"/>
              <a:t>Focus on the existing task: What kinds of answers would you expect from these statistical questions?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identify a question that anticipates variability. Ask which feature of their work supports the claim.</a:t>
            </a:r>
          </a:p>
          <a:p xmlns:a="http://schemas.openxmlformats.org/drawingml/2006/main">
            <a:pPr>
              <a:buNone/>
            </a:pPr>
            <a:r>
              <a:rPr lang="en-US" sz="1100"/>
              <a:t>RESPOND: If this task shows the lesson misconception—assuming any question with a numerical answer is statistical—revisit the existing survey and sort its possible responses before classifying the question.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2.1, slide 25 | REVEAL</a:t>
            </a:r>
          </a:p>
          <a:p xmlns:a="http://schemas.openxmlformats.org/drawingml/2006/main">
            <a:pPr>
              <a:buNone/>
            </a:pPr>
            <a:r>
              <a:rPr lang="en-US" sz="1100"/>
              <a:t>Focus on the existing task: Statistical Questions Nonstatistical Questions What is your favorite national park?</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describe possible data and what a dot represents. Ask which feature of their work supports the claim.</a:t>
            </a:r>
          </a:p>
          <a:p xmlns:a="http://schemas.openxmlformats.org/drawingml/2006/main">
            <a:pPr>
              <a:buNone/>
            </a:pPr>
            <a:r>
              <a:rPr lang="en-US" sz="1100"/>
              <a:t>RESPOND: If this task shows the lesson misconception—assuming any question with a numerical answer is statistical—revisit the existing survey and sort its possible responses before classifying the question.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2.1, slide 31 | REVEAL</a:t>
            </a:r>
          </a:p>
          <a:p xmlns:a="http://schemas.openxmlformats.org/drawingml/2006/main">
            <a:pPr>
              <a:buNone/>
            </a:pPr>
            <a:r>
              <a:rPr lang="en-US" sz="1100"/>
              <a:t>Focus on the existing task: Persevering How do you know your approach to the problem makes sense?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identify a question that anticipates variability. Ask which feature of their work supports the claim.</a:t>
            </a:r>
          </a:p>
          <a:p xmlns:a="http://schemas.openxmlformats.org/drawingml/2006/main">
            <a:pPr>
              <a:buNone/>
            </a:pPr>
            <a:r>
              <a:rPr lang="en-US" sz="1100"/>
              <a:t>RESPOND: If this task shows the lesson misconception—assuming any question with a numerical answer is statistical—revisit the existing survey and sort its possible responses before classifying the question.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2.1, slide 32 | REVEAL</a:t>
            </a:r>
          </a:p>
          <a:p xmlns:a="http://schemas.openxmlformats.org/drawingml/2006/main">
            <a:pPr>
              <a:buNone/>
            </a:pPr>
            <a:r>
              <a:rPr lang="en-US" sz="1100"/>
              <a:t>Focus on the existing task: What is the most common number of pets?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describe possible data and what a dot represents. Ask which feature of their work supports the claim.</a:t>
            </a:r>
          </a:p>
          <a:p xmlns:a="http://schemas.openxmlformats.org/drawingml/2006/main">
            <a:pPr>
              <a:buNone/>
            </a:pPr>
            <a:r>
              <a:rPr lang="en-US" sz="1100"/>
              <a:t>RESPOND: If this task shows the lesson misconception—assuming any question with a numerical answer is statistical—revisit the existing survey and sort its possible responses before classifying the question.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2.1, slide 39 | PRIOR_INSERT</a:t>
            </a:r>
          </a:p>
          <a:p xmlns:a="http://schemas.openxmlformats.org/drawingml/2006/main">
            <a:pPr>
              <a:buNone/>
            </a:pPr>
            <a:r>
              <a:rPr lang="en-US" sz="1100"/>
              <a:t>Focus on the existing task: LESSON 2.1 / CHECK YOUR WORK Pause. Check. Improve. Listen to understand. Ask for evidence. Make room for every voice. CHECK A mistake…</a:t>
            </a:r>
          </a:p>
          <a:p xmlns:a="http://schemas.openxmlformats.org/drawingml/2006/main">
            <a:pPr>
              <a:buNone/>
            </a:pPr>
            <a:r>
              <a:rPr lang="en-US" sz="1100"/>
              <a:t>CONNECT (T1/4): Ask students to restate the displayed goal or key idea and connect it to earlier work. Relevant lesson evidence: identify a question that anticipates variability; describe possible data and what a dot represents.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2.1, slide 43 | PRIOR_INSERT</a:t>
            </a:r>
          </a:p>
          <a:p xmlns:a="http://schemas.openxmlformats.org/drawingml/2006/main">
            <a:pPr>
              <a:buNone/>
            </a:pPr>
            <a:r>
              <a:rPr lang="en-US" sz="1100"/>
              <a:t>Focus on the existing task: LESSON 2.1 / REFLECT ON YOUR LEARNING Show your progress Listen to understand. Ask for evidence. Make room for every voice. 1 SHOW…</a:t>
            </a:r>
          </a:p>
          <a:p xmlns:a="http://schemas.openxmlformats.org/drawingml/2006/main">
            <a:pPr>
              <a:buNone/>
            </a:pPr>
            <a:r>
              <a:rPr lang="en-US" sz="1100"/>
              <a:t>CONNECT (T1/4): Ask students to restate the displayed goal or key idea and connect it to earlier work. Relevant lesson evidence: identify a question that anticipates variability; describe possible data and what a dot represents.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hoto">
  <p:cSld name="2_Title Slide Photo">
    <p:spTree>
      <p:nvGrpSpPr>
        <p:cNvPr id="15" name="Shape 15"/>
        <p:cNvGrpSpPr/>
        <p:nvPr/>
      </p:nvGrpSpPr>
      <p:grpSpPr>
        <a:xfrm>
          <a:off x="0" y="0"/>
          <a:ext cx="0" cy="0"/>
          <a:chOff x="0" y="0"/>
          <a:chExt cx="0" cy="0"/>
        </a:xfrm>
      </p:grpSpPr>
    </p:spTree>
  </p:cSld>
  <p:clrMapOvr>
    <a:masterClrMapping/>
  </p:clrMapOvr>
  <p:extLst>
    <p:ext uri="{DCECCB84-F9BA-43D5-87BE-67443E8EF086}">
      <p15:sldGuideLst>
        <p15:guide id="1" orient="horz" pos="9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column">
  <p:cSld name="Content 1-column">
    <p:spTree>
      <p:nvGrpSpPr>
        <p:cNvPr id="16" name="Shape 16"/>
        <p:cNvGrpSpPr/>
        <p:nvPr/>
      </p:nvGrpSpPr>
      <p:grpSpPr>
        <a:xfrm>
          <a:off x="0" y="0"/>
          <a:ext cx="0" cy="0"/>
          <a:chOff x="0" y="0"/>
          <a:chExt cx="0" cy="0"/>
        </a:xfrm>
      </p:grpSpPr>
      <p:sp>
        <p:nvSpPr>
          <p:cNvPr id="17" name="Google Shape;17;p3"/>
          <p:cNvSpPr txBox="1"/>
          <p:nvPr>
            <p:ph idx="12" type="sldNum"/>
          </p:nvPr>
        </p:nvSpPr>
        <p:spPr>
          <a:xfrm>
            <a:off x="10436045" y="6528815"/>
            <a:ext cx="1278151" cy="2286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8" name="Google Shape;18;p3"/>
          <p:cNvSpPr txBox="1"/>
          <p:nvPr/>
        </p:nvSpPr>
        <p:spPr>
          <a:xfrm>
            <a:off x="490549" y="6528816"/>
            <a:ext cx="207264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19" name="Google Shape;19;p3"/>
          <p:cNvSpPr txBox="1"/>
          <p:nvPr>
            <p:ph idx="11" type="ftr"/>
          </p:nvPr>
        </p:nvSpPr>
        <p:spPr>
          <a:xfrm>
            <a:off x="1402828" y="6528816"/>
            <a:ext cx="7315200" cy="2286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orient="horz" pos="3772">
          <p15:clr>
            <a:srgbClr val="FBAE40"/>
          </p15:clr>
        </p15:guide>
        <p15:guide id="2" orient="horz" pos="804">
          <p15:clr>
            <a:srgbClr val="FBAE40"/>
          </p15:clr>
        </p15:guide>
        <p15:guide id="3" pos="384">
          <p15:clr>
            <a:srgbClr val="FBAE40"/>
          </p15:clr>
        </p15:guide>
        <p15:guide id="4" pos="3940">
          <p15:clr>
            <a:srgbClr val="FBAE40"/>
          </p15:clr>
        </p15:guide>
        <p15:guide id="5" pos="40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6" name="Shape 2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9" name="Google Shape;29;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0" name="Google Shape;30;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1" name="Google Shape;31;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2" name="Google Shape;32;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5" name="Google Shape;35;p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36" name="Google Shape;36;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7" name="Google Shape;37;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8" name="Google Shape;38;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1" name="Google Shape;41;p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2" name="Google Shape;42;p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3" name="Google Shape;43;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4" name="Google Shape;44;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5" name="Google Shape;45;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9"/>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8" name="Google Shape;48;p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9" name="Google Shape;49;p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0" name="Google Shape;50;p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1" name="Google Shape;51;p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2" name="Google Shape;52;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3" name="Google Shape;53;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4" name="Google Shape;54;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1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7" name="Google Shape;57;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8" name="Google Shape;58;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9" name="Google Shape;59;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2" name="Google Shape;62;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3" name="Google Shape;63;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6" name="Google Shape;66;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7" name="Google Shape;67;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8" name="Google Shape;68;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9" name="Google Shape;69;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0" name="Google Shape;70;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3" name="Google Shape;73;p13"/>
          <p:cNvSpPr/>
          <p:nvPr>
            <p:ph idx="2" type="pic"/>
          </p:nvPr>
        </p:nvSpPr>
        <p:spPr>
          <a:xfrm>
            <a:off x="5183188" y="987425"/>
            <a:ext cx="6172200" cy="4873625"/>
          </a:xfrm>
          <a:prstGeom prst="rect">
            <a:avLst/>
          </a:prstGeom>
          <a:noFill/>
          <a:ln>
            <a:noFill/>
          </a:ln>
        </p:spPr>
      </p:sp>
      <p:sp>
        <p:nvSpPr>
          <p:cNvPr id="74" name="Google Shape;74;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75" name="Google Shape;75;p1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6" name="Google Shape;76;p1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7" name="Google Shape;77;p1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1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0" name="Google Shape;80;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1" name="Google Shape;81;p1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2" name="Google Shape;82;p1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3" name="Google Shape;83;p1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15"/>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6" name="Google Shape;86;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7" name="Google Shape;87;p1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8" name="Google Shape;88;p1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9" name="Google Shape;89;p1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6" name="Shape 96"/>
        <p:cNvGrpSpPr/>
        <p:nvPr/>
      </p:nvGrpSpPr>
      <p:grpSpPr>
        <a:xfrm>
          <a:off x="0" y="0"/>
          <a:ext cx="0" cy="0"/>
          <a:chOff x="0" y="0"/>
          <a:chExt cx="0" cy="0"/>
        </a:xfrm>
      </p:grpSpPr>
      <p:sp>
        <p:nvSpPr>
          <p:cNvPr id="97" name="Google Shape;97;p1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8" name="Google Shape;98;p1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9" name="Google Shape;99;p1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00" name="Shape 100"/>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1" name="Shape 101"/>
        <p:cNvGrpSpPr/>
        <p:nvPr/>
      </p:nvGrpSpPr>
      <p:grpSpPr>
        <a:xfrm>
          <a:off x="0" y="0"/>
          <a:ext cx="0" cy="0"/>
          <a:chOff x="0" y="0"/>
          <a:chExt cx="0" cy="0"/>
        </a:xfrm>
      </p:grpSpPr>
      <p:sp>
        <p:nvSpPr>
          <p:cNvPr id="102" name="Google Shape;102;p19"/>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3" name="Google Shape;103;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4" name="Google Shape;104;p1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5" name="Google Shape;105;p1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6" name="Google Shape;106;p1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7" name="Shape 107"/>
        <p:cNvGrpSpPr/>
        <p:nvPr/>
      </p:nvGrpSpPr>
      <p:grpSpPr>
        <a:xfrm>
          <a:off x="0" y="0"/>
          <a:ext cx="0" cy="0"/>
          <a:chOff x="0" y="0"/>
          <a:chExt cx="0" cy="0"/>
        </a:xfrm>
      </p:grpSpPr>
      <p:sp>
        <p:nvSpPr>
          <p:cNvPr id="108" name="Google Shape;108;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9" name="Google Shape;109;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10" name="Google Shape;110;p2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1" name="Google Shape;111;p2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2" name="Google Shape;112;p2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3" name="Shape 113"/>
        <p:cNvGrpSpPr/>
        <p:nvPr/>
      </p:nvGrpSpPr>
      <p:grpSpPr>
        <a:xfrm>
          <a:off x="0" y="0"/>
          <a:ext cx="0" cy="0"/>
          <a:chOff x="0" y="0"/>
          <a:chExt cx="0" cy="0"/>
        </a:xfrm>
      </p:grpSpPr>
      <p:sp>
        <p:nvSpPr>
          <p:cNvPr id="114" name="Google Shape;114;p2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5" name="Google Shape;115;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6" name="Google Shape;116;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7" name="Google Shape;117;p2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8" name="Google Shape;118;p2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9" name="Google Shape;119;p2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0" name="Shape 120"/>
        <p:cNvGrpSpPr/>
        <p:nvPr/>
      </p:nvGrpSpPr>
      <p:grpSpPr>
        <a:xfrm>
          <a:off x="0" y="0"/>
          <a:ext cx="0" cy="0"/>
          <a:chOff x="0" y="0"/>
          <a:chExt cx="0" cy="0"/>
        </a:xfrm>
      </p:grpSpPr>
      <p:sp>
        <p:nvSpPr>
          <p:cNvPr id="121" name="Google Shape;121;p22"/>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2" name="Google Shape;122;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3" name="Google Shape;123;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4" name="Google Shape;124;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5" name="Google Shape;125;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6" name="Google Shape;126;p2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7" name="Google Shape;127;p2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8" name="Google Shape;128;p2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9" name="Shape 129"/>
        <p:cNvGrpSpPr/>
        <p:nvPr/>
      </p:nvGrpSpPr>
      <p:grpSpPr>
        <a:xfrm>
          <a:off x="0" y="0"/>
          <a:ext cx="0" cy="0"/>
          <a:chOff x="0" y="0"/>
          <a:chExt cx="0" cy="0"/>
        </a:xfrm>
      </p:grpSpPr>
      <p:sp>
        <p:nvSpPr>
          <p:cNvPr id="130" name="Google Shape;130;p23"/>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1" name="Google Shape;131;p2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2" name="Google Shape;132;p2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3" name="Google Shape;133;p2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4" name="Shape 134"/>
        <p:cNvGrpSpPr/>
        <p:nvPr/>
      </p:nvGrpSpPr>
      <p:grpSpPr>
        <a:xfrm>
          <a:off x="0" y="0"/>
          <a:ext cx="0" cy="0"/>
          <a:chOff x="0" y="0"/>
          <a:chExt cx="0" cy="0"/>
        </a:xfrm>
      </p:grpSpPr>
      <p:sp>
        <p:nvSpPr>
          <p:cNvPr id="135" name="Google Shape;135;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6" name="Google Shape;136;p2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7" name="Google Shape;137;p2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38" name="Google Shape;138;p2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9" name="Google Shape;139;p2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0" name="Google Shape;140;p2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1" name="Shape 141"/>
        <p:cNvGrpSpPr/>
        <p:nvPr/>
      </p:nvGrpSpPr>
      <p:grpSpPr>
        <a:xfrm>
          <a:off x="0" y="0"/>
          <a:ext cx="0" cy="0"/>
          <a:chOff x="0" y="0"/>
          <a:chExt cx="0" cy="0"/>
        </a:xfrm>
      </p:grpSpPr>
      <p:sp>
        <p:nvSpPr>
          <p:cNvPr id="142" name="Google Shape;142;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3" name="Google Shape;143;p25"/>
          <p:cNvSpPr/>
          <p:nvPr>
            <p:ph idx="2" type="pic"/>
          </p:nvPr>
        </p:nvSpPr>
        <p:spPr>
          <a:xfrm>
            <a:off x="5183188" y="987425"/>
            <a:ext cx="6172200" cy="4873625"/>
          </a:xfrm>
          <a:prstGeom prst="rect">
            <a:avLst/>
          </a:prstGeom>
          <a:noFill/>
          <a:ln>
            <a:noFill/>
          </a:ln>
        </p:spPr>
      </p:sp>
      <p:sp>
        <p:nvSpPr>
          <p:cNvPr id="144" name="Google Shape;144;p2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45" name="Google Shape;145;p2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6" name="Google Shape;146;p2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7" name="Google Shape;147;p2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8" name="Shape 148"/>
        <p:cNvGrpSpPr/>
        <p:nvPr/>
      </p:nvGrpSpPr>
      <p:grpSpPr>
        <a:xfrm>
          <a:off x="0" y="0"/>
          <a:ext cx="0" cy="0"/>
          <a:chOff x="0" y="0"/>
          <a:chExt cx="0" cy="0"/>
        </a:xfrm>
      </p:grpSpPr>
      <p:sp>
        <p:nvSpPr>
          <p:cNvPr id="149" name="Google Shape;149;p2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0" name="Google Shape;150;p2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1" name="Google Shape;151;p2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2" name="Google Shape;152;p2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3" name="Google Shape;153;p2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4" name="Shape 154"/>
        <p:cNvGrpSpPr/>
        <p:nvPr/>
      </p:nvGrpSpPr>
      <p:grpSpPr>
        <a:xfrm>
          <a:off x="0" y="0"/>
          <a:ext cx="0" cy="0"/>
          <a:chOff x="0" y="0"/>
          <a:chExt cx="0" cy="0"/>
        </a:xfrm>
      </p:grpSpPr>
      <p:sp>
        <p:nvSpPr>
          <p:cNvPr id="155" name="Google Shape;155;p27"/>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6" name="Google Shape;156;p2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7" name="Google Shape;157;p2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8" name="Google Shape;158;p2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9" name="Google Shape;159;p2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65" name="Shape 165"/>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6" name="Shape 166"/>
        <p:cNvGrpSpPr/>
        <p:nvPr/>
      </p:nvGrpSpPr>
      <p:grpSpPr>
        <a:xfrm>
          <a:off x="0" y="0"/>
          <a:ext cx="0" cy="0"/>
          <a:chOff x="0" y="0"/>
          <a:chExt cx="0" cy="0"/>
        </a:xfrm>
      </p:grpSpPr>
      <p:sp>
        <p:nvSpPr>
          <p:cNvPr id="167" name="Google Shape;167;p3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68" name="Google Shape;168;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9" name="Google Shape;169;p3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0" name="Google Shape;170;p3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1" name="Google Shape;171;p3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2" name="Shape 172"/>
        <p:cNvGrpSpPr/>
        <p:nvPr/>
      </p:nvGrpSpPr>
      <p:grpSpPr>
        <a:xfrm>
          <a:off x="0" y="0"/>
          <a:ext cx="0" cy="0"/>
          <a:chOff x="0" y="0"/>
          <a:chExt cx="0" cy="0"/>
        </a:xfrm>
      </p:grpSpPr>
      <p:sp>
        <p:nvSpPr>
          <p:cNvPr id="173" name="Google Shape;173;p3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4" name="Google Shape;174;p3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75" name="Google Shape;175;p3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6" name="Google Shape;176;p3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7" name="Google Shape;177;p3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8" name="Shape 178"/>
        <p:cNvGrpSpPr/>
        <p:nvPr/>
      </p:nvGrpSpPr>
      <p:grpSpPr>
        <a:xfrm>
          <a:off x="0" y="0"/>
          <a:ext cx="0" cy="0"/>
          <a:chOff x="0" y="0"/>
          <a:chExt cx="0" cy="0"/>
        </a:xfrm>
      </p:grpSpPr>
      <p:sp>
        <p:nvSpPr>
          <p:cNvPr id="179" name="Google Shape;179;p32"/>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0" name="Google Shape;180;p3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1" name="Google Shape;181;p3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2" name="Google Shape;182;p3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3" name="Google Shape;183;p3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4" name="Google Shape;184;p3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85" name="Shape 185"/>
        <p:cNvGrpSpPr/>
        <p:nvPr/>
      </p:nvGrpSpPr>
      <p:grpSpPr>
        <a:xfrm>
          <a:off x="0" y="0"/>
          <a:ext cx="0" cy="0"/>
          <a:chOff x="0" y="0"/>
          <a:chExt cx="0" cy="0"/>
        </a:xfrm>
      </p:grpSpPr>
      <p:sp>
        <p:nvSpPr>
          <p:cNvPr id="186" name="Google Shape;186;p33"/>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7" name="Google Shape;187;p3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88" name="Google Shape;188;p3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9" name="Google Shape;189;p3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90" name="Google Shape;190;p3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1" name="Google Shape;191;p3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2" name="Google Shape;192;p3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3" name="Google Shape;193;p3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4" name="Shape 194"/>
        <p:cNvGrpSpPr/>
        <p:nvPr/>
      </p:nvGrpSpPr>
      <p:grpSpPr>
        <a:xfrm>
          <a:off x="0" y="0"/>
          <a:ext cx="0" cy="0"/>
          <a:chOff x="0" y="0"/>
          <a:chExt cx="0" cy="0"/>
        </a:xfrm>
      </p:grpSpPr>
      <p:sp>
        <p:nvSpPr>
          <p:cNvPr id="195" name="Google Shape;195;p3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96" name="Google Shape;196;p3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7" name="Google Shape;197;p3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8" name="Google Shape;198;p3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9" name="Shape 199"/>
        <p:cNvGrpSpPr/>
        <p:nvPr/>
      </p:nvGrpSpPr>
      <p:grpSpPr>
        <a:xfrm>
          <a:off x="0" y="0"/>
          <a:ext cx="0" cy="0"/>
          <a:chOff x="0" y="0"/>
          <a:chExt cx="0" cy="0"/>
        </a:xfrm>
      </p:grpSpPr>
      <p:sp>
        <p:nvSpPr>
          <p:cNvPr id="200" name="Google Shape;200;p3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1" name="Google Shape;201;p3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2" name="Google Shape;202;p3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3" name="Shape 203"/>
        <p:cNvGrpSpPr/>
        <p:nvPr/>
      </p:nvGrpSpPr>
      <p:grpSpPr>
        <a:xfrm>
          <a:off x="0" y="0"/>
          <a:ext cx="0" cy="0"/>
          <a:chOff x="0" y="0"/>
          <a:chExt cx="0" cy="0"/>
        </a:xfrm>
      </p:grpSpPr>
      <p:sp>
        <p:nvSpPr>
          <p:cNvPr id="204" name="Google Shape;204;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5" name="Google Shape;205;p3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06" name="Google Shape;206;p3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07" name="Google Shape;207;p3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8" name="Google Shape;208;p3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9" name="Google Shape;209;p3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10" name="Shape 210"/>
        <p:cNvGrpSpPr/>
        <p:nvPr/>
      </p:nvGrpSpPr>
      <p:grpSpPr>
        <a:xfrm>
          <a:off x="0" y="0"/>
          <a:ext cx="0" cy="0"/>
          <a:chOff x="0" y="0"/>
          <a:chExt cx="0" cy="0"/>
        </a:xfrm>
      </p:grpSpPr>
      <p:sp>
        <p:nvSpPr>
          <p:cNvPr id="211" name="Google Shape;211;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2" name="Google Shape;212;p37"/>
          <p:cNvSpPr/>
          <p:nvPr>
            <p:ph idx="2" type="pic"/>
          </p:nvPr>
        </p:nvSpPr>
        <p:spPr>
          <a:xfrm>
            <a:off x="5183188" y="987425"/>
            <a:ext cx="6172200" cy="4873625"/>
          </a:xfrm>
          <a:prstGeom prst="rect">
            <a:avLst/>
          </a:prstGeom>
          <a:noFill/>
          <a:ln>
            <a:noFill/>
          </a:ln>
        </p:spPr>
      </p:sp>
      <p:sp>
        <p:nvSpPr>
          <p:cNvPr id="213" name="Google Shape;213;p3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14" name="Google Shape;214;p3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5" name="Google Shape;215;p3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6" name="Google Shape;216;p3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7" name="Shape 217"/>
        <p:cNvGrpSpPr/>
        <p:nvPr/>
      </p:nvGrpSpPr>
      <p:grpSpPr>
        <a:xfrm>
          <a:off x="0" y="0"/>
          <a:ext cx="0" cy="0"/>
          <a:chOff x="0" y="0"/>
          <a:chExt cx="0" cy="0"/>
        </a:xfrm>
      </p:grpSpPr>
      <p:sp>
        <p:nvSpPr>
          <p:cNvPr id="218" name="Google Shape;218;p3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9" name="Google Shape;219;p3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0" name="Google Shape;220;p3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1" name="Google Shape;221;p3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2" name="Google Shape;222;p3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3" name="Shape 223"/>
        <p:cNvGrpSpPr/>
        <p:nvPr/>
      </p:nvGrpSpPr>
      <p:grpSpPr>
        <a:xfrm>
          <a:off x="0" y="0"/>
          <a:ext cx="0" cy="0"/>
          <a:chOff x="0" y="0"/>
          <a:chExt cx="0" cy="0"/>
        </a:xfrm>
      </p:grpSpPr>
      <p:sp>
        <p:nvSpPr>
          <p:cNvPr id="224" name="Google Shape;224;p39"/>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5" name="Google Shape;225;p3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6" name="Google Shape;226;p3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7" name="Google Shape;227;p3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8" name="Google Shape;228;p3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theme" Target="../theme/theme4.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0" l="0" r="0" t="0"/>
          <a:stretch/>
        </p:blipFill>
        <p:spPr>
          <a:xfrm>
            <a:off x="2141884" y="0"/>
            <a:ext cx="10030237" cy="1640714"/>
          </a:xfrm>
          <a:prstGeom prst="rect">
            <a:avLst/>
          </a:prstGeom>
          <a:noFill/>
          <a:ln>
            <a:noFill/>
          </a:ln>
        </p:spPr>
      </p:pic>
      <p:sp>
        <p:nvSpPr>
          <p:cNvPr id="11" name="Google Shape;11;p1"/>
          <p:cNvSpPr txBox="1"/>
          <p:nvPr/>
        </p:nvSpPr>
        <p:spPr>
          <a:xfrm>
            <a:off x="1402828" y="6528816"/>
            <a:ext cx="627096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Copyright © McGraw Hill</a:t>
            </a:r>
            <a:endParaRPr b="0" i="0" sz="1400" u="none" cap="none" strike="noStrike">
              <a:solidFill>
                <a:srgbClr val="000000"/>
              </a:solidFill>
              <a:latin typeface="Arial"/>
              <a:ea typeface="Arial"/>
              <a:cs typeface="Arial"/>
              <a:sym typeface="Arial"/>
            </a:endParaRPr>
          </a:p>
        </p:txBody>
      </p:sp>
      <p:pic>
        <p:nvPicPr>
          <p:cNvPr id="12" name="Google Shape;12;p1"/>
          <p:cNvPicPr preferRelativeResize="0"/>
          <p:nvPr/>
        </p:nvPicPr>
        <p:blipFill rotWithShape="1">
          <a:blip r:embed="rId2">
            <a:alphaModFix/>
          </a:blip>
          <a:srcRect b="0" l="0" r="0" t="0"/>
          <a:stretch/>
        </p:blipFill>
        <p:spPr>
          <a:xfrm>
            <a:off x="1492908" y="5619163"/>
            <a:ext cx="654674" cy="654674"/>
          </a:xfrm>
          <a:prstGeom prst="rect">
            <a:avLst/>
          </a:prstGeom>
          <a:noFill/>
          <a:ln>
            <a:noFill/>
          </a:ln>
        </p:spPr>
      </p:pic>
      <p:cxnSp>
        <p:nvCxnSpPr>
          <p:cNvPr id="13" name="Google Shape;13;p1"/>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4" name="Google Shape;14;p1"/>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59">
          <p15:clr>
            <a:srgbClr val="F26B43"/>
          </p15:clr>
        </p15:guide>
        <p15:guide id="2" orient="horz" pos="360">
          <p15:clr>
            <a:srgbClr val="F26B43"/>
          </p15:clr>
        </p15:guide>
        <p15:guide id="3" pos="3840">
          <p15:clr>
            <a:srgbClr val="F26B43"/>
          </p15:clr>
        </p15:guide>
        <p15:guide id="4" pos="384">
          <p15:clr>
            <a:srgbClr val="F26B43"/>
          </p15:clr>
        </p15:guide>
        <p15:guide id="5" pos="7296">
          <p15:clr>
            <a:srgbClr val="F26B43"/>
          </p15:clr>
        </p15:guide>
        <p15:guide id="6" orient="horz" pos="4211">
          <p15:clr>
            <a:srgbClr val="F26B43"/>
          </p15:clr>
        </p15:guide>
        <p15:guide id="7" pos="1120">
          <p15:clr>
            <a:srgbClr val="F26B43"/>
          </p15:clr>
        </p15:guide>
        <p15:guide id="8" pos="93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 name="Shape 20"/>
        <p:cNvGrpSpPr/>
        <p:nvPr/>
      </p:nvGrpSpPr>
      <p:grpSpPr>
        <a:xfrm>
          <a:off x="0" y="0"/>
          <a:ext cx="0" cy="0"/>
          <a:chOff x="0" y="0"/>
          <a:chExt cx="0" cy="0"/>
        </a:xfrm>
      </p:grpSpPr>
      <p:cxnSp>
        <p:nvCxnSpPr>
          <p:cNvPr id="21" name="Google Shape;21;p4"/>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22" name="Google Shape;22;p4"/>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23" name="Google Shape;23;p4"/>
          <p:cNvSpPr txBox="1"/>
          <p:nvPr/>
        </p:nvSpPr>
        <p:spPr>
          <a:xfrm>
            <a:off x="1327275"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Understand Statistical Questions</a:t>
            </a:r>
            <a:endParaRPr b="0" i="0" sz="1400" u="none" cap="none" strike="noStrike">
              <a:solidFill>
                <a:srgbClr val="000000"/>
              </a:solidFill>
              <a:latin typeface="Arial"/>
              <a:ea typeface="Arial"/>
              <a:cs typeface="Arial"/>
              <a:sym typeface="Arial"/>
            </a:endParaRPr>
          </a:p>
        </p:txBody>
      </p:sp>
      <p:sp>
        <p:nvSpPr>
          <p:cNvPr id="24" name="Google Shape;24;p4"/>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25" name="Google Shape;25;p4"/>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 name="Shape 90"/>
        <p:cNvGrpSpPr/>
        <p:nvPr/>
      </p:nvGrpSpPr>
      <p:grpSpPr>
        <a:xfrm>
          <a:off x="0" y="0"/>
          <a:ext cx="0" cy="0"/>
          <a:chOff x="0" y="0"/>
          <a:chExt cx="0" cy="0"/>
        </a:xfrm>
      </p:grpSpPr>
      <p:cxnSp>
        <p:nvCxnSpPr>
          <p:cNvPr id="91" name="Google Shape;91;p16"/>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92" name="Google Shape;92;p16"/>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93" name="Google Shape;93;p16"/>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
        <p:nvSpPr>
          <p:cNvPr id="94" name="Google Shape;94;p16"/>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95" name="Google Shape;95;p16"/>
          <p:cNvSpPr txBox="1"/>
          <p:nvPr/>
        </p:nvSpPr>
        <p:spPr>
          <a:xfrm>
            <a:off x="1327275"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Understand Statistical Questions</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0" name="Shape 160"/>
        <p:cNvGrpSpPr/>
        <p:nvPr/>
      </p:nvGrpSpPr>
      <p:grpSpPr>
        <a:xfrm>
          <a:off x="0" y="0"/>
          <a:ext cx="0" cy="0"/>
          <a:chOff x="0" y="0"/>
          <a:chExt cx="0" cy="0"/>
        </a:xfrm>
      </p:grpSpPr>
      <p:cxnSp>
        <p:nvCxnSpPr>
          <p:cNvPr id="161" name="Google Shape;161;p28"/>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62" name="Google Shape;162;p28"/>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163" name="Google Shape;163;p28"/>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164" name="Google Shape;164;p28"/>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6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6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6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6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6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8.pn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12.pn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5.png"/><Relationship Id="rId4" Type="http://schemas.openxmlformats.org/officeDocument/2006/relationships/image" Target="../media/image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notesSlide" Target="../notesSlides/notesSlide5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16.png"/><Relationship Id="rId4" Type="http://schemas.openxmlformats.org/officeDocument/2006/relationships/notesSlide" Target="../notesSlides/notesSlide7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notesSlide" Target="../notesSlides/notesSlide7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6.png"/><Relationship Id="rId4" Type="http://schemas.openxmlformats.org/officeDocument/2006/relationships/image" Target="../media/image1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1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10.png"/><Relationship Id="rId4" Type="http://schemas.openxmlformats.org/officeDocument/2006/relationships/image" Target="../media/image1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1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1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20.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9"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Warm-Up</a:t>
            </a:r>
          </a:p>
        </p:txBody>
      </p:sp>
      <p:sp>
        <p:nvSpPr>
          <p:cNvPr id="260" name="TextBox 2"/>
          <p:cNvSpPr txBox="1"/>
          <p:nvPr/>
        </p:nvSpPr>
        <p:spPr>
          <a:xfrm>
            <a:off x="521207" y="877824"/>
            <a:ext cx="7680960" cy="274320"/>
          </a:xfrm>
          <a:prstGeom prst="rect">
            <a:avLst/>
          </a:prstGeom>
          <a:noFill/>
        </p:spPr>
        <p:txBody>
          <a:bodyPr wrap="square" lIns="0" tIns="0" rIns="0" bIns="0" anchor="t">
            <a:spAutoFit/>
          </a:bodyPr>
          <a:lstStyle/>
          <a:p>
            <a:pPr algn="l"/>
            <a:r>
              <a:rPr sz="1400" b="0">
                <a:solidFill>
                  <a:srgbClr val="5D6872"/>
                </a:solidFill>
                <a:latin typeface="Arial"/>
              </a:rPr>
              <a:t>Lesson 2-1 · Understand Statistical Questions   |   Warm-Up · about 4 minutes</a:t>
            </a:r>
          </a:p>
        </p:txBody>
      </p:sp>
      <p:sp>
        <p:nvSpPr>
          <p:cNvPr id="261"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WARM-UP</a:t>
            </a:r>
            <a:r>
              <a:rPr lang="en-US" sz="1150" b="1" dirty="0">
                <a:solidFill>
                  <a:srgbClr val="2D3A40"/>
                </a:solidFill>
                <a:latin typeface="Arial"/>
              </a:rPr>
              <a:t xml:space="preserve">  ·  THINK • TRY • CHECK</a:t>
            </a:r>
          </a:p>
        </p:txBody>
      </p:sp>
      <p:sp>
        <p:nvSpPr>
          <p:cNvPr id="262" name="TextBox 5"/>
          <p:cNvSpPr txBox="1"/>
          <p:nvPr/>
        </p:nvSpPr>
        <p:spPr>
          <a:xfrm>
            <a:off x="521207" y="1207008"/>
            <a:ext cx="10881360" cy="438912"/>
          </a:xfrm>
          <a:prstGeom prst="rect">
            <a:avLst/>
          </a:prstGeom>
          <a:noFill/>
        </p:spPr>
        <p:txBody>
          <a:bodyPr wrap="square" lIns="0" tIns="0" rIns="0" bIns="0" anchor="t">
            <a:spAutoFit/>
          </a:bodyPr>
          <a:lstStyle/>
          <a:p>
            <a:pPr algn="l"/>
            <a:r>
              <a:rPr sz="1600" b="0">
                <a:solidFill>
                  <a:srgbClr val="5D6872"/>
                </a:solidFill>
                <a:latin typeface="Arial"/>
              </a:rPr>
              <a:t>Try each on your own. Mark an unsure answer; explain and revise when we check.</a:t>
            </a:r>
          </a:p>
        </p:txBody>
      </p:sp>
      <p:sp>
        <p:nvSpPr>
          <p:cNvPr id="263"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266" name="TextBox 9"/>
          <p:cNvSpPr txBox="1"/>
          <p:nvPr/>
        </p:nvSpPr>
        <p:spPr>
          <a:xfrm>
            <a:off x="667512" y="2212848"/>
            <a:ext cx="5111496" cy="1051560"/>
          </a:xfrm>
          <a:prstGeom prst="rect">
            <a:avLst/>
          </a:prstGeom>
          <a:noFill/>
        </p:spPr>
        <p:txBody>
          <a:bodyPr wrap="square" lIns="0" tIns="0" rIns="0" bIns="0" anchor="t">
            <a:spAutoFit/>
          </a:bodyPr>
          <a:lstStyle/>
          <a:p>
            <a:pPr algn="l"/>
            <a:r>
              <a:rPr sz="1800" b="1">
                <a:solidFill>
                  <a:srgbClr val="23282D"/>
                </a:solidFill>
                <a:latin typeface="Arial"/>
              </a:rPr>
              <a:t>Order least to greatest: 8, 3, 11, 5 = ______</a:t>
            </a:r>
          </a:p>
        </p:txBody>
      </p:sp>
      <p:sp>
        <p:nvSpPr>
          <p:cNvPr id="267"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270" name="TextBox 13"/>
          <p:cNvSpPr txBox="1"/>
          <p:nvPr/>
        </p:nvSpPr>
        <p:spPr>
          <a:xfrm>
            <a:off x="6345936" y="2212848"/>
            <a:ext cx="5102352" cy="1051560"/>
          </a:xfrm>
          <a:prstGeom prst="rect">
            <a:avLst/>
          </a:prstGeom>
          <a:noFill/>
        </p:spPr>
        <p:txBody>
          <a:bodyPr wrap="square" lIns="0" tIns="0" rIns="0" bIns="0" anchor="t">
            <a:spAutoFit/>
          </a:bodyPr>
          <a:lstStyle/>
          <a:p>
            <a:pPr algn="l"/>
            <a:r>
              <a:rPr sz="1800" b="1">
                <a:solidFill>
                  <a:srgbClr val="23282D"/>
                </a:solidFill>
                <a:latin typeface="Arial"/>
              </a:rPr>
              <a:t>A line runs 0 to 20 in 4 equal jumps. One jump = ______</a:t>
            </a:r>
          </a:p>
        </p:txBody>
      </p:sp>
      <p:sp>
        <p:nvSpPr>
          <p:cNvPr id="271"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274" name="TextBox 17"/>
          <p:cNvSpPr txBox="1"/>
          <p:nvPr/>
        </p:nvSpPr>
        <p:spPr>
          <a:xfrm>
            <a:off x="667512" y="4023360"/>
            <a:ext cx="5111496" cy="1143000"/>
          </a:xfrm>
          <a:prstGeom prst="rect">
            <a:avLst/>
          </a:prstGeom>
          <a:noFill/>
        </p:spPr>
        <p:txBody>
          <a:bodyPr wrap="square" lIns="0" tIns="0" rIns="0" bIns="0" anchor="t">
            <a:spAutoFit/>
          </a:bodyPr>
          <a:lstStyle/>
          <a:p>
            <a:pPr algn="l"/>
            <a:r>
              <a:rPr sz="1800" b="1">
                <a:solidFill>
                  <a:srgbClr val="23282D"/>
                </a:solidFill>
                <a:latin typeface="Arial"/>
              </a:rPr>
              <a:t>A tally has 4 groups of five and 3 more. Total = ______</a:t>
            </a:r>
          </a:p>
        </p:txBody>
      </p:sp>
      <p:sp>
        <p:nvSpPr>
          <p:cNvPr id="275"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78" name="TextBox 21"/>
          <p:cNvSpPr txBox="1"/>
          <p:nvPr/>
        </p:nvSpPr>
        <p:spPr>
          <a:xfrm>
            <a:off x="6345936" y="4023360"/>
            <a:ext cx="5102352" cy="1143000"/>
          </a:xfrm>
          <a:prstGeom prst="rect">
            <a:avLst/>
          </a:prstGeom>
          <a:noFill/>
        </p:spPr>
        <p:txBody>
          <a:bodyPr wrap="square" lIns="0" tIns="0" rIns="0" bIns="0" anchor="t">
            <a:spAutoFit/>
          </a:bodyPr>
          <a:lstStyle/>
          <a:p>
            <a:pPr algn="l"/>
            <a:r>
              <a:rPr sz="1800" b="1">
                <a:solidFill>
                  <a:srgbClr val="23282D"/>
                </a:solidFill>
                <a:latin typeface="Arial"/>
              </a:rPr>
              <a:t>Which is greater, 78 or 87? ______</a:t>
            </a:r>
          </a:p>
        </p:txBody>
      </p:sp>
      <p:sp>
        <p:nvSpPr>
          <p:cNvPr id="279"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TALK IT OVER:  “I got ______ because ______.”   •   Compare with a partner before we check as a class.</a:t>
            </a:r>
          </a:p>
        </p:txBody>
      </p:sp>
      <p:sp>
        <p:nvSpPr>
          <p:cNvPr id="280"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Turn and talk: compare strategies, then defend one.</a:t>
            </a:r>
          </a:p>
        </p:txBody>
      </p:sp>
      <p:sp>
        <p:nvSpPr>
          <p:cNvPr id="28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 / 50</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23" name="Google Shape;523;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2-1 · Understand Statistical Questions</a:t>
            </a:r>
            <a:endParaRPr/>
          </a:p>
        </p:txBody>
      </p:sp>
      <p:sp>
        <p:nvSpPr>
          <p:cNvPr id="524" name="Google Shape;524;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26" name="Google Shape;526;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1: Math Words</a:t>
            </a:r>
            <a:endParaRPr/>
          </a:p>
        </p:txBody>
      </p:sp>
      <p:sp>
        <p:nvSpPr>
          <p:cNvPr id="527" name="Google Shape;527;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8" name="Google Shape;528;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29" name="Google Shape;529;p53"/>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3"/>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3"/>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32" name="Google Shape;532;p53"/>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Statistical Questions and Data</a:t>
            </a:r>
            <a:endParaRPr/>
          </a:p>
        </p:txBody>
      </p:sp>
      <p:sp>
        <p:nvSpPr>
          <p:cNvPr id="533" name="Google Shape;533;p53"/>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A </a:t>
            </a:r>
            <a:r>
              <a:rPr b="1" i="0" lang="en-US" sz="1450" u="none" cap="none" strike="noStrike">
                <a:solidFill>
                  <a:srgbClr val="475569"/>
                </a:solidFill>
                <a:latin typeface="Arial"/>
                <a:ea typeface="Arial"/>
                <a:cs typeface="Arial"/>
                <a:sym typeface="Arial"/>
              </a:rPr>
              <a:t xml:space="preserve">statistical question</a:t>
            </a:r>
            <a:r>
              <a:rPr b="0" i="0" lang="en-US" sz="1450" u="none" cap="none" strike="noStrike">
                <a:solidFill>
                  <a:srgbClr val="475569"/>
                </a:solidFill>
                <a:latin typeface="Arial"/>
                <a:ea typeface="Arial"/>
                <a:cs typeface="Arial"/>
                <a:sym typeface="Arial"/>
              </a:rPr>
              <a:t xml:space="preserve"> expects varied answers</a:t>
            </a:r>
            <a:endParaRPr/>
          </a:p>
        </p:txBody>
      </p:sp>
      <p:sp>
        <p:nvSpPr>
          <p:cNvPr id="534" name="Google Shape;534;p53"/>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5" name="Google Shape;535;p53"/>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3"/>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37" name="Google Shape;537;p53"/>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Statistical Question</a:t>
            </a:r>
            <a:endParaRPr/>
          </a:p>
        </p:txBody>
      </p:sp>
      <p:sp>
        <p:nvSpPr>
          <p:cNvPr id="538" name="Google Shape;538;p53"/>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A question where the answers will be different for different people</a:t>
            </a:r>
            <a:endParaRPr/>
          </a:p>
        </p:txBody>
      </p:sp>
      <p:sp>
        <p:nvSpPr>
          <p:cNvPr id="539" name="Google Shape;539;p53"/>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0" name="Google Shape;540;p53"/>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1" name="Google Shape;541;p53"/>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42" name="Google Shape;542;p53"/>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Non-statistical Question</a:t>
            </a:r>
            <a:endParaRPr/>
          </a:p>
        </p:txBody>
      </p:sp>
      <p:sp>
        <p:nvSpPr>
          <p:cNvPr id="543" name="Google Shape;543;p53"/>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A question that has just one fixed answer</a:t>
            </a:r>
            <a:endParaRPr/>
          </a:p>
        </p:txBody>
      </p:sp>
      <p:sp>
        <p:nvSpPr>
          <p:cNvPr id="5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 / 50</a:t>
            </a:r>
          </a:p>
        </p:txBody>
      </p:sp>
      <p:grpSp>
        <p:nvGrpSpPr>
          <p:cNvPr id="545" name="TEACH-1-student-move" descr="TEACH 1 · Facilitate clear, standards-based content learning"/>
          <p:cNvGrpSpPr/>
          <p:nvPr/>
        </p:nvGrpSpPr>
        <p:grpSpPr>
          <a:xfrm>
            <a:off x="6187440" y="1682496"/>
            <a:ext cx="5501640" cy="594360"/>
            <a:chOff x="6187440" y="1682496"/>
            <a:chExt cx="5501640" cy="594360"/>
          </a:xfrm>
        </p:grpSpPr>
        <p:sp>
          <p:nvSpPr>
            <p:cNvPr id="546"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47"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48"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5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9" name="Google Shape;549;p54"/>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0" name="Google Shape;550;p54"/>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51" name="Google Shape;551;p54"/>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2-1 · Understand Statistical Questions</a:t>
            </a:r>
            <a:endParaRPr/>
          </a:p>
        </p:txBody>
      </p:sp>
      <p:sp>
        <p:nvSpPr>
          <p:cNvPr id="552" name="Google Shape;552;p54"/>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3" name="Google Shape;553;p54"/>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54" name="Google Shape;554;p54"/>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2: Today’s Math</a:t>
            </a:r>
            <a:endParaRPr/>
          </a:p>
        </p:txBody>
      </p:sp>
      <p:sp>
        <p:nvSpPr>
          <p:cNvPr id="555" name="Google Shape;555;p54"/>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6" name="Google Shape;556;p54"/>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57" name="Google Shape;557;p54"/>
          <p:cNvSpPr/>
          <p:nvPr/>
        </p:nvSpPr>
        <p:spPr>
          <a:xfrm>
            <a:off x="640080" y="2231136"/>
            <a:ext cx="10911809" cy="749808"/>
          </a:xfrm>
          <a:prstGeom prst="roundRect">
            <a:avLst>
              <a:gd fmla="val 70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8" name="Google Shape;558;p54"/>
          <p:cNvSpPr txBox="1"/>
          <p:nvPr/>
        </p:nvSpPr>
        <p:spPr>
          <a:xfrm>
            <a:off x="960120" y="2359152"/>
            <a:ext cx="10271729" cy="493775"/>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2700" u="none" cap="none" strike="noStrike">
                <a:solidFill>
                  <a:srgbClr val="14223A"/>
                </a:solidFill>
                <a:latin typeface="Arial"/>
                <a:ea typeface="Arial"/>
                <a:cs typeface="Arial"/>
                <a:sym typeface="Arial"/>
              </a:rPr>
              <a:t>Statistical Questions &amp; Variability</a:t>
            </a:r>
            <a:endParaRPr/>
          </a:p>
        </p:txBody>
      </p:sp>
      <p:sp>
        <p:nvSpPr>
          <p:cNvPr id="559" name="Google Shape;559;p54"/>
          <p:cNvSpPr/>
          <p:nvPr/>
        </p:nvSpPr>
        <p:spPr>
          <a:xfrm>
            <a:off x="640080" y="3182112"/>
            <a:ext cx="10911809" cy="89611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0" name="Google Shape;560;p54"/>
          <p:cNvSpPr/>
          <p:nvPr/>
        </p:nvSpPr>
        <p:spPr>
          <a:xfrm>
            <a:off x="896112" y="3465576"/>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1</a:t>
            </a:r>
            <a:endParaRPr/>
          </a:p>
        </p:txBody>
      </p:sp>
      <p:sp>
        <p:nvSpPr>
          <p:cNvPr id="561" name="Google Shape;561;p54"/>
          <p:cNvSpPr txBox="1"/>
          <p:nvPr/>
        </p:nvSpPr>
        <p:spPr>
          <a:xfrm>
            <a:off x="1371600" y="3264408"/>
            <a:ext cx="10043129" cy="73152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1600" u="none" cap="none" strike="noStrike">
                <a:solidFill>
                  <a:srgbClr val="14223A"/>
                </a:solidFill>
                <a:latin typeface="Arial"/>
                <a:ea typeface="Arial"/>
                <a:cs typeface="Arial"/>
                <a:sym typeface="Arial"/>
              </a:rPr>
              <a:t xml:space="preserve">Statistical Question: </a:t>
            </a:r>
            <a:r>
              <a:rPr b="0" i="0" lang="en-US" sz="1600" u="none" cap="none" strike="noStrike">
                <a:solidFill>
                  <a:srgbClr val="14223A"/>
                </a:solidFill>
                <a:latin typeface="Arial"/>
                <a:ea typeface="Arial"/>
                <a:cs typeface="Arial"/>
                <a:sym typeface="Arial"/>
              </a:rPr>
              <a:t>Expects answers that vary across people, trials, or items</a:t>
            </a:r>
            <a:endParaRPr/>
          </a:p>
        </p:txBody>
      </p:sp>
      <p:sp>
        <p:nvSpPr>
          <p:cNvPr id="562" name="Google Shape;562;p54"/>
          <p:cNvSpPr/>
          <p:nvPr/>
        </p:nvSpPr>
        <p:spPr>
          <a:xfrm>
            <a:off x="640080" y="4224528"/>
            <a:ext cx="10911809" cy="89611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3" name="Google Shape;563;p54"/>
          <p:cNvSpPr/>
          <p:nvPr/>
        </p:nvSpPr>
        <p:spPr>
          <a:xfrm>
            <a:off x="896112" y="4507992"/>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2</a:t>
            </a:r>
            <a:endParaRPr/>
          </a:p>
        </p:txBody>
      </p:sp>
      <p:sp>
        <p:nvSpPr>
          <p:cNvPr id="564" name="Google Shape;564;p54"/>
          <p:cNvSpPr txBox="1"/>
          <p:nvPr/>
        </p:nvSpPr>
        <p:spPr>
          <a:xfrm>
            <a:off x="1371600" y="4306824"/>
            <a:ext cx="10043129" cy="73152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1600" u="none" cap="none" strike="noStrike">
                <a:solidFill>
                  <a:srgbClr val="14223A"/>
                </a:solidFill>
                <a:latin typeface="Arial"/>
                <a:ea typeface="Arial"/>
                <a:cs typeface="Arial"/>
                <a:sym typeface="Arial"/>
              </a:rPr>
              <a:t xml:space="preserve">Non-Statistical Question: </a:t>
            </a:r>
            <a:r>
              <a:rPr b="0" i="0" lang="en-US" sz="1600" u="none" cap="none" strike="noStrike">
                <a:solidFill>
                  <a:srgbClr val="14223A"/>
                </a:solidFill>
                <a:latin typeface="Arial"/>
                <a:ea typeface="Arial"/>
                <a:cs typeface="Arial"/>
                <a:sym typeface="Arial"/>
              </a:rPr>
              <a:t>Has one single fixed answer</a:t>
            </a:r>
            <a:endParaRPr/>
          </a:p>
        </p:txBody>
      </p:sp>
      <p:sp>
        <p:nvSpPr>
          <p:cNvPr id="565" name="Google Shape;565;p54"/>
          <p:cNvSpPr/>
          <p:nvPr/>
        </p:nvSpPr>
        <p:spPr>
          <a:xfrm>
            <a:off x="640080" y="5266944"/>
            <a:ext cx="10911809" cy="89611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6" name="Google Shape;566;p54"/>
          <p:cNvSpPr/>
          <p:nvPr/>
        </p:nvSpPr>
        <p:spPr>
          <a:xfrm>
            <a:off x="896112" y="5550408"/>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3</a:t>
            </a:r>
            <a:endParaRPr/>
          </a:p>
        </p:txBody>
      </p:sp>
      <p:sp>
        <p:nvSpPr>
          <p:cNvPr id="567" name="Google Shape;567;p54"/>
          <p:cNvSpPr txBox="1"/>
          <p:nvPr/>
        </p:nvSpPr>
        <p:spPr>
          <a:xfrm>
            <a:off x="1371600" y="5349240"/>
            <a:ext cx="10043129" cy="73152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1600" u="none" cap="none" strike="noStrike">
                <a:solidFill>
                  <a:srgbClr val="14223A"/>
                </a:solidFill>
                <a:latin typeface="Arial"/>
                <a:ea typeface="Arial"/>
                <a:cs typeface="Arial"/>
                <a:sym typeface="Arial"/>
              </a:rPr>
              <a:t xml:space="preserve">Data Collection: </a:t>
            </a:r>
            <a:r>
              <a:rPr b="0" i="0" lang="en-US" sz="1600" u="none" cap="none" strike="noStrike">
                <a:solidFill>
                  <a:srgbClr val="14223A"/>
                </a:solidFill>
                <a:latin typeface="Arial"/>
                <a:ea typeface="Arial"/>
                <a:cs typeface="Arial"/>
                <a:sym typeface="Arial"/>
              </a:rPr>
              <a:t xml:space="preserve">Gather varied data points to create a </a:t>
            </a:r>
            <a:r>
              <a:rPr b="1" i="0" lang="en-US" sz="1600" u="none" cap="none" strike="noStrike">
                <a:solidFill>
                  <a:srgbClr val="14223A"/>
                </a:solidFill>
                <a:latin typeface="Arial"/>
                <a:ea typeface="Arial"/>
                <a:cs typeface="Arial"/>
                <a:sym typeface="Arial"/>
              </a:rPr>
              <a:t xml:space="preserve">distribution</a:t>
            </a:r>
            <a:endParaRPr/>
          </a:p>
        </p:txBody>
      </p:sp>
      <p:sp>
        <p:nvSpPr>
          <p:cNvPr id="56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 / 50</a:t>
            </a:r>
          </a:p>
        </p:txBody>
      </p:sp>
      <p:grpSp>
        <p:nvGrpSpPr>
          <p:cNvPr id="569" name="TEACH-1-student-move" descr="TEACH 1 · Facilitate clear, standards-based content learning"/>
          <p:cNvGrpSpPr/>
          <p:nvPr/>
        </p:nvGrpSpPr>
        <p:grpSpPr>
          <a:xfrm>
            <a:off x="502920" y="5111496"/>
            <a:ext cx="11186160" cy="402336"/>
            <a:chOff x="502920" y="5111496"/>
            <a:chExt cx="11186160" cy="402336"/>
          </a:xfrm>
        </p:grpSpPr>
        <p:sp>
          <p:nvSpPr>
            <p:cNvPr id="570" name="TEACH-move-card"/>
            <p:cNvSpPr/>
            <p:nvPr/>
          </p:nvSpPr>
          <p:spPr>
            <a:xfrm>
              <a:off x="502920" y="5111496"/>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571" name="TEACH-move-rule"/>
            <p:cNvSpPr/>
            <p:nvPr/>
          </p:nvSpPr>
          <p:spPr>
            <a:xfrm>
              <a:off x="548640" y="5187940"/>
              <a:ext cx="100584" cy="249448"/>
            </a:xfrm>
            <a:prstGeom prst="roundRect">
              <a:avLst>
                <a:gd name="adj" fmla="val 50000"/>
              </a:avLst>
            </a:prstGeom>
            <a:solidFill>
              <a:srgbClr val="01708C"/>
            </a:solidFill>
            <a:ln>
              <a:noFill/>
            </a:ln>
          </p:spPr>
          <p:txBody>
            <a:bodyPr/>
            <a:lstStyle/>
            <a:p>
              <a:endParaRPr/>
            </a:p>
          </p:txBody>
        </p:sp>
        <p:sp>
          <p:nvSpPr>
            <p:cNvPr id="572" name="TEACH-move-text"/>
            <p:cNvSpPr txBox="1"/>
            <p:nvPr/>
          </p:nvSpPr>
          <p:spPr>
            <a:xfrm>
              <a:off x="822960" y="5111496"/>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CONNECT IT  ·  </a:t>
              </a:r>
              <a:r>
                <a:rPr lang="en-US" sz="1200" dirty="0">
                  <a:solidFill>
                    <a:srgbClr val="13303A"/>
                  </a:solidFill>
                  <a:latin typeface="Arial"/>
                </a:rPr>
                <a:t>What earlier lesson does this build on? Tell a partner in one sentence.</a:t>
              </a:r>
              <a:endParaRPr lang="en-US" sz="1200"/>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40"/>
          <p:cNvSpPr txBox="1"/>
          <p:nvPr/>
        </p:nvSpPr>
        <p:spPr>
          <a:xfrm>
            <a:off x="1402828" y="2453950"/>
            <a:ext cx="9144000"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Understand Statistical Questions</a:t>
            </a:r>
            <a:endParaRPr b="0" i="0" sz="1400" u="none" cap="none" strike="noStrike">
              <a:solidFill>
                <a:srgbClr val="000000"/>
              </a:solidFill>
              <a:latin typeface="Arial"/>
              <a:ea typeface="Arial"/>
              <a:cs typeface="Arial"/>
              <a:sym typeface="Arial"/>
            </a:endParaRPr>
          </a:p>
        </p:txBody>
      </p:sp>
      <p:sp>
        <p:nvSpPr>
          <p:cNvPr id="234" name="Google Shape;234;p40"/>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782DA0"/>
                </a:solidFill>
                <a:latin typeface="Arial"/>
                <a:ea typeface="Arial"/>
                <a:cs typeface="Arial"/>
                <a:sym typeface="Arial"/>
              </a:rPr>
              <a:t>Session 1</a:t>
            </a:r>
            <a:endParaRPr b="1" i="0" sz="2800" u="none" cap="none" strike="noStrike">
              <a:solidFill>
                <a:srgbClr val="782DA0"/>
              </a:solidFill>
              <a:latin typeface="Arial"/>
              <a:ea typeface="Arial"/>
              <a:cs typeface="Arial"/>
              <a:sym typeface="Arial"/>
            </a:endParaRPr>
          </a:p>
        </p:txBody>
      </p:sp>
      <p:cxnSp>
        <p:nvCxnSpPr>
          <p:cNvPr id="235" name="Google Shape;235;p40"/>
          <p:cNvCxnSpPr/>
          <p:nvPr/>
        </p:nvCxnSpPr>
        <p:spPr>
          <a:xfrm>
            <a:off x="-1" y="1560382"/>
            <a:ext cx="3166453" cy="0"/>
          </a:xfrm>
          <a:prstGeom prst="straightConnector1">
            <a:avLst/>
          </a:prstGeom>
          <a:noFill/>
          <a:ln cap="flat" cmpd="sng" w="19050">
            <a:solidFill>
              <a:srgbClr val="782DA0"/>
            </a:solidFill>
            <a:prstDash val="solid"/>
            <a:miter lim="80"/>
            <a:headEnd len="sm" w="sm" type="none"/>
            <a:tailEnd len="sm" w="sm" type="none"/>
          </a:ln>
        </p:spPr>
      </p:cxnSp>
      <p:sp>
        <p:nvSpPr>
          <p:cNvPr id="23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 / 50</a:t>
            </a:r>
          </a:p>
        </p:txBody>
      </p:sp>
      <p:grpSp>
        <p:nvGrpSpPr>
          <p:cNvPr id="237" name="TEACH-2-student-move" descr="TEACH 2 · Use strategies and tasks to engage students in rigorous work"/>
          <p:cNvGrpSpPr/>
          <p:nvPr/>
        </p:nvGrpSpPr>
        <p:grpSpPr>
          <a:xfrm>
            <a:off x="502920" y="3201929"/>
            <a:ext cx="11186160" cy="731520"/>
            <a:chOff x="502920" y="3201929"/>
            <a:chExt cx="11186160" cy="731520"/>
          </a:xfrm>
        </p:grpSpPr>
        <p:sp>
          <p:nvSpPr>
            <p:cNvPr id="238" name="TEACH-move-card"/>
            <p:cNvSpPr/>
            <p:nvPr/>
          </p:nvSpPr>
          <p:spPr>
            <a:xfrm>
              <a:off x="502920" y="3201929"/>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239" name="TEACH-move-rule"/>
            <p:cNvSpPr/>
            <p:nvPr/>
          </p:nvSpPr>
          <p:spPr>
            <a:xfrm>
              <a:off x="548640" y="3340918"/>
              <a:ext cx="100584" cy="453542"/>
            </a:xfrm>
            <a:prstGeom prst="roundRect">
              <a:avLst>
                <a:gd name="adj" fmla="val 50000"/>
              </a:avLst>
            </a:prstGeom>
            <a:solidFill>
              <a:srgbClr val="01708C"/>
            </a:solidFill>
            <a:ln>
              <a:noFill/>
            </a:ln>
          </p:spPr>
          <p:txBody>
            <a:bodyPr/>
            <a:lstStyle/>
            <a:p>
              <a:endParaRPr/>
            </a:p>
          </p:txBody>
        </p:sp>
        <p:sp>
          <p:nvSpPr>
            <p:cNvPr id="240" name="TEACH-move-text"/>
            <p:cNvSpPr txBox="1"/>
            <p:nvPr/>
          </p:nvSpPr>
          <p:spPr>
            <a:xfrm>
              <a:off x="822960" y="3201929"/>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PICK YOUR STRATEGY  ·  </a:t>
              </a:r>
              <a:r>
                <a:rPr lang="en-US" sz="1800" dirty="0">
                  <a:solidFill>
                    <a:srgbClr val="13303A"/>
                  </a:solidFill>
                  <a:latin typeface="Arial"/>
                </a:rPr>
                <a:t>Choose your path — picture, table, number line, or equation — and be ready to say why you chose it.</a:t>
              </a:r>
              <a:endParaRPr lang="en-US" sz="1800"/>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cxnSp>
        <p:nvCxnSpPr>
          <p:cNvPr id="240" name="Google Shape;240;p4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241" name="Google Shape;241;p41"/>
          <p:cNvSpPr txBox="1"/>
          <p:nvPr/>
        </p:nvSpPr>
        <p:spPr>
          <a:xfrm>
            <a:off x="505579" y="316034"/>
            <a:ext cx="4842276"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Give Me Five</a:t>
            </a:r>
            <a:endParaRPr b="0" i="0" sz="1400" u="none" cap="none" strike="noStrike">
              <a:solidFill>
                <a:srgbClr val="000000"/>
              </a:solidFill>
              <a:latin typeface="Arial"/>
              <a:ea typeface="Arial"/>
              <a:cs typeface="Arial"/>
              <a:sym typeface="Arial"/>
            </a:endParaRPr>
          </a:p>
        </p:txBody>
      </p:sp>
      <p:pic>
        <p:nvPicPr>
          <p:cNvPr id="242" name="Google Shape;242;p41"/>
          <p:cNvPicPr preferRelativeResize="0"/>
          <p:nvPr/>
        </p:nvPicPr>
        <p:blipFill rotWithShape="1">
          <a:blip r:embed="rId3">
            <a:alphaModFix/>
          </a:blip>
          <a:srcRect b="0" l="0" r="0" t="0"/>
          <a:stretch/>
        </p:blipFill>
        <p:spPr>
          <a:xfrm>
            <a:off x="1691440" y="2388360"/>
            <a:ext cx="6422231" cy="2480310"/>
          </a:xfrm>
          <a:prstGeom prst="rect">
            <a:avLst/>
          </a:prstGeom>
          <a:noFill/>
          <a:ln>
            <a:noFill/>
          </a:ln>
        </p:spPr>
      </p:pic>
      <p:sp>
        <p:nvSpPr>
          <p:cNvPr id="243" name="Google Shape;243;p41"/>
          <p:cNvSpPr txBox="1"/>
          <p:nvPr/>
        </p:nvSpPr>
        <p:spPr>
          <a:xfrm>
            <a:off x="474054" y="936100"/>
            <a:ext cx="7711157" cy="122933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Use all the numbers in any order with any operation to equal the target number (in red). ​</a:t>
            </a:r>
            <a:endParaRPr b="0" i="0" sz="1400" u="none" cap="none" strike="noStrike">
              <a:solidFill>
                <a:srgbClr val="000000"/>
              </a:solidFill>
              <a:latin typeface="Arial"/>
              <a:ea typeface="Arial"/>
              <a:cs typeface="Arial"/>
              <a:sym typeface="Arial"/>
            </a:endParaRPr>
          </a:p>
        </p:txBody>
      </p:sp>
      <p:sp>
        <p:nvSpPr>
          <p:cNvPr id="2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 / 50</a:t>
            </a:r>
          </a:p>
        </p:txBody>
      </p:sp>
      <p:sp xmlns:p="http://schemas.openxmlformats.org/presentationml/2006/main" xmlns:a="http://schemas.openxmlformats.org/drawingml/2006/main">
        <p:nvSpPr>
          <p:cNvPr id="245"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 your reasoning.</a:t>
            </a:r>
            <a:endParaRPr lang="en-US"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5" name="Google Shape;335;p44"/>
          <p:cNvSpPr/>
          <p:nvPr/>
        </p:nvSpPr>
        <p:spPr>
          <a:xfrm>
            <a:off x="0" y="0"/>
            <a:ext cx="12191969" cy="713232"/>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6" name="Google Shape;336;p44"/>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Objectives</a:t>
            </a:r>
            <a:endParaRPr/>
          </a:p>
        </p:txBody>
      </p:sp>
      <p:sp>
        <p:nvSpPr>
          <p:cNvPr id="337" name="Google Shape;337;p44"/>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2-1 · Understand Statistical Questions</a:t>
            </a:r>
            <a:endParaRPr/>
          </a:p>
        </p:txBody>
      </p:sp>
      <p:sp>
        <p:nvSpPr>
          <p:cNvPr id="338" name="Google Shape;338;p44"/>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9" name="Google Shape;339;p44"/>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40" name="Google Shape;340;p44"/>
          <p:cNvSpPr txBox="1"/>
          <p:nvPr/>
        </p:nvSpPr>
        <p:spPr>
          <a:xfrm>
            <a:off x="640080" y="969264"/>
            <a:ext cx="10911809" cy="631952"/>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defRPr/>
            </a:pPr>
            <a:r>
              <a:rPr b="1" i="0" lang="en-US" sz="3800" u="none" cap="none" strike="noStrike">
                <a:solidFill>
                  <a:srgbClr val="14223A"/>
                </a:solidFill>
                <a:latin typeface="Arial"/>
                <a:ea typeface="Arial"/>
                <a:cs typeface="Arial"/>
                <a:sym typeface="Arial"/>
              </a:rPr>
              <a:t>Understand Statistical Questions</a:t>
            </a:r>
            <a:endParaRPr/>
          </a:p>
        </p:txBody>
      </p:sp>
      <p:sp>
        <p:nvSpPr>
          <p:cNvPr id="341" name="Google Shape;341;p44"/>
          <p:cNvSpPr txBox="1"/>
          <p:nvPr/>
        </p:nvSpPr>
        <p:spPr>
          <a:xfrm>
            <a:off x="640080" y="1637792"/>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475569"/>
                </a:solidFill>
                <a:latin typeface="Arial"/>
                <a:ea typeface="Arial"/>
                <a:cs typeface="Arial"/>
                <a:sym typeface="Arial"/>
              </a:rPr>
              <a:t>Maryland Standard 6.DS.1</a:t>
            </a:r>
            <a:endParaRPr/>
          </a:p>
        </p:txBody>
      </p:sp>
      <p:sp>
        <p:nvSpPr>
          <p:cNvPr id="342" name="Google Shape;342;p44"/>
          <p:cNvSpPr/>
          <p:nvPr/>
        </p:nvSpPr>
        <p:spPr>
          <a:xfrm>
            <a:off x="640080" y="2432304"/>
            <a:ext cx="5349240" cy="3621024"/>
          </a:xfrm>
          <a:prstGeom prst="roundRect">
            <a:avLst>
              <a:gd fmla="val 4500" name="adj"/>
            </a:avLst>
          </a:prstGeom>
          <a:solidFill>
            <a:srgbClr val="E3F2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3" name="Google Shape;343;p44"/>
          <p:cNvSpPr/>
          <p:nvPr/>
        </p:nvSpPr>
        <p:spPr>
          <a:xfrm>
            <a:off x="640080" y="2432304"/>
            <a:ext cx="118872" cy="3621024"/>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4" name="Google Shape;344;p44"/>
          <p:cNvSpPr txBox="1"/>
          <p:nvPr/>
        </p:nvSpPr>
        <p:spPr>
          <a:xfrm>
            <a:off x="1097280"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0F766E"/>
                </a:solidFill>
                <a:latin typeface="Arial"/>
                <a:ea typeface="Arial"/>
                <a:cs typeface="Arial"/>
                <a:sym typeface="Arial"/>
              </a:rPr>
              <a:t>CONTENT OBJECTIVE</a:t>
            </a:r>
            <a:endParaRPr/>
          </a:p>
        </p:txBody>
      </p:sp>
      <p:sp>
        <p:nvSpPr>
          <p:cNvPr id="345" name="Google Shape;345;p44"/>
          <p:cNvSpPr txBox="1"/>
          <p:nvPr/>
        </p:nvSpPr>
        <p:spPr>
          <a:xfrm>
            <a:off x="1097280"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Restate the goal in your words</a:t>
            </a:r>
            <a:endParaRPr/>
          </a:p>
        </p:txBody>
      </p:sp>
      <p:sp>
        <p:nvSpPr>
          <p:cNvPr id="346" name="Google Shape;346;p44"/>
          <p:cNvSpPr txBox="1"/>
          <p:nvPr/>
        </p:nvSpPr>
        <p:spPr>
          <a:xfrm>
            <a:off x="1097280"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tell the difference between a statistical question and a non-statistical question.</a:t>
            </a:r>
            <a:endParaRPr/>
          </a:p>
        </p:txBody>
      </p:sp>
      <p:sp>
        <p:nvSpPr>
          <p:cNvPr id="347" name="Google Shape;347;p44"/>
          <p:cNvSpPr/>
          <p:nvPr/>
        </p:nvSpPr>
        <p:spPr>
          <a:xfrm>
            <a:off x="6382512" y="2432304"/>
            <a:ext cx="5349240" cy="3621024"/>
          </a:xfrm>
          <a:prstGeom prst="roundRect">
            <a:avLst>
              <a:gd fmla="val 45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8" name="Google Shape;348;p44"/>
          <p:cNvSpPr/>
          <p:nvPr/>
        </p:nvSpPr>
        <p:spPr>
          <a:xfrm>
            <a:off x="6382512" y="2432304"/>
            <a:ext cx="118872" cy="3621024"/>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9" name="Google Shape;349;p44"/>
          <p:cNvSpPr txBox="1"/>
          <p:nvPr/>
        </p:nvSpPr>
        <p:spPr>
          <a:xfrm>
            <a:off x="6839712"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C2410C"/>
                </a:solidFill>
                <a:latin typeface="Arial"/>
                <a:ea typeface="Arial"/>
                <a:cs typeface="Arial"/>
                <a:sym typeface="Arial"/>
              </a:rPr>
              <a:t>LANGUAGE OBJECTIVE</a:t>
            </a:r>
            <a:endParaRPr/>
          </a:p>
        </p:txBody>
      </p:sp>
      <p:sp>
        <p:nvSpPr>
          <p:cNvPr id="350" name="Google Shape;350;p44"/>
          <p:cNvSpPr txBox="1"/>
          <p:nvPr/>
        </p:nvSpPr>
        <p:spPr>
          <a:xfrm>
            <a:off x="6839712"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Use these words to explain why</a:t>
            </a:r>
            <a:endParaRPr/>
          </a:p>
        </p:txBody>
      </p:sp>
      <p:sp>
        <p:nvSpPr>
          <p:cNvPr id="351" name="Google Shape;351;p44"/>
          <p:cNvSpPr txBox="1"/>
          <p:nvPr/>
        </p:nvSpPr>
        <p:spPr>
          <a:xfrm>
            <a:off x="6839712"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explain my reasoning using the words statistical question, data, variability, and survey.</a:t>
            </a:r>
            <a:endParaRPr/>
          </a:p>
        </p:txBody>
      </p:sp>
      <p:sp>
        <p:nvSpPr>
          <p:cNvPr id="35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6 / 50</a:t>
            </a:r>
          </a:p>
        </p:txBody>
      </p:sp>
      <p:grpSp>
        <p:nvGrpSpPr>
          <p:cNvPr id="353" name="TEACH-1-student-move" descr="TEACH 1 · Facilitate clear, standards-based content learning"/>
          <p:cNvGrpSpPr/>
          <p:nvPr/>
        </p:nvGrpSpPr>
        <p:grpSpPr>
          <a:xfrm>
            <a:off x="502920" y="1993392"/>
            <a:ext cx="11186160" cy="402336"/>
            <a:chOff x="502920" y="1993392"/>
            <a:chExt cx="11186160" cy="402336"/>
          </a:xfrm>
        </p:grpSpPr>
        <p:sp>
          <p:nvSpPr>
            <p:cNvPr id="354" name="TEACH-move-card"/>
            <p:cNvSpPr/>
            <p:nvPr/>
          </p:nvSpPr>
          <p:spPr>
            <a:xfrm>
              <a:off x="502920" y="1993392"/>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355" name="TEACH-move-rule"/>
            <p:cNvSpPr/>
            <p:nvPr/>
          </p:nvSpPr>
          <p:spPr>
            <a:xfrm>
              <a:off x="548640" y="2069836"/>
              <a:ext cx="100584" cy="249448"/>
            </a:xfrm>
            <a:prstGeom prst="roundRect">
              <a:avLst>
                <a:gd name="adj" fmla="val 50000"/>
              </a:avLst>
            </a:prstGeom>
            <a:solidFill>
              <a:srgbClr val="01708C"/>
            </a:solidFill>
            <a:ln>
              <a:noFill/>
            </a:ln>
          </p:spPr>
          <p:txBody>
            <a:bodyPr/>
            <a:lstStyle/>
            <a:p>
              <a:endParaRPr/>
            </a:p>
          </p:txBody>
        </p:sp>
        <p:sp>
          <p:nvSpPr>
            <p:cNvPr id="356" name="TEACH-move-text"/>
            <p:cNvSpPr txBox="1"/>
            <p:nvPr/>
          </p:nvSpPr>
          <p:spPr>
            <a:xfrm>
              <a:off x="822960" y="1993392"/>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SHOW YOUR THINKING  ·  </a:t>
              </a:r>
              <a:r>
                <a:rPr lang="en-US" sz="1200" dirty="0">
                  <a:solidFill>
                    <a:srgbClr val="13303A"/>
                  </a:solidFill>
                  <a:latin typeface="Arial"/>
                </a:rPr>
                <a:t>Show what you know — write it, draw it, or build it. A picture counts as an explanation.</a:t>
              </a:r>
              <a:endParaRPr lang="en-US" sz="1200"/>
            </a:p>
          </p:txBody>
        </p:sp>
      </p:gr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2.1  /  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What will show your learning?</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Oval 4"/>
          <p:cNvSpPr/>
          <p:nvPr/>
        </p:nvSpPr>
        <p:spPr>
          <a:xfrm>
            <a:off x="640080" y="1874519"/>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29384"/>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1</a:t>
            </a:r>
          </a:p>
        </p:txBody>
      </p:sp>
      <p:sp>
        <p:nvSpPr>
          <p:cNvPr id="7" name="TextBox 6"/>
          <p:cNvSpPr txBox="1"/>
          <p:nvPr/>
        </p:nvSpPr>
        <p:spPr>
          <a:xfrm>
            <a:off x="1399032" y="1856231"/>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Identify a question that anticipates variability.</a:t>
            </a:r>
          </a:p>
        </p:txBody>
      </p:sp>
      <p:sp>
        <p:nvSpPr>
          <p:cNvPr id="8" name="Oval 7"/>
          <p:cNvSpPr/>
          <p:nvPr/>
        </p:nvSpPr>
        <p:spPr>
          <a:xfrm>
            <a:off x="640080" y="2862072"/>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2916936"/>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2</a:t>
            </a:r>
          </a:p>
        </p:txBody>
      </p:sp>
      <p:sp>
        <p:nvSpPr>
          <p:cNvPr id="10" name="TextBox 9"/>
          <p:cNvSpPr txBox="1"/>
          <p:nvPr/>
        </p:nvSpPr>
        <p:spPr>
          <a:xfrm>
            <a:off x="1399032" y="2843784"/>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Describe possible data and what a dot represents.</a:t>
            </a:r>
          </a:p>
        </p:txBody>
      </p:sp>
      <p:sp>
        <p:nvSpPr>
          <p:cNvPr id="11" name="Rounded Rectangle 10"/>
          <p:cNvSpPr/>
          <p:nvPr/>
        </p:nvSpPr>
        <p:spPr>
          <a:xfrm>
            <a:off x="594360" y="5120640"/>
            <a:ext cx="10972800" cy="822960"/>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5303520"/>
            <a:ext cx="10469880" cy="438912"/>
          </a:xfrm>
          <a:prstGeom prst="rect">
            <a:avLst/>
          </a:prstGeom>
          <a:noFill/>
        </p:spPr>
        <p:txBody>
          <a:bodyPr wrap="square" lIns="0" rIns="0" tIns="22860" bIns="0">
            <a:spAutoFit/>
          </a:bodyPr>
          <a:lstStyle/>
          <a:p>
            <a:pPr>
              <a:spcAft>
                <a:spcPts val="800"/>
              </a:spcAft>
              <a:defRPr sz="2200" b="0">
                <a:solidFill>
                  <a:srgbClr val="096B69"/>
                </a:solidFill>
                <a:latin typeface="Arial"/>
              </a:defRPr>
            </a:pPr>
            <a:r>
              <a:rPr/>
              <a:t>Tell a partner: Which skill connects to something you already know?</a:t>
            </a:r>
          </a:p>
        </p:txBody>
      </p:sp>
      <p:grpSp>
        <p:nvGrpSpPr>
          <p:cNvPr id="13" name="TEACH-1-student-move" descr="TEACH 1 · Facilitate clear, standards-based content learning"/>
          <p:cNvGrpSpPr/>
          <p:nvPr/>
        </p:nvGrpSpPr>
        <p:grpSpPr>
          <a:xfrm>
            <a:off x="502920" y="5824728"/>
            <a:ext cx="11186160" cy="402336"/>
            <a:chOff x="502920" y="5824728"/>
            <a:chExt cx="11186160" cy="402336"/>
          </a:xfrm>
        </p:grpSpPr>
        <p:sp>
          <p:nvSpPr>
            <p:cNvPr id="14"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5"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6"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WHY IT MATTERS  ·  </a:t>
              </a:r>
              <a:r>
                <a:rPr lang="en-US" sz="1200" dirty="0">
                  <a:solidFill>
                    <a:srgbClr val="13303A"/>
                  </a:solidFill>
                  <a:latin typeface="Arial"/>
                </a:rPr>
                <a:t>Finish this: “This is worth knowing because ______.”</a:t>
              </a:r>
              <a:endParaRPr lang="en-US" sz="1200"/>
            </a:p>
          </p:txBody>
        </p:sp>
      </p:gr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96" name="Google Shape;396;p46"/>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7" name="Google Shape;397;p46"/>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8" name="Google Shape;398;p46"/>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Vocabulary  1 of 7</a:t>
            </a:r>
            <a:endParaRPr/>
          </a:p>
        </p:txBody>
      </p:sp>
      <p:sp>
        <p:nvSpPr>
          <p:cNvPr id="399" name="Google Shape;399;p46"/>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2-1 · Understand Statistical Questions</a:t>
            </a:r>
            <a:endParaRPr/>
          </a:p>
        </p:txBody>
      </p:sp>
      <p:sp>
        <p:nvSpPr>
          <p:cNvPr id="400" name="Google Shape;400;p46"/>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1" name="Google Shape;401;p46"/>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402" name="Google Shape;402;p46"/>
          <p:cNvSpPr txBox="1"/>
          <p:nvPr/>
        </p:nvSpPr>
        <p:spPr>
          <a:xfrm>
            <a:off x="640080" y="1761743"/>
            <a:ext cx="10911809" cy="90220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5200" u="none" cap="none" strike="noStrike">
                <a:solidFill>
                  <a:srgbClr val="14223A"/>
                </a:solidFill>
                <a:latin typeface="Arial"/>
                <a:ea typeface="Arial"/>
                <a:cs typeface="Arial"/>
                <a:sym typeface="Arial"/>
              </a:rPr>
              <a:t>Statistical Questions and Data</a:t>
            </a:r>
            <a:endParaRPr/>
          </a:p>
        </p:txBody>
      </p:sp>
      <p:sp>
        <p:nvSpPr>
          <p:cNvPr id="403" name="Google Shape;403;p46"/>
          <p:cNvSpPr/>
          <p:nvPr/>
        </p:nvSpPr>
        <p:spPr>
          <a:xfrm>
            <a:off x="658368" y="2718816"/>
            <a:ext cx="29260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4" name="Google Shape;404;p46"/>
          <p:cNvSpPr txBox="1"/>
          <p:nvPr/>
        </p:nvSpPr>
        <p:spPr>
          <a:xfrm>
            <a:off x="640080" y="3080004"/>
            <a:ext cx="10911809" cy="86410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defRPr/>
            </a:pPr>
            <a:r>
              <a:rPr b="0" i="0" lang="en-US" sz="2700" u="none" cap="none" strike="noStrike">
                <a:solidFill>
                  <a:srgbClr val="14223A"/>
                </a:solidFill>
                <a:latin typeface="Arial"/>
                <a:ea typeface="Arial"/>
                <a:cs typeface="Arial"/>
                <a:sym typeface="Arial"/>
              </a:rPr>
              <a:t>A statistical question expects varied answers that can be collected as data.</a:t>
            </a:r>
            <a:endParaRPr/>
          </a:p>
        </p:txBody>
      </p:sp>
      <p:sp>
        <p:nvSpPr>
          <p:cNvPr id="405" name="Google Shape;405;p46"/>
          <p:cNvSpPr/>
          <p:nvPr/>
        </p:nvSpPr>
        <p:spPr>
          <a:xfrm>
            <a:off x="640080" y="4364736"/>
            <a:ext cx="10911809"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6" name="Google Shape;406;p46"/>
          <p:cNvSpPr/>
          <p:nvPr/>
        </p:nvSpPr>
        <p:spPr>
          <a:xfrm>
            <a:off x="640080" y="436473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7" name="Google Shape;407;p46"/>
          <p:cNvSpPr txBox="1"/>
          <p:nvPr/>
        </p:nvSpPr>
        <p:spPr>
          <a:xfrm>
            <a:off x="932688" y="4538472"/>
            <a:ext cx="10344881"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150" u="none" cap="none" strike="noStrike">
                <a:solidFill>
                  <a:srgbClr val="C2410C"/>
                </a:solidFill>
                <a:latin typeface="Arial"/>
                <a:ea typeface="Arial"/>
                <a:cs typeface="Arial"/>
                <a:sym typeface="Arial"/>
              </a:rPr>
              <a:t>EXAMPLE · EXPLAIN WHY IT FITS</a:t>
            </a:r>
            <a:endParaRPr/>
          </a:p>
        </p:txBody>
      </p:sp>
      <p:sp>
        <p:nvSpPr>
          <p:cNvPr id="408" name="Google Shape;408;p46"/>
          <p:cNvSpPr txBox="1"/>
          <p:nvPr/>
        </p:nvSpPr>
        <p:spPr>
          <a:xfrm>
            <a:off x="932688" y="4840224"/>
            <a:ext cx="10344881"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0" i="0" lang="en-US" sz="2100" u="none" cap="none" strike="noStrike">
                <a:solidFill>
                  <a:srgbClr val="14223A"/>
                </a:solidFill>
                <a:latin typeface="Arial"/>
                <a:ea typeface="Arial"/>
                <a:cs typeface="Arial"/>
                <a:sym typeface="Arial"/>
              </a:rPr>
              <a:t>How many minutes do students in our class read each night?</a:t>
            </a:r>
            <a:endParaRPr/>
          </a:p>
        </p:txBody>
      </p:sp>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8 / 50</a:t>
            </a:r>
          </a:p>
        </p:txBody>
      </p:sp>
      <p:grpSp>
        <p:nvGrpSpPr>
          <p:cNvPr id="409" name="TEACH-5-student-move" descr="TEACH 5 · Facilitate student interactions and academic talk"/>
          <p:cNvGrpSpPr/>
          <p:nvPr/>
        </p:nvGrpSpPr>
        <p:grpSpPr>
          <a:xfrm>
            <a:off x="502920" y="5751576"/>
            <a:ext cx="11186160" cy="548640"/>
            <a:chOff x="502920" y="5751576"/>
            <a:chExt cx="11186160" cy="548640"/>
          </a:xfrm>
        </p:grpSpPr>
        <p:sp>
          <p:nvSpPr>
            <p:cNvPr id="410" name="TEACH-move-card"/>
            <p:cNvSpPr/>
            <p:nvPr/>
          </p:nvSpPr>
          <p:spPr>
            <a:xfrm>
              <a:off x="502920" y="5751576"/>
              <a:ext cx="11186160" cy="548640"/>
            </a:xfrm>
            <a:prstGeom prst="roundRect">
              <a:avLst>
                <a:gd name="adj" fmla="val 16000"/>
              </a:avLst>
            </a:prstGeom>
            <a:solidFill>
              <a:srgbClr val="E4F0F5"/>
            </a:solidFill>
            <a:ln w="19050">
              <a:solidFill>
                <a:srgbClr val="8CB8C7"/>
              </a:solidFill>
            </a:ln>
          </p:spPr>
          <p:txBody>
            <a:bodyPr/>
            <a:lstStyle/>
            <a:p>
              <a:endParaRPr/>
            </a:p>
          </p:txBody>
        </p:sp>
        <p:sp>
          <p:nvSpPr>
            <p:cNvPr id="411" name="TEACH-move-rule"/>
            <p:cNvSpPr/>
            <p:nvPr/>
          </p:nvSpPr>
          <p:spPr>
            <a:xfrm>
              <a:off x="548640" y="5855818"/>
              <a:ext cx="100584" cy="340156"/>
            </a:xfrm>
            <a:prstGeom prst="roundRect">
              <a:avLst>
                <a:gd name="adj" fmla="val 50000"/>
              </a:avLst>
            </a:prstGeom>
            <a:solidFill>
              <a:srgbClr val="01708C"/>
            </a:solidFill>
            <a:ln>
              <a:noFill/>
            </a:ln>
          </p:spPr>
          <p:txBody>
            <a:bodyPr/>
            <a:lstStyle/>
            <a:p>
              <a:endParaRPr/>
            </a:p>
          </p:txBody>
        </p:sp>
        <p:sp>
          <p:nvSpPr>
            <p:cNvPr id="412" name="TEACH-move-text"/>
            <p:cNvSpPr txBox="1"/>
            <p:nvPr/>
          </p:nvSpPr>
          <p:spPr>
            <a:xfrm>
              <a:off x="822960" y="5751576"/>
              <a:ext cx="10728960" cy="54864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USE THE MATH WORDS  ·  </a:t>
              </a:r>
              <a:r>
                <a:rPr lang="en-US" sz="1400" dirty="0">
                  <a:solidFill>
                    <a:srgbClr val="13303A"/>
                  </a:solidFill>
                  <a:latin typeface="Arial"/>
                </a:rPr>
                <a:t>Use today’s math words in your explanation — not “it” and “that thing.”</a:t>
              </a:r>
              <a:endParaRPr lang="en-US" sz="1400"/>
            </a:p>
          </p:txBody>
        </p:sp>
      </p:gr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13" name="Google Shape;413;p47"/>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4" name="Google Shape;414;p47"/>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5" name="Google Shape;415;p47"/>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2 of 7</a:t>
            </a:r>
            <a:endParaRPr/>
          </a:p>
        </p:txBody>
      </p:sp>
      <p:sp>
        <p:nvSpPr>
          <p:cNvPr id="416" name="Google Shape;416;p47"/>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2-1 · Understand Statistical Questions</a:t>
            </a:r>
            <a:endParaRPr/>
          </a:p>
        </p:txBody>
      </p:sp>
      <p:sp>
        <p:nvSpPr>
          <p:cNvPr id="417" name="Google Shape;417;p47"/>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8" name="Google Shape;418;p47"/>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19" name="Google Shape;419;p47"/>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Statistical Question</a:t>
            </a:r>
            <a:endParaRPr/>
          </a:p>
        </p:txBody>
      </p:sp>
      <p:sp>
        <p:nvSpPr>
          <p:cNvPr id="420" name="Google Shape;420;p47"/>
          <p:cNvSpPr/>
          <p:nvPr/>
        </p:nvSpPr>
        <p:spPr>
          <a:xfrm>
            <a:off x="658368" y="2638806"/>
            <a:ext cx="237744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1" name="Google Shape;421;p47"/>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question where the answers will be different for different people.</a:t>
            </a:r>
            <a:endParaRPr/>
          </a:p>
        </p:txBody>
      </p:sp>
      <p:sp>
        <p:nvSpPr>
          <p:cNvPr id="422" name="Google Shape;422;p47"/>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3" name="Google Shape;423;p47"/>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4" name="Google Shape;424;p47"/>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25" name="Google Shape;425;p47"/>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“How tall are the players on the team?” → answers vary: 60 in, 63 in, 58 in, 65 in</a:t>
            </a:r>
            <a:endParaRPr/>
          </a:p>
        </p:txBody>
      </p:sp>
      <p:pic>
        <p:nvPicPr>
          <p:cNvPr descr="data.png" id="426" name="Google Shape;426;p47"/>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9 / 50</a:t>
            </a:r>
          </a:p>
        </p:txBody>
      </p:sp>
      <p:sp xmlns:p="http://schemas.openxmlformats.org/presentationml/2006/main" xmlns:a="http://schemas.openxmlformats.org/drawingml/2006/main">
        <p:nvSpPr>
          <p:cNvPr id="427"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“Statistical Question”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31" name="Google Shape;431;p48"/>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2" name="Google Shape;432;p48"/>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3" name="Google Shape;433;p48"/>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Vocabulary  3 of 7</a:t>
            </a:r>
            <a:endParaRPr/>
          </a:p>
        </p:txBody>
      </p:sp>
      <p:sp>
        <p:nvSpPr>
          <p:cNvPr id="434" name="Google Shape;434;p48"/>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2-1 · Understand Statistical Questions</a:t>
            </a:r>
            <a:endParaRPr/>
          </a:p>
        </p:txBody>
      </p:sp>
      <p:sp>
        <p:nvSpPr>
          <p:cNvPr id="435" name="Google Shape;435;p48"/>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6" name="Google Shape;436;p48"/>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437" name="Google Shape;437;p48"/>
          <p:cNvSpPr txBox="1"/>
          <p:nvPr/>
        </p:nvSpPr>
        <p:spPr>
          <a:xfrm>
            <a:off x="640080" y="1761743"/>
            <a:ext cx="10911809" cy="90220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5200" u="none" cap="none" strike="noStrike">
                <a:solidFill>
                  <a:srgbClr val="14223A"/>
                </a:solidFill>
                <a:latin typeface="Arial"/>
                <a:ea typeface="Arial"/>
                <a:cs typeface="Arial"/>
                <a:sym typeface="Arial"/>
              </a:rPr>
              <a:t>Non-statistical Question</a:t>
            </a:r>
            <a:endParaRPr/>
          </a:p>
        </p:txBody>
      </p:sp>
      <p:sp>
        <p:nvSpPr>
          <p:cNvPr id="438" name="Google Shape;438;p48"/>
          <p:cNvSpPr/>
          <p:nvPr/>
        </p:nvSpPr>
        <p:spPr>
          <a:xfrm>
            <a:off x="658368" y="2718816"/>
            <a:ext cx="2852928"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9" name="Google Shape;439;p48"/>
          <p:cNvSpPr txBox="1"/>
          <p:nvPr/>
        </p:nvSpPr>
        <p:spPr>
          <a:xfrm>
            <a:off x="640080" y="3080004"/>
            <a:ext cx="10911809" cy="86410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defRPr/>
            </a:pPr>
            <a:r>
              <a:rPr b="0" i="0" lang="en-US" sz="2700" u="none" cap="none" strike="noStrike">
                <a:solidFill>
                  <a:srgbClr val="14223A"/>
                </a:solidFill>
                <a:latin typeface="Arial"/>
                <a:ea typeface="Arial"/>
                <a:cs typeface="Arial"/>
                <a:sym typeface="Arial"/>
              </a:rPr>
              <a:t>A question that has just one fixed answer that is the same no matter who you ask, so there is no data to collect.</a:t>
            </a:r>
            <a:endParaRPr/>
          </a:p>
        </p:txBody>
      </p:sp>
      <p:sp>
        <p:nvSpPr>
          <p:cNvPr id="440" name="Google Shape;440;p48"/>
          <p:cNvSpPr/>
          <p:nvPr/>
        </p:nvSpPr>
        <p:spPr>
          <a:xfrm>
            <a:off x="640080" y="4364736"/>
            <a:ext cx="10911809"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1" name="Google Shape;441;p48"/>
          <p:cNvSpPr/>
          <p:nvPr/>
        </p:nvSpPr>
        <p:spPr>
          <a:xfrm>
            <a:off x="640080" y="436473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2" name="Google Shape;442;p48"/>
          <p:cNvSpPr txBox="1"/>
          <p:nvPr/>
        </p:nvSpPr>
        <p:spPr>
          <a:xfrm>
            <a:off x="932688" y="4538472"/>
            <a:ext cx="10344881"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150" u="none" cap="none" strike="noStrike">
                <a:solidFill>
                  <a:srgbClr val="C2410C"/>
                </a:solidFill>
                <a:latin typeface="Arial"/>
                <a:ea typeface="Arial"/>
                <a:cs typeface="Arial"/>
                <a:sym typeface="Arial"/>
              </a:rPr>
              <a:t>EXAMPLE · EXPLAIN WHY IT FITS</a:t>
            </a:r>
            <a:endParaRPr/>
          </a:p>
        </p:txBody>
      </p:sp>
      <p:sp>
        <p:nvSpPr>
          <p:cNvPr id="443" name="Google Shape;443;p48"/>
          <p:cNvSpPr txBox="1"/>
          <p:nvPr/>
        </p:nvSpPr>
        <p:spPr>
          <a:xfrm>
            <a:off x="932688" y="4840224"/>
            <a:ext cx="10344881"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0" i="0" lang="en-US" sz="2100" u="none" cap="none" strike="noStrike">
                <a:solidFill>
                  <a:srgbClr val="14223A"/>
                </a:solidFill>
                <a:latin typeface="Arial"/>
                <a:ea typeface="Arial"/>
                <a:cs typeface="Arial"/>
                <a:sym typeface="Arial"/>
              </a:rPr>
              <a:t>“How tall am I?” → one answer: 60 in. Everyone who measures gets the same number.</a:t>
            </a:r>
            <a:endParaRPr/>
          </a:p>
        </p:txBody>
      </p:sp>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10 / 50</a:t>
            </a:r>
          </a:p>
        </p:txBody>
      </p:sp>
      <p:grpSp>
        <p:nvGrpSpPr>
          <p:cNvPr id="444" name="TEACH-5-student-move" descr="TEACH 5 · Facilitate student interactions and academic talk"/>
          <p:cNvGrpSpPr/>
          <p:nvPr/>
        </p:nvGrpSpPr>
        <p:grpSpPr>
          <a:xfrm>
            <a:off x="502920" y="5751576"/>
            <a:ext cx="11186160" cy="548640"/>
            <a:chOff x="502920" y="5751576"/>
            <a:chExt cx="11186160" cy="548640"/>
          </a:xfrm>
        </p:grpSpPr>
        <p:sp>
          <p:nvSpPr>
            <p:cNvPr id="445" name="TEACH-move-card"/>
            <p:cNvSpPr/>
            <p:nvPr/>
          </p:nvSpPr>
          <p:spPr>
            <a:xfrm>
              <a:off x="502920" y="5751576"/>
              <a:ext cx="11186160" cy="548640"/>
            </a:xfrm>
            <a:prstGeom prst="roundRect">
              <a:avLst>
                <a:gd name="adj" fmla="val 16000"/>
              </a:avLst>
            </a:prstGeom>
            <a:solidFill>
              <a:srgbClr val="E4F0F5"/>
            </a:solidFill>
            <a:ln w="19050">
              <a:solidFill>
                <a:srgbClr val="8CB8C7"/>
              </a:solidFill>
            </a:ln>
          </p:spPr>
          <p:txBody>
            <a:bodyPr/>
            <a:lstStyle/>
            <a:p>
              <a:endParaRPr/>
            </a:p>
          </p:txBody>
        </p:sp>
        <p:sp>
          <p:nvSpPr>
            <p:cNvPr id="446" name="TEACH-move-rule"/>
            <p:cNvSpPr/>
            <p:nvPr/>
          </p:nvSpPr>
          <p:spPr>
            <a:xfrm>
              <a:off x="548640" y="5855818"/>
              <a:ext cx="100584" cy="340156"/>
            </a:xfrm>
            <a:prstGeom prst="roundRect">
              <a:avLst>
                <a:gd name="adj" fmla="val 50000"/>
              </a:avLst>
            </a:prstGeom>
            <a:solidFill>
              <a:srgbClr val="01708C"/>
            </a:solidFill>
            <a:ln>
              <a:noFill/>
            </a:ln>
          </p:spPr>
          <p:txBody>
            <a:bodyPr/>
            <a:lstStyle/>
            <a:p>
              <a:endParaRPr/>
            </a:p>
          </p:txBody>
        </p:sp>
        <p:sp>
          <p:nvSpPr>
            <p:cNvPr id="447" name="TEACH-move-text"/>
            <p:cNvSpPr txBox="1"/>
            <p:nvPr/>
          </p:nvSpPr>
          <p:spPr>
            <a:xfrm>
              <a:off x="822960" y="5751576"/>
              <a:ext cx="10728960" cy="54864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ADD ON  ·  </a:t>
              </a:r>
              <a:r>
                <a:rPr lang="en-US" sz="1400" dirty="0">
                  <a:solidFill>
                    <a:srgbClr val="13303A"/>
                  </a:solidFill>
                  <a:latin typeface="Arial"/>
                </a:rPr>
                <a:t>Add on: “I agree because ______.”  or  “I see it differently because ______.”</a:t>
              </a:r>
              <a:endParaRPr lang="en-US" sz="1400"/>
            </a:p>
          </p:txBody>
        </p:sp>
      </p:gr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48" name="Google Shape;448;p49"/>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9" name="Google Shape;449;p49"/>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0" name="Google Shape;450;p49"/>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4 of 7</a:t>
            </a:r>
            <a:endParaRPr/>
          </a:p>
        </p:txBody>
      </p:sp>
      <p:sp>
        <p:nvSpPr>
          <p:cNvPr id="451" name="Google Shape;451;p49"/>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2-1 · Understand Statistical Questions</a:t>
            </a:r>
            <a:endParaRPr/>
          </a:p>
        </p:txBody>
      </p:sp>
      <p:sp>
        <p:nvSpPr>
          <p:cNvPr id="452" name="Google Shape;452;p49"/>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3" name="Google Shape;453;p49"/>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54" name="Google Shape;454;p49"/>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Data</a:t>
            </a:r>
            <a:endParaRPr/>
          </a:p>
        </p:txBody>
      </p:sp>
      <p:sp>
        <p:nvSpPr>
          <p:cNvPr id="455" name="Google Shape;455;p49"/>
          <p:cNvSpPr/>
          <p:nvPr/>
        </p:nvSpPr>
        <p:spPr>
          <a:xfrm>
            <a:off x="658368" y="263880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6" name="Google Shape;456;p49"/>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Facts and numbers you collect, like answers to a survey.</a:t>
            </a:r>
            <a:endParaRPr/>
          </a:p>
        </p:txBody>
      </p:sp>
      <p:sp>
        <p:nvSpPr>
          <p:cNvPr id="457" name="Google Shape;457;p49"/>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8" name="Google Shape;458;p49"/>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9" name="Google Shape;459;p49"/>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60" name="Google Shape;460;p49"/>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Player heights: 60 in, 63 in, 58 in, 65 in — four different measurements</a:t>
            </a:r>
            <a:endParaRPr/>
          </a:p>
        </p:txBody>
      </p:sp>
      <p:pic>
        <p:nvPicPr>
          <p:cNvPr descr="data.png" id="461" name="Google Shape;461;p49"/>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11 / 50</a:t>
            </a:r>
          </a:p>
        </p:txBody>
      </p:sp>
      <p:sp xmlns:p="http://schemas.openxmlformats.org/presentationml/2006/main" xmlns:a="http://schemas.openxmlformats.org/drawingml/2006/main">
        <p:nvSpPr>
          <p:cNvPr id="462"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“Data” to explain the example. Point to evidence.</a:t>
            </a:r>
            <a:endParaRPr lang="en-US" sz="200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66" name="Google Shape;466;p50"/>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7" name="Google Shape;467;p50"/>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8" name="Google Shape;468;p50"/>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5 of 7</a:t>
            </a:r>
            <a:endParaRPr/>
          </a:p>
        </p:txBody>
      </p:sp>
      <p:sp>
        <p:nvSpPr>
          <p:cNvPr id="469" name="Google Shape;469;p50"/>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2-1 · Understand Statistical Questions</a:t>
            </a:r>
            <a:endParaRPr/>
          </a:p>
        </p:txBody>
      </p:sp>
      <p:sp>
        <p:nvSpPr>
          <p:cNvPr id="470" name="Google Shape;470;p50"/>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1" name="Google Shape;471;p50"/>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72" name="Google Shape;472;p50"/>
          <p:cNvSpPr txBox="1"/>
          <p:nvPr/>
        </p:nvSpPr>
        <p:spPr>
          <a:xfrm>
            <a:off x="640080" y="197967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Variability</a:t>
            </a:r>
            <a:endParaRPr/>
          </a:p>
        </p:txBody>
      </p:sp>
      <p:sp>
        <p:nvSpPr>
          <p:cNvPr id="473" name="Google Shape;473;p50"/>
          <p:cNvSpPr/>
          <p:nvPr/>
        </p:nvSpPr>
        <p:spPr>
          <a:xfrm>
            <a:off x="658368" y="2814828"/>
            <a:ext cx="1307592"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4" name="Google Shape;474;p50"/>
          <p:cNvSpPr txBox="1"/>
          <p:nvPr/>
        </p:nvSpPr>
        <p:spPr>
          <a:xfrm>
            <a:off x="640080" y="317601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How spread out the numbers are.</a:t>
            </a:r>
            <a:endParaRPr/>
          </a:p>
        </p:txBody>
      </p:sp>
      <p:sp>
        <p:nvSpPr>
          <p:cNvPr id="475" name="Google Shape;475;p50"/>
          <p:cNvSpPr/>
          <p:nvPr/>
        </p:nvSpPr>
        <p:spPr>
          <a:xfrm>
            <a:off x="640080" y="3948684"/>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6" name="Google Shape;476;p50"/>
          <p:cNvSpPr/>
          <p:nvPr/>
        </p:nvSpPr>
        <p:spPr>
          <a:xfrm>
            <a:off x="640080" y="3948684"/>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7" name="Google Shape;477;p50"/>
          <p:cNvSpPr txBox="1"/>
          <p:nvPr/>
        </p:nvSpPr>
        <p:spPr>
          <a:xfrm>
            <a:off x="932688" y="412242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78" name="Google Shape;478;p50"/>
          <p:cNvSpPr txBox="1"/>
          <p:nvPr/>
        </p:nvSpPr>
        <p:spPr>
          <a:xfrm>
            <a:off x="932688" y="4424172"/>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Scores 10, 12, 11 are close together (low variability); scores 2, 15, 30 are far apart (high variability)</a:t>
            </a:r>
            <a:endParaRPr/>
          </a:p>
        </p:txBody>
      </p:sp>
      <p:pic>
        <p:nvPicPr>
          <p:cNvPr descr="spread.png" id="479" name="Google Shape;479;p50"/>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12 / 50</a:t>
            </a:r>
          </a:p>
        </p:txBody>
      </p:sp>
      <p:sp xmlns:p="http://schemas.openxmlformats.org/presentationml/2006/main" xmlns:a="http://schemas.openxmlformats.org/drawingml/2006/main">
        <p:nvSpPr>
          <p:cNvPr id="480"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“Variability” to explain the example. Point to evidence.</a:t>
            </a:r>
            <a:endParaRPr lang="en-US" sz="200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84" name="Google Shape;484;p51"/>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5" name="Google Shape;485;p51"/>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6" name="Google Shape;486;p51"/>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6 of 7</a:t>
            </a:r>
            <a:endParaRPr/>
          </a:p>
        </p:txBody>
      </p:sp>
      <p:sp>
        <p:nvSpPr>
          <p:cNvPr id="487" name="Google Shape;487;p51"/>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2-1 · Understand Statistical Questions</a:t>
            </a:r>
            <a:endParaRPr/>
          </a:p>
        </p:txBody>
      </p:sp>
      <p:sp>
        <p:nvSpPr>
          <p:cNvPr id="488" name="Google Shape;488;p51"/>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9" name="Google Shape;489;p51"/>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90" name="Google Shape;490;p51"/>
          <p:cNvSpPr txBox="1"/>
          <p:nvPr/>
        </p:nvSpPr>
        <p:spPr>
          <a:xfrm>
            <a:off x="640080" y="197967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Survey</a:t>
            </a:r>
            <a:endParaRPr/>
          </a:p>
        </p:txBody>
      </p:sp>
      <p:sp>
        <p:nvSpPr>
          <p:cNvPr id="491" name="Google Shape;491;p51"/>
          <p:cNvSpPr/>
          <p:nvPr/>
        </p:nvSpPr>
        <p:spPr>
          <a:xfrm>
            <a:off x="658368" y="2814828"/>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2" name="Google Shape;492;p51"/>
          <p:cNvSpPr txBox="1"/>
          <p:nvPr/>
        </p:nvSpPr>
        <p:spPr>
          <a:xfrm>
            <a:off x="640080" y="317601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Collecting facts by asking people questions.</a:t>
            </a:r>
            <a:endParaRPr/>
          </a:p>
        </p:txBody>
      </p:sp>
      <p:sp>
        <p:nvSpPr>
          <p:cNvPr id="493" name="Google Shape;493;p51"/>
          <p:cNvSpPr/>
          <p:nvPr/>
        </p:nvSpPr>
        <p:spPr>
          <a:xfrm>
            <a:off x="640080" y="3948684"/>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4" name="Google Shape;494;p51"/>
          <p:cNvSpPr/>
          <p:nvPr/>
        </p:nvSpPr>
        <p:spPr>
          <a:xfrm>
            <a:off x="640080" y="3948684"/>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5" name="Google Shape;495;p51"/>
          <p:cNvSpPr txBox="1"/>
          <p:nvPr/>
        </p:nvSpPr>
        <p:spPr>
          <a:xfrm>
            <a:off x="932688" y="412242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96" name="Google Shape;496;p51"/>
          <p:cNvSpPr txBox="1"/>
          <p:nvPr/>
        </p:nvSpPr>
        <p:spPr>
          <a:xfrm>
            <a:off x="932688" y="4424172"/>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Asking 50 students ‘What is your favorite sport?’ and recording the answers</a:t>
            </a:r>
            <a:endParaRPr/>
          </a:p>
        </p:txBody>
      </p:sp>
      <p:pic>
        <p:nvPicPr>
          <p:cNvPr descr="data.png" id="497" name="Google Shape;497;p51"/>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13 / 50</a:t>
            </a:r>
          </a:p>
        </p:txBody>
      </p:sp>
      <p:sp xmlns:p="http://schemas.openxmlformats.org/presentationml/2006/main" xmlns:a="http://schemas.openxmlformats.org/drawingml/2006/main">
        <p:nvSpPr>
          <p:cNvPr id="498"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“Survey” to explain the example. Point to evidence.</a:t>
            </a:r>
            <a:endParaRPr lang="en-US" sz="200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02" name="Google Shape;502;p52"/>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3" name="Google Shape;503;p52"/>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4" name="Google Shape;504;p52"/>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7 of 7</a:t>
            </a:r>
            <a:endParaRPr/>
          </a:p>
        </p:txBody>
      </p:sp>
      <p:sp>
        <p:nvSpPr>
          <p:cNvPr id="505" name="Google Shape;505;p52"/>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2-1 · Understand Statistical Questions</a:t>
            </a:r>
            <a:endParaRPr/>
          </a:p>
        </p:txBody>
      </p:sp>
      <p:sp>
        <p:nvSpPr>
          <p:cNvPr id="506" name="Google Shape;506;p52"/>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7" name="Google Shape;507;p52"/>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508" name="Google Shape;508;p52"/>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Data distribution</a:t>
            </a:r>
            <a:endParaRPr/>
          </a:p>
        </p:txBody>
      </p:sp>
      <p:sp>
        <p:nvSpPr>
          <p:cNvPr id="509" name="Google Shape;509;p52"/>
          <p:cNvSpPr/>
          <p:nvPr/>
        </p:nvSpPr>
        <p:spPr>
          <a:xfrm>
            <a:off x="658368" y="2638806"/>
            <a:ext cx="2020824"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0" name="Google Shape;510;p52"/>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How the data looks: where it sits and how spread out it is.</a:t>
            </a:r>
            <a:endParaRPr/>
          </a:p>
        </p:txBody>
      </p:sp>
      <p:sp>
        <p:nvSpPr>
          <p:cNvPr id="511" name="Google Shape;511;p52"/>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2" name="Google Shape;512;p52"/>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3" name="Google Shape;513;p52"/>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514" name="Google Shape;514;p52"/>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If most scores cluster in the middle with fewer at the edges, the distribution is symmetric</a:t>
            </a:r>
            <a:endParaRPr/>
          </a:p>
        </p:txBody>
      </p:sp>
      <p:pic>
        <p:nvPicPr>
          <p:cNvPr descr="distribution.png" id="515" name="Google Shape;515;p52"/>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14 / 50</a:t>
            </a:r>
          </a:p>
        </p:txBody>
      </p:sp>
      <p:sp xmlns:p="http://schemas.openxmlformats.org/presentationml/2006/main" xmlns:a="http://schemas.openxmlformats.org/drawingml/2006/main">
        <p:nvSpPr>
          <p:cNvPr id="516"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“Data distribution”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45"/>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7" name="Google Shape;357;p45"/>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8" name="Google Shape;358;p45"/>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a:t>
            </a:r>
            <a:endParaRPr/>
          </a:p>
        </p:txBody>
      </p:sp>
      <p:sp>
        <p:nvSpPr>
          <p:cNvPr id="359" name="Google Shape;359;p45"/>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400" u="none" cap="none" strike="noStrike">
                <a:solidFill>
                  <a:srgbClr val="FFFFFF"/>
                </a:solidFill>
                <a:latin typeface="Arial"/>
                <a:ea typeface="Arial"/>
                <a:cs typeface="Arial"/>
                <a:sym typeface="Arial"/>
              </a:rPr>
              <a:t>Lesson 2-1 · Understand Statistical Questions</a:t>
            </a:r>
            <a:endParaRPr/>
          </a:p>
        </p:txBody>
      </p:sp>
      <p:sp>
        <p:nvSpPr>
          <p:cNvPr id="360" name="Google Shape;360;p45"/>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1" name="Google Shape;361;p45"/>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362" name="Google Shape;362;p45"/>
          <p:cNvSpPr txBox="1"/>
          <p:nvPr/>
        </p:nvSpPr>
        <p:spPr>
          <a:xfrm>
            <a:off x="640080" y="1005840"/>
            <a:ext cx="10911809" cy="5120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400" u="none" cap="none" strike="noStrike">
                <a:solidFill>
                  <a:srgbClr val="14223A"/>
                </a:solidFill>
                <a:latin typeface="Arial"/>
                <a:ea typeface="Arial"/>
                <a:cs typeface="Arial"/>
                <a:sym typeface="Arial"/>
              </a:rPr>
              <a:t>Today’s Math Words</a:t>
            </a:r>
            <a:endParaRPr/>
          </a:p>
        </p:txBody>
      </p:sp>
      <p:sp>
        <p:nvSpPr>
          <p:cNvPr id="363" name="Google Shape;363;p45"/>
          <p:cNvSpPr txBox="1"/>
          <p:nvPr/>
        </p:nvSpPr>
        <p:spPr>
          <a:xfrm>
            <a:off x="640080" y="1591056"/>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400" u="none" cap="none" strike="noStrike">
                <a:solidFill>
                  <a:srgbClr val="475569"/>
                </a:solidFill>
                <a:latin typeface="Arial"/>
                <a:ea typeface="Arial"/>
                <a:cs typeface="Arial"/>
                <a:sym typeface="Arial"/>
              </a:rPr>
              <a:t>We learn every word — what it means and what it looks like — before we use it.</a:t>
            </a:r>
            <a:endParaRPr/>
          </a:p>
        </p:txBody>
      </p:sp>
      <p:sp>
        <p:nvSpPr>
          <p:cNvPr id="364" name="Google Shape;364;p45"/>
          <p:cNvSpPr/>
          <p:nvPr/>
        </p:nvSpPr>
        <p:spPr>
          <a:xfrm>
            <a:off x="640080" y="210312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5" name="Google Shape;365;p45"/>
          <p:cNvSpPr/>
          <p:nvPr/>
        </p:nvSpPr>
        <p:spPr>
          <a:xfrm>
            <a:off x="640080" y="210312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6" name="Google Shape;366;p45"/>
          <p:cNvSpPr txBox="1"/>
          <p:nvPr/>
        </p:nvSpPr>
        <p:spPr>
          <a:xfrm>
            <a:off x="950976"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Statistical Questions and Data</a:t>
            </a:r>
            <a:endParaRPr/>
          </a:p>
        </p:txBody>
      </p:sp>
      <p:sp>
        <p:nvSpPr>
          <p:cNvPr id="367" name="Google Shape;367;p45"/>
          <p:cNvSpPr txBox="1"/>
          <p:nvPr/>
        </p:nvSpPr>
        <p:spPr>
          <a:xfrm>
            <a:off x="950976" y="257860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100" u="none" cap="none" strike="noStrike">
                <a:solidFill>
                  <a:srgbClr val="475569"/>
                </a:solidFill>
                <a:latin typeface="Arial"/>
                <a:ea typeface="Arial"/>
                <a:cs typeface="Arial"/>
                <a:sym typeface="Arial"/>
              </a:rPr>
              <a:t>A statistical question expects varied answers that can be collected as data</a:t>
            </a:r>
            <a:endParaRPr/>
          </a:p>
        </p:txBody>
      </p:sp>
      <p:sp>
        <p:nvSpPr>
          <p:cNvPr id="368" name="Google Shape;368;p45"/>
          <p:cNvSpPr/>
          <p:nvPr/>
        </p:nvSpPr>
        <p:spPr>
          <a:xfrm>
            <a:off x="6260576" y="210312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9" name="Google Shape;369;p45"/>
          <p:cNvSpPr/>
          <p:nvPr/>
        </p:nvSpPr>
        <p:spPr>
          <a:xfrm>
            <a:off x="6260576" y="210312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0" name="Google Shape;370;p45"/>
          <p:cNvSpPr txBox="1"/>
          <p:nvPr/>
        </p:nvSpPr>
        <p:spPr>
          <a:xfrm>
            <a:off x="6571472"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Statistical Question</a:t>
            </a:r>
            <a:endParaRPr/>
          </a:p>
        </p:txBody>
      </p:sp>
      <p:sp>
        <p:nvSpPr>
          <p:cNvPr id="371" name="Google Shape;371;p45"/>
          <p:cNvSpPr txBox="1"/>
          <p:nvPr/>
        </p:nvSpPr>
        <p:spPr>
          <a:xfrm>
            <a:off x="6571472" y="257860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A question where the answers will be different for different people</a:t>
            </a:r>
            <a:endParaRPr/>
          </a:p>
        </p:txBody>
      </p:sp>
      <p:sp>
        <p:nvSpPr>
          <p:cNvPr id="372" name="Google Shape;372;p45"/>
          <p:cNvSpPr/>
          <p:nvPr/>
        </p:nvSpPr>
        <p:spPr>
          <a:xfrm>
            <a:off x="640080" y="3177539"/>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3" name="Google Shape;373;p45"/>
          <p:cNvSpPr/>
          <p:nvPr/>
        </p:nvSpPr>
        <p:spPr>
          <a:xfrm>
            <a:off x="640080" y="3177539"/>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4" name="Google Shape;374;p45"/>
          <p:cNvSpPr txBox="1"/>
          <p:nvPr/>
        </p:nvSpPr>
        <p:spPr>
          <a:xfrm>
            <a:off x="950976" y="331469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Non-statistical Question</a:t>
            </a:r>
            <a:endParaRPr/>
          </a:p>
        </p:txBody>
      </p:sp>
      <p:sp>
        <p:nvSpPr>
          <p:cNvPr id="375" name="Google Shape;375;p45"/>
          <p:cNvSpPr txBox="1"/>
          <p:nvPr/>
        </p:nvSpPr>
        <p:spPr>
          <a:xfrm>
            <a:off x="950976" y="3653027"/>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100" u="none" cap="none" strike="noStrike">
                <a:solidFill>
                  <a:srgbClr val="475569"/>
                </a:solidFill>
                <a:latin typeface="Arial"/>
                <a:ea typeface="Arial"/>
                <a:cs typeface="Arial"/>
                <a:sym typeface="Arial"/>
              </a:rPr>
              <a:t>A question that has just one fixed answer that is the same no matter who you ask, so there is no data to collect</a:t>
            </a:r>
            <a:endParaRPr/>
          </a:p>
        </p:txBody>
      </p:sp>
      <p:sp>
        <p:nvSpPr>
          <p:cNvPr id="376" name="Google Shape;376;p45"/>
          <p:cNvSpPr/>
          <p:nvPr/>
        </p:nvSpPr>
        <p:spPr>
          <a:xfrm>
            <a:off x="6260576" y="3177539"/>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7" name="Google Shape;377;p45"/>
          <p:cNvSpPr/>
          <p:nvPr/>
        </p:nvSpPr>
        <p:spPr>
          <a:xfrm>
            <a:off x="6260576" y="3177539"/>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8" name="Google Shape;378;p45"/>
          <p:cNvSpPr txBox="1"/>
          <p:nvPr/>
        </p:nvSpPr>
        <p:spPr>
          <a:xfrm>
            <a:off x="6571472" y="331469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Data</a:t>
            </a:r>
            <a:endParaRPr/>
          </a:p>
        </p:txBody>
      </p:sp>
      <p:sp>
        <p:nvSpPr>
          <p:cNvPr id="379" name="Google Shape;379;p45"/>
          <p:cNvSpPr txBox="1"/>
          <p:nvPr/>
        </p:nvSpPr>
        <p:spPr>
          <a:xfrm>
            <a:off x="6571472" y="3653027"/>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Facts and numbers you collect, like answers to a survey</a:t>
            </a:r>
            <a:endParaRPr/>
          </a:p>
        </p:txBody>
      </p:sp>
      <p:sp>
        <p:nvSpPr>
          <p:cNvPr id="380" name="Google Shape;380;p45"/>
          <p:cNvSpPr/>
          <p:nvPr/>
        </p:nvSpPr>
        <p:spPr>
          <a:xfrm>
            <a:off x="640080" y="425196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1" name="Google Shape;381;p45"/>
          <p:cNvSpPr/>
          <p:nvPr/>
        </p:nvSpPr>
        <p:spPr>
          <a:xfrm>
            <a:off x="640080" y="425196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2" name="Google Shape;382;p45"/>
          <p:cNvSpPr txBox="1"/>
          <p:nvPr/>
        </p:nvSpPr>
        <p:spPr>
          <a:xfrm>
            <a:off x="950976" y="438912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Variability</a:t>
            </a:r>
            <a:endParaRPr/>
          </a:p>
        </p:txBody>
      </p:sp>
      <p:sp>
        <p:nvSpPr>
          <p:cNvPr id="383" name="Google Shape;383;p45"/>
          <p:cNvSpPr txBox="1"/>
          <p:nvPr/>
        </p:nvSpPr>
        <p:spPr>
          <a:xfrm>
            <a:off x="950976" y="472744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How spread out the numbers are</a:t>
            </a:r>
            <a:endParaRPr/>
          </a:p>
        </p:txBody>
      </p:sp>
      <p:sp>
        <p:nvSpPr>
          <p:cNvPr id="384" name="Google Shape;384;p45"/>
          <p:cNvSpPr/>
          <p:nvPr/>
        </p:nvSpPr>
        <p:spPr>
          <a:xfrm>
            <a:off x="6260576" y="425196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5" name="Google Shape;385;p45"/>
          <p:cNvSpPr/>
          <p:nvPr/>
        </p:nvSpPr>
        <p:spPr>
          <a:xfrm>
            <a:off x="6260576" y="425196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6" name="Google Shape;386;p45"/>
          <p:cNvSpPr txBox="1"/>
          <p:nvPr/>
        </p:nvSpPr>
        <p:spPr>
          <a:xfrm>
            <a:off x="6571472" y="438912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Survey</a:t>
            </a:r>
            <a:endParaRPr/>
          </a:p>
        </p:txBody>
      </p:sp>
      <p:sp>
        <p:nvSpPr>
          <p:cNvPr id="387" name="Google Shape;387;p45"/>
          <p:cNvSpPr txBox="1"/>
          <p:nvPr/>
        </p:nvSpPr>
        <p:spPr>
          <a:xfrm>
            <a:off x="6571472" y="472744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Collecting facts by asking people questions</a:t>
            </a:r>
            <a:endParaRPr/>
          </a:p>
        </p:txBody>
      </p:sp>
      <p:sp>
        <p:nvSpPr>
          <p:cNvPr id="388" name="Google Shape;388;p45"/>
          <p:cNvSpPr/>
          <p:nvPr/>
        </p:nvSpPr>
        <p:spPr>
          <a:xfrm>
            <a:off x="640080" y="532638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9" name="Google Shape;389;p45"/>
          <p:cNvSpPr/>
          <p:nvPr/>
        </p:nvSpPr>
        <p:spPr>
          <a:xfrm>
            <a:off x="640080" y="532638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0" name="Google Shape;390;p45"/>
          <p:cNvSpPr txBox="1"/>
          <p:nvPr/>
        </p:nvSpPr>
        <p:spPr>
          <a:xfrm>
            <a:off x="950976" y="546354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Data distribution</a:t>
            </a:r>
            <a:endParaRPr/>
          </a:p>
        </p:txBody>
      </p:sp>
      <p:sp>
        <p:nvSpPr>
          <p:cNvPr id="391" name="Google Shape;391;p45"/>
          <p:cNvSpPr txBox="1"/>
          <p:nvPr/>
        </p:nvSpPr>
        <p:spPr>
          <a:xfrm>
            <a:off x="950976" y="580186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How the data looks: where it sits and how spread out it is</a:t>
            </a:r>
            <a:endParaRPr/>
          </a:p>
        </p:txBody>
      </p:sp>
      <p:sp>
        <p:nvSpPr>
          <p:cNvPr id="39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15 / 50</a:t>
            </a:r>
          </a:p>
        </p:txBody>
      </p:sp>
      <p:sp xmlns:p="http://schemas.openxmlformats.org/presentationml/2006/main" xmlns:a="http://schemas.openxmlformats.org/drawingml/2006/main">
        <p:nvSpPr>
          <p:cNvPr id="393" name="TEACH-embedded-student-prompt" descr="Student thinking and response directions"/>
          <p:cNvSpPr txBox="1"/>
          <p:nvPr/>
        </p:nvSpPr>
        <p:spPr>
          <a:xfrm>
            <a:off x="6111240" y="55046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one math word using the example.</a:t>
            </a:r>
            <a:endParaRPr lang="en-US" sz="2000"/>
          </a:p>
          <a:p>
            <a:pPr>
              <a:lnSpc>
                <a:spcPts val="2400"/>
              </a:lnSpc>
              <a:buNone/>
            </a:pPr>
            <a:r>
              <a:rPr lang="en-US" sz="2000">
                <a:solidFill>
                  <a:srgbClr val="174D60"/>
                </a:solidFill>
                <a:latin typeface="Arial"/>
              </a:rPr>
              <a:t>Partner: point to evidence.</a:t>
            </a:r>
            <a:endParaRPr lang="en-US" sz="2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cxnSp>
        <p:nvCxnSpPr>
          <p:cNvPr id="582" name="Google Shape;582;p5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83" name="Google Shape;583;p56"/>
          <p:cNvSpPr txBox="1"/>
          <p:nvPr/>
        </p:nvSpPr>
        <p:spPr>
          <a:xfrm>
            <a:off x="474055" y="936100"/>
            <a:ext cx="3904129" cy="122933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What do you notice?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What do you wonder?</a:t>
            </a:r>
            <a:endParaRPr b="0" i="0" sz="1400" u="none" cap="none" strike="noStrike">
              <a:solidFill>
                <a:srgbClr val="000000"/>
              </a:solidFill>
              <a:latin typeface="Arial"/>
              <a:ea typeface="Arial"/>
              <a:cs typeface="Arial"/>
              <a:sym typeface="Arial"/>
            </a:endParaRPr>
          </a:p>
        </p:txBody>
      </p:sp>
      <p:sp>
        <p:nvSpPr>
          <p:cNvPr id="584" name="Google Shape;584;p56"/>
          <p:cNvSpPr txBox="1"/>
          <p:nvPr/>
        </p:nvSpPr>
        <p:spPr>
          <a:xfrm>
            <a:off x="484560"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pic>
        <p:nvPicPr>
          <p:cNvPr descr="A picture containing text, mountain, valley, canyon&#10;&#10;Description automatically generated" id="585" name="Google Shape;585;p56"/>
          <p:cNvPicPr preferRelativeResize="0"/>
          <p:nvPr/>
        </p:nvPicPr>
        <p:blipFill rotWithShape="1">
          <a:blip r:embed="rId3">
            <a:alphaModFix/>
          </a:blip>
          <a:srcRect b="0" l="0" r="0" t="0"/>
          <a:stretch/>
        </p:blipFill>
        <p:spPr>
          <a:xfrm>
            <a:off x="4827040" y="1317017"/>
            <a:ext cx="6174554" cy="3328477"/>
          </a:xfrm>
          <a:prstGeom prst="rect">
            <a:avLst/>
          </a:prstGeom>
          <a:noFill/>
          <a:ln>
            <a:noFill/>
          </a:ln>
        </p:spPr>
      </p:pic>
      <p:pic>
        <p:nvPicPr>
          <p:cNvPr id="586" name="Google Shape;586;p56"/>
          <p:cNvPicPr preferRelativeResize="0"/>
          <p:nvPr/>
        </p:nvPicPr>
        <p:blipFill rotWithShape="1">
          <a:blip r:embed="rId4">
            <a:alphaModFix/>
          </a:blip>
          <a:srcRect b="0" l="0" r="0" t="0"/>
          <a:stretch/>
        </p:blipFill>
        <p:spPr>
          <a:xfrm>
            <a:off x="474055" y="5083700"/>
            <a:ext cx="5054600" cy="838200"/>
          </a:xfrm>
          <a:prstGeom prst="rect">
            <a:avLst/>
          </a:prstGeom>
          <a:noFill/>
          <a:ln>
            <a:noFill/>
          </a:ln>
        </p:spPr>
      </p:pic>
      <p:sp>
        <p:nvSpPr>
          <p:cNvPr id="587" name="Google Shape;587;p56"/>
          <p:cNvSpPr txBox="1"/>
          <p:nvPr/>
        </p:nvSpPr>
        <p:spPr>
          <a:xfrm>
            <a:off x="3334072" y="5241018"/>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588" name="Google Shape;588;p56"/>
          <p:cNvSpPr/>
          <p:nvPr/>
        </p:nvSpPr>
        <p:spPr>
          <a:xfrm>
            <a:off x="687251" y="5899023"/>
            <a:ext cx="10741420"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What do you want your classmates to know about your math journey?</a:t>
            </a:r>
            <a:endParaRPr b="0" i="0" sz="1400" u="none" cap="none" strike="noStrike">
              <a:solidFill>
                <a:srgbClr val="000000"/>
              </a:solidFill>
              <a:latin typeface="Arial"/>
              <a:ea typeface="Arial"/>
              <a:cs typeface="Arial"/>
              <a:sym typeface="Arial"/>
            </a:endParaRPr>
          </a:p>
        </p:txBody>
      </p:sp>
      <p:sp>
        <p:nvSpPr>
          <p:cNvPr id="58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16 / 50</a:t>
            </a:r>
          </a:p>
        </p:txBody>
      </p:sp>
      <p:sp xmlns:p="http://schemas.openxmlformats.org/presentationml/2006/main" xmlns:a="http://schemas.openxmlformats.org/drawingml/2006/main">
        <p:nvSpPr>
          <p:cNvPr id="590" name="TEACH-embedded-student-prompt" descr="Student thinking and response directions"/>
          <p:cNvSpPr txBox="1"/>
          <p:nvPr/>
        </p:nvSpPr>
        <p:spPr>
          <a:xfrm>
            <a:off x="6111240" y="49560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a:t>
            </a:r>
            <a:endParaRPr lang="en-US" sz="2000"/>
          </a:p>
          <a:p>
            <a:pPr>
              <a:lnSpc>
                <a:spcPts val="2400"/>
              </a:lnSpc>
              <a:buNone/>
            </a:pPr>
            <a:r>
              <a:rPr lang="en-US" sz="2000">
                <a:solidFill>
                  <a:srgbClr val="174D60"/>
                </a:solidFill>
                <a:latin typeface="Arial"/>
              </a:rPr>
              <a:t>build on a classmate’s idea.</a:t>
            </a:r>
            <a:endParaRPr lang="en-US" sz="20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cxnSp>
        <p:nvCxnSpPr>
          <p:cNvPr id="604" name="Google Shape;604;p5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05" name="Google Shape;605;p58"/>
          <p:cNvSpPr txBox="1"/>
          <p:nvPr/>
        </p:nvSpPr>
        <p:spPr>
          <a:xfrm>
            <a:off x="484565" y="1143000"/>
            <a:ext cx="6795124" cy="2492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400"/>
              <a:buFont typeface="Arial"/>
              <a:buNone/>
              <a:defRPr/>
            </a:pPr>
            <a:r>
              <a:rPr b="0" i="0" lang="en-US" sz="2400" u="none" cap="none" strike="noStrike">
                <a:solidFill>
                  <a:srgbClr val="23282D"/>
                </a:solidFill>
                <a:latin typeface="Arial"/>
                <a:ea typeface="Arial"/>
                <a:cs typeface="Arial"/>
                <a:sym typeface="Arial"/>
              </a:rPr>
              <a:t>Diamond surveyed her classmates about U.S. National Parks and organized the data.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400"/>
              <a:buFont typeface="Arial"/>
              <a:buNone/>
              <a:defRPr/>
            </a:pPr>
            <a:r>
              <a:rPr b="1" i="0" lang="en-US" sz="2400" u="none" cap="none" strike="noStrike">
                <a:solidFill>
                  <a:srgbClr val="23282D"/>
                </a:solidFill>
                <a:latin typeface="Arial"/>
                <a:ea typeface="Arial"/>
                <a:cs typeface="Arial"/>
                <a:sym typeface="Arial"/>
              </a:rPr>
              <a:t>Which of these questions could Diamond have asked her classmates?</a:t>
            </a:r>
            <a:endParaRPr b="0" i="0" sz="1400" u="none" cap="none" strike="noStrike">
              <a:solidFill>
                <a:srgbClr val="000000"/>
              </a:solidFill>
              <a:latin typeface="Arial"/>
              <a:ea typeface="Arial"/>
              <a:cs typeface="Arial"/>
              <a:sym typeface="Arial"/>
            </a:endParaRPr>
          </a:p>
        </p:txBody>
      </p:sp>
      <p:sp>
        <p:nvSpPr>
          <p:cNvPr id="606" name="Google Shape;606;p58"/>
          <p:cNvSpPr txBox="1"/>
          <p:nvPr/>
        </p:nvSpPr>
        <p:spPr>
          <a:xfrm>
            <a:off x="484565" y="31603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U.S. National Parks</a:t>
            </a:r>
            <a:endParaRPr b="0" i="0" sz="2800" u="none" cap="none" strike="noStrike">
              <a:solidFill>
                <a:srgbClr val="782DA0"/>
              </a:solidFill>
              <a:latin typeface="Arial"/>
              <a:ea typeface="Arial"/>
              <a:cs typeface="Arial"/>
              <a:sym typeface="Arial"/>
            </a:endParaRPr>
          </a:p>
          <a:p>
            <a:pPr indent="0" lvl="0" marL="0" marR="0" rtl="0" algn="l">
              <a:lnSpc>
                <a:spcPct val="90000"/>
              </a:lnSpc>
              <a:spcBef>
                <a:spcPts val="0"/>
              </a:spcBef>
              <a:spcAft>
                <a:spcPts val="0"/>
              </a:spcAft>
              <a:buClr>
                <a:schemeClr val="dk2"/>
              </a:buClr>
              <a:buSzPts val="2800"/>
              <a:buFont typeface="Calibri"/>
              <a:buNone/>
              <a:defRPr/>
            </a:pPr>
            <a:r>
              <a:rPr/>
              <a:t/>
            </a:r>
            <a:endParaRPr b="1" i="0" sz="2800" u="none" cap="none" strike="noStrike">
              <a:solidFill>
                <a:schemeClr val="dk1"/>
              </a:solidFill>
              <a:latin typeface="Arial"/>
              <a:ea typeface="Arial"/>
              <a:cs typeface="Arial"/>
              <a:sym typeface="Arial"/>
            </a:endParaRPr>
          </a:p>
        </p:txBody>
      </p:sp>
      <p:pic>
        <p:nvPicPr>
          <p:cNvPr id="607" name="Google Shape;607;p58"/>
          <p:cNvPicPr preferRelativeResize="0"/>
          <p:nvPr/>
        </p:nvPicPr>
        <p:blipFill rotWithShape="1">
          <a:blip r:embed="rId3">
            <a:alphaModFix/>
          </a:blip>
          <a:srcRect b="0" l="0" r="0" t="0"/>
          <a:stretch/>
        </p:blipFill>
        <p:spPr>
          <a:xfrm>
            <a:off x="7279689" y="1603945"/>
            <a:ext cx="4623498" cy="2175764"/>
          </a:xfrm>
          <a:prstGeom prst="rect">
            <a:avLst/>
          </a:prstGeom>
          <a:noFill/>
          <a:ln>
            <a:noFill/>
          </a:ln>
        </p:spPr>
      </p:pic>
      <p:sp>
        <p:nvSpPr>
          <p:cNvPr id="608" name="Google Shape;608;p58"/>
          <p:cNvSpPr txBox="1"/>
          <p:nvPr/>
        </p:nvSpPr>
        <p:spPr>
          <a:xfrm>
            <a:off x="484565" y="2969113"/>
            <a:ext cx="6795124" cy="3461539"/>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262626"/>
              </a:buClr>
              <a:buSzPts val="2400"/>
              <a:buFont typeface="Arial"/>
              <a:buChar char="•"/>
              <a:defRPr/>
            </a:pPr>
            <a:r>
              <a:rPr b="0" i="0" lang="en-US" sz="2400" u="none" cap="none" strike="noStrike">
                <a:solidFill>
                  <a:srgbClr val="23282D"/>
                </a:solidFill>
                <a:latin typeface="Arial"/>
                <a:ea typeface="Arial"/>
                <a:cs typeface="Arial"/>
                <a:sym typeface="Arial"/>
              </a:rPr>
              <a:t>What is your favorite national park?</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200"/>
              </a:spcBef>
              <a:spcAft>
                <a:spcPts val="0"/>
              </a:spcAft>
              <a:buClr>
                <a:srgbClr val="262626"/>
              </a:buClr>
              <a:buSzPts val="2400"/>
              <a:buFont typeface="Arial"/>
              <a:buChar char="•"/>
              <a:defRPr/>
            </a:pPr>
            <a:r>
              <a:rPr b="0" i="0" lang="en-US" sz="2400" u="none" cap="none" strike="noStrike">
                <a:solidFill>
                  <a:srgbClr val="23282D"/>
                </a:solidFill>
                <a:latin typeface="Arial"/>
                <a:ea typeface="Arial"/>
                <a:cs typeface="Arial"/>
                <a:sym typeface="Arial"/>
              </a:rPr>
              <a:t>Which national park have you visited?</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200"/>
              </a:spcBef>
              <a:spcAft>
                <a:spcPts val="0"/>
              </a:spcAft>
              <a:buClr>
                <a:srgbClr val="262626"/>
              </a:buClr>
              <a:buSzPts val="2400"/>
              <a:buFont typeface="Arial"/>
              <a:buChar char="•"/>
              <a:defRPr/>
            </a:pPr>
            <a:r>
              <a:rPr b="0" i="0" lang="en-US" sz="2400" u="none" cap="none" strike="noStrike">
                <a:solidFill>
                  <a:srgbClr val="23282D"/>
                </a:solidFill>
                <a:latin typeface="Arial"/>
                <a:ea typeface="Arial"/>
                <a:cs typeface="Arial"/>
                <a:sym typeface="Arial"/>
              </a:rPr>
              <a:t>In what state is Acadia National Park found?</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200"/>
              </a:spcBef>
              <a:spcAft>
                <a:spcPts val="0"/>
              </a:spcAft>
              <a:buClr>
                <a:srgbClr val="262626"/>
              </a:buClr>
              <a:buSzPts val="2400"/>
              <a:buFont typeface="Arial"/>
              <a:buChar char="•"/>
              <a:defRPr/>
            </a:pPr>
            <a:r>
              <a:rPr b="0" i="0" lang="en-US" sz="2400" u="none" cap="none" strike="noStrike">
                <a:solidFill>
                  <a:srgbClr val="23282D"/>
                </a:solidFill>
                <a:latin typeface="Arial"/>
                <a:ea typeface="Arial"/>
                <a:cs typeface="Arial"/>
                <a:sym typeface="Arial"/>
              </a:rPr>
              <a:t>When was the Everglades made a national park?</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200"/>
              </a:spcBef>
              <a:spcAft>
                <a:spcPts val="0"/>
              </a:spcAft>
              <a:buClr>
                <a:srgbClr val="262626"/>
              </a:buClr>
              <a:buSzPts val="2400"/>
              <a:buFont typeface="Arial"/>
              <a:buChar char="•"/>
              <a:defRPr/>
            </a:pPr>
            <a:r>
              <a:rPr b="0" i="0" lang="en-US" sz="2400" u="none" cap="none" strike="noStrike">
                <a:solidFill>
                  <a:srgbClr val="23282D"/>
                </a:solidFill>
                <a:latin typeface="Arial"/>
                <a:ea typeface="Arial"/>
                <a:cs typeface="Arial"/>
                <a:sym typeface="Arial"/>
              </a:rPr>
              <a:t xml:space="preserve">Which national park would you like to visit? </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200"/>
              </a:spcBef>
              <a:spcAft>
                <a:spcPts val="0"/>
              </a:spcAft>
              <a:buClr>
                <a:srgbClr val="262626"/>
              </a:buClr>
              <a:buSzPts val="2400"/>
              <a:buFont typeface="Arial"/>
              <a:buChar char="•"/>
              <a:defRPr/>
            </a:pPr>
            <a:r>
              <a:rPr b="0" i="0" lang="en-US" sz="2400" u="none" cap="none" strike="noStrike">
                <a:solidFill>
                  <a:srgbClr val="23282D"/>
                </a:solidFill>
                <a:latin typeface="Arial"/>
                <a:ea typeface="Arial"/>
                <a:cs typeface="Arial"/>
                <a:sym typeface="Arial"/>
              </a:rPr>
              <a:t>Which national park is in Kentucky?</a:t>
            </a:r>
            <a:endParaRPr b="1" i="0" sz="2400" u="none" cap="none" strike="noStrike">
              <a:solidFill>
                <a:srgbClr val="262626"/>
              </a:solidFill>
              <a:latin typeface="Arial"/>
              <a:ea typeface="Arial"/>
              <a:cs typeface="Arial"/>
              <a:sym typeface="Arial"/>
            </a:endParaRPr>
          </a:p>
        </p:txBody>
      </p:sp>
      <p:pic>
        <p:nvPicPr>
          <p:cNvPr id="609" name="Google Shape;609;p58"/>
          <p:cNvPicPr preferRelativeResize="0"/>
          <p:nvPr/>
        </p:nvPicPr>
        <p:blipFill rotWithShape="1">
          <a:blip r:embed="rId4">
            <a:alphaModFix/>
          </a:blip>
          <a:srcRect b="0" l="0" r="0" t="0"/>
          <a:stretch/>
        </p:blipFill>
        <p:spPr>
          <a:xfrm>
            <a:off x="7538977" y="4147621"/>
            <a:ext cx="4364210" cy="723713"/>
          </a:xfrm>
          <a:prstGeom prst="rect">
            <a:avLst/>
          </a:prstGeom>
          <a:noFill/>
          <a:ln>
            <a:noFill/>
          </a:ln>
        </p:spPr>
      </p:pic>
      <p:sp>
        <p:nvSpPr>
          <p:cNvPr id="610" name="Google Shape;610;p58"/>
          <p:cNvSpPr/>
          <p:nvPr/>
        </p:nvSpPr>
        <p:spPr>
          <a:xfrm>
            <a:off x="7692358" y="4838556"/>
            <a:ext cx="4106707" cy="83099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defRPr/>
            </a:pPr>
            <a:r>
              <a:rPr b="0" i="0" lang="en-US" sz="2400" u="none" cap="none" strike="noStrike">
                <a:solidFill>
                  <a:srgbClr val="595959"/>
                </a:solidFill>
                <a:latin typeface="Arial"/>
                <a:ea typeface="Arial"/>
                <a:cs typeface="Arial"/>
                <a:sym typeface="Arial"/>
              </a:rPr>
              <a:t>What do you wonder about the problem?</a:t>
            </a:r>
            <a:endParaRPr b="0" i="0" sz="1400" u="none" cap="none" strike="noStrike">
              <a:solidFill>
                <a:srgbClr val="000000"/>
              </a:solidFill>
              <a:latin typeface="Arial"/>
              <a:ea typeface="Arial"/>
              <a:cs typeface="Arial"/>
              <a:sym typeface="Arial"/>
            </a:endParaRPr>
          </a:p>
        </p:txBody>
      </p:sp>
      <p:sp>
        <p:nvSpPr>
          <p:cNvPr id="611" name="Google Shape;611;p58"/>
          <p:cNvSpPr txBox="1"/>
          <p:nvPr/>
        </p:nvSpPr>
        <p:spPr>
          <a:xfrm>
            <a:off x="9696714" y="4259767"/>
            <a:ext cx="2495286"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400"/>
              <a:buFont typeface="Arial"/>
              <a:buNone/>
              <a:defRPr/>
            </a:pPr>
            <a:r>
              <a:rPr b="0" i="0" lang="en-US" sz="2400" u="none" cap="none" strike="noStrike">
                <a:solidFill>
                  <a:srgbClr val="23282D"/>
                </a:solidFill>
                <a:latin typeface="Arial"/>
                <a:ea typeface="Arial"/>
                <a:cs typeface="Arial"/>
                <a:sym typeface="Arial"/>
              </a:rPr>
              <a:t>Making Sense</a:t>
            </a:r>
            <a:endParaRPr b="0" i="0" sz="2400" u="none" cap="none" strike="noStrike">
              <a:solidFill>
                <a:srgbClr val="262626"/>
              </a:solidFill>
              <a:latin typeface="Arial"/>
              <a:ea typeface="Arial"/>
              <a:cs typeface="Arial"/>
              <a:sym typeface="Arial"/>
            </a:endParaRPr>
          </a:p>
        </p:txBody>
      </p:sp>
      <p:sp>
        <p:nvSpPr>
          <p:cNvPr id="61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17 / 50</a:t>
            </a:r>
          </a:p>
        </p:txBody>
      </p:sp>
      <p:grpSp>
        <p:nvGrpSpPr>
          <p:cNvPr id="613" name="TEACH-3-student-move" descr="TEACH 3 · Use intentional questioning to deepen learning"/>
          <p:cNvGrpSpPr/>
          <p:nvPr/>
        </p:nvGrpSpPr>
        <p:grpSpPr>
          <a:xfrm>
            <a:off x="6187440" y="704088"/>
            <a:ext cx="5501640" cy="402336"/>
            <a:chOff x="6187440" y="704088"/>
            <a:chExt cx="5501640" cy="402336"/>
          </a:xfrm>
        </p:grpSpPr>
        <p:sp>
          <p:nvSpPr>
            <p:cNvPr id="614" name="TEACH-move-card"/>
            <p:cNvSpPr/>
            <p:nvPr/>
          </p:nvSpPr>
          <p:spPr>
            <a:xfrm>
              <a:off x="6187440" y="704088"/>
              <a:ext cx="5501640" cy="402336"/>
            </a:xfrm>
            <a:prstGeom prst="roundRect">
              <a:avLst>
                <a:gd name="adj" fmla="val 16000"/>
              </a:avLst>
            </a:prstGeom>
            <a:solidFill>
              <a:srgbClr val="E4F0F5"/>
            </a:solidFill>
            <a:ln w="19050">
              <a:solidFill>
                <a:srgbClr val="8CB8C7"/>
              </a:solidFill>
            </a:ln>
          </p:spPr>
          <p:txBody>
            <a:bodyPr/>
            <a:lstStyle/>
            <a:p>
              <a:endParaRPr/>
            </a:p>
          </p:txBody>
        </p:sp>
        <p:sp>
          <p:nvSpPr>
            <p:cNvPr id="615" name="TEACH-move-rule"/>
            <p:cNvSpPr/>
            <p:nvPr/>
          </p:nvSpPr>
          <p:spPr>
            <a:xfrm>
              <a:off x="6233160" y="780532"/>
              <a:ext cx="100584" cy="249448"/>
            </a:xfrm>
            <a:prstGeom prst="roundRect">
              <a:avLst>
                <a:gd name="adj" fmla="val 50000"/>
              </a:avLst>
            </a:prstGeom>
            <a:solidFill>
              <a:srgbClr val="01708C"/>
            </a:solidFill>
            <a:ln>
              <a:noFill/>
            </a:ln>
          </p:spPr>
          <p:txBody>
            <a:bodyPr/>
            <a:lstStyle/>
            <a:p>
              <a:endParaRPr/>
            </a:p>
          </p:txBody>
        </p:sp>
        <p:sp>
          <p:nvSpPr>
            <p:cNvPr id="616" name="TEACH-move-text"/>
            <p:cNvSpPr txBox="1"/>
            <p:nvPr/>
          </p:nvSpPr>
          <p:spPr>
            <a:xfrm>
              <a:off x="6507480" y="704088"/>
              <a:ext cx="504444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HOW DO YOU KNOW?  ·  </a:t>
              </a:r>
              <a:r>
                <a:rPr lang="en-US" sz="1200" dirty="0">
                  <a:solidFill>
                    <a:srgbClr val="13303A"/>
                  </a:solidFill>
                  <a:latin typeface="Arial"/>
                </a:rPr>
                <a:t>Ask your partner “How do you know?” Answer by pointing to your own work.</a:t>
              </a:r>
              <a:endParaRPr lang="en-US" sz="1200"/>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cxnSp>
        <p:nvCxnSpPr>
          <p:cNvPr id="638" name="Google Shape;638;p6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39" name="Google Shape;639;p62"/>
          <p:cNvSpPr txBox="1"/>
          <p:nvPr/>
        </p:nvSpPr>
        <p:spPr>
          <a:xfrm>
            <a:off x="484565" y="508959"/>
            <a:ext cx="6257758" cy="90577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What do you notice about the survey results?</a:t>
            </a:r>
            <a:endParaRPr b="0" i="0" sz="1400" u="none" cap="none" strike="noStrike">
              <a:solidFill>
                <a:srgbClr val="000000"/>
              </a:solidFill>
              <a:latin typeface="Arial"/>
              <a:ea typeface="Arial"/>
              <a:cs typeface="Arial"/>
              <a:sym typeface="Arial"/>
            </a:endParaRPr>
          </a:p>
        </p:txBody>
      </p:sp>
      <p:pic>
        <p:nvPicPr>
          <p:cNvPr id="640" name="Google Shape;640;p62"/>
          <p:cNvPicPr preferRelativeResize="0"/>
          <p:nvPr/>
        </p:nvPicPr>
        <p:blipFill rotWithShape="1">
          <a:blip r:embed="rId3">
            <a:alphaModFix/>
          </a:blip>
          <a:srcRect b="0" l="0" r="0" t="0"/>
          <a:stretch/>
        </p:blipFill>
        <p:spPr>
          <a:xfrm>
            <a:off x="4570995" y="1505984"/>
            <a:ext cx="6119999" cy="2880000"/>
          </a:xfrm>
          <a:prstGeom prst="rect">
            <a:avLst/>
          </a:prstGeom>
          <a:noFill/>
          <a:ln>
            <a:noFill/>
          </a:ln>
        </p:spPr>
      </p:pic>
      <p:sp>
        <p:nvSpPr>
          <p:cNvPr id="641" name="Google Shape;641;p62"/>
          <p:cNvSpPr txBox="1"/>
          <p:nvPr/>
        </p:nvSpPr>
        <p:spPr>
          <a:xfrm>
            <a:off x="484565" y="4807744"/>
            <a:ext cx="7458596" cy="16040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There is variability in the results because students’ answers included different parks.</a:t>
            </a:r>
            <a:endParaRPr b="0" i="0" sz="1400" u="none" cap="none" strike="noStrike">
              <a:solidFill>
                <a:srgbClr val="000000"/>
              </a:solidFill>
              <a:latin typeface="Arial"/>
              <a:ea typeface="Arial"/>
              <a:cs typeface="Arial"/>
              <a:sym typeface="Arial"/>
            </a:endParaRPr>
          </a:p>
        </p:txBody>
      </p:sp>
      <p:sp>
        <p:nvSpPr>
          <p:cNvPr id="64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18 / 50</a:t>
            </a:r>
          </a:p>
        </p:txBody>
      </p:sp>
      <p:sp>
        <p:nvSpPr>
          <p:cNvPr id="643" name="EWL-COVER-1"/>
          <p:cNvSpPr/>
          <p:nvPr/>
        </p:nvSpPr>
        <p:spPr>
          <a:xfrm>
            <a:off x="429701" y="4752880"/>
            <a:ext cx="7568324" cy="1693640"/>
          </a:xfrm>
          <a:prstGeom prst="rect">
            <a:avLst/>
          </a:prstGeom>
          <a:solidFill>
            <a:srgbClr val="FFFFFF"/>
          </a:solidFill>
          <a:ln>
            <a:noFill/>
          </a:ln>
        </p:spPr>
        <p:txBody>
          <a:bodyPr/>
          <a:lstStyle/>
          <a:p/>
        </p:txBody>
      </p:sp>
      <p:grpSp>
        <p:nvGrpSpPr>
          <p:cNvPr id="644" name="TEACH-3-student-move" descr="TEACH 3 · Use intentional questioning to deepen learning"/>
          <p:cNvGrpSpPr/>
          <p:nvPr/>
        </p:nvGrpSpPr>
        <p:grpSpPr>
          <a:xfrm>
            <a:off x="502920" y="4451128"/>
            <a:ext cx="11186160" cy="320040"/>
            <a:chOff x="502920" y="4451128"/>
            <a:chExt cx="11186160" cy="320040"/>
          </a:xfrm>
        </p:grpSpPr>
        <p:sp>
          <p:nvSpPr>
            <p:cNvPr id="645" name="TEACH-move-card"/>
            <p:cNvSpPr/>
            <p:nvPr/>
          </p:nvSpPr>
          <p:spPr>
            <a:xfrm>
              <a:off x="502920" y="4451128"/>
              <a:ext cx="11186160" cy="320040"/>
            </a:xfrm>
            <a:prstGeom prst="roundRect">
              <a:avLst>
                <a:gd name="adj" fmla="val 16000"/>
              </a:avLst>
            </a:prstGeom>
            <a:solidFill>
              <a:srgbClr val="E4F0F5"/>
            </a:solidFill>
            <a:ln w="19050">
              <a:solidFill>
                <a:srgbClr val="8CB8C7"/>
              </a:solidFill>
            </a:ln>
          </p:spPr>
          <p:txBody>
            <a:bodyPr/>
            <a:lstStyle/>
            <a:p>
              <a:endParaRPr/>
            </a:p>
          </p:txBody>
        </p:sp>
        <p:sp>
          <p:nvSpPr>
            <p:cNvPr id="646" name="TEACH-move-rule"/>
            <p:cNvSpPr/>
            <p:nvPr/>
          </p:nvSpPr>
          <p:spPr>
            <a:xfrm>
              <a:off x="548640" y="4511936"/>
              <a:ext cx="100584" cy="198424"/>
            </a:xfrm>
            <a:prstGeom prst="roundRect">
              <a:avLst>
                <a:gd name="adj" fmla="val 50000"/>
              </a:avLst>
            </a:prstGeom>
            <a:solidFill>
              <a:srgbClr val="01708C"/>
            </a:solidFill>
            <a:ln>
              <a:noFill/>
            </a:ln>
          </p:spPr>
          <p:txBody>
            <a:bodyPr/>
            <a:lstStyle/>
            <a:p>
              <a:endParaRPr/>
            </a:p>
          </p:txBody>
        </p:sp>
        <p:sp>
          <p:nvSpPr>
            <p:cNvPr id="647" name="TEACH-move-text"/>
            <p:cNvSpPr txBox="1"/>
            <p:nvPr/>
          </p:nvSpPr>
          <p:spPr>
            <a:xfrm>
              <a:off x="822960" y="4451128"/>
              <a:ext cx="10728960" cy="32004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JUSTIFY IT  ·  </a:t>
              </a:r>
              <a:r>
                <a:rPr lang="en-US" sz="1200" dirty="0">
                  <a:solidFill>
                    <a:srgbClr val="13303A"/>
                  </a:solidFill>
                  <a:latin typeface="Arial"/>
                </a:rPr>
                <a:t>Say it like this: “I know ______ because ______.”</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4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cxnSp>
        <p:nvCxnSpPr>
          <p:cNvPr id="646" name="Google Shape;646;p6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47" name="Google Shape;647;p63"/>
          <p:cNvSpPr txBox="1"/>
          <p:nvPr/>
        </p:nvSpPr>
        <p:spPr>
          <a:xfrm>
            <a:off x="484565" y="936100"/>
            <a:ext cx="8567071" cy="193640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Variability means there can be many possible responses.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Which questions could have variability in the responses?</a:t>
            </a:r>
            <a:endParaRPr b="0" i="0" sz="1400" u="none" cap="none" strike="noStrike">
              <a:solidFill>
                <a:srgbClr val="000000"/>
              </a:solidFill>
              <a:latin typeface="Arial"/>
              <a:ea typeface="Arial"/>
              <a:cs typeface="Arial"/>
              <a:sym typeface="Arial"/>
            </a:endParaRPr>
          </a:p>
        </p:txBody>
      </p:sp>
      <p:sp>
        <p:nvSpPr>
          <p:cNvPr id="648" name="Google Shape;648;p63"/>
          <p:cNvSpPr txBox="1"/>
          <p:nvPr/>
        </p:nvSpPr>
        <p:spPr>
          <a:xfrm>
            <a:off x="484565" y="2916577"/>
            <a:ext cx="8167729" cy="3493264"/>
          </a:xfrm>
          <a:prstGeom prst="rect">
            <a:avLst/>
          </a:prstGeom>
          <a:noFill/>
          <a:ln>
            <a:noFill/>
          </a:ln>
        </p:spPr>
        <p:txBody>
          <a:bodyPr anchorCtr="0" anchor="t" bIns="45700" lIns="91425" spcFirstLastPara="1" rIns="91425" wrap="square" tIns="45700">
            <a:spAutoFit/>
          </a:bodyPr>
          <a:lstStyle/>
          <a:p>
            <a:pPr indent="-457200" lvl="0" marL="457200" marR="0" rtl="0" algn="l">
              <a:lnSpc>
                <a:spcPct val="100000"/>
              </a:lnSpc>
              <a:spcBef>
                <a:spcPts val="0"/>
              </a:spcBef>
              <a:spcAft>
                <a:spcPts val="0"/>
              </a:spcAft>
              <a:buClr>
                <a:srgbClr val="262626"/>
              </a:buClr>
              <a:buSzPts val="2800"/>
              <a:buFont typeface="Arial"/>
              <a:buChar char="•"/>
              <a:defRPr/>
            </a:pPr>
            <a:r>
              <a:rPr b="0" i="0" lang="en-US" sz="2800" u="none" cap="none" strike="noStrike">
                <a:solidFill>
                  <a:srgbClr val="23282D"/>
                </a:solidFill>
                <a:latin typeface="Arial"/>
                <a:ea typeface="Arial"/>
                <a:cs typeface="Arial"/>
                <a:sym typeface="Arial"/>
              </a:rPr>
              <a:t>What is your favorite national park?</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600"/>
              </a:spcBef>
              <a:spcAft>
                <a:spcPts val="0"/>
              </a:spcAft>
              <a:buClr>
                <a:srgbClr val="262626"/>
              </a:buClr>
              <a:buSzPts val="2800"/>
              <a:buFont typeface="Arial"/>
              <a:buChar char="•"/>
              <a:defRPr/>
            </a:pPr>
            <a:r>
              <a:rPr b="0" i="0" lang="en-US" sz="2800" u="none" cap="none" strike="noStrike">
                <a:solidFill>
                  <a:srgbClr val="23282D"/>
                </a:solidFill>
                <a:latin typeface="Arial"/>
                <a:ea typeface="Arial"/>
                <a:cs typeface="Arial"/>
                <a:sym typeface="Arial"/>
              </a:rPr>
              <a:t>Which national park have you visited?</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600"/>
              </a:spcBef>
              <a:spcAft>
                <a:spcPts val="0"/>
              </a:spcAft>
              <a:buClr>
                <a:srgbClr val="262626"/>
              </a:buClr>
              <a:buSzPts val="2800"/>
              <a:buFont typeface="Arial"/>
              <a:buChar char="•"/>
              <a:defRPr/>
            </a:pPr>
            <a:r>
              <a:rPr b="0" i="0" lang="en-US" sz="2800" u="none" cap="none" strike="noStrike">
                <a:solidFill>
                  <a:srgbClr val="23282D"/>
                </a:solidFill>
                <a:latin typeface="Arial"/>
                <a:ea typeface="Arial"/>
                <a:cs typeface="Arial"/>
                <a:sym typeface="Arial"/>
              </a:rPr>
              <a:t>In what state is Acadia National Park found?</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600"/>
              </a:spcBef>
              <a:spcAft>
                <a:spcPts val="0"/>
              </a:spcAft>
              <a:buClr>
                <a:srgbClr val="262626"/>
              </a:buClr>
              <a:buSzPts val="2800"/>
              <a:buFont typeface="Arial"/>
              <a:buChar char="•"/>
              <a:defRPr/>
            </a:pPr>
            <a:r>
              <a:rPr b="0" i="0" lang="en-US" sz="2800" u="none" cap="none" strike="noStrike">
                <a:solidFill>
                  <a:srgbClr val="23282D"/>
                </a:solidFill>
                <a:latin typeface="Arial"/>
                <a:ea typeface="Arial"/>
                <a:cs typeface="Arial"/>
                <a:sym typeface="Arial"/>
              </a:rPr>
              <a:t>When was the Everglades made a national park?</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600"/>
              </a:spcBef>
              <a:spcAft>
                <a:spcPts val="0"/>
              </a:spcAft>
              <a:buClr>
                <a:srgbClr val="262626"/>
              </a:buClr>
              <a:buSzPts val="2800"/>
              <a:buFont typeface="Arial"/>
              <a:buChar char="•"/>
              <a:defRPr/>
            </a:pPr>
            <a:r>
              <a:rPr b="0" i="0" lang="en-US" sz="2800" u="none" cap="none" strike="noStrike">
                <a:solidFill>
                  <a:srgbClr val="23282D"/>
                </a:solidFill>
                <a:latin typeface="Arial"/>
                <a:ea typeface="Arial"/>
                <a:cs typeface="Arial"/>
                <a:sym typeface="Arial"/>
              </a:rPr>
              <a:t xml:space="preserve">Which national park would you like to visit? </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600"/>
              </a:spcBef>
              <a:spcAft>
                <a:spcPts val="0"/>
              </a:spcAft>
              <a:buClr>
                <a:srgbClr val="262626"/>
              </a:buClr>
              <a:buSzPts val="2800"/>
              <a:buFont typeface="Arial"/>
              <a:buChar char="•"/>
              <a:defRPr/>
            </a:pPr>
            <a:r>
              <a:rPr b="0" i="0" lang="en-US" sz="2800" u="none" cap="none" strike="noStrike">
                <a:solidFill>
                  <a:srgbClr val="23282D"/>
                </a:solidFill>
                <a:latin typeface="Arial"/>
                <a:ea typeface="Arial"/>
                <a:cs typeface="Arial"/>
                <a:sym typeface="Arial"/>
              </a:rPr>
              <a:t>Which national park is in Kentucky?</a:t>
            </a:r>
            <a:endParaRPr b="1" i="0" sz="2800" u="none" cap="none" strike="noStrike">
              <a:solidFill>
                <a:srgbClr val="262626"/>
              </a:solidFill>
              <a:latin typeface="Arial"/>
              <a:ea typeface="Arial"/>
              <a:cs typeface="Arial"/>
              <a:sym typeface="Arial"/>
            </a:endParaRPr>
          </a:p>
        </p:txBody>
      </p:sp>
      <p:sp>
        <p:nvSpPr>
          <p:cNvPr id="649" name="Google Shape;649;p63"/>
          <p:cNvSpPr txBox="1"/>
          <p:nvPr/>
        </p:nvSpPr>
        <p:spPr>
          <a:xfrm>
            <a:off x="484565" y="316034"/>
            <a:ext cx="5382835"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    Collaborate and Connect</a:t>
            </a:r>
            <a:endParaRPr b="0" i="0" sz="1400" u="none" cap="none" strike="noStrike">
              <a:solidFill>
                <a:srgbClr val="000000"/>
              </a:solidFill>
              <a:latin typeface="Arial"/>
              <a:ea typeface="Arial"/>
              <a:cs typeface="Arial"/>
              <a:sym typeface="Arial"/>
            </a:endParaRPr>
          </a:p>
        </p:txBody>
      </p:sp>
      <p:pic>
        <p:nvPicPr>
          <p:cNvPr id="650" name="Google Shape;650;p63"/>
          <p:cNvPicPr preferRelativeResize="0"/>
          <p:nvPr/>
        </p:nvPicPr>
        <p:blipFill rotWithShape="1">
          <a:blip r:embed="rId3">
            <a:alphaModFix/>
          </a:blip>
          <a:srcRect b="0" l="0" r="0" t="0"/>
          <a:stretch/>
        </p:blipFill>
        <p:spPr>
          <a:xfrm>
            <a:off x="558276" y="386230"/>
            <a:ext cx="353635" cy="340537"/>
          </a:xfrm>
          <a:prstGeom prst="rect">
            <a:avLst/>
          </a:prstGeom>
          <a:noFill/>
          <a:ln>
            <a:noFill/>
          </a:ln>
        </p:spPr>
      </p:pic>
      <p:sp>
        <p:nvSpPr>
          <p:cNvPr id="65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19 / 50</a:t>
            </a:r>
          </a:p>
        </p:txBody>
      </p:sp>
      <p:sp>
        <p:nvSpPr>
          <p:cNvPr id="652"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COLLABORATE</a:t>
            </a:r>
            <a:r>
              <a:rPr lang="en-US" sz="1200" b="1">
                <a:solidFill>
                  <a:srgbClr val="5D6872"/>
                </a:solidFill>
                <a:latin typeface="Arial"/>
              </a:rPr>
              <a:t xml:space="preserve">  ·  TALK IT THROUGH • AGREE ON A MODEL</a:t>
            </a: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cxnSp>
        <p:nvCxnSpPr>
          <p:cNvPr id="689" name="Google Shape;689;p6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90" name="Google Shape;690;p68"/>
          <p:cNvSpPr txBox="1"/>
          <p:nvPr/>
        </p:nvSpPr>
        <p:spPr>
          <a:xfrm>
            <a:off x="475940" y="532279"/>
            <a:ext cx="5957911" cy="497137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600"/>
              <a:buFont typeface="Arial"/>
              <a:buNone/>
              <a:defRPr/>
            </a:pPr>
            <a:r>
              <a:rPr b="0" i="0" lang="en-US" sz="2600" u="none" cap="none" strike="noStrike">
                <a:solidFill>
                  <a:srgbClr val="23282D"/>
                </a:solidFill>
                <a:latin typeface="Arial"/>
                <a:ea typeface="Arial"/>
                <a:cs typeface="Arial"/>
                <a:sym typeface="Arial"/>
              </a:rPr>
              <a:t>These questions are not statistical questions. There is no variability in the responses.</a:t>
            </a:r>
            <a:r>
              <a:rPr b="1" i="0" lang="en-US" sz="2600" u="none" cap="none" strike="noStrike">
                <a:solidFill>
                  <a:srgbClr val="23282D"/>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p:txBody>
      </p:sp>
      <p:sp>
        <p:nvSpPr>
          <p:cNvPr id="691" name="Google Shape;691;p68"/>
          <p:cNvSpPr txBox="1"/>
          <p:nvPr/>
        </p:nvSpPr>
        <p:spPr>
          <a:xfrm>
            <a:off x="475939" y="1933052"/>
            <a:ext cx="8723145" cy="2477601"/>
          </a:xfrm>
          <a:prstGeom prst="rect">
            <a:avLst/>
          </a:prstGeom>
          <a:noFill/>
          <a:ln>
            <a:noFill/>
          </a:ln>
        </p:spPr>
        <p:txBody>
          <a:bodyPr anchorCtr="0" anchor="t" bIns="45700" lIns="91425" spcFirstLastPara="1" rIns="91425" wrap="square" tIns="45700">
            <a:spAutoFit/>
          </a:bodyPr>
          <a:lstStyle/>
          <a:p>
            <a:pPr indent="-457200" lvl="0" marL="457200" marR="0" rtl="0" algn="l">
              <a:lnSpc>
                <a:spcPct val="100000"/>
              </a:lnSpc>
              <a:spcBef>
                <a:spcPts val="0"/>
              </a:spcBef>
              <a:spcAft>
                <a:spcPts val="0"/>
              </a:spcAft>
              <a:buClr>
                <a:srgbClr val="262626"/>
              </a:buClr>
              <a:buSzPts val="2600"/>
              <a:buFont typeface="Arial"/>
              <a:buChar char="•"/>
              <a:defRPr/>
            </a:pPr>
            <a:r>
              <a:rPr b="0" i="0" lang="en-US" sz="2600" u="none" cap="none" strike="noStrike">
                <a:solidFill>
                  <a:srgbClr val="23282D"/>
                </a:solidFill>
                <a:latin typeface="Arial"/>
                <a:ea typeface="Arial"/>
                <a:cs typeface="Arial"/>
                <a:sym typeface="Arial"/>
              </a:rPr>
              <a:t>In what state is Acadia National Park found?</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600"/>
              </a:spcBef>
              <a:spcAft>
                <a:spcPts val="0"/>
              </a:spcAft>
              <a:buClr>
                <a:srgbClr val="262626"/>
              </a:buClr>
              <a:buSzPts val="2600"/>
              <a:buFont typeface="Arial"/>
              <a:buChar char="•"/>
              <a:defRPr/>
            </a:pPr>
            <a:r>
              <a:rPr b="0" i="0" lang="en-US" sz="2600" u="none" cap="none" strike="noStrike">
                <a:solidFill>
                  <a:srgbClr val="23282D"/>
                </a:solidFill>
                <a:latin typeface="Arial"/>
                <a:ea typeface="Arial"/>
                <a:cs typeface="Arial"/>
                <a:sym typeface="Arial"/>
              </a:rPr>
              <a:t>When was the Everglades made a national park?</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600"/>
              </a:spcBef>
              <a:spcAft>
                <a:spcPts val="0"/>
              </a:spcAft>
              <a:buClr>
                <a:srgbClr val="262626"/>
              </a:buClr>
              <a:buSzPts val="2600"/>
              <a:buFont typeface="Arial"/>
              <a:buChar char="•"/>
              <a:defRPr/>
            </a:pPr>
            <a:r>
              <a:rPr b="0" i="0" lang="en-US" sz="2600" u="none" cap="none" strike="noStrike">
                <a:solidFill>
                  <a:srgbClr val="23282D"/>
                </a:solidFill>
                <a:latin typeface="Arial"/>
                <a:ea typeface="Arial"/>
                <a:cs typeface="Arial"/>
                <a:sym typeface="Arial"/>
              </a:rPr>
              <a:t>Which national park is in Kentucky?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000000"/>
              </a:buClr>
              <a:buSzPts val="2600"/>
              <a:buFont typeface="Arial"/>
              <a:buNone/>
              <a:defRPr/>
            </a:pPr>
            <a:r>
              <a:rPr b="1" i="0" lang="en-US" sz="2600" u="none" cap="none" strike="noStrike">
                <a:solidFill>
                  <a:srgbClr val="23282D"/>
                </a:solidFill>
                <a:latin typeface="Arial"/>
                <a:ea typeface="Arial"/>
                <a:cs typeface="Arial"/>
                <a:sym typeface="Arial"/>
              </a:rPr>
              <a:t>What kinds of answers would you expect from these non-statistical questions?</a:t>
            </a:r>
            <a:endParaRPr b="0" i="0" sz="1400" u="none" cap="none" strike="noStrike">
              <a:solidFill>
                <a:srgbClr val="000000"/>
              </a:solidFill>
              <a:latin typeface="Arial"/>
              <a:ea typeface="Arial"/>
              <a:cs typeface="Arial"/>
              <a:sym typeface="Arial"/>
            </a:endParaRPr>
          </a:p>
        </p:txBody>
      </p:sp>
      <p:sp>
        <p:nvSpPr>
          <p:cNvPr id="692" name="Google Shape;692;p68"/>
          <p:cNvSpPr txBox="1"/>
          <p:nvPr/>
        </p:nvSpPr>
        <p:spPr>
          <a:xfrm>
            <a:off x="475938" y="4508757"/>
            <a:ext cx="10188389" cy="201322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a:t>
            </a:r>
            <a:r>
              <a:rPr b="1" i="0" lang="en-US" sz="2600" u="none" cap="none" strike="noStrike">
                <a:solidFill>
                  <a:srgbClr val="0070C0"/>
                </a:solidFill>
                <a:highlight>
                  <a:srgbClr val="E0E0E0"/>
                </a:highlight>
                <a:latin typeface="Arial"/>
                <a:ea typeface="Arial"/>
                <a:cs typeface="Arial"/>
                <a:sym typeface="Arial"/>
              </a:rPr>
              <a:t>Reveal</a:t>
            </a:r>
            <a:r>
              <a:rPr b="1" i="0" lang="en-US" sz="2600" u="none" cap="none" strike="noStrike">
                <a:solidFill>
                  <a:srgbClr val="E0E0E0"/>
                </a:solidFill>
                <a:highlight>
                  <a:srgbClr val="E0E0E0"/>
                </a:highlight>
                <a:latin typeface="Arial"/>
                <a:ea typeface="Arial"/>
                <a:cs typeface="Arial"/>
                <a:sym typeface="Arial"/>
              </a:rPr>
              <a:t>:</a:t>
            </a:r>
            <a:r>
              <a:rPr b="1" i="0" lang="en-US" sz="26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600"/>
              <a:buFont typeface="Arial"/>
              <a:buNone/>
              <a:defRPr/>
            </a:pPr>
            <a:r>
              <a:rPr b="0" i="0" lang="en-US" sz="2600" u="none" cap="none" strike="noStrike">
                <a:solidFill>
                  <a:srgbClr val="595959"/>
                </a:solidFill>
                <a:latin typeface="Arial"/>
                <a:ea typeface="Arial"/>
                <a:cs typeface="Arial"/>
                <a:sym typeface="Arial"/>
              </a:rPr>
              <a:t>We would expect there to be a single answer that is the same for everyone surveyed. Each person surveyed would give the same state, year, or national park for the questions.</a:t>
            </a:r>
            <a:endParaRPr b="0" i="0" sz="1400" u="none" cap="none" strike="noStrike">
              <a:solidFill>
                <a:srgbClr val="000000"/>
              </a:solidFill>
              <a:latin typeface="Arial"/>
              <a:ea typeface="Arial"/>
              <a:cs typeface="Arial"/>
              <a:sym typeface="Arial"/>
            </a:endParaRPr>
          </a:p>
        </p:txBody>
      </p:sp>
      <p:sp>
        <p:nvSpPr>
          <p:cNvPr id="69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20 / 50</a:t>
            </a:r>
          </a:p>
        </p:txBody>
      </p:sp>
      <p:sp>
        <p:nvSpPr>
          <p:cNvPr id="694" name="EWL-COVER-1"/>
          <p:cNvSpPr/>
          <p:nvPr/>
        </p:nvSpPr>
        <p:spPr>
          <a:xfrm>
            <a:off x="421074" y="4453893"/>
            <a:ext cx="10298117" cy="1992627"/>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9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p72"/>
          <p:cNvSpPr txBox="1"/>
          <p:nvPr/>
        </p:nvSpPr>
        <p:spPr>
          <a:xfrm>
            <a:off x="6211757" y="5949346"/>
            <a:ext cx="125361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722" name="Google Shape;722;p72"/>
          <p:cNvSpPr/>
          <p:nvPr/>
        </p:nvSpPr>
        <p:spPr>
          <a:xfrm>
            <a:off x="484565" y="4674458"/>
            <a:ext cx="6980812" cy="1698555"/>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723" name="Google Shape;723;p72"/>
          <p:cNvSpPr txBox="1"/>
          <p:nvPr/>
        </p:nvSpPr>
        <p:spPr>
          <a:xfrm>
            <a:off x="484564" y="927529"/>
            <a:ext cx="7015363" cy="1030580"/>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a:defRPr/>
            </a:pPr>
            <a:r>
              <a:rPr b="0" i="0" lang="en-US" sz="2800" u="none" cap="none" strike="noStrike">
                <a:solidFill>
                  <a:srgbClr val="23282D"/>
                </a:solidFill>
                <a:latin typeface="Arial"/>
                <a:ea typeface="Arial"/>
                <a:cs typeface="Arial"/>
                <a:sym typeface="Arial"/>
              </a:rPr>
              <a:t>Why does a survey need to have a statistical question?</a:t>
            </a:r>
            <a:endParaRPr b="0" i="0" sz="1400" u="none" cap="none" strike="noStrike">
              <a:solidFill>
                <a:srgbClr val="000000"/>
              </a:solidFill>
              <a:latin typeface="Arial"/>
              <a:ea typeface="Arial"/>
              <a:cs typeface="Arial"/>
              <a:sym typeface="Arial"/>
            </a:endParaRPr>
          </a:p>
        </p:txBody>
      </p:sp>
      <p:sp>
        <p:nvSpPr>
          <p:cNvPr id="724" name="Google Shape;724;p72"/>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725" name="Google Shape;725;p72"/>
          <p:cNvSpPr txBox="1"/>
          <p:nvPr/>
        </p:nvSpPr>
        <p:spPr>
          <a:xfrm>
            <a:off x="6300821" y="2851865"/>
            <a:ext cx="125361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726" name="Google Shape;726;p72"/>
          <p:cNvSpPr/>
          <p:nvPr/>
        </p:nvSpPr>
        <p:spPr>
          <a:xfrm>
            <a:off x="573629" y="2002509"/>
            <a:ext cx="6980812" cy="1421465"/>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727" name="Google Shape;727;p72"/>
          <p:cNvSpPr txBox="1"/>
          <p:nvPr/>
        </p:nvSpPr>
        <p:spPr>
          <a:xfrm>
            <a:off x="573629" y="3589581"/>
            <a:ext cx="7015363" cy="1021344"/>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startAt="2"/>
              <a:defRPr/>
            </a:pPr>
            <a:r>
              <a:rPr b="0" i="0" lang="en-US" sz="2800" u="none" cap="none" strike="noStrike">
                <a:solidFill>
                  <a:srgbClr val="23282D"/>
                </a:solidFill>
                <a:latin typeface="Arial"/>
                <a:ea typeface="Arial"/>
                <a:cs typeface="Arial"/>
                <a:sym typeface="Arial"/>
              </a:rPr>
              <a:t>Would you ever want to include a nonstatistical question on a survey?</a:t>
            </a:r>
            <a:endParaRPr b="0" i="0" sz="1400" u="none" cap="none" strike="noStrike">
              <a:solidFill>
                <a:srgbClr val="000000"/>
              </a:solidFill>
              <a:latin typeface="Arial"/>
              <a:ea typeface="Arial"/>
              <a:cs typeface="Arial"/>
              <a:sym typeface="Arial"/>
            </a:endParaRPr>
          </a:p>
        </p:txBody>
      </p:sp>
      <p:sp>
        <p:nvSpPr>
          <p:cNvPr id="72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21 / 50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2.1  /  DISCUSS THE TASK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Explain and compare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TextBox 4"/>
          <p:cNvSpPr txBox="1"/>
          <p:nvPr/>
        </p:nvSpPr>
        <p:spPr>
          <a:xfrm>
            <a:off x="621792" y="1755648"/>
            <a:ext cx="6629400" cy="384048"/>
          </a:xfrm>
          <a:prstGeom prst="rect">
            <a:avLst/>
          </a:prstGeom>
          <a:noFill/>
        </p:spPr>
        <p:txBody>
          <a:bodyPr wrap="square" lIns="0" rIns="0" tIns="22860" bIns="0">
            <a:spAutoFit/>
          </a:bodyPr>
          <a:lstStyle/>
          <a:p>
            <a:pPr>
              <a:spcAft>
                <a:spcPts val="800"/>
              </a:spcAft>
              <a:defRPr sz="2000" b="1">
                <a:solidFill>
                  <a:srgbClr val="096B69"/>
                </a:solidFill>
                <a:latin typeface="Arial"/>
              </a:defRPr>
            </a:pPr>
            <a:r>
              <a:rPr/>
              <a:t>Use the task you just explored.</a:t>
            </a:r>
          </a:p>
        </p:txBody>
      </p:sp>
      <p:sp>
        <p:nvSpPr>
          <p:cNvPr id="6" name="TextBox 5"/>
          <p:cNvSpPr txBox="1"/>
          <p:nvPr/>
        </p:nvSpPr>
        <p:spPr>
          <a:xfrm>
            <a:off x="621792" y="2322576"/>
            <a:ext cx="6583680" cy="2057400"/>
          </a:xfrm>
          <a:prstGeom prst="rect">
            <a:avLst/>
          </a:prstGeom>
          <a:noFill/>
        </p:spPr>
        <p:txBody>
          <a:bodyPr wrap="square" lIns="0" rIns="0" tIns="22860" bIns="0">
            <a:spAutoFit/>
          </a:bodyPr>
          <a:lstStyle/>
          <a:p>
            <a:pPr>
              <a:spcAft>
                <a:spcPts val="800"/>
              </a:spcAft>
              <a:defRPr sz="2900" b="0">
                <a:solidFill>
                  <a:srgbClr val="24384B"/>
                </a:solidFill>
                <a:latin typeface="Arial"/>
              </a:defRPr>
            </a:pPr>
            <a:r>
              <a:rPr/>
              <a:t>What different answers could this question produce, and why would we need data from a group?</a:t>
            </a:r>
          </a:p>
        </p:txBody>
      </p:sp>
      <p:sp>
        <p:nvSpPr>
          <p:cNvPr id="7" name="TextBox 6"/>
          <p:cNvSpPr txBox="1"/>
          <p:nvPr/>
        </p:nvSpPr>
        <p:spPr>
          <a:xfrm>
            <a:off x="621792" y="4590288"/>
            <a:ext cx="6629400" cy="960120"/>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Point to evidence in your work.</a:t>
            </a:r>
          </a:p>
          <a:p>
            <a:pPr>
              <a:spcAft>
                <a:spcPts val="800"/>
              </a:spcAft>
              <a:defRPr sz="2300" b="0">
                <a:solidFill>
                  <a:srgbClr val="24384B"/>
                </a:solidFill>
                <a:latin typeface="Arial"/>
              </a:defRPr>
            </a:pPr>
            <a:r>
              <a:rPr/>
              <a:t>Then compare your approach with a partner’s.</a:t>
            </a:r>
          </a:p>
        </p:txBody>
      </p:sp>
      <p:sp>
        <p:nvSpPr>
          <p:cNvPr id="8" name="Rounded Rectangle 7"/>
          <p:cNvSpPr/>
          <p:nvPr/>
        </p:nvSpPr>
        <p:spPr>
          <a:xfrm>
            <a:off x="7662672" y="1783080"/>
            <a:ext cx="3904487" cy="417880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82712" y="2066543"/>
            <a:ext cx="320040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TAKE TURNS</a:t>
            </a:r>
          </a:p>
        </p:txBody>
      </p:sp>
      <p:sp>
        <p:nvSpPr>
          <p:cNvPr id="10" name="TextBox 9"/>
          <p:cNvSpPr txBox="1"/>
          <p:nvPr/>
        </p:nvSpPr>
        <p:spPr>
          <a:xfrm>
            <a:off x="7982712" y="2715768"/>
            <a:ext cx="3200400" cy="2606040"/>
          </a:xfrm>
          <a:prstGeom prst="rect">
            <a:avLst/>
          </a:prstGeom>
          <a:noFill/>
        </p:spPr>
        <p:txBody>
          <a:bodyPr wrap="square" lIns="0" rIns="0" tIns="22860" bIns="0">
            <a:spAutoFit/>
          </a:bodyPr>
          <a:lstStyle/>
          <a:p>
            <a:pPr>
              <a:spcAft>
                <a:spcPts val="800"/>
              </a:spcAft>
              <a:defRPr sz="2200" b="0">
                <a:solidFill>
                  <a:srgbClr val="24384B"/>
                </a:solidFill>
                <a:latin typeface="Arial"/>
              </a:defRPr>
            </a:pPr>
            <a:r>
              <a:rPr/>
              <a:t>Explain</a:t>
            </a:r>
          </a:p>
          <a:p>
            <a:pPr>
              <a:spcAft>
                <a:spcPts val="800"/>
              </a:spcAft>
              <a:defRPr sz="2200" b="0">
                <a:solidFill>
                  <a:srgbClr val="24384B"/>
                </a:solidFill>
                <a:latin typeface="Arial"/>
              </a:defRPr>
            </a:pPr>
            <a:r>
              <a:rPr/>
              <a:t>“I know this because…”</a:t>
            </a:r>
          </a:p>
          <a:p>
            <a:pPr>
              <a:spcAft>
                <a:spcPts val="800"/>
              </a:spcAft>
              <a:defRPr sz="2200" b="0">
                <a:solidFill>
                  <a:srgbClr val="24384B"/>
                </a:solidFill>
                <a:latin typeface="Arial"/>
              </a:defRPr>
            </a:pPr>
          </a:p>
          <a:p>
            <a:pPr>
              <a:spcAft>
                <a:spcPts val="800"/>
              </a:spcAft>
              <a:defRPr sz="2200" b="0">
                <a:solidFill>
                  <a:srgbClr val="24384B"/>
                </a:solidFill>
                <a:latin typeface="Arial"/>
              </a:defRPr>
            </a:pPr>
            <a:r>
              <a:rPr/>
              <a:t>Ask</a:t>
            </a:r>
          </a:p>
          <a:p>
            <a:pPr>
              <a:spcAft>
                <a:spcPts val="800"/>
              </a:spcAft>
              <a:defRPr sz="2200" b="0">
                <a:solidFill>
                  <a:srgbClr val="24384B"/>
                </a:solidFill>
                <a:latin typeface="Arial"/>
              </a:defRPr>
            </a:pPr>
            <a:r>
              <a:rPr/>
              <a:t>“Where does your work show that?”</a:t>
            </a:r>
          </a:p>
        </p:txBody>
      </p:sp>
      <p:grpSp>
        <p:nvGrpSpPr>
          <p:cNvPr id="11" name="TEACH-3-student-move" descr="TEACH 3 · Use intentional questioning to deepen learning"/>
          <p:cNvGrpSpPr/>
          <p:nvPr/>
        </p:nvGrpSpPr>
        <p:grpSpPr>
          <a:xfrm>
            <a:off x="502920" y="5824728"/>
            <a:ext cx="11186160" cy="402336"/>
            <a:chOff x="502920" y="5824728"/>
            <a:chExt cx="11186160" cy="402336"/>
          </a:xfrm>
        </p:grpSpPr>
        <p:sp>
          <p:nvSpPr>
            <p:cNvPr id="12"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3"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4"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ANOTHER PATHWAY  ·  </a:t>
              </a:r>
              <a:r>
                <a:rPr lang="en-US" sz="1200" dirty="0">
                  <a:solidFill>
                    <a:srgbClr val="13303A"/>
                  </a:solidFill>
                  <a:latin typeface="Arial"/>
                </a:rPr>
                <a:t>Did anyone get there a different way? Put both pathways side by side and compare.</a:t>
              </a:r>
              <a:endParaRPr lang="en-US" sz="1200"/>
            </a:p>
          </p:txBody>
        </p:sp>
      </p:gr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623" name="Google Shape;623;p6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24" name="Google Shape;624;p60"/>
          <p:cNvSpPr txBox="1"/>
          <p:nvPr/>
        </p:nvSpPr>
        <p:spPr>
          <a:xfrm>
            <a:off x="415554" y="586598"/>
            <a:ext cx="7236076" cy="567617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62626"/>
                </a:solidFill>
                <a:latin typeface="Arial"/>
                <a:ea typeface="Arial"/>
                <a:cs typeface="Arial"/>
                <a:sym typeface="Arial"/>
              </a:rPr>
              <a:t>What do you notice about the questions? </a:t>
            </a:r>
            <a:endParaRPr b="0" i="0" sz="2800" u="none" cap="none" strike="noStrike">
              <a:solidFill>
                <a:srgbClr val="262626"/>
              </a:solidFill>
              <a:latin typeface="Arial"/>
              <a:ea typeface="Arial"/>
              <a:cs typeface="Arial"/>
              <a:sym typeface="Arial"/>
            </a:endParaRPr>
          </a:p>
          <a:p>
            <a:pPr indent="-457200" lvl="0" marL="457200" marR="0" rtl="0" algn="l">
              <a:lnSpc>
                <a:spcPct val="100000"/>
              </a:lnSpc>
              <a:spcBef>
                <a:spcPts val="1800"/>
              </a:spcBef>
              <a:spcAft>
                <a:spcPts val="0"/>
              </a:spcAft>
              <a:buClr>
                <a:srgbClr val="262626"/>
              </a:buClr>
              <a:buSzPts val="2800"/>
              <a:buFont typeface="Arial"/>
              <a:buChar char="•"/>
              <a:defRPr/>
            </a:pPr>
            <a:r>
              <a:rPr b="0" i="0" lang="en-US" sz="2800" u="none" cap="none" strike="noStrike">
                <a:solidFill>
                  <a:srgbClr val="262626"/>
                </a:solidFill>
                <a:latin typeface="Arial"/>
                <a:ea typeface="Arial"/>
                <a:cs typeface="Arial"/>
                <a:sym typeface="Arial"/>
              </a:rPr>
              <a:t>What is your favorite national park?</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800"/>
              </a:spcBef>
              <a:spcAft>
                <a:spcPts val="0"/>
              </a:spcAft>
              <a:buClr>
                <a:srgbClr val="262626"/>
              </a:buClr>
              <a:buSzPts val="2800"/>
              <a:buFont typeface="Arial"/>
              <a:buChar char="•"/>
              <a:defRPr/>
            </a:pPr>
            <a:r>
              <a:rPr b="0" i="0" lang="en-US" sz="2800" u="none" cap="none" strike="noStrike">
                <a:solidFill>
                  <a:srgbClr val="262626"/>
                </a:solidFill>
                <a:latin typeface="Arial"/>
                <a:ea typeface="Arial"/>
                <a:cs typeface="Arial"/>
                <a:sym typeface="Arial"/>
              </a:rPr>
              <a:t>Which national park have you visited?</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800"/>
              </a:spcBef>
              <a:spcAft>
                <a:spcPts val="0"/>
              </a:spcAft>
              <a:buClr>
                <a:srgbClr val="262626"/>
              </a:buClr>
              <a:buSzPts val="2800"/>
              <a:buFont typeface="Arial"/>
              <a:buChar char="•"/>
              <a:defRPr/>
            </a:pPr>
            <a:r>
              <a:rPr b="0" i="0" lang="en-US" sz="2800" u="none" cap="none" strike="noStrike">
                <a:solidFill>
                  <a:srgbClr val="262626"/>
                </a:solidFill>
                <a:latin typeface="Arial"/>
                <a:ea typeface="Arial"/>
                <a:cs typeface="Arial"/>
                <a:sym typeface="Arial"/>
              </a:rPr>
              <a:t>In what state is Acadia National Park found?</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800"/>
              </a:spcBef>
              <a:spcAft>
                <a:spcPts val="0"/>
              </a:spcAft>
              <a:buClr>
                <a:srgbClr val="262626"/>
              </a:buClr>
              <a:buSzPts val="2800"/>
              <a:buFont typeface="Arial"/>
              <a:buChar char="•"/>
              <a:defRPr/>
            </a:pPr>
            <a:r>
              <a:rPr b="0" i="0" lang="en-US" sz="2800" u="none" cap="none" strike="noStrike">
                <a:solidFill>
                  <a:srgbClr val="262626"/>
                </a:solidFill>
                <a:latin typeface="Arial"/>
                <a:ea typeface="Arial"/>
                <a:cs typeface="Arial"/>
                <a:sym typeface="Arial"/>
              </a:rPr>
              <a:t>When was the Everglades made a national park?</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800"/>
              </a:spcBef>
              <a:spcAft>
                <a:spcPts val="0"/>
              </a:spcAft>
              <a:buClr>
                <a:srgbClr val="262626"/>
              </a:buClr>
              <a:buSzPts val="2800"/>
              <a:buFont typeface="Arial"/>
              <a:buChar char="•"/>
              <a:defRPr/>
            </a:pPr>
            <a:r>
              <a:rPr b="0" i="0" lang="en-US" sz="2800" u="none" cap="none" strike="noStrike">
                <a:solidFill>
                  <a:srgbClr val="262626"/>
                </a:solidFill>
                <a:latin typeface="Arial"/>
                <a:ea typeface="Arial"/>
                <a:cs typeface="Arial"/>
                <a:sym typeface="Arial"/>
              </a:rPr>
              <a:t>Which national park would you like to visit? </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800"/>
              </a:spcBef>
              <a:spcAft>
                <a:spcPts val="0"/>
              </a:spcAft>
              <a:buClr>
                <a:srgbClr val="262626"/>
              </a:buClr>
              <a:buSzPts val="2800"/>
              <a:buFont typeface="Arial"/>
              <a:buChar char="•"/>
              <a:defRPr/>
            </a:pPr>
            <a:r>
              <a:rPr b="0" i="0" lang="en-US" sz="2800" u="none" cap="none" strike="noStrike">
                <a:solidFill>
                  <a:srgbClr val="262626"/>
                </a:solidFill>
                <a:latin typeface="Arial"/>
                <a:ea typeface="Arial"/>
                <a:cs typeface="Arial"/>
                <a:sym typeface="Arial"/>
              </a:rPr>
              <a:t>Which national park is in Kentucky?</a:t>
            </a:r>
            <a:endParaRPr b="1" i="0" sz="2800" u="none" cap="none" strike="noStrike">
              <a:solidFill>
                <a:srgbClr val="262626"/>
              </a:solidFill>
              <a:latin typeface="Arial"/>
              <a:ea typeface="Arial"/>
              <a:cs typeface="Arial"/>
              <a:sym typeface="Arial"/>
            </a:endParaRPr>
          </a:p>
        </p:txBody>
      </p:sp>
      <p:sp>
        <p:nvSpPr>
          <p:cNvPr id="625" name="Google Shape;625;p60"/>
          <p:cNvSpPr txBox="1"/>
          <p:nvPr/>
        </p:nvSpPr>
        <p:spPr>
          <a:xfrm>
            <a:off x="7651630" y="3010618"/>
            <a:ext cx="3942607" cy="281313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Some of the questions can have one response and other questions can have many responses.</a:t>
            </a:r>
            <a:endParaRPr b="0" i="0" sz="1400" u="none" cap="none" strike="noStrike">
              <a:solidFill>
                <a:srgbClr val="000000"/>
              </a:solidFill>
              <a:latin typeface="Arial"/>
              <a:ea typeface="Arial"/>
              <a:cs typeface="Arial"/>
              <a:sym typeface="Arial"/>
            </a:endParaRPr>
          </a:p>
        </p:txBody>
      </p:sp>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24 / 50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72" name="Google Shape;672;p66"/>
          <p:cNvSpPr txBox="1"/>
          <p:nvPr/>
        </p:nvSpPr>
        <p:spPr>
          <a:xfrm>
            <a:off x="458685" y="485301"/>
            <a:ext cx="7021768" cy="178417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62626"/>
                </a:solidFill>
                <a:latin typeface="Arial"/>
                <a:ea typeface="Arial"/>
                <a:cs typeface="Arial"/>
                <a:sym typeface="Arial"/>
              </a:rPr>
              <a:t>What kinds of answers would you expect from these statistical questions?</a:t>
            </a:r>
            <a:endParaRPr b="0" i="0" sz="1400" u="none" cap="none" strike="noStrike">
              <a:solidFill>
                <a:srgbClr val="000000"/>
              </a:solidFill>
              <a:latin typeface="Arial"/>
              <a:ea typeface="Arial"/>
              <a:cs typeface="Arial"/>
              <a:sym typeface="Arial"/>
            </a:endParaRPr>
          </a:p>
        </p:txBody>
      </p:sp>
      <p:sp>
        <p:nvSpPr>
          <p:cNvPr id="673" name="Google Shape;673;p66"/>
          <p:cNvSpPr txBox="1"/>
          <p:nvPr/>
        </p:nvSpPr>
        <p:spPr>
          <a:xfrm>
            <a:off x="484566" y="1097775"/>
            <a:ext cx="11544148" cy="54831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2"/>
              </a:buClr>
              <a:buSzPts val="2800"/>
              <a:buFont typeface="Arial"/>
              <a:buNone/>
            </a:pPr>
            <a:r>
              <a:t/>
            </a:r>
            <a:endParaRPr b="0" i="0" sz="2800" u="none" cap="none" strike="noStrike">
              <a:solidFill>
                <a:srgbClr val="262626"/>
              </a:solidFill>
              <a:latin typeface="Arial"/>
              <a:ea typeface="Arial"/>
              <a:cs typeface="Arial"/>
              <a:sym typeface="Arial"/>
            </a:endParaRPr>
          </a:p>
          <a:p>
            <a:pPr indent="-279400" lvl="0" marL="457200" marR="0" rtl="0" algn="l">
              <a:lnSpc>
                <a:spcPct val="100000"/>
              </a:lnSpc>
              <a:spcBef>
                <a:spcPts val="1800"/>
              </a:spcBef>
              <a:spcAft>
                <a:spcPts val="0"/>
              </a:spcAft>
              <a:buClr>
                <a:schemeClr val="dk2"/>
              </a:buClr>
              <a:buSzPts val="2800"/>
              <a:buFont typeface="Arial"/>
              <a:buNone/>
            </a:pPr>
            <a:r>
              <a:t/>
            </a:r>
            <a:endParaRPr b="0" i="0" sz="2800" u="none" cap="none" strike="noStrike">
              <a:solidFill>
                <a:srgbClr val="262626"/>
              </a:solidFill>
              <a:latin typeface="Arial"/>
              <a:ea typeface="Arial"/>
              <a:cs typeface="Arial"/>
              <a:sym typeface="Arial"/>
            </a:endParaRPr>
          </a:p>
          <a:p>
            <a:pPr indent="-279400" lvl="0" marL="457200" marR="0" rtl="0" algn="l">
              <a:lnSpc>
                <a:spcPct val="100000"/>
              </a:lnSpc>
              <a:spcBef>
                <a:spcPts val="1800"/>
              </a:spcBef>
              <a:spcAft>
                <a:spcPts val="0"/>
              </a:spcAft>
              <a:buClr>
                <a:schemeClr val="dk2"/>
              </a:buClr>
              <a:buSzPts val="2800"/>
              <a:buFont typeface="Arial"/>
              <a:buNone/>
            </a:pPr>
            <a:r>
              <a:t/>
            </a:r>
            <a:endParaRPr b="1" i="0" sz="2800" u="none" cap="none" strike="noStrike">
              <a:solidFill>
                <a:srgbClr val="262626"/>
              </a:solidFill>
              <a:latin typeface="Arial"/>
              <a:ea typeface="Arial"/>
              <a:cs typeface="Arial"/>
              <a:sym typeface="Arial"/>
            </a:endParaRPr>
          </a:p>
        </p:txBody>
      </p:sp>
      <p:cxnSp>
        <p:nvCxnSpPr>
          <p:cNvPr id="674" name="Google Shape;674;p6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75" name="Google Shape;675;p66"/>
          <p:cNvSpPr txBox="1"/>
          <p:nvPr/>
        </p:nvSpPr>
        <p:spPr>
          <a:xfrm>
            <a:off x="484566" y="4790937"/>
            <a:ext cx="11555034" cy="140863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would expect a range of answers that differ for everyone surveyed. For each question, a person could answer with any national park.</a:t>
            </a:r>
            <a:endParaRPr b="0" i="0" sz="1400" u="none" cap="none" strike="noStrike">
              <a:solidFill>
                <a:srgbClr val="000000"/>
              </a:solidFill>
              <a:latin typeface="Arial"/>
              <a:ea typeface="Arial"/>
              <a:cs typeface="Arial"/>
              <a:sym typeface="Arial"/>
            </a:endParaRPr>
          </a:p>
        </p:txBody>
      </p:sp>
      <p:sp>
        <p:nvSpPr>
          <p:cNvPr id="676" name="Google Shape;676;p66"/>
          <p:cNvSpPr txBox="1"/>
          <p:nvPr/>
        </p:nvSpPr>
        <p:spPr>
          <a:xfrm>
            <a:off x="484566" y="1615694"/>
            <a:ext cx="10510268" cy="2046714"/>
          </a:xfrm>
          <a:prstGeom prst="rect">
            <a:avLst/>
          </a:prstGeom>
          <a:noFill/>
          <a:ln>
            <a:noFill/>
          </a:ln>
        </p:spPr>
        <p:txBody>
          <a:bodyPr anchorCtr="0" anchor="t" bIns="45700" lIns="91425" spcFirstLastPara="1" rIns="91425" wrap="square" tIns="45700">
            <a:spAutoFit/>
          </a:bodyPr>
          <a:lstStyle/>
          <a:p>
            <a:pPr indent="-457200" lvl="0" marL="457200" marR="0" rtl="0" algn="l">
              <a:lnSpc>
                <a:spcPct val="100000"/>
              </a:lnSpc>
              <a:spcBef>
                <a:spcPts val="0"/>
              </a:spcBef>
              <a:spcAft>
                <a:spcPts val="0"/>
              </a:spcAft>
              <a:buClr>
                <a:srgbClr val="262626"/>
              </a:buClr>
              <a:buSzPts val="2800"/>
              <a:buFont typeface="Arial"/>
              <a:buChar char="•"/>
              <a:defRPr/>
            </a:pPr>
            <a:r>
              <a:rPr b="0" i="0" lang="en-US" sz="2800" u="none" cap="none" strike="noStrike">
                <a:solidFill>
                  <a:srgbClr val="262626"/>
                </a:solidFill>
                <a:latin typeface="Arial"/>
                <a:ea typeface="Arial"/>
                <a:cs typeface="Arial"/>
                <a:sym typeface="Arial"/>
              </a:rPr>
              <a:t>What is your favorite national park?</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600"/>
              </a:spcBef>
              <a:spcAft>
                <a:spcPts val="0"/>
              </a:spcAft>
              <a:buClr>
                <a:srgbClr val="262626"/>
              </a:buClr>
              <a:buSzPts val="2800"/>
              <a:buFont typeface="Arial"/>
              <a:buChar char="•"/>
              <a:defRPr/>
            </a:pPr>
            <a:r>
              <a:rPr b="0" i="0" lang="en-US" sz="2800" u="none" cap="none" strike="noStrike">
                <a:solidFill>
                  <a:srgbClr val="262626"/>
                </a:solidFill>
                <a:latin typeface="Arial"/>
                <a:ea typeface="Arial"/>
                <a:cs typeface="Arial"/>
                <a:sym typeface="Arial"/>
              </a:rPr>
              <a:t>Which national park have you visited?</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600"/>
              </a:spcBef>
              <a:spcAft>
                <a:spcPts val="0"/>
              </a:spcAft>
              <a:buClr>
                <a:srgbClr val="262626"/>
              </a:buClr>
              <a:buSzPts val="2800"/>
              <a:buFont typeface="Arial"/>
              <a:buChar char="•"/>
              <a:defRPr/>
            </a:pPr>
            <a:r>
              <a:rPr b="0" i="0" lang="en-US" sz="2800" u="none" cap="none" strike="noStrike">
                <a:solidFill>
                  <a:srgbClr val="262626"/>
                </a:solidFill>
                <a:latin typeface="Arial"/>
                <a:ea typeface="Arial"/>
                <a:cs typeface="Arial"/>
                <a:sym typeface="Arial"/>
              </a:rPr>
              <a:t>Which national park would you like to visit? </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600"/>
              </a:spcBef>
              <a:spcAft>
                <a:spcPts val="0"/>
              </a:spcAft>
              <a:buClr>
                <a:srgbClr val="262626"/>
              </a:buClr>
              <a:buSzPts val="2800"/>
              <a:buFont typeface="Arial"/>
              <a:buChar char="•"/>
              <a:defRPr/>
            </a:pPr>
            <a:r>
              <a:rPr b="0" i="0" lang="en-US" sz="2800" u="none" cap="none" strike="noStrike">
                <a:solidFill>
                  <a:srgbClr val="262626"/>
                </a:solidFill>
                <a:latin typeface="Arial"/>
                <a:ea typeface="Arial"/>
                <a:cs typeface="Arial"/>
                <a:sym typeface="Arial"/>
              </a:rPr>
              <a:t>Which national park is in Kentucky?</a:t>
            </a:r>
            <a:endParaRPr b="0" i="0" sz="1400" u="none" cap="none" strike="noStrike">
              <a:solidFill>
                <a:srgbClr val="000000"/>
              </a:solidFill>
              <a:latin typeface="Arial"/>
              <a:ea typeface="Arial"/>
              <a:cs typeface="Arial"/>
              <a:sym typeface="Arial"/>
            </a:endParaRPr>
          </a:p>
        </p:txBody>
      </p:sp>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25 / 50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705" name="Google Shape;705;p7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graphicFrame>
        <p:nvGraphicFramePr>
          <p:cNvPr id="706" name="Google Shape;706;p70"/>
          <p:cNvGraphicFramePr/>
          <p:nvPr/>
        </p:nvGraphicFramePr>
        <p:xfrm>
          <a:off x="382960" y="1229588"/>
          <a:ext cx="3000000" cy="3000000"/>
        </p:xfrm>
        <a:graphic>
          <a:graphicData uri="http://schemas.openxmlformats.org/drawingml/2006/table">
            <a:tbl>
              <a:tblPr bandRow="1" firstRow="1">
                <a:noFill/>
                <a:tableStyleId>{C29E35A0-A199-4D5F-A4B9-570EDEB1F3FB}</a:tableStyleId>
              </a:tblPr>
              <a:tblGrid>
                <a:gridCol w="5463650"/>
                <a:gridCol w="5463650"/>
              </a:tblGrid>
              <a:tr h="584525">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lt1"/>
                          </a:solidFill>
                          <a:latin typeface="Arial"/>
                          <a:ea typeface="Arial"/>
                          <a:cs typeface="Arial"/>
                          <a:sym typeface="Arial"/>
                        </a:rPr>
                        <a:t>Statistical Questions</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695B9A"/>
                    </a:solidFill>
                  </a:tcPr>
                </a:tc>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lt1"/>
                          </a:solidFill>
                          <a:latin typeface="Arial"/>
                          <a:ea typeface="Arial"/>
                          <a:cs typeface="Arial"/>
                          <a:sym typeface="Arial"/>
                        </a:rPr>
                        <a:t>Nonstatistical Questions</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695B9A"/>
                    </a:solidFill>
                  </a:tcPr>
                </a:tc>
              </a:tr>
              <a:tr h="2520925">
                <a:tc>
                  <a:txBody>
                    <a:bodyPr/>
                    <a:lstStyle/>
                    <a:p>
                      <a:pPr indent="-457200" lvl="0" marL="457200" marR="0" rtl="0" algn="l">
                        <a:lnSpc>
                          <a:spcPct val="100000"/>
                        </a:lnSpc>
                        <a:spcBef>
                          <a:spcPts val="0"/>
                        </a:spcBef>
                        <a:spcAft>
                          <a:spcPts val="0"/>
                        </a:spcAft>
                        <a:buClr>
                          <a:schemeClr val="dk1"/>
                        </a:buClr>
                        <a:buSzPts val="2800"/>
                        <a:buFont typeface="Arial"/>
                        <a:buChar char="•"/>
                      </a:pPr>
                      <a:r>
                        <a:rPr lang="en-US" sz="2800" u="none" cap="none" strike="noStrike">
                          <a:latin typeface="Arial"/>
                          <a:ea typeface="Arial"/>
                          <a:cs typeface="Arial"/>
                          <a:sym typeface="Arial"/>
                        </a:rPr>
                        <a:t>What is your favorite national park?</a:t>
                      </a:r>
                      <a:endParaRPr sz="1400" u="none" cap="none" strike="noStrike"/>
                    </a:p>
                    <a:p>
                      <a:pPr indent="-457200" lvl="0" marL="457200" marR="0" rtl="0" algn="l">
                        <a:lnSpc>
                          <a:spcPct val="100000"/>
                        </a:lnSpc>
                        <a:spcBef>
                          <a:spcPts val="0"/>
                        </a:spcBef>
                        <a:spcAft>
                          <a:spcPts val="0"/>
                        </a:spcAft>
                        <a:buClr>
                          <a:schemeClr val="dk1"/>
                        </a:buClr>
                        <a:buSzPts val="2800"/>
                        <a:buFont typeface="Arial"/>
                        <a:buChar char="•"/>
                      </a:pPr>
                      <a:r>
                        <a:rPr lang="en-US" sz="2800" u="none" cap="none" strike="noStrike">
                          <a:latin typeface="Arial"/>
                          <a:ea typeface="Arial"/>
                          <a:cs typeface="Arial"/>
                          <a:sym typeface="Arial"/>
                        </a:rPr>
                        <a:t>Which national park have you visited?</a:t>
                      </a:r>
                      <a:endParaRPr sz="1400" u="none" cap="none" strike="noStrike"/>
                    </a:p>
                    <a:p>
                      <a:pPr indent="-457200" lvl="0" marL="457200" marR="0" rtl="0" algn="l">
                        <a:lnSpc>
                          <a:spcPct val="100000"/>
                        </a:lnSpc>
                        <a:spcBef>
                          <a:spcPts val="0"/>
                        </a:spcBef>
                        <a:spcAft>
                          <a:spcPts val="0"/>
                        </a:spcAft>
                        <a:buClr>
                          <a:schemeClr val="dk1"/>
                        </a:buClr>
                        <a:buSzPts val="2800"/>
                        <a:buFont typeface="Arial"/>
                        <a:buChar char="•"/>
                      </a:pPr>
                      <a:r>
                        <a:rPr lang="en-US" sz="2800" u="none" cap="none" strike="noStrike">
                          <a:latin typeface="Arial"/>
                          <a:ea typeface="Arial"/>
                          <a:cs typeface="Arial"/>
                          <a:sym typeface="Arial"/>
                        </a:rPr>
                        <a:t>Which national park would you like to visit?</a:t>
                      </a:r>
                      <a:endParaRPr sz="28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457200" lvl="0" marL="457200" marR="0" rtl="0" algn="l">
                        <a:lnSpc>
                          <a:spcPct val="100000"/>
                        </a:lnSpc>
                        <a:spcBef>
                          <a:spcPts val="0"/>
                        </a:spcBef>
                        <a:spcAft>
                          <a:spcPts val="0"/>
                        </a:spcAft>
                        <a:buClr>
                          <a:schemeClr val="dk1"/>
                        </a:buClr>
                        <a:buSzPts val="2800"/>
                        <a:buFont typeface="Arial"/>
                        <a:buChar char="•"/>
                      </a:pPr>
                      <a:r>
                        <a:rPr lang="en-US" sz="2800" u="none" cap="none" strike="noStrike">
                          <a:latin typeface="Arial"/>
                          <a:ea typeface="Arial"/>
                          <a:cs typeface="Arial"/>
                          <a:sym typeface="Arial"/>
                        </a:rPr>
                        <a:t>In what state is Acadia National Park found?</a:t>
                      </a:r>
                      <a:endParaRPr sz="1400" u="none" cap="none" strike="noStrike"/>
                    </a:p>
                    <a:p>
                      <a:pPr indent="-457200" lvl="0" marL="457200" marR="0" rtl="0" algn="l">
                        <a:lnSpc>
                          <a:spcPct val="100000"/>
                        </a:lnSpc>
                        <a:spcBef>
                          <a:spcPts val="0"/>
                        </a:spcBef>
                        <a:spcAft>
                          <a:spcPts val="0"/>
                        </a:spcAft>
                        <a:buClr>
                          <a:schemeClr val="dk1"/>
                        </a:buClr>
                        <a:buSzPts val="2800"/>
                        <a:buFont typeface="Arial"/>
                        <a:buChar char="•"/>
                      </a:pPr>
                      <a:r>
                        <a:rPr lang="en-US" sz="2800" u="none" cap="none" strike="noStrike">
                          <a:latin typeface="Arial"/>
                          <a:ea typeface="Arial"/>
                          <a:cs typeface="Arial"/>
                          <a:sym typeface="Arial"/>
                        </a:rPr>
                        <a:t>When was the Everglades made a national park?</a:t>
                      </a:r>
                      <a:endParaRPr sz="1400" u="none" cap="none" strike="noStrike"/>
                    </a:p>
                    <a:p>
                      <a:pPr indent="-457200" lvl="0" marL="457200" marR="0" rtl="0" algn="l">
                        <a:lnSpc>
                          <a:spcPct val="100000"/>
                        </a:lnSpc>
                        <a:spcBef>
                          <a:spcPts val="0"/>
                        </a:spcBef>
                        <a:spcAft>
                          <a:spcPts val="0"/>
                        </a:spcAft>
                        <a:buClr>
                          <a:schemeClr val="dk1"/>
                        </a:buClr>
                        <a:buSzPts val="2800"/>
                        <a:buFont typeface="Arial"/>
                        <a:buChar char="•"/>
                      </a:pPr>
                      <a:r>
                        <a:rPr lang="en-US" sz="2800" u="none" cap="none" strike="noStrike">
                          <a:latin typeface="Arial"/>
                          <a:ea typeface="Arial"/>
                          <a:cs typeface="Arial"/>
                          <a:sym typeface="Arial"/>
                        </a:rPr>
                        <a:t>Which national park is in Kentucky?</a:t>
                      </a:r>
                      <a:endParaRPr sz="28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707" name="Google Shape;707;p70"/>
          <p:cNvSpPr txBox="1"/>
          <p:nvPr/>
        </p:nvSpPr>
        <p:spPr>
          <a:xfrm>
            <a:off x="382960" y="4652592"/>
            <a:ext cx="4827395" cy="10580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62626"/>
                </a:solidFill>
                <a:latin typeface="Arial"/>
                <a:ea typeface="Arial"/>
                <a:cs typeface="Arial"/>
                <a:sym typeface="Arial"/>
              </a:rPr>
              <a:t>Why do you ask statistical questions for a survey?</a:t>
            </a:r>
            <a:endParaRPr b="0" i="0" sz="1400" u="none" cap="none" strike="noStrike">
              <a:solidFill>
                <a:srgbClr val="000000"/>
              </a:solidFill>
              <a:latin typeface="Arial"/>
              <a:ea typeface="Arial"/>
              <a:cs typeface="Arial"/>
              <a:sym typeface="Arial"/>
            </a:endParaRPr>
          </a:p>
        </p:txBody>
      </p:sp>
      <p:sp>
        <p:nvSpPr>
          <p:cNvPr id="708" name="Google Shape;708;p70"/>
          <p:cNvSpPr txBox="1"/>
          <p:nvPr/>
        </p:nvSpPr>
        <p:spPr>
          <a:xfrm>
            <a:off x="5550182" y="4520576"/>
            <a:ext cx="6414655" cy="192335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chemeClr val="dk2"/>
              </a:buClr>
              <a:buSzPts val="2800"/>
              <a:buFont typeface="Arial"/>
              <a:buNone/>
              <a:defRPr/>
            </a:pPr>
            <a:r>
              <a:rPr b="0" i="0" lang="en-US" sz="2800" u="none" cap="none" strike="noStrike">
                <a:solidFill>
                  <a:schemeClr val="dk2"/>
                </a:solidFill>
                <a:latin typeface="Arial"/>
                <a:ea typeface="Arial"/>
                <a:cs typeface="Arial"/>
                <a:sym typeface="Arial"/>
              </a:rPr>
              <a:t>A survey requires more than one response because it is used to gather information about a topic.</a:t>
            </a:r>
            <a:endParaRPr b="0" i="0" sz="1400" u="none" cap="none" strike="noStrike">
              <a:solidFill>
                <a:srgbClr val="000000"/>
              </a:solidFill>
              <a:latin typeface="Arial"/>
              <a:ea typeface="Arial"/>
              <a:cs typeface="Arial"/>
              <a:sym typeface="Arial"/>
            </a:endParaRPr>
          </a:p>
        </p:txBody>
      </p:sp>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27 / 50</a:t>
            </a:r>
          </a:p>
        </p:txBody>
      </p:sp>
      <p:grpSp>
        <p:nvGrpSpPr>
          <p:cNvPr id="709" name="TEACH-6-student-move" descr="TEACH 6 · Organize and implement routines to support a learning-focused classroom"/>
          <p:cNvGrpSpPr/>
          <p:nvPr/>
        </p:nvGrpSpPr>
        <p:grpSpPr>
          <a:xfrm>
            <a:off x="502920" y="790676"/>
            <a:ext cx="11186160" cy="402336"/>
            <a:chOff x="502920" y="790676"/>
            <a:chExt cx="11186160" cy="402336"/>
          </a:xfrm>
        </p:grpSpPr>
        <p:sp>
          <p:nvSpPr>
            <p:cNvPr id="710" name="TEACH-move-card"/>
            <p:cNvSpPr/>
            <p:nvPr/>
          </p:nvSpPr>
          <p:spPr>
            <a:xfrm>
              <a:off x="502920" y="790676"/>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711" name="TEACH-move-rule"/>
            <p:cNvSpPr/>
            <p:nvPr/>
          </p:nvSpPr>
          <p:spPr>
            <a:xfrm>
              <a:off x="548640" y="867120"/>
              <a:ext cx="100584" cy="249448"/>
            </a:xfrm>
            <a:prstGeom prst="roundRect">
              <a:avLst>
                <a:gd name="adj" fmla="val 50000"/>
              </a:avLst>
            </a:prstGeom>
            <a:solidFill>
              <a:srgbClr val="01708C"/>
            </a:solidFill>
            <a:ln>
              <a:noFill/>
            </a:ln>
          </p:spPr>
          <p:txBody>
            <a:bodyPr/>
            <a:lstStyle/>
            <a:p>
              <a:endParaRPr/>
            </a:p>
          </p:txBody>
        </p:sp>
        <p:sp>
          <p:nvSpPr>
            <p:cNvPr id="712" name="TEACH-move-text"/>
            <p:cNvSpPr txBox="1"/>
            <p:nvPr/>
          </p:nvSpPr>
          <p:spPr>
            <a:xfrm>
              <a:off x="822960" y="790676"/>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TRY IT BEFORE YOU’RE SURE  ·  </a:t>
              </a:r>
              <a:r>
                <a:rPr lang="en-US" sz="1200" dirty="0">
                  <a:solidFill>
                    <a:srgbClr val="13303A"/>
                  </a:solidFill>
                  <a:latin typeface="Arial"/>
                </a:rPr>
                <a:t>Start even if you are not sure. A revised answer counts as much as a first-try answer.</a:t>
              </a:r>
              <a:endParaRPr lang="en-US" sz="1200"/>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2" name="Google Shape;262;p43"/>
          <p:cNvSpPr/>
          <p:nvPr/>
        </p:nvSpPr>
        <p:spPr>
          <a:xfrm>
            <a:off x="0" y="0"/>
            <a:ext cx="12191969" cy="713232"/>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3" name="Google Shape;263;p4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Session 2 Warm-Up</a:t>
            </a:r>
            <a:endParaRPr/>
          </a:p>
        </p:txBody>
      </p:sp>
      <p:sp>
        <p:nvSpPr>
          <p:cNvPr id="264" name="Google Shape;264;p4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2-1 · Understand Statistical Questions</a:t>
            </a:r>
            <a:endParaRPr/>
          </a:p>
        </p:txBody>
      </p:sp>
      <p:sp>
        <p:nvSpPr>
          <p:cNvPr id="265" name="Google Shape;265;p4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6" name="Google Shape;266;p4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267" name="Google Shape;267;p43"/>
          <p:cNvSpPr txBox="1"/>
          <p:nvPr/>
        </p:nvSpPr>
        <p:spPr>
          <a:xfrm>
            <a:off x="640080" y="914400"/>
            <a:ext cx="10911809" cy="4754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200" u="none" cap="none" strike="noStrike">
                <a:solidFill>
                  <a:srgbClr val="14223A"/>
                </a:solidFill>
                <a:latin typeface="Arial"/>
                <a:ea typeface="Arial"/>
                <a:cs typeface="Arial"/>
                <a:sym typeface="Arial"/>
              </a:rPr>
              <a:t>Session 2 Warm-Up</a:t>
            </a:r>
            <a:endParaRPr/>
          </a:p>
        </p:txBody>
      </p:sp>
      <p:sp>
        <p:nvSpPr>
          <p:cNvPr id="268" name="Google Shape;268;p43"/>
          <p:cNvSpPr txBox="1"/>
          <p:nvPr/>
        </p:nvSpPr>
        <p:spPr>
          <a:xfrm>
            <a:off x="640080" y="1426464"/>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500" u="none" cap="none" strike="noStrike">
                <a:solidFill>
                  <a:srgbClr val="475569"/>
                </a:solidFill>
                <a:latin typeface="Arial"/>
                <a:ea typeface="Arial"/>
                <a:cs typeface="Arial"/>
                <a:sym typeface="Arial"/>
              </a:rPr>
              <a:t>Quick review from Session 1 · about 4 minutes</a:t>
            </a:r>
            <a:endParaRPr/>
          </a:p>
        </p:txBody>
      </p:sp>
      <p:sp>
        <p:nvSpPr>
          <p:cNvPr id="269" name="Google Shape;269;p43"/>
          <p:cNvSpPr/>
          <p:nvPr/>
        </p:nvSpPr>
        <p:spPr>
          <a:xfrm>
            <a:off x="640080"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0" name="Google Shape;270;p43"/>
          <p:cNvSpPr/>
          <p:nvPr/>
        </p:nvSpPr>
        <p:spPr>
          <a:xfrm>
            <a:off x="640080"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1" name="Google Shape;271;p43"/>
          <p:cNvSpPr/>
          <p:nvPr/>
        </p:nvSpPr>
        <p:spPr>
          <a:xfrm>
            <a:off x="914400"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272" name="Google Shape;272;p43"/>
          <p:cNvSpPr txBox="1"/>
          <p:nvPr/>
        </p:nvSpPr>
        <p:spPr>
          <a:xfrm>
            <a:off x="144475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Which question is a statistical question?</a:t>
            </a:r>
            <a:endParaRPr/>
          </a:p>
        </p:txBody>
      </p:sp>
      <p:sp>
        <p:nvSpPr>
          <p:cNvPr id="273" name="Google Shape;273;p43"/>
          <p:cNvSpPr/>
          <p:nvPr/>
        </p:nvSpPr>
        <p:spPr>
          <a:xfrm>
            <a:off x="144475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4" name="Google Shape;274;p43"/>
          <p:cNvSpPr txBox="1"/>
          <p:nvPr/>
        </p:nvSpPr>
        <p:spPr>
          <a:xfrm>
            <a:off x="157276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75" name="Google Shape;275;p43"/>
          <p:cNvSpPr txBox="1"/>
          <p:nvPr/>
        </p:nvSpPr>
        <p:spPr>
          <a:xfrm>
            <a:off x="184708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100" u="none" cap="none" strike="noStrike">
                <a:solidFill>
                  <a:srgbClr val="14223A"/>
                </a:solidFill>
                <a:latin typeface="Arial"/>
                <a:ea typeface="Arial"/>
                <a:cs typeface="Arial"/>
                <a:sym typeface="Arial"/>
              </a:rPr>
              <a:t>How tall is Mr. Neft?</a:t>
            </a:r>
            <a:endParaRPr/>
          </a:p>
        </p:txBody>
      </p:sp>
      <p:sp>
        <p:nvSpPr>
          <p:cNvPr id="276" name="Google Shape;276;p43"/>
          <p:cNvSpPr/>
          <p:nvPr/>
        </p:nvSpPr>
        <p:spPr>
          <a:xfrm>
            <a:off x="144475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7" name="Google Shape;277;p43"/>
          <p:cNvSpPr txBox="1"/>
          <p:nvPr/>
        </p:nvSpPr>
        <p:spPr>
          <a:xfrm>
            <a:off x="157276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78" name="Google Shape;278;p43"/>
          <p:cNvSpPr txBox="1"/>
          <p:nvPr/>
        </p:nvSpPr>
        <p:spPr>
          <a:xfrm>
            <a:off x="184708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How many pets do students have?</a:t>
            </a:r>
            <a:endParaRPr/>
          </a:p>
        </p:txBody>
      </p:sp>
      <p:sp>
        <p:nvSpPr>
          <p:cNvPr id="279" name="Google Shape;279;p43"/>
          <p:cNvSpPr/>
          <p:nvPr/>
        </p:nvSpPr>
        <p:spPr>
          <a:xfrm>
            <a:off x="144475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0" name="Google Shape;280;p43"/>
          <p:cNvSpPr txBox="1"/>
          <p:nvPr/>
        </p:nvSpPr>
        <p:spPr>
          <a:xfrm>
            <a:off x="157276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81" name="Google Shape;281;p43"/>
          <p:cNvSpPr txBox="1"/>
          <p:nvPr/>
        </p:nvSpPr>
        <p:spPr>
          <a:xfrm>
            <a:off x="184708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What is the capital of Ohio?</a:t>
            </a:r>
            <a:endParaRPr/>
          </a:p>
        </p:txBody>
      </p:sp>
      <p:sp>
        <p:nvSpPr>
          <p:cNvPr id="282" name="Google Shape;282;p43"/>
          <p:cNvSpPr/>
          <p:nvPr/>
        </p:nvSpPr>
        <p:spPr>
          <a:xfrm>
            <a:off x="144475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3" name="Google Shape;283;p43"/>
          <p:cNvSpPr txBox="1"/>
          <p:nvPr/>
        </p:nvSpPr>
        <p:spPr>
          <a:xfrm>
            <a:off x="157276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284" name="Google Shape;284;p43"/>
          <p:cNvSpPr txBox="1"/>
          <p:nvPr/>
        </p:nvSpPr>
        <p:spPr>
          <a:xfrm>
            <a:off x="184708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How many days are in May?</a:t>
            </a:r>
            <a:endParaRPr/>
          </a:p>
        </p:txBody>
      </p:sp>
      <p:sp>
        <p:nvSpPr>
          <p:cNvPr id="285" name="Google Shape;285;p43"/>
          <p:cNvSpPr/>
          <p:nvPr/>
        </p:nvSpPr>
        <p:spPr>
          <a:xfrm>
            <a:off x="6260576"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6" name="Google Shape;286;p43"/>
          <p:cNvSpPr/>
          <p:nvPr/>
        </p:nvSpPr>
        <p:spPr>
          <a:xfrm>
            <a:off x="6260576"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7" name="Google Shape;287;p43"/>
          <p:cNvSpPr/>
          <p:nvPr/>
        </p:nvSpPr>
        <p:spPr>
          <a:xfrm>
            <a:off x="6534896"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288" name="Google Shape;288;p43"/>
          <p:cNvSpPr txBox="1"/>
          <p:nvPr/>
        </p:nvSpPr>
        <p:spPr>
          <a:xfrm>
            <a:off x="706831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What characterizes a statistical question?</a:t>
            </a:r>
            <a:endParaRPr/>
          </a:p>
        </p:txBody>
      </p:sp>
      <p:sp>
        <p:nvSpPr>
          <p:cNvPr id="289" name="Google Shape;289;p43"/>
          <p:cNvSpPr/>
          <p:nvPr/>
        </p:nvSpPr>
        <p:spPr>
          <a:xfrm>
            <a:off x="706831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0" name="Google Shape;290;p43"/>
          <p:cNvSpPr txBox="1"/>
          <p:nvPr/>
        </p:nvSpPr>
        <p:spPr>
          <a:xfrm>
            <a:off x="719632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91" name="Google Shape;291;p43"/>
          <p:cNvSpPr txBox="1"/>
          <p:nvPr/>
        </p:nvSpPr>
        <p:spPr>
          <a:xfrm>
            <a:off x="747064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Has exactly one answer</a:t>
            </a:r>
            <a:endParaRPr/>
          </a:p>
        </p:txBody>
      </p:sp>
      <p:sp>
        <p:nvSpPr>
          <p:cNvPr id="292" name="Google Shape;292;p43"/>
          <p:cNvSpPr/>
          <p:nvPr/>
        </p:nvSpPr>
        <p:spPr>
          <a:xfrm>
            <a:off x="706831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3" name="Google Shape;293;p43"/>
          <p:cNvSpPr txBox="1"/>
          <p:nvPr/>
        </p:nvSpPr>
        <p:spPr>
          <a:xfrm>
            <a:off x="719632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94" name="Google Shape;294;p43"/>
          <p:cNvSpPr txBox="1"/>
          <p:nvPr/>
        </p:nvSpPr>
        <p:spPr>
          <a:xfrm>
            <a:off x="747064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Expects answers that vary</a:t>
            </a:r>
            <a:endParaRPr/>
          </a:p>
        </p:txBody>
      </p:sp>
      <p:sp>
        <p:nvSpPr>
          <p:cNvPr id="295" name="Google Shape;295;p43"/>
          <p:cNvSpPr/>
          <p:nvPr/>
        </p:nvSpPr>
        <p:spPr>
          <a:xfrm>
            <a:off x="706831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6" name="Google Shape;296;p43"/>
          <p:cNvSpPr txBox="1"/>
          <p:nvPr/>
        </p:nvSpPr>
        <p:spPr>
          <a:xfrm>
            <a:off x="719632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97" name="Google Shape;297;p43"/>
          <p:cNvSpPr txBox="1"/>
          <p:nvPr/>
        </p:nvSpPr>
        <p:spPr>
          <a:xfrm>
            <a:off x="747064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Cannot be graphed</a:t>
            </a:r>
            <a:endParaRPr/>
          </a:p>
        </p:txBody>
      </p:sp>
      <p:sp>
        <p:nvSpPr>
          <p:cNvPr id="298" name="Google Shape;298;p43"/>
          <p:cNvSpPr/>
          <p:nvPr/>
        </p:nvSpPr>
        <p:spPr>
          <a:xfrm>
            <a:off x="706831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9" name="Google Shape;299;p43"/>
          <p:cNvSpPr txBox="1"/>
          <p:nvPr/>
        </p:nvSpPr>
        <p:spPr>
          <a:xfrm>
            <a:off x="719632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00" name="Google Shape;300;p43"/>
          <p:cNvSpPr txBox="1"/>
          <p:nvPr/>
        </p:nvSpPr>
        <p:spPr>
          <a:xfrm>
            <a:off x="747064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Always equals zero</a:t>
            </a:r>
            <a:endParaRPr/>
          </a:p>
        </p:txBody>
      </p:sp>
      <p:sp>
        <p:nvSpPr>
          <p:cNvPr id="301" name="Google Shape;301;p43"/>
          <p:cNvSpPr/>
          <p:nvPr/>
        </p:nvSpPr>
        <p:spPr>
          <a:xfrm>
            <a:off x="640080"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2" name="Google Shape;302;p43"/>
          <p:cNvSpPr/>
          <p:nvPr/>
        </p:nvSpPr>
        <p:spPr>
          <a:xfrm>
            <a:off x="640080"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3" name="Google Shape;303;p43"/>
          <p:cNvSpPr/>
          <p:nvPr/>
        </p:nvSpPr>
        <p:spPr>
          <a:xfrm>
            <a:off x="914400"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304" name="Google Shape;304;p43"/>
          <p:cNvSpPr txBox="1"/>
          <p:nvPr/>
        </p:nvSpPr>
        <p:spPr>
          <a:xfrm>
            <a:off x="144475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“How many letters are in the alphabet?” is:</a:t>
            </a:r>
            <a:endParaRPr/>
          </a:p>
        </p:txBody>
      </p:sp>
      <p:sp>
        <p:nvSpPr>
          <p:cNvPr id="305" name="Google Shape;305;p43"/>
          <p:cNvSpPr/>
          <p:nvPr/>
        </p:nvSpPr>
        <p:spPr>
          <a:xfrm>
            <a:off x="144475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6" name="Google Shape;306;p43"/>
          <p:cNvSpPr txBox="1"/>
          <p:nvPr/>
        </p:nvSpPr>
        <p:spPr>
          <a:xfrm>
            <a:off x="157276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07" name="Google Shape;307;p43"/>
          <p:cNvSpPr txBox="1"/>
          <p:nvPr/>
        </p:nvSpPr>
        <p:spPr>
          <a:xfrm>
            <a:off x="184708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Statistical</a:t>
            </a:r>
            <a:endParaRPr/>
          </a:p>
        </p:txBody>
      </p:sp>
      <p:sp>
        <p:nvSpPr>
          <p:cNvPr id="308" name="Google Shape;308;p43"/>
          <p:cNvSpPr/>
          <p:nvPr/>
        </p:nvSpPr>
        <p:spPr>
          <a:xfrm>
            <a:off x="144475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9" name="Google Shape;309;p43"/>
          <p:cNvSpPr txBox="1"/>
          <p:nvPr/>
        </p:nvSpPr>
        <p:spPr>
          <a:xfrm>
            <a:off x="157276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10" name="Google Shape;310;p43"/>
          <p:cNvSpPr txBox="1"/>
          <p:nvPr/>
        </p:nvSpPr>
        <p:spPr>
          <a:xfrm>
            <a:off x="184708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Non-statistical</a:t>
            </a:r>
            <a:endParaRPr/>
          </a:p>
        </p:txBody>
      </p:sp>
      <p:sp>
        <p:nvSpPr>
          <p:cNvPr id="311" name="Google Shape;311;p43"/>
          <p:cNvSpPr/>
          <p:nvPr/>
        </p:nvSpPr>
        <p:spPr>
          <a:xfrm>
            <a:off x="144475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2" name="Google Shape;312;p43"/>
          <p:cNvSpPr txBox="1"/>
          <p:nvPr/>
        </p:nvSpPr>
        <p:spPr>
          <a:xfrm>
            <a:off x="157276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13" name="Google Shape;313;p43"/>
          <p:cNvSpPr txBox="1"/>
          <p:nvPr/>
        </p:nvSpPr>
        <p:spPr>
          <a:xfrm>
            <a:off x="184708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A numerical spread</a:t>
            </a:r>
            <a:endParaRPr/>
          </a:p>
        </p:txBody>
      </p:sp>
      <p:sp>
        <p:nvSpPr>
          <p:cNvPr id="314" name="Google Shape;314;p43"/>
          <p:cNvSpPr/>
          <p:nvPr/>
        </p:nvSpPr>
        <p:spPr>
          <a:xfrm>
            <a:off x="144475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5" name="Google Shape;315;p43"/>
          <p:cNvSpPr txBox="1"/>
          <p:nvPr/>
        </p:nvSpPr>
        <p:spPr>
          <a:xfrm>
            <a:off x="157276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16" name="Google Shape;316;p43"/>
          <p:cNvSpPr txBox="1"/>
          <p:nvPr/>
        </p:nvSpPr>
        <p:spPr>
          <a:xfrm>
            <a:off x="184708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A survey distribution</a:t>
            </a:r>
            <a:endParaRPr/>
          </a:p>
        </p:txBody>
      </p:sp>
      <p:sp>
        <p:nvSpPr>
          <p:cNvPr id="317" name="Google Shape;317;p43"/>
          <p:cNvSpPr/>
          <p:nvPr/>
        </p:nvSpPr>
        <p:spPr>
          <a:xfrm>
            <a:off x="6260576"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8" name="Google Shape;318;p43"/>
          <p:cNvSpPr/>
          <p:nvPr/>
        </p:nvSpPr>
        <p:spPr>
          <a:xfrm>
            <a:off x="6260576"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9" name="Google Shape;319;p43"/>
          <p:cNvSpPr/>
          <p:nvPr/>
        </p:nvSpPr>
        <p:spPr>
          <a:xfrm>
            <a:off x="6534896"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4</a:t>
            </a:r>
            <a:endParaRPr/>
          </a:p>
        </p:txBody>
      </p:sp>
      <p:sp>
        <p:nvSpPr>
          <p:cNvPr id="320" name="Google Shape;320;p43"/>
          <p:cNvSpPr txBox="1"/>
          <p:nvPr/>
        </p:nvSpPr>
        <p:spPr>
          <a:xfrm>
            <a:off x="706831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Data collected from a statistical question forms a:</a:t>
            </a:r>
            <a:endParaRPr/>
          </a:p>
        </p:txBody>
      </p:sp>
      <p:sp>
        <p:nvSpPr>
          <p:cNvPr id="321" name="Google Shape;321;p43"/>
          <p:cNvSpPr/>
          <p:nvPr/>
        </p:nvSpPr>
        <p:spPr>
          <a:xfrm>
            <a:off x="706831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2" name="Google Shape;322;p43"/>
          <p:cNvSpPr txBox="1"/>
          <p:nvPr/>
        </p:nvSpPr>
        <p:spPr>
          <a:xfrm>
            <a:off x="719632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23" name="Google Shape;323;p43"/>
          <p:cNvSpPr txBox="1"/>
          <p:nvPr/>
        </p:nvSpPr>
        <p:spPr>
          <a:xfrm>
            <a:off x="747064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Single constant number</a:t>
            </a:r>
            <a:endParaRPr/>
          </a:p>
        </p:txBody>
      </p:sp>
      <p:sp>
        <p:nvSpPr>
          <p:cNvPr id="324" name="Google Shape;324;p43"/>
          <p:cNvSpPr/>
          <p:nvPr/>
        </p:nvSpPr>
        <p:spPr>
          <a:xfrm>
            <a:off x="706831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5" name="Google Shape;325;p43"/>
          <p:cNvSpPr txBox="1"/>
          <p:nvPr/>
        </p:nvSpPr>
        <p:spPr>
          <a:xfrm>
            <a:off x="719632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26" name="Google Shape;326;p43"/>
          <p:cNvSpPr txBox="1"/>
          <p:nvPr/>
        </p:nvSpPr>
        <p:spPr>
          <a:xfrm>
            <a:off x="747064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Distribution with variability</a:t>
            </a:r>
            <a:endParaRPr/>
          </a:p>
        </p:txBody>
      </p:sp>
      <p:sp>
        <p:nvSpPr>
          <p:cNvPr id="327" name="Google Shape;327;p43"/>
          <p:cNvSpPr/>
          <p:nvPr/>
        </p:nvSpPr>
        <p:spPr>
          <a:xfrm>
            <a:off x="706831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8" name="Google Shape;328;p43"/>
          <p:cNvSpPr txBox="1"/>
          <p:nvPr/>
        </p:nvSpPr>
        <p:spPr>
          <a:xfrm>
            <a:off x="719632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29" name="Google Shape;329;p43"/>
          <p:cNvSpPr txBox="1"/>
          <p:nvPr/>
        </p:nvSpPr>
        <p:spPr>
          <a:xfrm>
            <a:off x="747064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Zero value</a:t>
            </a:r>
            <a:endParaRPr/>
          </a:p>
        </p:txBody>
      </p:sp>
      <p:sp>
        <p:nvSpPr>
          <p:cNvPr id="330" name="Google Shape;330;p43"/>
          <p:cNvSpPr/>
          <p:nvPr/>
        </p:nvSpPr>
        <p:spPr>
          <a:xfrm>
            <a:off x="706831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1" name="Google Shape;331;p43"/>
          <p:cNvSpPr txBox="1"/>
          <p:nvPr/>
        </p:nvSpPr>
        <p:spPr>
          <a:xfrm>
            <a:off x="719632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32" name="Google Shape;332;p43"/>
          <p:cNvSpPr txBox="1"/>
          <p:nvPr/>
        </p:nvSpPr>
        <p:spPr>
          <a:xfrm>
            <a:off x="747064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Single coordinate point</a:t>
            </a:r>
            <a:endParaRPr/>
          </a:p>
        </p:txBody>
      </p:sp>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28 / 50</a:t>
            </a: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Review Notes</a:t>
            </a:r>
            <a:endParaRPr/>
          </a:p>
        </p:txBody>
      </p:sp>
      <p:sp>
        <p:nvSpPr>
          <p:cNvPr id="523" name="Google Shape;523;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2-1 · Understand Statistical Questions</a:t>
            </a:r>
            <a:endParaRPr/>
          </a:p>
        </p:txBody>
      </p:sp>
      <p:sp>
        <p:nvSpPr>
          <p:cNvPr id="524" name="Google Shape;524;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26" name="Google Shape;526;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Review Notes — Session 2</a:t>
            </a:r>
            <a:endParaRPr/>
          </a:p>
        </p:txBody>
      </p:sp>
      <p:sp>
        <p:nvSpPr>
          <p:cNvPr id="527" name="Google Shape;527;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8" name="Google Shape;528;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29" name="Google Shape;529;p53"/>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3"/>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3"/>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32" name="Google Shape;532;p53"/>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Statistical Questions</a:t>
            </a:r>
            <a:endParaRPr/>
          </a:p>
        </p:txBody>
      </p:sp>
      <p:sp>
        <p:nvSpPr>
          <p:cNvPr id="533" name="Google Shape;533;p53"/>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Anticipate </a:t>
            </a:r>
            <a:r>
              <a:rPr b="1" i="0" lang="en-US" sz="1450" u="none" cap="none" strike="noStrike">
                <a:solidFill>
                  <a:srgbClr val="475569"/>
                </a:solidFill>
                <a:latin typeface="Arial"/>
                <a:ea typeface="Arial"/>
                <a:cs typeface="Arial"/>
                <a:sym typeface="Arial"/>
              </a:rPr>
              <a:t xml:space="preserve">variability</a:t>
            </a:r>
            <a:r>
              <a:rPr b="0" i="0" lang="en-US" sz="1450" u="none" cap="none" strike="noStrike">
                <a:solidFill>
                  <a:srgbClr val="475569"/>
                </a:solidFill>
                <a:latin typeface="Arial"/>
                <a:ea typeface="Arial"/>
                <a:cs typeface="Arial"/>
                <a:sym typeface="Arial"/>
              </a:rPr>
              <a:t xml:space="preserve"> in data responses rather than a single fixed answer.</a:t>
            </a:r>
            <a:endParaRPr/>
          </a:p>
        </p:txBody>
      </p:sp>
      <p:sp>
        <p:nvSpPr>
          <p:cNvPr id="534" name="Google Shape;534;p53"/>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5" name="Google Shape;535;p53"/>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3"/>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37" name="Google Shape;537;p53"/>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Non-Statistical Questions</a:t>
            </a:r>
            <a:endParaRPr/>
          </a:p>
        </p:txBody>
      </p:sp>
      <p:sp>
        <p:nvSpPr>
          <p:cNvPr id="538" name="Google Shape;538;p53"/>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Have one specific, factual, or predetermined numerical answer.</a:t>
            </a:r>
            <a:endParaRPr/>
          </a:p>
        </p:txBody>
      </p:sp>
      <p:sp>
        <p:nvSpPr>
          <p:cNvPr id="539" name="Google Shape;539;p53"/>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0" name="Google Shape;540;p53"/>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1" name="Google Shape;541;p53"/>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42" name="Google Shape;542;p53"/>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Data Distribution</a:t>
            </a:r>
            <a:endParaRPr/>
          </a:p>
        </p:txBody>
      </p:sp>
      <p:sp>
        <p:nvSpPr>
          <p:cNvPr id="543" name="Google Shape;543;p53"/>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Shows all values and how often they occur; described by center, spread, and shape.</a:t>
            </a:r>
            <a:endParaRPr/>
          </a:p>
        </p:txBody>
      </p:sp>
      <p:sp>
        <p:nvSpPr>
          <p:cNvPr id="5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30 / 50</a:t>
            </a:r>
          </a:p>
        </p:txBody>
      </p:sp>
      <p:grpSp>
        <p:nvGrpSpPr>
          <p:cNvPr id="545" name="TEACH-1-student-move" descr="TEACH 1 · Facilitate clear, standards-based content learning"/>
          <p:cNvGrpSpPr/>
          <p:nvPr/>
        </p:nvGrpSpPr>
        <p:grpSpPr>
          <a:xfrm>
            <a:off x="6187440" y="1682496"/>
            <a:ext cx="5501640" cy="594360"/>
            <a:chOff x="6187440" y="1682496"/>
            <a:chExt cx="5501640" cy="594360"/>
          </a:xfrm>
        </p:grpSpPr>
        <p:sp>
          <p:nvSpPr>
            <p:cNvPr id="546"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47"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48"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NAME THE MATH  ·  </a:t>
              </a:r>
              <a:r>
                <a:rPr lang="en-US" sz="1200" dirty="0">
                  <a:solidFill>
                    <a:srgbClr val="13303A"/>
                  </a:solidFill>
                  <a:latin typeface="Arial"/>
                </a:rPr>
                <a:t>Point to the part of this that is new today, and say what it changes.</a:t>
              </a:r>
              <a:endParaRPr lang="en-US" sz="1200"/>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p73"/>
          <p:cNvSpPr txBox="1"/>
          <p:nvPr/>
        </p:nvSpPr>
        <p:spPr>
          <a:xfrm>
            <a:off x="1402828" y="2453950"/>
            <a:ext cx="9144000"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Understand Statistical Questions</a:t>
            </a:r>
            <a:endParaRPr b="0" i="0" sz="1400" u="none" cap="none" strike="noStrike">
              <a:solidFill>
                <a:srgbClr val="000000"/>
              </a:solidFill>
              <a:latin typeface="Arial"/>
              <a:ea typeface="Arial"/>
              <a:cs typeface="Arial"/>
              <a:sym typeface="Arial"/>
            </a:endParaRPr>
          </a:p>
        </p:txBody>
      </p:sp>
      <p:sp>
        <p:nvSpPr>
          <p:cNvPr id="733" name="Google Shape;733;p73"/>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01708C"/>
                </a:solidFill>
                <a:latin typeface="Arial"/>
                <a:ea typeface="Arial"/>
                <a:cs typeface="Arial"/>
                <a:sym typeface="Arial"/>
              </a:rPr>
              <a:t>Session 2</a:t>
            </a:r>
            <a:endParaRPr b="1" i="0" sz="2800" u="none" cap="none" strike="noStrike">
              <a:solidFill>
                <a:srgbClr val="01708C"/>
              </a:solidFill>
              <a:latin typeface="Arial"/>
              <a:ea typeface="Arial"/>
              <a:cs typeface="Arial"/>
              <a:sym typeface="Arial"/>
            </a:endParaRPr>
          </a:p>
        </p:txBody>
      </p:sp>
      <p:cxnSp>
        <p:nvCxnSpPr>
          <p:cNvPr id="734" name="Google Shape;734;p73"/>
          <p:cNvCxnSpPr/>
          <p:nvPr/>
        </p:nvCxnSpPr>
        <p:spPr>
          <a:xfrm>
            <a:off x="-1" y="1560382"/>
            <a:ext cx="3166453" cy="0"/>
          </a:xfrm>
          <a:prstGeom prst="straightConnector1">
            <a:avLst/>
          </a:prstGeom>
          <a:noFill/>
          <a:ln cap="flat" cmpd="sng" w="19050">
            <a:solidFill>
              <a:srgbClr val="01708C"/>
            </a:solidFill>
            <a:prstDash val="solid"/>
            <a:miter lim="80"/>
            <a:headEnd len="sm" w="sm" type="none"/>
            <a:tailEnd len="sm" w="sm" type="none"/>
          </a:ln>
        </p:spPr>
      </p:cxnSp>
      <p:sp>
        <p:nvSpPr>
          <p:cNvPr id="73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31 / 50</a:t>
            </a:r>
          </a:p>
        </p:txBody>
      </p:sp>
      <p:grpSp>
        <p:nvGrpSpPr>
          <p:cNvPr id="736" name="TEACH-5-student-move" descr="TEACH 5 · Facilitate student interactions and academic talk"/>
          <p:cNvGrpSpPr/>
          <p:nvPr/>
        </p:nvGrpSpPr>
        <p:grpSpPr>
          <a:xfrm>
            <a:off x="502920" y="3201929"/>
            <a:ext cx="11186160" cy="731520"/>
            <a:chOff x="502920" y="3201929"/>
            <a:chExt cx="11186160" cy="731520"/>
          </a:xfrm>
        </p:grpSpPr>
        <p:sp>
          <p:nvSpPr>
            <p:cNvPr id="737" name="TEACH-move-card"/>
            <p:cNvSpPr/>
            <p:nvPr/>
          </p:nvSpPr>
          <p:spPr>
            <a:xfrm>
              <a:off x="502920" y="3201929"/>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738" name="TEACH-move-rule"/>
            <p:cNvSpPr/>
            <p:nvPr/>
          </p:nvSpPr>
          <p:spPr>
            <a:xfrm>
              <a:off x="548640" y="3340918"/>
              <a:ext cx="100584" cy="453542"/>
            </a:xfrm>
            <a:prstGeom prst="roundRect">
              <a:avLst>
                <a:gd name="adj" fmla="val 50000"/>
              </a:avLst>
            </a:prstGeom>
            <a:solidFill>
              <a:srgbClr val="01708C"/>
            </a:solidFill>
            <a:ln>
              <a:noFill/>
            </a:ln>
          </p:spPr>
          <p:txBody>
            <a:bodyPr/>
            <a:lstStyle/>
            <a:p>
              <a:endParaRPr/>
            </a:p>
          </p:txBody>
        </p:sp>
        <p:sp>
          <p:nvSpPr>
            <p:cNvPr id="739" name="TEACH-move-text"/>
            <p:cNvSpPr txBox="1"/>
            <p:nvPr/>
          </p:nvSpPr>
          <p:spPr>
            <a:xfrm>
              <a:off x="822960" y="3201929"/>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TAKE TURNS  ·  </a:t>
              </a:r>
              <a:r>
                <a:rPr lang="en-US" sz="1800" dirty="0">
                  <a:solidFill>
                    <a:srgbClr val="13303A"/>
                  </a:solidFill>
                  <a:latin typeface="Arial"/>
                </a:rPr>
                <a:t>One explains, one asks a question. Then switch, so both of you talk.</a:t>
              </a:r>
              <a:endParaRPr lang="en-US" sz="1800"/>
            </a:p>
          </p:txBody>
        </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cxnSp>
        <p:nvCxnSpPr>
          <p:cNvPr id="749" name="Google Shape;749;p7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750" name="Google Shape;750;p75"/>
          <p:cNvPicPr preferRelativeResize="0"/>
          <p:nvPr/>
        </p:nvPicPr>
        <p:blipFill rotWithShape="1">
          <a:blip r:embed="rId3">
            <a:alphaModFix/>
          </a:blip>
          <a:srcRect b="0" l="0" r="0" t="0"/>
          <a:stretch/>
        </p:blipFill>
        <p:spPr>
          <a:xfrm>
            <a:off x="1136938" y="2598486"/>
            <a:ext cx="6038850" cy="1533525"/>
          </a:xfrm>
          <a:prstGeom prst="rect">
            <a:avLst/>
          </a:prstGeom>
          <a:noFill/>
          <a:ln>
            <a:noFill/>
          </a:ln>
        </p:spPr>
      </p:pic>
      <p:sp>
        <p:nvSpPr>
          <p:cNvPr id="751" name="Google Shape;751;p75"/>
          <p:cNvSpPr txBox="1"/>
          <p:nvPr/>
        </p:nvSpPr>
        <p:spPr>
          <a:xfrm>
            <a:off x="474054" y="936101"/>
            <a:ext cx="5216531" cy="141648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What do you notice?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What do you wonder?</a:t>
            </a:r>
            <a:endParaRPr b="0" i="0" sz="1400" u="none" cap="none" strike="noStrike">
              <a:solidFill>
                <a:srgbClr val="000000"/>
              </a:solidFill>
              <a:latin typeface="Arial"/>
              <a:ea typeface="Arial"/>
              <a:cs typeface="Arial"/>
              <a:sym typeface="Arial"/>
            </a:endParaRPr>
          </a:p>
        </p:txBody>
      </p:sp>
      <p:sp>
        <p:nvSpPr>
          <p:cNvPr id="752" name="Google Shape;752;p75"/>
          <p:cNvSpPr txBox="1"/>
          <p:nvPr/>
        </p:nvSpPr>
        <p:spPr>
          <a:xfrm>
            <a:off x="47405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pic>
        <p:nvPicPr>
          <p:cNvPr id="753" name="Google Shape;753;p75"/>
          <p:cNvPicPr preferRelativeResize="0"/>
          <p:nvPr/>
        </p:nvPicPr>
        <p:blipFill rotWithShape="1">
          <a:blip r:embed="rId4">
            <a:alphaModFix/>
          </a:blip>
          <a:srcRect b="0" l="0" r="0" t="0"/>
          <a:stretch/>
        </p:blipFill>
        <p:spPr>
          <a:xfrm>
            <a:off x="474054" y="5010948"/>
            <a:ext cx="5054600" cy="838200"/>
          </a:xfrm>
          <a:prstGeom prst="rect">
            <a:avLst/>
          </a:prstGeom>
          <a:noFill/>
          <a:ln>
            <a:noFill/>
          </a:ln>
        </p:spPr>
      </p:pic>
      <p:sp>
        <p:nvSpPr>
          <p:cNvPr id="754" name="Google Shape;754;p75"/>
          <p:cNvSpPr txBox="1"/>
          <p:nvPr/>
        </p:nvSpPr>
        <p:spPr>
          <a:xfrm>
            <a:off x="3334071" y="5168266"/>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755" name="Google Shape;755;p75"/>
          <p:cNvSpPr/>
          <p:nvPr/>
        </p:nvSpPr>
        <p:spPr>
          <a:xfrm>
            <a:off x="687250" y="5826271"/>
            <a:ext cx="10741420"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 xml:space="preserve">What have you shared with your classmates about your math journey? </a:t>
            </a:r>
            <a:endParaRPr b="0" i="0" sz="1400" u="none" cap="none" strike="noStrike">
              <a:solidFill>
                <a:srgbClr val="000000"/>
              </a:solidFill>
              <a:latin typeface="Arial"/>
              <a:ea typeface="Arial"/>
              <a:cs typeface="Arial"/>
              <a:sym typeface="Arial"/>
            </a:endParaRPr>
          </a:p>
        </p:txBody>
      </p:sp>
      <p:sp>
        <p:nvSpPr>
          <p:cNvPr id="75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32 / 50</a:t>
            </a:r>
          </a:p>
        </p:txBody>
      </p:sp>
      <p:sp xmlns:p="http://schemas.openxmlformats.org/presentationml/2006/main" xmlns:a="http://schemas.openxmlformats.org/drawingml/2006/main">
        <p:nvSpPr>
          <p:cNvPr id="757" name="TEACH-embedded-student-prompt" descr="Student thinking and response directions"/>
          <p:cNvSpPr txBox="1"/>
          <p:nvPr/>
        </p:nvSpPr>
        <p:spPr>
          <a:xfrm>
            <a:off x="594360" y="44439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 build on a classmate’s idea.</a:t>
            </a:r>
            <a:endParaRPr lang="en-US" sz="2000"/>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06" name="Google Shape;806;p8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807" name="Google Shape;807;p81"/>
          <p:cNvPicPr preferRelativeResize="0"/>
          <p:nvPr/>
        </p:nvPicPr>
        <p:blipFill rotWithShape="1">
          <a:blip r:embed="rId2">
            <a:alphaModFix/>
          </a:blip>
          <a:srcRect b="0" l="0" r="0" t="0"/>
          <a:stretch/>
        </p:blipFill>
        <p:spPr>
          <a:xfrm>
            <a:off x="7860292" y="1518060"/>
            <a:ext cx="3866941" cy="2700000"/>
          </a:xfrm>
          <a:prstGeom prst="rect">
            <a:avLst/>
          </a:prstGeom>
          <a:noFill/>
          <a:ln>
            <a:noFill/>
          </a:ln>
        </p:spPr>
      </p:pic>
      <p:sp>
        <p:nvSpPr>
          <p:cNvPr id="808" name="Google Shape;808;p81"/>
          <p:cNvSpPr txBox="1"/>
          <p:nvPr/>
        </p:nvSpPr>
        <p:spPr>
          <a:xfrm>
            <a:off x="505580" y="422188"/>
            <a:ext cx="6673617" cy="274239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Each dot represents a student with that number of pets.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62626"/>
                </a:solidFill>
                <a:latin typeface="Arial"/>
                <a:ea typeface="Arial"/>
                <a:cs typeface="Arial"/>
                <a:sym typeface="Arial"/>
              </a:rPr>
              <a:t>How can you determine how many students Ayasha surveyed?</a:t>
            </a:r>
            <a:endParaRPr b="0" i="0" sz="1400" u="none" cap="none" strike="noStrike">
              <a:solidFill>
                <a:srgbClr val="000000"/>
              </a:solidFill>
              <a:latin typeface="Arial"/>
              <a:ea typeface="Arial"/>
              <a:cs typeface="Arial"/>
              <a:sym typeface="Arial"/>
            </a:endParaRPr>
          </a:p>
        </p:txBody>
      </p:sp>
      <p:sp>
        <p:nvSpPr>
          <p:cNvPr id="809" name="Google Shape;809;p81"/>
          <p:cNvSpPr txBox="1"/>
          <p:nvPr/>
        </p:nvSpPr>
        <p:spPr>
          <a:xfrm>
            <a:off x="505580" y="2675003"/>
            <a:ext cx="5960624" cy="200120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count the total number of dots on the dot plot. There are 22 dots, so 22 students were surveyed.</a:t>
            </a:r>
            <a:endParaRPr b="0" i="0" sz="1400" u="none" cap="none" strike="noStrike">
              <a:solidFill>
                <a:srgbClr val="000000"/>
              </a:solidFill>
              <a:latin typeface="Arial"/>
              <a:ea typeface="Arial"/>
              <a:cs typeface="Arial"/>
              <a:sym typeface="Arial"/>
            </a:endParaRPr>
          </a:p>
        </p:txBody>
      </p:sp>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33 / 50</a:t>
            </a:r>
          </a:p>
        </p:txBody>
      </p:sp>
      <p:sp xmlns:p="http://schemas.openxmlformats.org/presentationml/2006/main" xmlns:a="http://schemas.openxmlformats.org/drawingml/2006/main">
        <p:nvSpPr>
          <p:cNvPr id="810"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 explanation. Explain any revision you make.</a:t>
            </a:r>
            <a:endParaRPr lang="en-US" sz="2000"/>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14" name="Google Shape;814;p8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815" name="Google Shape;815;p82"/>
          <p:cNvPicPr preferRelativeResize="0"/>
          <p:nvPr/>
        </p:nvPicPr>
        <p:blipFill rotWithShape="1">
          <a:blip r:embed="rId2">
            <a:alphaModFix/>
          </a:blip>
          <a:srcRect b="0" l="0" r="0" t="0"/>
          <a:stretch/>
        </p:blipFill>
        <p:spPr>
          <a:xfrm>
            <a:off x="505580" y="4894960"/>
            <a:ext cx="7073900" cy="838200"/>
          </a:xfrm>
          <a:prstGeom prst="rect">
            <a:avLst/>
          </a:prstGeom>
          <a:noFill/>
          <a:ln>
            <a:noFill/>
          </a:ln>
        </p:spPr>
      </p:pic>
      <p:sp>
        <p:nvSpPr>
          <p:cNvPr id="816" name="Google Shape;816;p82"/>
          <p:cNvSpPr txBox="1"/>
          <p:nvPr/>
        </p:nvSpPr>
        <p:spPr>
          <a:xfrm>
            <a:off x="3177382" y="5052278"/>
            <a:ext cx="6783781"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Persevering</a:t>
            </a:r>
            <a:endParaRPr b="0" i="0" sz="1400" u="none" cap="none" strike="noStrike">
              <a:solidFill>
                <a:srgbClr val="000000"/>
              </a:solidFill>
              <a:latin typeface="Arial"/>
              <a:ea typeface="Arial"/>
              <a:cs typeface="Arial"/>
              <a:sym typeface="Arial"/>
            </a:endParaRPr>
          </a:p>
        </p:txBody>
      </p:sp>
      <p:sp>
        <p:nvSpPr>
          <p:cNvPr id="817" name="Google Shape;817;p82"/>
          <p:cNvSpPr/>
          <p:nvPr/>
        </p:nvSpPr>
        <p:spPr>
          <a:xfrm>
            <a:off x="649434" y="5710283"/>
            <a:ext cx="10741420"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defRPr/>
            </a:pPr>
            <a:r>
              <a:rPr b="0" i="0" lang="en-US" sz="2600" u="none" cap="none" strike="noStrike">
                <a:solidFill>
                  <a:srgbClr val="595959"/>
                </a:solidFill>
                <a:latin typeface="Arial"/>
                <a:ea typeface="Arial"/>
                <a:cs typeface="Arial"/>
                <a:sym typeface="Arial"/>
              </a:rPr>
              <a:t>How do you know your approach to the problem makes sense? </a:t>
            </a:r>
            <a:endParaRPr b="0" i="0" sz="1400" u="none" cap="none" strike="noStrike">
              <a:solidFill>
                <a:srgbClr val="000000"/>
              </a:solidFill>
              <a:latin typeface="Arial"/>
              <a:ea typeface="Arial"/>
              <a:cs typeface="Arial"/>
              <a:sym typeface="Arial"/>
            </a:endParaRPr>
          </a:p>
        </p:txBody>
      </p:sp>
      <p:pic>
        <p:nvPicPr>
          <p:cNvPr id="818" name="Google Shape;818;p82"/>
          <p:cNvPicPr preferRelativeResize="0"/>
          <p:nvPr/>
        </p:nvPicPr>
        <p:blipFill rotWithShape="1">
          <a:blip r:embed="rId3">
            <a:alphaModFix/>
          </a:blip>
          <a:srcRect b="0" l="0" r="0" t="0"/>
          <a:stretch/>
        </p:blipFill>
        <p:spPr>
          <a:xfrm>
            <a:off x="7860292" y="1518060"/>
            <a:ext cx="3866941" cy="2700000"/>
          </a:xfrm>
          <a:prstGeom prst="rect">
            <a:avLst/>
          </a:prstGeom>
          <a:noFill/>
          <a:ln>
            <a:noFill/>
          </a:ln>
        </p:spPr>
      </p:pic>
      <p:sp>
        <p:nvSpPr>
          <p:cNvPr id="819" name="Google Shape;819;p82"/>
          <p:cNvSpPr txBox="1"/>
          <p:nvPr/>
        </p:nvSpPr>
        <p:spPr>
          <a:xfrm>
            <a:off x="505580" y="422188"/>
            <a:ext cx="6673617" cy="274239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Each dot represents a student with that number of pets.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62626"/>
                </a:solidFill>
                <a:latin typeface="Arial"/>
                <a:ea typeface="Arial"/>
                <a:cs typeface="Arial"/>
                <a:sym typeface="Arial"/>
              </a:rPr>
              <a:t>How can you determine how many students Ayasha surveyed?</a:t>
            </a:r>
            <a:endParaRPr b="0" i="0" sz="1400" u="none" cap="none" strike="noStrike">
              <a:solidFill>
                <a:srgbClr val="000000"/>
              </a:solidFill>
              <a:latin typeface="Arial"/>
              <a:ea typeface="Arial"/>
              <a:cs typeface="Arial"/>
              <a:sym typeface="Arial"/>
            </a:endParaRPr>
          </a:p>
        </p:txBody>
      </p:sp>
      <p:sp>
        <p:nvSpPr>
          <p:cNvPr id="820" name="Google Shape;820;p82"/>
          <p:cNvSpPr txBox="1"/>
          <p:nvPr/>
        </p:nvSpPr>
        <p:spPr>
          <a:xfrm>
            <a:off x="505580" y="2675003"/>
            <a:ext cx="5960624" cy="200120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count the total number of dots on the dot plot. There are 22 dots, so 22 students were surveyed.</a:t>
            </a:r>
            <a:endParaRPr b="0" i="0" sz="1400" u="none" cap="none" strike="noStrike">
              <a:solidFill>
                <a:srgbClr val="000000"/>
              </a:solidFill>
              <a:latin typeface="Arial"/>
              <a:ea typeface="Arial"/>
              <a:cs typeface="Arial"/>
              <a:sym typeface="Arial"/>
            </a:endParaRPr>
          </a:p>
        </p:txBody>
      </p:sp>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34 / 50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49" name="Google Shape;849;p8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50" name="Google Shape;850;p86"/>
          <p:cNvSpPr txBox="1"/>
          <p:nvPr/>
        </p:nvSpPr>
        <p:spPr>
          <a:xfrm>
            <a:off x="484565" y="582417"/>
            <a:ext cx="6673617" cy="11294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62626"/>
                </a:solidFill>
                <a:latin typeface="Arial"/>
                <a:ea typeface="Arial"/>
                <a:cs typeface="Arial"/>
                <a:sym typeface="Arial"/>
              </a:rPr>
              <a:t>What is the most common number of pets?</a:t>
            </a:r>
            <a:endParaRPr b="0" i="0" sz="1400" u="none" cap="none" strike="noStrike">
              <a:solidFill>
                <a:srgbClr val="000000"/>
              </a:solidFill>
              <a:latin typeface="Arial"/>
              <a:ea typeface="Arial"/>
              <a:cs typeface="Arial"/>
              <a:sym typeface="Arial"/>
            </a:endParaRPr>
          </a:p>
        </p:txBody>
      </p:sp>
      <p:pic>
        <p:nvPicPr>
          <p:cNvPr id="851" name="Google Shape;851;p86"/>
          <p:cNvPicPr preferRelativeResize="0"/>
          <p:nvPr/>
        </p:nvPicPr>
        <p:blipFill rotWithShape="1">
          <a:blip r:embed="rId2">
            <a:alphaModFix/>
          </a:blip>
          <a:srcRect b="0" l="0" r="0" t="0"/>
          <a:stretch/>
        </p:blipFill>
        <p:spPr>
          <a:xfrm>
            <a:off x="7860292" y="1518060"/>
            <a:ext cx="3866941" cy="2700000"/>
          </a:xfrm>
          <a:prstGeom prst="rect">
            <a:avLst/>
          </a:prstGeom>
          <a:noFill/>
          <a:ln>
            <a:noFill/>
          </a:ln>
        </p:spPr>
      </p:pic>
      <p:sp>
        <p:nvSpPr>
          <p:cNvPr id="852" name="Google Shape;852;p86"/>
          <p:cNvSpPr txBox="1"/>
          <p:nvPr/>
        </p:nvSpPr>
        <p:spPr>
          <a:xfrm>
            <a:off x="484565" y="3757333"/>
            <a:ext cx="5960624" cy="205867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Two has the greatest number of dots, so two is the most common number of pets.</a:t>
            </a:r>
            <a:endParaRPr b="0" i="0" sz="1400" u="none" cap="none" strike="noStrike">
              <a:solidFill>
                <a:srgbClr val="000000"/>
              </a:solidFill>
              <a:latin typeface="Arial"/>
              <a:ea typeface="Arial"/>
              <a:cs typeface="Arial"/>
              <a:sym typeface="Arial"/>
            </a:endParaRPr>
          </a:p>
        </p:txBody>
      </p:sp>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36 / 50</a:t>
            </a:r>
          </a:p>
        </p:txBody>
      </p:sp>
      <p:sp xmlns:p="http://schemas.openxmlformats.org/presentationml/2006/main" xmlns:a="http://schemas.openxmlformats.org/drawingml/2006/main">
        <p:nvSpPr>
          <p:cNvPr id="853" name="TEACH-embedded-student-prompt" descr="Student thinking and response directions"/>
          <p:cNvSpPr txBox="1"/>
          <p:nvPr/>
        </p:nvSpPr>
        <p:spPr>
          <a:xfrm>
            <a:off x="594360" y="285292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a:t>
            </a:r>
            <a:endParaRPr lang="en-US" sz="2000"/>
          </a:p>
          <a:p>
            <a:pPr>
              <a:lnSpc>
                <a:spcPts val="2400"/>
              </a:lnSpc>
              <a:buNone/>
            </a:pPr>
            <a:r>
              <a:rPr lang="en-US" sz="2000">
                <a:solidFill>
                  <a:srgbClr val="174D60"/>
                </a:solidFill>
                <a:latin typeface="Arial"/>
              </a:rPr>
              <a:t>explanation. Explain any revision you make.</a:t>
            </a:r>
            <a:endParaRPr lang="en-US" sz="20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cxnSp>
        <p:nvCxnSpPr>
          <p:cNvPr id="769" name="Google Shape;769;p7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770" name="Google Shape;770;p77"/>
          <p:cNvPicPr preferRelativeResize="0"/>
          <p:nvPr/>
        </p:nvPicPr>
        <p:blipFill rotWithShape="1">
          <a:blip r:embed="rId3">
            <a:alphaModFix/>
          </a:blip>
          <a:srcRect b="0" l="0" r="0" t="0"/>
          <a:stretch/>
        </p:blipFill>
        <p:spPr>
          <a:xfrm>
            <a:off x="7076429" y="1385887"/>
            <a:ext cx="4629150" cy="2867025"/>
          </a:xfrm>
          <a:prstGeom prst="rect">
            <a:avLst/>
          </a:prstGeom>
          <a:noFill/>
          <a:ln>
            <a:noFill/>
          </a:ln>
        </p:spPr>
      </p:pic>
      <p:sp>
        <p:nvSpPr>
          <p:cNvPr id="771" name="Google Shape;771;p77"/>
          <p:cNvSpPr txBox="1"/>
          <p:nvPr/>
        </p:nvSpPr>
        <p:spPr>
          <a:xfrm>
            <a:off x="484565" y="936100"/>
            <a:ext cx="6673617" cy="28670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Ayasha conducted a survey about the number of pets the students in her class have. The results of her survey are shown.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How can Ayasha display the data to help her summarize her findings?</a:t>
            </a:r>
            <a:endParaRPr b="0" i="0" sz="1400" u="none" cap="none" strike="noStrike">
              <a:solidFill>
                <a:srgbClr val="000000"/>
              </a:solidFill>
              <a:latin typeface="Arial"/>
              <a:ea typeface="Arial"/>
              <a:cs typeface="Arial"/>
              <a:sym typeface="Arial"/>
            </a:endParaRPr>
          </a:p>
        </p:txBody>
      </p:sp>
      <p:sp>
        <p:nvSpPr>
          <p:cNvPr id="772" name="Google Shape;772;p77"/>
          <p:cNvSpPr txBox="1"/>
          <p:nvPr/>
        </p:nvSpPr>
        <p:spPr>
          <a:xfrm>
            <a:off x="484565" y="316034"/>
            <a:ext cx="499259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Pets</a:t>
            </a:r>
            <a:endParaRPr b="0" i="0" sz="1400" u="none" cap="none" strike="noStrike">
              <a:solidFill>
                <a:srgbClr val="000000"/>
              </a:solidFill>
              <a:latin typeface="Arial"/>
              <a:ea typeface="Arial"/>
              <a:cs typeface="Arial"/>
              <a:sym typeface="Arial"/>
            </a:endParaRPr>
          </a:p>
        </p:txBody>
      </p:sp>
      <p:sp>
        <p:nvSpPr>
          <p:cNvPr id="773" name="Google Shape;773;p77"/>
          <p:cNvSpPr txBox="1"/>
          <p:nvPr/>
        </p:nvSpPr>
        <p:spPr>
          <a:xfrm>
            <a:off x="484565" y="4677804"/>
            <a:ext cx="5072857" cy="16721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cap="none" strike="noStrike">
                <a:solidFill>
                  <a:schemeClr val="lt1"/>
                </a:solidFill>
                <a:highlight>
                  <a:srgbClr val="1E2682"/>
                </a:highlight>
                <a:latin typeface="Arial"/>
                <a:ea typeface="Arial"/>
                <a:cs typeface="Arial"/>
                <a:sym typeface="Arial"/>
              </a:rPr>
              <a:t xml:space="preserve"> Think About It</a:t>
            </a:r>
            <a:r>
              <a:rPr b="1" i="0" lang="en-US" sz="2800" u="none" cap="none" strike="noStrike">
                <a:solidFill>
                  <a:srgbClr val="1E2682"/>
                </a:solidFill>
                <a:highlight>
                  <a:srgbClr val="1E2682"/>
                </a:highlight>
                <a:latin typeface="Arial"/>
                <a:ea typeface="Arial"/>
                <a:cs typeface="Arial"/>
                <a:sym typeface="Arial"/>
              </a:rPr>
              <a:t>:</a:t>
            </a:r>
            <a:r>
              <a:rPr b="1" i="0" lang="en-US" sz="2800" u="none" cap="none" strike="noStrike">
                <a:solidFill>
                  <a:schemeClr val="lt1"/>
                </a:solidFill>
                <a:highlight>
                  <a:srgbClr val="1E2682"/>
                </a:highlight>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What are some ways you have displayed data in the past?</a:t>
            </a:r>
            <a:endParaRPr b="0" i="0" sz="1400" u="none" cap="none" strike="noStrike">
              <a:solidFill>
                <a:srgbClr val="000000"/>
              </a:solidFill>
              <a:latin typeface="Arial"/>
              <a:ea typeface="Arial"/>
              <a:cs typeface="Arial"/>
              <a:sym typeface="Arial"/>
            </a:endParaRPr>
          </a:p>
        </p:txBody>
      </p:sp>
      <p:sp>
        <p:nvSpPr>
          <p:cNvPr id="77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37 / 50</a:t>
            </a:r>
          </a:p>
        </p:txBody>
      </p:sp>
      <p:sp>
        <p:nvSpPr>
          <p:cNvPr id="775"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SUMMARIZE</a:t>
            </a:r>
            <a:r>
              <a:rPr lang="en-US" sz="1200" b="1">
                <a:solidFill>
                  <a:srgbClr val="5D6872"/>
                </a:solidFill>
                <a:latin typeface="Arial"/>
              </a:rPr>
              <a:t xml:space="preserve">  ·  SAY IT IN YOUR OWN WORDS</a:t>
            </a:r>
          </a:p>
        </p:txBody>
      </p:sp>
      <p:sp xmlns:p="http://schemas.openxmlformats.org/presentationml/2006/main" xmlns:a="http://schemas.openxmlformats.org/drawingml/2006/main">
        <p:nvSpPr>
          <p:cNvPr id="776" name="TEACH-embedded-student-prompt" descr="Student thinking and response directions"/>
          <p:cNvSpPr txBox="1"/>
          <p:nvPr/>
        </p:nvSpPr>
        <p:spPr>
          <a:xfrm>
            <a:off x="6111240" y="55046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a:t>
            </a:r>
            <a:endParaRPr lang="en-US" sz="2000"/>
          </a:p>
          <a:p>
            <a:pPr>
              <a:lnSpc>
                <a:spcPts val="2400"/>
              </a:lnSpc>
              <a:buNone/>
            </a:pPr>
            <a:r>
              <a:rPr lang="en-US" sz="2000">
                <a:solidFill>
                  <a:srgbClr val="174D60"/>
                </a:solidFill>
                <a:latin typeface="Arial"/>
              </a:rPr>
              <a:t>work supports your answer?</a:t>
            </a:r>
            <a:endParaRPr lang="en-US" sz="20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sp>
        <p:nvSpPr>
          <p:cNvPr id="788" name="Google Shape;788;p79"/>
          <p:cNvSpPr txBox="1"/>
          <p:nvPr/>
        </p:nvSpPr>
        <p:spPr>
          <a:xfrm>
            <a:off x="406928" y="483005"/>
            <a:ext cx="6802927" cy="164381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400"/>
              <a:buFont typeface="Arial"/>
              <a:buNone/>
              <a:defRPr/>
            </a:pPr>
            <a:r>
              <a:rPr b="0" i="0" lang="en-US" sz="2400" u="none" cap="none" strike="noStrike">
                <a:solidFill>
                  <a:srgbClr val="23282D"/>
                </a:solidFill>
                <a:latin typeface="Arial"/>
                <a:ea typeface="Arial"/>
                <a:cs typeface="Arial"/>
                <a:sym typeface="Arial"/>
              </a:rPr>
              <a:t xml:space="preserve">You can display the data collected in the survey by creating a dot plot. A </a:t>
            </a:r>
            <a:r>
              <a:rPr b="1" i="0" lang="en-US" sz="2400" u="none" cap="none" strike="noStrike">
                <a:solidFill>
                  <a:srgbClr val="23282D"/>
                </a:solidFill>
                <a:highlight>
                  <a:srgbClr val="FFFF00"/>
                </a:highlight>
                <a:latin typeface="Arial"/>
                <a:ea typeface="Arial"/>
                <a:cs typeface="Arial"/>
                <a:sym typeface="Arial"/>
              </a:rPr>
              <a:t>dot plot</a:t>
            </a:r>
            <a:r>
              <a:rPr b="0" i="0" lang="en-US" sz="2400" u="none" cap="none" strike="noStrike">
                <a:solidFill>
                  <a:srgbClr val="23282D"/>
                </a:solidFill>
                <a:latin typeface="Arial"/>
                <a:ea typeface="Arial"/>
                <a:cs typeface="Arial"/>
                <a:sym typeface="Arial"/>
              </a:rPr>
              <a:t xml:space="preserve"> is similar to a line plot, except it uses dots to represent the data along a number line.</a:t>
            </a:r>
            <a:endParaRPr b="1" i="0" sz="2400" u="none" cap="none" strike="noStrike">
              <a:solidFill>
                <a:srgbClr val="262626"/>
              </a:solidFill>
              <a:latin typeface="Arial"/>
              <a:ea typeface="Arial"/>
              <a:cs typeface="Arial"/>
              <a:sym typeface="Arial"/>
            </a:endParaRPr>
          </a:p>
        </p:txBody>
      </p:sp>
      <p:cxnSp>
        <p:nvCxnSpPr>
          <p:cNvPr id="789" name="Google Shape;789;p7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790" name="Google Shape;790;p79"/>
          <p:cNvPicPr preferRelativeResize="0"/>
          <p:nvPr/>
        </p:nvPicPr>
        <p:blipFill rotWithShape="1">
          <a:blip r:embed="rId3">
            <a:alphaModFix/>
          </a:blip>
          <a:srcRect b="0" l="0" r="0" t="0"/>
          <a:stretch/>
        </p:blipFill>
        <p:spPr>
          <a:xfrm>
            <a:off x="3473442" y="1905333"/>
            <a:ext cx="3284260" cy="2293152"/>
          </a:xfrm>
          <a:prstGeom prst="rect">
            <a:avLst/>
          </a:prstGeom>
          <a:noFill/>
          <a:ln>
            <a:noFill/>
          </a:ln>
        </p:spPr>
      </p:pic>
      <p:pic>
        <p:nvPicPr>
          <p:cNvPr id="791" name="Google Shape;791;p79"/>
          <p:cNvPicPr preferRelativeResize="0"/>
          <p:nvPr/>
        </p:nvPicPr>
        <p:blipFill rotWithShape="1">
          <a:blip r:embed="rId4">
            <a:alphaModFix/>
          </a:blip>
          <a:srcRect b="0" l="0" r="0" t="0"/>
          <a:stretch/>
        </p:blipFill>
        <p:spPr>
          <a:xfrm>
            <a:off x="7076429" y="1385887"/>
            <a:ext cx="4629150" cy="2867025"/>
          </a:xfrm>
          <a:prstGeom prst="rect">
            <a:avLst/>
          </a:prstGeom>
          <a:noFill/>
          <a:ln>
            <a:noFill/>
          </a:ln>
        </p:spPr>
      </p:pic>
      <p:sp>
        <p:nvSpPr>
          <p:cNvPr id="792" name="Google Shape;792;p79"/>
          <p:cNvSpPr txBox="1"/>
          <p:nvPr/>
        </p:nvSpPr>
        <p:spPr>
          <a:xfrm>
            <a:off x="406927" y="4321598"/>
            <a:ext cx="6802927" cy="90288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400"/>
              <a:buFont typeface="Arial"/>
              <a:buNone/>
              <a:defRPr/>
            </a:pPr>
            <a:r>
              <a:rPr b="1" i="0" lang="en-US" sz="2400" u="none" cap="none" strike="noStrike">
                <a:solidFill>
                  <a:srgbClr val="23282D"/>
                </a:solidFill>
                <a:latin typeface="Arial"/>
                <a:ea typeface="Arial"/>
                <a:cs typeface="Arial"/>
                <a:sym typeface="Arial"/>
              </a:rPr>
              <a:t>What does each dot on the dot plot represent?</a:t>
            </a:r>
            <a:endParaRPr b="0" i="0" sz="1400" u="none" cap="none" strike="noStrike">
              <a:solidFill>
                <a:srgbClr val="000000"/>
              </a:solidFill>
              <a:latin typeface="Arial"/>
              <a:ea typeface="Arial"/>
              <a:cs typeface="Arial"/>
              <a:sym typeface="Arial"/>
            </a:endParaRPr>
          </a:p>
        </p:txBody>
      </p:sp>
      <p:sp>
        <p:nvSpPr>
          <p:cNvPr id="793" name="Google Shape;793;p79"/>
          <p:cNvSpPr txBox="1"/>
          <p:nvPr/>
        </p:nvSpPr>
        <p:spPr>
          <a:xfrm>
            <a:off x="406926" y="5293167"/>
            <a:ext cx="9142515" cy="108182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Each dot represents a student with that number of pets.</a:t>
            </a:r>
            <a:endParaRPr b="0" i="0" sz="1400" u="none" cap="none" strike="noStrike">
              <a:solidFill>
                <a:srgbClr val="000000"/>
              </a:solidFill>
              <a:latin typeface="Arial"/>
              <a:ea typeface="Arial"/>
              <a:cs typeface="Arial"/>
              <a:sym typeface="Arial"/>
            </a:endParaRPr>
          </a:p>
        </p:txBody>
      </p:sp>
      <p:sp>
        <p:nvSpPr>
          <p:cNvPr id="79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38 / 50</a:t>
            </a:r>
          </a:p>
        </p:txBody>
      </p:sp>
      <p:sp>
        <p:nvSpPr>
          <p:cNvPr id="795" name="EWL-COVER-1"/>
          <p:cNvSpPr/>
          <p:nvPr/>
        </p:nvSpPr>
        <p:spPr>
          <a:xfrm>
            <a:off x="352062" y="5238303"/>
            <a:ext cx="9252243" cy="1191556"/>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9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cxnSp>
        <p:nvCxnSpPr>
          <p:cNvPr id="833" name="Google Shape;833;p8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34" name="Google Shape;834;p84"/>
          <p:cNvSpPr txBox="1"/>
          <p:nvPr/>
        </p:nvSpPr>
        <p:spPr>
          <a:xfrm>
            <a:off x="475938" y="556538"/>
            <a:ext cx="6673617" cy="373941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Next, let’s analyze the data in the dot plot.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What is the least number of pets owned? What is the greatest number of pets owned?</a:t>
            </a:r>
            <a:endParaRPr b="0" i="0" sz="1400" u="none" cap="none" strike="noStrike">
              <a:solidFill>
                <a:srgbClr val="000000"/>
              </a:solidFill>
              <a:latin typeface="Arial"/>
              <a:ea typeface="Arial"/>
              <a:cs typeface="Arial"/>
              <a:sym typeface="Arial"/>
            </a:endParaRPr>
          </a:p>
        </p:txBody>
      </p:sp>
      <p:sp>
        <p:nvSpPr>
          <p:cNvPr id="835" name="Google Shape;835;p84"/>
          <p:cNvSpPr txBox="1"/>
          <p:nvPr/>
        </p:nvSpPr>
        <p:spPr>
          <a:xfrm>
            <a:off x="475938" y="4421031"/>
            <a:ext cx="6530504" cy="188043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The least number of pets is zero and the greatest number of pets is 5.</a:t>
            </a:r>
            <a:endParaRPr b="0" i="0" sz="1400" u="none" cap="none" strike="noStrike">
              <a:solidFill>
                <a:srgbClr val="000000"/>
              </a:solidFill>
              <a:latin typeface="Arial"/>
              <a:ea typeface="Arial"/>
              <a:cs typeface="Arial"/>
              <a:sym typeface="Arial"/>
            </a:endParaRPr>
          </a:p>
        </p:txBody>
      </p:sp>
      <p:pic>
        <p:nvPicPr>
          <p:cNvPr id="836" name="Google Shape;836;p84"/>
          <p:cNvPicPr preferRelativeResize="0"/>
          <p:nvPr/>
        </p:nvPicPr>
        <p:blipFill rotWithShape="1">
          <a:blip r:embed="rId3">
            <a:alphaModFix/>
          </a:blip>
          <a:srcRect b="0" l="0" r="0" t="0"/>
          <a:stretch/>
        </p:blipFill>
        <p:spPr>
          <a:xfrm>
            <a:off x="7860292" y="1518060"/>
            <a:ext cx="3866941" cy="2700000"/>
          </a:xfrm>
          <a:prstGeom prst="rect">
            <a:avLst/>
          </a:prstGeom>
          <a:noFill/>
          <a:ln>
            <a:noFill/>
          </a:ln>
        </p:spPr>
      </p:pic>
      <p:sp>
        <p:nvSpPr>
          <p:cNvPr id="83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40 / 50</a:t>
            </a:r>
          </a:p>
        </p:txBody>
      </p:sp>
      <p:sp>
        <p:nvSpPr>
          <p:cNvPr id="838" name="EWL-COVER-1"/>
          <p:cNvSpPr/>
          <p:nvPr/>
        </p:nvSpPr>
        <p:spPr>
          <a:xfrm>
            <a:off x="421074" y="4366167"/>
            <a:ext cx="6640232" cy="1990159"/>
          </a:xfrm>
          <a:prstGeom prst="rect">
            <a:avLst/>
          </a:prstGeom>
          <a:solidFill>
            <a:srgbClr val="FFFFFF"/>
          </a:solidFill>
          <a:ln>
            <a:noFill/>
          </a:ln>
        </p:spPr>
        <p:txBody>
          <a:bodyPr/>
          <a:lstStyle/>
          <a:p/>
        </p:txBody>
      </p:sp>
      <p:sp xmlns:p="http://schemas.openxmlformats.org/presentationml/2006/main" xmlns:a="http://schemas.openxmlformats.org/drawingml/2006/main">
        <p:nvSpPr>
          <p:cNvPr id="839" name="TEACH-embedded-student-prompt" descr="Student thinking and response directions"/>
          <p:cNvSpPr txBox="1"/>
          <p:nvPr/>
        </p:nvSpPr>
        <p:spPr>
          <a:xfrm>
            <a:off x="7391400" y="51937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a:t>
            </a:r>
            <a:endParaRPr lang="en-US" sz="2000"/>
          </a:p>
          <a:p>
            <a:pPr>
              <a:lnSpc>
                <a:spcPts val="2400"/>
              </a:lnSpc>
              <a:buNone/>
            </a:pPr>
            <a:r>
              <a:rPr lang="en-US" sz="2000">
                <a:solidFill>
                  <a:srgbClr val="174D60"/>
                </a:solidFill>
                <a:latin typeface="Arial"/>
              </a:rPr>
              <a:t>reveal. Compare, then explain</a:t>
            </a:r>
            <a:endParaRPr lang="en-US" sz="2000"/>
          </a:p>
          <a:p>
            <a:pPr>
              <a:lnSpc>
                <a:spcPts val="2400"/>
              </a:lnSpc>
              <a:buNone/>
            </a:pPr>
            <a:r>
              <a:rPr lang="en-US" sz="2000">
                <a:solidFill>
                  <a:srgbClr val="174D60"/>
                </a:solidFill>
                <a:latin typeface="Arial"/>
              </a:rPr>
              <a:t>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3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cxnSp>
        <p:nvCxnSpPr>
          <p:cNvPr id="867" name="Google Shape;867;p8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68" name="Google Shape;868;p88"/>
          <p:cNvSpPr txBox="1"/>
          <p:nvPr/>
        </p:nvSpPr>
        <p:spPr>
          <a:xfrm>
            <a:off x="484565" y="936100"/>
            <a:ext cx="6673617" cy="394993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Two is the most common number of pets.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 xml:space="preserve">A dot plot also shows the </a:t>
            </a:r>
            <a:r>
              <a:rPr b="1" i="0" lang="en-US" sz="2800" u="none" cap="none" strike="noStrike">
                <a:solidFill>
                  <a:srgbClr val="23282D"/>
                </a:solidFill>
                <a:highlight>
                  <a:srgbClr val="FFFF00"/>
                </a:highlight>
                <a:latin typeface="Arial"/>
                <a:ea typeface="Arial"/>
                <a:cs typeface="Arial"/>
                <a:sym typeface="Arial"/>
              </a:rPr>
              <a:t>distribution</a:t>
            </a:r>
            <a:r>
              <a:rPr b="0" i="0" lang="en-US" sz="2800" u="none" cap="none" strike="noStrike">
                <a:solidFill>
                  <a:srgbClr val="23282D"/>
                </a:solidFill>
                <a:latin typeface="Arial"/>
                <a:ea typeface="Arial"/>
                <a:cs typeface="Arial"/>
                <a:sym typeface="Arial"/>
              </a:rPr>
              <a:t>, or the shape of the data.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What do you notice about the shape of the dot plot?</a:t>
            </a:r>
            <a:endParaRPr b="0" i="0" sz="1400" u="none" cap="none" strike="noStrike">
              <a:solidFill>
                <a:srgbClr val="000000"/>
              </a:solidFill>
              <a:latin typeface="Arial"/>
              <a:ea typeface="Arial"/>
              <a:cs typeface="Arial"/>
              <a:sym typeface="Arial"/>
            </a:endParaRPr>
          </a:p>
        </p:txBody>
      </p:sp>
      <p:sp>
        <p:nvSpPr>
          <p:cNvPr id="869" name="Google Shape;869;p88"/>
          <p:cNvSpPr txBox="1"/>
          <p:nvPr/>
        </p:nvSpPr>
        <p:spPr>
          <a:xfrm>
            <a:off x="484565" y="316034"/>
            <a:ext cx="5382835"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    Collaborate and Connect</a:t>
            </a:r>
            <a:endParaRPr b="0" i="0" sz="1400" u="none" cap="none" strike="noStrike">
              <a:solidFill>
                <a:srgbClr val="000000"/>
              </a:solidFill>
              <a:latin typeface="Arial"/>
              <a:ea typeface="Arial"/>
              <a:cs typeface="Arial"/>
              <a:sym typeface="Arial"/>
            </a:endParaRPr>
          </a:p>
        </p:txBody>
      </p:sp>
      <p:pic>
        <p:nvPicPr>
          <p:cNvPr id="870" name="Google Shape;870;p88"/>
          <p:cNvPicPr preferRelativeResize="0"/>
          <p:nvPr/>
        </p:nvPicPr>
        <p:blipFill rotWithShape="1">
          <a:blip r:embed="rId3">
            <a:alphaModFix/>
          </a:blip>
          <a:srcRect b="0" l="0" r="0" t="0"/>
          <a:stretch/>
        </p:blipFill>
        <p:spPr>
          <a:xfrm>
            <a:off x="558276" y="386230"/>
            <a:ext cx="353635" cy="340537"/>
          </a:xfrm>
          <a:prstGeom prst="rect">
            <a:avLst/>
          </a:prstGeom>
          <a:noFill/>
          <a:ln>
            <a:noFill/>
          </a:ln>
        </p:spPr>
      </p:pic>
      <p:sp>
        <p:nvSpPr>
          <p:cNvPr id="871" name="Google Shape;871;p88"/>
          <p:cNvSpPr txBox="1"/>
          <p:nvPr/>
        </p:nvSpPr>
        <p:spPr>
          <a:xfrm>
            <a:off x="484565" y="4886036"/>
            <a:ext cx="9720484" cy="155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Two has the most dots. The number of dots decreases as you move away from the most common value.</a:t>
            </a:r>
            <a:endParaRPr b="0" i="0" sz="1400" u="none" cap="none" strike="noStrike">
              <a:solidFill>
                <a:srgbClr val="000000"/>
              </a:solidFill>
              <a:latin typeface="Arial"/>
              <a:ea typeface="Arial"/>
              <a:cs typeface="Arial"/>
              <a:sym typeface="Arial"/>
            </a:endParaRPr>
          </a:p>
        </p:txBody>
      </p:sp>
      <p:pic>
        <p:nvPicPr>
          <p:cNvPr id="872" name="Google Shape;872;p88"/>
          <p:cNvPicPr preferRelativeResize="0"/>
          <p:nvPr/>
        </p:nvPicPr>
        <p:blipFill rotWithShape="1">
          <a:blip r:embed="rId4">
            <a:alphaModFix/>
          </a:blip>
          <a:srcRect b="0" l="0" r="0" t="0"/>
          <a:stretch/>
        </p:blipFill>
        <p:spPr>
          <a:xfrm>
            <a:off x="7847523" y="1527333"/>
            <a:ext cx="3873418" cy="2700000"/>
          </a:xfrm>
          <a:prstGeom prst="rect">
            <a:avLst/>
          </a:prstGeom>
          <a:noFill/>
          <a:ln>
            <a:noFill/>
          </a:ln>
        </p:spPr>
      </p:pic>
      <p:sp>
        <p:nvSpPr>
          <p:cNvPr id="87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41 / 50</a:t>
            </a:r>
          </a:p>
        </p:txBody>
      </p:sp>
      <p:sp>
        <p:nvSpPr>
          <p:cNvPr id="874" name="EWL-COVER-1"/>
          <p:cNvSpPr/>
          <p:nvPr/>
        </p:nvSpPr>
        <p:spPr>
          <a:xfrm>
            <a:off x="429701" y="4831172"/>
            <a:ext cx="9830212" cy="1615348"/>
          </a:xfrm>
          <a:prstGeom prst="rect">
            <a:avLst/>
          </a:prstGeom>
          <a:solidFill>
            <a:srgbClr val="FFFFFF"/>
          </a:solidFill>
          <a:ln>
            <a:noFill/>
          </a:ln>
        </p:spPr>
        <p:txBody>
          <a:bodyPr/>
          <a:lstStyle/>
          <a:p/>
        </p:txBody>
      </p:sp>
      <p:sp>
        <p:nvSpPr>
          <p:cNvPr id="875"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COLLABORATE</a:t>
            </a:r>
            <a:r>
              <a:rPr lang="en-US" sz="1200" b="1">
                <a:solidFill>
                  <a:srgbClr val="5D6872"/>
                </a:solidFill>
                <a:latin typeface="Arial"/>
              </a:rPr>
              <a:t xml:space="preserve">  ·  TALK IT THROUGH • AGREE ON A MODEL</a:t>
            </a:r>
          </a:p>
        </p:txBody>
      </p:sp>
      <p:grpSp>
        <p:nvGrpSpPr>
          <p:cNvPr id="876" name="TEACH-3-student-move" descr="TEACH 3 · Use intentional questioning to deepen learning"/>
          <p:cNvGrpSpPr/>
          <p:nvPr/>
        </p:nvGrpSpPr>
        <p:grpSpPr>
          <a:xfrm>
            <a:off x="502920" y="3111500"/>
            <a:ext cx="6935419" cy="681375"/>
            <a:chOff x="502920" y="4447124"/>
            <a:chExt cx="11186160" cy="402336"/>
          </a:xfrm>
        </p:grpSpPr>
        <p:sp>
          <p:nvSpPr>
            <p:cNvPr id="877" name="TEACH-move-card"/>
            <p:cNvSpPr/>
            <p:nvPr/>
          </p:nvSpPr>
          <p:spPr>
            <a:xfrm>
              <a:off x="502920" y="4447124"/>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878" name="TEACH-move-rule"/>
            <p:cNvSpPr/>
            <p:nvPr/>
          </p:nvSpPr>
          <p:spPr>
            <a:xfrm>
              <a:off x="548640" y="4523568"/>
              <a:ext cx="100584" cy="249448"/>
            </a:xfrm>
            <a:prstGeom prst="roundRect">
              <a:avLst>
                <a:gd name="adj" fmla="val 50000"/>
              </a:avLst>
            </a:prstGeom>
            <a:solidFill>
              <a:srgbClr val="01708C"/>
            </a:solidFill>
            <a:ln>
              <a:noFill/>
            </a:ln>
          </p:spPr>
          <p:txBody>
            <a:bodyPr/>
            <a:lstStyle/>
            <a:p>
              <a:endParaRPr/>
            </a:p>
          </p:txBody>
        </p:sp>
        <p:sp>
          <p:nvSpPr>
            <p:cNvPr id="879" name="TEACH-move-text"/>
            <p:cNvSpPr txBox="1"/>
            <p:nvPr/>
          </p:nvSpPr>
          <p:spPr>
            <a:xfrm>
              <a:off x="822960" y="4447124"/>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ASK THE CLASS  ·  </a:t>
              </a:r>
              <a:r>
                <a:rPr lang="en-US" sz="1200" dirty="0">
                  <a:solidFill>
                    <a:srgbClr val="13303A"/>
                  </a:solidFill>
                  <a:latin typeface="Arial"/>
                </a:rPr>
                <a:t>Write one question about this that you could ask the class.</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7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cxnSp>
        <p:nvCxnSpPr>
          <p:cNvPr id="877" name="Google Shape;877;p8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878" name="Google Shape;878;p89"/>
          <p:cNvPicPr preferRelativeResize="0"/>
          <p:nvPr/>
        </p:nvPicPr>
        <p:blipFill rotWithShape="1">
          <a:blip r:embed="rId3">
            <a:alphaModFix/>
          </a:blip>
          <a:srcRect b="0" l="0" r="0" t="0"/>
          <a:stretch/>
        </p:blipFill>
        <p:spPr>
          <a:xfrm>
            <a:off x="7847524" y="1514185"/>
            <a:ext cx="3873418" cy="3187857"/>
          </a:xfrm>
          <a:prstGeom prst="rect">
            <a:avLst/>
          </a:prstGeom>
          <a:noFill/>
          <a:ln>
            <a:noFill/>
          </a:ln>
        </p:spPr>
      </p:pic>
      <p:sp>
        <p:nvSpPr>
          <p:cNvPr id="879" name="Google Shape;879;p89"/>
          <p:cNvSpPr txBox="1"/>
          <p:nvPr/>
        </p:nvSpPr>
        <p:spPr>
          <a:xfrm>
            <a:off x="592804" y="496153"/>
            <a:ext cx="6673617" cy="504906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 xml:space="preserve">You can see the shape of the data is almost </a:t>
            </a:r>
            <a:r>
              <a:rPr b="1" i="0" lang="en-US" sz="2800" u="none" cap="none" strike="noStrike">
                <a:solidFill>
                  <a:srgbClr val="23282D"/>
                </a:solidFill>
                <a:highlight>
                  <a:srgbClr val="FFFF00"/>
                </a:highlight>
                <a:latin typeface="Arial"/>
                <a:ea typeface="Arial"/>
                <a:cs typeface="Arial"/>
                <a:sym typeface="Arial"/>
              </a:rPr>
              <a:t>symmetric</a:t>
            </a:r>
            <a:r>
              <a:rPr b="0" i="0" lang="en-US" sz="2800" u="none" cap="none" strike="noStrike">
                <a:solidFill>
                  <a:srgbClr val="23282D"/>
                </a:solidFill>
                <a:latin typeface="Arial"/>
                <a:ea typeface="Arial"/>
                <a:cs typeface="Arial"/>
                <a:sym typeface="Arial"/>
              </a:rPr>
              <a:t xml:space="preserve"> because the number of dots to the left of the highest point is almost equal to the number of dots to the right.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Data that is almost symmetric is nearly the same on the left and right sides of the distribution.</a:t>
            </a:r>
            <a:endParaRPr b="0" i="0" sz="1400" u="none" cap="none" strike="noStrike">
              <a:solidFill>
                <a:srgbClr val="000000"/>
              </a:solidFill>
              <a:latin typeface="Arial"/>
              <a:ea typeface="Arial"/>
              <a:cs typeface="Arial"/>
              <a:sym typeface="Arial"/>
            </a:endParaRPr>
          </a:p>
        </p:txBody>
      </p:sp>
      <p:sp>
        <p:nvSpPr>
          <p:cNvPr id="88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42 / 50</a:t>
            </a:r>
          </a:p>
        </p:txBody>
      </p:sp>
      <p:sp xmlns:p="http://schemas.openxmlformats.org/presentationml/2006/main" xmlns:a="http://schemas.openxmlformats.org/drawingml/2006/main">
        <p:nvSpPr>
          <p:cNvPr id="881"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 your reasoning.</a:t>
            </a:r>
            <a:endParaRPr lang="en-US" sz="20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2" name="Shape 892"/>
        <p:cNvGrpSpPr/>
        <p:nvPr/>
      </p:nvGrpSpPr>
      <p:grpSpPr>
        <a:xfrm>
          <a:off x="0" y="0"/>
          <a:ext cx="0" cy="0"/>
          <a:chOff x="0" y="0"/>
          <a:chExt cx="0" cy="0"/>
        </a:xfrm>
      </p:grpSpPr>
      <p:cxnSp>
        <p:nvCxnSpPr>
          <p:cNvPr id="893" name="Google Shape;893;p9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94" name="Google Shape;894;p91"/>
          <p:cNvSpPr txBox="1"/>
          <p:nvPr/>
        </p:nvSpPr>
        <p:spPr>
          <a:xfrm>
            <a:off x="6176057" y="5691622"/>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895" name="Google Shape;895;p91"/>
          <p:cNvSpPr/>
          <p:nvPr/>
        </p:nvSpPr>
        <p:spPr>
          <a:xfrm>
            <a:off x="609600" y="5034682"/>
            <a:ext cx="6859979" cy="1085812"/>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896" name="Google Shape;896;p91"/>
          <p:cNvSpPr txBox="1"/>
          <p:nvPr/>
        </p:nvSpPr>
        <p:spPr>
          <a:xfrm>
            <a:off x="484564" y="927527"/>
            <a:ext cx="8024873" cy="1409195"/>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a:defRPr/>
            </a:pPr>
            <a:r>
              <a:rPr b="0" i="0" lang="en-US" sz="2800" u="none" cap="none" strike="noStrike">
                <a:solidFill>
                  <a:srgbClr val="23282D"/>
                </a:solidFill>
                <a:latin typeface="Arial"/>
                <a:ea typeface="Arial"/>
                <a:cs typeface="Arial"/>
                <a:sym typeface="Arial"/>
              </a:rPr>
              <a:t>Based on the data collected, how many pets would the typical student in Ayasha’s class, selected at random, have?</a:t>
            </a:r>
            <a:endParaRPr b="0" i="0" sz="1400" u="none" cap="none" strike="noStrike">
              <a:solidFill>
                <a:srgbClr val="000000"/>
              </a:solidFill>
              <a:latin typeface="Arial"/>
              <a:ea typeface="Arial"/>
              <a:cs typeface="Arial"/>
              <a:sym typeface="Arial"/>
            </a:endParaRPr>
          </a:p>
        </p:txBody>
      </p:sp>
      <p:sp>
        <p:nvSpPr>
          <p:cNvPr id="897" name="Google Shape;897;p91"/>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pic>
        <p:nvPicPr>
          <p:cNvPr id="898" name="Google Shape;898;p91"/>
          <p:cNvPicPr preferRelativeResize="0"/>
          <p:nvPr/>
        </p:nvPicPr>
        <p:blipFill rotWithShape="1">
          <a:blip r:embed="rId3">
            <a:alphaModFix/>
          </a:blip>
          <a:srcRect b="0" l="0" r="0" t="0"/>
          <a:stretch/>
        </p:blipFill>
        <p:spPr>
          <a:xfrm>
            <a:off x="7860292" y="1518060"/>
            <a:ext cx="3866941" cy="2700000"/>
          </a:xfrm>
          <a:prstGeom prst="rect">
            <a:avLst/>
          </a:prstGeom>
          <a:noFill/>
          <a:ln>
            <a:noFill/>
          </a:ln>
        </p:spPr>
      </p:pic>
      <p:sp>
        <p:nvSpPr>
          <p:cNvPr id="899" name="Google Shape;899;p91"/>
          <p:cNvSpPr txBox="1"/>
          <p:nvPr/>
        </p:nvSpPr>
        <p:spPr>
          <a:xfrm>
            <a:off x="484564" y="3573932"/>
            <a:ext cx="7258005" cy="1295925"/>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startAt="2"/>
              <a:defRPr/>
            </a:pPr>
            <a:r>
              <a:rPr b="0" i="0" lang="en-US" sz="2800" u="none" cap="none" strike="noStrike">
                <a:solidFill>
                  <a:srgbClr val="23282D"/>
                </a:solidFill>
                <a:latin typeface="Arial"/>
                <a:ea typeface="Arial"/>
                <a:cs typeface="Arial"/>
                <a:sym typeface="Arial"/>
              </a:rPr>
              <a:t>How does using a visual representation allow you to summarize the data more easily?</a:t>
            </a:r>
            <a:endParaRPr b="0" i="0" sz="1400" u="none" cap="none" strike="noStrike">
              <a:solidFill>
                <a:srgbClr val="000000"/>
              </a:solidFill>
              <a:latin typeface="Arial"/>
              <a:ea typeface="Arial"/>
              <a:cs typeface="Arial"/>
              <a:sym typeface="Arial"/>
            </a:endParaRPr>
          </a:p>
        </p:txBody>
      </p:sp>
      <p:sp>
        <p:nvSpPr>
          <p:cNvPr id="900" name="Google Shape;900;p91"/>
          <p:cNvSpPr txBox="1"/>
          <p:nvPr/>
        </p:nvSpPr>
        <p:spPr>
          <a:xfrm>
            <a:off x="6176057" y="2973135"/>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901" name="Google Shape;901;p91"/>
          <p:cNvSpPr/>
          <p:nvPr/>
        </p:nvSpPr>
        <p:spPr>
          <a:xfrm>
            <a:off x="609600" y="2316195"/>
            <a:ext cx="6859979" cy="1085812"/>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9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43 / 50</a:t>
            </a:r>
          </a:p>
        </p:txBody>
      </p:sp>
      <p:sp>
        <p:nvSpPr>
          <p:cNvPr id="903"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SUMMARIZE</a:t>
            </a:r>
            <a:r>
              <a:rPr lang="en-US" sz="1200" b="1">
                <a:solidFill>
                  <a:srgbClr val="5D6872"/>
                </a:solidFill>
                <a:latin typeface="Arial"/>
              </a:rPr>
              <a:t xml:space="preserve">  ·  SAY IT IN YOUR OWN WORDS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2.1  /  CHECK YOUR WORK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Pause. Check. Improve.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011680"/>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CHECK</a:t>
            </a:r>
          </a:p>
        </p:txBody>
      </p:sp>
      <p:sp>
        <p:nvSpPr>
          <p:cNvPr id="7" name="TextBox 6"/>
          <p:cNvSpPr txBox="1"/>
          <p:nvPr/>
        </p:nvSpPr>
        <p:spPr>
          <a:xfrm>
            <a:off x="2340864" y="1975104"/>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A mistake to watch for: assuming any question with a numerical answer is statistical.</a:t>
            </a:r>
          </a:p>
        </p:txBody>
      </p:sp>
      <p:sp>
        <p:nvSpPr>
          <p:cNvPr id="8" name="Rounded Rectangle 7"/>
          <p:cNvSpPr/>
          <p:nvPr/>
        </p:nvSpPr>
        <p:spPr>
          <a:xfrm>
            <a:off x="594360" y="3127248"/>
            <a:ext cx="10972800" cy="1069848"/>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310128"/>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TRY</a:t>
            </a:r>
          </a:p>
        </p:txBody>
      </p:sp>
      <p:sp>
        <p:nvSpPr>
          <p:cNvPr id="10" name="TextBox 9"/>
          <p:cNvSpPr txBox="1"/>
          <p:nvPr/>
        </p:nvSpPr>
        <p:spPr>
          <a:xfrm>
            <a:off x="2340864" y="3273552"/>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Revisit the given survey and sort its possible responses before classifying the question.</a:t>
            </a:r>
          </a:p>
        </p:txBody>
      </p:sp>
      <p:sp>
        <p:nvSpPr>
          <p:cNvPr id="11" name="Rounded Rectangle 10"/>
          <p:cNvSpPr/>
          <p:nvPr/>
        </p:nvSpPr>
        <p:spPr>
          <a:xfrm>
            <a:off x="594360" y="4425696"/>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4608576"/>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REVISE</a:t>
            </a:r>
          </a:p>
        </p:txBody>
      </p:sp>
      <p:sp>
        <p:nvSpPr>
          <p:cNvPr id="13" name="TextBox 12"/>
          <p:cNvSpPr txBox="1"/>
          <p:nvPr/>
        </p:nvSpPr>
        <p:spPr>
          <a:xfrm>
            <a:off x="2340864" y="4572000"/>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Use that check on the task you just completed. Correct or strengthen one part, and explain why.</a:t>
            </a:r>
          </a:p>
        </p:txBody>
      </p:sp>
      <p:grpSp>
        <p:nvGrpSpPr>
          <p:cNvPr id="14" name="TEACH-4-student-move" descr="TEACH 4 · Monitor progress and provide feedback"/>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SELF-CHECK  ·  </a:t>
              </a:r>
              <a:r>
                <a:rPr lang="en-US" sz="1200" dirty="0">
                  <a:solidFill>
                    <a:srgbClr val="13303A"/>
                  </a:solidFill>
                  <a:latin typeface="Arial"/>
                </a:rPr>
                <a:t>Mark it: ✓ got it  ·  ~ almost  ·  ? stuck. Then fix one thing before we move on.</a:t>
              </a:r>
              <a:endParaRPr lang="en-US" sz="1200"/>
            </a:p>
          </p:txBody>
        </p:sp>
      </p:gr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cxnSp>
        <p:nvCxnSpPr>
          <p:cNvPr id="906" name="Google Shape;906;p9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graphicFrame>
        <p:nvGraphicFramePr>
          <p:cNvPr id="907" name="Google Shape;907;p92"/>
          <p:cNvGraphicFramePr/>
          <p:nvPr/>
        </p:nvGraphicFramePr>
        <p:xfrm>
          <a:off x="7368263" y="1044583"/>
          <a:ext cx="3000000" cy="3000000"/>
        </p:xfrm>
        <a:graphic>
          <a:graphicData uri="http://schemas.openxmlformats.org/drawingml/2006/table">
            <a:tbl>
              <a:tblPr bandRow="1" firstRow="1">
                <a:noFill/>
                <a:tableStyleId>{44BF7A6C-7B32-46BC-8D96-0B2058209815}</a:tableStyleId>
              </a:tblPr>
              <a:tblGrid>
                <a:gridCol w="2221350"/>
                <a:gridCol w="2221350"/>
              </a:tblGrid>
              <a:tr h="355075">
                <a:tc gridSpan="2">
                  <a:txBody>
                    <a:bodyPr/>
                    <a:lstStyle/>
                    <a:p>
                      <a:pPr indent="0" lvl="0" marL="0" marR="0" rtl="0" algn="l">
                        <a:lnSpc>
                          <a:spcPct val="100000"/>
                        </a:lnSpc>
                        <a:spcBef>
                          <a:spcPts val="0"/>
                        </a:spcBef>
                        <a:spcAft>
                          <a:spcPts val="0"/>
                        </a:spcAft>
                        <a:buClr>
                          <a:srgbClr val="000000"/>
                        </a:buClr>
                        <a:buSzPts val="2300"/>
                        <a:buFont typeface="Arial"/>
                        <a:buNone/>
                      </a:pPr>
                      <a:r>
                        <a:t/>
                      </a:r>
                      <a:endParaRPr b="1" sz="2300" u="none" cap="none" strike="noStrike">
                        <a:solidFill>
                          <a:schemeClr val="dk1"/>
                        </a:solidFill>
                        <a:latin typeface="Arial"/>
                        <a:ea typeface="Arial"/>
                        <a:cs typeface="Arial"/>
                        <a:sym typeface="Arial"/>
                      </a:endParaRPr>
                    </a:p>
                  </a:txBody>
                  <a:tcPr marT="35225" marB="35225" marR="70475" marL="704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r>
              <a:tr h="855650">
                <a:tc>
                  <a:txBody>
                    <a:bodyPr/>
                    <a:lstStyle/>
                    <a:p>
                      <a:pPr indent="0" lvl="0" marL="0" marR="0" rtl="0" algn="l">
                        <a:lnSpc>
                          <a:spcPct val="100000"/>
                        </a:lnSpc>
                        <a:spcBef>
                          <a:spcPts val="0"/>
                        </a:spcBef>
                        <a:spcAft>
                          <a:spcPts val="0"/>
                        </a:spcAft>
                        <a:buClr>
                          <a:srgbClr val="000000"/>
                        </a:buClr>
                        <a:buSzPts val="2300"/>
                        <a:buFont typeface="Arial"/>
                        <a:buNone/>
                      </a:pPr>
                      <a:r>
                        <a:rPr b="1" lang="en-US" sz="2300" u="none" cap="none" strike="noStrike">
                          <a:solidFill>
                            <a:schemeClr val="lt1"/>
                          </a:solidFill>
                          <a:latin typeface="Arial"/>
                          <a:ea typeface="Arial"/>
                          <a:cs typeface="Arial"/>
                          <a:sym typeface="Arial"/>
                        </a:rPr>
                        <a:t>Statistical Questions</a:t>
                      </a:r>
                      <a:endParaRPr sz="1400" u="none" cap="none" strike="noStrike"/>
                    </a:p>
                  </a:txBody>
                  <a:tcPr marT="35225" marB="35225" marR="70475" marL="704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rgbClr val="695B9A"/>
                    </a:solidFill>
                  </a:tcPr>
                </a:tc>
                <a:tc>
                  <a:txBody>
                    <a:bodyPr/>
                    <a:lstStyle/>
                    <a:p>
                      <a:pPr indent="0" lvl="0" marL="0" marR="0" rtl="0" algn="l">
                        <a:lnSpc>
                          <a:spcPct val="100000"/>
                        </a:lnSpc>
                        <a:spcBef>
                          <a:spcPts val="0"/>
                        </a:spcBef>
                        <a:spcAft>
                          <a:spcPts val="0"/>
                        </a:spcAft>
                        <a:buClr>
                          <a:srgbClr val="000000"/>
                        </a:buClr>
                        <a:buSzPts val="2300"/>
                        <a:buFont typeface="Arial"/>
                        <a:buNone/>
                      </a:pPr>
                      <a:r>
                        <a:rPr b="1" lang="en-US" sz="2300" u="none" cap="none" strike="noStrike">
                          <a:solidFill>
                            <a:schemeClr val="lt1"/>
                          </a:solidFill>
                          <a:latin typeface="Arial"/>
                          <a:ea typeface="Arial"/>
                          <a:cs typeface="Arial"/>
                          <a:sym typeface="Arial"/>
                        </a:rPr>
                        <a:t>Not statistical Questions</a:t>
                      </a:r>
                      <a:endParaRPr sz="1400" u="none" cap="none" strike="noStrike"/>
                    </a:p>
                  </a:txBody>
                  <a:tcPr marT="35225" marB="35225" marR="70475" marL="704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rgbClr val="695B9A"/>
                    </a:solidFill>
                  </a:tcPr>
                </a:tc>
              </a:tr>
              <a:tr h="1999900">
                <a:tc>
                  <a:txBody>
                    <a:bodyPr/>
                    <a:lstStyle/>
                    <a:p>
                      <a:pPr indent="0" lvl="0" marL="0" marR="0" rtl="0" algn="l">
                        <a:lnSpc>
                          <a:spcPct val="100000"/>
                        </a:lnSpc>
                        <a:spcBef>
                          <a:spcPts val="0"/>
                        </a:spcBef>
                        <a:spcAft>
                          <a:spcPts val="0"/>
                        </a:spcAft>
                        <a:buClr>
                          <a:schemeClr val="dk1"/>
                        </a:buClr>
                        <a:buSzPts val="2300"/>
                        <a:buFont typeface="Arial"/>
                        <a:buNone/>
                      </a:pPr>
                      <a:r>
                        <a:rPr lang="en-US" sz="2300" u="none" cap="none" strike="noStrike">
                          <a:latin typeface="Arial"/>
                          <a:ea typeface="Arial"/>
                          <a:cs typeface="Arial"/>
                          <a:sym typeface="Arial"/>
                        </a:rPr>
                        <a:t>How many text messages does a middle school student send each day?</a:t>
                      </a:r>
                      <a:endParaRPr sz="2300" u="none" cap="none" strike="noStrike">
                        <a:latin typeface="Arial"/>
                        <a:ea typeface="Arial"/>
                        <a:cs typeface="Arial"/>
                        <a:sym typeface="Arial"/>
                      </a:endParaRPr>
                    </a:p>
                  </a:txBody>
                  <a:tcPr marT="35225" marB="35225" marR="70475" marL="704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300"/>
                        <a:buFont typeface="Arial"/>
                        <a:buNone/>
                      </a:pPr>
                      <a:r>
                        <a:rPr lang="en-US" sz="2300" u="none" cap="none" strike="noStrike">
                          <a:latin typeface="Arial"/>
                          <a:ea typeface="Arial"/>
                          <a:cs typeface="Arial"/>
                          <a:sym typeface="Arial"/>
                        </a:rPr>
                        <a:t>What is the height in feet of the tallest mountain in Colorado?</a:t>
                      </a:r>
                      <a:endParaRPr sz="2300" u="none" cap="none" strike="noStrike">
                        <a:latin typeface="Arial"/>
                        <a:ea typeface="Arial"/>
                        <a:cs typeface="Arial"/>
                        <a:sym typeface="Arial"/>
                      </a:endParaRPr>
                    </a:p>
                  </a:txBody>
                  <a:tcPr marT="35225" marB="35225" marR="70475" marL="704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618500">
                <a:tc>
                  <a:txBody>
                    <a:bodyPr/>
                    <a:lstStyle/>
                    <a:p>
                      <a:pPr indent="0" lvl="0" marL="0" marR="0" rtl="0" algn="l">
                        <a:lnSpc>
                          <a:spcPct val="100000"/>
                        </a:lnSpc>
                        <a:spcBef>
                          <a:spcPts val="0"/>
                        </a:spcBef>
                        <a:spcAft>
                          <a:spcPts val="0"/>
                        </a:spcAft>
                        <a:buClr>
                          <a:schemeClr val="dk1"/>
                        </a:buClr>
                        <a:buSzPts val="2300"/>
                        <a:buFont typeface="Arial"/>
                        <a:buNone/>
                      </a:pPr>
                      <a:r>
                        <a:rPr lang="en-US" sz="2300" u="none" cap="none" strike="noStrike">
                          <a:latin typeface="Arial"/>
                          <a:ea typeface="Arial"/>
                          <a:cs typeface="Arial"/>
                          <a:sym typeface="Arial"/>
                        </a:rPr>
                        <a:t xml:space="preserve">What is the average minimum driving age in the US?	</a:t>
                      </a:r>
                      <a:endParaRPr sz="2300" u="none" cap="none" strike="noStrike">
                        <a:latin typeface="Arial"/>
                        <a:ea typeface="Arial"/>
                        <a:cs typeface="Arial"/>
                        <a:sym typeface="Arial"/>
                      </a:endParaRPr>
                    </a:p>
                  </a:txBody>
                  <a:tcPr marT="35225" marB="35225" marR="70475" marL="704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300"/>
                        <a:buFont typeface="Arial"/>
                        <a:buNone/>
                      </a:pPr>
                      <a:r>
                        <a:rPr lang="en-US" sz="2300" u="none" cap="none" strike="noStrike">
                          <a:latin typeface="Arial"/>
                          <a:ea typeface="Arial"/>
                          <a:cs typeface="Arial"/>
                          <a:sym typeface="Arial"/>
                        </a:rPr>
                        <a:t>How many people attended last night’s jazz concert?</a:t>
                      </a:r>
                      <a:endParaRPr sz="2300" u="none" cap="none" strike="noStrike">
                        <a:latin typeface="Arial"/>
                        <a:ea typeface="Arial"/>
                        <a:cs typeface="Arial"/>
                        <a:sym typeface="Arial"/>
                      </a:endParaRPr>
                    </a:p>
                  </a:txBody>
                  <a:tcPr marT="35225" marB="35225" marR="70475" marL="704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908" name="Google Shape;908;p92"/>
          <p:cNvSpPr txBox="1"/>
          <p:nvPr/>
        </p:nvSpPr>
        <p:spPr>
          <a:xfrm>
            <a:off x="484565" y="769747"/>
            <a:ext cx="6627437" cy="56322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3282D"/>
                </a:solidFill>
                <a:highlight>
                  <a:srgbClr val="FFFF00"/>
                </a:highlight>
                <a:latin typeface="Arial"/>
                <a:ea typeface="Arial"/>
                <a:cs typeface="Arial"/>
                <a:sym typeface="Arial"/>
              </a:rPr>
              <a:t>Statistics</a:t>
            </a:r>
            <a:r>
              <a:rPr b="0" i="0" lang="en-US" sz="2800" u="none" cap="none" strike="noStrike">
                <a:solidFill>
                  <a:srgbClr val="23282D"/>
                </a:solidFill>
                <a:latin typeface="Arial"/>
                <a:ea typeface="Arial"/>
                <a:cs typeface="Arial"/>
                <a:sym typeface="Arial"/>
              </a:rPr>
              <a:t xml:space="preserve"> involves asking important questions that arise from a problem, followed by collecting, organizing, and interpreting pieces of information, or data to address the problem. A statistical question is a question that anticipates a variety of answers.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When data are displayed in a data display, such as a dot plot, you can summarize the data easily, including if the data are symmetric.</a:t>
            </a:r>
            <a:endParaRPr b="0" i="0" sz="1400" u="none" cap="none" strike="noStrike">
              <a:solidFill>
                <a:srgbClr val="000000"/>
              </a:solidFill>
              <a:latin typeface="Arial"/>
              <a:ea typeface="Arial"/>
              <a:cs typeface="Arial"/>
              <a:sym typeface="Arial"/>
            </a:endParaRPr>
          </a:p>
        </p:txBody>
      </p:sp>
      <p:sp>
        <p:nvSpPr>
          <p:cNvPr id="909" name="Google Shape;909;p92"/>
          <p:cNvSpPr txBox="1"/>
          <p:nvPr/>
        </p:nvSpPr>
        <p:spPr>
          <a:xfrm>
            <a:off x="484565" y="316034"/>
            <a:ext cx="6276453" cy="55607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0" i="0" lang="en-US" sz="2800" u="none" cap="none" strike="noStrike">
                <a:solidFill>
                  <a:srgbClr val="782DA0"/>
                </a:solidFill>
                <a:latin typeface="Arial"/>
                <a:ea typeface="Arial"/>
                <a:cs typeface="Arial"/>
                <a:sym typeface="Arial"/>
              </a:rPr>
              <a:t>Summarize:</a:t>
            </a:r>
            <a:r>
              <a:rPr b="1" i="0" lang="en-US" sz="2800" u="none" cap="none" strike="noStrike">
                <a:solidFill>
                  <a:srgbClr val="782DA0"/>
                </a:solidFill>
                <a:latin typeface="Arial"/>
                <a:ea typeface="Arial"/>
                <a:cs typeface="Arial"/>
                <a:sym typeface="Arial"/>
              </a:rPr>
              <a:t xml:space="preserve"> Statistical Questions</a:t>
            </a:r>
            <a:endParaRPr b="0" i="0" sz="1400" u="none" cap="none" strike="noStrike">
              <a:solidFill>
                <a:srgbClr val="000000"/>
              </a:solidFill>
              <a:latin typeface="Arial"/>
              <a:ea typeface="Arial"/>
              <a:cs typeface="Arial"/>
              <a:sym typeface="Arial"/>
            </a:endParaRPr>
          </a:p>
        </p:txBody>
      </p:sp>
      <p:sp>
        <p:nvSpPr>
          <p:cNvPr id="91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46 / 50</a:t>
            </a:r>
          </a:p>
        </p:txBody>
      </p:sp>
      <p:sp>
        <p:nvSpPr>
          <p:cNvPr id="911"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SUMMARIZE</a:t>
            </a:r>
            <a:r>
              <a:rPr lang="en-US" sz="1200" b="1">
                <a:solidFill>
                  <a:srgbClr val="5D6872"/>
                </a:solidFill>
                <a:latin typeface="Arial"/>
              </a:rPr>
              <a:t xml:space="preserve">  ·  SAY IT IN YOUR OWN WORDS</a:t>
            </a: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cxnSp>
        <p:nvCxnSpPr>
          <p:cNvPr id="914" name="Google Shape;914;p9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15" name="Google Shape;915;p93"/>
          <p:cNvSpPr txBox="1"/>
          <p:nvPr/>
        </p:nvSpPr>
        <p:spPr>
          <a:xfrm>
            <a:off x="484564" y="927528"/>
            <a:ext cx="6719800" cy="502992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Some sixth-grade students want to get more food choices in the cafeteria. They will conduct a survey of students who buy lunch in the cafeteria.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Question:</a:t>
            </a:r>
            <a:r>
              <a:rPr b="0" i="0" lang="en-US" sz="2800" u="none" cap="none" strike="noStrike">
                <a:solidFill>
                  <a:srgbClr val="23282D"/>
                </a:solidFill>
                <a:latin typeface="Arial"/>
                <a:ea typeface="Arial"/>
                <a:cs typeface="Arial"/>
                <a:sym typeface="Arial"/>
              </a:rPr>
              <a:t xml:space="preserve"> What questions should they include in their survey? Explain your choices.</a:t>
            </a:r>
            <a:endParaRPr b="0" i="0" sz="1400" u="none" cap="none" strike="noStrike">
              <a:solidFill>
                <a:srgbClr val="000000"/>
              </a:solidFill>
              <a:latin typeface="Arial"/>
              <a:ea typeface="Arial"/>
              <a:cs typeface="Arial"/>
              <a:sym typeface="Arial"/>
            </a:endParaRPr>
          </a:p>
        </p:txBody>
      </p:sp>
      <p:sp>
        <p:nvSpPr>
          <p:cNvPr id="916" name="Google Shape;916;p93"/>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0" i="0" lang="en-US" sz="2800" u="none" cap="none" strike="noStrike">
                <a:solidFill>
                  <a:srgbClr val="782DA0"/>
                </a:solidFill>
                <a:latin typeface="Arial"/>
                <a:ea typeface="Arial"/>
                <a:cs typeface="Arial"/>
                <a:sym typeface="Arial"/>
              </a:rPr>
              <a:t>Apply:</a:t>
            </a:r>
            <a:r>
              <a:rPr b="1" i="0" lang="en-US" sz="2800" u="none" cap="none" strike="noStrike">
                <a:solidFill>
                  <a:srgbClr val="782DA0"/>
                </a:solidFill>
                <a:latin typeface="Arial"/>
                <a:ea typeface="Arial"/>
                <a:cs typeface="Arial"/>
                <a:sym typeface="Arial"/>
              </a:rPr>
              <a:t xml:space="preserve"> Surveys and Statistics</a:t>
            </a:r>
            <a:endParaRPr b="0" i="0" sz="1400" u="none" cap="none" strike="noStrike">
              <a:solidFill>
                <a:srgbClr val="000000"/>
              </a:solidFill>
              <a:latin typeface="Arial"/>
              <a:ea typeface="Arial"/>
              <a:cs typeface="Arial"/>
              <a:sym typeface="Arial"/>
            </a:endParaRPr>
          </a:p>
        </p:txBody>
      </p:sp>
      <p:pic>
        <p:nvPicPr>
          <p:cNvPr descr="A picture containing food, indoor, container, tray&#10;&#10;Description automatically generated" id="917" name="Google Shape;917;p93"/>
          <p:cNvPicPr preferRelativeResize="0"/>
          <p:nvPr/>
        </p:nvPicPr>
        <p:blipFill rotWithShape="1">
          <a:blip r:embed="rId3">
            <a:alphaModFix/>
          </a:blip>
          <a:srcRect b="0" l="0" r="0" t="0"/>
          <a:stretch/>
        </p:blipFill>
        <p:spPr>
          <a:xfrm>
            <a:off x="7318337" y="1588654"/>
            <a:ext cx="4137713" cy="2869738"/>
          </a:xfrm>
          <a:prstGeom prst="rect">
            <a:avLst/>
          </a:prstGeom>
          <a:noFill/>
          <a:ln>
            <a:noFill/>
          </a:ln>
        </p:spPr>
      </p:pic>
      <p:sp>
        <p:nvSpPr>
          <p:cNvPr id="91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48 / 50</a:t>
            </a:r>
          </a:p>
        </p:txBody>
      </p:sp>
      <p:sp>
        <p:nvSpPr>
          <p:cNvPr id="919"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APPLY</a:t>
            </a:r>
            <a:r>
              <a:rPr lang="en-US" sz="1200" b="1">
                <a:solidFill>
                  <a:srgbClr val="5D6872"/>
                </a:solidFill>
                <a:latin typeface="Arial"/>
              </a:rPr>
              <a:t xml:space="preserve">  ·  PLAN IT • SOLVE IT • PROVE IT</a:t>
            </a:r>
          </a:p>
        </p:txBody>
      </p:sp>
      <p:sp xmlns:p="http://schemas.openxmlformats.org/presentationml/2006/main" xmlns:a="http://schemas.openxmlformats.org/drawingml/2006/main">
        <p:nvSpPr>
          <p:cNvPr id="920" name="TEACH-embedded-student-prompt" descr="Student thinking and response directions"/>
          <p:cNvSpPr txBox="1"/>
          <p:nvPr/>
        </p:nvSpPr>
        <p:spPr>
          <a:xfrm>
            <a:off x="7391400" y="51937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Choose a method. Solve</a:t>
            </a:r>
            <a:endParaRPr lang="en-US" sz="2000"/>
          </a:p>
          <a:p>
            <a:pPr>
              <a:lnSpc>
                <a:spcPts val="2400"/>
              </a:lnSpc>
              <a:buNone/>
            </a:pPr>
            <a:r>
              <a:rPr lang="en-US" sz="2000">
                <a:solidFill>
                  <a:srgbClr val="174D60"/>
                </a:solidFill>
                <a:latin typeface="Arial"/>
              </a:rPr>
              <a:t>independently, justify your</a:t>
            </a:r>
            <a:endParaRPr lang="en-US" sz="2000"/>
          </a:p>
          <a:p>
            <a:pPr>
              <a:lnSpc>
                <a:spcPts val="2400"/>
              </a:lnSpc>
              <a:buNone/>
            </a:pPr>
            <a:r>
              <a:rPr lang="en-US" sz="2000">
                <a:solidFill>
                  <a:srgbClr val="174D60"/>
                </a:solidFill>
                <a:latin typeface="Arial"/>
              </a:rPr>
              <a:t>answer, then check the goal.</a:t>
            </a:r>
            <a:endParaRPr lang="en-US" sz="20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cxnSp>
        <p:nvCxnSpPr>
          <p:cNvPr id="922" name="Google Shape;922;p9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23" name="Google Shape;923;p94"/>
          <p:cNvSpPr txBox="1"/>
          <p:nvPr/>
        </p:nvSpPr>
        <p:spPr>
          <a:xfrm>
            <a:off x="484564" y="927528"/>
            <a:ext cx="8188919" cy="5305106"/>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262626"/>
              </a:buClr>
              <a:buSzPts val="2800"/>
              <a:buFont typeface="Arial"/>
              <a:buChar char="•"/>
              <a:defRPr/>
            </a:pPr>
            <a:r>
              <a:rPr b="0" i="0" lang="en-US" sz="2800" u="none" cap="none" strike="noStrike">
                <a:solidFill>
                  <a:srgbClr val="23282D"/>
                </a:solidFill>
                <a:latin typeface="Arial"/>
                <a:ea typeface="Arial"/>
                <a:cs typeface="Arial"/>
                <a:sym typeface="Arial"/>
              </a:rPr>
              <a:t>I can explain what a statistical question is.</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800"/>
              </a:spcBef>
              <a:spcAft>
                <a:spcPts val="0"/>
              </a:spcAft>
              <a:buClr>
                <a:srgbClr val="262626"/>
              </a:buClr>
              <a:buSzPts val="2800"/>
              <a:buFont typeface="Arial"/>
              <a:buChar char="•"/>
              <a:defRPr/>
            </a:pPr>
            <a:r>
              <a:rPr b="0" i="0" lang="en-US" sz="2800" u="none" cap="none" strike="noStrike">
                <a:solidFill>
                  <a:srgbClr val="23282D"/>
                </a:solidFill>
                <a:latin typeface="Arial"/>
                <a:ea typeface="Arial"/>
                <a:cs typeface="Arial"/>
                <a:sym typeface="Arial"/>
              </a:rPr>
              <a:t>I can explain how a dot plot is used to represent the number of observations in a data set.</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800"/>
              </a:spcBef>
              <a:spcAft>
                <a:spcPts val="0"/>
              </a:spcAft>
              <a:buClr>
                <a:srgbClr val="262626"/>
              </a:buClr>
              <a:buSzPts val="2800"/>
              <a:buFont typeface="Arial"/>
              <a:buChar char="•"/>
              <a:defRPr/>
            </a:pPr>
            <a:r>
              <a:rPr b="0" i="0" lang="en-US" sz="2800" u="none" cap="none" strike="noStrike">
                <a:solidFill>
                  <a:srgbClr val="23282D"/>
                </a:solidFill>
                <a:latin typeface="Arial"/>
                <a:ea typeface="Arial"/>
                <a:cs typeface="Arial"/>
                <a:sym typeface="Arial"/>
              </a:rPr>
              <a:t>I can use repeated reasoning to describe a data set based on the visual attributes of its data display.</a:t>
            </a:r>
            <a:endParaRPr b="0" i="0" sz="1400" u="none" cap="none" strike="noStrike">
              <a:solidFill>
                <a:srgbClr val="000000"/>
              </a:solidFill>
              <a:latin typeface="Arial"/>
              <a:ea typeface="Arial"/>
              <a:cs typeface="Arial"/>
              <a:sym typeface="Arial"/>
            </a:endParaRPr>
          </a:p>
        </p:txBody>
      </p:sp>
      <p:sp>
        <p:nvSpPr>
          <p:cNvPr id="924" name="Google Shape;924;p94"/>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Learning Targets</a:t>
            </a:r>
            <a:endParaRPr b="0" i="0" sz="1400" u="none" cap="none" strike="noStrike">
              <a:solidFill>
                <a:srgbClr val="000000"/>
              </a:solidFill>
              <a:latin typeface="Arial"/>
              <a:ea typeface="Arial"/>
              <a:cs typeface="Arial"/>
              <a:sym typeface="Arial"/>
            </a:endParaRPr>
          </a:p>
        </p:txBody>
      </p:sp>
      <p:sp>
        <p:nvSpPr>
          <p:cNvPr id="92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49 / 50</a:t>
            </a:r>
          </a:p>
        </p:txBody>
      </p:sp>
      <p:grpSp>
        <p:nvGrpSpPr>
          <p:cNvPr id="926" name="TEACH-1-student-move" descr="TEACH 1 · Facilitate clear, standards-based content learning"/>
          <p:cNvGrpSpPr/>
          <p:nvPr/>
        </p:nvGrpSpPr>
        <p:grpSpPr>
          <a:xfrm>
            <a:off x="502920" y="5472790"/>
            <a:ext cx="11186160" cy="402336"/>
            <a:chOff x="502920" y="5472790"/>
            <a:chExt cx="11186160" cy="402336"/>
          </a:xfrm>
        </p:grpSpPr>
        <p:sp>
          <p:nvSpPr>
            <p:cNvPr id="927" name="TEACH-move-card"/>
            <p:cNvSpPr/>
            <p:nvPr/>
          </p:nvSpPr>
          <p:spPr>
            <a:xfrm>
              <a:off x="502920" y="5472790"/>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928" name="TEACH-move-rule"/>
            <p:cNvSpPr/>
            <p:nvPr/>
          </p:nvSpPr>
          <p:spPr>
            <a:xfrm>
              <a:off x="548640" y="5549234"/>
              <a:ext cx="100584" cy="249448"/>
            </a:xfrm>
            <a:prstGeom prst="roundRect">
              <a:avLst>
                <a:gd name="adj" fmla="val 50000"/>
              </a:avLst>
            </a:prstGeom>
            <a:solidFill>
              <a:srgbClr val="01708C"/>
            </a:solidFill>
            <a:ln>
              <a:noFill/>
            </a:ln>
          </p:spPr>
          <p:txBody>
            <a:bodyPr/>
            <a:lstStyle/>
            <a:p>
              <a:endParaRPr/>
            </a:p>
          </p:txBody>
        </p:sp>
        <p:sp>
          <p:nvSpPr>
            <p:cNvPr id="929" name="TEACH-move-text"/>
            <p:cNvSpPr txBox="1"/>
            <p:nvPr/>
          </p:nvSpPr>
          <p:spPr>
            <a:xfrm>
              <a:off x="822960" y="5472790"/>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2.1  /  REFLECT ON YOUR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Show your progress</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5330952" cy="3136392"/>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36208" y="1828800"/>
            <a:ext cx="5330952" cy="3136392"/>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103120"/>
            <a:ext cx="4709160"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1  SHOW EVIDENCE</a:t>
            </a:r>
          </a:p>
        </p:txBody>
      </p:sp>
      <p:sp>
        <p:nvSpPr>
          <p:cNvPr id="8" name="TextBox 7"/>
          <p:cNvSpPr txBox="1"/>
          <p:nvPr/>
        </p:nvSpPr>
        <p:spPr>
          <a:xfrm>
            <a:off x="886968"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Choose one response. Point to the part that shows your reasoning.</a:t>
            </a:r>
          </a:p>
        </p:txBody>
      </p:sp>
      <p:sp>
        <p:nvSpPr>
          <p:cNvPr id="9" name="TextBox 8"/>
          <p:cNvSpPr txBox="1"/>
          <p:nvPr/>
        </p:nvSpPr>
        <p:spPr>
          <a:xfrm>
            <a:off x="886968"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“My work shows ___ because ___.”</a:t>
            </a:r>
          </a:p>
        </p:txBody>
      </p:sp>
      <p:sp>
        <p:nvSpPr>
          <p:cNvPr id="10" name="TextBox 9"/>
          <p:cNvSpPr txBox="1"/>
          <p:nvPr/>
        </p:nvSpPr>
        <p:spPr>
          <a:xfrm>
            <a:off x="6528816" y="2103120"/>
            <a:ext cx="4700016"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2  CHOOSE A NEXT STEP</a:t>
            </a:r>
          </a:p>
        </p:txBody>
      </p:sp>
      <p:sp>
        <p:nvSpPr>
          <p:cNvPr id="11" name="TextBox 10"/>
          <p:cNvSpPr txBox="1"/>
          <p:nvPr/>
        </p:nvSpPr>
        <p:spPr>
          <a:xfrm>
            <a:off x="6528816"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Name a change you made after feedback—or a question you still have.</a:t>
            </a:r>
          </a:p>
        </p:txBody>
      </p:sp>
      <p:sp>
        <p:nvSpPr>
          <p:cNvPr id="12" name="TextBox 11"/>
          <p:cNvSpPr txBox="1"/>
          <p:nvPr/>
        </p:nvSpPr>
        <p:spPr>
          <a:xfrm>
            <a:off x="6528816"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“Next time, I will ___ to help me ___.”</a:t>
            </a:r>
          </a:p>
        </p:txBody>
      </p:sp>
      <p:sp>
        <p:nvSpPr>
          <p:cNvPr id="13" name="TextBox 12"/>
          <p:cNvSpPr txBox="1"/>
          <p:nvPr/>
        </p:nvSpPr>
        <p:spPr>
          <a:xfrm>
            <a:off x="621792" y="5376672"/>
            <a:ext cx="10954512" cy="685800"/>
          </a:xfrm>
          <a:prstGeom prst="rect">
            <a:avLst/>
          </a:prstGeom>
          <a:noFill/>
        </p:spPr>
        <p:txBody>
          <a:bodyPr wrap="square" lIns="0" rIns="0" tIns="22860" bIns="0">
            <a:spAutoFit/>
          </a:bodyPr>
          <a:lstStyle/>
          <a:p>
            <a:pPr>
              <a:spcAft>
                <a:spcPts val="800"/>
              </a:spcAft>
              <a:defRPr sz="2200" b="1">
                <a:solidFill>
                  <a:srgbClr val="173451"/>
                </a:solidFill>
                <a:latin typeface="Arial"/>
              </a:defRPr>
            </a:pPr>
            <a:r>
              <a:rPr/>
              <a:t>Today’s focus: Identify a question that anticipates variability.</a:t>
            </a:r>
          </a:p>
        </p:txBody>
      </p:sp>
      <p:grpSp>
        <p:nvGrpSpPr>
          <p:cNvPr id="14" name="TEACH-7-student-move" descr="TEACH 7 · Cultivate a supportive learning community"/>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CREDIT A CLASSMATE  ·  </a:t>
              </a:r>
              <a:r>
                <a:rPr lang="en-US" sz="1200" dirty="0">
                  <a:solidFill>
                    <a:srgbClr val="13303A"/>
                  </a:solidFill>
                  <a:latin typeface="Arial"/>
                </a:rPr>
                <a:t>Name one classmate whose idea helped you today, and say what they said.</a:t>
              </a:r>
              <a:endParaRPr lang="en-US" sz="1200"/>
            </a:p>
          </p:txBody>
        </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2-1</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moves</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48510"/>
            <a:ext cx="100584" cy="623620"/>
          </a:xfrm>
          <a:prstGeom prst="roundRect">
            <a:avLst>
              <a:gd name="adj" fmla="val 50000"/>
            </a:avLst>
          </a:prstGeom>
          <a:solidFill>
            <a:srgbClr val="01708C"/>
          </a:solidFill>
          <a:ln>
            <a:noFill/>
          </a:ln>
        </p:spPr>
        <p:txBody>
          <a:bodyPr/>
          <a:lstStyle/>
          <a:p>
            <a:endParaRPr/>
          </a:p>
        </p:txBody>
      </p:sp>
      <p:sp>
        <p:nvSpPr>
          <p:cNvPr id="9" name="TEACH-5-student-move"/>
          <p:cNvSpPr txBox="1"/>
          <p:nvPr/>
        </p:nvSpPr>
        <p:spPr>
          <a:xfrm>
            <a:off x="1005840" y="2057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RESTATE FIRST  ·  </a:t>
            </a:r>
            <a:r>
              <a:rPr lang="en-US" sz="2000" b="0" dirty="0">
                <a:solidFill>
                  <a:srgbClr val="13303A"/>
                </a:solidFill>
                <a:latin typeface="Arial"/>
              </a:rPr>
              <a:t>Restate your partner’s idea in your own words before you give yours.</a:t>
            </a:r>
          </a:p>
        </p:txBody>
      </p:sp>
      <p:sp>
        <p:nvSpPr>
          <p:cNvPr id="10" name="TEACH-move-card"/>
          <p:cNvSpPr/>
          <p:nvPr/>
        </p:nvSpPr>
        <p:spPr>
          <a:xfrm>
            <a:off x="685800" y="3200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1" name="TEACH-move-rule"/>
          <p:cNvSpPr/>
          <p:nvPr/>
        </p:nvSpPr>
        <p:spPr>
          <a:xfrm>
            <a:off x="731520" y="3391510"/>
            <a:ext cx="100584" cy="623620"/>
          </a:xfrm>
          <a:prstGeom prst="roundRect">
            <a:avLst>
              <a:gd name="adj" fmla="val 50000"/>
            </a:avLst>
          </a:prstGeom>
          <a:solidFill>
            <a:srgbClr val="01708C"/>
          </a:solidFill>
          <a:ln>
            <a:noFill/>
          </a:ln>
        </p:spPr>
        <p:txBody>
          <a:bodyPr/>
          <a:lstStyle/>
          <a:p>
            <a:endParaRPr/>
          </a:p>
        </p:txBody>
      </p:sp>
      <p:sp>
        <p:nvSpPr>
          <p:cNvPr id="12" name="TEACH-2-student-move"/>
          <p:cNvSpPr txBox="1"/>
          <p:nvPr/>
        </p:nvSpPr>
        <p:spPr>
          <a:xfrm>
            <a:off x="1005840" y="3200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STRUGGLE FIRST  ·  </a:t>
            </a:r>
            <a:r>
              <a:rPr lang="en-US" sz="2000" b="0" dirty="0">
                <a:solidFill>
                  <a:srgbClr val="13303A"/>
                </a:solidFill>
                <a:latin typeface="Arial"/>
              </a:rPr>
              <a:t>Work on your own first. Stuck is allowed — try a second strategy before you ask.</a:t>
            </a:r>
          </a:p>
        </p:txBody>
      </p:sp>
      <p:sp>
        <p:nvSpPr>
          <p:cNvPr id="13" name="TEACH-move-card"/>
          <p:cNvSpPr/>
          <p:nvPr/>
        </p:nvSpPr>
        <p:spPr>
          <a:xfrm>
            <a:off x="685800" y="4343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4" name="TEACH-move-rule"/>
          <p:cNvSpPr/>
          <p:nvPr/>
        </p:nvSpPr>
        <p:spPr>
          <a:xfrm>
            <a:off x="731520" y="4534510"/>
            <a:ext cx="100584" cy="623620"/>
          </a:xfrm>
          <a:prstGeom prst="roundRect">
            <a:avLst>
              <a:gd name="adj" fmla="val 50000"/>
            </a:avLst>
          </a:prstGeom>
          <a:solidFill>
            <a:srgbClr val="01708C"/>
          </a:solidFill>
          <a:ln>
            <a:noFill/>
          </a:ln>
        </p:spPr>
        <p:txBody>
          <a:bodyPr/>
          <a:lstStyle/>
          <a:p>
            <a:endParaRPr/>
          </a:p>
        </p:txBody>
      </p:sp>
      <p:sp>
        <p:nvSpPr>
          <p:cNvPr id="15" name="TEACH-2-student-move"/>
          <p:cNvSpPr txBox="1"/>
          <p:nvPr/>
        </p:nvSpPr>
        <p:spPr>
          <a:xfrm>
            <a:off x="1005840" y="4343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USE YOUR TOOLS  ·  </a:t>
            </a:r>
            <a:r>
              <a:rPr lang="en-US" sz="2000" b="0" dirty="0">
                <a:solidFill>
                  <a:srgbClr val="13303A"/>
                </a:solidFill>
                <a:latin typeface="Arial"/>
              </a:rPr>
              <a:t>Reach for your notes, a model, or a manipulative before you reach for an answer.</a:t>
            </a:r>
          </a:p>
        </p:txBody>
      </p:sp>
      <p:sp>
        <p:nvSpPr>
          <p:cNvPr id="16"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22 / 50</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2-1</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moves</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48510"/>
            <a:ext cx="100584" cy="623620"/>
          </a:xfrm>
          <a:prstGeom prst="roundRect">
            <a:avLst>
              <a:gd name="adj" fmla="val 50000"/>
            </a:avLst>
          </a:prstGeom>
          <a:solidFill>
            <a:srgbClr val="01708C"/>
          </a:solidFill>
          <a:ln>
            <a:noFill/>
          </a:ln>
        </p:spPr>
        <p:txBody>
          <a:bodyPr/>
          <a:lstStyle/>
          <a:p>
            <a:endParaRPr/>
          </a:p>
        </p:txBody>
      </p:sp>
      <p:sp>
        <p:nvSpPr>
          <p:cNvPr id="9" name="TEACH-3-student-move"/>
          <p:cNvSpPr txBox="1"/>
          <p:nvPr/>
        </p:nvSpPr>
        <p:spPr>
          <a:xfrm>
            <a:off x="1005840" y="2057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PROVE IT  ·  </a:t>
            </a:r>
            <a:r>
              <a:rPr lang="en-US" sz="2000" b="0" dirty="0">
                <a:solidFill>
                  <a:srgbClr val="13303A"/>
                </a:solidFill>
                <a:latin typeface="Arial"/>
              </a:rPr>
              <a:t>Find the evidence in the problem that makes your answer right — not just the answer.</a:t>
            </a:r>
          </a:p>
        </p:txBody>
      </p:sp>
      <p:sp>
        <p:nvSpPr>
          <p:cNvPr id="10" name="TEACH-move-card"/>
          <p:cNvSpPr/>
          <p:nvPr/>
        </p:nvSpPr>
        <p:spPr>
          <a:xfrm>
            <a:off x="685800" y="3200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1" name="TEACH-move-rule"/>
          <p:cNvSpPr/>
          <p:nvPr/>
        </p:nvSpPr>
        <p:spPr>
          <a:xfrm>
            <a:off x="731520" y="3391510"/>
            <a:ext cx="100584" cy="623620"/>
          </a:xfrm>
          <a:prstGeom prst="roundRect">
            <a:avLst>
              <a:gd name="adj" fmla="val 50000"/>
            </a:avLst>
          </a:prstGeom>
          <a:solidFill>
            <a:srgbClr val="01708C"/>
          </a:solidFill>
          <a:ln>
            <a:noFill/>
          </a:ln>
        </p:spPr>
        <p:txBody>
          <a:bodyPr/>
          <a:lstStyle/>
          <a:p>
            <a:endParaRPr/>
          </a:p>
        </p:txBody>
      </p:sp>
      <p:sp>
        <p:nvSpPr>
          <p:cNvPr id="12" name="TEACH-3-student-move"/>
          <p:cNvSpPr txBox="1"/>
          <p:nvPr/>
        </p:nvSpPr>
        <p:spPr>
          <a:xfrm>
            <a:off x="1005840" y="3200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HOW DO YOU KNOW?  ·  </a:t>
            </a:r>
            <a:r>
              <a:rPr lang="en-US" sz="2000" b="0" dirty="0">
                <a:solidFill>
                  <a:srgbClr val="13303A"/>
                </a:solidFill>
                <a:latin typeface="Arial"/>
              </a:rPr>
              <a:t>Ask your partner “How do you know?” Answer by pointing to your own work.</a:t>
            </a:r>
          </a:p>
        </p:txBody>
      </p:sp>
      <p:sp>
        <p:nvSpPr>
          <p:cNvPr id="13"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26 / 50</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2-1</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6-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 KNOW THE ROUTINE  ·  </a:t>
            </a:r>
            <a:r>
              <a:rPr lang="en-US" sz="2000" b="0" dirty="0">
                <a:solidFill>
                  <a:srgbClr val="13303A"/>
                </a:solidFill>
                <a:latin typeface="Arial"/>
              </a:rPr>
              <a:t>Read  →  plan  →  solve  →  check. Do all four, in that order.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29 / 50</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2-1</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5-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TEACH A PARTNER  ·  </a:t>
            </a:r>
            <a:r>
              <a:rPr lang="en-US" sz="2000" b="0" dirty="0">
                <a:solidFill>
                  <a:srgbClr val="13303A"/>
                </a:solidFill>
                <a:latin typeface="Arial"/>
              </a:rPr>
              <a:t>Teach this to someone who missed it. If you can teach it, you know it.</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35 / 50</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2-1</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4-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REVISE NOW  ·  </a:t>
            </a:r>
            <a:r>
              <a:rPr lang="en-US" sz="2000" b="0" dirty="0">
                <a:solidFill>
                  <a:srgbClr val="13303A"/>
                </a:solidFill>
                <a:latin typeface="Arial"/>
              </a:rPr>
              <a:t>Change one answer and write why you changed it. A revision is evidence of learning.</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39 / 50</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2-1</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TWO MINUTES SOLO  ·  </a:t>
            </a:r>
            <a:r>
              <a:rPr lang="en-US" sz="2000" b="0" dirty="0">
                <a:solidFill>
                  <a:srgbClr val="13303A"/>
                </a:solidFill>
                <a:latin typeface="Arial"/>
              </a:rPr>
              <a:t>Two minutes on your own, then compare. Bring one thing you tried, even if it did not work.</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44 / 50</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2-1</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YOUR CHOICE  ·  </a:t>
            </a:r>
            <a:r>
              <a:rPr lang="en-US" sz="2000" b="0" dirty="0">
                <a:solidFill>
                  <a:srgbClr val="13303A"/>
                </a:solidFill>
                <a:latin typeface="Arial"/>
              </a:rPr>
              <a:t>You choose how to show this — numbers, words, or a diagram. Make your reasoning visible.</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47 / 50</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itle Slide">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2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Reveal Math Grade 6 · Lesson 2.1 — Understand Statistical Questions</dc:title>
  <dc:creator>Neft Teacher</dc:creator>
  <cp:lastModifiedBy>Neft Teacher</cp:lastModifiedBy>
  <dcterms:created xsi:type="dcterms:W3CDTF">2026-09-30T12:04:43Z</dcterms:created>
  <dcterms:modified xsi:type="dcterms:W3CDTF">2026-09-30T12:04:43Z</dcterms:modified>
</cp:coreProperties>
</file>