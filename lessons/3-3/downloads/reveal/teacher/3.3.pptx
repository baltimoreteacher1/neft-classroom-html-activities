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Override PartName="/ppt/slides/slide38.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49" r:id="rId2"/>
    <p:sldMasterId id="2147483650" r:id="rId3"/>
    <p:sldMasterId id="2147483651" r:id="rId4"/>
    <p:sldMasterId id="2147483652" r:id="rId5"/>
    <p:sldMasterId id="2147483653" r:id="rId6"/>
  </p:sldMasterIdLst>
  <p:notesMasterIdLst>
    <p:notesMasterId r:id="rId27"/>
  </p:notesMasterIdLst>
  <p:sldIdLst>
    <p:sldId id="5016" r:id="rId7"/>
    <p:sldId id="5005" r:id="rId8"/>
    <p:sldId id="5000" r:id="rId9"/>
    <p:sldId id="5034" r:id="rId47"/>
    <p:sldId id="5033" r:id="rId46"/>
    <p:sldId id="5032" r:id="rId45"/>
    <p:sldId id="5031" r:id="rId44"/>
    <p:sldId id="5030" r:id="rId43"/>
    <p:sldId id="5029" r:id="rId42"/>
    <p:sldId id="5028" r:id="rId41"/>
    <p:sldId id="5001" r:id="rId10"/>
    <p:sldId id="5002" r:id="rId11"/>
    <p:sldId id="5003" r:id="rId12"/>
    <p:sldId id="5004" r:id="rId13"/>
    <p:sldId id="5006" r:id="rId14"/>
    <p:sldId id="5035" r:id="rId48"/>
    <p:sldId id="5027" r:id="rId40"/>
    <p:sldId id="5026" r:id="rId39"/>
    <p:sldId id="5025" r:id="rId38"/>
    <p:sldId id="5007" r:id="rId15"/>
    <p:sldId id="5018" r:id="rId16"/>
    <p:sldId id="5019" r:id="rId17"/>
    <p:sldId id="5008" r:id="rId18"/>
    <p:sldId id="5024" r:id="rId37"/>
    <p:sldId id="5009" r:id="rId19"/>
    <p:sldId id="5010" r:id="rId20"/>
    <p:sldId id="5011" r:id="rId21"/>
    <p:sldId id="5012" r:id="rId22"/>
    <p:sldId id="5036" r:id="rId49"/>
    <p:sldId id="5023" r:id="rId36"/>
    <p:sldId id="5037" r:id="rId50"/>
    <p:sldId id="5022" r:id="rId35"/>
    <p:sldId id="5021" r:id="rId34"/>
    <p:sldId id="5017" r:id="rId23"/>
    <p:sldId id="5013" r:id="rId24"/>
    <p:sldId id="5014" r:id="rId25"/>
    <p:sldId id="5020" r:id="rId33"/>
    <p:sldId id="5015" r:id="rId26"/>
  </p:sldIdLst>
  <p:sldSz cx="12192000" cy="6858000"/>
  <p:notesSz cx="7010400" cy="9236075"/>
  <p:embeddedFontLst>
    <p:embeddedFont>
      <p:font typeface="Cambria Math" panose="02040503050406030204" pitchFamily="18" charset="0"/>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42E9BA-627F-4FF7-90C7-A7A058163FD8}">
  <a:tblStyle styleId="{E642E9BA-627F-4FF7-90C7-A7A058163FD8}"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F347EE8-D079-4CA4-87E7-91F46183383E}" styleName="Table_1">
    <a:wholeTbl>
      <a:tcTxStyle b="off" i="off">
        <a:font>
          <a:latin typeface="Calibri"/>
          <a:ea typeface="Calibri"/>
          <a:cs typeface="Calibri"/>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Calibri"/>
          <a:ea typeface="Calibri"/>
          <a:cs typeface="Calibri"/>
        </a:font>
        <a:schemeClr val="lt1"/>
      </a:tcTxStyle>
      <a:tcStyle>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8"/>
  </p:normalViewPr>
  <p:slideViewPr>
    <p:cSldViewPr snapToGrid="0">
      <p:cViewPr varScale="1">
        <p:scale>
          <a:sx n="114" d="100"/>
          <a:sy n="114" d="100"/>
        </p:scale>
        <p:origin x="496" y="184"/>
      </p:cViewPr>
      <p:guideLst>
        <p:guide pos="1512"/>
        <p:guide orient="horz" pos="3024"/>
        <p:guide orient="horz" pos="384"/>
        <p:guide orient="horz" pos="2520"/>
        <p:guide orient="horz" pos="1080"/>
        <p:guide orient="horz" pos="1680"/>
        <p:guide orient="horz" pos="3432"/>
        <p:guide orient="horz" pos="3120"/>
        <p:guide pos="48"/>
        <p:guide pos="384"/>
        <p:guide pos="6480"/>
        <p:guide pos="2597"/>
        <p:guide pos="288"/>
        <p:guide orient="horz" pos="2160"/>
        <p:guide orient="horz" pos="216"/>
        <p:guide orient="horz" pos="936"/>
        <p:guide pos="4368"/>
        <p:guide pos="7296"/>
        <p:guide pos="3288"/>
        <p:guide pos="590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11.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20.xml"/><Relationship Id="rId16" Type="http://schemas.openxmlformats.org/officeDocument/2006/relationships/slide" Target="slides/slide21.xml"/><Relationship Id="rId17" Type="http://schemas.openxmlformats.org/officeDocument/2006/relationships/slide" Target="slides/slide22.xml"/><Relationship Id="rId18" Type="http://schemas.openxmlformats.org/officeDocument/2006/relationships/slide" Target="slides/slide23.xml"/><Relationship Id="rId19" Type="http://schemas.openxmlformats.org/officeDocument/2006/relationships/slide" Target="slides/slide25.xml"/><Relationship Id="rId20" Type="http://schemas.openxmlformats.org/officeDocument/2006/relationships/slide" Target="slides/slide26.xml"/><Relationship Id="rId21" Type="http://schemas.openxmlformats.org/officeDocument/2006/relationships/slide" Target="slides/slide27.xml"/><Relationship Id="rId22" Type="http://schemas.openxmlformats.org/officeDocument/2006/relationships/slide" Target="slides/slide28.xml"/><Relationship Id="rId23" Type="http://schemas.openxmlformats.org/officeDocument/2006/relationships/slide" Target="slides/slide33.xml"/><Relationship Id="rId24" Type="http://schemas.openxmlformats.org/officeDocument/2006/relationships/slide" Target="slides/slide34.xml"/><Relationship Id="rId25" Type="http://schemas.openxmlformats.org/officeDocument/2006/relationships/slide" Target="slides/slide35.xml"/><Relationship Id="rId26" Type="http://schemas.openxmlformats.org/officeDocument/2006/relationships/slide" Target="slides/slide37.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36.xml"/><Relationship Id="rId34" Type="http://schemas.openxmlformats.org/officeDocument/2006/relationships/slide" Target="slides/slide32.xml"/><Relationship Id="rId35" Type="http://schemas.openxmlformats.org/officeDocument/2006/relationships/slide" Target="slides/slide31.xml"/><Relationship Id="rId36" Type="http://schemas.openxmlformats.org/officeDocument/2006/relationships/slide" Target="slides/slide30.xml"/><Relationship Id="rId37" Type="http://schemas.openxmlformats.org/officeDocument/2006/relationships/slide" Target="slides/slide24.xml"/><Relationship Id="rId38" Type="http://schemas.openxmlformats.org/officeDocument/2006/relationships/slide" Target="slides/slide19.xml"/><Relationship Id="rId39" Type="http://schemas.openxmlformats.org/officeDocument/2006/relationships/slide" Target="slides/slide18.xml"/><Relationship Id="rId40" Type="http://schemas.openxmlformats.org/officeDocument/2006/relationships/slide" Target="slides/slide17.xml"/><Relationship Id="rId41" Type="http://schemas.openxmlformats.org/officeDocument/2006/relationships/slide" Target="slides/slide10.xml"/><Relationship Id="rId42" Type="http://schemas.openxmlformats.org/officeDocument/2006/relationships/slide" Target="slides/slide9.xml"/><Relationship Id="rId43" Type="http://schemas.openxmlformats.org/officeDocument/2006/relationships/slide" Target="slides/slide8.xml"/><Relationship Id="rId44" Type="http://schemas.openxmlformats.org/officeDocument/2006/relationships/slide" Target="slides/slide7.xml"/><Relationship Id="rId45" Type="http://schemas.openxmlformats.org/officeDocument/2006/relationships/slide" Target="slides/slide6.xml"/><Relationship Id="rId46" Type="http://schemas.openxmlformats.org/officeDocument/2006/relationships/slide" Target="slides/slide5.xml"/><Relationship Id="rId47" Type="http://schemas.openxmlformats.org/officeDocument/2006/relationships/slide" Target="slides/slide4.xml"/><Relationship Id="rId48" Type="http://schemas.openxmlformats.org/officeDocument/2006/relationships/slide" Target="slides/slide16.xml"/><Relationship Id="rId49" Type="http://schemas.openxmlformats.org/officeDocument/2006/relationships/slide" Target="slides/slide29.xml"/><Relationship Id="rId50"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2"/>
            <a:ext cx="3037840" cy="463407"/>
          </a:xfrm>
          <a:prstGeom prst="rect">
            <a:avLst/>
          </a:prstGeom>
          <a:noFill/>
          <a:ln>
            <a:noFill/>
          </a:ln>
        </p:spPr>
        <p:txBody>
          <a:bodyPr spcFirstLastPara="1" wrap="square" lIns="92275" tIns="46125" rIns="92275" bIns="461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2"/>
            <a:ext cx="3037840" cy="463407"/>
          </a:xfrm>
          <a:prstGeom prst="rect">
            <a:avLst/>
          </a:prstGeom>
          <a:noFill/>
          <a:ln>
            <a:noFill/>
          </a:ln>
        </p:spPr>
        <p:txBody>
          <a:bodyPr spcFirstLastPara="1" wrap="square" lIns="92275" tIns="46125" rIns="92275" bIns="461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772669"/>
            <a:ext cx="3037840" cy="463406"/>
          </a:xfrm>
          <a:prstGeom prst="rect">
            <a:avLst/>
          </a:prstGeom>
          <a:noFill/>
          <a:ln>
            <a:noFill/>
          </a:ln>
        </p:spPr>
        <p:txBody>
          <a:bodyPr spcFirstLastPara="1" wrap="square" lIns="92275" tIns="46125" rIns="92275" bIns="461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772669"/>
            <a:ext cx="3037840" cy="463406"/>
          </a:xfrm>
          <a:prstGeom prst="rect">
            <a:avLst/>
          </a:prstGeom>
          <a:noFill/>
          <a:ln>
            <a:noFill/>
          </a:ln>
        </p:spPr>
        <p:txBody>
          <a:bodyPr spcFirstLastPara="1" wrap="square" lIns="92275" tIns="46125" rIns="92275" bIns="4612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3.3, slide 1 | WARMUP</a:t>
            </a:r>
          </a:p>
          <a:p xmlns:a="http://schemas.openxmlformats.org/drawingml/2006/main">
            <a:pPr>
              <a:buNone/>
            </a:pPr>
            <a:r>
              <a:rPr lang="en-US" sz="1100"/>
              <a:t>Focus on the existing task: Warm-Up WARM-UP · THINK • TRY • CHECK Do these four on your…</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Warm-Up answers (teacher only): 1) 10 and 15   2) 16, 20   3) 6   4) 8 cups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label ratio-table columns; multiply or divide both quantities by the same factor. Review recent work and today’s warm-up to choose flexible groups and access supports; do not infer needs from identity or perceived ability. Use the existing lesson tasks and stated standards.</a:t>
            </a:r>
          </a:p>
          <a:p>
            <a:pPr>
              <a:buNone/>
            </a:pPr>
            <a:r>
              <a:rPr lang="en-US" sz="1100"/>
              <a:t>Anticipate: adding the same amount to both entries to claim equivalence. If observed, draw matching scale-factor arrows between existing table rows.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3.3, slide 2 | NOTES</a:t>
            </a:r>
          </a:p>
          <a:p xmlns:a="http://schemas.openxmlformats.org/drawingml/2006/main">
            <a:pPr>
              <a:buNone/>
            </a:pPr>
            <a:r>
              <a:rPr lang="en-US" sz="1100"/>
              <a:t>Focus on the existing task: Math Notes — Session 1 Keep the idea from Homemade Clay. COPY THESE THREE LINES 01 A ratio table organizes matching pairs. 02 Multiply…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Use this slide only after the original worked example. Students copy the three lines on the left; the table is a reference and does not need copying. Read one line at a time. Ask one student to connect a note to the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3.3, slide 3 | GOAL</a:t>
            </a:r>
          </a:p>
          <a:p xmlns:a="http://schemas.openxmlformats.org/drawingml/2006/main">
            <a:pPr>
              <a:buNone/>
            </a:pPr>
            <a:r>
              <a:rPr lang="en-US" sz="1100"/>
              <a:t>Focus on the existing task: Learning Target — Session 1 | Maryland Standard 6.AT.3a LEARNING TARGET · LABEL • SCALE •…</a:t>
            </a:r>
          </a:p>
          <a:p xmlns:a="http://schemas.openxmlformats.org/drawingml/2006/main">
            <a:pPr>
              <a:buNone/>
            </a:pPr>
            <a:r>
              <a:rPr lang="en-US" sz="1100"/>
              <a:t>CONNECT (T1/4): Ask students to restate the displayed goal or key idea and connect it to earlier work. Relevant lesson evidence: label ratio-table columns; multiply or divide both quantities by the same factor.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Name today’s content and language goals. Briefly read the success criteria; do not teach procedures here. The original context and model follow. Return to these criteria after the worked example.</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label ratio-table columns; multiply or divide both quantities by the same factor. Ask: “Which part of your work would show this?” Revisit that evidence after the task; a confidence rating alone is not evidence of understanding.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3.3, slide 11 | TASK</a:t>
            </a:r>
          </a:p>
          <a:p xmlns:a="http://schemas.openxmlformats.org/drawingml/2006/main">
            <a:pPr>
              <a:buNone/>
            </a:pPr>
            <a:r>
              <a:rPr lang="en-US" sz="1100"/>
              <a:t>Focus on the existing task: More or Less Than 50 437 ÷ 6 717 ÷ 8 935 ÷ 50 STUDENT MOVE · ESTIMATE • DEFEND • COMPARE EXPLAIN YOUR THINKING “I estimate more/less…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ratio-table columns.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marL="0" lvl="0" indent="0" algn="l" rtl="0">
              <a:spcBef>
                <a:spcPts val="0"/>
              </a:spcBef>
              <a:spcAft>
                <a:spcPts val="0"/>
              </a:spcAft>
              <a:buNone/>
            </a:pPr>
            <a:endParaRPr/>
          </a:p>
          <a:p>
            <a:r>
              <a:rPr lang="en-US"/>
              <a:t>Student move: Partner press: ask Why? and answer with evidence.</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multiplicative relationship stays unchanged from one row to another?” Wait for evidence, invite another pathway, and have a student ask a follow-up question. Do not replace students’ reasoning with a sequence of leading steps.</a:t>
            </a:r>
          </a:p>
        </p:txBody>
      </p:sp>
      <p:sp>
        <p:nvSpPr>
          <p:cNvPr id="238" name="Google Shape;238;p2: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6: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3.3, slide 12 | TASK</a:t>
            </a:r>
          </a:p>
          <a:p xmlns:a="http://schemas.openxmlformats.org/drawingml/2006/main">
            <a:pPr>
              <a:buNone/>
            </a:pPr>
            <a:r>
              <a:rPr lang="en-US" sz="1100"/>
              <a:t>Focus on the existing task: Making Homemade Clay Brian will use the recipe shown to make clay. He needs to make multiple batches of clay. How can Brian determine how…</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multiply or divide both quantities by the same factor.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marL="0" lvl="0" indent="0" algn="l" rtl="0">
              <a:spcBef>
                <a:spcPts val="0"/>
              </a:spcBef>
              <a:spcAft>
                <a:spcPts val="0"/>
              </a:spcAft>
              <a:buNone/>
            </a:pPr>
            <a:endParaRPr/>
          </a:p>
          <a:p>
            <a:r>
              <a:rPr lang="en-US"/>
              <a:t>Student move: Ask a partner a question; choose a model together.</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adding the same amount to both entries to claim equivalence. If it appears, draw matching scale-factor arrows between existing table rows; then ask the student to revise the same response and explain the change. If evidence is secure, have students compare a second valid pathway or state why their approach works. Choose the next step from the responses, not a preset pace.</a:t>
            </a:r>
          </a:p>
        </p:txBody>
      </p:sp>
      <p:sp>
        <p:nvSpPr>
          <p:cNvPr id="275" name="Google Shape;275;p6: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3.3, slide 13 | TASK</a:t>
            </a:r>
          </a:p>
          <a:p xmlns:a="http://schemas.openxmlformats.org/drawingml/2006/main">
            <a:pPr>
              <a:buNone/>
            </a:pPr>
            <a:r>
              <a:rPr lang="en-US" sz="1100"/>
              <a:t>Focus on the existing task: Ratio tables and equivalent ratios A ratio table organizes pairs of related quantities. Equivalent ratios describe the same…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ratio-table columns.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3.3, slide 14 | TASK</a:t>
            </a:r>
          </a:p>
          <a:p xmlns:a="http://schemas.openxmlformats.org/drawingml/2006/main">
            <a:pPr>
              <a:buNone/>
            </a:pPr>
            <a:r>
              <a:rPr lang="en-US" sz="1100"/>
              <a:t>Focus on the existing task: One scale factor for both quantities A scale factor tells how many times as much. For 3 batches, multiply both amounts by 3: 2 × 3 = 6…</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multiply or divide both quantities by the same factor.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3.3, slide 15 | PRACTICE</a:t>
            </a:r>
          </a:p>
          <a:p xmlns:a="http://schemas.openxmlformats.org/drawingml/2006/main">
            <a:pPr>
              <a:buNone/>
            </a:pPr>
            <a:r>
              <a:rPr lang="en-US" sz="1100"/>
              <a:t>Focus on the existing task: Practice: the same clay recipe One batch uses 2 cups of baking soda and 1 cup of cornstarch. 1. Find both amounts for 8 batches. Show the…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multiply or divide both quantities by the same factor.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3.3, slide 20 | ASSESSMENT</a:t>
            </a:r>
          </a:p>
          <a:p xmlns:a="http://schemas.openxmlformats.org/drawingml/2006/main">
            <a:pPr>
              <a:buNone/>
            </a:pPr>
            <a:r>
              <a:rPr lang="en-US" sz="1100"/>
              <a:t>Focus on the existing task: Quick Check — Session 1 Use the model to explain your thinking. One batch uses 2 cups baking soda and 1 cup cornstarch. How much of each ingredient makes 5 batches?</a:t>
            </a:r>
          </a:p>
          <a:p xmlns:a="http://schemas.openxmlformats.org/drawingml/2006/main">
            <a:pPr>
              <a:buNone/>
            </a:pPr>
            <a:r>
              <a:rPr lang="en-US" sz="1100"/>
              <a:t>LAUNCH (T2/3/5): Gather an independent response before feedback. Students choose a suitable representation and justify it. Keep the first attempt separate from the revision.</a:t>
            </a:r>
          </a:p>
          <a:p xmlns:a="http://schemas.openxmlformats.org/drawingml/2006/main">
            <a:pPr>
              <a:buNone/>
            </a:pPr>
            <a:r>
              <a:rPr lang="en-US" sz="1100"/>
              <a:t>LOOK FOR (T4): Where this task addresses it, students can multiply or divide both quantities by the same factor.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Answer: 10 cups baking soda and 5 cups cornstarch; ×5. Give quiet thinking time before sharing. If a student is stuck, point back to the relevant worked model without doing the task for them. Give specific feedback, then allow a correction.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701040" y="4444862"/>
            <a:ext cx="5608320" cy="3636705"/>
          </a:xfrm>
          <a:prstGeom prst="rect">
            <a:avLst/>
          </a:prstGeom>
          <a:noFill/>
          <a:ln>
            <a:noFill/>
          </a:ln>
        </p:spPr>
        <p:txBody>
          <a:bodyPr wrap="square" anchor="t">
            <a:noAutofit/>
          </a:bodyPr>
          <a:lstStyle/>
          <a:p xmlns:a="http://schemas.openxmlformats.org/drawingml/2006/main">
            <a:pPr>
              <a:buNone/>
            </a:pPr>
            <a:r>
              <a:rPr lang="en-US" sz="1100"/>
              <a:t>TEACH IN PRACTICE | Embedded facilitation | Lesson 3.3, slide 21 | WARMUP</a:t>
            </a:r>
          </a:p>
          <a:p xmlns:a="http://schemas.openxmlformats.org/drawingml/2006/main">
            <a:pPr>
              <a:buNone/>
            </a:pPr>
            <a:r>
              <a:rPr lang="en-US" sz="1100"/>
              <a:t>Focus on the existing task: Session 2 Warm-Up | Session 2 Warm-Up · about 4 minutes WARM-UP · THINK • TRY • CHECK Do…</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701040" y="4444862"/>
            <a:ext cx="5608320" cy="3636705"/>
          </a:xfrm>
          <a:prstGeom prst="rect">
            <a:avLst/>
          </a:prstGeom>
          <a:noFill/>
          <a:ln>
            <a:noFill/>
          </a:ln>
        </p:spPr>
        <p:txBody>
          <a:bodyPr wrap="square" anchor="t">
            <a:noAutofit/>
          </a:bodyPr>
          <a:lstStyle/>
          <a:p xmlns:a="http://schemas.openxmlformats.org/drawingml/2006/main">
            <a:pPr>
              <a:buNone/>
            </a:pPr>
            <a:r>
              <a:rPr lang="en-US" sz="1100"/>
              <a:t>TEACH IN PRACTICE | Embedded facilitation | Lesson 3.3, slide 22 | NOTES</a:t>
            </a:r>
          </a:p>
          <a:p xmlns:a="http://schemas.openxmlformats.org/drawingml/2006/main">
            <a:pPr>
              <a:buNone/>
            </a:pPr>
            <a:r>
              <a:rPr lang="en-US" sz="1100"/>
              <a:t>Focus on the existing task: Review Notes — Session 2 Review the key ideas before Session 2. COPY THESE THREE LINES 01 A ratio table organizes matching pairs. 02…</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3.3, slide 23 | GOAL</a:t>
            </a:r>
          </a:p>
          <a:p xmlns:a="http://schemas.openxmlformats.org/drawingml/2006/main">
            <a:pPr>
              <a:buNone/>
            </a:pPr>
            <a:r>
              <a:rPr lang="en-US" sz="1100"/>
              <a:t>Focus on the existing task: Learning Target — Session 2 | Maryland Standard 6.AT.3a LEARNING TARGET · DIVIDE • CHECK •…</a:t>
            </a:r>
          </a:p>
          <a:p xmlns:a="http://schemas.openxmlformats.org/drawingml/2006/main">
            <a:pPr>
              <a:buNone/>
            </a:pPr>
            <a:r>
              <a:rPr lang="en-US" sz="1100"/>
              <a:t>CONNECT (T1/4): Ask students to restate the displayed goal or key idea and connect it to earlier work. Relevant lesson evidence: label ratio-table columns; multiply or divide both quantities by the same factor.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Name today’s content and language goals. Briefly read the success criteria; do not teach procedures here. The original context and model follow. Return to these criteria after the worked example.</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label ratio-table columns; multiply or divide both quantities by the same factor. Ask: “Which part of your work would show this?” Revisit that evidence after the task; a confidence rating alone is not evidence of understanding.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37: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3.3, slide 25 | TASK</a:t>
            </a:r>
          </a:p>
          <a:p xmlns:a="http://schemas.openxmlformats.org/drawingml/2006/main">
            <a:pPr>
              <a:buNone/>
            </a:pPr>
            <a:r>
              <a:rPr lang="en-US" sz="1100"/>
              <a:t>Focus on the existing task: Mixing Paint Sofia mixes 4 cans of red paint with 3 cans of yellow paint to make orange. Her friend has only 1 can of yellow paint. Predict: will the red amount be more or less than 4 cans?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multiply or divide both quantities by the same factor.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marL="0" lvl="0" indent="0" algn="l" rtl="0">
              <a:spcBef>
                <a:spcPts val="0"/>
              </a:spcBef>
              <a:spcAft>
                <a:spcPts val="0"/>
              </a:spcAft>
              <a:buNone/>
            </a:pPr>
            <a:endParaRPr/>
          </a:p>
          <a:p>
            <a:r>
              <a:rPr lang="en-US"/>
              <a:t>Student move: Compare strategies; defend one with evidence.</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multiplicative relationship stays unchanged from one row to another?” Wait for evidence, invite another pathway, and have a student ask a follow-up question. Do not replace students’ reasoning with a sequence of leading steps.</a:t>
            </a:r>
          </a:p>
        </p:txBody>
      </p:sp>
      <p:sp>
        <p:nvSpPr>
          <p:cNvPr id="560" name="Google Shape;560;p37: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3.3, slide 26 | REVEAL</a:t>
            </a:r>
          </a:p>
          <a:p xmlns:a="http://schemas.openxmlformats.org/drawingml/2006/main">
            <a:pPr>
              <a:buNone/>
            </a:pPr>
            <a:r>
              <a:rPr lang="en-US" sz="1100"/>
              <a:t>Focus on the existing task: Scaling down to one can The missing term is the unknown amount. The starting ratio of red to yellow is 4: 3. To change 3 yellow cans to…</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multiply or divide both quantities by the same factor.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Teach this step before assigning independent practice. Read the highlighted term and connect it to the example. Model the calculation, then ask students to explain why the same factor applies to both quantities. Give thinking time and invite a partner explanation. Source content: supplied McGraw Hill Unit 3 lesson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3.3, slide 27 | NOTES</a:t>
            </a:r>
          </a:p>
          <a:p xmlns:a="http://schemas.openxmlformats.org/drawingml/2006/main">
            <a:pPr>
              <a:buNone/>
            </a:pPr>
            <a:r>
              <a:rPr lang="en-US" sz="1100"/>
              <a:t>Focus on the existing task: Math Notes — Session 2 Keep the idea from Mixing Paint. COPY THESE THREE LINES 01 Divide both amounts by the same number. 02 The missing…</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Use this slide only after the original worked example. Students copy the three lines on the left; the table is a reference and does not need copying. Read one line at a time. Ask one student to connect a note to the example.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p62: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3.3, slide 28 | PRACTICE</a:t>
            </a:r>
          </a:p>
          <a:p xmlns:a="http://schemas.openxmlformats.org/drawingml/2006/main">
            <a:pPr>
              <a:buNone/>
            </a:pPr>
            <a:r>
              <a:rPr lang="en-US" sz="1100"/>
              <a:t>Focus on the existing task: Let’s Explore More How can you use the ratio table to determine the number of cans of yellow paint needed for 8 cans of red paint to make the same shade of orange?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ratio-table columns.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marL="0" lvl="0" indent="0" algn="l" rtl="0">
              <a:spcBef>
                <a:spcPts val="0"/>
              </a:spcBef>
              <a:spcAft>
                <a:spcPts val="0"/>
              </a:spcAft>
              <a:buNone/>
            </a:pPr>
            <a:endParaRPr/>
          </a:p>
          <a:p>
            <a:r>
              <a:rPr lang="en-US"/>
              <a:t>Student move: Compare pathways with a partner; name one revision.</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adding the same amount to both entries to claim equivalence. If it appears, draw matching scale-factor arrows between existing table rows; then ask the student to revise the same response and explain the change. If evidence is secure, have students compare a second valid pathway or state why their approach works. Choose the next step from the responses, not a preset pace.</a:t>
            </a:r>
          </a:p>
        </p:txBody>
      </p:sp>
      <p:sp>
        <p:nvSpPr>
          <p:cNvPr id="784" name="Google Shape;784;p62: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701040" y="4444862"/>
            <a:ext cx="5608320" cy="3636705"/>
          </a:xfrm>
          <a:prstGeom prst="rect">
            <a:avLst/>
          </a:prstGeom>
          <a:noFill/>
          <a:ln>
            <a:noFill/>
          </a:ln>
        </p:spPr>
        <p:txBody>
          <a:bodyPr wrap="square" anchor="t">
            <a:noAutofit/>
          </a:bodyPr>
          <a:lstStyle/>
          <a:p xmlns:a="http://schemas.openxmlformats.org/drawingml/2006/main">
            <a:pPr>
              <a:buNone/>
            </a:pPr>
            <a:r>
              <a:rPr lang="en-US" sz="1100"/>
              <a:t>TEACH IN PRACTICE | Embedded facilitation | Lesson 3.3, slide 33 | SUMMARIZE</a:t>
            </a:r>
          </a:p>
          <a:p xmlns:a="http://schemas.openxmlformats.org/drawingml/2006/main">
            <a:pPr>
              <a:buNone/>
            </a:pPr>
            <a:r>
              <a:rPr lang="en-US" sz="1100"/>
              <a:t>Focus on the existing task: STUDENT MOVE · SUMMARIZE • TEACH A PARTNER Summarize: Equivalent Ratios Multiply or divide BOTH quantities by the same number. Each…</a:t>
            </a:r>
          </a:p>
          <a:p xmlns:a="http://schemas.openxmlformats.org/drawingml/2006/main">
            <a:pPr>
              <a:buNone/>
            </a:pPr>
            <a:r>
              <a:rPr lang="en-US" sz="1100"/>
              <a:t>CONNECT (T1/4): Ask students to restate the displayed goal or key idea and connect it to earlier work. Relevant lesson evidence: label ratio-table columns; multiply or divide both quantities by the same factor.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Model briefly, then hand the thinking back: ask “Why does this step work?” before showing the next one.</a:t>
            </a:r>
          </a:p>
          <a:p>
            <a:r>
              <a:t>Quick check before moving on — thumbs or whiteboards from everyone, not volunteers.</a:t>
            </a:r>
          </a:p>
          <a:p>
            <a:r>
              <a:t>UIFR: TEACH 2 · TEACH 3 · TEACH 4.</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64: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xmlns:a="http://schemas.openxmlformats.org/drawingml/2006/main">
            <a:pPr>
              <a:buNone/>
            </a:pPr>
            <a:r>
              <a:rPr lang="en-US" sz="1100"/>
              <a:t>TEACH IN PRACTICE | Embedded facilitation | Lesson 3.3, slide 34 | APPLY</a:t>
            </a:r>
          </a:p>
          <a:p xmlns:a="http://schemas.openxmlformats.org/drawingml/2006/main">
            <a:pPr>
              <a:buNone/>
            </a:pPr>
            <a:r>
              <a:rPr lang="en-US" sz="1100"/>
              <a:t>Focus on the existing task: Apply: Which Brand to Buy?</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label ratio-table columns.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a:t>Students compare brands using equivalent ratios or a unit amount — either route works. Press for a fair comparison: same number of cans or same price before deciding. Debrief one pair from each route.</a:t>
            </a:r>
          </a:p>
        </p:txBody>
      </p:sp>
      <p:sp>
        <p:nvSpPr>
          <p:cNvPr id="805" name="Google Shape;805;p6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3.3, slide 35 | ASSESSMENT</a:t>
            </a:r>
          </a:p>
          <a:p xmlns:a="http://schemas.openxmlformats.org/drawingml/2006/main">
            <a:pPr>
              <a:buNone/>
            </a:pPr>
            <a:r>
              <a:rPr lang="en-US" sz="1100"/>
              <a:t>Focus on the existing task: Exit Ticket + Self-Check STUDENT MOVE · SELF-ASSESS • NAME YOUR NEXT STEP Orange paint uses 4 cans of red for every 3 cans of yellow. How many cans of red paint go with 6 cans of yellow?</a:t>
            </a:r>
          </a:p>
          <a:p xmlns:a="http://schemas.openxmlformats.org/drawingml/2006/main">
            <a:pPr>
              <a:buNone/>
            </a:pPr>
            <a:r>
              <a:rPr lang="en-US" sz="1100"/>
              <a:t>LAUNCH (T2/3/5): Gather an independent response before feedback. Students choose a suitable representation and justify it. Keep the first attempt separate from the revision.</a:t>
            </a:r>
          </a:p>
          <a:p xmlns:a="http://schemas.openxmlformats.org/drawingml/2006/main">
            <a:pPr>
              <a:buNone/>
            </a:pPr>
            <a:r>
              <a:rPr lang="en-US" sz="1100"/>
              <a:t>LOOK FOR (T4): Where this task addresses it, students can label ratio-table columns.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Answer: 8 cans red; multiply both 4 and 3 by 2. Give quiet thinking time before sharing. If a student is stuck, point back to the relevant worked model without doing the task for them. Give specific feedback, then allow a correction.</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label ratio-table columns; multiply or divide both quantities by the same factor. Respond with one specific next step tied to the work. Students revise and annotate what changed, then identify a criterion they can now demonstrate and one they still need to practice.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xmlns:a="http://schemas.openxmlformats.org/drawingml/2006/main">
            <a:pPr>
              <a:buNone/>
            </a:pPr>
            <a:r>
              <a:rPr lang="en-US" sz="1100"/>
              <a:t>TEACH IN PRACTICE | Embedded facilitation | Lesson 3.3, slide 37 | REFERENCE</a:t>
            </a:r>
          </a:p>
          <a:p xmlns:a="http://schemas.openxmlformats.org/drawingml/2006/main">
            <a:pPr>
              <a:buNone/>
            </a:pPr>
            <a:r>
              <a:rPr lang="en-US" sz="1100"/>
              <a:t>Focus on the existing task: UIFR TEACH — Teacher Reference Teacher reference • hidden from the student slideshow TEACH 1 · Session goals, purpose, and content-linked…</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Source: Baltimore City Public Schools, Updated Instructional Framework Rubric, June 2020. Teacher enactment determines the quality of instruction; this is a support 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36 | REFLECTION</a:t>
            </a:r>
          </a:p>
          <a:p xmlns:a="http://schemas.openxmlformats.org/drawingml/2006/main">
            <a:pPr>
              <a:buNone/>
            </a:pPr>
            <a:r>
              <a:rPr lang="en-US" sz="1100"/>
              <a:t>Focus on the existing task: Learning Targets I can use multiplication and division to generate equivalent ratios. I can use appropriate tools to explain whether a set…</a:t>
            </a:r>
          </a:p>
          <a:p xmlns:a="http://schemas.openxmlformats.org/drawingml/2006/main">
            <a:pPr>
              <a:buNone/>
            </a:pPr>
            <a:r>
              <a:rPr lang="en-US" sz="1100"/>
              <a:t>CONNECT (T1/4): Ask students to restate the displayed goal or key idea and connect it to earlier work. Relevant lesson evidence: label ratio-table columns; multiply or divide both quantities by the same factor.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adding the same amount to both entries to claim equivalence.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draw matching scale-factor arrows between existing table rows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4 | VOCAB</a:t>
            </a:r>
          </a:p>
          <a:p xmlns:a="http://schemas.openxmlformats.org/drawingml/2006/main">
            <a:pPr>
              <a:buNone/>
            </a:pPr>
            <a:r>
              <a:rPr lang="en-US" sz="1100"/>
              <a:t>Focus on the existing task: Vocabulary 1 of 6 Ratio Tables Tables that…</a:t>
            </a:r>
          </a:p>
          <a:p xmlns:a="http://schemas.openxmlformats.org/drawingml/2006/main">
            <a:pPr>
              <a:buNone/>
            </a:pPr>
            <a:r>
              <a:rPr lang="en-US" sz="1100"/>
              <a:t>ASK (T1/3/5): Where does “Ratio Tables”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5 | VOCAB</a:t>
            </a:r>
          </a:p>
          <a:p xmlns:a="http://schemas.openxmlformats.org/drawingml/2006/main">
            <a:pPr>
              <a:buNone/>
            </a:pPr>
            <a:r>
              <a:rPr lang="en-US" sz="1100"/>
              <a:t>Focus on the existing task: Vocabulary 2 of 6 Ratio table A table of equal…</a:t>
            </a:r>
          </a:p>
          <a:p xmlns:a="http://schemas.openxmlformats.org/drawingml/2006/main">
            <a:pPr>
              <a:buNone/>
            </a:pPr>
            <a:r>
              <a:rPr lang="en-US" sz="1100"/>
              <a:t>ASK (T1/3/5): Where does “Ratio table”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6 | VOCAB</a:t>
            </a:r>
          </a:p>
          <a:p xmlns:a="http://schemas.openxmlformats.org/drawingml/2006/main">
            <a:pPr>
              <a:buNone/>
            </a:pPr>
            <a:r>
              <a:rPr lang="en-US" sz="1100"/>
              <a:t>Focus on the existing task: Vocabulary 3 of 6 Equivalent ratio Two ratios…</a:t>
            </a:r>
          </a:p>
          <a:p xmlns:a="http://schemas.openxmlformats.org/drawingml/2006/main">
            <a:pPr>
              <a:buNone/>
            </a:pPr>
            <a:r>
              <a:rPr lang="en-US" sz="1100"/>
              <a:t>ASK (T1/3/5): Where does “Equivalent ratio”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7 | VOCAB</a:t>
            </a:r>
          </a:p>
          <a:p xmlns:a="http://schemas.openxmlformats.org/drawingml/2006/main">
            <a:pPr>
              <a:buNone/>
            </a:pPr>
            <a:r>
              <a:rPr lang="en-US" sz="1100"/>
              <a:t>Focus on the existing task: Vocabulary 4 of 6 Scale factor The number you…</a:t>
            </a:r>
          </a:p>
          <a:p xmlns:a="http://schemas.openxmlformats.org/drawingml/2006/main">
            <a:pPr>
              <a:buNone/>
            </a:pPr>
            <a:r>
              <a:rPr lang="en-US" sz="1100"/>
              <a:t>ASK (T1/3/5): Where does “Scale factor”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8 | VOCAB</a:t>
            </a:r>
          </a:p>
          <a:p xmlns:a="http://schemas.openxmlformats.org/drawingml/2006/main">
            <a:pPr>
              <a:buNone/>
            </a:pPr>
            <a:r>
              <a:rPr lang="en-US" sz="1100"/>
              <a:t>Focus on the existing task: Vocabulary 5 of 6 Pattern A rule that numbers…</a:t>
            </a:r>
          </a:p>
          <a:p xmlns:a="http://schemas.openxmlformats.org/drawingml/2006/main">
            <a:pPr>
              <a:buNone/>
            </a:pPr>
            <a:r>
              <a:rPr lang="en-US" sz="1100"/>
              <a:t>ASK (T1/3/5): Where does “Pattern”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9 | VOCAB</a:t>
            </a:r>
          </a:p>
          <a:p xmlns:a="http://schemas.openxmlformats.org/drawingml/2006/main">
            <a:pPr>
              <a:buNone/>
            </a:pPr>
            <a:r>
              <a:rPr lang="en-US" sz="1100"/>
              <a:t>Focus on the existing task: Vocabulary 6 of 6 Additive pattern Building new…</a:t>
            </a:r>
          </a:p>
          <a:p xmlns:a="http://schemas.openxmlformats.org/drawingml/2006/main">
            <a:pPr>
              <a:buNone/>
            </a:pPr>
            <a:r>
              <a:rPr lang="en-US" sz="1100"/>
              <a:t>ASK (T1/3/5): Where does “Additive pattern”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10 | CURIOUS</a:t>
            </a:r>
          </a:p>
          <a:p xmlns:a="http://schemas.openxmlformats.org/drawingml/2006/main">
            <a:pPr>
              <a:buNone/>
            </a:pPr>
            <a:r>
              <a:rPr lang="en-US" sz="1100"/>
              <a:t>Focus on the existing task: Be Curious What is the question?</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label ratio-table columns.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2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16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label ratio-table columns; multiply or divide both quantities by the same factor.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17 | REVEAL</a:t>
            </a:r>
          </a:p>
          <a:p xmlns:a="http://schemas.openxmlformats.org/drawingml/2006/main">
            <a:pPr>
              <a:buNone/>
            </a:pPr>
            <a:r>
              <a:rPr lang="en-US" sz="1100"/>
              <a:t>Focus on the existing task: We can show the relationship between the quantities of clay using a table. How does the table show the relationship between the quantity of baking soda and cornstarch?</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label ratio-table columns.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18 | REVEAL</a:t>
            </a:r>
          </a:p>
          <a:p xmlns:a="http://schemas.openxmlformats.org/drawingml/2006/main">
            <a:pPr>
              <a:buNone/>
            </a:pPr>
            <a:r>
              <a:rPr lang="en-US" sz="1100"/>
              <a:t>Focus on the existing task: How can you find the quantity of baking soda and cornstarch needed for three batches of clay?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label ratio-table columns.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19 | REVEAL</a:t>
            </a:r>
          </a:p>
          <a:p xmlns:a="http://schemas.openxmlformats.org/drawingml/2006/main">
            <a:pPr>
              <a:buNone/>
            </a:pPr>
            <a:r>
              <a:rPr lang="en-US" sz="1100"/>
              <a:t>Focus on the existing task: What pattern do you see in the ratio table?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label ratio-table columns.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24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label ratio-table columns.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29 | PRIOR_INSERT</a:t>
            </a:r>
          </a:p>
          <a:p xmlns:a="http://schemas.openxmlformats.org/drawingml/2006/main">
            <a:pPr>
              <a:buNone/>
            </a:pPr>
            <a:r>
              <a:rPr lang="en-US" sz="1100"/>
              <a:t>Focus on the existing task: LESSON 3.3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label ratio-table columns; multiply or divide both quantities by the same factor.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30 | REVEAL</a:t>
            </a:r>
          </a:p>
          <a:p xmlns:a="http://schemas.openxmlformats.org/drawingml/2006/main">
            <a:pPr>
              <a:buNone/>
            </a:pPr>
            <a:r>
              <a:rPr lang="en-US" sz="1100"/>
              <a:t>Focus on the existing task: What information is needed to answer the question?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multiply or divide both quantities by the same factor.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31 | REVEAL</a:t>
            </a:r>
          </a:p>
          <a:p xmlns:a="http://schemas.openxmlformats.org/drawingml/2006/main">
            <a:pPr>
              <a:buNone/>
            </a:pPr>
            <a:r>
              <a:rPr lang="en-US" sz="1100"/>
              <a:t>Focus on the existing task: How can you express the relationship between the cans of red paint and yellow paint as a ratio?</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label ratio-table columns.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3.3, slide 32 | REVEAL</a:t>
            </a:r>
          </a:p>
          <a:p xmlns:a="http://schemas.openxmlformats.org/drawingml/2006/main">
            <a:pPr>
              <a:buNone/>
            </a:pPr>
            <a:r>
              <a:rPr lang="en-US" sz="1100"/>
              <a:t>Focus on the existing task: Reveal: We can divide 3 into 3 equal parts and the size of each part will be 1. How can you describe the relationship between 3 and 1?</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multiply or divide both quantities by the same factor. Ask which feature of their work supports the claim.</a:t>
            </a:r>
          </a:p>
          <a:p xmlns:a="http://schemas.openxmlformats.org/drawingml/2006/main">
            <a:pPr>
              <a:buNone/>
            </a:pPr>
            <a:r>
              <a:rPr lang="en-US" sz="1100"/>
              <a:t>RESPOND: If this task shows the lesson misconception—adding the same amount to both entries to claim equivalence—draw matching scale-factor arrows between existing table rows.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le Slide Photo">
  <p:cSld name="2_Title Slide Photo">
    <p:spTree>
      <p:nvGrpSpPr>
        <p:cNvPr id="1" name="Shape 1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1-column">
  <p:cSld name="Content 1-column">
    <p:spTree>
      <p:nvGrpSpPr>
        <p:cNvPr id="1" name="Shape 16"/>
        <p:cNvGrpSpPr/>
        <p:nvPr/>
      </p:nvGrpSpPr>
      <p:grpSpPr>
        <a:xfrm>
          <a:off x="0" y="0"/>
          <a:ext cx="0" cy="0"/>
          <a:chOff x="0" y="0"/>
          <a:chExt cx="0" cy="0"/>
        </a:xfrm>
      </p:grpSpPr>
      <p:sp>
        <p:nvSpPr>
          <p:cNvPr id="17" name="Google Shape;17;p3"/>
          <p:cNvSpPr txBox="1">
            <a:spLocks noGrp="1"/>
          </p:cNvSpPr>
          <p:nvPr>
            <p:ph type="sldNum" idx="12"/>
          </p:nvPr>
        </p:nvSpPr>
        <p:spPr>
          <a:xfrm>
            <a:off x="10436045" y="6528815"/>
            <a:ext cx="1278151" cy="2286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a:solidFill>
                  <a:schemeClr val="dk2"/>
                </a:solidFill>
                <a:latin typeface="Arial"/>
                <a:ea typeface="Arial"/>
                <a:cs typeface="Arial"/>
                <a:sym typeface="Arial"/>
              </a:defRPr>
            </a:lvl1pPr>
            <a:lvl2pPr marL="0" marR="0" lvl="1" indent="0" algn="r" rtl="0">
              <a:spcBef>
                <a:spcPts val="0"/>
              </a:spcBef>
              <a:buNone/>
              <a:defRPr sz="900">
                <a:solidFill>
                  <a:schemeClr val="dk2"/>
                </a:solidFill>
                <a:latin typeface="Arial"/>
                <a:ea typeface="Arial"/>
                <a:cs typeface="Arial"/>
                <a:sym typeface="Arial"/>
              </a:defRPr>
            </a:lvl2pPr>
            <a:lvl3pPr marL="0" marR="0" lvl="2" indent="0" algn="r" rtl="0">
              <a:spcBef>
                <a:spcPts val="0"/>
              </a:spcBef>
              <a:buNone/>
              <a:defRPr sz="900">
                <a:solidFill>
                  <a:schemeClr val="dk2"/>
                </a:solidFill>
                <a:latin typeface="Arial"/>
                <a:ea typeface="Arial"/>
                <a:cs typeface="Arial"/>
                <a:sym typeface="Arial"/>
              </a:defRPr>
            </a:lvl3pPr>
            <a:lvl4pPr marL="0" marR="0" lvl="3" indent="0" algn="r" rtl="0">
              <a:spcBef>
                <a:spcPts val="0"/>
              </a:spcBef>
              <a:buNone/>
              <a:defRPr sz="900">
                <a:solidFill>
                  <a:schemeClr val="dk2"/>
                </a:solidFill>
                <a:latin typeface="Arial"/>
                <a:ea typeface="Arial"/>
                <a:cs typeface="Arial"/>
                <a:sym typeface="Arial"/>
              </a:defRPr>
            </a:lvl4pPr>
            <a:lvl5pPr marL="0" marR="0" lvl="4" indent="0" algn="r" rtl="0">
              <a:spcBef>
                <a:spcPts val="0"/>
              </a:spcBef>
              <a:buNone/>
              <a:defRPr sz="900">
                <a:solidFill>
                  <a:schemeClr val="dk2"/>
                </a:solidFill>
                <a:latin typeface="Arial"/>
                <a:ea typeface="Arial"/>
                <a:cs typeface="Arial"/>
                <a:sym typeface="Arial"/>
              </a:defRPr>
            </a:lvl5pPr>
            <a:lvl6pPr marL="0" marR="0" lvl="5" indent="0" algn="r" rtl="0">
              <a:spcBef>
                <a:spcPts val="0"/>
              </a:spcBef>
              <a:buNone/>
              <a:defRPr sz="900">
                <a:solidFill>
                  <a:schemeClr val="dk2"/>
                </a:solidFill>
                <a:latin typeface="Arial"/>
                <a:ea typeface="Arial"/>
                <a:cs typeface="Arial"/>
                <a:sym typeface="Arial"/>
              </a:defRPr>
            </a:lvl6pPr>
            <a:lvl7pPr marL="0" marR="0" lvl="6" indent="0" algn="r" rtl="0">
              <a:spcBef>
                <a:spcPts val="0"/>
              </a:spcBef>
              <a:buNone/>
              <a:defRPr sz="900">
                <a:solidFill>
                  <a:schemeClr val="dk2"/>
                </a:solidFill>
                <a:latin typeface="Arial"/>
                <a:ea typeface="Arial"/>
                <a:cs typeface="Arial"/>
                <a:sym typeface="Arial"/>
              </a:defRPr>
            </a:lvl7pPr>
            <a:lvl8pPr marL="0" marR="0" lvl="7" indent="0" algn="r" rtl="0">
              <a:spcBef>
                <a:spcPts val="0"/>
              </a:spcBef>
              <a:buNone/>
              <a:defRPr sz="900">
                <a:solidFill>
                  <a:schemeClr val="dk2"/>
                </a:solidFill>
                <a:latin typeface="Arial"/>
                <a:ea typeface="Arial"/>
                <a:cs typeface="Arial"/>
                <a:sym typeface="Arial"/>
              </a:defRPr>
            </a:lvl8pPr>
            <a:lvl9pPr marL="0" marR="0" lvl="8" indent="0" algn="r" rtl="0">
              <a:spcBef>
                <a:spcPts val="0"/>
              </a:spcBef>
              <a:buNone/>
              <a:defRPr sz="900">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dk2"/>
                </a:solidFill>
                <a:latin typeface="Arial"/>
                <a:ea typeface="Arial"/>
                <a:cs typeface="Arial"/>
                <a:sym typeface="Arial"/>
              </a:rPr>
              <a:t>McGraw Hill   |</a:t>
            </a:r>
            <a:endParaRPr sz="900">
              <a:solidFill>
                <a:schemeClr val="dk2"/>
              </a:solidFill>
              <a:latin typeface="Arial"/>
              <a:ea typeface="Arial"/>
              <a:cs typeface="Arial"/>
              <a:sym typeface="Arial"/>
            </a:endParaRPr>
          </a:p>
        </p:txBody>
      </p:sp>
      <p:sp>
        <p:nvSpPr>
          <p:cNvPr id="19" name="Google Shape;19;p3"/>
          <p:cNvSpPr txBox="1">
            <a:spLocks noGrp="1"/>
          </p:cNvSpPr>
          <p:nvPr>
            <p:ph type="ftr" idx="11"/>
          </p:nvPr>
        </p:nvSpPr>
        <p:spPr>
          <a:xfrm>
            <a:off x="1402828" y="6528816"/>
            <a:ext cx="7315200" cy="228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chemeClr val="dk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9" name="Google Shape;2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 name="Google Shape;35;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6" name="Google Shape;3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 name="Google Shape;41;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8" name="Google Shape;48;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9" name="Google Shape;49;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1" name="Google Shape;51;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2" name="Google Shape;5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7" name="Google Shape;5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6" name="Google Shape;66;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7" name="Google Shape;67;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8" name="Google Shape;6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3" name="Google Shape;73;p13"/>
          <p:cNvSpPr>
            <a:spLocks noGrp="1"/>
          </p:cNvSpPr>
          <p:nvPr>
            <p:ph type="pic" idx="2"/>
          </p:nvPr>
        </p:nvSpPr>
        <p:spPr>
          <a:xfrm>
            <a:off x="5183188" y="987425"/>
            <a:ext cx="6172200" cy="4873625"/>
          </a:xfrm>
          <a:prstGeom prst="rect">
            <a:avLst/>
          </a:prstGeom>
          <a:noFill/>
          <a:ln>
            <a:noFill/>
          </a:ln>
        </p:spPr>
      </p:sp>
      <p:sp>
        <p:nvSpPr>
          <p:cNvPr id="74" name="Google Shape;74;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5" name="Google Shape;7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8" name="Google Shape;9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9" name="Google Shape;9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3" name="Google Shape;103;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4" name="Google Shape;10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5" name="Google Shape;10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6" name="Google Shape;10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110" name="Google Shape;11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2" name="Google Shape;11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5" name="Google Shape;115;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6" name="Google Shape;116;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7" name="Google Shape;11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9" name="Google Shape;11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2" name="Google Shape;122;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23" name="Google Shape;123;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4" name="Google Shape;124;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25" name="Google Shape;125;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6" name="Google Shape;12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7" name="Google Shape;12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28" name="Google Shape;12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1" name="Google Shape;13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2" name="Google Shape;13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3" name="Google Shape;13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6" name="Google Shape;136;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7" name="Google Shape;137;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38" name="Google Shape;13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9" name="Google Shape;13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0" name="Google Shape;14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1"/>
        <p:cNvGrpSpPr/>
        <p:nvPr/>
      </p:nvGrpSpPr>
      <p:grpSpPr>
        <a:xfrm>
          <a:off x="0" y="0"/>
          <a:ext cx="0" cy="0"/>
          <a:chOff x="0" y="0"/>
          <a:chExt cx="0" cy="0"/>
        </a:xfrm>
      </p:grpSpPr>
      <p:sp>
        <p:nvSpPr>
          <p:cNvPr id="142" name="Google Shape;142;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3" name="Google Shape;143;p25"/>
          <p:cNvSpPr>
            <a:spLocks noGrp="1"/>
          </p:cNvSpPr>
          <p:nvPr>
            <p:ph type="pic" idx="2"/>
          </p:nvPr>
        </p:nvSpPr>
        <p:spPr>
          <a:xfrm>
            <a:off x="5183188" y="987425"/>
            <a:ext cx="6172200" cy="4873625"/>
          </a:xfrm>
          <a:prstGeom prst="rect">
            <a:avLst/>
          </a:prstGeom>
          <a:noFill/>
          <a:ln>
            <a:noFill/>
          </a:ln>
        </p:spPr>
      </p:sp>
      <p:sp>
        <p:nvSpPr>
          <p:cNvPr id="144" name="Google Shape;144;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45" name="Google Shape;14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6" name="Google Shape;14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7" name="Google Shape;14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0" name="Google Shape;150;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1" name="Google Shape;1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2" name="Google Shape;1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3" name="Google Shape;1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4"/>
        <p:cNvGrpSpPr/>
        <p:nvPr/>
      </p:nvGrpSpPr>
      <p:grpSpPr>
        <a:xfrm>
          <a:off x="0" y="0"/>
          <a:ext cx="0" cy="0"/>
          <a:chOff x="0" y="0"/>
          <a:chExt cx="0" cy="0"/>
        </a:xfrm>
      </p:grpSpPr>
      <p:sp>
        <p:nvSpPr>
          <p:cNvPr id="155" name="Google Shape;155;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6" name="Google Shape;156;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7" name="Google Shape;15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8" name="Google Shape;15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9" name="Google Shape;15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8" name="Google Shape;168;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9" name="Google Shape;16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0" name="Google Shape;17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1" name="Google Shape;17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2"/>
        <p:cNvGrpSpPr/>
        <p:nvPr/>
      </p:nvGrpSpPr>
      <p:grpSpPr>
        <a:xfrm>
          <a:off x="0" y="0"/>
          <a:ext cx="0" cy="0"/>
          <a:chOff x="0" y="0"/>
          <a:chExt cx="0" cy="0"/>
        </a:xfrm>
      </p:grpSpPr>
      <p:sp>
        <p:nvSpPr>
          <p:cNvPr id="173" name="Google Shape;173;p3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4" name="Google Shape;174;p3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175" name="Google Shape;17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6" name="Google Shape;17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7" name="Google Shape;17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8"/>
        <p:cNvGrpSpPr/>
        <p:nvPr/>
      </p:nvGrpSpPr>
      <p:grpSpPr>
        <a:xfrm>
          <a:off x="0" y="0"/>
          <a:ext cx="0" cy="0"/>
          <a:chOff x="0" y="0"/>
          <a:chExt cx="0" cy="0"/>
        </a:xfrm>
      </p:grpSpPr>
      <p:sp>
        <p:nvSpPr>
          <p:cNvPr id="179" name="Google Shape;179;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0" name="Google Shape;180;p3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1" name="Google Shape;181;p3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2" name="Google Shape;18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3" name="Google Shape;18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4" name="Google Shape;18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85"/>
        <p:cNvGrpSpPr/>
        <p:nvPr/>
      </p:nvGrpSpPr>
      <p:grpSpPr>
        <a:xfrm>
          <a:off x="0" y="0"/>
          <a:ext cx="0" cy="0"/>
          <a:chOff x="0" y="0"/>
          <a:chExt cx="0" cy="0"/>
        </a:xfrm>
      </p:grpSpPr>
      <p:sp>
        <p:nvSpPr>
          <p:cNvPr id="186" name="Google Shape;186;p3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87" name="Google Shape;187;p3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88" name="Google Shape;188;p3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9" name="Google Shape;189;p3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90" name="Google Shape;190;p3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1" name="Google Shape;19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2" name="Google Shape;19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3" name="Google Shape;19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4"/>
        <p:cNvGrpSpPr/>
        <p:nvPr/>
      </p:nvGrpSpPr>
      <p:grpSpPr>
        <a:xfrm>
          <a:off x="0" y="0"/>
          <a:ext cx="0" cy="0"/>
          <a:chOff x="0" y="0"/>
          <a:chExt cx="0" cy="0"/>
        </a:xfrm>
      </p:grpSpPr>
      <p:sp>
        <p:nvSpPr>
          <p:cNvPr id="195" name="Google Shape;195;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6" name="Google Shape;19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7" name="Google Shape;19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8" name="Google Shape;19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9"/>
        <p:cNvGrpSpPr/>
        <p:nvPr/>
      </p:nvGrpSpPr>
      <p:grpSpPr>
        <a:xfrm>
          <a:off x="0" y="0"/>
          <a:ext cx="0" cy="0"/>
          <a:chOff x="0" y="0"/>
          <a:chExt cx="0" cy="0"/>
        </a:xfrm>
      </p:grpSpPr>
      <p:sp>
        <p:nvSpPr>
          <p:cNvPr id="200" name="Google Shape;200;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1" name="Google Shape;201;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2" name="Google Shape;202;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3"/>
        <p:cNvGrpSpPr/>
        <p:nvPr/>
      </p:nvGrpSpPr>
      <p:grpSpPr>
        <a:xfrm>
          <a:off x="0" y="0"/>
          <a:ext cx="0" cy="0"/>
          <a:chOff x="0" y="0"/>
          <a:chExt cx="0" cy="0"/>
        </a:xfrm>
      </p:grpSpPr>
      <p:sp>
        <p:nvSpPr>
          <p:cNvPr id="204" name="Google Shape;204;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5" name="Google Shape;205;p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6" name="Google Shape;206;p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207" name="Google Shape;207;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8" name="Google Shape;20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9" name="Google Shape;209;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0"/>
        <p:cNvGrpSpPr/>
        <p:nvPr/>
      </p:nvGrpSpPr>
      <p:grpSpPr>
        <a:xfrm>
          <a:off x="0" y="0"/>
          <a:ext cx="0" cy="0"/>
          <a:chOff x="0" y="0"/>
          <a:chExt cx="0" cy="0"/>
        </a:xfrm>
      </p:grpSpPr>
      <p:sp>
        <p:nvSpPr>
          <p:cNvPr id="211" name="Google Shape;211;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2" name="Google Shape;212;p37"/>
          <p:cNvSpPr>
            <a:spLocks noGrp="1"/>
          </p:cNvSpPr>
          <p:nvPr>
            <p:ph type="pic" idx="2"/>
          </p:nvPr>
        </p:nvSpPr>
        <p:spPr>
          <a:xfrm>
            <a:off x="5183188" y="987425"/>
            <a:ext cx="6172200" cy="4873625"/>
          </a:xfrm>
          <a:prstGeom prst="rect">
            <a:avLst/>
          </a:prstGeom>
          <a:noFill/>
          <a:ln>
            <a:noFill/>
          </a:ln>
        </p:spPr>
      </p:sp>
      <p:sp>
        <p:nvSpPr>
          <p:cNvPr id="213" name="Google Shape;213;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214" name="Google Shape;214;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5" name="Google Shape;215;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6" name="Google Shape;216;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7"/>
        <p:cNvGrpSpPr/>
        <p:nvPr/>
      </p:nvGrpSpPr>
      <p:grpSpPr>
        <a:xfrm>
          <a:off x="0" y="0"/>
          <a:ext cx="0" cy="0"/>
          <a:chOff x="0" y="0"/>
          <a:chExt cx="0" cy="0"/>
        </a:xfrm>
      </p:grpSpPr>
      <p:sp>
        <p:nvSpPr>
          <p:cNvPr id="218" name="Google Shape;218;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19" name="Google Shape;219;p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0" name="Google Shape;220;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1" name="Google Shape;221;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2" name="Google Shape;222;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3"/>
        <p:cNvGrpSpPr/>
        <p:nvPr/>
      </p:nvGrpSpPr>
      <p:grpSpPr>
        <a:xfrm>
          <a:off x="0" y="0"/>
          <a:ext cx="0" cy="0"/>
          <a:chOff x="0" y="0"/>
          <a:chExt cx="0" cy="0"/>
        </a:xfrm>
      </p:grpSpPr>
      <p:sp>
        <p:nvSpPr>
          <p:cNvPr id="224" name="Google Shape;224;p3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5" name="Google Shape;225;p3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6" name="Google Shape;226;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7" name="Google Shape;227;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28" name="Google Shape;228;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theme" Target="../theme/theme2.xml"/><Relationship Id="rId13"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theme" Target="../theme/theme3.xml"/><Relationship Id="rId13"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theme" Target="../theme/theme4.xml"/><Relationship Id="rId13"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4">
            <a:alphaModFix/>
          </a:blip>
          <a:srcRect/>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900" b="0" i="0" u="none" strike="noStrike" cap="none">
                <a:solidFill>
                  <a:schemeClr val="dk2"/>
                </a:solidFill>
                <a:latin typeface="Arial"/>
                <a:ea typeface="Arial"/>
                <a:cs typeface="Arial"/>
                <a:sym typeface="Arial"/>
              </a:rPr>
              <a:t>Copyright © McGraw Hill</a:t>
            </a:r>
            <a:endParaRPr/>
          </a:p>
        </p:txBody>
      </p:sp>
      <p:pic>
        <p:nvPicPr>
          <p:cNvPr id="12" name="Google Shape;12;p1"/>
          <p:cNvPicPr preferRelativeResize="0"/>
          <p:nvPr/>
        </p:nvPicPr>
        <p:blipFill rotWithShape="1">
          <a:blip r:embed="rId5">
            <a:alphaModFix/>
          </a:blip>
          <a:srcRect/>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w="22225" cap="flat" cmpd="sng">
            <a:solidFill>
              <a:srgbClr val="BFBFBF"/>
            </a:solidFill>
            <a:prstDash val="solid"/>
            <a:miter lim="8000"/>
            <a:headEnd type="none" w="sm" len="sm"/>
            <a:tailEnd type="none" w="sm" len="sm"/>
          </a:ln>
        </p:spPr>
      </p:cxnSp>
      <p:sp>
        <p:nvSpPr>
          <p:cNvPr id="14" name="Google Shape;14;p1"/>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w="22225" cap="flat" cmpd="sng">
            <a:solidFill>
              <a:srgbClr val="BFBFBF"/>
            </a:solidFill>
            <a:prstDash val="solid"/>
            <a:miter lim="8000"/>
            <a:headEnd type="none" w="sm" len="sm"/>
            <a:tailEnd type="none" w="sm" len="sm"/>
          </a:ln>
        </p:spPr>
      </p:cxnSp>
      <p:sp>
        <p:nvSpPr>
          <p:cNvPr id="22" name="Google Shape;22;p4"/>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dk2"/>
                </a:solidFill>
                <a:latin typeface="Arial"/>
                <a:ea typeface="Arial"/>
                <a:cs typeface="Arial"/>
                <a:sym typeface="Arial"/>
              </a:rPr>
              <a:t>McGraw Hill   |</a:t>
            </a:r>
            <a:endParaRPr sz="900">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0">
                <a:solidFill>
                  <a:schemeClr val="dk2"/>
                </a:solidFill>
                <a:latin typeface="Arial"/>
                <a:ea typeface="Arial"/>
                <a:cs typeface="Arial"/>
                <a:sym typeface="Arial"/>
              </a:rPr>
              <a:t>Determine Equivalent Ratios Using Tables</a:t>
            </a:r>
            <a:endParaRPr/>
          </a:p>
        </p:txBody>
      </p:sp>
      <p:sp>
        <p:nvSpPr>
          <p:cNvPr id="24" name="Google Shape;24;p4"/>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25" name="Google Shape;25;p4"/>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w="22225" cap="flat" cmpd="sng">
            <a:solidFill>
              <a:srgbClr val="BFBFBF"/>
            </a:solidFill>
            <a:prstDash val="solid"/>
            <a:miter lim="8000"/>
            <a:headEnd type="none" w="sm" len="sm"/>
            <a:tailEnd type="none" w="sm" len="sm"/>
          </a:ln>
        </p:spPr>
      </p:cxnSp>
      <p:sp>
        <p:nvSpPr>
          <p:cNvPr id="92" name="Google Shape;92;p16"/>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dk2"/>
                </a:solidFill>
                <a:latin typeface="Arial"/>
                <a:ea typeface="Arial"/>
                <a:cs typeface="Arial"/>
                <a:sym typeface="Arial"/>
              </a:rPr>
              <a:t>McGraw Hill   |</a:t>
            </a:r>
            <a:endParaRPr sz="900">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0">
                <a:solidFill>
                  <a:schemeClr val="dk2"/>
                </a:solidFill>
                <a:latin typeface="Arial"/>
                <a:ea typeface="Arial"/>
                <a:cs typeface="Arial"/>
                <a:sym typeface="Arial"/>
              </a:rPr>
              <a:t>Determine Equivalent Ratios Using Tables</a:t>
            </a:r>
            <a:endParaRPr/>
          </a:p>
        </p:txBody>
      </p:sp>
      <p:sp>
        <p:nvSpPr>
          <p:cNvPr id="94" name="Google Shape;94;p16"/>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95" name="Google Shape;95;p16"/>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w="22225" cap="flat" cmpd="sng">
            <a:solidFill>
              <a:srgbClr val="BFBFBF"/>
            </a:solidFill>
            <a:prstDash val="solid"/>
            <a:miter lim="8000"/>
            <a:headEnd type="none" w="sm" len="sm"/>
            <a:tailEnd type="none" w="sm" len="sm"/>
          </a:ln>
        </p:spPr>
      </p:cxnSp>
      <p:sp>
        <p:nvSpPr>
          <p:cNvPr id="162" name="Google Shape;162;p28"/>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900" b="1">
                <a:solidFill>
                  <a:schemeClr val="dk2"/>
                </a:solidFill>
                <a:latin typeface="Arial"/>
                <a:ea typeface="Arial"/>
                <a:cs typeface="Arial"/>
                <a:sym typeface="Arial"/>
              </a:rPr>
              <a:t>McGraw Hill   |</a:t>
            </a:r>
            <a:endParaRPr sz="900">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en-US" sz="800">
                <a:solidFill>
                  <a:srgbClr val="3F3F3F"/>
                </a:solidFill>
                <a:latin typeface="Arial"/>
                <a:ea typeface="Arial"/>
                <a:cs typeface="Arial"/>
                <a:sym typeface="Arial"/>
              </a:rPr>
              <a:t>This material may be reproduced for licensed classroom use only and may not be further reproduced or distributed.</a:t>
            </a:r>
            <a:endParaRPr/>
          </a:p>
        </p:txBody>
      </p:sp>
      <p:pic>
        <p:nvPicPr>
          <p:cNvPr id="164" name="Google Shape;164;p28"/>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0"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notesSlide" Target="../notesSlides/notesSlide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 Id="rId3" Type="http://schemas.openxmlformats.org/officeDocument/2006/relationships/notesSlide" Target="../notesSlides/notesSlide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png"/><Relationship Id="rId3" Type="http://schemas.openxmlformats.org/officeDocument/2006/relationships/image" Target="../media/image15.png"/><Relationship Id="rId4" Type="http://schemas.openxmlformats.org/officeDocument/2006/relationships/notesSlide" Target="../notesSlides/notesSlide3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3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3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3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notesSlide" Target="../notesSlides/notesSlide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notesSlide" Target="../notesSlides/notesSlide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 Id="rId3" Type="http://schemas.openxmlformats.org/officeDocument/2006/relationships/notesSlide" Target="../notesSlides/notesSlide3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Reference style 24">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2" name="TextBox 1"/>
          <p:cNvSpPr txBox="1"/>
          <p:nvPr/>
        </p:nvSpPr>
        <p:spPr>
          <a:xfrm>
            <a:off x="502920" y="310896"/>
            <a:ext cx="7315200" cy="502920"/>
          </a:xfrm>
          <a:prstGeom prst="rect">
            <a:avLst/>
          </a:prstGeom>
          <a:noFill/>
        </p:spPr>
        <p:txBody>
          <a:bodyPr wrap="square" lIns="0" tIns="0" rIns="0" bIns="0" anchor="t">
            <a:noAutofit/>
          </a:bodyPr>
          <a:lstStyle/>
          <a:p>
            <a:pPr marL="0" indent="0" algn="l">
              <a:buNone/>
            </a:pPr>
            <a:r>
              <a:rPr sz="2750" b="1">
                <a:solidFill>
                  <a:srgbClr val="782DA0"/>
                </a:solidFill>
                <a:latin typeface="Arial"/>
              </a:rPr>
              <a:t>Warm-Up</a:t>
            </a:r>
          </a:p>
        </p:txBody>
      </p:sp>
      <p:sp>
        <p:nvSpPr>
          <p:cNvPr id="3" name="TextBox 2"/>
          <p:cNvSpPr txBox="1"/>
          <p:nvPr/>
        </p:nvSpPr>
        <p:spPr>
          <a:xfrm>
            <a:off x="521207" y="877824"/>
            <a:ext cx="7680960" cy="274320"/>
          </a:xfrm>
          <a:prstGeom prst="rect">
            <a:avLst/>
          </a:prstGeom>
          <a:noFill/>
        </p:spPr>
        <p:txBody>
          <a:bodyPr wrap="square" lIns="0" tIns="0" rIns="0" bIns="0" anchor="t">
            <a:noAutofit/>
          </a:bodyPr>
          <a:lstStyle/>
          <a:p>
            <a:pPr marL="0" indent="0" algn="l">
              <a:buNone/>
            </a:pPr>
            <a:r>
              <a:rPr sz="1420" b="0">
                <a:solidFill>
                  <a:srgbClr val="5D6872"/>
                </a:solidFill>
                <a:latin typeface="Arial"/>
              </a:rPr>
              <a:t>Lesson 3-3 · Equivalent Ratios Using Tables   |   Warm-Up · about 4 minutes</a:t>
            </a:r>
          </a:p>
        </p:txBody>
      </p:sp>
      <p:sp>
        <p:nvSpPr>
          <p:cNvPr id="4"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WARM-UP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noAutofit/>
          </a:bodyPr>
          <a:lstStyle/>
          <a:p>
            <a:pPr marL="0" indent="0" algn="l">
              <a:buNone/>
            </a:pPr>
            <a:r>
              <a:rPr sz="163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0" tIns="0" rIns="0" bIns="0" anchor="t">
            <a:noAutofit/>
          </a:bodyPr>
          <a:lstStyle/>
          <a:p>
            <a:pPr marL="0" indent="0" algn="l">
              <a:buNone/>
            </a:pPr>
            <a:r>
              <a:rPr sz="1800" b="1">
                <a:solidFill>
                  <a:srgbClr val="23282D"/>
                </a:solidFill>
                <a:latin typeface="Arial"/>
              </a:rPr>
              <a:t>2 × 5 = ______     and     3 × 5 = ______</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0" tIns="0" rIns="0" bIns="0" anchor="t">
            <a:noAutofit/>
          </a:bodyPr>
          <a:lstStyle/>
          <a:p>
            <a:pPr marL="0" indent="0" algn="l">
              <a:buNone/>
            </a:pPr>
            <a:r>
              <a:rPr sz="1800" b="1">
                <a:solidFill>
                  <a:srgbClr val="23282D"/>
                </a:solidFill>
                <a:latin typeface="Arial"/>
              </a:rPr>
              <a:t>Keep the pattern going:</a:t>
            </a:r>
          </a:p>
          <a:p>
            <a:pPr marL="0" indent="0" algn="l">
              <a:buNone/>
            </a:pPr>
            <a:r>
              <a:rPr sz="1800" b="1">
                <a:solidFill>
                  <a:srgbClr val="23282D"/>
                </a:solidFill>
                <a:latin typeface="Arial"/>
              </a:rPr>
              <a:t>4, 8, 12, ______, ______</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0" tIns="0" rIns="0" bIns="0" anchor="t">
            <a:noAutofit/>
          </a:bodyPr>
          <a:lstStyle/>
          <a:p>
            <a:pPr marL="0" indent="0" algn="l">
              <a:buNone/>
            </a:pPr>
            <a:r>
              <a:rPr sz="1800" b="1">
                <a:solidFill>
                  <a:srgbClr val="23282D"/>
                </a:solidFill>
                <a:latin typeface="Arial"/>
              </a:rPr>
              <a:t>Fill in the missing number:</a:t>
            </a:r>
          </a:p>
          <a:p>
            <a:pPr marL="0" indent="0" algn="l">
              <a:buNone/>
            </a:pPr>
            <a:r>
              <a:rPr sz="1800" b="1">
                <a:solidFill>
                  <a:srgbClr val="23282D"/>
                </a:solidFill>
                <a:latin typeface="Arial"/>
              </a:rPr>
              <a:t>3/4  =  ______/8</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0" tIns="0" rIns="0" bIns="0" anchor="t">
            <a:noAutofit/>
          </a:bodyPr>
          <a:lstStyle/>
          <a:p>
            <a:pPr marL="0" indent="0" algn="l">
              <a:buNone/>
            </a:pPr>
            <a:r>
              <a:rPr sz="1800" b="1">
                <a:solidFill>
                  <a:srgbClr val="23282D"/>
                </a:solidFill>
                <a:latin typeface="Arial"/>
              </a:rPr>
              <a:t>One batch uses 2 cups.</a:t>
            </a:r>
          </a:p>
          <a:p>
            <a:pPr marL="0" indent="0" algn="l">
              <a:buNone/>
            </a:pPr>
            <a:r>
              <a:rPr sz="1800" b="1">
                <a:solidFill>
                  <a:srgbClr val="23282D"/>
                </a:solidFill>
                <a:latin typeface="Arial"/>
              </a:rPr>
              <a:t>How many cups for 4 batches? ______</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lgn="ctr">
              <a:buNone/>
            </a:pPr>
            <a:r>
              <a:rPr sz="1400" b="1">
                <a:solidFill>
                  <a:srgbClr val="1E2682"/>
                </a:solidFill>
                <a:latin typeface="Arial"/>
              </a:rPr>
              <a:t>TALK IT OVER:  “I got ______ because ______.”   •   Compare with a partner before we check as a class.</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 / 38</a:t>
            </a:r>
          </a:p>
        </p:txBody>
      </p:sp>
    </p:spTree>
    <p:extLst>
      <p:ext uri="{BB962C8B-B14F-4D97-AF65-F5344CB8AC3E}">
        <p14:creationId xmlns:p14="http://schemas.microsoft.com/office/powerpoint/2010/main" val="1899397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 name="Reference style 30">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15" name="Rectangle 14">
            <a:extLst>
              <a:ext uri="{FF2B5EF4-FFF2-40B4-BE49-F238E27FC236}">
                <a16:creationId xmlns:a16="http://schemas.microsoft.com/office/drawing/2014/main" id="{7AAC1E91-C260-493B-81CA-D7AF9FC4FF5E}"/>
              </a:ext>
            </a:extLst>
          </p:cNvPr>
          <p:cNvSpPr>
            <a:spLocks noGrp="1"/>
          </p:cNvSpPr>
          <p:nvPr/>
        </p:nvSpPr>
        <p:spPr>
          <a:xfrm>
            <a:off x="514350" y="381000"/>
            <a:ext cx="6858000" cy="542925"/>
          </a:xfrm>
          <a:prstGeom prst="rect">
            <a:avLst/>
          </a:prstGeom>
          <a:noFill/>
          <a:ln w="0">
            <a:noFill/>
          </a:ln>
        </p:spPr>
        <p:txBody>
          <a:bodyPr>
            <a:noAutofit/>
          </a:bodyPr>
          <a:lstStyle/>
          <a:p>
            <a:pPr>
              <a:defRPr sz="2700" b="1">
                <a:solidFill>
                  <a:srgbClr val="782DA0"/>
                </a:solidFill>
                <a:latin typeface="Arial"/>
                <a:ea typeface="Arial"/>
                <a:cs typeface="Arial"/>
              </a:defRPr>
            </a:pPr>
            <a:r>
              <a:rPr sz="2800" b="1">
                <a:solidFill>
                  <a:srgbClr val="782DA0"/>
                </a:solidFill>
                <a:latin typeface="Arial"/>
                <a:ea typeface="Arial"/>
                <a:cs typeface="Arial"/>
              </a:rPr>
              <a:t>Math Notes — Session 1</a:t>
            </a:r>
          </a:p>
        </p:txBody>
      </p:sp>
      <p:sp>
        <p:nvSpPr>
          <p:cNvPr id="2" name="Rectangle 1">
            <a:extLst>
              <a:ext uri="{FF2B5EF4-FFF2-40B4-BE49-F238E27FC236}">
                <a16:creationId xmlns:a16="http://schemas.microsoft.com/office/drawing/2014/main" id="{BEE6C3AE-D463-4C6E-919B-77DE4DB56358}"/>
              </a:ext>
            </a:extLst>
          </p:cNvPr>
          <p:cNvSpPr>
            <a:spLocks noGrp="1"/>
          </p:cNvSpPr>
          <p:nvPr/>
        </p:nvSpPr>
        <p:spPr>
          <a:xfrm>
            <a:off x="523875" y="1028700"/>
            <a:ext cx="8667750" cy="342900"/>
          </a:xfrm>
          <a:prstGeom prst="rect">
            <a:avLst/>
          </a:prstGeom>
          <a:noFill/>
          <a:ln w="0">
            <a:noFill/>
          </a:ln>
        </p:spPr>
        <p:txBody>
          <a:bodyPr>
            <a:noAutofit/>
          </a:bodyPr>
          <a:lstStyle/>
          <a:p>
            <a:pPr>
              <a:defRPr sz="1575" b="0">
                <a:solidFill>
                  <a:srgbClr val="5D6872"/>
                </a:solidFill>
                <a:latin typeface="Arial"/>
                <a:ea typeface="Arial"/>
                <a:cs typeface="Arial"/>
              </a:defRPr>
            </a:pPr>
            <a:r>
              <a:rPr sz="1575" b="0">
                <a:solidFill>
                  <a:srgbClr val="5D6872"/>
                </a:solidFill>
                <a:latin typeface="Arial"/>
                <a:ea typeface="Arial"/>
                <a:cs typeface="Arial"/>
              </a:rPr>
              <a:t>Keep the idea from Homemade Clay.</a:t>
            </a:r>
          </a:p>
        </p:txBody>
      </p:sp>
      <p:sp>
        <p:nvSpPr>
          <p:cNvPr id="3" name="Rounded Rectangle 2">
            <a:extLst>
              <a:ext uri="{FF2B5EF4-FFF2-40B4-BE49-F238E27FC236}">
                <a16:creationId xmlns:a16="http://schemas.microsoft.com/office/drawing/2014/main" id="{FFFE3C2D-7F51-42C7-A185-8CDFCA28FE4A}"/>
              </a:ext>
            </a:extLst>
          </p:cNvPr>
          <p:cNvSpPr>
            <a:spLocks noGrp="1"/>
          </p:cNvSpPr>
          <p:nvPr/>
        </p:nvSpPr>
        <p:spPr>
          <a:xfrm>
            <a:off x="514350" y="1609725"/>
            <a:ext cx="5762625" cy="4114800"/>
          </a:xfrm>
          <a:prstGeom prst="roundRect">
            <a:avLst>
              <a:gd name="adj" fmla="val 1852"/>
            </a:avLst>
          </a:prstGeom>
          <a:solidFill>
            <a:srgbClr val="EAF6F5"/>
          </a:solidFill>
          <a:ln w="9525">
            <a:solidFill>
              <a:srgbClr val="D6E0E8"/>
            </a:solidFill>
          </a:ln>
        </p:spPr>
        <p:txBody>
          <a:bodyPr/>
          <a:lstStyle/>
          <a:p>
            <a:endParaRPr/>
          </a:p>
        </p:txBody>
      </p:sp>
      <p:sp>
        <p:nvSpPr>
          <p:cNvPr id="4" name="Rounded Rectangle 3">
            <a:extLst>
              <a:ext uri="{FF2B5EF4-FFF2-40B4-BE49-F238E27FC236}">
                <a16:creationId xmlns:a16="http://schemas.microsoft.com/office/drawing/2014/main" id="{8E4EBFE1-3728-40CC-8FA5-C085695ACB3C}"/>
              </a:ext>
            </a:extLst>
          </p:cNvPr>
          <p:cNvSpPr>
            <a:spLocks noGrp="1"/>
          </p:cNvSpPr>
          <p:nvPr/>
        </p:nvSpPr>
        <p:spPr>
          <a:xfrm>
            <a:off x="6543675" y="1609725"/>
            <a:ext cx="5114925" cy="4114800"/>
          </a:xfrm>
          <a:prstGeom prst="roundRect">
            <a:avLst>
              <a:gd name="adj" fmla="val 1852"/>
            </a:avLst>
          </a:prstGeom>
          <a:solidFill>
            <a:srgbClr val="FFF0E7"/>
          </a:solidFill>
          <a:ln w="9525">
            <a:solidFill>
              <a:srgbClr val="D6E0E8"/>
            </a:solidFill>
          </a:ln>
        </p:spPr>
        <p:txBody>
          <a:bodyPr/>
          <a:lstStyle/>
          <a:p>
            <a:endParaRPr/>
          </a:p>
        </p:txBody>
      </p:sp>
      <p:sp>
        <p:nvSpPr>
          <p:cNvPr id="5" name="Rectangle 4">
            <a:extLst>
              <a:ext uri="{FF2B5EF4-FFF2-40B4-BE49-F238E27FC236}">
                <a16:creationId xmlns:a16="http://schemas.microsoft.com/office/drawing/2014/main" id="{B9444D24-7A0E-41BD-BC5D-02F1D5E67F25}"/>
              </a:ext>
            </a:extLst>
          </p:cNvPr>
          <p:cNvSpPr>
            <a:spLocks noGrp="1"/>
          </p:cNvSpPr>
          <p:nvPr/>
        </p:nvSpPr>
        <p:spPr>
          <a:xfrm>
            <a:off x="723900" y="1800225"/>
            <a:ext cx="5238750" cy="266700"/>
          </a:xfrm>
          <a:prstGeom prst="rect">
            <a:avLst/>
          </a:prstGeom>
          <a:noFill/>
          <a:ln w="0">
            <a:noFill/>
          </a:ln>
        </p:spPr>
        <p:txBody>
          <a:bodyPr>
            <a:noAutofit/>
          </a:bodyPr>
          <a:lstStyle/>
          <a:p>
            <a:pPr>
              <a:defRPr sz="1350" b="1">
                <a:solidFill>
                  <a:srgbClr val="782DA0"/>
                </a:solidFill>
                <a:latin typeface="Arial"/>
                <a:ea typeface="Arial"/>
                <a:cs typeface="Arial"/>
              </a:defRPr>
            </a:pPr>
            <a:r>
              <a:rPr sz="1350" b="1">
                <a:solidFill>
                  <a:srgbClr val="782DA0"/>
                </a:solidFill>
                <a:latin typeface="Arial"/>
                <a:ea typeface="Arial"/>
                <a:cs typeface="Arial"/>
              </a:rPr>
              <a:t>COPY, EXPLAIN, THEN CHECK</a:t>
            </a:r>
          </a:p>
        </p:txBody>
      </p:sp>
      <p:sp>
        <p:nvSpPr>
          <p:cNvPr id="6" name="Rectangle 5">
            <a:extLst>
              <a:ext uri="{FF2B5EF4-FFF2-40B4-BE49-F238E27FC236}">
                <a16:creationId xmlns:a16="http://schemas.microsoft.com/office/drawing/2014/main" id="{8661956F-DEF4-40B5-94F1-AA792C88637B}"/>
              </a:ext>
            </a:extLst>
          </p:cNvPr>
          <p:cNvSpPr>
            <a:spLocks noGrp="1"/>
          </p:cNvSpPr>
          <p:nvPr/>
        </p:nvSpPr>
        <p:spPr>
          <a:xfrm>
            <a:off x="733425" y="2352675"/>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01</a:t>
            </a:r>
          </a:p>
        </p:txBody>
      </p:sp>
      <p:sp>
        <p:nvSpPr>
          <p:cNvPr id="7" name="Rectangle 6">
            <a:extLst>
              <a:ext uri="{FF2B5EF4-FFF2-40B4-BE49-F238E27FC236}">
                <a16:creationId xmlns:a16="http://schemas.microsoft.com/office/drawing/2014/main" id="{6EEC374F-1DDF-4234-B782-F23547F6FAC9}"/>
              </a:ext>
            </a:extLst>
          </p:cNvPr>
          <p:cNvSpPr>
            <a:spLocks noGrp="1"/>
          </p:cNvSpPr>
          <p:nvPr/>
        </p:nvSpPr>
        <p:spPr>
          <a:xfrm>
            <a:off x="1257300" y="2324100"/>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A </a:t>
            </a:r>
            <a:r>
              <a:rPr sz="2100" b="1">
                <a:solidFill>
                  <a:srgbClr val="23282D"/>
                </a:solidFill>
                <a:highlight>
                  <a:srgbClr val="FFF2A8"/>
                </a:highlight>
                <a:latin typeface="Arial"/>
                <a:ea typeface="Arial"/>
                <a:cs typeface="Arial"/>
              </a:rPr>
              <a:t>ratio table</a:t>
            </a:r>
            <a:r>
              <a:rPr sz="2100" b="0">
                <a:solidFill>
                  <a:srgbClr val="23282D"/>
                </a:solidFill>
                <a:latin typeface="Arial"/>
                <a:ea typeface="Arial"/>
                <a:cs typeface="Arial"/>
              </a:rPr>
              <a:t> organizes matching pairs.</a:t>
            </a:r>
          </a:p>
        </p:txBody>
      </p:sp>
      <p:sp>
        <p:nvSpPr>
          <p:cNvPr id="8" name="Rectangle 7">
            <a:extLst>
              <a:ext uri="{FF2B5EF4-FFF2-40B4-BE49-F238E27FC236}">
                <a16:creationId xmlns:a16="http://schemas.microsoft.com/office/drawing/2014/main" id="{9EC999FA-20B1-441F-B12D-DE6A31938038}"/>
              </a:ext>
            </a:extLst>
          </p:cNvPr>
          <p:cNvSpPr>
            <a:spLocks noGrp="1"/>
          </p:cNvSpPr>
          <p:nvPr/>
        </p:nvSpPr>
        <p:spPr>
          <a:xfrm>
            <a:off x="733425" y="3333750"/>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02</a:t>
            </a:r>
          </a:p>
        </p:txBody>
      </p:sp>
      <p:sp>
        <p:nvSpPr>
          <p:cNvPr id="9" name="Rectangle 8">
            <a:extLst>
              <a:ext uri="{FF2B5EF4-FFF2-40B4-BE49-F238E27FC236}">
                <a16:creationId xmlns:a16="http://schemas.microsoft.com/office/drawing/2014/main" id="{900E1421-0407-461E-9B6F-14F8F42AFD77}"/>
              </a:ext>
            </a:extLst>
          </p:cNvPr>
          <p:cNvSpPr>
            <a:spLocks noGrp="1"/>
          </p:cNvSpPr>
          <p:nvPr/>
        </p:nvSpPr>
        <p:spPr>
          <a:xfrm>
            <a:off x="1257300" y="3305175"/>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Multiply both amounts by the same number.</a:t>
            </a:r>
          </a:p>
        </p:txBody>
      </p:sp>
      <p:sp>
        <p:nvSpPr>
          <p:cNvPr id="10" name="Rectangle 9">
            <a:extLst>
              <a:ext uri="{FF2B5EF4-FFF2-40B4-BE49-F238E27FC236}">
                <a16:creationId xmlns:a16="http://schemas.microsoft.com/office/drawing/2014/main" id="{0C2B8C4B-CC39-4D08-A3DC-84561A4006C4}"/>
              </a:ext>
            </a:extLst>
          </p:cNvPr>
          <p:cNvSpPr>
            <a:spLocks noGrp="1"/>
          </p:cNvSpPr>
          <p:nvPr/>
        </p:nvSpPr>
        <p:spPr>
          <a:xfrm>
            <a:off x="733425" y="4314825"/>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03</a:t>
            </a:r>
          </a:p>
        </p:txBody>
      </p:sp>
      <p:sp>
        <p:nvSpPr>
          <p:cNvPr id="11" name="Rectangle 10">
            <a:extLst>
              <a:ext uri="{FF2B5EF4-FFF2-40B4-BE49-F238E27FC236}">
                <a16:creationId xmlns:a16="http://schemas.microsoft.com/office/drawing/2014/main" id="{162449C0-8E09-4578-A9CE-B709E0B69A5B}"/>
              </a:ext>
            </a:extLst>
          </p:cNvPr>
          <p:cNvSpPr>
            <a:spLocks noGrp="1"/>
          </p:cNvSpPr>
          <p:nvPr/>
        </p:nvSpPr>
        <p:spPr>
          <a:xfrm>
            <a:off x="1257300" y="4286250"/>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1">
                <a:solidFill>
                  <a:srgbClr val="23282D"/>
                </a:solidFill>
                <a:highlight>
                  <a:srgbClr val="FFF2A8"/>
                </a:highlight>
                <a:latin typeface="Arial"/>
                <a:ea typeface="Arial"/>
                <a:cs typeface="Arial"/>
              </a:rPr>
              <a:t>Equivalent ratios</a:t>
            </a:r>
            <a:r>
              <a:rPr sz="2100" b="0">
                <a:solidFill>
                  <a:srgbClr val="23282D"/>
                </a:solidFill>
                <a:latin typeface="Arial"/>
                <a:ea typeface="Arial"/>
                <a:cs typeface="Arial"/>
              </a:rPr>
              <a:t> keep the same relationship.</a:t>
            </a:r>
          </a:p>
        </p:txBody>
      </p:sp>
      <p:sp>
        <p:nvSpPr>
          <p:cNvPr id="12" name="Rectangle 11">
            <a:extLst>
              <a:ext uri="{FF2B5EF4-FFF2-40B4-BE49-F238E27FC236}">
                <a16:creationId xmlns:a16="http://schemas.microsoft.com/office/drawing/2014/main" id="{5CB4BFEE-3CA5-4EE3-ABF2-E2768B763233}"/>
              </a:ext>
            </a:extLst>
          </p:cNvPr>
          <p:cNvSpPr>
            <a:spLocks noGrp="1"/>
          </p:cNvSpPr>
          <p:nvPr/>
        </p:nvSpPr>
        <p:spPr>
          <a:xfrm>
            <a:off x="6743700" y="1809750"/>
            <a:ext cx="4667250" cy="266700"/>
          </a:xfrm>
          <a:prstGeom prst="rect">
            <a:avLst/>
          </a:prstGeom>
          <a:noFill/>
          <a:ln w="0">
            <a:noFill/>
          </a:ln>
        </p:spPr>
        <p:txBody>
          <a:bodyPr>
            <a:noAutofit/>
          </a:bodyPr>
          <a:lstStyle/>
          <a:p>
            <a:pPr>
              <a:defRPr sz="1350" b="1">
                <a:solidFill>
                  <a:srgbClr val="0070C0"/>
                </a:solidFill>
                <a:latin typeface="Arial"/>
                <a:ea typeface="Arial"/>
                <a:cs typeface="Arial"/>
              </a:defRPr>
            </a:pPr>
            <a:r>
              <a:rPr sz="1350" b="1">
                <a:solidFill>
                  <a:srgbClr val="0070C0"/>
                </a:solidFill>
                <a:latin typeface="Arial"/>
                <a:ea typeface="Arial"/>
                <a:cs typeface="Arial"/>
              </a:rPr>
              <a:t>LOOK BACK AT THE EXAMPLE</a:t>
            </a:r>
          </a:p>
        </p:txBody>
      </p:sp>
      <p:graphicFrame>
        <p:nvGraphicFramePr>
          <p:cNvPr id="27" name="Table 26"/>
          <p:cNvGraphicFramePr/>
          <p:nvPr/>
        </p:nvGraphicFramePr>
        <p:xfrm>
          <a:off x="6743700" y="2333625"/>
          <a:ext cx="4705350" cy="2019300"/>
        </p:xfrm>
        <a:graphic>
          <a:graphicData uri="http://schemas.openxmlformats.org/drawingml/2006/table">
            <a:tbl>
              <a:tblPr/>
              <a:tblGrid>
                <a:gridCol w="2352675">
                  <a:extLst>
                    <a:ext uri="{9D8B030D-6E8A-4147-A177-3AD203B41FA5}">
                      <a16:colId xmlns:a16="http://schemas.microsoft.com/office/drawing/2014/main" val="20000"/>
                    </a:ext>
                  </a:extLst>
                </a:gridCol>
                <a:gridCol w="2352675">
                  <a:extLst>
                    <a:ext uri="{9D8B030D-6E8A-4147-A177-3AD203B41FA5}">
                      <a16:colId xmlns:a16="http://schemas.microsoft.com/office/drawing/2014/main" val="20001"/>
                    </a:ext>
                  </a:extLst>
                </a:gridCol>
              </a:tblGrid>
              <a:tr h="504825">
                <a:tc>
                  <a:txBody>
                    <a:bodyPr/>
                    <a:lstStyle/>
                    <a:p>
                      <a:r>
                        <a:rPr sz="1425" b="1">
                          <a:solidFill>
                            <a:srgbClr val="FFFFFF"/>
                          </a:solidFill>
                          <a:latin typeface="Arial"/>
                          <a:ea typeface="Arial"/>
                          <a:cs typeface="Arial"/>
                        </a:rPr>
                        <a:t>Baking soda (cups)</a:t>
                      </a:r>
                    </a:p>
                  </a:txBody>
                  <a:tcPr>
                    <a:solidFill>
                      <a:srgbClr val="0070C0"/>
                    </a:solidFill>
                  </a:tcPr>
                </a:tc>
                <a:tc>
                  <a:txBody>
                    <a:bodyPr/>
                    <a:lstStyle/>
                    <a:p>
                      <a:r>
                        <a:rPr sz="1425" b="1">
                          <a:solidFill>
                            <a:srgbClr val="FFFFFF"/>
                          </a:solidFill>
                          <a:latin typeface="Arial"/>
                          <a:ea typeface="Arial"/>
                          <a:cs typeface="Arial"/>
                        </a:rPr>
                        <a:t>Cornstarch (cups)</a:t>
                      </a:r>
                    </a:p>
                  </a:txBody>
                  <a:tcPr>
                    <a:solidFill>
                      <a:srgbClr val="0070C0"/>
                    </a:solidFill>
                  </a:tcPr>
                </a:tc>
                <a:extLst>
                  <a:ext uri="{0D108BD9-81ED-4DB2-BD59-A6C34878D82A}">
                    <a16:rowId xmlns:a16="http://schemas.microsoft.com/office/drawing/2014/main" val="10000"/>
                  </a:ext>
                </a:extLst>
              </a:tr>
              <a:tr h="504825">
                <a:tc>
                  <a:txBody>
                    <a:bodyPr/>
                    <a:lstStyle/>
                    <a:p>
                      <a:r>
                        <a:rPr sz="1800" b="0">
                          <a:solidFill>
                            <a:srgbClr val="23282D"/>
                          </a:solidFill>
                          <a:latin typeface="Arial"/>
                          <a:ea typeface="Arial"/>
                          <a:cs typeface="Arial"/>
                        </a:rPr>
                        <a:t>2</a:t>
                      </a:r>
                    </a:p>
                  </a:txBody>
                  <a:tcPr>
                    <a:solidFill>
                      <a:srgbClr val="FFFFFF"/>
                    </a:solidFill>
                  </a:tcPr>
                </a:tc>
                <a:tc>
                  <a:txBody>
                    <a:bodyPr/>
                    <a:lstStyle/>
                    <a:p>
                      <a:r>
                        <a:rPr sz="1800" b="0">
                          <a:solidFill>
                            <a:srgbClr val="23282D"/>
                          </a:solidFill>
                          <a:latin typeface="Arial"/>
                          <a:ea typeface="Arial"/>
                          <a:cs typeface="Arial"/>
                        </a:rPr>
                        <a:t>1</a:t>
                      </a:r>
                    </a:p>
                  </a:txBody>
                  <a:tcPr>
                    <a:solidFill>
                      <a:srgbClr val="FFFFFF"/>
                    </a:solidFill>
                  </a:tcPr>
                </a:tc>
                <a:extLst>
                  <a:ext uri="{0D108BD9-81ED-4DB2-BD59-A6C34878D82A}">
                    <a16:rowId xmlns:a16="http://schemas.microsoft.com/office/drawing/2014/main" val="10001"/>
                  </a:ext>
                </a:extLst>
              </a:tr>
              <a:tr h="504825">
                <a:tc>
                  <a:txBody>
                    <a:bodyPr/>
                    <a:lstStyle/>
                    <a:p>
                      <a:r>
                        <a:rPr sz="1800" b="0">
                          <a:solidFill>
                            <a:srgbClr val="23282D"/>
                          </a:solidFill>
                          <a:latin typeface="Arial"/>
                          <a:ea typeface="Arial"/>
                          <a:cs typeface="Arial"/>
                        </a:rPr>
                        <a:t>4</a:t>
                      </a:r>
                    </a:p>
                  </a:txBody>
                  <a:tcPr>
                    <a:solidFill>
                      <a:srgbClr val="FFFFFF"/>
                    </a:solidFill>
                  </a:tcPr>
                </a:tc>
                <a:tc>
                  <a:txBody>
                    <a:bodyPr/>
                    <a:lstStyle/>
                    <a:p>
                      <a:r>
                        <a:rPr sz="1800" b="0">
                          <a:solidFill>
                            <a:srgbClr val="23282D"/>
                          </a:solidFill>
                          <a:latin typeface="Arial"/>
                          <a:ea typeface="Arial"/>
                          <a:cs typeface="Arial"/>
                        </a:rPr>
                        <a:t>2</a:t>
                      </a:r>
                    </a:p>
                  </a:txBody>
                  <a:tcPr>
                    <a:solidFill>
                      <a:srgbClr val="FFFFFF"/>
                    </a:solidFill>
                  </a:tcPr>
                </a:tc>
                <a:extLst>
                  <a:ext uri="{0D108BD9-81ED-4DB2-BD59-A6C34878D82A}">
                    <a16:rowId xmlns:a16="http://schemas.microsoft.com/office/drawing/2014/main" val="10002"/>
                  </a:ext>
                </a:extLst>
              </a:tr>
              <a:tr h="504825">
                <a:tc>
                  <a:txBody>
                    <a:bodyPr/>
                    <a:lstStyle/>
                    <a:p>
                      <a:r>
                        <a:rPr sz="1800" b="0">
                          <a:solidFill>
                            <a:srgbClr val="23282D"/>
                          </a:solidFill>
                          <a:latin typeface="Arial"/>
                          <a:ea typeface="Arial"/>
                          <a:cs typeface="Arial"/>
                        </a:rPr>
                        <a:t>6</a:t>
                      </a:r>
                    </a:p>
                  </a:txBody>
                  <a:tcPr>
                    <a:solidFill>
                      <a:srgbClr val="FFFFFF"/>
                    </a:solidFill>
                  </a:tcPr>
                </a:tc>
                <a:tc>
                  <a:txBody>
                    <a:bodyPr/>
                    <a:lstStyle/>
                    <a:p>
                      <a:r>
                        <a:rPr sz="1800" b="0">
                          <a:solidFill>
                            <a:srgbClr val="23282D"/>
                          </a:solidFill>
                          <a:latin typeface="Arial"/>
                          <a:ea typeface="Arial"/>
                          <a:cs typeface="Arial"/>
                        </a:rPr>
                        <a:t>3</a:t>
                      </a:r>
                    </a:p>
                  </a:txBody>
                  <a:tcPr>
                    <a:solidFill>
                      <a:srgbClr val="FFFFFF"/>
                    </a:solidFill>
                  </a:tcPr>
                </a:tc>
                <a:extLst>
                  <a:ext uri="{0D108BD9-81ED-4DB2-BD59-A6C34878D82A}">
                    <a16:rowId xmlns:a16="http://schemas.microsoft.com/office/drawing/2014/main" val="10003"/>
                  </a:ext>
                </a:extLst>
              </a:tr>
            </a:tbl>
          </a:graphicData>
        </a:graphic>
      </p:graphicFrame>
      <p:sp>
        <p:nvSpPr>
          <p:cNvPr id="14" name="Rectangle 13">
            <a:extLst>
              <a:ext uri="{FF2B5EF4-FFF2-40B4-BE49-F238E27FC236}">
                <a16:creationId xmlns:a16="http://schemas.microsoft.com/office/drawing/2014/main" id="{9059DDCE-C057-4BAF-A0F8-3DF767C046EA}"/>
              </a:ext>
            </a:extLst>
          </p:cNvPr>
          <p:cNvSpPr>
            <a:spLocks noGrp="1"/>
          </p:cNvSpPr>
          <p:nvPr/>
        </p:nvSpPr>
        <p:spPr>
          <a:xfrm>
            <a:off x="6743700" y="4581525"/>
            <a:ext cx="4667250" cy="933450"/>
          </a:xfrm>
          <a:prstGeom prst="rect">
            <a:avLst/>
          </a:prstGeom>
          <a:noFill/>
          <a:ln w="0">
            <a:noFill/>
          </a:ln>
        </p:spPr>
        <p:txBody>
          <a:bodyPr>
            <a:noAutofit/>
          </a:bodyPr>
          <a:lstStyle/>
          <a:p>
            <a:pPr>
              <a:defRPr sz="1875" b="1">
                <a:solidFill>
                  <a:srgbClr val="0070C0"/>
                </a:solidFill>
                <a:latin typeface="Arial"/>
                <a:ea typeface="Arial"/>
                <a:cs typeface="Arial"/>
              </a:defRPr>
            </a:pPr>
            <a:r>
              <a:rPr sz="1875" b="1">
                <a:solidFill>
                  <a:srgbClr val="0070C0"/>
                </a:solidFill>
                <a:latin typeface="Arial"/>
                <a:ea typeface="Arial"/>
                <a:cs typeface="Arial"/>
              </a:rPr>
              <a:t>3 batches: multiply 2 and 1 by 3.</a:t>
            </a:r>
          </a:p>
        </p:txBody>
      </p:sp>
      <p:sp>
        <p:nvSpPr>
          <p:cNvPr id="28" name="Reference style 28"/>
          <p:cNvSpPr txBox="1"/>
          <p:nvPr/>
        </p:nvSpPr>
        <p:spPr>
          <a:xfrm>
            <a:off x="502920" y="54864"/>
            <a:ext cx="6035040" cy="237744"/>
          </a:xfrm>
          <a:prstGeom prst="rect">
            <a:avLst/>
          </a:prstGeom>
          <a:noFill/>
        </p:spPr>
        <p:txBody>
          <a:bodyPr wrap="square" lIns="0" tIns="0" rIns="0" bIns="0" anchor="ctr">
            <a:noAutofit/>
          </a:bodyPr>
          <a:lstStyle/>
          <a:p>
            <a:pPr algn="l"/>
            <a:r>
              <a:rPr lang="en-US" sz="1200" b="1" dirty="0">
                <a:solidFill>
                  <a:srgbClr val="1E2682"/>
                </a:solidFill>
                <a:latin typeface="Arial"/>
              </a:rPr>
              <a:t>STUDENT NOTES</a:t>
            </a:r>
            <a:r>
              <a:rPr lang="en-US" sz="1200" b="1" dirty="0">
                <a:solidFill>
                  <a:srgbClr val="5D6872"/>
                </a:solidFill>
                <a:latin typeface="Arial"/>
              </a:rPr>
              <a:t>  ·  COPY LESS • UNDERSTAND MORE</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Partner talk: connect today’s idea to prior learning.</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 / 38</a:t>
            </a:r>
          </a:p>
        </p:txBody>
      </p:sp>
    </p:spTree>
    <p:extLst>
      <p:ext uri="{BB962C8B-B14F-4D97-AF65-F5344CB8AC3E}">
        <p14:creationId xmlns:p14="http://schemas.microsoft.com/office/powerpoint/2010/main" val="823004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Reference style 24">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2" name="TextBox 1"/>
          <p:cNvSpPr txBox="1"/>
          <p:nvPr/>
        </p:nvSpPr>
        <p:spPr>
          <a:xfrm>
            <a:off x="502920" y="310896"/>
            <a:ext cx="7315200" cy="502920"/>
          </a:xfrm>
          <a:prstGeom prst="rect">
            <a:avLst/>
          </a:prstGeom>
          <a:noFill/>
        </p:spPr>
        <p:txBody>
          <a:bodyPr wrap="square" lIns="0" tIns="0" rIns="0" bIns="0" anchor="t">
            <a:noAutofit/>
          </a:bodyPr>
          <a:lstStyle/>
          <a:p>
            <a:pPr marL="0" indent="0" algn="l">
              <a:buNone/>
            </a:pPr>
            <a:r>
              <a:rPr sz="2750" b="1">
                <a:solidFill>
                  <a:srgbClr val="782DA0"/>
                </a:solidFill>
                <a:latin typeface="Arial"/>
              </a:rPr>
              <a:t>Learning Target — Session 1</a:t>
            </a:r>
          </a:p>
        </p:txBody>
      </p:sp>
      <p:sp>
        <p:nvSpPr>
          <p:cNvPr id="3" name="TextBox 2"/>
          <p:cNvSpPr txBox="1"/>
          <p:nvPr/>
        </p:nvSpPr>
        <p:spPr>
          <a:xfrm>
            <a:off x="521207" y="877824"/>
            <a:ext cx="7680960" cy="274320"/>
          </a:xfrm>
          <a:prstGeom prst="rect">
            <a:avLst/>
          </a:prstGeom>
          <a:noFill/>
        </p:spPr>
        <p:txBody>
          <a:bodyPr wrap="square" lIns="0" tIns="0" rIns="0" bIns="0" anchor="t">
            <a:noAutofit/>
          </a:bodyPr>
          <a:lstStyle/>
          <a:p>
            <a:pPr marL="0" indent="0" algn="l">
              <a:buNone/>
            </a:pPr>
            <a:r>
              <a:rPr sz="1420" b="0">
                <a:solidFill>
                  <a:srgbClr val="5D6872"/>
                </a:solidFill>
                <a:latin typeface="Arial"/>
              </a:rPr>
              <a:t>Lesson 3-3 · Equivalent Ratios Using Tables  |  Maryland Standard 6.AT.3a</a:t>
            </a:r>
          </a:p>
        </p:txBody>
      </p:sp>
      <p:sp>
        <p:nvSpPr>
          <p:cNvPr id="4"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LEARNING TARGET  ·  LABEL • SCALE • EXPLAIN</a:t>
            </a:r>
          </a:p>
        </p:txBody>
      </p:sp>
      <p:sp>
        <p:nvSpPr>
          <p:cNvPr id="6" name="TextBox 5"/>
          <p:cNvSpPr txBox="1"/>
          <p:nvPr/>
        </p:nvSpPr>
        <p:spPr>
          <a:xfrm>
            <a:off x="521207" y="1207008"/>
            <a:ext cx="10881360" cy="438912"/>
          </a:xfrm>
          <a:prstGeom prst="rect">
            <a:avLst/>
          </a:prstGeom>
          <a:noFill/>
        </p:spPr>
        <p:txBody>
          <a:bodyPr wrap="square" lIns="0" tIns="0" rIns="0" bIns="0" anchor="t">
            <a:noAutofit/>
          </a:bodyPr>
          <a:lstStyle/>
          <a:p>
            <a:pPr marL="0" indent="0" algn="l">
              <a:buNone/>
            </a:pPr>
            <a:r>
              <a:rPr sz="1630" b="0">
                <a:solidFill>
                  <a:srgbClr val="5D6872"/>
                </a:solidFill>
                <a:latin typeface="Arial"/>
              </a:rPr>
              <a:t>Today I will scale a recipe and show equivalent ratios in a table.</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noAutofit/>
          </a:bodyPr>
          <a:lstStyle/>
          <a:p>
            <a:pPr marL="0" indent="0" algn="l">
              <a:buNone/>
            </a:pPr>
            <a:r>
              <a:rPr sz="1900" b="1">
                <a:solidFill>
                  <a:srgbClr val="23282D"/>
                </a:solidFill>
                <a:latin typeface="Arial"/>
              </a:rPr>
              <a:t>I can use multiplication to build a table of equivalent ratios.</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noAutofit/>
          </a:bodyPr>
          <a:lstStyle/>
          <a:p>
            <a:pPr marL="0" indent="0" algn="l">
              <a:buNone/>
            </a:pPr>
            <a:r>
              <a:rPr sz="1900" b="1">
                <a:solidFill>
                  <a:srgbClr val="23282D"/>
                </a:solidFill>
                <a:latin typeface="Arial"/>
              </a:rPr>
              <a:t>I can explain why both quantities use the same scale factor.</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noAutofit/>
          </a:bodyPr>
          <a:lstStyle/>
          <a:p>
            <a:pPr marL="0" indent="0" algn="l">
              <a:buNone/>
            </a:pPr>
            <a:r>
              <a:rPr sz="1900" b="0">
                <a:solidFill>
                  <a:srgbClr val="23282D"/>
                </a:solidFill>
                <a:latin typeface="Arial"/>
              </a:rPr>
              <a:t>✓ Label both quantities and units.</a:t>
            </a:r>
          </a:p>
          <a:p>
            <a:pPr marL="0" indent="0" algn="l">
              <a:buNone/>
            </a:pPr>
            <a:r>
              <a:rPr sz="1900" b="0">
                <a:solidFill>
                  <a:srgbClr val="23282D"/>
                </a:solidFill>
                <a:latin typeface="Arial"/>
              </a:rPr>
              <a:t>✓ Multiply both by the same number.</a:t>
            </a:r>
          </a:p>
          <a:p>
            <a:pPr marL="0" indent="0" algn="l">
              <a:buNone/>
            </a:pPr>
            <a:r>
              <a:rPr sz="1900" b="0">
                <a:solidFill>
                  <a:srgbClr val="23282D"/>
                </a:solidFill>
                <a:latin typeface="Arial"/>
              </a:rPr>
              <a:t>✓ Explain what one pair means.</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noAutofit/>
          </a:bodyPr>
          <a:lstStyle/>
          <a:p>
            <a:pPr marL="0" indent="0" algn="l">
              <a:buNone/>
            </a:pPr>
            <a:r>
              <a:rPr sz="1900" b="0">
                <a:latin typeface="Arial"/>
              </a:rPr>
              <a:t>Ratio tables help us resize recipes without changing the mixture.</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lgn="ctr">
              <a:buNone/>
            </a:pPr>
            <a:r>
              <a:rPr sz="1400" b="1">
                <a:solidFill>
                  <a:srgbClr val="1E2682"/>
                </a:solidFill>
                <a:latin typeface="Arial"/>
              </a:rPr>
              <a:t>MATH COMMUNITY:  Different strategies are welcome  •  Ask before telling  •  Revise your thinking</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Tell a partner the goal and why it matters.</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 / 38</a:t>
            </a:r>
          </a:p>
        </p:txBody>
      </p:sp>
    </p:spTree>
    <p:extLst>
      <p:ext uri="{BB962C8B-B14F-4D97-AF65-F5344CB8AC3E}">
        <p14:creationId xmlns:p14="http://schemas.microsoft.com/office/powerpoint/2010/main" val="1899397580"/>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0" name="Google Shape;390;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1" name="Google Shape;391;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6</a:t>
            </a:r>
            <a:endParaRPr/>
          </a:p>
        </p:txBody>
      </p:sp>
      <p:sp>
        <p:nvSpPr>
          <p:cNvPr id="393" name="Google Shape;393;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3-3 · Determine Equivalent Ratios Using Tables</a:t>
            </a:r>
            <a:endParaRPr/>
          </a:p>
        </p:txBody>
      </p:sp>
      <p:sp>
        <p:nvSpPr>
          <p:cNvPr id="394" name="Google Shape;394;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96" name="Google Shape;396;p46"/>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Ratio Tables</a:t>
            </a:r>
            <a:endParaRPr/>
          </a:p>
        </p:txBody>
      </p:sp>
      <p:sp>
        <p:nvSpPr>
          <p:cNvPr id="397" name="Google Shape;397;p46"/>
          <p:cNvSpPr/>
          <p:nvPr/>
        </p:nvSpPr>
        <p:spPr>
          <a:xfrm>
            <a:off x="658368" y="2934843"/>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8" name="Google Shape;398;p46"/>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Tables that organize pairs of equivalent ratios.</a:t>
            </a:r>
            <a:endParaRPr/>
          </a:p>
        </p:txBody>
      </p:sp>
      <p:sp>
        <p:nvSpPr>
          <p:cNvPr id="399" name="Google Shape;399;p46"/>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6"/>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2" name="Google Shape;402;p46"/>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2:3, 4:6, and 6:9 belong in the same ratio table.</a:t>
            </a:r>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“Ratio Tables” to explain the example. Point to evidence.</a:t>
            </a:r>
            <a:endParaRPr lang="en-US" sz="20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7" name="Google Shape;407;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410" name="Google Shape;410;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3-3 · Determine Equivalent Ratios Using Tables</a:t>
            </a:r>
            <a:endParaRPr/>
          </a:p>
        </p:txBody>
      </p:sp>
      <p:sp>
        <p:nvSpPr>
          <p:cNvPr id="411" name="Google Shape;411;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3" name="Google Shape;413;p47"/>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Ratio table</a:t>
            </a:r>
            <a:endParaRPr/>
          </a:p>
        </p:txBody>
      </p:sp>
      <p:sp>
        <p:nvSpPr>
          <p:cNvPr id="414" name="Google Shape;414;p47"/>
          <p:cNvSpPr/>
          <p:nvPr/>
        </p:nvSpPr>
        <p:spPr>
          <a:xfrm>
            <a:off x="658368" y="2913888"/>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7"/>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table of equal ratios that shows a pattern.</a:t>
            </a:r>
            <a:endParaRPr/>
          </a:p>
        </p:txBody>
      </p:sp>
      <p:sp>
        <p:nvSpPr>
          <p:cNvPr id="416" name="Google Shape;416;p47"/>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7"/>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19" name="Google Shape;419;p47"/>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Cups of juice: 2, 4, 6 | Cups of water: 3, 6, 9</a:t>
            </a:r>
            <a:endParaRPr/>
          </a:p>
        </p:txBody>
      </p:sp>
      <p:pic>
        <p:nvPicPr>
          <p:cNvPr descr="ratio-table.png" id="420" name="Google Shape;420;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5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“Ratio table” to explain the example. Point to evidence.</a:t>
            </a:r>
            <a:endParaRPr lang="en-US" sz="20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5" name="Google Shape;425;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7" name="Google Shape;427;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428" name="Google Shape;428;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3-3 · Determine Equivalent Ratios Using Tables</a:t>
            </a:r>
            <a:endParaRPr/>
          </a:p>
        </p:txBody>
      </p:sp>
      <p:sp>
        <p:nvSpPr>
          <p:cNvPr id="429" name="Google Shape;429;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1" name="Google Shape;431;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Equivalent ratio</a:t>
            </a:r>
            <a:endParaRPr/>
          </a:p>
        </p:txBody>
      </p:sp>
      <p:sp>
        <p:nvSpPr>
          <p:cNvPr id="432" name="Google Shape;432;p48"/>
          <p:cNvSpPr/>
          <p:nvPr/>
        </p:nvSpPr>
        <p:spPr>
          <a:xfrm>
            <a:off x="658368" y="2737866"/>
            <a:ext cx="190195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ratios that mean the same thing, like 1:2 and 2:4.</a:t>
            </a:r>
            <a:endParaRPr/>
          </a:p>
        </p:txBody>
      </p:sp>
      <p:sp>
        <p:nvSpPr>
          <p:cNvPr id="434" name="Google Shape;434;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37" name="Google Shape;437;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2:3 = 4:6 = 6:9</a:t>
            </a:r>
            <a:endParaRPr/>
          </a:p>
        </p:txBody>
      </p:sp>
      <p:pic>
        <p:nvPicPr>
          <p:cNvPr descr="equivalent-ratio.png" id="438" name="Google Shape;438;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6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“Equivalent ratio”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3" name="Google Shape;443;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5" name="Google Shape;445;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6</a:t>
            </a:r>
            <a:endParaRPr/>
          </a:p>
        </p:txBody>
      </p:sp>
      <p:sp>
        <p:nvSpPr>
          <p:cNvPr id="446" name="Google Shape;446;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3-3 · Determine Equivalent Ratios Using Tables</a:t>
            </a:r>
            <a:endParaRPr/>
          </a:p>
        </p:txBody>
      </p:sp>
      <p:sp>
        <p:nvSpPr>
          <p:cNvPr id="447" name="Google Shape;447;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49" name="Google Shape;449;p49"/>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Scale factor</a:t>
            </a:r>
            <a:endParaRPr/>
          </a:p>
        </p:txBody>
      </p:sp>
      <p:sp>
        <p:nvSpPr>
          <p:cNvPr id="450" name="Google Shape;450;p49"/>
          <p:cNvSpPr/>
          <p:nvPr/>
        </p:nvSpPr>
        <p:spPr>
          <a:xfrm>
            <a:off x="658368" y="2737866"/>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49"/>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number you multiply both parts of a ratio by to get an equal ratio.</a:t>
            </a:r>
            <a:endParaRPr/>
          </a:p>
        </p:txBody>
      </p:sp>
      <p:sp>
        <p:nvSpPr>
          <p:cNvPr id="452" name="Google Shape;452;p49"/>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49"/>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5" name="Google Shape;455;p49"/>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2:3 × 2 → 4:6 (scale factor is 2)</a:t>
            </a:r>
            <a:endParaRPr/>
          </a:p>
        </p:txBody>
      </p:sp>
      <p:pic>
        <p:nvPicPr>
          <p:cNvPr descr="scale-factor.png" id="456" name="Google Shape;456;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7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“Scale factor” to explain the example. Point to evidence.</a:t>
            </a:r>
            <a:endParaRPr lang="en-US" sz="20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1" name="Google Shape;461;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3" name="Google Shape;463;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464" name="Google Shape;464;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3-3 · Determine Equivalent Ratios Using Tables</a:t>
            </a:r>
            <a:endParaRPr/>
          </a:p>
        </p:txBody>
      </p:sp>
      <p:sp>
        <p:nvSpPr>
          <p:cNvPr id="465" name="Google Shape;465;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67" name="Google Shape;467;p50"/>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Pattern</a:t>
            </a:r>
            <a:endParaRPr/>
          </a:p>
        </p:txBody>
      </p:sp>
      <p:sp>
        <p:nvSpPr>
          <p:cNvPr id="468" name="Google Shape;468;p50"/>
          <p:cNvSpPr/>
          <p:nvPr/>
        </p:nvSpPr>
        <p:spPr>
          <a:xfrm>
            <a:off x="658368" y="291388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0"/>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rule that numbers follow again and again.</a:t>
            </a:r>
            <a:endParaRPr/>
          </a:p>
        </p:txBody>
      </p:sp>
      <p:sp>
        <p:nvSpPr>
          <p:cNvPr id="470" name="Google Shape;470;p50"/>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0"/>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3" name="Google Shape;473;p50"/>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Each row adds 2 cups juice and 3 cups water</a:t>
            </a:r>
            <a:endParaRPr/>
          </a:p>
        </p:txBody>
      </p:sp>
      <p:pic>
        <p:nvPicPr>
          <p:cNvPr descr="pattern.png" id="474" name="Google Shape;474;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8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“Pattern”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79" name="Google Shape;479;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0" name="Google Shape;480;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1" name="Google Shape;481;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82" name="Google Shape;482;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3-3 · Determine Equivalent Ratios Using Tables</a:t>
            </a:r>
            <a:endParaRPr/>
          </a:p>
        </p:txBody>
      </p:sp>
      <p:sp>
        <p:nvSpPr>
          <p:cNvPr id="483" name="Google Shape;483;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5" name="Google Shape;485;p51"/>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Additive pattern</a:t>
            </a:r>
            <a:endParaRPr/>
          </a:p>
        </p:txBody>
      </p:sp>
      <p:sp>
        <p:nvSpPr>
          <p:cNvPr id="486" name="Google Shape;486;p51"/>
          <p:cNvSpPr/>
          <p:nvPr/>
        </p:nvSpPr>
        <p:spPr>
          <a:xfrm>
            <a:off x="658368" y="2561844"/>
            <a:ext cx="190195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7" name="Google Shape;487;p51"/>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Building new rows of a ratio table by adding each column’s own constant amount, so the two columns grow together.</a:t>
            </a:r>
            <a:endParaRPr/>
          </a:p>
        </p:txBody>
      </p:sp>
      <p:sp>
        <p:nvSpPr>
          <p:cNvPr id="488" name="Google Shape;488;p51"/>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0" name="Google Shape;490;p51"/>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1" name="Google Shape;491;p51"/>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2:3 → 4:6 → 6:9 (add 2 and 3 each time)</a:t>
            </a:r>
            <a:endParaRPr/>
          </a:p>
        </p:txBody>
      </p:sp>
      <p:pic>
        <p:nvPicPr>
          <p:cNvPr descr="pattern.png" id="492" name="Google Shape;492;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9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“Additive pattern” to explain</a:t>
            </a:r>
            <a:endParaRPr lang="en-US" sz="2000"/>
          </a:p>
          <a:p>
            <a:pPr>
              <a:lnSpc>
                <a:spcPts val="2400"/>
              </a:lnSpc>
              <a:buNone/>
            </a:pPr>
            <a:r>
              <a:rPr lang="en-US" sz="2000">
                <a:solidFill>
                  <a:srgbClr val="174D60"/>
                </a:solidFill>
                <a:latin typeface="Arial"/>
              </a:rPr>
              <a:t>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59" name="Google Shape;559;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60" name="Google Shape;560;p55"/>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561" name="Google Shape;561;p55"/>
          <p:cNvSpPr txBox="1"/>
          <p:nvPr/>
        </p:nvSpPr>
        <p:spPr>
          <a:xfrm>
            <a:off x="606668" y="936101"/>
            <a:ext cx="5873263" cy="5231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is the question?</a:t>
            </a:r>
            <a:endParaRPr b="0" i="0" sz="1400" u="none" cap="none" strike="noStrike">
              <a:solidFill>
                <a:srgbClr val="000000"/>
              </a:solidFill>
              <a:latin typeface="Arial"/>
              <a:ea typeface="Arial"/>
              <a:cs typeface="Arial"/>
              <a:sym typeface="Arial"/>
            </a:endParaRPr>
          </a:p>
        </p:txBody>
      </p:sp>
      <p:sp>
        <p:nvSpPr>
          <p:cNvPr id="562" name="Google Shape;562;p55"/>
          <p:cNvSpPr/>
          <p:nvPr/>
        </p:nvSpPr>
        <p:spPr>
          <a:xfrm>
            <a:off x="703382" y="1616870"/>
            <a:ext cx="9592409" cy="2392422"/>
          </a:xfrm>
          <a:prstGeom prst="snip1Rect">
            <a:avLst>
              <a:gd fmla="val 16667" name="adj"/>
            </a:avLst>
          </a:prstGeom>
          <a:solidFill>
            <a:schemeClr val="lt1"/>
          </a:solidFill>
          <a:ln cap="flat" cmpd="sng" w="12700">
            <a:solidFill>
              <a:srgbClr val="00B050"/>
            </a:solidFill>
            <a:prstDash val="solid"/>
            <a:miter lim="80"/>
            <a:headEnd len="sm" w="sm" type="none"/>
            <a:tailEnd len="sm" w="sm" type="none"/>
          </a:ln>
        </p:spPr>
        <p:txBody>
          <a:bodyPr anchorCtr="0" anchor="ctr" bIns="45700" lIns="91425" spcFirstLastPara="1" rIns="91425" wrap="square" tIns="45700">
            <a:noAutofit/>
          </a:bodyPr>
          <a:lstStyle/>
          <a:p>
            <a:pPr indent="0" lvl="1" marL="457200" marR="0" rtl="0" algn="l">
              <a:lnSpc>
                <a:spcPct val="100000"/>
              </a:lnSpc>
              <a:spcBef>
                <a:spcPts val="0"/>
              </a:spcBef>
              <a:spcAft>
                <a:spcPts val="0"/>
              </a:spcAft>
              <a:buClr>
                <a:srgbClr val="000000"/>
              </a:buClr>
              <a:buSzPts val="2800"/>
              <a:buFont typeface="Arial"/>
              <a:buNone/>
            </a:pPr>
            <a:r>
              <a:rPr b="0" i="1" lang="en-US" sz="2800" u="none" cap="none" strike="noStrike">
                <a:solidFill>
                  <a:srgbClr val="782DA0"/>
                </a:solidFill>
                <a:latin typeface="Calibri"/>
                <a:ea typeface="Calibri"/>
                <a:cs typeface="Calibri"/>
                <a:sym typeface="Calibri"/>
              </a:rPr>
              <a:t>Brian makes homemade clay by mixing some water and some flour in a bowl. His nephew also wants to make something with clay, so Brian needs to increase the amount of clay he makes.</a:t>
            </a:r>
            <a:endParaRPr b="0" i="0" sz="1400" u="none" cap="none" strike="noStrike">
              <a:solidFill>
                <a:srgbClr val="000000"/>
              </a:solidFill>
              <a:latin typeface="Arial"/>
              <a:ea typeface="Arial"/>
              <a:cs typeface="Arial"/>
              <a:sym typeface="Arial"/>
            </a:endParaRPr>
          </a:p>
        </p:txBody>
      </p:sp>
      <p:pic>
        <p:nvPicPr>
          <p:cNvPr id="563" name="Google Shape;563;p55"/>
          <p:cNvPicPr preferRelativeResize="0"/>
          <p:nvPr/>
        </p:nvPicPr>
        <p:blipFill rotWithShape="1">
          <a:blip r:embed="rId2">
            <a:alphaModFix/>
          </a:blip>
          <a:srcRect b="0" l="0" r="0" t="0"/>
          <a:stretch/>
        </p:blipFill>
        <p:spPr>
          <a:xfrm>
            <a:off x="606668" y="4698691"/>
            <a:ext cx="5054600" cy="838200"/>
          </a:xfrm>
          <a:prstGeom prst="rect">
            <a:avLst/>
          </a:prstGeom>
          <a:noFill/>
          <a:ln>
            <a:noFill/>
          </a:ln>
        </p:spPr>
      </p:pic>
      <p:sp>
        <p:nvSpPr>
          <p:cNvPr id="564" name="Google Shape;564;p55"/>
          <p:cNvSpPr txBox="1"/>
          <p:nvPr/>
        </p:nvSpPr>
        <p:spPr>
          <a:xfrm>
            <a:off x="3466685" y="4856009"/>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65" name="Google Shape;565;p55"/>
          <p:cNvSpPr/>
          <p:nvPr/>
        </p:nvSpPr>
        <p:spPr>
          <a:xfrm>
            <a:off x="819864" y="5514014"/>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show your classmates that you respect their ideas about math?</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10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pic>
        <p:nvPicPr>
          <p:cNvPr id="252" name="Reference style 252">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cxnSp>
        <p:nvCxnSpPr>
          <p:cNvPr id="240" name="Google Shape;240;p41"/>
          <p:cNvCxnSpPr/>
          <p:nvPr/>
        </p:nvCxnSpPr>
        <p:spPr>
          <a:xfrm>
            <a:off x="13164879" y="5911702"/>
            <a:ext cx="0" cy="0"/>
          </a:xfrm>
          <a:prstGeom prst="straightConnector1">
            <a:avLst/>
          </a:prstGeom>
          <a:noFill/>
          <a:ln w="9525" cap="flat" cmpd="sng">
            <a:solidFill>
              <a:schemeClr val="accent1"/>
            </a:solidFill>
            <a:prstDash val="solid"/>
            <a:miter lim="8000"/>
            <a:headEnd type="none" w="sm" len="sm"/>
            <a:tailEnd type="none" w="sm" len="sm"/>
          </a:ln>
        </p:spPr>
      </p:cxnSp>
      <p:sp>
        <p:nvSpPr>
          <p:cNvPr id="241" name="Google Shape;241;p41"/>
          <p:cNvSpPr txBox="1"/>
          <p:nvPr/>
        </p:nvSpPr>
        <p:spPr>
          <a:xfrm>
            <a:off x="505579" y="316034"/>
            <a:ext cx="6858000"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a:solidFill>
                  <a:srgbClr val="782DA0"/>
                </a:solidFill>
                <a:latin typeface="Arial"/>
                <a:ea typeface="Arial"/>
                <a:cs typeface="Arial"/>
                <a:sym typeface="Arial"/>
              </a:rPr>
              <a:t>More or Less Than 50</a:t>
            </a:r>
            <a:endParaRPr/>
          </a:p>
        </p:txBody>
      </p:sp>
      <p:sp>
        <p:nvSpPr>
          <p:cNvPr id="242" name="Google Shape;242;p41"/>
          <p:cNvSpPr txBox="1"/>
          <p:nvPr/>
        </p:nvSpPr>
        <p:spPr>
          <a:xfrm>
            <a:off x="956343" y="2775548"/>
            <a:ext cx="237533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rgbClr val="23282D"/>
                </a:solidFill>
                <a:latin typeface="Cambria Math"/>
                <a:ea typeface="Cambria Math"/>
                <a:cs typeface="Cambria Math"/>
                <a:sym typeface="Cambria Math"/>
              </a:rPr>
              <a:t>437 ÷ 6</a:t>
            </a:r>
            <a:endParaRPr/>
          </a:p>
        </p:txBody>
      </p:sp>
      <p:sp>
        <p:nvSpPr>
          <p:cNvPr id="243" name="Google Shape;243;p41"/>
          <p:cNvSpPr txBox="1"/>
          <p:nvPr/>
        </p:nvSpPr>
        <p:spPr>
          <a:xfrm>
            <a:off x="4188274" y="2775546"/>
            <a:ext cx="237533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chemeClr val="dk1"/>
                </a:solidFill>
                <a:latin typeface="Cambria Math"/>
                <a:ea typeface="Cambria Math"/>
                <a:cs typeface="Cambria Math"/>
                <a:sym typeface="Cambria Math"/>
              </a:rPr>
              <a:t>717 ÷ 8</a:t>
            </a:r>
            <a:endParaRPr sz="2800" i="1">
              <a:solidFill>
                <a:srgbClr val="262626"/>
              </a:solidFill>
              <a:latin typeface="Cambria Math"/>
              <a:ea typeface="Cambria Math"/>
              <a:cs typeface="Cambria Math"/>
              <a:sym typeface="Cambria Math"/>
            </a:endParaRPr>
          </a:p>
        </p:txBody>
      </p:sp>
      <p:sp>
        <p:nvSpPr>
          <p:cNvPr id="244" name="Google Shape;244;p41"/>
          <p:cNvSpPr txBox="1"/>
          <p:nvPr/>
        </p:nvSpPr>
        <p:spPr>
          <a:xfrm>
            <a:off x="7420206" y="2775547"/>
            <a:ext cx="237533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a:solidFill>
                  <a:srgbClr val="23282D"/>
                </a:solidFill>
                <a:latin typeface="Cambria Math"/>
                <a:ea typeface="Cambria Math"/>
                <a:cs typeface="Cambria Math"/>
                <a:sym typeface="Cambria Math"/>
              </a:rPr>
              <a:t>935 ÷ 50</a:t>
            </a:r>
            <a:endParaRPr/>
          </a:p>
        </p:txBody>
      </p:sp>
      <p:sp>
        <p:nvSpPr>
          <p:cNvPr id="245" name="Reference style 245"/>
          <p:cNvSpPr txBox="1"/>
          <p:nvPr/>
        </p:nvSpPr>
        <p:spPr>
          <a:xfrm>
            <a:off x="502920" y="54864"/>
            <a:ext cx="6035040" cy="237744"/>
          </a:xfrm>
          <a:prstGeom prst="rect">
            <a:avLst/>
          </a:prstGeom>
          <a:noFill/>
        </p:spPr>
        <p:txBody>
          <a:bodyPr wrap="square" lIns="0" tIns="0" r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  ESTIMATE • DEFEND • COMPARE</a:t>
            </a:r>
          </a:p>
        </p:txBody>
      </p:sp>
      <p:sp>
        <p:nvSpPr>
          <p:cNvPr id="247" name="Reference style 247"/>
          <p:cNvSpPr/>
          <p:nvPr/>
        </p:nvSpPr>
        <p:spPr>
          <a:xfrm>
            <a:off x="548640" y="4800600"/>
            <a:ext cx="7406640" cy="86868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Reference style 248"/>
          <p:cNvSpPr/>
          <p:nvPr/>
        </p:nvSpPr>
        <p:spPr>
          <a:xfrm>
            <a:off x="548640" y="4800600"/>
            <a:ext cx="64008" cy="86868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9" name="Reference style 249"/>
          <p:cNvSpPr txBox="1"/>
          <p:nvPr/>
        </p:nvSpPr>
        <p:spPr>
          <a:xfrm>
            <a:off x="713232" y="4910328"/>
            <a:ext cx="7114032" cy="201168"/>
          </a:xfrm>
          <a:prstGeom prst="rect">
            <a:avLst/>
          </a:prstGeom>
          <a:noFill/>
        </p:spPr>
        <p:txBody>
          <a:bodyPr wrap="square" lIns="0" tIns="0" rIns="0" bIns="0" anchor="t">
            <a:noAutofit/>
          </a:bodyPr>
          <a:lstStyle/>
          <a:p>
            <a:pPr marL="0" indent="0" algn="l">
              <a:buNone/>
            </a:pPr>
            <a:r>
              <a:rPr sz="1200" b="1">
                <a:solidFill>
                  <a:srgbClr val="782DA0"/>
                </a:solidFill>
                <a:latin typeface="Arial"/>
              </a:rPr>
              <a:t>EXPLAIN YOUR THINKING</a:t>
            </a:r>
          </a:p>
        </p:txBody>
      </p:sp>
      <p:sp>
        <p:nvSpPr>
          <p:cNvPr id="250" name="Reference style 250"/>
          <p:cNvSpPr txBox="1"/>
          <p:nvPr/>
        </p:nvSpPr>
        <p:spPr>
          <a:xfrm>
            <a:off x="713232" y="5202936"/>
            <a:ext cx="7086600" cy="429768"/>
          </a:xfrm>
          <a:prstGeom prst="rect">
            <a:avLst/>
          </a:prstGeom>
          <a:noFill/>
        </p:spPr>
        <p:txBody>
          <a:bodyPr wrap="square" lIns="0" tIns="0" rIns="0" bIns="0" anchor="t">
            <a:noAutofit/>
          </a:bodyPr>
          <a:lstStyle/>
          <a:p>
            <a:pPr marL="0" indent="0" algn="l">
              <a:buNone/>
            </a:pPr>
            <a:r>
              <a:rPr sz="1600" b="0">
                <a:solidFill>
                  <a:srgbClr val="262C30"/>
                </a:solidFill>
                <a:latin typeface="Arial"/>
              </a:rPr>
              <a:t>“I estimate more/less than 50 because ___.”</a:t>
            </a:r>
          </a:p>
        </p:txBody>
      </p:sp>
      <p:sp>
        <p:nvSpPr>
          <p:cNvPr id="251" name="Reference style 251"/>
          <p:cNvSpPr txBox="1"/>
          <p:nvPr/>
        </p:nvSpPr>
        <p:spPr>
          <a:xfrm>
            <a:off x="521207" y="1170432"/>
            <a:ext cx="6492240" cy="411480"/>
          </a:xfrm>
          <a:prstGeom prst="rect">
            <a:avLst/>
          </a:prstGeom>
          <a:noFill/>
        </p:spPr>
        <p:txBody>
          <a:bodyPr wrap="square" lIns="0" tIns="0" rIns="0" bIns="0" anchor="t">
            <a:noAutofit/>
          </a:bodyPr>
          <a:lstStyle/>
          <a:p>
            <a:pPr marL="0" indent="0" algn="l">
              <a:buNone/>
            </a:pPr>
            <a:r>
              <a:rPr sz="1800" b="0">
                <a:solidFill>
                  <a:srgbClr val="5D6872"/>
                </a:solidFill>
                <a:latin typeface="Arial"/>
              </a:rPr>
              <a:t>Estimate first. Choose one expression and defend your estimate.</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Partner press: ask Why? and answer with evidence.</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11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pic>
        <p:nvPicPr>
          <p:cNvPr id="288" name="Reference style 288">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cxnSp>
        <p:nvCxnSpPr>
          <p:cNvPr id="277" name="Google Shape;277;p45"/>
          <p:cNvCxnSpPr/>
          <p:nvPr/>
        </p:nvCxnSpPr>
        <p:spPr>
          <a:xfrm>
            <a:off x="13164879" y="5911702"/>
            <a:ext cx="0" cy="0"/>
          </a:xfrm>
          <a:prstGeom prst="straightConnector1">
            <a:avLst/>
          </a:prstGeom>
          <a:noFill/>
          <a:ln w="9525" cap="flat" cmpd="sng">
            <a:solidFill>
              <a:schemeClr val="accent1"/>
            </a:solidFill>
            <a:prstDash val="solid"/>
            <a:miter lim="8000"/>
            <a:headEnd type="none" w="sm" len="sm"/>
            <a:tailEnd type="none" w="sm" len="sm"/>
          </a:ln>
        </p:spPr>
      </p:cxnSp>
      <p:sp>
        <p:nvSpPr>
          <p:cNvPr id="278" name="Google Shape;278;p45"/>
          <p:cNvSpPr txBox="1"/>
          <p:nvPr/>
        </p:nvSpPr>
        <p:spPr>
          <a:xfrm>
            <a:off x="484565" y="316034"/>
            <a:ext cx="6858000"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a:solidFill>
                  <a:srgbClr val="782DA0"/>
                </a:solidFill>
                <a:latin typeface="Arial"/>
                <a:ea typeface="Arial"/>
                <a:cs typeface="Arial"/>
                <a:sym typeface="Arial"/>
              </a:rPr>
              <a:t>Making Homemade Clay</a:t>
            </a:r>
            <a:endParaRPr/>
          </a:p>
        </p:txBody>
      </p:sp>
      <p:sp>
        <p:nvSpPr>
          <p:cNvPr id="279" name="Google Shape;279;p45"/>
          <p:cNvSpPr txBox="1"/>
          <p:nvPr/>
        </p:nvSpPr>
        <p:spPr>
          <a:xfrm>
            <a:off x="484565" y="1162012"/>
            <a:ext cx="6719423" cy="14175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dirty="0">
                <a:solidFill>
                  <a:srgbClr val="23282D"/>
                </a:solidFill>
                <a:latin typeface="Arial"/>
                <a:ea typeface="Arial"/>
                <a:cs typeface="Arial"/>
                <a:sym typeface="Arial"/>
              </a:rPr>
              <a:t>Brian will use the recipe shown to make clay. He needs to make multiple batches of clay.</a:t>
            </a:r>
            <a:endParaRPr dirty="0"/>
          </a:p>
        </p:txBody>
      </p:sp>
      <p:sp>
        <p:nvSpPr>
          <p:cNvPr id="280" name="Google Shape;280;p45"/>
          <p:cNvSpPr txBox="1"/>
          <p:nvPr/>
        </p:nvSpPr>
        <p:spPr>
          <a:xfrm>
            <a:off x="484565" y="2764430"/>
            <a:ext cx="6719422" cy="223306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1">
                <a:solidFill>
                  <a:srgbClr val="23282D"/>
                </a:solidFill>
                <a:latin typeface="Arial"/>
                <a:ea typeface="Arial"/>
                <a:cs typeface="Arial"/>
                <a:sym typeface="Arial"/>
              </a:rPr>
              <a:t>How can Brian determine how much baking soda and cornstarch he needs for multiple batches of clay to get the same consistency?</a:t>
            </a:r>
            <a:endParaRPr/>
          </a:p>
        </p:txBody>
      </p:sp>
      <p:pic>
        <p:nvPicPr>
          <p:cNvPr id="281" name="Google Shape;281;p45"/>
          <p:cNvPicPr preferRelativeResize="0"/>
          <p:nvPr/>
        </p:nvPicPr>
        <p:blipFill rotWithShape="1">
          <a:blip r:embed="rId4">
            <a:alphaModFix/>
          </a:blip>
          <a:srcRect/>
          <a:stretch/>
        </p:blipFill>
        <p:spPr>
          <a:xfrm>
            <a:off x="8024462" y="1614486"/>
            <a:ext cx="3682973" cy="2880000"/>
          </a:xfrm>
          <a:prstGeom prst="rect">
            <a:avLst/>
          </a:prstGeom>
          <a:noFill/>
          <a:ln>
            <a:noFill/>
          </a:ln>
        </p:spPr>
      </p:pic>
      <p:sp>
        <p:nvSpPr>
          <p:cNvPr id="282" name="Reference style 282"/>
          <p:cNvSpPr txBox="1"/>
          <p:nvPr/>
        </p:nvSpPr>
        <p:spPr>
          <a:xfrm>
            <a:off x="502920" y="54864"/>
            <a:ext cx="6035040" cy="237744"/>
          </a:xfrm>
          <a:prstGeom prst="rect">
            <a:avLst/>
          </a:prstGeom>
          <a:noFill/>
        </p:spPr>
        <p:txBody>
          <a:bodyPr wrap="square" lIns="0" tIns="0" r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  PREDICT • KEEP THE MIXTURE</a:t>
            </a:r>
          </a:p>
        </p:txBody>
      </p:sp>
      <p:sp>
        <p:nvSpPr>
          <p:cNvPr id="284" name="Reference style 284"/>
          <p:cNvSpPr/>
          <p:nvPr/>
        </p:nvSpPr>
        <p:spPr>
          <a:xfrm>
            <a:off x="7635240" y="4754880"/>
            <a:ext cx="4069080" cy="128016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5" name="Reference style 285"/>
          <p:cNvSpPr/>
          <p:nvPr/>
        </p:nvSpPr>
        <p:spPr>
          <a:xfrm>
            <a:off x="7635240" y="4754880"/>
            <a:ext cx="64008" cy="128016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6" name="Reference style 286"/>
          <p:cNvSpPr txBox="1"/>
          <p:nvPr/>
        </p:nvSpPr>
        <p:spPr>
          <a:xfrm>
            <a:off x="7799832" y="4864608"/>
            <a:ext cx="3776472" cy="201168"/>
          </a:xfrm>
          <a:prstGeom prst="rect">
            <a:avLst/>
          </a:prstGeom>
          <a:noFill/>
        </p:spPr>
        <p:txBody>
          <a:bodyPr wrap="square" lIns="0" tIns="0" rIns="0" bIns="0" anchor="t">
            <a:noAutofit/>
          </a:bodyPr>
          <a:lstStyle/>
          <a:p>
            <a:pPr marL="0" indent="0" algn="l">
              <a:buNone/>
            </a:pPr>
            <a:r>
              <a:rPr sz="1200" b="1">
                <a:solidFill>
                  <a:srgbClr val="782DA0"/>
                </a:solidFill>
                <a:latin typeface="Arial"/>
              </a:rPr>
              <a:t>TALK TOOL</a:t>
            </a:r>
          </a:p>
        </p:txBody>
      </p:sp>
      <p:sp>
        <p:nvSpPr>
          <p:cNvPr id="287" name="Reference style 287"/>
          <p:cNvSpPr txBox="1"/>
          <p:nvPr/>
        </p:nvSpPr>
        <p:spPr>
          <a:xfrm>
            <a:off x="7799832" y="5157216"/>
            <a:ext cx="3749040" cy="841248"/>
          </a:xfrm>
          <a:prstGeom prst="rect">
            <a:avLst/>
          </a:prstGeom>
          <a:noFill/>
        </p:spPr>
        <p:txBody>
          <a:bodyPr wrap="square" lIns="0" tIns="0" rIns="0" bIns="0" anchor="t">
            <a:noAutofit/>
          </a:bodyPr>
          <a:lstStyle/>
          <a:p>
            <a:pPr marL="0" indent="0" algn="l">
              <a:buNone/>
            </a:pPr>
            <a:r>
              <a:rPr sz="1600" b="0">
                <a:solidFill>
                  <a:srgbClr val="262C30"/>
                </a:solidFill>
                <a:latin typeface="Arial"/>
              </a:rPr>
              <a:t>“For ___ batches, multiply both ingredients by ___ because ___.”</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Ask a partner a question; choose a model together.</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12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413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Connect a feature of the model to a</a:t>
            </a:r>
            <a:endParaRPr lang="en-US" sz="2000"/>
          </a:p>
          <a:p>
            <a:pPr>
              <a:lnSpc>
                <a:spcPts val="2400"/>
              </a:lnSpc>
              <a:buNone/>
            </a:pPr>
            <a:r>
              <a:rPr lang="en-US" sz="2000">
                <a:solidFill>
                  <a:srgbClr val="174D60"/>
                </a:solidFill>
                <a:latin typeface="Arial"/>
              </a:rPr>
              <a:t>step in your reasoning.</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Reference style 14">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7" name="Rectangle 6">
            <a:extLst>
              <a:ext uri="{FF2B5EF4-FFF2-40B4-BE49-F238E27FC236}">
                <a16:creationId xmlns:a16="http://schemas.microsoft.com/office/drawing/2014/main" id="{97B9F630-EA04-47DD-9EF2-20E3840F8015}"/>
              </a:ext>
            </a:extLst>
          </p:cNvPr>
          <p:cNvSpPr>
            <a:spLocks noGrp="1"/>
          </p:cNvSpPr>
          <p:nvPr/>
        </p:nvSpPr>
        <p:spPr>
          <a:xfrm>
            <a:off x="523875" y="400050"/>
            <a:ext cx="6858000" cy="876300"/>
          </a:xfrm>
          <a:prstGeom prst="rect">
            <a:avLst/>
          </a:prstGeom>
          <a:noFill/>
          <a:ln w="0">
            <a:noFill/>
          </a:ln>
        </p:spPr>
        <p:txBody>
          <a:bodyPr>
            <a:noAutofit/>
          </a:bodyPr>
          <a:lstStyle/>
          <a:p>
            <a:pPr>
              <a:defRPr sz="2775" b="1">
                <a:solidFill>
                  <a:srgbClr val="782DA0"/>
                </a:solidFill>
                <a:latin typeface="Arial"/>
                <a:ea typeface="Arial"/>
                <a:cs typeface="Arial"/>
              </a:defRPr>
            </a:pPr>
            <a:r>
              <a:rPr sz="2800" b="1">
                <a:solidFill>
                  <a:srgbClr val="782DA0"/>
                </a:solidFill>
                <a:highlight>
                  <a:srgbClr val="FFF2A8"/>
                </a:highlight>
                <a:latin typeface="Arial"/>
                <a:ea typeface="Arial"/>
                <a:cs typeface="Arial"/>
              </a:rPr>
              <a:t>Ratio tables</a:t>
            </a:r>
            <a:r>
              <a:rPr sz="2800" b="1">
                <a:solidFill>
                  <a:srgbClr val="782DA0"/>
                </a:solidFill>
                <a:latin typeface="Arial"/>
                <a:ea typeface="Arial"/>
                <a:cs typeface="Arial"/>
              </a:rPr>
              <a:t> and </a:t>
            </a:r>
            <a:r>
              <a:rPr sz="2800" b="1">
                <a:solidFill>
                  <a:srgbClr val="782DA0"/>
                </a:solidFill>
                <a:highlight>
                  <a:srgbClr val="FFF2A8"/>
                </a:highlight>
                <a:latin typeface="Arial"/>
                <a:ea typeface="Arial"/>
                <a:cs typeface="Arial"/>
              </a:rPr>
              <a:t>equivalent ratios</a:t>
            </a:r>
          </a:p>
        </p:txBody>
      </p:sp>
      <p:sp>
        <p:nvSpPr>
          <p:cNvPr id="2" name="Rectangle 1">
            <a:extLst>
              <a:ext uri="{FF2B5EF4-FFF2-40B4-BE49-F238E27FC236}">
                <a16:creationId xmlns:a16="http://schemas.microsoft.com/office/drawing/2014/main" id="{230D21C8-34EE-46F7-9560-E0F99CEFD77D}"/>
              </a:ext>
            </a:extLst>
          </p:cNvPr>
          <p:cNvSpPr>
            <a:spLocks noGrp="1"/>
          </p:cNvSpPr>
          <p:nvPr/>
        </p:nvSpPr>
        <p:spPr>
          <a:xfrm>
            <a:off x="552450" y="161925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A </a:t>
            </a:r>
            <a:r>
              <a:rPr sz="2250" b="1">
                <a:solidFill>
                  <a:srgbClr val="23282D"/>
                </a:solidFill>
                <a:highlight>
                  <a:srgbClr val="FFF2A8"/>
                </a:highlight>
                <a:latin typeface="Arial"/>
                <a:ea typeface="Arial"/>
                <a:cs typeface="Arial"/>
              </a:rPr>
              <a:t>ratio table</a:t>
            </a:r>
            <a:r>
              <a:rPr sz="2250" b="0">
                <a:solidFill>
                  <a:srgbClr val="23282D"/>
                </a:solidFill>
                <a:latin typeface="Arial"/>
                <a:ea typeface="Arial"/>
                <a:cs typeface="Arial"/>
              </a:rPr>
              <a:t> organizes pairs of related quantities.</a:t>
            </a:r>
          </a:p>
        </p:txBody>
      </p:sp>
      <p:sp>
        <p:nvSpPr>
          <p:cNvPr id="3" name="Rectangle 2">
            <a:extLst>
              <a:ext uri="{FF2B5EF4-FFF2-40B4-BE49-F238E27FC236}">
                <a16:creationId xmlns:a16="http://schemas.microsoft.com/office/drawing/2014/main" id="{B26856F9-7866-4CD6-A618-B06F10791A9A}"/>
              </a:ext>
            </a:extLst>
          </p:cNvPr>
          <p:cNvSpPr>
            <a:spLocks noGrp="1"/>
          </p:cNvSpPr>
          <p:nvPr/>
        </p:nvSpPr>
        <p:spPr>
          <a:xfrm>
            <a:off x="552450" y="281940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1">
                <a:solidFill>
                  <a:srgbClr val="23282D"/>
                </a:solidFill>
                <a:highlight>
                  <a:srgbClr val="FFF2A8"/>
                </a:highlight>
                <a:latin typeface="Arial"/>
                <a:ea typeface="Arial"/>
                <a:cs typeface="Arial"/>
              </a:rPr>
              <a:t>Equivalent ratios</a:t>
            </a:r>
            <a:r>
              <a:rPr sz="2250" b="0">
                <a:solidFill>
                  <a:srgbClr val="23282D"/>
                </a:solidFill>
                <a:latin typeface="Arial"/>
                <a:ea typeface="Arial"/>
                <a:cs typeface="Arial"/>
              </a:rPr>
              <a:t> describe the same relationship.</a:t>
            </a:r>
          </a:p>
        </p:txBody>
      </p:sp>
      <p:sp>
        <p:nvSpPr>
          <p:cNvPr id="4" name="Rectangle 3">
            <a:extLst>
              <a:ext uri="{FF2B5EF4-FFF2-40B4-BE49-F238E27FC236}">
                <a16:creationId xmlns:a16="http://schemas.microsoft.com/office/drawing/2014/main" id="{95AC9E2F-5906-4A65-9C62-2AA491C6EB1E}"/>
              </a:ext>
            </a:extLst>
          </p:cNvPr>
          <p:cNvSpPr>
            <a:spLocks noGrp="1"/>
          </p:cNvSpPr>
          <p:nvPr/>
        </p:nvSpPr>
        <p:spPr>
          <a:xfrm>
            <a:off x="552450" y="401955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For this clay recipe, every 2 cups of baking soda go with 1 cup of cornstarch.</a:t>
            </a:r>
          </a:p>
        </p:txBody>
      </p:sp>
      <p:graphicFrame>
        <p:nvGraphicFramePr>
          <p:cNvPr id="11" name="Table 10"/>
          <p:cNvGraphicFramePr/>
          <p:nvPr/>
        </p:nvGraphicFramePr>
        <p:xfrm>
          <a:off x="6210300" y="1809750"/>
          <a:ext cx="5410200" cy="1885950"/>
        </p:xfrm>
        <a:graphic>
          <a:graphicData uri="http://schemas.openxmlformats.org/drawingml/2006/table">
            <a:tbl>
              <a:tblPr/>
              <a:tblGrid>
                <a:gridCol w="270510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tblGrid>
              <a:tr h="628650">
                <a:tc>
                  <a:txBody>
                    <a:bodyPr/>
                    <a:lstStyle/>
                    <a:p>
                      <a:r>
                        <a:rPr sz="1875" b="1">
                          <a:solidFill>
                            <a:srgbClr val="FFFFFF"/>
                          </a:solidFill>
                          <a:latin typeface="Arial"/>
                          <a:ea typeface="Arial"/>
                          <a:cs typeface="Arial"/>
                        </a:rPr>
                        <a:t>Baking soda (cups)</a:t>
                      </a:r>
                    </a:p>
                  </a:txBody>
                  <a:tcPr>
                    <a:solidFill>
                      <a:srgbClr val="0070C0"/>
                    </a:solidFill>
                  </a:tcPr>
                </a:tc>
                <a:tc>
                  <a:txBody>
                    <a:bodyPr/>
                    <a:lstStyle/>
                    <a:p>
                      <a:r>
                        <a:rPr sz="1875" b="1">
                          <a:solidFill>
                            <a:srgbClr val="FFFFFF"/>
                          </a:solidFill>
                          <a:latin typeface="Arial"/>
                          <a:ea typeface="Arial"/>
                          <a:cs typeface="Arial"/>
                        </a:rPr>
                        <a:t>Cornstarch (cups)</a:t>
                      </a:r>
                    </a:p>
                  </a:txBody>
                  <a:tcPr>
                    <a:solidFill>
                      <a:srgbClr val="0070C0"/>
                    </a:solidFill>
                  </a:tcPr>
                </a:tc>
                <a:extLst>
                  <a:ext uri="{0D108BD9-81ED-4DB2-BD59-A6C34878D82A}">
                    <a16:rowId xmlns:a16="http://schemas.microsoft.com/office/drawing/2014/main" val="10000"/>
                  </a:ext>
                </a:extLst>
              </a:tr>
              <a:tr h="628650">
                <a:tc>
                  <a:txBody>
                    <a:bodyPr/>
                    <a:lstStyle/>
                    <a:p>
                      <a:r>
                        <a:rPr sz="1875" b="0">
                          <a:solidFill>
                            <a:srgbClr val="23282D"/>
                          </a:solidFill>
                          <a:latin typeface="Arial"/>
                          <a:ea typeface="Arial"/>
                          <a:cs typeface="Arial"/>
                        </a:rPr>
                        <a:t>2</a:t>
                      </a:r>
                    </a:p>
                  </a:txBody>
                  <a:tcPr>
                    <a:solidFill>
                      <a:srgbClr val="FFFFFF"/>
                    </a:solidFill>
                  </a:tcPr>
                </a:tc>
                <a:tc>
                  <a:txBody>
                    <a:bodyPr/>
                    <a:lstStyle/>
                    <a:p>
                      <a:r>
                        <a:rPr sz="1875" b="0">
                          <a:solidFill>
                            <a:srgbClr val="23282D"/>
                          </a:solidFill>
                          <a:latin typeface="Arial"/>
                          <a:ea typeface="Arial"/>
                          <a:cs typeface="Arial"/>
                        </a:rPr>
                        <a:t>1</a:t>
                      </a:r>
                    </a:p>
                  </a:txBody>
                  <a:tcPr>
                    <a:solidFill>
                      <a:srgbClr val="FFFFFF"/>
                    </a:solidFill>
                  </a:tcPr>
                </a:tc>
                <a:extLst>
                  <a:ext uri="{0D108BD9-81ED-4DB2-BD59-A6C34878D82A}">
                    <a16:rowId xmlns:a16="http://schemas.microsoft.com/office/drawing/2014/main" val="10001"/>
                  </a:ext>
                </a:extLst>
              </a:tr>
              <a:tr h="628650">
                <a:tc>
                  <a:txBody>
                    <a:bodyPr/>
                    <a:lstStyle/>
                    <a:p>
                      <a:r>
                        <a:rPr sz="1875" b="0">
                          <a:solidFill>
                            <a:srgbClr val="23282D"/>
                          </a:solidFill>
                          <a:latin typeface="Arial"/>
                          <a:ea typeface="Arial"/>
                          <a:cs typeface="Arial"/>
                        </a:rPr>
                        <a:t>4</a:t>
                      </a:r>
                    </a:p>
                  </a:txBody>
                  <a:tcPr>
                    <a:solidFill>
                      <a:srgbClr val="FFFFFF"/>
                    </a:solidFill>
                  </a:tcPr>
                </a:tc>
                <a:tc>
                  <a:txBody>
                    <a:bodyPr/>
                    <a:lstStyle/>
                    <a:p>
                      <a:r>
                        <a:rPr sz="1875" b="0">
                          <a:solidFill>
                            <a:srgbClr val="23282D"/>
                          </a:solidFill>
                          <a:latin typeface="Arial"/>
                          <a:ea typeface="Arial"/>
                          <a:cs typeface="Arial"/>
                        </a:rPr>
                        <a:t>2</a:t>
                      </a:r>
                    </a:p>
                  </a:txBody>
                  <a:tcPr>
                    <a:solidFill>
                      <a:srgbClr val="FFFFFF"/>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C5BE968D-4BCF-427D-84D6-CE5F67F74F3B}"/>
              </a:ext>
            </a:extLst>
          </p:cNvPr>
          <p:cNvSpPr>
            <a:spLocks noGrp="1"/>
          </p:cNvSpPr>
          <p:nvPr/>
        </p:nvSpPr>
        <p:spPr>
          <a:xfrm>
            <a:off x="552450" y="5553075"/>
            <a:ext cx="10858500" cy="742950"/>
          </a:xfrm>
          <a:prstGeom prst="rect">
            <a:avLst/>
          </a:prstGeom>
          <a:noFill/>
          <a:ln w="0">
            <a:noFill/>
          </a:ln>
        </p:spPr>
        <p:txBody>
          <a:bodyPr>
            <a:noAutofit/>
          </a:bodyPr>
          <a:lstStyle/>
          <a:p>
            <a:pPr marL="0" indent="0">
              <a:defRPr sz="2100" b="1">
                <a:solidFill>
                  <a:srgbClr val="0068A8"/>
                </a:solidFill>
                <a:latin typeface="Arial"/>
                <a:ea typeface="Arial"/>
                <a:cs typeface="Arial"/>
              </a:defRPr>
            </a:pPr>
            <a:r>
              <a:rPr sz="1800" b="1">
                <a:solidFill>
                  <a:srgbClr val="0068A8"/>
                </a:solidFill>
                <a:latin typeface="Arial"/>
                <a:ea typeface="Arial"/>
                <a:cs typeface="Arial"/>
              </a:rPr>
              <a:t>Explain: “2 : 1 and 4 : 2 are equivalent because both amounts were multiplied by ___.”</a:t>
            </a:r>
          </a:p>
        </p:txBody>
      </p:sp>
      <p:sp>
        <p:nvSpPr>
          <p:cNvPr id="12" name="Reference style 12"/>
          <p:cNvSpPr txBox="1"/>
          <p:nvPr/>
        </p:nvSpPr>
        <p:spPr>
          <a:xfrm>
            <a:off x="502920" y="54864"/>
            <a:ext cx="6035040" cy="237744"/>
          </a:xfrm>
          <a:prstGeom prst="rect">
            <a:avLst/>
          </a:prstGeom>
          <a:noFill/>
        </p:spPr>
        <p:txBody>
          <a:bodyPr wrap="square" lIns="0" tIns="0" r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  LABEL • READ EACH PAIR</a:t>
            </a:r>
          </a:p>
        </p:txBody>
      </p:sp>
      <p:sp>
        <p:nvSpPr>
          <p:cNvPr id="15"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13 / 38</a:t>
            </a:r>
          </a:p>
        </p:txBody>
      </p:sp>
      <p:sp xmlns:p="http://schemas.openxmlformats.org/presentationml/2006/main" xmlns:a="http://schemas.openxmlformats.org/drawingml/2006/main">
        <p:nvSpPr>
          <p:cNvPr id="16" name="TEACH-embedded-student-prompt" descr="Student thinking and response directions"/>
          <p:cNvSpPr txBox="1"/>
          <p:nvPr/>
        </p:nvSpPr>
        <p:spPr>
          <a:xfrm>
            <a:off x="6111240" y="4279392"/>
            <a:ext cx="548640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Explain how the table keeps the</a:t>
            </a:r>
            <a:endParaRPr lang="en-US" sz="2000"/>
          </a:p>
          <a:p>
            <a:pPr>
              <a:lnSpc>
                <a:spcPts val="2400"/>
              </a:lnSpc>
              <a:buNone/>
            </a:pPr>
            <a:r>
              <a:rPr lang="en-US" sz="2000">
                <a:solidFill>
                  <a:srgbClr val="174D60"/>
                </a:solidFill>
                <a:latin typeface="Arial"/>
              </a:rPr>
              <a:t>same relationship between the two</a:t>
            </a:r>
            <a:endParaRPr lang="en-US" sz="2000"/>
          </a:p>
          <a:p>
            <a:pPr>
              <a:lnSpc>
                <a:spcPts val="2400"/>
              </a:lnSpc>
              <a:buNone/>
            </a:pPr>
            <a:r>
              <a:rPr lang="en-US" sz="2000">
                <a:solidFill>
                  <a:srgbClr val="174D60"/>
                </a:solidFill>
                <a:latin typeface="Arial"/>
              </a:rPr>
              <a:t>quantities.</a:t>
            </a:r>
            <a:endParaRPr lang="en-US" sz="2000"/>
          </a:p>
        </p:txBody>
      </p:sp>
    </p:spTree>
    <p:extLst>
      <p:ext uri="{BB962C8B-B14F-4D97-AF65-F5344CB8AC3E}">
        <p14:creationId xmlns:p14="http://schemas.microsoft.com/office/powerpoint/2010/main" val="1765191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Reference style 14">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7" name="Rectangle 6">
            <a:extLst>
              <a:ext uri="{FF2B5EF4-FFF2-40B4-BE49-F238E27FC236}">
                <a16:creationId xmlns:a16="http://schemas.microsoft.com/office/drawing/2014/main" id="{0998E5AB-C4ED-4468-9609-F1B2CFDDCF0B}"/>
              </a:ext>
            </a:extLst>
          </p:cNvPr>
          <p:cNvSpPr>
            <a:spLocks noGrp="1"/>
          </p:cNvSpPr>
          <p:nvPr/>
        </p:nvSpPr>
        <p:spPr>
          <a:xfrm>
            <a:off x="523875" y="400050"/>
            <a:ext cx="6858000" cy="876300"/>
          </a:xfrm>
          <a:prstGeom prst="rect">
            <a:avLst/>
          </a:prstGeom>
          <a:noFill/>
          <a:ln w="0">
            <a:noFill/>
          </a:ln>
        </p:spPr>
        <p:txBody>
          <a:bodyPr>
            <a:noAutofit/>
          </a:bodyPr>
          <a:lstStyle/>
          <a:p>
            <a:pPr>
              <a:defRPr sz="2775" b="1">
                <a:solidFill>
                  <a:srgbClr val="782DA0"/>
                </a:solidFill>
                <a:latin typeface="Arial"/>
                <a:ea typeface="Arial"/>
                <a:cs typeface="Arial"/>
              </a:defRPr>
            </a:pPr>
            <a:r>
              <a:rPr sz="2800" b="1">
                <a:solidFill>
                  <a:srgbClr val="782DA0"/>
                </a:solidFill>
                <a:latin typeface="Arial"/>
                <a:ea typeface="Arial"/>
                <a:cs typeface="Arial"/>
              </a:rPr>
              <a:t>One </a:t>
            </a:r>
            <a:r>
              <a:rPr sz="2800" b="1">
                <a:solidFill>
                  <a:srgbClr val="782DA0"/>
                </a:solidFill>
                <a:highlight>
                  <a:srgbClr val="FFF2A8"/>
                </a:highlight>
                <a:latin typeface="Arial"/>
                <a:ea typeface="Arial"/>
                <a:cs typeface="Arial"/>
              </a:rPr>
              <a:t>scale factor</a:t>
            </a:r>
            <a:r>
              <a:rPr sz="2800" b="1">
                <a:solidFill>
                  <a:srgbClr val="782DA0"/>
                </a:solidFill>
                <a:latin typeface="Arial"/>
                <a:ea typeface="Arial"/>
                <a:cs typeface="Arial"/>
              </a:rPr>
              <a:t> for both quantities</a:t>
            </a:r>
          </a:p>
        </p:txBody>
      </p:sp>
      <p:sp>
        <p:nvSpPr>
          <p:cNvPr id="2" name="Rectangle 1">
            <a:extLst>
              <a:ext uri="{FF2B5EF4-FFF2-40B4-BE49-F238E27FC236}">
                <a16:creationId xmlns:a16="http://schemas.microsoft.com/office/drawing/2014/main" id="{2932D705-1042-44FF-B513-00B5FC1AAE7F}"/>
              </a:ext>
            </a:extLst>
          </p:cNvPr>
          <p:cNvSpPr>
            <a:spLocks noGrp="1"/>
          </p:cNvSpPr>
          <p:nvPr/>
        </p:nvSpPr>
        <p:spPr>
          <a:xfrm>
            <a:off x="552450" y="161925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A </a:t>
            </a:r>
            <a:r>
              <a:rPr sz="2250" b="1">
                <a:solidFill>
                  <a:srgbClr val="23282D"/>
                </a:solidFill>
                <a:highlight>
                  <a:srgbClr val="FFF2A8"/>
                </a:highlight>
                <a:latin typeface="Arial"/>
                <a:ea typeface="Arial"/>
                <a:cs typeface="Arial"/>
              </a:rPr>
              <a:t>scale factor</a:t>
            </a:r>
            <a:r>
              <a:rPr sz="2250" b="0">
                <a:solidFill>
                  <a:srgbClr val="23282D"/>
                </a:solidFill>
                <a:latin typeface="Arial"/>
                <a:ea typeface="Arial"/>
                <a:cs typeface="Arial"/>
              </a:rPr>
              <a:t> tells how many times as much.</a:t>
            </a:r>
          </a:p>
        </p:txBody>
      </p:sp>
      <p:sp>
        <p:nvSpPr>
          <p:cNvPr id="3" name="Rectangle 2">
            <a:extLst>
              <a:ext uri="{FF2B5EF4-FFF2-40B4-BE49-F238E27FC236}">
                <a16:creationId xmlns:a16="http://schemas.microsoft.com/office/drawing/2014/main" id="{7A074CA5-E6BF-4852-BDF8-F99113759C34}"/>
              </a:ext>
            </a:extLst>
          </p:cNvPr>
          <p:cNvSpPr>
            <a:spLocks noGrp="1"/>
          </p:cNvSpPr>
          <p:nvPr/>
        </p:nvSpPr>
        <p:spPr>
          <a:xfrm>
            <a:off x="552450" y="281940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dirty="0">
                <a:solidFill>
                  <a:srgbClr val="23282D"/>
                </a:solidFill>
                <a:latin typeface="Arial"/>
                <a:ea typeface="Arial"/>
                <a:cs typeface="Arial"/>
              </a:rPr>
              <a:t>For 3 batches, multiply both amounts by 3: 2 × 3 = 6 and 1 × 3 = 3.</a:t>
            </a:r>
          </a:p>
        </p:txBody>
      </p:sp>
      <p:sp>
        <p:nvSpPr>
          <p:cNvPr id="4" name="Rectangle 3">
            <a:extLst>
              <a:ext uri="{FF2B5EF4-FFF2-40B4-BE49-F238E27FC236}">
                <a16:creationId xmlns:a16="http://schemas.microsoft.com/office/drawing/2014/main" id="{B028B7FC-58BB-4BE6-8B0E-256D92C9E993}"/>
              </a:ext>
            </a:extLst>
          </p:cNvPr>
          <p:cNvSpPr>
            <a:spLocks noGrp="1"/>
          </p:cNvSpPr>
          <p:nvPr/>
        </p:nvSpPr>
        <p:spPr>
          <a:xfrm>
            <a:off x="552450" y="401955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dirty="0">
                <a:solidFill>
                  <a:srgbClr val="23282D"/>
                </a:solidFill>
                <a:latin typeface="Arial"/>
                <a:ea typeface="Arial"/>
                <a:cs typeface="Arial"/>
              </a:rPr>
              <a:t>For 4 batches, multiply both amounts by 4.</a:t>
            </a:r>
          </a:p>
        </p:txBody>
      </p:sp>
      <p:graphicFrame>
        <p:nvGraphicFramePr>
          <p:cNvPr id="11" name="Table 10"/>
          <p:cNvGraphicFramePr/>
          <p:nvPr>
            <p:extLst>
              <p:ext uri="{D42A27DB-BD31-4B8C-83A1-F6EECF244321}">
                <p14:modId xmlns:p14="http://schemas.microsoft.com/office/powerpoint/2010/main" val="798359987"/>
              </p:ext>
            </p:extLst>
          </p:nvPr>
        </p:nvGraphicFramePr>
        <p:xfrm>
          <a:off x="6210300" y="1809750"/>
          <a:ext cx="5410200" cy="3143250"/>
        </p:xfrm>
        <a:graphic>
          <a:graphicData uri="http://schemas.openxmlformats.org/drawingml/2006/table">
            <a:tbl>
              <a:tblPr/>
              <a:tblGrid>
                <a:gridCol w="1803400">
                  <a:extLst>
                    <a:ext uri="{9D8B030D-6E8A-4147-A177-3AD203B41FA5}">
                      <a16:colId xmlns:a16="http://schemas.microsoft.com/office/drawing/2014/main" val="20000"/>
                    </a:ext>
                  </a:extLst>
                </a:gridCol>
                <a:gridCol w="1803400">
                  <a:extLst>
                    <a:ext uri="{9D8B030D-6E8A-4147-A177-3AD203B41FA5}">
                      <a16:colId xmlns:a16="http://schemas.microsoft.com/office/drawing/2014/main" val="20001"/>
                    </a:ext>
                  </a:extLst>
                </a:gridCol>
                <a:gridCol w="1803400">
                  <a:extLst>
                    <a:ext uri="{9D8B030D-6E8A-4147-A177-3AD203B41FA5}">
                      <a16:colId xmlns:a16="http://schemas.microsoft.com/office/drawing/2014/main" val="20002"/>
                    </a:ext>
                  </a:extLst>
                </a:gridCol>
              </a:tblGrid>
              <a:tr h="628650">
                <a:tc>
                  <a:txBody>
                    <a:bodyPr/>
                    <a:lstStyle/>
                    <a:p>
                      <a:r>
                        <a:rPr sz="1650" b="1">
                          <a:solidFill>
                            <a:srgbClr val="FFFFFF"/>
                          </a:solidFill>
                          <a:latin typeface="Arial"/>
                          <a:ea typeface="Arial"/>
                          <a:cs typeface="Arial"/>
                        </a:rPr>
                        <a:t>Batches</a:t>
                      </a:r>
                    </a:p>
                  </a:txBody>
                  <a:tcPr>
                    <a:solidFill>
                      <a:srgbClr val="0070C0"/>
                    </a:solidFill>
                  </a:tcPr>
                </a:tc>
                <a:tc>
                  <a:txBody>
                    <a:bodyPr/>
                    <a:lstStyle/>
                    <a:p>
                      <a:r>
                        <a:rPr sz="1650" b="1">
                          <a:solidFill>
                            <a:srgbClr val="FFFFFF"/>
                          </a:solidFill>
                          <a:latin typeface="Arial"/>
                          <a:ea typeface="Arial"/>
                          <a:cs typeface="Arial"/>
                        </a:rPr>
                        <a:t>Baking soda</a:t>
                      </a:r>
                    </a:p>
                  </a:txBody>
                  <a:tcPr>
                    <a:solidFill>
                      <a:srgbClr val="0070C0"/>
                    </a:solidFill>
                  </a:tcPr>
                </a:tc>
                <a:tc>
                  <a:txBody>
                    <a:bodyPr/>
                    <a:lstStyle/>
                    <a:p>
                      <a:r>
                        <a:rPr sz="1650" b="1">
                          <a:solidFill>
                            <a:srgbClr val="FFFFFF"/>
                          </a:solidFill>
                          <a:latin typeface="Arial"/>
                          <a:ea typeface="Arial"/>
                          <a:cs typeface="Arial"/>
                        </a:rPr>
                        <a:t>Cornstarch</a:t>
                      </a:r>
                    </a:p>
                  </a:txBody>
                  <a:tcPr>
                    <a:solidFill>
                      <a:srgbClr val="0070C0"/>
                    </a:solidFill>
                  </a:tcPr>
                </a:tc>
                <a:extLst>
                  <a:ext uri="{0D108BD9-81ED-4DB2-BD59-A6C34878D82A}">
                    <a16:rowId xmlns:a16="http://schemas.microsoft.com/office/drawing/2014/main" val="10000"/>
                  </a:ext>
                </a:extLst>
              </a:tr>
              <a:tr h="628650">
                <a:tc>
                  <a:txBody>
                    <a:bodyPr/>
                    <a:lstStyle/>
                    <a:p>
                      <a:r>
                        <a:rPr sz="1650" b="0">
                          <a:solidFill>
                            <a:srgbClr val="23282D"/>
                          </a:solidFill>
                          <a:latin typeface="Arial"/>
                          <a:ea typeface="Arial"/>
                          <a:cs typeface="Arial"/>
                        </a:rPr>
                        <a:t>1</a:t>
                      </a:r>
                    </a:p>
                  </a:txBody>
                  <a:tcPr>
                    <a:solidFill>
                      <a:srgbClr val="FFFFFF"/>
                    </a:solidFill>
                  </a:tcPr>
                </a:tc>
                <a:tc>
                  <a:txBody>
                    <a:bodyPr/>
                    <a:lstStyle/>
                    <a:p>
                      <a:r>
                        <a:rPr sz="1650" b="0">
                          <a:solidFill>
                            <a:srgbClr val="23282D"/>
                          </a:solidFill>
                          <a:latin typeface="Arial"/>
                          <a:ea typeface="Arial"/>
                          <a:cs typeface="Arial"/>
                        </a:rPr>
                        <a:t>2 cups</a:t>
                      </a:r>
                    </a:p>
                  </a:txBody>
                  <a:tcPr>
                    <a:solidFill>
                      <a:srgbClr val="FFFFFF"/>
                    </a:solidFill>
                  </a:tcPr>
                </a:tc>
                <a:tc>
                  <a:txBody>
                    <a:bodyPr/>
                    <a:lstStyle/>
                    <a:p>
                      <a:r>
                        <a:rPr sz="1650" b="0">
                          <a:solidFill>
                            <a:srgbClr val="23282D"/>
                          </a:solidFill>
                          <a:latin typeface="Arial"/>
                          <a:ea typeface="Arial"/>
                          <a:cs typeface="Arial"/>
                        </a:rPr>
                        <a:t>1 cup</a:t>
                      </a:r>
                    </a:p>
                  </a:txBody>
                  <a:tcPr>
                    <a:solidFill>
                      <a:srgbClr val="FFFFFF"/>
                    </a:solidFill>
                  </a:tcPr>
                </a:tc>
                <a:extLst>
                  <a:ext uri="{0D108BD9-81ED-4DB2-BD59-A6C34878D82A}">
                    <a16:rowId xmlns:a16="http://schemas.microsoft.com/office/drawing/2014/main" val="10001"/>
                  </a:ext>
                </a:extLst>
              </a:tr>
              <a:tr h="628650">
                <a:tc>
                  <a:txBody>
                    <a:bodyPr/>
                    <a:lstStyle/>
                    <a:p>
                      <a:r>
                        <a:rPr sz="1650" b="0">
                          <a:solidFill>
                            <a:srgbClr val="23282D"/>
                          </a:solidFill>
                          <a:latin typeface="Arial"/>
                          <a:ea typeface="Arial"/>
                          <a:cs typeface="Arial"/>
                        </a:rPr>
                        <a:t>2</a:t>
                      </a:r>
                    </a:p>
                  </a:txBody>
                  <a:tcPr>
                    <a:solidFill>
                      <a:srgbClr val="FFFFFF"/>
                    </a:solidFill>
                  </a:tcPr>
                </a:tc>
                <a:tc>
                  <a:txBody>
                    <a:bodyPr/>
                    <a:lstStyle/>
                    <a:p>
                      <a:r>
                        <a:rPr sz="1650" b="0">
                          <a:solidFill>
                            <a:srgbClr val="23282D"/>
                          </a:solidFill>
                          <a:latin typeface="Arial"/>
                          <a:ea typeface="Arial"/>
                          <a:cs typeface="Arial"/>
                        </a:rPr>
                        <a:t>4 cups</a:t>
                      </a:r>
                    </a:p>
                  </a:txBody>
                  <a:tcPr>
                    <a:solidFill>
                      <a:srgbClr val="FFFFFF"/>
                    </a:solidFill>
                  </a:tcPr>
                </a:tc>
                <a:tc>
                  <a:txBody>
                    <a:bodyPr/>
                    <a:lstStyle/>
                    <a:p>
                      <a:r>
                        <a:rPr sz="1650" b="0">
                          <a:solidFill>
                            <a:srgbClr val="23282D"/>
                          </a:solidFill>
                          <a:latin typeface="Arial"/>
                          <a:ea typeface="Arial"/>
                          <a:cs typeface="Arial"/>
                        </a:rPr>
                        <a:t>2 cups</a:t>
                      </a:r>
                    </a:p>
                  </a:txBody>
                  <a:tcPr>
                    <a:solidFill>
                      <a:srgbClr val="FFFFFF"/>
                    </a:solidFill>
                  </a:tcPr>
                </a:tc>
                <a:extLst>
                  <a:ext uri="{0D108BD9-81ED-4DB2-BD59-A6C34878D82A}">
                    <a16:rowId xmlns:a16="http://schemas.microsoft.com/office/drawing/2014/main" val="10002"/>
                  </a:ext>
                </a:extLst>
              </a:tr>
              <a:tr h="628650">
                <a:tc>
                  <a:txBody>
                    <a:bodyPr/>
                    <a:lstStyle/>
                    <a:p>
                      <a:r>
                        <a:rPr sz="1650" b="0">
                          <a:solidFill>
                            <a:srgbClr val="23282D"/>
                          </a:solidFill>
                          <a:latin typeface="Arial"/>
                          <a:ea typeface="Arial"/>
                          <a:cs typeface="Arial"/>
                        </a:rPr>
                        <a:t>3</a:t>
                      </a:r>
                    </a:p>
                  </a:txBody>
                  <a:tcPr>
                    <a:solidFill>
                      <a:srgbClr val="FFFFFF"/>
                    </a:solidFill>
                  </a:tcPr>
                </a:tc>
                <a:tc>
                  <a:txBody>
                    <a:bodyPr/>
                    <a:lstStyle/>
                    <a:p>
                      <a:r>
                        <a:rPr sz="1650" b="0">
                          <a:solidFill>
                            <a:srgbClr val="23282D"/>
                          </a:solidFill>
                          <a:latin typeface="Arial"/>
                          <a:ea typeface="Arial"/>
                          <a:cs typeface="Arial"/>
                        </a:rPr>
                        <a:t>6 cups</a:t>
                      </a:r>
                    </a:p>
                  </a:txBody>
                  <a:tcPr>
                    <a:solidFill>
                      <a:srgbClr val="FFFFFF"/>
                    </a:solidFill>
                  </a:tcPr>
                </a:tc>
                <a:tc>
                  <a:txBody>
                    <a:bodyPr/>
                    <a:lstStyle/>
                    <a:p>
                      <a:r>
                        <a:rPr sz="1650" b="0">
                          <a:solidFill>
                            <a:srgbClr val="23282D"/>
                          </a:solidFill>
                          <a:latin typeface="Arial"/>
                          <a:ea typeface="Arial"/>
                          <a:cs typeface="Arial"/>
                        </a:rPr>
                        <a:t>3 cups</a:t>
                      </a:r>
                    </a:p>
                  </a:txBody>
                  <a:tcPr>
                    <a:solidFill>
                      <a:srgbClr val="FFFFFF"/>
                    </a:solidFill>
                  </a:tcPr>
                </a:tc>
                <a:extLst>
                  <a:ext uri="{0D108BD9-81ED-4DB2-BD59-A6C34878D82A}">
                    <a16:rowId xmlns:a16="http://schemas.microsoft.com/office/drawing/2014/main" val="10003"/>
                  </a:ext>
                </a:extLst>
              </a:tr>
              <a:tr h="628650">
                <a:tc>
                  <a:txBody>
                    <a:bodyPr/>
                    <a:lstStyle/>
                    <a:p>
                      <a:r>
                        <a:rPr sz="1650" b="0">
                          <a:solidFill>
                            <a:srgbClr val="23282D"/>
                          </a:solidFill>
                          <a:latin typeface="Arial"/>
                          <a:ea typeface="Arial"/>
                          <a:cs typeface="Arial"/>
                        </a:rPr>
                        <a:t>4</a:t>
                      </a:r>
                    </a:p>
                  </a:txBody>
                  <a:tcPr>
                    <a:solidFill>
                      <a:srgbClr val="FFFFFF"/>
                    </a:solidFill>
                  </a:tcPr>
                </a:tc>
                <a:tc>
                  <a:txBody>
                    <a:bodyPr/>
                    <a:lstStyle/>
                    <a:p>
                      <a:endParaRPr sz="1650" b="0" dirty="0">
                        <a:solidFill>
                          <a:srgbClr val="23282D"/>
                        </a:solidFill>
                        <a:latin typeface="Arial"/>
                        <a:ea typeface="Arial"/>
                        <a:cs typeface="Arial"/>
                      </a:endParaRPr>
                    </a:p>
                  </a:txBody>
                  <a:tcPr>
                    <a:solidFill>
                      <a:srgbClr val="FFFFFF"/>
                    </a:solidFill>
                  </a:tcPr>
                </a:tc>
                <a:tc>
                  <a:txBody>
                    <a:bodyPr/>
                    <a:lstStyle/>
                    <a:p>
                      <a:endParaRPr sz="1650" b="0" dirty="0">
                        <a:solidFill>
                          <a:srgbClr val="23282D"/>
                        </a:solidFill>
                        <a:latin typeface="Arial"/>
                        <a:ea typeface="Arial"/>
                        <a:cs typeface="Arial"/>
                      </a:endParaRPr>
                    </a:p>
                  </a:txBody>
                  <a:tcPr>
                    <a:solidFill>
                      <a:srgbClr val="FFFFFF"/>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8CF0E1FE-C62C-4EC6-8C79-4CC03B6BE49D}"/>
              </a:ext>
            </a:extLst>
          </p:cNvPr>
          <p:cNvSpPr>
            <a:spLocks noGrp="1"/>
          </p:cNvSpPr>
          <p:nvPr/>
        </p:nvSpPr>
        <p:spPr>
          <a:xfrm>
            <a:off x="552450" y="5553075"/>
            <a:ext cx="10858500" cy="742950"/>
          </a:xfrm>
          <a:prstGeom prst="rect">
            <a:avLst/>
          </a:prstGeom>
          <a:noFill/>
          <a:ln w="0">
            <a:noFill/>
          </a:ln>
        </p:spPr>
        <p:txBody>
          <a:bodyPr>
            <a:noAutofit/>
          </a:bodyPr>
          <a:lstStyle/>
          <a:p>
            <a:pPr marL="0" indent="0">
              <a:defRPr sz="2100" b="1">
                <a:solidFill>
                  <a:srgbClr val="0068A8"/>
                </a:solidFill>
                <a:latin typeface="Arial"/>
                <a:ea typeface="Arial"/>
                <a:cs typeface="Arial"/>
              </a:defRPr>
            </a:pPr>
            <a:r>
              <a:rPr sz="1800" b="1">
                <a:solidFill>
                  <a:srgbClr val="0068A8"/>
                </a:solidFill>
                <a:latin typeface="Arial"/>
                <a:ea typeface="Arial"/>
                <a:cs typeface="Arial"/>
              </a:rPr>
              <a:t>Explain: “For 3 batches, both quantities are ×3, so the ratio stays 2 : 1.”</a:t>
            </a:r>
          </a:p>
        </p:txBody>
      </p:sp>
      <p:sp>
        <p:nvSpPr>
          <p:cNvPr id="12" name="Reference style 12"/>
          <p:cNvSpPr txBox="1"/>
          <p:nvPr/>
        </p:nvSpPr>
        <p:spPr>
          <a:xfrm>
            <a:off x="502920" y="54864"/>
            <a:ext cx="6035040" cy="237744"/>
          </a:xfrm>
          <a:prstGeom prst="rect">
            <a:avLst/>
          </a:prstGeom>
          <a:noFill/>
        </p:spPr>
        <p:txBody>
          <a:bodyPr wrap="square" lIns="0" tIns="0" rIns="0" bIns="0" anchor="ctr">
            <a:noAutofit/>
          </a:bodyPr>
          <a:lstStyle/>
          <a:p>
            <a:pPr algn="l">
              <a:defRPr/>
            </a:pPr>
            <a:r>
              <a:rPr lang="en-US" sz="1200" b="1" dirty="0">
                <a:solidFill>
                  <a:srgbClr val="1E2682"/>
                </a:solidFill>
                <a:latin typeface="Arial"/>
              </a:rPr>
              <a:t>STUDENT MOVE</a:t>
            </a:r>
            <a:r>
              <a:rPr lang="en-US" sz="1200" b="1" dirty="0">
                <a:solidFill>
                  <a:srgbClr val="5D6872"/>
                </a:solidFill>
                <a:latin typeface="Arial"/>
              </a:rPr>
              <a:t>  ·  SCALE BOTH • EXPLAIN WHY</a:t>
            </a:r>
          </a:p>
        </p:txBody>
      </p:sp>
      <p:sp>
        <p:nvSpPr>
          <p:cNvPr id="15"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14 / 38</a:t>
            </a:r>
          </a:p>
        </p:txBody>
      </p:sp>
      <p:grpSp>
        <p:nvGrpSpPr>
          <p:cNvPr id="16" name="TEACH-6-student-move" descr="TEACH 6 · Organize and implement routines to support a learning-focused classroom"/>
          <p:cNvGrpSpPr/>
          <p:nvPr/>
        </p:nvGrpSpPr>
        <p:grpSpPr>
          <a:xfrm>
            <a:off x="502920" y="5114163"/>
            <a:ext cx="11186160" cy="402336"/>
            <a:chOff x="502920" y="5114163"/>
            <a:chExt cx="11186160" cy="402336"/>
          </a:xfrm>
        </p:grpSpPr>
        <p:sp>
          <p:nvSpPr>
            <p:cNvPr id="17" name="TEACH-move-card"/>
            <p:cNvSpPr/>
            <p:nvPr/>
          </p:nvSpPr>
          <p:spPr>
            <a:xfrm>
              <a:off x="502920" y="511416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190607"/>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11416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extLst>
      <p:ext uri="{BB962C8B-B14F-4D97-AF65-F5344CB8AC3E}">
        <p14:creationId xmlns:p14="http://schemas.microsoft.com/office/powerpoint/2010/main" val="19950043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Reference style 9">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6" name="Rectangle 5">
            <a:extLst>
              <a:ext uri="{FF2B5EF4-FFF2-40B4-BE49-F238E27FC236}">
                <a16:creationId xmlns:a16="http://schemas.microsoft.com/office/drawing/2014/main" id="{1EEC6C1F-D2B3-4165-9A82-A32E5AA8A5BA}"/>
              </a:ext>
            </a:extLst>
          </p:cNvPr>
          <p:cNvSpPr>
            <a:spLocks noGrp="1"/>
          </p:cNvSpPr>
          <p:nvPr/>
        </p:nvSpPr>
        <p:spPr>
          <a:xfrm>
            <a:off x="523875" y="400050"/>
            <a:ext cx="6858000" cy="876300"/>
          </a:xfrm>
          <a:prstGeom prst="rect">
            <a:avLst/>
          </a:prstGeom>
          <a:noFill/>
          <a:ln w="0">
            <a:noFill/>
          </a:ln>
        </p:spPr>
        <p:txBody>
          <a:bodyPr>
            <a:noAutofit/>
          </a:bodyPr>
          <a:lstStyle/>
          <a:p>
            <a:pPr>
              <a:defRPr sz="2775" b="1">
                <a:solidFill>
                  <a:srgbClr val="782DA0"/>
                </a:solidFill>
                <a:latin typeface="Arial"/>
                <a:ea typeface="Arial"/>
                <a:cs typeface="Arial"/>
              </a:defRPr>
            </a:pPr>
            <a:r>
              <a:rPr sz="2800" b="1">
                <a:solidFill>
                  <a:srgbClr val="782DA0"/>
                </a:solidFill>
                <a:latin typeface="Arial"/>
                <a:ea typeface="Arial"/>
                <a:cs typeface="Arial"/>
              </a:rPr>
              <a:t>Practice: the same clay recipe</a:t>
            </a:r>
          </a:p>
        </p:txBody>
      </p:sp>
      <p:sp>
        <p:nvSpPr>
          <p:cNvPr id="2" name="Rectangle 1">
            <a:extLst>
              <a:ext uri="{FF2B5EF4-FFF2-40B4-BE49-F238E27FC236}">
                <a16:creationId xmlns:a16="http://schemas.microsoft.com/office/drawing/2014/main" id="{4F80283D-5035-4FC7-8EF4-B3A76800D5AF}"/>
              </a:ext>
            </a:extLst>
          </p:cNvPr>
          <p:cNvSpPr>
            <a:spLocks noGrp="1"/>
          </p:cNvSpPr>
          <p:nvPr/>
        </p:nvSpPr>
        <p:spPr>
          <a:xfrm>
            <a:off x="552450" y="1619250"/>
            <a:ext cx="10763250" cy="10287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One batch uses 2 cups of baking soda and 1 cup of cornstarch.</a:t>
            </a:r>
          </a:p>
        </p:txBody>
      </p:sp>
      <p:sp>
        <p:nvSpPr>
          <p:cNvPr id="3" name="Rectangle 2">
            <a:extLst>
              <a:ext uri="{FF2B5EF4-FFF2-40B4-BE49-F238E27FC236}">
                <a16:creationId xmlns:a16="http://schemas.microsoft.com/office/drawing/2014/main" id="{39035707-276F-4265-BF00-EFA062D28E5C}"/>
              </a:ext>
            </a:extLst>
          </p:cNvPr>
          <p:cNvSpPr>
            <a:spLocks noGrp="1"/>
          </p:cNvSpPr>
          <p:nvPr/>
        </p:nvSpPr>
        <p:spPr>
          <a:xfrm>
            <a:off x="552450" y="2781300"/>
            <a:ext cx="10763250" cy="1028700"/>
          </a:xfrm>
          <a:prstGeom prst="rect">
            <a:avLst/>
          </a:prstGeom>
          <a:noFill/>
          <a:ln w="0">
            <a:noFill/>
          </a:ln>
        </p:spPr>
        <p:txBody>
          <a:bodyPr>
            <a:noAutofit/>
          </a:bodyPr>
          <a:lstStyle/>
          <a:p>
            <a:pPr>
              <a:defRPr sz="2250" b="0">
                <a:solidFill>
                  <a:srgbClr val="23282D"/>
                </a:solidFill>
                <a:latin typeface="Arial"/>
                <a:ea typeface="Arial"/>
                <a:cs typeface="Arial"/>
              </a:defRPr>
            </a:pPr>
            <a:r>
              <a:rPr sz="2250" b="0" dirty="0">
                <a:solidFill>
                  <a:srgbClr val="23282D"/>
                </a:solidFill>
                <a:latin typeface="Arial"/>
                <a:ea typeface="Arial"/>
                <a:cs typeface="Arial"/>
              </a:rPr>
              <a:t>1. Find both amounts for 8 batches. Show the </a:t>
            </a:r>
            <a:r>
              <a:rPr sz="2250" b="1" dirty="0">
                <a:solidFill>
                  <a:srgbClr val="23282D"/>
                </a:solidFill>
                <a:highlight>
                  <a:srgbClr val="FFF2A8"/>
                </a:highlight>
                <a:latin typeface="Arial"/>
                <a:ea typeface="Arial"/>
                <a:cs typeface="Arial"/>
              </a:rPr>
              <a:t>scale factor</a:t>
            </a:r>
            <a:r>
              <a:rPr sz="2250" b="0" dirty="0">
                <a:solidFill>
                  <a:srgbClr val="23282D"/>
                </a:solidFill>
                <a:latin typeface="Arial"/>
                <a:ea typeface="Arial"/>
                <a:cs typeface="Arial"/>
              </a:rPr>
              <a:t>.</a:t>
            </a:r>
          </a:p>
        </p:txBody>
      </p:sp>
      <p:sp>
        <p:nvSpPr>
          <p:cNvPr id="4" name="Rectangle 3">
            <a:extLst>
              <a:ext uri="{FF2B5EF4-FFF2-40B4-BE49-F238E27FC236}">
                <a16:creationId xmlns:a16="http://schemas.microsoft.com/office/drawing/2014/main" id="{2D52177C-18E0-463F-89C2-76A3BF470580}"/>
              </a:ext>
            </a:extLst>
          </p:cNvPr>
          <p:cNvSpPr>
            <a:spLocks noGrp="1"/>
          </p:cNvSpPr>
          <p:nvPr/>
        </p:nvSpPr>
        <p:spPr>
          <a:xfrm>
            <a:off x="552450" y="3943350"/>
            <a:ext cx="10763250" cy="10287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2. Explain what might happen if only the baking soda amount doubles.</a:t>
            </a:r>
          </a:p>
        </p:txBody>
      </p:sp>
      <p:sp>
        <p:nvSpPr>
          <p:cNvPr id="5" name="Rectangle 4">
            <a:extLst>
              <a:ext uri="{FF2B5EF4-FFF2-40B4-BE49-F238E27FC236}">
                <a16:creationId xmlns:a16="http://schemas.microsoft.com/office/drawing/2014/main" id="{EB904490-7454-4555-AD81-7ABE88B00264}"/>
              </a:ext>
            </a:extLst>
          </p:cNvPr>
          <p:cNvSpPr>
            <a:spLocks noGrp="1"/>
          </p:cNvSpPr>
          <p:nvPr/>
        </p:nvSpPr>
        <p:spPr>
          <a:xfrm>
            <a:off x="552450" y="5553075"/>
            <a:ext cx="10858500" cy="742950"/>
          </a:xfrm>
          <a:prstGeom prst="rect">
            <a:avLst/>
          </a:prstGeom>
          <a:noFill/>
          <a:ln w="0">
            <a:noFill/>
          </a:ln>
        </p:spPr>
        <p:txBody>
          <a:bodyPr>
            <a:noAutofit/>
          </a:bodyPr>
          <a:lstStyle/>
          <a:p>
            <a:pPr marL="0" indent="0">
              <a:defRPr sz="2100" b="1">
                <a:solidFill>
                  <a:srgbClr val="0068A8"/>
                </a:solidFill>
                <a:latin typeface="Arial"/>
                <a:ea typeface="Arial"/>
                <a:cs typeface="Arial"/>
              </a:defRPr>
            </a:pPr>
            <a:r>
              <a:rPr sz="1800" b="1">
                <a:solidFill>
                  <a:srgbClr val="0068A8"/>
                </a:solidFill>
                <a:latin typeface="Arial"/>
                <a:ea typeface="Arial"/>
                <a:cs typeface="Arial"/>
              </a:rPr>
              <a:t>Explain: “Changing only one ingredient would change ___ because ___.”</a:t>
            </a:r>
          </a:p>
        </p:txBody>
      </p:sp>
      <p:sp>
        <p:nvSpPr>
          <p:cNvPr id="7" name="Reference style 7"/>
          <p:cNvSpPr txBox="1"/>
          <p:nvPr/>
        </p:nvSpPr>
        <p:spPr>
          <a:xfrm>
            <a:off x="502920" y="54864"/>
            <a:ext cx="6035040" cy="237744"/>
          </a:xfrm>
          <a:prstGeom prst="rect">
            <a:avLst/>
          </a:prstGeom>
          <a:noFill/>
        </p:spPr>
        <p:txBody>
          <a:bodyPr wrap="square" lIns="0" tIns="0" r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  SOLVE • COMPARE • REVISE</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Student-led talk: paraphrase, agree or disagree, add on.</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15 / 38</a:t>
            </a:r>
          </a:p>
        </p:txBody>
      </p:sp>
    </p:spTree>
    <p:extLst>
      <p:ext uri="{BB962C8B-B14F-4D97-AF65-F5344CB8AC3E}">
        <p14:creationId xmlns:p14="http://schemas.microsoft.com/office/powerpoint/2010/main" val="246633506"/>
      </p:ext>
    </p:extLst>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3.3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What multiplicative relationship stays unchanged from one row to another?</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21" name="Google Shape;621;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22" name="Google Shape;622;p62"/>
          <p:cNvSpPr txBox="1"/>
          <p:nvPr/>
        </p:nvSpPr>
        <p:spPr>
          <a:xfrm>
            <a:off x="484564" y="445888"/>
            <a:ext cx="6718493" cy="10131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We can show the relationship between the quantities of clay using a table.</a:t>
            </a:r>
            <a:endParaRPr b="0" i="0" sz="1400" u="none" cap="none" strike="noStrike">
              <a:solidFill>
                <a:srgbClr val="000000"/>
              </a:solidFill>
              <a:latin typeface="Arial"/>
              <a:ea typeface="Arial"/>
              <a:cs typeface="Arial"/>
              <a:sym typeface="Arial"/>
            </a:endParaRPr>
          </a:p>
        </p:txBody>
      </p:sp>
      <p:sp>
        <p:nvSpPr>
          <p:cNvPr id="623" name="Google Shape;623;p62"/>
          <p:cNvSpPr/>
          <p:nvPr/>
        </p:nvSpPr>
        <p:spPr>
          <a:xfrm>
            <a:off x="484564" y="3340855"/>
            <a:ext cx="732300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does the table show the relationship between the quantity of baking soda and cornstarch?</a:t>
            </a:r>
            <a:endParaRPr b="1" i="0" sz="2800" u="none" cap="none" strike="noStrike">
              <a:solidFill>
                <a:schemeClr val="dk1"/>
              </a:solidFill>
              <a:latin typeface="Arial"/>
              <a:ea typeface="Arial"/>
              <a:cs typeface="Arial"/>
              <a:sym typeface="Arial"/>
            </a:endParaRPr>
          </a:p>
        </p:txBody>
      </p:sp>
      <p:pic>
        <p:nvPicPr>
          <p:cNvPr id="624" name="Google Shape;624;p62"/>
          <p:cNvPicPr preferRelativeResize="0"/>
          <p:nvPr/>
        </p:nvPicPr>
        <p:blipFill rotWithShape="1">
          <a:blip r:embed="rId2">
            <a:alphaModFix/>
          </a:blip>
          <a:srcRect b="0" l="0" r="0" t="0"/>
          <a:stretch/>
        </p:blipFill>
        <p:spPr>
          <a:xfrm>
            <a:off x="8024462" y="1614486"/>
            <a:ext cx="3682973" cy="2880000"/>
          </a:xfrm>
          <a:prstGeom prst="rect">
            <a:avLst/>
          </a:prstGeom>
          <a:noFill/>
          <a:ln>
            <a:noFill/>
          </a:ln>
        </p:spPr>
      </p:pic>
      <p:pic>
        <p:nvPicPr>
          <p:cNvPr descr="C:\Users\e402540\Downloads\sn_47fe6-1080mp4\OPS\img\.assets\65c38eda685d4f1899b4cc49cf358e75\narm24_c10303_eps_001a-c.png" id="625" name="Google Shape;625;p62"/>
          <p:cNvPicPr preferRelativeResize="0"/>
          <p:nvPr/>
        </p:nvPicPr>
        <p:blipFill rotWithShape="1">
          <a:blip r:embed="rId3">
            <a:alphaModFix/>
          </a:blip>
          <a:srcRect b="0" l="0" r="0" t="0"/>
          <a:stretch/>
        </p:blipFill>
        <p:spPr>
          <a:xfrm>
            <a:off x="1762123" y="2168582"/>
            <a:ext cx="4911385" cy="1152000"/>
          </a:xfrm>
          <a:prstGeom prst="rect">
            <a:avLst/>
          </a:prstGeom>
          <a:noFill/>
          <a:ln>
            <a:noFill/>
          </a:ln>
        </p:spPr>
      </p:pic>
      <p:sp>
        <p:nvSpPr>
          <p:cNvPr id="626" name="Google Shape;626;p62"/>
          <p:cNvSpPr txBox="1"/>
          <p:nvPr/>
        </p:nvSpPr>
        <p:spPr>
          <a:xfrm>
            <a:off x="484565" y="4845929"/>
            <a:ext cx="8686067"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table shows that for one batch of clay, there are 2 cups of baking soda for every 1 cup of cornstarch.</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17 / 38</a:t>
            </a:r>
          </a:p>
        </p:txBody>
      </p:sp>
      <p:grpSp>
        <p:nvGrpSpPr>
          <p:cNvPr id="9003" name="TEACH-7-student-move" descr="TEACH 7 · Cultivate a supportive learning community"/>
          <p:cNvGrpSpPr/>
          <p:nvPr/>
        </p:nvGrpSpPr>
        <p:grpSpPr>
          <a:xfrm>
            <a:off x="502920" y="1729670"/>
            <a:ext cx="5501640" cy="402336"/>
            <a:chOff x="502920" y="1729670"/>
            <a:chExt cx="5501640" cy="402336"/>
          </a:xfrm>
        </p:grpSpPr>
        <p:sp>
          <p:nvSpPr>
            <p:cNvPr id="9004" name="TEACH-move-card"/>
            <p:cNvSpPr/>
            <p:nvPr/>
          </p:nvSpPr>
          <p:spPr>
            <a:xfrm>
              <a:off x="502920" y="1729670"/>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1806114"/>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1729670"/>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96" name="Google Shape;696;p7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97" name="Google Shape;697;p70"/>
          <p:cNvSpPr/>
          <p:nvPr/>
        </p:nvSpPr>
        <p:spPr>
          <a:xfrm>
            <a:off x="459174" y="3895308"/>
            <a:ext cx="8588111"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How can you find the quantity of baking soda and cornstarch needed for three batches of clay?</a:t>
            </a:r>
            <a:endParaRPr b="1" i="0" sz="2800" u="none" cap="none" strike="noStrike">
              <a:solidFill>
                <a:schemeClr val="dk1"/>
              </a:solidFill>
              <a:latin typeface="Arial"/>
              <a:ea typeface="Arial"/>
              <a:cs typeface="Arial"/>
              <a:sym typeface="Arial"/>
            </a:endParaRPr>
          </a:p>
        </p:txBody>
      </p:sp>
      <p:sp>
        <p:nvSpPr>
          <p:cNvPr id="698" name="Google Shape;698;p70"/>
          <p:cNvSpPr/>
          <p:nvPr/>
        </p:nvSpPr>
        <p:spPr>
          <a:xfrm>
            <a:off x="459174" y="427408"/>
            <a:ext cx="7054434" cy="954107"/>
          </a:xfrm>
          <a:prstGeom prst="rect">
            <a:avLst/>
          </a:prstGeom>
          <a:blipFill rotWithShape="1">
            <a:blip r:embed="rId2">
              <a:alphaModFix/>
            </a:blip>
            <a:stretch>
              <a:fillRect b="-16561" l="-1727" r="0" t="-636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descr="C:\Users\e402540\Downloads\sn_47fe6-1080mp4\OPS\img\chapter28\narm24_c10303_eps_001a-a.png" id="699" name="Google Shape;699;p70"/>
          <p:cNvPicPr preferRelativeResize="0"/>
          <p:nvPr/>
        </p:nvPicPr>
        <p:blipFill rotWithShape="1">
          <a:blip r:embed="rId3">
            <a:alphaModFix/>
          </a:blip>
          <a:srcRect b="0" l="0" r="0" t="0"/>
          <a:stretch/>
        </p:blipFill>
        <p:spPr>
          <a:xfrm>
            <a:off x="1821025" y="1513813"/>
            <a:ext cx="4859319" cy="2313254"/>
          </a:xfrm>
          <a:prstGeom prst="rect">
            <a:avLst/>
          </a:prstGeom>
          <a:noFill/>
          <a:ln>
            <a:noFill/>
          </a:ln>
        </p:spPr>
      </p:pic>
      <p:sp>
        <p:nvSpPr>
          <p:cNvPr id="700" name="Google Shape;700;p70"/>
          <p:cNvSpPr txBox="1"/>
          <p:nvPr/>
        </p:nvSpPr>
        <p:spPr>
          <a:xfrm>
            <a:off x="484566" y="4845929"/>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I can multiply each term in the ratio 2 : 1 by 3.</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18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32" name="Google Shape;732;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3" name="Google Shape;733;p74"/>
          <p:cNvSpPr/>
          <p:nvPr/>
        </p:nvSpPr>
        <p:spPr>
          <a:xfrm>
            <a:off x="373351" y="373777"/>
            <a:ext cx="5261328" cy="1384995"/>
          </a:xfrm>
          <a:prstGeom prst="rect">
            <a:avLst/>
          </a:prstGeom>
          <a:blipFill rotWithShape="1">
            <a:blip r:embed="rId2">
              <a:alphaModFix/>
            </a:blip>
            <a:stretch>
              <a:fillRect b="-10965" l="-2317" r="0" t="-438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34" name="Google Shape;734;p74"/>
          <p:cNvPicPr preferRelativeResize="0"/>
          <p:nvPr/>
        </p:nvPicPr>
        <p:blipFill rotWithShape="1">
          <a:blip r:embed="rId3">
            <a:alphaModFix/>
          </a:blip>
          <a:srcRect b="0" l="0" r="0" t="0"/>
          <a:stretch/>
        </p:blipFill>
        <p:spPr>
          <a:xfrm>
            <a:off x="1769074" y="1178245"/>
            <a:ext cx="4907965" cy="2911842"/>
          </a:xfrm>
          <a:prstGeom prst="rect">
            <a:avLst/>
          </a:prstGeom>
          <a:noFill/>
          <a:ln>
            <a:noFill/>
          </a:ln>
        </p:spPr>
      </p:pic>
      <p:sp>
        <p:nvSpPr>
          <p:cNvPr id="735" name="Google Shape;735;p74"/>
          <p:cNvSpPr/>
          <p:nvPr/>
        </p:nvSpPr>
        <p:spPr>
          <a:xfrm>
            <a:off x="422779" y="4226981"/>
            <a:ext cx="1064649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What pattern do you see in the ratio table?</a:t>
            </a:r>
            <a:endParaRPr b="1" i="0" sz="2800" u="none" cap="none" strike="noStrike">
              <a:solidFill>
                <a:schemeClr val="dk1"/>
              </a:solidFill>
              <a:latin typeface="Arial"/>
              <a:ea typeface="Arial"/>
              <a:cs typeface="Arial"/>
              <a:sym typeface="Arial"/>
            </a:endParaRPr>
          </a:p>
        </p:txBody>
      </p:sp>
      <p:sp>
        <p:nvSpPr>
          <p:cNvPr id="736" name="Google Shape;736;p74"/>
          <p:cNvSpPr txBox="1"/>
          <p:nvPr/>
        </p:nvSpPr>
        <p:spPr>
          <a:xfrm>
            <a:off x="484566" y="4845929"/>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Each ratio is related to the original ratio by a factor.</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19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Reference style 15">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8" name="Rectangle 7">
            <a:extLst>
              <a:ext uri="{FF2B5EF4-FFF2-40B4-BE49-F238E27FC236}">
                <a16:creationId xmlns:a16="http://schemas.microsoft.com/office/drawing/2014/main" id="{75708437-1D71-4EF1-9897-7FC650B76E49}"/>
              </a:ext>
            </a:extLst>
          </p:cNvPr>
          <p:cNvSpPr>
            <a:spLocks noGrp="1"/>
          </p:cNvSpPr>
          <p:nvPr/>
        </p:nvSpPr>
        <p:spPr>
          <a:xfrm>
            <a:off x="514350" y="381000"/>
            <a:ext cx="6858000" cy="542925"/>
          </a:xfrm>
          <a:prstGeom prst="rect">
            <a:avLst/>
          </a:prstGeom>
          <a:noFill/>
          <a:ln w="0">
            <a:noFill/>
          </a:ln>
        </p:spPr>
        <p:txBody>
          <a:bodyPr>
            <a:noAutofit/>
          </a:bodyPr>
          <a:lstStyle/>
          <a:p>
            <a:pPr>
              <a:defRPr sz="2700" b="1">
                <a:solidFill>
                  <a:srgbClr val="782DA0"/>
                </a:solidFill>
                <a:latin typeface="Arial"/>
                <a:ea typeface="Arial"/>
                <a:cs typeface="Arial"/>
              </a:defRPr>
            </a:pPr>
            <a:r>
              <a:rPr sz="2800" b="1">
                <a:solidFill>
                  <a:srgbClr val="782DA0"/>
                </a:solidFill>
                <a:latin typeface="Arial"/>
                <a:ea typeface="Arial"/>
                <a:cs typeface="Arial"/>
              </a:rPr>
              <a:t>Quick Check — Session 1</a:t>
            </a:r>
          </a:p>
        </p:txBody>
      </p:sp>
      <p:sp>
        <p:nvSpPr>
          <p:cNvPr id="2" name="Rectangle 1">
            <a:extLst>
              <a:ext uri="{FF2B5EF4-FFF2-40B4-BE49-F238E27FC236}">
                <a16:creationId xmlns:a16="http://schemas.microsoft.com/office/drawing/2014/main" id="{A9F9511E-BB5C-4112-B74D-4306EE667A2C}"/>
              </a:ext>
            </a:extLst>
          </p:cNvPr>
          <p:cNvSpPr>
            <a:spLocks noGrp="1"/>
          </p:cNvSpPr>
          <p:nvPr/>
        </p:nvSpPr>
        <p:spPr>
          <a:xfrm>
            <a:off x="523875" y="1028700"/>
            <a:ext cx="8667750" cy="342900"/>
          </a:xfrm>
          <a:prstGeom prst="rect">
            <a:avLst/>
          </a:prstGeom>
          <a:noFill/>
          <a:ln w="0">
            <a:noFill/>
          </a:ln>
        </p:spPr>
        <p:txBody>
          <a:bodyPr>
            <a:noAutofit/>
          </a:bodyPr>
          <a:lstStyle/>
          <a:p>
            <a:pPr>
              <a:defRPr sz="1575" b="0">
                <a:solidFill>
                  <a:srgbClr val="5D6872"/>
                </a:solidFill>
                <a:latin typeface="Arial"/>
                <a:ea typeface="Arial"/>
                <a:cs typeface="Arial"/>
              </a:defRPr>
            </a:pPr>
            <a:r>
              <a:rPr sz="1575" b="0">
                <a:solidFill>
                  <a:srgbClr val="5D6872"/>
                </a:solidFill>
                <a:latin typeface="Arial"/>
                <a:ea typeface="Arial"/>
                <a:cs typeface="Arial"/>
              </a:rPr>
              <a:t>Use the model to explain your thinking.</a:t>
            </a:r>
          </a:p>
        </p:txBody>
      </p:sp>
      <p:sp>
        <p:nvSpPr>
          <p:cNvPr id="3" name="Rounded Rectangle 2">
            <a:extLst>
              <a:ext uri="{FF2B5EF4-FFF2-40B4-BE49-F238E27FC236}">
                <a16:creationId xmlns:a16="http://schemas.microsoft.com/office/drawing/2014/main" id="{3C3B6D36-3577-4667-B6F6-3DF45C2476EF}"/>
              </a:ext>
            </a:extLst>
          </p:cNvPr>
          <p:cNvSpPr>
            <a:spLocks noGrp="1"/>
          </p:cNvSpPr>
          <p:nvPr/>
        </p:nvSpPr>
        <p:spPr>
          <a:xfrm>
            <a:off x="514350" y="1647825"/>
            <a:ext cx="11144250" cy="1133475"/>
          </a:xfrm>
          <a:prstGeom prst="roundRect">
            <a:avLst>
              <a:gd name="adj" fmla="val 6723"/>
            </a:avLst>
          </a:prstGeom>
          <a:solidFill>
            <a:srgbClr val="EBF5FB"/>
          </a:solidFill>
          <a:ln w="9525">
            <a:solidFill>
              <a:srgbClr val="D6E0E8"/>
            </a:solidFill>
          </a:ln>
        </p:spPr>
        <p:txBody>
          <a:bodyPr/>
          <a:lstStyle/>
          <a:p>
            <a:endParaRPr/>
          </a:p>
        </p:txBody>
      </p:sp>
      <p:sp>
        <p:nvSpPr>
          <p:cNvPr id="4" name="Rectangle 3">
            <a:extLst>
              <a:ext uri="{FF2B5EF4-FFF2-40B4-BE49-F238E27FC236}">
                <a16:creationId xmlns:a16="http://schemas.microsoft.com/office/drawing/2014/main" id="{89D7B807-0048-4CC4-88E1-A40839EA41E2}"/>
              </a:ext>
            </a:extLst>
          </p:cNvPr>
          <p:cNvSpPr>
            <a:spLocks noGrp="1"/>
          </p:cNvSpPr>
          <p:nvPr/>
        </p:nvSpPr>
        <p:spPr>
          <a:xfrm>
            <a:off x="742950" y="1885950"/>
            <a:ext cx="10620375" cy="809625"/>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One batch uses 2 cups baking soda and 1 cup cornstarch.</a:t>
            </a:r>
          </a:p>
        </p:txBody>
      </p:sp>
      <p:sp>
        <p:nvSpPr>
          <p:cNvPr id="5" name="Rectangle 4">
            <a:extLst>
              <a:ext uri="{FF2B5EF4-FFF2-40B4-BE49-F238E27FC236}">
                <a16:creationId xmlns:a16="http://schemas.microsoft.com/office/drawing/2014/main" id="{9B228FD3-3393-4451-A249-7CBF697F7789}"/>
              </a:ext>
            </a:extLst>
          </p:cNvPr>
          <p:cNvSpPr>
            <a:spLocks noGrp="1"/>
          </p:cNvSpPr>
          <p:nvPr/>
        </p:nvSpPr>
        <p:spPr>
          <a:xfrm>
            <a:off x="723900" y="3219450"/>
            <a:ext cx="10620375" cy="885825"/>
          </a:xfrm>
          <a:prstGeom prst="rect">
            <a:avLst/>
          </a:prstGeom>
          <a:noFill/>
          <a:ln w="0">
            <a:noFill/>
          </a:ln>
        </p:spPr>
        <p:txBody>
          <a:bodyPr>
            <a:noAutofit/>
          </a:bodyPr>
          <a:lstStyle/>
          <a:p>
            <a:pPr>
              <a:defRPr sz="2475" b="1">
                <a:solidFill>
                  <a:srgbClr val="782DA0"/>
                </a:solidFill>
                <a:latin typeface="Arial"/>
                <a:ea typeface="Arial"/>
                <a:cs typeface="Arial"/>
              </a:defRPr>
            </a:pPr>
            <a:r>
              <a:rPr sz="2475" b="1">
                <a:solidFill>
                  <a:srgbClr val="782DA0"/>
                </a:solidFill>
                <a:latin typeface="Arial"/>
                <a:ea typeface="Arial"/>
                <a:cs typeface="Arial"/>
              </a:rPr>
              <a:t>How much of each ingredient makes 5 batches?</a:t>
            </a:r>
          </a:p>
        </p:txBody>
      </p:sp>
      <p:sp>
        <p:nvSpPr>
          <p:cNvPr id="6" name="Rectangle 5">
            <a:extLst>
              <a:ext uri="{FF2B5EF4-FFF2-40B4-BE49-F238E27FC236}">
                <a16:creationId xmlns:a16="http://schemas.microsoft.com/office/drawing/2014/main" id="{8D786CA1-15CD-4DF6-9165-85CE1B2098CA}"/>
              </a:ext>
            </a:extLst>
          </p:cNvPr>
          <p:cNvSpPr>
            <a:spLocks noGrp="1"/>
          </p:cNvSpPr>
          <p:nvPr/>
        </p:nvSpPr>
        <p:spPr>
          <a:xfrm>
            <a:off x="723900" y="4248150"/>
            <a:ext cx="10620375" cy="752475"/>
          </a:xfrm>
          <a:prstGeom prst="rect">
            <a:avLst/>
          </a:prstGeom>
          <a:noFill/>
          <a:ln w="0">
            <a:noFill/>
          </a:ln>
        </p:spPr>
        <p:txBody>
          <a:bodyPr>
            <a:noAutofit/>
          </a:bodyPr>
          <a:lstStyle/>
          <a:p>
            <a:pPr>
              <a:defRPr sz="2025" b="0">
                <a:solidFill>
                  <a:srgbClr val="23282D"/>
                </a:solidFill>
                <a:latin typeface="Arial"/>
                <a:ea typeface="Arial"/>
                <a:cs typeface="Arial"/>
              </a:defRPr>
            </a:pPr>
            <a:r>
              <a:rPr sz="2025" b="0">
                <a:solidFill>
                  <a:srgbClr val="23282D"/>
                </a:solidFill>
                <a:latin typeface="Arial"/>
                <a:ea typeface="Arial"/>
                <a:cs typeface="Arial"/>
              </a:rPr>
              <a:t>Show the same </a:t>
            </a:r>
            <a:r>
              <a:rPr sz="2025" b="1">
                <a:solidFill>
                  <a:srgbClr val="23282D"/>
                </a:solidFill>
                <a:highlight>
                  <a:srgbClr val="FFF2A8"/>
                </a:highlight>
                <a:latin typeface="Arial"/>
                <a:ea typeface="Arial"/>
                <a:cs typeface="Arial"/>
              </a:rPr>
              <a:t>scale factor</a:t>
            </a:r>
            <a:r>
              <a:rPr sz="2025" b="0">
                <a:solidFill>
                  <a:srgbClr val="23282D"/>
                </a:solidFill>
                <a:latin typeface="Arial"/>
                <a:ea typeface="Arial"/>
                <a:cs typeface="Arial"/>
              </a:rPr>
              <a:t> for both quantities.</a:t>
            </a:r>
          </a:p>
        </p:txBody>
      </p:sp>
      <p:sp>
        <p:nvSpPr>
          <p:cNvPr id="9" name="Reference style 9"/>
          <p:cNvSpPr txBox="1"/>
          <p:nvPr/>
        </p:nvSpPr>
        <p:spPr>
          <a:xfrm>
            <a:off x="502920" y="54864"/>
            <a:ext cx="6035040" cy="237744"/>
          </a:xfrm>
          <a:prstGeom prst="rect">
            <a:avLst/>
          </a:prstGeom>
          <a:noFill/>
        </p:spPr>
        <p:txBody>
          <a:bodyPr wrap="square" lIns="0" tIns="0" r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  SOLO → CHECK → REVISE</a:t>
            </a:r>
          </a:p>
        </p:txBody>
      </p:sp>
      <p:sp>
        <p:nvSpPr>
          <p:cNvPr id="11" name="Reference style 11"/>
          <p:cNvSpPr/>
          <p:nvPr/>
        </p:nvSpPr>
        <p:spPr>
          <a:xfrm>
            <a:off x="548640" y="5349240"/>
            <a:ext cx="9875520" cy="86868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ference style 12"/>
          <p:cNvSpPr/>
          <p:nvPr/>
        </p:nvSpPr>
        <p:spPr>
          <a:xfrm>
            <a:off x="548640" y="5349240"/>
            <a:ext cx="64008" cy="86868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ference style 13"/>
          <p:cNvSpPr txBox="1"/>
          <p:nvPr/>
        </p:nvSpPr>
        <p:spPr>
          <a:xfrm>
            <a:off x="713232" y="5458968"/>
            <a:ext cx="9582912" cy="201168"/>
          </a:xfrm>
          <a:prstGeom prst="rect">
            <a:avLst/>
          </a:prstGeom>
          <a:noFill/>
        </p:spPr>
        <p:txBody>
          <a:bodyPr wrap="square" lIns="0" tIns="0" rIns="0" bIns="0" anchor="t">
            <a:noAutofit/>
          </a:bodyPr>
          <a:lstStyle/>
          <a:p>
            <a:pPr marL="0" indent="0" algn="l">
              <a:buNone/>
            </a:pPr>
            <a:r>
              <a:rPr sz="1200" b="1">
                <a:solidFill>
                  <a:srgbClr val="782DA0"/>
                </a:solidFill>
                <a:latin typeface="Arial"/>
              </a:rPr>
              <a:t>EXPLAIN YOUR SCALE FACTOR</a:t>
            </a:r>
          </a:p>
        </p:txBody>
      </p:sp>
      <p:sp>
        <p:nvSpPr>
          <p:cNvPr id="14" name="Reference style 14"/>
          <p:cNvSpPr txBox="1"/>
          <p:nvPr/>
        </p:nvSpPr>
        <p:spPr>
          <a:xfrm>
            <a:off x="713232" y="5751576"/>
            <a:ext cx="9555480" cy="429768"/>
          </a:xfrm>
          <a:prstGeom prst="rect">
            <a:avLst/>
          </a:prstGeom>
          <a:noFill/>
        </p:spPr>
        <p:txBody>
          <a:bodyPr wrap="square" lIns="0" tIns="0" rIns="0" bIns="0" anchor="t">
            <a:noAutofit/>
          </a:bodyPr>
          <a:lstStyle/>
          <a:p>
            <a:pPr marL="0" indent="0" algn="l">
              <a:buNone/>
            </a:pPr>
            <a:r>
              <a:rPr sz="1600" b="0">
                <a:solidFill>
                  <a:srgbClr val="262C30"/>
                </a:solidFill>
                <a:latin typeface="Arial"/>
              </a:rPr>
              <a:t>“I multiplied both amounts by ___, so I need ___ and ___.”</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Defend your method; partner gives one specific next step.</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20 / 38</a:t>
            </a:r>
          </a:p>
        </p:txBody>
      </p:sp>
    </p:spTree>
    <p:extLst>
      <p:ext uri="{BB962C8B-B14F-4D97-AF65-F5344CB8AC3E}">
        <p14:creationId xmlns:p14="http://schemas.microsoft.com/office/powerpoint/2010/main" val="294642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Reference style 24">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2" name="TextBox 1"/>
          <p:cNvSpPr txBox="1"/>
          <p:nvPr/>
        </p:nvSpPr>
        <p:spPr>
          <a:xfrm>
            <a:off x="502920" y="310896"/>
            <a:ext cx="7315200" cy="502920"/>
          </a:xfrm>
          <a:prstGeom prst="rect">
            <a:avLst/>
          </a:prstGeom>
          <a:noFill/>
        </p:spPr>
        <p:txBody>
          <a:bodyPr wrap="square" lIns="0" tIns="0" rIns="0" bIns="0" anchor="t">
            <a:noAutofit/>
          </a:bodyPr>
          <a:lstStyle/>
          <a:p>
            <a:pPr marL="0" indent="0" algn="l">
              <a:buNone/>
            </a:pPr>
            <a:r>
              <a:rPr sz="2400" b="1">
                <a:solidFill>
                  <a:srgbClr val="7030A0"/>
                </a:solidFill>
                <a:latin typeface="Arial"/>
              </a:rPr>
              <a:t>Session 2 Warm-Up</a:t>
            </a:r>
          </a:p>
        </p:txBody>
      </p:sp>
      <p:sp>
        <p:nvSpPr>
          <p:cNvPr id="3" name="TextBox 2"/>
          <p:cNvSpPr txBox="1"/>
          <p:nvPr/>
        </p:nvSpPr>
        <p:spPr>
          <a:xfrm>
            <a:off x="521207" y="877824"/>
            <a:ext cx="7680960" cy="274320"/>
          </a:xfrm>
          <a:prstGeom prst="rect">
            <a:avLst/>
          </a:prstGeom>
          <a:noFill/>
        </p:spPr>
        <p:txBody>
          <a:bodyPr wrap="square" lIns="0" tIns="0" rIns="0" bIns="0" anchor="t">
            <a:noAutofit/>
          </a:bodyPr>
          <a:lstStyle/>
          <a:p>
            <a:pPr marL="0" indent="0" algn="l">
              <a:buNone/>
            </a:pPr>
            <a:r>
              <a:rPr sz="1400" b="0">
                <a:solidFill>
                  <a:srgbClr val="2D3A40"/>
                </a:solidFill>
                <a:latin typeface="Arial"/>
              </a:rPr>
              <a:t>Lesson 3-3 · Equivalent Ratios Using Tables   |   Session 2 Warm-Up · about 4 minutes</a:t>
            </a:r>
          </a:p>
        </p:txBody>
      </p:sp>
      <p:sp>
        <p:nvSpPr>
          <p:cNvPr id="4"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WARM-UP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noAutofit/>
          </a:bodyPr>
          <a:lstStyle/>
          <a:p>
            <a:pPr marL="0" indent="0" algn="l">
              <a:buNone/>
            </a:pPr>
            <a:r>
              <a:rPr sz="163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73152" rIns="73152" bIns="27432" anchor="t">
            <a:noAutofit/>
          </a:bodyPr>
          <a:lstStyle/>
          <a:p>
            <a:pPr marL="0" indent="0" algn="l">
              <a:buNone/>
            </a:pPr>
            <a:r>
              <a:rPr sz="1800" b="1">
                <a:solidFill>
                  <a:srgbClr val="2D3A40"/>
                </a:solidFill>
                <a:latin typeface="Arial"/>
              </a:rPr>
              <a:t>Scale 2 : 1 by 4.</a:t>
            </a:r>
          </a:p>
          <a:p>
            <a:pPr algn="l"/>
            <a:r>
              <a:rPr sz="1800" b="1">
                <a:solidFill>
                  <a:srgbClr val="2D3A40"/>
                </a:solidFill>
                <a:latin typeface="Arial"/>
              </a:rPr>
              <a:t>Equivalent ratio: ______ : ______</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73152" rIns="73152" bIns="27432" anchor="t">
            <a:noAutofit/>
          </a:bodyPr>
          <a:lstStyle/>
          <a:p>
            <a:pPr marL="0" indent="0" algn="l">
              <a:buNone/>
            </a:pPr>
            <a:r>
              <a:rPr sz="1800" b="1">
                <a:solidFill>
                  <a:srgbClr val="2D3A40"/>
                </a:solidFill>
                <a:latin typeface="Arial"/>
              </a:rPr>
              <a:t>Divide both numbers in 8 : 4 by 2.</a:t>
            </a:r>
          </a:p>
          <a:p>
            <a:pPr algn="l"/>
            <a:r>
              <a:rPr sz="1800" b="1">
                <a:solidFill>
                  <a:srgbClr val="2D3A40"/>
                </a:solidFill>
                <a:latin typeface="Arial"/>
              </a:rPr>
              <a:t>______ : ______</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73152" rIns="73152" bIns="27432" anchor="t">
            <a:noAutofit/>
          </a:bodyPr>
          <a:lstStyle/>
          <a:p>
            <a:pPr marL="0" indent="0" algn="l">
              <a:buNone/>
            </a:pPr>
            <a:r>
              <a:rPr sz="1800" b="1">
                <a:solidFill>
                  <a:srgbClr val="2D3A40"/>
                </a:solidFill>
                <a:latin typeface="Arial"/>
              </a:rPr>
              <a:t>Complete the equivalent ratio:</a:t>
            </a:r>
          </a:p>
          <a:p>
            <a:pPr algn="l"/>
            <a:r>
              <a:rPr sz="1800" b="1">
                <a:solidFill>
                  <a:srgbClr val="2D3A40"/>
                </a:solidFill>
                <a:latin typeface="Arial"/>
              </a:rPr>
              <a:t>3 : 2 = 12 : ______</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73152" rIns="73152" bIns="27432" anchor="t">
            <a:noAutofit/>
          </a:bodyPr>
          <a:lstStyle/>
          <a:p>
            <a:pPr marL="0" indent="0" algn="l">
              <a:buNone/>
            </a:pPr>
            <a:r>
              <a:rPr sz="1800" b="1">
                <a:solidFill>
                  <a:srgbClr val="2D3A40"/>
                </a:solidFill>
                <a:latin typeface="Arial"/>
              </a:rPr>
              <a:t>One batch uses 2 cups and 1 cup.</a:t>
            </a:r>
          </a:p>
          <a:p>
            <a:pPr algn="l"/>
            <a:r>
              <a:rPr sz="1800" b="1">
                <a:solidFill>
                  <a:srgbClr val="2D3A40"/>
                </a:solidFill>
                <a:latin typeface="Arial"/>
              </a:rPr>
              <a:t>For 5 batches: ______ cups and ______ cups</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lgn="ctr">
              <a:buNone/>
            </a:pPr>
            <a:r>
              <a:rPr sz="1400" b="1">
                <a:solidFill>
                  <a:srgbClr val="1E2682"/>
                </a:solidFill>
                <a:latin typeface="Arial"/>
              </a:rPr>
              <a:t>TALK IT OVER:  “I got ______ because ______.”   •   Compare with a partner before we check as a class.</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21 / 38</a:t>
            </a:r>
          </a:p>
        </p:txBody>
      </p:sp>
    </p:spTree>
    <p:extLst>
      <p:ext uri="{BB962C8B-B14F-4D97-AF65-F5344CB8AC3E}">
        <p14:creationId xmlns:p14="http://schemas.microsoft.com/office/powerpoint/2010/main" val="18993975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 name="Reference style 30">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15" name="Rectangle 14">
            <a:extLst>
              <a:ext uri="{FF2B5EF4-FFF2-40B4-BE49-F238E27FC236}">
                <a16:creationId xmlns:a16="http://schemas.microsoft.com/office/drawing/2014/main" id="{7AAC1E91-C260-493B-81CA-D7AF9FC4FF5E}"/>
              </a:ext>
            </a:extLst>
          </p:cNvPr>
          <p:cNvSpPr>
            <a:spLocks noGrp="1"/>
          </p:cNvSpPr>
          <p:nvPr/>
        </p:nvSpPr>
        <p:spPr>
          <a:xfrm>
            <a:off x="514350" y="381000"/>
            <a:ext cx="6858000" cy="542925"/>
          </a:xfrm>
          <a:prstGeom prst="rect">
            <a:avLst/>
          </a:prstGeom>
          <a:noFill/>
          <a:ln w="0">
            <a:noFill/>
          </a:ln>
        </p:spPr>
        <p:txBody>
          <a:bodyPr>
            <a:noAutofit/>
          </a:bodyPr>
          <a:lstStyle/>
          <a:p>
            <a:pPr>
              <a:defRPr sz="2700" b="1">
                <a:solidFill>
                  <a:srgbClr val="782DA0"/>
                </a:solidFill>
                <a:latin typeface="Arial"/>
                <a:ea typeface="Arial"/>
                <a:cs typeface="Arial"/>
              </a:defRPr>
            </a:pPr>
            <a:r>
              <a:rPr sz="2400" b="1">
                <a:solidFill>
                  <a:srgbClr val="7030A0"/>
                </a:solidFill>
                <a:latin typeface="Arial"/>
                <a:ea typeface="Arial"/>
                <a:cs typeface="Arial"/>
              </a:rPr>
              <a:t>Review Notes — Session 2</a:t>
            </a:r>
          </a:p>
        </p:txBody>
      </p:sp>
      <p:sp>
        <p:nvSpPr>
          <p:cNvPr id="2" name="Rectangle 1">
            <a:extLst>
              <a:ext uri="{FF2B5EF4-FFF2-40B4-BE49-F238E27FC236}">
                <a16:creationId xmlns:a16="http://schemas.microsoft.com/office/drawing/2014/main" id="{BEE6C3AE-D463-4C6E-919B-77DE4DB56358}"/>
              </a:ext>
            </a:extLst>
          </p:cNvPr>
          <p:cNvSpPr>
            <a:spLocks noGrp="1"/>
          </p:cNvSpPr>
          <p:nvPr/>
        </p:nvSpPr>
        <p:spPr>
          <a:xfrm>
            <a:off x="523875" y="1028700"/>
            <a:ext cx="8667750" cy="342900"/>
          </a:xfrm>
          <a:prstGeom prst="rect">
            <a:avLst/>
          </a:prstGeom>
          <a:noFill/>
          <a:ln w="0">
            <a:noFill/>
          </a:ln>
        </p:spPr>
        <p:txBody>
          <a:bodyPr>
            <a:noAutofit/>
          </a:bodyPr>
          <a:lstStyle/>
          <a:p>
            <a:pPr>
              <a:defRPr sz="1575" b="0">
                <a:solidFill>
                  <a:srgbClr val="5D6872"/>
                </a:solidFill>
                <a:latin typeface="Arial"/>
                <a:ea typeface="Arial"/>
                <a:cs typeface="Arial"/>
              </a:defRPr>
            </a:pPr>
            <a:r>
              <a:rPr sz="1575" b="0">
                <a:solidFill>
                  <a:srgbClr val="5D6872"/>
                </a:solidFill>
                <a:latin typeface="Arial"/>
                <a:ea typeface="Arial"/>
                <a:cs typeface="Arial"/>
              </a:rPr>
              <a:t>Review the key ideas before Session 2.</a:t>
            </a:r>
          </a:p>
        </p:txBody>
      </p:sp>
      <p:sp>
        <p:nvSpPr>
          <p:cNvPr id="3" name="Rounded Rectangle 2">
            <a:extLst>
              <a:ext uri="{FF2B5EF4-FFF2-40B4-BE49-F238E27FC236}">
                <a16:creationId xmlns:a16="http://schemas.microsoft.com/office/drawing/2014/main" id="{FFFE3C2D-7F51-42C7-A185-8CDFCA28FE4A}"/>
              </a:ext>
            </a:extLst>
          </p:cNvPr>
          <p:cNvSpPr>
            <a:spLocks noGrp="1"/>
          </p:cNvSpPr>
          <p:nvPr/>
        </p:nvSpPr>
        <p:spPr>
          <a:xfrm>
            <a:off x="514350" y="1609725"/>
            <a:ext cx="5762625" cy="4114800"/>
          </a:xfrm>
          <a:prstGeom prst="roundRect">
            <a:avLst>
              <a:gd name="adj" fmla="val 1852"/>
            </a:avLst>
          </a:prstGeom>
          <a:solidFill>
            <a:srgbClr val="EAF6F5"/>
          </a:solidFill>
          <a:ln w="9525">
            <a:solidFill>
              <a:srgbClr val="D6E0E8"/>
            </a:solidFill>
          </a:ln>
        </p:spPr>
        <p:txBody>
          <a:bodyPr/>
          <a:lstStyle/>
          <a:p>
            <a:endParaRPr/>
          </a:p>
        </p:txBody>
      </p:sp>
      <p:sp>
        <p:nvSpPr>
          <p:cNvPr id="4" name="Rounded Rectangle 3">
            <a:extLst>
              <a:ext uri="{FF2B5EF4-FFF2-40B4-BE49-F238E27FC236}">
                <a16:creationId xmlns:a16="http://schemas.microsoft.com/office/drawing/2014/main" id="{8E4EBFE1-3728-40CC-8FA5-C085695ACB3C}"/>
              </a:ext>
            </a:extLst>
          </p:cNvPr>
          <p:cNvSpPr>
            <a:spLocks noGrp="1"/>
          </p:cNvSpPr>
          <p:nvPr/>
        </p:nvSpPr>
        <p:spPr>
          <a:xfrm>
            <a:off x="6543675" y="1609725"/>
            <a:ext cx="5114925" cy="4114800"/>
          </a:xfrm>
          <a:prstGeom prst="roundRect">
            <a:avLst>
              <a:gd name="adj" fmla="val 1852"/>
            </a:avLst>
          </a:prstGeom>
          <a:solidFill>
            <a:srgbClr val="FFF0E7"/>
          </a:solidFill>
          <a:ln w="9525">
            <a:solidFill>
              <a:srgbClr val="D6E0E8"/>
            </a:solidFill>
          </a:ln>
        </p:spPr>
        <p:txBody>
          <a:bodyPr/>
          <a:lstStyle/>
          <a:p>
            <a:endParaRPr/>
          </a:p>
        </p:txBody>
      </p:sp>
      <p:sp>
        <p:nvSpPr>
          <p:cNvPr id="5" name="Rectangle 4">
            <a:extLst>
              <a:ext uri="{FF2B5EF4-FFF2-40B4-BE49-F238E27FC236}">
                <a16:creationId xmlns:a16="http://schemas.microsoft.com/office/drawing/2014/main" id="{B9444D24-7A0E-41BD-BC5D-02F1D5E67F25}"/>
              </a:ext>
            </a:extLst>
          </p:cNvPr>
          <p:cNvSpPr>
            <a:spLocks noGrp="1"/>
          </p:cNvSpPr>
          <p:nvPr/>
        </p:nvSpPr>
        <p:spPr>
          <a:xfrm>
            <a:off x="723900" y="1800225"/>
            <a:ext cx="5238750" cy="266700"/>
          </a:xfrm>
          <a:prstGeom prst="rect">
            <a:avLst/>
          </a:prstGeom>
          <a:noFill/>
          <a:ln w="0">
            <a:noFill/>
          </a:ln>
        </p:spPr>
        <p:txBody>
          <a:bodyPr>
            <a:noAutofit/>
          </a:bodyPr>
          <a:lstStyle/>
          <a:p>
            <a:pPr>
              <a:defRPr sz="1350" b="1">
                <a:solidFill>
                  <a:srgbClr val="782DA0"/>
                </a:solidFill>
                <a:latin typeface="Arial"/>
                <a:ea typeface="Arial"/>
                <a:cs typeface="Arial"/>
              </a:defRPr>
            </a:pPr>
            <a:r>
              <a:rPr sz="1350" b="1">
                <a:solidFill>
                  <a:srgbClr val="782DA0"/>
                </a:solidFill>
                <a:latin typeface="Arial"/>
                <a:ea typeface="Arial"/>
                <a:cs typeface="Arial"/>
              </a:rPr>
              <a:t>COPY, EXPLAIN, THEN CHECK</a:t>
            </a:r>
          </a:p>
        </p:txBody>
      </p:sp>
      <p:sp>
        <p:nvSpPr>
          <p:cNvPr id="6" name="Rectangle 5">
            <a:extLst>
              <a:ext uri="{FF2B5EF4-FFF2-40B4-BE49-F238E27FC236}">
                <a16:creationId xmlns:a16="http://schemas.microsoft.com/office/drawing/2014/main" id="{8661956F-DEF4-40B5-94F1-AA792C88637B}"/>
              </a:ext>
            </a:extLst>
          </p:cNvPr>
          <p:cNvSpPr>
            <a:spLocks noGrp="1"/>
          </p:cNvSpPr>
          <p:nvPr/>
        </p:nvSpPr>
        <p:spPr>
          <a:xfrm>
            <a:off x="733425" y="2352675"/>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01</a:t>
            </a:r>
          </a:p>
        </p:txBody>
      </p:sp>
      <p:sp>
        <p:nvSpPr>
          <p:cNvPr id="7" name="Rectangle 6">
            <a:extLst>
              <a:ext uri="{FF2B5EF4-FFF2-40B4-BE49-F238E27FC236}">
                <a16:creationId xmlns:a16="http://schemas.microsoft.com/office/drawing/2014/main" id="{6EEC374F-1DDF-4234-B782-F23547F6FAC9}"/>
              </a:ext>
            </a:extLst>
          </p:cNvPr>
          <p:cNvSpPr>
            <a:spLocks noGrp="1"/>
          </p:cNvSpPr>
          <p:nvPr/>
        </p:nvSpPr>
        <p:spPr>
          <a:xfrm>
            <a:off x="1257300" y="2324100"/>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A </a:t>
            </a:r>
            <a:r>
              <a:rPr sz="2100" b="1">
                <a:solidFill>
                  <a:srgbClr val="23282D"/>
                </a:solidFill>
                <a:highlight>
                  <a:srgbClr val="FFF2A8"/>
                </a:highlight>
                <a:latin typeface="Arial"/>
                <a:ea typeface="Arial"/>
                <a:cs typeface="Arial"/>
              </a:rPr>
              <a:t>ratio table</a:t>
            </a:r>
            <a:r>
              <a:rPr sz="2100" b="0">
                <a:solidFill>
                  <a:srgbClr val="23282D"/>
                </a:solidFill>
                <a:latin typeface="Arial"/>
                <a:ea typeface="Arial"/>
                <a:cs typeface="Arial"/>
              </a:rPr>
              <a:t> organizes matching pairs.</a:t>
            </a:r>
          </a:p>
        </p:txBody>
      </p:sp>
      <p:sp>
        <p:nvSpPr>
          <p:cNvPr id="8" name="Rectangle 7">
            <a:extLst>
              <a:ext uri="{FF2B5EF4-FFF2-40B4-BE49-F238E27FC236}">
                <a16:creationId xmlns:a16="http://schemas.microsoft.com/office/drawing/2014/main" id="{9EC999FA-20B1-441F-B12D-DE6A31938038}"/>
              </a:ext>
            </a:extLst>
          </p:cNvPr>
          <p:cNvSpPr>
            <a:spLocks noGrp="1"/>
          </p:cNvSpPr>
          <p:nvPr/>
        </p:nvSpPr>
        <p:spPr>
          <a:xfrm>
            <a:off x="733425" y="3333750"/>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02</a:t>
            </a:r>
          </a:p>
        </p:txBody>
      </p:sp>
      <p:sp>
        <p:nvSpPr>
          <p:cNvPr id="9" name="Rectangle 8">
            <a:extLst>
              <a:ext uri="{FF2B5EF4-FFF2-40B4-BE49-F238E27FC236}">
                <a16:creationId xmlns:a16="http://schemas.microsoft.com/office/drawing/2014/main" id="{900E1421-0407-461E-9B6F-14F8F42AFD77}"/>
              </a:ext>
            </a:extLst>
          </p:cNvPr>
          <p:cNvSpPr>
            <a:spLocks noGrp="1"/>
          </p:cNvSpPr>
          <p:nvPr/>
        </p:nvSpPr>
        <p:spPr>
          <a:xfrm>
            <a:off x="1257300" y="3305175"/>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Multiply both amounts by the same number.</a:t>
            </a:r>
          </a:p>
        </p:txBody>
      </p:sp>
      <p:sp>
        <p:nvSpPr>
          <p:cNvPr id="10" name="Rectangle 9">
            <a:extLst>
              <a:ext uri="{FF2B5EF4-FFF2-40B4-BE49-F238E27FC236}">
                <a16:creationId xmlns:a16="http://schemas.microsoft.com/office/drawing/2014/main" id="{0C2B8C4B-CC39-4D08-A3DC-84561A4006C4}"/>
              </a:ext>
            </a:extLst>
          </p:cNvPr>
          <p:cNvSpPr>
            <a:spLocks noGrp="1"/>
          </p:cNvSpPr>
          <p:nvPr/>
        </p:nvSpPr>
        <p:spPr>
          <a:xfrm>
            <a:off x="733425" y="4314825"/>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03</a:t>
            </a:r>
          </a:p>
        </p:txBody>
      </p:sp>
      <p:sp>
        <p:nvSpPr>
          <p:cNvPr id="11" name="Rectangle 10">
            <a:extLst>
              <a:ext uri="{FF2B5EF4-FFF2-40B4-BE49-F238E27FC236}">
                <a16:creationId xmlns:a16="http://schemas.microsoft.com/office/drawing/2014/main" id="{162449C0-8E09-4578-A9CE-B709E0B69A5B}"/>
              </a:ext>
            </a:extLst>
          </p:cNvPr>
          <p:cNvSpPr>
            <a:spLocks noGrp="1"/>
          </p:cNvSpPr>
          <p:nvPr/>
        </p:nvSpPr>
        <p:spPr>
          <a:xfrm>
            <a:off x="1257300" y="4286250"/>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1">
                <a:solidFill>
                  <a:srgbClr val="23282D"/>
                </a:solidFill>
                <a:highlight>
                  <a:srgbClr val="FFF2A8"/>
                </a:highlight>
                <a:latin typeface="Arial"/>
                <a:ea typeface="Arial"/>
                <a:cs typeface="Arial"/>
              </a:rPr>
              <a:t>Equivalent ratios</a:t>
            </a:r>
            <a:r>
              <a:rPr sz="2100" b="0">
                <a:solidFill>
                  <a:srgbClr val="23282D"/>
                </a:solidFill>
                <a:latin typeface="Arial"/>
                <a:ea typeface="Arial"/>
                <a:cs typeface="Arial"/>
              </a:rPr>
              <a:t> keep the same relationship.</a:t>
            </a:r>
          </a:p>
        </p:txBody>
      </p:sp>
      <p:sp>
        <p:nvSpPr>
          <p:cNvPr id="12" name="Rectangle 11">
            <a:extLst>
              <a:ext uri="{FF2B5EF4-FFF2-40B4-BE49-F238E27FC236}">
                <a16:creationId xmlns:a16="http://schemas.microsoft.com/office/drawing/2014/main" id="{5CB4BFEE-3CA5-4EE3-ABF2-E2768B763233}"/>
              </a:ext>
            </a:extLst>
          </p:cNvPr>
          <p:cNvSpPr>
            <a:spLocks noGrp="1"/>
          </p:cNvSpPr>
          <p:nvPr/>
        </p:nvSpPr>
        <p:spPr>
          <a:xfrm>
            <a:off x="6743700" y="1809750"/>
            <a:ext cx="4667250" cy="266700"/>
          </a:xfrm>
          <a:prstGeom prst="rect">
            <a:avLst/>
          </a:prstGeom>
          <a:noFill/>
          <a:ln w="0">
            <a:noFill/>
          </a:ln>
        </p:spPr>
        <p:txBody>
          <a:bodyPr>
            <a:noAutofit/>
          </a:bodyPr>
          <a:lstStyle/>
          <a:p>
            <a:pPr>
              <a:defRPr sz="1350" b="1">
                <a:solidFill>
                  <a:srgbClr val="0070C0"/>
                </a:solidFill>
                <a:latin typeface="Arial"/>
                <a:ea typeface="Arial"/>
                <a:cs typeface="Arial"/>
              </a:defRPr>
            </a:pPr>
            <a:r>
              <a:rPr sz="1350" b="1">
                <a:solidFill>
                  <a:srgbClr val="0070C0"/>
                </a:solidFill>
                <a:latin typeface="Arial"/>
                <a:ea typeface="Arial"/>
                <a:cs typeface="Arial"/>
              </a:rPr>
              <a:t>LOOK BACK AT THE EXAMPLE</a:t>
            </a:r>
          </a:p>
        </p:txBody>
      </p:sp>
      <p:graphicFrame>
        <p:nvGraphicFramePr>
          <p:cNvPr id="27" name="Table 26"/>
          <p:cNvGraphicFramePr/>
          <p:nvPr/>
        </p:nvGraphicFramePr>
        <p:xfrm>
          <a:off x="6743700" y="2333625"/>
          <a:ext cx="4705350" cy="2019300"/>
        </p:xfrm>
        <a:graphic>
          <a:graphicData uri="http://schemas.openxmlformats.org/drawingml/2006/table">
            <a:tbl>
              <a:tblPr/>
              <a:tblGrid>
                <a:gridCol w="2352675">
                  <a:extLst>
                    <a:ext uri="{9D8B030D-6E8A-4147-A177-3AD203B41FA5}">
                      <a16:colId xmlns:a16="http://schemas.microsoft.com/office/drawing/2014/main" val="20000"/>
                    </a:ext>
                  </a:extLst>
                </a:gridCol>
                <a:gridCol w="2352675">
                  <a:extLst>
                    <a:ext uri="{9D8B030D-6E8A-4147-A177-3AD203B41FA5}">
                      <a16:colId xmlns:a16="http://schemas.microsoft.com/office/drawing/2014/main" val="20001"/>
                    </a:ext>
                  </a:extLst>
                </a:gridCol>
              </a:tblGrid>
              <a:tr h="504825">
                <a:tc>
                  <a:txBody>
                    <a:bodyPr/>
                    <a:lstStyle/>
                    <a:p>
                      <a:r>
                        <a:rPr sz="1425" b="1">
                          <a:solidFill>
                            <a:srgbClr val="FFFFFF"/>
                          </a:solidFill>
                          <a:latin typeface="Arial"/>
                          <a:ea typeface="Arial"/>
                          <a:cs typeface="Arial"/>
                        </a:rPr>
                        <a:t>Baking soda (cups)</a:t>
                      </a:r>
                    </a:p>
                  </a:txBody>
                  <a:tcPr>
                    <a:solidFill>
                      <a:srgbClr val="0070C0"/>
                    </a:solidFill>
                  </a:tcPr>
                </a:tc>
                <a:tc>
                  <a:txBody>
                    <a:bodyPr/>
                    <a:lstStyle/>
                    <a:p>
                      <a:r>
                        <a:rPr sz="1425" b="1">
                          <a:solidFill>
                            <a:srgbClr val="FFFFFF"/>
                          </a:solidFill>
                          <a:latin typeface="Arial"/>
                          <a:ea typeface="Arial"/>
                          <a:cs typeface="Arial"/>
                        </a:rPr>
                        <a:t>Cornstarch (cups)</a:t>
                      </a:r>
                    </a:p>
                  </a:txBody>
                  <a:tcPr>
                    <a:solidFill>
                      <a:srgbClr val="0070C0"/>
                    </a:solidFill>
                  </a:tcPr>
                </a:tc>
                <a:extLst>
                  <a:ext uri="{0D108BD9-81ED-4DB2-BD59-A6C34878D82A}">
                    <a16:rowId xmlns:a16="http://schemas.microsoft.com/office/drawing/2014/main" val="10000"/>
                  </a:ext>
                </a:extLst>
              </a:tr>
              <a:tr h="504825">
                <a:tc>
                  <a:txBody>
                    <a:bodyPr/>
                    <a:lstStyle/>
                    <a:p>
                      <a:r>
                        <a:rPr sz="1800" b="0">
                          <a:solidFill>
                            <a:srgbClr val="23282D"/>
                          </a:solidFill>
                          <a:latin typeface="Arial"/>
                          <a:ea typeface="Arial"/>
                          <a:cs typeface="Arial"/>
                        </a:rPr>
                        <a:t>2</a:t>
                      </a:r>
                    </a:p>
                  </a:txBody>
                  <a:tcPr>
                    <a:solidFill>
                      <a:srgbClr val="FFFFFF"/>
                    </a:solidFill>
                  </a:tcPr>
                </a:tc>
                <a:tc>
                  <a:txBody>
                    <a:bodyPr/>
                    <a:lstStyle/>
                    <a:p>
                      <a:r>
                        <a:rPr sz="1800" b="0">
                          <a:solidFill>
                            <a:srgbClr val="23282D"/>
                          </a:solidFill>
                          <a:latin typeface="Arial"/>
                          <a:ea typeface="Arial"/>
                          <a:cs typeface="Arial"/>
                        </a:rPr>
                        <a:t>1</a:t>
                      </a:r>
                    </a:p>
                  </a:txBody>
                  <a:tcPr>
                    <a:solidFill>
                      <a:srgbClr val="FFFFFF"/>
                    </a:solidFill>
                  </a:tcPr>
                </a:tc>
                <a:extLst>
                  <a:ext uri="{0D108BD9-81ED-4DB2-BD59-A6C34878D82A}">
                    <a16:rowId xmlns:a16="http://schemas.microsoft.com/office/drawing/2014/main" val="10001"/>
                  </a:ext>
                </a:extLst>
              </a:tr>
              <a:tr h="504825">
                <a:tc>
                  <a:txBody>
                    <a:bodyPr/>
                    <a:lstStyle/>
                    <a:p>
                      <a:r>
                        <a:rPr sz="1800" b="0">
                          <a:solidFill>
                            <a:srgbClr val="23282D"/>
                          </a:solidFill>
                          <a:latin typeface="Arial"/>
                          <a:ea typeface="Arial"/>
                          <a:cs typeface="Arial"/>
                        </a:rPr>
                        <a:t>4</a:t>
                      </a:r>
                    </a:p>
                  </a:txBody>
                  <a:tcPr>
                    <a:solidFill>
                      <a:srgbClr val="FFFFFF"/>
                    </a:solidFill>
                  </a:tcPr>
                </a:tc>
                <a:tc>
                  <a:txBody>
                    <a:bodyPr/>
                    <a:lstStyle/>
                    <a:p>
                      <a:r>
                        <a:rPr sz="1800" b="0">
                          <a:solidFill>
                            <a:srgbClr val="23282D"/>
                          </a:solidFill>
                          <a:latin typeface="Arial"/>
                          <a:ea typeface="Arial"/>
                          <a:cs typeface="Arial"/>
                        </a:rPr>
                        <a:t>2</a:t>
                      </a:r>
                    </a:p>
                  </a:txBody>
                  <a:tcPr>
                    <a:solidFill>
                      <a:srgbClr val="FFFFFF"/>
                    </a:solidFill>
                  </a:tcPr>
                </a:tc>
                <a:extLst>
                  <a:ext uri="{0D108BD9-81ED-4DB2-BD59-A6C34878D82A}">
                    <a16:rowId xmlns:a16="http://schemas.microsoft.com/office/drawing/2014/main" val="10002"/>
                  </a:ext>
                </a:extLst>
              </a:tr>
              <a:tr h="504825">
                <a:tc>
                  <a:txBody>
                    <a:bodyPr/>
                    <a:lstStyle/>
                    <a:p>
                      <a:r>
                        <a:rPr sz="1800" b="0">
                          <a:solidFill>
                            <a:srgbClr val="23282D"/>
                          </a:solidFill>
                          <a:latin typeface="Arial"/>
                          <a:ea typeface="Arial"/>
                          <a:cs typeface="Arial"/>
                        </a:rPr>
                        <a:t>6</a:t>
                      </a:r>
                    </a:p>
                  </a:txBody>
                  <a:tcPr>
                    <a:solidFill>
                      <a:srgbClr val="FFFFFF"/>
                    </a:solidFill>
                  </a:tcPr>
                </a:tc>
                <a:tc>
                  <a:txBody>
                    <a:bodyPr/>
                    <a:lstStyle/>
                    <a:p>
                      <a:r>
                        <a:rPr sz="1800" b="0">
                          <a:solidFill>
                            <a:srgbClr val="23282D"/>
                          </a:solidFill>
                          <a:latin typeface="Arial"/>
                          <a:ea typeface="Arial"/>
                          <a:cs typeface="Arial"/>
                        </a:rPr>
                        <a:t>3</a:t>
                      </a:r>
                    </a:p>
                  </a:txBody>
                  <a:tcPr>
                    <a:solidFill>
                      <a:srgbClr val="FFFFFF"/>
                    </a:solidFill>
                  </a:tcPr>
                </a:tc>
                <a:extLst>
                  <a:ext uri="{0D108BD9-81ED-4DB2-BD59-A6C34878D82A}">
                    <a16:rowId xmlns:a16="http://schemas.microsoft.com/office/drawing/2014/main" val="10003"/>
                  </a:ext>
                </a:extLst>
              </a:tr>
            </a:tbl>
          </a:graphicData>
        </a:graphic>
      </p:graphicFrame>
      <p:sp>
        <p:nvSpPr>
          <p:cNvPr id="14" name="Rectangle 13">
            <a:extLst>
              <a:ext uri="{FF2B5EF4-FFF2-40B4-BE49-F238E27FC236}">
                <a16:creationId xmlns:a16="http://schemas.microsoft.com/office/drawing/2014/main" id="{9059DDCE-C057-4BAF-A0F8-3DF767C046EA}"/>
              </a:ext>
            </a:extLst>
          </p:cNvPr>
          <p:cNvSpPr>
            <a:spLocks noGrp="1"/>
          </p:cNvSpPr>
          <p:nvPr/>
        </p:nvSpPr>
        <p:spPr>
          <a:xfrm>
            <a:off x="6743700" y="4581525"/>
            <a:ext cx="4667250" cy="933450"/>
          </a:xfrm>
          <a:prstGeom prst="rect">
            <a:avLst/>
          </a:prstGeom>
          <a:noFill/>
          <a:ln w="0">
            <a:noFill/>
          </a:ln>
        </p:spPr>
        <p:txBody>
          <a:bodyPr>
            <a:noAutofit/>
          </a:bodyPr>
          <a:lstStyle/>
          <a:p>
            <a:pPr>
              <a:defRPr sz="1875" b="1">
                <a:solidFill>
                  <a:srgbClr val="0070C0"/>
                </a:solidFill>
                <a:latin typeface="Arial"/>
                <a:ea typeface="Arial"/>
                <a:cs typeface="Arial"/>
              </a:defRPr>
            </a:pPr>
            <a:r>
              <a:rPr sz="1875" b="1">
                <a:solidFill>
                  <a:srgbClr val="0070C0"/>
                </a:solidFill>
                <a:latin typeface="Arial"/>
                <a:ea typeface="Arial"/>
                <a:cs typeface="Arial"/>
              </a:rPr>
              <a:t>3 batches: multiply 2 and 1 by 3.</a:t>
            </a:r>
          </a:p>
        </p:txBody>
      </p:sp>
      <p:sp>
        <p:nvSpPr>
          <p:cNvPr id="28" name="Reference style 28"/>
          <p:cNvSpPr txBox="1"/>
          <p:nvPr/>
        </p:nvSpPr>
        <p:spPr>
          <a:xfrm>
            <a:off x="502920" y="54864"/>
            <a:ext cx="6035040" cy="237744"/>
          </a:xfrm>
          <a:prstGeom prst="rect">
            <a:avLst/>
          </a:prstGeom>
          <a:noFill/>
        </p:spPr>
        <p:txBody>
          <a:bodyPr wrap="square" lIns="0" tIns="0" rIns="0" bIns="0" anchor="ctr">
            <a:noAutofit/>
          </a:bodyPr>
          <a:lstStyle/>
          <a:p>
            <a:pPr algn="l"/>
            <a:r>
              <a:rPr lang="en-US" sz="1150" b="1" dirty="0">
                <a:solidFill>
                  <a:srgbClr val="1F2D74"/>
                </a:solidFill>
                <a:latin typeface="Arial"/>
              </a:rPr>
              <a:t>REVIEW NOTES  ·  RECALL • CONNECT • APPLY</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Partner check: explain one idea without looking.</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22 / 38</a:t>
            </a:r>
          </a:p>
        </p:txBody>
      </p:sp>
    </p:spTree>
    <p:extLst>
      <p:ext uri="{BB962C8B-B14F-4D97-AF65-F5344CB8AC3E}">
        <p14:creationId xmlns:p14="http://schemas.microsoft.com/office/powerpoint/2010/main" val="823004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4" name="Reference style 24">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2" name="TextBox 1"/>
          <p:cNvSpPr txBox="1"/>
          <p:nvPr/>
        </p:nvSpPr>
        <p:spPr>
          <a:xfrm>
            <a:off x="502920" y="310896"/>
            <a:ext cx="7315200" cy="502920"/>
          </a:xfrm>
          <a:prstGeom prst="rect">
            <a:avLst/>
          </a:prstGeom>
          <a:noFill/>
        </p:spPr>
        <p:txBody>
          <a:bodyPr wrap="square" lIns="0" tIns="0" rIns="0" bIns="0" anchor="t">
            <a:noAutofit/>
          </a:bodyPr>
          <a:lstStyle/>
          <a:p>
            <a:pPr marL="0" indent="0" algn="l">
              <a:buNone/>
            </a:pPr>
            <a:r>
              <a:rPr sz="2750" b="1">
                <a:solidFill>
                  <a:srgbClr val="782DA0"/>
                </a:solidFill>
                <a:latin typeface="Arial"/>
              </a:rPr>
              <a:t>Learning Target — Session 2</a:t>
            </a:r>
          </a:p>
        </p:txBody>
      </p:sp>
      <p:sp>
        <p:nvSpPr>
          <p:cNvPr id="3" name="TextBox 2"/>
          <p:cNvSpPr txBox="1"/>
          <p:nvPr/>
        </p:nvSpPr>
        <p:spPr>
          <a:xfrm>
            <a:off x="521207" y="877824"/>
            <a:ext cx="7680960" cy="274320"/>
          </a:xfrm>
          <a:prstGeom prst="rect">
            <a:avLst/>
          </a:prstGeom>
          <a:noFill/>
        </p:spPr>
        <p:txBody>
          <a:bodyPr wrap="square" lIns="0" tIns="0" rIns="0" bIns="0" anchor="t">
            <a:noAutofit/>
          </a:bodyPr>
          <a:lstStyle/>
          <a:p>
            <a:pPr marL="0" indent="0" algn="l">
              <a:buNone/>
            </a:pPr>
            <a:r>
              <a:rPr sz="1420" b="0">
                <a:solidFill>
                  <a:srgbClr val="5D6872"/>
                </a:solidFill>
                <a:latin typeface="Arial"/>
              </a:rPr>
              <a:t>Lesson 3-3 · Equivalent Ratios Using Tables  |  Maryland Standard 6.AT.3a</a:t>
            </a:r>
          </a:p>
        </p:txBody>
      </p:sp>
      <p:sp>
        <p:nvSpPr>
          <p:cNvPr id="4"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LEARNING TARGET  ·  DIVIDE • CHECK • JUSTIFY</a:t>
            </a:r>
          </a:p>
        </p:txBody>
      </p:sp>
      <p:sp>
        <p:nvSpPr>
          <p:cNvPr id="6" name="TextBox 5"/>
          <p:cNvSpPr txBox="1"/>
          <p:nvPr/>
        </p:nvSpPr>
        <p:spPr>
          <a:xfrm>
            <a:off x="521207" y="1207008"/>
            <a:ext cx="10881360" cy="438912"/>
          </a:xfrm>
          <a:prstGeom prst="rect">
            <a:avLst/>
          </a:prstGeom>
          <a:noFill/>
        </p:spPr>
        <p:txBody>
          <a:bodyPr wrap="square" lIns="0" tIns="0" rIns="0" bIns="0" anchor="t">
            <a:noAutofit/>
          </a:bodyPr>
          <a:lstStyle/>
          <a:p>
            <a:pPr marL="0" indent="0" algn="l">
              <a:buNone/>
            </a:pPr>
            <a:r>
              <a:rPr sz="1630" b="0">
                <a:solidFill>
                  <a:srgbClr val="5D6872"/>
                </a:solidFill>
                <a:latin typeface="Arial"/>
              </a:rPr>
              <a:t>Today I will scale a mixture down and use a ratio table to find a missing amount.</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noAutofit/>
          </a:bodyPr>
          <a:lstStyle/>
          <a:p>
            <a:pPr marL="0" indent="0" algn="l">
              <a:buNone/>
            </a:pPr>
            <a:r>
              <a:rPr sz="1900" b="1">
                <a:solidFill>
                  <a:srgbClr val="23282D"/>
                </a:solidFill>
                <a:latin typeface="Arial"/>
              </a:rPr>
              <a:t>I can use division to find a missing value in a ratio table.</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noAutofit/>
          </a:bodyPr>
          <a:lstStyle/>
          <a:p>
            <a:pPr marL="0" indent="0" algn="l">
              <a:buNone/>
            </a:pPr>
            <a:r>
              <a:rPr sz="1900" b="1">
                <a:solidFill>
                  <a:srgbClr val="23282D"/>
                </a:solidFill>
                <a:latin typeface="Arial"/>
              </a:rPr>
              <a:t>I can explain how dividing both quantities keeps ratios equivalent.</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noAutofit/>
          </a:bodyPr>
          <a:lstStyle/>
          <a:p>
            <a:pPr marL="0" indent="0" algn="l">
              <a:buNone/>
            </a:pPr>
            <a:r>
              <a:rPr sz="1900" b="0">
                <a:solidFill>
                  <a:srgbClr val="23282D"/>
                </a:solidFill>
                <a:latin typeface="Arial"/>
              </a:rPr>
              <a:t>✓ Identify the known and missing amounts.</a:t>
            </a:r>
          </a:p>
          <a:p>
            <a:pPr marL="0" indent="0" algn="l">
              <a:buNone/>
            </a:pPr>
            <a:r>
              <a:rPr sz="1900" b="0">
                <a:solidFill>
                  <a:srgbClr val="23282D"/>
                </a:solidFill>
                <a:latin typeface="Arial"/>
              </a:rPr>
              <a:t>✓ Divide both by the same number.</a:t>
            </a:r>
          </a:p>
          <a:p>
            <a:pPr marL="0" indent="0" algn="l">
              <a:buNone/>
            </a:pPr>
            <a:r>
              <a:rPr sz="1900" b="0">
                <a:solidFill>
                  <a:srgbClr val="23282D"/>
                </a:solidFill>
                <a:latin typeface="Arial"/>
              </a:rPr>
              <a:t>✓ Check against the original ratio.</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noAutofit/>
          </a:bodyPr>
          <a:lstStyle/>
          <a:p>
            <a:pPr marL="0" indent="0" algn="l">
              <a:buNone/>
            </a:pPr>
            <a:r>
              <a:rPr sz="1900" b="0">
                <a:latin typeface="Arial"/>
              </a:rPr>
              <a:t>Scaling both ingredients by the same factor keeps the paint the same shade.</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marL="0" indent="0" algn="ctr">
              <a:buNone/>
            </a:pPr>
            <a:r>
              <a:rPr sz="1400" b="1">
                <a:solidFill>
                  <a:srgbClr val="1E2682"/>
                </a:solidFill>
                <a:latin typeface="Arial"/>
              </a:rPr>
              <a:t>MATH COMMUNITY:  Different strategies are welcome  •  Ask before telling  •  Revise your thinking</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Tell a partner the new goal and how you will show it.</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23 / 38</a:t>
            </a:r>
          </a:p>
        </p:txBody>
      </p:sp>
    </p:spTree>
    <p:extLst>
      <p:ext uri="{BB962C8B-B14F-4D97-AF65-F5344CB8AC3E}">
        <p14:creationId xmlns:p14="http://schemas.microsoft.com/office/powerpoint/2010/main" val="1516366558"/>
      </p:ext>
    </p:extLst>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43" name="Google Shape;843;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44" name="Google Shape;844;p8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45" name="Google Shape;845;p86"/>
          <p:cNvSpPr txBox="1"/>
          <p:nvPr/>
        </p:nvSpPr>
        <p:spPr>
          <a:xfrm>
            <a:off x="484560" y="940921"/>
            <a:ext cx="5873263" cy="5231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p:txBody>
      </p:sp>
      <p:sp>
        <p:nvSpPr>
          <p:cNvPr id="846" name="Google Shape;846;p86"/>
          <p:cNvSpPr/>
          <p:nvPr/>
        </p:nvSpPr>
        <p:spPr>
          <a:xfrm>
            <a:off x="484560" y="1703463"/>
            <a:ext cx="3683978"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descr="C:\Users\e402540\Downloads\kanchana\ePress PPT creation\sn_47fe6-1080mp4\OPS\img\.assets\6ad3bb4f2b1d4c34a97a6f14e498372a\narm24_c10303_eps_002a.png" id="847" name="Google Shape;847;p86"/>
          <p:cNvPicPr preferRelativeResize="0"/>
          <p:nvPr/>
        </p:nvPicPr>
        <p:blipFill rotWithShape="1">
          <a:blip r:embed="rId2">
            <a:alphaModFix/>
          </a:blip>
          <a:srcRect b="0" l="0" r="0" t="0"/>
          <a:stretch/>
        </p:blipFill>
        <p:spPr>
          <a:xfrm>
            <a:off x="5456610" y="1095698"/>
            <a:ext cx="3314944" cy="3314944"/>
          </a:xfrm>
          <a:prstGeom prst="rect">
            <a:avLst/>
          </a:prstGeom>
          <a:noFill/>
          <a:ln>
            <a:noFill/>
          </a:ln>
        </p:spPr>
      </p:pic>
      <p:pic>
        <p:nvPicPr>
          <p:cNvPr id="848" name="Google Shape;848;p86"/>
          <p:cNvPicPr preferRelativeResize="0"/>
          <p:nvPr/>
        </p:nvPicPr>
        <p:blipFill rotWithShape="1">
          <a:blip r:embed="rId3">
            <a:alphaModFix/>
          </a:blip>
          <a:srcRect b="0" l="0" r="0" t="0"/>
          <a:stretch/>
        </p:blipFill>
        <p:spPr>
          <a:xfrm>
            <a:off x="484560" y="4740257"/>
            <a:ext cx="5054600" cy="838200"/>
          </a:xfrm>
          <a:prstGeom prst="rect">
            <a:avLst/>
          </a:prstGeom>
          <a:noFill/>
          <a:ln>
            <a:noFill/>
          </a:ln>
        </p:spPr>
      </p:pic>
      <p:sp>
        <p:nvSpPr>
          <p:cNvPr id="849" name="Google Shape;849;p86"/>
          <p:cNvSpPr txBox="1"/>
          <p:nvPr/>
        </p:nvSpPr>
        <p:spPr>
          <a:xfrm>
            <a:off x="3344577" y="4897575"/>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50" name="Google Shape;850;p86"/>
          <p:cNvSpPr/>
          <p:nvPr/>
        </p:nvSpPr>
        <p:spPr>
          <a:xfrm>
            <a:off x="697756" y="5555580"/>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are you showing your classmates that you respect their ideas about math?</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24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pic>
        <p:nvPicPr>
          <p:cNvPr id="573" name="Reference style 573">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cxnSp>
        <p:nvCxnSpPr>
          <p:cNvPr id="562" name="Google Shape;562;p76"/>
          <p:cNvCxnSpPr/>
          <p:nvPr/>
        </p:nvCxnSpPr>
        <p:spPr>
          <a:xfrm>
            <a:off x="13164879" y="5911702"/>
            <a:ext cx="0" cy="0"/>
          </a:xfrm>
          <a:prstGeom prst="straightConnector1">
            <a:avLst/>
          </a:prstGeom>
          <a:noFill/>
          <a:ln w="9525" cap="flat" cmpd="sng">
            <a:solidFill>
              <a:schemeClr val="accent1"/>
            </a:solidFill>
            <a:prstDash val="solid"/>
            <a:miter lim="8000"/>
            <a:headEnd type="none" w="sm" len="sm"/>
            <a:tailEnd type="none" w="sm" len="sm"/>
          </a:ln>
        </p:spPr>
      </p:cxnSp>
      <p:sp>
        <p:nvSpPr>
          <p:cNvPr id="563" name="Google Shape;563;p76"/>
          <p:cNvSpPr txBox="1"/>
          <p:nvPr/>
        </p:nvSpPr>
        <p:spPr>
          <a:xfrm>
            <a:off x="484565" y="316034"/>
            <a:ext cx="6858000"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a:solidFill>
                  <a:srgbClr val="782DA0"/>
                </a:solidFill>
                <a:latin typeface="Arial"/>
                <a:ea typeface="Arial"/>
                <a:cs typeface="Arial"/>
                <a:sym typeface="Arial"/>
              </a:rPr>
              <a:t>Mixing Paint</a:t>
            </a:r>
            <a:endParaRPr/>
          </a:p>
        </p:txBody>
      </p:sp>
      <p:sp>
        <p:nvSpPr>
          <p:cNvPr id="564" name="Google Shape;564;p76"/>
          <p:cNvSpPr txBox="1"/>
          <p:nvPr/>
        </p:nvSpPr>
        <p:spPr>
          <a:xfrm>
            <a:off x="484565" y="936100"/>
            <a:ext cx="7507643" cy="242256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500">
                <a:solidFill>
                  <a:srgbClr val="23282D"/>
                </a:solidFill>
                <a:latin typeface="Arial"/>
                <a:ea typeface="Arial"/>
                <a:cs typeface="Arial"/>
                <a:sym typeface="Arial"/>
              </a:rPr>
              <a:t>Sofia mixes 4 cans of red paint with 3 cans of yellow paint to make orange. Her friend has only 1 can of yellow paint.</a:t>
            </a:r>
          </a:p>
          <a:p>
            <a:pPr marL="0" marR="0" lvl="0" indent="0" algn="l" rtl="0">
              <a:lnSpc>
                <a:spcPct val="100000"/>
              </a:lnSpc>
              <a:spcBef>
                <a:spcPts val="0"/>
              </a:spcBef>
              <a:spcAft>
                <a:spcPts val="0"/>
              </a:spcAft>
              <a:buNone/>
            </a:pPr>
            <a:endParaRPr lang="en-US" sz="2500">
              <a:solidFill>
                <a:srgbClr val="23282D"/>
              </a:solidFill>
              <a:latin typeface="Arial"/>
              <a:ea typeface="Arial"/>
              <a:cs typeface="Arial"/>
              <a:sym typeface="Arial"/>
            </a:endParaRPr>
          </a:p>
          <a:p>
            <a:pPr marL="0" marR="0" lvl="0" indent="0" algn="l" rtl="0">
              <a:lnSpc>
                <a:spcPct val="100000"/>
              </a:lnSpc>
              <a:spcBef>
                <a:spcPts val="0"/>
              </a:spcBef>
              <a:spcAft>
                <a:spcPts val="0"/>
              </a:spcAft>
              <a:buNone/>
            </a:pPr>
            <a:r>
              <a:rPr lang="en-US" sz="2500">
                <a:solidFill>
                  <a:srgbClr val="23282D"/>
                </a:solidFill>
                <a:latin typeface="Arial"/>
                <a:ea typeface="Arial"/>
                <a:cs typeface="Arial"/>
                <a:sym typeface="Arial"/>
              </a:rPr>
              <a:t>Predict: will the red amount be more or less than 4 cans?</a:t>
            </a:r>
          </a:p>
        </p:txBody>
      </p:sp>
      <p:sp>
        <p:nvSpPr>
          <p:cNvPr id="565" name="Google Shape;565;p76"/>
          <p:cNvSpPr/>
          <p:nvPr/>
        </p:nvSpPr>
        <p:spPr>
          <a:xfrm>
            <a:off x="484632" y="4718304"/>
            <a:ext cx="7178040" cy="95097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rgbClr val="23282D"/>
                </a:solidFill>
                <a:latin typeface="Arial"/>
                <a:ea typeface="Arial"/>
                <a:cs typeface="Arial"/>
                <a:sym typeface="Arial"/>
              </a:rPr>
              <a:t>How much red paint will keep the same shade? Show your reasoning.</a:t>
            </a:r>
          </a:p>
        </p:txBody>
      </p:sp>
      <p:pic>
        <p:nvPicPr>
          <p:cNvPr id="566" name="Google Shape;566;p76" descr="C:\Users\e402540\Downloads\kanchana\ePress PPT creation\sn_47fe6-1080mp4\OPS\img\.assets\d66f464250204041988f468ae483e710\m60102_prt_205a-dig.png"/>
          <p:cNvPicPr preferRelativeResize="0"/>
          <p:nvPr/>
        </p:nvPicPr>
        <p:blipFill rotWithShape="1">
          <a:blip r:embed="rId4">
            <a:alphaModFix/>
          </a:blip>
          <a:srcRect/>
          <a:stretch/>
        </p:blipFill>
        <p:spPr>
          <a:xfrm>
            <a:off x="8153276" y="1610227"/>
            <a:ext cx="3142029" cy="2426518"/>
          </a:xfrm>
          <a:prstGeom prst="rect">
            <a:avLst/>
          </a:prstGeom>
          <a:noFill/>
          <a:ln>
            <a:noFill/>
          </a:ln>
        </p:spPr>
      </p:pic>
      <p:sp>
        <p:nvSpPr>
          <p:cNvPr id="567" name="Reference style 567"/>
          <p:cNvSpPr txBox="1"/>
          <p:nvPr/>
        </p:nvSpPr>
        <p:spPr>
          <a:xfrm>
            <a:off x="502920" y="54864"/>
            <a:ext cx="6035040" cy="237744"/>
          </a:xfrm>
          <a:prstGeom prst="rect">
            <a:avLst/>
          </a:prstGeom>
          <a:noFill/>
        </p:spPr>
        <p:txBody>
          <a:bodyPr wrap="square" lIns="0" tIns="0" r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  PREDICT • SCALE DOWN</a:t>
            </a:r>
          </a:p>
        </p:txBody>
      </p:sp>
      <p:sp>
        <p:nvSpPr>
          <p:cNvPr id="569" name="Reference style 569"/>
          <p:cNvSpPr/>
          <p:nvPr/>
        </p:nvSpPr>
        <p:spPr>
          <a:xfrm>
            <a:off x="8046720" y="4114800"/>
            <a:ext cx="3474720" cy="150876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0" name="Reference style 570"/>
          <p:cNvSpPr/>
          <p:nvPr/>
        </p:nvSpPr>
        <p:spPr>
          <a:xfrm>
            <a:off x="8046720" y="4114800"/>
            <a:ext cx="64008" cy="150876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1" name="Reference style 571"/>
          <p:cNvSpPr txBox="1"/>
          <p:nvPr/>
        </p:nvSpPr>
        <p:spPr>
          <a:xfrm>
            <a:off x="8211312" y="4224528"/>
            <a:ext cx="3182112" cy="201168"/>
          </a:xfrm>
          <a:prstGeom prst="rect">
            <a:avLst/>
          </a:prstGeom>
          <a:noFill/>
        </p:spPr>
        <p:txBody>
          <a:bodyPr wrap="square" lIns="0" tIns="0" rIns="0" bIns="0" anchor="t">
            <a:noAutofit/>
          </a:bodyPr>
          <a:lstStyle/>
          <a:p>
            <a:pPr marL="0" indent="0" algn="l">
              <a:buNone/>
            </a:pPr>
            <a:r>
              <a:rPr sz="1200" b="1">
                <a:solidFill>
                  <a:srgbClr val="782DA0"/>
                </a:solidFill>
                <a:latin typeface="Arial"/>
              </a:rPr>
              <a:t>TALK TOOL</a:t>
            </a:r>
          </a:p>
        </p:txBody>
      </p:sp>
      <p:sp>
        <p:nvSpPr>
          <p:cNvPr id="572" name="Reference style 572"/>
          <p:cNvSpPr txBox="1"/>
          <p:nvPr/>
        </p:nvSpPr>
        <p:spPr>
          <a:xfrm>
            <a:off x="8211312" y="4517136"/>
            <a:ext cx="3154680" cy="1069848"/>
          </a:xfrm>
          <a:prstGeom prst="rect">
            <a:avLst/>
          </a:prstGeom>
          <a:noFill/>
        </p:spPr>
        <p:txBody>
          <a:bodyPr wrap="square" lIns="0" tIns="0" rIns="0" bIns="0" anchor="t">
            <a:noAutofit/>
          </a:bodyPr>
          <a:lstStyle/>
          <a:p>
            <a:pPr marL="0" indent="0" algn="l">
              <a:buNone/>
            </a:pPr>
            <a:r>
              <a:rPr sz="1600" b="0">
                <a:solidFill>
                  <a:srgbClr val="262C30"/>
                </a:solidFill>
                <a:latin typeface="Arial"/>
              </a:rPr>
              <a:t>“3 yellow cans become 1, so divide both amounts by ___.”</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Compare strategies; defend one with evidence.</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25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Reference style 14">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7" name="Rectangle 6">
            <a:extLst>
              <a:ext uri="{FF2B5EF4-FFF2-40B4-BE49-F238E27FC236}">
                <a16:creationId xmlns:a16="http://schemas.microsoft.com/office/drawing/2014/main" id="{B030AB9B-598F-4B63-8B27-1BA679F4337F}"/>
              </a:ext>
            </a:extLst>
          </p:cNvPr>
          <p:cNvSpPr>
            <a:spLocks noGrp="1"/>
          </p:cNvSpPr>
          <p:nvPr/>
        </p:nvSpPr>
        <p:spPr>
          <a:xfrm>
            <a:off x="523875" y="400050"/>
            <a:ext cx="6858000" cy="876300"/>
          </a:xfrm>
          <a:prstGeom prst="rect">
            <a:avLst/>
          </a:prstGeom>
          <a:noFill/>
          <a:ln w="0">
            <a:noFill/>
          </a:ln>
        </p:spPr>
        <p:txBody>
          <a:bodyPr>
            <a:noAutofit/>
          </a:bodyPr>
          <a:lstStyle/>
          <a:p>
            <a:pPr>
              <a:defRPr sz="2775" b="1">
                <a:solidFill>
                  <a:srgbClr val="782DA0"/>
                </a:solidFill>
                <a:latin typeface="Arial"/>
                <a:ea typeface="Arial"/>
                <a:cs typeface="Arial"/>
              </a:defRPr>
            </a:pPr>
            <a:r>
              <a:rPr sz="2800" b="1">
                <a:solidFill>
                  <a:srgbClr val="782DA0"/>
                </a:solidFill>
                <a:latin typeface="Arial"/>
                <a:ea typeface="Arial"/>
                <a:cs typeface="Arial"/>
              </a:rPr>
              <a:t>Scaling down to one can</a:t>
            </a:r>
          </a:p>
        </p:txBody>
      </p:sp>
      <p:sp>
        <p:nvSpPr>
          <p:cNvPr id="2" name="Rectangle 1">
            <a:extLst>
              <a:ext uri="{FF2B5EF4-FFF2-40B4-BE49-F238E27FC236}">
                <a16:creationId xmlns:a16="http://schemas.microsoft.com/office/drawing/2014/main" id="{EBA47647-175C-40C3-BA5D-47474ED8A832}"/>
              </a:ext>
            </a:extLst>
          </p:cNvPr>
          <p:cNvSpPr>
            <a:spLocks noGrp="1"/>
          </p:cNvSpPr>
          <p:nvPr/>
        </p:nvSpPr>
        <p:spPr>
          <a:xfrm>
            <a:off x="552450" y="161925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The </a:t>
            </a:r>
            <a:r>
              <a:rPr sz="2250" b="1">
                <a:solidFill>
                  <a:srgbClr val="23282D"/>
                </a:solidFill>
                <a:highlight>
                  <a:srgbClr val="FFF2A8"/>
                </a:highlight>
                <a:latin typeface="Arial"/>
                <a:ea typeface="Arial"/>
                <a:cs typeface="Arial"/>
              </a:rPr>
              <a:t>missing term</a:t>
            </a:r>
            <a:r>
              <a:rPr sz="2250" b="0">
                <a:solidFill>
                  <a:srgbClr val="23282D"/>
                </a:solidFill>
                <a:latin typeface="Arial"/>
                <a:ea typeface="Arial"/>
                <a:cs typeface="Arial"/>
              </a:rPr>
              <a:t> is the unknown amount. The starting ratio of red to yellow is 4 : 3.</a:t>
            </a:r>
          </a:p>
        </p:txBody>
      </p:sp>
      <p:sp>
        <p:nvSpPr>
          <p:cNvPr id="3" name="Rectangle 2">
            <a:extLst>
              <a:ext uri="{FF2B5EF4-FFF2-40B4-BE49-F238E27FC236}">
                <a16:creationId xmlns:a16="http://schemas.microsoft.com/office/drawing/2014/main" id="{E47CDC5B-2A69-444B-ADB8-23D87F2460DB}"/>
              </a:ext>
            </a:extLst>
          </p:cNvPr>
          <p:cNvSpPr>
            <a:spLocks noGrp="1"/>
          </p:cNvSpPr>
          <p:nvPr/>
        </p:nvSpPr>
        <p:spPr>
          <a:xfrm>
            <a:off x="552450" y="281940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To change 3 yellow cans to 1, divide by 3.</a:t>
            </a:r>
          </a:p>
        </p:txBody>
      </p:sp>
      <p:sp>
        <p:nvSpPr>
          <p:cNvPr id="4" name="Rectangle 3">
            <a:extLst>
              <a:ext uri="{FF2B5EF4-FFF2-40B4-BE49-F238E27FC236}">
                <a16:creationId xmlns:a16="http://schemas.microsoft.com/office/drawing/2014/main" id="{F9E6436A-A65B-4F9C-80D6-C73ED3A1673E}"/>
              </a:ext>
            </a:extLst>
          </p:cNvPr>
          <p:cNvSpPr>
            <a:spLocks noGrp="1"/>
          </p:cNvSpPr>
          <p:nvPr/>
        </p:nvSpPr>
        <p:spPr>
          <a:xfrm>
            <a:off x="552450" y="4019550"/>
            <a:ext cx="5286375" cy="1066800"/>
          </a:xfrm>
          <a:prstGeom prst="rect">
            <a:avLst/>
          </a:prstGeom>
          <a:noFill/>
          <a:ln w="0">
            <a:noFill/>
          </a:ln>
        </p:spPr>
        <p:txBody>
          <a:bodyPr>
            <a:noAutofit/>
          </a:bodyPr>
          <a:lstStyle/>
          <a:p>
            <a:pPr>
              <a:defRPr sz="2250" b="0">
                <a:solidFill>
                  <a:srgbClr val="23282D"/>
                </a:solidFill>
                <a:latin typeface="Arial"/>
                <a:ea typeface="Arial"/>
                <a:cs typeface="Arial"/>
              </a:defRPr>
            </a:pPr>
            <a:r>
              <a:rPr sz="2250" b="0">
                <a:solidFill>
                  <a:srgbClr val="23282D"/>
                </a:solidFill>
                <a:latin typeface="Arial"/>
                <a:ea typeface="Arial"/>
                <a:cs typeface="Arial"/>
              </a:rPr>
              <a:t>Divide the red amount by the same number: 4 ÷ 3 = 1⅓.</a:t>
            </a:r>
          </a:p>
        </p:txBody>
      </p:sp>
      <p:graphicFrame>
        <p:nvGraphicFramePr>
          <p:cNvPr id="11" name="Table 10"/>
          <p:cNvGraphicFramePr/>
          <p:nvPr/>
        </p:nvGraphicFramePr>
        <p:xfrm>
          <a:off x="6210300" y="1809750"/>
          <a:ext cx="5410200" cy="1885950"/>
        </p:xfrm>
        <a:graphic>
          <a:graphicData uri="http://schemas.openxmlformats.org/drawingml/2006/table">
            <a:tbl>
              <a:tblPr/>
              <a:tblGrid>
                <a:gridCol w="2705100">
                  <a:extLst>
                    <a:ext uri="{9D8B030D-6E8A-4147-A177-3AD203B41FA5}">
                      <a16:colId xmlns:a16="http://schemas.microsoft.com/office/drawing/2014/main" val="20000"/>
                    </a:ext>
                  </a:extLst>
                </a:gridCol>
                <a:gridCol w="2705100">
                  <a:extLst>
                    <a:ext uri="{9D8B030D-6E8A-4147-A177-3AD203B41FA5}">
                      <a16:colId xmlns:a16="http://schemas.microsoft.com/office/drawing/2014/main" val="20001"/>
                    </a:ext>
                  </a:extLst>
                </a:gridCol>
              </a:tblGrid>
              <a:tr h="628650">
                <a:tc>
                  <a:txBody>
                    <a:bodyPr/>
                    <a:lstStyle/>
                    <a:p>
                      <a:r>
                        <a:rPr sz="1875" b="1">
                          <a:solidFill>
                            <a:srgbClr val="FFFFFF"/>
                          </a:solidFill>
                          <a:latin typeface="Arial"/>
                          <a:ea typeface="Arial"/>
                          <a:cs typeface="Arial"/>
                        </a:rPr>
                        <a:t>Red paint (cans)</a:t>
                      </a:r>
                    </a:p>
                  </a:txBody>
                  <a:tcPr>
                    <a:solidFill>
                      <a:srgbClr val="0070C0"/>
                    </a:solidFill>
                  </a:tcPr>
                </a:tc>
                <a:tc>
                  <a:txBody>
                    <a:bodyPr/>
                    <a:lstStyle/>
                    <a:p>
                      <a:r>
                        <a:rPr sz="1875" b="1">
                          <a:solidFill>
                            <a:srgbClr val="FFFFFF"/>
                          </a:solidFill>
                          <a:latin typeface="Arial"/>
                          <a:ea typeface="Arial"/>
                          <a:cs typeface="Arial"/>
                        </a:rPr>
                        <a:t>Yellow paint (cans)</a:t>
                      </a:r>
                    </a:p>
                  </a:txBody>
                  <a:tcPr>
                    <a:solidFill>
                      <a:srgbClr val="0070C0"/>
                    </a:solidFill>
                  </a:tcPr>
                </a:tc>
                <a:extLst>
                  <a:ext uri="{0D108BD9-81ED-4DB2-BD59-A6C34878D82A}">
                    <a16:rowId xmlns:a16="http://schemas.microsoft.com/office/drawing/2014/main" val="10000"/>
                  </a:ext>
                </a:extLst>
              </a:tr>
              <a:tr h="628650">
                <a:tc>
                  <a:txBody>
                    <a:bodyPr/>
                    <a:lstStyle/>
                    <a:p>
                      <a:r>
                        <a:rPr sz="1875" b="0">
                          <a:solidFill>
                            <a:srgbClr val="23282D"/>
                          </a:solidFill>
                          <a:latin typeface="Arial"/>
                          <a:ea typeface="Arial"/>
                          <a:cs typeface="Arial"/>
                        </a:rPr>
                        <a:t>4</a:t>
                      </a:r>
                    </a:p>
                  </a:txBody>
                  <a:tcPr>
                    <a:solidFill>
                      <a:srgbClr val="FFFFFF"/>
                    </a:solidFill>
                  </a:tcPr>
                </a:tc>
                <a:tc>
                  <a:txBody>
                    <a:bodyPr/>
                    <a:lstStyle/>
                    <a:p>
                      <a:r>
                        <a:rPr sz="1875" b="0">
                          <a:solidFill>
                            <a:srgbClr val="23282D"/>
                          </a:solidFill>
                          <a:latin typeface="Arial"/>
                          <a:ea typeface="Arial"/>
                          <a:cs typeface="Arial"/>
                        </a:rPr>
                        <a:t>3</a:t>
                      </a:r>
                    </a:p>
                  </a:txBody>
                  <a:tcPr>
                    <a:solidFill>
                      <a:srgbClr val="FFFFFF"/>
                    </a:solidFill>
                  </a:tcPr>
                </a:tc>
                <a:extLst>
                  <a:ext uri="{0D108BD9-81ED-4DB2-BD59-A6C34878D82A}">
                    <a16:rowId xmlns:a16="http://schemas.microsoft.com/office/drawing/2014/main" val="10001"/>
                  </a:ext>
                </a:extLst>
              </a:tr>
              <a:tr h="628650">
                <a:tc>
                  <a:txBody>
                    <a:bodyPr/>
                    <a:lstStyle/>
                    <a:p>
                      <a:r>
                        <a:rPr sz="1875" b="0">
                          <a:solidFill>
                            <a:srgbClr val="23282D"/>
                          </a:solidFill>
                          <a:latin typeface="Arial"/>
                          <a:ea typeface="Arial"/>
                          <a:cs typeface="Arial"/>
                        </a:rPr>
                        <a:t>4 ÷ 3 = 1⅓</a:t>
                      </a:r>
                    </a:p>
                  </a:txBody>
                  <a:tcPr>
                    <a:solidFill>
                      <a:srgbClr val="FFFFFF"/>
                    </a:solidFill>
                  </a:tcPr>
                </a:tc>
                <a:tc>
                  <a:txBody>
                    <a:bodyPr/>
                    <a:lstStyle/>
                    <a:p>
                      <a:r>
                        <a:rPr sz="1875" b="0">
                          <a:solidFill>
                            <a:srgbClr val="23282D"/>
                          </a:solidFill>
                          <a:latin typeface="Arial"/>
                          <a:ea typeface="Arial"/>
                          <a:cs typeface="Arial"/>
                        </a:rPr>
                        <a:t>3 ÷ 3 = 1</a:t>
                      </a:r>
                    </a:p>
                  </a:txBody>
                  <a:tcPr>
                    <a:solidFill>
                      <a:srgbClr val="FFFFFF"/>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67BDF611-41B2-4F37-94FE-10BF4DABDA47}"/>
              </a:ext>
            </a:extLst>
          </p:cNvPr>
          <p:cNvSpPr>
            <a:spLocks noGrp="1"/>
          </p:cNvSpPr>
          <p:nvPr/>
        </p:nvSpPr>
        <p:spPr>
          <a:xfrm>
            <a:off x="552450" y="5553075"/>
            <a:ext cx="10858500" cy="742950"/>
          </a:xfrm>
          <a:prstGeom prst="rect">
            <a:avLst/>
          </a:prstGeom>
          <a:noFill/>
          <a:ln w="0">
            <a:noFill/>
          </a:ln>
        </p:spPr>
        <p:txBody>
          <a:bodyPr>
            <a:noAutofit/>
          </a:bodyPr>
          <a:lstStyle/>
          <a:p>
            <a:pPr marL="0" indent="0">
              <a:defRPr sz="2100" b="1">
                <a:solidFill>
                  <a:srgbClr val="0068A8"/>
                </a:solidFill>
                <a:latin typeface="Arial"/>
                <a:ea typeface="Arial"/>
                <a:cs typeface="Arial"/>
              </a:defRPr>
            </a:pPr>
            <a:r>
              <a:rPr sz="1800" b="1">
                <a:solidFill>
                  <a:srgbClr val="0068A8"/>
                </a:solidFill>
                <a:latin typeface="Arial"/>
                <a:ea typeface="Arial"/>
                <a:cs typeface="Arial"/>
              </a:rPr>
              <a:t>Check: 1⅓ × 3 = 4 and 1 × 3 = 3. Both amounts return to the starting ratio.</a:t>
            </a:r>
          </a:p>
        </p:txBody>
      </p:sp>
      <p:sp>
        <p:nvSpPr>
          <p:cNvPr id="12" name="Reference style 12"/>
          <p:cNvSpPr txBox="1"/>
          <p:nvPr/>
        </p:nvSpPr>
        <p:spPr>
          <a:xfrm>
            <a:off x="502920" y="54864"/>
            <a:ext cx="6035040" cy="237744"/>
          </a:xfrm>
          <a:prstGeom prst="rect">
            <a:avLst/>
          </a:prstGeom>
          <a:noFill/>
        </p:spPr>
        <p:txBody>
          <a:bodyPr wrap="square" lIns="0" tIns="0" r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  DIVIDE BOTH • CHECK</a:t>
            </a:r>
          </a:p>
        </p:txBody>
      </p:sp>
      <p:sp>
        <p:nvSpPr>
          <p:cNvPr id="15"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26 / 38</a:t>
            </a:r>
          </a:p>
        </p:txBody>
      </p:sp>
      <p:sp>
        <p:nvSpPr>
          <p:cNvPr id="16" name="EWL-COVER-1"/>
          <p:cNvSpPr/>
          <p:nvPr/>
        </p:nvSpPr>
        <p:spPr>
          <a:xfrm>
            <a:off x="497586" y="5498211"/>
            <a:ext cx="8428253" cy="852678"/>
          </a:xfrm>
          <a:prstGeom prst="rect">
            <a:avLst/>
          </a:prstGeom>
          <a:solidFill>
            <a:srgbClr val="FFFFFF"/>
          </a:solidFill>
          <a:ln>
            <a:noFill/>
          </a:ln>
        </p:spPr>
        <p:txBody>
          <a:bodyPr/>
          <a:lstStyle/>
          <a:p>
            <a:endParaRPr/>
          </a:p>
        </p:txBody>
      </p:sp>
      <p:sp xmlns:p="http://schemas.openxmlformats.org/presentationml/2006/main" xmlns:a="http://schemas.openxmlformats.org/drawingml/2006/main">
        <p:nvSpPr>
          <p:cNvPr id="17" name="TEACH-embedded-student-prompt" descr="Student thinking and response directions"/>
          <p:cNvSpPr txBox="1"/>
          <p:nvPr/>
        </p:nvSpPr>
        <p:spPr>
          <a:xfrm>
            <a:off x="6111240" y="45902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extLst>
      <p:ext uri="{BB962C8B-B14F-4D97-AF65-F5344CB8AC3E}">
        <p14:creationId xmlns:p14="http://schemas.microsoft.com/office/powerpoint/2010/main" val="1340707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0" name="Reference style 30">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15" name="Rectangle 14">
            <a:extLst>
              <a:ext uri="{FF2B5EF4-FFF2-40B4-BE49-F238E27FC236}">
                <a16:creationId xmlns:a16="http://schemas.microsoft.com/office/drawing/2014/main" id="{E192E813-A47C-4A8F-99EB-71B90101EBB7}"/>
              </a:ext>
            </a:extLst>
          </p:cNvPr>
          <p:cNvSpPr>
            <a:spLocks noGrp="1"/>
          </p:cNvSpPr>
          <p:nvPr/>
        </p:nvSpPr>
        <p:spPr>
          <a:xfrm>
            <a:off x="514350" y="381000"/>
            <a:ext cx="6858000" cy="542925"/>
          </a:xfrm>
          <a:prstGeom prst="rect">
            <a:avLst/>
          </a:prstGeom>
          <a:noFill/>
          <a:ln w="0">
            <a:noFill/>
          </a:ln>
        </p:spPr>
        <p:txBody>
          <a:bodyPr>
            <a:noAutofit/>
          </a:bodyPr>
          <a:lstStyle/>
          <a:p>
            <a:pPr>
              <a:defRPr sz="2700" b="1">
                <a:solidFill>
                  <a:srgbClr val="782DA0"/>
                </a:solidFill>
                <a:latin typeface="Arial"/>
                <a:ea typeface="Arial"/>
                <a:cs typeface="Arial"/>
              </a:defRPr>
            </a:pPr>
            <a:r>
              <a:rPr sz="2800" b="1">
                <a:solidFill>
                  <a:srgbClr val="782DA0"/>
                </a:solidFill>
                <a:latin typeface="Arial"/>
                <a:ea typeface="Arial"/>
                <a:cs typeface="Arial"/>
              </a:rPr>
              <a:t>Math Notes — Session 2</a:t>
            </a:r>
          </a:p>
        </p:txBody>
      </p:sp>
      <p:sp>
        <p:nvSpPr>
          <p:cNvPr id="2" name="Rectangle 1">
            <a:extLst>
              <a:ext uri="{FF2B5EF4-FFF2-40B4-BE49-F238E27FC236}">
                <a16:creationId xmlns:a16="http://schemas.microsoft.com/office/drawing/2014/main" id="{93C19DEE-3DAA-4F74-BDCE-D0569AA7192C}"/>
              </a:ext>
            </a:extLst>
          </p:cNvPr>
          <p:cNvSpPr>
            <a:spLocks noGrp="1"/>
          </p:cNvSpPr>
          <p:nvPr/>
        </p:nvSpPr>
        <p:spPr>
          <a:xfrm>
            <a:off x="523875" y="1028700"/>
            <a:ext cx="8667750" cy="342900"/>
          </a:xfrm>
          <a:prstGeom prst="rect">
            <a:avLst/>
          </a:prstGeom>
          <a:noFill/>
          <a:ln w="0">
            <a:noFill/>
          </a:ln>
        </p:spPr>
        <p:txBody>
          <a:bodyPr>
            <a:noAutofit/>
          </a:bodyPr>
          <a:lstStyle/>
          <a:p>
            <a:pPr>
              <a:defRPr sz="1575" b="0">
                <a:solidFill>
                  <a:srgbClr val="5D6872"/>
                </a:solidFill>
                <a:latin typeface="Arial"/>
                <a:ea typeface="Arial"/>
                <a:cs typeface="Arial"/>
              </a:defRPr>
            </a:pPr>
            <a:r>
              <a:rPr sz="1575" b="0">
                <a:solidFill>
                  <a:srgbClr val="5D6872"/>
                </a:solidFill>
                <a:latin typeface="Arial"/>
                <a:ea typeface="Arial"/>
                <a:cs typeface="Arial"/>
              </a:rPr>
              <a:t>Keep the idea from Mixing Paint.</a:t>
            </a:r>
          </a:p>
        </p:txBody>
      </p:sp>
      <p:sp>
        <p:nvSpPr>
          <p:cNvPr id="3" name="Rounded Rectangle 2">
            <a:extLst>
              <a:ext uri="{FF2B5EF4-FFF2-40B4-BE49-F238E27FC236}">
                <a16:creationId xmlns:a16="http://schemas.microsoft.com/office/drawing/2014/main" id="{320BEF30-5091-4075-BEE4-6F7614FA045F}"/>
              </a:ext>
            </a:extLst>
          </p:cNvPr>
          <p:cNvSpPr>
            <a:spLocks noGrp="1"/>
          </p:cNvSpPr>
          <p:nvPr/>
        </p:nvSpPr>
        <p:spPr>
          <a:xfrm>
            <a:off x="514350" y="1609725"/>
            <a:ext cx="5762625" cy="4114800"/>
          </a:xfrm>
          <a:prstGeom prst="roundRect">
            <a:avLst>
              <a:gd name="adj" fmla="val 1852"/>
            </a:avLst>
          </a:prstGeom>
          <a:solidFill>
            <a:srgbClr val="EAF6F5"/>
          </a:solidFill>
          <a:ln w="9525">
            <a:solidFill>
              <a:srgbClr val="D6E0E8"/>
            </a:solidFill>
          </a:ln>
        </p:spPr>
        <p:txBody>
          <a:bodyPr/>
          <a:lstStyle/>
          <a:p>
            <a:endParaRPr/>
          </a:p>
        </p:txBody>
      </p:sp>
      <p:sp>
        <p:nvSpPr>
          <p:cNvPr id="4" name="Rounded Rectangle 3">
            <a:extLst>
              <a:ext uri="{FF2B5EF4-FFF2-40B4-BE49-F238E27FC236}">
                <a16:creationId xmlns:a16="http://schemas.microsoft.com/office/drawing/2014/main" id="{4B2F112A-7234-41AD-ADFB-585C732452AB}"/>
              </a:ext>
            </a:extLst>
          </p:cNvPr>
          <p:cNvSpPr>
            <a:spLocks noGrp="1"/>
          </p:cNvSpPr>
          <p:nvPr/>
        </p:nvSpPr>
        <p:spPr>
          <a:xfrm>
            <a:off x="6543675" y="1609725"/>
            <a:ext cx="5114925" cy="4114800"/>
          </a:xfrm>
          <a:prstGeom prst="roundRect">
            <a:avLst>
              <a:gd name="adj" fmla="val 1852"/>
            </a:avLst>
          </a:prstGeom>
          <a:solidFill>
            <a:srgbClr val="FFF0E7"/>
          </a:solidFill>
          <a:ln w="9525">
            <a:solidFill>
              <a:srgbClr val="D6E0E8"/>
            </a:solidFill>
          </a:ln>
        </p:spPr>
        <p:txBody>
          <a:bodyPr/>
          <a:lstStyle/>
          <a:p>
            <a:endParaRPr/>
          </a:p>
        </p:txBody>
      </p:sp>
      <p:sp>
        <p:nvSpPr>
          <p:cNvPr id="5" name="Rectangle 4">
            <a:extLst>
              <a:ext uri="{FF2B5EF4-FFF2-40B4-BE49-F238E27FC236}">
                <a16:creationId xmlns:a16="http://schemas.microsoft.com/office/drawing/2014/main" id="{EBAA1791-3CD5-437B-8DB9-AEE3A3E5638E}"/>
              </a:ext>
            </a:extLst>
          </p:cNvPr>
          <p:cNvSpPr>
            <a:spLocks noGrp="1"/>
          </p:cNvSpPr>
          <p:nvPr/>
        </p:nvSpPr>
        <p:spPr>
          <a:xfrm>
            <a:off x="723900" y="1800225"/>
            <a:ext cx="5238750" cy="266700"/>
          </a:xfrm>
          <a:prstGeom prst="rect">
            <a:avLst/>
          </a:prstGeom>
          <a:noFill/>
          <a:ln w="0">
            <a:noFill/>
          </a:ln>
        </p:spPr>
        <p:txBody>
          <a:bodyPr>
            <a:noAutofit/>
          </a:bodyPr>
          <a:lstStyle/>
          <a:p>
            <a:pPr>
              <a:defRPr sz="1350" b="1">
                <a:solidFill>
                  <a:srgbClr val="782DA0"/>
                </a:solidFill>
                <a:latin typeface="Arial"/>
                <a:ea typeface="Arial"/>
                <a:cs typeface="Arial"/>
              </a:defRPr>
            </a:pPr>
            <a:r>
              <a:rPr sz="1350" b="1">
                <a:solidFill>
                  <a:srgbClr val="782DA0"/>
                </a:solidFill>
                <a:latin typeface="Arial"/>
                <a:ea typeface="Arial"/>
                <a:cs typeface="Arial"/>
              </a:rPr>
              <a:t>COPY, EXPLAIN, THEN CHECK</a:t>
            </a:r>
          </a:p>
        </p:txBody>
      </p:sp>
      <p:sp>
        <p:nvSpPr>
          <p:cNvPr id="6" name="Rectangle 5">
            <a:extLst>
              <a:ext uri="{FF2B5EF4-FFF2-40B4-BE49-F238E27FC236}">
                <a16:creationId xmlns:a16="http://schemas.microsoft.com/office/drawing/2014/main" id="{43DB0424-F71E-48B9-BB93-C23CEFFC4334}"/>
              </a:ext>
            </a:extLst>
          </p:cNvPr>
          <p:cNvSpPr>
            <a:spLocks noGrp="1"/>
          </p:cNvSpPr>
          <p:nvPr/>
        </p:nvSpPr>
        <p:spPr>
          <a:xfrm>
            <a:off x="733425" y="2352675"/>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01</a:t>
            </a:r>
          </a:p>
        </p:txBody>
      </p:sp>
      <p:sp>
        <p:nvSpPr>
          <p:cNvPr id="7" name="Rectangle 6">
            <a:extLst>
              <a:ext uri="{FF2B5EF4-FFF2-40B4-BE49-F238E27FC236}">
                <a16:creationId xmlns:a16="http://schemas.microsoft.com/office/drawing/2014/main" id="{83A65430-C891-4E67-BF46-416EB2F26DD7}"/>
              </a:ext>
            </a:extLst>
          </p:cNvPr>
          <p:cNvSpPr>
            <a:spLocks noGrp="1"/>
          </p:cNvSpPr>
          <p:nvPr/>
        </p:nvSpPr>
        <p:spPr>
          <a:xfrm>
            <a:off x="1257300" y="2324100"/>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Divide both amounts by the same number.</a:t>
            </a:r>
          </a:p>
        </p:txBody>
      </p:sp>
      <p:sp>
        <p:nvSpPr>
          <p:cNvPr id="8" name="Rectangle 7">
            <a:extLst>
              <a:ext uri="{FF2B5EF4-FFF2-40B4-BE49-F238E27FC236}">
                <a16:creationId xmlns:a16="http://schemas.microsoft.com/office/drawing/2014/main" id="{AE64A4C1-B24D-4411-904D-6238E9805E0A}"/>
              </a:ext>
            </a:extLst>
          </p:cNvPr>
          <p:cNvSpPr>
            <a:spLocks noGrp="1"/>
          </p:cNvSpPr>
          <p:nvPr/>
        </p:nvSpPr>
        <p:spPr>
          <a:xfrm>
            <a:off x="733425" y="3333750"/>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02</a:t>
            </a:r>
          </a:p>
        </p:txBody>
      </p:sp>
      <p:sp>
        <p:nvSpPr>
          <p:cNvPr id="9" name="Rectangle 8">
            <a:extLst>
              <a:ext uri="{FF2B5EF4-FFF2-40B4-BE49-F238E27FC236}">
                <a16:creationId xmlns:a16="http://schemas.microsoft.com/office/drawing/2014/main" id="{8B756241-72D2-4C72-9DF8-52785729555D}"/>
              </a:ext>
            </a:extLst>
          </p:cNvPr>
          <p:cNvSpPr>
            <a:spLocks noGrp="1"/>
          </p:cNvSpPr>
          <p:nvPr/>
        </p:nvSpPr>
        <p:spPr>
          <a:xfrm>
            <a:off x="1257300" y="3305175"/>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The missing amount can be a fraction.</a:t>
            </a:r>
          </a:p>
        </p:txBody>
      </p:sp>
      <p:sp>
        <p:nvSpPr>
          <p:cNvPr id="10" name="Rectangle 9">
            <a:extLst>
              <a:ext uri="{FF2B5EF4-FFF2-40B4-BE49-F238E27FC236}">
                <a16:creationId xmlns:a16="http://schemas.microsoft.com/office/drawing/2014/main" id="{1465A294-72CB-4507-A109-4061B370435E}"/>
              </a:ext>
            </a:extLst>
          </p:cNvPr>
          <p:cNvSpPr>
            <a:spLocks noGrp="1"/>
          </p:cNvSpPr>
          <p:nvPr/>
        </p:nvSpPr>
        <p:spPr>
          <a:xfrm>
            <a:off x="733425" y="4314825"/>
            <a:ext cx="447675" cy="476250"/>
          </a:xfrm>
          <a:prstGeom prst="rect">
            <a:avLst/>
          </a:prstGeom>
          <a:noFill/>
          <a:ln w="0">
            <a:noFill/>
          </a:ln>
        </p:spPr>
        <p:txBody>
          <a:bodyPr>
            <a:noAutofit/>
          </a:bodyPr>
          <a:lstStyle/>
          <a:p>
            <a:pPr>
              <a:defRPr sz="1875" b="1">
                <a:solidFill>
                  <a:srgbClr val="782DA0"/>
                </a:solidFill>
                <a:latin typeface="Arial"/>
                <a:ea typeface="Arial"/>
                <a:cs typeface="Arial"/>
              </a:defRPr>
            </a:pPr>
            <a:r>
              <a:rPr sz="1875" b="1">
                <a:solidFill>
                  <a:srgbClr val="782DA0"/>
                </a:solidFill>
                <a:latin typeface="Arial"/>
                <a:ea typeface="Arial"/>
                <a:cs typeface="Arial"/>
              </a:rPr>
              <a:t>03</a:t>
            </a:r>
          </a:p>
        </p:txBody>
      </p:sp>
      <p:sp>
        <p:nvSpPr>
          <p:cNvPr id="11" name="Rectangle 10">
            <a:extLst>
              <a:ext uri="{FF2B5EF4-FFF2-40B4-BE49-F238E27FC236}">
                <a16:creationId xmlns:a16="http://schemas.microsoft.com/office/drawing/2014/main" id="{733E0C8F-68BA-4A4E-B5F5-18498180BC16}"/>
              </a:ext>
            </a:extLst>
          </p:cNvPr>
          <p:cNvSpPr>
            <a:spLocks noGrp="1"/>
          </p:cNvSpPr>
          <p:nvPr/>
        </p:nvSpPr>
        <p:spPr>
          <a:xfrm>
            <a:off x="1257300" y="4286250"/>
            <a:ext cx="4752975" cy="847725"/>
          </a:xfrm>
          <a:prstGeom prst="rect">
            <a:avLst/>
          </a:prstGeom>
          <a:noFill/>
          <a:ln w="0">
            <a:noFill/>
          </a:ln>
        </p:spPr>
        <p:txBody>
          <a:bodyPr>
            <a:noAutofit/>
          </a:bodyPr>
          <a:lstStyle/>
          <a:p>
            <a:pPr>
              <a:defRPr sz="2100" b="0">
                <a:solidFill>
                  <a:srgbClr val="23282D"/>
                </a:solidFill>
                <a:latin typeface="Arial"/>
                <a:ea typeface="Arial"/>
                <a:cs typeface="Arial"/>
              </a:defRPr>
            </a:pPr>
            <a:r>
              <a:rPr sz="2100" b="0">
                <a:solidFill>
                  <a:srgbClr val="23282D"/>
                </a:solidFill>
                <a:latin typeface="Arial"/>
                <a:ea typeface="Arial"/>
                <a:cs typeface="Arial"/>
              </a:rPr>
              <a:t>Check the new pair against the starting </a:t>
            </a:r>
            <a:r>
              <a:rPr sz="2100" b="1">
                <a:solidFill>
                  <a:srgbClr val="23282D"/>
                </a:solidFill>
                <a:latin typeface="Arial"/>
                <a:ea typeface="Arial"/>
                <a:cs typeface="Arial"/>
              </a:rPr>
              <a:t>ratio</a:t>
            </a:r>
            <a:r>
              <a:rPr sz="2100" b="0">
                <a:solidFill>
                  <a:srgbClr val="23282D"/>
                </a:solidFill>
                <a:latin typeface="Arial"/>
                <a:ea typeface="Arial"/>
                <a:cs typeface="Arial"/>
              </a:rPr>
              <a:t>.</a:t>
            </a:r>
          </a:p>
        </p:txBody>
      </p:sp>
      <p:sp>
        <p:nvSpPr>
          <p:cNvPr id="12" name="Rectangle 11">
            <a:extLst>
              <a:ext uri="{FF2B5EF4-FFF2-40B4-BE49-F238E27FC236}">
                <a16:creationId xmlns:a16="http://schemas.microsoft.com/office/drawing/2014/main" id="{47B0E58F-CFC8-4E30-A796-12A2C374B136}"/>
              </a:ext>
            </a:extLst>
          </p:cNvPr>
          <p:cNvSpPr>
            <a:spLocks noGrp="1"/>
          </p:cNvSpPr>
          <p:nvPr/>
        </p:nvSpPr>
        <p:spPr>
          <a:xfrm>
            <a:off x="6743700" y="1809750"/>
            <a:ext cx="4667250" cy="266700"/>
          </a:xfrm>
          <a:prstGeom prst="rect">
            <a:avLst/>
          </a:prstGeom>
          <a:noFill/>
          <a:ln w="0">
            <a:noFill/>
          </a:ln>
        </p:spPr>
        <p:txBody>
          <a:bodyPr>
            <a:noAutofit/>
          </a:bodyPr>
          <a:lstStyle/>
          <a:p>
            <a:pPr>
              <a:defRPr sz="1350" b="1">
                <a:solidFill>
                  <a:srgbClr val="0070C0"/>
                </a:solidFill>
                <a:latin typeface="Arial"/>
                <a:ea typeface="Arial"/>
                <a:cs typeface="Arial"/>
              </a:defRPr>
            </a:pPr>
            <a:r>
              <a:rPr sz="1350" b="1">
                <a:solidFill>
                  <a:srgbClr val="0070C0"/>
                </a:solidFill>
                <a:latin typeface="Arial"/>
                <a:ea typeface="Arial"/>
                <a:cs typeface="Arial"/>
              </a:rPr>
              <a:t>LOOK BACK AT THE EXAMPLE</a:t>
            </a:r>
          </a:p>
        </p:txBody>
      </p:sp>
      <p:graphicFrame>
        <p:nvGraphicFramePr>
          <p:cNvPr id="27" name="Table 26"/>
          <p:cNvGraphicFramePr/>
          <p:nvPr/>
        </p:nvGraphicFramePr>
        <p:xfrm>
          <a:off x="6743700" y="2333625"/>
          <a:ext cx="4705350" cy="1514475"/>
        </p:xfrm>
        <a:graphic>
          <a:graphicData uri="http://schemas.openxmlformats.org/drawingml/2006/table">
            <a:tbl>
              <a:tblPr/>
              <a:tblGrid>
                <a:gridCol w="2352675">
                  <a:extLst>
                    <a:ext uri="{9D8B030D-6E8A-4147-A177-3AD203B41FA5}">
                      <a16:colId xmlns:a16="http://schemas.microsoft.com/office/drawing/2014/main" val="20000"/>
                    </a:ext>
                  </a:extLst>
                </a:gridCol>
                <a:gridCol w="2352675">
                  <a:extLst>
                    <a:ext uri="{9D8B030D-6E8A-4147-A177-3AD203B41FA5}">
                      <a16:colId xmlns:a16="http://schemas.microsoft.com/office/drawing/2014/main" val="20001"/>
                    </a:ext>
                  </a:extLst>
                </a:gridCol>
              </a:tblGrid>
              <a:tr h="504825">
                <a:tc>
                  <a:txBody>
                    <a:bodyPr/>
                    <a:lstStyle/>
                    <a:p>
                      <a:r>
                        <a:rPr sz="1425" b="1">
                          <a:solidFill>
                            <a:srgbClr val="FFFFFF"/>
                          </a:solidFill>
                          <a:latin typeface="Arial"/>
                          <a:ea typeface="Arial"/>
                          <a:cs typeface="Arial"/>
                        </a:rPr>
                        <a:t>Red paint (cans)</a:t>
                      </a:r>
                    </a:p>
                  </a:txBody>
                  <a:tcPr>
                    <a:solidFill>
                      <a:srgbClr val="0070C0"/>
                    </a:solidFill>
                  </a:tcPr>
                </a:tc>
                <a:tc>
                  <a:txBody>
                    <a:bodyPr/>
                    <a:lstStyle/>
                    <a:p>
                      <a:r>
                        <a:rPr sz="1425" b="1">
                          <a:solidFill>
                            <a:srgbClr val="FFFFFF"/>
                          </a:solidFill>
                          <a:latin typeface="Arial"/>
                          <a:ea typeface="Arial"/>
                          <a:cs typeface="Arial"/>
                        </a:rPr>
                        <a:t>Yellow paint (cans)</a:t>
                      </a:r>
                    </a:p>
                  </a:txBody>
                  <a:tcPr>
                    <a:solidFill>
                      <a:srgbClr val="0070C0"/>
                    </a:solidFill>
                  </a:tcPr>
                </a:tc>
                <a:extLst>
                  <a:ext uri="{0D108BD9-81ED-4DB2-BD59-A6C34878D82A}">
                    <a16:rowId xmlns:a16="http://schemas.microsoft.com/office/drawing/2014/main" val="10000"/>
                  </a:ext>
                </a:extLst>
              </a:tr>
              <a:tr h="504825">
                <a:tc>
                  <a:txBody>
                    <a:bodyPr/>
                    <a:lstStyle/>
                    <a:p>
                      <a:r>
                        <a:rPr sz="1800" b="0">
                          <a:solidFill>
                            <a:srgbClr val="23282D"/>
                          </a:solidFill>
                          <a:latin typeface="Arial"/>
                          <a:ea typeface="Arial"/>
                          <a:cs typeface="Arial"/>
                        </a:rPr>
                        <a:t>4</a:t>
                      </a:r>
                    </a:p>
                  </a:txBody>
                  <a:tcPr>
                    <a:solidFill>
                      <a:srgbClr val="FFFFFF"/>
                    </a:solidFill>
                  </a:tcPr>
                </a:tc>
                <a:tc>
                  <a:txBody>
                    <a:bodyPr/>
                    <a:lstStyle/>
                    <a:p>
                      <a:r>
                        <a:rPr sz="1800" b="0">
                          <a:solidFill>
                            <a:srgbClr val="23282D"/>
                          </a:solidFill>
                          <a:latin typeface="Arial"/>
                          <a:ea typeface="Arial"/>
                          <a:cs typeface="Arial"/>
                        </a:rPr>
                        <a:t>3</a:t>
                      </a:r>
                    </a:p>
                  </a:txBody>
                  <a:tcPr>
                    <a:solidFill>
                      <a:srgbClr val="FFFFFF"/>
                    </a:solidFill>
                  </a:tcPr>
                </a:tc>
                <a:extLst>
                  <a:ext uri="{0D108BD9-81ED-4DB2-BD59-A6C34878D82A}">
                    <a16:rowId xmlns:a16="http://schemas.microsoft.com/office/drawing/2014/main" val="10001"/>
                  </a:ext>
                </a:extLst>
              </a:tr>
              <a:tr h="504825">
                <a:tc>
                  <a:txBody>
                    <a:bodyPr/>
                    <a:lstStyle/>
                    <a:p>
                      <a:r>
                        <a:rPr sz="1800" b="0">
                          <a:solidFill>
                            <a:srgbClr val="23282D"/>
                          </a:solidFill>
                          <a:latin typeface="Arial"/>
                          <a:ea typeface="Arial"/>
                          <a:cs typeface="Arial"/>
                        </a:rPr>
                        <a:t>4 ÷ 3 = 1⅓</a:t>
                      </a:r>
                    </a:p>
                  </a:txBody>
                  <a:tcPr>
                    <a:solidFill>
                      <a:srgbClr val="FFFFFF"/>
                    </a:solidFill>
                  </a:tcPr>
                </a:tc>
                <a:tc>
                  <a:txBody>
                    <a:bodyPr/>
                    <a:lstStyle/>
                    <a:p>
                      <a:r>
                        <a:rPr sz="1800" b="0">
                          <a:solidFill>
                            <a:srgbClr val="23282D"/>
                          </a:solidFill>
                          <a:latin typeface="Arial"/>
                          <a:ea typeface="Arial"/>
                          <a:cs typeface="Arial"/>
                        </a:rPr>
                        <a:t>3 ÷ 3 = 1</a:t>
                      </a:r>
                    </a:p>
                  </a:txBody>
                  <a:tcPr>
                    <a:solidFill>
                      <a:srgbClr val="FFFFFF"/>
                    </a:solidFill>
                  </a:tcPr>
                </a:tc>
                <a:extLst>
                  <a:ext uri="{0D108BD9-81ED-4DB2-BD59-A6C34878D82A}">
                    <a16:rowId xmlns:a16="http://schemas.microsoft.com/office/drawing/2014/main" val="10002"/>
                  </a:ext>
                </a:extLst>
              </a:tr>
            </a:tbl>
          </a:graphicData>
        </a:graphic>
      </p:graphicFrame>
      <p:sp>
        <p:nvSpPr>
          <p:cNvPr id="14" name="Rectangle 13">
            <a:extLst>
              <a:ext uri="{FF2B5EF4-FFF2-40B4-BE49-F238E27FC236}">
                <a16:creationId xmlns:a16="http://schemas.microsoft.com/office/drawing/2014/main" id="{9DF014B6-0CF9-4D0E-8840-62B0CEF933EF}"/>
              </a:ext>
            </a:extLst>
          </p:cNvPr>
          <p:cNvSpPr>
            <a:spLocks noGrp="1"/>
          </p:cNvSpPr>
          <p:nvPr/>
        </p:nvSpPr>
        <p:spPr>
          <a:xfrm>
            <a:off x="6743700" y="4076700"/>
            <a:ext cx="4667250" cy="933450"/>
          </a:xfrm>
          <a:prstGeom prst="rect">
            <a:avLst/>
          </a:prstGeom>
          <a:noFill/>
          <a:ln w="0">
            <a:noFill/>
          </a:ln>
        </p:spPr>
        <p:txBody>
          <a:bodyPr>
            <a:noAutofit/>
          </a:bodyPr>
          <a:lstStyle/>
          <a:p>
            <a:pPr>
              <a:defRPr sz="1875" b="1">
                <a:solidFill>
                  <a:srgbClr val="0070C0"/>
                </a:solidFill>
                <a:latin typeface="Arial"/>
                <a:ea typeface="Arial"/>
                <a:cs typeface="Arial"/>
              </a:defRPr>
            </a:pPr>
            <a:r>
              <a:rPr sz="1875" b="1">
                <a:solidFill>
                  <a:srgbClr val="0070C0"/>
                </a:solidFill>
                <a:latin typeface="Arial"/>
                <a:ea typeface="Arial"/>
                <a:cs typeface="Arial"/>
              </a:rPr>
              <a:t>1⅓ cans of red paint for 1 can of yellow paint.</a:t>
            </a:r>
          </a:p>
        </p:txBody>
      </p:sp>
      <p:sp>
        <p:nvSpPr>
          <p:cNvPr id="28" name="Reference style 28"/>
          <p:cNvSpPr txBox="1"/>
          <p:nvPr/>
        </p:nvSpPr>
        <p:spPr>
          <a:xfrm>
            <a:off x="502920" y="54864"/>
            <a:ext cx="6035040" cy="237744"/>
          </a:xfrm>
          <a:prstGeom prst="rect">
            <a:avLst/>
          </a:prstGeom>
          <a:noFill/>
        </p:spPr>
        <p:txBody>
          <a:bodyPr wrap="square" lIns="0" tIns="0" rIns="0" bIns="0" anchor="ctr">
            <a:noAutofit/>
          </a:bodyPr>
          <a:lstStyle/>
          <a:p>
            <a:pPr algn="l">
              <a:defRPr/>
            </a:pPr>
            <a:r>
              <a:rPr lang="en-US" sz="1200" b="1" dirty="0">
                <a:solidFill>
                  <a:srgbClr val="1E2682"/>
                </a:solidFill>
                <a:latin typeface="Arial"/>
              </a:rPr>
              <a:t>STUDENT NOTES</a:t>
            </a:r>
            <a:r>
              <a:rPr lang="en-US" sz="1200" b="1" dirty="0">
                <a:solidFill>
                  <a:srgbClr val="5D6872"/>
                </a:solidFill>
                <a:latin typeface="Arial"/>
              </a:rPr>
              <a:t>  ·  COPY LESS • UNDERSTAND MORE</a:t>
            </a:r>
          </a:p>
        </p:txBody>
      </p:sp>
      <p:sp>
        <p:nvSpPr>
          <p:cNvPr id="31"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27 / 38</a:t>
            </a:r>
          </a:p>
        </p:txBody>
      </p:sp>
      <p:grpSp>
        <p:nvGrpSpPr>
          <p:cNvPr id="32" name="TEACH-1-student-move" descr="TEACH 1 · Facilitate clear, standards-based content learning"/>
          <p:cNvGrpSpPr/>
          <p:nvPr/>
        </p:nvGrpSpPr>
        <p:grpSpPr>
          <a:xfrm>
            <a:off x="502920" y="5145176"/>
            <a:ext cx="11186160" cy="731520"/>
            <a:chOff x="502920" y="5145176"/>
            <a:chExt cx="11186160" cy="731520"/>
          </a:xfrm>
        </p:grpSpPr>
        <p:sp>
          <p:nvSpPr>
            <p:cNvPr id="33" name="TEACH-move-card"/>
            <p:cNvSpPr/>
            <p:nvPr/>
          </p:nvSpPr>
          <p:spPr>
            <a:xfrm>
              <a:off x="502920" y="5145176"/>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34" name="TEACH-move-rule"/>
            <p:cNvSpPr/>
            <p:nvPr/>
          </p:nvSpPr>
          <p:spPr>
            <a:xfrm>
              <a:off x="548640" y="5284165"/>
              <a:ext cx="100584" cy="453542"/>
            </a:xfrm>
            <a:prstGeom prst="roundRect">
              <a:avLst>
                <a:gd name="adj" fmla="val 50000"/>
              </a:avLst>
            </a:prstGeom>
            <a:solidFill>
              <a:srgbClr val="01708C"/>
            </a:solidFill>
            <a:ln>
              <a:noFill/>
            </a:ln>
          </p:spPr>
          <p:txBody>
            <a:bodyPr/>
            <a:lstStyle/>
            <a:p>
              <a:endParaRPr/>
            </a:p>
          </p:txBody>
        </p:sp>
        <p:sp>
          <p:nvSpPr>
            <p:cNvPr id="35" name="TEACH-move-text"/>
            <p:cNvSpPr txBox="1"/>
            <p:nvPr/>
          </p:nvSpPr>
          <p:spPr>
            <a:xfrm>
              <a:off x="822960" y="5145176"/>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SAY THE GOAL  ·  </a:t>
              </a:r>
              <a:r>
                <a:rPr lang="en-US" sz="1800" dirty="0">
                  <a:solidFill>
                    <a:srgbClr val="13303A"/>
                  </a:solidFill>
                  <a:latin typeface="Arial"/>
                </a:rPr>
                <a:t>Say today’s goal in your own words, then name one place this shows up outside math class.</a:t>
              </a:r>
              <a:endParaRPr lang="en-US" sz="1800"/>
            </a:p>
          </p:txBody>
        </p:sp>
      </p:grpSp>
    </p:spTree>
    <p:extLst>
      <p:ext uri="{BB962C8B-B14F-4D97-AF65-F5344CB8AC3E}">
        <p14:creationId xmlns:p14="http://schemas.microsoft.com/office/powerpoint/2010/main" val="19587382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pic>
        <p:nvPicPr>
          <p:cNvPr id="800" name="Reference style 800">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786" name="Google Shape;786;p101"/>
          <p:cNvSpPr txBox="1"/>
          <p:nvPr/>
        </p:nvSpPr>
        <p:spPr>
          <a:xfrm>
            <a:off x="484565" y="316034"/>
            <a:ext cx="6858000"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a:solidFill>
                  <a:srgbClr val="782DA0"/>
                </a:solidFill>
                <a:latin typeface="Arial"/>
                <a:ea typeface="Arial"/>
                <a:cs typeface="Arial"/>
                <a:sym typeface="Arial"/>
              </a:rPr>
              <a:t>Let’s Explore More</a:t>
            </a:r>
            <a:endParaRPr/>
          </a:p>
        </p:txBody>
      </p:sp>
      <p:sp>
        <p:nvSpPr>
          <p:cNvPr id="787" name="Google Shape;787;p101"/>
          <p:cNvSpPr txBox="1"/>
          <p:nvPr/>
        </p:nvSpPr>
        <p:spPr>
          <a:xfrm>
            <a:off x="484565" y="936000"/>
            <a:ext cx="7335460" cy="1759575"/>
          </a:xfrm>
          <a:prstGeom prst="rect">
            <a:avLst/>
          </a:prstGeom>
          <a:no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rgbClr val="262626"/>
              </a:buClr>
              <a:buSzPts val="2800"/>
              <a:buFont typeface="Calibri"/>
              <a:buAutoNum type="alphaLcPeriod"/>
            </a:pPr>
            <a:r>
              <a:rPr lang="en-US" sz="2800">
                <a:solidFill>
                  <a:srgbClr val="23282D"/>
                </a:solidFill>
                <a:latin typeface="Arial"/>
                <a:ea typeface="Arial"/>
                <a:cs typeface="Arial"/>
                <a:sym typeface="Arial"/>
              </a:rPr>
              <a:t>How can you use the </a:t>
            </a:r>
            <a:r>
              <a:rPr lang="en-US" sz="2800" b="1">
                <a:solidFill>
                  <a:srgbClr val="23282D"/>
                </a:solidFill>
                <a:highlight>
                  <a:srgbClr val="FFF2A8"/>
                </a:highlight>
                <a:latin typeface="Arial"/>
                <a:ea typeface="Arial"/>
                <a:cs typeface="Arial"/>
                <a:sym typeface="Arial"/>
              </a:rPr>
              <a:t>ratio table</a:t>
            </a:r>
            <a:r>
              <a:rPr lang="en-US" sz="2800">
                <a:solidFill>
                  <a:srgbClr val="23282D"/>
                </a:solidFill>
                <a:latin typeface="Arial"/>
                <a:ea typeface="Arial"/>
                <a:cs typeface="Arial"/>
                <a:sym typeface="Arial"/>
              </a:rPr>
              <a:t> to determine the number of cans of yellow paint needed for 8 cans of red paint to make the same shade of orange?</a:t>
            </a:r>
            <a:endParaRPr/>
          </a:p>
        </p:txBody>
      </p:sp>
      <p:graphicFrame>
        <p:nvGraphicFramePr>
          <p:cNvPr id="788" name="Google Shape;788;p101"/>
          <p:cNvGraphicFramePr/>
          <p:nvPr/>
        </p:nvGraphicFramePr>
        <p:xfrm>
          <a:off x="7818120" y="2103120"/>
          <a:ext cx="3703320" cy="3063240"/>
        </p:xfrm>
        <a:graphic>
          <a:graphicData uri="http://schemas.openxmlformats.org/drawingml/2006/table">
            <a:tbl>
              <a:tblPr firstRow="1" bandRow="1">
                <a:noFill/>
                <a:tableStyleId>{BF347EE8-D079-4CA4-87E7-91F46183383E}</a:tableStyleId>
              </a:tblPr>
              <a:tblGrid>
                <a:gridCol w="2009425">
                  <a:extLst>
                    <a:ext uri="{9D8B030D-6E8A-4147-A177-3AD203B41FA5}">
                      <a16:colId xmlns:a16="http://schemas.microsoft.com/office/drawing/2014/main" val="20000"/>
                    </a:ext>
                  </a:extLst>
                </a:gridCol>
                <a:gridCol w="902050">
                  <a:extLst>
                    <a:ext uri="{9D8B030D-6E8A-4147-A177-3AD203B41FA5}">
                      <a16:colId xmlns:a16="http://schemas.microsoft.com/office/drawing/2014/main" val="20001"/>
                    </a:ext>
                  </a:extLst>
                </a:gridCol>
                <a:gridCol w="840250">
                  <a:extLst>
                    <a:ext uri="{9D8B030D-6E8A-4147-A177-3AD203B41FA5}">
                      <a16:colId xmlns:a16="http://schemas.microsoft.com/office/drawing/2014/main" val="20002"/>
                    </a:ext>
                  </a:extLst>
                </a:gridCol>
              </a:tblGrid>
              <a:tr h="883925">
                <a:tc>
                  <a:txBody>
                    <a:bodyPr/>
                    <a:lstStyle/>
                    <a:p>
                      <a:pPr marL="0" marR="0" lvl="0" indent="0" algn="l" rtl="0">
                        <a:spcBef>
                          <a:spcPts val="0"/>
                        </a:spcBef>
                        <a:spcAft>
                          <a:spcPts val="0"/>
                        </a:spcAft>
                        <a:buNone/>
                      </a:pPr>
                      <a:r>
                        <a:rPr lang="en-US" sz="2600"/>
                        <a:t>Red Paint (cans)</a:t>
                      </a:r>
                      <a:endParaRPr sz="2600" i="0">
                        <a:latin typeface="Arial"/>
                        <a:ea typeface="Arial"/>
                        <a:cs typeface="Arial"/>
                        <a:sym typeface="Aria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695B9A"/>
                    </a:solidFill>
                  </a:tcPr>
                </a:tc>
                <a:tc>
                  <a:txBody>
                    <a:bodyPr/>
                    <a:lstStyle/>
                    <a:p>
                      <a:pPr marL="0" marR="0" lvl="0" indent="0" algn="l" rtl="0">
                        <a:spcBef>
                          <a:spcPts val="0"/>
                        </a:spcBef>
                        <a:spcAft>
                          <a:spcPts val="0"/>
                        </a:spcAft>
                        <a:buNone/>
                      </a:pPr>
                      <a:endParaRPr sz="180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2600"/>
                        <a:buFont typeface="Calibri"/>
                        <a:buNone/>
                      </a:pPr>
                      <a:r>
                        <a:rPr lang="en-US" sz="2600" b="0">
                          <a:solidFill>
                            <a:schemeClr val="dk1"/>
                          </a:solidFill>
                        </a:rPr>
                        <a:t>4</a:t>
                      </a:r>
                      <a:endParaRPr sz="2600" b="0" i="0">
                        <a:solidFill>
                          <a:schemeClr val="dk1"/>
                        </a:solidFill>
                        <a:latin typeface="Arial"/>
                        <a:ea typeface="Arial"/>
                        <a:cs typeface="Arial"/>
                        <a:sym typeface="Aria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883925">
                <a:tc>
                  <a:txBody>
                    <a:bodyPr/>
                    <a:lstStyle/>
                    <a:p>
                      <a:pPr marL="0" marR="0" lvl="0" indent="0" algn="l" rtl="0">
                        <a:lnSpc>
                          <a:spcPct val="100000"/>
                        </a:lnSpc>
                        <a:spcBef>
                          <a:spcPts val="0"/>
                        </a:spcBef>
                        <a:spcAft>
                          <a:spcPts val="0"/>
                        </a:spcAft>
                        <a:buClr>
                          <a:schemeClr val="lt1"/>
                        </a:buClr>
                        <a:buSzPts val="2600"/>
                        <a:buFont typeface="Calibri"/>
                        <a:buNone/>
                      </a:pPr>
                      <a:r>
                        <a:rPr lang="en-US" sz="2600" b="1">
                          <a:solidFill>
                            <a:schemeClr val="lt1"/>
                          </a:solidFill>
                        </a:rPr>
                        <a:t>Yellow Paint (cans)</a:t>
                      </a:r>
                      <a:endParaRPr sz="2600" b="1" i="0">
                        <a:solidFill>
                          <a:schemeClr val="lt1"/>
                        </a:solidFill>
                        <a:latin typeface="Arial"/>
                        <a:ea typeface="Arial"/>
                        <a:cs typeface="Arial"/>
                        <a:sym typeface="Aria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695B9A"/>
                    </a:solidFill>
                  </a:tcPr>
                </a:tc>
                <a:tc>
                  <a:txBody>
                    <a:bodyPr/>
                    <a:lstStyle/>
                    <a:p>
                      <a:pPr marL="0" marR="0" lvl="0" indent="0" algn="ctr" rtl="0">
                        <a:lnSpc>
                          <a:spcPct val="100000"/>
                        </a:lnSpc>
                        <a:spcBef>
                          <a:spcPts val="0"/>
                        </a:spcBef>
                        <a:spcAft>
                          <a:spcPts val="0"/>
                        </a:spcAft>
                        <a:buClr>
                          <a:schemeClr val="dk1"/>
                        </a:buClr>
                        <a:buSzPts val="2600"/>
                        <a:buFont typeface="Calibri"/>
                        <a:buNone/>
                      </a:pPr>
                      <a:r>
                        <a:rPr lang="en-US" sz="2600"/>
                        <a:t>1</a:t>
                      </a:r>
                      <a:endParaRPr sz="2600" i="0">
                        <a:latin typeface="Arial"/>
                        <a:ea typeface="Arial"/>
                        <a:cs typeface="Arial"/>
                        <a:sym typeface="Aria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600"/>
                        <a:buFont typeface="Calibri"/>
                        <a:buNone/>
                      </a:pPr>
                      <a:r>
                        <a:rPr lang="en-US" sz="2600"/>
                        <a:t>3</a:t>
                      </a:r>
                      <a:endParaRPr sz="2600" i="0">
                        <a:latin typeface="Arial"/>
                        <a:ea typeface="Arial"/>
                        <a:cs typeface="Arial"/>
                        <a:sym typeface="Aria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789" name="Google Shape;789;p101"/>
          <p:cNvSpPr txBox="1"/>
          <p:nvPr/>
        </p:nvSpPr>
        <p:spPr>
          <a:xfrm>
            <a:off x="6238462" y="3394528"/>
            <a:ext cx="1206869"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790" name="Google Shape;790;p101"/>
          <p:cNvSpPr/>
          <p:nvPr/>
        </p:nvSpPr>
        <p:spPr>
          <a:xfrm>
            <a:off x="484565" y="2762250"/>
            <a:ext cx="7031726" cy="981075"/>
          </a:xfrm>
          <a:prstGeom prst="rect">
            <a:avLst/>
          </a:prstGeom>
          <a:noFill/>
          <a:ln w="12700" cap="flat" cmpd="sng">
            <a:solidFill>
              <a:srgbClr val="8296B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Calibri"/>
              <a:cs typeface="Calibri"/>
              <a:sym typeface="Calibri"/>
            </a:endParaRPr>
          </a:p>
        </p:txBody>
      </p:sp>
      <p:sp>
        <p:nvSpPr>
          <p:cNvPr id="791" name="Google Shape;791;p101"/>
          <p:cNvSpPr txBox="1"/>
          <p:nvPr/>
        </p:nvSpPr>
        <p:spPr>
          <a:xfrm>
            <a:off x="484565" y="3790721"/>
            <a:ext cx="7125910" cy="1056900"/>
          </a:xfrm>
          <a:prstGeom prst="rect">
            <a:avLst/>
          </a:prstGeom>
          <a:no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rgbClr val="262626"/>
              </a:buClr>
              <a:buSzPts val="2800"/>
              <a:buFont typeface="Calibri"/>
              <a:buAutoNum type="alphaLcPeriod" startAt="2"/>
            </a:pPr>
            <a:r>
              <a:rPr lang="en-US" sz="2800">
                <a:solidFill>
                  <a:srgbClr val="23282D"/>
                </a:solidFill>
                <a:latin typeface="Arial"/>
                <a:ea typeface="Arial"/>
                <a:cs typeface="Arial"/>
                <a:sym typeface="Arial"/>
              </a:rPr>
              <a:t>How is a double number line similar to a </a:t>
            </a:r>
            <a:r>
              <a:rPr lang="en-US" sz="2800" b="1">
                <a:solidFill>
                  <a:srgbClr val="23282D"/>
                </a:solidFill>
                <a:highlight>
                  <a:srgbClr val="FFF2A8"/>
                </a:highlight>
                <a:latin typeface="Arial"/>
                <a:ea typeface="Arial"/>
                <a:cs typeface="Arial"/>
                <a:sym typeface="Arial"/>
              </a:rPr>
              <a:t>ratio table</a:t>
            </a:r>
            <a:r>
              <a:rPr lang="en-US" sz="2800">
                <a:solidFill>
                  <a:srgbClr val="23282D"/>
                </a:solidFill>
                <a:latin typeface="Arial"/>
                <a:ea typeface="Arial"/>
                <a:cs typeface="Arial"/>
                <a:sym typeface="Arial"/>
              </a:rPr>
              <a:t>? How are the two different?</a:t>
            </a:r>
            <a:endParaRPr/>
          </a:p>
          <a:p>
            <a:pPr marL="0" marR="0" lvl="0" indent="0" algn="l" rtl="0">
              <a:lnSpc>
                <a:spcPct val="100000"/>
              </a:lnSpc>
              <a:spcBef>
                <a:spcPts val="1800"/>
              </a:spcBef>
              <a:spcAft>
                <a:spcPts val="0"/>
              </a:spcAft>
              <a:buClr>
                <a:schemeClr val="dk2"/>
              </a:buClr>
              <a:buSzPts val="2800"/>
              <a:buFont typeface="Arial"/>
              <a:buNone/>
            </a:pPr>
            <a:endParaRPr sz="2800">
              <a:solidFill>
                <a:srgbClr val="262626"/>
              </a:solidFill>
              <a:latin typeface="Arial"/>
              <a:ea typeface="Arial"/>
              <a:cs typeface="Arial"/>
              <a:sym typeface="Arial"/>
            </a:endParaRPr>
          </a:p>
        </p:txBody>
      </p:sp>
      <p:sp>
        <p:nvSpPr>
          <p:cNvPr id="792" name="Google Shape;792;p101"/>
          <p:cNvSpPr txBox="1"/>
          <p:nvPr/>
        </p:nvSpPr>
        <p:spPr>
          <a:xfrm>
            <a:off x="6238463" y="5900321"/>
            <a:ext cx="1206869"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793" name="Google Shape;793;p101"/>
          <p:cNvSpPr/>
          <p:nvPr/>
        </p:nvSpPr>
        <p:spPr>
          <a:xfrm>
            <a:off x="484565" y="4962900"/>
            <a:ext cx="7031726" cy="1275975"/>
          </a:xfrm>
          <a:prstGeom prst="rect">
            <a:avLst/>
          </a:prstGeom>
          <a:noFill/>
          <a:ln w="12700" cap="flat" cmpd="sng">
            <a:solidFill>
              <a:srgbClr val="8296B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Calibri"/>
              <a:cs typeface="Calibri"/>
              <a:sym typeface="Calibri"/>
            </a:endParaRPr>
          </a:p>
        </p:txBody>
      </p:sp>
      <p:sp>
        <p:nvSpPr>
          <p:cNvPr id="794" name="Reference style 794"/>
          <p:cNvSpPr txBox="1"/>
          <p:nvPr/>
        </p:nvSpPr>
        <p:spPr>
          <a:xfrm>
            <a:off x="502920" y="54864"/>
            <a:ext cx="6035040" cy="237744"/>
          </a:xfrm>
          <a:prstGeom prst="rect">
            <a:avLst/>
          </a:prstGeom>
          <a:noFill/>
        </p:spPr>
        <p:txBody>
          <a:bodyPr wrap="square" lIns="0" tIns="0" rIns="0" bIns="0" anchor="ctr">
            <a:noAutofit/>
          </a:bodyPr>
          <a:lstStyle/>
          <a:p>
            <a:pPr algn="l"/>
            <a:r>
              <a:rPr lang="en-US" sz="1200" b="1" dirty="0">
                <a:solidFill>
                  <a:srgbClr val="1E2682"/>
                </a:solidFill>
                <a:latin typeface="Arial"/>
              </a:rPr>
              <a:t>STUDENT MOVE</a:t>
            </a:r>
            <a:r>
              <a:rPr lang="en-US" sz="1200" b="1" dirty="0">
                <a:solidFill>
                  <a:srgbClr val="5D6872"/>
                </a:solidFill>
                <a:latin typeface="Arial"/>
              </a:rPr>
              <a:t>  ·  CONNECT TWO MODELS</a:t>
            </a:r>
          </a:p>
        </p:txBody>
      </p:sp>
      <p:sp>
        <p:nvSpPr>
          <p:cNvPr id="796" name="Reference style 796"/>
          <p:cNvSpPr/>
          <p:nvPr/>
        </p:nvSpPr>
        <p:spPr>
          <a:xfrm>
            <a:off x="7680960" y="5120640"/>
            <a:ext cx="3931920" cy="114300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7" name="Reference style 797"/>
          <p:cNvSpPr/>
          <p:nvPr/>
        </p:nvSpPr>
        <p:spPr>
          <a:xfrm>
            <a:off x="7680960" y="5120640"/>
            <a:ext cx="64008" cy="114300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8" name="Reference style 798"/>
          <p:cNvSpPr txBox="1"/>
          <p:nvPr/>
        </p:nvSpPr>
        <p:spPr>
          <a:xfrm>
            <a:off x="7845552" y="5230368"/>
            <a:ext cx="3639312" cy="201168"/>
          </a:xfrm>
          <a:prstGeom prst="rect">
            <a:avLst/>
          </a:prstGeom>
          <a:noFill/>
        </p:spPr>
        <p:txBody>
          <a:bodyPr wrap="square" lIns="0" tIns="0" rIns="0" bIns="0" anchor="t">
            <a:noAutofit/>
          </a:bodyPr>
          <a:lstStyle/>
          <a:p>
            <a:pPr marL="0" indent="0" algn="l">
              <a:buNone/>
            </a:pPr>
            <a:r>
              <a:rPr sz="1200" b="1">
                <a:solidFill>
                  <a:srgbClr val="782DA0"/>
                </a:solidFill>
                <a:latin typeface="Arial"/>
              </a:rPr>
              <a:t>CONNECT THE MODELS</a:t>
            </a:r>
          </a:p>
        </p:txBody>
      </p:sp>
      <p:sp>
        <p:nvSpPr>
          <p:cNvPr id="799" name="Reference style 799"/>
          <p:cNvSpPr txBox="1"/>
          <p:nvPr/>
        </p:nvSpPr>
        <p:spPr>
          <a:xfrm>
            <a:off x="7845552" y="5522976"/>
            <a:ext cx="3611880" cy="704088"/>
          </a:xfrm>
          <a:prstGeom prst="rect">
            <a:avLst/>
          </a:prstGeom>
          <a:noFill/>
        </p:spPr>
        <p:txBody>
          <a:bodyPr wrap="square" lIns="0" tIns="0" rIns="0" bIns="0" anchor="t">
            <a:noAutofit/>
          </a:bodyPr>
          <a:lstStyle/>
          <a:p>
            <a:pPr marL="0" indent="0" algn="l">
              <a:buNone/>
            </a:pPr>
            <a:r>
              <a:rPr sz="1600" b="0">
                <a:solidFill>
                  <a:srgbClr val="262C30"/>
                </a:solidFill>
                <a:latin typeface="Arial"/>
              </a:rPr>
              <a:t>“Both models show ___. A table uses ___; a number line uses ___.”</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Compare pathways with a partner; name one revision.</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28 / 38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3.3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adding the same amount to both entries to claim equivalence.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Draw matching scale-factor arrows between given table rows.</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73" name="Google Shape;873;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4" name="Google Shape;874;p89"/>
          <p:cNvSpPr txBox="1"/>
          <p:nvPr/>
        </p:nvSpPr>
        <p:spPr>
          <a:xfrm>
            <a:off x="484563" y="518562"/>
            <a:ext cx="7507643" cy="27039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Sofia mixes the cans of paint shown to create her favorite shade of orange paint. Her friend wants to create the same shade of orange paint, but she has only one can of yellow paint. How can Sofia’s friend create the same shade of orange paint?</a:t>
            </a:r>
            <a:endParaRPr b="0" i="0" sz="1400" u="none" cap="none" strike="noStrike">
              <a:solidFill>
                <a:srgbClr val="000000"/>
              </a:solidFill>
              <a:latin typeface="Arial"/>
              <a:ea typeface="Arial"/>
              <a:cs typeface="Arial"/>
              <a:sym typeface="Arial"/>
            </a:endParaRPr>
          </a:p>
        </p:txBody>
      </p:sp>
      <p:sp>
        <p:nvSpPr>
          <p:cNvPr id="875" name="Google Shape;875;p89"/>
          <p:cNvSpPr/>
          <p:nvPr/>
        </p:nvSpPr>
        <p:spPr>
          <a:xfrm>
            <a:off x="484563" y="3360609"/>
            <a:ext cx="6830635"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62626"/>
                </a:solidFill>
                <a:latin typeface="Arial"/>
                <a:ea typeface="Arial"/>
                <a:cs typeface="Arial"/>
                <a:sym typeface="Arial"/>
              </a:rPr>
              <a:t>What information is needed to answer the question?</a:t>
            </a:r>
            <a:endParaRPr b="0" i="0" sz="2800" u="none" cap="none" strike="noStrike">
              <a:solidFill>
                <a:srgbClr val="262626"/>
              </a:solidFill>
              <a:latin typeface="Arial"/>
              <a:ea typeface="Arial"/>
              <a:cs typeface="Arial"/>
              <a:sym typeface="Arial"/>
            </a:endParaRPr>
          </a:p>
        </p:txBody>
      </p:sp>
      <p:pic>
        <p:nvPicPr>
          <p:cNvPr descr="C:\Users\e402540\Downloads\kanchana\ePress PPT creation\sn_47fe6-1080mp4\OPS\img\.assets\d66f464250204041988f468ae483e710\m60102_prt_205a-dig.png" id="876" name="Google Shape;876;p89"/>
          <p:cNvPicPr preferRelativeResize="0"/>
          <p:nvPr/>
        </p:nvPicPr>
        <p:blipFill rotWithShape="1">
          <a:blip r:embed="rId2">
            <a:alphaModFix/>
          </a:blip>
          <a:srcRect b="0" l="0" r="0" t="0"/>
          <a:stretch/>
        </p:blipFill>
        <p:spPr>
          <a:xfrm>
            <a:off x="8153276" y="1610227"/>
            <a:ext cx="3142029" cy="2426518"/>
          </a:xfrm>
          <a:prstGeom prst="rect">
            <a:avLst/>
          </a:prstGeom>
          <a:noFill/>
          <a:ln>
            <a:noFill/>
          </a:ln>
        </p:spPr>
      </p:pic>
      <p:sp>
        <p:nvSpPr>
          <p:cNvPr id="877" name="Google Shape;877;p89"/>
          <p:cNvSpPr txBox="1"/>
          <p:nvPr/>
        </p:nvSpPr>
        <p:spPr>
          <a:xfrm>
            <a:off x="484562" y="4452848"/>
            <a:ext cx="10372827" cy="188659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amount of red paint and the amount of yellow paint Sofia uses to make her shade of orange paint, and the fact that her friend only has one can of yellow paint.</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30 / 38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24" name="Google Shape;924;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5" name="Google Shape;925;p95"/>
          <p:cNvSpPr txBox="1"/>
          <p:nvPr/>
        </p:nvSpPr>
        <p:spPr>
          <a:xfrm>
            <a:off x="668321" y="533540"/>
            <a:ext cx="5427679" cy="103822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express the relationship between the cans of red paint and yellow paint as a ratio?</a:t>
            </a:r>
            <a:endParaRPr b="0" i="0" sz="1400" u="none" cap="none" strike="noStrike">
              <a:solidFill>
                <a:srgbClr val="000000"/>
              </a:solidFill>
              <a:latin typeface="Arial"/>
              <a:ea typeface="Arial"/>
              <a:cs typeface="Arial"/>
              <a:sym typeface="Arial"/>
            </a:endParaRPr>
          </a:p>
        </p:txBody>
      </p:sp>
      <p:pic>
        <p:nvPicPr>
          <p:cNvPr descr="C:\Users\e402540\Downloads\kanchana\ePress PPT creation\sn_47fe6-1080mp4\OPS\img\.assets\208320d26eee424f84a8f88897227aa7\narm24_c10303_ebk_002a-a.png" id="926" name="Google Shape;926;p95"/>
          <p:cNvPicPr preferRelativeResize="0"/>
          <p:nvPr/>
        </p:nvPicPr>
        <p:blipFill rotWithShape="1">
          <a:blip r:embed="rId2">
            <a:alphaModFix/>
          </a:blip>
          <a:srcRect b="0" l="0" r="0" t="0"/>
          <a:stretch/>
        </p:blipFill>
        <p:spPr>
          <a:xfrm>
            <a:off x="3171825" y="3004728"/>
            <a:ext cx="4592807" cy="1224000"/>
          </a:xfrm>
          <a:prstGeom prst="rect">
            <a:avLst/>
          </a:prstGeom>
          <a:noFill/>
          <a:ln>
            <a:noFill/>
          </a:ln>
        </p:spPr>
      </p:pic>
      <p:sp>
        <p:nvSpPr>
          <p:cNvPr id="927" name="Google Shape;927;p95"/>
          <p:cNvSpPr txBox="1"/>
          <p:nvPr/>
        </p:nvSpPr>
        <p:spPr>
          <a:xfrm>
            <a:off x="484562" y="4884588"/>
            <a:ext cx="8221288"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express the relationship as a ratio of 4 to 3 or 4 : 3.</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32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24323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74" name="Google Shape;974;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5" name="Google Shape;975;p101"/>
          <p:cNvSpPr txBox="1"/>
          <p:nvPr/>
        </p:nvSpPr>
        <p:spPr>
          <a:xfrm>
            <a:off x="457200" y="4843203"/>
            <a:ext cx="7696200" cy="151482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divide 3 into 3 equal parts and the size of each part will be 1.</a:t>
            </a:r>
            <a:endParaRPr b="0" i="0" sz="1400" u="none" cap="none" strike="noStrike">
              <a:solidFill>
                <a:srgbClr val="000000"/>
              </a:solidFill>
              <a:latin typeface="Arial"/>
              <a:ea typeface="Arial"/>
              <a:cs typeface="Arial"/>
              <a:sym typeface="Arial"/>
            </a:endParaRPr>
          </a:p>
        </p:txBody>
      </p:sp>
      <p:sp>
        <p:nvSpPr>
          <p:cNvPr id="976" name="Google Shape;976;p101"/>
          <p:cNvSpPr txBox="1"/>
          <p:nvPr/>
        </p:nvSpPr>
        <p:spPr>
          <a:xfrm>
            <a:off x="668321" y="619703"/>
            <a:ext cx="6560382" cy="97827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describe the relationship between 3 and 1?</a:t>
            </a:r>
            <a:endParaRPr b="0" i="0" sz="1400" u="none" cap="none" strike="noStrike">
              <a:solidFill>
                <a:srgbClr val="000000"/>
              </a:solidFill>
              <a:latin typeface="Arial"/>
              <a:ea typeface="Arial"/>
              <a:cs typeface="Arial"/>
              <a:sym typeface="Arial"/>
            </a:endParaRPr>
          </a:p>
        </p:txBody>
      </p:sp>
      <p:pic>
        <p:nvPicPr>
          <p:cNvPr descr="C:\Users\e402540\Downloads\kanchana\ePress PPT creation\sn_47fe6-1080mp4\OPS\img\.assets\679fd29bcfc343348ef2f01ac92790e1\narm24_c10303_eps_003a.png" id="977" name="Google Shape;977;p101"/>
          <p:cNvPicPr preferRelativeResize="0"/>
          <p:nvPr/>
        </p:nvPicPr>
        <p:blipFill rotWithShape="1">
          <a:blip r:embed="rId2">
            <a:alphaModFix/>
          </a:blip>
          <a:srcRect b="0" l="0" r="0" t="0"/>
          <a:stretch/>
        </p:blipFill>
        <p:spPr>
          <a:xfrm>
            <a:off x="3301695" y="2014797"/>
            <a:ext cx="6983233" cy="2531099"/>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33 / 38</a:t>
            </a:r>
          </a:p>
        </p:txBody>
      </p:sp>
      <p:grpSp>
        <p:nvGrpSpPr>
          <p:cNvPr id="9003" name="TEACH-5-student-move" descr="TEACH 5 · Facilitate student interactions and academic talk"/>
          <p:cNvGrpSpPr/>
          <p:nvPr/>
        </p:nvGrpSpPr>
        <p:grpSpPr>
          <a:xfrm>
            <a:off x="502920" y="1658181"/>
            <a:ext cx="11186160" cy="320040"/>
            <a:chOff x="502920" y="1658181"/>
            <a:chExt cx="11186160" cy="320040"/>
          </a:xfrm>
        </p:grpSpPr>
        <p:sp>
          <p:nvSpPr>
            <p:cNvPr id="9004" name="TEACH-move-card"/>
            <p:cNvSpPr/>
            <p:nvPr/>
          </p:nvSpPr>
          <p:spPr>
            <a:xfrm>
              <a:off x="502920" y="1658181"/>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1718989"/>
              <a:ext cx="100584" cy="19842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1658181"/>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EWL-Eyebrow"/>
          <p:cNvSpPr txBox="1"/>
          <p:nvPr/>
        </p:nvSpPr>
        <p:spPr>
          <a:xfrm>
            <a:off x="502920" y="54864"/>
            <a:ext cx="6035040" cy="237744"/>
          </a:xfrm>
          <a:prstGeom prst="rect">
            <a:avLst/>
          </a:prstGeom>
          <a:noFill/>
          <a:ln>
            <a:noFill/>
          </a:ln>
        </p:spPr>
        <p:txBody>
          <a:bodyPr wrap="square" lIns="0" tIns="0" rIns="0" bIns="45700" anchor="t"/>
          <a:lstStyle/>
          <a:p>
            <a:pPr algn="l">
              <a:lnSpc>
                <a:spcPct val="115000"/>
              </a:lnSpc>
              <a:defRPr/>
            </a:pPr>
            <a:r>
              <a:rPr lang="en-US" sz="1200" b="1">
                <a:solidFill>
                  <a:srgbClr val="1E2682"/>
                </a:solidFill>
                <a:latin typeface="Arial"/>
                <a:ea typeface="Arial"/>
                <a:cs typeface="Arial"/>
              </a:rPr>
              <a:t>STUDENT MOVE  ·  </a:t>
            </a:r>
            <a:r>
              <a:rPr lang="en-US" sz="1200" b="1">
                <a:solidFill>
                  <a:srgbClr val="595959"/>
                </a:solidFill>
                <a:latin typeface="Arial"/>
                <a:ea typeface="Arial"/>
                <a:cs typeface="Arial"/>
              </a:rPr>
              <a:t>SUMMARIZE • TEACH A PARTNER</a:t>
            </a:r>
          </a:p>
        </p:txBody>
      </p:sp>
      <p:sp>
        <p:nvSpPr>
          <p:cNvPr id="802" name="EWL-Title"/>
          <p:cNvSpPr txBox="1"/>
          <p:nvPr/>
        </p:nvSpPr>
        <p:spPr>
          <a:xfrm>
            <a:off x="484632" y="365760"/>
            <a:ext cx="9144000" cy="822960"/>
          </a:xfrm>
          <a:prstGeom prst="rect">
            <a:avLst/>
          </a:prstGeom>
          <a:noFill/>
          <a:ln>
            <a:noFill/>
          </a:ln>
        </p:spPr>
        <p:txBody>
          <a:bodyPr wrap="square" lIns="91425" tIns="45700" rIns="91425" bIns="45700" anchor="t"/>
          <a:lstStyle/>
          <a:p>
            <a:pPr algn="l">
              <a:lnSpc>
                <a:spcPct val="115000"/>
              </a:lnSpc>
              <a:defRPr/>
            </a:pPr>
            <a:r>
              <a:rPr lang="en-US" sz="2700" b="1">
                <a:solidFill>
                  <a:srgbClr val="782DA0"/>
                </a:solidFill>
                <a:latin typeface="Arial"/>
                <a:ea typeface="Arial"/>
                <a:cs typeface="Arial"/>
              </a:rPr>
              <a:t>Summarize: Equivalent Ratios</a:t>
            </a:r>
          </a:p>
        </p:txBody>
      </p:sp>
      <p:sp>
        <p:nvSpPr>
          <p:cNvPr id="803" name="EWL-Card1"/>
          <p:cNvSpPr txBox="1"/>
          <p:nvPr/>
        </p:nvSpPr>
        <p:spPr>
          <a:xfrm>
            <a:off x="548640" y="1554480"/>
            <a:ext cx="5440680" cy="2468880"/>
          </a:xfrm>
          <a:prstGeom prst="roundRect">
            <a:avLst>
              <a:gd name="adj" fmla="val 6000"/>
            </a:avLst>
          </a:prstGeom>
          <a:solidFill>
            <a:srgbClr val="EAF6F2"/>
          </a:solidFill>
          <a:ln w="19050">
            <a:solidFill>
              <a:srgbClr val="0E8476"/>
            </a:solidFill>
          </a:ln>
        </p:spPr>
        <p:txBody>
          <a:bodyPr wrap="square" lIns="201168" tIns="658368" rIns="201168" bIns="45700" anchor="t"/>
          <a:lstStyle/>
          <a:p>
            <a:pPr algn="l">
              <a:lnSpc>
                <a:spcPct val="115000"/>
              </a:lnSpc>
            </a:pPr>
            <a:r>
              <a:rPr lang="en-US" sz="1600">
                <a:solidFill>
                  <a:srgbClr val="262626"/>
                </a:solidFill>
                <a:latin typeface="Arial"/>
                <a:ea typeface="Arial"/>
                <a:cs typeface="Arial"/>
              </a:rPr>
              <a:t>Multiply or divide BOTH quantities by the same number. Each column of the table shows a ratio equivalent to the first.</a:t>
            </a:r>
          </a:p>
        </p:txBody>
      </p:sp>
      <p:sp>
        <p:nvSpPr>
          <p:cNvPr id="804" name="EWL-Chip1"/>
          <p:cNvSpPr txBox="1"/>
          <p:nvPr/>
        </p:nvSpPr>
        <p:spPr>
          <a:xfrm>
            <a:off x="777240" y="1783080"/>
            <a:ext cx="2377440" cy="420624"/>
          </a:xfrm>
          <a:prstGeom prst="roundRect">
            <a:avLst>
              <a:gd name="adj" fmla="val 50000"/>
            </a:avLst>
          </a:prstGeom>
          <a:solidFill>
            <a:srgbClr val="0E8476"/>
          </a:solidFill>
          <a:ln>
            <a:noFill/>
          </a:ln>
        </p:spPr>
        <p:txBody>
          <a:bodyPr wrap="square" lIns="0" tIns="0" rIns="0" bIns="45700" anchor="ctr"/>
          <a:lstStyle/>
          <a:p>
            <a:pPr algn="ctr">
              <a:lnSpc>
                <a:spcPct val="115000"/>
              </a:lnSpc>
            </a:pPr>
            <a:r>
              <a:rPr lang="en-US" sz="1400" b="1">
                <a:solidFill>
                  <a:srgbClr val="FFFFFF"/>
                </a:solidFill>
                <a:latin typeface="Arial"/>
                <a:ea typeface="Arial"/>
                <a:cs typeface="Arial"/>
              </a:rPr>
              <a:t>RATIO TABLE</a:t>
            </a:r>
          </a:p>
        </p:txBody>
      </p:sp>
      <p:sp>
        <p:nvSpPr>
          <p:cNvPr id="805" name="EWL-Card2"/>
          <p:cNvSpPr txBox="1"/>
          <p:nvPr/>
        </p:nvSpPr>
        <p:spPr>
          <a:xfrm>
            <a:off x="6217920" y="1554480"/>
            <a:ext cx="5440680" cy="2468880"/>
          </a:xfrm>
          <a:prstGeom prst="roundRect">
            <a:avLst>
              <a:gd name="adj" fmla="val 6000"/>
            </a:avLst>
          </a:prstGeom>
          <a:solidFill>
            <a:srgbClr val="FDF1E3"/>
          </a:solidFill>
          <a:ln w="19050">
            <a:solidFill>
              <a:srgbClr val="C46A0C"/>
            </a:solidFill>
          </a:ln>
        </p:spPr>
        <p:txBody>
          <a:bodyPr wrap="square" lIns="201168" tIns="658368" rIns="201168" bIns="45700" anchor="t"/>
          <a:lstStyle/>
          <a:p>
            <a:pPr algn="l">
              <a:lnSpc>
                <a:spcPct val="115000"/>
              </a:lnSpc>
            </a:pPr>
            <a:r>
              <a:rPr lang="en-US" sz="1600">
                <a:solidFill>
                  <a:srgbClr val="262626"/>
                </a:solidFill>
                <a:latin typeface="Arial"/>
                <a:ea typeface="Arial"/>
                <a:cs typeface="Arial"/>
              </a:rPr>
              <a:t>One number scales both quantities — up to make more, down to make less. Same factor, same mixture.</a:t>
            </a:r>
          </a:p>
        </p:txBody>
      </p:sp>
      <p:sp>
        <p:nvSpPr>
          <p:cNvPr id="806" name="EWL-Chip2"/>
          <p:cNvSpPr txBox="1"/>
          <p:nvPr/>
        </p:nvSpPr>
        <p:spPr>
          <a:xfrm>
            <a:off x="6446520" y="1783080"/>
            <a:ext cx="2377440" cy="420624"/>
          </a:xfrm>
          <a:prstGeom prst="roundRect">
            <a:avLst>
              <a:gd name="adj" fmla="val 50000"/>
            </a:avLst>
          </a:prstGeom>
          <a:solidFill>
            <a:srgbClr val="C46A0C"/>
          </a:solidFill>
          <a:ln>
            <a:noFill/>
          </a:ln>
        </p:spPr>
        <p:txBody>
          <a:bodyPr wrap="square" lIns="0" tIns="0" rIns="0" bIns="45700" anchor="ctr"/>
          <a:lstStyle/>
          <a:p>
            <a:pPr algn="ctr">
              <a:lnSpc>
                <a:spcPct val="115000"/>
              </a:lnSpc>
            </a:pPr>
            <a:r>
              <a:rPr lang="en-US" sz="1400" b="1">
                <a:solidFill>
                  <a:srgbClr val="FFFFFF"/>
                </a:solidFill>
                <a:latin typeface="Arial"/>
                <a:ea typeface="Arial"/>
                <a:cs typeface="Arial"/>
              </a:rPr>
              <a:t>SCALE FACTOR</a:t>
            </a:r>
          </a:p>
        </p:txBody>
      </p:sp>
      <p:sp>
        <p:nvSpPr>
          <p:cNvPr id="807" name="EWL-Takeaway"/>
          <p:cNvSpPr txBox="1"/>
          <p:nvPr/>
        </p:nvSpPr>
        <p:spPr>
          <a:xfrm>
            <a:off x="548640" y="4434840"/>
            <a:ext cx="11091672" cy="1234440"/>
          </a:xfrm>
          <a:prstGeom prst="rect">
            <a:avLst/>
          </a:prstGeom>
          <a:solidFill>
            <a:srgbClr val="F6EFFA"/>
          </a:solidFill>
          <a:ln w="12700">
            <a:solidFill>
              <a:srgbClr val="782DA0"/>
            </a:solidFill>
          </a:ln>
        </p:spPr>
        <p:txBody>
          <a:bodyPr wrap="square" lIns="228600" tIns="45700" rIns="228600" bIns="45700" anchor="ctr"/>
          <a:lstStyle/>
          <a:p>
            <a:pPr algn="l">
              <a:lnSpc>
                <a:spcPct val="115000"/>
              </a:lnSpc>
            </a:pPr>
            <a:r>
              <a:rPr lang="en-US" sz="1600" b="1">
                <a:solidFill>
                  <a:srgbClr val="782DA0"/>
                </a:solidFill>
                <a:latin typeface="Arial"/>
                <a:ea typeface="Arial"/>
                <a:cs typeface="Arial"/>
              </a:rPr>
              <a:t>Key idea: </a:t>
            </a:r>
            <a:r>
              <a:rPr lang="en-US" sz="1600">
                <a:solidFill>
                  <a:srgbClr val="262626"/>
                </a:solidFill>
                <a:latin typeface="Arial"/>
                <a:ea typeface="Arial"/>
                <a:cs typeface="Arial"/>
              </a:rPr>
              <a:t>Equivalent ratios keep the same relationship because both quantities change by the same factor.</a:t>
            </a:r>
          </a:p>
          <a:p>
            <a:pPr algn="l">
              <a:lnSpc>
                <a:spcPct val="115000"/>
              </a:lnSpc>
            </a:pPr>
            <a:r>
              <a:rPr lang="en-US" sz="1500" b="1">
                <a:solidFill>
                  <a:srgbClr val="1E2682"/>
                </a:solidFill>
                <a:latin typeface="Arial"/>
                <a:ea typeface="Arial"/>
                <a:cs typeface="Arial"/>
              </a:rPr>
              <a:t>Teach a partner: </a:t>
            </a:r>
            <a:r>
              <a:rPr lang="en-US" sz="1500">
                <a:solidFill>
                  <a:srgbClr val="262626"/>
                </a:solidFill>
                <a:latin typeface="Arial"/>
                <a:ea typeface="Arial"/>
                <a:cs typeface="Arial"/>
              </a:rPr>
              <a:t>How do you scale a recipe up or down without changing the mixture?</a:t>
            </a:r>
          </a:p>
        </p:txBody>
      </p:sp>
      <p:sp>
        <p:nvSpPr>
          <p:cNvPr id="808" name="EWL-SlideNumber"/>
          <p:cNvSpPr txBox="1"/>
          <p:nvPr/>
        </p:nvSpPr>
        <p:spPr>
          <a:xfrm>
            <a:off x="5577840" y="6492240"/>
            <a:ext cx="1033272" cy="256032"/>
          </a:xfrm>
          <a:prstGeom prst="rect">
            <a:avLst/>
          </a:prstGeom>
          <a:noFill/>
          <a:ln>
            <a:noFill/>
          </a:ln>
        </p:spPr>
        <p:txBody>
          <a:bodyPr wrap="square" lIns="0" tIns="0" rIns="0" bIns="45700" anchor="t"/>
          <a:lstStyle/>
          <a:p>
            <a:pPr algn="ctr">
              <a:lnSpc>
                <a:spcPct val="115000"/>
              </a:lnSpc>
            </a:pPr>
            <a:r>
              <a:rPr lang="en-US" sz="1100">
                <a:solidFill>
                  <a:srgbClr val="767171"/>
                </a:solidFill>
                <a:latin typeface="Arial"/>
                <a:ea typeface="Arial"/>
                <a:cs typeface="Arial"/>
              </a:rPr>
              <a:t>34 / 38</a:t>
            </a:r>
          </a:p>
        </p:txBody>
      </p:sp>
      <p:grpSp>
        <p:nvGrpSpPr>
          <p:cNvPr id="809" name="TEACH-4-student-move" descr="TEACH 4 · Monitor progress and provide feedback"/>
          <p:cNvGrpSpPr/>
          <p:nvPr/>
        </p:nvGrpSpPr>
        <p:grpSpPr>
          <a:xfrm>
            <a:off x="502920" y="5751576"/>
            <a:ext cx="11186160" cy="548640"/>
            <a:chOff x="502920" y="5751576"/>
            <a:chExt cx="11186160" cy="548640"/>
          </a:xfrm>
        </p:grpSpPr>
        <p:sp>
          <p:nvSpPr>
            <p:cNvPr id="810"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811"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812"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REVISE NOW  ·  </a:t>
              </a:r>
              <a:r>
                <a:rPr lang="en-US" sz="1400" dirty="0">
                  <a:solidFill>
                    <a:srgbClr val="13303A"/>
                  </a:solidFill>
                  <a:latin typeface="Arial"/>
                </a:rPr>
                <a:t>Change one answer and write why you changed it. A revision is evidence of learning.</a:t>
              </a:r>
              <a:endParaRPr lang="en-US" sz="140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pic>
        <p:nvPicPr>
          <p:cNvPr id="817" name="Reference style 817">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807" name="Google Shape;807;p103"/>
          <p:cNvSpPr txBox="1"/>
          <p:nvPr/>
        </p:nvSpPr>
        <p:spPr>
          <a:xfrm>
            <a:off x="484565" y="316034"/>
            <a:ext cx="6858000"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a:solidFill>
                  <a:srgbClr val="782DA0"/>
                </a:solidFill>
                <a:latin typeface="Arial"/>
                <a:ea typeface="Arial"/>
                <a:cs typeface="Arial"/>
                <a:sym typeface="Arial"/>
              </a:rPr>
              <a:t>Apply: Which Brand to Buy?</a:t>
            </a:r>
            <a:endParaRPr/>
          </a:p>
        </p:txBody>
      </p:sp>
      <p:cxnSp>
        <p:nvCxnSpPr>
          <p:cNvPr id="808" name="Google Shape;808;p103"/>
          <p:cNvCxnSpPr/>
          <p:nvPr/>
        </p:nvCxnSpPr>
        <p:spPr>
          <a:xfrm>
            <a:off x="13164879" y="5911702"/>
            <a:ext cx="0" cy="0"/>
          </a:xfrm>
          <a:prstGeom prst="straightConnector1">
            <a:avLst/>
          </a:prstGeom>
          <a:noFill/>
          <a:ln w="9525" cap="flat" cmpd="sng">
            <a:solidFill>
              <a:schemeClr val="accent1"/>
            </a:solidFill>
            <a:prstDash val="solid"/>
            <a:miter lim="8000"/>
            <a:headEnd type="none" w="sm" len="sm"/>
            <a:tailEnd type="none" w="sm" len="sm"/>
          </a:ln>
        </p:spPr>
      </p:cxnSp>
      <p:sp>
        <p:nvSpPr>
          <p:cNvPr id="809" name="Google Shape;809;p103"/>
          <p:cNvSpPr txBox="1"/>
          <p:nvPr/>
        </p:nvSpPr>
        <p:spPr>
          <a:xfrm>
            <a:off x="484564" y="927527"/>
            <a:ext cx="6534073" cy="52403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defRPr/>
            </a:pPr>
            <a:r>
              <a:rPr lang="en-US" sz="2500">
                <a:solidFill>
                  <a:srgbClr val="23282D"/>
                </a:solidFill>
                <a:latin typeface="Arial"/>
                <a:ea typeface="Arial"/>
                <a:cs typeface="Arial"/>
                <a:sym typeface="Arial"/>
              </a:rPr>
              <a:t>Deon needs dishwasher detergent. Compare the two brands shown.</a:t>
            </a:r>
          </a:p>
          <a:p>
            <a:pPr marL="0" marR="0" lvl="0" indent="0" algn="l" rtl="0">
              <a:lnSpc>
                <a:spcPct val="100000"/>
              </a:lnSpc>
              <a:spcBef>
                <a:spcPts val="0"/>
              </a:spcBef>
              <a:spcAft>
                <a:spcPts val="0"/>
              </a:spcAft>
              <a:buNone/>
              <a:defRPr/>
            </a:pPr>
            <a:endParaRPr lang="en-US" sz="2500">
              <a:solidFill>
                <a:srgbClr val="23282D"/>
              </a:solidFill>
              <a:latin typeface="Arial"/>
              <a:ea typeface="Arial"/>
              <a:cs typeface="Arial"/>
              <a:sym typeface="Arial"/>
            </a:endParaRPr>
          </a:p>
          <a:p>
            <a:pPr marL="0" marR="0" lvl="0" indent="0" algn="l" rtl="0">
              <a:lnSpc>
                <a:spcPct val="100000"/>
              </a:lnSpc>
              <a:spcBef>
                <a:spcPts val="0"/>
              </a:spcBef>
              <a:spcAft>
                <a:spcPts val="0"/>
              </a:spcAft>
              <a:buNone/>
              <a:defRPr/>
            </a:pPr>
            <a:r>
              <a:rPr lang="en-US" sz="2500">
                <a:solidFill>
                  <a:srgbClr val="23282D"/>
                </a:solidFill>
                <a:latin typeface="Arial"/>
                <a:ea typeface="Arial"/>
                <a:cs typeface="Arial"/>
                <a:sym typeface="Arial"/>
              </a:rPr>
              <a:t>Which brand should he buy? Use a ratio table to compare the cost for the same number of loads.</a:t>
            </a:r>
          </a:p>
          <a:p>
            <a:pPr marL="0" marR="0" lvl="0" indent="0" algn="l" rtl="0">
              <a:lnSpc>
                <a:spcPct val="100000"/>
              </a:lnSpc>
              <a:spcBef>
                <a:spcPts val="0"/>
              </a:spcBef>
              <a:spcAft>
                <a:spcPts val="0"/>
              </a:spcAft>
              <a:buNone/>
              <a:defRPr/>
            </a:pPr>
            <a:endParaRPr lang="en-US" sz="2500">
              <a:solidFill>
                <a:srgbClr val="23282D"/>
              </a:solidFill>
              <a:latin typeface="Arial"/>
              <a:ea typeface="Arial"/>
              <a:cs typeface="Arial"/>
              <a:sym typeface="Arial"/>
            </a:endParaRPr>
          </a:p>
          <a:p>
            <a:pPr marL="0" marR="0" lvl="0" indent="0" algn="l" rtl="0">
              <a:lnSpc>
                <a:spcPct val="100000"/>
              </a:lnSpc>
              <a:spcBef>
                <a:spcPts val="0"/>
              </a:spcBef>
              <a:spcAft>
                <a:spcPts val="0"/>
              </a:spcAft>
              <a:buNone/>
              <a:defRPr/>
            </a:pPr>
            <a:r>
              <a:rPr lang="en-US" sz="2500">
                <a:solidFill>
                  <a:srgbClr val="23282D"/>
                </a:solidFill>
                <a:latin typeface="Arial"/>
                <a:ea typeface="Arial"/>
                <a:cs typeface="Arial"/>
                <a:sym typeface="Arial"/>
              </a:rPr>
              <a:t>Show your work and label the units.</a:t>
            </a:r>
          </a:p>
        </p:txBody>
      </p:sp>
      <p:pic>
        <p:nvPicPr>
          <p:cNvPr id="810" name="Google Shape;810;p103" descr="C:\Users\e402540\Downloads\kanchana\ePress PPT creation\sn_47fe6-1080mp4\OPS\img\.assets\70d67af0a91c4b54a5bc7e94ddd41ef2\narm24_c10303_se_003a-dig.png"/>
          <p:cNvPicPr preferRelativeResize="0"/>
          <p:nvPr/>
        </p:nvPicPr>
        <p:blipFill rotWithShape="1">
          <a:blip r:embed="rId4">
            <a:alphaModFix/>
          </a:blip>
          <a:srcRect/>
          <a:stretch/>
        </p:blipFill>
        <p:spPr>
          <a:xfrm>
            <a:off x="7205472" y="1463040"/>
            <a:ext cx="4526280" cy="3794760"/>
          </a:xfrm>
          <a:prstGeom prst="rect">
            <a:avLst/>
          </a:prstGeom>
          <a:noFill/>
          <a:ln>
            <a:noFill/>
          </a:ln>
        </p:spPr>
      </p:pic>
      <p:sp>
        <p:nvSpPr>
          <p:cNvPr id="811" name="Reference style 811"/>
          <p:cNvSpPr txBox="1"/>
          <p:nvPr/>
        </p:nvSpPr>
        <p:spPr>
          <a:xfrm>
            <a:off x="502920" y="54864"/>
            <a:ext cx="6035040" cy="237744"/>
          </a:xfrm>
          <a:prstGeom prst="rect">
            <a:avLst/>
          </a:prstGeom>
          <a:noFill/>
        </p:spPr>
        <p:txBody>
          <a:bodyPr wrap="square" lIns="0" tIns="0" rIns="0" bIns="0" anchor="ctr">
            <a:noAutofit/>
          </a:bodyPr>
          <a:lstStyle/>
          <a:p>
            <a:pPr algn="l">
              <a:defRPr/>
            </a:pPr>
            <a:r>
              <a:rPr lang="en-US" sz="1200" b="1" dirty="0">
                <a:solidFill>
                  <a:srgbClr val="1E2682"/>
                </a:solidFill>
                <a:latin typeface="Arial"/>
              </a:rPr>
              <a:t>STUDENT MOVE</a:t>
            </a:r>
            <a:r>
              <a:rPr lang="en-US" sz="1200" b="1" dirty="0">
                <a:solidFill>
                  <a:srgbClr val="5D6872"/>
                </a:solidFill>
                <a:latin typeface="Arial"/>
              </a:rPr>
              <a:t>  ·  COMPARE FAIRLY • JUSTIFY</a:t>
            </a:r>
          </a:p>
        </p:txBody>
      </p:sp>
      <p:sp>
        <p:nvSpPr>
          <p:cNvPr id="813" name="Reference style 813"/>
          <p:cNvSpPr/>
          <p:nvPr/>
        </p:nvSpPr>
        <p:spPr>
          <a:xfrm>
            <a:off x="548640" y="5303520"/>
            <a:ext cx="6400800" cy="914400"/>
          </a:xfrm>
          <a:prstGeom prst="roundRect">
            <a:avLst/>
          </a:prstGeom>
          <a:solidFill>
            <a:srgbClr val="F1EC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4" name="Reference style 814"/>
          <p:cNvSpPr/>
          <p:nvPr/>
        </p:nvSpPr>
        <p:spPr>
          <a:xfrm>
            <a:off x="548640" y="5303520"/>
            <a:ext cx="64008" cy="914400"/>
          </a:xfrm>
          <a:prstGeom prst="rect">
            <a:avLst/>
          </a:prstGeom>
          <a:solidFill>
            <a:srgbClr val="7A2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5" name="Reference style 815"/>
          <p:cNvSpPr txBox="1"/>
          <p:nvPr/>
        </p:nvSpPr>
        <p:spPr>
          <a:xfrm>
            <a:off x="713232" y="5413248"/>
            <a:ext cx="6108192" cy="201168"/>
          </a:xfrm>
          <a:prstGeom prst="rect">
            <a:avLst/>
          </a:prstGeom>
          <a:noFill/>
        </p:spPr>
        <p:txBody>
          <a:bodyPr wrap="square" lIns="0" tIns="0" rIns="0" bIns="0" anchor="t">
            <a:noAutofit/>
          </a:bodyPr>
          <a:lstStyle/>
          <a:p>
            <a:pPr marL="0" indent="0" algn="l">
              <a:buNone/>
              <a:defRPr/>
            </a:pPr>
            <a:r>
              <a:rPr sz="1200" b="1">
                <a:solidFill>
                  <a:srgbClr val="782DA0"/>
                </a:solidFill>
                <a:latin typeface="Arial"/>
              </a:rPr>
              <a:t>EXPLAIN A FAIR COMPARISON</a:t>
            </a:r>
          </a:p>
        </p:txBody>
      </p:sp>
      <p:sp>
        <p:nvSpPr>
          <p:cNvPr id="816" name="Reference style 816"/>
          <p:cNvSpPr txBox="1"/>
          <p:nvPr/>
        </p:nvSpPr>
        <p:spPr>
          <a:xfrm>
            <a:off x="713232" y="5705856"/>
            <a:ext cx="6080760" cy="475488"/>
          </a:xfrm>
          <a:prstGeom prst="rect">
            <a:avLst/>
          </a:prstGeom>
          <a:noFill/>
        </p:spPr>
        <p:txBody>
          <a:bodyPr wrap="square" lIns="0" tIns="0" rIns="0" bIns="0" anchor="t">
            <a:noAutofit/>
          </a:bodyPr>
          <a:lstStyle/>
          <a:p>
            <a:pPr marL="0" indent="0" algn="l">
              <a:buNone/>
              <a:defRPr/>
            </a:pPr>
            <a:r>
              <a:rPr sz="1600" b="0">
                <a:solidFill>
                  <a:srgbClr val="262C30"/>
                </a:solidFill>
                <a:latin typeface="Arial"/>
              </a:rPr>
              <a:t>“For ___ loads, Brand ___ costs ___, so I recommend ___.”</a:t>
            </a:r>
          </a:p>
        </p:txBody>
      </p:sp>
      <p:sp>
        <p:nvSpPr>
          <p:cNvPr id="818"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35 / 38</a:t>
            </a:r>
          </a:p>
        </p:txBody>
      </p:sp>
      <p:grpSp>
        <p:nvGrpSpPr>
          <p:cNvPr id="819" name="TEACH-2-student-move" descr="TEACH 2 · Use strategies and tasks to engage students in rigorous work"/>
          <p:cNvGrpSpPr/>
          <p:nvPr/>
        </p:nvGrpSpPr>
        <p:grpSpPr>
          <a:xfrm>
            <a:off x="502920" y="4626864"/>
            <a:ext cx="5501640" cy="594360"/>
            <a:chOff x="502920" y="4626864"/>
            <a:chExt cx="5501640" cy="594360"/>
          </a:xfrm>
        </p:grpSpPr>
        <p:sp>
          <p:nvSpPr>
            <p:cNvPr id="820" name="TEACH-move-card"/>
            <p:cNvSpPr/>
            <p:nvPr/>
          </p:nvSpPr>
          <p:spPr>
            <a:xfrm>
              <a:off x="502920" y="462686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21" name="TEACH-move-rule"/>
            <p:cNvSpPr/>
            <p:nvPr/>
          </p:nvSpPr>
          <p:spPr>
            <a:xfrm>
              <a:off x="548640" y="4739792"/>
              <a:ext cx="100584" cy="368504"/>
            </a:xfrm>
            <a:prstGeom prst="roundRect">
              <a:avLst>
                <a:gd name="adj" fmla="val 50000"/>
              </a:avLst>
            </a:prstGeom>
            <a:solidFill>
              <a:srgbClr val="01708C"/>
            </a:solidFill>
            <a:ln>
              <a:noFill/>
            </a:ln>
          </p:spPr>
          <p:txBody>
            <a:bodyPr/>
            <a:lstStyle/>
            <a:p>
              <a:endParaRPr/>
            </a:p>
          </p:txBody>
        </p:sp>
        <p:sp>
          <p:nvSpPr>
            <p:cNvPr id="822" name="TEACH-move-text"/>
            <p:cNvSpPr txBox="1"/>
            <p:nvPr/>
          </p:nvSpPr>
          <p:spPr>
            <a:xfrm>
              <a:off x="822960" y="462686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7" name="Reference style 27">
            <a:extLst>
              <a:ext uri="{FF2B5EF4-FFF2-40B4-BE49-F238E27FC236}">
                <a16:creationId xmlns:a16="http://schemas.microsoft.com/office/drawing/2014/main" id="{DB6EED09-8B61-F64F-907D-F4B749DB901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6062472" y="0"/>
            <a:ext cx="6126480" cy="1005840"/>
          </a:xfrm>
          <a:prstGeom prst="rect">
            <a:avLst/>
          </a:prstGeom>
        </p:spPr>
      </p:pic>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sz="2800" b="1">
                <a:solidFill>
                  <a:srgbClr val="782DA0"/>
                </a:solidFill>
                <a:latin typeface="Arial"/>
              </a:rPr>
              <a:t>Exit Ticket + Self-Check</a:t>
            </a:r>
          </a:p>
        </p:txBody>
      </p:sp>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SELF-ASSESS • NAME YOUR NEXT STEP</a:t>
            </a:r>
          </a:p>
        </p:txBody>
      </p:sp>
      <p:sp>
        <p:nvSpPr>
          <p:cNvPr id="17" name="TextBox 16"/>
          <p:cNvSpPr txBox="1"/>
          <p:nvPr/>
        </p:nvSpPr>
        <p:spPr>
          <a:xfrm>
            <a:off x="530352" y="1115568"/>
            <a:ext cx="7360920" cy="502920"/>
          </a:xfrm>
          <a:prstGeom prst="rect">
            <a:avLst/>
          </a:prstGeom>
          <a:noFill/>
        </p:spPr>
        <p:txBody>
          <a:bodyPr wrap="square" lIns="0" tIns="0" rIns="0" bIns="0" anchor="t">
            <a:noAutofit/>
          </a:bodyPr>
          <a:lstStyle/>
          <a:p>
            <a:pPr marL="0" indent="0" algn="l">
              <a:buNone/>
            </a:pPr>
            <a:r>
              <a:rPr sz="2100" b="0">
                <a:solidFill>
                  <a:srgbClr val="23282D"/>
                </a:solidFill>
                <a:latin typeface="Arial"/>
              </a:rPr>
              <a:t>Orange paint uses 4 cans of red for every 3 cans of yellow.</a:t>
            </a:r>
          </a:p>
        </p:txBody>
      </p:sp>
      <p:sp>
        <p:nvSpPr>
          <p:cNvPr id="18" name="TextBox 17"/>
          <p:cNvSpPr txBox="1"/>
          <p:nvPr/>
        </p:nvSpPr>
        <p:spPr>
          <a:xfrm>
            <a:off x="530352" y="1828800"/>
            <a:ext cx="7360920" cy="713232"/>
          </a:xfrm>
          <a:prstGeom prst="rect">
            <a:avLst/>
          </a:prstGeom>
          <a:noFill/>
        </p:spPr>
        <p:txBody>
          <a:bodyPr wrap="square" lIns="0" tIns="0" rIns="0" bIns="0" anchor="t">
            <a:noAutofit/>
          </a:bodyPr>
          <a:lstStyle/>
          <a:p>
            <a:pPr marL="0" indent="0" algn="l">
              <a:buNone/>
            </a:pPr>
            <a:r>
              <a:rPr sz="2100" b="1">
                <a:solidFill>
                  <a:srgbClr val="23282D"/>
                </a:solidFill>
                <a:latin typeface="Arial"/>
              </a:rPr>
              <a:t>How many cans of red paint go with 6 cans of yellow?</a:t>
            </a:r>
          </a:p>
        </p:txBody>
      </p:sp>
      <p:sp>
        <p:nvSpPr>
          <p:cNvPr id="19" name="TextBox 18"/>
          <p:cNvSpPr txBox="1"/>
          <p:nvPr/>
        </p:nvSpPr>
        <p:spPr>
          <a:xfrm>
            <a:off x="530352" y="2761488"/>
            <a:ext cx="7360920" cy="685800"/>
          </a:xfrm>
          <a:prstGeom prst="rect">
            <a:avLst/>
          </a:prstGeom>
          <a:noFill/>
        </p:spPr>
        <p:txBody>
          <a:bodyPr wrap="square" lIns="0" tIns="0" rIns="0" bIns="0" anchor="t">
            <a:noAutofit/>
          </a:bodyPr>
          <a:lstStyle/>
          <a:p>
            <a:pPr marL="0" indent="0" algn="l">
              <a:buNone/>
            </a:pPr>
            <a:r>
              <a:rPr sz="2100" b="0">
                <a:solidFill>
                  <a:srgbClr val="5D6872"/>
                </a:solidFill>
                <a:latin typeface="Arial"/>
              </a:rPr>
              <a:t>Show a ratio table. Label both ingredients and draw the same scale factor for each.</a:t>
            </a:r>
          </a:p>
        </p:txBody>
      </p:sp>
      <p:sp>
        <p:nvSpPr>
          <p:cNvPr id="20" name="TextBox 19"/>
          <p:cNvSpPr txBox="1"/>
          <p:nvPr/>
        </p:nvSpPr>
        <p:spPr>
          <a:xfrm>
            <a:off x="530352" y="3584448"/>
            <a:ext cx="7360920" cy="640080"/>
          </a:xfrm>
          <a:prstGeom prst="rect">
            <a:avLst/>
          </a:prstGeom>
          <a:noFill/>
        </p:spPr>
        <p:txBody>
          <a:bodyPr wrap="square" lIns="0" tIns="0" rIns="0" bIns="0" anchor="t">
            <a:noAutofit/>
          </a:bodyPr>
          <a:lstStyle/>
          <a:p>
            <a:pPr marL="0" indent="0" algn="l">
              <a:buNone/>
            </a:pPr>
            <a:r>
              <a:rPr sz="2100" b="1">
                <a:solidFill>
                  <a:srgbClr val="1E2682"/>
                </a:solidFill>
                <a:latin typeface="Arial"/>
              </a:rPr>
              <a:t>Explain: “3 became 6 by ×___, so 4 becomes ___.”</a:t>
            </a:r>
          </a:p>
        </p:txBody>
      </p:sp>
      <p:sp>
        <p:nvSpPr>
          <p:cNvPr id="21" name="Rounded Rectangle 20"/>
          <p:cNvSpPr/>
          <p:nvPr/>
        </p:nvSpPr>
        <p:spPr>
          <a:xfrm>
            <a:off x="8275320" y="1325880"/>
            <a:ext cx="3200400" cy="4462272"/>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75320" y="1325880"/>
            <a:ext cx="73152" cy="4462272"/>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39912" y="1435607"/>
            <a:ext cx="2907792" cy="219456"/>
          </a:xfrm>
          <a:prstGeom prst="rect">
            <a:avLst/>
          </a:prstGeom>
          <a:noFill/>
        </p:spPr>
        <p:txBody>
          <a:bodyPr wrap="square" lIns="0" tIns="0" rIns="0" bIns="0" anchor="t">
            <a:spAutoFit/>
          </a:bodyPr>
          <a:lstStyle/>
          <a:p>
            <a:pPr algn="l"/>
            <a:r>
              <a:rPr sz="1400" b="1">
                <a:solidFill>
                  <a:srgbClr val="008A62"/>
                </a:solidFill>
                <a:latin typeface="Arial"/>
              </a:rPr>
              <a:t>SELF-CHECK</a:t>
            </a:r>
          </a:p>
        </p:txBody>
      </p:sp>
      <p:sp>
        <p:nvSpPr>
          <p:cNvPr id="24" name="TextBox 23"/>
          <p:cNvSpPr txBox="1"/>
          <p:nvPr/>
        </p:nvSpPr>
        <p:spPr>
          <a:xfrm>
            <a:off x="8439912" y="1709928"/>
            <a:ext cx="2889504" cy="3986783"/>
          </a:xfrm>
          <a:prstGeom prst="rect">
            <a:avLst/>
          </a:prstGeom>
          <a:noFill/>
        </p:spPr>
        <p:txBody>
          <a:bodyPr wrap="square" lIns="0" tIns="0" rIns="0" bIns="0" anchor="t">
            <a:noAutofit/>
          </a:bodyPr>
          <a:lstStyle/>
          <a:p>
            <a:pPr marL="0" indent="0" algn="l">
              <a:buNone/>
            </a:pPr>
            <a:r>
              <a:rPr sz="1600" b="0">
                <a:solidFill>
                  <a:srgbClr val="23282D"/>
                </a:solidFill>
                <a:latin typeface="Arial"/>
              </a:rPr>
              <a:t>1. I can build a ratio table.</a:t>
            </a:r>
          </a:p>
          <a:p>
            <a:pPr marL="0" indent="0" algn="l">
              <a:buNone/>
            </a:pPr>
            <a:r>
              <a:rPr sz="1600" b="0">
                <a:solidFill>
                  <a:srgbClr val="23282D"/>
                </a:solidFill>
                <a:latin typeface="Arial"/>
              </a:rPr>
              <a:t>□ Alone  □ With a hint</a:t>
            </a:r>
          </a:p>
          <a:p>
            <a:pPr marL="0" indent="0" algn="l">
              <a:buNone/>
            </a:pPr>
            <a:r>
              <a:rPr sz="1600" b="0">
                <a:solidFill>
                  <a:srgbClr val="23282D"/>
                </a:solidFill>
                <a:latin typeface="Arial"/>
              </a:rPr>
              <a:t>□ Not yet</a:t>
            </a:r>
          </a:p>
          <a:p>
            <a:pPr marL="0" indent="0" algn="l">
              <a:buNone/>
            </a:pPr>
            <a:endParaRPr sz="1600" b="0">
              <a:solidFill>
                <a:srgbClr val="23282D"/>
              </a:solidFill>
              <a:latin typeface="Arial"/>
            </a:endParaRPr>
          </a:p>
          <a:p>
            <a:pPr marL="0" indent="0" algn="l">
              <a:buNone/>
            </a:pPr>
            <a:r>
              <a:rPr sz="1600" b="0">
                <a:solidFill>
                  <a:srgbClr val="23282D"/>
                </a:solidFill>
                <a:latin typeface="Arial"/>
              </a:rPr>
              <a:t>2. I can explain a scale factor.</a:t>
            </a:r>
          </a:p>
          <a:p>
            <a:pPr marL="0" indent="0" algn="l">
              <a:buNone/>
            </a:pPr>
            <a:r>
              <a:rPr sz="1600" b="0">
                <a:solidFill>
                  <a:srgbClr val="23282D"/>
                </a:solidFill>
                <a:latin typeface="Arial"/>
              </a:rPr>
              <a:t>□ Alone  □ With a hint</a:t>
            </a:r>
          </a:p>
          <a:p>
            <a:pPr marL="0" indent="0" algn="l">
              <a:buNone/>
            </a:pPr>
            <a:r>
              <a:rPr sz="1600" b="0">
                <a:solidFill>
                  <a:srgbClr val="23282D"/>
                </a:solidFill>
                <a:latin typeface="Arial"/>
              </a:rPr>
              <a:t>□ Not yet</a:t>
            </a:r>
          </a:p>
          <a:p>
            <a:pPr marL="0" indent="0" algn="l">
              <a:buNone/>
            </a:pPr>
            <a:endParaRPr sz="1600" b="0">
              <a:solidFill>
                <a:srgbClr val="23282D"/>
              </a:solidFill>
              <a:latin typeface="Arial"/>
            </a:endParaRPr>
          </a:p>
          <a:p>
            <a:pPr marL="0" indent="0" algn="l">
              <a:buNone/>
            </a:pPr>
            <a:r>
              <a:rPr sz="1600" b="0">
                <a:solidFill>
                  <a:srgbClr val="23282D"/>
                </a:solidFill>
                <a:latin typeface="Arial"/>
              </a:rPr>
              <a:t>My next step:</a:t>
            </a:r>
          </a:p>
          <a:p>
            <a:pPr marL="0" indent="0" algn="l">
              <a:buNone/>
            </a:pPr>
            <a:r>
              <a:rPr sz="1600" b="0">
                <a:solidFill>
                  <a:srgbClr val="23282D"/>
                </a:solidFill>
                <a:latin typeface="Arial"/>
              </a:rPr>
              <a:t>________________</a:t>
            </a:r>
          </a:p>
        </p:txBody>
      </p:sp>
      <p:sp>
        <p:nvSpPr>
          <p:cNvPr id="25" name="Rounded Rectangle 24"/>
          <p:cNvSpPr/>
          <p:nvPr/>
        </p:nvSpPr>
        <p:spPr>
          <a:xfrm>
            <a:off x="585216" y="4443984"/>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 y="4453128"/>
            <a:ext cx="2148840" cy="347472"/>
          </a:xfrm>
          <a:prstGeom prst="rect">
            <a:avLst/>
          </a:prstGeom>
          <a:noFill/>
        </p:spPr>
        <p:txBody>
          <a:bodyPr wrap="none" lIns="9144" tIns="9144" rIns="9144" bIns="9144" anchor="ctr">
            <a:noAutofit/>
          </a:bodyPr>
          <a:lstStyle/>
          <a:p>
            <a:pPr marL="0" indent="0" algn="ctr">
              <a:buNone/>
            </a:pPr>
            <a:r>
              <a:rPr sz="1500" b="1">
                <a:solidFill>
                  <a:srgbClr val="FFFFFF"/>
                </a:solidFill>
                <a:latin typeface="Arial"/>
              </a:rPr>
              <a:t>SOLVE • EXPLAIN</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Partner debrief: name your evidence and one next step.</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36 / 38</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4132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Work independently and show why. Use feedback to revise</a:t>
            </a:r>
            <a:endParaRPr lang="en-US" sz="2000"/>
          </a:p>
          <a:p>
            <a:pPr>
              <a:lnSpc>
                <a:spcPts val="2400"/>
              </a:lnSpc>
              <a:buNone/>
            </a:pPr>
            <a:r>
              <a:rPr lang="en-US" sz="2000">
                <a:solidFill>
                  <a:srgbClr val="174D60"/>
                </a:solidFill>
                <a:latin typeface="Arial"/>
              </a:rPr>
              <a:t>in a second color.</a:t>
            </a:r>
            <a:endParaRPr lang="en-US" sz="2000"/>
          </a:p>
        </p:txBody>
      </p:sp>
    </p:spTree>
    <p:extLst>
      <p:ext uri="{BB962C8B-B14F-4D97-AF65-F5344CB8AC3E}">
        <p14:creationId xmlns:p14="http://schemas.microsoft.com/office/powerpoint/2010/main" val="728017052"/>
      </p:ext>
    </p:extLst>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108" name="Google Shape;1108;p11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109" name="Google Shape;1109;p11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10" name="Google Shape;1110;p115"/>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use multiplication and division to generate equivalent ratios.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use appropriate tools to explain whether a set of ratios is equivalent.</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37 / 38</a:t>
            </a:r>
          </a:p>
        </p:txBody>
      </p:sp>
      <p:grpSp>
        <p:nvGrpSpPr>
          <p:cNvPr id="9003" name="TEACH-1-student-move" descr="TEACH 1 · Facilitate clear, standards-based content learning"/>
          <p:cNvGrpSpPr/>
          <p:nvPr/>
        </p:nvGrpSpPr>
        <p:grpSpPr>
          <a:xfrm>
            <a:off x="502920" y="5472790"/>
            <a:ext cx="11186160" cy="402336"/>
            <a:chOff x="502920" y="5472790"/>
            <a:chExt cx="11186160" cy="402336"/>
          </a:xfrm>
        </p:grpSpPr>
        <p:sp>
          <p:nvSpPr>
            <p:cNvPr id="9004"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6D363F5-2996-4674-9F2C-6EE659780DEA}"/>
              </a:ext>
            </a:extLst>
          </p:cNvPr>
          <p:cNvSpPr>
            <a:spLocks noGrp="1"/>
          </p:cNvSpPr>
          <p:nvPr/>
        </p:nvSpPr>
        <p:spPr>
          <a:xfrm>
            <a:off x="514350" y="381000"/>
            <a:ext cx="10287000" cy="542925"/>
          </a:xfrm>
          <a:prstGeom prst="rect">
            <a:avLst/>
          </a:prstGeom>
          <a:noFill/>
          <a:ln w="0">
            <a:noFill/>
          </a:ln>
        </p:spPr>
        <p:txBody>
          <a:bodyPr>
            <a:noAutofit/>
          </a:bodyPr>
          <a:lstStyle/>
          <a:p>
            <a:pPr>
              <a:defRPr sz="2700" b="1">
                <a:solidFill>
                  <a:srgbClr val="782DA0"/>
                </a:solidFill>
                <a:latin typeface="Arial"/>
                <a:ea typeface="Arial"/>
                <a:cs typeface="Arial"/>
              </a:defRPr>
            </a:pPr>
            <a:r>
              <a:rPr sz="2700" b="1">
                <a:solidFill>
                  <a:srgbClr val="782DA0"/>
                </a:solidFill>
                <a:latin typeface="Arial"/>
                <a:ea typeface="Arial"/>
                <a:cs typeface="Arial"/>
              </a:rPr>
              <a:t>UIFR TEACH — Teacher Reference</a:t>
            </a:r>
          </a:p>
        </p:txBody>
      </p:sp>
      <p:sp>
        <p:nvSpPr>
          <p:cNvPr id="2" name="Rectangle 1">
            <a:extLst>
              <a:ext uri="{FF2B5EF4-FFF2-40B4-BE49-F238E27FC236}">
                <a16:creationId xmlns:a16="http://schemas.microsoft.com/office/drawing/2014/main" id="{C11527AC-FECD-4C5B-90A4-F0F6DCD6A0E0}"/>
              </a:ext>
            </a:extLst>
          </p:cNvPr>
          <p:cNvSpPr>
            <a:spLocks noGrp="1"/>
          </p:cNvSpPr>
          <p:nvPr/>
        </p:nvSpPr>
        <p:spPr>
          <a:xfrm>
            <a:off x="523875" y="1028700"/>
            <a:ext cx="8667750" cy="342900"/>
          </a:xfrm>
          <a:prstGeom prst="rect">
            <a:avLst/>
          </a:prstGeom>
          <a:noFill/>
          <a:ln w="0">
            <a:noFill/>
          </a:ln>
        </p:spPr>
        <p:txBody>
          <a:bodyPr>
            <a:noAutofit/>
          </a:bodyPr>
          <a:lstStyle/>
          <a:p>
            <a:pPr>
              <a:defRPr sz="1575" b="0">
                <a:solidFill>
                  <a:srgbClr val="5D6872"/>
                </a:solidFill>
                <a:latin typeface="Arial"/>
                <a:ea typeface="Arial"/>
                <a:cs typeface="Arial"/>
              </a:defRPr>
            </a:pPr>
            <a:r>
              <a:rPr sz="1575" b="0">
                <a:solidFill>
                  <a:srgbClr val="5D6872"/>
                </a:solidFill>
                <a:latin typeface="Arial"/>
                <a:ea typeface="Arial"/>
                <a:cs typeface="Arial"/>
              </a:rPr>
              <a:t>Teacher reference • hidden from the student slideshow</a:t>
            </a:r>
          </a:p>
        </p:txBody>
      </p:sp>
      <p:sp>
        <p:nvSpPr>
          <p:cNvPr id="3" name="Rectangle 2">
            <a:extLst>
              <a:ext uri="{FF2B5EF4-FFF2-40B4-BE49-F238E27FC236}">
                <a16:creationId xmlns:a16="http://schemas.microsoft.com/office/drawing/2014/main" id="{3E5AA867-1A03-4D32-A881-DE08EB50A04A}"/>
              </a:ext>
            </a:extLst>
          </p:cNvPr>
          <p:cNvSpPr>
            <a:spLocks noGrp="1"/>
          </p:cNvSpPr>
          <p:nvPr/>
        </p:nvSpPr>
        <p:spPr>
          <a:xfrm>
            <a:off x="647700" y="1666875"/>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1 · Session goals, purpose, and content-linked success criteria.</a:t>
            </a:r>
          </a:p>
        </p:txBody>
      </p:sp>
      <p:sp>
        <p:nvSpPr>
          <p:cNvPr id="4" name="Rectangle 3">
            <a:extLst>
              <a:ext uri="{FF2B5EF4-FFF2-40B4-BE49-F238E27FC236}">
                <a16:creationId xmlns:a16="http://schemas.microsoft.com/office/drawing/2014/main" id="{610EABE5-2F57-40D6-A344-9997FB78C0E9}"/>
              </a:ext>
            </a:extLst>
          </p:cNvPr>
          <p:cNvSpPr>
            <a:spLocks noGrp="1"/>
          </p:cNvSpPr>
          <p:nvPr/>
        </p:nvSpPr>
        <p:spPr>
          <a:xfrm>
            <a:off x="647700" y="2247900"/>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2 · Original models precede checks and independent application.</a:t>
            </a:r>
          </a:p>
        </p:txBody>
      </p:sp>
      <p:sp>
        <p:nvSpPr>
          <p:cNvPr id="5" name="Rectangle 4">
            <a:extLst>
              <a:ext uri="{FF2B5EF4-FFF2-40B4-BE49-F238E27FC236}">
                <a16:creationId xmlns:a16="http://schemas.microsoft.com/office/drawing/2014/main" id="{7A43F575-F533-4759-8658-00E61D437962}"/>
              </a:ext>
            </a:extLst>
          </p:cNvPr>
          <p:cNvSpPr>
            <a:spLocks noGrp="1"/>
          </p:cNvSpPr>
          <p:nvPr/>
        </p:nvSpPr>
        <p:spPr>
          <a:xfrm>
            <a:off x="647700" y="2828925"/>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3 · Original inquiry questions prompt reasoning and justification.</a:t>
            </a:r>
          </a:p>
        </p:txBody>
      </p:sp>
      <p:sp>
        <p:nvSpPr>
          <p:cNvPr id="6" name="Rectangle 5">
            <a:extLst>
              <a:ext uri="{FF2B5EF4-FFF2-40B4-BE49-F238E27FC236}">
                <a16:creationId xmlns:a16="http://schemas.microsoft.com/office/drawing/2014/main" id="{43C2F664-A347-42BA-900D-2530B9C90893}"/>
              </a:ext>
            </a:extLst>
          </p:cNvPr>
          <p:cNvSpPr>
            <a:spLocks noGrp="1"/>
          </p:cNvSpPr>
          <p:nvPr/>
        </p:nvSpPr>
        <p:spPr>
          <a:xfrm>
            <a:off x="647700" y="3409950"/>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4 · Checks, feedback, and time to revise follow instruction.</a:t>
            </a:r>
          </a:p>
        </p:txBody>
      </p:sp>
      <p:sp>
        <p:nvSpPr>
          <p:cNvPr id="7" name="Rectangle 6">
            <a:extLst>
              <a:ext uri="{FF2B5EF4-FFF2-40B4-BE49-F238E27FC236}">
                <a16:creationId xmlns:a16="http://schemas.microsoft.com/office/drawing/2014/main" id="{7950BE26-2590-46F9-8BD6-FBDF0954E8F3}"/>
              </a:ext>
            </a:extLst>
          </p:cNvPr>
          <p:cNvSpPr>
            <a:spLocks noGrp="1"/>
          </p:cNvSpPr>
          <p:nvPr/>
        </p:nvSpPr>
        <p:spPr>
          <a:xfrm>
            <a:off x="647700" y="3990975"/>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5 · Think time and purposeful partner explanations.</a:t>
            </a:r>
          </a:p>
        </p:txBody>
      </p:sp>
      <p:sp>
        <p:nvSpPr>
          <p:cNvPr id="8" name="Rectangle 7">
            <a:extLst>
              <a:ext uri="{FF2B5EF4-FFF2-40B4-BE49-F238E27FC236}">
                <a16:creationId xmlns:a16="http://schemas.microsoft.com/office/drawing/2014/main" id="{64791777-8885-4956-8EC5-FFCA54583900}"/>
              </a:ext>
            </a:extLst>
          </p:cNvPr>
          <p:cNvSpPr>
            <a:spLocks noGrp="1"/>
          </p:cNvSpPr>
          <p:nvPr/>
        </p:nvSpPr>
        <p:spPr>
          <a:xfrm>
            <a:off x="647700" y="4572000"/>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6 · Consistent model → notes → practice sequence.</a:t>
            </a:r>
          </a:p>
        </p:txBody>
      </p:sp>
      <p:sp>
        <p:nvSpPr>
          <p:cNvPr id="9" name="Rectangle 8">
            <a:extLst>
              <a:ext uri="{FF2B5EF4-FFF2-40B4-BE49-F238E27FC236}">
                <a16:creationId xmlns:a16="http://schemas.microsoft.com/office/drawing/2014/main" id="{9D749E11-1D6B-476F-931F-985D1A7D0E8C}"/>
              </a:ext>
            </a:extLst>
          </p:cNvPr>
          <p:cNvSpPr>
            <a:spLocks noGrp="1"/>
          </p:cNvSpPr>
          <p:nvPr/>
        </p:nvSpPr>
        <p:spPr>
          <a:xfrm>
            <a:off x="647700" y="5153025"/>
            <a:ext cx="10763250" cy="523875"/>
          </a:xfrm>
          <a:prstGeom prst="rect">
            <a:avLst/>
          </a:prstGeom>
          <a:noFill/>
          <a:ln w="0">
            <a:noFill/>
          </a:ln>
        </p:spPr>
        <p:txBody>
          <a:bodyPr>
            <a:noAutofit/>
          </a:bodyPr>
          <a:lstStyle/>
          <a:p>
            <a:pPr>
              <a:defRPr sz="1875" b="0">
                <a:solidFill>
                  <a:srgbClr val="23282D"/>
                </a:solidFill>
                <a:latin typeface="Arial"/>
                <a:ea typeface="Arial"/>
                <a:cs typeface="Arial"/>
              </a:defRPr>
            </a:pPr>
            <a:r>
              <a:rPr sz="1875" b="0">
                <a:solidFill>
                  <a:srgbClr val="23282D"/>
                </a:solidFill>
                <a:latin typeface="Arial"/>
                <a:ea typeface="Arial"/>
                <a:cs typeface="Arial"/>
              </a:rPr>
              <a:t>TEACH 7 · Brief notes, scaffolds, and respectful sharing of strategies.</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38 / 38</a:t>
            </a:r>
          </a:p>
        </p:txBody>
      </p:sp>
      <p:grpSp>
        <p:nvGrpSpPr>
          <p:cNvPr id="9003" name="TEACH-1-student-move" descr="TEACH 1 · Facilitate clear, standards-based content learning"/>
          <p:cNvGrpSpPr/>
          <p:nvPr/>
        </p:nvGrpSpPr>
        <p:grpSpPr>
          <a:xfrm>
            <a:off x="502920" y="5582031"/>
            <a:ext cx="11186160" cy="640080"/>
            <a:chOff x="502920" y="5582031"/>
            <a:chExt cx="11186160" cy="640080"/>
          </a:xfrm>
        </p:grpSpPr>
        <p:sp>
          <p:nvSpPr>
            <p:cNvPr id="9004" name="TEACH-move-card"/>
            <p:cNvSpPr/>
            <p:nvPr/>
          </p:nvSpPr>
          <p:spPr>
            <a:xfrm>
              <a:off x="502920" y="5582031"/>
              <a:ext cx="11186160" cy="64008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703646"/>
              <a:ext cx="100584" cy="396850"/>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582031"/>
              <a:ext cx="10728960" cy="640080"/>
            </a:xfrm>
            <a:prstGeom prst="rect">
              <a:avLst/>
            </a:prstGeom>
            <a:noFill/>
            <a:ln>
              <a:noFill/>
            </a:ln>
          </p:spPr>
          <p:txBody>
            <a:bodyPr wrap="square" lIns="0" tIns="0" rIns="0" bIns="0" anchor="ctr">
              <a:noAutofit/>
            </a:bodyPr>
            <a:lstStyle/>
            <a:p>
              <a:pPr algn="l">
                <a:buNone/>
              </a:pPr>
              <a:r>
                <a:rPr lang="en-US" sz="1600" b="1" dirty="0">
                  <a:solidFill>
                    <a:srgbClr val="01708C"/>
                  </a:solidFill>
                  <a:latin typeface="Arial"/>
                </a:rPr>
                <a:t>SHOW YOUR THINKING  ·  </a:t>
              </a:r>
              <a:r>
                <a:rPr lang="en-US" sz="1600" dirty="0">
                  <a:solidFill>
                    <a:srgbClr val="13303A"/>
                  </a:solidFill>
                  <a:latin typeface="Arial"/>
                </a:rPr>
                <a:t>Show what you know — write it, draw it, or build it. A picture counts as an explanation.</a:t>
              </a:r>
              <a:endParaRPr lang="en-US" sz="1600"/>
            </a:p>
          </p:txBody>
        </p:sp>
      </p:grpSp>
    </p:spTree>
    <p:extLst>
      <p:ext uri="{BB962C8B-B14F-4D97-AF65-F5344CB8AC3E}">
        <p14:creationId xmlns:p14="http://schemas.microsoft.com/office/powerpoint/2010/main" val="449488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3-3</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STRUGGLE FIRST  ·  </a:t>
            </a:r>
            <a:r>
              <a:rPr lang="en-US" sz="2000" b="0" dirty="0">
                <a:solidFill>
                  <a:srgbClr val="13303A"/>
                </a:solidFill>
                <a:latin typeface="Arial"/>
              </a:rPr>
              <a:t>Work on your own first. Stuck is allowed — try a second strategy before you ask.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31 / 38</a:t>
            </a:r>
          </a:p>
        </p:txBody>
      </p:sp>
    </p:spTree>
  </p:cSld>
  <p:clrMapOvr>
    <a:masterClrMapping/>
  </p:clrMapOvr>
</p:sld>
</file>

<file path=ppt/theme/theme1.xml><?xml version="1.0" encoding="utf-8"?>
<a:theme xmlns:a="http://schemas.openxmlformats.org/drawingml/2006/main"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6.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2816</Words>
  <Application>Microsoft Macintosh PowerPoint</Application>
  <PresentationFormat>Widescreen</PresentationFormat>
  <Paragraphs>318</Paragraphs>
  <Slides>20</Slides>
  <Notes>20</Notes>
  <HiddenSlides>1</HiddenSlides>
  <MMClips>0</MMClips>
  <ScaleCrop>false</ScaleCrop>
  <HeadingPairs>
    <vt:vector size="6" baseType="variant">
      <vt:variant>
        <vt:lpstr>Fonts Used</vt:lpstr>
      </vt:variant>
      <vt:variant>
        <vt:i4>3</vt:i4>
      </vt:variant>
      <vt:variant>
        <vt:lpstr>Theme</vt:lpstr>
      </vt:variant>
      <vt:variant>
        <vt:i4>6</vt:i4>
      </vt:variant>
      <vt:variant>
        <vt:lpstr>Slide Titles</vt:lpstr>
      </vt:variant>
      <vt:variant>
        <vt:i4>20</vt:i4>
      </vt:variant>
    </vt:vector>
  </HeadingPairs>
  <TitlesOfParts>
    <vt:vector size="29" baseType="lpstr">
      <vt:lpstr>Arial</vt:lpstr>
      <vt:lpstr>Calibri</vt:lpstr>
      <vt:lpstr>Cambria Math</vt:lpstr>
      <vt:lpstr>Title Slide</vt:lpstr>
      <vt:lpstr>1_Custom Design</vt:lpstr>
      <vt:lpstr>Custom Design</vt:lpstr>
      <vt:lpstr>2_Custom Design</vt:lpstr>
      <vt:lpstr>ChatGPT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Neft, Joel D.</cp:lastModifiedBy>
  <cp:revision>3</cp:revision>
  <dcterms:modified xsi:type="dcterms:W3CDTF">2026-09-28T11:18:18Z</dcterms:modified>
  <dc:title>Reveal Math Grade 6 · Lesson 3.3 — Equivalent Ratios Using Tables</dc:title>
</cp:coreProperties>
</file>