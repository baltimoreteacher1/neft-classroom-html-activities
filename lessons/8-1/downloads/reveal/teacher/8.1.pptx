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71" r:id="rId24"/>
    <p:sldId id="272" r:id="rId25"/>
    <p:sldId id="256" r:id="rId9"/>
    <p:sldId id="260" r:id="rId13"/>
    <p:sldId id="337" r:id="rId74"/>
    <p:sldId id="336" r:id="rId54"/>
    <p:sldId id="335" r:id="rId30"/>
    <p:sldId id="334" r:id="rId32"/>
    <p:sldId id="333" r:id="rId51"/>
    <p:sldId id="332" r:id="rId50"/>
    <p:sldId id="331" r:id="rId49"/>
    <p:sldId id="330" r:id="rId48"/>
    <p:sldId id="329" r:id="rId34"/>
    <p:sldId id="328" r:id="rId35"/>
    <p:sldId id="261" r:id="rId14"/>
    <p:sldId id="274" r:id="rId27"/>
    <p:sldId id="276" r:id="rId29"/>
    <p:sldId id="278" r:id="rId31"/>
    <p:sldId id="280" r:id="rId33"/>
    <p:sldId id="341" r:id="rId78"/>
    <p:sldId id="284" r:id="rId37"/>
    <p:sldId id="286" r:id="rId39"/>
    <p:sldId id="292" r:id="rId45"/>
    <p:sldId id="293" r:id="rId46"/>
    <p:sldId id="338" r:id="rId75"/>
    <p:sldId id="327" r:id="rId36"/>
    <p:sldId id="326" r:id="rId44"/>
    <p:sldId id="342" r:id="rId79"/>
    <p:sldId id="325" r:id="rId43"/>
    <p:sldId id="319" r:id="rId72"/>
    <p:sldId id="343" r:id="rId80"/>
    <p:sldId id="320" r:id="rId73"/>
    <p:sldId id="294" r:id="rId47"/>
    <p:sldId id="299" r:id="rId52"/>
    <p:sldId id="300" r:id="rId53"/>
    <p:sldId id="302" r:id="rId55"/>
    <p:sldId id="304" r:id="rId57"/>
    <p:sldId id="344" r:id="rId81"/>
    <p:sldId id="308" r:id="rId61"/>
    <p:sldId id="310" r:id="rId63"/>
    <p:sldId id="312" r:id="rId65"/>
    <p:sldId id="313" r:id="rId66"/>
    <p:sldId id="345" r:id="rId82"/>
    <p:sldId id="314" r:id="rId67"/>
    <p:sldId id="315" r:id="rId68"/>
    <p:sldId id="339" r:id="rId76"/>
    <p:sldId id="324" r:id="rId42"/>
    <p:sldId id="323" r:id="rId41"/>
    <p:sldId id="316" r:id="rId69"/>
    <p:sldId id="317" r:id="rId70"/>
    <p:sldId id="318" r:id="rId71"/>
    <p:sldId id="322" r:id="rId40"/>
    <p:sldId id="321" r:id="rId38"/>
    <p:sldId id="340" r:id="rId77"/>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2" Type="http://schemas.openxmlformats.org/officeDocument/2006/relationships/slide" Target="slides/slide1.xml"/><Relationship Id="rId13" Type="http://schemas.openxmlformats.org/officeDocument/2006/relationships/slide" Target="slides/slide5.xml"/><Relationship Id="rId14" Type="http://schemas.openxmlformats.org/officeDocument/2006/relationships/slide" Target="slides/slide16.xml"/><Relationship Id="rId24" Type="http://schemas.openxmlformats.org/officeDocument/2006/relationships/slide" Target="slides/slide2.xml"/><Relationship Id="rId25" Type="http://schemas.openxmlformats.org/officeDocument/2006/relationships/slide" Target="slides/slide3.xml"/><Relationship Id="rId27"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8.xml"/><Relationship Id="rId31" Type="http://schemas.openxmlformats.org/officeDocument/2006/relationships/slide" Target="slides/slide19.xml"/><Relationship Id="rId32" Type="http://schemas.openxmlformats.org/officeDocument/2006/relationships/slide" Target="slides/slide9.xml"/><Relationship Id="rId33" Type="http://schemas.openxmlformats.org/officeDocument/2006/relationships/slide" Target="slides/slide20.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26.xml"/><Relationship Id="rId37" Type="http://schemas.openxmlformats.org/officeDocument/2006/relationships/slide" Target="slides/slide21.xml"/><Relationship Id="rId38" Type="http://schemas.openxmlformats.org/officeDocument/2006/relationships/slide" Target="slides/slide49.xml"/><Relationship Id="rId39" Type="http://schemas.openxmlformats.org/officeDocument/2006/relationships/slide" Target="slides/slide22.xml"/><Relationship Id="rId40" Type="http://schemas.openxmlformats.org/officeDocument/2006/relationships/slide" Target="slides/slide48.xml"/><Relationship Id="rId41" Type="http://schemas.openxmlformats.org/officeDocument/2006/relationships/slide" Target="slides/slide44.xml"/><Relationship Id="rId42" Type="http://schemas.openxmlformats.org/officeDocument/2006/relationships/slide" Target="slides/slide43.xml"/><Relationship Id="rId43" Type="http://schemas.openxmlformats.org/officeDocument/2006/relationships/slide" Target="slides/slide28.xml"/><Relationship Id="rId44" Type="http://schemas.openxmlformats.org/officeDocument/2006/relationships/slide" Target="slides/slide27.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31.xml"/><Relationship Id="rId48" Type="http://schemas.openxmlformats.org/officeDocument/2006/relationships/slide" Target="slides/slide13.xml"/><Relationship Id="rId49" Type="http://schemas.openxmlformats.org/officeDocument/2006/relationships/slide" Target="slides/slide12.xml"/><Relationship Id="rId50" Type="http://schemas.openxmlformats.org/officeDocument/2006/relationships/slide" Target="slides/slide11.xml"/><Relationship Id="rId51" Type="http://schemas.openxmlformats.org/officeDocument/2006/relationships/slide" Target="slides/slide10.xml"/><Relationship Id="rId52" Type="http://schemas.openxmlformats.org/officeDocument/2006/relationships/slide" Target="slides/slide32.xml"/><Relationship Id="rId53" Type="http://schemas.openxmlformats.org/officeDocument/2006/relationships/slide" Target="slides/slide33.xml"/><Relationship Id="rId54" Type="http://schemas.openxmlformats.org/officeDocument/2006/relationships/slide" Target="slides/slide7.xml"/><Relationship Id="rId55" Type="http://schemas.openxmlformats.org/officeDocument/2006/relationships/slide" Target="slides/slide34.xml"/><Relationship Id="rId57" Type="http://schemas.openxmlformats.org/officeDocument/2006/relationships/slide" Target="slides/slide35.xml"/><Relationship Id="rId61" Type="http://schemas.openxmlformats.org/officeDocument/2006/relationships/slide" Target="slides/slide36.xml"/><Relationship Id="rId63"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47.xml"/><Relationship Id="rId72" Type="http://schemas.openxmlformats.org/officeDocument/2006/relationships/slide" Target="slides/slide29.xml"/><Relationship Id="rId73" Type="http://schemas.openxmlformats.org/officeDocument/2006/relationships/slide" Target="slides/slide30.xml"/><Relationship Id="rId74" Type="http://schemas.openxmlformats.org/officeDocument/2006/relationships/slide" Target="slides/slide6.xml"/><Relationship Id="rId75" Type="http://schemas.openxmlformats.org/officeDocument/2006/relationships/slide" Target="slides/slide25.xml"/><Relationship Id="rId76" Type="http://schemas.openxmlformats.org/officeDocument/2006/relationships/slide" Target="slides/slide42.xml"/><Relationship Id="rId77" Type="http://schemas.openxmlformats.org/officeDocument/2006/relationships/slide" Target="slides/slide50.xml"/><Relationship Id="rId78" Type="http://schemas.openxmlformats.org/officeDocument/2006/relationships/slide" Target="slides/slide51.xml"/><Relationship Id="rId79" Type="http://schemas.openxmlformats.org/officeDocument/2006/relationships/slide" Target="slides/slide52.xml"/><Relationship Id="rId80" Type="http://schemas.openxmlformats.org/officeDocument/2006/relationships/slide" Target="slides/slide53.xml"/><Relationship Id="rId81" Type="http://schemas.openxmlformats.org/officeDocument/2006/relationships/slide" Target="slides/slide54.xml"/><Relationship Id="rId8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4 | DIVIDER</a:t>
            </a:r>
          </a:p>
          <a:p xmlns:a="http://schemas.openxmlformats.org/drawingml/2006/main">
            <a:pPr>
              <a:buNone/>
            </a:pPr>
            <a:r>
              <a:rPr lang="en-US" sz="1100"/>
              <a:t>Focus on the existing task: Understand Equations and Their Solutions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20   2) 9   3) 4n = 20   4) no</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translate the relationship into an equation; substitute a proposed value; compare both sides. Review recent work and today’s warm-up to choose flexible groups and access supports; do not infer needs from identity or perceived ability. Use the existing lesson tasks and stated standards.</a:t>
            </a:r>
          </a:p>
          <a:p>
            <a:pPr>
              <a:buNone/>
            </a:pPr>
            <a:r>
              <a:rPr lang="en-US" sz="1100"/>
              <a:t>Anticipate: assuming the equals sign means to calculate only the left side. If observed, evaluate the two sides of the original equation separately after substitution.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4" name="Google Shape;254;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5 | GOAL</a:t>
            </a:r>
          </a:p>
          <a:p xmlns:a="http://schemas.openxmlformats.org/drawingml/2006/main">
            <a:pPr>
              <a:buNone/>
            </a:pPr>
            <a:r>
              <a:rPr lang="en-US" sz="1100"/>
              <a:t>Focus on the existing task: Today’s Objectives Understand Equations and Their…</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translate the relationship into an equation; substitute a proposed value; compare both sides. Ask: “Which part of your work would show this?” Revisit that evidence after the task; a confidence rating alone is not evidence of understanding.</a:t>
            </a:r>
          </a:p>
        </p:txBody>
      </p:sp>
      <p:sp>
        <p:nvSpPr>
          <p:cNvPr id="330" name="Google Shape;330;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16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2" name="Google Shape;352;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2 | NOTES</a:t>
            </a:r>
          </a:p>
          <a:p xmlns:a="http://schemas.openxmlformats.org/drawingml/2006/main">
            <a:pPr>
              <a:buNone/>
            </a:pPr>
            <a:r>
              <a:rPr lang="en-US" sz="1100"/>
              <a:t>Focus on the existing task: Today’s Math Notes Section 1: Math Words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61" name="Google Shape;561;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89" name="Google Shape;589;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17 | CURIOUS</a:t>
            </a:r>
          </a:p>
          <a:p xmlns:a="http://schemas.openxmlformats.org/drawingml/2006/main">
            <a:pPr>
              <a:buNone/>
            </a:pPr>
            <a:r>
              <a:rPr lang="en-US" sz="1100"/>
              <a:t>Focus on the existing task: Be Curious Mindset What helps you be flexible in your mathematical thinking?</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633" name="Google Shape;633;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18 | TASK</a:t>
            </a:r>
          </a:p>
          <a:p xmlns:a="http://schemas.openxmlformats.org/drawingml/2006/main">
            <a:pPr>
              <a:buNone/>
            </a:pPr>
            <a:r>
              <a:rPr lang="en-US" sz="1100"/>
              <a:t>Focus on the existing task: Building a Door How can you connect the problem to math that you already know?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equality assert here, and what evidence makes this value a solution?” Wait for evidence, invite another pathway, and have a student ask a follow-up question. Do not replace students’ reasoning with a sequence of leading steps.</a:t>
            </a:r>
          </a:p>
        </p:txBody>
      </p:sp>
      <p:sp>
        <p:nvSpPr>
          <p:cNvPr id="663" name="Google Shape;663;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19 | REVEAL</a:t>
            </a:r>
          </a:p>
          <a:p xmlns:a="http://schemas.openxmlformats.org/drawingml/2006/main">
            <a:pPr>
              <a:buNone/>
            </a:pPr>
            <a:r>
              <a:rPr lang="en-US" sz="1100"/>
              <a:t>Focus on the existing task: Building a Door Reveal: One tool is a tape diagram. What tool can you use to represent and compare the widths of the door and the planks?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both sides.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tape diagram.</a:t>
            </a:r>
          </a:p>
          <a:p>
            <a:pPr indent="0" lvl="0" marL="0" rtl="0" algn="l">
              <a:lnSpc>
                <a:spcPct val="100000"/>
              </a:lnSpc>
              <a:spcBef>
                <a:spcPts val="0"/>
              </a:spcBef>
              <a:spcAft>
                <a:spcPts val="0"/>
              </a:spcAft>
              <a:buSzPts val="1400"/>
              <a:buNone/>
            </a:pPr>
            <a:r>
              <a:t>UIFR: TEACH 3 · TEACH 4.</a:t>
            </a:r>
          </a:p>
        </p:txBody>
      </p:sp>
      <p:sp>
        <p:nvSpPr>
          <p:cNvPr id="685" name="Google Shape;685;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20 | REVEAL</a:t>
            </a:r>
          </a:p>
          <a:p xmlns:a="http://schemas.openxmlformats.org/drawingml/2006/main">
            <a:pPr>
              <a:buNone/>
            </a:pPr>
            <a:r>
              <a:rPr lang="en-US" sz="1100"/>
              <a:t>Focus on the existing task: Building a Door Reveal: We can use an algebraic expression. We can use a tape diagram to represent and make sense of the quantities in…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an algebraic expression.</a:t>
            </a:r>
          </a:p>
          <a:p>
            <a:pPr indent="0" lvl="0" marL="0" rtl="0" algn="l">
              <a:lnSpc>
                <a:spcPct val="100000"/>
              </a:lnSpc>
              <a:spcBef>
                <a:spcPts val="0"/>
              </a:spcBef>
              <a:spcAft>
                <a:spcPts val="0"/>
              </a:spcAft>
              <a:buSzPts val="1400"/>
              <a:buNone/>
            </a:pPr>
            <a:r>
              <a:t>UIFR: TEACH 3 · TEACH 4.</a:t>
            </a:r>
          </a:p>
        </p:txBody>
      </p:sp>
      <p:sp>
        <p:nvSpPr>
          <p:cNvPr id="706" name="Google Shape;706;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21 | REVEAL</a:t>
            </a:r>
          </a:p>
          <a:p xmlns:a="http://schemas.openxmlformats.org/drawingml/2006/main">
            <a:pPr>
              <a:buNone/>
            </a:pPr>
            <a:r>
              <a:rPr lang="en-US" sz="1100"/>
              <a:t>Focus on the existing task: Building a Door Reveal: The total width of the planks needs to be 36 inches. Let’s write an algebraic expression to represent the total…</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total width of the planks needs to be 36 inches.</a:t>
            </a:r>
          </a:p>
          <a:p>
            <a:pPr indent="0" lvl="0" marL="0" rtl="0" algn="l">
              <a:lnSpc>
                <a:spcPct val="100000"/>
              </a:lnSpc>
              <a:spcBef>
                <a:spcPts val="0"/>
              </a:spcBef>
              <a:spcAft>
                <a:spcPts val="0"/>
              </a:spcAft>
              <a:buSzPts val="1400"/>
              <a:buNone/>
            </a:pPr>
            <a:r>
              <a:t>UIFR: TEACH 3 · TEACH 4.</a:t>
            </a:r>
          </a:p>
        </p:txBody>
      </p:sp>
      <p:sp>
        <p:nvSpPr>
          <p:cNvPr id="750" name="Google Shape;750;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22 | TASK</a:t>
            </a:r>
          </a:p>
          <a:p xmlns:a="http://schemas.openxmlformats.org/drawingml/2006/main">
            <a:pPr>
              <a:buNone/>
            </a:pPr>
            <a:r>
              <a:rPr lang="en-US" sz="1100"/>
              <a:t>Focus on the existing task: Building a Door The total width of the planks needs to be 36 inches. How can you determine the value of the unknown?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substitute a proposed value.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71" name="Google Shape;771;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23 | TASK</a:t>
            </a:r>
          </a:p>
          <a:p xmlns:a="http://schemas.openxmlformats.org/drawingml/2006/main">
            <a:pPr>
              <a:buNone/>
            </a:pPr>
            <a:r>
              <a:rPr lang="en-US" sz="1100"/>
              <a:t>Focus on the existing task: Building a Door How can Shanice determine the number of planks needed?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39" name="Google Shape;839;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24 | PRACTICE</a:t>
            </a:r>
          </a:p>
          <a:p xmlns:a="http://schemas.openxmlformats.org/drawingml/2006/main">
            <a:pPr>
              <a:buNone/>
            </a:pPr>
            <a:r>
              <a:rPr lang="en-US" sz="1100"/>
              <a:t>Focus on the existing task: Let’s Explore More How would the equation, 4 1 2 p = 36, change if they used wooden planks that were 6 inches wide instead of 4 1 2 inches wide?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the equals sign means to calculate only the left side. If it appears, evaluate the two sides of the original equation separately after substitution; then ask the student to revise the same response and explain the change. If evidence is secure, have students compare a second valid pathway or state why their approach works. Choose the next step from the responses, not a preset pace.</a:t>
            </a:r>
          </a:p>
        </p:txBody>
      </p:sp>
      <p:sp>
        <p:nvSpPr>
          <p:cNvPr id="850" name="Google Shape;850;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31 | DIVIDER</a:t>
            </a:r>
          </a:p>
          <a:p xmlns:a="http://schemas.openxmlformats.org/drawingml/2006/main">
            <a:pPr>
              <a:buNone/>
            </a:pPr>
            <a:r>
              <a:rPr lang="en-US" sz="1100"/>
              <a:t>Focus on the existing task: Understand Equations and Their Solutions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62" name="Google Shape;862;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32 | TASK</a:t>
            </a:r>
          </a:p>
          <a:p xmlns:a="http://schemas.openxmlformats.org/drawingml/2006/main">
            <a:pPr>
              <a:buNone/>
            </a:pPr>
            <a:r>
              <a:rPr lang="en-US" sz="1100"/>
              <a:t>Focus on the existing task: What are the quantities in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are the quantities in the problem? Which of the quantities is unknown?</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equality assert here, and what evidence makes this value a solution?” Wait for evidence, invite another pathway, and have a student ask a follow-up question. Do not replace students’ reasoning with a sequence of leading steps.</a:t>
            </a:r>
          </a:p>
        </p:txBody>
      </p:sp>
      <p:sp>
        <p:nvSpPr>
          <p:cNvPr id="917" name="Google Shape;917;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33 | REVEAL</a:t>
            </a:r>
          </a:p>
          <a:p xmlns:a="http://schemas.openxmlformats.org/drawingml/2006/main">
            <a:pPr>
              <a:buNone/>
            </a:pPr>
            <a:r>
              <a:rPr lang="en-US" sz="1100"/>
              <a:t>Focus on the existing task: School Broccoli What are the quantities in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quantities are the amount of broccoli that was cooked at the start of the day, the amount of broccoli that was consumed, and the amount of broccoli remaining at the end of the day. The amount of broccoli consumed …</a:t>
            </a:r>
          </a:p>
          <a:p>
            <a:pPr indent="0" lvl="0" marL="0" rtl="0" algn="l">
              <a:lnSpc>
                <a:spcPct val="100000"/>
              </a:lnSpc>
              <a:spcBef>
                <a:spcPts val="0"/>
              </a:spcBef>
              <a:spcAft>
                <a:spcPts val="0"/>
              </a:spcAft>
              <a:buSzPts val="1400"/>
              <a:buNone/>
            </a:pPr>
            <a:r>
              <a:t>UIFR: TEACH 3 · TEACH 4.</a:t>
            </a:r>
          </a:p>
        </p:txBody>
      </p:sp>
      <p:sp>
        <p:nvSpPr>
          <p:cNvPr id="926" name="Google Shape;926;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34 | REVEAL</a:t>
            </a:r>
          </a:p>
          <a:p xmlns:a="http://schemas.openxmlformats.org/drawingml/2006/main">
            <a:pPr>
              <a:buNone/>
            </a:pPr>
            <a:r>
              <a:rPr lang="en-US" sz="1100"/>
              <a:t>Focus on the existing task: School Broccoli The quantities in the problem are: How can you represent the relationship between the quantities algebraically?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an equation.</a:t>
            </a:r>
          </a:p>
          <a:p>
            <a:pPr indent="0" lvl="0" marL="0" rtl="0" algn="l">
              <a:lnSpc>
                <a:spcPct val="100000"/>
              </a:lnSpc>
              <a:spcBef>
                <a:spcPts val="0"/>
              </a:spcBef>
              <a:spcAft>
                <a:spcPts val="0"/>
              </a:spcAft>
              <a:buSzPts val="1400"/>
              <a:buNone/>
            </a:pPr>
            <a:r>
              <a:t>UIFR: TEACH 3 · TEACH 4.</a:t>
            </a:r>
          </a:p>
        </p:txBody>
      </p:sp>
      <p:sp>
        <p:nvSpPr>
          <p:cNvPr id="946" name="Google Shape;946;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35 | COLLABORATE</a:t>
            </a:r>
          </a:p>
          <a:p xmlns:a="http://schemas.openxmlformats.org/drawingml/2006/main">
            <a:pPr>
              <a:buNone/>
            </a:pPr>
            <a:r>
              <a:rPr lang="en-US" sz="1100"/>
              <a:t>Focus on the existing task: The quantities in the problem are: Collaborate and Connect What equation represents the relationship between the quantities?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the equals sign means to calculate only the left side. If it appears, evaluate the two sides of the original equation separately after substitution; then ask the student to revise the same response and explain the change. If evidence is secure, have students compare a second valid pathway or state why their approach works. Choose the next step from the responses, not a preset pace.</a:t>
            </a:r>
          </a:p>
        </p:txBody>
      </p:sp>
      <p:sp>
        <p:nvSpPr>
          <p:cNvPr id="969" name="Google Shape;969;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36 | TASK</a:t>
            </a:r>
          </a:p>
          <a:p xmlns:a="http://schemas.openxmlformats.org/drawingml/2006/main">
            <a:pPr>
              <a:buNone/>
            </a:pPr>
            <a:r>
              <a:rPr lang="en-US" sz="1100"/>
              <a:t>Focus on the existing task: School Broccoli Think About It: How can estimating help you solve an equation?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1008" name="Google Shape;1008;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37 | REVEAL</a:t>
            </a:r>
          </a:p>
          <a:p xmlns:a="http://schemas.openxmlformats.org/drawingml/2006/main">
            <a:pPr>
              <a:buNone/>
            </a:pPr>
            <a:r>
              <a:rPr lang="en-US" sz="1100"/>
              <a:t>Focus on the existing task: School Broccoli How can you determine another number to try?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try 31, because we need to take 1 more away from 50 to get to 19.</a:t>
            </a:r>
          </a:p>
          <a:p>
            <a:pPr indent="0" lvl="0" marL="0" rtl="0" algn="l">
              <a:lnSpc>
                <a:spcPct val="100000"/>
              </a:lnSpc>
              <a:spcBef>
                <a:spcPts val="0"/>
              </a:spcBef>
              <a:spcAft>
                <a:spcPts val="0"/>
              </a:spcAft>
              <a:buSzPts val="1400"/>
              <a:buNone/>
            </a:pPr>
            <a:r>
              <a:t>UIFR: TEACH 3 · TEACH 4.</a:t>
            </a:r>
          </a:p>
        </p:txBody>
      </p:sp>
      <p:sp>
        <p:nvSpPr>
          <p:cNvPr id="1031" name="Google Shape;1031;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38 | REVEAL</a:t>
            </a:r>
          </a:p>
          <a:p xmlns:a="http://schemas.openxmlformats.org/drawingml/2006/main">
            <a:pPr>
              <a:buNone/>
            </a:pPr>
            <a:r>
              <a:rPr lang="en-US" sz="1100"/>
              <a:t>Focus on the existing task: School Broccoli Reveal: 31 pounds of broccoli were consumed. What does the solution mean in the context of the situation?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31 pounds of broccoli were consumed.</a:t>
            </a:r>
          </a:p>
          <a:p>
            <a:pPr indent="0" lvl="0" marL="0" rtl="0" algn="l">
              <a:lnSpc>
                <a:spcPct val="100000"/>
              </a:lnSpc>
              <a:spcBef>
                <a:spcPts val="0"/>
              </a:spcBef>
              <a:spcAft>
                <a:spcPts val="0"/>
              </a:spcAft>
              <a:buSzPts val="1400"/>
              <a:buNone/>
            </a:pPr>
            <a:r>
              <a:t>UIFR: TEACH 3 · TEACH 4.</a:t>
            </a:r>
          </a:p>
        </p:txBody>
      </p:sp>
      <p:sp>
        <p:nvSpPr>
          <p:cNvPr id="1059" name="Google Shape;1059;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39 | TASK</a:t>
            </a:r>
          </a:p>
          <a:p xmlns:a="http://schemas.openxmlformats.org/drawingml/2006/main">
            <a:pPr>
              <a:buNone/>
            </a:pPr>
            <a:r>
              <a:rPr lang="en-US" sz="1100"/>
              <a:t>Focus on the existing task: School Broccoli The workers in a middle school cafeteria cooked 50 pounds of broccoli. A certain amount of broccoli was consumed at lunch…</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can you determine the amount of broccoli that was consumed at lunch?</a:t>
            </a:r>
          </a:p>
          <a:p>
            <a:pPr indent="0" lvl="0" marL="0" rtl="0" algn="l">
              <a:lnSpc>
                <a:spcPct val="100000"/>
              </a:lnSpc>
              <a:spcBef>
                <a:spcPts val="0"/>
              </a:spcBef>
              <a:spcAft>
                <a:spcPts val="0"/>
              </a:spcAft>
              <a:buSzPts val="1400"/>
              <a:buNone/>
            </a:pPr>
            <a:r>
              <a:t>UIFR: TEACH 1 · TEACH 3.</a:t>
            </a:r>
          </a:p>
        </p:txBody>
      </p:sp>
      <p:sp>
        <p:nvSpPr>
          <p:cNvPr id="1073" name="Google Shape;1073;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40 | PRACTICE</a:t>
            </a:r>
          </a:p>
          <a:p xmlns:a="http://schemas.openxmlformats.org/drawingml/2006/main">
            <a:pPr>
              <a:buNone/>
            </a:pPr>
            <a:r>
              <a:rPr lang="en-US" sz="1100"/>
              <a:t>Focus on the existing task: Let’s Explore More The equation shown was used to solve the following problem: How can you determine the amount of broccoli that was consumed at lunch?</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84" name="Google Shape;1084;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41 | PRACTICE</a:t>
            </a:r>
          </a:p>
          <a:p xmlns:a="http://schemas.openxmlformats.org/drawingml/2006/main">
            <a:pPr>
              <a:buNone/>
            </a:pPr>
            <a:r>
              <a:rPr lang="en-US" sz="1100"/>
              <a:t>Focus on the existing task: Let’s Explore More What is a different way to write a subtraction equation to represent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93" name="Google Shape;1093;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45 | SUMMARIZE</a:t>
            </a:r>
          </a:p>
          <a:p xmlns:a="http://schemas.openxmlformats.org/drawingml/2006/main">
            <a:pPr>
              <a:buNone/>
            </a:pPr>
            <a:r>
              <a:rPr lang="en-US" sz="1100"/>
              <a:t>Focus on the existing task: Summarize: Understand Equations and Their Solutions A solution to an equation is a value that makes the equation true. One way to…</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105" name="Google Shape;1105;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46 | APPLY</a:t>
            </a:r>
          </a:p>
          <a:p xmlns:a="http://schemas.openxmlformats.org/drawingml/2006/main">
            <a:pPr>
              <a:buNone/>
            </a:pPr>
            <a:r>
              <a:rPr lang="en-US" sz="1100"/>
              <a:t>Focus on the existing task: Apply: Blueberry Muffins Question: If Michael wants to have 24 blueberry muffins, which muffin mix and how many boxes of each mix would you recommend he purchase?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translate the relationship into an equation; substitute a proposed value; compare both sides. Respond with one specific next step tied to the work. Students revise and annotate what changed, then identify a criterion they can now demonstrate and one they still need to practice.</a:t>
            </a:r>
          </a:p>
        </p:txBody>
      </p:sp>
      <p:sp>
        <p:nvSpPr>
          <p:cNvPr id="1116" name="Google Shape;1116;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8.1, slide 47 | REFLECTION</a:t>
            </a:r>
          </a:p>
          <a:p xmlns:a="http://schemas.openxmlformats.org/drawingml/2006/main">
            <a:pPr>
              <a:buNone/>
            </a:pPr>
            <a:r>
              <a:rPr lang="en-US" sz="1100"/>
              <a:t>Focus on the existing task: Learning Targets I can make sense of one-step equations in order to solve them using substitution. I can solve one-step equations using…</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125" name="Google Shape;1125;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8.1, slide 29 | WARMUP</a:t>
            </a:r>
          </a:p>
          <a:p xmlns:a="http://schemas.openxmlformats.org/drawingml/2006/main">
            <a:pPr>
              <a:buNone/>
            </a:pPr>
            <a:r>
              <a:rPr lang="en-US" sz="1100"/>
              <a:t>Focus on the existing task: A No B Yes (5 + 7 = 12) C Only if x is 0 D Cannot tell 4 Is y = 4 a solution to 3y = 15?</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translate the relationship into an equation; substitute a proposed value; compare both sides. Ask: “Which part of your work would show this?” Revisit that evidence after the task; a confidence rating alone is not evidence of understanding.</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8.1, slide 30 | NOTES</a:t>
            </a:r>
          </a:p>
          <a:p xmlns:a="http://schemas.openxmlformats.org/drawingml/2006/main">
            <a:pPr>
              <a:buNone/>
            </a:pPr>
            <a:r>
              <a:rPr lang="en-US" sz="1100"/>
              <a:t>Focus on the existing task: Today’s Math Notes Review Notes — Session 2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49 | REFLECTION</a:t>
            </a:r>
          </a:p>
          <a:p xmlns:a="http://schemas.openxmlformats.org/drawingml/2006/main">
            <a:pPr>
              <a:buNone/>
            </a:pPr>
            <a:r>
              <a:rPr lang="en-US" sz="1100"/>
              <a:t>Focus on the existing task: Learning Targets I can make sense of one-step equations in order to solve them using substitution. I can solve one-step equations using…</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assuming the equals sign means to calculate only the left side.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evaluate the two sides of the original equation separately after substitution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6 | PRIOR_INSERT</a:t>
            </a:r>
          </a:p>
          <a:p xmlns:a="http://schemas.openxmlformats.org/drawingml/2006/main">
            <a:pPr>
              <a:buNone/>
            </a:pPr>
            <a:r>
              <a:rPr lang="en-US" sz="1100"/>
              <a:t>Focus on the existing task: LESSON 8.1 / OUR LEARNING What will show your learning?</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7 | VOCAB</a:t>
            </a:r>
          </a:p>
          <a:p xmlns:a="http://schemas.openxmlformats.org/drawingml/2006/main">
            <a:pPr>
              <a:buNone/>
            </a:pPr>
            <a:r>
              <a:rPr lang="en-US" sz="1100"/>
              <a:t>Focus on the existing task: Vocabulary 1 of 9 Write Equations Represent a…</a:t>
            </a:r>
          </a:p>
          <a:p xmlns:a="http://schemas.openxmlformats.org/drawingml/2006/main">
            <a:pPr>
              <a:buNone/>
            </a:pPr>
            <a:r>
              <a:rPr lang="en-US" sz="1100"/>
              <a:t>ASK (T1/3/5): Where does “Write Equations”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8 | VOCAB</a:t>
            </a:r>
          </a:p>
          <a:p xmlns:a="http://schemas.openxmlformats.org/drawingml/2006/main">
            <a:pPr>
              <a:buNone/>
            </a:pPr>
            <a:r>
              <a:rPr lang="en-US" sz="1100"/>
              <a:t>Focus on the existing task: Vocabulary 2 of 9 Equation A math sentence with…</a:t>
            </a:r>
          </a:p>
          <a:p xmlns:a="http://schemas.openxmlformats.org/drawingml/2006/main">
            <a:pPr>
              <a:buNone/>
            </a:pPr>
            <a:r>
              <a:rPr lang="en-US" sz="1100"/>
              <a:t>ASK (T1/3/5): Where does “Equation”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9 | VOCAB</a:t>
            </a:r>
          </a:p>
          <a:p xmlns:a="http://schemas.openxmlformats.org/drawingml/2006/main">
            <a:pPr>
              <a:buNone/>
            </a:pPr>
            <a:r>
              <a:rPr lang="en-US" sz="1100"/>
              <a:t>Focus on the existing task: Vocabulary 3 of 9 Variable A letter that stands…</a:t>
            </a:r>
          </a:p>
          <a:p xmlns:a="http://schemas.openxmlformats.org/drawingml/2006/main">
            <a:pPr>
              <a:buNone/>
            </a:pPr>
            <a:r>
              <a:rPr lang="en-US" sz="1100"/>
              <a:t>ASK (T1/3/5): Where does “Variable”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10 | VOCAB</a:t>
            </a:r>
          </a:p>
          <a:p xmlns:a="http://schemas.openxmlformats.org/drawingml/2006/main">
            <a:pPr>
              <a:buNone/>
            </a:pPr>
            <a:r>
              <a:rPr lang="en-US" sz="1100"/>
              <a:t>Focus on the existing task: Vocabulary 4 of 9 Equal sign The = sign, showing…</a:t>
            </a:r>
          </a:p>
          <a:p xmlns:a="http://schemas.openxmlformats.org/drawingml/2006/main">
            <a:pPr>
              <a:buNone/>
            </a:pPr>
            <a:r>
              <a:rPr lang="en-US" sz="1100"/>
              <a:t>ASK (T1/3/5): Where does “Equal sign”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11 | VOCAB</a:t>
            </a:r>
          </a:p>
          <a:p xmlns:a="http://schemas.openxmlformats.org/drawingml/2006/main">
            <a:pPr>
              <a:buNone/>
            </a:pPr>
            <a:r>
              <a:rPr lang="en-US" sz="1100"/>
              <a:t>Focus on the existing task: Vocabulary 5 of 9 Expression A math phrase with…</a:t>
            </a:r>
          </a:p>
          <a:p xmlns:a="http://schemas.openxmlformats.org/drawingml/2006/main">
            <a:pPr>
              <a:buNone/>
            </a:pPr>
            <a:r>
              <a:rPr lang="en-US" sz="1100"/>
              <a:t>ASK (T1/3/5): Where does “Expression”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12 | VOCAB</a:t>
            </a:r>
          </a:p>
          <a:p xmlns:a="http://schemas.openxmlformats.org/drawingml/2006/main">
            <a:pPr>
              <a:buNone/>
            </a:pPr>
            <a:r>
              <a:rPr lang="en-US" sz="1100"/>
              <a:t>Focus on the existing task: Vocabulary 6 of 9 Constant A fixed number in an…</a:t>
            </a:r>
          </a:p>
          <a:p xmlns:a="http://schemas.openxmlformats.org/drawingml/2006/main">
            <a:pPr>
              <a:buNone/>
            </a:pPr>
            <a:r>
              <a:rPr lang="en-US" sz="1100"/>
              <a:t>ASK (T1/3/5): Where does “Constant”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13 | VOCAB</a:t>
            </a:r>
          </a:p>
          <a:p xmlns:a="http://schemas.openxmlformats.org/drawingml/2006/main">
            <a:pPr>
              <a:buNone/>
            </a:pPr>
            <a:r>
              <a:rPr lang="en-US" sz="1100"/>
              <a:t>Focus on the existing task: Vocabulary 7 of 9 Unknown The value you are…</a:t>
            </a:r>
          </a:p>
          <a:p xmlns:a="http://schemas.openxmlformats.org/drawingml/2006/main">
            <a:pPr>
              <a:buNone/>
            </a:pPr>
            <a:r>
              <a:rPr lang="en-US" sz="1100"/>
              <a:t>ASK (T1/3/5): Where does “Unknown”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14 | VOCAB</a:t>
            </a:r>
          </a:p>
          <a:p xmlns:a="http://schemas.openxmlformats.org/drawingml/2006/main">
            <a:pPr>
              <a:buNone/>
            </a:pPr>
            <a:r>
              <a:rPr lang="en-US" sz="1100"/>
              <a:t>Focus on the existing task: Vocabulary 8 of 9 Solution A value that makes an…</a:t>
            </a:r>
          </a:p>
          <a:p xmlns:a="http://schemas.openxmlformats.org/drawingml/2006/main">
            <a:pPr>
              <a:buNone/>
            </a:pPr>
            <a:r>
              <a:rPr lang="en-US" sz="1100"/>
              <a:t>ASK (T1/3/5): Where does “Solution”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15 | VOCAB</a:t>
            </a:r>
          </a:p>
          <a:p xmlns:a="http://schemas.openxmlformats.org/drawingml/2006/main">
            <a:pPr>
              <a:buNone/>
            </a:pPr>
            <a:r>
              <a:rPr lang="en-US" sz="1100"/>
              <a:t>Focus on the existing task: Vocabulary 9 of 9 Substitute To replace a…</a:t>
            </a:r>
          </a:p>
          <a:p xmlns:a="http://schemas.openxmlformats.org/drawingml/2006/main">
            <a:pPr>
              <a:buNone/>
            </a:pPr>
            <a:r>
              <a:rPr lang="en-US" sz="1100"/>
              <a:t>ASK (T1/3/5): Where does “Substitute”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25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26 | REVEAL</a:t>
            </a:r>
          </a:p>
          <a:p xmlns:a="http://schemas.openxmlformats.org/drawingml/2006/main">
            <a:pPr>
              <a:buNone/>
            </a:pPr>
            <a:r>
              <a:rPr lang="en-US" sz="1100"/>
              <a:t>Focus on the existing task: Building a Door Reveal: One tool is a tape diagram. What tool can you use to represent and compare the widths of the door and the planks?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both sides.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27 | REVEAL</a:t>
            </a:r>
          </a:p>
          <a:p xmlns:a="http://schemas.openxmlformats.org/drawingml/2006/main">
            <a:pPr>
              <a:buNone/>
            </a:pPr>
            <a:r>
              <a:rPr lang="en-US" sz="1100"/>
              <a:t>Focus on the existing task: Building a Door Reveal: We can use an algebraic expression. We can use a tape diagram to represent and make sense of the quantities in…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28 | REVEAL</a:t>
            </a:r>
          </a:p>
          <a:p xmlns:a="http://schemas.openxmlformats.org/drawingml/2006/main">
            <a:pPr>
              <a:buNone/>
            </a:pPr>
            <a:r>
              <a:rPr lang="en-US" sz="1100"/>
              <a:t>Focus on the existing task: Building a Door Reveal: The total width of the planks needs to be 36 inches. Let’s write an algebraic expression to represent the total…</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42 | PRIOR_INSERT</a:t>
            </a:r>
          </a:p>
          <a:p xmlns:a="http://schemas.openxmlformats.org/drawingml/2006/main">
            <a:pPr>
              <a:buNone/>
            </a:pPr>
            <a:r>
              <a:rPr lang="en-US" sz="1100"/>
              <a:t>Focus on the existing task: LESSON 8.1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43 | REVEAL</a:t>
            </a:r>
          </a:p>
          <a:p xmlns:a="http://schemas.openxmlformats.org/drawingml/2006/main">
            <a:pPr>
              <a:buNone/>
            </a:pPr>
            <a:r>
              <a:rPr lang="en-US" sz="1100"/>
              <a:t>Focus on the existing task: School Broccoli How can you determine another number to try?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44 | REVEAL</a:t>
            </a:r>
          </a:p>
          <a:p xmlns:a="http://schemas.openxmlformats.org/drawingml/2006/main">
            <a:pPr>
              <a:buNone/>
            </a:pPr>
            <a:r>
              <a:rPr lang="en-US" sz="1100"/>
              <a:t>Focus on the existing task: School Broccoli Reveal: 31 pounds of broccoli were consumed. What does the solution mean in the context of the situation?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48 | CURIOUS</a:t>
            </a:r>
          </a:p>
          <a:p xmlns:a="http://schemas.openxmlformats.org/drawingml/2006/main">
            <a:pPr>
              <a:buNone/>
            </a:pPr>
            <a:r>
              <a:rPr lang="en-US" sz="1100"/>
              <a:t>Focus on the existing task: Be Curious What’s the question?</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translate the relationship into an equation. Ask which feature of their work supports the claim.</a:t>
            </a:r>
          </a:p>
          <a:p xmlns:a="http://schemas.openxmlformats.org/drawingml/2006/main">
            <a:pPr>
              <a:buNone/>
            </a:pPr>
            <a:r>
              <a:rPr lang="en-US" sz="1100"/>
              <a:t>RESPOND: If this task shows the lesson misconception—assuming the equals sign means to calculate only the left side—evaluate the two sides of the original equation separately after substitution.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8.1, slide 50 | PRIOR_INSERT</a:t>
            </a:r>
          </a:p>
          <a:p xmlns:a="http://schemas.openxmlformats.org/drawingml/2006/main">
            <a:pPr>
              <a:buNone/>
            </a:pPr>
            <a:r>
              <a:rPr lang="en-US" sz="1100"/>
              <a:t>Focus on the existing task: LESSON 8.1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translate the relationship into an equation; substitute a proposed value; compare both sides.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Equations and Their Solutions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401178"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Equations and Their Solutions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6.png"/><Relationship Id="rId8" Type="http://schemas.openxmlformats.org/officeDocument/2006/relationships/image" Target="../media/image14.png"/><Relationship Id="rId9" Type="http://schemas.openxmlformats.org/officeDocument/2006/relationships/image" Target="../media/image23.png"/><Relationship Id="rId10" Type="http://schemas.openxmlformats.org/officeDocument/2006/relationships/image" Target="../media/image20.png"/><Relationship Id="rId11"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30.png"/><Relationship Id="rId5"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6.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4.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1.png"/><Relationship Id="rId3" Type="http://schemas.openxmlformats.org/officeDocument/2006/relationships/image" Target="../media/image27.png"/><Relationship Id="rId4" Type="http://schemas.openxmlformats.org/officeDocument/2006/relationships/notesSlide" Target="../notesSlides/notesSlide7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png"/><Relationship Id="rId3" Type="http://schemas.openxmlformats.org/officeDocument/2006/relationships/image" Target="../media/image22.png"/><Relationship Id="rId4" Type="http://schemas.openxmlformats.org/officeDocument/2006/relationships/notesSlide" Target="../notesSlides/notesSlide7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7.png"/><Relationship Id="rId3" Type="http://schemas.openxmlformats.org/officeDocument/2006/relationships/image" Target="../media/image29.png"/><Relationship Id="rId4" Type="http://schemas.openxmlformats.org/officeDocument/2006/relationships/notesSlide" Target="../notesSlides/notesSlide8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8.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4.png"/><Relationship Id="rId4"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52.png"/><Relationship Id="rId7"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3.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57.png"/><Relationship Id="rId7" Type="http://schemas.openxmlformats.org/officeDocument/2006/relationships/image" Target="../media/image66.png"/><Relationship Id="rId8"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png"/><Relationship Id="rId3" Type="http://schemas.openxmlformats.org/officeDocument/2006/relationships/image" Target="../media/image50.png"/><Relationship Id="rId4" Type="http://schemas.openxmlformats.org/officeDocument/2006/relationships/image" Target="../media/image48.png"/><Relationship Id="rId5" Type="http://schemas.openxmlformats.org/officeDocument/2006/relationships/image" Target="../media/image52.png"/><Relationship Id="rId6" Type="http://schemas.openxmlformats.org/officeDocument/2006/relationships/image" Target="../media/image56.png"/><Relationship Id="rId7" Type="http://schemas.openxmlformats.org/officeDocument/2006/relationships/notesSlide" Target="../notesSlides/notesSlide8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3.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57.png"/><Relationship Id="rId6" Type="http://schemas.openxmlformats.org/officeDocument/2006/relationships/image" Target="../media/image66.png"/><Relationship Id="rId7" Type="http://schemas.openxmlformats.org/officeDocument/2006/relationships/image" Target="../media/image49.png"/><Relationship Id="rId8" Type="http://schemas.openxmlformats.org/officeDocument/2006/relationships/notesSlide" Target="../notesSlides/notesSlide8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5.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7.png"/><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8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8"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8-1 · Understand Equations and Their Solutions   |   Warm-Up · about 4 minutes</a:t>
            </a:r>
          </a:p>
        </p:txBody>
      </p:sp>
      <p:sp>
        <p:nvSpPr>
          <p:cNvPr id="259"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0"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1"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4"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If n = 5, then 4n = ______</a:t>
            </a:r>
          </a:p>
        </p:txBody>
      </p:sp>
      <p:sp>
        <p:nvSpPr>
          <p:cNvPr id="265"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8"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7 + 5 = ______ + 3</a:t>
            </a:r>
          </a:p>
        </p:txBody>
      </p:sp>
      <p:sp>
        <p:nvSpPr>
          <p:cNvPr id="269"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2"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 number n times 4 is 20.</a:t>
            </a:r>
          </a:p>
          <a:p>
            <a:pPr algn="l"/>
            <a:r>
              <a:rPr sz="1800" b="1">
                <a:solidFill>
                  <a:srgbClr val="23282D"/>
                </a:solidFill>
                <a:latin typeface="Arial"/>
              </a:rPr>
              <a:t>Write the equation: ______</a:t>
            </a:r>
          </a:p>
        </p:txBody>
      </p:sp>
      <p:sp>
        <p:nvSpPr>
          <p:cNvPr id="273"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6"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One side is 5 × 4. The other side is 18.</a:t>
            </a:r>
          </a:p>
          <a:p>
            <a:pPr algn="l"/>
            <a:r>
              <a:rPr sz="1800" b="1">
                <a:solidFill>
                  <a:srgbClr val="23282D"/>
                </a:solidFill>
                <a:latin typeface="Arial"/>
              </a:rPr>
              <a:t>Do the two sides match? ______</a:t>
            </a:r>
          </a:p>
        </p:txBody>
      </p:sp>
      <p:sp>
        <p:nvSpPr>
          <p:cNvPr id="277"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8"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55</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66" name="Google Shape;566;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567" name="Google Shape;567;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69" name="Google Shape;569;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70" name="Google Shape;570;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72" name="Google Shape;572;p55"/>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3" name="Google Shape;573;p55"/>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4" name="Google Shape;574;p55"/>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75" name="Google Shape;575;p55"/>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Write Equations</a:t>
            </a:r>
            <a:endParaRPr/>
          </a:p>
        </p:txBody>
      </p:sp>
      <p:sp>
        <p:nvSpPr>
          <p:cNvPr id="576" name="Google Shape;576;p55"/>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Represent a relationship with </a:t>
            </a:r>
            <a:r>
              <a:rPr b="1" i="0" lang="en-US" sz="1450" u="none" cap="none" strike="noStrike">
                <a:solidFill>
                  <a:srgbClr val="475569"/>
                </a:solidFill>
                <a:latin typeface="Arial"/>
                <a:ea typeface="Arial"/>
                <a:cs typeface="Arial"/>
                <a:sym typeface="Arial"/>
              </a:rPr>
              <a:t xml:space="preserve">expressions</a:t>
            </a:r>
            <a:r>
              <a:rPr b="0" i="0" lang="en-US" sz="1450" u="none" cap="none" strike="noStrike">
                <a:solidFill>
                  <a:srgbClr val="475569"/>
                </a:solidFill>
                <a:latin typeface="Arial"/>
                <a:ea typeface="Arial"/>
                <a:cs typeface="Arial"/>
                <a:sym typeface="Arial"/>
              </a:rPr>
              <a:t xml:space="preserve"> joined by an equal sign</a:t>
            </a:r>
            <a:endParaRPr/>
          </a:p>
        </p:txBody>
      </p:sp>
      <p:sp>
        <p:nvSpPr>
          <p:cNvPr id="577" name="Google Shape;577;p55"/>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8" name="Google Shape;578;p55"/>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9" name="Google Shape;579;p55"/>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80" name="Google Shape;580;p55"/>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Equation</a:t>
            </a:r>
            <a:endParaRPr/>
          </a:p>
        </p:txBody>
      </p:sp>
      <p:sp>
        <p:nvSpPr>
          <p:cNvPr id="581" name="Google Shape;581;p55"/>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math sentence with an equal sign showing both sides</a:t>
            </a:r>
            <a:endParaRPr/>
          </a:p>
        </p:txBody>
      </p:sp>
      <p:sp>
        <p:nvSpPr>
          <p:cNvPr id="582" name="Google Shape;582;p55"/>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3" name="Google Shape;583;p55"/>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4" name="Google Shape;584;p55"/>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85" name="Google Shape;585;p55"/>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Variable</a:t>
            </a:r>
            <a:endParaRPr/>
          </a:p>
        </p:txBody>
      </p:sp>
      <p:sp>
        <p:nvSpPr>
          <p:cNvPr id="586" name="Google Shape;586;p55"/>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letter that stands for a number</a:t>
            </a:r>
            <a:endParaRPr/>
          </a:p>
        </p:txBody>
      </p:sp>
      <p:sp>
        <p:nvSpPr>
          <p:cNvPr id="5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55</a:t>
            </a:r>
          </a:p>
        </p:txBody>
      </p:sp>
      <p:grpSp>
        <p:nvGrpSpPr>
          <p:cNvPr id="588" name="TEACH-1-student-move" descr="TEACH 1 · Facilitate clear, standards-based content learning"/>
          <p:cNvGrpSpPr/>
          <p:nvPr/>
        </p:nvGrpSpPr>
        <p:grpSpPr>
          <a:xfrm>
            <a:off x="6187440" y="1682496"/>
            <a:ext cx="5501640" cy="594360"/>
            <a:chOff x="6187440" y="1682496"/>
            <a:chExt cx="5501640" cy="594360"/>
          </a:xfrm>
        </p:grpSpPr>
        <p:sp>
          <p:nvSpPr>
            <p:cNvPr id="589"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90"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91"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2" name="Google Shape;592;p56"/>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3" name="Google Shape;593;p5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94" name="Google Shape;594;p5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595" name="Google Shape;595;p5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6" name="Google Shape;596;p5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97" name="Google Shape;597;p56"/>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98" name="Google Shape;598;p56"/>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9" name="Google Shape;599;p56"/>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600" name="Google Shape;600;p56"/>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1" name="Google Shape;601;p56"/>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Equations &amp; Solutions</a:t>
            </a:r>
            <a:endParaRPr/>
          </a:p>
        </p:txBody>
      </p:sp>
      <p:sp>
        <p:nvSpPr>
          <p:cNvPr id="602" name="Google Shape;602;p56"/>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3" name="Google Shape;603;p56"/>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600" u="none" cap="none" strike="noStrike">
                <a:solidFill>
                  <a:srgbClr val="C2410C"/>
                </a:solidFill>
                <a:latin typeface="Arial"/>
                <a:ea typeface="Arial"/>
                <a:cs typeface="Arial"/>
                <a:sym typeface="Arial"/>
              </a:rPr>
              <a:t>Left Expression = Right Expression</a:t>
            </a:r>
            <a:endParaRPr/>
          </a:p>
        </p:txBody>
      </p:sp>
      <p:sp>
        <p:nvSpPr>
          <p:cNvPr id="604" name="Google Shape;604;p56"/>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5" name="Google Shape;605;p56"/>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606" name="Google Shape;606;p56"/>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An </a:t>
            </a:r>
            <a:r>
              <a:rPr b="1" i="0" lang="en-US" sz="1600" u="none" cap="none" strike="noStrike">
                <a:solidFill>
                  <a:srgbClr val="14223A"/>
                </a:solidFill>
                <a:latin typeface="Arial"/>
                <a:ea typeface="Arial"/>
                <a:cs typeface="Arial"/>
                <a:sym typeface="Arial"/>
              </a:rPr>
              <a:t xml:space="preserve">equation</a:t>
            </a:r>
            <a:r>
              <a:rPr b="0" i="0" lang="en-US" sz="1600" u="none" cap="none" strike="noStrike">
                <a:solidFill>
                  <a:srgbClr val="14223A"/>
                </a:solidFill>
                <a:latin typeface="Arial"/>
                <a:ea typeface="Arial"/>
                <a:cs typeface="Arial"/>
                <a:sym typeface="Arial"/>
              </a:rPr>
              <a:t xml:space="preserve"> is a mathematical sentence stating two </a:t>
            </a:r>
            <a:r>
              <a:rPr b="1" i="0" lang="en-US" sz="1600" u="none" cap="none" strike="noStrike">
                <a:solidFill>
                  <a:srgbClr val="14223A"/>
                </a:solidFill>
                <a:latin typeface="Arial"/>
                <a:ea typeface="Arial"/>
                <a:cs typeface="Arial"/>
                <a:sym typeface="Arial"/>
              </a:rPr>
              <a:t xml:space="preserve">expressions</a:t>
            </a:r>
            <a:r>
              <a:rPr b="0" i="0" lang="en-US" sz="1600" u="none" cap="none" strike="noStrike">
                <a:solidFill>
                  <a:srgbClr val="14223A"/>
                </a:solidFill>
                <a:latin typeface="Arial"/>
                <a:ea typeface="Arial"/>
                <a:cs typeface="Arial"/>
                <a:sym typeface="Arial"/>
              </a:rPr>
              <a:t xml:space="preserve"> are equal</a:t>
            </a:r>
            <a:endParaRPr/>
          </a:p>
        </p:txBody>
      </p:sp>
      <p:sp>
        <p:nvSpPr>
          <p:cNvPr id="607" name="Google Shape;607;p56"/>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8" name="Google Shape;608;p56"/>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609" name="Google Shape;609;p56"/>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 </a:t>
            </a:r>
            <a:r>
              <a:rPr b="1" i="0" lang="en-US" sz="1600" u="none" cap="none" strike="noStrike">
                <a:solidFill>
                  <a:srgbClr val="14223A"/>
                </a:solidFill>
                <a:latin typeface="Arial"/>
                <a:ea typeface="Arial"/>
                <a:cs typeface="Arial"/>
                <a:sym typeface="Arial"/>
              </a:rPr>
              <a:t xml:space="preserve">solution</a:t>
            </a:r>
            <a:r>
              <a:rPr b="0" i="0" lang="en-US" sz="1600" u="none" cap="none" strike="noStrike">
                <a:solidFill>
                  <a:srgbClr val="14223A"/>
                </a:solidFill>
                <a:latin typeface="Arial"/>
                <a:ea typeface="Arial"/>
                <a:cs typeface="Arial"/>
                <a:sym typeface="Arial"/>
              </a:rPr>
              <a:t xml:space="preserve"> is a value for the </a:t>
            </a:r>
            <a:r>
              <a:rPr b="1" i="0" lang="en-US" sz="1600" u="none" cap="none" strike="noStrike">
                <a:solidFill>
                  <a:srgbClr val="14223A"/>
                </a:solidFill>
                <a:latin typeface="Arial"/>
                <a:ea typeface="Arial"/>
                <a:cs typeface="Arial"/>
                <a:sym typeface="Arial"/>
              </a:rPr>
              <a:t xml:space="preserve">variable</a:t>
            </a:r>
            <a:r>
              <a:rPr b="0" i="0" lang="en-US" sz="1600" u="none" cap="none" strike="noStrike">
                <a:solidFill>
                  <a:srgbClr val="14223A"/>
                </a:solidFill>
                <a:latin typeface="Arial"/>
                <a:ea typeface="Arial"/>
                <a:cs typeface="Arial"/>
                <a:sym typeface="Arial"/>
              </a:rPr>
              <a:t xml:space="preserve"> that makes the equation true</a:t>
            </a:r>
            <a:endParaRPr/>
          </a:p>
        </p:txBody>
      </p:sp>
      <p:sp>
        <p:nvSpPr>
          <p:cNvPr id="610" name="Google Shape;610;p56"/>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1" name="Google Shape;611;p56"/>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612" name="Google Shape;612;p56"/>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Check: </a:t>
            </a:r>
            <a:r>
              <a:rPr b="1" i="0" lang="en-US" sz="1600" u="none" cap="none" strike="noStrike">
                <a:solidFill>
                  <a:srgbClr val="14223A"/>
                </a:solidFill>
                <a:latin typeface="Arial"/>
                <a:ea typeface="Arial"/>
                <a:cs typeface="Arial"/>
                <a:sym typeface="Arial"/>
              </a:rPr>
              <a:t xml:space="preserve">Substitute</a:t>
            </a:r>
            <a:r>
              <a:rPr b="0" i="0" lang="en-US" sz="1600" u="none" cap="none" strike="noStrike">
                <a:solidFill>
                  <a:srgbClr val="14223A"/>
                </a:solidFill>
                <a:latin typeface="Arial"/>
                <a:ea typeface="Arial"/>
                <a:cs typeface="Arial"/>
                <a:sym typeface="Arial"/>
              </a:rPr>
              <a:t xml:space="preserve"> the value into the equation and verify that both sides balance</a:t>
            </a:r>
            <a:endParaRPr/>
          </a:p>
        </p:txBody>
      </p:sp>
      <p:sp>
        <p:nvSpPr>
          <p:cNvPr id="6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55</a:t>
            </a:r>
          </a:p>
        </p:txBody>
      </p:sp>
      <p:sp xmlns:p="http://schemas.openxmlformats.org/presentationml/2006/main" xmlns:a="http://schemas.openxmlformats.org/drawingml/2006/main">
        <p:nvSpPr>
          <p:cNvPr id="614"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Understand Equations and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Their Solutions</a:t>
            </a:r>
            <a:endParaRPr b="1" i="0" sz="3600" u="none" cap="none" strike="noStrik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55</a:t>
            </a:r>
          </a:p>
        </p:txBody>
      </p:sp>
      <p:grpSp>
        <p:nvGrpSpPr>
          <p:cNvPr id="237" name="TEACH-6-student-move" descr="TEACH 6 · Organize and implement routines to support a learning-focused classroom"/>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5" name="Google Shape;335;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336" name="Google Shape;336;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8" name="Google Shape;338;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Understand Equations and Their Solutions</a:t>
            </a:r>
            <a:endParaRPr/>
          </a:p>
        </p:txBody>
      </p:sp>
      <p:sp>
        <p:nvSpPr>
          <p:cNvPr id="339" name="Google Shape;339;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6.AT.8</a:t>
            </a:r>
            <a:endParaRPr/>
          </a:p>
        </p:txBody>
      </p:sp>
      <p:sp>
        <p:nvSpPr>
          <p:cNvPr id="340" name="Google Shape;340;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3" name="Google Shape;343;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4" name="Google Shape;344;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write an equation for a real situation and check whether a given value is a solution by substituting it.</a:t>
            </a:r>
            <a:endParaRPr/>
          </a:p>
        </p:txBody>
      </p:sp>
      <p:sp>
        <p:nvSpPr>
          <p:cNvPr id="345" name="Google Shape;345;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8" name="Google Shape;348;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49" name="Google Shape;349;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a solution using the words substitute, solution, true, and equal sign.</a:t>
            </a:r>
            <a:endParaRPr/>
          </a:p>
        </p:txBody>
      </p:sp>
      <p:sp>
        <p:nvSpPr>
          <p:cNvPr id="3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55</a:t>
            </a:r>
          </a:p>
        </p:txBody>
      </p:sp>
      <p:grpSp>
        <p:nvGrpSpPr>
          <p:cNvPr id="351" name="TEACH-1-student-move" descr="TEACH 1 · Facilitate clear, standards-based content learning"/>
          <p:cNvGrpSpPr/>
          <p:nvPr/>
        </p:nvGrpSpPr>
        <p:grpSpPr>
          <a:xfrm>
            <a:off x="502920" y="1993392"/>
            <a:ext cx="11186160" cy="402336"/>
            <a:chOff x="502920" y="1993392"/>
            <a:chExt cx="11186160" cy="402336"/>
          </a:xfrm>
        </p:grpSpPr>
        <p:sp>
          <p:nvSpPr>
            <p:cNvPr id="352"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3"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4"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8.1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Translate the relationship into an equation.</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Substitute a proposed value.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Compare both sides.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2" name="Google Shape;402;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9</a:t>
            </a:r>
            <a:endParaRPr/>
          </a:p>
        </p:txBody>
      </p:sp>
      <p:sp>
        <p:nvSpPr>
          <p:cNvPr id="405" name="Google Shape;405;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406" name="Google Shape;406;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8" name="Google Shape;408;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Write Equations</a:t>
            </a:r>
            <a:endParaRPr/>
          </a:p>
        </p:txBody>
      </p:sp>
      <p:sp>
        <p:nvSpPr>
          <p:cNvPr id="409" name="Google Shape;409;p46"/>
          <p:cNvSpPr/>
          <p:nvPr/>
        </p:nvSpPr>
        <p:spPr>
          <a:xfrm>
            <a:off x="658368" y="2934843"/>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Represent a relationship with expressions joined by an equal sign.</a:t>
            </a:r>
            <a:endParaRPr/>
          </a:p>
        </p:txBody>
      </p:sp>
      <p:sp>
        <p:nvSpPr>
          <p:cNvPr id="411" name="Google Shape;411;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4" name="Google Shape;414;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A $5 fee plus $3 per game for g games: 5 + 3g = total.</a:t>
            </a:r>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7 / 55</a:t>
            </a:r>
          </a:p>
        </p:txBody>
      </p:sp>
      <p:sp xmlns:p="http://schemas.openxmlformats.org/presentationml/2006/main" xmlns:a="http://schemas.openxmlformats.org/drawingml/2006/main">
        <p:nvSpPr>
          <p:cNvPr id="41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“Write Equations”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9" name="Google Shape;419;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9</a:t>
            </a:r>
            <a:endParaRPr/>
          </a:p>
        </p:txBody>
      </p:sp>
      <p:sp>
        <p:nvSpPr>
          <p:cNvPr id="422" name="Google Shape;422;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423" name="Google Shape;423;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5" name="Google Shape;425;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Equation</a:t>
            </a:r>
            <a:endParaRPr/>
          </a:p>
        </p:txBody>
      </p:sp>
      <p:sp>
        <p:nvSpPr>
          <p:cNvPr id="426" name="Google Shape;426;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sentence with an equal sign showing both sides are the same.</a:t>
            </a:r>
            <a:endParaRPr/>
          </a:p>
        </p:txBody>
      </p:sp>
      <p:sp>
        <p:nvSpPr>
          <p:cNvPr id="428" name="Google Shape;428;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1" name="Google Shape;431;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n + 8 = 20 means ‘some number plus 8 equals 20’</a:t>
            </a:r>
            <a:endParaRPr/>
          </a:p>
        </p:txBody>
      </p:sp>
      <p:pic>
        <p:nvPicPr>
          <p:cNvPr descr="equation-n-plus-8.png" id="432" name="Google Shape;432;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55</a:t>
            </a:r>
          </a:p>
        </p:txBody>
      </p:sp>
      <p:sp xmlns:p="http://schemas.openxmlformats.org/presentationml/2006/main" xmlns:a="http://schemas.openxmlformats.org/drawingml/2006/main">
        <p:nvSpPr>
          <p:cNvPr id="43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“Equation”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7" name="Google Shape;437;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9</a:t>
            </a:r>
            <a:endParaRPr/>
          </a:p>
        </p:txBody>
      </p:sp>
      <p:sp>
        <p:nvSpPr>
          <p:cNvPr id="440" name="Google Shape;440;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441" name="Google Shape;441;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3" name="Google Shape;443;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Variable</a:t>
            </a:r>
            <a:endParaRPr/>
          </a:p>
        </p:txBody>
      </p:sp>
      <p:sp>
        <p:nvSpPr>
          <p:cNvPr id="444" name="Google Shape;444;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letter that stands for a number that is unknown or can change.</a:t>
            </a:r>
            <a:endParaRPr/>
          </a:p>
        </p:txBody>
      </p:sp>
      <p:sp>
        <p:nvSpPr>
          <p:cNvPr id="446" name="Google Shape;446;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9" name="Google Shape;449;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n + 3 = 10, the letter n stands for the unknown number (n = 7)</a:t>
            </a:r>
            <a:endParaRPr/>
          </a:p>
        </p:txBody>
      </p:sp>
      <p:pic>
        <p:nvPicPr>
          <p:cNvPr descr="variable.png" id="450" name="Google Shape;450;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55</a:t>
            </a:r>
          </a:p>
        </p:txBody>
      </p:sp>
      <p:sp xmlns:p="http://schemas.openxmlformats.org/presentationml/2006/main" xmlns:a="http://schemas.openxmlformats.org/drawingml/2006/main">
        <p:nvSpPr>
          <p:cNvPr id="45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“Variable”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5" name="Google Shape;455;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9</a:t>
            </a:r>
            <a:endParaRPr/>
          </a:p>
        </p:txBody>
      </p:sp>
      <p:sp>
        <p:nvSpPr>
          <p:cNvPr id="458" name="Google Shape;458;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459" name="Google Shape;459;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1" name="Google Shape;461;p49"/>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Equal sign</a:t>
            </a:r>
            <a:endParaRPr/>
          </a:p>
        </p:txBody>
      </p:sp>
      <p:sp>
        <p:nvSpPr>
          <p:cNvPr id="462" name="Google Shape;462;p49"/>
          <p:cNvSpPr/>
          <p:nvPr/>
        </p:nvSpPr>
        <p:spPr>
          <a:xfrm>
            <a:off x="658368" y="2913888"/>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49"/>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 sign, showing both sides are the same.</a:t>
            </a:r>
            <a:endParaRPr/>
          </a:p>
        </p:txBody>
      </p:sp>
      <p:sp>
        <p:nvSpPr>
          <p:cNvPr id="464" name="Google Shape;464;p49"/>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49"/>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49"/>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7" name="Google Shape;467;p49"/>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7 + 3 = 10 — both sides equal 10</a:t>
            </a:r>
            <a:endParaRPr/>
          </a:p>
        </p:txBody>
      </p:sp>
      <p:pic>
        <p:nvPicPr>
          <p:cNvPr descr="equation.png" id="468" name="Google Shape;468;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55</a:t>
            </a:r>
          </a:p>
        </p:txBody>
      </p:sp>
      <p:sp xmlns:p="http://schemas.openxmlformats.org/presentationml/2006/main" xmlns:a="http://schemas.openxmlformats.org/drawingml/2006/main">
        <p:nvSpPr>
          <p:cNvPr id="46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“Equal sign”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3" name="Google Shape;473;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9</a:t>
            </a:r>
            <a:endParaRPr/>
          </a:p>
        </p:txBody>
      </p:sp>
      <p:sp>
        <p:nvSpPr>
          <p:cNvPr id="476" name="Google Shape;476;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477" name="Google Shape;477;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9" name="Google Shape;479;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Expression</a:t>
            </a:r>
            <a:endParaRPr/>
          </a:p>
        </p:txBody>
      </p:sp>
      <p:sp>
        <p:nvSpPr>
          <p:cNvPr id="480" name="Google Shape;480;p50"/>
          <p:cNvSpPr/>
          <p:nvPr/>
        </p:nvSpPr>
        <p:spPr>
          <a:xfrm>
            <a:off x="658368" y="263880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phrase with numbers and letters, but no equal sign.</a:t>
            </a:r>
            <a:endParaRPr/>
          </a:p>
        </p:txBody>
      </p:sp>
      <p:sp>
        <p:nvSpPr>
          <p:cNvPr id="482" name="Google Shape;482;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5" name="Google Shape;485;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2x + 5 is an expression; it becomes an equation when you write 2x + 5 = 15</a:t>
            </a:r>
            <a:endParaRPr/>
          </a:p>
        </p:txBody>
      </p:sp>
      <p:pic>
        <p:nvPicPr>
          <p:cNvPr descr="expression.png" id="486" name="Google Shape;486;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55</a:t>
            </a:r>
          </a:p>
        </p:txBody>
      </p:sp>
      <p:sp xmlns:p="http://schemas.openxmlformats.org/presentationml/2006/main" xmlns:a="http://schemas.openxmlformats.org/drawingml/2006/main">
        <p:nvSpPr>
          <p:cNvPr id="48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“Expression”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91" name="Google Shape;49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9</a:t>
            </a:r>
            <a:endParaRPr/>
          </a:p>
        </p:txBody>
      </p:sp>
      <p:sp>
        <p:nvSpPr>
          <p:cNvPr id="494" name="Google Shape;49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495" name="Google Shape;49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7" name="Google Shape;497;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Constant</a:t>
            </a:r>
            <a:endParaRPr/>
          </a:p>
        </p:txBody>
      </p:sp>
      <p:sp>
        <p:nvSpPr>
          <p:cNvPr id="498" name="Google Shape;498;p51"/>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fixed number in an expression or equation that does not change.</a:t>
            </a:r>
            <a:endParaRPr/>
          </a:p>
        </p:txBody>
      </p:sp>
      <p:sp>
        <p:nvSpPr>
          <p:cNvPr id="500" name="Google Shape;500;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3" name="Google Shape;503;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x + 7 = 12, the numbers 7 and 12 are constants; only x can change.</a:t>
            </a:r>
            <a:endParaRPr/>
          </a:p>
        </p:txBody>
      </p:sp>
      <p:pic>
        <p:nvPicPr>
          <p:cNvPr descr="constant.png" id="504" name="Google Shape;504;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55</a:t>
            </a:r>
          </a:p>
        </p:txBody>
      </p:sp>
      <p:sp xmlns:p="http://schemas.openxmlformats.org/presentationml/2006/main" xmlns:a="http://schemas.openxmlformats.org/drawingml/2006/main">
        <p:nvSpPr>
          <p:cNvPr id="50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“Constant”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9" name="Google Shape;509;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9</a:t>
            </a:r>
            <a:endParaRPr/>
          </a:p>
        </p:txBody>
      </p:sp>
      <p:sp>
        <p:nvSpPr>
          <p:cNvPr id="512" name="Google Shape;512;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513" name="Google Shape;513;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5" name="Google Shape;515;p52"/>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Unknown</a:t>
            </a:r>
            <a:endParaRPr/>
          </a:p>
        </p:txBody>
      </p:sp>
      <p:sp>
        <p:nvSpPr>
          <p:cNvPr id="516" name="Google Shape;516;p52"/>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value you are trying to find, usually shown with a variable.</a:t>
            </a:r>
            <a:endParaRPr/>
          </a:p>
        </p:txBody>
      </p:sp>
      <p:sp>
        <p:nvSpPr>
          <p:cNvPr id="518" name="Google Shape;518;p52"/>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21" name="Google Shape;521;p52"/>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n + 5 = 12, n is the unknown; you solve to find n = 7.</a:t>
            </a:r>
            <a:endParaRPr/>
          </a:p>
        </p:txBody>
      </p:sp>
      <p:pic>
        <p:nvPicPr>
          <p:cNvPr descr="variable.png" id="522" name="Google Shape;522;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55</a:t>
            </a:r>
          </a:p>
        </p:txBody>
      </p:sp>
      <p:sp xmlns:p="http://schemas.openxmlformats.org/presentationml/2006/main" xmlns:a="http://schemas.openxmlformats.org/drawingml/2006/main">
        <p:nvSpPr>
          <p:cNvPr id="52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“Unknown”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7" name="Google Shape;527;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9</a:t>
            </a:r>
            <a:endParaRPr/>
          </a:p>
        </p:txBody>
      </p:sp>
      <p:sp>
        <p:nvSpPr>
          <p:cNvPr id="530" name="Google Shape;530;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531" name="Google Shape;531;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3" name="Google Shape;533;p53"/>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Solution</a:t>
            </a:r>
            <a:endParaRPr/>
          </a:p>
        </p:txBody>
      </p:sp>
      <p:sp>
        <p:nvSpPr>
          <p:cNvPr id="534" name="Google Shape;534;p53"/>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value that makes an equation true when it is substituted for the variable.</a:t>
            </a:r>
            <a:endParaRPr/>
          </a:p>
        </p:txBody>
      </p:sp>
      <p:sp>
        <p:nvSpPr>
          <p:cNvPr id="536" name="Google Shape;536;p53"/>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9" name="Google Shape;539;p53"/>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n = 4 is the solution of n + 5 = 9</a:t>
            </a:r>
            <a:endParaRPr/>
          </a:p>
        </p:txBody>
      </p:sp>
      <p:pic>
        <p:nvPicPr>
          <p:cNvPr descr="equation.png" id="540" name="Google Shape;540;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55</a:t>
            </a:r>
          </a:p>
        </p:txBody>
      </p:sp>
      <p:sp xmlns:p="http://schemas.openxmlformats.org/presentationml/2006/main" xmlns:a="http://schemas.openxmlformats.org/drawingml/2006/main">
        <p:nvSpPr>
          <p:cNvPr id="54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“Solution” to explain 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45" name="Google Shape;545;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5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9 of 9</a:t>
            </a:r>
            <a:endParaRPr/>
          </a:p>
        </p:txBody>
      </p:sp>
      <p:sp>
        <p:nvSpPr>
          <p:cNvPr id="548" name="Google Shape;548;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549" name="Google Shape;549;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51" name="Google Shape;551;p54"/>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Substitute</a:t>
            </a:r>
            <a:endParaRPr/>
          </a:p>
        </p:txBody>
      </p:sp>
      <p:sp>
        <p:nvSpPr>
          <p:cNvPr id="552" name="Google Shape;552;p54"/>
          <p:cNvSpPr/>
          <p:nvPr/>
        </p:nvSpPr>
        <p:spPr>
          <a:xfrm>
            <a:off x="658368" y="273786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replace a variable with a number so the equation can be checked.</a:t>
            </a:r>
            <a:endParaRPr/>
          </a:p>
        </p:txBody>
      </p:sp>
      <p:sp>
        <p:nvSpPr>
          <p:cNvPr id="554" name="Google Shape;554;p54"/>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54"/>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6" name="Google Shape;556;p54"/>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57" name="Google Shape;557;p54"/>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n + 5 = 9 with n = 4 → 4 + 5 = 9 ✓</a:t>
            </a:r>
            <a:endParaRPr/>
          </a:p>
        </p:txBody>
      </p:sp>
      <p:pic>
        <p:nvPicPr>
          <p:cNvPr descr="substitute.png" id="558" name="Google Shape;558;p54"/>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55</a:t>
            </a:r>
          </a:p>
        </p:txBody>
      </p:sp>
      <p:sp xmlns:p="http://schemas.openxmlformats.org/presentationml/2006/main" xmlns:a="http://schemas.openxmlformats.org/drawingml/2006/main">
        <p:nvSpPr>
          <p:cNvPr id="55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“Substitute” to explain the example.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7" name="Google Shape;357;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358" name="Google Shape;358;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0" name="Google Shape;360;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1" name="Google Shape;361;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2" name="Google Shape;362;p45"/>
          <p:cNvSpPr/>
          <p:nvPr/>
        </p:nvSpPr>
        <p:spPr>
          <a:xfrm>
            <a:off x="640080" y="2103120"/>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txBox="1"/>
          <p:nvPr/>
        </p:nvSpPr>
        <p:spPr>
          <a:xfrm>
            <a:off x="950976" y="224027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Write Equations</a:t>
            </a:r>
            <a:endParaRPr/>
          </a:p>
        </p:txBody>
      </p:sp>
      <p:sp>
        <p:nvSpPr>
          <p:cNvPr id="365" name="Google Shape;365;p45"/>
          <p:cNvSpPr txBox="1"/>
          <p:nvPr/>
        </p:nvSpPr>
        <p:spPr>
          <a:xfrm>
            <a:off x="950976" y="2578608"/>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Represent a relationship with expressions joined by an equal sign</a:t>
            </a:r>
            <a:endParaRPr/>
          </a:p>
        </p:txBody>
      </p:sp>
      <p:sp>
        <p:nvSpPr>
          <p:cNvPr id="366" name="Google Shape;366;p45"/>
          <p:cNvSpPr/>
          <p:nvPr/>
        </p:nvSpPr>
        <p:spPr>
          <a:xfrm>
            <a:off x="4387077" y="2103120"/>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p:nvPr/>
        </p:nvSpPr>
        <p:spPr>
          <a:xfrm>
            <a:off x="4387077"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txBox="1"/>
          <p:nvPr/>
        </p:nvSpPr>
        <p:spPr>
          <a:xfrm>
            <a:off x="4697973" y="224027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Equation</a:t>
            </a:r>
            <a:endParaRPr/>
          </a:p>
        </p:txBody>
      </p:sp>
      <p:sp>
        <p:nvSpPr>
          <p:cNvPr id="369" name="Google Shape;369;p45"/>
          <p:cNvSpPr txBox="1"/>
          <p:nvPr/>
        </p:nvSpPr>
        <p:spPr>
          <a:xfrm>
            <a:off x="4697973" y="2578608"/>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math sentence with an equal sign showing both sides are the same</a:t>
            </a:r>
            <a:endParaRPr/>
          </a:p>
        </p:txBody>
      </p:sp>
      <p:sp>
        <p:nvSpPr>
          <p:cNvPr id="370" name="Google Shape;370;p45"/>
          <p:cNvSpPr/>
          <p:nvPr/>
        </p:nvSpPr>
        <p:spPr>
          <a:xfrm>
            <a:off x="8134075" y="2103120"/>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p:nvPr/>
        </p:nvSpPr>
        <p:spPr>
          <a:xfrm>
            <a:off x="8134075"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txBox="1"/>
          <p:nvPr/>
        </p:nvSpPr>
        <p:spPr>
          <a:xfrm>
            <a:off x="8444971" y="224027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Variable</a:t>
            </a:r>
            <a:endParaRPr/>
          </a:p>
        </p:txBody>
      </p:sp>
      <p:sp>
        <p:nvSpPr>
          <p:cNvPr id="373" name="Google Shape;373;p45"/>
          <p:cNvSpPr txBox="1"/>
          <p:nvPr/>
        </p:nvSpPr>
        <p:spPr>
          <a:xfrm>
            <a:off x="8444971" y="2578608"/>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letter that stands for a number that is unknown or can change</a:t>
            </a:r>
            <a:endParaRPr/>
          </a:p>
        </p:txBody>
      </p:sp>
      <p:sp>
        <p:nvSpPr>
          <p:cNvPr id="374" name="Google Shape;374;p45"/>
          <p:cNvSpPr/>
          <p:nvPr/>
        </p:nvSpPr>
        <p:spPr>
          <a:xfrm>
            <a:off x="640080" y="3401568"/>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txBox="1"/>
          <p:nvPr/>
        </p:nvSpPr>
        <p:spPr>
          <a:xfrm>
            <a:off x="950976" y="3538727"/>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Equal sign</a:t>
            </a:r>
            <a:endParaRPr/>
          </a:p>
        </p:txBody>
      </p:sp>
      <p:sp>
        <p:nvSpPr>
          <p:cNvPr id="377" name="Google Shape;377;p45"/>
          <p:cNvSpPr txBox="1"/>
          <p:nvPr/>
        </p:nvSpPr>
        <p:spPr>
          <a:xfrm>
            <a:off x="950976" y="3877056"/>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 sign, showing both sides are the same</a:t>
            </a:r>
            <a:endParaRPr/>
          </a:p>
        </p:txBody>
      </p:sp>
      <p:sp>
        <p:nvSpPr>
          <p:cNvPr id="378" name="Google Shape;378;p45"/>
          <p:cNvSpPr/>
          <p:nvPr/>
        </p:nvSpPr>
        <p:spPr>
          <a:xfrm>
            <a:off x="4387077" y="3401568"/>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p:nvPr/>
        </p:nvSpPr>
        <p:spPr>
          <a:xfrm>
            <a:off x="4387077"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txBox="1"/>
          <p:nvPr/>
        </p:nvSpPr>
        <p:spPr>
          <a:xfrm>
            <a:off x="4697973" y="3538727"/>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Expression</a:t>
            </a:r>
            <a:endParaRPr/>
          </a:p>
        </p:txBody>
      </p:sp>
      <p:sp>
        <p:nvSpPr>
          <p:cNvPr id="381" name="Google Shape;381;p45"/>
          <p:cNvSpPr txBox="1"/>
          <p:nvPr/>
        </p:nvSpPr>
        <p:spPr>
          <a:xfrm>
            <a:off x="4697973" y="3877056"/>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math phrase with numbers and letters, but no equal sign</a:t>
            </a:r>
            <a:endParaRPr/>
          </a:p>
        </p:txBody>
      </p:sp>
      <p:sp>
        <p:nvSpPr>
          <p:cNvPr id="382" name="Google Shape;382;p45"/>
          <p:cNvSpPr/>
          <p:nvPr/>
        </p:nvSpPr>
        <p:spPr>
          <a:xfrm>
            <a:off x="8134075" y="3401568"/>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p:nvPr/>
        </p:nvSpPr>
        <p:spPr>
          <a:xfrm>
            <a:off x="8134075"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txBox="1"/>
          <p:nvPr/>
        </p:nvSpPr>
        <p:spPr>
          <a:xfrm>
            <a:off x="8444971" y="3538727"/>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Constant</a:t>
            </a:r>
            <a:endParaRPr/>
          </a:p>
        </p:txBody>
      </p:sp>
      <p:sp>
        <p:nvSpPr>
          <p:cNvPr id="385" name="Google Shape;385;p45"/>
          <p:cNvSpPr txBox="1"/>
          <p:nvPr/>
        </p:nvSpPr>
        <p:spPr>
          <a:xfrm>
            <a:off x="8444971" y="3877056"/>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fixed number in an expression or equation that does not change</a:t>
            </a:r>
            <a:endParaRPr/>
          </a:p>
        </p:txBody>
      </p:sp>
      <p:sp>
        <p:nvSpPr>
          <p:cNvPr id="386" name="Google Shape;386;p45"/>
          <p:cNvSpPr/>
          <p:nvPr/>
        </p:nvSpPr>
        <p:spPr>
          <a:xfrm>
            <a:off x="640080" y="4700016"/>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txBox="1"/>
          <p:nvPr/>
        </p:nvSpPr>
        <p:spPr>
          <a:xfrm>
            <a:off x="950976" y="4837176"/>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Unknown</a:t>
            </a:r>
            <a:endParaRPr/>
          </a:p>
        </p:txBody>
      </p:sp>
      <p:sp>
        <p:nvSpPr>
          <p:cNvPr id="389" name="Google Shape;389;p45"/>
          <p:cNvSpPr txBox="1"/>
          <p:nvPr/>
        </p:nvSpPr>
        <p:spPr>
          <a:xfrm>
            <a:off x="950976" y="5175504"/>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value you are trying to find, usually shown with a variable</a:t>
            </a:r>
            <a:endParaRPr/>
          </a:p>
        </p:txBody>
      </p:sp>
      <p:sp>
        <p:nvSpPr>
          <p:cNvPr id="390" name="Google Shape;390;p45"/>
          <p:cNvSpPr/>
          <p:nvPr/>
        </p:nvSpPr>
        <p:spPr>
          <a:xfrm>
            <a:off x="4387077" y="4700016"/>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5"/>
          <p:cNvSpPr/>
          <p:nvPr/>
        </p:nvSpPr>
        <p:spPr>
          <a:xfrm>
            <a:off x="4387077"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5"/>
          <p:cNvSpPr txBox="1"/>
          <p:nvPr/>
        </p:nvSpPr>
        <p:spPr>
          <a:xfrm>
            <a:off x="4697973" y="4837176"/>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Solution</a:t>
            </a:r>
            <a:endParaRPr/>
          </a:p>
        </p:txBody>
      </p:sp>
      <p:sp>
        <p:nvSpPr>
          <p:cNvPr id="393" name="Google Shape;393;p45"/>
          <p:cNvSpPr txBox="1"/>
          <p:nvPr/>
        </p:nvSpPr>
        <p:spPr>
          <a:xfrm>
            <a:off x="4697973" y="5175504"/>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value that makes an equation true when it is substituted for the variable</a:t>
            </a:r>
            <a:endParaRPr/>
          </a:p>
        </p:txBody>
      </p:sp>
      <p:sp>
        <p:nvSpPr>
          <p:cNvPr id="394" name="Google Shape;394;p45"/>
          <p:cNvSpPr/>
          <p:nvPr/>
        </p:nvSpPr>
        <p:spPr>
          <a:xfrm>
            <a:off x="8134075" y="4700016"/>
            <a:ext cx="3417813"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5"/>
          <p:cNvSpPr/>
          <p:nvPr/>
        </p:nvSpPr>
        <p:spPr>
          <a:xfrm>
            <a:off x="8134075"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5"/>
          <p:cNvSpPr txBox="1"/>
          <p:nvPr/>
        </p:nvSpPr>
        <p:spPr>
          <a:xfrm>
            <a:off x="8444971" y="4837176"/>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Substitute</a:t>
            </a:r>
            <a:endParaRPr/>
          </a:p>
        </p:txBody>
      </p:sp>
      <p:sp>
        <p:nvSpPr>
          <p:cNvPr id="397" name="Google Shape;397;p45"/>
          <p:cNvSpPr txBox="1"/>
          <p:nvPr/>
        </p:nvSpPr>
        <p:spPr>
          <a:xfrm>
            <a:off x="8444971" y="5175504"/>
            <a:ext cx="2850885"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To replace a variable with a number so the equation can be checked</a:t>
            </a:r>
            <a:endParaRPr/>
          </a:p>
        </p:txBody>
      </p:sp>
      <p:sp>
        <p:nvSpPr>
          <p:cNvPr id="3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55</a:t>
            </a:r>
          </a:p>
        </p:txBody>
      </p:sp>
      <p:grpSp>
        <p:nvGrpSpPr>
          <p:cNvPr id="399" name="TEACH-5-student-move" descr="TEACH 5 · Facilitate student interactions and academic talk"/>
          <p:cNvGrpSpPr/>
          <p:nvPr/>
        </p:nvGrpSpPr>
        <p:grpSpPr>
          <a:xfrm>
            <a:off x="502920" y="5852160"/>
            <a:ext cx="11186160" cy="457200"/>
            <a:chOff x="502920" y="5852160"/>
            <a:chExt cx="11186160" cy="457200"/>
          </a:xfrm>
        </p:grpSpPr>
        <p:sp>
          <p:nvSpPr>
            <p:cNvPr id="40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40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40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cxnSp>
        <p:nvCxnSpPr>
          <p:cNvPr id="635" name="Google Shape;635;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6" name="Google Shape;636;p58"/>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637" name="Google Shape;637;p58"/>
          <p:cNvPicPr preferRelativeResize="0"/>
          <p:nvPr/>
        </p:nvPicPr>
        <p:blipFill rotWithShape="1">
          <a:blip r:embed="rId3">
            <a:alphaModFix/>
          </a:blip>
          <a:srcRect b="0" l="0" r="0" t="0"/>
          <a:stretch/>
        </p:blipFill>
        <p:spPr>
          <a:xfrm>
            <a:off x="460720" y="4989282"/>
            <a:ext cx="5054600" cy="838200"/>
          </a:xfrm>
          <a:prstGeom prst="rect">
            <a:avLst/>
          </a:prstGeom>
          <a:noFill/>
          <a:ln>
            <a:noFill/>
          </a:ln>
        </p:spPr>
      </p:pic>
      <p:sp>
        <p:nvSpPr>
          <p:cNvPr id="638" name="Google Shape;638;p58"/>
          <p:cNvSpPr txBox="1"/>
          <p:nvPr/>
        </p:nvSpPr>
        <p:spPr>
          <a:xfrm>
            <a:off x="3236591" y="5135559"/>
            <a:ext cx="210796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639" name="Google Shape;639;p58"/>
          <p:cNvSpPr/>
          <p:nvPr/>
        </p:nvSpPr>
        <p:spPr>
          <a:xfrm>
            <a:off x="527795" y="5836909"/>
            <a:ext cx="8685391"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helps you be flexible in your mathematical thinking?​</a:t>
            </a:r>
            <a:endParaRPr b="0" i="0" sz="2600" u="none" cap="none" strike="noStrike">
              <a:solidFill>
                <a:srgbClr val="595959"/>
              </a:solidFill>
              <a:latin typeface="Arial"/>
              <a:ea typeface="Arial"/>
              <a:cs typeface="Arial"/>
              <a:sym typeface="Arial"/>
            </a:endParaRPr>
          </a:p>
        </p:txBody>
      </p:sp>
      <p:sp>
        <p:nvSpPr>
          <p:cNvPr id="640" name="Google Shape;640;p58"/>
          <p:cNvSpPr txBox="1"/>
          <p:nvPr/>
        </p:nvSpPr>
        <p:spPr>
          <a:xfrm>
            <a:off x="484560" y="936000"/>
            <a:ext cx="4205427" cy="10636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different?</a:t>
            </a:r>
            <a:r>
              <a:rPr b="0" i="0" lang="en-US" sz="2800" u="none" cap="none" strike="noStrike">
                <a:solidFill>
                  <a:schemeClr val="dk2"/>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641" name="Google Shape;641;p58"/>
          <p:cNvSpPr/>
          <p:nvPr/>
        </p:nvSpPr>
        <p:spPr>
          <a:xfrm>
            <a:off x="484560" y="2099194"/>
            <a:ext cx="6339017" cy="2867662"/>
          </a:xfrm>
          <a:prstGeom prst="snip1Rect">
            <a:avLst>
              <a:gd fmla="val 16667" name="adj"/>
            </a:avLst>
          </a:prstGeom>
          <a:solidFill>
            <a:schemeClr val="lt1"/>
          </a:solidFill>
          <a:ln cap="flat" cmpd="sng" w="1905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642" name="Google Shape;642;p58"/>
          <p:cNvSpPr/>
          <p:nvPr/>
        </p:nvSpPr>
        <p:spPr>
          <a:xfrm>
            <a:off x="710265" y="2823428"/>
            <a:ext cx="105003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3" name="Google Shape;643;p58"/>
          <p:cNvSpPr/>
          <p:nvPr/>
        </p:nvSpPr>
        <p:spPr>
          <a:xfrm>
            <a:off x="710265" y="3446230"/>
            <a:ext cx="134915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4" name="Google Shape;644;p58"/>
          <p:cNvSpPr/>
          <p:nvPr/>
        </p:nvSpPr>
        <p:spPr>
          <a:xfrm>
            <a:off x="710265" y="4017320"/>
            <a:ext cx="764247" cy="824456"/>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5" name="Google Shape;645;p58"/>
          <p:cNvSpPr/>
          <p:nvPr/>
        </p:nvSpPr>
        <p:spPr>
          <a:xfrm>
            <a:off x="3654068" y="2260973"/>
            <a:ext cx="2801081" cy="52322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6" name="Google Shape;646;p58"/>
          <p:cNvSpPr/>
          <p:nvPr/>
        </p:nvSpPr>
        <p:spPr>
          <a:xfrm>
            <a:off x="3654068" y="2823428"/>
            <a:ext cx="2054798" cy="52322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7" name="Google Shape;647;p58"/>
          <p:cNvSpPr/>
          <p:nvPr/>
        </p:nvSpPr>
        <p:spPr>
          <a:xfrm>
            <a:off x="3654068" y="3446230"/>
            <a:ext cx="2064155" cy="523220"/>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8" name="Google Shape;648;p58"/>
          <p:cNvSpPr/>
          <p:nvPr/>
        </p:nvSpPr>
        <p:spPr>
          <a:xfrm>
            <a:off x="3654068" y="4017320"/>
            <a:ext cx="1780976" cy="907556"/>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9" name="Google Shape;649;p58"/>
          <p:cNvSpPr/>
          <p:nvPr/>
        </p:nvSpPr>
        <p:spPr>
          <a:xfrm>
            <a:off x="710265" y="2260973"/>
            <a:ext cx="1371401" cy="523220"/>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55</a:t>
            </a:r>
          </a:p>
        </p:txBody>
      </p:sp>
      <p:sp xmlns:p="http://schemas.openxmlformats.org/presentationml/2006/main" xmlns:a="http://schemas.openxmlformats.org/drawingml/2006/main">
        <p:nvSpPr>
          <p:cNvPr id="651" name="TEACH-embedded-student-prompt" descr="Student thinking and response directions"/>
          <p:cNvSpPr txBox="1"/>
          <p:nvPr/>
        </p:nvSpPr>
        <p:spPr>
          <a:xfrm>
            <a:off x="7391400" y="46451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cxnSp>
        <p:nvCxnSpPr>
          <p:cNvPr id="665" name="Google Shape;665;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6" name="Google Shape;666;p60"/>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667" name="Google Shape;667;p60"/>
          <p:cNvSpPr/>
          <p:nvPr/>
        </p:nvSpPr>
        <p:spPr>
          <a:xfrm>
            <a:off x="483465" y="5242275"/>
            <a:ext cx="791913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connect the problem to math that you already know?</a:t>
            </a:r>
            <a:endParaRPr b="0" i="0" sz="2600" u="none" cap="none" strike="noStrike">
              <a:solidFill>
                <a:srgbClr val="595959"/>
              </a:solidFill>
              <a:latin typeface="Arial"/>
              <a:ea typeface="Arial"/>
              <a:cs typeface="Arial"/>
              <a:sym typeface="Arial"/>
            </a:endParaRPr>
          </a:p>
        </p:txBody>
      </p:sp>
      <p:pic>
        <p:nvPicPr>
          <p:cNvPr id="668" name="Google Shape;668;p60"/>
          <p:cNvPicPr preferRelativeResize="0"/>
          <p:nvPr/>
        </p:nvPicPr>
        <p:blipFill rotWithShape="1">
          <a:blip r:embed="rId3">
            <a:alphaModFix/>
          </a:blip>
          <a:srcRect b="0" l="0" r="0" t="0"/>
          <a:stretch/>
        </p:blipFill>
        <p:spPr>
          <a:xfrm>
            <a:off x="486000" y="4383638"/>
            <a:ext cx="7073900" cy="838200"/>
          </a:xfrm>
          <a:prstGeom prst="rect">
            <a:avLst/>
          </a:prstGeom>
          <a:noFill/>
          <a:ln>
            <a:noFill/>
          </a:ln>
        </p:spPr>
      </p:pic>
      <p:sp>
        <p:nvSpPr>
          <p:cNvPr id="669" name="Google Shape;669;p60"/>
          <p:cNvSpPr/>
          <p:nvPr/>
        </p:nvSpPr>
        <p:spPr>
          <a:xfrm>
            <a:off x="3226501" y="4541128"/>
            <a:ext cx="344517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Making Connections</a:t>
            </a:r>
            <a:endParaRPr b="0" i="0" sz="1400" u="none" cap="none" strike="noStrike">
              <a:solidFill>
                <a:srgbClr val="000000"/>
              </a:solidFill>
              <a:latin typeface="Arial"/>
              <a:ea typeface="Arial"/>
              <a:cs typeface="Arial"/>
              <a:sym typeface="Arial"/>
            </a:endParaRPr>
          </a:p>
        </p:txBody>
      </p:sp>
      <p:pic>
        <p:nvPicPr>
          <p:cNvPr descr="C:\Users\HP\Desktop\Grade_6_Unit_8\OPS\img\.assets\62d0e5424f284377a1156e1a8effd79d\narm24_c10801_se_001a-dig-eps.png" id="670" name="Google Shape;670;p60"/>
          <p:cNvPicPr preferRelativeResize="0"/>
          <p:nvPr/>
        </p:nvPicPr>
        <p:blipFill rotWithShape="1">
          <a:blip r:embed="rId4">
            <a:alphaModFix/>
          </a:blip>
          <a:srcRect b="0" l="0" r="0" t="0"/>
          <a:stretch/>
        </p:blipFill>
        <p:spPr>
          <a:xfrm>
            <a:off x="8596041" y="1515589"/>
            <a:ext cx="2962647" cy="4674899"/>
          </a:xfrm>
          <a:prstGeom prst="rect">
            <a:avLst/>
          </a:prstGeom>
          <a:noFill/>
          <a:ln>
            <a:noFill/>
          </a:ln>
        </p:spPr>
      </p:pic>
      <p:sp>
        <p:nvSpPr>
          <p:cNvPr id="671" name="Google Shape;671;p60"/>
          <p:cNvSpPr txBox="1"/>
          <p:nvPr/>
        </p:nvSpPr>
        <p:spPr>
          <a:xfrm>
            <a:off x="484564" y="936000"/>
            <a:ext cx="6711549" cy="2139512"/>
          </a:xfrm>
          <a:prstGeom prst="rect">
            <a:avLst/>
          </a:prstGeom>
          <a:blipFill rotWithShape="1">
            <a:blip r:embed="rId5">
              <a:alphaModFix/>
            </a:blip>
            <a:stretch>
              <a:fillRect b="0" l="-1817" r="0" t="-313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2" name="Google Shape;672;p60"/>
          <p:cNvSpPr txBox="1"/>
          <p:nvPr/>
        </p:nvSpPr>
        <p:spPr>
          <a:xfrm>
            <a:off x="483465" y="3217658"/>
            <a:ext cx="671264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Shanice determine the number of planks needed?</a:t>
            </a:r>
            <a:endParaRPr b="0" i="0" sz="1400" u="none" cap="none" strike="noStrike">
              <a:solidFill>
                <a:srgbClr val="000000"/>
              </a:solidFill>
              <a:latin typeface="Arial"/>
              <a:ea typeface="Arial"/>
              <a:cs typeface="Arial"/>
              <a:sym typeface="Arial"/>
            </a:endParaRPr>
          </a:p>
        </p:txBody>
      </p:sp>
      <p:sp>
        <p:nvSpPr>
          <p:cNvPr id="6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55</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cxnSp>
        <p:nvCxnSpPr>
          <p:cNvPr id="687" name="Google Shape;687;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8" name="Google Shape;688;p62"/>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689" name="Google Shape;689;p62"/>
          <p:cNvSpPr txBox="1"/>
          <p:nvPr/>
        </p:nvSpPr>
        <p:spPr>
          <a:xfrm>
            <a:off x="484566" y="5200624"/>
            <a:ext cx="4692916" cy="11383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tool is a tape diagram.</a:t>
            </a:r>
            <a:endParaRPr b="0" i="0" sz="1400" u="none" cap="none" strike="noStrike">
              <a:solidFill>
                <a:srgbClr val="000000"/>
              </a:solidFill>
              <a:latin typeface="Arial"/>
              <a:ea typeface="Arial"/>
              <a:cs typeface="Arial"/>
              <a:sym typeface="Arial"/>
            </a:endParaRPr>
          </a:p>
        </p:txBody>
      </p:sp>
      <p:sp>
        <p:nvSpPr>
          <p:cNvPr id="690" name="Google Shape;690;p62"/>
          <p:cNvSpPr txBox="1"/>
          <p:nvPr/>
        </p:nvSpPr>
        <p:spPr>
          <a:xfrm>
            <a:off x="484564" y="935999"/>
            <a:ext cx="7015987" cy="2417239"/>
          </a:xfrm>
          <a:prstGeom prst="rect">
            <a:avLst/>
          </a:prstGeom>
          <a:blipFill rotWithShape="1">
            <a:blip r:embed="rId3">
              <a:alphaModFix/>
            </a:blip>
            <a:stretch>
              <a:fillRect b="-6566" l="-1738" r="-3128" t="-277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1" name="Google Shape;691;p62"/>
          <p:cNvSpPr txBox="1"/>
          <p:nvPr/>
        </p:nvSpPr>
        <p:spPr>
          <a:xfrm>
            <a:off x="486000" y="3552565"/>
            <a:ext cx="746193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tool can you use to represent and compare the widths of the door and the planks?</a:t>
            </a:r>
            <a:endParaRPr b="0" i="0" sz="1400" u="none" cap="none" strike="noStrike">
              <a:solidFill>
                <a:srgbClr val="000000"/>
              </a:solidFill>
              <a:latin typeface="Arial"/>
              <a:ea typeface="Arial"/>
              <a:cs typeface="Arial"/>
              <a:sym typeface="Arial"/>
            </a:endParaRPr>
          </a:p>
        </p:txBody>
      </p:sp>
      <p:pic>
        <p:nvPicPr>
          <p:cNvPr descr="C:\Users\HP\Desktop\Grade_6_Unit_8\OPS\img\.assets\62d0e5424f284377a1156e1a8effd79d\narm24_c10801_se_001a-dig-eps.png" id="692" name="Google Shape;692;p62"/>
          <p:cNvPicPr preferRelativeResize="0"/>
          <p:nvPr/>
        </p:nvPicPr>
        <p:blipFill rotWithShape="1">
          <a:blip r:embed="rId4">
            <a:alphaModFix/>
          </a:blip>
          <a:srcRect b="0" l="0" r="0" t="0"/>
          <a:stretch/>
        </p:blipFill>
        <p:spPr>
          <a:xfrm>
            <a:off x="8596041" y="1515589"/>
            <a:ext cx="2962647" cy="4674899"/>
          </a:xfrm>
          <a:prstGeom prst="rect">
            <a:avLst/>
          </a:prstGeom>
          <a:noFill/>
          <a:ln>
            <a:noFill/>
          </a:ln>
        </p:spPr>
      </p:pic>
      <p:sp>
        <p:nvSpPr>
          <p:cNvPr id="6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55</a:t>
            </a:r>
          </a:p>
        </p:txBody>
      </p:sp>
      <p:sp>
        <p:nvSpPr>
          <p:cNvPr id="694" name="EWL-COVER-1"/>
          <p:cNvSpPr/>
          <p:nvPr/>
        </p:nvSpPr>
        <p:spPr>
          <a:xfrm>
            <a:off x="429702" y="5145760"/>
            <a:ext cx="4802644" cy="1248122"/>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cxnSp>
        <p:nvCxnSpPr>
          <p:cNvPr id="708" name="Google Shape;708;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9" name="Google Shape;709;p64"/>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710" name="Google Shape;710;p64"/>
          <p:cNvSpPr txBox="1"/>
          <p:nvPr/>
        </p:nvSpPr>
        <p:spPr>
          <a:xfrm>
            <a:off x="533799" y="5200624"/>
            <a:ext cx="6954202" cy="11383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an algebraic expression.</a:t>
            </a:r>
            <a:endParaRPr b="0" i="0" sz="1400" u="none" cap="none" strike="noStrike">
              <a:solidFill>
                <a:srgbClr val="000000"/>
              </a:solidFill>
              <a:latin typeface="Arial"/>
              <a:ea typeface="Arial"/>
              <a:cs typeface="Arial"/>
              <a:sym typeface="Arial"/>
            </a:endParaRPr>
          </a:p>
        </p:txBody>
      </p:sp>
      <p:sp>
        <p:nvSpPr>
          <p:cNvPr id="711" name="Google Shape;711;p64"/>
          <p:cNvSpPr txBox="1"/>
          <p:nvPr/>
        </p:nvSpPr>
        <p:spPr>
          <a:xfrm>
            <a:off x="486000" y="936000"/>
            <a:ext cx="7530278" cy="9916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use a tape diagram to represent and make sense of the quantities in the problem.</a:t>
            </a:r>
            <a:endParaRPr b="0" i="0" sz="1400" u="none" cap="none" strike="noStrike">
              <a:solidFill>
                <a:srgbClr val="000000"/>
              </a:solidFill>
              <a:latin typeface="Arial"/>
              <a:ea typeface="Arial"/>
              <a:cs typeface="Arial"/>
              <a:sym typeface="Arial"/>
            </a:endParaRPr>
          </a:p>
        </p:txBody>
      </p:sp>
      <p:sp>
        <p:nvSpPr>
          <p:cNvPr id="712" name="Google Shape;712;p64"/>
          <p:cNvSpPr txBox="1"/>
          <p:nvPr/>
        </p:nvSpPr>
        <p:spPr>
          <a:xfrm>
            <a:off x="486000" y="2001659"/>
            <a:ext cx="5753879" cy="1562479"/>
          </a:xfrm>
          <a:prstGeom prst="rect">
            <a:avLst/>
          </a:prstGeom>
          <a:blipFill rotWithShape="1">
            <a:blip r:embed="rId3">
              <a:alphaModFix/>
            </a:blip>
            <a:stretch>
              <a:fillRect b="-9728" l="-2225" r="0" t="-38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3" name="Google Shape;713;p64"/>
          <p:cNvSpPr/>
          <p:nvPr/>
        </p:nvSpPr>
        <p:spPr>
          <a:xfrm>
            <a:off x="486000" y="3656001"/>
            <a:ext cx="588585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total width of a given number of planks algebraically?</a:t>
            </a:r>
            <a:endParaRPr b="0" i="0" sz="2800" u="none" cap="none" strike="noStrike">
              <a:solidFill>
                <a:schemeClr val="dk1"/>
              </a:solidFill>
              <a:latin typeface="Arial"/>
              <a:ea typeface="Arial"/>
              <a:cs typeface="Arial"/>
              <a:sym typeface="Arial"/>
            </a:endParaRPr>
          </a:p>
        </p:txBody>
      </p:sp>
      <p:pic>
        <p:nvPicPr>
          <p:cNvPr descr="C:\Users\HP\Desktop\Grade_6_Unit_8\OPS\img\.assets\33d6178390f5464bb16bb3074fe6aaff\narm24_c10801_se_002a-dig-a-eps.png" id="714" name="Google Shape;714;p64"/>
          <p:cNvPicPr preferRelativeResize="0"/>
          <p:nvPr/>
        </p:nvPicPr>
        <p:blipFill rotWithShape="1">
          <a:blip r:embed="rId4">
            <a:alphaModFix/>
          </a:blip>
          <a:srcRect b="0" l="0" r="0" t="0"/>
          <a:stretch/>
        </p:blipFill>
        <p:spPr>
          <a:xfrm>
            <a:off x="6630085" y="2087282"/>
            <a:ext cx="5343525" cy="2286000"/>
          </a:xfrm>
          <a:prstGeom prst="rect">
            <a:avLst/>
          </a:prstGeom>
          <a:noFill/>
          <a:ln>
            <a:noFill/>
          </a:ln>
        </p:spPr>
      </p:pic>
      <p:sp>
        <p:nvSpPr>
          <p:cNvPr id="7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55</a:t>
            </a:r>
          </a:p>
        </p:txBody>
      </p:sp>
      <p:sp>
        <p:nvSpPr>
          <p:cNvPr id="716" name="EWL-COVER-1"/>
          <p:cNvSpPr/>
          <p:nvPr/>
        </p:nvSpPr>
        <p:spPr>
          <a:xfrm>
            <a:off x="478935" y="5145760"/>
            <a:ext cx="7063930" cy="1248122"/>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cxnSp>
        <p:nvCxnSpPr>
          <p:cNvPr id="752" name="Google Shape;752;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3" name="Google Shape;753;p68"/>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754" name="Google Shape;754;p68"/>
          <p:cNvSpPr txBox="1"/>
          <p:nvPr/>
        </p:nvSpPr>
        <p:spPr>
          <a:xfrm>
            <a:off x="486000" y="5220000"/>
            <a:ext cx="8467705" cy="10654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total width of the planks needs to be 36 inches.</a:t>
            </a:r>
            <a:endParaRPr b="0" i="0" sz="1400" u="none" cap="none" strike="noStrike">
              <a:solidFill>
                <a:srgbClr val="000000"/>
              </a:solidFill>
              <a:latin typeface="Arial"/>
              <a:ea typeface="Arial"/>
              <a:cs typeface="Arial"/>
              <a:sym typeface="Arial"/>
            </a:endParaRPr>
          </a:p>
        </p:txBody>
      </p:sp>
      <p:sp>
        <p:nvSpPr>
          <p:cNvPr id="755" name="Google Shape;755;p68"/>
          <p:cNvSpPr txBox="1"/>
          <p:nvPr/>
        </p:nvSpPr>
        <p:spPr>
          <a:xfrm>
            <a:off x="486000" y="935999"/>
            <a:ext cx="6255600" cy="1370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write an algebraic expression to represent the total width of some number of planks.</a:t>
            </a:r>
            <a:endParaRPr b="0" i="0" sz="1400" u="none" cap="none" strike="noStrike">
              <a:solidFill>
                <a:srgbClr val="000000"/>
              </a:solidFill>
              <a:latin typeface="Arial"/>
              <a:ea typeface="Arial"/>
              <a:cs typeface="Arial"/>
              <a:sym typeface="Arial"/>
            </a:endParaRPr>
          </a:p>
        </p:txBody>
      </p:sp>
      <p:sp>
        <p:nvSpPr>
          <p:cNvPr id="756" name="Google Shape;756;p68"/>
          <p:cNvSpPr/>
          <p:nvPr/>
        </p:nvSpPr>
        <p:spPr>
          <a:xfrm>
            <a:off x="486000" y="2498102"/>
            <a:ext cx="531291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do you know about the total width of the planks needed to build the door?</a:t>
            </a:r>
            <a:endParaRPr b="0" i="0" sz="2800" u="none" cap="none" strike="noStrike">
              <a:solidFill>
                <a:schemeClr val="dk1"/>
              </a:solidFill>
              <a:latin typeface="Arial"/>
              <a:ea typeface="Arial"/>
              <a:cs typeface="Arial"/>
              <a:sym typeface="Arial"/>
            </a:endParaRPr>
          </a:p>
        </p:txBody>
      </p:sp>
      <p:pic>
        <p:nvPicPr>
          <p:cNvPr descr="C:\Users\HP\Desktop\Grade_6_Unit_8\OPS\img\.assets\62d0e5424f284377a1156e1a8effd79d\narm24_c10801_se_001a-dig-eps.png" id="757" name="Google Shape;757;p68"/>
          <p:cNvPicPr preferRelativeResize="0"/>
          <p:nvPr/>
        </p:nvPicPr>
        <p:blipFill rotWithShape="1">
          <a:blip r:embed="rId3">
            <a:alphaModFix/>
          </a:blip>
          <a:srcRect b="0" l="0" r="0" t="0"/>
          <a:stretch/>
        </p:blipFill>
        <p:spPr>
          <a:xfrm>
            <a:off x="9007435" y="1296485"/>
            <a:ext cx="2505075" cy="3952875"/>
          </a:xfrm>
          <a:prstGeom prst="rect">
            <a:avLst/>
          </a:prstGeom>
          <a:noFill/>
          <a:ln>
            <a:noFill/>
          </a:ln>
        </p:spPr>
      </p:pic>
      <p:pic>
        <p:nvPicPr>
          <p:cNvPr descr="C:\Users\HP\Desktop\Grade_6_Unit_8\OPS\img\.assets\109a55ad287b438c97c7114615d87cf2\narm24_c10801_esp_002a.png" id="758" name="Google Shape;758;p68"/>
          <p:cNvPicPr preferRelativeResize="0"/>
          <p:nvPr/>
        </p:nvPicPr>
        <p:blipFill rotWithShape="1">
          <a:blip r:embed="rId4">
            <a:alphaModFix/>
          </a:blip>
          <a:srcRect b="0" l="0" r="0" t="0"/>
          <a:stretch/>
        </p:blipFill>
        <p:spPr>
          <a:xfrm>
            <a:off x="6224747" y="3259209"/>
            <a:ext cx="2619375" cy="1247775"/>
          </a:xfrm>
          <a:prstGeom prst="rect">
            <a:avLst/>
          </a:prstGeom>
          <a:noFill/>
          <a:ln>
            <a:noFill/>
          </a:ln>
        </p:spPr>
      </p:pic>
      <p:sp>
        <p:nvSpPr>
          <p:cNvPr id="7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55</a:t>
            </a:r>
          </a:p>
        </p:txBody>
      </p:sp>
      <p:sp>
        <p:nvSpPr>
          <p:cNvPr id="760" name="EWL-COVER-1"/>
          <p:cNvSpPr/>
          <p:nvPr/>
        </p:nvSpPr>
        <p:spPr>
          <a:xfrm>
            <a:off x="431136" y="5165136"/>
            <a:ext cx="8577433" cy="1175148"/>
          </a:xfrm>
          <a:prstGeom prst="rect">
            <a:avLst/>
          </a:prstGeom>
          <a:solidFill>
            <a:srgbClr val="FFFFFF"/>
          </a:solidFill>
          <a:ln>
            <a:noFill/>
          </a:ln>
        </p:spPr>
        <p:txBody>
          <a:bodyPr/>
          <a:lstStyle/>
          <a:p/>
        </p:txBody>
      </p:sp>
      <p:sp xmlns:p="http://schemas.openxmlformats.org/presentationml/2006/main" xmlns:a="http://schemas.openxmlformats.org/drawingml/2006/main">
        <p:nvSpPr>
          <p:cNvPr id="761" name="TEACH-embedded-student-prompt" descr="Student thinking and response directions"/>
          <p:cNvSpPr txBox="1"/>
          <p:nvPr/>
        </p:nvSpPr>
        <p:spPr>
          <a:xfrm>
            <a:off x="59436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cxnSp>
        <p:nvCxnSpPr>
          <p:cNvPr id="773" name="Google Shape;773;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4" name="Google Shape;774;p70"/>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775" name="Google Shape;775;p70"/>
          <p:cNvSpPr txBox="1"/>
          <p:nvPr/>
        </p:nvSpPr>
        <p:spPr>
          <a:xfrm>
            <a:off x="484565" y="4860000"/>
            <a:ext cx="7537646" cy="1512366"/>
          </a:xfrm>
          <a:prstGeom prst="rect">
            <a:avLst/>
          </a:prstGeom>
          <a:blipFill rotWithShape="1">
            <a:blip r:embed="rId3">
              <a:alphaModFix/>
            </a:blip>
            <a:stretch>
              <a:fillRect b="-6855" l="-1617" r="-566" t="-403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76" name="Google Shape;776;p70"/>
          <p:cNvSpPr txBox="1"/>
          <p:nvPr/>
        </p:nvSpPr>
        <p:spPr>
          <a:xfrm>
            <a:off x="484564" y="936000"/>
            <a:ext cx="5388376" cy="26084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total width of the planks needs to be 36 inches.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determine the value of the unknown?</a:t>
            </a:r>
            <a:endParaRPr b="1" i="0" sz="2800" u="none" cap="none" strike="noStrike">
              <a:solidFill>
                <a:schemeClr val="dk1"/>
              </a:solidFill>
              <a:latin typeface="Arial"/>
              <a:ea typeface="Arial"/>
              <a:cs typeface="Arial"/>
              <a:sym typeface="Arial"/>
            </a:endParaRPr>
          </a:p>
        </p:txBody>
      </p:sp>
      <p:pic>
        <p:nvPicPr>
          <p:cNvPr descr="C:\Users\HP\Desktop\Grade_6_Unit_8\OPS\img\.assets\ea4624f828d84916a6222baa23768e3e\narm24_c10801_esp_003a.png" id="777" name="Google Shape;777;p70"/>
          <p:cNvPicPr preferRelativeResize="0"/>
          <p:nvPr/>
        </p:nvPicPr>
        <p:blipFill rotWithShape="1">
          <a:blip r:embed="rId4">
            <a:alphaModFix/>
          </a:blip>
          <a:srcRect b="0" l="0" r="0" t="0"/>
          <a:stretch/>
        </p:blipFill>
        <p:spPr>
          <a:xfrm>
            <a:off x="5940000" y="3077020"/>
            <a:ext cx="3000375" cy="1495425"/>
          </a:xfrm>
          <a:prstGeom prst="rect">
            <a:avLst/>
          </a:prstGeom>
          <a:noFill/>
          <a:ln>
            <a:noFill/>
          </a:ln>
        </p:spPr>
      </p:pic>
      <p:pic>
        <p:nvPicPr>
          <p:cNvPr descr="C:\Users\HP\Desktop\Grade_6_Unit_8\OPS\img\.assets\62d0e5424f284377a1156e1a8effd79d\narm24_c10801_se_001a-dig-eps.png" id="778" name="Google Shape;778;p70"/>
          <p:cNvPicPr preferRelativeResize="0"/>
          <p:nvPr/>
        </p:nvPicPr>
        <p:blipFill rotWithShape="1">
          <a:blip r:embed="rId5">
            <a:alphaModFix/>
          </a:blip>
          <a:srcRect b="0" l="0" r="0" t="0"/>
          <a:stretch/>
        </p:blipFill>
        <p:spPr>
          <a:xfrm>
            <a:off x="9007435" y="1296485"/>
            <a:ext cx="2505075" cy="3952875"/>
          </a:xfrm>
          <a:prstGeom prst="rect">
            <a:avLst/>
          </a:prstGeom>
          <a:noFill/>
          <a:ln>
            <a:noFill/>
          </a:ln>
        </p:spPr>
      </p:pic>
      <p:sp>
        <p:nvSpPr>
          <p:cNvPr id="7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55</a:t>
            </a:r>
          </a:p>
        </p:txBody>
      </p:sp>
      <p:grpSp>
        <p:nvGrpSpPr>
          <p:cNvPr id="780" name="TEACH-3-student-move" descr="TEACH 3 · Use intentional questioning to deepen learning"/>
          <p:cNvGrpSpPr/>
          <p:nvPr/>
        </p:nvGrpSpPr>
        <p:grpSpPr>
          <a:xfrm>
            <a:off x="6187440" y="857573"/>
            <a:ext cx="5501640" cy="402336"/>
            <a:chOff x="6187440" y="857573"/>
            <a:chExt cx="5501640" cy="402336"/>
          </a:xfrm>
        </p:grpSpPr>
        <p:sp>
          <p:nvSpPr>
            <p:cNvPr id="781" name="TEACH-move-card"/>
            <p:cNvSpPr/>
            <p:nvPr/>
          </p:nvSpPr>
          <p:spPr>
            <a:xfrm>
              <a:off x="6187440" y="857573"/>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82" name="TEACH-move-rule"/>
            <p:cNvSpPr/>
            <p:nvPr/>
          </p:nvSpPr>
          <p:spPr>
            <a:xfrm>
              <a:off x="6233160" y="934017"/>
              <a:ext cx="100584" cy="249448"/>
            </a:xfrm>
            <a:prstGeom prst="roundRect">
              <a:avLst>
                <a:gd name="adj" fmla="val 50000"/>
              </a:avLst>
            </a:prstGeom>
            <a:solidFill>
              <a:srgbClr val="01708C"/>
            </a:solidFill>
            <a:ln>
              <a:noFill/>
            </a:ln>
          </p:spPr>
          <p:txBody>
            <a:bodyPr/>
            <a:lstStyle/>
            <a:p>
              <a:endParaRPr/>
            </a:p>
          </p:txBody>
        </p:sp>
        <p:sp>
          <p:nvSpPr>
            <p:cNvPr id="783" name="TEACH-move-text"/>
            <p:cNvSpPr txBox="1"/>
            <p:nvPr/>
          </p:nvSpPr>
          <p:spPr>
            <a:xfrm>
              <a:off x="6507480" y="857573"/>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cxnSp>
        <p:nvCxnSpPr>
          <p:cNvPr id="841" name="Google Shape;841;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2" name="Google Shape;842;p76"/>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843" name="Google Shape;843;p76"/>
          <p:cNvSpPr txBox="1"/>
          <p:nvPr/>
        </p:nvSpPr>
        <p:spPr>
          <a:xfrm>
            <a:off x="484564" y="936000"/>
            <a:ext cx="7278138" cy="1929748"/>
          </a:xfrm>
          <a:prstGeom prst="rect">
            <a:avLst/>
          </a:prstGeom>
          <a:blipFill rotWithShape="1">
            <a:blip r:embed="rId3">
              <a:alphaModFix/>
            </a:blip>
            <a:stretch>
              <a:fillRect b="-11392" l="-1675" r="0" t="-348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44" name="Google Shape;844;p76"/>
          <p:cNvSpPr/>
          <p:nvPr/>
        </p:nvSpPr>
        <p:spPr>
          <a:xfrm>
            <a:off x="484564" y="3007894"/>
            <a:ext cx="758631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Shanice determine the number of planks needed?</a:t>
            </a:r>
            <a:endParaRPr b="0" i="0" sz="2800" u="none" cap="none" strike="noStrike">
              <a:solidFill>
                <a:schemeClr val="dk1"/>
              </a:solidFill>
              <a:latin typeface="Arial"/>
              <a:ea typeface="Arial"/>
              <a:cs typeface="Arial"/>
              <a:sym typeface="Arial"/>
            </a:endParaRPr>
          </a:p>
        </p:txBody>
      </p:sp>
      <p:sp>
        <p:nvSpPr>
          <p:cNvPr id="845" name="Google Shape;845;p76"/>
          <p:cNvSpPr/>
          <p:nvPr/>
        </p:nvSpPr>
        <p:spPr>
          <a:xfrm>
            <a:off x="586106" y="4307453"/>
            <a:ext cx="6874938"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Shanice can use an equation to determine the number of planks, 8, she needs to build the door.</a:t>
            </a:r>
            <a:endParaRPr b="0" i="0" sz="2800" u="none" cap="none" strike="noStrike">
              <a:solidFill>
                <a:schemeClr val="dk1"/>
              </a:solidFill>
              <a:latin typeface="Arial"/>
              <a:ea typeface="Arial"/>
              <a:cs typeface="Arial"/>
              <a:sym typeface="Arial"/>
            </a:endParaRPr>
          </a:p>
        </p:txBody>
      </p:sp>
      <p:sp>
        <p:nvSpPr>
          <p:cNvPr id="846" name="Google Shape;846;p76"/>
          <p:cNvSpPr/>
          <p:nvPr/>
        </p:nvSpPr>
        <p:spPr>
          <a:xfrm>
            <a:off x="484564" y="4210154"/>
            <a:ext cx="7586311" cy="1549624"/>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descr="C:\Users\HP\Desktop\Grade_6_Unit_8\OPS\img\.assets\62d0e5424f284377a1156e1a8effd79d\narm24_c10801_se_001a-dig-eps.png" id="847" name="Google Shape;847;p76"/>
          <p:cNvPicPr preferRelativeResize="0"/>
          <p:nvPr/>
        </p:nvPicPr>
        <p:blipFill rotWithShape="1">
          <a:blip r:embed="rId4">
            <a:alphaModFix/>
          </a:blip>
          <a:srcRect b="0" l="0" r="0" t="0"/>
          <a:stretch/>
        </p:blipFill>
        <p:spPr>
          <a:xfrm>
            <a:off x="8596041" y="1515589"/>
            <a:ext cx="2962647" cy="4674899"/>
          </a:xfrm>
          <a:prstGeom prst="rect">
            <a:avLst/>
          </a:prstGeom>
          <a:noFill/>
          <a:ln>
            <a:noFill/>
          </a:ln>
        </p:spPr>
      </p:pic>
      <p:sp>
        <p:nvSpPr>
          <p:cNvPr id="8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55</a:t>
            </a:r>
          </a:p>
        </p:txBody>
      </p:sp>
      <p:grpSp>
        <p:nvGrpSpPr>
          <p:cNvPr id="849" name="TEACH-5-student-move" descr="TEACH 5 · Facilitate student interactions and academic talk"/>
          <p:cNvGrpSpPr/>
          <p:nvPr/>
        </p:nvGrpSpPr>
        <p:grpSpPr>
          <a:xfrm>
            <a:off x="502920" y="5796354"/>
            <a:ext cx="5501640" cy="457200"/>
            <a:chOff x="502920" y="5796354"/>
            <a:chExt cx="5501640" cy="457200"/>
          </a:xfrm>
        </p:grpSpPr>
        <p:sp>
          <p:nvSpPr>
            <p:cNvPr id="850" name="TEACH-move-card"/>
            <p:cNvSpPr/>
            <p:nvPr/>
          </p:nvSpPr>
          <p:spPr>
            <a:xfrm>
              <a:off x="502920" y="5796354"/>
              <a:ext cx="5501640" cy="457200"/>
            </a:xfrm>
            <a:prstGeom prst="roundRect">
              <a:avLst>
                <a:gd name="adj" fmla="val 16000"/>
              </a:avLst>
            </a:prstGeom>
            <a:solidFill>
              <a:srgbClr val="E4F0F5"/>
            </a:solidFill>
            <a:ln w="19050">
              <a:solidFill>
                <a:srgbClr val="8CB8C7"/>
              </a:solidFill>
            </a:ln>
          </p:spPr>
          <p:txBody>
            <a:bodyPr/>
            <a:lstStyle/>
            <a:p>
              <a:endParaRPr/>
            </a:p>
          </p:txBody>
        </p:sp>
        <p:sp>
          <p:nvSpPr>
            <p:cNvPr id="851" name="TEACH-move-rule"/>
            <p:cNvSpPr/>
            <p:nvPr/>
          </p:nvSpPr>
          <p:spPr>
            <a:xfrm>
              <a:off x="548640" y="5883222"/>
              <a:ext cx="100584" cy="283464"/>
            </a:xfrm>
            <a:prstGeom prst="roundRect">
              <a:avLst>
                <a:gd name="adj" fmla="val 50000"/>
              </a:avLst>
            </a:prstGeom>
            <a:solidFill>
              <a:srgbClr val="01708C"/>
            </a:solidFill>
            <a:ln>
              <a:noFill/>
            </a:ln>
          </p:spPr>
          <p:txBody>
            <a:bodyPr/>
            <a:lstStyle/>
            <a:p>
              <a:endParaRPr/>
            </a:p>
          </p:txBody>
        </p:sp>
        <p:sp>
          <p:nvSpPr>
            <p:cNvPr id="852" name="TEACH-move-text"/>
            <p:cNvSpPr txBox="1"/>
            <p:nvPr/>
          </p:nvSpPr>
          <p:spPr>
            <a:xfrm>
              <a:off x="822960" y="5796354"/>
              <a:ext cx="5044440" cy="45720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cxnSp>
        <p:nvCxnSpPr>
          <p:cNvPr id="852" name="Google Shape;852;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3" name="Google Shape;853;p77"/>
          <p:cNvSpPr txBox="1"/>
          <p:nvPr/>
        </p:nvSpPr>
        <p:spPr>
          <a:xfrm>
            <a:off x="484564" y="359332"/>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54" name="Google Shape;854;p77"/>
          <p:cNvSpPr txBox="1"/>
          <p:nvPr/>
        </p:nvSpPr>
        <p:spPr>
          <a:xfrm>
            <a:off x="484564" y="1211113"/>
            <a:ext cx="9028145" cy="679471"/>
          </a:xfrm>
          <a:prstGeom prst="rect">
            <a:avLst/>
          </a:prstGeom>
          <a:blipFill rotWithShape="1">
            <a:blip r:embed="rId3">
              <a:alphaModFix/>
            </a:blip>
            <a:stretch>
              <a:fillRect b="-13514" l="-1215"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5" name="Google Shape;855;p77"/>
          <p:cNvSpPr/>
          <p:nvPr/>
        </p:nvSpPr>
        <p:spPr>
          <a:xfrm>
            <a:off x="484561" y="2051222"/>
            <a:ext cx="5669280" cy="11227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Calibri"/>
                <a:cs typeface="Calibri"/>
                <a:sym typeface="Calibri"/>
              </a:rPr>
              <a:t>How would the equation, 4 1 2 p = 36 , change if they used wooden planks that were 6 inches wide instead of 4 1 2 inches wide?</a:t>
            </a:r>
            <a:endParaRPr b="0" i="0" sz="1400" u="none" cap="none" strike="noStrike">
              <a:solidFill>
                <a:srgbClr val="000000"/>
              </a:solidFill>
              <a:latin typeface="Arial"/>
              <a:ea typeface="Arial"/>
              <a:cs typeface="Arial"/>
              <a:sym typeface="Arial"/>
            </a:endParaRPr>
          </a:p>
        </p:txBody>
      </p:sp>
      <p:sp>
        <p:nvSpPr>
          <p:cNvPr id="856" name="Google Shape;856;p77"/>
          <p:cNvSpPr txBox="1"/>
          <p:nvPr/>
        </p:nvSpPr>
        <p:spPr>
          <a:xfrm>
            <a:off x="8185064" y="277758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57" name="Google Shape;857;p77"/>
          <p:cNvSpPr/>
          <p:nvPr/>
        </p:nvSpPr>
        <p:spPr>
          <a:xfrm>
            <a:off x="484564" y="5071042"/>
            <a:ext cx="9028142" cy="122184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58" name="Google Shape;858;p77"/>
          <p:cNvSpPr txBox="1"/>
          <p:nvPr/>
        </p:nvSpPr>
        <p:spPr>
          <a:xfrm>
            <a:off x="8185064" y="595433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59" name="Google Shape;859;p77"/>
          <p:cNvSpPr/>
          <p:nvPr/>
        </p:nvSpPr>
        <p:spPr>
          <a:xfrm>
            <a:off x="470734" y="3293370"/>
            <a:ext cx="9041972" cy="1739964"/>
          </a:xfrm>
          <a:prstGeom prst="rect">
            <a:avLst/>
          </a:prstGeom>
          <a:blipFill rotWithShape="1">
            <a:blip r:embed="rId4">
              <a:alphaModFix/>
            </a:blip>
            <a:stretch>
              <a:fillRect b="-2797" l="-1214" r="-222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55</a:t>
            </a:r>
          </a:p>
        </p:txBody>
      </p:sp>
      <p:grpSp>
        <p:nvGrpSpPr>
          <p:cNvPr id="861" name="TEACH-2-student-move" descr="TEACH 2 · Use strategies and tasks to engage students in rigorous work"/>
          <p:cNvGrpSpPr/>
          <p:nvPr/>
        </p:nvGrpSpPr>
        <p:grpSpPr>
          <a:xfrm>
            <a:off x="6187440" y="772201"/>
            <a:ext cx="5501640" cy="402336"/>
            <a:chOff x="6187440" y="772201"/>
            <a:chExt cx="5501640" cy="402336"/>
          </a:xfrm>
        </p:grpSpPr>
        <p:sp>
          <p:nvSpPr>
            <p:cNvPr id="862" name="TEACH-move-card"/>
            <p:cNvSpPr/>
            <p:nvPr/>
          </p:nvSpPr>
          <p:spPr>
            <a:xfrm>
              <a:off x="6187440" y="772201"/>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63" name="TEACH-move-rule"/>
            <p:cNvSpPr/>
            <p:nvPr/>
          </p:nvSpPr>
          <p:spPr>
            <a:xfrm>
              <a:off x="6233160" y="848645"/>
              <a:ext cx="100584" cy="249448"/>
            </a:xfrm>
            <a:prstGeom prst="roundRect">
              <a:avLst>
                <a:gd name="adj" fmla="val 50000"/>
              </a:avLst>
            </a:prstGeom>
            <a:solidFill>
              <a:srgbClr val="01708C"/>
            </a:solidFill>
            <a:ln>
              <a:noFill/>
            </a:ln>
          </p:spPr>
          <p:txBody>
            <a:bodyPr/>
            <a:lstStyle/>
            <a:p>
              <a:endParaRPr/>
            </a:p>
          </p:txBody>
        </p:sp>
        <p:sp>
          <p:nvSpPr>
            <p:cNvPr id="864" name="TEACH-move-text"/>
            <p:cNvSpPr txBox="1"/>
            <p:nvPr/>
          </p:nvSpPr>
          <p:spPr>
            <a:xfrm>
              <a:off x="6507480" y="772201"/>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8.1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equality assert here, and what evidence makes this value a solution?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87" name="Google Shape;687;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8" name="Google Shape;688;p62"/>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689" name="Google Shape;689;p62"/>
          <p:cNvSpPr txBox="1"/>
          <p:nvPr/>
        </p:nvSpPr>
        <p:spPr>
          <a:xfrm>
            <a:off x="484566" y="5200624"/>
            <a:ext cx="4692916" cy="11383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tool is a tape diagram.</a:t>
            </a:r>
            <a:endParaRPr b="0" i="0" sz="1400" u="none" cap="none" strike="noStrike">
              <a:solidFill>
                <a:srgbClr val="000000"/>
              </a:solidFill>
              <a:latin typeface="Arial"/>
              <a:ea typeface="Arial"/>
              <a:cs typeface="Arial"/>
              <a:sym typeface="Arial"/>
            </a:endParaRPr>
          </a:p>
        </p:txBody>
      </p:sp>
      <p:sp>
        <p:nvSpPr>
          <p:cNvPr id="690" name="Google Shape;690;p62"/>
          <p:cNvSpPr txBox="1"/>
          <p:nvPr/>
        </p:nvSpPr>
        <p:spPr>
          <a:xfrm>
            <a:off x="484564" y="935999"/>
            <a:ext cx="7015987" cy="2417239"/>
          </a:xfrm>
          <a:prstGeom prst="rect">
            <a:avLst/>
          </a:prstGeom>
          <a:blipFill rotWithShape="1">
            <a:blip r:embed="rId2">
              <a:alphaModFix/>
            </a:blip>
            <a:stretch>
              <a:fillRect b="-6566" l="-1738" r="-3128" t="-277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1" name="Google Shape;691;p62"/>
          <p:cNvSpPr txBox="1"/>
          <p:nvPr/>
        </p:nvSpPr>
        <p:spPr>
          <a:xfrm>
            <a:off x="486000" y="3552565"/>
            <a:ext cx="746193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tool can you use to represent and compare the widths of the door and the planks?</a:t>
            </a:r>
            <a:endParaRPr b="0" i="0" sz="1400" u="none" cap="none" strike="noStrike">
              <a:solidFill>
                <a:srgbClr val="000000"/>
              </a:solidFill>
              <a:latin typeface="Arial"/>
              <a:ea typeface="Arial"/>
              <a:cs typeface="Arial"/>
              <a:sym typeface="Arial"/>
            </a:endParaRPr>
          </a:p>
        </p:txBody>
      </p:sp>
      <p:pic>
        <p:nvPicPr>
          <p:cNvPr descr="C:\Users\HP\Desktop\Grade_6_Unit_8\OPS\img\.assets\62d0e5424f284377a1156e1a8effd79d\narm24_c10801_se_001a-dig-eps.png" id="692" name="Google Shape;692;p62"/>
          <p:cNvPicPr preferRelativeResize="0"/>
          <p:nvPr/>
        </p:nvPicPr>
        <p:blipFill rotWithShape="1">
          <a:blip r:embed="rId3">
            <a:alphaModFix/>
          </a:blip>
          <a:srcRect b="0" l="0" r="0" t="0"/>
          <a:stretch/>
        </p:blipFill>
        <p:spPr>
          <a:xfrm>
            <a:off x="8596041" y="1515589"/>
            <a:ext cx="2505075" cy="3952875"/>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55</a:t>
            </a:r>
          </a:p>
        </p:txBody>
      </p:sp>
      <p:grpSp>
        <p:nvGrpSpPr>
          <p:cNvPr id="693" name="TEACH-4-student-move" descr="TEACH 4 · Monitor progress and provide feedback"/>
          <p:cNvGrpSpPr/>
          <p:nvPr/>
        </p:nvGrpSpPr>
        <p:grpSpPr>
          <a:xfrm>
            <a:off x="6187440" y="5550760"/>
            <a:ext cx="5501640" cy="731520"/>
            <a:chOff x="6187440" y="5550760"/>
            <a:chExt cx="5501640" cy="731520"/>
          </a:xfrm>
        </p:grpSpPr>
        <p:sp>
          <p:nvSpPr>
            <p:cNvPr id="694" name="TEACH-move-card"/>
            <p:cNvSpPr/>
            <p:nvPr/>
          </p:nvSpPr>
          <p:spPr>
            <a:xfrm>
              <a:off x="6187440" y="5550760"/>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695" name="TEACH-move-rule"/>
            <p:cNvSpPr/>
            <p:nvPr/>
          </p:nvSpPr>
          <p:spPr>
            <a:xfrm>
              <a:off x="6233160" y="5689749"/>
              <a:ext cx="100584" cy="453542"/>
            </a:xfrm>
            <a:prstGeom prst="roundRect">
              <a:avLst>
                <a:gd name="adj" fmla="val 50000"/>
              </a:avLst>
            </a:prstGeom>
            <a:solidFill>
              <a:srgbClr val="01708C"/>
            </a:solidFill>
            <a:ln>
              <a:noFill/>
            </a:ln>
          </p:spPr>
          <p:txBody>
            <a:bodyPr/>
            <a:lstStyle/>
            <a:p>
              <a:endParaRPr/>
            </a:p>
          </p:txBody>
        </p:sp>
        <p:sp>
          <p:nvSpPr>
            <p:cNvPr id="696" name="TEACH-move-text"/>
            <p:cNvSpPr txBox="1"/>
            <p:nvPr/>
          </p:nvSpPr>
          <p:spPr>
            <a:xfrm>
              <a:off x="6507480" y="5550760"/>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SELF-CHECK  ·  </a:t>
              </a:r>
              <a:r>
                <a:rPr lang="en-US" sz="1400" dirty="0">
                  <a:solidFill>
                    <a:srgbClr val="13303A"/>
                  </a:solidFill>
                  <a:latin typeface="Arial"/>
                </a:rPr>
                <a:t>Mark it: ✓ got it  ·  ~ almost  ·  ? stuck. Then fix one thing before we move on.</a:t>
              </a:r>
              <a:endParaRPr lang="en-US" sz="1400"/>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8" name="Google Shape;708;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9" name="Google Shape;709;p64"/>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710" name="Google Shape;710;p64"/>
          <p:cNvSpPr txBox="1"/>
          <p:nvPr/>
        </p:nvSpPr>
        <p:spPr>
          <a:xfrm>
            <a:off x="533799" y="5200624"/>
            <a:ext cx="6954202" cy="11383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an algebraic expression.</a:t>
            </a:r>
            <a:endParaRPr b="0" i="0" sz="1400" u="none" cap="none" strike="noStrike">
              <a:solidFill>
                <a:srgbClr val="000000"/>
              </a:solidFill>
              <a:latin typeface="Arial"/>
              <a:ea typeface="Arial"/>
              <a:cs typeface="Arial"/>
              <a:sym typeface="Arial"/>
            </a:endParaRPr>
          </a:p>
        </p:txBody>
      </p:sp>
      <p:sp>
        <p:nvSpPr>
          <p:cNvPr id="711" name="Google Shape;711;p64"/>
          <p:cNvSpPr txBox="1"/>
          <p:nvPr/>
        </p:nvSpPr>
        <p:spPr>
          <a:xfrm>
            <a:off x="486000" y="936000"/>
            <a:ext cx="7530278" cy="9916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use a tape diagram to represent and make sense of the quantities in the problem.</a:t>
            </a:r>
            <a:endParaRPr b="0" i="0" sz="1400" u="none" cap="none" strike="noStrike">
              <a:solidFill>
                <a:srgbClr val="000000"/>
              </a:solidFill>
              <a:latin typeface="Arial"/>
              <a:ea typeface="Arial"/>
              <a:cs typeface="Arial"/>
              <a:sym typeface="Arial"/>
            </a:endParaRPr>
          </a:p>
        </p:txBody>
      </p:sp>
      <p:sp>
        <p:nvSpPr>
          <p:cNvPr id="712" name="Google Shape;712;p64"/>
          <p:cNvSpPr txBox="1"/>
          <p:nvPr/>
        </p:nvSpPr>
        <p:spPr>
          <a:xfrm>
            <a:off x="486000" y="2001659"/>
            <a:ext cx="5753879" cy="1562479"/>
          </a:xfrm>
          <a:prstGeom prst="rect">
            <a:avLst/>
          </a:prstGeom>
          <a:blipFill rotWithShape="1">
            <a:blip r:embed="rId2">
              <a:alphaModFix/>
            </a:blip>
            <a:stretch>
              <a:fillRect b="-9728" l="-2225" r="0" t="-38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3" name="Google Shape;713;p64"/>
          <p:cNvSpPr/>
          <p:nvPr/>
        </p:nvSpPr>
        <p:spPr>
          <a:xfrm>
            <a:off x="486000" y="3656001"/>
            <a:ext cx="588585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total width of a given number of planks algebraically?</a:t>
            </a:r>
            <a:endParaRPr b="0" i="0" sz="2800" u="none" cap="none" strike="noStrike">
              <a:solidFill>
                <a:schemeClr val="dk1"/>
              </a:solidFill>
              <a:latin typeface="Arial"/>
              <a:ea typeface="Arial"/>
              <a:cs typeface="Arial"/>
              <a:sym typeface="Arial"/>
            </a:endParaRPr>
          </a:p>
        </p:txBody>
      </p:sp>
      <p:pic>
        <p:nvPicPr>
          <p:cNvPr descr="C:\Users\HP\Desktop\Grade_6_Unit_8\OPS\img\.assets\33d6178390f5464bb16bb3074fe6aaff\narm24_c10801_se_002a-dig-a-eps.png" id="714" name="Google Shape;714;p64"/>
          <p:cNvPicPr preferRelativeResize="0"/>
          <p:nvPr/>
        </p:nvPicPr>
        <p:blipFill rotWithShape="1">
          <a:blip r:embed="rId3">
            <a:alphaModFix/>
          </a:blip>
          <a:srcRect b="0" l="0" r="0" t="0"/>
          <a:stretch/>
        </p:blipFill>
        <p:spPr>
          <a:xfrm>
            <a:off x="6630085" y="2087282"/>
            <a:ext cx="5343525" cy="2286000"/>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52" name="Google Shape;752;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3" name="Google Shape;753;p68"/>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Building a Door</a:t>
            </a:r>
            <a:endParaRPr b="0" i="0" sz="1400" u="none" cap="none" strike="noStrike">
              <a:solidFill>
                <a:srgbClr val="000000"/>
              </a:solidFill>
              <a:latin typeface="Arial"/>
              <a:ea typeface="Arial"/>
              <a:cs typeface="Arial"/>
              <a:sym typeface="Arial"/>
            </a:endParaRPr>
          </a:p>
        </p:txBody>
      </p:sp>
      <p:sp>
        <p:nvSpPr>
          <p:cNvPr id="754" name="Google Shape;754;p68"/>
          <p:cNvSpPr txBox="1"/>
          <p:nvPr/>
        </p:nvSpPr>
        <p:spPr>
          <a:xfrm>
            <a:off x="486000" y="5220000"/>
            <a:ext cx="8467705" cy="10654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total width of the planks needs to be 36 inches.</a:t>
            </a:r>
            <a:endParaRPr b="0" i="0" sz="1400" u="none" cap="none" strike="noStrike">
              <a:solidFill>
                <a:srgbClr val="000000"/>
              </a:solidFill>
              <a:latin typeface="Arial"/>
              <a:ea typeface="Arial"/>
              <a:cs typeface="Arial"/>
              <a:sym typeface="Arial"/>
            </a:endParaRPr>
          </a:p>
        </p:txBody>
      </p:sp>
      <p:sp>
        <p:nvSpPr>
          <p:cNvPr id="755" name="Google Shape;755;p68"/>
          <p:cNvSpPr txBox="1"/>
          <p:nvPr/>
        </p:nvSpPr>
        <p:spPr>
          <a:xfrm>
            <a:off x="486000" y="935999"/>
            <a:ext cx="6255600" cy="1370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write an algebraic expression to represent the total width of some number of planks.</a:t>
            </a:r>
            <a:endParaRPr b="0" i="0" sz="1400" u="none" cap="none" strike="noStrike">
              <a:solidFill>
                <a:srgbClr val="000000"/>
              </a:solidFill>
              <a:latin typeface="Arial"/>
              <a:ea typeface="Arial"/>
              <a:cs typeface="Arial"/>
              <a:sym typeface="Arial"/>
            </a:endParaRPr>
          </a:p>
        </p:txBody>
      </p:sp>
      <p:sp>
        <p:nvSpPr>
          <p:cNvPr id="756" name="Google Shape;756;p68"/>
          <p:cNvSpPr/>
          <p:nvPr/>
        </p:nvSpPr>
        <p:spPr>
          <a:xfrm>
            <a:off x="486000" y="2498102"/>
            <a:ext cx="531291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do you know about the total width of the planks needed to build the door?</a:t>
            </a:r>
            <a:endParaRPr b="0" i="0" sz="2800" u="none" cap="none" strike="noStrike">
              <a:solidFill>
                <a:schemeClr val="dk1"/>
              </a:solidFill>
              <a:latin typeface="Arial"/>
              <a:ea typeface="Arial"/>
              <a:cs typeface="Arial"/>
              <a:sym typeface="Arial"/>
            </a:endParaRPr>
          </a:p>
        </p:txBody>
      </p:sp>
      <p:pic>
        <p:nvPicPr>
          <p:cNvPr descr="C:\Users\HP\Desktop\Grade_6_Unit_8\OPS\img\.assets\62d0e5424f284377a1156e1a8effd79d\narm24_c10801_se_001a-dig-eps.png" id="757" name="Google Shape;757;p68"/>
          <p:cNvPicPr preferRelativeResize="0"/>
          <p:nvPr/>
        </p:nvPicPr>
        <p:blipFill rotWithShape="1">
          <a:blip r:embed="rId2">
            <a:alphaModFix/>
          </a:blip>
          <a:srcRect b="0" l="0" r="0" t="0"/>
          <a:stretch/>
        </p:blipFill>
        <p:spPr>
          <a:xfrm>
            <a:off x="9007435" y="1296485"/>
            <a:ext cx="2505075" cy="3952875"/>
          </a:xfrm>
          <a:prstGeom prst="rect">
            <a:avLst/>
          </a:prstGeom>
          <a:noFill/>
          <a:ln>
            <a:noFill/>
          </a:ln>
        </p:spPr>
      </p:pic>
      <p:pic>
        <p:nvPicPr>
          <p:cNvPr descr="C:\Users\HP\Desktop\Grade_6_Unit_8\OPS\img\.assets\109a55ad287b438c97c7114615d87cf2\narm24_c10801_esp_002a.png" id="758" name="Google Shape;758;p68"/>
          <p:cNvPicPr preferRelativeResize="0"/>
          <p:nvPr/>
        </p:nvPicPr>
        <p:blipFill rotWithShape="1">
          <a:blip r:embed="rId3">
            <a:alphaModFix/>
          </a:blip>
          <a:srcRect b="0" l="0" r="0" t="0"/>
          <a:stretch/>
        </p:blipFill>
        <p:spPr>
          <a:xfrm>
            <a:off x="6224747" y="3259209"/>
            <a:ext cx="2619375" cy="1247775"/>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55</a:t>
            </a:r>
          </a:p>
        </p:txBody>
      </p:sp>
      <p:sp xmlns:p="http://schemas.openxmlformats.org/presentationml/2006/main" xmlns:a="http://schemas.openxmlformats.org/drawingml/2006/main">
        <p:nvSpPr>
          <p:cNvPr id="759"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An equation states that two expressions are: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Opposites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Equal to each other</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Inequalities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Fractions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solution to an equation is a value that makes it:</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Equal to zero</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True</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Undefined</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Negative</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Is x = 5 a solution to x + 7 = 12?</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Yes (5 + 7 = 12)</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if x is 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Cannot tell</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Is y = 4 a solution to 3y = 15?</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Yes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 (3 × 4 = 12 ≠ 15)</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Always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in fractions</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55</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8-1 · Understand Equations and Their Solutions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Equation Definition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mathematical statement asserting that two </a:t>
            </a:r>
            <a:r>
              <a:rPr b="1" i="0" lang="en-US" sz="1450" u="none" cap="none" strike="noStrike">
                <a:solidFill>
                  <a:srgbClr val="475569"/>
                </a:solidFill>
                <a:latin typeface="Arial"/>
                <a:ea typeface="Arial"/>
                <a:cs typeface="Arial"/>
                <a:sym typeface="Arial"/>
              </a:rPr>
              <a:t xml:space="preserve">expressions</a:t>
            </a:r>
            <a:r>
              <a:rPr b="0" i="0" lang="en-US" sz="1450" u="none" cap="none" strike="noStrike">
                <a:solidFill>
                  <a:srgbClr val="475569"/>
                </a:solidFill>
                <a:latin typeface="Arial"/>
                <a:ea typeface="Arial"/>
                <a:cs typeface="Arial"/>
                <a:sym typeface="Arial"/>
              </a:rPr>
              <a:t xml:space="preserve"> have equal value, linked by =.</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Solution of an Equation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Any numerical value for the </a:t>
            </a:r>
            <a:r>
              <a:rPr b="1" i="0" lang="en-US" sz="1450" u="none" cap="none" strike="noStrike">
                <a:solidFill>
                  <a:srgbClr val="475569"/>
                </a:solidFill>
                <a:latin typeface="Arial"/>
                <a:ea typeface="Arial"/>
                <a:cs typeface="Arial"/>
                <a:sym typeface="Arial"/>
              </a:rPr>
              <a:t xml:space="preserve">variable</a:t>
            </a:r>
            <a:r>
              <a:rPr b="0" i="0" lang="en-US" sz="1450" u="none" cap="none" strike="noStrike">
                <a:solidFill>
                  <a:srgbClr val="475569"/>
                </a:solidFill>
                <a:latin typeface="Arial"/>
                <a:ea typeface="Arial"/>
                <a:cs typeface="Arial"/>
                <a:sym typeface="Arial"/>
              </a:rPr>
              <a:t xml:space="preserve"> that makes the </a:t>
            </a:r>
            <a:r>
              <a:rPr b="1" i="0" lang="en-US" sz="1450" u="none" cap="none" strike="noStrike">
                <a:solidFill>
                  <a:srgbClr val="475569"/>
                </a:solidFill>
                <a:latin typeface="Arial"/>
                <a:ea typeface="Arial"/>
                <a:cs typeface="Arial"/>
                <a:sym typeface="Arial"/>
              </a:rPr>
              <a:t xml:space="preserve">equation</a:t>
            </a:r>
            <a:r>
              <a:rPr b="0" i="0" lang="en-US" sz="1450" u="none" cap="none" strike="noStrike">
                <a:solidFill>
                  <a:srgbClr val="475569"/>
                </a:solidFill>
                <a:latin typeface="Arial"/>
                <a:ea typeface="Arial"/>
                <a:cs typeface="Arial"/>
                <a:sym typeface="Arial"/>
              </a:rPr>
              <a:t xml:space="preserve"> a true statement.</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Substitution Check</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Verify </a:t>
            </a:r>
            <a:r>
              <a:rPr b="1" i="0" lang="en-US" sz="1450" u="none" cap="none" strike="noStrike">
                <a:solidFill>
                  <a:srgbClr val="475569"/>
                </a:solidFill>
                <a:latin typeface="Arial"/>
                <a:ea typeface="Arial"/>
                <a:cs typeface="Arial"/>
                <a:sym typeface="Arial"/>
              </a:rPr>
              <a:t xml:space="preserve">solutions</a:t>
            </a:r>
            <a:r>
              <a:rPr b="0" i="0" lang="en-US" sz="1450" u="none" cap="none" strike="noStrike">
                <a:solidFill>
                  <a:srgbClr val="475569"/>
                </a:solidFill>
                <a:latin typeface="Arial"/>
                <a:ea typeface="Arial"/>
                <a:cs typeface="Arial"/>
                <a:sym typeface="Arial"/>
              </a:rPr>
              <a:t xml:space="preserve"> by replacing variable with candidate value and checking if Left Side = Right Side.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55</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8"/>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Understand Equations and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Their Solutions</a:t>
            </a:r>
            <a:endParaRPr b="0" i="0" sz="1400" u="none" cap="none" strike="noStrike">
              <a:solidFill>
                <a:srgbClr val="000000"/>
              </a:solidFill>
              <a:latin typeface="Arial"/>
              <a:ea typeface="Arial"/>
              <a:cs typeface="Arial"/>
              <a:sym typeface="Arial"/>
            </a:endParaRPr>
          </a:p>
        </p:txBody>
      </p:sp>
      <p:sp>
        <p:nvSpPr>
          <p:cNvPr id="865" name="Google Shape;865;p78"/>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66" name="Google Shape;866;p78"/>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55</a:t>
            </a:r>
          </a:p>
        </p:txBody>
      </p:sp>
      <p:grpSp>
        <p:nvGrpSpPr>
          <p:cNvPr id="868" name="TEACH-2-student-move" descr="TEACH 2 · Use strategies and tasks to engage students in rigorous work"/>
          <p:cNvGrpSpPr/>
          <p:nvPr/>
        </p:nvGrpSpPr>
        <p:grpSpPr>
          <a:xfrm>
            <a:off x="502920" y="3867612"/>
            <a:ext cx="11186160" cy="731520"/>
            <a:chOff x="502920" y="3867612"/>
            <a:chExt cx="11186160" cy="731520"/>
          </a:xfrm>
        </p:grpSpPr>
        <p:sp>
          <p:nvSpPr>
            <p:cNvPr id="869"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70"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71"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cxnSp>
        <p:nvCxnSpPr>
          <p:cNvPr id="919" name="Google Shape;919;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0" name="Google Shape;920;p83"/>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921" name="Google Shape;921;p83"/>
          <p:cNvSpPr txBox="1"/>
          <p:nvPr/>
        </p:nvSpPr>
        <p:spPr>
          <a:xfrm>
            <a:off x="486000" y="936000"/>
            <a:ext cx="6932895" cy="25980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workers in a middle school cafeteria cooked 50 pounds of broccoli. A certain amount of broccoli was consumed at lunch and at the end of the school day, there were 19 pounds of broccoli remaining. How can you determine the amount of broccoli that was consumed at lunch?</a:t>
            </a:r>
            <a:endParaRPr b="0" i="0" sz="1400" u="none" cap="none" strike="noStrike">
              <a:solidFill>
                <a:srgbClr val="000000"/>
              </a:solidFill>
              <a:latin typeface="Arial"/>
              <a:ea typeface="Arial"/>
              <a:cs typeface="Arial"/>
              <a:sym typeface="Arial"/>
            </a:endParaRPr>
          </a:p>
        </p:txBody>
      </p:sp>
      <p:sp>
        <p:nvSpPr>
          <p:cNvPr id="922" name="Google Shape;922;p83"/>
          <p:cNvSpPr txBox="1"/>
          <p:nvPr/>
        </p:nvSpPr>
        <p:spPr>
          <a:xfrm>
            <a:off x="484565" y="4191577"/>
            <a:ext cx="72627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are the quantities in the problem? Which of the quantities is unknown?</a:t>
            </a:r>
            <a:endParaRPr b="1" i="0" sz="2800" u="none" cap="none" strike="noStrike">
              <a:solidFill>
                <a:schemeClr val="dk1"/>
              </a:solidFill>
              <a:latin typeface="Arial"/>
              <a:ea typeface="Arial"/>
              <a:cs typeface="Arial"/>
              <a:sym typeface="Arial"/>
            </a:endParaRPr>
          </a:p>
        </p:txBody>
      </p:sp>
      <p:pic>
        <p:nvPicPr>
          <p:cNvPr id="923" name="Google Shape;923;p83"/>
          <p:cNvPicPr preferRelativeResize="0"/>
          <p:nvPr/>
        </p:nvPicPr>
        <p:blipFill rotWithShape="1">
          <a:blip r:embed="rId3">
            <a:alphaModFix/>
          </a:blip>
          <a:srcRect b="0" l="0" r="0" t="0"/>
          <a:stretch/>
        </p:blipFill>
        <p:spPr>
          <a:xfrm>
            <a:off x="7922450" y="1400913"/>
            <a:ext cx="3962659" cy="2701328"/>
          </a:xfrm>
          <a:prstGeom prst="rect">
            <a:avLst/>
          </a:prstGeom>
          <a:noFill/>
          <a:ln>
            <a:noFill/>
          </a:ln>
        </p:spPr>
      </p:pic>
      <p:sp>
        <p:nvSpPr>
          <p:cNvPr id="9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55</a:t>
            </a:r>
          </a:p>
        </p:txBody>
      </p:sp>
      <p:sp xmlns:p="http://schemas.openxmlformats.org/presentationml/2006/main" xmlns:a="http://schemas.openxmlformats.org/drawingml/2006/main">
        <p:nvSpPr>
          <p:cNvPr id="92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cxnSp>
        <p:nvCxnSpPr>
          <p:cNvPr id="928" name="Google Shape;928;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9" name="Google Shape;929;p84"/>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930" name="Google Shape;930;p84"/>
          <p:cNvSpPr txBox="1"/>
          <p:nvPr/>
        </p:nvSpPr>
        <p:spPr>
          <a:xfrm>
            <a:off x="484565" y="936000"/>
            <a:ext cx="687776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the quantities in the problem? Which of the quantities is unknown?</a:t>
            </a:r>
            <a:endParaRPr b="1" i="0" sz="2800" u="none" cap="none" strike="noStrike">
              <a:solidFill>
                <a:schemeClr val="dk1"/>
              </a:solidFill>
              <a:latin typeface="Arial"/>
              <a:ea typeface="Arial"/>
              <a:cs typeface="Arial"/>
              <a:sym typeface="Arial"/>
            </a:endParaRPr>
          </a:p>
        </p:txBody>
      </p:sp>
      <p:sp>
        <p:nvSpPr>
          <p:cNvPr id="931" name="Google Shape;931;p84"/>
          <p:cNvSpPr txBox="1"/>
          <p:nvPr/>
        </p:nvSpPr>
        <p:spPr>
          <a:xfrm>
            <a:off x="486000" y="2673862"/>
            <a:ext cx="6970757" cy="33027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quantities are the amount of broccoli that was cooked at the start of the day, the amount of broccoli that was consumed, and the amount of broccoli remaining at the end of the day. The amount of broccoli consumed is unknown.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0070C0"/>
              </a:solidFill>
              <a:latin typeface="Arial"/>
              <a:ea typeface="Arial"/>
              <a:cs typeface="Arial"/>
              <a:sym typeface="Arial"/>
            </a:endParaRPr>
          </a:p>
        </p:txBody>
      </p:sp>
      <p:pic>
        <p:nvPicPr>
          <p:cNvPr id="932" name="Google Shape;932;p84"/>
          <p:cNvPicPr preferRelativeResize="0"/>
          <p:nvPr/>
        </p:nvPicPr>
        <p:blipFill rotWithShape="1">
          <a:blip r:embed="rId3">
            <a:alphaModFix/>
          </a:blip>
          <a:srcRect b="0" l="0" r="0" t="0"/>
          <a:stretch/>
        </p:blipFill>
        <p:spPr>
          <a:xfrm>
            <a:off x="7922450" y="1400913"/>
            <a:ext cx="3962659" cy="2701328"/>
          </a:xfrm>
          <a:prstGeom prst="rect">
            <a:avLst/>
          </a:prstGeom>
          <a:noFill/>
          <a:ln>
            <a:noFill/>
          </a:ln>
        </p:spPr>
      </p:pic>
      <p:sp>
        <p:nvSpPr>
          <p:cNvPr id="9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55</a:t>
            </a:r>
          </a:p>
        </p:txBody>
      </p:sp>
      <p:sp>
        <p:nvSpPr>
          <p:cNvPr id="934" name="EWL-COVER-1"/>
          <p:cNvSpPr/>
          <p:nvPr/>
        </p:nvSpPr>
        <p:spPr>
          <a:xfrm>
            <a:off x="431136" y="2618998"/>
            <a:ext cx="7080485" cy="3435075"/>
          </a:xfrm>
          <a:prstGeom prst="rect">
            <a:avLst/>
          </a:prstGeom>
          <a:solidFill>
            <a:srgbClr val="FFFFFF"/>
          </a:solidFill>
          <a:ln>
            <a:noFill/>
          </a:ln>
        </p:spPr>
        <p:txBody>
          <a:bodyPr/>
          <a:lstStyle/>
          <a:p/>
        </p:txBody>
      </p:sp>
      <p:grpSp>
        <p:nvGrpSpPr>
          <p:cNvPr id="935" name="TEACH-3-student-move" descr="TEACH 3 · Use intentional questioning to deepen learning"/>
          <p:cNvGrpSpPr/>
          <p:nvPr/>
        </p:nvGrpSpPr>
        <p:grpSpPr>
          <a:xfrm>
            <a:off x="502920" y="1997206"/>
            <a:ext cx="5501640" cy="594360"/>
            <a:chOff x="502920" y="1997206"/>
            <a:chExt cx="5501640" cy="594360"/>
          </a:xfrm>
        </p:grpSpPr>
        <p:sp>
          <p:nvSpPr>
            <p:cNvPr id="936" name="TEACH-move-card"/>
            <p:cNvSpPr/>
            <p:nvPr/>
          </p:nvSpPr>
          <p:spPr>
            <a:xfrm>
              <a:off x="502920" y="199720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37" name="TEACH-move-rule"/>
            <p:cNvSpPr/>
            <p:nvPr/>
          </p:nvSpPr>
          <p:spPr>
            <a:xfrm>
              <a:off x="548640" y="2110134"/>
              <a:ext cx="100584" cy="368504"/>
            </a:xfrm>
            <a:prstGeom prst="roundRect">
              <a:avLst>
                <a:gd name="adj" fmla="val 50000"/>
              </a:avLst>
            </a:prstGeom>
            <a:solidFill>
              <a:srgbClr val="01708C"/>
            </a:solidFill>
            <a:ln>
              <a:noFill/>
            </a:ln>
          </p:spPr>
          <p:txBody>
            <a:bodyPr/>
            <a:lstStyle/>
            <a:p>
              <a:endParaRPr/>
            </a:p>
          </p:txBody>
        </p:sp>
        <p:sp>
          <p:nvSpPr>
            <p:cNvPr id="938" name="TEACH-move-text"/>
            <p:cNvSpPr txBox="1"/>
            <p:nvPr/>
          </p:nvSpPr>
          <p:spPr>
            <a:xfrm>
              <a:off x="822960" y="199720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cxnSp>
        <p:nvCxnSpPr>
          <p:cNvPr id="948" name="Google Shape;948;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9" name="Google Shape;949;p86"/>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950" name="Google Shape;950;p86"/>
          <p:cNvSpPr txBox="1"/>
          <p:nvPr/>
        </p:nvSpPr>
        <p:spPr>
          <a:xfrm>
            <a:off x="486000" y="936000"/>
            <a:ext cx="6646320" cy="6333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quantities in the problem are:</a:t>
            </a:r>
            <a:endParaRPr b="0" i="0" sz="1400" u="none" cap="none" strike="noStrike">
              <a:solidFill>
                <a:srgbClr val="000000"/>
              </a:solidFill>
              <a:latin typeface="Arial"/>
              <a:ea typeface="Arial"/>
              <a:cs typeface="Arial"/>
              <a:sym typeface="Arial"/>
            </a:endParaRPr>
          </a:p>
        </p:txBody>
      </p:sp>
      <p:sp>
        <p:nvSpPr>
          <p:cNvPr id="951" name="Google Shape;951;p86"/>
          <p:cNvSpPr txBox="1"/>
          <p:nvPr/>
        </p:nvSpPr>
        <p:spPr>
          <a:xfrm>
            <a:off x="484565" y="4252612"/>
            <a:ext cx="1093572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relationship between the quantities algebraically?</a:t>
            </a:r>
            <a:endParaRPr b="1" i="0" sz="2800" u="none" cap="none" strike="noStrike">
              <a:solidFill>
                <a:schemeClr val="dk1"/>
              </a:solidFill>
              <a:latin typeface="Arial"/>
              <a:ea typeface="Arial"/>
              <a:cs typeface="Arial"/>
              <a:sym typeface="Arial"/>
            </a:endParaRPr>
          </a:p>
        </p:txBody>
      </p:sp>
      <p:sp>
        <p:nvSpPr>
          <p:cNvPr id="952" name="Google Shape;952;p86"/>
          <p:cNvSpPr/>
          <p:nvPr/>
        </p:nvSpPr>
        <p:spPr>
          <a:xfrm>
            <a:off x="486000" y="1605170"/>
            <a:ext cx="11221435" cy="1815882"/>
          </a:xfrm>
          <a:prstGeom prst="rect">
            <a:avLst/>
          </a:prstGeom>
          <a:noFill/>
          <a:ln>
            <a:noFill/>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amount of broccoli that was consumed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amount of broccoli that was cooked at the start of the day, 50 pounds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amount of broccoli remaining at the end of the day, 19 pounds</a:t>
            </a:r>
            <a:endParaRPr b="0" i="0" sz="1400" u="none" cap="none" strike="noStrike">
              <a:solidFill>
                <a:srgbClr val="000000"/>
              </a:solidFill>
              <a:latin typeface="Arial"/>
              <a:ea typeface="Arial"/>
              <a:cs typeface="Arial"/>
              <a:sym typeface="Arial"/>
            </a:endParaRPr>
          </a:p>
        </p:txBody>
      </p:sp>
      <p:sp>
        <p:nvSpPr>
          <p:cNvPr id="953" name="Google Shape;953;p86"/>
          <p:cNvSpPr txBox="1"/>
          <p:nvPr/>
        </p:nvSpPr>
        <p:spPr>
          <a:xfrm>
            <a:off x="486000" y="5330535"/>
            <a:ext cx="7241430" cy="10594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an equation.</a:t>
            </a:r>
            <a:endParaRPr b="1" i="0" sz="2800" u="none" cap="none" strike="noStrike">
              <a:solidFill>
                <a:srgbClr val="595959"/>
              </a:solidFill>
              <a:latin typeface="Arial"/>
              <a:ea typeface="Arial"/>
              <a:cs typeface="Arial"/>
              <a:sym typeface="Arial"/>
            </a:endParaRPr>
          </a:p>
        </p:txBody>
      </p:sp>
      <p:sp>
        <p:nvSpPr>
          <p:cNvPr id="954" name="Google Shape;954;p86"/>
          <p:cNvSpPr/>
          <p:nvPr/>
        </p:nvSpPr>
        <p:spPr>
          <a:xfrm>
            <a:off x="484565" y="3579620"/>
            <a:ext cx="760336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amount of broccoli consumed is unknown.</a:t>
            </a:r>
            <a:endParaRPr b="0" i="0" sz="2800" u="none" cap="none" strike="noStrike">
              <a:solidFill>
                <a:schemeClr val="dk1"/>
              </a:solidFill>
              <a:latin typeface="Arial"/>
              <a:ea typeface="Arial"/>
              <a:cs typeface="Arial"/>
              <a:sym typeface="Arial"/>
            </a:endParaRPr>
          </a:p>
        </p:txBody>
      </p:sp>
      <p:sp>
        <p:nvSpPr>
          <p:cNvPr id="9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55</a:t>
            </a:r>
          </a:p>
        </p:txBody>
      </p:sp>
      <p:sp>
        <p:nvSpPr>
          <p:cNvPr id="956" name="EWL-COVER-1"/>
          <p:cNvSpPr/>
          <p:nvPr/>
        </p:nvSpPr>
        <p:spPr>
          <a:xfrm>
            <a:off x="431136" y="5275671"/>
            <a:ext cx="7351158" cy="116920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cxnSp>
        <p:nvCxnSpPr>
          <p:cNvPr id="971" name="Google Shape;971;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2" name="Google Shape;972;p88"/>
          <p:cNvSpPr txBox="1"/>
          <p:nvPr/>
        </p:nvSpPr>
        <p:spPr>
          <a:xfrm>
            <a:off x="486000" y="936101"/>
            <a:ext cx="5693813" cy="5590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quantities in the problem are:</a:t>
            </a:r>
            <a:endParaRPr b="0" i="0" sz="1400" u="none" cap="none" strike="noStrike">
              <a:solidFill>
                <a:srgbClr val="000000"/>
              </a:solidFill>
              <a:latin typeface="Arial"/>
              <a:ea typeface="Arial"/>
              <a:cs typeface="Arial"/>
              <a:sym typeface="Arial"/>
            </a:endParaRPr>
          </a:p>
        </p:txBody>
      </p:sp>
      <p:sp>
        <p:nvSpPr>
          <p:cNvPr id="973" name="Google Shape;973;p88"/>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74" name="Google Shape;974;p88"/>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975" name="Google Shape;975;p88"/>
          <p:cNvSpPr txBox="1"/>
          <p:nvPr/>
        </p:nvSpPr>
        <p:spPr>
          <a:xfrm>
            <a:off x="486000" y="4263848"/>
            <a:ext cx="1087264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equation represents the relationship between the quantities? Be sure to define any variables you use.</a:t>
            </a:r>
            <a:endParaRPr b="1" i="0" sz="2800" u="none" cap="none" strike="noStrike">
              <a:solidFill>
                <a:schemeClr val="dk1"/>
              </a:solidFill>
              <a:latin typeface="Arial"/>
              <a:ea typeface="Arial"/>
              <a:cs typeface="Arial"/>
              <a:sym typeface="Arial"/>
            </a:endParaRPr>
          </a:p>
        </p:txBody>
      </p:sp>
      <p:sp>
        <p:nvSpPr>
          <p:cNvPr id="976" name="Google Shape;976;p88"/>
          <p:cNvSpPr/>
          <p:nvPr/>
        </p:nvSpPr>
        <p:spPr>
          <a:xfrm>
            <a:off x="486000" y="1613118"/>
            <a:ext cx="11047239" cy="1815882"/>
          </a:xfrm>
          <a:prstGeom prst="rect">
            <a:avLst/>
          </a:prstGeom>
          <a:noFill/>
          <a:ln>
            <a:noFill/>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amount of broccoli that was consumed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amount of broccoli remaining at the end of the day, 19 pounds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the amount of broccoli that was cooked at the start of the day, 50 pounds</a:t>
            </a:r>
            <a:endParaRPr b="0" i="0" sz="1400" u="none" cap="none" strike="noStrike">
              <a:solidFill>
                <a:srgbClr val="000000"/>
              </a:solidFill>
              <a:latin typeface="Arial"/>
              <a:ea typeface="Arial"/>
              <a:cs typeface="Arial"/>
              <a:sym typeface="Arial"/>
            </a:endParaRPr>
          </a:p>
        </p:txBody>
      </p:sp>
      <p:sp>
        <p:nvSpPr>
          <p:cNvPr id="977" name="Google Shape;977;p88"/>
          <p:cNvSpPr/>
          <p:nvPr/>
        </p:nvSpPr>
        <p:spPr>
          <a:xfrm>
            <a:off x="486000" y="3608242"/>
            <a:ext cx="760336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amount of broccoli consumed is unknown.</a:t>
            </a:r>
            <a:endParaRPr b="0" i="0" sz="2800" u="none" cap="none" strike="noStrike">
              <a:solidFill>
                <a:schemeClr val="dk1"/>
              </a:solidFill>
              <a:latin typeface="Arial"/>
              <a:ea typeface="Arial"/>
              <a:cs typeface="Arial"/>
              <a:sym typeface="Arial"/>
            </a:endParaRPr>
          </a:p>
        </p:txBody>
      </p:sp>
      <p:sp>
        <p:nvSpPr>
          <p:cNvPr id="978" name="Google Shape;978;p88"/>
          <p:cNvSpPr txBox="1"/>
          <p:nvPr/>
        </p:nvSpPr>
        <p:spPr>
          <a:xfrm>
            <a:off x="485999" y="5220000"/>
            <a:ext cx="9485903" cy="1097993"/>
          </a:xfrm>
          <a:prstGeom prst="rect">
            <a:avLst/>
          </a:prstGeom>
          <a:blipFill rotWithShape="1">
            <a:blip r:embed="rId4">
              <a:alphaModFix/>
            </a:blip>
            <a:stretch>
              <a:fillRect b="-8333" l="-1350" r="0" t="-55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55</a:t>
            </a:r>
          </a:p>
        </p:txBody>
      </p:sp>
      <p:sp>
        <p:nvSpPr>
          <p:cNvPr id="98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cxnSp>
        <p:nvCxnSpPr>
          <p:cNvPr id="1010" name="Google Shape;1010;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1" name="Google Shape;1011;p92"/>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1012" name="Google Shape;1012;p92"/>
          <p:cNvSpPr txBox="1"/>
          <p:nvPr/>
        </p:nvSpPr>
        <p:spPr>
          <a:xfrm>
            <a:off x="512644" y="5211813"/>
            <a:ext cx="9619897" cy="10654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can estimating help you solve an equation?</a:t>
            </a:r>
            <a:endParaRPr b="0" i="0" sz="1400" u="none" cap="none" strike="noStrike">
              <a:solidFill>
                <a:srgbClr val="000000"/>
              </a:solidFill>
              <a:latin typeface="Arial"/>
              <a:ea typeface="Arial"/>
              <a:cs typeface="Arial"/>
              <a:sym typeface="Arial"/>
            </a:endParaRPr>
          </a:p>
        </p:txBody>
      </p:sp>
      <p:sp>
        <p:nvSpPr>
          <p:cNvPr id="1013" name="Google Shape;1013;p92"/>
          <p:cNvSpPr txBox="1"/>
          <p:nvPr/>
        </p:nvSpPr>
        <p:spPr>
          <a:xfrm>
            <a:off x="486000" y="2941537"/>
            <a:ext cx="920512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determine the value of the unknown?</a:t>
            </a:r>
            <a:endParaRPr b="1" i="0" sz="2800" u="none" cap="none" strike="noStrike">
              <a:solidFill>
                <a:schemeClr val="dk1"/>
              </a:solidFill>
              <a:latin typeface="Arial"/>
              <a:ea typeface="Arial"/>
              <a:cs typeface="Arial"/>
              <a:sym typeface="Arial"/>
            </a:endParaRPr>
          </a:p>
        </p:txBody>
      </p:sp>
      <p:pic>
        <p:nvPicPr>
          <p:cNvPr descr="C:\Users\HP\Desktop\Grade_6_Unit_8\OPS\img\.assets\75c6f5043e394ec9918b68869b04f0ff\narm24_c10801_ebk_001a-eps.png" id="1014" name="Google Shape;1014;p92"/>
          <p:cNvPicPr preferRelativeResize="0"/>
          <p:nvPr/>
        </p:nvPicPr>
        <p:blipFill rotWithShape="1">
          <a:blip r:embed="rId3">
            <a:alphaModFix/>
          </a:blip>
          <a:srcRect b="0" l="0" r="0" t="0"/>
          <a:stretch/>
        </p:blipFill>
        <p:spPr>
          <a:xfrm>
            <a:off x="1127022" y="1351990"/>
            <a:ext cx="6619875" cy="1343025"/>
          </a:xfrm>
          <a:prstGeom prst="rect">
            <a:avLst/>
          </a:prstGeom>
          <a:noFill/>
          <a:ln>
            <a:noFill/>
          </a:ln>
        </p:spPr>
      </p:pic>
      <p:sp>
        <p:nvSpPr>
          <p:cNvPr id="10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55</a:t>
            </a:r>
          </a:p>
        </p:txBody>
      </p:sp>
      <p:sp xmlns:p="http://schemas.openxmlformats.org/presentationml/2006/main" xmlns:a="http://schemas.openxmlformats.org/drawingml/2006/main">
        <p:nvSpPr>
          <p:cNvPr id="1016"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how your equation represents the situation. Check the result.</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cxnSp>
        <p:nvCxnSpPr>
          <p:cNvPr id="1033" name="Google Shape;103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4" name="Google Shape;1034;p94"/>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1035" name="Google Shape;1035;p94"/>
          <p:cNvSpPr txBox="1"/>
          <p:nvPr/>
        </p:nvSpPr>
        <p:spPr>
          <a:xfrm>
            <a:off x="486000" y="936000"/>
            <a:ext cx="5579234" cy="855730"/>
          </a:xfrm>
          <a:prstGeom prst="rect">
            <a:avLst/>
          </a:prstGeom>
          <a:blipFill rotWithShape="1">
            <a:blip r:embed="rId3">
              <a:alphaModFix/>
            </a:blip>
            <a:stretch>
              <a:fillRect b="-30714" l="-2296" r="0" t="-78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6" name="Google Shape;1036;p94"/>
          <p:cNvSpPr txBox="1"/>
          <p:nvPr/>
        </p:nvSpPr>
        <p:spPr>
          <a:xfrm>
            <a:off x="486000" y="3361390"/>
            <a:ext cx="557923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determine another number to try?</a:t>
            </a:r>
            <a:endParaRPr b="1" i="0" sz="2800" u="none" cap="none" strike="noStrike">
              <a:solidFill>
                <a:schemeClr val="dk1"/>
              </a:solidFill>
              <a:latin typeface="Arial"/>
              <a:ea typeface="Arial"/>
              <a:cs typeface="Arial"/>
              <a:sym typeface="Arial"/>
            </a:endParaRPr>
          </a:p>
        </p:txBody>
      </p:sp>
      <p:sp>
        <p:nvSpPr>
          <p:cNvPr id="1037" name="Google Shape;1037;p94"/>
          <p:cNvSpPr txBox="1"/>
          <p:nvPr/>
        </p:nvSpPr>
        <p:spPr>
          <a:xfrm>
            <a:off x="484565" y="4623273"/>
            <a:ext cx="7882048" cy="14684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try 31, because we need to take 1 more away from 50 to get to 19.</a:t>
            </a:r>
            <a:endParaRPr b="1" i="0" sz="2800" u="none" cap="none" strike="noStrike">
              <a:solidFill>
                <a:srgbClr val="595959"/>
              </a:solidFill>
              <a:latin typeface="Arial"/>
              <a:ea typeface="Arial"/>
              <a:cs typeface="Arial"/>
              <a:sym typeface="Arial"/>
            </a:endParaRPr>
          </a:p>
        </p:txBody>
      </p:sp>
      <p:sp>
        <p:nvSpPr>
          <p:cNvPr id="1038" name="Google Shape;1038;p94"/>
          <p:cNvSpPr/>
          <p:nvPr/>
        </p:nvSpPr>
        <p:spPr>
          <a:xfrm>
            <a:off x="486000" y="2099507"/>
            <a:ext cx="5726264" cy="954107"/>
          </a:xfrm>
          <a:prstGeom prst="rect">
            <a:avLst/>
          </a:prstGeom>
          <a:blipFill rotWithShape="1">
            <a:blip r:embed="rId4">
              <a:alphaModFix/>
            </a:blip>
            <a:stretch>
              <a:fillRect b="-16561" l="-2236" r="-3621"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9" name="Google Shape;1039;p94"/>
          <p:cNvSpPr txBox="1"/>
          <p:nvPr/>
        </p:nvSpPr>
        <p:spPr>
          <a:xfrm>
            <a:off x="6789073" y="1767793"/>
            <a:ext cx="2573390"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0" name="Google Shape;1040;p94"/>
          <p:cNvSpPr txBox="1"/>
          <p:nvPr/>
        </p:nvSpPr>
        <p:spPr>
          <a:xfrm>
            <a:off x="6789073" y="2291013"/>
            <a:ext cx="2353529"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1" name="Google Shape;1041;p94"/>
          <p:cNvSpPr txBox="1"/>
          <p:nvPr/>
        </p:nvSpPr>
        <p:spPr>
          <a:xfrm>
            <a:off x="6789073" y="2839603"/>
            <a:ext cx="3281313" cy="52322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2" name="Google Shape;1042;p94"/>
          <p:cNvSpPr/>
          <p:nvPr/>
        </p:nvSpPr>
        <p:spPr>
          <a:xfrm>
            <a:off x="6789073" y="3365360"/>
            <a:ext cx="512934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30 does not make the equation true.</a:t>
            </a:r>
            <a:endParaRPr b="0" i="0" sz="2800" u="none" cap="none" strike="noStrike">
              <a:solidFill>
                <a:schemeClr val="dk1"/>
              </a:solidFill>
              <a:latin typeface="Arial"/>
              <a:ea typeface="Arial"/>
              <a:cs typeface="Arial"/>
              <a:sym typeface="Arial"/>
            </a:endParaRPr>
          </a:p>
        </p:txBody>
      </p:sp>
      <p:sp>
        <p:nvSpPr>
          <p:cNvPr id="10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55</a:t>
            </a:r>
          </a:p>
        </p:txBody>
      </p:sp>
      <p:sp>
        <p:nvSpPr>
          <p:cNvPr id="1044" name="EWL-COVER-1"/>
          <p:cNvSpPr/>
          <p:nvPr/>
        </p:nvSpPr>
        <p:spPr>
          <a:xfrm>
            <a:off x="429701" y="4568409"/>
            <a:ext cx="7991776" cy="1578163"/>
          </a:xfrm>
          <a:prstGeom prst="rect">
            <a:avLst/>
          </a:prstGeom>
          <a:solidFill>
            <a:srgbClr val="FFFFFF"/>
          </a:solidFill>
          <a:ln>
            <a:noFill/>
          </a:ln>
        </p:spPr>
        <p:txBody>
          <a:bodyPr/>
          <a:lstStyle/>
          <a:p/>
        </p:txBody>
      </p:sp>
      <p:grpSp>
        <p:nvGrpSpPr>
          <p:cNvPr id="1045" name="TEACH-2-student-move" descr="TEACH 2 · Use strategies and tasks to engage students in rigorous work"/>
          <p:cNvGrpSpPr/>
          <p:nvPr/>
        </p:nvGrpSpPr>
        <p:grpSpPr>
          <a:xfrm>
            <a:off x="6187440" y="1091137"/>
            <a:ext cx="5501640" cy="594360"/>
            <a:chOff x="6187440" y="1091137"/>
            <a:chExt cx="5501640" cy="594360"/>
          </a:xfrm>
        </p:grpSpPr>
        <p:sp>
          <p:nvSpPr>
            <p:cNvPr id="1046" name="TEACH-move-card"/>
            <p:cNvSpPr/>
            <p:nvPr/>
          </p:nvSpPr>
          <p:spPr>
            <a:xfrm>
              <a:off x="6187440" y="109113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47" name="TEACH-move-rule"/>
            <p:cNvSpPr/>
            <p:nvPr/>
          </p:nvSpPr>
          <p:spPr>
            <a:xfrm>
              <a:off x="6233160" y="1204065"/>
              <a:ext cx="100584" cy="368504"/>
            </a:xfrm>
            <a:prstGeom prst="roundRect">
              <a:avLst>
                <a:gd name="adj" fmla="val 50000"/>
              </a:avLst>
            </a:prstGeom>
            <a:solidFill>
              <a:srgbClr val="01708C"/>
            </a:solidFill>
            <a:ln>
              <a:noFill/>
            </a:ln>
          </p:spPr>
          <p:txBody>
            <a:bodyPr/>
            <a:lstStyle/>
            <a:p>
              <a:endParaRPr/>
            </a:p>
          </p:txBody>
        </p:sp>
        <p:sp>
          <p:nvSpPr>
            <p:cNvPr id="1048" name="TEACH-move-text"/>
            <p:cNvSpPr txBox="1"/>
            <p:nvPr/>
          </p:nvSpPr>
          <p:spPr>
            <a:xfrm>
              <a:off x="6507480" y="109113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cxnSp>
        <p:nvCxnSpPr>
          <p:cNvPr id="1061" name="Google Shape;1061;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2" name="Google Shape;1062;p96"/>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1063" name="Google Shape;1063;p96"/>
          <p:cNvSpPr txBox="1"/>
          <p:nvPr/>
        </p:nvSpPr>
        <p:spPr>
          <a:xfrm>
            <a:off x="486000" y="5220000"/>
            <a:ext cx="7713003" cy="10730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31 pounds of broccoli were consumed.</a:t>
            </a:r>
            <a:endParaRPr b="1" i="0" sz="2800" u="none" cap="none" strike="noStrike">
              <a:solidFill>
                <a:srgbClr val="595959"/>
              </a:solidFill>
              <a:latin typeface="Arial"/>
              <a:ea typeface="Arial"/>
              <a:cs typeface="Arial"/>
              <a:sym typeface="Arial"/>
            </a:endParaRPr>
          </a:p>
        </p:txBody>
      </p:sp>
      <p:sp>
        <p:nvSpPr>
          <p:cNvPr id="1064" name="Google Shape;1064;p96"/>
          <p:cNvSpPr txBox="1"/>
          <p:nvPr/>
        </p:nvSpPr>
        <p:spPr>
          <a:xfrm>
            <a:off x="486000" y="936000"/>
            <a:ext cx="4827406" cy="546811"/>
          </a:xfrm>
          <a:prstGeom prst="rect">
            <a:avLst/>
          </a:prstGeom>
          <a:blipFill rotWithShape="1">
            <a:blip r:embed="rId3">
              <a:alphaModFix/>
            </a:blip>
            <a:stretch>
              <a:fillRect b="-26967" l="-2651" r="0" t="-123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5" name="Google Shape;1065;p96"/>
          <p:cNvSpPr txBox="1"/>
          <p:nvPr/>
        </p:nvSpPr>
        <p:spPr>
          <a:xfrm>
            <a:off x="484564" y="4058382"/>
            <a:ext cx="922504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does the solution mean in the context of the situation?</a:t>
            </a:r>
            <a:endParaRPr b="1" i="0" sz="2800" u="none" cap="none" strike="noStrike">
              <a:solidFill>
                <a:schemeClr val="dk1"/>
              </a:solidFill>
              <a:latin typeface="Arial"/>
              <a:ea typeface="Arial"/>
              <a:cs typeface="Arial"/>
              <a:sym typeface="Arial"/>
            </a:endParaRPr>
          </a:p>
        </p:txBody>
      </p:sp>
      <p:sp>
        <p:nvSpPr>
          <p:cNvPr id="1066" name="Google Shape;1066;p96"/>
          <p:cNvSpPr txBox="1"/>
          <p:nvPr/>
        </p:nvSpPr>
        <p:spPr>
          <a:xfrm>
            <a:off x="681694" y="1579349"/>
            <a:ext cx="2157835"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7" name="Google Shape;1067;p96"/>
          <p:cNvSpPr txBox="1"/>
          <p:nvPr/>
        </p:nvSpPr>
        <p:spPr>
          <a:xfrm>
            <a:off x="486000" y="2199107"/>
            <a:ext cx="23535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8" name="Google Shape;1068;p96"/>
          <p:cNvSpPr txBox="1"/>
          <p:nvPr/>
        </p:nvSpPr>
        <p:spPr>
          <a:xfrm>
            <a:off x="1310777" y="2818865"/>
            <a:ext cx="1528752"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9" name="Google Shape;1069;p96"/>
          <p:cNvSpPr txBox="1"/>
          <p:nvPr/>
        </p:nvSpPr>
        <p:spPr>
          <a:xfrm>
            <a:off x="486000" y="3438623"/>
            <a:ext cx="1770613" cy="523220"/>
          </a:xfrm>
          <a:prstGeom prst="rect">
            <a:avLst/>
          </a:prstGeom>
          <a:blipFill rotWithShape="1">
            <a:blip r:embed="rId7">
              <a:alphaModFix/>
            </a:blip>
            <a:stretch>
              <a:fillRect b="-32558" l="-7241" r="0" t="-1046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8\OPS\img\.assets\75c6f5043e394ec9918b68869b04f0ff\narm24_c10801_ebk_001a-eps.png" id="1070" name="Google Shape;1070;p96"/>
          <p:cNvPicPr preferRelativeResize="0"/>
          <p:nvPr/>
        </p:nvPicPr>
        <p:blipFill rotWithShape="1">
          <a:blip r:embed="rId8">
            <a:alphaModFix/>
          </a:blip>
          <a:srcRect b="0" l="0" r="0" t="0"/>
          <a:stretch/>
        </p:blipFill>
        <p:spPr>
          <a:xfrm>
            <a:off x="4258382" y="2028955"/>
            <a:ext cx="6619875" cy="1343025"/>
          </a:xfrm>
          <a:prstGeom prst="rect">
            <a:avLst/>
          </a:prstGeom>
          <a:noFill/>
          <a:ln>
            <a:noFill/>
          </a:ln>
        </p:spPr>
      </p:pic>
      <p:sp>
        <p:nvSpPr>
          <p:cNvPr id="10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55</a:t>
            </a:r>
          </a:p>
        </p:txBody>
      </p:sp>
      <p:sp>
        <p:nvSpPr>
          <p:cNvPr id="1072" name="EWL-COVER-1"/>
          <p:cNvSpPr/>
          <p:nvPr/>
        </p:nvSpPr>
        <p:spPr>
          <a:xfrm>
            <a:off x="431136" y="5165136"/>
            <a:ext cx="7822731" cy="1182748"/>
          </a:xfrm>
          <a:prstGeom prst="rect">
            <a:avLst/>
          </a:prstGeom>
          <a:solidFill>
            <a:srgbClr val="FFFFFF"/>
          </a:solidFill>
          <a:ln>
            <a:noFill/>
          </a:ln>
        </p:spPr>
        <p:txBody>
          <a:bodyPr/>
          <a:lstStyle/>
          <a:p/>
        </p:txBody>
      </p:sp>
      <p:grpSp>
        <p:nvGrpSpPr>
          <p:cNvPr id="1073" name="TEACH-3-student-move" descr="TEACH 3 · Use intentional questioning to deepen learning"/>
          <p:cNvGrpSpPr/>
          <p:nvPr/>
        </p:nvGrpSpPr>
        <p:grpSpPr>
          <a:xfrm>
            <a:off x="6187440" y="1352299"/>
            <a:ext cx="5501640" cy="594360"/>
            <a:chOff x="6187440" y="1352299"/>
            <a:chExt cx="5501640" cy="594360"/>
          </a:xfrm>
        </p:grpSpPr>
        <p:sp>
          <p:nvSpPr>
            <p:cNvPr id="1074" name="TEACH-move-card"/>
            <p:cNvSpPr/>
            <p:nvPr/>
          </p:nvSpPr>
          <p:spPr>
            <a:xfrm>
              <a:off x="6187440" y="135229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75" name="TEACH-move-rule"/>
            <p:cNvSpPr/>
            <p:nvPr/>
          </p:nvSpPr>
          <p:spPr>
            <a:xfrm>
              <a:off x="6233160" y="1465227"/>
              <a:ext cx="100584" cy="368504"/>
            </a:xfrm>
            <a:prstGeom prst="roundRect">
              <a:avLst>
                <a:gd name="adj" fmla="val 50000"/>
              </a:avLst>
            </a:prstGeom>
            <a:solidFill>
              <a:srgbClr val="01708C"/>
            </a:solidFill>
            <a:ln>
              <a:noFill/>
            </a:ln>
          </p:spPr>
          <p:txBody>
            <a:bodyPr/>
            <a:lstStyle/>
            <a:p>
              <a:endParaRPr/>
            </a:p>
          </p:txBody>
        </p:sp>
        <p:sp>
          <p:nvSpPr>
            <p:cNvPr id="1076" name="TEACH-move-text"/>
            <p:cNvSpPr txBox="1"/>
            <p:nvPr/>
          </p:nvSpPr>
          <p:spPr>
            <a:xfrm>
              <a:off x="6507480" y="135229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cxnSp>
        <p:nvCxnSpPr>
          <p:cNvPr id="1075" name="Google Shape;1075;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6" name="Google Shape;1076;p97"/>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1077" name="Google Shape;1077;p97"/>
          <p:cNvSpPr txBox="1"/>
          <p:nvPr/>
        </p:nvSpPr>
        <p:spPr>
          <a:xfrm>
            <a:off x="486000" y="936000"/>
            <a:ext cx="6838627" cy="25816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workers in a middle school cafeteria cooked 50 pounds of broccoli. A certain amount of broccoli was consumed at lunch and at the end of the school day, there were 19 pounds of broccoli remaining.</a:t>
            </a:r>
            <a:endParaRPr b="0" i="0" sz="1400" u="none" cap="none" strike="noStrike">
              <a:solidFill>
                <a:srgbClr val="000000"/>
              </a:solidFill>
              <a:latin typeface="Arial"/>
              <a:ea typeface="Arial"/>
              <a:cs typeface="Arial"/>
              <a:sym typeface="Arial"/>
            </a:endParaRPr>
          </a:p>
        </p:txBody>
      </p:sp>
      <p:sp>
        <p:nvSpPr>
          <p:cNvPr id="1078" name="Google Shape;1078;p97"/>
          <p:cNvSpPr txBox="1"/>
          <p:nvPr/>
        </p:nvSpPr>
        <p:spPr>
          <a:xfrm>
            <a:off x="484565" y="3638849"/>
            <a:ext cx="692490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determine the amount of broccoli that was consumed at lunch?</a:t>
            </a:r>
            <a:endParaRPr b="1" i="0" sz="2800" u="none" cap="none" strike="noStrike">
              <a:solidFill>
                <a:schemeClr val="dk1"/>
              </a:solidFill>
              <a:latin typeface="Arial"/>
              <a:ea typeface="Arial"/>
              <a:cs typeface="Arial"/>
              <a:sym typeface="Arial"/>
            </a:endParaRPr>
          </a:p>
        </p:txBody>
      </p:sp>
      <p:sp>
        <p:nvSpPr>
          <p:cNvPr id="1079" name="Google Shape;1079;p97"/>
          <p:cNvSpPr/>
          <p:nvPr/>
        </p:nvSpPr>
        <p:spPr>
          <a:xfrm>
            <a:off x="603479" y="4804186"/>
            <a:ext cx="7739243"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 can use a subtraction equation to determine that 31 pounds of broccoli were consumed at lunch.</a:t>
            </a:r>
            <a:endParaRPr b="0" i="0" sz="2800" u="none" cap="none" strike="noStrike">
              <a:solidFill>
                <a:schemeClr val="dk1"/>
              </a:solidFill>
              <a:latin typeface="Arial"/>
              <a:ea typeface="Arial"/>
              <a:cs typeface="Arial"/>
              <a:sym typeface="Arial"/>
            </a:endParaRPr>
          </a:p>
        </p:txBody>
      </p:sp>
      <p:sp>
        <p:nvSpPr>
          <p:cNvPr id="1080" name="Google Shape;1080;p97"/>
          <p:cNvSpPr/>
          <p:nvPr/>
        </p:nvSpPr>
        <p:spPr>
          <a:xfrm>
            <a:off x="484565" y="4714162"/>
            <a:ext cx="8074973" cy="1577678"/>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1081" name="Google Shape;1081;p97"/>
          <p:cNvPicPr preferRelativeResize="0"/>
          <p:nvPr/>
        </p:nvPicPr>
        <p:blipFill rotWithShape="1">
          <a:blip r:embed="rId3">
            <a:alphaModFix/>
          </a:blip>
          <a:srcRect b="0" l="0" r="0" t="0"/>
          <a:stretch/>
        </p:blipFill>
        <p:spPr>
          <a:xfrm>
            <a:off x="7547334" y="1442907"/>
            <a:ext cx="4160791" cy="2836393"/>
          </a:xfrm>
          <a:prstGeom prst="rect">
            <a:avLst/>
          </a:prstGeom>
          <a:noFill/>
          <a:ln>
            <a:noFill/>
          </a:ln>
        </p:spPr>
      </p:pic>
      <p:sp>
        <p:nvSpPr>
          <p:cNvPr id="10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55</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cxnSp>
        <p:nvCxnSpPr>
          <p:cNvPr id="1086" name="Google Shape;1086;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7" name="Google Shape;1087;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88" name="Google Shape;1088;p98"/>
          <p:cNvSpPr txBox="1"/>
          <p:nvPr/>
        </p:nvSpPr>
        <p:spPr>
          <a:xfrm>
            <a:off x="484566" y="936000"/>
            <a:ext cx="7594206" cy="10008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equation shown was used to solve the following problem:</a:t>
            </a:r>
            <a:endParaRPr b="0" i="0" sz="1400" u="none" cap="none" strike="noStrike">
              <a:solidFill>
                <a:srgbClr val="000000"/>
              </a:solidFill>
              <a:latin typeface="Arial"/>
              <a:ea typeface="Arial"/>
              <a:cs typeface="Arial"/>
              <a:sym typeface="Arial"/>
            </a:endParaRPr>
          </a:p>
        </p:txBody>
      </p:sp>
      <p:sp>
        <p:nvSpPr>
          <p:cNvPr id="1089" name="Google Shape;1089;p98"/>
          <p:cNvSpPr/>
          <p:nvPr/>
        </p:nvSpPr>
        <p:spPr>
          <a:xfrm>
            <a:off x="484565" y="2019373"/>
            <a:ext cx="837523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How can you determine the amount of broccoli that was consumed at lunch?</a:t>
            </a:r>
            <a:endParaRPr b="0" i="0" sz="2800" u="none" cap="none" strike="noStrike">
              <a:solidFill>
                <a:schemeClr val="dk1"/>
              </a:solidFill>
              <a:latin typeface="Arial"/>
              <a:ea typeface="Arial"/>
              <a:cs typeface="Arial"/>
              <a:sym typeface="Arial"/>
            </a:endParaRPr>
          </a:p>
        </p:txBody>
      </p:sp>
      <p:pic>
        <p:nvPicPr>
          <p:cNvPr descr="C:\Users\HP\Desktop\Grade_6_Unit_8\OPS\img\.assets\75c6f5043e394ec9918b68869b04f0ff\narm24_c10801_ebk_001a-eps.png" id="1090" name="Google Shape;1090;p98"/>
          <p:cNvPicPr preferRelativeResize="0"/>
          <p:nvPr/>
        </p:nvPicPr>
        <p:blipFill rotWithShape="1">
          <a:blip r:embed="rId3">
            <a:alphaModFix/>
          </a:blip>
          <a:srcRect b="0" l="0" r="0" t="0"/>
          <a:stretch/>
        </p:blipFill>
        <p:spPr>
          <a:xfrm>
            <a:off x="1458897" y="3272810"/>
            <a:ext cx="6619875" cy="1343025"/>
          </a:xfrm>
          <a:prstGeom prst="rect">
            <a:avLst/>
          </a:prstGeom>
          <a:noFill/>
          <a:ln>
            <a:noFill/>
          </a:ln>
        </p:spPr>
      </p:pic>
      <p:sp>
        <p:nvSpPr>
          <p:cNvPr id="10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55</a:t>
            </a:r>
          </a:p>
        </p:txBody>
      </p:sp>
      <p:sp xmlns:p="http://schemas.openxmlformats.org/presentationml/2006/main" xmlns:a="http://schemas.openxmlformats.org/drawingml/2006/main">
        <p:nvSpPr>
          <p:cNvPr id="109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how your equation represents the situation. Check the result.</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cxnSp>
        <p:nvCxnSpPr>
          <p:cNvPr id="1095" name="Google Shape;1095;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6" name="Google Shape;1096;p9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97" name="Google Shape;1097;p99"/>
          <p:cNvSpPr txBox="1"/>
          <p:nvPr/>
        </p:nvSpPr>
        <p:spPr>
          <a:xfrm>
            <a:off x="484565" y="936000"/>
            <a:ext cx="7877010" cy="9761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What is a different way to write a subtraction equation to represent the problem?</a:t>
            </a:r>
            <a:endParaRPr b="0" i="0" sz="1400" u="none" cap="none" strike="noStrike">
              <a:solidFill>
                <a:srgbClr val="000000"/>
              </a:solidFill>
              <a:latin typeface="Arial"/>
              <a:ea typeface="Arial"/>
              <a:cs typeface="Arial"/>
              <a:sym typeface="Arial"/>
            </a:endParaRPr>
          </a:p>
        </p:txBody>
      </p:sp>
      <p:sp>
        <p:nvSpPr>
          <p:cNvPr id="1098" name="Google Shape;1098;p99"/>
          <p:cNvSpPr/>
          <p:nvPr/>
        </p:nvSpPr>
        <p:spPr>
          <a:xfrm>
            <a:off x="458286" y="2059506"/>
            <a:ext cx="7903289" cy="127987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99" name="Google Shape;1099;p99"/>
          <p:cNvSpPr txBox="1"/>
          <p:nvPr/>
        </p:nvSpPr>
        <p:spPr>
          <a:xfrm>
            <a:off x="7154706" y="536453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100" name="Google Shape;1100;p99"/>
          <p:cNvSpPr txBox="1"/>
          <p:nvPr/>
        </p:nvSpPr>
        <p:spPr>
          <a:xfrm>
            <a:off x="7154706" y="281039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101" name="Google Shape;1101;p99"/>
          <p:cNvSpPr/>
          <p:nvPr/>
        </p:nvSpPr>
        <p:spPr>
          <a:xfrm>
            <a:off x="458285" y="4528175"/>
            <a:ext cx="7903289" cy="129225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102" name="Google Shape;1102;p99"/>
          <p:cNvSpPr/>
          <p:nvPr/>
        </p:nvSpPr>
        <p:spPr>
          <a:xfrm>
            <a:off x="458286" y="3456724"/>
            <a:ext cx="7903289" cy="954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How can you represent the problem using an addition equation?</a:t>
            </a:r>
            <a:endParaRPr b="0" i="0" sz="1400" u="none" cap="none" strike="noStrike">
              <a:solidFill>
                <a:srgbClr val="000000"/>
              </a:solidFill>
              <a:latin typeface="Arial"/>
              <a:ea typeface="Arial"/>
              <a:cs typeface="Arial"/>
              <a:sym typeface="Arial"/>
            </a:endParaRPr>
          </a:p>
        </p:txBody>
      </p:sp>
      <p:sp>
        <p:nvSpPr>
          <p:cNvPr id="11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55</a:t>
            </a:r>
          </a:p>
        </p:txBody>
      </p:sp>
      <p:grpSp>
        <p:nvGrpSpPr>
          <p:cNvPr id="1104" name="TEACH-2-student-move" descr="TEACH 2 · Use strategies and tasks to engage students in rigorous work"/>
          <p:cNvGrpSpPr/>
          <p:nvPr/>
        </p:nvGrpSpPr>
        <p:grpSpPr>
          <a:xfrm>
            <a:off x="502920" y="5857005"/>
            <a:ext cx="11186160" cy="402336"/>
            <a:chOff x="502920" y="5857005"/>
            <a:chExt cx="11186160" cy="402336"/>
          </a:xfrm>
        </p:grpSpPr>
        <p:sp>
          <p:nvSpPr>
            <p:cNvPr id="1105" name="TEACH-move-card"/>
            <p:cNvSpPr/>
            <p:nvPr/>
          </p:nvSpPr>
          <p:spPr>
            <a:xfrm>
              <a:off x="502920" y="5857005"/>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06" name="TEACH-move-rule"/>
            <p:cNvSpPr/>
            <p:nvPr/>
          </p:nvSpPr>
          <p:spPr>
            <a:xfrm>
              <a:off x="548640" y="5933449"/>
              <a:ext cx="100584" cy="249448"/>
            </a:xfrm>
            <a:prstGeom prst="roundRect">
              <a:avLst>
                <a:gd name="adj" fmla="val 50000"/>
              </a:avLst>
            </a:prstGeom>
            <a:solidFill>
              <a:srgbClr val="01708C"/>
            </a:solidFill>
            <a:ln>
              <a:noFill/>
            </a:ln>
          </p:spPr>
          <p:txBody>
            <a:bodyPr/>
            <a:lstStyle/>
            <a:p>
              <a:endParaRPr/>
            </a:p>
          </p:txBody>
        </p:sp>
        <p:sp>
          <p:nvSpPr>
            <p:cNvPr id="1107" name="TEACH-move-text"/>
            <p:cNvSpPr txBox="1"/>
            <p:nvPr/>
          </p:nvSpPr>
          <p:spPr>
            <a:xfrm>
              <a:off x="822960" y="5857005"/>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8.1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assuming the equals sign means to calculate only the left side.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Evaluate the two sides of the given equation separately after substitution.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1033" name="Google Shape;103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4" name="Google Shape;1034;p94"/>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1035" name="Google Shape;1035;p94"/>
          <p:cNvSpPr txBox="1"/>
          <p:nvPr/>
        </p:nvSpPr>
        <p:spPr>
          <a:xfrm>
            <a:off x="486000" y="936000"/>
            <a:ext cx="5579234" cy="855730"/>
          </a:xfrm>
          <a:prstGeom prst="rect">
            <a:avLst/>
          </a:prstGeom>
          <a:blipFill rotWithShape="1">
            <a:blip r:embed="rId2">
              <a:alphaModFix/>
            </a:blip>
            <a:stretch>
              <a:fillRect b="-30714" l="-2296" r="0" t="-78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6" name="Google Shape;1036;p94"/>
          <p:cNvSpPr txBox="1"/>
          <p:nvPr/>
        </p:nvSpPr>
        <p:spPr>
          <a:xfrm>
            <a:off x="486000" y="3361390"/>
            <a:ext cx="557923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determine another number to try?</a:t>
            </a:r>
            <a:endParaRPr b="1" i="0" sz="2800" u="none" cap="none" strike="noStrike">
              <a:solidFill>
                <a:schemeClr val="dk1"/>
              </a:solidFill>
              <a:latin typeface="Arial"/>
              <a:ea typeface="Arial"/>
              <a:cs typeface="Arial"/>
              <a:sym typeface="Arial"/>
            </a:endParaRPr>
          </a:p>
        </p:txBody>
      </p:sp>
      <p:sp>
        <p:nvSpPr>
          <p:cNvPr id="1037" name="Google Shape;1037;p94"/>
          <p:cNvSpPr txBox="1"/>
          <p:nvPr/>
        </p:nvSpPr>
        <p:spPr>
          <a:xfrm>
            <a:off x="484565" y="4623273"/>
            <a:ext cx="7882048" cy="14684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try 31, because we need to take 1 more away from 50 to get to 19.</a:t>
            </a:r>
            <a:endParaRPr b="1" i="0" sz="2800" u="none" cap="none" strike="noStrike">
              <a:solidFill>
                <a:srgbClr val="595959"/>
              </a:solidFill>
              <a:latin typeface="Arial"/>
              <a:ea typeface="Arial"/>
              <a:cs typeface="Arial"/>
              <a:sym typeface="Arial"/>
            </a:endParaRPr>
          </a:p>
        </p:txBody>
      </p:sp>
      <p:sp>
        <p:nvSpPr>
          <p:cNvPr id="1038" name="Google Shape;1038;p94"/>
          <p:cNvSpPr/>
          <p:nvPr/>
        </p:nvSpPr>
        <p:spPr>
          <a:xfrm>
            <a:off x="486000" y="2099507"/>
            <a:ext cx="5726264" cy="954107"/>
          </a:xfrm>
          <a:prstGeom prst="rect">
            <a:avLst/>
          </a:prstGeom>
          <a:blipFill rotWithShape="1">
            <a:blip r:embed="rId3">
              <a:alphaModFix/>
            </a:blip>
            <a:stretch>
              <a:fillRect b="-16561" l="-2236" r="-3621"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9" name="Google Shape;1039;p94"/>
          <p:cNvSpPr txBox="1"/>
          <p:nvPr/>
        </p:nvSpPr>
        <p:spPr>
          <a:xfrm>
            <a:off x="6789073" y="1767793"/>
            <a:ext cx="2573390"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0" name="Google Shape;1040;p94"/>
          <p:cNvSpPr txBox="1"/>
          <p:nvPr/>
        </p:nvSpPr>
        <p:spPr>
          <a:xfrm>
            <a:off x="6789073" y="2291013"/>
            <a:ext cx="235352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1" name="Google Shape;1041;p94"/>
          <p:cNvSpPr txBox="1"/>
          <p:nvPr/>
        </p:nvSpPr>
        <p:spPr>
          <a:xfrm>
            <a:off x="6789073" y="2839603"/>
            <a:ext cx="3281313"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2" name="Google Shape;1042;p94"/>
          <p:cNvSpPr/>
          <p:nvPr/>
        </p:nvSpPr>
        <p:spPr>
          <a:xfrm>
            <a:off x="6789073" y="3365360"/>
            <a:ext cx="512934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30 does not make the equation true.</a:t>
            </a:r>
            <a:endParaRPr b="0" i="0" sz="2800" u="none" cap="none" strike="noStrike">
              <a:solidFill>
                <a:schemeClr val="dk1"/>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55</a:t>
            </a:r>
          </a:p>
        </p:txBody>
      </p:sp>
      <p:grpSp>
        <p:nvGrpSpPr>
          <p:cNvPr id="1043" name="TEACH-5-student-move" descr="TEACH 5 · Facilitate student interactions and academic talk"/>
          <p:cNvGrpSpPr/>
          <p:nvPr/>
        </p:nvGrpSpPr>
        <p:grpSpPr>
          <a:xfrm>
            <a:off x="6187440" y="1091137"/>
            <a:ext cx="5501640" cy="594360"/>
            <a:chOff x="6187440" y="1091137"/>
            <a:chExt cx="5501640" cy="594360"/>
          </a:xfrm>
        </p:grpSpPr>
        <p:sp>
          <p:nvSpPr>
            <p:cNvPr id="1044" name="TEACH-move-card"/>
            <p:cNvSpPr/>
            <p:nvPr/>
          </p:nvSpPr>
          <p:spPr>
            <a:xfrm>
              <a:off x="6187440" y="109113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45" name="TEACH-move-rule"/>
            <p:cNvSpPr/>
            <p:nvPr/>
          </p:nvSpPr>
          <p:spPr>
            <a:xfrm>
              <a:off x="6233160" y="1204065"/>
              <a:ext cx="100584" cy="368504"/>
            </a:xfrm>
            <a:prstGeom prst="roundRect">
              <a:avLst>
                <a:gd name="adj" fmla="val 50000"/>
              </a:avLst>
            </a:prstGeom>
            <a:solidFill>
              <a:srgbClr val="01708C"/>
            </a:solidFill>
            <a:ln>
              <a:noFill/>
            </a:ln>
          </p:spPr>
          <p:txBody>
            <a:bodyPr/>
            <a:lstStyle/>
            <a:p>
              <a:endParaRPr/>
            </a:p>
          </p:txBody>
        </p:sp>
        <p:sp>
          <p:nvSpPr>
            <p:cNvPr id="1046" name="TEACH-move-text"/>
            <p:cNvSpPr txBox="1"/>
            <p:nvPr/>
          </p:nvSpPr>
          <p:spPr>
            <a:xfrm>
              <a:off x="6507480" y="109113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1061" name="Google Shape;1061;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2" name="Google Shape;1062;p96"/>
          <p:cNvSpPr txBox="1"/>
          <p:nvPr/>
        </p:nvSpPr>
        <p:spPr>
          <a:xfrm>
            <a:off x="484565" y="316033"/>
            <a:ext cx="5029132" cy="7894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School Broccoli</a:t>
            </a:r>
            <a:endParaRPr b="1" i="0" sz="2800" u="none" cap="none" strike="noStrike">
              <a:solidFill>
                <a:srgbClr val="7030A0"/>
              </a:solidFill>
              <a:latin typeface="Arial"/>
              <a:ea typeface="Arial"/>
              <a:cs typeface="Arial"/>
              <a:sym typeface="Arial"/>
            </a:endParaRPr>
          </a:p>
        </p:txBody>
      </p:sp>
      <p:sp>
        <p:nvSpPr>
          <p:cNvPr id="1063" name="Google Shape;1063;p96"/>
          <p:cNvSpPr txBox="1"/>
          <p:nvPr/>
        </p:nvSpPr>
        <p:spPr>
          <a:xfrm>
            <a:off x="486000" y="5220000"/>
            <a:ext cx="7713003" cy="10730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31 pounds of broccoli were consumed.</a:t>
            </a:r>
            <a:endParaRPr b="1" i="0" sz="2800" u="none" cap="none" strike="noStrike">
              <a:solidFill>
                <a:srgbClr val="595959"/>
              </a:solidFill>
              <a:latin typeface="Arial"/>
              <a:ea typeface="Arial"/>
              <a:cs typeface="Arial"/>
              <a:sym typeface="Arial"/>
            </a:endParaRPr>
          </a:p>
        </p:txBody>
      </p:sp>
      <p:sp>
        <p:nvSpPr>
          <p:cNvPr id="1064" name="Google Shape;1064;p96"/>
          <p:cNvSpPr txBox="1"/>
          <p:nvPr/>
        </p:nvSpPr>
        <p:spPr>
          <a:xfrm>
            <a:off x="486000" y="936000"/>
            <a:ext cx="4827406" cy="546811"/>
          </a:xfrm>
          <a:prstGeom prst="rect">
            <a:avLst/>
          </a:prstGeom>
          <a:blipFill rotWithShape="1">
            <a:blip r:embed="rId2">
              <a:alphaModFix/>
            </a:blip>
            <a:stretch>
              <a:fillRect b="-26967" l="-2651" r="0" t="-123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5" name="Google Shape;1065;p96"/>
          <p:cNvSpPr txBox="1"/>
          <p:nvPr/>
        </p:nvSpPr>
        <p:spPr>
          <a:xfrm>
            <a:off x="484564" y="4058382"/>
            <a:ext cx="9225043"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does the solution mean in the context of the situation?</a:t>
            </a:r>
            <a:endParaRPr b="1" i="0" sz="2800" u="none" cap="none" strike="noStrike">
              <a:solidFill>
                <a:schemeClr val="dk1"/>
              </a:solidFill>
              <a:latin typeface="Arial"/>
              <a:ea typeface="Arial"/>
              <a:cs typeface="Arial"/>
              <a:sym typeface="Arial"/>
            </a:endParaRPr>
          </a:p>
        </p:txBody>
      </p:sp>
      <p:sp>
        <p:nvSpPr>
          <p:cNvPr id="1066" name="Google Shape;1066;p96"/>
          <p:cNvSpPr txBox="1"/>
          <p:nvPr/>
        </p:nvSpPr>
        <p:spPr>
          <a:xfrm>
            <a:off x="681694" y="1579349"/>
            <a:ext cx="2157835"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7" name="Google Shape;1067;p96"/>
          <p:cNvSpPr txBox="1"/>
          <p:nvPr/>
        </p:nvSpPr>
        <p:spPr>
          <a:xfrm>
            <a:off x="486000" y="2199107"/>
            <a:ext cx="235352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8" name="Google Shape;1068;p96"/>
          <p:cNvSpPr txBox="1"/>
          <p:nvPr/>
        </p:nvSpPr>
        <p:spPr>
          <a:xfrm>
            <a:off x="1310777" y="2818865"/>
            <a:ext cx="1528752"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69" name="Google Shape;1069;p96"/>
          <p:cNvSpPr txBox="1"/>
          <p:nvPr/>
        </p:nvSpPr>
        <p:spPr>
          <a:xfrm>
            <a:off x="486000" y="3438623"/>
            <a:ext cx="1770613" cy="523220"/>
          </a:xfrm>
          <a:prstGeom prst="rect">
            <a:avLst/>
          </a:prstGeom>
          <a:blipFill rotWithShape="1">
            <a:blip r:embed="rId6">
              <a:alphaModFix/>
            </a:blip>
            <a:stretch>
              <a:fillRect b="-32558" l="-7241" r="0" t="-1046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8\OPS\img\.assets\75c6f5043e394ec9918b68869b04f0ff\narm24_c10801_ebk_001a-eps.png" id="1070" name="Google Shape;1070;p96"/>
          <p:cNvPicPr preferRelativeResize="0"/>
          <p:nvPr/>
        </p:nvPicPr>
        <p:blipFill rotWithShape="1">
          <a:blip r:embed="rId7">
            <a:alphaModFix/>
          </a:blip>
          <a:srcRect b="0" l="0" r="0" t="0"/>
          <a:stretch/>
        </p:blipFill>
        <p:spPr>
          <a:xfrm>
            <a:off x="4258382" y="2028955"/>
            <a:ext cx="6619875" cy="1343025"/>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55</a:t>
            </a:r>
          </a:p>
        </p:txBody>
      </p:sp>
      <p:grpSp>
        <p:nvGrpSpPr>
          <p:cNvPr id="1071" name="TEACH-4-student-move" descr="TEACH 4 · Monitor progress and provide feedback"/>
          <p:cNvGrpSpPr/>
          <p:nvPr/>
        </p:nvGrpSpPr>
        <p:grpSpPr>
          <a:xfrm>
            <a:off x="6187440" y="1352299"/>
            <a:ext cx="5501640" cy="594360"/>
            <a:chOff x="6187440" y="1352299"/>
            <a:chExt cx="5501640" cy="594360"/>
          </a:xfrm>
        </p:grpSpPr>
        <p:sp>
          <p:nvSpPr>
            <p:cNvPr id="1072" name="TEACH-move-card"/>
            <p:cNvSpPr/>
            <p:nvPr/>
          </p:nvSpPr>
          <p:spPr>
            <a:xfrm>
              <a:off x="6187440" y="135229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73" name="TEACH-move-rule"/>
            <p:cNvSpPr/>
            <p:nvPr/>
          </p:nvSpPr>
          <p:spPr>
            <a:xfrm>
              <a:off x="6233160" y="1465227"/>
              <a:ext cx="100584" cy="368504"/>
            </a:xfrm>
            <a:prstGeom prst="roundRect">
              <a:avLst>
                <a:gd name="adj" fmla="val 50000"/>
              </a:avLst>
            </a:prstGeom>
            <a:solidFill>
              <a:srgbClr val="01708C"/>
            </a:solidFill>
            <a:ln>
              <a:noFill/>
            </a:ln>
          </p:spPr>
          <p:txBody>
            <a:bodyPr/>
            <a:lstStyle/>
            <a:p>
              <a:endParaRPr/>
            </a:p>
          </p:txBody>
        </p:sp>
        <p:sp>
          <p:nvSpPr>
            <p:cNvPr id="1074" name="TEACH-move-text"/>
            <p:cNvSpPr txBox="1"/>
            <p:nvPr/>
          </p:nvSpPr>
          <p:spPr>
            <a:xfrm>
              <a:off x="6507480" y="135229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SPECIFIC FEEDBACK  ·  </a:t>
              </a:r>
              <a:r>
                <a:rPr lang="en-US" sz="1200" dirty="0">
                  <a:solidFill>
                    <a:srgbClr val="13303A"/>
                  </a:solidFill>
                  <a:latin typeface="Arial"/>
                </a:rPr>
                <a:t>Trade work. Give one specific comment: “This part is clear because ______.”</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00"/>
          <p:cNvSpPr txBox="1"/>
          <p:nvPr/>
        </p:nvSpPr>
        <p:spPr>
          <a:xfrm>
            <a:off x="486001" y="316800"/>
            <a:ext cx="5610000" cy="85667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Understand Equations and Their Solutions</a:t>
            </a:r>
            <a:endParaRPr b="0" i="0" sz="1400" u="none" cap="none" strike="noStrike">
              <a:solidFill>
                <a:srgbClr val="000000"/>
              </a:solidFill>
              <a:latin typeface="Arial"/>
              <a:ea typeface="Arial"/>
              <a:cs typeface="Arial"/>
              <a:sym typeface="Arial"/>
            </a:endParaRPr>
          </a:p>
        </p:txBody>
      </p:sp>
      <p:cxnSp>
        <p:nvCxnSpPr>
          <p:cNvPr id="1108" name="Google Shape;1108;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09" name="Google Shape;1109;p100"/>
          <p:cNvSpPr txBox="1"/>
          <p:nvPr/>
        </p:nvSpPr>
        <p:spPr>
          <a:xfrm>
            <a:off x="486001" y="1295999"/>
            <a:ext cx="9176474" cy="22767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A solution to an equation is a value that makes the equation true. One way to determine a solution to an equation is to use substitution. To use substitution, determine a reasonable estimate for the unknown and check whether it makes the equation true. </a:t>
            </a:r>
            <a:endParaRPr b="0" i="0" sz="1400" u="none" cap="none" strike="noStrike">
              <a:solidFill>
                <a:srgbClr val="000000"/>
              </a:solidFill>
              <a:latin typeface="Arial"/>
              <a:ea typeface="Arial"/>
              <a:cs typeface="Arial"/>
              <a:sym typeface="Arial"/>
            </a:endParaRPr>
          </a:p>
        </p:txBody>
      </p:sp>
      <p:sp>
        <p:nvSpPr>
          <p:cNvPr id="1110" name="Google Shape;1110;p100"/>
          <p:cNvSpPr/>
          <p:nvPr/>
        </p:nvSpPr>
        <p:spPr>
          <a:xfrm>
            <a:off x="486001" y="3695278"/>
            <a:ext cx="2254015"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11" name="Google Shape;1111;p100"/>
          <p:cNvSpPr/>
          <p:nvPr/>
        </p:nvSpPr>
        <p:spPr>
          <a:xfrm>
            <a:off x="486001" y="4349646"/>
            <a:ext cx="6096000" cy="523220"/>
          </a:xfrm>
          <a:prstGeom prst="rect">
            <a:avLst/>
          </a:prstGeom>
          <a:blipFill rotWithShape="1">
            <a:blip r:embed="rId4">
              <a:alphaModFix/>
            </a:blip>
            <a:stretch>
              <a:fillRect b="-32942" l="-2100" r="0" t="-129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12" name="Google Shape;1112;p100"/>
          <p:cNvSpPr/>
          <p:nvPr/>
        </p:nvSpPr>
        <p:spPr>
          <a:xfrm>
            <a:off x="486001" y="5004014"/>
            <a:ext cx="2405482"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13" name="Google Shape;1113;p100"/>
          <p:cNvSpPr/>
          <p:nvPr/>
        </p:nvSpPr>
        <p:spPr>
          <a:xfrm>
            <a:off x="486001" y="5658381"/>
            <a:ext cx="1997707"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55</a:t>
            </a:r>
          </a:p>
        </p:txBody>
      </p:sp>
      <p:sp>
        <p:nvSpPr>
          <p:cNvPr id="111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1116"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Blueberry Muffins</a:t>
            </a:r>
            <a:endParaRPr b="1" i="0" sz="2800" u="none" cap="none" strike="noStrike">
              <a:solidFill>
                <a:srgbClr val="7030A0"/>
              </a:solidFill>
              <a:latin typeface="Arial"/>
              <a:ea typeface="Arial"/>
              <a:cs typeface="Arial"/>
              <a:sym typeface="Arial"/>
            </a:endParaRPr>
          </a:p>
        </p:txBody>
      </p:sp>
      <p:cxnSp>
        <p:nvCxnSpPr>
          <p:cNvPr id="1119" name="Google Shape;1119;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20" name="Google Shape;1120;p101"/>
          <p:cNvSpPr txBox="1"/>
          <p:nvPr/>
        </p:nvSpPr>
        <p:spPr>
          <a:xfrm>
            <a:off x="486001" y="936000"/>
            <a:ext cx="5973998" cy="2193699"/>
          </a:xfrm>
          <a:prstGeom prst="rect">
            <a:avLst/>
          </a:prstGeom>
          <a:blipFill rotWithShape="1">
            <a:blip r:embed="rId3">
              <a:alphaModFix/>
            </a:blip>
            <a:stretch>
              <a:fillRect b="0" l="-2143" r="0" t="-306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21" name="Google Shape;1121;p101"/>
          <p:cNvSpPr txBox="1"/>
          <p:nvPr/>
        </p:nvSpPr>
        <p:spPr>
          <a:xfrm>
            <a:off x="460278" y="3682189"/>
            <a:ext cx="599972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If Michael wants to have 24 blueberry muffins, which muffin mix and how many boxes of each mix would you recommend he purchase? Explain.</a:t>
            </a:r>
            <a:endParaRPr b="0" i="0" sz="2800" u="none" cap="none" strike="noStrike">
              <a:solidFill>
                <a:schemeClr val="dk1"/>
              </a:solidFill>
              <a:latin typeface="Arial"/>
              <a:ea typeface="Arial"/>
              <a:cs typeface="Arial"/>
              <a:sym typeface="Arial"/>
            </a:endParaRPr>
          </a:p>
        </p:txBody>
      </p:sp>
      <p:pic>
        <p:nvPicPr>
          <p:cNvPr descr="C:\Users\HP\Desktop\Grade_6_Unit_8\OPS\img\.assets\8e818cd515fd49369aa7dce014def688\narm24_c10801_se_004a-dig.png" id="1122" name="Google Shape;1122;p101"/>
          <p:cNvPicPr preferRelativeResize="0"/>
          <p:nvPr/>
        </p:nvPicPr>
        <p:blipFill rotWithShape="1">
          <a:blip r:embed="rId4">
            <a:alphaModFix/>
          </a:blip>
          <a:srcRect b="0" l="0" r="0" t="0"/>
          <a:stretch/>
        </p:blipFill>
        <p:spPr>
          <a:xfrm>
            <a:off x="6639107" y="1892247"/>
            <a:ext cx="5273954" cy="3006000"/>
          </a:xfrm>
          <a:prstGeom prst="rect">
            <a:avLst/>
          </a:prstGeom>
          <a:noFill/>
          <a:ln>
            <a:noFill/>
          </a:ln>
        </p:spPr>
      </p:pic>
      <p:sp>
        <p:nvSpPr>
          <p:cNvPr id="11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55</a:t>
            </a:r>
          </a:p>
        </p:txBody>
      </p:sp>
      <p:sp>
        <p:nvSpPr>
          <p:cNvPr id="112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125"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102"/>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28" name="Google Shape;1128;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29" name="Google Shape;1129;p102"/>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make sense of one-step equations in order to solve them using substitution.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solve one-step equations using the guess, check, and revise strategy.</a:t>
            </a:r>
            <a:endParaRPr b="0" i="0" sz="1400" u="none" cap="none" strike="noStrike">
              <a:solidFill>
                <a:srgbClr val="000000"/>
              </a:solidFill>
              <a:latin typeface="Arial"/>
              <a:ea typeface="Arial"/>
              <a:cs typeface="Arial"/>
              <a:sym typeface="Arial"/>
            </a:endParaRPr>
          </a:p>
        </p:txBody>
      </p:sp>
      <p:sp>
        <p:nvSpPr>
          <p:cNvPr id="11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52 / 55</a:t>
            </a:r>
          </a:p>
        </p:txBody>
      </p:sp>
      <p:sp xmlns:p="http://schemas.openxmlformats.org/presentationml/2006/main" xmlns:a="http://schemas.openxmlformats.org/drawingml/2006/main">
        <p:nvSpPr>
          <p:cNvPr id="113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3" name="Google Shape;88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4" name="Google Shape;884;p80"/>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85" name="Google Shape;885;p80"/>
          <p:cNvSpPr txBox="1"/>
          <p:nvPr/>
        </p:nvSpPr>
        <p:spPr>
          <a:xfrm>
            <a:off x="484560" y="1022823"/>
            <a:ext cx="426442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What’s the question?</a:t>
            </a:r>
            <a:endParaRPr b="0" i="0" sz="2800" u="none" cap="none" strike="noStrike">
              <a:solidFill>
                <a:schemeClr val="dk1"/>
              </a:solidFill>
              <a:latin typeface="Arial"/>
              <a:ea typeface="Arial"/>
              <a:cs typeface="Arial"/>
              <a:sym typeface="Arial"/>
            </a:endParaRPr>
          </a:p>
        </p:txBody>
      </p:sp>
      <p:pic>
        <p:nvPicPr>
          <p:cNvPr id="886" name="Google Shape;886;p80"/>
          <p:cNvPicPr preferRelativeResize="0"/>
          <p:nvPr/>
        </p:nvPicPr>
        <p:blipFill rotWithShape="1">
          <a:blip r:embed="rId2">
            <a:alphaModFix/>
          </a:blip>
          <a:srcRect b="0" l="0" r="0" t="0"/>
          <a:stretch/>
        </p:blipFill>
        <p:spPr>
          <a:xfrm>
            <a:off x="430017" y="4970731"/>
            <a:ext cx="5054600" cy="838200"/>
          </a:xfrm>
          <a:prstGeom prst="rect">
            <a:avLst/>
          </a:prstGeom>
          <a:noFill/>
          <a:ln>
            <a:noFill/>
          </a:ln>
        </p:spPr>
      </p:pic>
      <p:sp>
        <p:nvSpPr>
          <p:cNvPr id="887" name="Google Shape;887;p80"/>
          <p:cNvSpPr txBox="1"/>
          <p:nvPr/>
        </p:nvSpPr>
        <p:spPr>
          <a:xfrm>
            <a:off x="3094819" y="5113972"/>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88" name="Google Shape;888;p80"/>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89" name="Google Shape;889;p80"/>
          <p:cNvSpPr/>
          <p:nvPr/>
        </p:nvSpPr>
        <p:spPr>
          <a:xfrm>
            <a:off x="515712" y="5763816"/>
            <a:ext cx="10129894"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is helping you be flexible in your mathematical thinking?</a:t>
            </a:r>
            <a:endParaRPr b="0" i="0" sz="2600" u="none" cap="none" strike="noStrike">
              <a:solidFill>
                <a:srgbClr val="595959"/>
              </a:solidFill>
              <a:latin typeface="Arial"/>
              <a:ea typeface="Arial"/>
              <a:cs typeface="Arial"/>
              <a:sym typeface="Arial"/>
            </a:endParaRPr>
          </a:p>
        </p:txBody>
      </p:sp>
      <p:sp>
        <p:nvSpPr>
          <p:cNvPr id="890" name="Google Shape;890;p80"/>
          <p:cNvSpPr/>
          <p:nvPr/>
        </p:nvSpPr>
        <p:spPr>
          <a:xfrm>
            <a:off x="484560" y="1794805"/>
            <a:ext cx="7574692" cy="3078427"/>
          </a:xfrm>
          <a:prstGeom prst="snip1Rect">
            <a:avLst>
              <a:gd fmla="val 16667" name="adj"/>
            </a:avLst>
          </a:prstGeom>
          <a:noFill/>
          <a:ln cap="flat" cmpd="sng" w="1905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1" name="Google Shape;891;p80"/>
          <p:cNvSpPr/>
          <p:nvPr/>
        </p:nvSpPr>
        <p:spPr>
          <a:xfrm>
            <a:off x="1017371" y="1995190"/>
            <a:ext cx="6123203" cy="26776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1" lang="en-US" sz="2800" u="none" cap="none" strike="noStrike">
                <a:solidFill>
                  <a:srgbClr val="7030A0"/>
                </a:solidFill>
                <a:latin typeface="Arial"/>
                <a:ea typeface="Arial"/>
                <a:cs typeface="Arial"/>
                <a:sym typeface="Arial"/>
              </a:rPr>
              <a:t>The workers in a middle school cafeteria cooked a certain amount of broccoli. Some broccoli was consumed at lunch. At the end of the school day, there was some broccoli left over.</a:t>
            </a:r>
            <a:endParaRPr b="0" i="1" sz="2800" u="none" cap="none" strike="noStrike">
              <a:solidFill>
                <a:srgbClr val="7030A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55</a:t>
            </a:r>
          </a:p>
        </p:txBody>
      </p:sp>
      <p:grpSp>
        <p:nvGrpSpPr>
          <p:cNvPr id="892" name="TEACH-3-student-move" descr="TEACH 3 · Use intentional questioning to deepen learning"/>
          <p:cNvGrpSpPr/>
          <p:nvPr/>
        </p:nvGrpSpPr>
        <p:grpSpPr>
          <a:xfrm>
            <a:off x="6187440" y="5087160"/>
            <a:ext cx="5501640" cy="594360"/>
            <a:chOff x="6187440" y="5087160"/>
            <a:chExt cx="5501640" cy="594360"/>
          </a:xfrm>
        </p:grpSpPr>
        <p:sp>
          <p:nvSpPr>
            <p:cNvPr id="893" name="TEACH-move-card"/>
            <p:cNvSpPr/>
            <p:nvPr/>
          </p:nvSpPr>
          <p:spPr>
            <a:xfrm>
              <a:off x="6187440" y="508716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94" name="TEACH-move-rule"/>
            <p:cNvSpPr/>
            <p:nvPr/>
          </p:nvSpPr>
          <p:spPr>
            <a:xfrm>
              <a:off x="6233160" y="5200088"/>
              <a:ext cx="100584" cy="368504"/>
            </a:xfrm>
            <a:prstGeom prst="roundRect">
              <a:avLst>
                <a:gd name="adj" fmla="val 50000"/>
              </a:avLst>
            </a:prstGeom>
            <a:solidFill>
              <a:srgbClr val="01708C"/>
            </a:solidFill>
            <a:ln>
              <a:noFill/>
            </a:ln>
          </p:spPr>
          <p:txBody>
            <a:bodyPr/>
            <a:lstStyle/>
            <a:p>
              <a:endParaRPr/>
            </a:p>
          </p:txBody>
        </p:sp>
        <p:sp>
          <p:nvSpPr>
            <p:cNvPr id="895" name="TEACH-move-text"/>
            <p:cNvSpPr txBox="1"/>
            <p:nvPr/>
          </p:nvSpPr>
          <p:spPr>
            <a:xfrm>
              <a:off x="6507480" y="508716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PROVE IT  ·  </a:t>
              </a:r>
              <a:r>
                <a:rPr lang="en-US" sz="1200" dirty="0">
                  <a:solidFill>
                    <a:srgbClr val="13303A"/>
                  </a:solidFill>
                  <a:latin typeface="Arial"/>
                </a:rPr>
                <a:t>Find the evidence in the problem that makes your answer right — not just the answer.</a:t>
              </a:r>
              <a:endParaRPr lang="en-US" sz="1200"/>
            </a:p>
          </p:txBody>
        </p:sp>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27" name="Google Shape;1127;p102"/>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28" name="Google Shape;1128;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29" name="Google Shape;1129;p102"/>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make sense of one-step equations in order to solve them using substitution.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solve one-step equations using the guess, check, and revise strategy.</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55</a:t>
            </a:r>
          </a:p>
        </p:txBody>
      </p:sp>
      <p:sp xmlns:p="http://schemas.openxmlformats.org/presentationml/2006/main" xmlns:a="http://schemas.openxmlformats.org/drawingml/2006/main">
        <p:nvSpPr>
          <p:cNvPr id="113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8.1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Translate the relationship into an equation.</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5-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21 / 55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SHOW THE EVIDENCE  ·  </a:t>
            </a:r>
            <a:r>
              <a:rPr lang="en-US" sz="2000" b="0" dirty="0">
                <a:solidFill>
                  <a:srgbClr val="13303A"/>
                </a:solidFill>
                <a:latin typeface="Arial"/>
              </a:rPr>
              <a:t>Circle the part of your work that proves you met today’s goal.</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55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55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JUSTIFY IT  ·  </a:t>
            </a:r>
            <a:r>
              <a:rPr lang="en-US" sz="2000" b="0" dirty="0">
                <a:solidFill>
                  <a:srgbClr val="13303A"/>
                </a:solidFill>
                <a:latin typeface="Arial"/>
              </a:rPr>
              <a:t>Say it like this: “I know ______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55</a:t>
            </a: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8.1 — Understand Equations and Their Solutions</dc:title>
  <dc:creator>Neft Teacher</dc:creator>
  <cp:lastModifiedBy>Neft Teacher</cp:lastModifiedBy>
  <dcterms:created xsi:type="dcterms:W3CDTF">2026-09-30T12:04:43Z</dcterms:created>
  <dcterms:modified xsi:type="dcterms:W3CDTF">2026-09-30T12:04:43Z</dcterms:modified>
</cp:coreProperties>
</file>