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8" r:id="rId22"/>
    <p:sldId id="269" r:id="rId23"/>
    <p:sldId id="256" r:id="rId10"/>
    <p:sldId id="257" r:id="rId11"/>
    <p:sldId id="260" r:id="rId14"/>
    <p:sldId id="327" r:id="rId72"/>
    <p:sldId id="326" r:id="rId31"/>
    <p:sldId id="325" r:id="rId45"/>
    <p:sldId id="324" r:id="rId32"/>
    <p:sldId id="323" r:id="rId33"/>
    <p:sldId id="322" r:id="rId42"/>
    <p:sldId id="321" r:id="rId41"/>
    <p:sldId id="261" r:id="rId15"/>
    <p:sldId id="271" r:id="rId25"/>
    <p:sldId id="274" r:id="rId28"/>
    <p:sldId id="276" r:id="rId30"/>
    <p:sldId id="280" r:id="rId34"/>
    <p:sldId id="281" r:id="rId35"/>
    <p:sldId id="331" r:id="rId76"/>
    <p:sldId id="283" r:id="rId37"/>
    <p:sldId id="289" r:id="rId43"/>
    <p:sldId id="332" r:id="rId77"/>
    <p:sldId id="328" r:id="rId73"/>
    <p:sldId id="320" r:id="rId40"/>
    <p:sldId id="315" r:id="rId70"/>
    <p:sldId id="333" r:id="rId78"/>
    <p:sldId id="316" r:id="rId71"/>
    <p:sldId id="290" r:id="rId44"/>
    <p:sldId id="292" r:id="rId46"/>
    <p:sldId id="295" r:id="rId49"/>
    <p:sldId id="334" r:id="rId79"/>
    <p:sldId id="303" r:id="rId57"/>
    <p:sldId id="307" r:id="rId61"/>
    <p:sldId id="310" r:id="rId64"/>
    <p:sldId id="311" r:id="rId65"/>
    <p:sldId id="329" r:id="rId74"/>
    <p:sldId id="319" r:id="rId39"/>
    <p:sldId id="318" r:id="rId38"/>
    <p:sldId id="335" r:id="rId80"/>
    <p:sldId id="312" r:id="rId66"/>
    <p:sldId id="313" r:id="rId67"/>
    <p:sldId id="336" r:id="rId81"/>
    <p:sldId id="314" r:id="rId68"/>
    <p:sldId id="317" r:id="rId36"/>
    <p:sldId id="330" r:id="rId75"/>
  </p:sldIdLst>
  <p:sldSz cy="6858000" cx="12192000"/>
  <p:notesSz cx="7010400" cy="9236075"/>
  <p:embeddedFontLst>
    <p:embeddedFont>
      <p:font typeface="Cambria Math"/>
      <p:regular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CE9186-1060-4A1D-AE5D-203F4E784523}">
  <a:tblStyle styleId="{20CE9186-1060-4A1D-AE5D-203F4E78452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5.xml"/><Relationship Id="rId28"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8.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39.xml"/><Relationship Id="rId37" Type="http://schemas.openxmlformats.org/officeDocument/2006/relationships/slide" Target="slides/slide20.xml"/><Relationship Id="rId38" Type="http://schemas.openxmlformats.org/officeDocument/2006/relationships/slide" Target="slides/slide35.xml"/><Relationship Id="rId39" Type="http://schemas.openxmlformats.org/officeDocument/2006/relationships/slide" Target="slides/slide34.xml"/><Relationship Id="rId40" Type="http://schemas.openxmlformats.org/officeDocument/2006/relationships/slide" Target="slides/slide23.xml"/><Relationship Id="rId41" Type="http://schemas.openxmlformats.org/officeDocument/2006/relationships/slide" Target="slides/slide13.xml"/><Relationship Id="rId42" Type="http://schemas.openxmlformats.org/officeDocument/2006/relationships/slide" Target="slides/slide12.xml"/><Relationship Id="rId43" Type="http://schemas.openxmlformats.org/officeDocument/2006/relationships/slide" Target="slides/slide21.xml"/><Relationship Id="rId44" Type="http://schemas.openxmlformats.org/officeDocument/2006/relationships/slide" Target="slides/slide26.xml"/><Relationship Id="rId45" Type="http://schemas.openxmlformats.org/officeDocument/2006/relationships/slide" Target="slides/slide9.xml"/><Relationship Id="rId46" Type="http://schemas.openxmlformats.org/officeDocument/2006/relationships/slide" Target="slides/slide27.xml"/><Relationship Id="rId49" Type="http://schemas.openxmlformats.org/officeDocument/2006/relationships/slide" Target="slides/slide28.xml"/><Relationship Id="rId57" Type="http://schemas.openxmlformats.org/officeDocument/2006/relationships/slide" Target="slides/slide29.xml"/><Relationship Id="rId61" Type="http://schemas.openxmlformats.org/officeDocument/2006/relationships/slide" Target="slides/slide30.xml"/><Relationship Id="rId64" Type="http://schemas.openxmlformats.org/officeDocument/2006/relationships/slide" Target="slides/slide31.xml"/><Relationship Id="rId65" Type="http://schemas.openxmlformats.org/officeDocument/2006/relationships/slide" Target="slides/slide32.xml"/><Relationship Id="rId66" Type="http://schemas.openxmlformats.org/officeDocument/2006/relationships/slide" Target="slides/slide36.xml"/><Relationship Id="rId67" Type="http://schemas.openxmlformats.org/officeDocument/2006/relationships/slide" Target="slides/slide37.xml"/><Relationship Id="rId68" Type="http://schemas.openxmlformats.org/officeDocument/2006/relationships/slide" Target="slides/slide38.xml"/><Relationship Id="rId69" Type="http://schemas.openxmlformats.org/officeDocument/2006/relationships/font" Target="fonts/CambriaMath-regular.fntdata"/><Relationship Id="rId70" Type="http://schemas.openxmlformats.org/officeDocument/2006/relationships/slide" Target="slides/slide24.xml"/><Relationship Id="rId71" Type="http://schemas.openxmlformats.org/officeDocument/2006/relationships/slide" Target="slides/slide25.xml"/><Relationship Id="rId72" Type="http://schemas.openxmlformats.org/officeDocument/2006/relationships/slide" Target="slides/slide7.xml"/><Relationship Id="rId73" Type="http://schemas.openxmlformats.org/officeDocument/2006/relationships/slide" Target="slides/slide22.xml"/><Relationship Id="rId74" Type="http://schemas.openxmlformats.org/officeDocument/2006/relationships/slide" Target="slides/slide33.xml"/><Relationship Id="rId75" Type="http://schemas.openxmlformats.org/officeDocument/2006/relationships/slide" Target="slides/slide40.xml"/><Relationship Id="rId76" Type="http://schemas.openxmlformats.org/officeDocument/2006/relationships/slide" Target="slides/slide41.xml"/><Relationship Id="rId77" Type="http://schemas.openxmlformats.org/officeDocument/2006/relationships/slide" Target="slides/slide42.xml"/><Relationship Id="rId78" Type="http://schemas.openxmlformats.org/officeDocument/2006/relationships/slide" Target="slides/slide43.xml"/><Relationship Id="rId79" Type="http://schemas.openxmlformats.org/officeDocument/2006/relationships/slide" Target="slides/slide44.xml"/><Relationship Id="rId80" Type="http://schemas.openxmlformats.org/officeDocument/2006/relationships/slide" Target="slides/slide45.xml"/><Relationship Id="rId81"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4 | DIVIDER</a:t>
            </a:r>
          </a:p>
          <a:p xmlns:a="http://schemas.openxmlformats.org/drawingml/2006/main">
            <a:pPr>
              <a:buNone/>
            </a:pPr>
            <a:r>
              <a:rPr lang="en-US" sz="1100"/>
              <a:t>Focus on the existing task: Describe Data by Mean Absolute Deviation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5 | WORKED</a:t>
            </a:r>
          </a:p>
          <a:p xmlns:a="http://schemas.openxmlformats.org/drawingml/2006/main">
            <a:pPr>
              <a:buNone/>
            </a:pPr>
            <a:r>
              <a:rPr lang="en-US" sz="1100"/>
              <a:t>Focus on the existing task: Give Me Five Use all the numbers in any order with any operation to equal the target number (in red).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10   2) 6   3) 12   4) 2.4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find the mean; find nonnegative distances from it; average those distances; interpret MAD. Review recent work and today’s warm-up to choose flexible groups and access supports; do not infer needs from identity or perceived ability. Use the existing lesson tasks and stated standards.</a:t>
            </a:r>
          </a:p>
          <a:p>
            <a:pPr>
              <a:buNone/>
            </a:pPr>
            <a:r>
              <a:rPr lang="en-US" sz="1100"/>
              <a:t>Anticipate: allowing positive and negative deviations to cancel. If observed, organize the original data into value, distance from mean, and total distance columns.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6 | GOAL</a:t>
            </a:r>
          </a:p>
          <a:p xmlns:a="http://schemas.openxmlformats.org/drawingml/2006/main">
            <a:pPr>
              <a:buNone/>
            </a:pPr>
            <a:r>
              <a:rPr lang="en-US" sz="1100"/>
              <a:t>Focus on the existing task: Today’s Objectives Describe Data by Mean Absolute…</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find the mean; find nonnegative distances from it; average those distances; interpret MAD.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14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 | NOTES</a:t>
            </a:r>
          </a:p>
          <a:p xmlns:a="http://schemas.openxmlformats.org/drawingml/2006/main">
            <a:pPr>
              <a:buNone/>
            </a:pPr>
            <a:r>
              <a:rPr lang="en-US" sz="1100"/>
              <a:t>Focus on the existing task: Today’s Math Notes Section 1: Math Words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8" name="Google Shape;498;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6" name="Google Shape;526;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15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62" name="Google Shape;562;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16 | REVEAL</a:t>
            </a:r>
          </a:p>
          <a:p xmlns:a="http://schemas.openxmlformats.org/drawingml/2006/main">
            <a:pPr>
              <a:buNone/>
            </a:pPr>
            <a:r>
              <a:rPr lang="en-US" sz="1100"/>
              <a:t>Focus on the existing task: The forecast shows the expected high temperatures for a week. The mean high temperature for the week is 79°F. How can you describe the variation in high temperatures over the week?</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vary from 68 ° F to 90 ° F.</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 we use distance from the mean, and what does the final average distance tell us?” Wait for evidence, invite another pathway, and have a student ask a follow-up question. Do not replace students’ reasoning with a sequence of leading steps.</a:t>
            </a:r>
          </a:p>
        </p:txBody>
      </p:sp>
      <p:sp>
        <p:nvSpPr>
          <p:cNvPr id="590" name="Google Shape;590;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17 | REVEAL</a:t>
            </a:r>
          </a:p>
          <a:p xmlns:a="http://schemas.openxmlformats.org/drawingml/2006/main">
            <a:pPr>
              <a:buNone/>
            </a:pPr>
            <a:r>
              <a:rPr lang="en-US" sz="1100"/>
              <a:t>Focus on the existing task: The forecast shows the expected high temperatures for a week. The mean high temperature for the week is 79°F. How can you describe the variation in high temperatures over the week?</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Some temperatures are below the mean, and some are above the mean.</a:t>
            </a:r>
          </a:p>
          <a:p>
            <a:pPr indent="0" lvl="0" marL="0" rtl="0" algn="l">
              <a:lnSpc>
                <a:spcPct val="100000"/>
              </a:lnSpc>
              <a:spcBef>
                <a:spcPts val="0"/>
              </a:spcBef>
              <a:spcAft>
                <a:spcPts val="0"/>
              </a:spcAft>
              <a:buSzPts val="1400"/>
              <a:buNone/>
            </a:pPr>
            <a:r>
              <a:t>UIFR: TEACH 3 · TEACH 4.</a:t>
            </a:r>
          </a:p>
        </p:txBody>
      </p:sp>
      <p:sp>
        <p:nvSpPr>
          <p:cNvPr id="608" name="Google Shape;608;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18 | REVEAL</a:t>
            </a:r>
          </a:p>
          <a:p xmlns:a="http://schemas.openxmlformats.org/drawingml/2006/main">
            <a:pPr>
              <a:buNone/>
            </a:pPr>
            <a:r>
              <a:rPr lang="en-US" sz="1100"/>
              <a:t>Focus on the existing task: The mean absolute deviation describes by how much the values in a data set deviate, or differ, from the mean. How can you determine by how much each value differs from the mean?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distance between each data value and the mean of the data.</a:t>
            </a:r>
          </a:p>
          <a:p>
            <a:pPr indent="0" lvl="0" marL="0" rtl="0" algn="l">
              <a:lnSpc>
                <a:spcPct val="100000"/>
              </a:lnSpc>
              <a:spcBef>
                <a:spcPts val="0"/>
              </a:spcBef>
              <a:spcAft>
                <a:spcPts val="0"/>
              </a:spcAft>
              <a:buSzPts val="1400"/>
              <a:buNone/>
            </a:pPr>
            <a:r>
              <a:t>UIFR: TEACH 3 · TEACH 4.</a:t>
            </a:r>
          </a:p>
        </p:txBody>
      </p:sp>
      <p:sp>
        <p:nvSpPr>
          <p:cNvPr id="642" name="Google Shape;642;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19 | COLLABORATE</a:t>
            </a:r>
          </a:p>
          <a:p xmlns:a="http://schemas.openxmlformats.org/drawingml/2006/main">
            <a:pPr>
              <a:buNone/>
            </a:pPr>
            <a:r>
              <a:rPr lang="en-US" sz="1100"/>
              <a:t>Focus on the existing task: Step 1: Let’s determine how much each value deviates from the mean. By how much does each value deviate from the mean?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allowing positive and negative deviations to cancel. If it appears, organize the original data into value, distance from mean, and total distance columns; then ask the student to revise the same response and explain the change. If evidence is secure, have students compare a second valid pathway or state why their approach works. Choose the next step from the responses, not a preset pace.</a:t>
            </a:r>
          </a:p>
        </p:txBody>
      </p:sp>
      <p:sp>
        <p:nvSpPr>
          <p:cNvPr id="651" name="Google Shape;651;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20 | REVEAL</a:t>
            </a:r>
          </a:p>
          <a:p xmlns:a="http://schemas.openxmlformats.org/drawingml/2006/main">
            <a:pPr>
              <a:buNone/>
            </a:pPr>
            <a:r>
              <a:rPr lang="en-US" sz="1100"/>
              <a:t>Focus on the existing task: Given the absolute deviation of each data value, how do you think you can find the mean absolute deviation?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mean of the absolute deviations.</a:t>
            </a:r>
          </a:p>
          <a:p>
            <a:pPr indent="0" lvl="0" marL="0" rtl="0" algn="l">
              <a:lnSpc>
                <a:spcPct val="100000"/>
              </a:lnSpc>
              <a:spcBef>
                <a:spcPts val="0"/>
              </a:spcBef>
              <a:spcAft>
                <a:spcPts val="0"/>
              </a:spcAft>
              <a:buSzPts val="1400"/>
              <a:buNone/>
            </a:pPr>
            <a:r>
              <a:t>UIFR: TEACH 3 · TEACH 4.</a:t>
            </a:r>
          </a:p>
        </p:txBody>
      </p:sp>
      <p:sp>
        <p:nvSpPr>
          <p:cNvPr id="670" name="Google Shape;670;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21 | PRACTICE</a:t>
            </a:r>
          </a:p>
          <a:p xmlns:a="http://schemas.openxmlformats.org/drawingml/2006/main">
            <a:pPr>
              <a:buNone/>
            </a:pPr>
            <a:r>
              <a:rPr lang="en-US" sz="1100"/>
              <a:t>Focus on the existing task: What is the mean and mean absolute deviation of the data?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nonnegative distances from it.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26" name="Google Shape;726;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26 | DIVIDER</a:t>
            </a:r>
          </a:p>
          <a:p xmlns:a="http://schemas.openxmlformats.org/drawingml/2006/main">
            <a:pPr>
              <a:buNone/>
            </a:pPr>
            <a:r>
              <a:rPr lang="en-US" sz="1100"/>
              <a:t>Focus on the existing task: Describe Data by Mean Absolute Deviation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38" name="Google Shape;738;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27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755" name="Google Shape;755;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28 | REVEAL</a:t>
            </a:r>
          </a:p>
          <a:p xmlns:a="http://schemas.openxmlformats.org/drawingml/2006/main">
            <a:pPr>
              <a:buNone/>
            </a:pPr>
            <a:r>
              <a:rPr lang="en-US" sz="1100"/>
              <a:t>Focus on the existing task: The forecasted high temperatures for two cities are shown. The mean forecasted high temperature for each city is 79°F. Which city will have less variation in the high temperatures?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Both cities have a forecasted mean high temperature of 79 ° F. City A’s temperatures range from 62 ° F to 92 ° F, while City B’s temperatures range from 72 ° F to 85 ° F.</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 we use distance from the mean, and what does the final average distance tell us?” Wait for evidence, invite another pathway, and have a student ask a follow-up question. Do not replace students’ reasoning with a sequence of leading steps.</a:t>
            </a:r>
          </a:p>
        </p:txBody>
      </p:sp>
      <p:sp>
        <p:nvSpPr>
          <p:cNvPr id="783" name="Google Shape;783;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29 | WORKED</a:t>
            </a:r>
          </a:p>
          <a:p xmlns:a="http://schemas.openxmlformats.org/drawingml/2006/main">
            <a:pPr>
              <a:buNone/>
            </a:pPr>
            <a:r>
              <a:rPr lang="en-US" sz="1100"/>
              <a:t>Focus on the existing task: Let’s add the absolute deviations and divide the sum by the number of deviations. The mean absolute deviation of City A is 8.57°F.</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56" name="Google Shape;856;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30 | REVEAL</a:t>
            </a:r>
          </a:p>
          <a:p xmlns:a="http://schemas.openxmlformats.org/drawingml/2006/main">
            <a:pPr>
              <a:buNone/>
            </a:pPr>
            <a:r>
              <a:rPr lang="en-US" sz="1100"/>
              <a:t>Focus on the existing task: City A MAD = 8.57 City B MAD = 3.71 How do the mean absolute deviations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MAD for City A is greater than the MAD for City B.</a:t>
            </a:r>
          </a:p>
          <a:p>
            <a:pPr indent="0" lvl="0" marL="0" rtl="0" algn="l">
              <a:lnSpc>
                <a:spcPct val="100000"/>
              </a:lnSpc>
              <a:spcBef>
                <a:spcPts val="0"/>
              </a:spcBef>
              <a:spcAft>
                <a:spcPts val="0"/>
              </a:spcAft>
              <a:buSzPts val="1400"/>
              <a:buNone/>
            </a:pPr>
            <a:r>
              <a:t>UIFR: TEACH 3 · TEACH 4.</a:t>
            </a:r>
          </a:p>
        </p:txBody>
      </p:sp>
      <p:sp>
        <p:nvSpPr>
          <p:cNvPr id="893" name="Google Shape;893;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31 | PRACTICE</a:t>
            </a:r>
          </a:p>
          <a:p xmlns:a="http://schemas.openxmlformats.org/drawingml/2006/main">
            <a:pPr>
              <a:buNone/>
            </a:pPr>
            <a:r>
              <a:rPr lang="en-US" sz="1100"/>
              <a:t>Focus on the existing task: Let’s Explore More What do you notice about the absolute deviations for each city that can help you determine which data set will have a greater mean absolute deviation?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allowing positive and negative deviations to cancel. If it appears, organize the original data into value, distance from mean, and total distance columns; then ask the student to revise the same response and explain the change. If evidence is secure, have students compare a second valid pathway or state why their approach works. Choose the next step from the responses, not a preset pace.</a:t>
            </a:r>
          </a:p>
        </p:txBody>
      </p:sp>
      <p:sp>
        <p:nvSpPr>
          <p:cNvPr id="925" name="Google Shape;925;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32 | PRACTICE</a:t>
            </a:r>
          </a:p>
          <a:p xmlns:a="http://schemas.openxmlformats.org/drawingml/2006/main">
            <a:pPr>
              <a:buNone/>
            </a:pPr>
            <a:r>
              <a:rPr lang="en-US" sz="1100"/>
              <a:t>Focus on the existing task: Let’s Explore More How are the mean absolute deviation and interquartile range similar and how are they different?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37" name="Google Shape;937;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36 | SUMMARIZE</a:t>
            </a:r>
          </a:p>
          <a:p xmlns:a="http://schemas.openxmlformats.org/drawingml/2006/main">
            <a:pPr>
              <a:buNone/>
            </a:pPr>
            <a:r>
              <a:rPr lang="en-US" sz="1100"/>
              <a:t>Focus on the existing task: Mean absolute deviation is a measure of variation. It is the mean of all the absolute deviations, or the absolute difference between each…</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45" name="Google Shape;945;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37 | APPLY</a:t>
            </a:r>
          </a:p>
          <a:p xmlns:a="http://schemas.openxmlformats.org/drawingml/2006/main">
            <a:pPr>
              <a:buNone/>
            </a:pPr>
            <a:r>
              <a:rPr lang="en-US" sz="1100"/>
              <a:t>Focus on the existing task: Apply: Water Parks Andrew and his friends want to visit a waterpark, but Andrew must take his younger sister who is 8 years old and can…</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find the mean; find nonnegative distances from it; average those distances; interpret MAD. Respond with one specific next step tied to the work. Students revise and annotate what changed, then identify a criterion they can now demonstrate and one they still need to practice.</a:t>
            </a:r>
          </a:p>
        </p:txBody>
      </p:sp>
      <p:sp>
        <p:nvSpPr>
          <p:cNvPr id="952" name="Google Shape;952;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2.9, slide 38 | REFLECTION</a:t>
            </a:r>
          </a:p>
          <a:p xmlns:a="http://schemas.openxmlformats.org/drawingml/2006/main">
            <a:pPr>
              <a:buNone/>
            </a:pPr>
            <a:r>
              <a:rPr lang="en-US" sz="1100"/>
              <a:t>Focus on the existing task: Learning Targets I can determine the mean absolute deviation (MAD) of a data set. I can compare data sets using the mean absolute deviation.</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60" name="Google Shape;960;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2.9, slide 24 | WARMUP</a:t>
            </a:r>
          </a:p>
          <a:p xmlns:a="http://schemas.openxmlformats.org/drawingml/2006/main">
            <a:pPr>
              <a:buNone/>
            </a:pPr>
            <a:r>
              <a:rPr lang="en-US" sz="1100"/>
              <a:t>Focus on the existing task: Session 2 Warm-Up Session 2 Warm-Up Quick review from Session 1 · about 4 minutes 1 What does MAD stand for?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find the mean; find nonnegative distances from it; average those distances; interpret MAD. Ask: “Which part of your work would show this?” Revisit that evidence after the task; a confidence rating alone is not evidence of understanding.</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2.9, slide 25 | NOTES</a:t>
            </a:r>
          </a:p>
          <a:p xmlns:a="http://schemas.openxmlformats.org/drawingml/2006/main">
            <a:pPr>
              <a:buNone/>
            </a:pPr>
            <a:r>
              <a:rPr lang="en-US" sz="1100"/>
              <a:t>Focus on the existing task: Review Notes Review Notes — Session 2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39 | REFLECTION</a:t>
            </a:r>
          </a:p>
          <a:p xmlns:a="http://schemas.openxmlformats.org/drawingml/2006/main">
            <a:pPr>
              <a:buNone/>
            </a:pPr>
            <a:r>
              <a:rPr lang="en-US" sz="1100"/>
              <a:t>Focus on the existing task: Learning Targets I can determine the mean absolute deviation (MAD) of a data set. I can compare data sets using the mean absolute deviation.</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allowing positive and negative deviations to cancel.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organize the original data into value, distance from mean, and total distance columns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7 | PRIOR_INSERT</a:t>
            </a:r>
          </a:p>
          <a:p xmlns:a="http://schemas.openxmlformats.org/drawingml/2006/main">
            <a:pPr>
              <a:buNone/>
            </a:pPr>
            <a:r>
              <a:rPr lang="en-US" sz="1100"/>
              <a:t>Focus on the existing task: LESSON 2.9 / OUR LEARNING What will show your learning?</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8 | VOCAB</a:t>
            </a:r>
          </a:p>
          <a:p xmlns:a="http://schemas.openxmlformats.org/drawingml/2006/main">
            <a:pPr>
              <a:buNone/>
            </a:pPr>
            <a:r>
              <a:rPr lang="en-US" sz="1100"/>
              <a:t>Focus on the existing task: Vocabulary 1 of 6 Mean Absolute Deviation The…</a:t>
            </a:r>
          </a:p>
          <a:p xmlns:a="http://schemas.openxmlformats.org/drawingml/2006/main">
            <a:pPr>
              <a:buNone/>
            </a:pPr>
            <a:r>
              <a:rPr lang="en-US" sz="1100"/>
              <a:t>ASK (T1/3/5): Where does “Mean Absolute Deviation”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9 | VOCAB</a:t>
            </a:r>
          </a:p>
          <a:p xmlns:a="http://schemas.openxmlformats.org/drawingml/2006/main">
            <a:pPr>
              <a:buNone/>
            </a:pPr>
            <a:r>
              <a:rPr lang="en-US" sz="1100"/>
              <a:t>Focus on the existing task: Vocabulary 2 of 6 Deviation How far a number is…</a:t>
            </a:r>
          </a:p>
          <a:p xmlns:a="http://schemas.openxmlformats.org/drawingml/2006/main">
            <a:pPr>
              <a:buNone/>
            </a:pPr>
            <a:r>
              <a:rPr lang="en-US" sz="1100"/>
              <a:t>ASK (T1/3/5): Where does “Deviation”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10 | VOCAB</a:t>
            </a:r>
          </a:p>
          <a:p xmlns:a="http://schemas.openxmlformats.org/drawingml/2006/main">
            <a:pPr>
              <a:buNone/>
            </a:pPr>
            <a:r>
              <a:rPr lang="en-US" sz="1100"/>
              <a:t>Focus on the existing task: Vocabulary 3 of 6 Absolute Value How far a number…</a:t>
            </a:r>
          </a:p>
          <a:p xmlns:a="http://schemas.openxmlformats.org/drawingml/2006/main">
            <a:pPr>
              <a:buNone/>
            </a:pPr>
            <a:r>
              <a:rPr lang="en-US" sz="1100"/>
              <a:t>ASK (T1/3/5): Where does “Absolute Value”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11 | VOCAB</a:t>
            </a:r>
          </a:p>
          <a:p xmlns:a="http://schemas.openxmlformats.org/drawingml/2006/main">
            <a:pPr>
              <a:buNone/>
            </a:pPr>
            <a:r>
              <a:rPr lang="en-US" sz="1100"/>
              <a:t>Focus on the existing task: Vocabulary 4 of 6 Spread How far apart the…</a:t>
            </a:r>
          </a:p>
          <a:p xmlns:a="http://schemas.openxmlformats.org/drawingml/2006/main">
            <a:pPr>
              <a:buNone/>
            </a:pPr>
            <a:r>
              <a:rPr lang="en-US" sz="1100"/>
              <a:t>ASK (T1/3/5): Where does “Spread”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12 | VOCAB</a:t>
            </a:r>
          </a:p>
          <a:p xmlns:a="http://schemas.openxmlformats.org/drawingml/2006/main">
            <a:pPr>
              <a:buNone/>
            </a:pPr>
            <a:r>
              <a:rPr lang="en-US" sz="1100"/>
              <a:t>Focus on the existing task: Vocabulary 5 of 6 Data distribution How the data…</a:t>
            </a:r>
          </a:p>
          <a:p xmlns:a="http://schemas.openxmlformats.org/drawingml/2006/main">
            <a:pPr>
              <a:buNone/>
            </a:pPr>
            <a:r>
              <a:rPr lang="en-US" sz="1100"/>
              <a:t>ASK (T1/3/5): Where does “Data distribution”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13 | VOCAB</a:t>
            </a:r>
          </a:p>
          <a:p xmlns:a="http://schemas.openxmlformats.org/drawingml/2006/main">
            <a:pPr>
              <a:buNone/>
            </a:pPr>
            <a:r>
              <a:rPr lang="en-US" sz="1100"/>
              <a:t>Focus on the existing task: Vocabulary 6 of 6 Variability How spread out the…</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22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23 | REVEAL</a:t>
            </a:r>
          </a:p>
          <a:p xmlns:a="http://schemas.openxmlformats.org/drawingml/2006/main">
            <a:pPr>
              <a:buNone/>
            </a:pPr>
            <a:r>
              <a:rPr lang="en-US" sz="1100"/>
              <a:t>Focus on the existing task: Reveal: It describes that each data value is about 5.71 degrees above or below the mean of 79 degrees. What does the mean absolute deviation describe?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33 | PRIOR_INSERT</a:t>
            </a:r>
          </a:p>
          <a:p xmlns:a="http://schemas.openxmlformats.org/drawingml/2006/main">
            <a:pPr>
              <a:buNone/>
            </a:pPr>
            <a:r>
              <a:rPr lang="en-US" sz="1100"/>
              <a:t>Focus on the existing task: LESSON 2.9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34 | REVEAL</a:t>
            </a:r>
          </a:p>
          <a:p xmlns:a="http://schemas.openxmlformats.org/drawingml/2006/main">
            <a:pPr>
              <a:buNone/>
            </a:pPr>
            <a:r>
              <a:rPr lang="en-US" sz="1100"/>
              <a:t>Focus on the existing task: How can you use the mean absolute deviation to verify your assumption?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35 | REVEAL</a:t>
            </a:r>
          </a:p>
          <a:p xmlns:a="http://schemas.openxmlformats.org/drawingml/2006/main">
            <a:pPr>
              <a:buNone/>
            </a:pPr>
            <a:r>
              <a:rPr lang="en-US" sz="1100"/>
              <a:t>Focus on the existing task: What operation can you use to find the absolute deviation for each value?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find the mean. Ask which feature of their work supports the claim.</a:t>
            </a:r>
          </a:p>
          <a:p xmlns:a="http://schemas.openxmlformats.org/drawingml/2006/main">
            <a:pPr>
              <a:buNone/>
            </a:pPr>
            <a:r>
              <a:rPr lang="en-US" sz="1100"/>
              <a:t>RESPOND: If this task shows the lesson misconception—allowing positive and negative deviations to cancel—organize the original data into value, distance from mean, and total distance columns.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2.9, slide 40 | PRIOR_INSERT</a:t>
            </a:r>
          </a:p>
          <a:p xmlns:a="http://schemas.openxmlformats.org/drawingml/2006/main">
            <a:pPr>
              <a:buNone/>
            </a:pPr>
            <a:r>
              <a:rPr lang="en-US" sz="1100"/>
              <a:t>Focus on the existing task: LESSON 2.9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find the mean; find nonnegative distances from it; average those distances; interpret MAD.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by Mean Absolute Deviation</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by Mean Absolute Deviation</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notesSlide" Target="../notesSlides/notesSlide7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2-9 · Describe Data by Mean Absolute Deviation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Mean of 6, 8, 10, 12, 14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The mean is 20. How far is 26 from the mean?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4 + 2 + 0 + 2 + 4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12 ÷ 5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3" name="Google Shape;503;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504" name="Google Shape;504;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6" name="Google Shape;506;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07" name="Google Shape;507;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09" name="Google Shape;509;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2" name="Google Shape;512;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Mean Absolute Deviation</a:t>
            </a:r>
            <a:endParaRPr/>
          </a:p>
        </p:txBody>
      </p:sp>
      <p:sp>
        <p:nvSpPr>
          <p:cNvPr id="513" name="Google Shape;513;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average </a:t>
            </a:r>
            <a:r>
              <a:rPr b="1" i="0" lang="en-US" sz="1450" u="none" cap="none" strike="noStrike">
                <a:solidFill>
                  <a:srgbClr val="475569"/>
                </a:solidFill>
                <a:latin typeface="Arial"/>
                <a:ea typeface="Arial"/>
                <a:cs typeface="Arial"/>
                <a:sym typeface="Arial"/>
              </a:rPr>
              <a:t xml:space="preserve">distance</a:t>
            </a:r>
            <a:r>
              <a:rPr b="0" i="0" lang="en-US" sz="1450" u="none" cap="none" strike="noStrike">
                <a:solidFill>
                  <a:srgbClr val="475569"/>
                </a:solidFill>
                <a:latin typeface="Arial"/>
                <a:ea typeface="Arial"/>
                <a:cs typeface="Arial"/>
                <a:sym typeface="Arial"/>
              </a:rPr>
              <a:t xml:space="preserve"> of data values from the </a:t>
            </a:r>
            <a:r>
              <a:rPr b="1" i="0" lang="en-US" sz="1450" u="none" cap="none" strike="noStrike">
                <a:solidFill>
                  <a:srgbClr val="475569"/>
                </a:solidFill>
                <a:latin typeface="Arial"/>
                <a:ea typeface="Arial"/>
                <a:cs typeface="Arial"/>
                <a:sym typeface="Arial"/>
              </a:rPr>
              <a:t xml:space="preserve">mean</a:t>
            </a:r>
            <a:endParaRPr/>
          </a:p>
        </p:txBody>
      </p:sp>
      <p:sp>
        <p:nvSpPr>
          <p:cNvPr id="514" name="Google Shape;514;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7" name="Google Shape;517;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Deviation</a:t>
            </a:r>
            <a:endParaRPr/>
          </a:p>
        </p:txBody>
      </p:sp>
      <p:sp>
        <p:nvSpPr>
          <p:cNvPr id="518" name="Google Shape;518;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How far a number is from the mean</a:t>
            </a:r>
            <a:endParaRPr/>
          </a:p>
        </p:txBody>
      </p:sp>
      <p:sp>
        <p:nvSpPr>
          <p:cNvPr id="519" name="Google Shape;519;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2" name="Google Shape;522;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Absolute Value</a:t>
            </a:r>
            <a:endParaRPr/>
          </a:p>
        </p:txBody>
      </p:sp>
      <p:sp>
        <p:nvSpPr>
          <p:cNvPr id="523" name="Google Shape;523;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How far a number is from zero</a:t>
            </a:r>
            <a:endParaRPr/>
          </a:p>
        </p:txBody>
      </p:sp>
      <p:sp>
        <p:nvSpPr>
          <p:cNvPr id="5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46</a:t>
            </a:r>
          </a:p>
        </p:txBody>
      </p:sp>
      <p:grpSp>
        <p:nvGrpSpPr>
          <p:cNvPr id="525" name="TEACH-1-student-move" descr="TEACH 1 · Facilitate clear, standards-based content learning"/>
          <p:cNvGrpSpPr/>
          <p:nvPr/>
        </p:nvGrpSpPr>
        <p:grpSpPr>
          <a:xfrm>
            <a:off x="6187440" y="1682496"/>
            <a:ext cx="5501640" cy="594360"/>
            <a:chOff x="6187440" y="1682496"/>
            <a:chExt cx="5501640" cy="594360"/>
          </a:xfrm>
        </p:grpSpPr>
        <p:sp>
          <p:nvSpPr>
            <p:cNvPr id="52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31" name="Google Shape;531;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532" name="Google Shape;532;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4" name="Google Shape;534;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35" name="Google Shape;535;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37" name="Google Shape;537;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Mean Absolute Deviation (MAD)</a:t>
            </a:r>
            <a:endParaRPr/>
          </a:p>
        </p:txBody>
      </p:sp>
      <p:sp>
        <p:nvSpPr>
          <p:cNvPr id="539" name="Google Shape;539;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MAD = (Sum of distances from mean) ÷ (Total count)</a:t>
            </a:r>
            <a:endParaRPr/>
          </a:p>
        </p:txBody>
      </p:sp>
      <p:sp>
        <p:nvSpPr>
          <p:cNvPr id="541" name="Google Shape;541;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3" name="Google Shape;543;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Calculate the </a:t>
            </a:r>
            <a:r>
              <a:rPr b="1" i="0" lang="en-US" sz="1600" u="none" cap="none" strike="noStrike">
                <a:solidFill>
                  <a:srgbClr val="14223A"/>
                </a:solidFill>
                <a:latin typeface="Arial"/>
                <a:ea typeface="Arial"/>
                <a:cs typeface="Arial"/>
                <a:sym typeface="Arial"/>
              </a:rPr>
              <a:t xml:space="preserve">mean</a:t>
            </a:r>
            <a:r>
              <a:rPr b="0" i="0" lang="en-US" sz="1600" u="none" cap="none" strike="noStrike">
                <a:solidFill>
                  <a:srgbClr val="14223A"/>
                </a:solidFill>
                <a:latin typeface="Arial"/>
                <a:ea typeface="Arial"/>
                <a:cs typeface="Arial"/>
                <a:sym typeface="Arial"/>
              </a:rPr>
              <a:t xml:space="preserve"> of the data set</a:t>
            </a:r>
            <a:endParaRPr/>
          </a:p>
        </p:txBody>
      </p:sp>
      <p:sp>
        <p:nvSpPr>
          <p:cNvPr id="544" name="Google Shape;544;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6" name="Google Shape;546;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Find the </a:t>
            </a:r>
            <a:r>
              <a:rPr b="1" i="0" lang="en-US" sz="1600" u="none" cap="none" strike="noStrike">
                <a:solidFill>
                  <a:srgbClr val="14223A"/>
                </a:solidFill>
                <a:latin typeface="Arial"/>
                <a:ea typeface="Arial"/>
                <a:cs typeface="Arial"/>
                <a:sym typeface="Arial"/>
              </a:rPr>
              <a:t xml:space="preserve">distance</a:t>
            </a:r>
            <a:r>
              <a:rPr b="0" i="0" lang="en-US" sz="1600" u="none" cap="none" strike="noStrike">
                <a:solidFill>
                  <a:srgbClr val="14223A"/>
                </a:solidFill>
                <a:latin typeface="Arial"/>
                <a:ea typeface="Arial"/>
                <a:cs typeface="Arial"/>
                <a:sym typeface="Arial"/>
              </a:rPr>
              <a:t xml:space="preserve"> (absolute difference |value − mean|) for each data point</a:t>
            </a:r>
            <a:endParaRPr/>
          </a:p>
        </p:txBody>
      </p:sp>
      <p:sp>
        <p:nvSpPr>
          <p:cNvPr id="547" name="Google Shape;547;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9" name="Google Shape;549;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Average the distances: </a:t>
            </a:r>
            <a:r>
              <a:rPr b="0" i="0" lang="en-US" sz="1600" u="none" cap="none" strike="noStrike">
                <a:solidFill>
                  <a:srgbClr val="14223A"/>
                </a:solidFill>
                <a:latin typeface="Arial"/>
                <a:ea typeface="Arial"/>
                <a:cs typeface="Arial"/>
                <a:sym typeface="Arial"/>
              </a:rPr>
              <a:t>Add all distances and divide by the count</a:t>
            </a:r>
            <a:endParaRPr/>
          </a:p>
        </p:txBody>
      </p:sp>
      <p:sp>
        <p:nvSpPr>
          <p:cNvPr id="5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46</a:t>
            </a:r>
          </a:p>
        </p:txBody>
      </p:sp>
      <p:sp xmlns:p="http://schemas.openxmlformats.org/presentationml/2006/main" xmlns:a="http://schemas.openxmlformats.org/drawingml/2006/main">
        <p:nvSpPr>
          <p:cNvPr id="551"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632602"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by Mean Absolute Deviation</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46</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505578" y="1224282"/>
            <a:ext cx="732836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Use all the numbers in any order with any operation to equal the target number (in red).</a:t>
            </a:r>
            <a:endParaRPr b="0" i="0" sz="1400" u="none" cap="none" strike="noStrike">
              <a:solidFill>
                <a:srgbClr val="000000"/>
              </a:solidFill>
              <a:latin typeface="Arial"/>
              <a:ea typeface="Arial"/>
              <a:cs typeface="Arial"/>
              <a:sym typeface="Arial"/>
            </a:endParaRPr>
          </a:p>
        </p:txBody>
      </p:sp>
      <p:pic>
        <p:nvPicPr>
          <p:cNvPr id="243" name="Google Shape;243;p41"/>
          <p:cNvPicPr preferRelativeResize="0"/>
          <p:nvPr/>
        </p:nvPicPr>
        <p:blipFill rotWithShape="1">
          <a:blip r:embed="rId3">
            <a:alphaModFix/>
          </a:blip>
          <a:srcRect b="0" l="0" r="0" t="0"/>
          <a:stretch/>
        </p:blipFill>
        <p:spPr>
          <a:xfrm>
            <a:off x="2116384" y="2592571"/>
            <a:ext cx="6422231" cy="2480310"/>
          </a:xfrm>
          <a:prstGeom prst="rect">
            <a:avLst/>
          </a:prstGeom>
          <a:noFill/>
          <a:ln>
            <a:noFill/>
          </a:ln>
        </p:spPr>
      </p:pic>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46</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Describe Data by Mean Absolute Deviation</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6.DS.6c</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mean absolute deviation (MAD) to describe how spread out data is.</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mean absolute deviation, deviation, absolute value, and spread.</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46</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2.9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713232"/>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Find the mean.</a:t>
            </a:r>
          </a:p>
        </p:txBody>
      </p:sp>
      <p:sp>
        <p:nvSpPr>
          <p:cNvPr id="8" name="Oval 7"/>
          <p:cNvSpPr/>
          <p:nvPr/>
        </p:nvSpPr>
        <p:spPr>
          <a:xfrm>
            <a:off x="640080" y="2679191"/>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73405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660903"/>
            <a:ext cx="10012680" cy="713232"/>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Find nonnegative distances from it.</a:t>
            </a:r>
          </a:p>
        </p:txBody>
      </p:sp>
      <p:sp>
        <p:nvSpPr>
          <p:cNvPr id="11" name="Oval 10"/>
          <p:cNvSpPr/>
          <p:nvPr/>
        </p:nvSpPr>
        <p:spPr>
          <a:xfrm>
            <a:off x="640080" y="3483863"/>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53872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465575"/>
            <a:ext cx="10012680" cy="713232"/>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Average those distances.</a:t>
            </a:r>
          </a:p>
        </p:txBody>
      </p:sp>
      <p:sp>
        <p:nvSpPr>
          <p:cNvPr id="14" name="Oval 13"/>
          <p:cNvSpPr/>
          <p:nvPr/>
        </p:nvSpPr>
        <p:spPr>
          <a:xfrm>
            <a:off x="640080" y="4288536"/>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4343399"/>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4</a:t>
            </a:r>
          </a:p>
        </p:txBody>
      </p:sp>
      <p:sp>
        <p:nvSpPr>
          <p:cNvPr id="16" name="TextBox 15"/>
          <p:cNvSpPr txBox="1"/>
          <p:nvPr/>
        </p:nvSpPr>
        <p:spPr>
          <a:xfrm>
            <a:off x="1399032" y="4270248"/>
            <a:ext cx="10012680" cy="713232"/>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Interpret MAD.</a:t>
            </a:r>
          </a:p>
        </p:txBody>
      </p:sp>
      <p:sp>
        <p:nvSpPr>
          <p:cNvPr id="17" name="Rounded Rectangle 16"/>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9" name="TEACH-1-student-move" descr="TEACH 1 · Facilitate clear, standards-based content learning"/>
          <p:cNvGrpSpPr/>
          <p:nvPr/>
        </p:nvGrpSpPr>
        <p:grpSpPr>
          <a:xfrm>
            <a:off x="502920" y="5824728"/>
            <a:ext cx="11186160" cy="402336"/>
            <a:chOff x="502920" y="5824728"/>
            <a:chExt cx="11186160" cy="402336"/>
          </a:xfrm>
        </p:grpSpPr>
        <p:sp>
          <p:nvSpPr>
            <p:cNvPr id="20"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21"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22"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6</a:t>
            </a:r>
            <a:endParaRPr/>
          </a:p>
        </p:txBody>
      </p:sp>
      <p:sp>
        <p:nvSpPr>
          <p:cNvPr id="395" name="Google Shape;395;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396" name="Google Shape;396;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46"/>
          <p:cNvSpPr txBox="1"/>
          <p:nvPr/>
        </p:nvSpPr>
        <p:spPr>
          <a:xfrm>
            <a:off x="640080" y="1841754"/>
            <a:ext cx="5897880" cy="70408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900" u="none" cap="none" strike="noStrike">
                <a:solidFill>
                  <a:srgbClr val="14223A"/>
                </a:solidFill>
                <a:latin typeface="Arial"/>
                <a:ea typeface="Arial"/>
                <a:cs typeface="Arial"/>
                <a:sym typeface="Arial"/>
              </a:rPr>
              <a:t>Mean Absolute Deviation</a:t>
            </a:r>
            <a:endParaRPr/>
          </a:p>
        </p:txBody>
      </p:sp>
      <p:sp>
        <p:nvSpPr>
          <p:cNvPr id="399" name="Google Shape;399;p46"/>
          <p:cNvSpPr/>
          <p:nvPr/>
        </p:nvSpPr>
        <p:spPr>
          <a:xfrm>
            <a:off x="658368" y="2600706"/>
            <a:ext cx="273405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640080" y="29618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average distance of data values from the mean; it describes spread.</a:t>
            </a:r>
            <a:endParaRPr/>
          </a:p>
        </p:txBody>
      </p:sp>
      <p:sp>
        <p:nvSpPr>
          <p:cNvPr id="401" name="Google Shape;401;p46"/>
          <p:cNvSpPr/>
          <p:nvPr/>
        </p:nvSpPr>
        <p:spPr>
          <a:xfrm>
            <a:off x="640080" y="40866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p:nvPr/>
        </p:nvSpPr>
        <p:spPr>
          <a:xfrm>
            <a:off x="640080" y="40866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932688" y="42603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46"/>
          <p:cNvSpPr txBox="1"/>
          <p:nvPr/>
        </p:nvSpPr>
        <p:spPr>
          <a:xfrm>
            <a:off x="932688" y="45620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MAD = sum of absolute distances from the mean ÷ number of values.</a:t>
            </a:r>
            <a:endParaRPr/>
          </a:p>
        </p:txBody>
      </p:sp>
      <p:pic>
        <p:nvPicPr>
          <p:cNvPr descr="mean-absolute-deviation.png" id="405" name="Google Shape;405;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46</a:t>
            </a:r>
          </a:p>
        </p:txBody>
      </p:sp>
      <p:sp xmlns:p="http://schemas.openxmlformats.org/presentationml/2006/main" xmlns:a="http://schemas.openxmlformats.org/drawingml/2006/main">
        <p:nvSpPr>
          <p:cNvPr id="406"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“Mean Absolute Deviation” to explain the example. Point</a:t>
            </a:r>
            <a:endParaRPr lang="en-US" sz="2000"/>
          </a:p>
          <a:p>
            <a:pPr>
              <a:lnSpc>
                <a:spcPts val="2400"/>
              </a:lnSpc>
              <a:buNone/>
            </a:pPr>
            <a:r>
              <a:rPr lang="en-US" sz="2000">
                <a:solidFill>
                  <a:srgbClr val="174D60"/>
                </a:solidFill>
                <a:latin typeface="Arial"/>
              </a:rPr>
              <a:t>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0" name="Google Shape;410;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3" name="Google Shape;413;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414" name="Google Shape;414;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6" name="Google Shape;416;p47"/>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Deviation</a:t>
            </a:r>
            <a:endParaRPr/>
          </a:p>
        </p:txBody>
      </p:sp>
      <p:sp>
        <p:nvSpPr>
          <p:cNvPr id="417" name="Google Shape;417;p47"/>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 number is from the mean.</a:t>
            </a:r>
            <a:endParaRPr/>
          </a:p>
        </p:txBody>
      </p:sp>
      <p:sp>
        <p:nvSpPr>
          <p:cNvPr id="419" name="Google Shape;419;p47"/>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2" name="Google Shape;422;p47"/>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mean = 20 and value = 17, deviation = 17 − 20 = −3 (3 below the mean)</a:t>
            </a:r>
            <a:endParaRPr/>
          </a:p>
        </p:txBody>
      </p:sp>
      <p:pic>
        <p:nvPicPr>
          <p:cNvPr descr="mean-absolute-deviation.png" id="423" name="Google Shape;423;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46</a:t>
            </a:r>
          </a:p>
        </p:txBody>
      </p:sp>
      <p:sp xmlns:p="http://schemas.openxmlformats.org/presentationml/2006/main" xmlns:a="http://schemas.openxmlformats.org/drawingml/2006/main">
        <p:nvSpPr>
          <p:cNvPr id="42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“Deviation”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8" name="Google Shape;428;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1" name="Google Shape;431;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432" name="Google Shape;432;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4" name="Google Shape;434;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Absolute Value</a:t>
            </a:r>
            <a:endParaRPr/>
          </a:p>
        </p:txBody>
      </p:sp>
      <p:sp>
        <p:nvSpPr>
          <p:cNvPr id="435" name="Google Shape;435;p48"/>
          <p:cNvSpPr/>
          <p:nvPr/>
        </p:nvSpPr>
        <p:spPr>
          <a:xfrm>
            <a:off x="658368" y="2737866"/>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 number is from zero. It is never negative.</a:t>
            </a:r>
            <a:endParaRPr/>
          </a:p>
        </p:txBody>
      </p:sp>
      <p:sp>
        <p:nvSpPr>
          <p:cNvPr id="437" name="Google Shape;437;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0" name="Google Shape;440;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 3 and |3| = 3 — both are 3 units from zero</a:t>
            </a:r>
            <a:endParaRPr/>
          </a:p>
        </p:txBody>
      </p:sp>
      <p:pic>
        <p:nvPicPr>
          <p:cNvPr descr="absolute-value.png" id="441" name="Google Shape;441;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46</a:t>
            </a:r>
          </a:p>
        </p:txBody>
      </p:sp>
      <p:sp xmlns:p="http://schemas.openxmlformats.org/presentationml/2006/main" xmlns:a="http://schemas.openxmlformats.org/drawingml/2006/main">
        <p:nvSpPr>
          <p:cNvPr id="442"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“Absolute Value”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6" name="Google Shape;446;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9" name="Google Shape;449;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450" name="Google Shape;450;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2" name="Google Shape;452;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Spread</a:t>
            </a:r>
            <a:endParaRPr/>
          </a:p>
        </p:txBody>
      </p:sp>
      <p:sp>
        <p:nvSpPr>
          <p:cNvPr id="453" name="Google Shape;453;p49"/>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apart the numbers are.</a:t>
            </a:r>
            <a:endParaRPr/>
          </a:p>
        </p:txBody>
      </p:sp>
      <p:sp>
        <p:nvSpPr>
          <p:cNvPr id="455" name="Google Shape;455;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8" name="Google Shape;458;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Low spread: 8, 9, 10, 11 (close together). High spread: 2, 9, 10, 25 (far apart)</a:t>
            </a:r>
            <a:endParaRPr/>
          </a:p>
        </p:txBody>
      </p:sp>
      <p:pic>
        <p:nvPicPr>
          <p:cNvPr descr="spread.png" id="459" name="Google Shape;459;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46</a:t>
            </a:r>
          </a:p>
        </p:txBody>
      </p:sp>
      <p:sp xmlns:p="http://schemas.openxmlformats.org/presentationml/2006/main" xmlns:a="http://schemas.openxmlformats.org/drawingml/2006/main">
        <p:nvSpPr>
          <p:cNvPr id="46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“Spread”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4" name="Google Shape;464;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7" name="Google Shape;467;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468" name="Google Shape;468;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0" name="Google Shape;470;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 distribution</a:t>
            </a:r>
            <a:endParaRPr/>
          </a:p>
        </p:txBody>
      </p:sp>
      <p:sp>
        <p:nvSpPr>
          <p:cNvPr id="471" name="Google Shape;471;p50"/>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the data looks: where it sits and how spread out it is.</a:t>
            </a:r>
            <a:endParaRPr/>
          </a:p>
        </p:txBody>
      </p:sp>
      <p:sp>
        <p:nvSpPr>
          <p:cNvPr id="473" name="Google Shape;473;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6" name="Google Shape;476;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set clustered tightly around the mean has low MAD; a set spread far from the mean has high MAD</a:t>
            </a:r>
            <a:endParaRPr/>
          </a:p>
        </p:txBody>
      </p:sp>
      <p:pic>
        <p:nvPicPr>
          <p:cNvPr descr="distribution.png" id="477" name="Google Shape;477;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46</a:t>
            </a:r>
          </a:p>
        </p:txBody>
      </p:sp>
      <p:sp xmlns:p="http://schemas.openxmlformats.org/presentationml/2006/main" xmlns:a="http://schemas.openxmlformats.org/drawingml/2006/main">
        <p:nvSpPr>
          <p:cNvPr id="47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distribution”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2" name="Google Shape;482;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5" name="Google Shape;485;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486" name="Google Shape;486;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489" name="Google Shape;489;p51"/>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spread out the numbers are.</a:t>
            </a:r>
            <a:endParaRPr/>
          </a:p>
        </p:txBody>
      </p:sp>
      <p:sp>
        <p:nvSpPr>
          <p:cNvPr id="491" name="Google Shape;491;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4" name="Google Shape;494;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Low variability (MAD = 1): very consistent. High variability (MAD = 8): very spread out</a:t>
            </a:r>
            <a:endParaRPr/>
          </a:p>
        </p:txBody>
      </p:sp>
      <p:pic>
        <p:nvPicPr>
          <p:cNvPr descr="spread.png" id="495" name="Google Shape;495;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46</a:t>
            </a:r>
          </a:p>
        </p:txBody>
      </p:sp>
      <p:sp xmlns:p="http://schemas.openxmlformats.org/presentationml/2006/main" xmlns:a="http://schemas.openxmlformats.org/drawingml/2006/main">
        <p:nvSpPr>
          <p:cNvPr id="49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Mean Absolute Deviation</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The average distance of data values from the mean; it describes spread</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Deviation</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far a number is from the mean</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Absolute Value</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far a number is from zero</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Spread</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far apart the numbers are</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Data distribution</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How the data looks: where it sits and how spread out it is</a:t>
            </a:r>
            <a:endParaRPr/>
          </a:p>
        </p:txBody>
      </p:sp>
      <p:sp>
        <p:nvSpPr>
          <p:cNvPr id="384" name="Google Shape;384;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Variability</a:t>
            </a:r>
            <a:endParaRPr/>
          </a:p>
        </p:txBody>
      </p:sp>
      <p:sp>
        <p:nvSpPr>
          <p:cNvPr id="387" name="Google Shape;387;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spread out the numbers are</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46</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cxnSp>
        <p:nvCxnSpPr>
          <p:cNvPr id="564" name="Google Shape;564;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5" name="Google Shape;565;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66" name="Google Shape;566;p55"/>
          <p:cNvSpPr txBox="1"/>
          <p:nvPr/>
        </p:nvSpPr>
        <p:spPr>
          <a:xfrm>
            <a:off x="484560" y="936100"/>
            <a:ext cx="4156451"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pic>
        <p:nvPicPr>
          <p:cNvPr id="567" name="Google Shape;567;p55"/>
          <p:cNvPicPr preferRelativeResize="0"/>
          <p:nvPr/>
        </p:nvPicPr>
        <p:blipFill rotWithShape="1">
          <a:blip r:embed="rId3">
            <a:alphaModFix/>
          </a:blip>
          <a:srcRect b="0" l="0" r="0" t="0"/>
          <a:stretch/>
        </p:blipFill>
        <p:spPr>
          <a:xfrm>
            <a:off x="484560" y="4685571"/>
            <a:ext cx="5054600" cy="838200"/>
          </a:xfrm>
          <a:prstGeom prst="rect">
            <a:avLst/>
          </a:prstGeom>
          <a:noFill/>
          <a:ln>
            <a:noFill/>
          </a:ln>
        </p:spPr>
      </p:pic>
      <p:sp>
        <p:nvSpPr>
          <p:cNvPr id="568" name="Google Shape;568;p55"/>
          <p:cNvSpPr txBox="1"/>
          <p:nvPr/>
        </p:nvSpPr>
        <p:spPr>
          <a:xfrm>
            <a:off x="3344577" y="484288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9" name="Google Shape;569;p55"/>
          <p:cNvSpPr/>
          <p:nvPr/>
        </p:nvSpPr>
        <p:spPr>
          <a:xfrm>
            <a:off x="697756" y="5500894"/>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do you show your classmates that you are listening attentively to their explanations?</a:t>
            </a:r>
            <a:endParaRPr b="0" i="0" sz="1400" u="none" cap="none" strike="noStrike">
              <a:solidFill>
                <a:srgbClr val="000000"/>
              </a:solidFill>
              <a:latin typeface="Arial"/>
              <a:ea typeface="Arial"/>
              <a:cs typeface="Arial"/>
              <a:sym typeface="Arial"/>
            </a:endParaRPr>
          </a:p>
        </p:txBody>
      </p:sp>
      <p:pic>
        <p:nvPicPr>
          <p:cNvPr id="570" name="Google Shape;570;p55"/>
          <p:cNvPicPr preferRelativeResize="0"/>
          <p:nvPr/>
        </p:nvPicPr>
        <p:blipFill rotWithShape="1">
          <a:blip r:embed="rId4">
            <a:alphaModFix/>
          </a:blip>
          <a:srcRect b="0" l="0" r="0" t="0"/>
          <a:stretch/>
        </p:blipFill>
        <p:spPr>
          <a:xfrm>
            <a:off x="4722936" y="1193679"/>
            <a:ext cx="4790341" cy="3408148"/>
          </a:xfrm>
          <a:prstGeom prst="rect">
            <a:avLst/>
          </a:prstGeom>
          <a:noFill/>
          <a:ln>
            <a:noFill/>
          </a:ln>
        </p:spPr>
      </p:pic>
      <p:sp>
        <p:nvSpPr>
          <p:cNvPr id="5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46</a:t>
            </a:r>
          </a:p>
        </p:txBody>
      </p:sp>
      <p:grpSp>
        <p:nvGrpSpPr>
          <p:cNvPr id="572" name="TEACH-3-student-move" descr="TEACH 3 · Use intentional questioning to deepen learning"/>
          <p:cNvGrpSpPr/>
          <p:nvPr/>
        </p:nvGrpSpPr>
        <p:grpSpPr>
          <a:xfrm>
            <a:off x="6187440" y="4824238"/>
            <a:ext cx="5501640" cy="594360"/>
            <a:chOff x="6187440" y="4824238"/>
            <a:chExt cx="5501640" cy="594360"/>
          </a:xfrm>
        </p:grpSpPr>
        <p:sp>
          <p:nvSpPr>
            <p:cNvPr id="573" name="TEACH-move-card"/>
            <p:cNvSpPr/>
            <p:nvPr/>
          </p:nvSpPr>
          <p:spPr>
            <a:xfrm>
              <a:off x="6187440" y="4824238"/>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74" name="TEACH-move-rule"/>
            <p:cNvSpPr/>
            <p:nvPr/>
          </p:nvSpPr>
          <p:spPr>
            <a:xfrm>
              <a:off x="6233160" y="4937166"/>
              <a:ext cx="100584" cy="368504"/>
            </a:xfrm>
            <a:prstGeom prst="roundRect">
              <a:avLst>
                <a:gd name="adj" fmla="val 50000"/>
              </a:avLst>
            </a:prstGeom>
            <a:solidFill>
              <a:srgbClr val="01708C"/>
            </a:solidFill>
            <a:ln>
              <a:noFill/>
            </a:ln>
          </p:spPr>
          <p:txBody>
            <a:bodyPr/>
            <a:lstStyle/>
            <a:p>
              <a:endParaRPr/>
            </a:p>
          </p:txBody>
        </p:sp>
        <p:sp>
          <p:nvSpPr>
            <p:cNvPr id="575" name="TEACH-move-text"/>
            <p:cNvSpPr txBox="1"/>
            <p:nvPr/>
          </p:nvSpPr>
          <p:spPr>
            <a:xfrm>
              <a:off x="6507480" y="4824238"/>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cxnSp>
        <p:nvCxnSpPr>
          <p:cNvPr id="592" name="Google Shape;592;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3" name="Google Shape;593;p58"/>
          <p:cNvSpPr txBox="1"/>
          <p:nvPr/>
        </p:nvSpPr>
        <p:spPr>
          <a:xfrm>
            <a:off x="484565" y="447287"/>
            <a:ext cx="6366435" cy="26423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forecast shows the expected high temperatures for a week. The mean high temperature for the week is 79°F. How can you describe the variation in high temperatures over the week?</a:t>
            </a:r>
            <a:endParaRPr b="1" i="0" sz="2800" u="none" cap="none" strike="noStrike">
              <a:solidFill>
                <a:srgbClr val="262626"/>
              </a:solidFill>
              <a:latin typeface="Arial"/>
              <a:ea typeface="Arial"/>
              <a:cs typeface="Arial"/>
              <a:sym typeface="Arial"/>
            </a:endParaRPr>
          </a:p>
        </p:txBody>
      </p:sp>
      <p:sp>
        <p:nvSpPr>
          <p:cNvPr id="594" name="Google Shape;594;p58"/>
          <p:cNvSpPr/>
          <p:nvPr/>
        </p:nvSpPr>
        <p:spPr>
          <a:xfrm>
            <a:off x="484565" y="4442236"/>
            <a:ext cx="10479443"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What do you notice about the high temperatures?</a:t>
            </a:r>
            <a:endParaRPr b="0" i="0" sz="1400" u="none" cap="none" strike="noStrike">
              <a:solidFill>
                <a:srgbClr val="000000"/>
              </a:solidFill>
              <a:latin typeface="Arial"/>
              <a:ea typeface="Arial"/>
              <a:cs typeface="Arial"/>
              <a:sym typeface="Arial"/>
            </a:endParaRPr>
          </a:p>
        </p:txBody>
      </p:sp>
      <p:pic>
        <p:nvPicPr>
          <p:cNvPr id="595" name="Google Shape;595;p58"/>
          <p:cNvPicPr preferRelativeResize="0"/>
          <p:nvPr/>
        </p:nvPicPr>
        <p:blipFill rotWithShape="1">
          <a:blip r:embed="rId3">
            <a:alphaModFix/>
          </a:blip>
          <a:srcRect b="0" l="0" r="0" t="0"/>
          <a:stretch/>
        </p:blipFill>
        <p:spPr>
          <a:xfrm>
            <a:off x="7326923" y="1733183"/>
            <a:ext cx="4572000" cy="1457325"/>
          </a:xfrm>
          <a:prstGeom prst="rect">
            <a:avLst/>
          </a:prstGeom>
          <a:noFill/>
          <a:ln>
            <a:noFill/>
          </a:ln>
        </p:spPr>
      </p:pic>
      <p:sp>
        <p:nvSpPr>
          <p:cNvPr id="596" name="Google Shape;596;p58"/>
          <p:cNvSpPr txBox="1"/>
          <p:nvPr/>
        </p:nvSpPr>
        <p:spPr>
          <a:xfrm>
            <a:off x="484565" y="5247732"/>
            <a:ext cx="5960624" cy="11629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vary from 68</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 to 90</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a:t>
            </a:r>
            <a:endParaRPr b="0" i="0" sz="1400" u="none" cap="none" strike="noStrike">
              <a:solidFill>
                <a:srgbClr val="000000"/>
              </a:solidFill>
              <a:latin typeface="Arial"/>
              <a:ea typeface="Arial"/>
              <a:cs typeface="Arial"/>
              <a:sym typeface="Arial"/>
            </a:endParaRPr>
          </a:p>
        </p:txBody>
      </p:sp>
      <p:sp>
        <p:nvSpPr>
          <p:cNvPr id="5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46</a:t>
            </a:r>
          </a:p>
        </p:txBody>
      </p:sp>
      <p:sp>
        <p:nvSpPr>
          <p:cNvPr id="598" name="EWL-COVER-1"/>
          <p:cNvSpPr/>
          <p:nvPr/>
        </p:nvSpPr>
        <p:spPr>
          <a:xfrm>
            <a:off x="429701" y="5192868"/>
            <a:ext cx="6070352" cy="1253652"/>
          </a:xfrm>
          <a:prstGeom prst="rect">
            <a:avLst/>
          </a:prstGeom>
          <a:solidFill>
            <a:srgbClr val="FFFFFF"/>
          </a:solidFill>
          <a:ln>
            <a:noFill/>
          </a:ln>
        </p:spPr>
        <p:txBody>
          <a:bodyPr/>
          <a:lstStyle/>
          <a:p/>
        </p:txBody>
      </p:sp>
      <p:sp xmlns:p="http://schemas.openxmlformats.org/presentationml/2006/main" xmlns:a="http://schemas.openxmlformats.org/drawingml/2006/main">
        <p:nvSpPr>
          <p:cNvPr id="599" name="TEACH-embedded-student-prompt" descr="Student thinking and response directions"/>
          <p:cNvSpPr txBox="1"/>
          <p:nvPr/>
        </p:nvSpPr>
        <p:spPr>
          <a:xfrm>
            <a:off x="594360" y="38039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cxnSp>
        <p:nvCxnSpPr>
          <p:cNvPr id="610" name="Google Shape;610;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1" name="Google Shape;611;p60"/>
          <p:cNvSpPr txBox="1"/>
          <p:nvPr/>
        </p:nvSpPr>
        <p:spPr>
          <a:xfrm>
            <a:off x="484564" y="411998"/>
            <a:ext cx="6366435" cy="26423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forecast shows the expected high temperatures for a week. The mean high temperature for the week is 79°F. How can you describe the variation in high temperatures over the week?</a:t>
            </a:r>
            <a:endParaRPr b="1" i="0" sz="2800" u="none" cap="none" strike="noStrike">
              <a:solidFill>
                <a:srgbClr val="262626"/>
              </a:solidFill>
              <a:latin typeface="Arial"/>
              <a:ea typeface="Arial"/>
              <a:cs typeface="Arial"/>
              <a:sym typeface="Arial"/>
            </a:endParaRPr>
          </a:p>
        </p:txBody>
      </p:sp>
      <p:sp>
        <p:nvSpPr>
          <p:cNvPr id="612" name="Google Shape;612;p60"/>
          <p:cNvSpPr/>
          <p:nvPr/>
        </p:nvSpPr>
        <p:spPr>
          <a:xfrm>
            <a:off x="484564" y="3803633"/>
            <a:ext cx="966175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do the high temperatures each day compare to the mean high temperature?</a:t>
            </a:r>
            <a:endParaRPr b="0" i="0" sz="1400" u="none" cap="none" strike="noStrike">
              <a:solidFill>
                <a:srgbClr val="000000"/>
              </a:solidFill>
              <a:latin typeface="Arial"/>
              <a:ea typeface="Arial"/>
              <a:cs typeface="Arial"/>
              <a:sym typeface="Arial"/>
            </a:endParaRPr>
          </a:p>
        </p:txBody>
      </p:sp>
      <p:pic>
        <p:nvPicPr>
          <p:cNvPr id="613" name="Google Shape;613;p60"/>
          <p:cNvPicPr preferRelativeResize="0"/>
          <p:nvPr/>
        </p:nvPicPr>
        <p:blipFill rotWithShape="1">
          <a:blip r:embed="rId3">
            <a:alphaModFix/>
          </a:blip>
          <a:srcRect b="0" l="0" r="0" t="0"/>
          <a:stretch/>
        </p:blipFill>
        <p:spPr>
          <a:xfrm>
            <a:off x="7326923" y="1733183"/>
            <a:ext cx="4572000" cy="1457325"/>
          </a:xfrm>
          <a:prstGeom prst="rect">
            <a:avLst/>
          </a:prstGeom>
          <a:noFill/>
          <a:ln>
            <a:noFill/>
          </a:ln>
        </p:spPr>
      </p:pic>
      <p:sp>
        <p:nvSpPr>
          <p:cNvPr id="614" name="Google Shape;614;p60"/>
          <p:cNvSpPr txBox="1"/>
          <p:nvPr/>
        </p:nvSpPr>
        <p:spPr>
          <a:xfrm>
            <a:off x="484563" y="5271782"/>
            <a:ext cx="11709227" cy="10750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Some temperatures are below the mean, and some are above the mean.</a:t>
            </a:r>
            <a:endParaRPr b="0" i="0" sz="1400" u="none" cap="none" strike="noStrike">
              <a:solidFill>
                <a:srgbClr val="000000"/>
              </a:solidFill>
              <a:latin typeface="Arial"/>
              <a:ea typeface="Arial"/>
              <a:cs typeface="Arial"/>
              <a:sym typeface="Arial"/>
            </a:endParaRPr>
          </a:p>
        </p:txBody>
      </p:sp>
      <p:sp>
        <p:nvSpPr>
          <p:cNvPr id="6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46</a:t>
            </a:r>
          </a:p>
        </p:txBody>
      </p:sp>
      <p:sp>
        <p:nvSpPr>
          <p:cNvPr id="616" name="EWL-COVER-1"/>
          <p:cNvSpPr/>
          <p:nvPr/>
        </p:nvSpPr>
        <p:spPr>
          <a:xfrm>
            <a:off x="429699" y="5216918"/>
            <a:ext cx="11759253" cy="1184756"/>
          </a:xfrm>
          <a:prstGeom prst="rect">
            <a:avLst/>
          </a:prstGeom>
          <a:solidFill>
            <a:srgbClr val="FFFFFF"/>
          </a:solidFill>
          <a:ln>
            <a:noFill/>
          </a:ln>
        </p:spPr>
        <p:txBody>
          <a:bodyPr/>
          <a:lstStyle/>
          <a:p/>
        </p:txBody>
      </p:sp>
      <p:grpSp>
        <p:nvGrpSpPr>
          <p:cNvPr id="617" name="TEACH-6-student-move" descr="TEACH 6 · Organize and implement routines to support a learning-focused classroom"/>
          <p:cNvGrpSpPr/>
          <p:nvPr/>
        </p:nvGrpSpPr>
        <p:grpSpPr>
          <a:xfrm>
            <a:off x="502920" y="4832870"/>
            <a:ext cx="11186160" cy="402336"/>
            <a:chOff x="502920" y="4832870"/>
            <a:chExt cx="11186160" cy="402336"/>
          </a:xfrm>
        </p:grpSpPr>
        <p:sp>
          <p:nvSpPr>
            <p:cNvPr id="618" name="TEACH-move-card"/>
            <p:cNvSpPr/>
            <p:nvPr/>
          </p:nvSpPr>
          <p:spPr>
            <a:xfrm>
              <a:off x="502920" y="483287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19" name="TEACH-move-rule"/>
            <p:cNvSpPr/>
            <p:nvPr/>
          </p:nvSpPr>
          <p:spPr>
            <a:xfrm>
              <a:off x="548640" y="4909314"/>
              <a:ext cx="100584" cy="249448"/>
            </a:xfrm>
            <a:prstGeom prst="roundRect">
              <a:avLst>
                <a:gd name="adj" fmla="val 50000"/>
              </a:avLst>
            </a:prstGeom>
            <a:solidFill>
              <a:srgbClr val="01708C"/>
            </a:solidFill>
            <a:ln>
              <a:noFill/>
            </a:ln>
          </p:spPr>
          <p:txBody>
            <a:bodyPr/>
            <a:lstStyle/>
            <a:p>
              <a:endParaRPr/>
            </a:p>
          </p:txBody>
        </p:sp>
        <p:sp>
          <p:nvSpPr>
            <p:cNvPr id="620" name="TEACH-move-text"/>
            <p:cNvSpPr txBox="1"/>
            <p:nvPr/>
          </p:nvSpPr>
          <p:spPr>
            <a:xfrm>
              <a:off x="822960" y="483287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cxnSp>
        <p:nvCxnSpPr>
          <p:cNvPr id="644" name="Google Shape;644;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5" name="Google Shape;645;p64"/>
          <p:cNvSpPr txBox="1"/>
          <p:nvPr/>
        </p:nvSpPr>
        <p:spPr>
          <a:xfrm>
            <a:off x="484564" y="461647"/>
            <a:ext cx="6751504" cy="13323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mean absolute deviation describes by how much the values in a data set deviate, or differ, from the mean.</a:t>
            </a:r>
            <a:endParaRPr b="0" i="0" sz="1400" u="none" cap="none" strike="noStrike">
              <a:solidFill>
                <a:srgbClr val="000000"/>
              </a:solidFill>
              <a:latin typeface="Arial"/>
              <a:ea typeface="Arial"/>
              <a:cs typeface="Arial"/>
              <a:sym typeface="Arial"/>
            </a:endParaRPr>
          </a:p>
        </p:txBody>
      </p:sp>
      <p:sp>
        <p:nvSpPr>
          <p:cNvPr id="646" name="Google Shape;646;p64"/>
          <p:cNvSpPr/>
          <p:nvPr/>
        </p:nvSpPr>
        <p:spPr>
          <a:xfrm>
            <a:off x="484565" y="3206207"/>
            <a:ext cx="675150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How can you determine by how much each value differs from the mean?</a:t>
            </a:r>
            <a:endParaRPr b="0" i="0" sz="2800" u="none" cap="none" strike="noStrike">
              <a:solidFill>
                <a:srgbClr val="262626"/>
              </a:solidFill>
              <a:latin typeface="Arial"/>
              <a:ea typeface="Arial"/>
              <a:cs typeface="Arial"/>
              <a:sym typeface="Arial"/>
            </a:endParaRPr>
          </a:p>
        </p:txBody>
      </p:sp>
      <p:sp>
        <p:nvSpPr>
          <p:cNvPr id="647" name="Google Shape;647;p64"/>
          <p:cNvSpPr txBox="1"/>
          <p:nvPr/>
        </p:nvSpPr>
        <p:spPr>
          <a:xfrm>
            <a:off x="484563" y="4503115"/>
            <a:ext cx="6580115" cy="18932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the distance between each data value and the mean of the data.</a:t>
            </a:r>
            <a:endParaRPr b="0" i="0" sz="1400" u="none" cap="none" strike="noStrike">
              <a:solidFill>
                <a:srgbClr val="000000"/>
              </a:solidFill>
              <a:latin typeface="Arial"/>
              <a:ea typeface="Arial"/>
              <a:cs typeface="Arial"/>
              <a:sym typeface="Arial"/>
            </a:endParaRPr>
          </a:p>
        </p:txBody>
      </p:sp>
      <p:pic>
        <p:nvPicPr>
          <p:cNvPr id="648" name="Google Shape;648;p64"/>
          <p:cNvPicPr preferRelativeResize="0"/>
          <p:nvPr/>
        </p:nvPicPr>
        <p:blipFill rotWithShape="1">
          <a:blip r:embed="rId3">
            <a:alphaModFix/>
          </a:blip>
          <a:srcRect b="0" l="0" r="0" t="0"/>
          <a:stretch/>
        </p:blipFill>
        <p:spPr>
          <a:xfrm>
            <a:off x="7326923" y="1733183"/>
            <a:ext cx="4572000" cy="1457325"/>
          </a:xfrm>
          <a:prstGeom prst="rect">
            <a:avLst/>
          </a:prstGeom>
          <a:noFill/>
          <a:ln>
            <a:noFill/>
          </a:ln>
        </p:spPr>
      </p:pic>
      <p:sp>
        <p:nvSpPr>
          <p:cNvPr id="6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46</a:t>
            </a:r>
          </a:p>
        </p:txBody>
      </p:sp>
      <p:sp>
        <p:nvSpPr>
          <p:cNvPr id="650" name="EWL-COVER-1"/>
          <p:cNvSpPr/>
          <p:nvPr/>
        </p:nvSpPr>
        <p:spPr>
          <a:xfrm>
            <a:off x="429699" y="4448251"/>
            <a:ext cx="6689843" cy="1998269"/>
          </a:xfrm>
          <a:prstGeom prst="rect">
            <a:avLst/>
          </a:prstGeom>
          <a:solidFill>
            <a:srgbClr val="FFFFFF"/>
          </a:solidFill>
          <a:ln>
            <a:noFill/>
          </a:ln>
        </p:spPr>
        <p:txBody>
          <a:bodyPr/>
          <a:lstStyle/>
          <a:p/>
        </p:txBody>
      </p:sp>
      <p:sp xmlns:p="http://schemas.openxmlformats.org/presentationml/2006/main" xmlns:a="http://schemas.openxmlformats.org/drawingml/2006/main">
        <p:nvSpPr>
          <p:cNvPr id="651" name="TEACH-embedded-student-prompt" descr="Student thinking and response directions"/>
          <p:cNvSpPr txBox="1"/>
          <p:nvPr/>
        </p:nvSpPr>
        <p:spPr>
          <a:xfrm>
            <a:off x="594360" y="2304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cxnSp>
        <p:nvCxnSpPr>
          <p:cNvPr id="653" name="Google Shape;653;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4" name="Google Shape;654;p65"/>
          <p:cNvSpPr txBox="1"/>
          <p:nvPr/>
        </p:nvSpPr>
        <p:spPr>
          <a:xfrm>
            <a:off x="484564" y="936100"/>
            <a:ext cx="7990841" cy="19882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Step 1:</a:t>
            </a:r>
            <a:r>
              <a:rPr b="0" i="0" lang="en-US" sz="2800" u="none" cap="none" strike="noStrike">
                <a:solidFill>
                  <a:srgbClr val="23282D"/>
                </a:solidFill>
                <a:latin typeface="Arial"/>
                <a:ea typeface="Arial"/>
                <a:cs typeface="Arial"/>
                <a:sym typeface="Arial"/>
              </a:rPr>
              <a:t xml:space="preserve"> Let’s determine how much each value deviates from the mean.</a:t>
            </a:r>
            <a:endParaRPr b="0" i="0" sz="1400" u="none" cap="none" strike="noStrike">
              <a:solidFill>
                <a:srgbClr val="000000"/>
              </a:solidFill>
              <a:latin typeface="Arial"/>
              <a:ea typeface="Arial"/>
              <a:cs typeface="Arial"/>
              <a:sym typeface="Arial"/>
            </a:endParaRPr>
          </a:p>
        </p:txBody>
      </p:sp>
      <p:sp>
        <p:nvSpPr>
          <p:cNvPr id="655" name="Google Shape;655;p65"/>
          <p:cNvSpPr/>
          <p:nvPr/>
        </p:nvSpPr>
        <p:spPr>
          <a:xfrm>
            <a:off x="484564" y="5585493"/>
            <a:ext cx="1061132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By how much does each value deviate from the mean?</a:t>
            </a:r>
            <a:endParaRPr b="0" i="0" sz="2800" u="none" cap="none" strike="noStrike">
              <a:solidFill>
                <a:srgbClr val="262626"/>
              </a:solidFill>
              <a:latin typeface="Arial"/>
              <a:ea typeface="Arial"/>
              <a:cs typeface="Arial"/>
              <a:sym typeface="Arial"/>
            </a:endParaRPr>
          </a:p>
        </p:txBody>
      </p:sp>
      <p:pic>
        <p:nvPicPr>
          <p:cNvPr id="656" name="Google Shape;656;p65"/>
          <p:cNvPicPr preferRelativeResize="0"/>
          <p:nvPr/>
        </p:nvPicPr>
        <p:blipFill rotWithShape="1">
          <a:blip r:embed="rId3">
            <a:alphaModFix/>
          </a:blip>
          <a:srcRect b="0" l="0" r="0" t="0"/>
          <a:stretch/>
        </p:blipFill>
        <p:spPr>
          <a:xfrm>
            <a:off x="497089" y="1953918"/>
            <a:ext cx="7919814" cy="2159948"/>
          </a:xfrm>
          <a:prstGeom prst="rect">
            <a:avLst/>
          </a:prstGeom>
          <a:noFill/>
          <a:ln>
            <a:noFill/>
          </a:ln>
        </p:spPr>
      </p:pic>
      <p:sp>
        <p:nvSpPr>
          <p:cNvPr id="657" name="Google Shape;657;p65"/>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pic>
        <p:nvPicPr>
          <p:cNvPr id="658" name="Google Shape;658;p65"/>
          <p:cNvPicPr preferRelativeResize="0"/>
          <p:nvPr/>
        </p:nvPicPr>
        <p:blipFill rotWithShape="1">
          <a:blip r:embed="rId4">
            <a:alphaModFix/>
          </a:blip>
          <a:srcRect b="0" l="0" r="0" t="0"/>
          <a:stretch/>
        </p:blipFill>
        <p:spPr>
          <a:xfrm>
            <a:off x="558276" y="386230"/>
            <a:ext cx="353635" cy="340537"/>
          </a:xfrm>
          <a:prstGeom prst="rect">
            <a:avLst/>
          </a:prstGeom>
          <a:noFill/>
          <a:ln>
            <a:noFill/>
          </a:ln>
        </p:spPr>
      </p:pic>
      <p:sp>
        <p:nvSpPr>
          <p:cNvPr id="659" name="Google Shape;659;p65"/>
          <p:cNvSpPr txBox="1"/>
          <p:nvPr/>
        </p:nvSpPr>
        <p:spPr>
          <a:xfrm>
            <a:off x="484564" y="4471745"/>
            <a:ext cx="799084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23282D"/>
                </a:solidFill>
                <a:latin typeface="Arial"/>
                <a:ea typeface="Arial"/>
                <a:cs typeface="Arial"/>
                <a:sym typeface="Arial"/>
              </a:rPr>
              <a:t>The absolute deviation does not consider whether the value is above or below the mean.</a:t>
            </a:r>
            <a:endParaRPr b="0" i="0" sz="1400" u="none" cap="none" strike="noStrike">
              <a:solidFill>
                <a:srgbClr val="000000"/>
              </a:solidFill>
              <a:latin typeface="Arial"/>
              <a:ea typeface="Arial"/>
              <a:cs typeface="Arial"/>
              <a:sym typeface="Arial"/>
            </a:endParaRPr>
          </a:p>
        </p:txBody>
      </p:sp>
      <p:sp>
        <p:nvSpPr>
          <p:cNvPr id="6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46</a:t>
            </a:r>
          </a:p>
        </p:txBody>
      </p:sp>
      <p:sp>
        <p:nvSpPr>
          <p:cNvPr id="66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cxnSp>
        <p:nvCxnSpPr>
          <p:cNvPr id="672" name="Google Shape;672;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3" name="Google Shape;673;p67"/>
          <p:cNvSpPr/>
          <p:nvPr/>
        </p:nvSpPr>
        <p:spPr>
          <a:xfrm>
            <a:off x="614745" y="451161"/>
            <a:ext cx="6875820"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 xml:space="preserve">Given the absolute deviation of each data value, how do you think you can find the </a:t>
            </a:r>
            <a:r>
              <a:rPr b="1" i="1" lang="en-US" sz="2800" u="none" cap="none" strike="noStrike">
                <a:solidFill>
                  <a:srgbClr val="23282D"/>
                </a:solidFill>
                <a:latin typeface="Arial"/>
                <a:ea typeface="Arial"/>
                <a:cs typeface="Arial"/>
                <a:sym typeface="Arial"/>
              </a:rPr>
              <a:t>mean absolute deviation</a:t>
            </a:r>
            <a:r>
              <a:rPr b="1"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74" name="Google Shape;674;p67"/>
          <p:cNvSpPr txBox="1"/>
          <p:nvPr/>
        </p:nvSpPr>
        <p:spPr>
          <a:xfrm>
            <a:off x="614744" y="5312020"/>
            <a:ext cx="8068494" cy="11146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the mean of the absolute deviations.</a:t>
            </a:r>
            <a:endParaRPr b="0" i="0" sz="1400" u="none" cap="none" strike="noStrike">
              <a:solidFill>
                <a:srgbClr val="000000"/>
              </a:solidFill>
              <a:latin typeface="Arial"/>
              <a:ea typeface="Arial"/>
              <a:cs typeface="Arial"/>
              <a:sym typeface="Arial"/>
            </a:endParaRPr>
          </a:p>
        </p:txBody>
      </p:sp>
      <p:pic>
        <p:nvPicPr>
          <p:cNvPr id="675" name="Google Shape;675;p67"/>
          <p:cNvPicPr preferRelativeResize="0"/>
          <p:nvPr/>
        </p:nvPicPr>
        <p:blipFill rotWithShape="1">
          <a:blip r:embed="rId3">
            <a:alphaModFix/>
          </a:blip>
          <a:srcRect b="0" l="0" r="0" t="0"/>
          <a:stretch/>
        </p:blipFill>
        <p:spPr>
          <a:xfrm>
            <a:off x="501354" y="1960563"/>
            <a:ext cx="7919814" cy="2140490"/>
          </a:xfrm>
          <a:prstGeom prst="rect">
            <a:avLst/>
          </a:prstGeom>
          <a:noFill/>
          <a:ln>
            <a:noFill/>
          </a:ln>
        </p:spPr>
      </p:pic>
      <p:sp>
        <p:nvSpPr>
          <p:cNvPr id="67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46</a:t>
            </a:r>
          </a:p>
        </p:txBody>
      </p:sp>
      <p:sp>
        <p:nvSpPr>
          <p:cNvPr id="677" name="EWL-COVER-1"/>
          <p:cNvSpPr/>
          <p:nvPr/>
        </p:nvSpPr>
        <p:spPr>
          <a:xfrm>
            <a:off x="559880" y="5257156"/>
            <a:ext cx="8178222" cy="1189364"/>
          </a:xfrm>
          <a:prstGeom prst="rect">
            <a:avLst/>
          </a:prstGeom>
          <a:solidFill>
            <a:srgbClr val="FFFFFF"/>
          </a:solidFill>
          <a:ln>
            <a:noFill/>
          </a:ln>
        </p:spPr>
        <p:txBody>
          <a:bodyPr/>
          <a:lstStyle/>
          <a:p/>
        </p:txBody>
      </p:sp>
      <p:sp xmlns:p="http://schemas.openxmlformats.org/presentationml/2006/main" xmlns:a="http://schemas.openxmlformats.org/drawingml/2006/main">
        <p:nvSpPr>
          <p:cNvPr id="678"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7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29" name="Google Shape;729;p73"/>
          <p:cNvSpPr txBox="1"/>
          <p:nvPr/>
        </p:nvSpPr>
        <p:spPr>
          <a:xfrm>
            <a:off x="484565" y="927527"/>
            <a:ext cx="7517117" cy="176885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Maria found the mean of the data set and the data distances from the mean. Explain how Maria can use this information to find the mean absolute deviation.</a:t>
            </a:r>
            <a:endParaRPr b="0" i="0" sz="1400" u="none" cap="none" strike="noStrike">
              <a:solidFill>
                <a:srgbClr val="000000"/>
              </a:solidFill>
              <a:latin typeface="Arial"/>
              <a:ea typeface="Arial"/>
              <a:cs typeface="Arial"/>
              <a:sym typeface="Arial"/>
            </a:endParaRPr>
          </a:p>
        </p:txBody>
      </p:sp>
      <p:sp>
        <p:nvSpPr>
          <p:cNvPr id="730" name="Google Shape;730;p73"/>
          <p:cNvSpPr txBox="1"/>
          <p:nvPr/>
        </p:nvSpPr>
        <p:spPr>
          <a:xfrm>
            <a:off x="6314663"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1" name="Google Shape;731;p73"/>
          <p:cNvSpPr/>
          <p:nvPr/>
        </p:nvSpPr>
        <p:spPr>
          <a:xfrm>
            <a:off x="567559" y="5236713"/>
            <a:ext cx="7031726" cy="104159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732" name="Google Shape;732;p73"/>
          <p:cNvPicPr preferRelativeResize="0"/>
          <p:nvPr/>
        </p:nvPicPr>
        <p:blipFill rotWithShape="1">
          <a:blip r:embed="rId3">
            <a:alphaModFix/>
          </a:blip>
          <a:srcRect b="0" l="0" r="0" t="0"/>
          <a:stretch/>
        </p:blipFill>
        <p:spPr>
          <a:xfrm>
            <a:off x="7741070" y="1715568"/>
            <a:ext cx="4246507" cy="1660678"/>
          </a:xfrm>
          <a:prstGeom prst="rect">
            <a:avLst/>
          </a:prstGeom>
          <a:noFill/>
          <a:ln>
            <a:noFill/>
          </a:ln>
        </p:spPr>
      </p:pic>
      <p:sp>
        <p:nvSpPr>
          <p:cNvPr id="733" name="Google Shape;733;p73"/>
          <p:cNvSpPr txBox="1"/>
          <p:nvPr/>
        </p:nvSpPr>
        <p:spPr>
          <a:xfrm>
            <a:off x="6364143" y="316191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4" name="Google Shape;734;p73"/>
          <p:cNvSpPr/>
          <p:nvPr/>
        </p:nvSpPr>
        <p:spPr>
          <a:xfrm>
            <a:off x="617039" y="2653829"/>
            <a:ext cx="7031726" cy="104159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5" name="Google Shape;735;p73"/>
          <p:cNvSpPr txBox="1"/>
          <p:nvPr/>
        </p:nvSpPr>
        <p:spPr>
          <a:xfrm>
            <a:off x="484565" y="3787501"/>
            <a:ext cx="10842207" cy="137867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Four students in the fourth grade are asked their ages. Each student is 8 years old. How does the data vary? What is the mean and mean absolute deviation of the data?</a:t>
            </a:r>
            <a:endParaRPr b="0" i="0" sz="1400" u="none" cap="none" strike="noStrike">
              <a:solidFill>
                <a:srgbClr val="000000"/>
              </a:solidFill>
              <a:latin typeface="Arial"/>
              <a:ea typeface="Arial"/>
              <a:cs typeface="Arial"/>
              <a:sym typeface="Arial"/>
            </a:endParaRPr>
          </a:p>
        </p:txBody>
      </p:sp>
      <p:sp>
        <p:nvSpPr>
          <p:cNvPr id="7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2.9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Why do we use distance from the mean, and what does the final average distance tell us?</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97" name="Google Shape;697;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98" name="Google Shape;698;p70"/>
          <p:cNvPicPr preferRelativeResize="0"/>
          <p:nvPr/>
        </p:nvPicPr>
        <p:blipFill rotWithShape="1">
          <a:blip r:embed="rId2">
            <a:alphaModFix/>
          </a:blip>
          <a:srcRect b="0" l="0" r="0" t="0"/>
          <a:stretch/>
        </p:blipFill>
        <p:spPr>
          <a:xfrm>
            <a:off x="865711" y="1301780"/>
            <a:ext cx="8442190" cy="3330572"/>
          </a:xfrm>
          <a:prstGeom prst="rect">
            <a:avLst/>
          </a:prstGeom>
          <a:noFill/>
          <a:ln>
            <a:noFill/>
          </a:ln>
        </p:spPr>
      </p:pic>
      <p:sp>
        <p:nvSpPr>
          <p:cNvPr id="699" name="Google Shape;699;p70"/>
          <p:cNvSpPr txBox="1"/>
          <p:nvPr/>
        </p:nvSpPr>
        <p:spPr>
          <a:xfrm>
            <a:off x="484565" y="4681437"/>
            <a:ext cx="8697013" cy="19077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It describes that each data value is about 5.71 degrees above or below the mean of 79 degrees.</a:t>
            </a:r>
            <a:endParaRPr b="0" i="0" sz="1400" u="none" cap="none" strike="noStrike">
              <a:solidFill>
                <a:srgbClr val="000000"/>
              </a:solidFill>
              <a:latin typeface="Arial"/>
              <a:ea typeface="Arial"/>
              <a:cs typeface="Arial"/>
              <a:sym typeface="Arial"/>
            </a:endParaRPr>
          </a:p>
        </p:txBody>
      </p:sp>
      <p:sp>
        <p:nvSpPr>
          <p:cNvPr id="700" name="Google Shape;700;p70"/>
          <p:cNvSpPr/>
          <p:nvPr/>
        </p:nvSpPr>
        <p:spPr>
          <a:xfrm>
            <a:off x="484565" y="499614"/>
            <a:ext cx="523983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does the mean absolute deviation describe?</a:t>
            </a:r>
            <a:endParaRPr b="0" i="0" sz="2800" u="none" cap="none" strike="noStrike">
              <a:solidFill>
                <a:srgbClr val="262626"/>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46</a:t>
            </a:r>
          </a:p>
        </p:txBody>
      </p:sp>
      <p:grpSp>
        <p:nvGrpSpPr>
          <p:cNvPr id="701" name="TEACH-5-student-move" descr="TEACH 5 · Facilitate student interactions and academic talk"/>
          <p:cNvGrpSpPr/>
          <p:nvPr/>
        </p:nvGrpSpPr>
        <p:grpSpPr>
          <a:xfrm>
            <a:off x="6187440" y="862868"/>
            <a:ext cx="5501640" cy="402336"/>
            <a:chOff x="6187440" y="862868"/>
            <a:chExt cx="5501640" cy="402336"/>
          </a:xfrm>
        </p:grpSpPr>
        <p:sp>
          <p:nvSpPr>
            <p:cNvPr id="702" name="TEACH-move-card"/>
            <p:cNvSpPr/>
            <p:nvPr/>
          </p:nvSpPr>
          <p:spPr>
            <a:xfrm>
              <a:off x="6187440" y="86286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03" name="TEACH-move-rule"/>
            <p:cNvSpPr/>
            <p:nvPr/>
          </p:nvSpPr>
          <p:spPr>
            <a:xfrm>
              <a:off x="6233160" y="939312"/>
              <a:ext cx="100584" cy="249448"/>
            </a:xfrm>
            <a:prstGeom prst="roundRect">
              <a:avLst>
                <a:gd name="adj" fmla="val 50000"/>
              </a:avLst>
            </a:prstGeom>
            <a:solidFill>
              <a:srgbClr val="01708C"/>
            </a:solidFill>
            <a:ln>
              <a:noFill/>
            </a:ln>
          </p:spPr>
          <p:txBody>
            <a:bodyPr/>
            <a:lstStyle/>
            <a:p>
              <a:endParaRPr/>
            </a:p>
          </p:txBody>
        </p:sp>
        <p:sp>
          <p:nvSpPr>
            <p:cNvPr id="704" name="TEACH-move-text"/>
            <p:cNvSpPr txBox="1"/>
            <p:nvPr/>
          </p:nvSpPr>
          <p:spPr>
            <a:xfrm>
              <a:off x="6507480" y="86286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does MAD stand for?</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Median Area Data</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Mean Absolute Deviation</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Maximum Array Division</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Middle And Distance</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MAD measures the average distance of values from:</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Zero</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mean</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median</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maximum</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If mean = 20, what is the absolute deviation of 15?</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35</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smaller MAD indicates that data values are: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More spread out</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More clustered near the mean</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All negative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Equal to zero</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46</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2-9 · Describe Data by Mean Absolute Deviation</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MAD Definition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Mean Absolute Deviation</a:t>
            </a:r>
            <a:r>
              <a:rPr b="0" i="0" lang="en-US" sz="1450" u="none" cap="none" strike="noStrike">
                <a:solidFill>
                  <a:srgbClr val="475569"/>
                </a:solidFill>
                <a:latin typeface="Arial"/>
                <a:ea typeface="Arial"/>
                <a:cs typeface="Arial"/>
                <a:sym typeface="Arial"/>
              </a:rPr>
              <a:t xml:space="preserve"> is the average </a:t>
            </a:r>
            <a:r>
              <a:rPr b="1" i="0" lang="en-US" sz="1450" u="none" cap="none" strike="noStrike">
                <a:solidFill>
                  <a:srgbClr val="475569"/>
                </a:solidFill>
                <a:latin typeface="Arial"/>
                <a:ea typeface="Arial"/>
                <a:cs typeface="Arial"/>
                <a:sym typeface="Arial"/>
              </a:rPr>
              <a:t xml:space="preserve">distance</a:t>
            </a:r>
            <a:r>
              <a:rPr b="0" i="0" lang="en-US" sz="1450" u="none" cap="none" strike="noStrike">
                <a:solidFill>
                  <a:srgbClr val="475569"/>
                </a:solidFill>
                <a:latin typeface="Arial"/>
                <a:ea typeface="Arial"/>
                <a:cs typeface="Arial"/>
                <a:sym typeface="Arial"/>
              </a:rPr>
              <a:t xml:space="preserve"> between each data value and the mean.</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Three Steps to MAD</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1. Find the </a:t>
            </a:r>
            <a:r>
              <a:rPr b="1" i="0" lang="en-US" sz="1450" u="none" cap="none" strike="noStrike">
                <a:solidFill>
                  <a:srgbClr val="475569"/>
                </a:solidFill>
                <a:latin typeface="Arial"/>
                <a:ea typeface="Arial"/>
                <a:cs typeface="Arial"/>
                <a:sym typeface="Arial"/>
              </a:rPr>
              <a:t xml:space="preserve">mean</a:t>
            </a:r>
            <a:r>
              <a:rPr b="0" i="0" lang="en-US" sz="1450" u="none" cap="none" strike="noStrike">
                <a:solidFill>
                  <a:srgbClr val="475569"/>
                </a:solidFill>
                <a:latin typeface="Arial"/>
                <a:ea typeface="Arial"/>
                <a:cs typeface="Arial"/>
                <a:sym typeface="Arial"/>
              </a:rPr>
              <a:t xml:space="preserve">. 2. Calculate |value − mean| for each point. 3. Find the mean of those distances.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Interpreting MAD</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lower </a:t>
            </a:r>
            <a:r>
              <a:rPr b="1" i="0" lang="en-US" sz="1450" u="none" cap="none" strike="noStrike">
                <a:solidFill>
                  <a:srgbClr val="475569"/>
                </a:solidFill>
                <a:latin typeface="Arial"/>
                <a:ea typeface="Arial"/>
                <a:cs typeface="Arial"/>
                <a:sym typeface="Arial"/>
              </a:rPr>
              <a:t xml:space="preserve">MAD</a:t>
            </a:r>
            <a:r>
              <a:rPr b="0" i="0" lang="en-US" sz="1450" u="none" cap="none" strike="noStrike">
                <a:solidFill>
                  <a:srgbClr val="475569"/>
                </a:solidFill>
                <a:latin typeface="Arial"/>
                <a:ea typeface="Arial"/>
                <a:cs typeface="Arial"/>
                <a:sym typeface="Arial"/>
              </a:rPr>
              <a:t xml:space="preserve"> signifies higher consistency and less variation in the data.</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4"/>
          <p:cNvSpPr txBox="1"/>
          <p:nvPr/>
        </p:nvSpPr>
        <p:spPr>
          <a:xfrm>
            <a:off x="1402827" y="2453950"/>
            <a:ext cx="9833019"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by Mean Absolute Deviation</a:t>
            </a:r>
            <a:endParaRPr b="0" i="0" sz="1400" u="none" cap="none" strike="noStrike">
              <a:solidFill>
                <a:srgbClr val="000000"/>
              </a:solidFill>
              <a:latin typeface="Arial"/>
              <a:ea typeface="Arial"/>
              <a:cs typeface="Arial"/>
              <a:sym typeface="Arial"/>
            </a:endParaRPr>
          </a:p>
        </p:txBody>
      </p:sp>
      <p:sp>
        <p:nvSpPr>
          <p:cNvPr id="741" name="Google Shape;741;p74"/>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2" name="Google Shape;742;p74"/>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46</a:t>
            </a:r>
          </a:p>
        </p:txBody>
      </p:sp>
      <p:grpSp>
        <p:nvGrpSpPr>
          <p:cNvPr id="744" name="TEACH-4-student-move" descr="TEACH 4 · Monitor progress and provide feedback"/>
          <p:cNvGrpSpPr/>
          <p:nvPr/>
        </p:nvGrpSpPr>
        <p:grpSpPr>
          <a:xfrm>
            <a:off x="502920" y="3201929"/>
            <a:ext cx="11186160" cy="731520"/>
            <a:chOff x="502920" y="3201929"/>
            <a:chExt cx="11186160" cy="731520"/>
          </a:xfrm>
        </p:grpSpPr>
        <p:sp>
          <p:nvSpPr>
            <p:cNvPr id="745"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6"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47"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cxnSp>
        <p:nvCxnSpPr>
          <p:cNvPr id="757" name="Google Shape;757;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8" name="Google Shape;758;p76"/>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59" name="Google Shape;759;p76"/>
          <p:cNvSpPr txBox="1"/>
          <p:nvPr/>
        </p:nvSpPr>
        <p:spPr>
          <a:xfrm>
            <a:off x="484560" y="936100"/>
            <a:ext cx="3829533" cy="11564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What do you wonder? </a:t>
            </a:r>
            <a:endParaRPr b="0" i="0" sz="1400" u="none" cap="none" strike="noStrike">
              <a:solidFill>
                <a:srgbClr val="000000"/>
              </a:solidFill>
              <a:latin typeface="Arial"/>
              <a:ea typeface="Arial"/>
              <a:cs typeface="Arial"/>
              <a:sym typeface="Arial"/>
            </a:endParaRPr>
          </a:p>
        </p:txBody>
      </p:sp>
      <p:pic>
        <p:nvPicPr>
          <p:cNvPr id="760" name="Google Shape;760;p76"/>
          <p:cNvPicPr preferRelativeResize="0"/>
          <p:nvPr/>
        </p:nvPicPr>
        <p:blipFill rotWithShape="1">
          <a:blip r:embed="rId3">
            <a:alphaModFix/>
          </a:blip>
          <a:srcRect b="0" l="0" r="0" t="0"/>
          <a:stretch/>
        </p:blipFill>
        <p:spPr>
          <a:xfrm>
            <a:off x="484560" y="4673387"/>
            <a:ext cx="5054600" cy="838200"/>
          </a:xfrm>
          <a:prstGeom prst="rect">
            <a:avLst/>
          </a:prstGeom>
          <a:noFill/>
          <a:ln>
            <a:noFill/>
          </a:ln>
        </p:spPr>
      </p:pic>
      <p:sp>
        <p:nvSpPr>
          <p:cNvPr id="761" name="Google Shape;761;p76"/>
          <p:cNvSpPr txBox="1"/>
          <p:nvPr/>
        </p:nvSpPr>
        <p:spPr>
          <a:xfrm>
            <a:off x="3344577" y="483070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62" name="Google Shape;762;p76"/>
          <p:cNvSpPr/>
          <p:nvPr/>
        </p:nvSpPr>
        <p:spPr>
          <a:xfrm>
            <a:off x="697756" y="5488710"/>
            <a:ext cx="9811581"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are you showing your classmates that you are listening attentively to their explanations?</a:t>
            </a:r>
            <a:endParaRPr b="0" i="0" sz="1400" u="none" cap="none" strike="noStrike">
              <a:solidFill>
                <a:srgbClr val="000000"/>
              </a:solidFill>
              <a:latin typeface="Arial"/>
              <a:ea typeface="Arial"/>
              <a:cs typeface="Arial"/>
              <a:sym typeface="Arial"/>
            </a:endParaRPr>
          </a:p>
        </p:txBody>
      </p:sp>
      <p:pic>
        <p:nvPicPr>
          <p:cNvPr id="763" name="Google Shape;763;p76"/>
          <p:cNvPicPr preferRelativeResize="0"/>
          <p:nvPr/>
        </p:nvPicPr>
        <p:blipFill rotWithShape="1">
          <a:blip r:embed="rId4">
            <a:alphaModFix/>
          </a:blip>
          <a:srcRect b="0" l="0" r="0" t="0"/>
          <a:stretch/>
        </p:blipFill>
        <p:spPr>
          <a:xfrm>
            <a:off x="4314093" y="1342656"/>
            <a:ext cx="5908096" cy="3488049"/>
          </a:xfrm>
          <a:prstGeom prst="rect">
            <a:avLst/>
          </a:prstGeom>
          <a:noFill/>
          <a:ln>
            <a:noFill/>
          </a:ln>
        </p:spPr>
      </p:pic>
      <p:sp>
        <p:nvSpPr>
          <p:cNvPr id="76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46</a:t>
            </a:r>
          </a:p>
        </p:txBody>
      </p:sp>
      <p:grpSp>
        <p:nvGrpSpPr>
          <p:cNvPr id="765" name="TEACH-3-student-move" descr="TEACH 3 · Use intentional questioning to deepen learning"/>
          <p:cNvGrpSpPr/>
          <p:nvPr/>
        </p:nvGrpSpPr>
        <p:grpSpPr>
          <a:xfrm>
            <a:off x="6187440" y="666000"/>
            <a:ext cx="5501640" cy="594360"/>
            <a:chOff x="6187440" y="666000"/>
            <a:chExt cx="5501640" cy="594360"/>
          </a:xfrm>
        </p:grpSpPr>
        <p:sp>
          <p:nvSpPr>
            <p:cNvPr id="766" name="TEACH-move-card"/>
            <p:cNvSpPr/>
            <p:nvPr/>
          </p:nvSpPr>
          <p:spPr>
            <a:xfrm>
              <a:off x="6187440" y="66600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67" name="TEACH-move-rule"/>
            <p:cNvSpPr/>
            <p:nvPr/>
          </p:nvSpPr>
          <p:spPr>
            <a:xfrm>
              <a:off x="6233160" y="778928"/>
              <a:ext cx="100584" cy="368504"/>
            </a:xfrm>
            <a:prstGeom prst="roundRect">
              <a:avLst>
                <a:gd name="adj" fmla="val 50000"/>
              </a:avLst>
            </a:prstGeom>
            <a:solidFill>
              <a:srgbClr val="01708C"/>
            </a:solidFill>
            <a:ln>
              <a:noFill/>
            </a:ln>
          </p:spPr>
          <p:txBody>
            <a:bodyPr/>
            <a:lstStyle/>
            <a:p>
              <a:endParaRPr/>
            </a:p>
          </p:txBody>
        </p:sp>
        <p:sp>
          <p:nvSpPr>
            <p:cNvPr id="768" name="TEACH-move-text"/>
            <p:cNvSpPr txBox="1"/>
            <p:nvPr/>
          </p:nvSpPr>
          <p:spPr>
            <a:xfrm>
              <a:off x="6507480" y="66600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cxnSp>
        <p:nvCxnSpPr>
          <p:cNvPr id="785" name="Google Shape;785;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6" name="Google Shape;786;p79"/>
          <p:cNvSpPr txBox="1"/>
          <p:nvPr/>
        </p:nvSpPr>
        <p:spPr>
          <a:xfrm>
            <a:off x="484565" y="390194"/>
            <a:ext cx="6366435" cy="22643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forecasted high temperatures for two cities are shown. The mean forecasted high temperature for each city is 79°F. Which city will have less variation in the high temperatures?</a:t>
            </a:r>
            <a:endParaRPr b="1" i="0" sz="2800" u="none" cap="none" strike="noStrike">
              <a:solidFill>
                <a:srgbClr val="262626"/>
              </a:solidFill>
              <a:latin typeface="Arial"/>
              <a:ea typeface="Arial"/>
              <a:cs typeface="Arial"/>
              <a:sym typeface="Arial"/>
            </a:endParaRPr>
          </a:p>
        </p:txBody>
      </p:sp>
      <p:sp>
        <p:nvSpPr>
          <p:cNvPr id="787" name="Google Shape;787;p79"/>
          <p:cNvSpPr/>
          <p:nvPr/>
        </p:nvSpPr>
        <p:spPr>
          <a:xfrm>
            <a:off x="484565" y="2905374"/>
            <a:ext cx="705223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do you know about the forecasted temperatures in each city?</a:t>
            </a:r>
            <a:endParaRPr b="0" i="0" sz="1400" u="none" cap="none" strike="noStrike">
              <a:solidFill>
                <a:srgbClr val="000000"/>
              </a:solidFill>
              <a:latin typeface="Arial"/>
              <a:ea typeface="Arial"/>
              <a:cs typeface="Arial"/>
              <a:sym typeface="Arial"/>
            </a:endParaRPr>
          </a:p>
        </p:txBody>
      </p:sp>
      <p:pic>
        <p:nvPicPr>
          <p:cNvPr id="788" name="Google Shape;788;p79"/>
          <p:cNvPicPr preferRelativeResize="0"/>
          <p:nvPr/>
        </p:nvPicPr>
        <p:blipFill rotWithShape="1">
          <a:blip r:embed="rId3">
            <a:alphaModFix/>
          </a:blip>
          <a:srcRect b="0" l="0" r="0" t="0"/>
          <a:stretch/>
        </p:blipFill>
        <p:spPr>
          <a:xfrm>
            <a:off x="7536801" y="1460622"/>
            <a:ext cx="4139385" cy="2387747"/>
          </a:xfrm>
          <a:prstGeom prst="rect">
            <a:avLst/>
          </a:prstGeom>
          <a:noFill/>
          <a:ln>
            <a:noFill/>
          </a:ln>
        </p:spPr>
      </p:pic>
      <p:sp>
        <p:nvSpPr>
          <p:cNvPr id="789" name="Google Shape;789;p79"/>
          <p:cNvSpPr txBox="1"/>
          <p:nvPr/>
        </p:nvSpPr>
        <p:spPr>
          <a:xfrm>
            <a:off x="484565" y="4114308"/>
            <a:ext cx="8892348" cy="1962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Both cities have a forecasted mean high temperature of 79</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 City A’s temperatures range from 62</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 to 92</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 while City B’s temperatures range from 72</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 to 85</a:t>
            </a:r>
            <a:r>
              <a:rPr b="0" i="0" lang="en-US" sz="2800" u="none" cap="none" strike="noStrike">
                <a:solidFill>
                  <a:srgbClr val="23282D"/>
                </a:solidFill>
                <a:latin typeface="Arial"/>
                <a:ea typeface="Arial"/>
                <a:cs typeface="Arial"/>
                <a:sym typeface="Arial"/>
              </a:rPr>
              <a:t>°</a:t>
            </a:r>
            <a:r>
              <a:rPr b="0" i="0" lang="en-US" sz="2800" u="none" cap="none" strike="noStrike">
                <a:solidFill>
                  <a:srgbClr val="595959"/>
                </a:solidFill>
                <a:latin typeface="Arial"/>
                <a:ea typeface="Arial"/>
                <a:cs typeface="Arial"/>
                <a:sym typeface="Arial"/>
              </a:rPr>
              <a:t>F.</a:t>
            </a:r>
            <a:endParaRPr b="0" i="0" sz="1400" u="none" cap="none" strike="noStrike">
              <a:solidFill>
                <a:srgbClr val="000000"/>
              </a:solidFill>
              <a:latin typeface="Arial"/>
              <a:ea typeface="Arial"/>
              <a:cs typeface="Arial"/>
              <a:sym typeface="Arial"/>
            </a:endParaRPr>
          </a:p>
        </p:txBody>
      </p:sp>
      <p:sp>
        <p:nvSpPr>
          <p:cNvPr id="7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46</a:t>
            </a:r>
          </a:p>
        </p:txBody>
      </p:sp>
      <p:sp>
        <p:nvSpPr>
          <p:cNvPr id="791" name="EWL-COVER-1"/>
          <p:cNvSpPr/>
          <p:nvPr/>
        </p:nvSpPr>
        <p:spPr>
          <a:xfrm>
            <a:off x="429701" y="4059444"/>
            <a:ext cx="9002075" cy="230731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cxnSp>
        <p:nvCxnSpPr>
          <p:cNvPr id="858" name="Google Shape;858;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9" name="Google Shape;859;p87"/>
          <p:cNvSpPr txBox="1"/>
          <p:nvPr/>
        </p:nvSpPr>
        <p:spPr>
          <a:xfrm>
            <a:off x="484565" y="504778"/>
            <a:ext cx="6301725" cy="14554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add the absolute deviations and divide the sum by the number of deviations.</a:t>
            </a:r>
            <a:endParaRPr b="0" i="0" sz="1400" u="none" cap="none" strike="noStrike">
              <a:solidFill>
                <a:srgbClr val="000000"/>
              </a:solidFill>
              <a:latin typeface="Arial"/>
              <a:ea typeface="Arial"/>
              <a:cs typeface="Arial"/>
              <a:sym typeface="Arial"/>
            </a:endParaRPr>
          </a:p>
        </p:txBody>
      </p:sp>
      <p:sp>
        <p:nvSpPr>
          <p:cNvPr id="860" name="Google Shape;860;p87"/>
          <p:cNvSpPr/>
          <p:nvPr/>
        </p:nvSpPr>
        <p:spPr>
          <a:xfrm>
            <a:off x="484565" y="5161056"/>
            <a:ext cx="645648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The mean absolute deviation of City A is 8.57°F.</a:t>
            </a:r>
            <a:endParaRPr b="0" i="0" sz="1400" u="none" cap="none" strike="noStrike">
              <a:solidFill>
                <a:srgbClr val="000000"/>
              </a:solidFill>
              <a:latin typeface="Arial"/>
              <a:ea typeface="Arial"/>
              <a:cs typeface="Arial"/>
              <a:sym typeface="Arial"/>
            </a:endParaRPr>
          </a:p>
        </p:txBody>
      </p:sp>
      <p:sp>
        <p:nvSpPr>
          <p:cNvPr id="861" name="Google Shape;861;p87"/>
          <p:cNvSpPr/>
          <p:nvPr/>
        </p:nvSpPr>
        <p:spPr>
          <a:xfrm>
            <a:off x="484565" y="2636923"/>
            <a:ext cx="6456485" cy="213904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46</a:t>
            </a:r>
          </a:p>
        </p:txBody>
      </p:sp>
      <p:sp xmlns:p="http://schemas.openxmlformats.org/presentationml/2006/main" xmlns:a="http://schemas.openxmlformats.org/drawingml/2006/main">
        <p:nvSpPr>
          <p:cNvPr id="86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a:t>
            </a:r>
            <a:endParaRPr lang="en-US" sz="2000"/>
          </a:p>
          <a:p>
            <a:pPr>
              <a:lnSpc>
                <a:spcPts val="2400"/>
              </a:lnSpc>
              <a:buNone/>
            </a:pPr>
            <a:r>
              <a:rPr lang="en-US" sz="2000">
                <a:solidFill>
                  <a:srgbClr val="174D60"/>
                </a:solidFill>
                <a:latin typeface="Arial"/>
              </a:rPr>
              <a:t>shown supports your reasoning.</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cxnSp>
        <p:nvCxnSpPr>
          <p:cNvPr id="895" name="Google Shape;895;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6" name="Google Shape;896;p91"/>
          <p:cNvSpPr txBox="1"/>
          <p:nvPr/>
        </p:nvSpPr>
        <p:spPr>
          <a:xfrm>
            <a:off x="515814" y="494950"/>
            <a:ext cx="6366435" cy="24665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City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Cambria Math"/>
                <a:ea typeface="Cambria Math"/>
                <a:cs typeface="Cambria Math"/>
                <a:sym typeface="Cambria Math"/>
              </a:rPr>
              <a:t>MAD = 8.57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City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Cambria Math"/>
                <a:ea typeface="Cambria Math"/>
                <a:cs typeface="Cambria Math"/>
                <a:sym typeface="Cambria Math"/>
              </a:rPr>
              <a:t>MAD = 3.71</a:t>
            </a:r>
            <a:endParaRPr b="0" i="0" sz="1400" u="none" cap="none" strike="noStrike">
              <a:solidFill>
                <a:srgbClr val="000000"/>
              </a:solidFill>
              <a:latin typeface="Arial"/>
              <a:ea typeface="Arial"/>
              <a:cs typeface="Arial"/>
              <a:sym typeface="Arial"/>
            </a:endParaRPr>
          </a:p>
        </p:txBody>
      </p:sp>
      <p:sp>
        <p:nvSpPr>
          <p:cNvPr id="897" name="Google Shape;897;p91"/>
          <p:cNvSpPr/>
          <p:nvPr/>
        </p:nvSpPr>
        <p:spPr>
          <a:xfrm>
            <a:off x="515814" y="3609451"/>
            <a:ext cx="702098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do the mean absolute deviations compare?</a:t>
            </a:r>
            <a:endParaRPr b="0" i="0" sz="1400" u="none" cap="none" strike="noStrike">
              <a:solidFill>
                <a:srgbClr val="000000"/>
              </a:solidFill>
              <a:latin typeface="Arial"/>
              <a:ea typeface="Arial"/>
              <a:cs typeface="Arial"/>
              <a:sym typeface="Arial"/>
            </a:endParaRPr>
          </a:p>
        </p:txBody>
      </p:sp>
      <p:pic>
        <p:nvPicPr>
          <p:cNvPr id="898" name="Google Shape;898;p91"/>
          <p:cNvPicPr preferRelativeResize="0"/>
          <p:nvPr/>
        </p:nvPicPr>
        <p:blipFill rotWithShape="1">
          <a:blip r:embed="rId3">
            <a:alphaModFix/>
          </a:blip>
          <a:srcRect b="0" l="0" r="0" t="0"/>
          <a:stretch/>
        </p:blipFill>
        <p:spPr>
          <a:xfrm>
            <a:off x="7536801" y="1460622"/>
            <a:ext cx="4139385" cy="2387747"/>
          </a:xfrm>
          <a:prstGeom prst="rect">
            <a:avLst/>
          </a:prstGeom>
          <a:noFill/>
          <a:ln>
            <a:noFill/>
          </a:ln>
        </p:spPr>
      </p:pic>
      <p:sp>
        <p:nvSpPr>
          <p:cNvPr id="899" name="Google Shape;899;p91"/>
          <p:cNvSpPr txBox="1"/>
          <p:nvPr/>
        </p:nvSpPr>
        <p:spPr>
          <a:xfrm>
            <a:off x="515814" y="5218750"/>
            <a:ext cx="8889870" cy="114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MAD for City A is greater than the MAD for City B.</a:t>
            </a:r>
            <a:endParaRPr b="0" i="0" sz="1400" u="none" cap="none" strike="noStrike">
              <a:solidFill>
                <a:srgbClr val="000000"/>
              </a:solidFill>
              <a:latin typeface="Arial"/>
              <a:ea typeface="Arial"/>
              <a:cs typeface="Arial"/>
              <a:sym typeface="Arial"/>
            </a:endParaRPr>
          </a:p>
        </p:txBody>
      </p:sp>
      <p:sp>
        <p:nvSpPr>
          <p:cNvPr id="9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46</a:t>
            </a:r>
          </a:p>
        </p:txBody>
      </p:sp>
      <p:sp>
        <p:nvSpPr>
          <p:cNvPr id="901" name="EWL-COVER-1"/>
          <p:cNvSpPr/>
          <p:nvPr/>
        </p:nvSpPr>
        <p:spPr>
          <a:xfrm>
            <a:off x="460950" y="5163886"/>
            <a:ext cx="8999598" cy="1254028"/>
          </a:xfrm>
          <a:prstGeom prst="rect">
            <a:avLst/>
          </a:prstGeom>
          <a:solidFill>
            <a:srgbClr val="FFFFFF"/>
          </a:solidFill>
          <a:ln>
            <a:noFill/>
          </a:ln>
        </p:spPr>
        <p:txBody>
          <a:bodyPr/>
          <a:lstStyle/>
          <a:p/>
        </p:txBody>
      </p:sp>
      <p:grpSp>
        <p:nvGrpSpPr>
          <p:cNvPr id="902" name="TEACH-2-student-move" descr="TEACH 2 · Use strategies and tasks to engage students in rigorous work"/>
          <p:cNvGrpSpPr/>
          <p:nvPr/>
        </p:nvGrpSpPr>
        <p:grpSpPr>
          <a:xfrm>
            <a:off x="502920" y="4779838"/>
            <a:ext cx="11186160" cy="402336"/>
            <a:chOff x="502920" y="4779838"/>
            <a:chExt cx="11186160" cy="402336"/>
          </a:xfrm>
        </p:grpSpPr>
        <p:sp>
          <p:nvSpPr>
            <p:cNvPr id="903" name="TEACH-move-card"/>
            <p:cNvSpPr/>
            <p:nvPr/>
          </p:nvSpPr>
          <p:spPr>
            <a:xfrm>
              <a:off x="502920" y="477983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4" name="TEACH-move-rule"/>
            <p:cNvSpPr/>
            <p:nvPr/>
          </p:nvSpPr>
          <p:spPr>
            <a:xfrm>
              <a:off x="548640" y="4856282"/>
              <a:ext cx="100584" cy="249448"/>
            </a:xfrm>
            <a:prstGeom prst="roundRect">
              <a:avLst>
                <a:gd name="adj" fmla="val 50000"/>
              </a:avLst>
            </a:prstGeom>
            <a:solidFill>
              <a:srgbClr val="01708C"/>
            </a:solidFill>
            <a:ln>
              <a:noFill/>
            </a:ln>
          </p:spPr>
          <p:txBody>
            <a:bodyPr/>
            <a:lstStyle/>
            <a:p>
              <a:endParaRPr/>
            </a:p>
          </p:txBody>
        </p:sp>
        <p:sp>
          <p:nvSpPr>
            <p:cNvPr id="905" name="TEACH-move-text"/>
            <p:cNvSpPr txBox="1"/>
            <p:nvPr/>
          </p:nvSpPr>
          <p:spPr>
            <a:xfrm>
              <a:off x="822960" y="477983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28" name="Google Shape;928;p94"/>
          <p:cNvSpPr txBox="1"/>
          <p:nvPr/>
        </p:nvSpPr>
        <p:spPr>
          <a:xfrm>
            <a:off x="484565" y="950230"/>
            <a:ext cx="7309606" cy="185525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do you notice about the absolute deviations for each city that can help you determine which data set will have a greater mean absolute deviation?</a:t>
            </a:r>
            <a:endParaRPr b="0" i="0" sz="1400" u="none" cap="none" strike="noStrike">
              <a:solidFill>
                <a:srgbClr val="000000"/>
              </a:solidFill>
              <a:latin typeface="Arial"/>
              <a:ea typeface="Arial"/>
              <a:cs typeface="Arial"/>
              <a:sym typeface="Arial"/>
            </a:endParaRPr>
          </a:p>
        </p:txBody>
      </p:sp>
      <p:sp>
        <p:nvSpPr>
          <p:cNvPr id="929" name="Google Shape;929;p94"/>
          <p:cNvSpPr/>
          <p:nvPr/>
        </p:nvSpPr>
        <p:spPr>
          <a:xfrm>
            <a:off x="559215" y="2917659"/>
            <a:ext cx="328947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 xml:space="preserve">City A  </a:t>
            </a:r>
            <a:r>
              <a:rPr b="0" i="0" lang="en-US" sz="2800" u="none" cap="none" strike="noStrike">
                <a:solidFill>
                  <a:srgbClr val="23282D"/>
                </a:solidFill>
                <a:latin typeface="Cambria Math"/>
                <a:ea typeface="Cambria Math"/>
                <a:cs typeface="Cambria Math"/>
                <a:sym typeface="Cambria Math"/>
              </a:rPr>
              <a:t>MAD = 8.57</a:t>
            </a:r>
            <a:endParaRPr b="0" i="0" sz="1400" u="none" cap="none" strike="noStrike">
              <a:solidFill>
                <a:srgbClr val="000000"/>
              </a:solidFill>
              <a:latin typeface="Arial"/>
              <a:ea typeface="Arial"/>
              <a:cs typeface="Arial"/>
              <a:sym typeface="Arial"/>
            </a:endParaRPr>
          </a:p>
        </p:txBody>
      </p:sp>
      <p:sp>
        <p:nvSpPr>
          <p:cNvPr id="930" name="Google Shape;930;p94"/>
          <p:cNvSpPr/>
          <p:nvPr/>
        </p:nvSpPr>
        <p:spPr>
          <a:xfrm>
            <a:off x="559215" y="3886200"/>
            <a:ext cx="336342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Absolute Deviations</a:t>
            </a:r>
            <a:endParaRPr b="0" i="0" sz="1400" u="none" cap="none" strike="noStrike">
              <a:solidFill>
                <a:srgbClr val="000000"/>
              </a:solidFill>
              <a:latin typeface="Arial"/>
              <a:ea typeface="Arial"/>
              <a:cs typeface="Arial"/>
              <a:sym typeface="Arial"/>
            </a:endParaRPr>
          </a:p>
        </p:txBody>
      </p:sp>
      <p:sp>
        <p:nvSpPr>
          <p:cNvPr id="931" name="Google Shape;931;p94"/>
          <p:cNvSpPr/>
          <p:nvPr/>
        </p:nvSpPr>
        <p:spPr>
          <a:xfrm>
            <a:off x="6784075" y="2902272"/>
            <a:ext cx="33634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 xml:space="preserve">City B  </a:t>
            </a:r>
            <a:r>
              <a:rPr b="0" i="0" lang="en-US" sz="2800" u="none" cap="none" strike="noStrike">
                <a:solidFill>
                  <a:srgbClr val="23282D"/>
                </a:solidFill>
                <a:latin typeface="Cambria Math"/>
                <a:ea typeface="Cambria Math"/>
                <a:cs typeface="Cambria Math"/>
                <a:sym typeface="Cambria Math"/>
              </a:rPr>
              <a:t>MAD = 3.71</a:t>
            </a:r>
            <a:endParaRPr b="0" i="0" sz="1400" u="none" cap="none" strike="noStrike">
              <a:solidFill>
                <a:srgbClr val="000000"/>
              </a:solidFill>
              <a:latin typeface="Arial"/>
              <a:ea typeface="Arial"/>
              <a:cs typeface="Arial"/>
              <a:sym typeface="Arial"/>
            </a:endParaRPr>
          </a:p>
        </p:txBody>
      </p:sp>
      <p:sp>
        <p:nvSpPr>
          <p:cNvPr id="932" name="Google Shape;932;p94"/>
          <p:cNvSpPr/>
          <p:nvPr/>
        </p:nvSpPr>
        <p:spPr>
          <a:xfrm>
            <a:off x="6784074" y="3468432"/>
            <a:ext cx="336342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Absolute Deviations</a:t>
            </a:r>
            <a:endParaRPr b="0" i="0" sz="1400" u="none" cap="none" strike="noStrike">
              <a:solidFill>
                <a:srgbClr val="000000"/>
              </a:solidFill>
              <a:latin typeface="Arial"/>
              <a:ea typeface="Arial"/>
              <a:cs typeface="Arial"/>
              <a:sym typeface="Arial"/>
            </a:endParaRPr>
          </a:p>
        </p:txBody>
      </p:sp>
      <p:sp>
        <p:nvSpPr>
          <p:cNvPr id="933" name="Google Shape;933;p94"/>
          <p:cNvSpPr txBox="1"/>
          <p:nvPr/>
        </p:nvSpPr>
        <p:spPr>
          <a:xfrm>
            <a:off x="5699666"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34" name="Google Shape;934;p94"/>
          <p:cNvSpPr/>
          <p:nvPr/>
        </p:nvSpPr>
        <p:spPr>
          <a:xfrm>
            <a:off x="557663" y="4200531"/>
            <a:ext cx="6352263" cy="211727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46</a:t>
            </a:r>
          </a:p>
        </p:txBody>
      </p:sp>
      <p:sp xmlns:p="http://schemas.openxmlformats.org/presentationml/2006/main" xmlns:a="http://schemas.openxmlformats.org/drawingml/2006/main">
        <p:nvSpPr>
          <p:cNvPr id="936"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40" name="Google Shape;940;p95"/>
          <p:cNvSpPr txBox="1"/>
          <p:nvPr/>
        </p:nvSpPr>
        <p:spPr>
          <a:xfrm>
            <a:off x="484565" y="950231"/>
            <a:ext cx="6445153" cy="146127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How are the mean absolute deviation and interquartile range similar and how are they different?</a:t>
            </a:r>
            <a:endParaRPr b="0" i="0" sz="1400" u="none" cap="none" strike="noStrike">
              <a:solidFill>
                <a:srgbClr val="000000"/>
              </a:solidFill>
              <a:latin typeface="Arial"/>
              <a:ea typeface="Arial"/>
              <a:cs typeface="Arial"/>
              <a:sym typeface="Arial"/>
            </a:endParaRPr>
          </a:p>
        </p:txBody>
      </p:sp>
      <p:sp>
        <p:nvSpPr>
          <p:cNvPr id="941" name="Google Shape;941;p95"/>
          <p:cNvSpPr txBox="1"/>
          <p:nvPr/>
        </p:nvSpPr>
        <p:spPr>
          <a:xfrm>
            <a:off x="5699666" y="5860209"/>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42" name="Google Shape;942;p95"/>
          <p:cNvSpPr/>
          <p:nvPr/>
        </p:nvSpPr>
        <p:spPr>
          <a:xfrm>
            <a:off x="567559" y="2508298"/>
            <a:ext cx="6362159" cy="380950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46</a:t>
            </a:r>
          </a:p>
        </p:txBody>
      </p:sp>
      <p:sp xmlns:p="http://schemas.openxmlformats.org/presentationml/2006/main" xmlns:a="http://schemas.openxmlformats.org/drawingml/2006/main">
        <p:nvSpPr>
          <p:cNvPr id="944"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2.9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allowing positive and negative deviations to cancel.</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Organize the given data into value, distance from mean, and total distance columns.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1" name="Google Shape;821;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2" name="Google Shape;822;p83"/>
          <p:cNvSpPr/>
          <p:nvPr/>
        </p:nvSpPr>
        <p:spPr>
          <a:xfrm>
            <a:off x="484565" y="3429000"/>
            <a:ext cx="636643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How can you use the mean absolute deviation to verify your assumption?</a:t>
            </a:r>
            <a:endParaRPr b="0" i="0" sz="1400" u="none" cap="none" strike="noStrike">
              <a:solidFill>
                <a:srgbClr val="000000"/>
              </a:solidFill>
              <a:latin typeface="Arial"/>
              <a:ea typeface="Arial"/>
              <a:cs typeface="Arial"/>
              <a:sym typeface="Arial"/>
            </a:endParaRPr>
          </a:p>
        </p:txBody>
      </p:sp>
      <p:pic>
        <p:nvPicPr>
          <p:cNvPr id="823" name="Google Shape;823;p83"/>
          <p:cNvPicPr preferRelativeResize="0"/>
          <p:nvPr/>
        </p:nvPicPr>
        <p:blipFill rotWithShape="1">
          <a:blip r:embed="rId2">
            <a:alphaModFix/>
          </a:blip>
          <a:srcRect b="0" l="0" r="0" t="0"/>
          <a:stretch/>
        </p:blipFill>
        <p:spPr>
          <a:xfrm>
            <a:off x="7536801" y="1460622"/>
            <a:ext cx="4139385" cy="2387747"/>
          </a:xfrm>
          <a:prstGeom prst="rect">
            <a:avLst/>
          </a:prstGeom>
          <a:noFill/>
          <a:ln>
            <a:noFill/>
          </a:ln>
        </p:spPr>
      </p:pic>
      <p:sp>
        <p:nvSpPr>
          <p:cNvPr id="824" name="Google Shape;824;p83"/>
          <p:cNvSpPr txBox="1"/>
          <p:nvPr/>
        </p:nvSpPr>
        <p:spPr>
          <a:xfrm>
            <a:off x="484565" y="5313622"/>
            <a:ext cx="8771117" cy="1087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the MAD for each city and compare them.</a:t>
            </a:r>
            <a:endParaRPr b="0" i="0" sz="1400" u="none" cap="none" strike="noStrike">
              <a:solidFill>
                <a:srgbClr val="000000"/>
              </a:solidFill>
              <a:latin typeface="Arial"/>
              <a:ea typeface="Arial"/>
              <a:cs typeface="Arial"/>
              <a:sym typeface="Arial"/>
            </a:endParaRPr>
          </a:p>
        </p:txBody>
      </p:sp>
      <p:sp>
        <p:nvSpPr>
          <p:cNvPr id="825" name="Google Shape;825;p83"/>
          <p:cNvSpPr txBox="1"/>
          <p:nvPr/>
        </p:nvSpPr>
        <p:spPr>
          <a:xfrm>
            <a:off x="484565" y="511107"/>
            <a:ext cx="6366435" cy="22643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Both cities have a forecasted mean high temperature of 79°F. City A’s temperatures range from 62°F to 92°F, while City B’s temperatures range from 72°F to 85°F.</a:t>
            </a:r>
            <a:endParaRPr b="1" i="0" sz="2800" u="none" cap="none" strike="noStrike">
              <a:solidFill>
                <a:srgbClr val="262626"/>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46</a:t>
            </a:r>
          </a:p>
        </p:txBody>
      </p:sp>
      <p:sp xmlns:p="http://schemas.openxmlformats.org/presentationml/2006/main" xmlns:a="http://schemas.openxmlformats.org/drawingml/2006/main">
        <p:nvSpPr>
          <p:cNvPr id="826" name="TEACH-embedded-student-prompt" descr="Student thinking and response directions"/>
          <p:cNvSpPr txBox="1"/>
          <p:nvPr/>
        </p:nvSpPr>
        <p:spPr>
          <a:xfrm>
            <a:off x="7391400" y="409651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39" name="Google Shape;839;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0" name="Google Shape;840;p85"/>
          <p:cNvSpPr/>
          <p:nvPr/>
        </p:nvSpPr>
        <p:spPr>
          <a:xfrm>
            <a:off x="515814" y="2654495"/>
            <a:ext cx="591949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operation can you use to find the absolute deviation for each value? Explain.</a:t>
            </a:r>
            <a:endParaRPr b="0" i="0" sz="1400" u="none" cap="none" strike="noStrike">
              <a:solidFill>
                <a:srgbClr val="000000"/>
              </a:solidFill>
              <a:latin typeface="Arial"/>
              <a:ea typeface="Arial"/>
              <a:cs typeface="Arial"/>
              <a:sym typeface="Arial"/>
            </a:endParaRPr>
          </a:p>
        </p:txBody>
      </p:sp>
      <p:pic>
        <p:nvPicPr>
          <p:cNvPr id="841" name="Google Shape;841;p85"/>
          <p:cNvPicPr preferRelativeResize="0"/>
          <p:nvPr/>
        </p:nvPicPr>
        <p:blipFill rotWithShape="1">
          <a:blip r:embed="rId2">
            <a:alphaModFix/>
          </a:blip>
          <a:srcRect b="0" l="0" r="0" t="0"/>
          <a:stretch/>
        </p:blipFill>
        <p:spPr>
          <a:xfrm>
            <a:off x="7536801" y="1460622"/>
            <a:ext cx="4139385" cy="2387747"/>
          </a:xfrm>
          <a:prstGeom prst="rect">
            <a:avLst/>
          </a:prstGeom>
          <a:noFill/>
          <a:ln>
            <a:noFill/>
          </a:ln>
        </p:spPr>
      </p:pic>
      <p:sp>
        <p:nvSpPr>
          <p:cNvPr id="842" name="Google Shape;842;p85"/>
          <p:cNvSpPr txBox="1"/>
          <p:nvPr/>
        </p:nvSpPr>
        <p:spPr>
          <a:xfrm>
            <a:off x="515814" y="4393451"/>
            <a:ext cx="8705824" cy="20078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Because we want to find how much each value </a:t>
            </a:r>
            <a:r>
              <a:rPr b="0" i="1" lang="en-US" sz="2800" u="none" cap="none" strike="noStrike">
                <a:solidFill>
                  <a:srgbClr val="595959"/>
                </a:solidFill>
                <a:latin typeface="Arial"/>
                <a:ea typeface="Arial"/>
                <a:cs typeface="Arial"/>
                <a:sym typeface="Arial"/>
              </a:rPr>
              <a:t>differs</a:t>
            </a:r>
            <a:r>
              <a:rPr b="0" i="0" lang="en-US" sz="2800" u="none" cap="none" strike="noStrike">
                <a:solidFill>
                  <a:srgbClr val="595959"/>
                </a:solidFill>
                <a:latin typeface="Arial"/>
                <a:ea typeface="Arial"/>
                <a:cs typeface="Arial"/>
                <a:sym typeface="Arial"/>
              </a:rPr>
              <a:t> from the mean, we can use subtraction to find the difference between each value and the mean.</a:t>
            </a:r>
            <a:endParaRPr b="0" i="0" sz="1400" u="none" cap="none" strike="noStrike">
              <a:solidFill>
                <a:srgbClr val="000000"/>
              </a:solidFill>
              <a:latin typeface="Arial"/>
              <a:ea typeface="Arial"/>
              <a:cs typeface="Arial"/>
              <a:sym typeface="Arial"/>
            </a:endParaRPr>
          </a:p>
        </p:txBody>
      </p:sp>
      <p:sp>
        <p:nvSpPr>
          <p:cNvPr id="843" name="Google Shape;843;p85"/>
          <p:cNvSpPr txBox="1"/>
          <p:nvPr/>
        </p:nvSpPr>
        <p:spPr>
          <a:xfrm>
            <a:off x="478237" y="508653"/>
            <a:ext cx="5919492" cy="21294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Both cities have a mean forecasted high temperature of 79°F.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We can compare the mean absolute deviations for the cities.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46</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cxnSp>
        <p:nvCxnSpPr>
          <p:cNvPr id="947" name="Google Shape;947;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8" name="Google Shape;948;p96"/>
          <p:cNvSpPr txBox="1"/>
          <p:nvPr/>
        </p:nvSpPr>
        <p:spPr>
          <a:xfrm>
            <a:off x="484564" y="1358349"/>
            <a:ext cx="8448421" cy="50600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Mean absolute deviation is a measure of variation. It is the mean of all the absolute deviations, or the absolute difference between each value and the mean.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greater the mean absolute deviation, the greater the spread of the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49" name="Google Shape;949;p96"/>
          <p:cNvSpPr txBox="1"/>
          <p:nvPr/>
        </p:nvSpPr>
        <p:spPr>
          <a:xfrm>
            <a:off x="484565" y="316033"/>
            <a:ext cx="6030535" cy="91754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Describe Data by Mean Absolute Deviation</a:t>
            </a:r>
            <a:endParaRPr b="0" i="0" sz="1400" u="none" cap="none" strike="noStrike">
              <a:solidFill>
                <a:srgbClr val="000000"/>
              </a:solidFill>
              <a:latin typeface="Arial"/>
              <a:ea typeface="Arial"/>
              <a:cs typeface="Arial"/>
              <a:sym typeface="Arial"/>
            </a:endParaRPr>
          </a:p>
        </p:txBody>
      </p:sp>
      <p:sp>
        <p:nvSpPr>
          <p:cNvPr id="9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46</a:t>
            </a:r>
          </a:p>
        </p:txBody>
      </p:sp>
      <p:sp>
        <p:nvSpPr>
          <p:cNvPr id="95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952" name="TEACH-3-student-move" descr="TEACH 3 · Use intentional questioning to deepen learning"/>
          <p:cNvGrpSpPr/>
          <p:nvPr/>
        </p:nvGrpSpPr>
        <p:grpSpPr>
          <a:xfrm>
            <a:off x="502920" y="5472790"/>
            <a:ext cx="11186160" cy="402336"/>
            <a:chOff x="502920" y="5472790"/>
            <a:chExt cx="11186160" cy="402336"/>
          </a:xfrm>
        </p:grpSpPr>
        <p:sp>
          <p:nvSpPr>
            <p:cNvPr id="953"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54"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55"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97"/>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Water Parks</a:t>
            </a:r>
            <a:endParaRPr b="0" i="0" sz="1400" u="none" cap="none" strike="noStrike">
              <a:solidFill>
                <a:srgbClr val="000000"/>
              </a:solidFill>
              <a:latin typeface="Arial"/>
              <a:ea typeface="Arial"/>
              <a:cs typeface="Arial"/>
              <a:sym typeface="Arial"/>
            </a:endParaRPr>
          </a:p>
        </p:txBody>
      </p:sp>
      <p:cxnSp>
        <p:nvCxnSpPr>
          <p:cNvPr id="955" name="Google Shape;955;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6" name="Google Shape;956;p97"/>
          <p:cNvSpPr txBox="1"/>
          <p:nvPr/>
        </p:nvSpPr>
        <p:spPr>
          <a:xfrm>
            <a:off x="484565" y="1215627"/>
            <a:ext cx="10175084" cy="23918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Andrew and his friends want to visit a waterpark, but Andrew must take his younger sister who is 8 years old and can only ride waterslides that are less than 100 feet high.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600"/>
              <a:buFont typeface="Arial"/>
              <a:buNone/>
              <a:defRPr/>
            </a:pPr>
            <a:r>
              <a:rPr b="1" i="0" lang="en-US" sz="2600" u="none" cap="none" strike="noStrike">
                <a:solidFill>
                  <a:srgbClr val="23282D"/>
                </a:solidFill>
                <a:latin typeface="Arial"/>
                <a:ea typeface="Arial"/>
                <a:cs typeface="Arial"/>
                <a:sym typeface="Arial"/>
              </a:rPr>
              <a:t>Question:</a:t>
            </a:r>
            <a:r>
              <a:rPr b="0" i="0" lang="en-US" sz="2600" u="none" cap="none" strike="noStrike">
                <a:solidFill>
                  <a:srgbClr val="23282D"/>
                </a:solidFill>
                <a:latin typeface="Arial"/>
                <a:ea typeface="Arial"/>
                <a:cs typeface="Arial"/>
                <a:sym typeface="Arial"/>
              </a:rPr>
              <a:t xml:space="preserve"> Which waterpark should they visit? Include the heights of the slides at the two parks in your recommendation.</a:t>
            </a:r>
            <a:endParaRPr b="0" i="0" sz="1400" u="none" cap="none" strike="noStrike">
              <a:solidFill>
                <a:srgbClr val="000000"/>
              </a:solidFill>
              <a:latin typeface="Arial"/>
              <a:ea typeface="Arial"/>
              <a:cs typeface="Arial"/>
              <a:sym typeface="Arial"/>
            </a:endParaRPr>
          </a:p>
        </p:txBody>
      </p:sp>
      <p:pic>
        <p:nvPicPr>
          <p:cNvPr id="957" name="Google Shape;957;p97"/>
          <p:cNvPicPr preferRelativeResize="0"/>
          <p:nvPr/>
        </p:nvPicPr>
        <p:blipFill rotWithShape="1">
          <a:blip r:embed="rId3">
            <a:alphaModFix/>
          </a:blip>
          <a:srcRect b="0" l="0" r="0" t="0"/>
          <a:stretch/>
        </p:blipFill>
        <p:spPr>
          <a:xfrm>
            <a:off x="1324524" y="3577692"/>
            <a:ext cx="8495166" cy="2843460"/>
          </a:xfrm>
          <a:prstGeom prst="rect">
            <a:avLst/>
          </a:prstGeom>
          <a:noFill/>
          <a:ln>
            <a:noFill/>
          </a:ln>
        </p:spPr>
      </p:pic>
      <p:sp>
        <p:nvSpPr>
          <p:cNvPr id="9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46</a:t>
            </a:r>
          </a:p>
        </p:txBody>
      </p:sp>
      <p:sp>
        <p:nvSpPr>
          <p:cNvPr id="95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63" name="Google Shape;963;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4" name="Google Shape;964;p9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determine the mean absolute deviation (MAD) of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compare data sets using the mean absolute deviation.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explain the concept of mean absolute deviation and how to determine it for a data set.</a:t>
            </a:r>
            <a:endParaRPr b="0" i="0" sz="1400" u="none" cap="none" strike="noStrike">
              <a:solidFill>
                <a:srgbClr val="000000"/>
              </a:solidFill>
              <a:latin typeface="Arial"/>
              <a:ea typeface="Arial"/>
              <a:cs typeface="Arial"/>
              <a:sym typeface="Arial"/>
            </a:endParaRPr>
          </a:p>
        </p:txBody>
      </p:sp>
      <p:sp>
        <p:nvSpPr>
          <p:cNvPr id="9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46</a:t>
            </a:r>
          </a:p>
        </p:txBody>
      </p:sp>
      <p:grpSp>
        <p:nvGrpSpPr>
          <p:cNvPr id="966" name="TEACH-1-student-move" descr="TEACH 1 · Facilitate clear, standards-based content learning"/>
          <p:cNvGrpSpPr/>
          <p:nvPr/>
        </p:nvGrpSpPr>
        <p:grpSpPr>
          <a:xfrm>
            <a:off x="502920" y="5472790"/>
            <a:ext cx="11186160" cy="402336"/>
            <a:chOff x="502920" y="5472790"/>
            <a:chExt cx="11186160" cy="402336"/>
          </a:xfrm>
        </p:grpSpPr>
        <p:sp>
          <p:nvSpPr>
            <p:cNvPr id="967"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68"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69"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62" name="Google Shape;962;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63" name="Google Shape;963;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4" name="Google Shape;964;p9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determine the mean absolute deviation (MAD) of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compare data sets using the mean absolute deviation.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explain the concept of mean absolute deviation and how to determine it for a data 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46</a:t>
            </a:r>
          </a:p>
        </p:txBody>
      </p:sp>
      <p:grpSp>
        <p:nvGrpSpPr>
          <p:cNvPr id="965" name="TEACH-1-student-move" descr="TEACH 1 · Facilitate clear, standards-based content learning"/>
          <p:cNvGrpSpPr/>
          <p:nvPr/>
        </p:nvGrpSpPr>
        <p:grpSpPr>
          <a:xfrm>
            <a:off x="502920" y="5472790"/>
            <a:ext cx="11186160" cy="402336"/>
            <a:chOff x="502920" y="5472790"/>
            <a:chExt cx="11186160" cy="402336"/>
          </a:xfrm>
        </p:grpSpPr>
        <p:sp>
          <p:nvSpPr>
            <p:cNvPr id="966"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67"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68"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2.9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Find the mean.</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2-9</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46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2-9</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46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2-9</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46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2-9</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32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2-9</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2-9</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46</a:t>
            </a: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2.9 — Describe Data by Mean Absolute Deviation</dc:title>
  <dc:creator>Neft Teacher</dc:creator>
  <cp:lastModifiedBy>Neft Teacher</cp:lastModifiedBy>
  <dcterms:created xsi:type="dcterms:W3CDTF">2026-09-30T12:04:43Z</dcterms:created>
  <dcterms:modified xsi:type="dcterms:W3CDTF">2026-09-30T12:04:43Z</dcterms:modified>
</cp:coreProperties>
</file>