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3.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5.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2.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70" r:id="rId24"/>
    <p:sldId id="271" r:id="rId25"/>
    <p:sldId id="256" r:id="rId10"/>
    <p:sldId id="257" r:id="rId11"/>
    <p:sldId id="260" r:id="rId14"/>
    <p:sldId id="344" r:id="rId88"/>
    <p:sldId id="340" r:id="rId84"/>
    <p:sldId id="339" r:id="rId44"/>
    <p:sldId id="338" r:id="rId43"/>
    <p:sldId id="337" r:id="rId42"/>
    <p:sldId id="336" r:id="rId33"/>
    <p:sldId id="335" r:id="rId40"/>
    <p:sldId id="334" r:id="rId34"/>
    <p:sldId id="333" r:id="rId38"/>
    <p:sldId id="332" r:id="rId37"/>
    <p:sldId id="261" r:id="rId15"/>
    <p:sldId id="273" r:id="rId27"/>
    <p:sldId id="274" r:id="rId28"/>
    <p:sldId id="278" r:id="rId32"/>
    <p:sldId id="285" r:id="rId39"/>
    <p:sldId id="287" r:id="rId41"/>
    <p:sldId id="292" r:id="rId46"/>
    <p:sldId id="296" r:id="rId50"/>
    <p:sldId id="345" r:id="rId89"/>
    <p:sldId id="341" r:id="rId85"/>
    <p:sldId id="331" r:id="rId36"/>
    <p:sldId id="328" r:id="rId82"/>
    <p:sldId id="346" r:id="rId90"/>
    <p:sldId id="329" r:id="rId83"/>
    <p:sldId id="297" r:id="rId51"/>
    <p:sldId id="300" r:id="rId54"/>
    <p:sldId id="304" r:id="rId58"/>
    <p:sldId id="315" r:id="rId69"/>
    <p:sldId id="317" r:id="rId71"/>
    <p:sldId id="324" r:id="rId78"/>
    <p:sldId id="342" r:id="rId86"/>
    <p:sldId id="325" r:id="rId79"/>
    <p:sldId id="326" r:id="rId80"/>
    <p:sldId id="327" r:id="rId81"/>
    <p:sldId id="330" r:id="rId35"/>
    <p:sldId id="343" r:id="rId87"/>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53F55D-7DDB-4479-A4F7-64247C19626C}">
  <a:tblStyle styleId="{FD53F55D-7DDB-4479-A4F7-64247C19626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6.xml"/><Relationship Id="rId24" Type="http://schemas.openxmlformats.org/officeDocument/2006/relationships/slide" Target="slides/slide2.xml"/><Relationship Id="rId25" Type="http://schemas.openxmlformats.org/officeDocument/2006/relationships/slide" Target="slides/slide3.xml"/><Relationship Id="rId27" Type="http://schemas.openxmlformats.org/officeDocument/2006/relationships/slide" Target="slides/slide17.xml"/><Relationship Id="rId28"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11.xml"/><Relationship Id="rId34" Type="http://schemas.openxmlformats.org/officeDocument/2006/relationships/slide" Target="slides/slide13.xml"/><Relationship Id="rId35" Type="http://schemas.openxmlformats.org/officeDocument/2006/relationships/slide" Target="slides/slide38.xml"/><Relationship Id="rId36" Type="http://schemas.openxmlformats.org/officeDocument/2006/relationships/slide" Target="slides/slide25.xml"/><Relationship Id="rId37" Type="http://schemas.openxmlformats.org/officeDocument/2006/relationships/slide" Target="slides/slide15.xml"/><Relationship Id="rId38" Type="http://schemas.openxmlformats.org/officeDocument/2006/relationships/slide" Target="slides/slide14.xml"/><Relationship Id="rId39" Type="http://schemas.openxmlformats.org/officeDocument/2006/relationships/slide" Target="slides/slide20.xml"/><Relationship Id="rId40" Type="http://schemas.openxmlformats.org/officeDocument/2006/relationships/slide" Target="slides/slide12.xml"/><Relationship Id="rId41" Type="http://schemas.openxmlformats.org/officeDocument/2006/relationships/slide" Target="slides/slide21.xml"/><Relationship Id="rId42" Type="http://schemas.openxmlformats.org/officeDocument/2006/relationships/slide" Target="slides/slide10.xml"/><Relationship Id="rId43" Type="http://schemas.openxmlformats.org/officeDocument/2006/relationships/slide" Target="slides/slide9.xml"/><Relationship Id="rId44" Type="http://schemas.openxmlformats.org/officeDocument/2006/relationships/slide" Target="slides/slide8.xml"/><Relationship Id="rId46" Type="http://schemas.openxmlformats.org/officeDocument/2006/relationships/slide" Target="slides/slide22.xml"/><Relationship Id="rId50" Type="http://schemas.openxmlformats.org/officeDocument/2006/relationships/slide" Target="slides/slide23.xml"/><Relationship Id="rId51" Type="http://schemas.openxmlformats.org/officeDocument/2006/relationships/slide" Target="slides/slide28.xml"/><Relationship Id="rId54" Type="http://schemas.openxmlformats.org/officeDocument/2006/relationships/slide" Target="slides/slide29.xml"/><Relationship Id="rId58" Type="http://schemas.openxmlformats.org/officeDocument/2006/relationships/slide" Target="slides/slide30.xml"/><Relationship Id="rId69" Type="http://schemas.openxmlformats.org/officeDocument/2006/relationships/slide" Target="slides/slide31.xml"/><Relationship Id="rId71" Type="http://schemas.openxmlformats.org/officeDocument/2006/relationships/slide" Target="slides/slide32.xml"/><Relationship Id="rId78" Type="http://schemas.openxmlformats.org/officeDocument/2006/relationships/slide" Target="slides/slide33.xml"/><Relationship Id="rId79" Type="http://schemas.openxmlformats.org/officeDocument/2006/relationships/slide" Target="slides/slide35.xml"/><Relationship Id="rId80" Type="http://schemas.openxmlformats.org/officeDocument/2006/relationships/slide" Target="slides/slide36.xml"/><Relationship Id="rId81" Type="http://schemas.openxmlformats.org/officeDocument/2006/relationships/slide" Target="slides/slide37.xml"/><Relationship Id="rId82" Type="http://schemas.openxmlformats.org/officeDocument/2006/relationships/slide" Target="slides/slide26.xml"/><Relationship Id="rId83" Type="http://schemas.openxmlformats.org/officeDocument/2006/relationships/slide" Target="slides/slide27.xml"/><Relationship Id="rId84" Type="http://schemas.openxmlformats.org/officeDocument/2006/relationships/slide" Target="slides/slide7.xml"/><Relationship Id="rId85" Type="http://schemas.openxmlformats.org/officeDocument/2006/relationships/slide" Target="slides/slide24.xml"/><Relationship Id="rId86" Type="http://schemas.openxmlformats.org/officeDocument/2006/relationships/slide" Target="slides/slide34.xml"/><Relationship Id="rId87" Type="http://schemas.openxmlformats.org/officeDocument/2006/relationships/slide" Target="slides/slide39.xml"/><Relationship Id="rId88" Type="http://schemas.openxmlformats.org/officeDocument/2006/relationships/slide" Target="slides/slide40.xml"/><Relationship Id="rId89" Type="http://schemas.openxmlformats.org/officeDocument/2006/relationships/slide" Target="slides/slide41.xml"/><Relationship Id="rId90"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4 | DIVIDER</a:t>
            </a:r>
          </a:p>
          <a:p xmlns:a="http://schemas.openxmlformats.org/drawingml/2006/main">
            <a:pPr>
              <a:buNone/>
            </a:pPr>
            <a:r>
              <a:rPr lang="en-US" sz="1100"/>
              <a:t>Focus on the existing task: Division Expressions with Fractions and Mixed Numbers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5 | WORKED</a:t>
            </a:r>
          </a:p>
          <a:p xmlns:a="http://schemas.openxmlformats.org/drawingml/2006/main">
            <a:pPr>
              <a:buNone/>
            </a:pPr>
            <a:r>
              <a:rPr lang="en-US" sz="1100"/>
              <a:t>Focus on the existing task: Or You Could</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represent mixed numbers accurately. Ask which feature of their work supports the claim.</a:t>
            </a:r>
          </a:p>
          <a:p xmlns:a="http://schemas.openxmlformats.org/drawingml/2006/main">
            <a:pPr>
              <a:buNone/>
            </a:pPr>
            <a:r>
              <a:rPr lang="en-US" sz="1100"/>
              <a:t>RESPOND: If this task shows the lesson misconception—inverting the dividend or failing to convert a mixed number—mark equal-size fractional units in the given quantities before writing the equivalent division.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1 | WARMUP</a:t>
            </a:r>
          </a:p>
          <a:p xmlns:a="http://schemas.openxmlformats.org/drawingml/2006/main">
            <a:pPr>
              <a:buNone/>
            </a:pPr>
            <a:r>
              <a:rPr lang="en-US" sz="1100"/>
              <a:t>Focus on the existing task: Warm-Up WARM-UP · THINK • TRY •…</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11/4   2) 2/15   3) 5/3   4) 3/4</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represent mixed numbers accurately; connect fraction division to a model and reciprocal; check the result. Review recent work and today’s warm-up to choose flexible groups and access supports; do not infer needs from identity or perceived ability. Use the existing lesson tasks and stated standards.</a:t>
            </a:r>
          </a:p>
          <a:p>
            <a:pPr>
              <a:buNone/>
            </a:pPr>
            <a:r>
              <a:rPr lang="en-US" sz="1100"/>
              <a:t>Anticipate: inverting the dividend or failing to convert a mixed number. If observed, mark equal-size fractional units in the given quantities before writing the equivalent division.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5" name="Google Shape;255;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6 | GOAL</a:t>
            </a:r>
          </a:p>
          <a:p xmlns:a="http://schemas.openxmlformats.org/drawingml/2006/main">
            <a:pPr>
              <a:buNone/>
            </a:pPr>
            <a:r>
              <a:rPr lang="en-US" sz="1100"/>
              <a:t>Focus on the existing task: Today’s Objectives Division…</a:t>
            </a:r>
          </a:p>
          <a:p xmlns:a="http://schemas.openxmlformats.org/drawingml/2006/main">
            <a:pPr>
              <a:buNone/>
            </a:pPr>
            <a:r>
              <a:rPr lang="en-US" sz="1100"/>
              <a:t>CONNECT (T1/4): Ask students to restate the displayed goal or key idea and connect it to earlier work. Relevant lesson evidence: represent mixed numbers accurately; connect fraction division to a model and reciprocal; check the result.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represent mixed numbers accurately; connect fraction division to a model and reciprocal; check the result. Ask: “Which part of your work would show this?” Revisit that evidence after the task; a confidence rating alone is not evidence of understanding.</a:t>
            </a:r>
          </a:p>
        </p:txBody>
      </p:sp>
      <p:sp>
        <p:nvSpPr>
          <p:cNvPr id="331" name="Google Shape;331;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16 | VOCAB</a:t>
            </a:r>
          </a:p>
          <a:p xmlns:a="http://schemas.openxmlformats.org/drawingml/2006/main">
            <a:pPr>
              <a:buNone/>
            </a:pPr>
            <a:r>
              <a:rPr lang="en-US" sz="1100"/>
              <a:t>Focus on the existing task: Vocabulary Today’s Math Words We…</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3" name="Google Shape;353;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2 | NOTES</a:t>
            </a:r>
          </a:p>
          <a:p xmlns:a="http://schemas.openxmlformats.org/drawingml/2006/main">
            <a:pPr>
              <a:buNone/>
            </a:pPr>
            <a:r>
              <a:rPr lang="en-US" sz="1100"/>
              <a:t>Focus on the existing task: Today’s Math Notes Section 1: Math…</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40" name="Google Shape;540;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1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3 | NOTES</a:t>
            </a:r>
          </a:p>
          <a:p xmlns:a="http://schemas.openxmlformats.org/drawingml/2006/main">
            <a:pPr>
              <a:buNone/>
            </a:pPr>
            <a:r>
              <a:rPr lang="en-US" sz="1100"/>
              <a:t>Focus on the existing task: Today’s Math Notes Section 2: Today’s…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68" name="Google Shape;568;p1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1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17 | CURIOUS</a:t>
            </a:r>
          </a:p>
          <a:p xmlns:a="http://schemas.openxmlformats.org/drawingml/2006/main">
            <a:pPr>
              <a:buNone/>
            </a:pPr>
            <a:r>
              <a:rPr lang="en-US" sz="1100"/>
              <a:t>Focus on the existing task: What’s the question?</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represent mixed numbers accurately. Ask which feature of their work supports the claim.</a:t>
            </a:r>
          </a:p>
          <a:p xmlns:a="http://schemas.openxmlformats.org/drawingml/2006/main">
            <a:pPr>
              <a:buNone/>
            </a:pPr>
            <a:r>
              <a:rPr lang="en-US" sz="1100"/>
              <a:t>RESPOND: If this task shows the lesson misconception—inverting the dividend or failing to convert a mixed number—mark equal-size fractional units in the given quantities before writing the equivalent division.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607" name="Google Shape;607;p1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1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18 | WORKED</a:t>
            </a:r>
          </a:p>
          <a:p xmlns:a="http://schemas.openxmlformats.org/drawingml/2006/main">
            <a:pPr>
              <a:buNone/>
            </a:pPr>
            <a:r>
              <a:rPr lang="en-US" sz="1100"/>
              <a:t>Focus on the existing task: Making Bows</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represent mixed numbers accurately. Ask which feature of their work supports the claim.</a:t>
            </a:r>
          </a:p>
          <a:p xmlns:a="http://schemas.openxmlformats.org/drawingml/2006/main">
            <a:pPr>
              <a:buNone/>
            </a:pPr>
            <a:r>
              <a:rPr lang="en-US" sz="1100"/>
              <a:t>RESPOND: If this task shows the lesson misconception—inverting the dividend or failing to convert a mixed number—mark equal-size fractional units in the given quantities before writing the equivalent division.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18" name="Google Shape;618;p1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2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19 | REVEAL</a:t>
            </a:r>
          </a:p>
          <a:p xmlns:a="http://schemas.openxmlformats.org/drawingml/2006/main">
            <a:pPr>
              <a:buNone/>
            </a:pPr>
            <a:r>
              <a:rPr lang="en-US" sz="1100"/>
              <a:t>Focus on the existing task: Reveal: One tool is a tape diagram. Making Bows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represent mixed numbers accurately. Ask which feature of their work supports the claim.</a:t>
            </a:r>
          </a:p>
          <a:p xmlns:a="http://schemas.openxmlformats.org/drawingml/2006/main">
            <a:pPr>
              <a:buNone/>
            </a:pPr>
            <a:r>
              <a:rPr lang="en-US" sz="1100"/>
              <a:t>RESPOND: If this task shows the lesson misconception—inverting the dividend or failing to convert a mixed number—mark equal-size fractional units in the given quantities before writing the equivalent division.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One tool is a tape diagram.</a:t>
            </a:r>
          </a:p>
          <a:p>
            <a:pPr indent="0" lvl="0" marL="0" rtl="0" algn="l">
              <a:lnSpc>
                <a:spcPct val="100000"/>
              </a:lnSpc>
              <a:spcBef>
                <a:spcPts val="0"/>
              </a:spcBef>
              <a:spcAft>
                <a:spcPts val="0"/>
              </a:spcAft>
              <a:buSzPts val="1400"/>
              <a:buNone/>
            </a:pPr>
            <a:r>
              <a:t>UIFR: TEACH 3 · TEACH 4.</a:t>
            </a:r>
          </a:p>
        </p:txBody>
      </p:sp>
      <p:sp>
        <p:nvSpPr>
          <p:cNvPr id="650" name="Google Shape;650;p2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20 | REVEAL</a:t>
            </a:r>
          </a:p>
          <a:p xmlns:a="http://schemas.openxmlformats.org/drawingml/2006/main">
            <a:pPr>
              <a:buNone/>
            </a:pPr>
            <a:r>
              <a:rPr lang="en-US" sz="1100"/>
              <a:t>Focus on the existing task: Reveal: We can write a division equation. Making Bows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connect fraction division to a model and reciprocal. Ask which feature of their work supports the claim.</a:t>
            </a:r>
          </a:p>
          <a:p xmlns:a="http://schemas.openxmlformats.org/drawingml/2006/main">
            <a:pPr>
              <a:buNone/>
            </a:pPr>
            <a:r>
              <a:rPr lang="en-US" sz="1100"/>
              <a:t>RESPOND: If this task shows the lesson misconception—inverting the dividend or failing to convert a mixed number—mark equal-size fractional units in the given quantities before writing the equivalent division.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write a division equation.</a:t>
            </a:r>
          </a:p>
          <a:p>
            <a:pPr indent="0" lvl="0" marL="0" rtl="0" algn="l">
              <a:lnSpc>
                <a:spcPct val="100000"/>
              </a:lnSpc>
              <a:spcBef>
                <a:spcPts val="0"/>
              </a:spcBef>
              <a:spcAft>
                <a:spcPts val="0"/>
              </a:spcAft>
              <a:buSzPts val="1400"/>
              <a:buNone/>
            </a:pPr>
            <a:r>
              <a:t>UIFR: TEACH 3 · TEACH 4.</a:t>
            </a:r>
          </a:p>
        </p:txBody>
      </p:sp>
      <p:sp>
        <p:nvSpPr>
          <p:cNvPr id="715" name="Google Shape;715;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21 | REVEAL</a:t>
            </a:r>
          </a:p>
          <a:p xmlns:a="http://schemas.openxmlformats.org/drawingml/2006/main">
            <a:pPr>
              <a:buNone/>
            </a:pPr>
            <a:r>
              <a:rPr lang="en-US" sz="1100"/>
              <a:t>Focus on the existing task: Let’s represent the problem with a division equation. How can you use multiplication to find the unknown?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connect fraction division to a model and reciprocal. Ask which feature of their work supports the claim.</a:t>
            </a:r>
          </a:p>
          <a:p xmlns:a="http://schemas.openxmlformats.org/drawingml/2006/main">
            <a:pPr>
              <a:buNone/>
            </a:pPr>
            <a:r>
              <a:rPr lang="en-US" sz="1100"/>
              <a:t>RESPOND: If this task shows the lesson misconception—inverting the dividend or failing to convert a mixed number—mark equal-size fractional units in the given quantities before writing the equivalent division.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write an equivalent multiplication expression using the reciprocal of the divisor.</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does the model justify the quotient, and which multiplication checks it?” Wait for evidence, invite another pathway, and have a student ask a follow-up question. Do not replace students’ reasoning with a sequence of leading steps.</a:t>
            </a:r>
          </a:p>
        </p:txBody>
      </p:sp>
      <p:sp>
        <p:nvSpPr>
          <p:cNvPr id="732" name="Google Shape;732;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3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22 | REVEAL</a:t>
            </a:r>
          </a:p>
          <a:p xmlns:a="http://schemas.openxmlformats.org/drawingml/2006/main">
            <a:pPr>
              <a:buNone/>
            </a:pPr>
            <a:r>
              <a:rPr lang="en-US" sz="1100"/>
              <a:t>Focus on the existing task: Let’s write and solve an equivalent multiplication equation using the multiplicative inverse, or reciprocal of the divisor to solve. How can you interpret the product?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connect fraction division to a model and reciprocal. Ask which feature of their work supports the claim.</a:t>
            </a:r>
          </a:p>
          <a:p xmlns:a="http://schemas.openxmlformats.org/drawingml/2006/main">
            <a:pPr>
              <a:buNone/>
            </a:pPr>
            <a:r>
              <a:rPr lang="en-US" sz="1100"/>
              <a:t>RESPOND: If this task shows the lesson misconception—inverting the dividend or failing to convert a mixed number—mark equal-size fractional units in the given quantities before writing the equivalent division.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product tells us the number of bows Eduardo can make.</a:t>
            </a:r>
          </a:p>
          <a:p>
            <a:pPr indent="0" lvl="0" marL="0" rtl="0" algn="l">
              <a:lnSpc>
                <a:spcPct val="100000"/>
              </a:lnSpc>
              <a:spcBef>
                <a:spcPts val="0"/>
              </a:spcBef>
              <a:spcAft>
                <a:spcPts val="0"/>
              </a:spcAft>
              <a:buSzPts val="1400"/>
              <a:buNone/>
            </a:pPr>
            <a:r>
              <a:t>UIFR: TEACH 3 · TEACH 4.</a:t>
            </a:r>
          </a:p>
        </p:txBody>
      </p:sp>
      <p:sp>
        <p:nvSpPr>
          <p:cNvPr id="778" name="Google Shape;778;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4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23 | PRACTICE</a:t>
            </a:r>
          </a:p>
          <a:p xmlns:a="http://schemas.openxmlformats.org/drawingml/2006/main">
            <a:pPr>
              <a:buNone/>
            </a:pPr>
            <a:r>
              <a:rPr lang="en-US" sz="1100"/>
              <a:t>Focus on the existing task: Workspace What do you notice about the quotient when dividing two fractions?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represent mixed numbers accurately. Ask which feature of their work supports the claim.</a:t>
            </a:r>
          </a:p>
          <a:p xmlns:a="http://schemas.openxmlformats.org/drawingml/2006/main">
            <a:pPr>
              <a:buNone/>
            </a:pPr>
            <a:r>
              <a:rPr lang="en-US" sz="1100"/>
              <a:t>RESPOND: If this task shows the lesson misconception—inverting the dividend or failing to convert a mixed number—mark equal-size fractional units in the given quantities before writing the equivalent division.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inverting the dividend or failing to convert a mixed number. If it appears, mark equal-size fractional units in the given quantities before writing the equivalent division; then ask the student to revise the same response and explain the change. If evidence is secure, have students compare a second valid pathway or state why their approach works. Choose the next step from the responses, not a preset pace.</a:t>
            </a:r>
          </a:p>
        </p:txBody>
      </p:sp>
      <p:sp>
        <p:nvSpPr>
          <p:cNvPr id="817" name="Google Shape;817;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4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28 | DIVIDER</a:t>
            </a:r>
          </a:p>
          <a:p xmlns:a="http://schemas.openxmlformats.org/drawingml/2006/main">
            <a:pPr>
              <a:buNone/>
            </a:pPr>
            <a:r>
              <a:rPr lang="en-US" sz="1100"/>
              <a:t>Focus on the existing task: Division Expressions with Fractions and Mixed Numbers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826" name="Google Shape;826;p4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4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29 | WORKED</a:t>
            </a:r>
          </a:p>
          <a:p xmlns:a="http://schemas.openxmlformats.org/drawingml/2006/main">
            <a:pPr>
              <a:buNone/>
            </a:pPr>
            <a:r>
              <a:rPr lang="en-US" sz="1100"/>
              <a:t>Focus on the existing task: Farmers’ Market</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represent mixed numbers accurately. Ask which feature of their work supports the claim.</a:t>
            </a:r>
          </a:p>
          <a:p xmlns:a="http://schemas.openxmlformats.org/drawingml/2006/main">
            <a:pPr>
              <a:buNone/>
            </a:pPr>
            <a:r>
              <a:rPr lang="en-US" sz="1100"/>
              <a:t>RESPOND: If this task shows the lesson misconception—inverting the dividend or failing to convert a mixed number—mark equal-size fractional units in the given quantities before writing the equivalent division.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54" name="Google Shape;854;p4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30 | REVEAL</a:t>
            </a:r>
          </a:p>
          <a:p xmlns:a="http://schemas.openxmlformats.org/drawingml/2006/main">
            <a:pPr>
              <a:buNone/>
            </a:pPr>
            <a:r>
              <a:rPr lang="en-US" sz="1100"/>
              <a:t>Focus on the existing task: Reveal: One tool is a tape diagram. Farmers’ Market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represent mixed numbers accurately. Ask which feature of their work supports the claim.</a:t>
            </a:r>
          </a:p>
          <a:p xmlns:a="http://schemas.openxmlformats.org/drawingml/2006/main">
            <a:pPr>
              <a:buNone/>
            </a:pPr>
            <a:r>
              <a:rPr lang="en-US" sz="1100"/>
              <a:t>RESPOND: If this task shows the lesson misconception—inverting the dividend or failing to convert a mixed number—mark equal-size fractional units in the given quantities before writing the equivalent division.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One tool is a tape diagram.</a:t>
            </a:r>
          </a:p>
          <a:p>
            <a:pPr indent="0" lvl="0" marL="0" rtl="0" algn="l">
              <a:lnSpc>
                <a:spcPct val="100000"/>
              </a:lnSpc>
              <a:spcBef>
                <a:spcPts val="0"/>
              </a:spcBef>
              <a:spcAft>
                <a:spcPts val="0"/>
              </a:spcAft>
              <a:buSzPts val="1400"/>
              <a:buNone/>
            </a:pPr>
            <a:r>
              <a:t>UIFR: TEACH 3 · TEACH 4.</a:t>
            </a:r>
          </a:p>
        </p:txBody>
      </p:sp>
      <p:sp>
        <p:nvSpPr>
          <p:cNvPr id="885" name="Google Shape;885;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6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31 | TASK</a:t>
            </a:r>
          </a:p>
          <a:p xmlns:a="http://schemas.openxmlformats.org/drawingml/2006/main">
            <a:pPr>
              <a:buNone/>
            </a:pPr>
            <a:r>
              <a:rPr lang="en-US" sz="1100"/>
              <a:t>Focus on the existing task: Think About It: Do you need to find common denominators when dividing fractions?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represent mixed numbers accurately. Ask which feature of their work supports the claim.</a:t>
            </a:r>
          </a:p>
          <a:p xmlns:a="http://schemas.openxmlformats.org/drawingml/2006/main">
            <a:pPr>
              <a:buNone/>
            </a:pPr>
            <a:r>
              <a:rPr lang="en-US" sz="1100"/>
              <a:t>RESPOND: If this task shows the lesson misconception—inverting the dividend or failing to convert a mixed number—mark equal-size fractional units in the given quantities before writing the equivalent division.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984" name="Google Shape;984;p6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6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32 | REVEAL</a:t>
            </a:r>
          </a:p>
          <a:p xmlns:a="http://schemas.openxmlformats.org/drawingml/2006/main">
            <a:pPr>
              <a:buNone/>
            </a:pPr>
            <a:r>
              <a:rPr lang="en-US" sz="1100"/>
              <a:t>Focus on the existing task: Reveal: We can write an equivalent multiplication equation using the reciprocal of the divisor. Farmers’ Market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connect fraction division to a model and reciprocal. Ask which feature of their work supports the claim.</a:t>
            </a:r>
          </a:p>
          <a:p xmlns:a="http://schemas.openxmlformats.org/drawingml/2006/main">
            <a:pPr>
              <a:buNone/>
            </a:pPr>
            <a:r>
              <a:rPr lang="en-US" sz="1100"/>
              <a:t>RESPOND: If this task shows the lesson misconception—inverting the dividend or failing to convert a mixed number—mark equal-size fractional units in the given quantities before writing the equivalent division.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write an equivalent multiplication equation using the reciprocal of the divisor.</a:t>
            </a:r>
          </a:p>
          <a:p>
            <a:pPr indent="0" lvl="0" marL="0" rtl="0" algn="l">
              <a:lnSpc>
                <a:spcPct val="100000"/>
              </a:lnSpc>
              <a:spcBef>
                <a:spcPts val="0"/>
              </a:spcBef>
              <a:spcAft>
                <a:spcPts val="0"/>
              </a:spcAft>
              <a:buSzPts val="1400"/>
              <a:buNone/>
            </a:pPr>
            <a:r>
              <a:t>UIFR: TEACH 3 · TEACH 4.</a:t>
            </a:r>
          </a:p>
        </p:txBody>
      </p:sp>
      <p:sp>
        <p:nvSpPr>
          <p:cNvPr id="1000" name="Google Shape;1000;p6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6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33 | PRACTICE</a:t>
            </a:r>
          </a:p>
          <a:p xmlns:a="http://schemas.openxmlformats.org/drawingml/2006/main">
            <a:pPr>
              <a:buNone/>
            </a:pPr>
            <a:r>
              <a:rPr lang="en-US" sz="1100"/>
              <a:t>Focus on the existing task: Let’s Explore More When dividing two mixed numbers, why can it be useful to convert the mixed numbers to fractions?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represent mixed numbers accurately. Ask which feature of their work supports the claim.</a:t>
            </a:r>
          </a:p>
          <a:p xmlns:a="http://schemas.openxmlformats.org/drawingml/2006/main">
            <a:pPr>
              <a:buNone/>
            </a:pPr>
            <a:r>
              <a:rPr lang="en-US" sz="1100"/>
              <a:t>RESPOND: If this task shows the lesson misconception—inverting the dividend or failing to convert a mixed number—mark equal-size fractional units in the given quantities before writing the equivalent division.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1059" name="Google Shape;1059;p6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7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35 | SUMMARIZE</a:t>
            </a:r>
          </a:p>
          <a:p xmlns:a="http://schemas.openxmlformats.org/drawingml/2006/main">
            <a:pPr>
              <a:buNone/>
            </a:pPr>
            <a:r>
              <a:rPr lang="en-US" sz="1100"/>
              <a:t>Focus on the existing task: Summarize: Divide Fractions and Mixed Numbers SUMMARIZE · SAY IT IN YOUR OWN WORDS</a:t>
            </a:r>
          </a:p>
          <a:p xmlns:a="http://schemas.openxmlformats.org/drawingml/2006/main">
            <a:pPr>
              <a:buNone/>
            </a:pPr>
            <a:r>
              <a:rPr lang="en-US" sz="1100"/>
              <a:t>CONNECT (T1/4): Ask students to restate the displayed goal or key idea and connect it to earlier work. Relevant lesson evidence: represent mixed numbers accurately; connect fraction division to a model and reciprocal; check the result.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065" name="Google Shape;1065;p7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p7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36 | APPLY</a:t>
            </a:r>
          </a:p>
          <a:p xmlns:a="http://schemas.openxmlformats.org/drawingml/2006/main">
            <a:pPr>
              <a:buNone/>
            </a:pPr>
            <a:r>
              <a:rPr lang="en-US" sz="1100"/>
              <a:t>Focus on the existing task: The side lengths of two mirrors are shown. Question: About how many times greater is the area of mirror A than the area of mirror B?</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represent mixed numbers accurately. Ask which feature of their work supports the claim.</a:t>
            </a:r>
          </a:p>
          <a:p xmlns:a="http://schemas.openxmlformats.org/drawingml/2006/main">
            <a:pPr>
              <a:buNone/>
            </a:pPr>
            <a:r>
              <a:rPr lang="en-US" sz="1100"/>
              <a:t>RESPOND: If this task shows the lesson misconception—inverting the dividend or failing to convert a mixed number—mark equal-size fractional units in the given quantities before writing the equivalent division.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represent mixed numbers accurately; connect fraction division to a model and reciprocal; check the result. Respond with one specific next step tied to the work. Students revise and annotate what changed, then identify a criterion they can now demonstrate and one they still need to practice.</a:t>
            </a:r>
          </a:p>
        </p:txBody>
      </p:sp>
      <p:sp>
        <p:nvSpPr>
          <p:cNvPr id="1074" name="Google Shape;1074;p7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p7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6.2, slide 37 | REFLECTION</a:t>
            </a:r>
          </a:p>
          <a:p xmlns:a="http://schemas.openxmlformats.org/drawingml/2006/main">
            <a:pPr>
              <a:buNone/>
            </a:pPr>
            <a:r>
              <a:rPr lang="en-US" sz="1100"/>
              <a:t>Focus on the existing task: I can divide fractions by using fraction models or equations. I can divide mixed numbers and fractions by using fraction models or…</a:t>
            </a:r>
          </a:p>
          <a:p xmlns:a="http://schemas.openxmlformats.org/drawingml/2006/main">
            <a:pPr>
              <a:buNone/>
            </a:pPr>
            <a:r>
              <a:rPr lang="en-US" sz="1100"/>
              <a:t>CONNECT (T1/4): Ask students to restate the displayed goal or key idea and connect it to earlier work. Relevant lesson evidence: represent mixed numbers accurately; connect fraction division to a model and reciprocal; check the result.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1082" name="Google Shape;1082;p7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6.2, slide 26 | WARMUP</a:t>
            </a:r>
          </a:p>
          <a:p xmlns:a="http://schemas.openxmlformats.org/drawingml/2006/main">
            <a:pPr>
              <a:buNone/>
            </a:pPr>
            <a:r>
              <a:rPr lang="en-US" sz="1100"/>
              <a:t>Focus on the existing task: A Add whole parts B Convert mixed numbers to improper fractions C Cross multiply D Divide numerators 2 What is 1 ½ written as an improper fraction?</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6.2, slide 27 | NOTES</a:t>
            </a:r>
          </a:p>
          <a:p xmlns:a="http://schemas.openxmlformats.org/drawingml/2006/main">
            <a:pPr>
              <a:buNone/>
            </a:pPr>
            <a:r>
              <a:rPr lang="en-US" sz="1100"/>
              <a:t>Focus on the existing task: Review Notes — Session 2 Session 2…</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6.2, slide 38 | CURIOUS</a:t>
            </a:r>
          </a:p>
          <a:p xmlns:a="http://schemas.openxmlformats.org/drawingml/2006/main">
            <a:pPr>
              <a:buNone/>
            </a:pPr>
            <a:r>
              <a:rPr lang="en-US" sz="1100"/>
              <a:t>Focus on the existing task: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represent mixed numbers accurately. Ask which feature of their work supports the claim.</a:t>
            </a:r>
          </a:p>
          <a:p xmlns:a="http://schemas.openxmlformats.org/drawingml/2006/main">
            <a:pPr>
              <a:buNone/>
            </a:pPr>
            <a:r>
              <a:rPr lang="en-US" sz="1100"/>
              <a:t>RESPOND: If this task shows the lesson misconception—inverting the dividend or failing to convert a mixed number—mark equal-size fractional units in the given quantities before writing the equivalent division.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inverting the dividend or failing to convert a mixed number.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mark equal-size fractional units in the given quantities before writing the equivalent division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6.2, slide 7 | PRIOR_INSERT</a:t>
            </a:r>
          </a:p>
          <a:p xmlns:a="http://schemas.openxmlformats.org/drawingml/2006/main">
            <a:pPr>
              <a:buNone/>
            </a:pPr>
            <a:r>
              <a:rPr lang="en-US" sz="1100"/>
              <a:t>Focus on the existing task: LESSON 6.2 / OUR LEARNING What will show your learning?</a:t>
            </a:r>
          </a:p>
          <a:p xmlns:a="http://schemas.openxmlformats.org/drawingml/2006/main">
            <a:pPr>
              <a:buNone/>
            </a:pPr>
            <a:r>
              <a:rPr lang="en-US" sz="1100"/>
              <a:t>CONNECT (T1/4): Ask students to restate the displayed goal or key idea and connect it to earlier work. Relevant lesson evidence: represent mixed numbers accurately; connect fraction division to a model and reciprocal; check the result.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6.2, slide 8 | VOCAB</a:t>
            </a:r>
          </a:p>
          <a:p xmlns:a="http://schemas.openxmlformats.org/drawingml/2006/main">
            <a:pPr>
              <a:buNone/>
            </a:pPr>
            <a:r>
              <a:rPr lang="en-US" sz="1100"/>
              <a:t>Focus on the existing task: Vocabulary 1 of 8 Divide Fractions…</a:t>
            </a:r>
          </a:p>
          <a:p xmlns:a="http://schemas.openxmlformats.org/drawingml/2006/main">
            <a:pPr>
              <a:buNone/>
            </a:pPr>
            <a:r>
              <a:rPr lang="en-US" sz="1100"/>
              <a:t>ASK (T1/3/5): Where does “Divide Fractions”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6.2, slide 9 | VOCAB</a:t>
            </a:r>
          </a:p>
          <a:p xmlns:a="http://schemas.openxmlformats.org/drawingml/2006/main">
            <a:pPr>
              <a:buNone/>
            </a:pPr>
            <a:r>
              <a:rPr lang="en-US" sz="1100"/>
              <a:t>Focus on the existing task: Vocabulary 2 of 8 Dividend The total…</a:t>
            </a:r>
          </a:p>
          <a:p xmlns:a="http://schemas.openxmlformats.org/drawingml/2006/main">
            <a:pPr>
              <a:buNone/>
            </a:pPr>
            <a:r>
              <a:rPr lang="en-US" sz="1100"/>
              <a:t>ASK (T1/3/5): Where does “Dividend”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6.2, slide 10 | VOCAB</a:t>
            </a:r>
          </a:p>
          <a:p xmlns:a="http://schemas.openxmlformats.org/drawingml/2006/main">
            <a:pPr>
              <a:buNone/>
            </a:pPr>
            <a:r>
              <a:rPr lang="en-US" sz="1100"/>
              <a:t>Focus on the existing task: Vocabulary 3 of 8 Divisor The number…</a:t>
            </a:r>
          </a:p>
          <a:p xmlns:a="http://schemas.openxmlformats.org/drawingml/2006/main">
            <a:pPr>
              <a:buNone/>
            </a:pPr>
            <a:r>
              <a:rPr lang="en-US" sz="1100"/>
              <a:t>ASK (T1/3/5): Where does “Divisor”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6.2, slide 11 | VOCAB</a:t>
            </a:r>
          </a:p>
          <a:p xmlns:a="http://schemas.openxmlformats.org/drawingml/2006/main">
            <a:pPr>
              <a:buNone/>
            </a:pPr>
            <a:r>
              <a:rPr lang="en-US" sz="1100"/>
              <a:t>Focus on the existing task: Vocabulary 4 of 8 Reciprocal A…</a:t>
            </a:r>
          </a:p>
          <a:p xmlns:a="http://schemas.openxmlformats.org/drawingml/2006/main">
            <a:pPr>
              <a:buNone/>
            </a:pPr>
            <a:r>
              <a:rPr lang="en-US" sz="1100"/>
              <a:t>ASK (T1/3/5): Where does “Reciprocal”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6.2, slide 12 | VOCAB</a:t>
            </a:r>
          </a:p>
          <a:p xmlns:a="http://schemas.openxmlformats.org/drawingml/2006/main">
            <a:pPr>
              <a:buNone/>
            </a:pPr>
            <a:r>
              <a:rPr lang="en-US" sz="1100"/>
              <a:t>Focus on the existing task: Vocabulary 5 of 8 Quotient The…</a:t>
            </a:r>
          </a:p>
          <a:p xmlns:a="http://schemas.openxmlformats.org/drawingml/2006/main">
            <a:pPr>
              <a:buNone/>
            </a:pPr>
            <a:r>
              <a:rPr lang="en-US" sz="1100"/>
              <a:t>ASK (T1/3/5): Where does “Quotient”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6.2, slide 13 | VOCAB</a:t>
            </a:r>
          </a:p>
          <a:p xmlns:a="http://schemas.openxmlformats.org/drawingml/2006/main">
            <a:pPr>
              <a:buNone/>
            </a:pPr>
            <a:r>
              <a:rPr lang="en-US" sz="1100"/>
              <a:t>Focus on the existing task: Vocabulary 6 of 8 Simplify To write…</a:t>
            </a:r>
          </a:p>
          <a:p xmlns:a="http://schemas.openxmlformats.org/drawingml/2006/main">
            <a:pPr>
              <a:buNone/>
            </a:pPr>
            <a:r>
              <a:rPr lang="en-US" sz="1100"/>
              <a:t>ASK (T1/3/5): Where does “Simplify”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6.2, slide 14 | VOCAB</a:t>
            </a:r>
          </a:p>
          <a:p xmlns:a="http://schemas.openxmlformats.org/drawingml/2006/main">
            <a:pPr>
              <a:buNone/>
            </a:pPr>
            <a:r>
              <a:rPr lang="en-US" sz="1100"/>
              <a:t>Focus on the existing task: Vocabulary 7 of 8 Mixed number A…</a:t>
            </a:r>
          </a:p>
          <a:p xmlns:a="http://schemas.openxmlformats.org/drawingml/2006/main">
            <a:pPr>
              <a:buNone/>
            </a:pPr>
            <a:r>
              <a:rPr lang="en-US" sz="1100"/>
              <a:t>ASK (T1/3/5): Where does “Mixed number”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6.2, slide 15 | VOCAB</a:t>
            </a:r>
          </a:p>
          <a:p xmlns:a="http://schemas.openxmlformats.org/drawingml/2006/main">
            <a:pPr>
              <a:buNone/>
            </a:pPr>
            <a:r>
              <a:rPr lang="en-US" sz="1100"/>
              <a:t>Focus on the existing task: Vocabulary 8 of 8 Improper fraction…</a:t>
            </a:r>
          </a:p>
          <a:p xmlns:a="http://schemas.openxmlformats.org/drawingml/2006/main">
            <a:pPr>
              <a:buNone/>
            </a:pPr>
            <a:r>
              <a:rPr lang="en-US" sz="1100"/>
              <a:t>ASK (T1/3/5): Where does “Improper fraction”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6.2, slide 24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represent mixed numbers accurately; connect fraction division to a model and reciprocal; check the result.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6.2, slide 25 | REVEAL</a:t>
            </a:r>
          </a:p>
          <a:p xmlns:a="http://schemas.openxmlformats.org/drawingml/2006/main">
            <a:pPr>
              <a:buNone/>
            </a:pPr>
            <a:r>
              <a:rPr lang="en-US" sz="1100"/>
              <a:t>Focus on the existing task: Let’s represent the problem with a division equation. How can you use multiplication to find the unknown?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connect fraction division to a model and reciprocal. Ask which feature of their work supports the claim.</a:t>
            </a:r>
          </a:p>
          <a:p xmlns:a="http://schemas.openxmlformats.org/drawingml/2006/main">
            <a:pPr>
              <a:buNone/>
            </a:pPr>
            <a:r>
              <a:rPr lang="en-US" sz="1100"/>
              <a:t>RESPOND: If this task shows the lesson misconception—inverting the dividend or failing to convert a mixed number—mark equal-size fractional units in the given quantities before writing the equivalent division.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6.2, slide 34 | PRIOR_INSERT</a:t>
            </a:r>
          </a:p>
          <a:p xmlns:a="http://schemas.openxmlformats.org/drawingml/2006/main">
            <a:pPr>
              <a:buNone/>
            </a:pPr>
            <a:r>
              <a:rPr lang="en-US" sz="1100"/>
              <a:t>Focus on the existing task: LESSON 6.2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represent mixed numbers accurately; connect fraction division to a model and reciprocal; check the result.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6.2, slide 39 | PRIOR_INSERT</a:t>
            </a:r>
          </a:p>
          <a:p xmlns:a="http://schemas.openxmlformats.org/drawingml/2006/main">
            <a:pPr>
              <a:buNone/>
            </a:pPr>
            <a:r>
              <a:rPr lang="en-US" sz="1100"/>
              <a:t>Focus on the existing task: LESSON 6.2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represent mixed numbers accurately; connect fraction division to a model and reciprocal; check the result.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5.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4" name="Google Shape;24;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25" name="Google Shape;25;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Division Expressions with Fractions and Mixed Numbers</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Division Expressions with Fractions and Mixed Numbers</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7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7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8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8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8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8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8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7.png"/><Relationship Id="rId4" Type="http://schemas.openxmlformats.org/officeDocument/2006/relationships/image" Target="../media/image2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2.png"/><Relationship Id="rId3" Type="http://schemas.openxmlformats.org/officeDocument/2006/relationships/notesSlide" Target="../notesSlides/notesSlide8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6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5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61.png"/><Relationship Id="rId4" Type="http://schemas.openxmlformats.org/officeDocument/2006/relationships/image" Target="../media/image68.png"/><Relationship Id="rId5" Type="http://schemas.openxmlformats.org/officeDocument/2006/relationships/image" Target="../media/image6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6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notesSlide" Target="../notesSlides/notesSlide7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8"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59" name="TextBox 2"/>
          <p:cNvSpPr txBox="1"/>
          <p:nvPr/>
        </p:nvSpPr>
        <p:spPr>
          <a:xfrm>
            <a:off x="521207" y="877824"/>
            <a:ext cx="10881360" cy="274320"/>
          </a:xfrm>
          <a:prstGeom prst="rect">
            <a:avLst/>
          </a:prstGeom>
          <a:noFill/>
        </p:spPr>
        <p:txBody>
          <a:bodyPr wrap="square" lIns="0" tIns="0" rIns="0" bIns="0" anchor="t">
            <a:spAutoFit/>
          </a:bodyPr>
          <a:lstStyle/>
          <a:p>
            <a:pPr algn="l"/>
            <a:r>
              <a:rPr sz="1400" b="0">
                <a:solidFill>
                  <a:srgbClr val="5D6872"/>
                </a:solidFill>
                <a:latin typeface="Arial"/>
              </a:rPr>
              <a:t>Lesson 6-2 · Division Expressions with Fractions and Mixed Numbers   |   Warm-Up · about 4 minutes</a:t>
            </a:r>
          </a:p>
        </p:txBody>
      </p:sp>
      <p:sp>
        <p:nvSpPr>
          <p:cNvPr id="260"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1"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2"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5"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Write 2 3/4 as an improper fraction: ______</a:t>
            </a:r>
          </a:p>
        </p:txBody>
      </p:sp>
      <p:sp>
        <p:nvSpPr>
          <p:cNvPr id="266"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69"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1/3 × 2/5 = ______</a:t>
            </a:r>
          </a:p>
        </p:txBody>
      </p:sp>
      <p:sp>
        <p:nvSpPr>
          <p:cNvPr id="270"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3"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The reciprocal of 3/5 is ______</a:t>
            </a:r>
          </a:p>
        </p:txBody>
      </p:sp>
      <p:sp>
        <p:nvSpPr>
          <p:cNvPr id="274"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7"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Write 6/8 in lowest terms: ______</a:t>
            </a:r>
          </a:p>
        </p:txBody>
      </p:sp>
      <p:sp>
        <p:nvSpPr>
          <p:cNvPr id="278"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79"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42</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3" name="Google Shape;543;p54"/>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4" name="Google Shape;544;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45" name="Google Shape;545;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6-2 · Division Expressions with Fractions and Mixed Numbers</a:t>
            </a:r>
            <a:endParaRPr/>
          </a:p>
        </p:txBody>
      </p:sp>
      <p:sp>
        <p:nvSpPr>
          <p:cNvPr id="546" name="Google Shape;546;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7" name="Google Shape;547;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48" name="Google Shape;548;p54"/>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49" name="Google Shape;549;p54"/>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0" name="Google Shape;550;p54"/>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51" name="Google Shape;551;p54"/>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2" name="Google Shape;552;p54"/>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3" name="Google Shape;553;p54"/>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54" name="Google Shape;554;p54"/>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Divide Fractions</a:t>
            </a:r>
            <a:endParaRPr/>
          </a:p>
        </p:txBody>
      </p:sp>
      <p:sp>
        <p:nvSpPr>
          <p:cNvPr id="555" name="Google Shape;555;p54"/>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Multiply the first </a:t>
            </a:r>
            <a:r>
              <a:rPr b="1" i="0" lang="en-US" sz="1450" u="none" cap="none" strike="noStrike">
                <a:solidFill>
                  <a:srgbClr val="475569"/>
                </a:solidFill>
                <a:latin typeface="Arial"/>
                <a:ea typeface="Arial"/>
                <a:cs typeface="Arial"/>
                <a:sym typeface="Arial"/>
              </a:rPr>
              <a:t xml:space="preserve">fraction</a:t>
            </a:r>
            <a:r>
              <a:rPr b="0" i="0" lang="en-US" sz="1450" u="none" cap="none" strike="noStrike">
                <a:solidFill>
                  <a:srgbClr val="475569"/>
                </a:solidFill>
                <a:latin typeface="Arial"/>
                <a:ea typeface="Arial"/>
                <a:cs typeface="Arial"/>
                <a:sym typeface="Arial"/>
              </a:rPr>
              <a:t xml:space="preserve"> by the </a:t>
            </a:r>
            <a:r>
              <a:rPr b="1" i="0" lang="en-US" sz="1450" u="none" cap="none" strike="noStrike">
                <a:solidFill>
                  <a:srgbClr val="475569"/>
                </a:solidFill>
                <a:latin typeface="Arial"/>
                <a:ea typeface="Arial"/>
                <a:cs typeface="Arial"/>
                <a:sym typeface="Arial"/>
              </a:rPr>
              <a:t xml:space="preserve">reciprocal</a:t>
            </a:r>
            <a:r>
              <a:rPr b="0" i="0" lang="en-US" sz="1450" u="none" cap="none" strike="noStrike">
                <a:solidFill>
                  <a:srgbClr val="475569"/>
                </a:solidFill>
                <a:latin typeface="Arial"/>
                <a:ea typeface="Arial"/>
                <a:cs typeface="Arial"/>
                <a:sym typeface="Arial"/>
              </a:rPr>
              <a:t xml:space="preserve"> of the second fraction</a:t>
            </a:r>
            <a:endParaRPr/>
          </a:p>
        </p:txBody>
      </p:sp>
      <p:sp>
        <p:nvSpPr>
          <p:cNvPr id="556" name="Google Shape;556;p54"/>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7" name="Google Shape;557;p54"/>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8" name="Google Shape;558;p54"/>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59" name="Google Shape;559;p54"/>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Dividend</a:t>
            </a:r>
            <a:endParaRPr/>
          </a:p>
        </p:txBody>
      </p:sp>
      <p:sp>
        <p:nvSpPr>
          <p:cNvPr id="560" name="Google Shape;560;p54"/>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total number being divided into equal groups</a:t>
            </a:r>
            <a:endParaRPr/>
          </a:p>
        </p:txBody>
      </p:sp>
      <p:sp>
        <p:nvSpPr>
          <p:cNvPr id="561" name="Google Shape;561;p54"/>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2" name="Google Shape;562;p54"/>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3" name="Google Shape;563;p54"/>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64" name="Google Shape;564;p54"/>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Divisor</a:t>
            </a:r>
            <a:endParaRPr/>
          </a:p>
        </p:txBody>
      </p:sp>
      <p:sp>
        <p:nvSpPr>
          <p:cNvPr id="565" name="Google Shape;565;p54"/>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number of equal groups you are dividing</a:t>
            </a:r>
            <a:endParaRPr/>
          </a:p>
        </p:txBody>
      </p:sp>
      <p:sp>
        <p:nvSpPr>
          <p:cNvPr id="56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42</a:t>
            </a:r>
          </a:p>
        </p:txBody>
      </p:sp>
      <p:grpSp>
        <p:nvGrpSpPr>
          <p:cNvPr id="567" name="TEACH-1-student-move" descr="TEACH 1 · Facilitate clear, standards-based content learning"/>
          <p:cNvGrpSpPr/>
          <p:nvPr/>
        </p:nvGrpSpPr>
        <p:grpSpPr>
          <a:xfrm>
            <a:off x="6187440" y="1682496"/>
            <a:ext cx="5501640" cy="594360"/>
            <a:chOff x="6187440" y="1682496"/>
            <a:chExt cx="5501640" cy="594360"/>
          </a:xfrm>
        </p:grpSpPr>
        <p:sp>
          <p:nvSpPr>
            <p:cNvPr id="568"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69"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70"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5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1" name="Google Shape;571;p55"/>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2" name="Google Shape;572;p5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73" name="Google Shape;573;p5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6-2 · Division Expressions with Fractions and Mixed Numbers</a:t>
            </a:r>
            <a:endParaRPr/>
          </a:p>
        </p:txBody>
      </p:sp>
      <p:sp>
        <p:nvSpPr>
          <p:cNvPr id="574" name="Google Shape;574;p5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5" name="Google Shape;575;p5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76" name="Google Shape;576;p55"/>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577" name="Google Shape;577;p55"/>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8" name="Google Shape;578;p55"/>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79" name="Google Shape;579;p55"/>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0" name="Google Shape;580;p55"/>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Dividing Fractions Algorithm (Keep, Change, Flip)</a:t>
            </a:r>
            <a:endParaRPr/>
          </a:p>
        </p:txBody>
      </p:sp>
      <p:sp>
        <p:nvSpPr>
          <p:cNvPr id="581" name="Google Shape;581;p55"/>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2" name="Google Shape;582;p55"/>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200" u="none" cap="none" strike="noStrike">
                <a:solidFill>
                  <a:srgbClr val="C2410C"/>
                </a:solidFill>
                <a:latin typeface="Arial"/>
                <a:ea typeface="Arial"/>
                <a:cs typeface="Arial"/>
                <a:sym typeface="Arial"/>
              </a:rPr>
              <a:t>a/b ÷ c/d = a/b × d/c</a:t>
            </a:r>
            <a:endParaRPr/>
          </a:p>
        </p:txBody>
      </p:sp>
      <p:sp>
        <p:nvSpPr>
          <p:cNvPr id="583" name="Google Shape;583;p55"/>
          <p:cNvSpPr/>
          <p:nvPr/>
        </p:nvSpPr>
        <p:spPr>
          <a:xfrm>
            <a:off x="640080" y="4005072"/>
            <a:ext cx="10911809" cy="37795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4" name="Google Shape;584;p55"/>
          <p:cNvSpPr/>
          <p:nvPr/>
        </p:nvSpPr>
        <p:spPr>
          <a:xfrm>
            <a:off x="896112" y="402945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85" name="Google Shape;585;p55"/>
          <p:cNvSpPr txBox="1"/>
          <p:nvPr/>
        </p:nvSpPr>
        <p:spPr>
          <a:xfrm>
            <a:off x="1371600" y="4087368"/>
            <a:ext cx="10043129" cy="21336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14223A"/>
                </a:solidFill>
                <a:latin typeface="Arial"/>
                <a:ea typeface="Arial"/>
                <a:cs typeface="Arial"/>
                <a:sym typeface="Arial"/>
              </a:rPr>
              <a:t xml:space="preserve">Keep the first </a:t>
            </a:r>
            <a:r>
              <a:rPr b="1" i="0" lang="en-US" sz="1400" u="none" cap="none" strike="noStrike">
                <a:solidFill>
                  <a:srgbClr val="14223A"/>
                </a:solidFill>
                <a:latin typeface="Arial"/>
                <a:ea typeface="Arial"/>
                <a:cs typeface="Arial"/>
                <a:sym typeface="Arial"/>
              </a:rPr>
              <a:t xml:space="preserve">fraction</a:t>
            </a:r>
            <a:r>
              <a:rPr b="0" i="0" lang="en-US" sz="1400" u="none" cap="none" strike="noStrike">
                <a:solidFill>
                  <a:srgbClr val="14223A"/>
                </a:solidFill>
                <a:latin typeface="Arial"/>
                <a:ea typeface="Arial"/>
                <a:cs typeface="Arial"/>
                <a:sym typeface="Arial"/>
              </a:rPr>
              <a:t xml:space="preserve"> unchanged</a:t>
            </a:r>
            <a:endParaRPr/>
          </a:p>
        </p:txBody>
      </p:sp>
      <p:sp>
        <p:nvSpPr>
          <p:cNvPr id="586" name="Google Shape;586;p55"/>
          <p:cNvSpPr/>
          <p:nvPr/>
        </p:nvSpPr>
        <p:spPr>
          <a:xfrm>
            <a:off x="640080" y="4529328"/>
            <a:ext cx="10911809" cy="37795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7" name="Google Shape;587;p55"/>
          <p:cNvSpPr/>
          <p:nvPr/>
        </p:nvSpPr>
        <p:spPr>
          <a:xfrm>
            <a:off x="896112" y="455371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88" name="Google Shape;588;p55"/>
          <p:cNvSpPr txBox="1"/>
          <p:nvPr/>
        </p:nvSpPr>
        <p:spPr>
          <a:xfrm>
            <a:off x="1371600" y="4611624"/>
            <a:ext cx="10043129" cy="21336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14223A"/>
                </a:solidFill>
                <a:latin typeface="Arial"/>
                <a:ea typeface="Arial"/>
                <a:cs typeface="Arial"/>
                <a:sym typeface="Arial"/>
              </a:rPr>
              <a:t>Change the division symbol (÷) to multiplication (×)</a:t>
            </a:r>
            <a:endParaRPr/>
          </a:p>
        </p:txBody>
      </p:sp>
      <p:sp>
        <p:nvSpPr>
          <p:cNvPr id="589" name="Google Shape;589;p55"/>
          <p:cNvSpPr/>
          <p:nvPr/>
        </p:nvSpPr>
        <p:spPr>
          <a:xfrm>
            <a:off x="640080" y="5053584"/>
            <a:ext cx="10911809" cy="37795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0" name="Google Shape;590;p55"/>
          <p:cNvSpPr/>
          <p:nvPr/>
        </p:nvSpPr>
        <p:spPr>
          <a:xfrm>
            <a:off x="896112" y="50779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91" name="Google Shape;591;p55"/>
          <p:cNvSpPr txBox="1"/>
          <p:nvPr/>
        </p:nvSpPr>
        <p:spPr>
          <a:xfrm>
            <a:off x="1371600" y="5135880"/>
            <a:ext cx="10043129" cy="21336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14223A"/>
                </a:solidFill>
                <a:latin typeface="Arial"/>
                <a:ea typeface="Arial"/>
                <a:cs typeface="Arial"/>
                <a:sym typeface="Arial"/>
              </a:rPr>
              <a:t xml:space="preserve">Flip the second fraction to its </a:t>
            </a:r>
            <a:r>
              <a:rPr b="1" i="0" lang="en-US" sz="1400" u="none" cap="none" strike="noStrike">
                <a:solidFill>
                  <a:srgbClr val="14223A"/>
                </a:solidFill>
                <a:latin typeface="Arial"/>
                <a:ea typeface="Arial"/>
                <a:cs typeface="Arial"/>
                <a:sym typeface="Arial"/>
              </a:rPr>
              <a:t xml:space="preserve">reciprocal</a:t>
            </a:r>
            <a:r>
              <a:rPr b="0" i="0" lang="en-US" sz="1400" u="none" cap="none" strike="noStrike">
                <a:solidFill>
                  <a:srgbClr val="14223A"/>
                </a:solidFill>
                <a:latin typeface="Arial"/>
                <a:ea typeface="Arial"/>
                <a:cs typeface="Arial"/>
                <a:sym typeface="Arial"/>
              </a:rPr>
              <a:t xml:space="preserve"> (d/c), then multiply across and </a:t>
            </a:r>
            <a:r>
              <a:rPr b="1" i="0" lang="en-US" sz="1400" u="none" cap="none" strike="noStrike">
                <a:solidFill>
                  <a:srgbClr val="14223A"/>
                </a:solidFill>
                <a:latin typeface="Arial"/>
                <a:ea typeface="Arial"/>
                <a:cs typeface="Arial"/>
                <a:sym typeface="Arial"/>
              </a:rPr>
              <a:t xml:space="preserve">simplify</a:t>
            </a:r>
            <a:endParaRPr/>
          </a:p>
        </p:txBody>
      </p:sp>
      <p:sp>
        <p:nvSpPr>
          <p:cNvPr id="592" name="Google Shape;592;p55"/>
          <p:cNvSpPr/>
          <p:nvPr/>
        </p:nvSpPr>
        <p:spPr>
          <a:xfrm>
            <a:off x="640080" y="5522976"/>
            <a:ext cx="10911809" cy="585216"/>
          </a:xfrm>
          <a:prstGeom prst="roundRect">
            <a:avLst>
              <a:gd fmla="val 12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3" name="Google Shape;593;p55"/>
          <p:cNvSpPr txBox="1"/>
          <p:nvPr/>
        </p:nvSpPr>
        <p:spPr>
          <a:xfrm>
            <a:off x="932688" y="5632704"/>
            <a:ext cx="960120"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C2410C"/>
                </a:solidFill>
                <a:latin typeface="Arial"/>
                <a:ea typeface="Arial"/>
                <a:cs typeface="Arial"/>
                <a:sym typeface="Arial"/>
              </a:rPr>
              <a:t>Example:</a:t>
            </a:r>
            <a:endParaRPr/>
          </a:p>
        </p:txBody>
      </p:sp>
      <p:sp>
        <p:nvSpPr>
          <p:cNvPr id="594" name="Google Shape;594;p55"/>
          <p:cNvSpPr txBox="1"/>
          <p:nvPr/>
        </p:nvSpPr>
        <p:spPr>
          <a:xfrm>
            <a:off x="1920240" y="5632704"/>
            <a:ext cx="8991569" cy="292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000" u="none" cap="none" strike="noStrike">
                <a:solidFill>
                  <a:srgbClr val="14223A"/>
                </a:solidFill>
                <a:latin typeface="Arial"/>
                <a:ea typeface="Arial"/>
                <a:cs typeface="Arial"/>
                <a:sym typeface="Arial"/>
              </a:rPr>
              <a:t>mixed number → improper fraction: multiply the bottom by the whole number, add the top, keep the same bottom. 3 1/2 → (2 × 3) + 1 = 7 → 7/2</a:t>
            </a:r>
            <a:endParaRPr/>
          </a:p>
        </p:txBody>
      </p:sp>
      <p:sp>
        <p:nvSpPr>
          <p:cNvPr id="59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42</a:t>
            </a:r>
          </a:p>
        </p:txBody>
      </p:sp>
      <p:sp xmlns:p="http://schemas.openxmlformats.org/presentationml/2006/main" xmlns:a="http://schemas.openxmlformats.org/drawingml/2006/main">
        <p:nvSpPr>
          <p:cNvPr id="596"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Division Expressions with Fractions 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Mixed Numbers</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42</a:t>
            </a:r>
          </a:p>
        </p:txBody>
      </p:sp>
      <p:grpSp>
        <p:nvGrpSpPr>
          <p:cNvPr id="237" name="TEACH-6-student-move" descr="TEACH 6 · Organize and implement routines to support a learning-focused classroom"/>
          <p:cNvGrpSpPr/>
          <p:nvPr/>
        </p:nvGrpSpPr>
        <p:grpSpPr>
          <a:xfrm>
            <a:off x="502920" y="4533295"/>
            <a:ext cx="11186160" cy="731520"/>
            <a:chOff x="502920" y="4533295"/>
            <a:chExt cx="11186160" cy="731520"/>
          </a:xfrm>
        </p:grpSpPr>
        <p:sp>
          <p:nvSpPr>
            <p:cNvPr id="238" name="TEACH-move-card"/>
            <p:cNvSpPr/>
            <p:nvPr/>
          </p:nvSpPr>
          <p:spPr>
            <a:xfrm>
              <a:off x="502920" y="4533295"/>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672284"/>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4533295"/>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TRY IT BEFORE YOU’RE SURE  ·  </a:t>
              </a:r>
              <a:r>
                <a:rPr lang="en-US" sz="1800" dirty="0">
                  <a:solidFill>
                    <a:srgbClr val="13303A"/>
                  </a:solidFill>
                  <a:latin typeface="Arial"/>
                </a:rPr>
                <a:t>Start even if you are not sure. A revised answer counts as much as a first-try answer.</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1" name="Google Shape;241;p41"/>
          <p:cNvSpPr txBox="1"/>
          <p:nvPr/>
        </p:nvSpPr>
        <p:spPr>
          <a:xfrm>
            <a:off x="505579" y="316034"/>
            <a:ext cx="484227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Or You Could</a:t>
            </a:r>
            <a:endParaRPr b="0" i="0" sz="1400" u="none" cap="none" strike="noStrike">
              <a:solidFill>
                <a:srgbClr val="000000"/>
              </a:solidFill>
              <a:latin typeface="Arial"/>
              <a:ea typeface="Arial"/>
              <a:cs typeface="Arial"/>
              <a:sym typeface="Arial"/>
            </a:endParaRPr>
          </a:p>
        </p:txBody>
      </p:sp>
      <p:sp>
        <p:nvSpPr>
          <p:cNvPr id="242" name="Google Shape;242;p41"/>
          <p:cNvSpPr txBox="1"/>
          <p:nvPr/>
        </p:nvSpPr>
        <p:spPr>
          <a:xfrm>
            <a:off x="507712" y="1349430"/>
            <a:ext cx="5726833" cy="166809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42</a:t>
            </a:r>
          </a:p>
        </p:txBody>
      </p:sp>
      <p:sp xmlns:p="http://schemas.openxmlformats.org/presentationml/2006/main" xmlns:a="http://schemas.openxmlformats.org/drawingml/2006/main">
        <p:nvSpPr>
          <p:cNvPr id="244"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6" name="Google Shape;336;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6-2 · Division Expressions with Fractions and Mixed Numbers</a:t>
            </a:r>
            <a:endParaRPr/>
          </a:p>
        </p:txBody>
      </p:sp>
      <p:sp>
        <p:nvSpPr>
          <p:cNvPr id="337" name="Google Shape;337;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8" name="Google Shape;338;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39" name="Google Shape;339;p44"/>
          <p:cNvSpPr txBox="1"/>
          <p:nvPr/>
        </p:nvSpPr>
        <p:spPr>
          <a:xfrm>
            <a:off x="640080" y="969264"/>
            <a:ext cx="10911809" cy="10160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250" u="none" cap="none" strike="noStrike">
                <a:solidFill>
                  <a:srgbClr val="14223A"/>
                </a:solidFill>
                <a:latin typeface="Arial"/>
                <a:ea typeface="Arial"/>
                <a:cs typeface="Arial"/>
                <a:sym typeface="Arial"/>
              </a:rPr>
              <a:t>Division Expressions with Fractions and Mixed Numbers</a:t>
            </a:r>
            <a:endParaRPr/>
          </a:p>
        </p:txBody>
      </p:sp>
      <p:sp>
        <p:nvSpPr>
          <p:cNvPr id="340" name="Google Shape;340;p44"/>
          <p:cNvSpPr txBox="1"/>
          <p:nvPr/>
        </p:nvSpPr>
        <p:spPr>
          <a:xfrm>
            <a:off x="640080" y="2021840"/>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6.NOS.1</a:t>
            </a:r>
            <a:endParaRPr/>
          </a:p>
        </p:txBody>
      </p:sp>
      <p:sp>
        <p:nvSpPr>
          <p:cNvPr id="341" name="Google Shape;341;p44"/>
          <p:cNvSpPr/>
          <p:nvPr/>
        </p:nvSpPr>
        <p:spPr>
          <a:xfrm>
            <a:off x="640080" y="2442464"/>
            <a:ext cx="5349240" cy="3610863"/>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4"/>
          <p:cNvSpPr/>
          <p:nvPr/>
        </p:nvSpPr>
        <p:spPr>
          <a:xfrm>
            <a:off x="640080" y="2442464"/>
            <a:ext cx="118872" cy="3610863"/>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txBox="1"/>
          <p:nvPr/>
        </p:nvSpPr>
        <p:spPr>
          <a:xfrm>
            <a:off x="1097280" y="280822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4" name="Google Shape;344;p44"/>
          <p:cNvSpPr txBox="1"/>
          <p:nvPr/>
        </p:nvSpPr>
        <p:spPr>
          <a:xfrm>
            <a:off x="1097280" y="313740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5" name="Google Shape;345;p44"/>
          <p:cNvSpPr txBox="1"/>
          <p:nvPr/>
        </p:nvSpPr>
        <p:spPr>
          <a:xfrm>
            <a:off x="1097280" y="3612896"/>
            <a:ext cx="4480559" cy="2038095"/>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divide a fraction by a fraction and divide with mixed numbers by multiplying by the reciprocal.</a:t>
            </a:r>
            <a:endParaRPr/>
          </a:p>
        </p:txBody>
      </p:sp>
      <p:sp>
        <p:nvSpPr>
          <p:cNvPr id="346" name="Google Shape;346;p44"/>
          <p:cNvSpPr/>
          <p:nvPr/>
        </p:nvSpPr>
        <p:spPr>
          <a:xfrm>
            <a:off x="6382512" y="2442464"/>
            <a:ext cx="5349240" cy="3610863"/>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7" name="Google Shape;347;p44"/>
          <p:cNvSpPr/>
          <p:nvPr/>
        </p:nvSpPr>
        <p:spPr>
          <a:xfrm>
            <a:off x="6382512" y="2442464"/>
            <a:ext cx="118872" cy="3610863"/>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txBox="1"/>
          <p:nvPr/>
        </p:nvSpPr>
        <p:spPr>
          <a:xfrm>
            <a:off x="6839712" y="280822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49" name="Google Shape;349;p44"/>
          <p:cNvSpPr txBox="1"/>
          <p:nvPr/>
        </p:nvSpPr>
        <p:spPr>
          <a:xfrm>
            <a:off x="6839712" y="313740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0" name="Google Shape;350;p44"/>
          <p:cNvSpPr txBox="1"/>
          <p:nvPr/>
        </p:nvSpPr>
        <p:spPr>
          <a:xfrm>
            <a:off x="6839712" y="3612896"/>
            <a:ext cx="4480559" cy="2038095"/>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the steps using the words reciprocal, improper fraction, mixed number, and simplify.</a:t>
            </a:r>
            <a:endParaRPr/>
          </a:p>
        </p:txBody>
      </p:sp>
      <p:sp>
        <p:nvSpPr>
          <p:cNvPr id="35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6.2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Represent mixed numbers accurately.</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Connect fraction division to a model and reciprocal.</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Check the result.</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9" name="Google Shape;399;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8</a:t>
            </a:r>
            <a:endParaRPr/>
          </a:p>
        </p:txBody>
      </p:sp>
      <p:sp>
        <p:nvSpPr>
          <p:cNvPr id="402" name="Google Shape;402;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6-2 · Division Expressions with Fractions and Mixed Numbers</a:t>
            </a:r>
            <a:endParaRPr/>
          </a:p>
        </p:txBody>
      </p:sp>
      <p:sp>
        <p:nvSpPr>
          <p:cNvPr id="403" name="Google Shape;403;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05" name="Google Shape;405;p46"/>
          <p:cNvSpPr txBox="1"/>
          <p:nvPr/>
        </p:nvSpPr>
        <p:spPr>
          <a:xfrm>
            <a:off x="640080" y="1977771"/>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200" u="none" cap="none" strike="noStrike">
                <a:solidFill>
                  <a:srgbClr val="14223A"/>
                </a:solidFill>
                <a:latin typeface="Arial"/>
                <a:ea typeface="Arial"/>
                <a:cs typeface="Arial"/>
                <a:sym typeface="Arial"/>
              </a:rPr>
              <a:t>Divide Fractions</a:t>
            </a:r>
            <a:endParaRPr/>
          </a:p>
        </p:txBody>
      </p:sp>
      <p:sp>
        <p:nvSpPr>
          <p:cNvPr id="406" name="Google Shape;406;p46"/>
          <p:cNvSpPr/>
          <p:nvPr/>
        </p:nvSpPr>
        <p:spPr>
          <a:xfrm>
            <a:off x="658368" y="2934843"/>
            <a:ext cx="190195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46"/>
          <p:cNvSpPr txBox="1"/>
          <p:nvPr/>
        </p:nvSpPr>
        <p:spPr>
          <a:xfrm>
            <a:off x="640080" y="3296031"/>
            <a:ext cx="10911809" cy="432054"/>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700" u="none" cap="none" strike="noStrike">
                <a:solidFill>
                  <a:srgbClr val="14223A"/>
                </a:solidFill>
                <a:latin typeface="Arial"/>
                <a:ea typeface="Arial"/>
                <a:cs typeface="Arial"/>
                <a:sym typeface="Arial"/>
              </a:rPr>
              <a:t>Multiply the first fraction by the reciprocal of the second fraction.</a:t>
            </a:r>
            <a:endParaRPr/>
          </a:p>
        </p:txBody>
      </p:sp>
      <p:sp>
        <p:nvSpPr>
          <p:cNvPr id="408" name="Google Shape;408;p46"/>
          <p:cNvSpPr/>
          <p:nvPr/>
        </p:nvSpPr>
        <p:spPr>
          <a:xfrm>
            <a:off x="640080" y="4148709"/>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9" name="Google Shape;409;p46"/>
          <p:cNvSpPr/>
          <p:nvPr/>
        </p:nvSpPr>
        <p:spPr>
          <a:xfrm>
            <a:off x="640080" y="4148709"/>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0" name="Google Shape;410;p46"/>
          <p:cNvSpPr txBox="1"/>
          <p:nvPr/>
        </p:nvSpPr>
        <p:spPr>
          <a:xfrm>
            <a:off x="932688" y="4322445"/>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11" name="Google Shape;411;p46"/>
          <p:cNvSpPr txBox="1"/>
          <p:nvPr/>
        </p:nvSpPr>
        <p:spPr>
          <a:xfrm>
            <a:off x="932688" y="4624197"/>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14223A"/>
                </a:solidFill>
                <a:latin typeface="Arial"/>
                <a:ea typeface="Arial"/>
                <a:cs typeface="Arial"/>
                <a:sym typeface="Arial"/>
              </a:rPr>
              <a:t>2/3 ÷ 1/4 = 2/3 × 4/1 = 8/3</a:t>
            </a:r>
            <a:endParaRPr/>
          </a:p>
        </p:txBody>
      </p:sp>
      <p:sp>
        <p:nvSpPr>
          <p:cNvPr id="271" name="Google Shape;271;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7 / 35</a:t>
            </a:r>
            <a:endParaRPr/>
          </a:p>
        </p:txBody>
      </p:sp>
      <p:sp xmlns:p="http://schemas.openxmlformats.org/presentationml/2006/main" xmlns:a="http://schemas.openxmlformats.org/drawingml/2006/main">
        <p:nvSpPr>
          <p:cNvPr id="412"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“Divide Fractions”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6" name="Google Shape;416;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8</a:t>
            </a:r>
            <a:endParaRPr/>
          </a:p>
        </p:txBody>
      </p:sp>
      <p:sp>
        <p:nvSpPr>
          <p:cNvPr id="419" name="Google Shape;419;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6-2 · Division Expressions with Fractions and Mixed Numbers</a:t>
            </a:r>
            <a:endParaRPr/>
          </a:p>
        </p:txBody>
      </p:sp>
      <p:sp>
        <p:nvSpPr>
          <p:cNvPr id="420" name="Google Shape;420;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22" name="Google Shape;422;p4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Dividend</a:t>
            </a:r>
            <a:endParaRPr/>
          </a:p>
        </p:txBody>
      </p:sp>
      <p:sp>
        <p:nvSpPr>
          <p:cNvPr id="423" name="Google Shape;423;p47"/>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total number being divided into equal groups (the number inside the division bracket).</a:t>
            </a:r>
            <a:endParaRPr/>
          </a:p>
        </p:txBody>
      </p:sp>
      <p:sp>
        <p:nvSpPr>
          <p:cNvPr id="425" name="Google Shape;425;p4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6" name="Google Shape;426;p4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7" name="Google Shape;427;p4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8" name="Google Shape;428;p4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3/4 ÷ 1/2, the dividend is 3/4 — the total amount being split</a:t>
            </a:r>
            <a:endParaRPr/>
          </a:p>
        </p:txBody>
      </p:sp>
      <p:pic>
        <p:nvPicPr>
          <p:cNvPr descr="dividend.png" id="429" name="Google Shape;429;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71" name="Google Shape;271;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8 / 35</a:t>
            </a:r>
            <a:endParaRPr/>
          </a:p>
        </p:txBody>
      </p:sp>
      <p:sp xmlns:p="http://schemas.openxmlformats.org/presentationml/2006/main" xmlns:a="http://schemas.openxmlformats.org/drawingml/2006/main">
        <p:nvSpPr>
          <p:cNvPr id="430"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“Dividend”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4" name="Google Shape;434;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8</a:t>
            </a:r>
            <a:endParaRPr/>
          </a:p>
        </p:txBody>
      </p:sp>
      <p:sp>
        <p:nvSpPr>
          <p:cNvPr id="437" name="Google Shape;437;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6-2 · Division Expressions with Fractions and Mixed Numbers</a:t>
            </a:r>
            <a:endParaRPr/>
          </a:p>
        </p:txBody>
      </p:sp>
      <p:sp>
        <p:nvSpPr>
          <p:cNvPr id="438" name="Google Shape;438;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40" name="Google Shape;440;p48"/>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Divisor</a:t>
            </a:r>
            <a:endParaRPr/>
          </a:p>
        </p:txBody>
      </p:sp>
      <p:sp>
        <p:nvSpPr>
          <p:cNvPr id="441" name="Google Shape;441;p48"/>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48"/>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number of equal groups you are dividing into (the number outside the division bracket).</a:t>
            </a:r>
            <a:endParaRPr/>
          </a:p>
        </p:txBody>
      </p:sp>
      <p:sp>
        <p:nvSpPr>
          <p:cNvPr id="443" name="Google Shape;443;p48"/>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4" name="Google Shape;444;p48"/>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48"/>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6" name="Google Shape;446;p48"/>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3/4 ÷ 1/2, the divisor is 1/2 — the size of each group</a:t>
            </a:r>
            <a:endParaRPr/>
          </a:p>
        </p:txBody>
      </p:sp>
      <p:pic>
        <p:nvPicPr>
          <p:cNvPr descr="divisor.png" id="447" name="Google Shape;447;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71" name="Google Shape;271;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9 / 35</a:t>
            </a:r>
            <a:endParaRPr/>
          </a:p>
        </p:txBody>
      </p:sp>
      <p:sp xmlns:p="http://schemas.openxmlformats.org/presentationml/2006/main" xmlns:a="http://schemas.openxmlformats.org/drawingml/2006/main">
        <p:nvSpPr>
          <p:cNvPr id="448"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“Divisor”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2" name="Google Shape;452;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8</a:t>
            </a:r>
            <a:endParaRPr/>
          </a:p>
        </p:txBody>
      </p:sp>
      <p:sp>
        <p:nvSpPr>
          <p:cNvPr id="455" name="Google Shape;455;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6-2 · Division Expressions with Fractions and Mixed Numbers</a:t>
            </a:r>
            <a:endParaRPr/>
          </a:p>
        </p:txBody>
      </p:sp>
      <p:sp>
        <p:nvSpPr>
          <p:cNvPr id="456" name="Google Shape;456;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8" name="Google Shape;458;p49"/>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Reciprocal</a:t>
            </a:r>
            <a:endParaRPr/>
          </a:p>
        </p:txBody>
      </p:sp>
      <p:sp>
        <p:nvSpPr>
          <p:cNvPr id="459" name="Google Shape;459;p49"/>
          <p:cNvSpPr/>
          <p:nvPr/>
        </p:nvSpPr>
        <p:spPr>
          <a:xfrm>
            <a:off x="658368" y="2814828"/>
            <a:ext cx="118872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49"/>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fraction turned upside down.</a:t>
            </a:r>
            <a:endParaRPr/>
          </a:p>
        </p:txBody>
      </p:sp>
      <p:sp>
        <p:nvSpPr>
          <p:cNvPr id="461" name="Google Shape;461;p49"/>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2" name="Google Shape;462;p49"/>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3" name="Google Shape;463;p49"/>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4" name="Google Shape;464;p49"/>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The reciprocal of 2/3 is 3/2. To divide by 2/3, multiply by 3/2.</a:t>
            </a:r>
            <a:endParaRPr/>
          </a:p>
        </p:txBody>
      </p:sp>
      <p:pic>
        <p:nvPicPr>
          <p:cNvPr descr="reciprocal.png" id="465" name="Google Shape;465;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71" name="Google Shape;271;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10 / 35</a:t>
            </a:r>
            <a:endParaRPr/>
          </a:p>
        </p:txBody>
      </p:sp>
      <p:sp xmlns:p="http://schemas.openxmlformats.org/presentationml/2006/main" xmlns:a="http://schemas.openxmlformats.org/drawingml/2006/main">
        <p:nvSpPr>
          <p:cNvPr id="466"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“Reciprocal”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70" name="Google Shape;470;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8</a:t>
            </a:r>
            <a:endParaRPr/>
          </a:p>
        </p:txBody>
      </p:sp>
      <p:sp>
        <p:nvSpPr>
          <p:cNvPr id="473" name="Google Shape;473;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6-2 · Division Expressions with Fractions and Mixed Numbers</a:t>
            </a:r>
            <a:endParaRPr/>
          </a:p>
        </p:txBody>
      </p:sp>
      <p:sp>
        <p:nvSpPr>
          <p:cNvPr id="474" name="Google Shape;474;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6" name="Google Shape;476;p50"/>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Quotient</a:t>
            </a:r>
            <a:endParaRPr/>
          </a:p>
        </p:txBody>
      </p:sp>
      <p:sp>
        <p:nvSpPr>
          <p:cNvPr id="477" name="Google Shape;477;p50"/>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50"/>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answer when you divide.</a:t>
            </a:r>
            <a:endParaRPr/>
          </a:p>
        </p:txBody>
      </p:sp>
      <p:sp>
        <p:nvSpPr>
          <p:cNvPr id="479" name="Google Shape;479;p50"/>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0" name="Google Shape;480;p50"/>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1" name="Google Shape;481;p50"/>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82" name="Google Shape;482;p50"/>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3/4 ÷ 1/4 = 3, the quotient is 3 — three 1/4-size pieces fit into 3/4</a:t>
            </a:r>
            <a:endParaRPr/>
          </a:p>
        </p:txBody>
      </p:sp>
      <p:pic>
        <p:nvPicPr>
          <p:cNvPr descr="quotient.png" id="483" name="Google Shape;483;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71" name="Google Shape;271;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11 / 35</a:t>
            </a:r>
            <a:endParaRPr/>
          </a:p>
        </p:txBody>
      </p:sp>
      <p:sp xmlns:p="http://schemas.openxmlformats.org/presentationml/2006/main" xmlns:a="http://schemas.openxmlformats.org/drawingml/2006/main">
        <p:nvSpPr>
          <p:cNvPr id="484"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“Quotient”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8" name="Google Shape;488;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8</a:t>
            </a:r>
            <a:endParaRPr/>
          </a:p>
        </p:txBody>
      </p:sp>
      <p:sp>
        <p:nvSpPr>
          <p:cNvPr id="491" name="Google Shape;491;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6-2 · Division Expressions with Fractions and Mixed Numbers</a:t>
            </a:r>
            <a:endParaRPr/>
          </a:p>
        </p:txBody>
      </p:sp>
      <p:sp>
        <p:nvSpPr>
          <p:cNvPr id="492" name="Google Shape;492;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4" name="Google Shape;494;p51"/>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Simplify</a:t>
            </a:r>
            <a:endParaRPr/>
          </a:p>
        </p:txBody>
      </p:sp>
      <p:sp>
        <p:nvSpPr>
          <p:cNvPr id="495" name="Google Shape;495;p51"/>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51"/>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To write a fraction with smaller numbers that names the same amount, like 2/4 = 1/2.</a:t>
            </a:r>
            <a:endParaRPr/>
          </a:p>
        </p:txBody>
      </p:sp>
      <p:sp>
        <p:nvSpPr>
          <p:cNvPr id="497" name="Google Shape;497;p51"/>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8" name="Google Shape;498;p51"/>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9" name="Google Shape;499;p51"/>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00" name="Google Shape;500;p51"/>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8/12 → GCF is 4 → 8÷4 / 12÷4 = 2/3</a:t>
            </a:r>
            <a:endParaRPr/>
          </a:p>
        </p:txBody>
      </p:sp>
      <p:pic>
        <p:nvPicPr>
          <p:cNvPr descr="fraction.png" id="501" name="Google Shape;501;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71" name="Google Shape;271;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12 / 35</a:t>
            </a:r>
            <a:endParaRPr/>
          </a:p>
        </p:txBody>
      </p:sp>
      <p:sp xmlns:p="http://schemas.openxmlformats.org/presentationml/2006/main" xmlns:a="http://schemas.openxmlformats.org/drawingml/2006/main">
        <p:nvSpPr>
          <p:cNvPr id="502"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“Simplify”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6" name="Google Shape;506;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8</a:t>
            </a:r>
            <a:endParaRPr/>
          </a:p>
        </p:txBody>
      </p:sp>
      <p:sp>
        <p:nvSpPr>
          <p:cNvPr id="509" name="Google Shape;509;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6-2 · Division Expressions with Fractions and Mixed Numbers</a:t>
            </a:r>
            <a:endParaRPr/>
          </a:p>
        </p:txBody>
      </p:sp>
      <p:sp>
        <p:nvSpPr>
          <p:cNvPr id="510" name="Google Shape;510;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12" name="Google Shape;512;p52"/>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Mixed number</a:t>
            </a:r>
            <a:endParaRPr/>
          </a:p>
        </p:txBody>
      </p:sp>
      <p:sp>
        <p:nvSpPr>
          <p:cNvPr id="513" name="Google Shape;513;p52"/>
          <p:cNvSpPr/>
          <p:nvPr/>
        </p:nvSpPr>
        <p:spPr>
          <a:xfrm>
            <a:off x="658368" y="2561844"/>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2"/>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whole number and a fraction written together, like 2 1/2. It must be rewritten as an improper fraction before dividing.</a:t>
            </a:r>
            <a:endParaRPr/>
          </a:p>
        </p:txBody>
      </p:sp>
      <p:sp>
        <p:nvSpPr>
          <p:cNvPr id="515" name="Google Shape;515;p52"/>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p52"/>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7" name="Google Shape;517;p52"/>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18" name="Google Shape;518;p52"/>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2 1/2 = 5/2</a:t>
            </a:r>
            <a:endParaRPr/>
          </a:p>
        </p:txBody>
      </p:sp>
      <p:pic>
        <p:nvPicPr>
          <p:cNvPr descr="mixed-number.png" id="519" name="Google Shape;519;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71" name="Google Shape;271;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13 / 35</a:t>
            </a:r>
            <a:endParaRPr/>
          </a:p>
        </p:txBody>
      </p:sp>
      <p:sp xmlns:p="http://schemas.openxmlformats.org/presentationml/2006/main" xmlns:a="http://schemas.openxmlformats.org/drawingml/2006/main">
        <p:nvSpPr>
          <p:cNvPr id="520" name="TEACH-embedded-student-prompt" descr="Student thinking and response directions"/>
          <p:cNvSpPr txBox="1"/>
          <p:nvPr/>
        </p:nvSpPr>
        <p:spPr>
          <a:xfrm>
            <a:off x="7391400" y="5504688"/>
            <a:ext cx="420624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“Mixed number” to explain</a:t>
            </a:r>
            <a:endParaRPr lang="en-US" sz="2000"/>
          </a:p>
          <a:p>
            <a:pPr>
              <a:lnSpc>
                <a:spcPts val="2400"/>
              </a:lnSpc>
              <a:buNone/>
            </a:pPr>
            <a:r>
              <a:rPr lang="en-US" sz="2000">
                <a:solidFill>
                  <a:srgbClr val="174D60"/>
                </a:solidFill>
                <a:latin typeface="Arial"/>
              </a:rPr>
              <a:t>the example. Point to evidence.</a:t>
            </a:r>
            <a:endParaRPr lang="en-US" sz="20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24" name="Google Shape;524;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6" name="Google Shape;526;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8 of 8</a:t>
            </a:r>
            <a:endParaRPr/>
          </a:p>
        </p:txBody>
      </p:sp>
      <p:sp>
        <p:nvSpPr>
          <p:cNvPr id="527" name="Google Shape;527;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6-2 · Division Expressions with Fractions and Mixed Numbers</a:t>
            </a:r>
            <a:endParaRPr/>
          </a:p>
        </p:txBody>
      </p:sp>
      <p:sp>
        <p:nvSpPr>
          <p:cNvPr id="528" name="Google Shape;528;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30" name="Google Shape;530;p53"/>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Improper fraction</a:t>
            </a:r>
            <a:endParaRPr/>
          </a:p>
        </p:txBody>
      </p:sp>
      <p:sp>
        <p:nvSpPr>
          <p:cNvPr id="531" name="Google Shape;531;p53"/>
          <p:cNvSpPr/>
          <p:nvPr/>
        </p:nvSpPr>
        <p:spPr>
          <a:xfrm>
            <a:off x="658368" y="2737866"/>
            <a:ext cx="202082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2" name="Google Shape;532;p53"/>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fraction whose numerator is greater than or equal to its denominator, like 5/2.</a:t>
            </a:r>
            <a:endParaRPr/>
          </a:p>
        </p:txBody>
      </p:sp>
      <p:sp>
        <p:nvSpPr>
          <p:cNvPr id="533" name="Google Shape;533;p53"/>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4" name="Google Shape;534;p53"/>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36" name="Google Shape;536;p53"/>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5/2 is the same amount as 2 1/2</a:t>
            </a:r>
            <a:endParaRPr/>
          </a:p>
        </p:txBody>
      </p:sp>
      <p:pic>
        <p:nvPicPr>
          <p:cNvPr descr="improper-fraction.png" id="537" name="Google Shape;537;p53"/>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71" name="Google Shape;271;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14 / 35</a:t>
            </a:r>
            <a:endParaRPr/>
          </a:p>
        </p:txBody>
      </p:sp>
      <p:sp xmlns:p="http://schemas.openxmlformats.org/presentationml/2006/main" xmlns:a="http://schemas.openxmlformats.org/drawingml/2006/main">
        <p:nvSpPr>
          <p:cNvPr id="538"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“Improper fraction”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a:t>
            </a:r>
            <a:endParaRPr/>
          </a:p>
        </p:txBody>
      </p:sp>
      <p:sp>
        <p:nvSpPr>
          <p:cNvPr id="358" name="Google Shape;358;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6-2 · Division Expressions with Fractions and Mixed Numbers</a:t>
            </a:r>
            <a:endParaRPr/>
          </a:p>
        </p:txBody>
      </p:sp>
      <p:sp>
        <p:nvSpPr>
          <p:cNvPr id="359" name="Google Shape;359;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0" name="Google Shape;360;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61" name="Google Shape;361;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400" u="none" cap="none" strike="noStrike">
                <a:solidFill>
                  <a:srgbClr val="14223A"/>
                </a:solidFill>
                <a:latin typeface="Arial"/>
                <a:ea typeface="Arial"/>
                <a:cs typeface="Arial"/>
                <a:sym typeface="Arial"/>
              </a:rPr>
              <a:t>Today’s Math Words</a:t>
            </a:r>
            <a:endParaRPr/>
          </a:p>
        </p:txBody>
      </p:sp>
      <p:sp>
        <p:nvSpPr>
          <p:cNvPr id="362" name="Google Shape;362;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3" name="Google Shape;363;p45"/>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5"/>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Divide Fractions</a:t>
            </a:r>
            <a:endParaRPr/>
          </a:p>
        </p:txBody>
      </p:sp>
      <p:sp>
        <p:nvSpPr>
          <p:cNvPr id="366" name="Google Shape;366;p45"/>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Multiply the first fraction by the reciprocal of the second fraction</a:t>
            </a:r>
            <a:endParaRPr/>
          </a:p>
        </p:txBody>
      </p:sp>
      <p:sp>
        <p:nvSpPr>
          <p:cNvPr id="367" name="Google Shape;367;p45"/>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45"/>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Dividend</a:t>
            </a:r>
            <a:endParaRPr/>
          </a:p>
        </p:txBody>
      </p:sp>
      <p:sp>
        <p:nvSpPr>
          <p:cNvPr id="370" name="Google Shape;370;p45"/>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100" u="none" cap="none" strike="noStrike">
                <a:solidFill>
                  <a:srgbClr val="475569"/>
                </a:solidFill>
                <a:latin typeface="Arial"/>
                <a:ea typeface="Arial"/>
                <a:cs typeface="Arial"/>
                <a:sym typeface="Arial"/>
              </a:rPr>
              <a:t>The total number being divided into equal groups (the number inside the division bracket)</a:t>
            </a:r>
            <a:endParaRPr/>
          </a:p>
        </p:txBody>
      </p:sp>
      <p:sp>
        <p:nvSpPr>
          <p:cNvPr id="371" name="Google Shape;371;p45"/>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45"/>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Divisor</a:t>
            </a:r>
            <a:endParaRPr/>
          </a:p>
        </p:txBody>
      </p:sp>
      <p:sp>
        <p:nvSpPr>
          <p:cNvPr id="374" name="Google Shape;374;p45"/>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100" u="none" cap="none" strike="noStrike">
                <a:solidFill>
                  <a:srgbClr val="475569"/>
                </a:solidFill>
                <a:latin typeface="Arial"/>
                <a:ea typeface="Arial"/>
                <a:cs typeface="Arial"/>
                <a:sym typeface="Arial"/>
              </a:rPr>
              <a:t>The number of equal groups you are dividing into (the number outside the division bracket)</a:t>
            </a:r>
            <a:endParaRPr/>
          </a:p>
        </p:txBody>
      </p:sp>
      <p:sp>
        <p:nvSpPr>
          <p:cNvPr id="375" name="Google Shape;375;p45"/>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45"/>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Reciprocal</a:t>
            </a:r>
            <a:endParaRPr/>
          </a:p>
        </p:txBody>
      </p:sp>
      <p:sp>
        <p:nvSpPr>
          <p:cNvPr id="378" name="Google Shape;378;p45"/>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A fraction turned upside down</a:t>
            </a:r>
            <a:endParaRPr/>
          </a:p>
        </p:txBody>
      </p:sp>
      <p:sp>
        <p:nvSpPr>
          <p:cNvPr id="379" name="Google Shape;379;p45"/>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45"/>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Quotient</a:t>
            </a:r>
            <a:endParaRPr/>
          </a:p>
        </p:txBody>
      </p:sp>
      <p:sp>
        <p:nvSpPr>
          <p:cNvPr id="382" name="Google Shape;382;p45"/>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answer when you divide</a:t>
            </a:r>
            <a:endParaRPr/>
          </a:p>
        </p:txBody>
      </p:sp>
      <p:sp>
        <p:nvSpPr>
          <p:cNvPr id="383" name="Google Shape;383;p45"/>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45"/>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Simplify</a:t>
            </a:r>
            <a:endParaRPr/>
          </a:p>
        </p:txBody>
      </p:sp>
      <p:sp>
        <p:nvSpPr>
          <p:cNvPr id="386" name="Google Shape;386;p45"/>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100" u="none" cap="none" strike="noStrike">
                <a:solidFill>
                  <a:srgbClr val="475569"/>
                </a:solidFill>
                <a:latin typeface="Arial"/>
                <a:ea typeface="Arial"/>
                <a:cs typeface="Arial"/>
                <a:sym typeface="Arial"/>
              </a:rPr>
              <a:t>To write a fraction with smaller numbers that names the same amount, like 2/4 = 1/2</a:t>
            </a:r>
            <a:endParaRPr/>
          </a:p>
        </p:txBody>
      </p:sp>
      <p:sp>
        <p:nvSpPr>
          <p:cNvPr id="387" name="Google Shape;387;p45"/>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45"/>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5"/>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Mixed number</a:t>
            </a:r>
            <a:endParaRPr/>
          </a:p>
        </p:txBody>
      </p:sp>
      <p:sp>
        <p:nvSpPr>
          <p:cNvPr id="390" name="Google Shape;390;p45"/>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A whole number and a fraction written together, like 2 1/2</a:t>
            </a:r>
            <a:endParaRPr/>
          </a:p>
        </p:txBody>
      </p:sp>
      <p:sp>
        <p:nvSpPr>
          <p:cNvPr id="391" name="Google Shape;391;p45"/>
          <p:cNvSpPr/>
          <p:nvPr/>
        </p:nvSpPr>
        <p:spPr>
          <a:xfrm>
            <a:off x="6260576"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p45"/>
          <p:cNvSpPr/>
          <p:nvPr/>
        </p:nvSpPr>
        <p:spPr>
          <a:xfrm>
            <a:off x="6260576"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45"/>
          <p:cNvSpPr txBox="1"/>
          <p:nvPr/>
        </p:nvSpPr>
        <p:spPr>
          <a:xfrm>
            <a:off x="6571472"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Improper fraction</a:t>
            </a:r>
            <a:endParaRPr/>
          </a:p>
        </p:txBody>
      </p:sp>
      <p:sp>
        <p:nvSpPr>
          <p:cNvPr id="394" name="Google Shape;394;p45"/>
          <p:cNvSpPr txBox="1"/>
          <p:nvPr/>
        </p:nvSpPr>
        <p:spPr>
          <a:xfrm>
            <a:off x="6571472"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100" u="none" cap="none" strike="noStrike">
                <a:solidFill>
                  <a:srgbClr val="475569"/>
                </a:solidFill>
                <a:latin typeface="Arial"/>
                <a:ea typeface="Arial"/>
                <a:cs typeface="Arial"/>
                <a:sym typeface="Arial"/>
              </a:rPr>
              <a:t>A fraction whose numerator is greater than or equal to its denominator, like 5/2</a:t>
            </a:r>
            <a:endParaRPr/>
          </a:p>
        </p:txBody>
      </p:sp>
      <p:sp>
        <p:nvSpPr>
          <p:cNvPr id="39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42</a:t>
            </a:r>
          </a:p>
        </p:txBody>
      </p:sp>
      <p:grpSp>
        <p:nvGrpSpPr>
          <p:cNvPr id="396" name="TEACH-5-student-move" descr="TEACH 5 · Facilitate student interactions and academic talk"/>
          <p:cNvGrpSpPr/>
          <p:nvPr/>
        </p:nvGrpSpPr>
        <p:grpSpPr>
          <a:xfrm>
            <a:off x="502920" y="649224"/>
            <a:ext cx="11186160" cy="320040"/>
            <a:chOff x="502920" y="649224"/>
            <a:chExt cx="11186160" cy="320040"/>
          </a:xfrm>
        </p:grpSpPr>
        <p:sp>
          <p:nvSpPr>
            <p:cNvPr id="397" name="TEACH-move-card"/>
            <p:cNvSpPr/>
            <p:nvPr/>
          </p:nvSpPr>
          <p:spPr>
            <a:xfrm>
              <a:off x="502920" y="649224"/>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398" name="TEACH-move-rule"/>
            <p:cNvSpPr/>
            <p:nvPr/>
          </p:nvSpPr>
          <p:spPr>
            <a:xfrm>
              <a:off x="548640" y="710032"/>
              <a:ext cx="100584" cy="198424"/>
            </a:xfrm>
            <a:prstGeom prst="roundRect">
              <a:avLst>
                <a:gd name="adj" fmla="val 50000"/>
              </a:avLst>
            </a:prstGeom>
            <a:solidFill>
              <a:srgbClr val="01708C"/>
            </a:solidFill>
            <a:ln>
              <a:noFill/>
            </a:ln>
          </p:spPr>
          <p:txBody>
            <a:bodyPr/>
            <a:lstStyle/>
            <a:p>
              <a:endParaRPr/>
            </a:p>
          </p:txBody>
        </p:sp>
        <p:sp>
          <p:nvSpPr>
            <p:cNvPr id="399" name="TEACH-move-text"/>
            <p:cNvSpPr txBox="1"/>
            <p:nvPr/>
          </p:nvSpPr>
          <p:spPr>
            <a:xfrm>
              <a:off x="822960" y="649224"/>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THE MATH WORDS  ·  </a:t>
              </a:r>
              <a:r>
                <a:rPr lang="en-US" sz="1200" dirty="0">
                  <a:solidFill>
                    <a:srgbClr val="13303A"/>
                  </a:solidFill>
                  <a:latin typeface="Arial"/>
                </a:rPr>
                <a:t>Use today’s math words in your explanation — not “it” and “that thing.”</a:t>
              </a:r>
              <a:endParaRPr lang="en-US" sz="1200"/>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cxnSp>
        <p:nvCxnSpPr>
          <p:cNvPr id="609" name="Google Shape;609;p5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10" name="Google Shape;610;p57"/>
          <p:cNvSpPr txBox="1"/>
          <p:nvPr/>
        </p:nvSpPr>
        <p:spPr>
          <a:xfrm>
            <a:off x="474055" y="936100"/>
            <a:ext cx="4319887" cy="60175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What’s the question?</a:t>
            </a:r>
            <a:endParaRPr b="0" i="0" sz="1400" u="none" cap="none" strike="noStrike">
              <a:solidFill>
                <a:srgbClr val="000000"/>
              </a:solidFill>
              <a:latin typeface="Arial"/>
              <a:ea typeface="Arial"/>
              <a:cs typeface="Arial"/>
              <a:sym typeface="Arial"/>
            </a:endParaRPr>
          </a:p>
        </p:txBody>
      </p:sp>
      <p:sp>
        <p:nvSpPr>
          <p:cNvPr id="611" name="Google Shape;611;p57"/>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612" name="Google Shape;612;p57"/>
          <p:cNvPicPr preferRelativeResize="0"/>
          <p:nvPr/>
        </p:nvPicPr>
        <p:blipFill rotWithShape="1">
          <a:blip r:embed="rId3">
            <a:alphaModFix/>
          </a:blip>
          <a:srcRect b="0" l="0" r="0" t="0"/>
          <a:stretch/>
        </p:blipFill>
        <p:spPr>
          <a:xfrm>
            <a:off x="484560" y="4989919"/>
            <a:ext cx="5054600" cy="838200"/>
          </a:xfrm>
          <a:prstGeom prst="rect">
            <a:avLst/>
          </a:prstGeom>
          <a:noFill/>
          <a:ln>
            <a:noFill/>
          </a:ln>
        </p:spPr>
      </p:pic>
      <p:sp>
        <p:nvSpPr>
          <p:cNvPr id="613" name="Google Shape;613;p57"/>
          <p:cNvSpPr txBox="1"/>
          <p:nvPr/>
        </p:nvSpPr>
        <p:spPr>
          <a:xfrm>
            <a:off x="3344577" y="5147237"/>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614" name="Google Shape;614;p57"/>
          <p:cNvSpPr/>
          <p:nvPr/>
        </p:nvSpPr>
        <p:spPr>
          <a:xfrm>
            <a:off x="697756" y="5805242"/>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helps you get started on a math activity?</a:t>
            </a:r>
            <a:endParaRPr b="0" i="0" sz="1400" u="none" cap="none" strike="noStrike">
              <a:solidFill>
                <a:srgbClr val="000000"/>
              </a:solidFill>
              <a:latin typeface="Arial"/>
              <a:ea typeface="Arial"/>
              <a:cs typeface="Arial"/>
              <a:sym typeface="Arial"/>
            </a:endParaRPr>
          </a:p>
        </p:txBody>
      </p:sp>
      <p:sp>
        <p:nvSpPr>
          <p:cNvPr id="615" name="Google Shape;615;p57"/>
          <p:cNvSpPr/>
          <p:nvPr/>
        </p:nvSpPr>
        <p:spPr>
          <a:xfrm>
            <a:off x="484560" y="1777092"/>
            <a:ext cx="8322844" cy="2910904"/>
          </a:xfrm>
          <a:prstGeom prst="snip1Rect">
            <a:avLst>
              <a:gd fmla="val 16667" name="adj"/>
            </a:avLst>
          </a:prstGeom>
          <a:solidFill>
            <a:schemeClr val="lt1"/>
          </a:solidFill>
          <a:ln cap="flat" cmpd="sng" w="12700">
            <a:solidFill>
              <a:srgbClr val="00B05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1" lang="en-US" sz="2800" u="none" cap="none" strike="noStrike">
                <a:solidFill>
                  <a:srgbClr val="782DA0"/>
                </a:solidFill>
                <a:latin typeface="Arial"/>
                <a:ea typeface="Arial"/>
                <a:cs typeface="Arial"/>
                <a:sym typeface="Arial"/>
              </a:rPr>
              <a:t>Eduardo is making bows for cancer awareness. He has a certain amount of ribbon and uses the same length for each bow.</a:t>
            </a:r>
            <a:endParaRPr b="0" i="0" sz="1400" u="none" cap="none" strike="noStrike">
              <a:solidFill>
                <a:srgbClr val="000000"/>
              </a:solidFill>
              <a:latin typeface="Arial"/>
              <a:ea typeface="Arial"/>
              <a:cs typeface="Arial"/>
              <a:sym typeface="Arial"/>
            </a:endParaRPr>
          </a:p>
        </p:txBody>
      </p:sp>
      <p:sp>
        <p:nvSpPr>
          <p:cNvPr id="61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42</a:t>
            </a:r>
          </a:p>
        </p:txBody>
      </p:sp>
      <p:sp xmlns:p="http://schemas.openxmlformats.org/presentationml/2006/main" xmlns:a="http://schemas.openxmlformats.org/drawingml/2006/main">
        <p:nvSpPr>
          <p:cNvPr id="617" name="TEACH-embedded-student-prompt" descr="Student thinking and response directions"/>
          <p:cNvSpPr txBox="1"/>
          <p:nvPr/>
        </p:nvSpPr>
        <p:spPr>
          <a:xfrm>
            <a:off x="6111240" y="48646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cxnSp>
        <p:nvCxnSpPr>
          <p:cNvPr id="620" name="Google Shape;620;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21" name="Google Shape;621;p58"/>
          <p:cNvSpPr txBox="1"/>
          <p:nvPr/>
        </p:nvSpPr>
        <p:spPr>
          <a:xfrm>
            <a:off x="484565" y="936099"/>
            <a:ext cx="6795124" cy="3253516"/>
          </a:xfrm>
          <a:prstGeom prst="rect">
            <a:avLst/>
          </a:prstGeom>
          <a:blipFill rotWithShape="1">
            <a:blip r:embed="rId3">
              <a:alphaModFix/>
            </a:blip>
            <a:stretch>
              <a:fillRect b="0" l="-1794" r="0" t="-206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22" name="Google Shape;622;p58"/>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Making Bows</a:t>
            </a:r>
            <a:endParaRPr b="0" i="0" sz="1400" u="none" cap="none" strike="noStrike">
              <a:solidFill>
                <a:srgbClr val="000000"/>
              </a:solidFill>
              <a:latin typeface="Arial"/>
              <a:ea typeface="Arial"/>
              <a:cs typeface="Arial"/>
              <a:sym typeface="Arial"/>
            </a:endParaRPr>
          </a:p>
        </p:txBody>
      </p:sp>
      <p:pic>
        <p:nvPicPr>
          <p:cNvPr id="623" name="Google Shape;623;p58"/>
          <p:cNvPicPr preferRelativeResize="0"/>
          <p:nvPr/>
        </p:nvPicPr>
        <p:blipFill rotWithShape="1">
          <a:blip r:embed="rId4">
            <a:alphaModFix/>
          </a:blip>
          <a:srcRect b="0" l="0" r="0" t="0"/>
          <a:stretch/>
        </p:blipFill>
        <p:spPr>
          <a:xfrm>
            <a:off x="8237324" y="1413164"/>
            <a:ext cx="3691355" cy="2628000"/>
          </a:xfrm>
          <a:prstGeom prst="rect">
            <a:avLst/>
          </a:prstGeom>
          <a:noFill/>
          <a:ln>
            <a:noFill/>
          </a:ln>
        </p:spPr>
      </p:pic>
      <p:sp>
        <p:nvSpPr>
          <p:cNvPr id="6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42</a:t>
            </a:r>
          </a:p>
        </p:txBody>
      </p:sp>
      <p:sp xmlns:p="http://schemas.openxmlformats.org/presentationml/2006/main" xmlns:a="http://schemas.openxmlformats.org/drawingml/2006/main">
        <p:nvSpPr>
          <p:cNvPr id="625"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cxnSp>
        <p:nvCxnSpPr>
          <p:cNvPr id="652" name="Google Shape;652;p6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53" name="Google Shape;653;p62"/>
          <p:cNvSpPr txBox="1"/>
          <p:nvPr/>
        </p:nvSpPr>
        <p:spPr>
          <a:xfrm>
            <a:off x="484565" y="936098"/>
            <a:ext cx="6795124" cy="3953743"/>
          </a:xfrm>
          <a:prstGeom prst="rect">
            <a:avLst/>
          </a:prstGeom>
          <a:blipFill rotWithShape="1">
            <a:blip r:embed="rId3">
              <a:alphaModFix/>
            </a:blip>
            <a:stretch>
              <a:fillRect b="-2778" l="-1794" r="0" t="-169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54" name="Google Shape;654;p62"/>
          <p:cNvSpPr txBox="1"/>
          <p:nvPr/>
        </p:nvSpPr>
        <p:spPr>
          <a:xfrm>
            <a:off x="484565" y="5159500"/>
            <a:ext cx="6659028" cy="10886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One tool is a tape diagram.</a:t>
            </a:r>
            <a:endParaRPr b="0" i="1" sz="2800" u="none" cap="none" strike="noStrike">
              <a:solidFill>
                <a:srgbClr val="595959"/>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pPr>
            <a:r>
              <a:t/>
            </a:r>
            <a:endParaRPr b="0" i="1" sz="2800" u="none" cap="none" strike="noStrike">
              <a:solidFill>
                <a:srgbClr val="595959"/>
              </a:solidFill>
              <a:latin typeface="Arial"/>
              <a:ea typeface="Arial"/>
              <a:cs typeface="Arial"/>
              <a:sym typeface="Arial"/>
            </a:endParaRPr>
          </a:p>
        </p:txBody>
      </p:sp>
      <p:sp>
        <p:nvSpPr>
          <p:cNvPr id="655" name="Google Shape;655;p62"/>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Making Bows</a:t>
            </a:r>
            <a:endParaRPr b="0" i="0" sz="1400" u="none" cap="none" strike="noStrike">
              <a:solidFill>
                <a:srgbClr val="000000"/>
              </a:solidFill>
              <a:latin typeface="Arial"/>
              <a:ea typeface="Arial"/>
              <a:cs typeface="Arial"/>
              <a:sym typeface="Arial"/>
            </a:endParaRPr>
          </a:p>
        </p:txBody>
      </p:sp>
      <p:sp>
        <p:nvSpPr>
          <p:cNvPr id="65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42</a:t>
            </a:r>
          </a:p>
        </p:txBody>
      </p:sp>
      <p:sp>
        <p:nvSpPr>
          <p:cNvPr id="657" name="EWL-COVER-1"/>
          <p:cNvSpPr/>
          <p:nvPr/>
        </p:nvSpPr>
        <p:spPr>
          <a:xfrm>
            <a:off x="429701" y="5104636"/>
            <a:ext cx="6768756" cy="1301476"/>
          </a:xfrm>
          <a:prstGeom prst="rect">
            <a:avLst/>
          </a:prstGeom>
          <a:solidFill>
            <a:srgbClr val="FFFFFF"/>
          </a:solidFill>
          <a:ln>
            <a:noFill/>
          </a:ln>
        </p:spPr>
        <p:txBody>
          <a:bodyPr/>
          <a:lstStyle/>
          <a:p/>
        </p:txBody>
      </p:sp>
      <p:sp xmlns:p="http://schemas.openxmlformats.org/presentationml/2006/main" xmlns:a="http://schemas.openxmlformats.org/drawingml/2006/main">
        <p:nvSpPr>
          <p:cNvPr id="658"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5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cxnSp>
        <p:nvCxnSpPr>
          <p:cNvPr id="717" name="Google Shape;717;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18" name="Google Shape;718;p69"/>
          <p:cNvSpPr txBox="1"/>
          <p:nvPr/>
        </p:nvSpPr>
        <p:spPr>
          <a:xfrm>
            <a:off x="484565" y="5150622"/>
            <a:ext cx="6659028" cy="10886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write a division equation.</a:t>
            </a:r>
            <a:endParaRPr b="0" i="1" sz="2800" u="none" cap="none" strike="noStrike">
              <a:solidFill>
                <a:srgbClr val="595959"/>
              </a:solidFill>
              <a:latin typeface="Arial"/>
              <a:ea typeface="Arial"/>
              <a:cs typeface="Arial"/>
              <a:sym typeface="Arial"/>
            </a:endParaRPr>
          </a:p>
        </p:txBody>
      </p:sp>
      <p:sp>
        <p:nvSpPr>
          <p:cNvPr id="719" name="Google Shape;719;p69"/>
          <p:cNvSpPr txBox="1"/>
          <p:nvPr/>
        </p:nvSpPr>
        <p:spPr>
          <a:xfrm>
            <a:off x="484565" y="936099"/>
            <a:ext cx="7416424" cy="3960098"/>
          </a:xfrm>
          <a:prstGeom prst="rect">
            <a:avLst/>
          </a:prstGeom>
          <a:blipFill rotWithShape="1">
            <a:blip r:embed="rId3">
              <a:alphaModFix/>
            </a:blip>
            <a:stretch>
              <a:fillRect b="0" l="-1643" r="-2054" t="-169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20" name="Google Shape;720;p69"/>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Making Bows</a:t>
            </a:r>
            <a:endParaRPr b="0" i="0" sz="1400" u="none" cap="none" strike="noStrike">
              <a:solidFill>
                <a:srgbClr val="000000"/>
              </a:solidFill>
              <a:latin typeface="Arial"/>
              <a:ea typeface="Arial"/>
              <a:cs typeface="Arial"/>
              <a:sym typeface="Arial"/>
            </a:endParaRPr>
          </a:p>
        </p:txBody>
      </p:sp>
      <p:sp>
        <p:nvSpPr>
          <p:cNvPr id="72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42</a:t>
            </a:r>
          </a:p>
        </p:txBody>
      </p:sp>
      <p:sp>
        <p:nvSpPr>
          <p:cNvPr id="722" name="EWL-COVER-1"/>
          <p:cNvSpPr/>
          <p:nvPr/>
        </p:nvSpPr>
        <p:spPr>
          <a:xfrm>
            <a:off x="429701" y="5095758"/>
            <a:ext cx="6768756" cy="1198415"/>
          </a:xfrm>
          <a:prstGeom prst="rect">
            <a:avLst/>
          </a:prstGeom>
          <a:solidFill>
            <a:srgbClr val="FFFFFF"/>
          </a:solidFill>
          <a:ln>
            <a:noFill/>
          </a:ln>
        </p:spPr>
        <p:txBody>
          <a:bodyPr/>
          <a:lstStyle/>
          <a:p/>
        </p:txBody>
      </p:sp>
      <p:sp xmlns:p="http://schemas.openxmlformats.org/presentationml/2006/main" xmlns:a="http://schemas.openxmlformats.org/drawingml/2006/main">
        <p:nvSpPr>
          <p:cNvPr id="723"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cxnSp>
        <p:nvCxnSpPr>
          <p:cNvPr id="734" name="Google Shape;734;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35" name="Google Shape;735;p71"/>
          <p:cNvSpPr txBox="1"/>
          <p:nvPr/>
        </p:nvSpPr>
        <p:spPr>
          <a:xfrm>
            <a:off x="484565" y="936099"/>
            <a:ext cx="7686846" cy="39686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represent the problem with a division equation.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use multiplication to find the unknown?</a:t>
            </a:r>
            <a:endParaRPr b="0" i="0" sz="1400" u="none" cap="none" strike="noStrike">
              <a:solidFill>
                <a:srgbClr val="000000"/>
              </a:solidFill>
              <a:latin typeface="Arial"/>
              <a:ea typeface="Arial"/>
              <a:cs typeface="Arial"/>
              <a:sym typeface="Arial"/>
            </a:endParaRPr>
          </a:p>
        </p:txBody>
      </p:sp>
      <p:sp>
        <p:nvSpPr>
          <p:cNvPr id="736" name="Google Shape;736;p71"/>
          <p:cNvSpPr txBox="1"/>
          <p:nvPr/>
        </p:nvSpPr>
        <p:spPr>
          <a:xfrm>
            <a:off x="484565" y="4904794"/>
            <a:ext cx="9942555" cy="14693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write an equivalent multiplication expression using the reciprocal of the divisor.</a:t>
            </a:r>
            <a:endParaRPr b="0" i="1" sz="2800" u="none" cap="none" strike="noStrike">
              <a:solidFill>
                <a:srgbClr val="595959"/>
              </a:solidFill>
              <a:latin typeface="Arial"/>
              <a:ea typeface="Arial"/>
              <a:cs typeface="Arial"/>
              <a:sym typeface="Arial"/>
            </a:endParaRPr>
          </a:p>
        </p:txBody>
      </p:sp>
      <p:sp>
        <p:nvSpPr>
          <p:cNvPr id="737" name="Google Shape;737;p71"/>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Making Bows</a:t>
            </a:r>
            <a:endParaRPr b="0" i="0" sz="1400" u="none" cap="none" strike="noStrike">
              <a:solidFill>
                <a:srgbClr val="000000"/>
              </a:solidFill>
              <a:latin typeface="Arial"/>
              <a:ea typeface="Arial"/>
              <a:cs typeface="Arial"/>
              <a:sym typeface="Arial"/>
            </a:endParaRPr>
          </a:p>
        </p:txBody>
      </p:sp>
      <p:pic>
        <p:nvPicPr>
          <p:cNvPr id="738" name="Google Shape;738;p71"/>
          <p:cNvPicPr preferRelativeResize="0"/>
          <p:nvPr/>
        </p:nvPicPr>
        <p:blipFill rotWithShape="1">
          <a:blip r:embed="rId3">
            <a:alphaModFix/>
          </a:blip>
          <a:srcRect b="0" l="0" r="0" t="0"/>
          <a:stretch/>
        </p:blipFill>
        <p:spPr>
          <a:xfrm>
            <a:off x="1240935" y="1775777"/>
            <a:ext cx="5693334" cy="2160000"/>
          </a:xfrm>
          <a:prstGeom prst="rect">
            <a:avLst/>
          </a:prstGeom>
          <a:noFill/>
          <a:ln>
            <a:noFill/>
          </a:ln>
        </p:spPr>
      </p:pic>
      <p:sp>
        <p:nvSpPr>
          <p:cNvPr id="73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42</a:t>
            </a:r>
          </a:p>
        </p:txBody>
      </p:sp>
      <p:sp>
        <p:nvSpPr>
          <p:cNvPr id="740" name="EWL-COVER-1"/>
          <p:cNvSpPr/>
          <p:nvPr/>
        </p:nvSpPr>
        <p:spPr>
          <a:xfrm>
            <a:off x="429701" y="4849930"/>
            <a:ext cx="10052283" cy="1579101"/>
          </a:xfrm>
          <a:prstGeom prst="rect">
            <a:avLst/>
          </a:prstGeom>
          <a:solidFill>
            <a:srgbClr val="FFFFFF"/>
          </a:solidFill>
          <a:ln>
            <a:noFill/>
          </a:ln>
        </p:spPr>
        <p:txBody>
          <a:bodyPr/>
          <a:lstStyle/>
          <a:p/>
        </p:txBody>
      </p:sp>
      <p:grpSp>
        <p:nvGrpSpPr>
          <p:cNvPr id="741" name="TEACH-3-student-move" descr="TEACH 3 · Use intentional questioning to deepen learning"/>
          <p:cNvGrpSpPr/>
          <p:nvPr/>
        </p:nvGrpSpPr>
        <p:grpSpPr>
          <a:xfrm>
            <a:off x="4753661" y="4508500"/>
            <a:ext cx="6935419" cy="681375"/>
            <a:chOff x="502920" y="4465882"/>
            <a:chExt cx="11186160" cy="402336"/>
          </a:xfrm>
        </p:grpSpPr>
        <p:sp>
          <p:nvSpPr>
            <p:cNvPr id="742" name="TEACH-move-card"/>
            <p:cNvSpPr/>
            <p:nvPr/>
          </p:nvSpPr>
          <p:spPr>
            <a:xfrm>
              <a:off x="502920" y="446588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43" name="TEACH-move-rule"/>
            <p:cNvSpPr/>
            <p:nvPr/>
          </p:nvSpPr>
          <p:spPr>
            <a:xfrm>
              <a:off x="548640" y="4542326"/>
              <a:ext cx="100584" cy="249448"/>
            </a:xfrm>
            <a:prstGeom prst="roundRect">
              <a:avLst>
                <a:gd name="adj" fmla="val 50000"/>
              </a:avLst>
            </a:prstGeom>
            <a:solidFill>
              <a:srgbClr val="01708C"/>
            </a:solidFill>
            <a:ln>
              <a:noFill/>
            </a:ln>
          </p:spPr>
          <p:txBody>
            <a:bodyPr/>
            <a:lstStyle/>
            <a:p>
              <a:endParaRPr/>
            </a:p>
          </p:txBody>
        </p:sp>
        <p:sp>
          <p:nvSpPr>
            <p:cNvPr id="744" name="TEACH-move-text"/>
            <p:cNvSpPr txBox="1"/>
            <p:nvPr/>
          </p:nvSpPr>
          <p:spPr>
            <a:xfrm>
              <a:off x="822960" y="446588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cxnSp>
        <p:nvCxnSpPr>
          <p:cNvPr id="780" name="Google Shape;780;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81" name="Google Shape;781;p76"/>
          <p:cNvSpPr txBox="1"/>
          <p:nvPr/>
        </p:nvSpPr>
        <p:spPr>
          <a:xfrm>
            <a:off x="484565" y="936098"/>
            <a:ext cx="5819252" cy="416956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write and solve an equivalent multiplication equation using the multiplicative inverse, or reciprocal of the divisor to solve.</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interpret the product?</a:t>
            </a:r>
            <a:endParaRPr b="0" i="0" sz="1400" u="none" cap="none" strike="noStrike">
              <a:solidFill>
                <a:srgbClr val="000000"/>
              </a:solidFill>
              <a:latin typeface="Arial"/>
              <a:ea typeface="Arial"/>
              <a:cs typeface="Arial"/>
              <a:sym typeface="Arial"/>
            </a:endParaRPr>
          </a:p>
        </p:txBody>
      </p:sp>
      <p:sp>
        <p:nvSpPr>
          <p:cNvPr id="782" name="Google Shape;782;p76"/>
          <p:cNvSpPr/>
          <p:nvPr/>
        </p:nvSpPr>
        <p:spPr>
          <a:xfrm>
            <a:off x="6303817" y="1827715"/>
            <a:ext cx="5849390" cy="3277949"/>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83" name="Google Shape;783;p76"/>
          <p:cNvSpPr txBox="1"/>
          <p:nvPr/>
        </p:nvSpPr>
        <p:spPr>
          <a:xfrm>
            <a:off x="484565" y="5105664"/>
            <a:ext cx="10291690" cy="10886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product tells us the number of bows Eduardo can make.</a:t>
            </a:r>
            <a:endParaRPr b="0" i="1" sz="2800" u="none" cap="none" strike="noStrike">
              <a:solidFill>
                <a:srgbClr val="595959"/>
              </a:solidFill>
              <a:latin typeface="Arial"/>
              <a:ea typeface="Arial"/>
              <a:cs typeface="Arial"/>
              <a:sym typeface="Arial"/>
            </a:endParaRPr>
          </a:p>
        </p:txBody>
      </p:sp>
      <p:graphicFrame>
        <p:nvGraphicFramePr>
          <p:cNvPr id="784" name="Google Shape;784;p76"/>
          <p:cNvGraphicFramePr/>
          <p:nvPr/>
        </p:nvGraphicFramePr>
        <p:xfrm>
          <a:off x="8174999" y="2532366"/>
          <a:ext cx="3000000" cy="3000000"/>
        </p:xfrm>
        <a:graphic>
          <a:graphicData uri="http://schemas.openxmlformats.org/drawingml/2006/table">
            <a:tbl>
              <a:tblPr>
                <a:noFill/>
                <a:tableStyleId>{FD53F55D-7DDB-4479-A4F7-64247C19626C}</a:tableStyleId>
              </a:tblPr>
              <a:tblGrid>
                <a:gridCol w="3809625"/>
              </a:tblGrid>
              <a:tr h="72657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76200" marR="7620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785" name="Google Shape;785;p76"/>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Making Bows</a:t>
            </a:r>
            <a:endParaRPr b="0" i="0" sz="1400" u="none" cap="none" strike="noStrike">
              <a:solidFill>
                <a:srgbClr val="000000"/>
              </a:solidFill>
              <a:latin typeface="Arial"/>
              <a:ea typeface="Arial"/>
              <a:cs typeface="Arial"/>
              <a:sym typeface="Arial"/>
            </a:endParaRPr>
          </a:p>
        </p:txBody>
      </p:sp>
      <p:sp>
        <p:nvSpPr>
          <p:cNvPr id="78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42</a:t>
            </a:r>
          </a:p>
        </p:txBody>
      </p:sp>
      <p:sp>
        <p:nvSpPr>
          <p:cNvPr id="787" name="EWL-COVER-1"/>
          <p:cNvSpPr/>
          <p:nvPr/>
        </p:nvSpPr>
        <p:spPr>
          <a:xfrm>
            <a:off x="429701" y="5050800"/>
            <a:ext cx="10401418" cy="1198415"/>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8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80"/>
          <p:cNvSpPr txBox="1"/>
          <p:nvPr/>
        </p:nvSpPr>
        <p:spPr>
          <a:xfrm>
            <a:off x="6211757" y="5949346"/>
            <a:ext cx="125361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20" name="Google Shape;820;p80"/>
          <p:cNvSpPr/>
          <p:nvPr/>
        </p:nvSpPr>
        <p:spPr>
          <a:xfrm>
            <a:off x="484565" y="1886989"/>
            <a:ext cx="6980812" cy="4486023"/>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21" name="Google Shape;821;p80"/>
          <p:cNvSpPr txBox="1"/>
          <p:nvPr/>
        </p:nvSpPr>
        <p:spPr>
          <a:xfrm>
            <a:off x="484565" y="927529"/>
            <a:ext cx="6980812" cy="95946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defRPr/>
            </a:pPr>
            <a:r>
              <a:rPr b="0" i="0" lang="en-US" sz="2800" u="none" cap="none" strike="noStrike">
                <a:solidFill>
                  <a:srgbClr val="23282D"/>
                </a:solidFill>
                <a:latin typeface="Arial"/>
                <a:ea typeface="Arial"/>
                <a:cs typeface="Arial"/>
                <a:sym typeface="Arial"/>
              </a:rPr>
              <a:t>What do you notice about the quotient when dividing two fractions?</a:t>
            </a:r>
            <a:endParaRPr b="0" i="0" sz="1400" u="none" cap="none" strike="noStrike">
              <a:solidFill>
                <a:srgbClr val="000000"/>
              </a:solidFill>
              <a:latin typeface="Arial"/>
              <a:ea typeface="Arial"/>
              <a:cs typeface="Arial"/>
              <a:sym typeface="Arial"/>
            </a:endParaRPr>
          </a:p>
        </p:txBody>
      </p:sp>
      <p:sp>
        <p:nvSpPr>
          <p:cNvPr id="822" name="Google Shape;822;p80"/>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823" name="Google Shape;823;p80"/>
          <p:cNvSpPr txBox="1"/>
          <p:nvPr/>
        </p:nvSpPr>
        <p:spPr>
          <a:xfrm>
            <a:off x="8117378" y="2306782"/>
            <a:ext cx="1518814" cy="1495025"/>
          </a:xfrm>
          <a:prstGeom prst="rect">
            <a:avLst/>
          </a:prstGeom>
          <a:blipFill rotWithShape="1">
            <a:blip r:embed="rId3">
              <a:alphaModFix/>
            </a:blip>
            <a:stretch>
              <a:fillRect b="0" l="-402"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42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6.2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How does the model justify the quotient, and which multiplication checks it?</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34" name="Google Shape;734;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35" name="Google Shape;735;p71"/>
          <p:cNvSpPr txBox="1"/>
          <p:nvPr/>
        </p:nvSpPr>
        <p:spPr>
          <a:xfrm>
            <a:off x="484565" y="936099"/>
            <a:ext cx="7686846" cy="39686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Let’s represent the problem with a division equation.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use multiplication to find the unknown?</a:t>
            </a:r>
            <a:endParaRPr b="0" i="0" sz="1400" u="none" cap="none" strike="noStrike">
              <a:solidFill>
                <a:srgbClr val="000000"/>
              </a:solidFill>
              <a:latin typeface="Arial"/>
              <a:ea typeface="Arial"/>
              <a:cs typeface="Arial"/>
              <a:sym typeface="Arial"/>
            </a:endParaRPr>
          </a:p>
        </p:txBody>
      </p:sp>
      <p:sp>
        <p:nvSpPr>
          <p:cNvPr id="736" name="Google Shape;736;p71"/>
          <p:cNvSpPr txBox="1"/>
          <p:nvPr/>
        </p:nvSpPr>
        <p:spPr>
          <a:xfrm>
            <a:off x="484565" y="4904794"/>
            <a:ext cx="9942555" cy="14693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write an equivalent multiplication expression using the reciprocal of the divisor.</a:t>
            </a:r>
            <a:endParaRPr b="0" i="1" sz="2800" u="none" cap="none" strike="noStrike">
              <a:solidFill>
                <a:srgbClr val="595959"/>
              </a:solidFill>
              <a:latin typeface="Arial"/>
              <a:ea typeface="Arial"/>
              <a:cs typeface="Arial"/>
              <a:sym typeface="Arial"/>
            </a:endParaRPr>
          </a:p>
        </p:txBody>
      </p:sp>
      <p:sp>
        <p:nvSpPr>
          <p:cNvPr id="737" name="Google Shape;737;p71"/>
          <p:cNvSpPr txBox="1"/>
          <p:nvPr/>
        </p:nvSpPr>
        <p:spPr>
          <a:xfrm>
            <a:off x="484565" y="316034"/>
            <a:ext cx="5641027" cy="6200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Making Bows</a:t>
            </a:r>
            <a:endParaRPr b="0" i="0" sz="1400" u="none" cap="none" strike="noStrike">
              <a:solidFill>
                <a:srgbClr val="000000"/>
              </a:solidFill>
              <a:latin typeface="Arial"/>
              <a:ea typeface="Arial"/>
              <a:cs typeface="Arial"/>
              <a:sym typeface="Arial"/>
            </a:endParaRPr>
          </a:p>
        </p:txBody>
      </p:sp>
      <p:pic>
        <p:nvPicPr>
          <p:cNvPr id="738" name="Google Shape;738;p71"/>
          <p:cNvPicPr preferRelativeResize="0"/>
          <p:nvPr/>
        </p:nvPicPr>
        <p:blipFill rotWithShape="1">
          <a:blip r:embed="rId2">
            <a:alphaModFix/>
          </a:blip>
          <a:srcRect b="0" l="0" r="0" t="0"/>
          <a:stretch/>
        </p:blipFill>
        <p:spPr>
          <a:xfrm>
            <a:off x="1240935" y="1775777"/>
            <a:ext cx="5693334" cy="2160000"/>
          </a:xfrm>
          <a:prstGeom prst="rect">
            <a:avLst/>
          </a:prstGeom>
          <a:noFill/>
          <a:ln>
            <a:noFill/>
          </a:ln>
        </p:spPr>
      </p:pic>
      <p:sp>
        <p:nvSpPr>
          <p:cNvPr id="271" name="Google Shape;271;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23 / 35</a:t>
            </a:r>
            <a:endParaRPr/>
          </a:p>
        </p:txBody>
      </p:sp>
      <p:grpSp>
        <p:nvGrpSpPr>
          <p:cNvPr id="739" name="TEACH-5-student-move" descr="TEACH 5 · Facilitate student interactions and academic talk"/>
          <p:cNvGrpSpPr/>
          <p:nvPr/>
        </p:nvGrpSpPr>
        <p:grpSpPr>
          <a:xfrm>
            <a:off x="4753661" y="4508500"/>
            <a:ext cx="6935419" cy="681375"/>
            <a:chOff x="502920" y="4465882"/>
            <a:chExt cx="11186160" cy="402336"/>
          </a:xfrm>
        </p:grpSpPr>
        <p:sp>
          <p:nvSpPr>
            <p:cNvPr id="740" name="TEACH-move-card"/>
            <p:cNvSpPr/>
            <p:nvPr/>
          </p:nvSpPr>
          <p:spPr>
            <a:xfrm>
              <a:off x="502920" y="446588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41" name="TEACH-move-rule"/>
            <p:cNvSpPr/>
            <p:nvPr/>
          </p:nvSpPr>
          <p:spPr>
            <a:xfrm>
              <a:off x="548640" y="4542326"/>
              <a:ext cx="100584" cy="249448"/>
            </a:xfrm>
            <a:prstGeom prst="roundRect">
              <a:avLst>
                <a:gd name="adj" fmla="val 50000"/>
              </a:avLst>
            </a:prstGeom>
            <a:solidFill>
              <a:srgbClr val="01708C"/>
            </a:solidFill>
            <a:ln>
              <a:noFill/>
            </a:ln>
          </p:spPr>
          <p:txBody>
            <a:bodyPr/>
            <a:lstStyle/>
            <a:p>
              <a:endParaRPr/>
            </a:p>
          </p:txBody>
        </p:sp>
        <p:sp>
          <p:nvSpPr>
            <p:cNvPr id="742" name="TEACH-move-text"/>
            <p:cNvSpPr txBox="1"/>
            <p:nvPr/>
          </p:nvSpPr>
          <p:spPr>
            <a:xfrm>
              <a:off x="822960" y="446588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950" u="none" cap="none" strike="noStrike">
                <a:solidFill>
                  <a:srgbClr val="FFFFFF"/>
                </a:solidFill>
                <a:latin typeface="Arial"/>
                <a:ea typeface="Arial"/>
                <a:cs typeface="Arial"/>
                <a:sym typeface="Arial"/>
              </a:rPr>
              <a:t>Lesson 6-2 · Division Expressions with Fractions and Mixed Numbers</a:t>
            </a:r>
            <a:endParaRPr sz="950"/>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Try alone. Explain one. Then revise.</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What is the first step when dividing mixed numbers?</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Add whole parts</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Convert mixed numbers to improper fractions</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Cross multiply</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Divide numerators</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1 ½ written as an improper fraction?</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100" u="none" cap="none" strike="noStrike">
                <a:solidFill>
                  <a:srgbClr val="14223A"/>
                </a:solidFill>
                <a:latin typeface="Arial"/>
                <a:ea typeface="Arial"/>
                <a:cs typeface="Arial"/>
                <a:sym typeface="Arial"/>
              </a:rPr>
              <a:t>24 / 35</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100" u="none" cap="none" strike="noStrike">
                <a:solidFill>
                  <a:srgbClr val="14223A"/>
                </a:solidFill>
                <a:latin typeface="Arial"/>
                <a:ea typeface="Arial"/>
                <a:cs typeface="Arial"/>
                <a:sym typeface="Arial"/>
              </a:rPr>
              <a:t>24 / 35</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100" u="none" cap="none" strike="noStrike">
                <a:solidFill>
                  <a:srgbClr val="14223A"/>
                </a:solidFill>
                <a:latin typeface="Arial"/>
                <a:ea typeface="Arial"/>
                <a:cs typeface="Arial"/>
                <a:sym typeface="Arial"/>
              </a:rPr>
              <a:t>24 / 35</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100" u="none" cap="none" strike="noStrike">
                <a:solidFill>
                  <a:srgbClr val="14223A"/>
                </a:solidFill>
                <a:latin typeface="Arial"/>
                <a:ea typeface="Arial"/>
                <a:cs typeface="Arial"/>
                <a:sym typeface="Arial"/>
              </a:rPr>
              <a:t>24 / 35</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3/4 ÷ 1/2?</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100" u="none" cap="none" strike="noStrike">
                <a:solidFill>
                  <a:srgbClr val="14223A"/>
                </a:solidFill>
                <a:latin typeface="Arial"/>
                <a:ea typeface="Arial"/>
                <a:cs typeface="Arial"/>
                <a:sym typeface="Arial"/>
              </a:rPr>
              <a:t>24 / 35</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6/4 or 1 ½</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100" u="none" cap="none" strike="noStrike">
                <a:solidFill>
                  <a:srgbClr val="14223A"/>
                </a:solidFill>
                <a:latin typeface="Arial"/>
                <a:ea typeface="Arial"/>
                <a:cs typeface="Arial"/>
                <a:sym typeface="Arial"/>
              </a:rPr>
              <a:t>24 / 35</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100" u="none" cap="none" strike="noStrike">
                <a:solidFill>
                  <a:srgbClr val="14223A"/>
                </a:solidFill>
                <a:latin typeface="Arial"/>
                <a:ea typeface="Arial"/>
                <a:cs typeface="Arial"/>
                <a:sym typeface="Arial"/>
              </a:rPr>
              <a:t>24 / 35</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When dividing fractions a/b ÷ c/d, calculate:</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 c) / (b × d)</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 d) / (b × c)</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 d) / (b + c)</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 c) / (b − d)</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42</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 — Session 2</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950" u="none" cap="none" strike="noStrike">
                <a:solidFill>
                  <a:srgbClr val="FFFFFF"/>
                </a:solidFill>
                <a:latin typeface="Arial"/>
                <a:ea typeface="Arial"/>
                <a:cs typeface="Arial"/>
                <a:sym typeface="Arial"/>
              </a:rPr>
              <a:t>Lesson 6-2 · Division Expressions with Fractions and Mixed Numbers</a:t>
            </a:r>
            <a:endParaRPr sz="950"/>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Session 2: Review Notes</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Improper Fraction Conversion</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Always convert </a:t>
            </a:r>
            <a:r>
              <a:rPr b="1" i="0" lang="en-US" sz="1450" u="none" cap="none" strike="noStrike">
                <a:solidFill>
                  <a:srgbClr val="475569"/>
                </a:solidFill>
                <a:latin typeface="Arial"/>
                <a:ea typeface="Arial"/>
                <a:cs typeface="Arial"/>
                <a:sym typeface="Arial"/>
              </a:rPr>
              <a:t xml:space="preserve">mixed numbers</a:t>
            </a:r>
            <a:r>
              <a:rPr b="0" i="0" lang="en-US" sz="1450" u="none" cap="none" strike="noStrike">
                <a:solidFill>
                  <a:srgbClr val="475569"/>
                </a:solidFill>
                <a:latin typeface="Arial"/>
                <a:ea typeface="Arial"/>
                <a:cs typeface="Arial"/>
                <a:sym typeface="Arial"/>
              </a:rPr>
              <a:t xml:space="preserve"> to </a:t>
            </a:r>
            <a:r>
              <a:rPr b="1" i="0" lang="en-US" sz="1450" u="none" cap="none" strike="noStrike">
                <a:solidFill>
                  <a:srgbClr val="475569"/>
                </a:solidFill>
                <a:latin typeface="Arial"/>
                <a:ea typeface="Arial"/>
                <a:cs typeface="Arial"/>
                <a:sym typeface="Arial"/>
              </a:rPr>
              <a:t xml:space="preserve">improper fractions</a:t>
            </a:r>
            <a:r>
              <a:rPr b="0" i="0" lang="en-US" sz="1450" u="none" cap="none" strike="noStrike">
                <a:solidFill>
                  <a:srgbClr val="475569"/>
                </a:solidFill>
                <a:latin typeface="Arial"/>
                <a:ea typeface="Arial"/>
                <a:cs typeface="Arial"/>
                <a:sym typeface="Arial"/>
              </a:rPr>
              <a:t xml:space="preserve"> before applying multiplication rules.</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Invert and Multiply</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Keep the first </a:t>
            </a:r>
            <a:r>
              <a:rPr b="1" i="0" lang="en-US" sz="1450" u="none" cap="none" strike="noStrike">
                <a:solidFill>
                  <a:srgbClr val="475569"/>
                </a:solidFill>
                <a:latin typeface="Arial"/>
                <a:ea typeface="Arial"/>
                <a:cs typeface="Arial"/>
                <a:sym typeface="Arial"/>
              </a:rPr>
              <a:t xml:space="preserve">fraction</a:t>
            </a:r>
            <a:r>
              <a:rPr b="0" i="0" lang="en-US" sz="1450" u="none" cap="none" strike="noStrike">
                <a:solidFill>
                  <a:srgbClr val="475569"/>
                </a:solidFill>
                <a:latin typeface="Arial"/>
                <a:ea typeface="Arial"/>
                <a:cs typeface="Arial"/>
                <a:sym typeface="Arial"/>
              </a:rPr>
              <a:t xml:space="preserve">, change division to multiplication, and flip the second fraction.</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Simplification</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Simplify</a:t>
            </a:r>
            <a:r>
              <a:rPr b="0" i="0" lang="en-US" sz="1450" u="none" cap="none" strike="noStrike">
                <a:solidFill>
                  <a:srgbClr val="475569"/>
                </a:solidFill>
                <a:latin typeface="Arial"/>
                <a:ea typeface="Arial"/>
                <a:cs typeface="Arial"/>
                <a:sym typeface="Arial"/>
              </a:rPr>
              <a:t xml:space="preserve"> common factors between </a:t>
            </a:r>
            <a:r>
              <a:rPr b="1" i="0" lang="en-US" sz="1450" u="none" cap="none" strike="noStrike">
                <a:solidFill>
                  <a:srgbClr val="475569"/>
                </a:solidFill>
                <a:latin typeface="Arial"/>
                <a:ea typeface="Arial"/>
                <a:cs typeface="Arial"/>
                <a:sym typeface="Arial"/>
              </a:rPr>
              <a:t xml:space="preserve">numerators</a:t>
            </a:r>
            <a:r>
              <a:rPr b="0" i="0" lang="en-US" sz="1450" u="none" cap="none" strike="noStrike">
                <a:solidFill>
                  <a:srgbClr val="475569"/>
                </a:solidFill>
                <a:latin typeface="Arial"/>
                <a:ea typeface="Arial"/>
                <a:cs typeface="Arial"/>
                <a:sym typeface="Arial"/>
              </a:rPr>
              <a:t xml:space="preserve"> and denominators before multiplying.</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42</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81"/>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Division Expressions with Fractions 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Mixed Numbers</a:t>
            </a:r>
            <a:endParaRPr b="0" i="0" sz="1400" u="none" cap="none" strike="noStrike">
              <a:solidFill>
                <a:srgbClr val="000000"/>
              </a:solidFill>
              <a:latin typeface="Arial"/>
              <a:ea typeface="Arial"/>
              <a:cs typeface="Arial"/>
              <a:sym typeface="Arial"/>
            </a:endParaRPr>
          </a:p>
        </p:txBody>
      </p:sp>
      <p:sp>
        <p:nvSpPr>
          <p:cNvPr id="829" name="Google Shape;829;p81"/>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830" name="Google Shape;830;p81"/>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8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42</a:t>
            </a:r>
          </a:p>
        </p:txBody>
      </p:sp>
      <p:grpSp>
        <p:nvGrpSpPr>
          <p:cNvPr id="832" name="TEACH-4-student-move" descr="TEACH 4 · Monitor progress and provide feedback"/>
          <p:cNvGrpSpPr/>
          <p:nvPr/>
        </p:nvGrpSpPr>
        <p:grpSpPr>
          <a:xfrm>
            <a:off x="502920" y="4533295"/>
            <a:ext cx="11186160" cy="731520"/>
            <a:chOff x="502920" y="4533295"/>
            <a:chExt cx="11186160" cy="731520"/>
          </a:xfrm>
        </p:grpSpPr>
        <p:sp>
          <p:nvSpPr>
            <p:cNvPr id="833" name="TEACH-move-card"/>
            <p:cNvSpPr/>
            <p:nvPr/>
          </p:nvSpPr>
          <p:spPr>
            <a:xfrm>
              <a:off x="502920" y="4533295"/>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34" name="TEACH-move-rule"/>
            <p:cNvSpPr/>
            <p:nvPr/>
          </p:nvSpPr>
          <p:spPr>
            <a:xfrm>
              <a:off x="548640" y="4672284"/>
              <a:ext cx="100584" cy="453542"/>
            </a:xfrm>
            <a:prstGeom prst="roundRect">
              <a:avLst>
                <a:gd name="adj" fmla="val 50000"/>
              </a:avLst>
            </a:prstGeom>
            <a:solidFill>
              <a:srgbClr val="01708C"/>
            </a:solidFill>
            <a:ln>
              <a:noFill/>
            </a:ln>
          </p:spPr>
          <p:txBody>
            <a:bodyPr/>
            <a:lstStyle/>
            <a:p>
              <a:endParaRPr/>
            </a:p>
          </p:txBody>
        </p:sp>
        <p:sp>
          <p:nvSpPr>
            <p:cNvPr id="835" name="TEACH-move-text"/>
            <p:cNvSpPr txBox="1"/>
            <p:nvPr/>
          </p:nvSpPr>
          <p:spPr>
            <a:xfrm>
              <a:off x="822960" y="4533295"/>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SELF-CHECK  ·  </a:t>
              </a:r>
              <a:r>
                <a:rPr lang="en-US" sz="1800" dirty="0">
                  <a:solidFill>
                    <a:srgbClr val="13303A"/>
                  </a:solidFill>
                  <a:latin typeface="Arial"/>
                </a:rPr>
                <a:t>Mark it: ✓ got it  ·  ~ almost  ·  ? stuck. Then fix one thing before we move on.</a:t>
              </a:r>
              <a:endParaRPr lang="en-US" sz="1800"/>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cxnSp>
        <p:nvCxnSpPr>
          <p:cNvPr id="856" name="Google Shape;856;p8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7" name="Google Shape;857;p84"/>
          <p:cNvSpPr txBox="1"/>
          <p:nvPr/>
        </p:nvSpPr>
        <p:spPr>
          <a:xfrm>
            <a:off x="484632" y="932688"/>
            <a:ext cx="7077456" cy="3702000"/>
          </a:xfrm>
          <a:prstGeom prst="rect">
            <a:avLst/>
          </a:prstGeom>
          <a:blipFill rotWithShape="1">
            <a:blip r:embed="rId3">
              <a:alphaModFix/>
            </a:blip>
            <a:stretch>
              <a:fillRect/>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58" name="Google Shape;858;p84"/>
          <p:cNvSpPr txBox="1"/>
          <p:nvPr/>
        </p:nvSpPr>
        <p:spPr>
          <a:xfrm>
            <a:off x="484565" y="316034"/>
            <a:ext cx="5974424"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Farmers’ Market</a:t>
            </a:r>
            <a:endParaRPr b="0" i="0" sz="1400" u="none" cap="none" strike="noStrike">
              <a:solidFill>
                <a:srgbClr val="000000"/>
              </a:solidFill>
              <a:latin typeface="Arial"/>
              <a:ea typeface="Arial"/>
              <a:cs typeface="Arial"/>
              <a:sym typeface="Arial"/>
            </a:endParaRPr>
          </a:p>
        </p:txBody>
      </p:sp>
      <p:sp>
        <p:nvSpPr>
          <p:cNvPr id="85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42</a:t>
            </a:r>
          </a:p>
        </p:txBody>
      </p:sp>
      <p:sp xmlns:p="http://schemas.openxmlformats.org/presentationml/2006/main" xmlns:a="http://schemas.openxmlformats.org/drawingml/2006/main">
        <p:nvSpPr>
          <p:cNvPr id="860"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cxnSp>
        <p:nvCxnSpPr>
          <p:cNvPr id="887" name="Google Shape;887;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8" name="Google Shape;888;p88"/>
          <p:cNvSpPr txBox="1"/>
          <p:nvPr/>
        </p:nvSpPr>
        <p:spPr>
          <a:xfrm>
            <a:off x="484565" y="936100"/>
            <a:ext cx="7055079" cy="2663311"/>
          </a:xfrm>
          <a:prstGeom prst="rect">
            <a:avLst/>
          </a:prstGeom>
          <a:blipFill rotWithShape="1">
            <a:blip r:embed="rId3">
              <a:alphaModFix/>
            </a:blip>
            <a:stretch>
              <a:fillRect b="0" l="-1727"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89" name="Google Shape;889;p88"/>
          <p:cNvSpPr txBox="1"/>
          <p:nvPr/>
        </p:nvSpPr>
        <p:spPr>
          <a:xfrm>
            <a:off x="484565" y="5182293"/>
            <a:ext cx="10291690" cy="108092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One tool is a tape diagram.</a:t>
            </a:r>
            <a:endParaRPr b="0" i="1" sz="2800" u="none" cap="none" strike="noStrike">
              <a:solidFill>
                <a:srgbClr val="595959"/>
              </a:solidFill>
              <a:latin typeface="Arial"/>
              <a:ea typeface="Arial"/>
              <a:cs typeface="Arial"/>
              <a:sym typeface="Arial"/>
            </a:endParaRPr>
          </a:p>
        </p:txBody>
      </p:sp>
      <p:sp>
        <p:nvSpPr>
          <p:cNvPr id="890" name="Google Shape;890;p88"/>
          <p:cNvSpPr txBox="1"/>
          <p:nvPr/>
        </p:nvSpPr>
        <p:spPr>
          <a:xfrm>
            <a:off x="484565" y="316034"/>
            <a:ext cx="5974424"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Farmers’ Market</a:t>
            </a:r>
            <a:endParaRPr b="0" i="0" sz="1400" u="none" cap="none" strike="noStrike">
              <a:solidFill>
                <a:srgbClr val="000000"/>
              </a:solidFill>
              <a:latin typeface="Arial"/>
              <a:ea typeface="Arial"/>
              <a:cs typeface="Arial"/>
              <a:sym typeface="Arial"/>
            </a:endParaRPr>
          </a:p>
        </p:txBody>
      </p:sp>
      <p:sp>
        <p:nvSpPr>
          <p:cNvPr id="89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42</a:t>
            </a:r>
          </a:p>
        </p:txBody>
      </p:sp>
      <p:sp>
        <p:nvSpPr>
          <p:cNvPr id="892" name="EWL-COVER-1"/>
          <p:cNvSpPr/>
          <p:nvPr/>
        </p:nvSpPr>
        <p:spPr>
          <a:xfrm>
            <a:off x="429701" y="5127429"/>
            <a:ext cx="10401418" cy="1190650"/>
          </a:xfrm>
          <a:prstGeom prst="rect">
            <a:avLst/>
          </a:prstGeom>
          <a:solidFill>
            <a:srgbClr val="FFFFFF"/>
          </a:solidFill>
          <a:ln>
            <a:noFill/>
          </a:ln>
        </p:spPr>
        <p:txBody>
          <a:bodyPr/>
          <a:lstStyle/>
          <a:p/>
        </p:txBody>
      </p:sp>
      <p:sp xmlns:p="http://schemas.openxmlformats.org/presentationml/2006/main" xmlns:a="http://schemas.openxmlformats.org/drawingml/2006/main">
        <p:nvSpPr>
          <p:cNvPr id="893" name="TEACH-embedded-student-prompt" descr="Student thinking and response directions"/>
          <p:cNvSpPr txBox="1"/>
          <p:nvPr/>
        </p:nvSpPr>
        <p:spPr>
          <a:xfrm>
            <a:off x="594360" y="4535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9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cxnSp>
        <p:nvCxnSpPr>
          <p:cNvPr id="986" name="Google Shape;986;p9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87" name="Google Shape;987;p99"/>
          <p:cNvSpPr txBox="1"/>
          <p:nvPr/>
        </p:nvSpPr>
        <p:spPr>
          <a:xfrm>
            <a:off x="484565" y="936099"/>
            <a:ext cx="8202235" cy="2729814"/>
          </a:xfrm>
          <a:prstGeom prst="rect">
            <a:avLst/>
          </a:prstGeom>
          <a:blipFill rotWithShape="1">
            <a:blip r:embed="rId3">
              <a:alphaModFix/>
            </a:blip>
            <a:stretch>
              <a:fillRect b="0" l="-1486" r="0" t="-246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88" name="Google Shape;988;p99"/>
          <p:cNvSpPr txBox="1"/>
          <p:nvPr/>
        </p:nvSpPr>
        <p:spPr>
          <a:xfrm>
            <a:off x="531482" y="3825442"/>
            <a:ext cx="7840994" cy="105451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Do you need to find common denominators when dividing fractions? </a:t>
            </a:r>
            <a:endParaRPr b="0" i="0" sz="2800" u="none" cap="none" strike="noStrike">
              <a:solidFill>
                <a:srgbClr val="595959"/>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pPr>
            <a:r>
              <a:t/>
            </a:r>
            <a:endParaRPr b="1" i="0" sz="2800" u="none" cap="none" strike="noStrike">
              <a:solidFill>
                <a:schemeClr val="lt1"/>
              </a:solidFill>
              <a:highlight>
                <a:srgbClr val="1E2682"/>
              </a:highlight>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pPr>
            <a:r>
              <a:t/>
            </a:r>
            <a:endParaRPr b="0" i="0" sz="2800" u="none" cap="none" strike="noStrike">
              <a:solidFill>
                <a:srgbClr val="595959"/>
              </a:solidFill>
              <a:latin typeface="Arial"/>
              <a:ea typeface="Arial"/>
              <a:cs typeface="Arial"/>
              <a:sym typeface="Arial"/>
            </a:endParaRPr>
          </a:p>
        </p:txBody>
      </p:sp>
      <p:sp>
        <p:nvSpPr>
          <p:cNvPr id="989" name="Google Shape;989;p99"/>
          <p:cNvSpPr txBox="1"/>
          <p:nvPr/>
        </p:nvSpPr>
        <p:spPr>
          <a:xfrm>
            <a:off x="484565" y="316034"/>
            <a:ext cx="5974424"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Farmers’ Market</a:t>
            </a:r>
            <a:endParaRPr b="0" i="0" sz="1400" u="none" cap="none" strike="noStrike">
              <a:solidFill>
                <a:srgbClr val="000000"/>
              </a:solidFill>
              <a:latin typeface="Arial"/>
              <a:ea typeface="Arial"/>
              <a:cs typeface="Arial"/>
              <a:sym typeface="Arial"/>
            </a:endParaRPr>
          </a:p>
        </p:txBody>
      </p:sp>
      <p:sp>
        <p:nvSpPr>
          <p:cNvPr id="99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42</a:t>
            </a:r>
          </a:p>
        </p:txBody>
      </p:sp>
      <p:sp xmlns:p="http://schemas.openxmlformats.org/presentationml/2006/main" xmlns:a="http://schemas.openxmlformats.org/drawingml/2006/main">
        <p:nvSpPr>
          <p:cNvPr id="991"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cxnSp>
        <p:nvCxnSpPr>
          <p:cNvPr id="1002" name="Google Shape;1002;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03" name="Google Shape;1003;p101"/>
          <p:cNvSpPr txBox="1"/>
          <p:nvPr/>
        </p:nvSpPr>
        <p:spPr>
          <a:xfrm>
            <a:off x="484565" y="936099"/>
            <a:ext cx="8202235" cy="2729814"/>
          </a:xfrm>
          <a:prstGeom prst="rect">
            <a:avLst/>
          </a:prstGeom>
          <a:blipFill rotWithShape="1">
            <a:blip r:embed="rId3">
              <a:alphaModFix/>
            </a:blip>
            <a:stretch>
              <a:fillRect b="-1566" l="-1486" r="0" t="-246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04" name="Google Shape;1004;p101"/>
          <p:cNvSpPr txBox="1"/>
          <p:nvPr/>
        </p:nvSpPr>
        <p:spPr>
          <a:xfrm>
            <a:off x="531481" y="4415786"/>
            <a:ext cx="10291690" cy="143273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write an equivalent multiplication equation using the reciprocal of the divisor.</a:t>
            </a:r>
            <a:endParaRPr b="0" i="1" sz="2800" u="none" cap="none" strike="noStrike">
              <a:solidFill>
                <a:srgbClr val="595959"/>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0" i="1" sz="2800" u="none" cap="none" strike="noStrike">
              <a:solidFill>
                <a:srgbClr val="595959"/>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0" i="1" sz="2800" u="none" cap="none" strike="noStrike">
              <a:solidFill>
                <a:srgbClr val="595959"/>
              </a:solidFill>
              <a:latin typeface="Arial"/>
              <a:ea typeface="Arial"/>
              <a:cs typeface="Arial"/>
              <a:sym typeface="Arial"/>
            </a:endParaRPr>
          </a:p>
        </p:txBody>
      </p:sp>
      <p:sp>
        <p:nvSpPr>
          <p:cNvPr id="1005" name="Google Shape;1005;p101"/>
          <p:cNvSpPr txBox="1"/>
          <p:nvPr/>
        </p:nvSpPr>
        <p:spPr>
          <a:xfrm>
            <a:off x="484565" y="316034"/>
            <a:ext cx="5974424"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Farmers’ Market</a:t>
            </a:r>
            <a:endParaRPr b="0" i="0" sz="1400" u="none" cap="none" strike="noStrike">
              <a:solidFill>
                <a:srgbClr val="000000"/>
              </a:solidFill>
              <a:latin typeface="Arial"/>
              <a:ea typeface="Arial"/>
              <a:cs typeface="Arial"/>
              <a:sym typeface="Arial"/>
            </a:endParaRPr>
          </a:p>
        </p:txBody>
      </p:sp>
      <p:sp>
        <p:nvSpPr>
          <p:cNvPr id="100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42</a:t>
            </a:r>
          </a:p>
        </p:txBody>
      </p:sp>
      <p:sp>
        <p:nvSpPr>
          <p:cNvPr id="1007" name="EWL-COVER-1"/>
          <p:cNvSpPr/>
          <p:nvPr/>
        </p:nvSpPr>
        <p:spPr>
          <a:xfrm>
            <a:off x="476616" y="4360922"/>
            <a:ext cx="10401418" cy="2002515"/>
          </a:xfrm>
          <a:prstGeom prst="rect">
            <a:avLst/>
          </a:prstGeom>
          <a:solidFill>
            <a:srgbClr val="FFFFFF"/>
          </a:solidFill>
          <a:ln>
            <a:noFill/>
          </a:ln>
        </p:spPr>
        <p:txBody>
          <a:bodyPr/>
          <a:lstStyle/>
          <a:p/>
        </p:txBody>
      </p:sp>
      <p:grpSp>
        <p:nvGrpSpPr>
          <p:cNvPr id="1008" name="TEACH-2-student-move" descr="TEACH 2 · Use strategies and tasks to engage students in rigorous work"/>
          <p:cNvGrpSpPr/>
          <p:nvPr/>
        </p:nvGrpSpPr>
        <p:grpSpPr>
          <a:xfrm>
            <a:off x="502920" y="5885095"/>
            <a:ext cx="11186160" cy="402336"/>
            <a:chOff x="502920" y="5885095"/>
            <a:chExt cx="11186160" cy="402336"/>
          </a:xfrm>
        </p:grpSpPr>
        <p:sp>
          <p:nvSpPr>
            <p:cNvPr id="1009" name="TEACH-move-card"/>
            <p:cNvSpPr/>
            <p:nvPr/>
          </p:nvSpPr>
          <p:spPr>
            <a:xfrm>
              <a:off x="502920" y="5885095"/>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010" name="TEACH-move-rule"/>
            <p:cNvSpPr/>
            <p:nvPr/>
          </p:nvSpPr>
          <p:spPr>
            <a:xfrm>
              <a:off x="548640" y="5961539"/>
              <a:ext cx="100584" cy="249448"/>
            </a:xfrm>
            <a:prstGeom prst="roundRect">
              <a:avLst>
                <a:gd name="adj" fmla="val 50000"/>
              </a:avLst>
            </a:prstGeom>
            <a:solidFill>
              <a:srgbClr val="01708C"/>
            </a:solidFill>
            <a:ln>
              <a:noFill/>
            </a:ln>
          </p:spPr>
          <p:txBody>
            <a:bodyPr/>
            <a:lstStyle/>
            <a:p>
              <a:endParaRPr/>
            </a:p>
          </p:txBody>
        </p:sp>
        <p:sp>
          <p:nvSpPr>
            <p:cNvPr id="1011" name="TEACH-move-text"/>
            <p:cNvSpPr txBox="1"/>
            <p:nvPr/>
          </p:nvSpPr>
          <p:spPr>
            <a:xfrm>
              <a:off x="822960" y="5885095"/>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PICK YOUR STRATEGY  ·  </a:t>
              </a:r>
              <a:r>
                <a:rPr lang="en-US" sz="1200" dirty="0">
                  <a:solidFill>
                    <a:srgbClr val="13303A"/>
                  </a:solidFill>
                  <a:latin typeface="Arial"/>
                </a:rPr>
                <a:t>Choose your path — picture, table, number line, or equation — and be ready to say why you chose it.</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10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062" name="Google Shape;1062;p108"/>
          <p:cNvSpPr txBox="1"/>
          <p:nvPr/>
        </p:nvSpPr>
        <p:spPr>
          <a:xfrm>
            <a:off x="495445" y="1256109"/>
            <a:ext cx="8334230" cy="5161316"/>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Arial"/>
              <a:buAutoNum type="alphaLcPeriod"/>
              <a:defRPr/>
            </a:pPr>
            <a:r>
              <a:rPr b="0" i="0" lang="en-US" sz="2800" u="none" cap="none" strike="noStrike">
                <a:solidFill>
                  <a:srgbClr val="23282D"/>
                </a:solidFill>
                <a:latin typeface="Arial"/>
                <a:ea typeface="Arial"/>
                <a:cs typeface="Arial"/>
                <a:sym typeface="Arial"/>
              </a:rPr>
              <a:t>When dividing two mixed numbers, why can it be useful to convert the mixed numbers to fractions?</a:t>
            </a:r>
            <a:endParaRPr b="0" i="0" sz="1400" u="none" cap="none" strike="noStrike">
              <a:solidFill>
                <a:srgbClr val="000000"/>
              </a:solidFill>
              <a:latin typeface="Arial"/>
              <a:ea typeface="Arial"/>
              <a:cs typeface="Arial"/>
              <a:sym typeface="Arial"/>
            </a:endParaRPr>
          </a:p>
          <a:p>
            <a:pPr indent="-336550" lvl="0" marL="51435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336550" lvl="0" marL="51435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514350" lvl="0" marL="514350" marR="0" rtl="0" algn="l">
              <a:lnSpc>
                <a:spcPct val="100000"/>
              </a:lnSpc>
              <a:spcBef>
                <a:spcPts val="1800"/>
              </a:spcBef>
              <a:spcAft>
                <a:spcPts val="0"/>
              </a:spcAft>
              <a:buClr>
                <a:srgbClr val="262626"/>
              </a:buClr>
              <a:buSzPts val="2800"/>
              <a:buFont typeface="Arial"/>
              <a:buAutoNum type="alphaLcPeriod"/>
              <a:defRPr/>
            </a:pPr>
            <a:r>
              <a:rPr b="0" i="0" lang="en-US" sz="2800" u="none" cap="none" strike="noStrike">
                <a:solidFill>
                  <a:srgbClr val="23282D"/>
                </a:solidFill>
                <a:latin typeface="Arial"/>
                <a:ea typeface="Arial"/>
                <a:cs typeface="Arial"/>
                <a:sym typeface="Arial"/>
              </a:rPr>
              <a:t>Why can it also be useful to convert a whole number to a fraction when dividing whole numbers and fractions?</a:t>
            </a:r>
            <a:endParaRPr b="0" i="0" sz="1400" u="none" cap="none" strike="noStrike">
              <a:solidFill>
                <a:srgbClr val="000000"/>
              </a:solidFill>
              <a:latin typeface="Arial"/>
              <a:ea typeface="Arial"/>
              <a:cs typeface="Arial"/>
              <a:sym typeface="Arial"/>
            </a:endParaRPr>
          </a:p>
        </p:txBody>
      </p:sp>
      <p:sp>
        <p:nvSpPr>
          <p:cNvPr id="106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42</a:t>
            </a:r>
          </a:p>
        </p:txBody>
      </p:sp>
      <p:grpSp>
        <p:nvGrpSpPr>
          <p:cNvPr id="1064" name="TEACH-2-student-move" descr="TEACH 2 · Use strategies and tasks to engage students in rigorous work"/>
          <p:cNvGrpSpPr/>
          <p:nvPr/>
        </p:nvGrpSpPr>
        <p:grpSpPr>
          <a:xfrm>
            <a:off x="502920" y="5440809"/>
            <a:ext cx="11186160" cy="731520"/>
            <a:chOff x="502920" y="5110609"/>
            <a:chExt cx="11186160" cy="731520"/>
          </a:xfrm>
        </p:grpSpPr>
        <p:sp>
          <p:nvSpPr>
            <p:cNvPr id="1065" name="TEACH-move-card"/>
            <p:cNvSpPr/>
            <p:nvPr/>
          </p:nvSpPr>
          <p:spPr>
            <a:xfrm>
              <a:off x="502920" y="511060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1066" name="TEACH-move-rule"/>
            <p:cNvSpPr/>
            <p:nvPr/>
          </p:nvSpPr>
          <p:spPr>
            <a:xfrm>
              <a:off x="548640" y="5249598"/>
              <a:ext cx="100584" cy="453542"/>
            </a:xfrm>
            <a:prstGeom prst="roundRect">
              <a:avLst>
                <a:gd name="adj" fmla="val 50000"/>
              </a:avLst>
            </a:prstGeom>
            <a:solidFill>
              <a:srgbClr val="01708C"/>
            </a:solidFill>
            <a:ln>
              <a:noFill/>
            </a:ln>
          </p:spPr>
          <p:txBody>
            <a:bodyPr/>
            <a:lstStyle/>
            <a:p>
              <a:endParaRPr/>
            </a:p>
          </p:txBody>
        </p:sp>
        <p:sp>
          <p:nvSpPr>
            <p:cNvPr id="1067" name="TEACH-move-text"/>
            <p:cNvSpPr txBox="1"/>
            <p:nvPr/>
          </p:nvSpPr>
          <p:spPr>
            <a:xfrm>
              <a:off x="822960" y="511060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STRUGGLE FIRST  ·  </a:t>
              </a:r>
              <a:r>
                <a:rPr lang="en-US" sz="1800" dirty="0">
                  <a:solidFill>
                    <a:srgbClr val="13303A"/>
                  </a:solidFill>
                  <a:latin typeface="Arial"/>
                </a:rPr>
                <a:t>Work on your own first. Stuck is allowed — try a second strategy before you ask.</a:t>
              </a:r>
              <a:endParaRPr lang="en-US" sz="1800"/>
            </a:p>
          </p:txBody>
        </p:sp>
      </p:gr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6.2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inverting the dividend or failing to convert a mixed number.</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Mark equal-size fractional units in the given quantities before writing the equivalent division.</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cxnSp>
        <p:nvCxnSpPr>
          <p:cNvPr id="1067" name="Google Shape;1067;p10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68" name="Google Shape;1068;p109"/>
          <p:cNvSpPr txBox="1"/>
          <p:nvPr/>
        </p:nvSpPr>
        <p:spPr>
          <a:xfrm>
            <a:off x="484565" y="316033"/>
            <a:ext cx="5600351" cy="91425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Divide Fractions and Mixed Numbers</a:t>
            </a:r>
            <a:endParaRPr b="0" i="0" sz="1400" u="none" cap="none" strike="noStrike">
              <a:solidFill>
                <a:srgbClr val="000000"/>
              </a:solidFill>
              <a:latin typeface="Arial"/>
              <a:ea typeface="Arial"/>
              <a:cs typeface="Arial"/>
              <a:sym typeface="Arial"/>
            </a:endParaRPr>
          </a:p>
        </p:txBody>
      </p:sp>
      <p:sp>
        <p:nvSpPr>
          <p:cNvPr id="1069" name="Google Shape;1069;p109"/>
          <p:cNvSpPr/>
          <p:nvPr/>
        </p:nvSpPr>
        <p:spPr>
          <a:xfrm>
            <a:off x="484566" y="1612669"/>
            <a:ext cx="10102472" cy="1997213"/>
          </a:xfrm>
          <a:prstGeom prst="rect">
            <a:avLst/>
          </a:prstGeom>
          <a:blipFill rotWithShape="1">
            <a:blip r:embed="rId3">
              <a:alphaModFix/>
            </a:blip>
            <a:stretch>
              <a:fillRect b="-2752" l="-1206" r="0" t="-336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1070" name="Google Shape;1070;p109"/>
          <p:cNvPicPr preferRelativeResize="0"/>
          <p:nvPr/>
        </p:nvPicPr>
        <p:blipFill rotWithShape="1">
          <a:blip r:embed="rId4">
            <a:alphaModFix/>
          </a:blip>
          <a:srcRect b="0" l="0" r="0" t="0"/>
          <a:stretch/>
        </p:blipFill>
        <p:spPr>
          <a:xfrm>
            <a:off x="5424794" y="3697262"/>
            <a:ext cx="5383915" cy="1768999"/>
          </a:xfrm>
          <a:prstGeom prst="rect">
            <a:avLst/>
          </a:prstGeom>
          <a:noFill/>
          <a:ln>
            <a:noFill/>
          </a:ln>
        </p:spPr>
      </p:pic>
      <p:sp>
        <p:nvSpPr>
          <p:cNvPr id="1071" name="Google Shape;1071;p109"/>
          <p:cNvSpPr txBox="1"/>
          <p:nvPr/>
        </p:nvSpPr>
        <p:spPr>
          <a:xfrm>
            <a:off x="1383291" y="3697262"/>
            <a:ext cx="6586536" cy="2232919"/>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7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42</a:t>
            </a:r>
          </a:p>
        </p:txBody>
      </p:sp>
      <p:sp>
        <p:nvSpPr>
          <p:cNvPr id="107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  SAY IT IN YOUR OWN WORDS</a:t>
            </a:r>
          </a:p>
        </p:txBody>
      </p:sp>
      <p:grpSp>
        <p:nvGrpSpPr>
          <p:cNvPr id="1074" name="TEACH-3-student-move" descr="TEACH 3 · Use intentional questioning to deepen learning"/>
          <p:cNvGrpSpPr/>
          <p:nvPr/>
        </p:nvGrpSpPr>
        <p:grpSpPr>
          <a:xfrm>
            <a:off x="6187440" y="936013"/>
            <a:ext cx="5501640" cy="594360"/>
            <a:chOff x="6187440" y="936013"/>
            <a:chExt cx="5501640" cy="594360"/>
          </a:xfrm>
        </p:grpSpPr>
        <p:sp>
          <p:nvSpPr>
            <p:cNvPr id="1075" name="TEACH-move-card"/>
            <p:cNvSpPr/>
            <p:nvPr/>
          </p:nvSpPr>
          <p:spPr>
            <a:xfrm>
              <a:off x="6187440" y="936013"/>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1076" name="TEACH-move-rule"/>
            <p:cNvSpPr/>
            <p:nvPr/>
          </p:nvSpPr>
          <p:spPr>
            <a:xfrm>
              <a:off x="6233160" y="1048941"/>
              <a:ext cx="100584" cy="368504"/>
            </a:xfrm>
            <a:prstGeom prst="roundRect">
              <a:avLst>
                <a:gd name="adj" fmla="val 50000"/>
              </a:avLst>
            </a:prstGeom>
            <a:solidFill>
              <a:srgbClr val="01708C"/>
            </a:solidFill>
            <a:ln>
              <a:noFill/>
            </a:ln>
          </p:spPr>
          <p:txBody>
            <a:bodyPr/>
            <a:lstStyle/>
            <a:p>
              <a:endParaRPr/>
            </a:p>
          </p:txBody>
        </p:sp>
        <p:sp>
          <p:nvSpPr>
            <p:cNvPr id="1077" name="TEACH-move-text"/>
            <p:cNvSpPr txBox="1"/>
            <p:nvPr/>
          </p:nvSpPr>
          <p:spPr>
            <a:xfrm>
              <a:off x="6507480" y="936013"/>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cxnSp>
        <p:nvCxnSpPr>
          <p:cNvPr id="1076" name="Google Shape;1076;p11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77" name="Google Shape;1077;p110"/>
          <p:cNvSpPr txBox="1"/>
          <p:nvPr/>
        </p:nvSpPr>
        <p:spPr>
          <a:xfrm>
            <a:off x="484563" y="927528"/>
            <a:ext cx="7570469" cy="55148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side lengths of two mirrors are shown.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br>
              <a:rPr b="1" i="0" lang="en-US" sz="2800" u="none" cap="none" strike="noStrike">
                <a:solidFill>
                  <a:srgbClr val="23282D"/>
                </a:solidFill>
                <a:latin typeface="Arial"/>
                <a:ea typeface="Arial"/>
                <a:cs typeface="Arial"/>
                <a:sym typeface="Arial"/>
              </a:rPr>
            </a:br>
            <a:r>
              <a:rPr b="1" i="0" lang="en-US" sz="2800" u="none" cap="none" strike="noStrike">
                <a:solidFill>
                  <a:srgbClr val="23282D"/>
                </a:solidFill>
                <a:latin typeface="Arial"/>
                <a:ea typeface="Arial"/>
                <a:cs typeface="Arial"/>
                <a:sym typeface="Arial"/>
              </a:rPr>
              <a:t>Question: </a:t>
            </a:r>
            <a:r>
              <a:rPr b="0" i="0" lang="en-US" sz="2800" u="none" cap="none" strike="noStrike">
                <a:solidFill>
                  <a:srgbClr val="23282D"/>
                </a:solidFill>
                <a:latin typeface="Arial"/>
                <a:ea typeface="Arial"/>
                <a:cs typeface="Arial"/>
                <a:sym typeface="Arial"/>
              </a:rPr>
              <a:t>About how many times greater is the area of mirror A than the area of mirror B? </a:t>
            </a:r>
            <a:endParaRPr b="0" i="0" sz="1400" u="none" cap="none" strike="noStrike">
              <a:solidFill>
                <a:srgbClr val="000000"/>
              </a:solidFill>
              <a:latin typeface="Arial"/>
              <a:ea typeface="Arial"/>
              <a:cs typeface="Arial"/>
              <a:sym typeface="Arial"/>
            </a:endParaRPr>
          </a:p>
        </p:txBody>
      </p:sp>
      <p:sp>
        <p:nvSpPr>
          <p:cNvPr id="1078" name="Google Shape;1078;p110"/>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Square Mirrors</a:t>
            </a:r>
            <a:endParaRPr b="0" i="0" sz="1400" u="none" cap="none" strike="noStrike">
              <a:solidFill>
                <a:srgbClr val="000000"/>
              </a:solidFill>
              <a:latin typeface="Arial"/>
              <a:ea typeface="Arial"/>
              <a:cs typeface="Arial"/>
              <a:sym typeface="Arial"/>
            </a:endParaRPr>
          </a:p>
        </p:txBody>
      </p:sp>
      <p:pic>
        <p:nvPicPr>
          <p:cNvPr id="1079" name="Google Shape;1079;p110"/>
          <p:cNvPicPr preferRelativeResize="0"/>
          <p:nvPr/>
        </p:nvPicPr>
        <p:blipFill rotWithShape="1">
          <a:blip r:embed="rId3">
            <a:alphaModFix/>
          </a:blip>
          <a:srcRect b="0" l="0" r="0" t="0"/>
          <a:stretch/>
        </p:blipFill>
        <p:spPr>
          <a:xfrm>
            <a:off x="1664105" y="1785851"/>
            <a:ext cx="4591050" cy="3352800"/>
          </a:xfrm>
          <a:prstGeom prst="rect">
            <a:avLst/>
          </a:prstGeom>
          <a:noFill/>
          <a:ln>
            <a:noFill/>
          </a:ln>
        </p:spPr>
      </p:pic>
      <p:sp>
        <p:nvSpPr>
          <p:cNvPr id="10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42</a:t>
            </a:r>
          </a:p>
        </p:txBody>
      </p:sp>
      <p:sp>
        <p:nvSpPr>
          <p:cNvPr id="108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  PLAN IT • SOLVE IT • PROVE IT</a:t>
            </a:r>
          </a:p>
        </p:txBody>
      </p:sp>
      <p:grpSp>
        <p:nvGrpSpPr>
          <p:cNvPr id="1082" name="TEACH-2-student-move" descr="TEACH 2 · Use strategies and tasks to engage students in rigorous work"/>
          <p:cNvGrpSpPr/>
          <p:nvPr/>
        </p:nvGrpSpPr>
        <p:grpSpPr>
          <a:xfrm>
            <a:off x="6990893" y="4318000"/>
            <a:ext cx="4698187" cy="1005840"/>
            <a:chOff x="502920" y="5472790"/>
            <a:chExt cx="11186160" cy="402336"/>
          </a:xfrm>
        </p:grpSpPr>
        <p:sp>
          <p:nvSpPr>
            <p:cNvPr id="1083"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084"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085"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YOUR TOOLS  ·  </a:t>
              </a:r>
              <a:r>
                <a:rPr lang="en-US" sz="1200" dirty="0">
                  <a:solidFill>
                    <a:srgbClr val="13303A"/>
                  </a:solidFill>
                  <a:latin typeface="Arial"/>
                </a:rPr>
                <a:t>Reach for your notes, a model, or a manipulative before you reach for an answer.</a:t>
              </a:r>
              <a:endParaRPr lang="en-US" sz="1200"/>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cxnSp>
        <p:nvCxnSpPr>
          <p:cNvPr id="1084" name="Google Shape;1084;p11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85" name="Google Shape;1085;p111"/>
          <p:cNvSpPr txBox="1"/>
          <p:nvPr/>
        </p:nvSpPr>
        <p:spPr>
          <a:xfrm>
            <a:off x="484564" y="927528"/>
            <a:ext cx="8188919"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divide fractions by using fraction models or equations.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divide mixed numbers and fractions by using fraction models or equations.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attend to precision to divide fractions and mixed numbers.</a:t>
            </a:r>
            <a:endParaRPr b="0" i="0" sz="1400" u="none" cap="none" strike="noStrike">
              <a:solidFill>
                <a:srgbClr val="000000"/>
              </a:solidFill>
              <a:latin typeface="Arial"/>
              <a:ea typeface="Arial"/>
              <a:cs typeface="Arial"/>
              <a:sym typeface="Arial"/>
            </a:endParaRPr>
          </a:p>
        </p:txBody>
      </p:sp>
      <p:sp>
        <p:nvSpPr>
          <p:cNvPr id="1086" name="Google Shape;1086;p11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sp>
        <p:nvSpPr>
          <p:cNvPr id="108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42</a:t>
            </a:r>
          </a:p>
        </p:txBody>
      </p:sp>
      <p:grpSp>
        <p:nvGrpSpPr>
          <p:cNvPr id="1088" name="TEACH-1-student-move" descr="TEACH 1 · Facilitate clear, standards-based content learning"/>
          <p:cNvGrpSpPr/>
          <p:nvPr/>
        </p:nvGrpSpPr>
        <p:grpSpPr>
          <a:xfrm>
            <a:off x="502920" y="5472790"/>
            <a:ext cx="11186160" cy="402336"/>
            <a:chOff x="502920" y="5472790"/>
            <a:chExt cx="11186160" cy="402336"/>
          </a:xfrm>
        </p:grpSpPr>
        <p:sp>
          <p:nvSpPr>
            <p:cNvPr id="1089"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090"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091"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45" name="Google Shape;845;p8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46" name="Google Shape;846;p83"/>
          <p:cNvSpPr txBox="1"/>
          <p:nvPr/>
        </p:nvSpPr>
        <p:spPr>
          <a:xfrm>
            <a:off x="474055" y="936101"/>
            <a:ext cx="4358575" cy="12252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847" name="Google Shape;847;p83"/>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848" name="Google Shape;848;p83"/>
          <p:cNvPicPr preferRelativeResize="0"/>
          <p:nvPr/>
        </p:nvPicPr>
        <p:blipFill rotWithShape="1">
          <a:blip r:embed="rId2">
            <a:alphaModFix/>
          </a:blip>
          <a:srcRect b="0" l="0" r="0" t="0"/>
          <a:stretch/>
        </p:blipFill>
        <p:spPr>
          <a:xfrm>
            <a:off x="1957390" y="2929629"/>
            <a:ext cx="6667500" cy="638175"/>
          </a:xfrm>
          <a:prstGeom prst="rect">
            <a:avLst/>
          </a:prstGeom>
          <a:noFill/>
          <a:ln>
            <a:noFill/>
          </a:ln>
        </p:spPr>
      </p:pic>
      <p:sp>
        <p:nvSpPr>
          <p:cNvPr id="849" name="Google Shape;849;p83"/>
          <p:cNvSpPr/>
          <p:nvPr/>
        </p:nvSpPr>
        <p:spPr>
          <a:xfrm>
            <a:off x="710766" y="5732400"/>
            <a:ext cx="994410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is helping you get started on a math activity?</a:t>
            </a:r>
            <a:endParaRPr b="0" i="0" sz="1400" u="none" cap="none" strike="noStrike">
              <a:solidFill>
                <a:srgbClr val="000000"/>
              </a:solidFill>
              <a:latin typeface="Arial"/>
              <a:ea typeface="Arial"/>
              <a:cs typeface="Arial"/>
              <a:sym typeface="Arial"/>
            </a:endParaRPr>
          </a:p>
        </p:txBody>
      </p:sp>
      <p:pic>
        <p:nvPicPr>
          <p:cNvPr id="850" name="Google Shape;850;p83"/>
          <p:cNvPicPr preferRelativeResize="0"/>
          <p:nvPr/>
        </p:nvPicPr>
        <p:blipFill rotWithShape="1">
          <a:blip r:embed="rId3">
            <a:alphaModFix/>
          </a:blip>
          <a:srcRect b="0" l="0" r="0" t="0"/>
          <a:stretch/>
        </p:blipFill>
        <p:spPr>
          <a:xfrm>
            <a:off x="628216" y="4867455"/>
            <a:ext cx="5054600" cy="838200"/>
          </a:xfrm>
          <a:prstGeom prst="rect">
            <a:avLst/>
          </a:prstGeom>
          <a:noFill/>
          <a:ln>
            <a:noFill/>
          </a:ln>
        </p:spPr>
      </p:pic>
      <p:sp>
        <p:nvSpPr>
          <p:cNvPr id="851" name="Google Shape;851;p83"/>
          <p:cNvSpPr txBox="1"/>
          <p:nvPr/>
        </p:nvSpPr>
        <p:spPr>
          <a:xfrm>
            <a:off x="3345221" y="5015531"/>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271" name="Google Shape;271;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35 / 35</a:t>
            </a:r>
            <a:endParaRPr/>
          </a:p>
        </p:txBody>
      </p:sp>
      <p:sp xmlns:p="http://schemas.openxmlformats.org/presentationml/2006/main" xmlns:a="http://schemas.openxmlformats.org/drawingml/2006/main">
        <p:nvSpPr>
          <p:cNvPr id="852" name="TEACH-embedded-student-prompt" descr="Student thinking and response directions"/>
          <p:cNvSpPr txBox="1"/>
          <p:nvPr/>
        </p:nvSpPr>
        <p:spPr>
          <a:xfrm>
            <a:off x="594360" y="426110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 build on a classmate’s idea.</a:t>
            </a:r>
            <a:endParaRPr lang="en-US" sz="200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6.2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Represent mixed numbers accurately.</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1-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NAME THE MATH  ·  </a:t>
            </a:r>
            <a:r>
              <a:rPr lang="en-US" sz="2000" b="0" dirty="0">
                <a:solidFill>
                  <a:srgbClr val="13303A"/>
                </a:solidFill>
                <a:latin typeface="Arial"/>
              </a:rPr>
              <a:t>Point to the part of this that is new today, and say what it changes.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7 / 42</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ASK THE CLASS  ·  </a:t>
            </a:r>
            <a:r>
              <a:rPr lang="en-US" sz="2000" b="0" dirty="0">
                <a:solidFill>
                  <a:srgbClr val="13303A"/>
                </a:solidFill>
                <a:latin typeface="Arial"/>
              </a:rPr>
              <a:t>Write one question about this that you could ask the class.</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25 / 42</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6-2</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29 / 42</a:t>
            </a:r>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6.2 — Division Expressions with Fractions and Mixed Numbers</dc:title>
  <dc:creator>Neft Teacher</dc:creator>
  <cp:lastModifiedBy>Neft Teacher</cp:lastModifiedBy>
  <dcterms:created xsi:type="dcterms:W3CDTF">2026-09-30T12:04:43Z</dcterms:created>
  <dcterms:modified xsi:type="dcterms:W3CDTF">2026-09-30T12:04:43Z</dcterms:modified>
</cp:coreProperties>
</file>