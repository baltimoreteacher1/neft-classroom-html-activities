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21.xml" ContentType="application/vnd.openxmlformats-officedocument.presentationml.notesSlide+xml"/>
  <Override PartName="/ppt/notesSlides/notesSlide23.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8.xml" ContentType="application/vnd.openxmlformats-officedocument.presentationml.notesSlide+xml"/>
  <Override PartName="/ppt/notesSlides/notesSlide30.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1.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7.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viewProps.xml" ContentType="application/vnd.openxmlformats-officedocument.presentationml.viewProps+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docProps/core.xml" ContentType="application/vnd.openxmlformats-package.core-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Core1"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83" r:id="rId5"/>
    <p:sldMasterId id="2147483684" r:id="rId6"/>
    <p:sldMasterId id="2147483685" r:id="rId7"/>
    <p:sldMasterId id="2147483686" r:id="rId8"/>
  </p:sldMasterIdLst>
  <p:notesMasterIdLst>
    <p:notesMasterId r:id="rId9"/>
  </p:notesMasterIdLst>
  <p:sldIdLst>
    <p:sldId id="259" r:id="rId13"/>
    <p:sldId id="272" r:id="rId26"/>
    <p:sldId id="273" r:id="rId27"/>
    <p:sldId id="256" r:id="rId10"/>
    <p:sldId id="257" r:id="rId11"/>
    <p:sldId id="260" r:id="rId14"/>
    <p:sldId id="338" r:id="rId76"/>
    <p:sldId id="337" r:id="rId23"/>
    <p:sldId id="336" r:id="rId24"/>
    <p:sldId id="335" r:id="rId61"/>
    <p:sldId id="334" r:id="rId25"/>
    <p:sldId id="333" r:id="rId59"/>
    <p:sldId id="332" r:id="rId28"/>
    <p:sldId id="331" r:id="rId57"/>
    <p:sldId id="330" r:id="rId29"/>
    <p:sldId id="329" r:id="rId31"/>
    <p:sldId id="328" r:id="rId54"/>
    <p:sldId id="327" r:id="rId33"/>
    <p:sldId id="261" r:id="rId15"/>
    <p:sldId id="276" r:id="rId30"/>
    <p:sldId id="278" r:id="rId32"/>
    <p:sldId id="280" r:id="rId34"/>
    <p:sldId id="281" r:id="rId35"/>
    <p:sldId id="283" r:id="rId37"/>
    <p:sldId id="285" r:id="rId39"/>
    <p:sldId id="287" r:id="rId41"/>
    <p:sldId id="342" r:id="rId80"/>
    <p:sldId id="288" r:id="rId42"/>
    <p:sldId id="289" r:id="rId43"/>
    <p:sldId id="343" r:id="rId81"/>
    <p:sldId id="290" r:id="rId44"/>
    <p:sldId id="292" r:id="rId46"/>
    <p:sldId id="344" r:id="rId82"/>
    <p:sldId id="293" r:id="rId47"/>
    <p:sldId id="294" r:id="rId48"/>
    <p:sldId id="345" r:id="rId83"/>
    <p:sldId id="339" r:id="rId77"/>
    <p:sldId id="326" r:id="rId36"/>
    <p:sldId id="325" r:id="rId51"/>
    <p:sldId id="324" r:id="rId50"/>
    <p:sldId id="319" r:id="rId74"/>
    <p:sldId id="346" r:id="rId84"/>
    <p:sldId id="320" r:id="rId75"/>
    <p:sldId id="295" r:id="rId49"/>
    <p:sldId id="298" r:id="rId52"/>
    <p:sldId id="299" r:id="rId53"/>
    <p:sldId id="301" r:id="rId55"/>
    <p:sldId id="302" r:id="rId56"/>
    <p:sldId id="304" r:id="rId58"/>
    <p:sldId id="306" r:id="rId60"/>
    <p:sldId id="308" r:id="rId62"/>
    <p:sldId id="347" r:id="rId85"/>
    <p:sldId id="309" r:id="rId63"/>
    <p:sldId id="312" r:id="rId66"/>
    <p:sldId id="314" r:id="rId68"/>
    <p:sldId id="315" r:id="rId69"/>
    <p:sldId id="316" r:id="rId70"/>
    <p:sldId id="340" r:id="rId78"/>
    <p:sldId id="323" r:id="rId38"/>
    <p:sldId id="322" r:id="rId40"/>
    <p:sldId id="348" r:id="rId86"/>
    <p:sldId id="317" r:id="rId71"/>
    <p:sldId id="318" r:id="rId72"/>
    <p:sldId id="349" r:id="rId87"/>
    <p:sldId id="321" r:id="rId45"/>
    <p:sldId id="341" r:id="rId79"/>
  </p:sldIdLst>
  <p:sldSz cy="6858000" cx="12192000"/>
  <p:notesSz cx="7010400" cy="9236075"/>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pos="1512">
          <p15:clr>
            <a:srgbClr val="A4A3A4"/>
          </p15:clr>
        </p15:guide>
        <p15:guide id="2" orient="horz" pos="3024">
          <p15:clr>
            <a:srgbClr val="A4A3A4"/>
          </p15:clr>
        </p15:guide>
        <p15:guide id="3" orient="horz" pos="384">
          <p15:clr>
            <a:srgbClr val="A4A3A4"/>
          </p15:clr>
        </p15:guide>
        <p15:guide id="4" orient="horz" pos="2520">
          <p15:clr>
            <a:srgbClr val="A4A3A4"/>
          </p15:clr>
        </p15:guide>
        <p15:guide id="5" orient="horz" pos="1080">
          <p15:clr>
            <a:srgbClr val="A4A3A4"/>
          </p15:clr>
        </p15:guide>
        <p15:guide id="6" orient="horz" pos="1680">
          <p15:clr>
            <a:srgbClr val="A4A3A4"/>
          </p15:clr>
        </p15:guide>
        <p15:guide id="7" orient="horz" pos="3432">
          <p15:clr>
            <a:srgbClr val="A4A3A4"/>
          </p15:clr>
        </p15:guide>
        <p15:guide id="8" orient="horz" pos="3120">
          <p15:clr>
            <a:srgbClr val="A4A3A4"/>
          </p15:clr>
        </p15:guide>
        <p15:guide id="9" pos="48">
          <p15:clr>
            <a:srgbClr val="A4A3A4"/>
          </p15:clr>
        </p15:guide>
        <p15:guide id="10" pos="384">
          <p15:clr>
            <a:srgbClr val="A4A3A4"/>
          </p15:clr>
        </p15:guide>
        <p15:guide id="11" pos="6480">
          <p15:clr>
            <a:srgbClr val="A4A3A4"/>
          </p15:clr>
        </p15:guide>
        <p15:guide id="12" pos="2597">
          <p15:clr>
            <a:srgbClr val="A4A3A4"/>
          </p15:clr>
        </p15:guide>
        <p15:guide id="13" pos="288">
          <p15:clr>
            <a:srgbClr val="A4A3A4"/>
          </p15:clr>
        </p15:guide>
        <p15:guide id="14" orient="horz" pos="2160">
          <p15:clr>
            <a:srgbClr val="A4A3A4"/>
          </p15:clr>
        </p15:guide>
        <p15:guide id="15" orient="horz" pos="216">
          <p15:clr>
            <a:srgbClr val="A4A3A4"/>
          </p15:clr>
        </p15:guide>
        <p15:guide id="16" orient="horz" pos="936">
          <p15:clr>
            <a:srgbClr val="A4A3A4"/>
          </p15:clr>
        </p15:guide>
        <p15:guide id="17" pos="4368">
          <p15:clr>
            <a:srgbClr val="A4A3A4"/>
          </p15:clr>
        </p15:guide>
        <p15:guide id="18" pos="7296">
          <p15:clr>
            <a:srgbClr val="A4A3A4"/>
          </p15:clr>
        </p15:guide>
        <p15:guide id="19" pos="3288">
          <p15:clr>
            <a:srgbClr val="A4A3A4"/>
          </p15:clr>
        </p15:guide>
        <p15:guide id="20" pos="5904">
          <p15:clr>
            <a:srgbClr val="A4A3A4"/>
          </p15:clr>
        </p15:guide>
        <p15:guide id="21" pos="5568">
          <p15:clr>
            <a:srgbClr val="A4A3A4"/>
          </p15:clr>
        </p15:guide>
      </p15:sldGuideLst>
    </p:ext>
    <p:ext uri="{2D200454-40CA-4A62-9FC3-DE9A4176ACB9}">
      <p15:notesGuideLst>
        <p15:guide id="1" orient="horz" pos="2909">
          <p15:clr>
            <a:srgbClr val="A4A3A4"/>
          </p15:clr>
        </p15:guide>
        <p15:guide id="2" pos="2208">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5286CED2-7F92-443A-975B-0DF484970EFF}">
  <a:tblStyle styleId="{5286CED2-7F92-443A-975B-0DF484970EFF}" styleName="Table_0">
    <a:wholeTbl>
      <a:tcTxStyle b="off" i="off">
        <a:font>
          <a:latin typeface="Calibri"/>
          <a:ea typeface="Calibri"/>
          <a:cs typeface="Calibri"/>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8EBF5"/>
          </a:solidFill>
        </a:fill>
      </a:tcStyle>
    </a:wholeTbl>
    <a:band1H>
      <a:tcTxStyle b="off" i="off"/>
      <a:tcStyle>
        <a:fill>
          <a:solidFill>
            <a:srgbClr val="CDD4EA"/>
          </a:solidFill>
        </a:fill>
      </a:tcStyle>
    </a:band1H>
    <a:band2H>
      <a:tcTxStyle b="off" i="off"/>
    </a:band2H>
    <a:band1V>
      <a:tcTxStyle b="off" i="off"/>
      <a:tcStyle>
        <a:fill>
          <a:solidFill>
            <a:srgbClr val="CDD4EA"/>
          </a:solidFill>
        </a:fill>
      </a:tcStyle>
    </a:band1V>
    <a:band2V>
      <a:tcTxStyle b="off" i="off"/>
    </a:band2V>
    <a:lastCol>
      <a:tcTxStyle b="on" i="off">
        <a:font>
          <a:latin typeface="Calibri"/>
          <a:ea typeface="Calibri"/>
          <a:cs typeface="Calibri"/>
        </a:font>
        <a:schemeClr val="lt1"/>
      </a:tcTxStyle>
      <a:tcStyle>
        <a:fill>
          <a:solidFill>
            <a:schemeClr val="accent1"/>
          </a:solidFill>
        </a:fill>
      </a:tcStyle>
    </a:lastCol>
    <a:firstCol>
      <a:tcTxStyle b="on" i="off">
        <a:font>
          <a:latin typeface="Calibri"/>
          <a:ea typeface="Calibri"/>
          <a:cs typeface="Calibri"/>
        </a:font>
        <a:schemeClr val="lt1"/>
      </a:tcTxStyle>
      <a:tcStyle>
        <a:fill>
          <a:solidFill>
            <a:schemeClr val="accent1"/>
          </a:solidFill>
        </a:fill>
      </a:tcStyle>
    </a:firstCol>
    <a:lastRow>
      <a:tcTxStyle b="on" i="off">
        <a:font>
          <a:latin typeface="Calibri"/>
          <a:ea typeface="Calibri"/>
          <a:cs typeface="Calibri"/>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b="off" i="off"/>
    </a:seCell>
    <a:swCell>
      <a:tcTxStyle b="off" i="off"/>
    </a:swCell>
    <a:firstRow>
      <a:tcTxStyle b="on" i="off">
        <a:font>
          <a:latin typeface="Calibri"/>
          <a:ea typeface="Calibri"/>
          <a:cs typeface="Calibri"/>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512"/>
        <p:guide pos="3024" orient="horz"/>
        <p:guide pos="384" orient="horz"/>
        <p:guide pos="2520" orient="horz"/>
        <p:guide pos="1080" orient="horz"/>
        <p:guide pos="1680" orient="horz"/>
        <p:guide pos="3432" orient="horz"/>
        <p:guide pos="3120" orient="horz"/>
        <p:guide pos="48"/>
        <p:guide pos="384"/>
        <p:guide pos="6480"/>
        <p:guide pos="2597"/>
        <p:guide pos="288"/>
        <p:guide pos="2160" orient="horz"/>
        <p:guide pos="216" orient="horz"/>
        <p:guide pos="936" orient="horz"/>
        <p:guide pos="4368"/>
        <p:guide pos="7296"/>
        <p:guide pos="3288"/>
        <p:guide pos="5904"/>
        <p:guide pos="5568"/>
      </p:guideLst>
    </p:cSldViewPr>
  </p:slideViewPr>
  <p:notesViewPr>
    <p:cSldViewPr snapToGrid="0">
      <p:cViewPr varScale="1">
        <p:scale>
          <a:sx n="100" d="100"/>
          <a:sy n="100" d="100"/>
        </p:scale>
        <p:origin x="0" y="0"/>
      </p:cViewPr>
      <p:guideLst>
        <p:guide pos="2909" orient="horz"/>
        <p:guide pos="2208"/>
      </p:guideLst>
    </p:cSldViewPr>
  </p:notesViewPr>
</p:viewPr>
</file>

<file path=ppt/_rels/presentation.xml.rels><?xml version='1.0' encoding='UTF-8' standalone='yes'?>
<Relationships xmlns="http://schemas.openxmlformats.org/package/2006/relationships"><Relationship Id="rId1" Type="http://schemas.openxmlformats.org/officeDocument/2006/relationships/theme" Target="theme/theme4.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slideMaster" Target="slideMasters/slideMaster3.xml"/><Relationship Id="rId8" Type="http://schemas.openxmlformats.org/officeDocument/2006/relationships/slideMaster" Target="slideMasters/slideMaster4.xml"/><Relationship Id="rId9" Type="http://schemas.openxmlformats.org/officeDocument/2006/relationships/notesMaster" Target="notesMasters/notesMaster1.xml"/><Relationship Id="rId10" Type="http://schemas.openxmlformats.org/officeDocument/2006/relationships/slide" Target="slides/slide4.xml"/><Relationship Id="rId11" Type="http://schemas.openxmlformats.org/officeDocument/2006/relationships/slide" Target="slides/slide5.xml"/><Relationship Id="rId13" Type="http://schemas.openxmlformats.org/officeDocument/2006/relationships/slide" Target="slides/slide1.xml"/><Relationship Id="rId14" Type="http://schemas.openxmlformats.org/officeDocument/2006/relationships/slide" Target="slides/slide6.xml"/><Relationship Id="rId15" Type="http://schemas.openxmlformats.org/officeDocument/2006/relationships/slide" Target="slides/slide19.xml"/><Relationship Id="rId23" Type="http://schemas.openxmlformats.org/officeDocument/2006/relationships/slide" Target="slides/slide8.xml"/><Relationship Id="rId24" Type="http://schemas.openxmlformats.org/officeDocument/2006/relationships/slide" Target="slides/slide9.xml"/><Relationship Id="rId25" Type="http://schemas.openxmlformats.org/officeDocument/2006/relationships/slide" Target="slides/slide11.xml"/><Relationship Id="rId26" Type="http://schemas.openxmlformats.org/officeDocument/2006/relationships/slide" Target="slides/slide2.xml"/><Relationship Id="rId27" Type="http://schemas.openxmlformats.org/officeDocument/2006/relationships/slide" Target="slides/slide3.xml"/><Relationship Id="rId28" Type="http://schemas.openxmlformats.org/officeDocument/2006/relationships/slide" Target="slides/slide13.xml"/><Relationship Id="rId29" Type="http://schemas.openxmlformats.org/officeDocument/2006/relationships/slide" Target="slides/slide15.xml"/><Relationship Id="rId30" Type="http://schemas.openxmlformats.org/officeDocument/2006/relationships/slide" Target="slides/slide20.xml"/><Relationship Id="rId31" Type="http://schemas.openxmlformats.org/officeDocument/2006/relationships/slide" Target="slides/slide16.xml"/><Relationship Id="rId32" Type="http://schemas.openxmlformats.org/officeDocument/2006/relationships/slide" Target="slides/slide21.xml"/><Relationship Id="rId33" Type="http://schemas.openxmlformats.org/officeDocument/2006/relationships/slide" Target="slides/slide18.xml"/><Relationship Id="rId34" Type="http://schemas.openxmlformats.org/officeDocument/2006/relationships/slide" Target="slides/slide22.xml"/><Relationship Id="rId35" Type="http://schemas.openxmlformats.org/officeDocument/2006/relationships/slide" Target="slides/slide23.xml"/><Relationship Id="rId36" Type="http://schemas.openxmlformats.org/officeDocument/2006/relationships/slide" Target="slides/slide34.xml"/><Relationship Id="rId37" Type="http://schemas.openxmlformats.org/officeDocument/2006/relationships/slide" Target="slides/slide24.xml"/><Relationship Id="rId38" Type="http://schemas.openxmlformats.org/officeDocument/2006/relationships/slide" Target="slides/slide53.xml"/><Relationship Id="rId39" Type="http://schemas.openxmlformats.org/officeDocument/2006/relationships/slide" Target="slides/slide25.xml"/><Relationship Id="rId40" Type="http://schemas.openxmlformats.org/officeDocument/2006/relationships/slide" Target="slides/slide54.xml"/><Relationship Id="rId41" Type="http://schemas.openxmlformats.org/officeDocument/2006/relationships/slide" Target="slides/slide26.xml"/><Relationship Id="rId42" Type="http://schemas.openxmlformats.org/officeDocument/2006/relationships/slide" Target="slides/slide27.xml"/><Relationship Id="rId43" Type="http://schemas.openxmlformats.org/officeDocument/2006/relationships/slide" Target="slides/slide28.xml"/><Relationship Id="rId44" Type="http://schemas.openxmlformats.org/officeDocument/2006/relationships/slide" Target="slides/slide29.xml"/><Relationship Id="rId45" Type="http://schemas.openxmlformats.org/officeDocument/2006/relationships/slide" Target="slides/slide57.xml"/><Relationship Id="rId46" Type="http://schemas.openxmlformats.org/officeDocument/2006/relationships/slide" Target="slides/slide30.xml"/><Relationship Id="rId47" Type="http://schemas.openxmlformats.org/officeDocument/2006/relationships/slide" Target="slides/slide31.xml"/><Relationship Id="rId48" Type="http://schemas.openxmlformats.org/officeDocument/2006/relationships/slide" Target="slides/slide32.xml"/><Relationship Id="rId49" Type="http://schemas.openxmlformats.org/officeDocument/2006/relationships/slide" Target="slides/slide39.xml"/><Relationship Id="rId50" Type="http://schemas.openxmlformats.org/officeDocument/2006/relationships/slide" Target="slides/slide36.xml"/><Relationship Id="rId51" Type="http://schemas.openxmlformats.org/officeDocument/2006/relationships/slide" Target="slides/slide35.xml"/><Relationship Id="rId52" Type="http://schemas.openxmlformats.org/officeDocument/2006/relationships/slide" Target="slides/slide40.xml"/><Relationship Id="rId53" Type="http://schemas.openxmlformats.org/officeDocument/2006/relationships/slide" Target="slides/slide41.xml"/><Relationship Id="rId54" Type="http://schemas.openxmlformats.org/officeDocument/2006/relationships/slide" Target="slides/slide17.xml"/><Relationship Id="rId55" Type="http://schemas.openxmlformats.org/officeDocument/2006/relationships/slide" Target="slides/slide42.xml"/><Relationship Id="rId56" Type="http://schemas.openxmlformats.org/officeDocument/2006/relationships/slide" Target="slides/slide43.xml"/><Relationship Id="rId57" Type="http://schemas.openxmlformats.org/officeDocument/2006/relationships/slide" Target="slides/slide14.xml"/><Relationship Id="rId58" Type="http://schemas.openxmlformats.org/officeDocument/2006/relationships/slide" Target="slides/slide44.xml"/><Relationship Id="rId59" Type="http://schemas.openxmlformats.org/officeDocument/2006/relationships/slide" Target="slides/slide12.xml"/><Relationship Id="rId60" Type="http://schemas.openxmlformats.org/officeDocument/2006/relationships/slide" Target="slides/slide45.xml"/><Relationship Id="rId61" Type="http://schemas.openxmlformats.org/officeDocument/2006/relationships/slide" Target="slides/slide10.xml"/><Relationship Id="rId62" Type="http://schemas.openxmlformats.org/officeDocument/2006/relationships/slide" Target="slides/slide46.xml"/><Relationship Id="rId63" Type="http://schemas.openxmlformats.org/officeDocument/2006/relationships/slide" Target="slides/slide47.xml"/><Relationship Id="rId66" Type="http://schemas.openxmlformats.org/officeDocument/2006/relationships/slide" Target="slides/slide48.xml"/><Relationship Id="rId68" Type="http://schemas.openxmlformats.org/officeDocument/2006/relationships/slide" Target="slides/slide49.xml"/><Relationship Id="rId69" Type="http://schemas.openxmlformats.org/officeDocument/2006/relationships/slide" Target="slides/slide50.xml"/><Relationship Id="rId70" Type="http://schemas.openxmlformats.org/officeDocument/2006/relationships/slide" Target="slides/slide51.xml"/><Relationship Id="rId71" Type="http://schemas.openxmlformats.org/officeDocument/2006/relationships/slide" Target="slides/slide55.xml"/><Relationship Id="rId72" Type="http://schemas.openxmlformats.org/officeDocument/2006/relationships/slide" Target="slides/slide56.xml"/><Relationship Id="rId74" Type="http://schemas.openxmlformats.org/officeDocument/2006/relationships/slide" Target="slides/slide37.xml"/><Relationship Id="rId75" Type="http://schemas.openxmlformats.org/officeDocument/2006/relationships/slide" Target="slides/slide38.xml"/><Relationship Id="rId76" Type="http://schemas.openxmlformats.org/officeDocument/2006/relationships/slide" Target="slides/slide7.xml"/><Relationship Id="rId77" Type="http://schemas.openxmlformats.org/officeDocument/2006/relationships/slide" Target="slides/slide33.xml"/><Relationship Id="rId78" Type="http://schemas.openxmlformats.org/officeDocument/2006/relationships/slide" Target="slides/slide52.xml"/><Relationship Id="rId79" Type="http://schemas.openxmlformats.org/officeDocument/2006/relationships/slide" Target="slides/slide58.xml"/><Relationship Id="rId80" Type="http://schemas.openxmlformats.org/officeDocument/2006/relationships/slide" Target="slides/slide59.xml"/><Relationship Id="rId81" Type="http://schemas.openxmlformats.org/officeDocument/2006/relationships/slide" Target="slides/slide60.xml"/><Relationship Id="rId82" Type="http://schemas.openxmlformats.org/officeDocument/2006/relationships/slide" Target="slides/slide61.xml"/><Relationship Id="rId83" Type="http://schemas.openxmlformats.org/officeDocument/2006/relationships/slide" Target="slides/slide62.xml"/><Relationship Id="rId84" Type="http://schemas.openxmlformats.org/officeDocument/2006/relationships/slide" Target="slides/slide63.xml"/><Relationship Id="rId85" Type="http://schemas.openxmlformats.org/officeDocument/2006/relationships/slide" Target="slides/slide64.xml"/><Relationship Id="rId86" Type="http://schemas.openxmlformats.org/officeDocument/2006/relationships/slide" Target="slides/slide65.xml"/><Relationship Id="rId87" Type="http://schemas.openxmlformats.org/officeDocument/2006/relationships/slide" Target="slides/slide6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2"/>
            <a:ext cx="3037840" cy="463407"/>
          </a:xfrm>
          <a:prstGeom prst="rect">
            <a:avLst/>
          </a:prstGeom>
          <a:noFill/>
          <a:ln>
            <a:noFill/>
          </a:ln>
        </p:spPr>
        <p:txBody>
          <a:bodyPr anchorCtr="0" anchor="t" bIns="46125" lIns="92275" spcFirstLastPara="1" rIns="92275" wrap="square" tIns="46125">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970938" y="2"/>
            <a:ext cx="3037840" cy="463407"/>
          </a:xfrm>
          <a:prstGeom prst="rect">
            <a:avLst/>
          </a:prstGeom>
          <a:noFill/>
          <a:ln>
            <a:noFill/>
          </a:ln>
        </p:spPr>
        <p:txBody>
          <a:bodyPr anchorCtr="0" anchor="t" bIns="46125" lIns="92275" spcFirstLastPara="1" rIns="92275" wrap="square" tIns="46125">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772669"/>
            <a:ext cx="3037840" cy="463406"/>
          </a:xfrm>
          <a:prstGeom prst="rect">
            <a:avLst/>
          </a:prstGeom>
          <a:noFill/>
          <a:ln>
            <a:noFill/>
          </a:ln>
        </p:spPr>
        <p:txBody>
          <a:bodyPr anchorCtr="0" anchor="b" bIns="46125" lIns="92275" spcFirstLastPara="1" rIns="92275" wrap="square" tIns="46125">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970938" y="8772669"/>
            <a:ext cx="3037840" cy="463406"/>
          </a:xfrm>
          <a:prstGeom prst="rect">
            <a:avLst/>
          </a:prstGeom>
          <a:noFill/>
          <a:ln>
            <a:noFill/>
          </a:ln>
        </p:spPr>
        <p:txBody>
          <a:bodyPr anchorCtr="0" anchor="b" bIns="46125" lIns="92275" spcFirstLastPara="1" rIns="92275" wrap="square" tIns="46125">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p1: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5.1, slide 4 | DIVIDER</a:t>
            </a:r>
          </a:p>
          <a:p xmlns:a="http://schemas.openxmlformats.org/drawingml/2006/main">
            <a:pPr>
              <a:buNone/>
            </a:pPr>
            <a:r>
              <a:rPr lang="en-US" sz="1100"/>
              <a:t>Focus on the existing task: Determine the Area of Parallelograms and Rhombuses Session 1</a:t>
            </a:r>
          </a:p>
          <a:p xmlns:a="http://schemas.openxmlformats.org/drawingml/2006/main">
            <a:pPr>
              <a:buNone/>
            </a:pPr>
            <a:r>
              <a:rPr lang="en-US" sz="1100"/>
              <a:t>TRANSITION (T6/7): Students confirm materials, roles, how to request help, and the next response routine. Ask a student to restate it. Keep teacher-only slides hidden.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Transition cue: state what materials are out and what success looks like this session.</a:t>
            </a:r>
          </a:p>
          <a:p>
            <a:pPr indent="0" lvl="0" marL="0" rtl="0" algn="l">
              <a:lnSpc>
                <a:spcPct val="100000"/>
              </a:lnSpc>
              <a:spcBef>
                <a:spcPts val="0"/>
              </a:spcBef>
              <a:spcAft>
                <a:spcPts val="0"/>
              </a:spcAft>
              <a:buSzPts val="1400"/>
              <a:buNone/>
            </a:pPr>
            <a:r>
              <a:t>Keep the changeover under a minute.</a:t>
            </a:r>
          </a:p>
          <a:p>
            <a:pPr indent="0" lvl="0" marL="0" rtl="0" algn="l">
              <a:lnSpc>
                <a:spcPct val="100000"/>
              </a:lnSpc>
              <a:spcBef>
                <a:spcPts val="0"/>
              </a:spcBef>
              <a:spcAft>
                <a:spcPts val="0"/>
              </a:spcAft>
              <a:buSzPts val="1400"/>
              <a:buNone/>
            </a:pPr>
            <a:r>
              <a:t>UIFR: TEACH 6.</a:t>
            </a:r>
          </a:p>
        </p:txBody>
      </p:sp>
      <p:sp>
        <p:nvSpPr>
          <p:cNvPr id="233" name="Google Shape;233;p1: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p2: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5.1, slide 5 | TASK</a:t>
            </a:r>
          </a:p>
          <a:p xmlns:a="http://schemas.openxmlformats.org/drawingml/2006/main">
            <a:pPr>
              <a:buNone/>
            </a:pPr>
            <a:r>
              <a:rPr lang="en-US" sz="1100"/>
              <a:t>Focus on the existing task: This or That Would you rather have THIS or THAT hours of recess?</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identify base and perpendicular height. Ask which feature of their work supports the claim.</a:t>
            </a:r>
          </a:p>
          <a:p xmlns:a="http://schemas.openxmlformats.org/drawingml/2006/main">
            <a:pPr>
              <a:buNone/>
            </a:pPr>
            <a:r>
              <a:rPr lang="en-US" sz="1100"/>
              <a:t>RESPOND: If this task shows the lesson misconception—using a slanted side as the height—mark a right angle between the selected base and height on the original diagram.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Number-sense routine — every voice in. Give quiet think time, then hear from at least three students.</a:t>
            </a:r>
          </a:p>
          <a:p>
            <a:pPr indent="0" lvl="0" marL="0" rtl="0" algn="l">
              <a:lnSpc>
                <a:spcPct val="100000"/>
              </a:lnSpc>
              <a:spcBef>
                <a:spcPts val="0"/>
              </a:spcBef>
              <a:spcAft>
                <a:spcPts val="0"/>
              </a:spcAft>
              <a:buSzPts val="1400"/>
              <a:buNone/>
            </a:pPr>
            <a:r>
              <a:t>Always follow with “How do you know?” — the reasoning is the point, not the answer.</a:t>
            </a:r>
          </a:p>
          <a:p>
            <a:pPr indent="0" lvl="0" marL="0" rtl="0" algn="l">
              <a:lnSpc>
                <a:spcPct val="100000"/>
              </a:lnSpc>
              <a:spcBef>
                <a:spcPts val="0"/>
              </a:spcBef>
              <a:spcAft>
                <a:spcPts val="0"/>
              </a:spcAft>
              <a:buSzPts val="1400"/>
              <a:buNone/>
            </a:pPr>
            <a:r>
              <a:t>There is more than one path; name and celebrate different strategies.</a:t>
            </a:r>
          </a:p>
          <a:p>
            <a:pPr indent="0" lvl="0" marL="0" rtl="0" algn="l">
              <a:lnSpc>
                <a:spcPct val="100000"/>
              </a:lnSpc>
              <a:spcBef>
                <a:spcPts val="0"/>
              </a:spcBef>
              <a:spcAft>
                <a:spcPts val="0"/>
              </a:spcAft>
              <a:buSzPts val="1400"/>
              <a:buNone/>
            </a:pPr>
            <a:r>
              <a:t>UIFR: TEACH 3 · TEACH 5 · TEACH 6.</a:t>
            </a:r>
          </a:p>
        </p:txBody>
      </p:sp>
      <p:sp>
        <p:nvSpPr>
          <p:cNvPr id="240" name="Google Shape;240;p2: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p4:notes"/>
          <p:cNvSpPr txBox="1"/>
          <p:nvPr>
            <p:ph idx="1" type="body"/>
          </p:nvPr>
        </p:nvSpPr>
        <p:spPr>
          <a:xfrm>
            <a:off x="701040" y="4444862"/>
            <a:ext cx="5608320" cy="3636705"/>
          </a:xfrm>
          <a:prstGeom prst="rect">
            <a:avLst/>
          </a:prstGeom>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5.1, slide 1 | WARMUP</a:t>
            </a:r>
          </a:p>
          <a:p xmlns:a="http://schemas.openxmlformats.org/drawingml/2006/main">
            <a:pPr>
              <a:buNone/>
            </a:pPr>
            <a:r>
              <a:rPr lang="en-US" sz="1100"/>
              <a:t>Focus on the existing task: Warm-Up WARM-UP · THINK • TRY • CHECK…</a:t>
            </a:r>
          </a:p>
          <a:p xmlns:a="http://schemas.openxmlformats.org/drawingml/2006/main">
            <a:pPr>
              <a:buNone/>
            </a:pPr>
            <a:r>
              <a:rPr lang="en-US" sz="1100"/>
              <a:t>GATHER EVIDENCE (T4/6): Keep the original items. Students try independently, mark an uncertain item, and explain one method before checking. Use the existing key when present.</a:t>
            </a:r>
          </a:p>
          <a:p xmlns:a="http://schemas.openxmlformats.org/drawingml/2006/main">
            <a:pPr>
              <a:buNone/>
            </a:pPr>
            <a:r>
              <a:rPr lang="en-US" sz="1100"/>
              <a:t>RESPOND: Distinguish a calculation slip from a reasoning gap. Give one next step on the same item; have students revise in a second color. Use the responses to choose flexible support for today’s lesson.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spcBef>
                <a:spcPts val="0"/>
              </a:spcBef>
              <a:spcAft>
                <a:spcPts val="0"/>
              </a:spcAft>
              <a:buNone/>
            </a:pPr>
            <a:r>
              <a:t>Warm-Up answers (teacher only): 1) 350   2) 40 square centimeters   3) 4 inches   4) square meters</a:t>
            </a:r>
          </a:p>
          <a:p>
            <a:pPr>
              <a:buNone/>
            </a:pPr>
            <a:r>
              <a:rPr lang="en-US" sz="1100"/>
              <a:t/>
            </a:r>
          </a:p>
          <a:p>
            <a:pPr>
              <a:buNone/>
            </a:pPr>
            <a:r>
              <a:rPr lang="en-US" sz="1100"/>
              <a:t>UIFR FULL | Lesson-specific facilitation</a:t>
            </a:r>
          </a:p>
          <a:p>
            <a:pPr>
              <a:buNone/>
            </a:pPr>
            <a:r>
              <a:rPr lang="en-US" sz="1100"/>
              <a:t>PREPARE 1-2 | Before teaching (UIFR PDF pp. 6-7).</a:t>
            </a:r>
          </a:p>
          <a:p>
            <a:pPr>
              <a:buNone/>
            </a:pPr>
            <a:r>
              <a:rPr lang="en-US" sz="1100"/>
              <a:t>Plan to gather evidence that students can identify base and perpendicular height; connect rearrangement to base times height; label square units. Review recent work and today’s warm-up to choose flexible groups and access supports; do not infer needs from identity or perceived ability. Use the existing lesson tasks and stated standards.</a:t>
            </a:r>
          </a:p>
          <a:p>
            <a:pPr>
              <a:buNone/>
            </a:pPr>
            <a:r>
              <a:rPr lang="en-US" sz="1100"/>
              <a:t>Anticipate: using a slanted side as the height. If observed, mark a right angle between the selected base and height on the original diagram. Offer oral rehearsal, drawing, pointing, or home-language processing as needed; retain the original mathematical demand. Ask students which support helps and fade it as evidence improves.</a:t>
            </a:r>
          </a:p>
          <a:p>
            <a:pPr>
              <a:buNone/>
            </a:pPr>
            <a:r>
              <a:rPr lang="en-US" sz="1100"/>
              <a:t>TEACH 6-7 | Before the first transition, agree on materials, partner roles, and how to request help. Invite students to restate the routine. Normalize revising an idea, recognize a specific contribution, and check privately when frustration blocks participation. Source: UIFR PDF pp. 13-14.</a:t>
            </a:r>
          </a:p>
        </p:txBody>
      </p:sp>
      <p:sp>
        <p:nvSpPr>
          <p:cNvPr id="259" name="Google Shape;259;p4: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3" name="Shape 333"/>
        <p:cNvGrpSpPr/>
        <p:nvPr/>
      </p:nvGrpSpPr>
      <p:grpSpPr>
        <a:xfrm>
          <a:off x="0" y="0"/>
          <a:ext cx="0" cy="0"/>
          <a:chOff x="0" y="0"/>
          <a:chExt cx="0" cy="0"/>
        </a:xfrm>
      </p:grpSpPr>
      <p:sp>
        <p:nvSpPr>
          <p:cNvPr id="334" name="Google Shape;334;p5:notes"/>
          <p:cNvSpPr txBox="1"/>
          <p:nvPr>
            <p:ph idx="1" type="body"/>
          </p:nvPr>
        </p:nvSpPr>
        <p:spPr>
          <a:xfrm>
            <a:off x="701040" y="4444862"/>
            <a:ext cx="5608320" cy="3636705"/>
          </a:xfrm>
          <a:prstGeom prst="rect">
            <a:avLst/>
          </a:prstGeom>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5.1, slide 6 | GOAL</a:t>
            </a:r>
          </a:p>
          <a:p xmlns:a="http://schemas.openxmlformats.org/drawingml/2006/main">
            <a:pPr>
              <a:buNone/>
            </a:pPr>
            <a:r>
              <a:rPr lang="en-US" sz="1100"/>
              <a:t>Focus on the existing task: Today’s Objectives Determine the Area of…</a:t>
            </a:r>
          </a:p>
          <a:p xmlns:a="http://schemas.openxmlformats.org/drawingml/2006/main">
            <a:pPr>
              <a:buNone/>
            </a:pPr>
            <a:r>
              <a:rPr lang="en-US" sz="1100"/>
              <a:t>CONNECT (T1/4): Ask students to restate the displayed goal or key idea and connect it to earlier work. Relevant lesson evidence: identify base and perpendicular height; connect rearrangement to base times height; label square units. Use only the criterion that matches the current session.</a:t>
            </a:r>
          </a:p>
          <a:p xmlns:a="http://schemas.openxmlformats.org/drawingml/2006/main">
            <a:pPr>
              <a:buNone/>
            </a:pPr>
            <a:r>
              <a:rPr lang="en-US" sz="1100"/>
              <a:t>SHOW PROGRESS: Students point to their own existing work, explain what improved after feedback, and name a next step. Pair confidence ratings with actual evidence.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spcBef>
                <a:spcPts val="0"/>
              </a:spcBef>
              <a:spcAft>
                <a:spcPts val="0"/>
              </a:spcAft>
              <a:buNone/>
            </a:pPr>
            <a:r>
              <a:t>Read the objective together, then have one or two students restate today’s goal in their own words.</a:t>
            </a:r>
          </a:p>
          <a:p>
            <a:pPr indent="0" lvl="0" marL="0" rtl="0" algn="l">
              <a:spcBef>
                <a:spcPts val="0"/>
              </a:spcBef>
              <a:spcAft>
                <a:spcPts val="0"/>
              </a:spcAft>
              <a:buNone/>
            </a:pPr>
            <a:r>
              <a:t>Connect it to what the class learned last lesson.</a:t>
            </a:r>
          </a:p>
          <a:p>
            <a:pPr indent="0" lvl="0" marL="0" rtl="0" algn="l">
              <a:spcBef>
                <a:spcPts val="0"/>
              </a:spcBef>
              <a:spcAft>
                <a:spcPts val="0"/>
              </a:spcAft>
              <a:buNone/>
            </a:pPr>
            <a:r>
              <a:t>Return to this goal at the end of class to check it was met.</a:t>
            </a:r>
          </a:p>
          <a:p>
            <a:pPr indent="0" lvl="0" marL="0" rtl="0" algn="l">
              <a:spcBef>
                <a:spcPts val="0"/>
              </a:spcBef>
              <a:spcAft>
                <a:spcPts val="0"/>
              </a:spcAft>
              <a:buNone/>
            </a:pPr>
            <a:r>
              <a:t>UIFR: TEACH 1.</a:t>
            </a:r>
          </a:p>
          <a:p>
            <a:pPr>
              <a:buNone/>
            </a:pPr>
            <a:r>
              <a:rPr lang="en-US" sz="1100"/>
              <a:t/>
            </a:r>
          </a:p>
          <a:p>
            <a:pPr>
              <a:buNone/>
            </a:pPr>
            <a:r>
              <a:rPr lang="en-US" sz="1100"/>
              <a:t>UIFR FULL | Lesson-specific facilitation</a:t>
            </a:r>
          </a:p>
          <a:p>
            <a:pPr>
              <a:buNone/>
            </a:pPr>
            <a:r>
              <a:rPr lang="en-US" sz="1100"/>
              <a:t>TEACH 1 | Session 1 purpose and evidence (UIFR PDF p. 8).</a:t>
            </a:r>
          </a:p>
          <a:p>
            <a:pPr>
              <a:buNone/>
            </a:pPr>
            <a:r>
              <a:rPr lang="en-US" sz="1100"/>
              <a:t>Have students restate the displayed session goal in their own words and connect it to the existing context or a familiar experience they choose to share. Use the current session goal to select from these lesson-wide evidence criteria; do not frontload a later-session procedure.</a:t>
            </a:r>
          </a:p>
          <a:p>
            <a:pPr>
              <a:buNone/>
            </a:pPr>
            <a:r>
              <a:rPr lang="en-US" sz="1100"/>
              <a:t>Look for: identify base and perpendicular height; connect rearrangement to base times height; label square units. Ask: “Which part of your work would show this?” Revisit that evidence after the task; a confidence rating alone is not evidence of understanding.</a:t>
            </a:r>
          </a:p>
        </p:txBody>
      </p:sp>
      <p:sp>
        <p:nvSpPr>
          <p:cNvPr id="335" name="Google Shape;335;p5: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5" name="Shape 355"/>
        <p:cNvGrpSpPr/>
        <p:nvPr/>
      </p:nvGrpSpPr>
      <p:grpSpPr>
        <a:xfrm>
          <a:off x="0" y="0"/>
          <a:ext cx="0" cy="0"/>
          <a:chOff x="0" y="0"/>
          <a:chExt cx="0" cy="0"/>
        </a:xfrm>
      </p:grpSpPr>
      <p:sp>
        <p:nvSpPr>
          <p:cNvPr id="356" name="Google Shape;356;p6:notes"/>
          <p:cNvSpPr txBox="1"/>
          <p:nvPr>
            <p:ph idx="1" type="body"/>
          </p:nvPr>
        </p:nvSpPr>
        <p:spPr>
          <a:xfrm>
            <a:off x="701040" y="4444862"/>
            <a:ext cx="5608320" cy="3636705"/>
          </a:xfrm>
          <a:prstGeom prst="rect">
            <a:avLst/>
          </a:prstGeom>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5.1, slide 19 | VOCAB</a:t>
            </a:r>
          </a:p>
          <a:p xmlns:a="http://schemas.openxmlformats.org/drawingml/2006/main">
            <a:pPr>
              <a:buNone/>
            </a:pPr>
            <a:r>
              <a:rPr lang="en-US" sz="1100"/>
              <a:t>Focus on the existing task: Vocabulary Today’s Math Words We learn…</a:t>
            </a:r>
          </a:p>
          <a:p xmlns:a="http://schemas.openxmlformats.org/drawingml/2006/main">
            <a:pPr>
              <a:buNone/>
            </a:pPr>
            <a:r>
              <a:rPr lang="en-US" sz="1100"/>
              <a:t>ASK (T1/3/5): Where does “the displayed term” appear in the example? Explain the meaning without reading the definition. Partner: restate the idea and ask a clarifying question.</a:t>
            </a:r>
          </a:p>
          <a:p xmlns:a="http://schemas.openxmlformats.org/drawingml/2006/main">
            <a:pPr>
              <a:buNone/>
            </a:pPr>
            <a:r>
              <a:rPr lang="en-US" sz="1100"/>
              <a:t>LOOK FOR: A correct connection between the word and a feature of the example. If the student only repeats the definition, invite pointing, sketching or oral rehearsal, then ask for another explanation of this same example.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spcBef>
                <a:spcPts val="0"/>
              </a:spcBef>
              <a:spcAft>
                <a:spcPts val="0"/>
              </a:spcAft>
              <a:buNone/>
            </a:pPr>
            <a:r>
              <a:t>Choral-read each word, its meaning, and what it looks like.</a:t>
            </a:r>
          </a:p>
          <a:p>
            <a:pPr indent="0" lvl="0" marL="0" rtl="0" algn="l">
              <a:spcBef>
                <a:spcPts val="0"/>
              </a:spcBef>
              <a:spcAft>
                <a:spcPts val="0"/>
              </a:spcAft>
              <a:buNone/>
            </a:pPr>
            <a:r>
              <a:t>Students should use these words out loud today — listen for them in partner talk and revoice student ideas with the academic term.</a:t>
            </a:r>
          </a:p>
          <a:p>
            <a:pPr indent="0" lvl="0" marL="0" rtl="0" algn="l">
              <a:spcBef>
                <a:spcPts val="0"/>
              </a:spcBef>
              <a:spcAft>
                <a:spcPts val="0"/>
              </a:spcAft>
              <a:buNone/>
            </a:pPr>
            <a:r>
              <a:t>UIFR: TEACH 1 · TEACH 5.</a:t>
            </a:r>
          </a:p>
        </p:txBody>
      </p:sp>
      <p:sp>
        <p:nvSpPr>
          <p:cNvPr id="357" name="Google Shape;357;p6: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7" name="Shape 587"/>
        <p:cNvGrpSpPr/>
        <p:nvPr/>
      </p:nvGrpSpPr>
      <p:grpSpPr>
        <a:xfrm>
          <a:off x="0" y="0"/>
          <a:ext cx="0" cy="0"/>
          <a:chOff x="0" y="0"/>
          <a:chExt cx="0" cy="0"/>
        </a:xfrm>
      </p:grpSpPr>
      <p:sp>
        <p:nvSpPr>
          <p:cNvPr id="588" name="Google Shape;588;p17:notes"/>
          <p:cNvSpPr txBox="1"/>
          <p:nvPr>
            <p:ph idx="1" type="body"/>
          </p:nvPr>
        </p:nvSpPr>
        <p:spPr>
          <a:xfrm>
            <a:off x="701040" y="4444862"/>
            <a:ext cx="5608320" cy="3636705"/>
          </a:xfrm>
          <a:prstGeom prst="rect">
            <a:avLst/>
          </a:prstGeom>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5.1, slide 2 | NOTES</a:t>
            </a:r>
          </a:p>
          <a:p xmlns:a="http://schemas.openxmlformats.org/drawingml/2006/main">
            <a:pPr>
              <a:buNone/>
            </a:pPr>
            <a:r>
              <a:rPr lang="en-US" sz="1100"/>
              <a:t>Focus on the existing task: Today’s Math Notes Section 1: Math Words…</a:t>
            </a:r>
          </a:p>
          <a:p xmlns:a="http://schemas.openxmlformats.org/drawingml/2006/main">
            <a:pPr>
              <a:buNone/>
            </a:pPr>
            <a:r>
              <a:rPr lang="en-US" sz="1100"/>
              <a:t>ROUTINE (T1/2/4): Read or copy the original notes, cover one line, and explain it using the displayed example. Reopen and correct. Copying alone is not evidence of understanding.</a:t>
            </a:r>
          </a:p>
          <a:p xmlns:a="http://schemas.openxmlformats.org/drawingml/2006/main">
            <a:pPr>
              <a:buNone/>
            </a:pPr>
            <a:r>
              <a:rPr lang="en-US" sz="1100"/>
              <a:t>LOOK FOR: A link between a symbol, quantity or feature and the explanation. If missing, point back to that feature and have the student try again; fade the prompt once they can explain.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spcBef>
                <a:spcPts val="0"/>
              </a:spcBef>
              <a:spcAft>
                <a:spcPts val="0"/>
              </a:spcAft>
              <a:buNone/>
            </a:pPr>
            <a:r>
              <a:t>Copy routine: read one line at a time; students copy, then explain that line to a partner.</a:t>
            </a:r>
          </a:p>
          <a:p>
            <a:pPr indent="0" lvl="0" marL="0" rtl="0" algn="l">
              <a:spcBef>
                <a:spcPts val="0"/>
              </a:spcBef>
              <a:spcAft>
                <a:spcPts val="0"/>
              </a:spcAft>
              <a:buNone/>
            </a:pPr>
            <a:r>
              <a:t>Keep it brisk — the understanding work happens in the examples, not the copying.</a:t>
            </a:r>
          </a:p>
          <a:p>
            <a:pPr indent="0" lvl="0" marL="0" rtl="0" algn="l">
              <a:spcBef>
                <a:spcPts val="0"/>
              </a:spcBef>
              <a:spcAft>
                <a:spcPts val="0"/>
              </a:spcAft>
              <a:buNone/>
            </a:pPr>
            <a:r>
              <a:t>UIFR: TEACH 1 · TEACH 6.</a:t>
            </a:r>
          </a:p>
        </p:txBody>
      </p:sp>
      <p:sp>
        <p:nvSpPr>
          <p:cNvPr id="589" name="Google Shape;589;p17: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5" name="Shape 615"/>
        <p:cNvGrpSpPr/>
        <p:nvPr/>
      </p:nvGrpSpPr>
      <p:grpSpPr>
        <a:xfrm>
          <a:off x="0" y="0"/>
          <a:ext cx="0" cy="0"/>
          <a:chOff x="0" y="0"/>
          <a:chExt cx="0" cy="0"/>
        </a:xfrm>
      </p:grpSpPr>
      <p:sp>
        <p:nvSpPr>
          <p:cNvPr id="616" name="Google Shape;616;p18:notes"/>
          <p:cNvSpPr txBox="1"/>
          <p:nvPr>
            <p:ph idx="1" type="body"/>
          </p:nvPr>
        </p:nvSpPr>
        <p:spPr>
          <a:xfrm>
            <a:off x="701040" y="4444862"/>
            <a:ext cx="5608320" cy="3636705"/>
          </a:xfrm>
          <a:prstGeom prst="rect">
            <a:avLst/>
          </a:prstGeom>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5.1, slide 3 | NOTES</a:t>
            </a:r>
          </a:p>
          <a:p xmlns:a="http://schemas.openxmlformats.org/drawingml/2006/main">
            <a:pPr>
              <a:buNone/>
            </a:pPr>
            <a:r>
              <a:rPr lang="en-US" sz="1100"/>
              <a:t>Focus on the existing task: Today’s Math Notes Section 2: Today’s…</a:t>
            </a:r>
          </a:p>
          <a:p xmlns:a="http://schemas.openxmlformats.org/drawingml/2006/main">
            <a:pPr>
              <a:buNone/>
            </a:pPr>
            <a:r>
              <a:rPr lang="en-US" sz="1100"/>
              <a:t>ROUTINE (T1/2/4): Read or copy the original notes, cover one line, and explain it using the displayed example. Reopen and correct. Copying alone is not evidence of understanding.</a:t>
            </a:r>
          </a:p>
          <a:p xmlns:a="http://schemas.openxmlformats.org/drawingml/2006/main">
            <a:pPr>
              <a:buNone/>
            </a:pPr>
            <a:r>
              <a:rPr lang="en-US" sz="1100"/>
              <a:t>LOOK FOR: A link between a symbol, quantity or feature and the explanation. If missing, point back to that feature and have the student try again; fade the prompt once they can explain.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spcBef>
                <a:spcPts val="0"/>
              </a:spcBef>
              <a:spcAft>
                <a:spcPts val="0"/>
              </a:spcAft>
              <a:buNone/>
            </a:pPr>
            <a:r>
              <a:t>Copy routine: read one line at a time; students copy, then explain that line to a partner.</a:t>
            </a:r>
          </a:p>
          <a:p>
            <a:pPr indent="0" lvl="0" marL="0" rtl="0" algn="l">
              <a:spcBef>
                <a:spcPts val="0"/>
              </a:spcBef>
              <a:spcAft>
                <a:spcPts val="0"/>
              </a:spcAft>
              <a:buNone/>
            </a:pPr>
            <a:r>
              <a:t>Keep it brisk — the understanding work happens in the examples, not the copying.</a:t>
            </a:r>
          </a:p>
          <a:p>
            <a:pPr indent="0" lvl="0" marL="0" rtl="0" algn="l">
              <a:spcBef>
                <a:spcPts val="0"/>
              </a:spcBef>
              <a:spcAft>
                <a:spcPts val="0"/>
              </a:spcAft>
              <a:buNone/>
            </a:pPr>
            <a:r>
              <a:t>UIFR: TEACH 1 · TEACH 6.</a:t>
            </a:r>
          </a:p>
        </p:txBody>
      </p:sp>
      <p:sp>
        <p:nvSpPr>
          <p:cNvPr id="617" name="Google Shape;617;p18: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2" name="Shape 662"/>
        <p:cNvGrpSpPr/>
        <p:nvPr/>
      </p:nvGrpSpPr>
      <p:grpSpPr>
        <a:xfrm>
          <a:off x="0" y="0"/>
          <a:ext cx="0" cy="0"/>
          <a:chOff x="0" y="0"/>
          <a:chExt cx="0" cy="0"/>
        </a:xfrm>
      </p:grpSpPr>
      <p:sp>
        <p:nvSpPr>
          <p:cNvPr id="663" name="Google Shape;663;p21: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5.1, slide 20 | TASK</a:t>
            </a:r>
          </a:p>
          <a:p xmlns:a="http://schemas.openxmlformats.org/drawingml/2006/main">
            <a:pPr>
              <a:buNone/>
            </a:pPr>
            <a:r>
              <a:rPr lang="en-US" sz="1100"/>
              <a:t>Focus on the existing task: What is the area of the parallelogram shown?</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identify base and perpendicular height. Ask which feature of their work supports the claim.</a:t>
            </a:r>
          </a:p>
          <a:p xmlns:a="http://schemas.openxmlformats.org/drawingml/2006/main">
            <a:pPr>
              <a:buNone/>
            </a:pPr>
            <a:r>
              <a:rPr lang="en-US" sz="1100"/>
              <a:t>RESPOND: If this task shows the lesson misconception—using a slanted side as the height—mark a right angle between the selected base and height on the original diagram.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Model briefly, then hand the thinking back: ask “Why does this step work?” before showing the next one.</a:t>
            </a:r>
          </a:p>
          <a:p>
            <a:pPr indent="0" lvl="0" marL="0" rtl="0" algn="l">
              <a:lnSpc>
                <a:spcPct val="100000"/>
              </a:lnSpc>
              <a:spcBef>
                <a:spcPts val="0"/>
              </a:spcBef>
              <a:spcAft>
                <a:spcPts val="0"/>
              </a:spcAft>
              <a:buSzPts val="1400"/>
              <a:buNone/>
            </a:pPr>
            <a:r>
              <a:t>Quick check before moving on — thumbs or whiteboards from everyone, not volunteers.</a:t>
            </a:r>
          </a:p>
          <a:p>
            <a:pPr indent="0" lvl="0" marL="0" rtl="0" algn="l">
              <a:lnSpc>
                <a:spcPct val="100000"/>
              </a:lnSpc>
              <a:spcBef>
                <a:spcPts val="0"/>
              </a:spcBef>
              <a:spcAft>
                <a:spcPts val="0"/>
              </a:spcAft>
              <a:buSzPts val="1400"/>
              <a:buNone/>
            </a:pPr>
            <a:r>
              <a:t>UIFR: TEACH 2 · TEACH 3 · TEACH 4.</a:t>
            </a:r>
          </a:p>
          <a:p>
            <a:pPr>
              <a:buNone/>
            </a:pPr>
            <a:r>
              <a:rPr lang="en-US" sz="1100"/>
              <a:t/>
            </a:r>
          </a:p>
          <a:p>
            <a:pPr>
              <a:buNone/>
            </a:pPr>
            <a:r>
              <a:rPr lang="en-US" sz="1100"/>
              <a:t>UIFR FULL | Lesson-specific facilitation</a:t>
            </a:r>
          </a:p>
          <a:p>
            <a:pPr>
              <a:buNone/>
            </a:pPr>
            <a:r>
              <a:rPr lang="en-US" sz="1100"/>
              <a:t>TEACH 2-3 | Session 1 task launch (UIFR PDF pp. 9-10).</a:t>
            </a:r>
          </a:p>
          <a:p>
            <a:pPr>
              <a:buNone/>
            </a:pPr>
            <a:r>
              <a:rPr lang="en-US" sz="1100"/>
              <a:t>Use the problem exactly as displayed. Give individual thinking time before discussion or advancing to the explanation. If the answer is already visible, ask students to reconstruct and justify it. Invite a choice of suitable representations and have students explain why their choice helps.</a:t>
            </a:r>
          </a:p>
          <a:p>
            <a:pPr>
              <a:buNone/>
            </a:pPr>
            <a:r>
              <a:rPr lang="en-US" sz="1100"/>
              <a:t>At the point where this concept appears, ask: “Why does rearranging this parallelogram preserve area, and which segment is its height?” Wait for evidence, invite another pathway, and have a student ask a follow-up question. Do not replace students’ reasoning with a sequence of leading steps.</a:t>
            </a:r>
          </a:p>
        </p:txBody>
      </p:sp>
      <p:sp>
        <p:nvSpPr>
          <p:cNvPr id="664" name="Google Shape;664;p21: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9" name="Shape 679"/>
        <p:cNvGrpSpPr/>
        <p:nvPr/>
      </p:nvGrpSpPr>
      <p:grpSpPr>
        <a:xfrm>
          <a:off x="0" y="0"/>
          <a:ext cx="0" cy="0"/>
          <a:chOff x="0" y="0"/>
          <a:chExt cx="0" cy="0"/>
        </a:xfrm>
      </p:grpSpPr>
      <p:sp>
        <p:nvSpPr>
          <p:cNvPr id="680" name="Google Shape;680;p23: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5.1, slide 21 | REVEAL</a:t>
            </a:r>
          </a:p>
          <a:p xmlns:a="http://schemas.openxmlformats.org/drawingml/2006/main">
            <a:pPr>
              <a:buNone/>
            </a:pPr>
            <a:r>
              <a:rPr lang="en-US" sz="1100"/>
              <a:t>Focus on the existing task: How can you use the grid to help you estimate the area?</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identify base and perpendicular height. Ask which feature of their work supports the claim.</a:t>
            </a:r>
          </a:p>
          <a:p xmlns:a="http://schemas.openxmlformats.org/drawingml/2006/main">
            <a:pPr>
              <a:buNone/>
            </a:pPr>
            <a:r>
              <a:rPr lang="en-US" sz="1100"/>
              <a:t>RESPOND: If this task shows the lesson misconception—using a slanted side as the height—mark a right angle between the selected base and height on the original diagram.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Do not click yet: collect 2–3 student answers with reasons first.</a:t>
            </a:r>
          </a:p>
          <a:p>
            <a:pPr indent="0" lvl="0" marL="0" rtl="0" algn="l">
              <a:lnSpc>
                <a:spcPct val="100000"/>
              </a:lnSpc>
              <a:spcBef>
                <a:spcPts val="0"/>
              </a:spcBef>
              <a:spcAft>
                <a:spcPts val="0"/>
              </a:spcAft>
              <a:buSzPts val="1400"/>
              <a:buNone/>
            </a:pPr>
            <a:r>
              <a:t>Then click to remove the cover and have students compare their thinking to the reveal — “Is this what we said? Where is it different?”</a:t>
            </a:r>
          </a:p>
          <a:p>
            <a:pPr indent="0" lvl="0" marL="0" rtl="0" algn="l">
              <a:lnSpc>
                <a:spcPct val="100000"/>
              </a:lnSpc>
              <a:spcBef>
                <a:spcPts val="0"/>
              </a:spcBef>
              <a:spcAft>
                <a:spcPts val="0"/>
              </a:spcAft>
              <a:buSzPts val="1400"/>
              <a:buNone/>
            </a:pPr>
            <a:r>
              <a:t>Behind the cover: We can count the whole squares inside the shape. We can approximate the number of whole squares that can be created from the partial squares. And then add the two amounts together.</a:t>
            </a:r>
          </a:p>
          <a:p>
            <a:pPr indent="0" lvl="0" marL="0" rtl="0" algn="l">
              <a:lnSpc>
                <a:spcPct val="100000"/>
              </a:lnSpc>
              <a:spcBef>
                <a:spcPts val="0"/>
              </a:spcBef>
              <a:spcAft>
                <a:spcPts val="0"/>
              </a:spcAft>
              <a:buSzPts val="1400"/>
              <a:buNone/>
            </a:pPr>
            <a:r>
              <a:t>UIFR: TEACH 3 · TEACH 4.</a:t>
            </a:r>
          </a:p>
        </p:txBody>
      </p:sp>
      <p:sp>
        <p:nvSpPr>
          <p:cNvPr id="681" name="Google Shape;681;p23: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7" name="Shape 697"/>
        <p:cNvGrpSpPr/>
        <p:nvPr/>
      </p:nvGrpSpPr>
      <p:grpSpPr>
        <a:xfrm>
          <a:off x="0" y="0"/>
          <a:ext cx="0" cy="0"/>
          <a:chOff x="0" y="0"/>
          <a:chExt cx="0" cy="0"/>
        </a:xfrm>
      </p:grpSpPr>
      <p:sp>
        <p:nvSpPr>
          <p:cNvPr id="698" name="Google Shape;698;p25: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5.1, slide 22 | REVEAL</a:t>
            </a:r>
          </a:p>
          <a:p xmlns:a="http://schemas.openxmlformats.org/drawingml/2006/main">
            <a:pPr>
              <a:buNone/>
            </a:pPr>
            <a:r>
              <a:rPr lang="en-US" sz="1100"/>
              <a:t>Focus on the existing task: How can you decompose the parallelogram into other shapes that you know?</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identify base and perpendicular height. Ask which feature of their work supports the claim.</a:t>
            </a:r>
          </a:p>
          <a:p xmlns:a="http://schemas.openxmlformats.org/drawingml/2006/main">
            <a:pPr>
              <a:buNone/>
            </a:pPr>
            <a:r>
              <a:rPr lang="en-US" sz="1100"/>
              <a:t>RESPOND: If this task shows the lesson misconception—using a slanted side as the height—mark a right angle between the selected base and height on the original diagram.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Do not click yet: collect 2–3 student answers with reasons first.</a:t>
            </a:r>
          </a:p>
          <a:p>
            <a:pPr indent="0" lvl="0" marL="0" rtl="0" algn="l">
              <a:lnSpc>
                <a:spcPct val="100000"/>
              </a:lnSpc>
              <a:spcBef>
                <a:spcPts val="0"/>
              </a:spcBef>
              <a:spcAft>
                <a:spcPts val="0"/>
              </a:spcAft>
              <a:buSzPts val="1400"/>
              <a:buNone/>
            </a:pPr>
            <a:r>
              <a:t>Then click to remove the cover and have students compare their thinking to the reveal — “Is this what we said? Where is it different?”</a:t>
            </a:r>
          </a:p>
          <a:p>
            <a:pPr indent="0" lvl="0" marL="0" rtl="0" algn="l">
              <a:lnSpc>
                <a:spcPct val="100000"/>
              </a:lnSpc>
              <a:spcBef>
                <a:spcPts val="0"/>
              </a:spcBef>
              <a:spcAft>
                <a:spcPts val="0"/>
              </a:spcAft>
              <a:buSzPts val="1400"/>
              <a:buNone/>
            </a:pPr>
            <a:r>
              <a:t>Behind the cover: We can decompose the parallelogram into a rectangle and two triangles.</a:t>
            </a:r>
          </a:p>
          <a:p>
            <a:pPr indent="0" lvl="0" marL="0" rtl="0" algn="l">
              <a:lnSpc>
                <a:spcPct val="100000"/>
              </a:lnSpc>
              <a:spcBef>
                <a:spcPts val="0"/>
              </a:spcBef>
              <a:spcAft>
                <a:spcPts val="0"/>
              </a:spcAft>
              <a:buSzPts val="1400"/>
              <a:buNone/>
            </a:pPr>
            <a:r>
              <a:t>UIFR: TEACH 3 · TEACH 4.</a:t>
            </a:r>
          </a:p>
        </p:txBody>
      </p:sp>
      <p:sp>
        <p:nvSpPr>
          <p:cNvPr id="699" name="Google Shape;699;p25: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6" name="Shape 706"/>
        <p:cNvGrpSpPr/>
        <p:nvPr/>
      </p:nvGrpSpPr>
      <p:grpSpPr>
        <a:xfrm>
          <a:off x="0" y="0"/>
          <a:ext cx="0" cy="0"/>
          <a:chOff x="0" y="0"/>
          <a:chExt cx="0" cy="0"/>
        </a:xfrm>
      </p:grpSpPr>
      <p:sp>
        <p:nvSpPr>
          <p:cNvPr id="707" name="Google Shape;707;p26: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5.1, slide 23 | TASK</a:t>
            </a:r>
          </a:p>
          <a:p xmlns:a="http://schemas.openxmlformats.org/drawingml/2006/main">
            <a:pPr>
              <a:buNone/>
            </a:pPr>
            <a:r>
              <a:rPr lang="en-US" sz="1100"/>
              <a:t>Focus on the existing task: Think About It: How have you determined the area of composite shapes in the past?</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identify base and perpendicular height. Ask which feature of their work supports the claim.</a:t>
            </a:r>
          </a:p>
          <a:p xmlns:a="http://schemas.openxmlformats.org/drawingml/2006/main">
            <a:pPr>
              <a:buNone/>
            </a:pPr>
            <a:r>
              <a:rPr lang="en-US" sz="1100"/>
              <a:t>RESPOND: If this task shows the lesson misconception—using a slanted side as the height—mark a right angle between the selected base and height on the original diagram.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Ask the question, then hold the silence — students think or jot before anyone answers.</a:t>
            </a:r>
          </a:p>
          <a:p>
            <a:pPr indent="0" lvl="0" marL="0" rtl="0" algn="l">
              <a:lnSpc>
                <a:spcPct val="100000"/>
              </a:lnSpc>
              <a:spcBef>
                <a:spcPts val="0"/>
              </a:spcBef>
              <a:spcAft>
                <a:spcPts val="0"/>
              </a:spcAft>
              <a:buSzPts val="1400"/>
              <a:buNone/>
            </a:pPr>
            <a:r>
              <a:t>Take two or three responses and press with “Why?” or “How do you know?” before moving on.</a:t>
            </a:r>
          </a:p>
          <a:p>
            <a:pPr indent="0" lvl="0" marL="0" rtl="0" algn="l">
              <a:lnSpc>
                <a:spcPct val="100000"/>
              </a:lnSpc>
              <a:spcBef>
                <a:spcPts val="0"/>
              </a:spcBef>
              <a:spcAft>
                <a:spcPts val="0"/>
              </a:spcAft>
              <a:buSzPts val="1400"/>
              <a:buNone/>
            </a:pPr>
            <a:r>
              <a:t>UIFR: TEACH 3.</a:t>
            </a:r>
          </a:p>
        </p:txBody>
      </p:sp>
      <p:sp>
        <p:nvSpPr>
          <p:cNvPr id="708" name="Google Shape;708;p26: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4" name="Shape 724"/>
        <p:cNvGrpSpPr/>
        <p:nvPr/>
      </p:nvGrpSpPr>
      <p:grpSpPr>
        <a:xfrm>
          <a:off x="0" y="0"/>
          <a:ext cx="0" cy="0"/>
          <a:chOff x="0" y="0"/>
          <a:chExt cx="0" cy="0"/>
        </a:xfrm>
      </p:grpSpPr>
      <p:sp>
        <p:nvSpPr>
          <p:cNvPr id="725" name="Google Shape;725;p28: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5.1, slide 24 | REVEAL</a:t>
            </a:r>
          </a:p>
          <a:p xmlns:a="http://schemas.openxmlformats.org/drawingml/2006/main">
            <a:pPr>
              <a:buNone/>
            </a:pPr>
            <a:r>
              <a:rPr lang="en-US" sz="1100"/>
              <a:t>Focus on the existing task: Reveal: We can compose the shapes into a rectangle. We can move the triangle on the left to the other side. We can decompose the…</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identify base and perpendicular height. Ask which feature of their work supports the claim.</a:t>
            </a:r>
          </a:p>
          <a:p xmlns:a="http://schemas.openxmlformats.org/drawingml/2006/main">
            <a:pPr>
              <a:buNone/>
            </a:pPr>
            <a:r>
              <a:rPr lang="en-US" sz="1100"/>
              <a:t>RESPOND: If this task shows the lesson misconception—using a slanted side as the height—mark a right angle between the selected base and height on the original diagram.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Do not click yet: collect 2–3 student answers with reasons first.</a:t>
            </a:r>
          </a:p>
          <a:p>
            <a:pPr indent="0" lvl="0" marL="0" rtl="0" algn="l">
              <a:lnSpc>
                <a:spcPct val="100000"/>
              </a:lnSpc>
              <a:spcBef>
                <a:spcPts val="0"/>
              </a:spcBef>
              <a:spcAft>
                <a:spcPts val="0"/>
              </a:spcAft>
              <a:buSzPts val="1400"/>
              <a:buNone/>
            </a:pPr>
            <a:r>
              <a:t>Then click to remove the cover and have students compare their thinking to the reveal — “Is this what we said? Where is it different?”</a:t>
            </a:r>
          </a:p>
          <a:p>
            <a:pPr indent="0" lvl="0" marL="0" rtl="0" algn="l">
              <a:lnSpc>
                <a:spcPct val="100000"/>
              </a:lnSpc>
              <a:spcBef>
                <a:spcPts val="0"/>
              </a:spcBef>
              <a:spcAft>
                <a:spcPts val="0"/>
              </a:spcAft>
              <a:buSzPts val="1400"/>
              <a:buNone/>
            </a:pPr>
            <a:r>
              <a:t>Behind the cover: We can compose the shapes into a rectangle. We can move the triangle on the left to the other side.</a:t>
            </a:r>
          </a:p>
          <a:p>
            <a:pPr indent="0" lvl="0" marL="0" rtl="0" algn="l">
              <a:lnSpc>
                <a:spcPct val="100000"/>
              </a:lnSpc>
              <a:spcBef>
                <a:spcPts val="0"/>
              </a:spcBef>
              <a:spcAft>
                <a:spcPts val="0"/>
              </a:spcAft>
              <a:buSzPts val="1400"/>
              <a:buNone/>
            </a:pPr>
            <a:r>
              <a:t>UIFR: TEACH 3 · TEACH 4.</a:t>
            </a:r>
          </a:p>
        </p:txBody>
      </p:sp>
      <p:sp>
        <p:nvSpPr>
          <p:cNvPr id="726" name="Google Shape;726;p28: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3" name="Shape 743"/>
        <p:cNvGrpSpPr/>
        <p:nvPr/>
      </p:nvGrpSpPr>
      <p:grpSpPr>
        <a:xfrm>
          <a:off x="0" y="0"/>
          <a:ext cx="0" cy="0"/>
          <a:chOff x="0" y="0"/>
          <a:chExt cx="0" cy="0"/>
        </a:xfrm>
      </p:grpSpPr>
      <p:sp>
        <p:nvSpPr>
          <p:cNvPr id="744" name="Google Shape;744;p30: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45" name="Google Shape;745;p30: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5.1, slide 25 | TASK</a:t>
            </a:r>
          </a:p>
          <a:p xmlns:a="http://schemas.openxmlformats.org/drawingml/2006/main">
            <a:pPr>
              <a:buNone/>
            </a:pPr>
            <a:r>
              <a:rPr lang="en-US" sz="1100"/>
              <a:t>Focus on the existing task: Let’s compose the parallelogram into a rectangle. How can you find the area of the rectangle?</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identify base and perpendicular height. Ask which feature of their work supports the claim.</a:t>
            </a:r>
          </a:p>
          <a:p xmlns:a="http://schemas.openxmlformats.org/drawingml/2006/main">
            <a:pPr>
              <a:buNone/>
            </a:pPr>
            <a:r>
              <a:rPr lang="en-US" sz="1100"/>
              <a:t>RESPOND: If this task shows the lesson misconception—using a slanted side as the height—mark a right angle between the selected base and height on the original diagram.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Model briefly, then hand the thinking back: ask “Why does this step work?” before showing the next one.</a:t>
            </a:r>
          </a:p>
          <a:p>
            <a:pPr indent="0" lvl="0" marL="0" rtl="0" algn="l">
              <a:lnSpc>
                <a:spcPct val="100000"/>
              </a:lnSpc>
              <a:spcBef>
                <a:spcPts val="0"/>
              </a:spcBef>
              <a:spcAft>
                <a:spcPts val="0"/>
              </a:spcAft>
              <a:buSzPts val="1400"/>
              <a:buNone/>
            </a:pPr>
            <a:r>
              <a:t>Quick check before moving on — thumbs or whiteboards from everyone, not volunteers.</a:t>
            </a:r>
          </a:p>
          <a:p>
            <a:pPr indent="0" lvl="0" marL="0" rtl="0" algn="l">
              <a:lnSpc>
                <a:spcPct val="100000"/>
              </a:lnSpc>
              <a:spcBef>
                <a:spcPts val="0"/>
              </a:spcBef>
              <a:spcAft>
                <a:spcPts val="0"/>
              </a:spcAft>
              <a:buSzPts val="1400"/>
              <a:buNone/>
            </a:pPr>
            <a:r>
              <a:t>UIFR: TEACH 2 · TEACH 3 · TEACH 4.</a:t>
            </a:r>
          </a:p>
        </p:txBody>
      </p:sp>
      <p:sp>
        <p:nvSpPr>
          <p:cNvPr id="746" name="Google Shape;746;p30:notes"/>
          <p:cNvSpPr txBox="1"/>
          <p:nvPr>
            <p:ph idx="12" type="sldNum"/>
          </p:nvPr>
        </p:nvSpPr>
        <p:spPr>
          <a:xfrm>
            <a:off x="3970938" y="8772669"/>
            <a:ext cx="3037840" cy="463406"/>
          </a:xfrm>
          <a:prstGeom prst="rect">
            <a:avLst/>
          </a:prstGeom>
          <a:noFill/>
          <a:ln>
            <a:noFill/>
          </a:ln>
        </p:spPr>
        <p:txBody>
          <a:bodyPr anchorCtr="0" anchor="b" bIns="46125" lIns="92275" spcFirstLastPara="1" rIns="92275" wrap="square" tIns="46125">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4" name="Shape 764"/>
        <p:cNvGrpSpPr/>
        <p:nvPr/>
      </p:nvGrpSpPr>
      <p:grpSpPr>
        <a:xfrm>
          <a:off x="0" y="0"/>
          <a:ext cx="0" cy="0"/>
          <a:chOff x="0" y="0"/>
          <a:chExt cx="0" cy="0"/>
        </a:xfrm>
      </p:grpSpPr>
      <p:sp>
        <p:nvSpPr>
          <p:cNvPr id="765" name="Google Shape;765;p32: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5.1, slide 26 | REVEAL</a:t>
            </a:r>
          </a:p>
          <a:p xmlns:a="http://schemas.openxmlformats.org/drawingml/2006/main">
            <a:pPr>
              <a:buNone/>
            </a:pPr>
            <a:r>
              <a:rPr lang="en-US" sz="1100"/>
              <a:t>Focus on the existing task: Reveal: The areas are the same because we did not change the size of the figure, just its shape. How does the area of the rectangle relate to the area of the original parallelogram?</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identify base and perpendicular height. Ask which feature of their work supports the claim.</a:t>
            </a:r>
          </a:p>
          <a:p xmlns:a="http://schemas.openxmlformats.org/drawingml/2006/main">
            <a:pPr>
              <a:buNone/>
            </a:pPr>
            <a:r>
              <a:rPr lang="en-US" sz="1100"/>
              <a:t>RESPOND: If this task shows the lesson misconception—using a slanted side as the height—mark a right angle between the selected base and height on the original diagram.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Do not click yet: collect 2–3 student answers with reasons first.</a:t>
            </a:r>
          </a:p>
          <a:p>
            <a:pPr indent="0" lvl="0" marL="0" rtl="0" algn="l">
              <a:lnSpc>
                <a:spcPct val="100000"/>
              </a:lnSpc>
              <a:spcBef>
                <a:spcPts val="0"/>
              </a:spcBef>
              <a:spcAft>
                <a:spcPts val="0"/>
              </a:spcAft>
              <a:buSzPts val="1400"/>
              <a:buNone/>
            </a:pPr>
            <a:r>
              <a:t>Then click to remove the cover and have students compare their thinking to the reveal — “Is this what we said? Where is it different?”</a:t>
            </a:r>
          </a:p>
          <a:p>
            <a:pPr indent="0" lvl="0" marL="0" rtl="0" algn="l">
              <a:lnSpc>
                <a:spcPct val="100000"/>
              </a:lnSpc>
              <a:spcBef>
                <a:spcPts val="0"/>
              </a:spcBef>
              <a:spcAft>
                <a:spcPts val="0"/>
              </a:spcAft>
              <a:buSzPts val="1400"/>
              <a:buNone/>
            </a:pPr>
            <a:r>
              <a:t>Behind the cover: The areas are the same because we did not change the size of the figure, just its shape.</a:t>
            </a:r>
          </a:p>
          <a:p>
            <a:pPr indent="0" lvl="0" marL="0" rtl="0" algn="l">
              <a:lnSpc>
                <a:spcPct val="100000"/>
              </a:lnSpc>
              <a:spcBef>
                <a:spcPts val="0"/>
              </a:spcBef>
              <a:spcAft>
                <a:spcPts val="0"/>
              </a:spcAft>
              <a:buSzPts val="1400"/>
              <a:buNone/>
            </a:pPr>
            <a:r>
              <a:t>UIFR: TEACH 3 · TEACH 4.</a:t>
            </a:r>
          </a:p>
        </p:txBody>
      </p:sp>
      <p:sp>
        <p:nvSpPr>
          <p:cNvPr id="766" name="Google Shape;766;p32: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5" name="Shape 775"/>
        <p:cNvGrpSpPr/>
        <p:nvPr/>
      </p:nvGrpSpPr>
      <p:grpSpPr>
        <a:xfrm>
          <a:off x="0" y="0"/>
          <a:ext cx="0" cy="0"/>
          <a:chOff x="0" y="0"/>
          <a:chExt cx="0" cy="0"/>
        </a:xfrm>
      </p:grpSpPr>
      <p:sp>
        <p:nvSpPr>
          <p:cNvPr id="776" name="Google Shape;776;p33: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77" name="Google Shape;777;p33: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5.1, slide 27 | TASK</a:t>
            </a:r>
          </a:p>
          <a:p xmlns:a="http://schemas.openxmlformats.org/drawingml/2006/main">
            <a:pPr>
              <a:buNone/>
            </a:pPr>
            <a:r>
              <a:rPr lang="en-US" sz="1100"/>
              <a:t>Focus on the existing task: How could you check your answer?</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identify base and perpendicular height. Ask which feature of their work supports the claim.</a:t>
            </a:r>
          </a:p>
          <a:p xmlns:a="http://schemas.openxmlformats.org/drawingml/2006/main">
            <a:pPr>
              <a:buNone/>
            </a:pPr>
            <a:r>
              <a:rPr lang="en-US" sz="1100"/>
              <a:t>RESPOND: If this task shows the lesson misconception—using a slanted side as the height—mark a right angle between the selected base and height on the original diagram.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Model briefly, then hand the thinking back: ask “Why does this step work?” before showing the next one.</a:t>
            </a:r>
          </a:p>
          <a:p>
            <a:pPr indent="0" lvl="0" marL="0" rtl="0" algn="l">
              <a:lnSpc>
                <a:spcPct val="100000"/>
              </a:lnSpc>
              <a:spcBef>
                <a:spcPts val="0"/>
              </a:spcBef>
              <a:spcAft>
                <a:spcPts val="0"/>
              </a:spcAft>
              <a:buSzPts val="1400"/>
              <a:buNone/>
            </a:pPr>
            <a:r>
              <a:t>Quick check before moving on — thumbs or whiteboards from everyone, not volunteers.</a:t>
            </a:r>
          </a:p>
          <a:p>
            <a:pPr indent="0" lvl="0" marL="0" rtl="0" algn="l">
              <a:lnSpc>
                <a:spcPct val="100000"/>
              </a:lnSpc>
              <a:spcBef>
                <a:spcPts val="0"/>
              </a:spcBef>
              <a:spcAft>
                <a:spcPts val="0"/>
              </a:spcAft>
              <a:buSzPts val="1400"/>
              <a:buNone/>
            </a:pPr>
            <a:r>
              <a:t>UIFR: TEACH 2 · TEACH 3 · TEACH 4.</a:t>
            </a:r>
          </a:p>
        </p:txBody>
      </p:sp>
      <p:sp>
        <p:nvSpPr>
          <p:cNvPr id="778" name="Google Shape;778;p33:notes"/>
          <p:cNvSpPr txBox="1"/>
          <p:nvPr>
            <p:ph idx="12" type="sldNum"/>
          </p:nvPr>
        </p:nvSpPr>
        <p:spPr>
          <a:xfrm>
            <a:off x="3970938" y="8772669"/>
            <a:ext cx="3037840" cy="463406"/>
          </a:xfrm>
          <a:prstGeom prst="rect">
            <a:avLst/>
          </a:prstGeom>
          <a:noFill/>
          <a:ln>
            <a:noFill/>
          </a:ln>
        </p:spPr>
        <p:txBody>
          <a:bodyPr anchorCtr="0" anchor="b" bIns="46125" lIns="92275" spcFirstLastPara="1" rIns="92275" wrap="square" tIns="46125">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7" name="Shape 787"/>
        <p:cNvGrpSpPr/>
        <p:nvPr/>
      </p:nvGrpSpPr>
      <p:grpSpPr>
        <a:xfrm>
          <a:off x="0" y="0"/>
          <a:ext cx="0" cy="0"/>
          <a:chOff x="0" y="0"/>
          <a:chExt cx="0" cy="0"/>
        </a:xfrm>
      </p:grpSpPr>
      <p:sp>
        <p:nvSpPr>
          <p:cNvPr id="788" name="Google Shape;788;p34: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89" name="Google Shape;789;p34: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5.1, slide 28 | TASK</a:t>
            </a:r>
          </a:p>
          <a:p xmlns:a="http://schemas.openxmlformats.org/drawingml/2006/main">
            <a:pPr>
              <a:buNone/>
            </a:pPr>
            <a:r>
              <a:rPr lang="en-US" sz="1100"/>
              <a:t>Focus on the existing task: How can you use this information to determine a formula for the area of a parallelogram?</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identify base and perpendicular height. Ask which feature of their work supports the claim.</a:t>
            </a:r>
          </a:p>
          <a:p xmlns:a="http://schemas.openxmlformats.org/drawingml/2006/main">
            <a:pPr>
              <a:buNone/>
            </a:pPr>
            <a:r>
              <a:rPr lang="en-US" sz="1100"/>
              <a:t>RESPOND: If this task shows the lesson misconception—using a slanted side as the height—mark a right angle between the selected base and height on the original diagram.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Model briefly, then hand the thinking back: ask “Why does this step work?” before showing the next one.</a:t>
            </a:r>
          </a:p>
          <a:p>
            <a:pPr indent="0" lvl="0" marL="0" rtl="0" algn="l">
              <a:lnSpc>
                <a:spcPct val="100000"/>
              </a:lnSpc>
              <a:spcBef>
                <a:spcPts val="0"/>
              </a:spcBef>
              <a:spcAft>
                <a:spcPts val="0"/>
              </a:spcAft>
              <a:buSzPts val="1400"/>
              <a:buNone/>
            </a:pPr>
            <a:r>
              <a:t>Quick check before moving on — thumbs or whiteboards from everyone, not volunteers.</a:t>
            </a:r>
          </a:p>
          <a:p>
            <a:pPr indent="0" lvl="0" marL="0" rtl="0" algn="l">
              <a:lnSpc>
                <a:spcPct val="100000"/>
              </a:lnSpc>
              <a:spcBef>
                <a:spcPts val="0"/>
              </a:spcBef>
              <a:spcAft>
                <a:spcPts val="0"/>
              </a:spcAft>
              <a:buSzPts val="1400"/>
              <a:buNone/>
            </a:pPr>
            <a:r>
              <a:t>UIFR: TEACH 2 · TEACH 3 · TEACH 4.</a:t>
            </a:r>
          </a:p>
        </p:txBody>
      </p:sp>
      <p:sp>
        <p:nvSpPr>
          <p:cNvPr id="790" name="Google Shape;790;p34:notes"/>
          <p:cNvSpPr txBox="1"/>
          <p:nvPr>
            <p:ph idx="12" type="sldNum"/>
          </p:nvPr>
        </p:nvSpPr>
        <p:spPr>
          <a:xfrm>
            <a:off x="3970938" y="8772669"/>
            <a:ext cx="3037840" cy="463406"/>
          </a:xfrm>
          <a:prstGeom prst="rect">
            <a:avLst/>
          </a:prstGeom>
          <a:noFill/>
          <a:ln>
            <a:noFill/>
          </a:ln>
        </p:spPr>
        <p:txBody>
          <a:bodyPr anchorCtr="0" anchor="b" bIns="46125" lIns="92275" spcFirstLastPara="1" rIns="92275" wrap="square" tIns="46125">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7" name="Shape 797"/>
        <p:cNvGrpSpPr/>
        <p:nvPr/>
      </p:nvGrpSpPr>
      <p:grpSpPr>
        <a:xfrm>
          <a:off x="0" y="0"/>
          <a:ext cx="0" cy="0"/>
          <a:chOff x="0" y="0"/>
          <a:chExt cx="0" cy="0"/>
        </a:xfrm>
      </p:grpSpPr>
      <p:sp>
        <p:nvSpPr>
          <p:cNvPr id="798" name="Google Shape;798;p35: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99" name="Google Shape;799;p35: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5.1, slide 29 | WORKED</a:t>
            </a:r>
          </a:p>
          <a:p xmlns:a="http://schemas.openxmlformats.org/drawingml/2006/main">
            <a:pPr>
              <a:buNone/>
            </a:pPr>
            <a:r>
              <a:rPr lang="en-US" sz="1100"/>
              <a:t>Focus on the existing task: We can use the relationship between the length of the rectangle and the base of the parallelogram, and the relationship between the width…</a:t>
            </a:r>
          </a:p>
          <a:p xmlns:a="http://schemas.openxmlformats.org/drawingml/2006/main">
            <a:pPr>
              <a:buNone/>
            </a:pPr>
            <a:r>
              <a:rPr lang="en-US" sz="1100"/>
              <a:t>LAUNCH (T2/3/5): Ask students to explain the displayed idea or example and point to evidence. When a calculation step is shown, ask why it is valid. Have a partner restate the explanation; copying is not the check.</a:t>
            </a:r>
          </a:p>
          <a:p xmlns:a="http://schemas.openxmlformats.org/drawingml/2006/main">
            <a:pPr>
              <a:buNone/>
            </a:pPr>
            <a:r>
              <a:rPr lang="en-US" sz="1100"/>
              <a:t>LOOK FOR (T4): Where this task addresses it, students can identify base and perpendicular height. Ask which feature of their work supports the claim.</a:t>
            </a:r>
          </a:p>
          <a:p xmlns:a="http://schemas.openxmlformats.org/drawingml/2006/main">
            <a:pPr>
              <a:buNone/>
            </a:pPr>
            <a:r>
              <a:rPr lang="en-US" sz="1100"/>
              <a:t>RESPOND: If this task shows the lesson misconception—using a slanted side as the height—mark a right angle between the selected base and height on the original diagram.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Model briefly, then hand the thinking back: ask “Why does this step work?” before showing the next one.</a:t>
            </a:r>
          </a:p>
          <a:p>
            <a:pPr indent="0" lvl="0" marL="0" rtl="0" algn="l">
              <a:lnSpc>
                <a:spcPct val="100000"/>
              </a:lnSpc>
              <a:spcBef>
                <a:spcPts val="0"/>
              </a:spcBef>
              <a:spcAft>
                <a:spcPts val="0"/>
              </a:spcAft>
              <a:buSzPts val="1400"/>
              <a:buNone/>
            </a:pPr>
            <a:r>
              <a:t>Quick check before moving on — thumbs or whiteboards from everyone, not volunteers.</a:t>
            </a:r>
          </a:p>
          <a:p>
            <a:pPr indent="0" lvl="0" marL="0" rtl="0" algn="l">
              <a:lnSpc>
                <a:spcPct val="100000"/>
              </a:lnSpc>
              <a:spcBef>
                <a:spcPts val="0"/>
              </a:spcBef>
              <a:spcAft>
                <a:spcPts val="0"/>
              </a:spcAft>
              <a:buSzPts val="1400"/>
              <a:buNone/>
            </a:pPr>
            <a:r>
              <a:t>UIFR: TEACH 2 · TEACH 3 · TEACH 4.</a:t>
            </a:r>
          </a:p>
        </p:txBody>
      </p:sp>
      <p:sp>
        <p:nvSpPr>
          <p:cNvPr id="800" name="Google Shape;800;p35:notes"/>
          <p:cNvSpPr txBox="1"/>
          <p:nvPr>
            <p:ph idx="12" type="sldNum"/>
          </p:nvPr>
        </p:nvSpPr>
        <p:spPr>
          <a:xfrm>
            <a:off x="3970938" y="8772669"/>
            <a:ext cx="3037840" cy="463406"/>
          </a:xfrm>
          <a:prstGeom prst="rect">
            <a:avLst/>
          </a:prstGeom>
          <a:noFill/>
          <a:ln>
            <a:noFill/>
          </a:ln>
        </p:spPr>
        <p:txBody>
          <a:bodyPr anchorCtr="0" anchor="b" bIns="46125" lIns="92275" spcFirstLastPara="1" rIns="92275" wrap="square" tIns="46125">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7" name="Shape 817"/>
        <p:cNvGrpSpPr/>
        <p:nvPr/>
      </p:nvGrpSpPr>
      <p:grpSpPr>
        <a:xfrm>
          <a:off x="0" y="0"/>
          <a:ext cx="0" cy="0"/>
          <a:chOff x="0" y="0"/>
          <a:chExt cx="0" cy="0"/>
        </a:xfrm>
      </p:grpSpPr>
      <p:sp>
        <p:nvSpPr>
          <p:cNvPr id="818" name="Google Shape;818;p37: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5.1, slide 30 | COLLABORATE</a:t>
            </a:r>
          </a:p>
          <a:p xmlns:a="http://schemas.openxmlformats.org/drawingml/2006/main">
            <a:pPr>
              <a:buNone/>
            </a:pPr>
            <a:r>
              <a:rPr lang="en-US" sz="1100"/>
              <a:t>Focus on the existing task: Collaborate and Connect How can you use grid paper to confirm the area of the parallelogram found using the formula?</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label square units. Ask which feature of their work supports the claim.</a:t>
            </a:r>
          </a:p>
          <a:p xmlns:a="http://schemas.openxmlformats.org/drawingml/2006/main">
            <a:pPr>
              <a:buNone/>
            </a:pPr>
            <a:r>
              <a:rPr lang="en-US" sz="1100"/>
              <a:t>RESPOND: If this task shows the lesson misconception—using a slanted side as the height—mark a right angle between the selected base and height on the original diagram.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
            </a:r>
            <a:endParaRPr/>
          </a:p>
          <a:p>
            <a:r>
              <a:rPr lang="en-US"/>
              <a:t>Routine: COLLABORATE  ·  TALK IT THROUGH • AGREE ON A MODEL</a:t>
            </a:r>
          </a:p>
          <a:p>
            <a:pPr>
              <a:buNone/>
            </a:pPr>
            <a:r>
              <a:rPr lang="en-US" sz="1100"/>
              <a:t/>
            </a:r>
          </a:p>
          <a:p>
            <a:pPr>
              <a:buNone/>
            </a:pPr>
            <a:r>
              <a:rPr lang="en-US" sz="1100"/>
              <a:t>UIFR FULL | Lesson-specific facilitation</a:t>
            </a:r>
          </a:p>
          <a:p>
            <a:pPr>
              <a:buNone/>
            </a:pPr>
            <a:r>
              <a:rPr lang="en-US" sz="1100"/>
              <a:t>TEACH 4-5 | Session 1 discussion and checkpoint (UIFR PDF pp. 11-12).</a:t>
            </a:r>
          </a:p>
          <a:p>
            <a:pPr>
              <a:buNone/>
            </a:pPr>
            <a:r>
              <a:rPr lang="en-US" sz="1100"/>
              <a:t>Collect a brief response from every student to the existing prompt before hearing volunteers. Partners take turns explaining and asking for evidence: “I understand ___; what supports ___?” Offer rehearsal or an annotated model for students who need language support. Each student records their own reasoning.</a:t>
            </a:r>
          </a:p>
          <a:p>
            <a:pPr>
              <a:buNone/>
            </a:pPr>
            <a:r>
              <a:rPr lang="en-US" sz="1100"/>
              <a:t>Look specifically for: using a slanted side as the height. If it appears, mark a right angle between the selected base and height on the original diagram; then ask the student to revise the same response and explain the change. If evidence is secure, have students compare a second valid pathway or state why their approach works. Choose the next step from the responses, not a preset pace.</a:t>
            </a:r>
          </a:p>
        </p:txBody>
      </p:sp>
      <p:sp>
        <p:nvSpPr>
          <p:cNvPr id="819" name="Google Shape;819;p37: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8" name="Shape 828"/>
        <p:cNvGrpSpPr/>
        <p:nvPr/>
      </p:nvGrpSpPr>
      <p:grpSpPr>
        <a:xfrm>
          <a:off x="0" y="0"/>
          <a:ext cx="0" cy="0"/>
          <a:chOff x="0" y="0"/>
          <a:chExt cx="0" cy="0"/>
        </a:xfrm>
      </p:grpSpPr>
      <p:sp>
        <p:nvSpPr>
          <p:cNvPr id="829" name="Google Shape;829;p38: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5.1, slide 31 | TASK</a:t>
            </a:r>
          </a:p>
          <a:p xmlns:a="http://schemas.openxmlformats.org/drawingml/2006/main">
            <a:pPr>
              <a:buNone/>
            </a:pPr>
            <a:r>
              <a:rPr lang="en-US" sz="1100"/>
              <a:t>Focus on the existing task: What is the area of the parallelogram shown?</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label square units. Ask which feature of their work supports the claim.</a:t>
            </a:r>
          </a:p>
          <a:p xmlns:a="http://schemas.openxmlformats.org/drawingml/2006/main">
            <a:pPr>
              <a:buNone/>
            </a:pPr>
            <a:r>
              <a:rPr lang="en-US" sz="1100"/>
              <a:t>RESPOND: If this task shows the lesson misconception—using a slanted side as the height—mark a right angle between the selected base and height on the original diagram.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Model briefly, then hand the thinking back: ask “Why does this step work?” before showing the next one.</a:t>
            </a:r>
          </a:p>
          <a:p>
            <a:pPr indent="0" lvl="0" marL="0" rtl="0" algn="l">
              <a:lnSpc>
                <a:spcPct val="100000"/>
              </a:lnSpc>
              <a:spcBef>
                <a:spcPts val="0"/>
              </a:spcBef>
              <a:spcAft>
                <a:spcPts val="0"/>
              </a:spcAft>
              <a:buSzPts val="1400"/>
              <a:buNone/>
            </a:pPr>
            <a:r>
              <a:t>Quick check before moving on — thumbs or whiteboards from everyone, not volunteers.</a:t>
            </a:r>
          </a:p>
          <a:p>
            <a:pPr indent="0" lvl="0" marL="0" rtl="0" algn="l">
              <a:lnSpc>
                <a:spcPct val="100000"/>
              </a:lnSpc>
              <a:spcBef>
                <a:spcPts val="0"/>
              </a:spcBef>
              <a:spcAft>
                <a:spcPts val="0"/>
              </a:spcAft>
              <a:buSzPts val="1400"/>
              <a:buNone/>
            </a:pPr>
            <a:r>
              <a:t>UIFR: TEACH 2 · TEACH 3 · TEACH 4.</a:t>
            </a:r>
          </a:p>
        </p:txBody>
      </p:sp>
      <p:sp>
        <p:nvSpPr>
          <p:cNvPr id="830" name="Google Shape;830;p38: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7" name="Shape 837"/>
        <p:cNvGrpSpPr/>
        <p:nvPr/>
      </p:nvGrpSpPr>
      <p:grpSpPr>
        <a:xfrm>
          <a:off x="0" y="0"/>
          <a:ext cx="0" cy="0"/>
          <a:chOff x="0" y="0"/>
          <a:chExt cx="0" cy="0"/>
        </a:xfrm>
      </p:grpSpPr>
      <p:sp>
        <p:nvSpPr>
          <p:cNvPr id="838" name="Google Shape;838;p39: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5.1, slide 32 | PRACTICE</a:t>
            </a:r>
          </a:p>
          <a:p xmlns:a="http://schemas.openxmlformats.org/drawingml/2006/main">
            <a:pPr>
              <a:buNone/>
            </a:pPr>
            <a:r>
              <a:rPr lang="en-US" sz="1100"/>
              <a:t>Focus on the existing task: Workspace How can you use the given area to find the unknown dimension of the parallelogram?</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identify base and perpendicular height. Ask which feature of their work supports the claim.</a:t>
            </a:r>
          </a:p>
          <a:p xmlns:a="http://schemas.openxmlformats.org/drawingml/2006/main">
            <a:pPr>
              <a:buNone/>
            </a:pPr>
            <a:r>
              <a:rPr lang="en-US" sz="1100"/>
              <a:t>RESPOND: If this task shows the lesson misconception—using a slanted side as the height—mark a right angle between the selected base and height on the original diagram.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Extension for partners or table groups — students choose their approach and use the workspace to show thinking.</a:t>
            </a:r>
          </a:p>
          <a:p>
            <a:pPr indent="0" lvl="0" marL="0" rtl="0" algn="l">
              <a:lnSpc>
                <a:spcPct val="100000"/>
              </a:lnSpc>
              <a:spcBef>
                <a:spcPts val="0"/>
              </a:spcBef>
              <a:spcAft>
                <a:spcPts val="0"/>
              </a:spcAft>
              <a:buSzPts val="1400"/>
              <a:buNone/>
            </a:pPr>
            <a:r>
              <a:t>Push with “Convince me,” and have two groups with different approaches share.</a:t>
            </a:r>
          </a:p>
          <a:p>
            <a:pPr indent="0" lvl="0" marL="0" rtl="0" algn="l">
              <a:lnSpc>
                <a:spcPct val="100000"/>
              </a:lnSpc>
              <a:spcBef>
                <a:spcPts val="0"/>
              </a:spcBef>
              <a:spcAft>
                <a:spcPts val="0"/>
              </a:spcAft>
              <a:buSzPts val="1400"/>
              <a:buNone/>
            </a:pPr>
            <a:r>
              <a:t>This is where students stretch past the worked example.</a:t>
            </a:r>
          </a:p>
          <a:p>
            <a:pPr indent="0" lvl="0" marL="0" rtl="0" algn="l">
              <a:lnSpc>
                <a:spcPct val="100000"/>
              </a:lnSpc>
              <a:spcBef>
                <a:spcPts val="0"/>
              </a:spcBef>
              <a:spcAft>
                <a:spcPts val="0"/>
              </a:spcAft>
              <a:buSzPts val="1400"/>
              <a:buNone/>
            </a:pPr>
            <a:r>
              <a:t>UIFR: TEACH 2 · TEACH 5.</a:t>
            </a:r>
          </a:p>
        </p:txBody>
      </p:sp>
      <p:sp>
        <p:nvSpPr>
          <p:cNvPr id="839" name="Google Shape;839;p39: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6" name="Shape 846"/>
        <p:cNvGrpSpPr/>
        <p:nvPr/>
      </p:nvGrpSpPr>
      <p:grpSpPr>
        <a:xfrm>
          <a:off x="0" y="0"/>
          <a:ext cx="0" cy="0"/>
          <a:chOff x="0" y="0"/>
          <a:chExt cx="0" cy="0"/>
        </a:xfrm>
      </p:grpSpPr>
      <p:sp>
        <p:nvSpPr>
          <p:cNvPr id="847" name="Google Shape;847;p40: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5.1, slide 39 | DIVIDER</a:t>
            </a:r>
          </a:p>
          <a:p xmlns:a="http://schemas.openxmlformats.org/drawingml/2006/main">
            <a:pPr>
              <a:buNone/>
            </a:pPr>
            <a:r>
              <a:rPr lang="en-US" sz="1100"/>
              <a:t>Focus on the existing task: Session 2 Determine the Area of Parallelograms and Rhombuses</a:t>
            </a:r>
          </a:p>
          <a:p xmlns:a="http://schemas.openxmlformats.org/drawingml/2006/main">
            <a:pPr>
              <a:buNone/>
            </a:pPr>
            <a:r>
              <a:rPr lang="en-US" sz="1100"/>
              <a:t>TRANSITION (T6/7): Students confirm materials, roles, how to request help, and the next response routine. Ask a student to restate it. Keep teacher-only slides hidden.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Transition cue: state what materials are out and what success looks like this session.</a:t>
            </a:r>
          </a:p>
          <a:p>
            <a:pPr indent="0" lvl="0" marL="0" rtl="0" algn="l">
              <a:lnSpc>
                <a:spcPct val="100000"/>
              </a:lnSpc>
              <a:spcBef>
                <a:spcPts val="0"/>
              </a:spcBef>
              <a:spcAft>
                <a:spcPts val="0"/>
              </a:spcAft>
              <a:buSzPts val="1400"/>
              <a:buNone/>
            </a:pPr>
            <a:r>
              <a:t>Keep the changeover under a minute.</a:t>
            </a:r>
          </a:p>
          <a:p>
            <a:pPr indent="0" lvl="0" marL="0" rtl="0" algn="l">
              <a:lnSpc>
                <a:spcPct val="100000"/>
              </a:lnSpc>
              <a:spcBef>
                <a:spcPts val="0"/>
              </a:spcBef>
              <a:spcAft>
                <a:spcPts val="0"/>
              </a:spcAft>
              <a:buSzPts val="1400"/>
              <a:buNone/>
            </a:pPr>
            <a:r>
              <a:t>UIFR: TEACH 6.</a:t>
            </a:r>
          </a:p>
        </p:txBody>
      </p:sp>
      <p:sp>
        <p:nvSpPr>
          <p:cNvPr id="848" name="Google Shape;848;p40: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4" name="Shape 874"/>
        <p:cNvGrpSpPr/>
        <p:nvPr/>
      </p:nvGrpSpPr>
      <p:grpSpPr>
        <a:xfrm>
          <a:off x="0" y="0"/>
          <a:ext cx="0" cy="0"/>
          <a:chOff x="0" y="0"/>
          <a:chExt cx="0" cy="0"/>
        </a:xfrm>
      </p:grpSpPr>
      <p:sp>
        <p:nvSpPr>
          <p:cNvPr id="875" name="Google Shape;875;p43: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5.1, slide 40 | TASK</a:t>
            </a:r>
          </a:p>
          <a:p xmlns:a="http://schemas.openxmlformats.org/drawingml/2006/main">
            <a:pPr>
              <a:buNone/>
            </a:pPr>
            <a:r>
              <a:rPr lang="en-US" sz="1100"/>
              <a:t>Focus on the existing task: The wall tile shown has the shape of a rhombus, a parallelogram with four equal sides. The dimensions of the tile are shown. What is the area of the tile?</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identify base and perpendicular height. Ask which feature of their work supports the claim.</a:t>
            </a:r>
          </a:p>
          <a:p xmlns:a="http://schemas.openxmlformats.org/drawingml/2006/main">
            <a:pPr>
              <a:buNone/>
            </a:pPr>
            <a:r>
              <a:rPr lang="en-US" sz="1100"/>
              <a:t>RESPOND: If this task shows the lesson misconception—using a slanted side as the height—mark a right angle between the selected base and height on the original diagram.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Ask the question, then hold the silence — students think or jot before anyone answers.</a:t>
            </a:r>
          </a:p>
          <a:p>
            <a:pPr indent="0" lvl="0" marL="0" rtl="0" algn="l">
              <a:lnSpc>
                <a:spcPct val="100000"/>
              </a:lnSpc>
              <a:spcBef>
                <a:spcPts val="0"/>
              </a:spcBef>
              <a:spcAft>
                <a:spcPts val="0"/>
              </a:spcAft>
              <a:buSzPts val="1400"/>
              <a:buNone/>
            </a:pPr>
            <a:r>
              <a:t>Take two or three responses and press with “Why?” or “How do you know?” before moving on.</a:t>
            </a:r>
          </a:p>
          <a:p>
            <a:pPr indent="0" lvl="0" marL="0" rtl="0" algn="l">
              <a:lnSpc>
                <a:spcPct val="100000"/>
              </a:lnSpc>
              <a:spcBef>
                <a:spcPts val="0"/>
              </a:spcBef>
              <a:spcAft>
                <a:spcPts val="0"/>
              </a:spcAft>
              <a:buSzPts val="1400"/>
              <a:buNone/>
            </a:pPr>
            <a:r>
              <a:t>UIFR: TEACH 3.</a:t>
            </a:r>
          </a:p>
        </p:txBody>
      </p:sp>
      <p:sp>
        <p:nvSpPr>
          <p:cNvPr id="876" name="Google Shape;876;p43: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3" name="Shape 883"/>
        <p:cNvGrpSpPr/>
        <p:nvPr/>
      </p:nvGrpSpPr>
      <p:grpSpPr>
        <a:xfrm>
          <a:off x="0" y="0"/>
          <a:ext cx="0" cy="0"/>
          <a:chOff x="0" y="0"/>
          <a:chExt cx="0" cy="0"/>
        </a:xfrm>
      </p:grpSpPr>
      <p:sp>
        <p:nvSpPr>
          <p:cNvPr id="884" name="Google Shape;884;p44: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5.1, slide 41 | TASK</a:t>
            </a:r>
          </a:p>
          <a:p xmlns:a="http://schemas.openxmlformats.org/drawingml/2006/main">
            <a:pPr>
              <a:buNone/>
            </a:pPr>
            <a:r>
              <a:rPr lang="en-US" sz="1100"/>
              <a:t>Focus on the existing task: Think About It: What attributes do a parallelogram and rhombus share?</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identify base and perpendicular height. Ask which feature of their work supports the claim.</a:t>
            </a:r>
          </a:p>
          <a:p xmlns:a="http://schemas.openxmlformats.org/drawingml/2006/main">
            <a:pPr>
              <a:buNone/>
            </a:pPr>
            <a:r>
              <a:rPr lang="en-US" sz="1100"/>
              <a:t>RESPOND: If this task shows the lesson misconception—using a slanted side as the height—mark a right angle between the selected base and height on the original diagram.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Ask the question, then hold the silence — students think or jot before anyone answers.</a:t>
            </a:r>
          </a:p>
          <a:p>
            <a:pPr indent="0" lvl="0" marL="0" rtl="0" algn="l">
              <a:lnSpc>
                <a:spcPct val="100000"/>
              </a:lnSpc>
              <a:spcBef>
                <a:spcPts val="0"/>
              </a:spcBef>
              <a:spcAft>
                <a:spcPts val="0"/>
              </a:spcAft>
              <a:buSzPts val="1400"/>
              <a:buNone/>
            </a:pPr>
            <a:r>
              <a:t>Take two or three responses and press with “Why?” or “How do you know?” before moving on.</a:t>
            </a:r>
          </a:p>
          <a:p>
            <a:pPr indent="0" lvl="0" marL="0" rtl="0" algn="l">
              <a:lnSpc>
                <a:spcPct val="100000"/>
              </a:lnSpc>
              <a:spcBef>
                <a:spcPts val="0"/>
              </a:spcBef>
              <a:spcAft>
                <a:spcPts val="0"/>
              </a:spcAft>
              <a:buSzPts val="1400"/>
              <a:buNone/>
            </a:pPr>
            <a:r>
              <a:t>UIFR: TEACH 3.</a:t>
            </a:r>
          </a:p>
        </p:txBody>
      </p:sp>
      <p:sp>
        <p:nvSpPr>
          <p:cNvPr id="885" name="Google Shape;885;p44: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1" name="Shape 901"/>
        <p:cNvGrpSpPr/>
        <p:nvPr/>
      </p:nvGrpSpPr>
      <p:grpSpPr>
        <a:xfrm>
          <a:off x="0" y="0"/>
          <a:ext cx="0" cy="0"/>
          <a:chOff x="0" y="0"/>
          <a:chExt cx="0" cy="0"/>
        </a:xfrm>
      </p:grpSpPr>
      <p:sp>
        <p:nvSpPr>
          <p:cNvPr id="902" name="Google Shape;902;p46: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5.1, slide 42 | REVEAL</a:t>
            </a:r>
          </a:p>
          <a:p xmlns:a="http://schemas.openxmlformats.org/drawingml/2006/main">
            <a:pPr>
              <a:buNone/>
            </a:pPr>
            <a:r>
              <a:rPr lang="en-US" sz="1100"/>
              <a:t>Focus on the existing task: What do you notice about the line segments that are labeled as diagonals in the figure?</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connect rearrangement to base times height. Ask which feature of their work supports the claim.</a:t>
            </a:r>
          </a:p>
          <a:p xmlns:a="http://schemas.openxmlformats.org/drawingml/2006/main">
            <a:pPr>
              <a:buNone/>
            </a:pPr>
            <a:r>
              <a:rPr lang="en-US" sz="1100"/>
              <a:t>RESPOND: If this task shows the lesson misconception—using a slanted side as the height—mark a right angle between the selected base and height on the original diagram.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Do not click yet: collect 2–3 student answers with reasons first.</a:t>
            </a:r>
          </a:p>
          <a:p>
            <a:pPr indent="0" lvl="0" marL="0" rtl="0" algn="l">
              <a:lnSpc>
                <a:spcPct val="100000"/>
              </a:lnSpc>
              <a:spcBef>
                <a:spcPts val="0"/>
              </a:spcBef>
              <a:spcAft>
                <a:spcPts val="0"/>
              </a:spcAft>
              <a:buSzPts val="1400"/>
              <a:buNone/>
            </a:pPr>
            <a:r>
              <a:t>Then click to remove the cover and have students compare their thinking to the reveal — “Is this what we said? Where is it different?”</a:t>
            </a:r>
          </a:p>
          <a:p>
            <a:pPr indent="0" lvl="0" marL="0" rtl="0" algn="l">
              <a:lnSpc>
                <a:spcPct val="100000"/>
              </a:lnSpc>
              <a:spcBef>
                <a:spcPts val="0"/>
              </a:spcBef>
              <a:spcAft>
                <a:spcPts val="0"/>
              </a:spcAft>
              <a:buSzPts val="1400"/>
              <a:buNone/>
            </a:pPr>
            <a:r>
              <a:t>Behind the cover: They connect two non-adjacent vertices of the rhombus.</a:t>
            </a:r>
          </a:p>
          <a:p>
            <a:pPr indent="0" lvl="0" marL="0" rtl="0" algn="l">
              <a:lnSpc>
                <a:spcPct val="100000"/>
              </a:lnSpc>
              <a:spcBef>
                <a:spcPts val="0"/>
              </a:spcBef>
              <a:spcAft>
                <a:spcPts val="0"/>
              </a:spcAft>
              <a:buSzPts val="1400"/>
              <a:buNone/>
            </a:pPr>
            <a:r>
              <a:t>UIFR: TEACH 3 · TEACH 4.</a:t>
            </a:r>
          </a:p>
        </p:txBody>
      </p:sp>
      <p:sp>
        <p:nvSpPr>
          <p:cNvPr id="903" name="Google Shape;903;p46: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0" name="Shape 910"/>
        <p:cNvGrpSpPr/>
        <p:nvPr/>
      </p:nvGrpSpPr>
      <p:grpSpPr>
        <a:xfrm>
          <a:off x="0" y="0"/>
          <a:ext cx="0" cy="0"/>
          <a:chOff x="0" y="0"/>
          <a:chExt cx="0" cy="0"/>
        </a:xfrm>
      </p:grpSpPr>
      <p:sp>
        <p:nvSpPr>
          <p:cNvPr id="911" name="Google Shape;911;p47: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5.1, slide 43 | WORKED</a:t>
            </a:r>
          </a:p>
          <a:p xmlns:a="http://schemas.openxmlformats.org/drawingml/2006/main">
            <a:pPr>
              <a:buNone/>
            </a:pPr>
            <a:r>
              <a:rPr lang="en-US" sz="1100"/>
              <a:t>Focus on the existing task: A diagonal is a line segment that connects two nonconsecutive vertices of a polygon. The diagonals of a rhombus divide one another into…</a:t>
            </a:r>
          </a:p>
          <a:p xmlns:a="http://schemas.openxmlformats.org/drawingml/2006/main">
            <a:pPr>
              <a:buNone/>
            </a:pPr>
            <a:r>
              <a:rPr lang="en-US" sz="1100"/>
              <a:t>LAUNCH (T2/3/5): Ask students to explain the displayed idea or example and point to evidence. When a calculation step is shown, ask why it is valid. Have a partner restate the explanation; copying is not the check.</a:t>
            </a:r>
          </a:p>
          <a:p xmlns:a="http://schemas.openxmlformats.org/drawingml/2006/main">
            <a:pPr>
              <a:buNone/>
            </a:pPr>
            <a:r>
              <a:rPr lang="en-US" sz="1100"/>
              <a:t>LOOK FOR (T4): Where this task addresses it, students can identify base and perpendicular height. Ask which feature of their work supports the claim.</a:t>
            </a:r>
          </a:p>
          <a:p xmlns:a="http://schemas.openxmlformats.org/drawingml/2006/main">
            <a:pPr>
              <a:buNone/>
            </a:pPr>
            <a:r>
              <a:rPr lang="en-US" sz="1100"/>
              <a:t>RESPOND: If this task shows the lesson misconception—using a slanted side as the height—mark a right angle between the selected base and height on the original diagram.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Model briefly, then hand the thinking back: ask “Why does this step work?” before showing the next one.</a:t>
            </a:r>
          </a:p>
          <a:p>
            <a:pPr indent="0" lvl="0" marL="0" rtl="0" algn="l">
              <a:lnSpc>
                <a:spcPct val="100000"/>
              </a:lnSpc>
              <a:spcBef>
                <a:spcPts val="0"/>
              </a:spcBef>
              <a:spcAft>
                <a:spcPts val="0"/>
              </a:spcAft>
              <a:buSzPts val="1400"/>
              <a:buNone/>
            </a:pPr>
            <a:r>
              <a:t>Quick check before moving on — thumbs or whiteboards from everyone, not volunteers.</a:t>
            </a:r>
          </a:p>
          <a:p>
            <a:pPr indent="0" lvl="0" marL="0" rtl="0" algn="l">
              <a:lnSpc>
                <a:spcPct val="100000"/>
              </a:lnSpc>
              <a:spcBef>
                <a:spcPts val="0"/>
              </a:spcBef>
              <a:spcAft>
                <a:spcPts val="0"/>
              </a:spcAft>
              <a:buSzPts val="1400"/>
              <a:buNone/>
            </a:pPr>
            <a:r>
              <a:t>UIFR: TEACH 2 · TEACH 3 · TEACH 4.</a:t>
            </a:r>
          </a:p>
        </p:txBody>
      </p:sp>
      <p:sp>
        <p:nvSpPr>
          <p:cNvPr id="912" name="Google Shape;912;p47: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8" name="Shape 928"/>
        <p:cNvGrpSpPr/>
        <p:nvPr/>
      </p:nvGrpSpPr>
      <p:grpSpPr>
        <a:xfrm>
          <a:off x="0" y="0"/>
          <a:ext cx="0" cy="0"/>
          <a:chOff x="0" y="0"/>
          <a:chExt cx="0" cy="0"/>
        </a:xfrm>
      </p:grpSpPr>
      <p:sp>
        <p:nvSpPr>
          <p:cNvPr id="929" name="Google Shape;929;p49: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5.1, slide 44 | COLLABORATE</a:t>
            </a:r>
          </a:p>
          <a:p xmlns:a="http://schemas.openxmlformats.org/drawingml/2006/main">
            <a:pPr>
              <a:buNone/>
            </a:pPr>
            <a:r>
              <a:rPr lang="en-US" sz="1100"/>
              <a:t>Focus on the existing task: Reveal: The diagonals make 4 congruent right triangles. I can combine them to create an 8-centimeter by 12-centimeter rectangle.…</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connect rearrangement to base times height. Ask which feature of their work supports the claim.</a:t>
            </a:r>
          </a:p>
          <a:p xmlns:a="http://schemas.openxmlformats.org/drawingml/2006/main">
            <a:pPr>
              <a:buNone/>
            </a:pPr>
            <a:r>
              <a:rPr lang="en-US" sz="1100"/>
              <a:t>RESPOND: If this task shows the lesson misconception—using a slanted side as the height—mark a right angle between the selected base and height on the original diagram.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
            </a:r>
            <a:endParaRPr/>
          </a:p>
          <a:p>
            <a:r>
              <a:rPr lang="en-US"/>
              <a:t>Routine: COLLABORATE  ·  TALK IT THROUGH • AGREE ON A MODEL</a:t>
            </a:r>
          </a:p>
        </p:txBody>
      </p:sp>
      <p:sp>
        <p:nvSpPr>
          <p:cNvPr id="930" name="Google Shape;930;p49: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7" name="Shape 947"/>
        <p:cNvGrpSpPr/>
        <p:nvPr/>
      </p:nvGrpSpPr>
      <p:grpSpPr>
        <a:xfrm>
          <a:off x="0" y="0"/>
          <a:ext cx="0" cy="0"/>
          <a:chOff x="0" y="0"/>
          <a:chExt cx="0" cy="0"/>
        </a:xfrm>
      </p:grpSpPr>
      <p:sp>
        <p:nvSpPr>
          <p:cNvPr id="948" name="Google Shape;948;p51: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5.1, slide 45 | REVEAL</a:t>
            </a:r>
          </a:p>
          <a:p xmlns:a="http://schemas.openxmlformats.org/drawingml/2006/main">
            <a:pPr>
              <a:buNone/>
            </a:pPr>
            <a:r>
              <a:rPr lang="en-US" sz="1100"/>
              <a:t>Focus on the existing task: Reveal: We can apply the area formula for rectangles. The diagonals make 4 congruent right triangles. Combine them to create an…</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identify base and perpendicular height. Ask which feature of their work supports the claim.</a:t>
            </a:r>
          </a:p>
          <a:p xmlns:a="http://schemas.openxmlformats.org/drawingml/2006/main">
            <a:pPr>
              <a:buNone/>
            </a:pPr>
            <a:r>
              <a:rPr lang="en-US" sz="1100"/>
              <a:t>RESPOND: If this task shows the lesson misconception—using a slanted side as the height—mark a right angle between the selected base and height on the original diagram.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Do not click yet: collect 2–3 student answers with reasons first.</a:t>
            </a:r>
          </a:p>
          <a:p>
            <a:pPr indent="0" lvl="0" marL="0" rtl="0" algn="l">
              <a:lnSpc>
                <a:spcPct val="100000"/>
              </a:lnSpc>
              <a:spcBef>
                <a:spcPts val="0"/>
              </a:spcBef>
              <a:spcAft>
                <a:spcPts val="0"/>
              </a:spcAft>
              <a:buSzPts val="1400"/>
              <a:buNone/>
            </a:pPr>
            <a:r>
              <a:t>Then click to remove the cover and have students compare their thinking to the reveal — “Is this what we said? Where is it different?”</a:t>
            </a:r>
          </a:p>
          <a:p>
            <a:pPr indent="0" lvl="0" marL="0" rtl="0" algn="l">
              <a:lnSpc>
                <a:spcPct val="100000"/>
              </a:lnSpc>
              <a:spcBef>
                <a:spcPts val="0"/>
              </a:spcBef>
              <a:spcAft>
                <a:spcPts val="0"/>
              </a:spcAft>
              <a:buSzPts val="1400"/>
              <a:buNone/>
            </a:pPr>
            <a:r>
              <a:t>Behind the cover: We can apply the area formula for rectangles.</a:t>
            </a:r>
          </a:p>
          <a:p>
            <a:pPr indent="0" lvl="0" marL="0" rtl="0" algn="l">
              <a:lnSpc>
                <a:spcPct val="100000"/>
              </a:lnSpc>
              <a:spcBef>
                <a:spcPts val="0"/>
              </a:spcBef>
              <a:spcAft>
                <a:spcPts val="0"/>
              </a:spcAft>
              <a:buSzPts val="1400"/>
              <a:buNone/>
            </a:pPr>
            <a:r>
              <a:t>UIFR: TEACH 3 · TEACH 4.</a:t>
            </a:r>
          </a:p>
        </p:txBody>
      </p:sp>
      <p:sp>
        <p:nvSpPr>
          <p:cNvPr id="949" name="Google Shape;949;p51: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9" name="Shape 969"/>
        <p:cNvGrpSpPr/>
        <p:nvPr/>
      </p:nvGrpSpPr>
      <p:grpSpPr>
        <a:xfrm>
          <a:off x="0" y="0"/>
          <a:ext cx="0" cy="0"/>
          <a:chOff x="0" y="0"/>
          <a:chExt cx="0" cy="0"/>
        </a:xfrm>
      </p:grpSpPr>
      <p:sp>
        <p:nvSpPr>
          <p:cNvPr id="970" name="Google Shape;970;p53: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5.1, slide 46 | REVEAL</a:t>
            </a:r>
          </a:p>
          <a:p xmlns:a="http://schemas.openxmlformats.org/drawingml/2006/main">
            <a:pPr>
              <a:buNone/>
            </a:pPr>
            <a:r>
              <a:rPr lang="en-US" sz="1100"/>
              <a:t>Focus on the existing task: We can use the area formula for rectangles. Reveal: The areas are the same because we did not change the size of the figure…</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identify base and perpendicular height. Ask which feature of their work supports the claim.</a:t>
            </a:r>
          </a:p>
          <a:p xmlns:a="http://schemas.openxmlformats.org/drawingml/2006/main">
            <a:pPr>
              <a:buNone/>
            </a:pPr>
            <a:r>
              <a:rPr lang="en-US" sz="1100"/>
              <a:t>RESPOND: If this task shows the lesson misconception—using a slanted side as the height—mark a right angle between the selected base and height on the original diagram.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Do not click yet: collect 2–3 student answers with reasons first.</a:t>
            </a:r>
          </a:p>
          <a:p>
            <a:pPr indent="0" lvl="0" marL="0" rtl="0" algn="l">
              <a:lnSpc>
                <a:spcPct val="100000"/>
              </a:lnSpc>
              <a:spcBef>
                <a:spcPts val="0"/>
              </a:spcBef>
              <a:spcAft>
                <a:spcPts val="0"/>
              </a:spcAft>
              <a:buSzPts val="1400"/>
              <a:buNone/>
            </a:pPr>
            <a:r>
              <a:t>Then click to remove the cover and have students compare their thinking to the reveal — “Is this what we said? Where is it different?”</a:t>
            </a:r>
          </a:p>
          <a:p>
            <a:pPr indent="0" lvl="0" marL="0" rtl="0" algn="l">
              <a:lnSpc>
                <a:spcPct val="100000"/>
              </a:lnSpc>
              <a:spcBef>
                <a:spcPts val="0"/>
              </a:spcBef>
              <a:spcAft>
                <a:spcPts val="0"/>
              </a:spcAft>
              <a:buSzPts val="1400"/>
              <a:buNone/>
            </a:pPr>
            <a:r>
              <a:t>Behind the cover: The areas are the same because we did not change the size of the figure, just its shape.</a:t>
            </a:r>
          </a:p>
          <a:p>
            <a:pPr indent="0" lvl="0" marL="0" rtl="0" algn="l">
              <a:lnSpc>
                <a:spcPct val="100000"/>
              </a:lnSpc>
              <a:spcBef>
                <a:spcPts val="0"/>
              </a:spcBef>
              <a:spcAft>
                <a:spcPts val="0"/>
              </a:spcAft>
              <a:buSzPts val="1400"/>
              <a:buNone/>
            </a:pPr>
            <a:r>
              <a:t>UIFR: TEACH 3 · TEACH 4.</a:t>
            </a:r>
          </a:p>
        </p:txBody>
      </p:sp>
      <p:sp>
        <p:nvSpPr>
          <p:cNvPr id="971" name="Google Shape;971;p53: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2" name="Shape 982"/>
        <p:cNvGrpSpPr/>
        <p:nvPr/>
      </p:nvGrpSpPr>
      <p:grpSpPr>
        <a:xfrm>
          <a:off x="0" y="0"/>
          <a:ext cx="0" cy="0"/>
          <a:chOff x="0" y="0"/>
          <a:chExt cx="0" cy="0"/>
        </a:xfrm>
      </p:grpSpPr>
      <p:sp>
        <p:nvSpPr>
          <p:cNvPr id="983" name="Google Shape;983;p54: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5.1, slide 47 | TASK</a:t>
            </a:r>
          </a:p>
          <a:p xmlns:a="http://schemas.openxmlformats.org/drawingml/2006/main">
            <a:pPr>
              <a:buNone/>
            </a:pPr>
            <a:r>
              <a:rPr lang="en-US" sz="1100"/>
              <a:t>Focus on the existing task: What is another way we can find the area of the rhombus?</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identify base and perpendicular height. Ask which feature of their work supports the claim.</a:t>
            </a:r>
          </a:p>
          <a:p xmlns:a="http://schemas.openxmlformats.org/drawingml/2006/main">
            <a:pPr>
              <a:buNone/>
            </a:pPr>
            <a:r>
              <a:rPr lang="en-US" sz="1100"/>
              <a:t>RESPOND: If this task shows the lesson misconception—using a slanted side as the height—mark a right angle between the selected base and height on the original diagram.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Ask the question, then hold the silence — students think or jot before anyone answers.</a:t>
            </a:r>
          </a:p>
          <a:p>
            <a:pPr indent="0" lvl="0" marL="0" rtl="0" algn="l">
              <a:lnSpc>
                <a:spcPct val="100000"/>
              </a:lnSpc>
              <a:spcBef>
                <a:spcPts val="0"/>
              </a:spcBef>
              <a:spcAft>
                <a:spcPts val="0"/>
              </a:spcAft>
              <a:buSzPts val="1400"/>
              <a:buNone/>
            </a:pPr>
            <a:r>
              <a:t>Take two or three responses and press with “Why?” or “How do you know?” before moving on.</a:t>
            </a:r>
          </a:p>
          <a:p>
            <a:pPr indent="0" lvl="0" marL="0" rtl="0" algn="l">
              <a:lnSpc>
                <a:spcPct val="100000"/>
              </a:lnSpc>
              <a:spcBef>
                <a:spcPts val="0"/>
              </a:spcBef>
              <a:spcAft>
                <a:spcPts val="0"/>
              </a:spcAft>
              <a:buSzPts val="1400"/>
              <a:buNone/>
            </a:pPr>
            <a:r>
              <a:t>UIFR: TEACH 3.</a:t>
            </a:r>
          </a:p>
        </p:txBody>
      </p:sp>
      <p:sp>
        <p:nvSpPr>
          <p:cNvPr id="984" name="Google Shape;984;p54: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9" name="Shape 1009"/>
        <p:cNvGrpSpPr/>
        <p:nvPr/>
      </p:nvGrpSpPr>
      <p:grpSpPr>
        <a:xfrm>
          <a:off x="0" y="0"/>
          <a:ext cx="0" cy="0"/>
          <a:chOff x="0" y="0"/>
          <a:chExt cx="0" cy="0"/>
        </a:xfrm>
      </p:grpSpPr>
      <p:sp>
        <p:nvSpPr>
          <p:cNvPr id="1010" name="Google Shape;1010;p57: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5.1, slide 48 | REVEAL</a:t>
            </a:r>
          </a:p>
          <a:p xmlns:a="http://schemas.openxmlformats.org/drawingml/2006/main">
            <a:pPr>
              <a:buNone/>
            </a:pPr>
            <a:r>
              <a:rPr lang="en-US" sz="1100"/>
              <a:t>Focus on the existing task: Reveal: We can use the area formula for parallelograms to find the area of the rhombus. What is another way we can find the area of the rhombus?</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identify base and perpendicular height. Ask which feature of their work supports the claim.</a:t>
            </a:r>
          </a:p>
          <a:p xmlns:a="http://schemas.openxmlformats.org/drawingml/2006/main">
            <a:pPr>
              <a:buNone/>
            </a:pPr>
            <a:r>
              <a:rPr lang="en-US" sz="1100"/>
              <a:t>RESPOND: If this task shows the lesson misconception—using a slanted side as the height—mark a right angle between the selected base and height on the original diagram.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Do not click yet: collect 2–3 student answers with reasons first.</a:t>
            </a:r>
          </a:p>
          <a:p>
            <a:pPr indent="0" lvl="0" marL="0" rtl="0" algn="l">
              <a:lnSpc>
                <a:spcPct val="100000"/>
              </a:lnSpc>
              <a:spcBef>
                <a:spcPts val="0"/>
              </a:spcBef>
              <a:spcAft>
                <a:spcPts val="0"/>
              </a:spcAft>
              <a:buSzPts val="1400"/>
              <a:buNone/>
            </a:pPr>
            <a:r>
              <a:t>Then click to remove the cover and have students compare their thinking to the reveal — “Is this what we said? Where is it different?”</a:t>
            </a:r>
          </a:p>
          <a:p>
            <a:pPr indent="0" lvl="0" marL="0" rtl="0" algn="l">
              <a:lnSpc>
                <a:spcPct val="100000"/>
              </a:lnSpc>
              <a:spcBef>
                <a:spcPts val="0"/>
              </a:spcBef>
              <a:spcAft>
                <a:spcPts val="0"/>
              </a:spcAft>
              <a:buSzPts val="1400"/>
              <a:buNone/>
            </a:pPr>
            <a:r>
              <a:t>Behind the cover: We can use the area formula for parallelograms to find the area of the rhombus.​</a:t>
            </a:r>
          </a:p>
          <a:p>
            <a:pPr indent="0" lvl="0" marL="0" rtl="0" algn="l">
              <a:lnSpc>
                <a:spcPct val="100000"/>
              </a:lnSpc>
              <a:spcBef>
                <a:spcPts val="0"/>
              </a:spcBef>
              <a:spcAft>
                <a:spcPts val="0"/>
              </a:spcAft>
              <a:buSzPts val="1400"/>
              <a:buNone/>
            </a:pPr>
            <a:r>
              <a:t>UIFR: TEACH 3 · TEACH 4.</a:t>
            </a:r>
          </a:p>
        </p:txBody>
      </p:sp>
      <p:sp>
        <p:nvSpPr>
          <p:cNvPr id="1011" name="Google Shape;1011;p57: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3" name="Shape 1033"/>
        <p:cNvGrpSpPr/>
        <p:nvPr/>
      </p:nvGrpSpPr>
      <p:grpSpPr>
        <a:xfrm>
          <a:off x="0" y="0"/>
          <a:ext cx="0" cy="0"/>
          <a:chOff x="0" y="0"/>
          <a:chExt cx="0" cy="0"/>
        </a:xfrm>
      </p:grpSpPr>
      <p:sp>
        <p:nvSpPr>
          <p:cNvPr id="1034" name="Google Shape;1034;p59: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5.1, slide 49 | TASK</a:t>
            </a:r>
          </a:p>
          <a:p xmlns:a="http://schemas.openxmlformats.org/drawingml/2006/main">
            <a:pPr>
              <a:buNone/>
            </a:pPr>
            <a:r>
              <a:rPr lang="en-US" sz="1100"/>
              <a:t>Focus on the existing task: What is another approach to solving this problem?</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identify base and perpendicular height. Ask which feature of their work supports the claim.</a:t>
            </a:r>
          </a:p>
          <a:p xmlns:a="http://schemas.openxmlformats.org/drawingml/2006/main">
            <a:pPr>
              <a:buNone/>
            </a:pPr>
            <a:r>
              <a:rPr lang="en-US" sz="1100"/>
              <a:t>RESPOND: If this task shows the lesson misconception—using a slanted side as the height—mark a right angle between the selected base and height on the original diagram.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Read the context aloud (or have a student read it).</a:t>
            </a:r>
          </a:p>
          <a:p>
            <a:pPr indent="0" lvl="0" marL="0" rtl="0" algn="l">
              <a:lnSpc>
                <a:spcPct val="100000"/>
              </a:lnSpc>
              <a:spcBef>
                <a:spcPts val="0"/>
              </a:spcBef>
              <a:spcAft>
                <a:spcPts val="0"/>
              </a:spcAft>
              <a:buSzPts val="1400"/>
              <a:buNone/>
            </a:pPr>
            <a:r>
              <a:t>Before any math, students restate the situation and what is being asked in their own words.</a:t>
            </a:r>
          </a:p>
          <a:p>
            <a:pPr indent="0" lvl="0" marL="0" rtl="0" algn="l">
              <a:lnSpc>
                <a:spcPct val="100000"/>
              </a:lnSpc>
              <a:spcBef>
                <a:spcPts val="0"/>
              </a:spcBef>
              <a:spcAft>
                <a:spcPts val="0"/>
              </a:spcAft>
              <a:buSzPts val="1400"/>
              <a:buNone/>
            </a:pPr>
            <a:r>
              <a:t>Ask: What is another approach to solving this problem?</a:t>
            </a:r>
          </a:p>
          <a:p>
            <a:pPr indent="0" lvl="0" marL="0" rtl="0" algn="l">
              <a:lnSpc>
                <a:spcPct val="100000"/>
              </a:lnSpc>
              <a:spcBef>
                <a:spcPts val="0"/>
              </a:spcBef>
              <a:spcAft>
                <a:spcPts val="0"/>
              </a:spcAft>
              <a:buSzPts val="1400"/>
              <a:buNone/>
            </a:pPr>
            <a:r>
              <a:t>UIFR: TEACH 1 · TEACH 3.</a:t>
            </a:r>
          </a:p>
        </p:txBody>
      </p:sp>
      <p:sp>
        <p:nvSpPr>
          <p:cNvPr id="1035" name="Google Shape;1035;p59: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9" name="Shape 1049"/>
        <p:cNvGrpSpPr/>
        <p:nvPr/>
      </p:nvGrpSpPr>
      <p:grpSpPr>
        <a:xfrm>
          <a:off x="0" y="0"/>
          <a:ext cx="0" cy="0"/>
          <a:chOff x="0" y="0"/>
          <a:chExt cx="0" cy="0"/>
        </a:xfrm>
      </p:grpSpPr>
      <p:sp>
        <p:nvSpPr>
          <p:cNvPr id="1050" name="Google Shape;1050;p60: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5.1, slide 50 | TASK</a:t>
            </a:r>
          </a:p>
          <a:p xmlns:a="http://schemas.openxmlformats.org/drawingml/2006/main">
            <a:pPr>
              <a:buNone/>
            </a:pPr>
            <a:r>
              <a:rPr lang="en-US" sz="1100"/>
              <a:t>Focus on the existing task: The wall tile shown has the shape of a rhombus, a parallelogram with four equal sides. The dimensions of the tile are shown. What is the area of the tile?</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label square units. Ask which feature of their work supports the claim.</a:t>
            </a:r>
          </a:p>
          <a:p xmlns:a="http://schemas.openxmlformats.org/drawingml/2006/main">
            <a:pPr>
              <a:buNone/>
            </a:pPr>
            <a:r>
              <a:rPr lang="en-US" sz="1100"/>
              <a:t>RESPOND: If this task shows the lesson misconception—using a slanted side as the height—mark a right angle between the selected base and height on the original diagram.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Apply task — students try it independently first, then partners compare answers and reasoning.</a:t>
            </a:r>
          </a:p>
          <a:p>
            <a:pPr indent="0" lvl="0" marL="0" rtl="0" algn="l">
              <a:lnSpc>
                <a:spcPct val="100000"/>
              </a:lnSpc>
              <a:spcBef>
                <a:spcPts val="0"/>
              </a:spcBef>
              <a:spcAft>
                <a:spcPts val="0"/>
              </a:spcAft>
              <a:buSzPts val="1400"/>
              <a:buNone/>
            </a:pPr>
            <a:r>
              <a:t>Collect a quick pulse (thumbs or whiteboards) before the close; this tells you who needs a second look tomorrow.</a:t>
            </a:r>
          </a:p>
          <a:p>
            <a:pPr indent="0" lvl="0" marL="0" rtl="0" algn="l">
              <a:lnSpc>
                <a:spcPct val="100000"/>
              </a:lnSpc>
              <a:spcBef>
                <a:spcPts val="0"/>
              </a:spcBef>
              <a:spcAft>
                <a:spcPts val="0"/>
              </a:spcAft>
              <a:buSzPts val="1400"/>
              <a:buNone/>
            </a:pPr>
            <a:r>
              <a:t>UIFR: TEACH 2 · TEACH 4.</a:t>
            </a:r>
          </a:p>
        </p:txBody>
      </p:sp>
      <p:sp>
        <p:nvSpPr>
          <p:cNvPr id="1051" name="Google Shape;1051;p60: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8" name="Shape 1058"/>
        <p:cNvGrpSpPr/>
        <p:nvPr/>
      </p:nvGrpSpPr>
      <p:grpSpPr>
        <a:xfrm>
          <a:off x="0" y="0"/>
          <a:ext cx="0" cy="0"/>
          <a:chOff x="0" y="0"/>
          <a:chExt cx="0" cy="0"/>
        </a:xfrm>
      </p:grpSpPr>
      <p:sp>
        <p:nvSpPr>
          <p:cNvPr id="1059" name="Google Shape;1059;p61: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5.1, slide 51 | PRACTICE</a:t>
            </a:r>
          </a:p>
          <a:p xmlns:a="http://schemas.openxmlformats.org/drawingml/2006/main">
            <a:pPr>
              <a:buNone/>
            </a:pPr>
            <a:r>
              <a:rPr lang="en-US" sz="1100"/>
              <a:t>Focus on the existing task: What are the side lengths of the rhombus shown?</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identify base and perpendicular height. Ask which feature of their work supports the claim.</a:t>
            </a:r>
          </a:p>
          <a:p xmlns:a="http://schemas.openxmlformats.org/drawingml/2006/main">
            <a:pPr>
              <a:buNone/>
            </a:pPr>
            <a:r>
              <a:rPr lang="en-US" sz="1100"/>
              <a:t>RESPOND: If this task shows the lesson misconception—using a slanted side as the height—mark a right angle between the selected base and height on the original diagram.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Extension for partners or table groups — students choose their approach and use the workspace to show thinking.</a:t>
            </a:r>
          </a:p>
          <a:p>
            <a:pPr indent="0" lvl="0" marL="0" rtl="0" algn="l">
              <a:lnSpc>
                <a:spcPct val="100000"/>
              </a:lnSpc>
              <a:spcBef>
                <a:spcPts val="0"/>
              </a:spcBef>
              <a:spcAft>
                <a:spcPts val="0"/>
              </a:spcAft>
              <a:buSzPts val="1400"/>
              <a:buNone/>
            </a:pPr>
            <a:r>
              <a:t>Push with “Convince me,” and have two groups with different approaches share.</a:t>
            </a:r>
          </a:p>
          <a:p>
            <a:pPr indent="0" lvl="0" marL="0" rtl="0" algn="l">
              <a:lnSpc>
                <a:spcPct val="100000"/>
              </a:lnSpc>
              <a:spcBef>
                <a:spcPts val="0"/>
              </a:spcBef>
              <a:spcAft>
                <a:spcPts val="0"/>
              </a:spcAft>
              <a:buSzPts val="1400"/>
              <a:buNone/>
            </a:pPr>
            <a:r>
              <a:t>This is where students stretch past the worked example.</a:t>
            </a:r>
          </a:p>
          <a:p>
            <a:pPr indent="0" lvl="0" marL="0" rtl="0" algn="l">
              <a:lnSpc>
                <a:spcPct val="100000"/>
              </a:lnSpc>
              <a:spcBef>
                <a:spcPts val="0"/>
              </a:spcBef>
              <a:spcAft>
                <a:spcPts val="0"/>
              </a:spcAft>
              <a:buSzPts val="1400"/>
              <a:buNone/>
            </a:pPr>
            <a:r>
              <a:t>UIFR: TEACH 2 · TEACH 5.</a:t>
            </a:r>
          </a:p>
        </p:txBody>
      </p:sp>
      <p:sp>
        <p:nvSpPr>
          <p:cNvPr id="1060" name="Google Shape;1060;p61: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6" name="Shape 1066"/>
        <p:cNvGrpSpPr/>
        <p:nvPr/>
      </p:nvGrpSpPr>
      <p:grpSpPr>
        <a:xfrm>
          <a:off x="0" y="0"/>
          <a:ext cx="0" cy="0"/>
          <a:chOff x="0" y="0"/>
          <a:chExt cx="0" cy="0"/>
        </a:xfrm>
      </p:grpSpPr>
      <p:sp>
        <p:nvSpPr>
          <p:cNvPr id="1067" name="Google Shape;1067;p62: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5.1, slide 55 | SUMMARIZE</a:t>
            </a:r>
          </a:p>
          <a:p xmlns:a="http://schemas.openxmlformats.org/drawingml/2006/main">
            <a:pPr>
              <a:buNone/>
            </a:pPr>
            <a:r>
              <a:rPr lang="en-US" sz="1100"/>
              <a:t>Focus on the existing task: Summarize: Determine the Area of Parallelograms and Rhombuses You can find the areas of parallelograms and rhombuses by composing them…</a:t>
            </a:r>
          </a:p>
          <a:p xmlns:a="http://schemas.openxmlformats.org/drawingml/2006/main">
            <a:pPr>
              <a:buNone/>
            </a:pPr>
            <a:r>
              <a:rPr lang="en-US" sz="1100"/>
              <a:t>CONNECT (T1/4): Ask students to restate the displayed goal or key idea and connect it to earlier work. Relevant lesson evidence: identify base and perpendicular height; connect rearrangement to base times height; label square units. Use only the criterion that matches the current session.</a:t>
            </a:r>
          </a:p>
          <a:p xmlns:a="http://schemas.openxmlformats.org/drawingml/2006/main">
            <a:pPr>
              <a:buNone/>
            </a:pPr>
            <a:r>
              <a:rPr lang="en-US" sz="1100"/>
              <a:t>SHOW PROGRESS: Students point to their own existing work, explain what improved after feedback, and name a next step. Pair confidence ratings with actual evidence.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
            </a:r>
            <a:endParaRPr/>
          </a:p>
          <a:p>
            <a:r>
              <a:rPr lang="en-US"/>
              <a:t>Routine: SUMMARIZE  ·  SAY IT IN YOUR OWN WORDS</a:t>
            </a:r>
          </a:p>
        </p:txBody>
      </p:sp>
      <p:sp>
        <p:nvSpPr>
          <p:cNvPr id="1068" name="Google Shape;1068;p62: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7" name="Shape 1077"/>
        <p:cNvGrpSpPr/>
        <p:nvPr/>
      </p:nvGrpSpPr>
      <p:grpSpPr>
        <a:xfrm>
          <a:off x="0" y="0"/>
          <a:ext cx="0" cy="0"/>
          <a:chOff x="0" y="0"/>
          <a:chExt cx="0" cy="0"/>
        </a:xfrm>
      </p:grpSpPr>
      <p:sp>
        <p:nvSpPr>
          <p:cNvPr id="1078" name="Google Shape;1078;p63: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5.1, slide 56 | APPLY</a:t>
            </a:r>
          </a:p>
          <a:p xmlns:a="http://schemas.openxmlformats.org/drawingml/2006/main">
            <a:pPr>
              <a:buNone/>
            </a:pPr>
            <a:r>
              <a:rPr lang="en-US" sz="1100"/>
              <a:t>Focus on the existing task: Question 2: How many bales of straw should be used to cover the grass seed?</a:t>
            </a:r>
          </a:p>
          <a:p xmlns:a="http://schemas.openxmlformats.org/drawingml/2006/main">
            <a:pPr>
              <a:buNone/>
            </a:pPr>
            <a:r>
              <a:rPr lang="en-US" sz="1100"/>
              <a:t>LAUNCH (T2/3/5): Use the exact application task independently first. Ask students to justify their choice of method. Collect evidence before a partner discussion or correction.</a:t>
            </a:r>
          </a:p>
          <a:p xmlns:a="http://schemas.openxmlformats.org/drawingml/2006/main">
            <a:pPr>
              <a:buNone/>
            </a:pPr>
            <a:r>
              <a:rPr lang="en-US" sz="1100"/>
              <a:t>LOOK FOR (T4): Where this task addresses it, students can label square units. Ask which feature of their work supports the claim.</a:t>
            </a:r>
          </a:p>
          <a:p xmlns:a="http://schemas.openxmlformats.org/drawingml/2006/main">
            <a:pPr>
              <a:buNone/>
            </a:pPr>
            <a:r>
              <a:rPr lang="en-US" sz="1100"/>
              <a:t>RESPOND: If this task shows the lesson misconception—using a slanted side as the height—mark a right angle between the selected base and height on the original diagram.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
            </a:r>
            <a:endParaRPr/>
          </a:p>
          <a:p>
            <a:r>
              <a:rPr lang="en-US"/>
              <a:t>Routine: APPLY  ·  PLAN IT • SOLVE IT • PROVE IT</a:t>
            </a:r>
          </a:p>
          <a:p>
            <a:pPr>
              <a:buNone/>
            </a:pPr>
            <a:r>
              <a:rPr lang="en-US" sz="1100"/>
              <a:t/>
            </a:r>
          </a:p>
          <a:p>
            <a:pPr>
              <a:buNone/>
            </a:pPr>
            <a:r>
              <a:rPr lang="en-US" sz="1100"/>
              <a:t>UIFR FULL | Lesson-specific facilitation</a:t>
            </a:r>
          </a:p>
          <a:p>
            <a:pPr>
              <a:buNone/>
            </a:pPr>
            <a:r>
              <a:rPr lang="en-US" sz="1100"/>
              <a:t>TEACH 4 | Independent evidence and revision (UIFR PDF p. 11).</a:t>
            </a:r>
          </a:p>
          <a:p>
            <a:pPr>
              <a:buNone/>
            </a:pPr>
            <a:r>
              <a:rPr lang="en-US" sz="1100"/>
              <a:t>Use the existing application/exit problem as the independent check. If this is a learning-target slide, have students point to and explain their work on the preceding task. Separate initial independent evidence from the revision after feedback.</a:t>
            </a:r>
          </a:p>
          <a:p>
            <a:pPr>
              <a:buNone/>
            </a:pPr>
            <a:r>
              <a:rPr lang="en-US" sz="1100"/>
              <a:t>Check the relevant criteria: identify base and perpendicular height; connect rearrangement to base times height; label square units. Respond with one specific next step tied to the work. Students revise and annotate what changed, then identify a criterion they can now demonstrate and one they still need to practice.</a:t>
            </a:r>
          </a:p>
        </p:txBody>
      </p:sp>
      <p:sp>
        <p:nvSpPr>
          <p:cNvPr id="1079" name="Google Shape;1079;p63: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txBox="1"/>
          <p:nvPr>
            <p:ph idx="1" type="body"/>
          </p:nvPr>
        </p:nvSpPr>
        <p:spPr>
          <a:xfrm>
            <a:off x="701040" y="4444862"/>
            <a:ext cx="5608320" cy="3636705"/>
          </a:xfrm>
          <a:prstGeom prst="rect">
            <a:avLst/>
          </a:prstGeom>
          <a:noFill/>
          <a:ln>
            <a:noFill/>
          </a:ln>
        </p:spPr>
        <p:txBody>
          <a:bodyPr anchor="t" wrap="square">
            <a:noAutofit/>
          </a:bodyPr>
          <a:lstStyle/>
          <a:p xmlns:a="http://schemas.openxmlformats.org/drawingml/2006/main">
            <a:pPr>
              <a:buNone/>
            </a:pPr>
            <a:r>
              <a:rPr lang="en-US" sz="1100"/>
              <a:t>TEACH IN PRACTICE | Embedded facilitation | Lesson 5.1, slide 37 | WARMUP</a:t>
            </a:r>
          </a:p>
          <a:p xmlns:a="http://schemas.openxmlformats.org/drawingml/2006/main">
            <a:pPr>
              <a:buNone/>
            </a:pPr>
            <a:r>
              <a:rPr lang="en-US" sz="1100"/>
              <a:t>Focus on the existing task: A A = b + h B A = b × h C A = ½ b × h D A = 2(b + h) 2 A parallelogram has base 8 cm and height 5 cm. What is its area?</a:t>
            </a:r>
          </a:p>
          <a:p xmlns:a="http://schemas.openxmlformats.org/drawingml/2006/main">
            <a:pPr>
              <a:buNone/>
            </a:pPr>
            <a:r>
              <a:rPr lang="en-US" sz="1100"/>
              <a:t>GATHER EVIDENCE (T4/6): Keep the original items. Students try independently, mark an uncertain item, and explain one method before checking. Use the existing key when present.</a:t>
            </a:r>
          </a:p>
          <a:p xmlns:a="http://schemas.openxmlformats.org/drawingml/2006/main">
            <a:pPr>
              <a:buNone/>
            </a:pPr>
            <a:r>
              <a:rPr lang="en-US" sz="1100"/>
              <a:t>RESPOND: Distinguish a calculation slip from a reasoning gap. Give one next step on the same item; have students revise in a second color. Use the responses to choose flexible support for today’s lesson.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r>
              <a:t>Warm-up routine: students start silently on entry; keep it to about 4 minutes.</a:t>
            </a:r>
          </a:p>
          <a:p>
            <a:r>
              <a:t>Circulate and note who is stuck — use what you see to choose who you check on first today.</a:t>
            </a:r>
          </a:p>
          <a:p>
            <a:r>
              <a:t>Go over answers quickly; ask one student to explain a step, not just say the answer.</a:t>
            </a:r>
          </a:p>
          <a:p>
            <a:r>
              <a:t>UIFR: TEACH 4 · TEACH 6.</a:t>
            </a:r>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txBox="1"/>
          <p:nvPr>
            <p:ph idx="1" type="body"/>
          </p:nvPr>
        </p:nvSpPr>
        <p:spPr>
          <a:xfrm>
            <a:off x="701040" y="4444862"/>
            <a:ext cx="5608320" cy="3636705"/>
          </a:xfrm>
          <a:prstGeom prst="rect">
            <a:avLst/>
          </a:prstGeom>
          <a:noFill/>
          <a:ln>
            <a:noFill/>
          </a:ln>
        </p:spPr>
        <p:txBody>
          <a:bodyPr anchor="t" wrap="square">
            <a:noAutofit/>
          </a:bodyPr>
          <a:lstStyle/>
          <a:p xmlns:a="http://schemas.openxmlformats.org/drawingml/2006/main">
            <a:pPr>
              <a:buNone/>
            </a:pPr>
            <a:r>
              <a:rPr lang="en-US" sz="1100"/>
              <a:t>TEACH IN PRACTICE | Embedded facilitation | Lesson 5.1, slide 38 | NOTES</a:t>
            </a:r>
          </a:p>
          <a:p xmlns:a="http://schemas.openxmlformats.org/drawingml/2006/main">
            <a:pPr>
              <a:buNone/>
            </a:pPr>
            <a:r>
              <a:rPr lang="en-US" sz="1100"/>
              <a:t>Focus on the existing task: Review Notes — Session 2 Session 2…</a:t>
            </a:r>
          </a:p>
          <a:p xmlns:a="http://schemas.openxmlformats.org/drawingml/2006/main">
            <a:pPr>
              <a:buNone/>
            </a:pPr>
            <a:r>
              <a:rPr lang="en-US" sz="1100"/>
              <a:t>ROUTINE (T1/2/4): Read or copy the original notes, cover one line, and explain it using the displayed example. Reopen and correct. Copying alone is not evidence of understanding.</a:t>
            </a:r>
          </a:p>
          <a:p xmlns:a="http://schemas.openxmlformats.org/drawingml/2006/main">
            <a:pPr>
              <a:buNone/>
            </a:pPr>
            <a:r>
              <a:rPr lang="en-US" sz="1100"/>
              <a:t>LOOK FOR: A link between a symbol, quantity or feature and the explanation. If missing, point back to that feature and have the student try again; fade the prompt once they can explain.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r>
              <a:t>Copy routine: read one line at a time; students copy, then explain that line to a partner.</a:t>
            </a:r>
          </a:p>
          <a:p>
            <a:r>
              <a:t>Keep it brisk — the understanding work happens in the examples, not the copying.</a:t>
            </a:r>
          </a:p>
          <a:p>
            <a:r>
              <a:t>UIFR: TEACH 1 · TEACH 6.</a:t>
            </a:r>
          </a:p>
        </p:txBody>
      </p:sp>
    </p:spTree>
  </p:cSld>
  <p:clrMapOvr>
    <a:masterClrMapping/>
  </p:clrMapOvr>
</p:notes>
</file>

<file path=ppt/notesSlides/notesSlide67.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5.1, slide 57 | REFLECTION</a:t>
            </a:r>
          </a:p>
          <a:p xmlns:a="http://schemas.openxmlformats.org/drawingml/2006/main">
            <a:pPr>
              <a:buNone/>
            </a:pPr>
            <a:r>
              <a:rPr lang="en-US" sz="1100"/>
              <a:t>Focus on the existing task: Learning Targets I can find the area of parallelograms and rhombuses by composing them into rectangles. I can find the area of…</a:t>
            </a:r>
          </a:p>
          <a:p xmlns:a="http://schemas.openxmlformats.org/drawingml/2006/main">
            <a:pPr>
              <a:buNone/>
            </a:pPr>
            <a:r>
              <a:rPr lang="en-US" sz="1100"/>
              <a:t>CONNECT (T1/4): Ask students to restate the displayed goal or key idea and connect it to earlier work. Relevant lesson evidence: identify base and perpendicular height; connect rearrangement to base times height; label square units. Use only the criterion that matches the current session.</a:t>
            </a:r>
          </a:p>
          <a:p xmlns:a="http://schemas.openxmlformats.org/drawingml/2006/main">
            <a:pPr>
              <a:buNone/>
            </a:pPr>
            <a:r>
              <a:rPr lang="en-US" sz="1100"/>
              <a:t>SHOW PROGRESS: Students point to their own existing work, explain what improved after feedback, and name a next step. Pair confidence ratings with actual evidence.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
            <a:pPr>
              <a:buNone/>
            </a:pPr>
            <a:r>
              <a:rPr lang="en-US" sz="1100"/>
              <a:t/>
            </a:r>
          </a:p>
          <a:p>
            <a:pPr>
              <a:buNone/>
            </a:pPr>
            <a:r>
              <a:rPr lang="en-US" sz="1100"/>
              <a:t>UIFR FULL | Lesson-specific facilitation</a:t>
            </a:r>
          </a:p>
          <a:p>
            <a:pPr>
              <a:buNone/>
            </a:pPr>
            <a:r>
              <a:rPr lang="en-US" sz="1100"/>
              <a:t>REFLECT &amp; ADJUST 1-2 | After the lesson (UIFR PDF pp. 15-16).</a:t>
            </a:r>
          </a:p>
          <a:p>
            <a:pPr>
              <a:buNone/>
            </a:pPr>
            <a:r>
              <a:rPr lang="en-US" sz="1100"/>
              <a:t>Sort the existing work by demonstrated reasoning, partial understanding, and the specific misconception: using a slanted side as the height. Compare the initial response with the revision. Record which teaching move plausibly helped, which did not, and whose participation or access needs a different approach; do not record sensitive student details in this shared deck.</a:t>
            </a:r>
          </a:p>
          <a:p>
            <a:pPr>
              <a:buNone/>
            </a:pPr>
            <a:r>
              <a:rPr lang="en-US" sz="1100"/>
              <a:t>Plan the next lesson from that evidence: if the misconception persists, mark a right angle between the selected base and height on the original diagram using the current example before returning to the next grade-level task; if understanding is secure, use an existing extension or ask for a general explanation. Check the targeted idea again at the next warm-up.</a:t>
            </a:r>
          </a:p>
          <a:p>
            <a:pPr>
              <a:buNone/>
            </a:pPr>
            <a:r>
              <a:rPr lang="en-US" sz="1100"/>
              <a:t>Ask students what supported their thinking and what would help next time. Identify one change to try and one successful practice to retain. Seek colleague feedback on anonymized work when useful; these prompts support reflection and do not establish an evaluation rating. Source: Baltimore City Public Schools, Updated Instructional Framework Rubric, June 2020 (UIFR_Full.pdf).</a:t>
            </a:r>
          </a:p>
        </p:txBody>
      </p:sp>
    </p:spTree>
  </p:cSld>
  <p:clrMapOvr>
    <a:masterClrMapping/>
  </p:clrMapOvr>
</p:notes>
</file>

<file path=ppt/notesSlides/notesSlide68.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5.1, slide 7 | PRIOR_INSERT</a:t>
            </a:r>
          </a:p>
          <a:p xmlns:a="http://schemas.openxmlformats.org/drawingml/2006/main">
            <a:pPr>
              <a:buNone/>
            </a:pPr>
            <a:r>
              <a:rPr lang="en-US" sz="1100"/>
              <a:t>Focus on the existing task: LESSON 5.1 / OUR LEARNING What will show your learning?</a:t>
            </a:r>
          </a:p>
          <a:p xmlns:a="http://schemas.openxmlformats.org/drawingml/2006/main">
            <a:pPr>
              <a:buNone/>
            </a:pPr>
            <a:r>
              <a:rPr lang="en-US" sz="1100"/>
              <a:t>CONNECT (T1/4): Ask students to restate the displayed goal or key idea and connect it to earlier work. Relevant lesson evidence: identify base and perpendicular height; connect rearrangement to base times height; label square units. Use only the criterion that matches the current session.</a:t>
            </a:r>
          </a:p>
          <a:p xmlns:a="http://schemas.openxmlformats.org/drawingml/2006/main">
            <a:pPr>
              <a:buNone/>
            </a:pPr>
            <a:r>
              <a:rPr lang="en-US" sz="1100"/>
              <a:t>SHOW PROGRESS: Students point to their own existing work, explain what improved after feedback, and name a next step. Pair confidence ratings with actual evidence.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69.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5.1, slide 8 | VOCAB</a:t>
            </a:r>
          </a:p>
          <a:p xmlns:a="http://schemas.openxmlformats.org/drawingml/2006/main">
            <a:pPr>
              <a:buNone/>
            </a:pPr>
            <a:r>
              <a:rPr lang="en-US" sz="1100"/>
              <a:t>Focus on the existing task: Vocabulary 1 of 10 Area of…</a:t>
            </a:r>
          </a:p>
          <a:p xmlns:a="http://schemas.openxmlformats.org/drawingml/2006/main">
            <a:pPr>
              <a:buNone/>
            </a:pPr>
            <a:r>
              <a:rPr lang="en-US" sz="1100"/>
              <a:t>ASK (T1/3/5): Where does “Area of Parallelograms” appear in the example? Explain the meaning without reading the definition. Partner: restate the idea and ask a clarifying question.</a:t>
            </a:r>
          </a:p>
          <a:p xmlns:a="http://schemas.openxmlformats.org/drawingml/2006/main">
            <a:pPr>
              <a:buNone/>
            </a:pPr>
            <a:r>
              <a:rPr lang="en-US" sz="1100"/>
              <a:t>LOOK FOR: A correct connection between the word and a feature of the example. If the student only repeats the definition, invite pointing, sketching or oral rehearsal, then ask for another explanation of this same example.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70.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5.1, slide 9 | VOCAB</a:t>
            </a:r>
          </a:p>
          <a:p xmlns:a="http://schemas.openxmlformats.org/drawingml/2006/main">
            <a:pPr>
              <a:buNone/>
            </a:pPr>
            <a:r>
              <a:rPr lang="en-US" sz="1100"/>
              <a:t>Focus on the existing task: Vocabulary 2 of 10 Slanted side A side…</a:t>
            </a:r>
          </a:p>
          <a:p xmlns:a="http://schemas.openxmlformats.org/drawingml/2006/main">
            <a:pPr>
              <a:buNone/>
            </a:pPr>
            <a:r>
              <a:rPr lang="en-US" sz="1100"/>
              <a:t>ASK (T1/3/5): Where does “Slanted side” appear in the example? Explain the meaning without reading the definition. Partner: restate the idea and ask a clarifying question.</a:t>
            </a:r>
          </a:p>
          <a:p xmlns:a="http://schemas.openxmlformats.org/drawingml/2006/main">
            <a:pPr>
              <a:buNone/>
            </a:pPr>
            <a:r>
              <a:rPr lang="en-US" sz="1100"/>
              <a:t>LOOK FOR: A correct connection between the word and a feature of the example. If the student only repeats the definition, invite pointing, sketching or oral rehearsal, then ask for another explanation of this same example.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71.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5.1, slide 10 | VOCAB</a:t>
            </a:r>
          </a:p>
          <a:p xmlns:a="http://schemas.openxmlformats.org/drawingml/2006/main">
            <a:pPr>
              <a:buNone/>
            </a:pPr>
            <a:r>
              <a:rPr lang="en-US" sz="1100"/>
              <a:t>Focus on the existing task: Vocabulary 3 of 10 Parallelogram A…</a:t>
            </a:r>
          </a:p>
          <a:p xmlns:a="http://schemas.openxmlformats.org/drawingml/2006/main">
            <a:pPr>
              <a:buNone/>
            </a:pPr>
            <a:r>
              <a:rPr lang="en-US" sz="1100"/>
              <a:t>ASK (T1/3/5): Where does “Parallelogram” appear in the example? Explain the meaning without reading the definition. Partner: restate the idea and ask a clarifying question.</a:t>
            </a:r>
          </a:p>
          <a:p xmlns:a="http://schemas.openxmlformats.org/drawingml/2006/main">
            <a:pPr>
              <a:buNone/>
            </a:pPr>
            <a:r>
              <a:rPr lang="en-US" sz="1100"/>
              <a:t>LOOK FOR: A correct connection between the word and a feature of the example. If the student only repeats the definition, invite pointing, sketching or oral rehearsal, then ask for another explanation of this same example.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72.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5.1, slide 11 | VOCAB</a:t>
            </a:r>
          </a:p>
          <a:p xmlns:a="http://schemas.openxmlformats.org/drawingml/2006/main">
            <a:pPr>
              <a:buNone/>
            </a:pPr>
            <a:r>
              <a:rPr lang="en-US" sz="1100"/>
              <a:t>Focus on the existing task: Vocabulary 4 of 10 Parallel Two lines…</a:t>
            </a:r>
          </a:p>
          <a:p xmlns:a="http://schemas.openxmlformats.org/drawingml/2006/main">
            <a:pPr>
              <a:buNone/>
            </a:pPr>
            <a:r>
              <a:rPr lang="en-US" sz="1100"/>
              <a:t>ASK (T1/3/5): Where does “Parallel” appear in the example? Explain the meaning without reading the definition. Partner: restate the idea and ask a clarifying question.</a:t>
            </a:r>
          </a:p>
          <a:p xmlns:a="http://schemas.openxmlformats.org/drawingml/2006/main">
            <a:pPr>
              <a:buNone/>
            </a:pPr>
            <a:r>
              <a:rPr lang="en-US" sz="1100"/>
              <a:t>LOOK FOR: A correct connection between the word and a feature of the example. If the student only repeats the definition, invite pointing, sketching or oral rehearsal, then ask for another explanation of this same example.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73.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5.1, slide 12 | VOCAB</a:t>
            </a:r>
          </a:p>
          <a:p xmlns:a="http://schemas.openxmlformats.org/drawingml/2006/main">
            <a:pPr>
              <a:buNone/>
            </a:pPr>
            <a:r>
              <a:rPr lang="en-US" sz="1100"/>
              <a:t>Focus on the existing task: Vocabulary 5 of 10 Base Any side of a…</a:t>
            </a:r>
          </a:p>
          <a:p xmlns:a="http://schemas.openxmlformats.org/drawingml/2006/main">
            <a:pPr>
              <a:buNone/>
            </a:pPr>
            <a:r>
              <a:rPr lang="en-US" sz="1100"/>
              <a:t>ASK (T1/3/5): Where does “Base” appear in the example? Explain the meaning without reading the definition. Partner: restate the idea and ask a clarifying question.</a:t>
            </a:r>
          </a:p>
          <a:p xmlns:a="http://schemas.openxmlformats.org/drawingml/2006/main">
            <a:pPr>
              <a:buNone/>
            </a:pPr>
            <a:r>
              <a:rPr lang="en-US" sz="1100"/>
              <a:t>LOOK FOR: A correct connection between the word and a feature of the example. If the student only repeats the definition, invite pointing, sketching or oral rehearsal, then ask for another explanation of this same example.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74.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5.1, slide 13 | VOCAB</a:t>
            </a:r>
          </a:p>
          <a:p xmlns:a="http://schemas.openxmlformats.org/drawingml/2006/main">
            <a:pPr>
              <a:buNone/>
            </a:pPr>
            <a:r>
              <a:rPr lang="en-US" sz="1100"/>
              <a:t>Focus on the existing task: Vocabulary 6 of 10 Height The…</a:t>
            </a:r>
          </a:p>
          <a:p xmlns:a="http://schemas.openxmlformats.org/drawingml/2006/main">
            <a:pPr>
              <a:buNone/>
            </a:pPr>
            <a:r>
              <a:rPr lang="en-US" sz="1100"/>
              <a:t>ASK (T1/3/5): Where does “Height” appear in the example? Explain the meaning without reading the definition. Partner: restate the idea and ask a clarifying question.</a:t>
            </a:r>
          </a:p>
          <a:p xmlns:a="http://schemas.openxmlformats.org/drawingml/2006/main">
            <a:pPr>
              <a:buNone/>
            </a:pPr>
            <a:r>
              <a:rPr lang="en-US" sz="1100"/>
              <a:t>LOOK FOR: A correct connection between the word and a feature of the example. If the student only repeats the definition, invite pointing, sketching or oral rehearsal, then ask for another explanation of this same example.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75.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5.1, slide 14 | VOCAB</a:t>
            </a:r>
          </a:p>
          <a:p xmlns:a="http://schemas.openxmlformats.org/drawingml/2006/main">
            <a:pPr>
              <a:buNone/>
            </a:pPr>
            <a:r>
              <a:rPr lang="en-US" sz="1100"/>
              <a:t>Focus on the existing task: Vocabulary 7 of 10 Perpendicular Two…</a:t>
            </a:r>
          </a:p>
          <a:p xmlns:a="http://schemas.openxmlformats.org/drawingml/2006/main">
            <a:pPr>
              <a:buNone/>
            </a:pPr>
            <a:r>
              <a:rPr lang="en-US" sz="1100"/>
              <a:t>ASK (T1/3/5): Where does “Perpendicular” appear in the example? Explain the meaning without reading the definition. Partner: restate the idea and ask a clarifying question.</a:t>
            </a:r>
          </a:p>
          <a:p xmlns:a="http://schemas.openxmlformats.org/drawingml/2006/main">
            <a:pPr>
              <a:buNone/>
            </a:pPr>
            <a:r>
              <a:rPr lang="en-US" sz="1100"/>
              <a:t>LOOK FOR: A correct connection between the word and a feature of the example. If the student only repeats the definition, invite pointing, sketching or oral rehearsal, then ask for another explanation of this same example.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76.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5.1, slide 15 | VOCAB</a:t>
            </a:r>
          </a:p>
          <a:p xmlns:a="http://schemas.openxmlformats.org/drawingml/2006/main">
            <a:pPr>
              <a:buNone/>
            </a:pPr>
            <a:r>
              <a:rPr lang="en-US" sz="1100"/>
              <a:t>Focus on the existing task: Vocabulary 8 of 10 Area How much space…</a:t>
            </a:r>
          </a:p>
          <a:p xmlns:a="http://schemas.openxmlformats.org/drawingml/2006/main">
            <a:pPr>
              <a:buNone/>
            </a:pPr>
            <a:r>
              <a:rPr lang="en-US" sz="1100"/>
              <a:t>ASK (T1/3/5): Where does “Area” appear in the example? Explain the meaning without reading the definition. Partner: restate the idea and ask a clarifying question.</a:t>
            </a:r>
          </a:p>
          <a:p xmlns:a="http://schemas.openxmlformats.org/drawingml/2006/main">
            <a:pPr>
              <a:buNone/>
            </a:pPr>
            <a:r>
              <a:rPr lang="en-US" sz="1100"/>
              <a:t>LOOK FOR: A correct connection between the word and a feature of the example. If the student only repeats the definition, invite pointing, sketching or oral rehearsal, then ask for another explanation of this same example.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77.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5.1, slide 16 | VOCAB</a:t>
            </a:r>
          </a:p>
          <a:p xmlns:a="http://schemas.openxmlformats.org/drawingml/2006/main">
            <a:pPr>
              <a:buNone/>
            </a:pPr>
            <a:r>
              <a:rPr lang="en-US" sz="1100"/>
              <a:t>Focus on the existing task: Vocabulary 9 of 10 Composite figure A…</a:t>
            </a:r>
          </a:p>
          <a:p xmlns:a="http://schemas.openxmlformats.org/drawingml/2006/main">
            <a:pPr>
              <a:buNone/>
            </a:pPr>
            <a:r>
              <a:rPr lang="en-US" sz="1100"/>
              <a:t>ASK (T1/3/5): Where does “Composite figure” appear in the example? Explain the meaning without reading the definition. Partner: restate the idea and ask a clarifying question.</a:t>
            </a:r>
          </a:p>
          <a:p xmlns:a="http://schemas.openxmlformats.org/drawingml/2006/main">
            <a:pPr>
              <a:buNone/>
            </a:pPr>
            <a:r>
              <a:rPr lang="en-US" sz="1100"/>
              <a:t>LOOK FOR: A correct connection between the word and a feature of the example. If the student only repeats the definition, invite pointing, sketching or oral rehearsal, then ask for another explanation of this same example.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78.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5.1, slide 17 | VOCAB</a:t>
            </a:r>
          </a:p>
          <a:p xmlns:a="http://schemas.openxmlformats.org/drawingml/2006/main">
            <a:pPr>
              <a:buNone/>
            </a:pPr>
            <a:r>
              <a:rPr lang="en-US" sz="1100"/>
              <a:t>Focus on the existing task: Vocabulary 10 of 10 Formula A math rule…</a:t>
            </a:r>
          </a:p>
          <a:p xmlns:a="http://schemas.openxmlformats.org/drawingml/2006/main">
            <a:pPr>
              <a:buNone/>
            </a:pPr>
            <a:r>
              <a:rPr lang="en-US" sz="1100"/>
              <a:t>ASK (T1/3/5): Where does “Formula” appear in the example? Explain the meaning without reading the definition. Partner: restate the idea and ask a clarifying question.</a:t>
            </a:r>
          </a:p>
          <a:p xmlns:a="http://schemas.openxmlformats.org/drawingml/2006/main">
            <a:pPr>
              <a:buNone/>
            </a:pPr>
            <a:r>
              <a:rPr lang="en-US" sz="1100"/>
              <a:t>LOOK FOR: A correct connection between the word and a feature of the example. If the student only repeats the definition, invite pointing, sketching or oral rehearsal, then ask for another explanation of this same example.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79.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5.1, slide 18 | CURIOUS</a:t>
            </a:r>
          </a:p>
          <a:p xmlns:a="http://schemas.openxmlformats.org/drawingml/2006/main">
            <a:pPr>
              <a:buNone/>
            </a:pPr>
            <a:r>
              <a:rPr lang="en-US" sz="1100"/>
              <a:t>Focus on the existing task: How can different ideas and viewpoints help you understand math better?</a:t>
            </a:r>
          </a:p>
          <a:p xmlns:a="http://schemas.openxmlformats.org/drawingml/2006/main">
            <a:pPr>
              <a:buNone/>
            </a:pPr>
            <a:r>
              <a:rPr lang="en-US" sz="1100"/>
              <a:t>LAUNCH (T2/3/5): Allow quiet observation first. Separate a notice from an inference, invite students’ own questions, and follow the existing launch before teaching a procedure.</a:t>
            </a:r>
          </a:p>
          <a:p xmlns:a="http://schemas.openxmlformats.org/drawingml/2006/main">
            <a:pPr>
              <a:buNone/>
            </a:pPr>
            <a:r>
              <a:rPr lang="en-US" sz="1100"/>
              <a:t>LOOK FOR (T4): Where this task addresses it, students can identify base and perpendicular height. Ask which feature of their work supports the claim.</a:t>
            </a:r>
          </a:p>
          <a:p xmlns:a="http://schemas.openxmlformats.org/drawingml/2006/main">
            <a:pPr>
              <a:buNone/>
            </a:pPr>
            <a:r>
              <a:rPr lang="en-US" sz="1100"/>
              <a:t>RESPOND: If this task shows the lesson misconception—using a slanted side as the height—mark a right angle between the selected base and height on the original diagram.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80.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5.1, slide 33 | PRIOR_INSERT</a:t>
            </a:r>
          </a:p>
          <a:p xmlns:a="http://schemas.openxmlformats.org/drawingml/2006/main">
            <a:pPr>
              <a:buNone/>
            </a:pPr>
            <a:r>
              <a:rPr lang="en-US" sz="1100"/>
              <a:t>Focus on the existing task: Point to evidence in your work. Then compare your approach with a partner’s. TAKE TURNS Explain “I know this because…” Ask “Where does your work show that?</a:t>
            </a:r>
          </a:p>
          <a:p xmlns:a="http://schemas.openxmlformats.org/drawingml/2006/main">
            <a:pPr>
              <a:buNone/>
            </a:pPr>
            <a:r>
              <a:rPr lang="en-US" sz="1100"/>
              <a:t>CONNECT (T1/4): Ask students to restate the displayed goal or key idea and connect it to earlier work. Relevant lesson evidence: identify base and perpendicular height; connect rearrangement to base times height; label square units. Use only the criterion that matches the current session.</a:t>
            </a:r>
          </a:p>
          <a:p xmlns:a="http://schemas.openxmlformats.org/drawingml/2006/main">
            <a:pPr>
              <a:buNone/>
            </a:pPr>
            <a:r>
              <a:rPr lang="en-US" sz="1100"/>
              <a:t>SHOW PROGRESS: Students point to their own existing work, explain what improved after feedback, and name a next step. Pair confidence ratings with actual evidence.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81.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5.1, slide 34 | REVEAL</a:t>
            </a:r>
          </a:p>
          <a:p xmlns:a="http://schemas.openxmlformats.org/drawingml/2006/main">
            <a:pPr>
              <a:buNone/>
            </a:pPr>
            <a:r>
              <a:rPr lang="en-US" sz="1100"/>
              <a:t>Focus on the existing task: How can you use the grid to help you estimate the area?</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identify base and perpendicular height. Ask which feature of their work supports the claim.</a:t>
            </a:r>
          </a:p>
          <a:p xmlns:a="http://schemas.openxmlformats.org/drawingml/2006/main">
            <a:pPr>
              <a:buNone/>
            </a:pPr>
            <a:r>
              <a:rPr lang="en-US" sz="1100"/>
              <a:t>RESPOND: If this task shows the lesson misconception—using a slanted side as the height—mark a right angle between the selected base and height on the original diagram.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82.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5.1, slide 35 | REVEAL</a:t>
            </a:r>
          </a:p>
          <a:p xmlns:a="http://schemas.openxmlformats.org/drawingml/2006/main">
            <a:pPr>
              <a:buNone/>
            </a:pPr>
            <a:r>
              <a:rPr lang="en-US" sz="1100"/>
              <a:t>Focus on the existing task: How can you decompose the parallelogram into other shapes that you know?</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identify base and perpendicular height. Ask which feature of their work supports the claim.</a:t>
            </a:r>
          </a:p>
          <a:p xmlns:a="http://schemas.openxmlformats.org/drawingml/2006/main">
            <a:pPr>
              <a:buNone/>
            </a:pPr>
            <a:r>
              <a:rPr lang="en-US" sz="1100"/>
              <a:t>RESPOND: If this task shows the lesson misconception—using a slanted side as the height—mark a right angle between the selected base and height on the original diagram.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83.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5.1, slide 36 | CURIOUS</a:t>
            </a:r>
          </a:p>
          <a:p xmlns:a="http://schemas.openxmlformats.org/drawingml/2006/main">
            <a:pPr>
              <a:buNone/>
            </a:pPr>
            <a:r>
              <a:rPr lang="en-US" sz="1100"/>
              <a:t>Focus on the existing task: How are different ideas and viewpoints helping you understand math better?</a:t>
            </a:r>
          </a:p>
          <a:p xmlns:a="http://schemas.openxmlformats.org/drawingml/2006/main">
            <a:pPr>
              <a:buNone/>
            </a:pPr>
            <a:r>
              <a:rPr lang="en-US" sz="1100"/>
              <a:t>LAUNCH (T2/3/5): Allow quiet observation first. Separate a notice from an inference, invite students’ own questions, and follow the existing launch before teaching a procedure.</a:t>
            </a:r>
          </a:p>
          <a:p xmlns:a="http://schemas.openxmlformats.org/drawingml/2006/main">
            <a:pPr>
              <a:buNone/>
            </a:pPr>
            <a:r>
              <a:rPr lang="en-US" sz="1100"/>
              <a:t>LOOK FOR (T4): Where this task addresses it, students can identify base and perpendicular height. Ask which feature of their work supports the claim.</a:t>
            </a:r>
          </a:p>
          <a:p xmlns:a="http://schemas.openxmlformats.org/drawingml/2006/main">
            <a:pPr>
              <a:buNone/>
            </a:pPr>
            <a:r>
              <a:rPr lang="en-US" sz="1100"/>
              <a:t>RESPOND: If this task shows the lesson misconception—using a slanted side as the height—mark a right angle between the selected base and height on the original diagram.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84.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5.1, slide 52 | PRIOR_INSERT</a:t>
            </a:r>
          </a:p>
          <a:p xmlns:a="http://schemas.openxmlformats.org/drawingml/2006/main">
            <a:pPr>
              <a:buNone/>
            </a:pPr>
            <a:r>
              <a:rPr lang="en-US" sz="1100"/>
              <a:t>Focus on the existing task: LESSON 5.1 / CHECK YOUR WORK Pause. Check. Improve. Listen to understand. Ask for evidence. Make room for every voice. CHECK A mistake…</a:t>
            </a:r>
          </a:p>
          <a:p xmlns:a="http://schemas.openxmlformats.org/drawingml/2006/main">
            <a:pPr>
              <a:buNone/>
            </a:pPr>
            <a:r>
              <a:rPr lang="en-US" sz="1100"/>
              <a:t>CONNECT (T1/4): Ask students to restate the displayed goal or key idea and connect it to earlier work. Relevant lesson evidence: identify base and perpendicular height; connect rearrangement to base times height; label square units. Use only the criterion that matches the current session.</a:t>
            </a:r>
          </a:p>
          <a:p xmlns:a="http://schemas.openxmlformats.org/drawingml/2006/main">
            <a:pPr>
              <a:buNone/>
            </a:pPr>
            <a:r>
              <a:rPr lang="en-US" sz="1100"/>
              <a:t>SHOW PROGRESS: Students point to their own existing work, explain what improved after feedback, and name a next step. Pair confidence ratings with actual evidence.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85.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5.1, slide 53 | REVEAL</a:t>
            </a:r>
          </a:p>
          <a:p xmlns:a="http://schemas.openxmlformats.org/drawingml/2006/main">
            <a:pPr>
              <a:buNone/>
            </a:pPr>
            <a:r>
              <a:rPr lang="en-US" sz="1100"/>
              <a:t>Focus on the existing task: What do you notice about the line segments that are labeled as diagonals in the figure?</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connect rearrangement to base times height. Ask which feature of their work supports the claim.</a:t>
            </a:r>
          </a:p>
          <a:p xmlns:a="http://schemas.openxmlformats.org/drawingml/2006/main">
            <a:pPr>
              <a:buNone/>
            </a:pPr>
            <a:r>
              <a:rPr lang="en-US" sz="1100"/>
              <a:t>RESPOND: If this task shows the lesson misconception—using a slanted side as the height—mark a right angle between the selected base and height on the original diagram.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86.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5.1, slide 54 | REVEAL</a:t>
            </a:r>
          </a:p>
          <a:p xmlns:a="http://schemas.openxmlformats.org/drawingml/2006/main">
            <a:pPr>
              <a:buNone/>
            </a:pPr>
            <a:r>
              <a:rPr lang="en-US" sz="1100"/>
              <a:t>Focus on the existing task: We can use the area formula for rectangles. Reveal: The areas are the same because we did not change the size of the figure…</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identify base and perpendicular height. Ask which feature of their work supports the claim.</a:t>
            </a:r>
          </a:p>
          <a:p xmlns:a="http://schemas.openxmlformats.org/drawingml/2006/main">
            <a:pPr>
              <a:buNone/>
            </a:pPr>
            <a:r>
              <a:rPr lang="en-US" sz="1100"/>
              <a:t>RESPOND: If this task shows the lesson misconception—using a slanted side as the height—mark a right angle between the selected base and height on the original diagram.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87.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5.1, slide 58 | PRIOR_INSERT</a:t>
            </a:r>
          </a:p>
          <a:p xmlns:a="http://schemas.openxmlformats.org/drawingml/2006/main">
            <a:pPr>
              <a:buNone/>
            </a:pPr>
            <a:r>
              <a:rPr lang="en-US" sz="1100"/>
              <a:t>Focus on the existing task: LESSON 5.1 / REFLECT ON YOUR LEARNING Show your progress Listen to understand. Ask for evidence. Make room for every voice. 1 SHOW…</a:t>
            </a:r>
          </a:p>
          <a:p xmlns:a="http://schemas.openxmlformats.org/drawingml/2006/main">
            <a:pPr>
              <a:buNone/>
            </a:pPr>
            <a:r>
              <a:rPr lang="en-US" sz="1100"/>
              <a:t>CONNECT (T1/4): Ask students to restate the displayed goal or key idea and connect it to earlier work. Relevant lesson evidence: identify base and perpendicular height; connect rearrangement to base times height; label square units. Use only the criterion that matches the current session.</a:t>
            </a:r>
          </a:p>
          <a:p xmlns:a="http://schemas.openxmlformats.org/drawingml/2006/main">
            <a:pPr>
              <a:buNone/>
            </a:pPr>
            <a:r>
              <a:rPr lang="en-US" sz="1100"/>
              <a:t>SHOW PROGRESS: Students point to their own existing work, explain what improved after feedback, and name a next step. Pair confidence ratings with actual evidence.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Title Slide Photo">
  <p:cSld name="2_Title Slide Photo">
    <p:spTree>
      <p:nvGrpSpPr>
        <p:cNvPr id="15" name="Shape 15"/>
        <p:cNvGrpSpPr/>
        <p:nvPr/>
      </p:nvGrpSpPr>
      <p:grpSpPr>
        <a:xfrm>
          <a:off x="0" y="0"/>
          <a:ext cx="0" cy="0"/>
          <a:chOff x="0" y="0"/>
          <a:chExt cx="0" cy="0"/>
        </a:xfrm>
      </p:grpSpPr>
    </p:spTree>
  </p:cSld>
  <p:clrMapOvr>
    <a:masterClrMapping/>
  </p:clrMapOvr>
  <p:extLst>
    <p:ext uri="{DCECCB84-F9BA-43D5-87BE-67443E8EF086}">
      <p15:sldGuideLst>
        <p15:guide id="1" orient="horz" pos="96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1-column">
  <p:cSld name="Content 1-column">
    <p:spTree>
      <p:nvGrpSpPr>
        <p:cNvPr id="16" name="Shape 16"/>
        <p:cNvGrpSpPr/>
        <p:nvPr/>
      </p:nvGrpSpPr>
      <p:grpSpPr>
        <a:xfrm>
          <a:off x="0" y="0"/>
          <a:ext cx="0" cy="0"/>
          <a:chOff x="0" y="0"/>
          <a:chExt cx="0" cy="0"/>
        </a:xfrm>
      </p:grpSpPr>
      <p:sp>
        <p:nvSpPr>
          <p:cNvPr id="17" name="Google Shape;17;p3"/>
          <p:cNvSpPr txBox="1"/>
          <p:nvPr>
            <p:ph idx="12" type="sldNum"/>
          </p:nvPr>
        </p:nvSpPr>
        <p:spPr>
          <a:xfrm>
            <a:off x="10436045" y="6528815"/>
            <a:ext cx="1278151" cy="22860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18" name="Google Shape;18;p3"/>
          <p:cNvSpPr txBox="1"/>
          <p:nvPr/>
        </p:nvSpPr>
        <p:spPr>
          <a:xfrm>
            <a:off x="490549" y="6528816"/>
            <a:ext cx="2072640" cy="228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Arial"/>
              <a:buNone/>
            </a:pPr>
            <a:r>
              <a:rPr b="1" i="0" lang="en-US" sz="900" u="none" cap="none" strike="noStrike">
                <a:solidFill>
                  <a:schemeClr val="dk2"/>
                </a:solidFill>
                <a:latin typeface="Arial"/>
                <a:ea typeface="Arial"/>
                <a:cs typeface="Arial"/>
                <a:sym typeface="Arial"/>
              </a:rPr>
              <a:t>McGraw Hill   |</a:t>
            </a:r>
            <a:endParaRPr b="0" i="0" sz="900" u="none" cap="none" strike="noStrike">
              <a:solidFill>
                <a:schemeClr val="dk2"/>
              </a:solidFill>
              <a:latin typeface="Arial"/>
              <a:ea typeface="Arial"/>
              <a:cs typeface="Arial"/>
              <a:sym typeface="Arial"/>
            </a:endParaRPr>
          </a:p>
        </p:txBody>
      </p:sp>
      <p:sp>
        <p:nvSpPr>
          <p:cNvPr id="19" name="Google Shape;19;p3"/>
          <p:cNvSpPr txBox="1"/>
          <p:nvPr>
            <p:ph idx="11" type="ftr"/>
          </p:nvPr>
        </p:nvSpPr>
        <p:spPr>
          <a:xfrm>
            <a:off x="1402828" y="6528816"/>
            <a:ext cx="7315200" cy="22860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900" u="none" cap="none" strike="noStrike">
                <a:solidFill>
                  <a:schemeClr val="dk2"/>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Tree>
  </p:cSld>
  <p:clrMapOvr>
    <a:masterClrMapping/>
  </p:clrMapOvr>
  <p:extLst>
    <p:ext uri="{DCECCB84-F9BA-43D5-87BE-67443E8EF086}">
      <p15:sldGuideLst>
        <p15:guide id="1" orient="horz" pos="3772">
          <p15:clr>
            <a:srgbClr val="FBAE40"/>
          </p15:clr>
        </p15:guide>
        <p15:guide id="2" orient="horz" pos="804">
          <p15:clr>
            <a:srgbClr val="FBAE40"/>
          </p15:clr>
        </p15:guide>
        <p15:guide id="3" pos="384">
          <p15:clr>
            <a:srgbClr val="FBAE40"/>
          </p15:clr>
        </p15:guide>
        <p15:guide id="4" pos="3940">
          <p15:clr>
            <a:srgbClr val="FBAE40"/>
          </p15:clr>
        </p15:guide>
        <p15:guide id="5" pos="40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27" name="Shape 27"/>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8" name="Shape 28"/>
        <p:cNvGrpSpPr/>
        <p:nvPr/>
      </p:nvGrpSpPr>
      <p:grpSpPr>
        <a:xfrm>
          <a:off x="0" y="0"/>
          <a:ext cx="0" cy="0"/>
          <a:chOff x="0" y="0"/>
          <a:chExt cx="0" cy="0"/>
        </a:xfrm>
      </p:grpSpPr>
      <p:sp>
        <p:nvSpPr>
          <p:cNvPr id="29" name="Google Shape;29;p6"/>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30" name="Google Shape;30;p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31" name="Google Shape;31;p6"/>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32" name="Google Shape;32;p6"/>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33" name="Google Shape;33;p6"/>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4" name="Shape 34"/>
        <p:cNvGrpSpPr/>
        <p:nvPr/>
      </p:nvGrpSpPr>
      <p:grpSpPr>
        <a:xfrm>
          <a:off x="0" y="0"/>
          <a:ext cx="0" cy="0"/>
          <a:chOff x="0" y="0"/>
          <a:chExt cx="0" cy="0"/>
        </a:xfrm>
      </p:grpSpPr>
      <p:sp>
        <p:nvSpPr>
          <p:cNvPr id="35" name="Google Shape;35;p7"/>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6000"/>
              <a:buFont typeface="Calibri"/>
              <a:buNone/>
              <a:defRPr b="0" i="0" sz="60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36" name="Google Shape;36;p7"/>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rgbClr val="888888"/>
              </a:buClr>
              <a:buSzPts val="2400"/>
              <a:buFont typeface="Arial"/>
              <a:buNone/>
              <a:defRPr b="0" i="0" sz="2400" u="none" cap="none" strike="noStrike">
                <a:solidFill>
                  <a:srgbClr val="888888"/>
                </a:solidFill>
                <a:latin typeface="Calibri"/>
                <a:ea typeface="Calibri"/>
                <a:cs typeface="Calibri"/>
                <a:sym typeface="Calibri"/>
              </a:defRPr>
            </a:lvl1pPr>
            <a:lvl2pPr indent="-228600" lvl="1" marL="914400" marR="0" rtl="0" algn="l">
              <a:lnSpc>
                <a:spcPct val="90000"/>
              </a:lnSpc>
              <a:spcBef>
                <a:spcPts val="500"/>
              </a:spcBef>
              <a:spcAft>
                <a:spcPts val="0"/>
              </a:spcAft>
              <a:buClr>
                <a:srgbClr val="888888"/>
              </a:buClr>
              <a:buSzPts val="2000"/>
              <a:buFont typeface="Arial"/>
              <a:buNone/>
              <a:defRPr b="0" i="0" sz="2000" u="none" cap="none" strike="noStrike">
                <a:solidFill>
                  <a:srgbClr val="888888"/>
                </a:solidFill>
                <a:latin typeface="Calibri"/>
                <a:ea typeface="Calibri"/>
                <a:cs typeface="Calibri"/>
                <a:sym typeface="Calibri"/>
              </a:defRPr>
            </a:lvl2pPr>
            <a:lvl3pPr indent="-228600" lvl="2" marL="1371600" marR="0" rtl="0" algn="l">
              <a:lnSpc>
                <a:spcPct val="90000"/>
              </a:lnSpc>
              <a:spcBef>
                <a:spcPts val="500"/>
              </a:spcBef>
              <a:spcAft>
                <a:spcPts val="0"/>
              </a:spcAft>
              <a:buClr>
                <a:srgbClr val="888888"/>
              </a:buClr>
              <a:buSzPts val="1800"/>
              <a:buFont typeface="Arial"/>
              <a:buNone/>
              <a:defRPr b="0" i="0" sz="1800" u="none" cap="none" strike="noStrike">
                <a:solidFill>
                  <a:srgbClr val="888888"/>
                </a:solidFill>
                <a:latin typeface="Calibri"/>
                <a:ea typeface="Calibri"/>
                <a:cs typeface="Calibri"/>
                <a:sym typeface="Calibri"/>
              </a:defRPr>
            </a:lvl3pPr>
            <a:lvl4pPr indent="-228600" lvl="3" marL="18288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4pPr>
            <a:lvl5pPr indent="-228600" lvl="4" marL="22860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5pPr>
            <a:lvl6pPr indent="-228600" lvl="5" marL="27432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6pPr>
            <a:lvl7pPr indent="-228600" lvl="6" marL="32004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7pPr>
            <a:lvl8pPr indent="-228600" lvl="7" marL="36576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8pPr>
            <a:lvl9pPr indent="-228600" lvl="8" marL="41148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9pPr>
          </a:lstStyle>
          <a:p/>
        </p:txBody>
      </p:sp>
      <p:sp>
        <p:nvSpPr>
          <p:cNvPr id="37" name="Google Shape;37;p7"/>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38" name="Google Shape;38;p7"/>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39" name="Google Shape;39;p7"/>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40" name="Shape 40"/>
        <p:cNvGrpSpPr/>
        <p:nvPr/>
      </p:nvGrpSpPr>
      <p:grpSpPr>
        <a:xfrm>
          <a:off x="0" y="0"/>
          <a:ext cx="0" cy="0"/>
          <a:chOff x="0" y="0"/>
          <a:chExt cx="0" cy="0"/>
        </a:xfrm>
      </p:grpSpPr>
      <p:sp>
        <p:nvSpPr>
          <p:cNvPr id="41" name="Google Shape;41;p8"/>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42" name="Google Shape;42;p8"/>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43" name="Google Shape;43;p8"/>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44" name="Google Shape;44;p8"/>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5" name="Google Shape;45;p8"/>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6" name="Google Shape;46;p8"/>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7" name="Shape 47"/>
        <p:cNvGrpSpPr/>
        <p:nvPr/>
      </p:nvGrpSpPr>
      <p:grpSpPr>
        <a:xfrm>
          <a:off x="0" y="0"/>
          <a:ext cx="0" cy="0"/>
          <a:chOff x="0" y="0"/>
          <a:chExt cx="0" cy="0"/>
        </a:xfrm>
      </p:grpSpPr>
      <p:sp>
        <p:nvSpPr>
          <p:cNvPr id="48" name="Google Shape;48;p9"/>
          <p:cNvSpPr txBox="1"/>
          <p:nvPr>
            <p:ph type="title"/>
          </p:nvPr>
        </p:nvSpPr>
        <p:spPr>
          <a:xfrm>
            <a:off x="839788"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49" name="Google Shape;49;p9"/>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2400"/>
              <a:buFont typeface="Arial"/>
              <a:buNone/>
              <a:defRPr b="1" i="0" sz="24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2000"/>
              <a:buFont typeface="Arial"/>
              <a:buNone/>
              <a:defRPr b="1" i="0" sz="20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800"/>
              <a:buFont typeface="Arial"/>
              <a:buNone/>
              <a:defRPr b="1" i="0" sz="18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9pPr>
          </a:lstStyle>
          <a:p/>
        </p:txBody>
      </p:sp>
      <p:sp>
        <p:nvSpPr>
          <p:cNvPr id="50" name="Google Shape;50;p9"/>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51" name="Google Shape;51;p9"/>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2400"/>
              <a:buFont typeface="Arial"/>
              <a:buNone/>
              <a:defRPr b="1" i="0" sz="24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2000"/>
              <a:buFont typeface="Arial"/>
              <a:buNone/>
              <a:defRPr b="1" i="0" sz="20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800"/>
              <a:buFont typeface="Arial"/>
              <a:buNone/>
              <a:defRPr b="1" i="0" sz="18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9pPr>
          </a:lstStyle>
          <a:p/>
        </p:txBody>
      </p:sp>
      <p:sp>
        <p:nvSpPr>
          <p:cNvPr id="52" name="Google Shape;52;p9"/>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53" name="Google Shape;53;p9"/>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4" name="Google Shape;54;p9"/>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5" name="Google Shape;55;p9"/>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6" name="Shape 56"/>
        <p:cNvGrpSpPr/>
        <p:nvPr/>
      </p:nvGrpSpPr>
      <p:grpSpPr>
        <a:xfrm>
          <a:off x="0" y="0"/>
          <a:ext cx="0" cy="0"/>
          <a:chOff x="0" y="0"/>
          <a:chExt cx="0" cy="0"/>
        </a:xfrm>
      </p:grpSpPr>
      <p:sp>
        <p:nvSpPr>
          <p:cNvPr id="57" name="Google Shape;57;p10"/>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58" name="Google Shape;58;p10"/>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9" name="Google Shape;59;p10"/>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60" name="Google Shape;60;p10"/>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1" name="Shape 61"/>
        <p:cNvGrpSpPr/>
        <p:nvPr/>
      </p:nvGrpSpPr>
      <p:grpSpPr>
        <a:xfrm>
          <a:off x="0" y="0"/>
          <a:ext cx="0" cy="0"/>
          <a:chOff x="0" y="0"/>
          <a:chExt cx="0" cy="0"/>
        </a:xfrm>
      </p:grpSpPr>
      <p:sp>
        <p:nvSpPr>
          <p:cNvPr id="62" name="Google Shape;62;p11"/>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63" name="Google Shape;63;p11"/>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64" name="Google Shape;64;p11"/>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65" name="Shape 65"/>
        <p:cNvGrpSpPr/>
        <p:nvPr/>
      </p:nvGrpSpPr>
      <p:grpSpPr>
        <a:xfrm>
          <a:off x="0" y="0"/>
          <a:ext cx="0" cy="0"/>
          <a:chOff x="0" y="0"/>
          <a:chExt cx="0" cy="0"/>
        </a:xfrm>
      </p:grpSpPr>
      <p:sp>
        <p:nvSpPr>
          <p:cNvPr id="66" name="Google Shape;66;p12"/>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3200"/>
              <a:buFont typeface="Calibri"/>
              <a:buNone/>
              <a:defRPr b="0" i="0" sz="3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67" name="Google Shape;67;p12"/>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Autofit/>
          </a:bodyPr>
          <a:lstStyle>
            <a:lvl1pPr indent="-431800" lvl="0" marL="457200" marR="0" rtl="0" algn="l">
              <a:lnSpc>
                <a:spcPct val="90000"/>
              </a:lnSpc>
              <a:spcBef>
                <a:spcPts val="100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90000"/>
              </a:lnSpc>
              <a:spcBef>
                <a:spcPts val="5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68" name="Google Shape;68;p12"/>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9pPr>
          </a:lstStyle>
          <a:p/>
        </p:txBody>
      </p:sp>
      <p:sp>
        <p:nvSpPr>
          <p:cNvPr id="69" name="Google Shape;69;p12"/>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70" name="Google Shape;70;p12"/>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71" name="Google Shape;71;p12"/>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72" name="Shape 72"/>
        <p:cNvGrpSpPr/>
        <p:nvPr/>
      </p:nvGrpSpPr>
      <p:grpSpPr>
        <a:xfrm>
          <a:off x="0" y="0"/>
          <a:ext cx="0" cy="0"/>
          <a:chOff x="0" y="0"/>
          <a:chExt cx="0" cy="0"/>
        </a:xfrm>
      </p:grpSpPr>
      <p:sp>
        <p:nvSpPr>
          <p:cNvPr id="73" name="Google Shape;73;p13"/>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3200"/>
              <a:buFont typeface="Calibri"/>
              <a:buNone/>
              <a:defRPr b="0" i="0" sz="3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4" name="Google Shape;74;p13"/>
          <p:cNvSpPr/>
          <p:nvPr>
            <p:ph idx="2" type="pic"/>
          </p:nvPr>
        </p:nvSpPr>
        <p:spPr>
          <a:xfrm>
            <a:off x="5183188" y="987425"/>
            <a:ext cx="6172200" cy="4873625"/>
          </a:xfrm>
          <a:prstGeom prst="rect">
            <a:avLst/>
          </a:prstGeom>
          <a:noFill/>
          <a:ln>
            <a:noFill/>
          </a:ln>
        </p:spPr>
      </p:sp>
      <p:sp>
        <p:nvSpPr>
          <p:cNvPr id="75" name="Google Shape;75;p13"/>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9pPr>
          </a:lstStyle>
          <a:p/>
        </p:txBody>
      </p:sp>
      <p:sp>
        <p:nvSpPr>
          <p:cNvPr id="76" name="Google Shape;76;p13"/>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77" name="Google Shape;77;p13"/>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78" name="Google Shape;78;p13"/>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9" name="Shape 79"/>
        <p:cNvGrpSpPr/>
        <p:nvPr/>
      </p:nvGrpSpPr>
      <p:grpSpPr>
        <a:xfrm>
          <a:off x="0" y="0"/>
          <a:ext cx="0" cy="0"/>
          <a:chOff x="0" y="0"/>
          <a:chExt cx="0" cy="0"/>
        </a:xfrm>
      </p:grpSpPr>
      <p:sp>
        <p:nvSpPr>
          <p:cNvPr id="80" name="Google Shape;80;p14"/>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81" name="Google Shape;81;p14"/>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2" name="Google Shape;82;p14"/>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3" name="Google Shape;83;p14"/>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4" name="Google Shape;84;p14"/>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85" name="Shape 85"/>
        <p:cNvGrpSpPr/>
        <p:nvPr/>
      </p:nvGrpSpPr>
      <p:grpSpPr>
        <a:xfrm>
          <a:off x="0" y="0"/>
          <a:ext cx="0" cy="0"/>
          <a:chOff x="0" y="0"/>
          <a:chExt cx="0" cy="0"/>
        </a:xfrm>
      </p:grpSpPr>
      <p:sp>
        <p:nvSpPr>
          <p:cNvPr id="86" name="Google Shape;86;p15"/>
          <p:cNvSpPr txBox="1"/>
          <p:nvPr>
            <p:ph type="title"/>
          </p:nvPr>
        </p:nvSpPr>
        <p:spPr>
          <a:xfrm rot="5400000">
            <a:off x="7133431" y="1956594"/>
            <a:ext cx="5811838" cy="2628900"/>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87" name="Google Shape;87;p15"/>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8" name="Google Shape;88;p15"/>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9" name="Google Shape;89;p15"/>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0" name="Google Shape;90;p15"/>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97" name="Shape 97"/>
        <p:cNvGrpSpPr/>
        <p:nvPr/>
      </p:nvGrpSpPr>
      <p:grpSpPr>
        <a:xfrm>
          <a:off x="0" y="0"/>
          <a:ext cx="0" cy="0"/>
          <a:chOff x="0" y="0"/>
          <a:chExt cx="0" cy="0"/>
        </a:xfrm>
      </p:grpSpPr>
      <p:sp>
        <p:nvSpPr>
          <p:cNvPr id="98" name="Google Shape;98;p17"/>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9" name="Google Shape;99;p17"/>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0" name="Google Shape;100;p17"/>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101" name="Shape 101"/>
        <p:cNvGrpSpPr/>
        <p:nvPr/>
      </p:nvGrpSpPr>
      <p:grpSpPr>
        <a:xfrm>
          <a:off x="0" y="0"/>
          <a:ext cx="0" cy="0"/>
          <a:chOff x="0" y="0"/>
          <a:chExt cx="0" cy="0"/>
        </a:xfrm>
      </p:grpSpPr>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02" name="Shape 102"/>
        <p:cNvGrpSpPr/>
        <p:nvPr/>
      </p:nvGrpSpPr>
      <p:grpSpPr>
        <a:xfrm>
          <a:off x="0" y="0"/>
          <a:ext cx="0" cy="0"/>
          <a:chOff x="0" y="0"/>
          <a:chExt cx="0" cy="0"/>
        </a:xfrm>
      </p:grpSpPr>
      <p:sp>
        <p:nvSpPr>
          <p:cNvPr id="103" name="Google Shape;103;p19"/>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04" name="Google Shape;104;p19"/>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05" name="Google Shape;105;p19"/>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6" name="Google Shape;106;p19"/>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7" name="Google Shape;107;p19"/>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08" name="Shape 108"/>
        <p:cNvGrpSpPr/>
        <p:nvPr/>
      </p:nvGrpSpPr>
      <p:grpSpPr>
        <a:xfrm>
          <a:off x="0" y="0"/>
          <a:ext cx="0" cy="0"/>
          <a:chOff x="0" y="0"/>
          <a:chExt cx="0" cy="0"/>
        </a:xfrm>
      </p:grpSpPr>
      <p:sp>
        <p:nvSpPr>
          <p:cNvPr id="109" name="Google Shape;109;p20"/>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6000"/>
              <a:buFont typeface="Calibri"/>
              <a:buNone/>
              <a:defRPr b="0" i="0" sz="60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0" name="Google Shape;110;p20"/>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rgbClr val="888888"/>
              </a:buClr>
              <a:buSzPts val="2400"/>
              <a:buFont typeface="Arial"/>
              <a:buNone/>
              <a:defRPr b="0" i="0" sz="2400" u="none" cap="none" strike="noStrike">
                <a:solidFill>
                  <a:srgbClr val="888888"/>
                </a:solidFill>
                <a:latin typeface="Calibri"/>
                <a:ea typeface="Calibri"/>
                <a:cs typeface="Calibri"/>
                <a:sym typeface="Calibri"/>
              </a:defRPr>
            </a:lvl1pPr>
            <a:lvl2pPr indent="-228600" lvl="1" marL="914400" marR="0" rtl="0" algn="l">
              <a:lnSpc>
                <a:spcPct val="90000"/>
              </a:lnSpc>
              <a:spcBef>
                <a:spcPts val="500"/>
              </a:spcBef>
              <a:spcAft>
                <a:spcPts val="0"/>
              </a:spcAft>
              <a:buClr>
                <a:srgbClr val="888888"/>
              </a:buClr>
              <a:buSzPts val="2000"/>
              <a:buFont typeface="Arial"/>
              <a:buNone/>
              <a:defRPr b="0" i="0" sz="2000" u="none" cap="none" strike="noStrike">
                <a:solidFill>
                  <a:srgbClr val="888888"/>
                </a:solidFill>
                <a:latin typeface="Calibri"/>
                <a:ea typeface="Calibri"/>
                <a:cs typeface="Calibri"/>
                <a:sym typeface="Calibri"/>
              </a:defRPr>
            </a:lvl2pPr>
            <a:lvl3pPr indent="-228600" lvl="2" marL="1371600" marR="0" rtl="0" algn="l">
              <a:lnSpc>
                <a:spcPct val="90000"/>
              </a:lnSpc>
              <a:spcBef>
                <a:spcPts val="500"/>
              </a:spcBef>
              <a:spcAft>
                <a:spcPts val="0"/>
              </a:spcAft>
              <a:buClr>
                <a:srgbClr val="888888"/>
              </a:buClr>
              <a:buSzPts val="1800"/>
              <a:buFont typeface="Arial"/>
              <a:buNone/>
              <a:defRPr b="0" i="0" sz="1800" u="none" cap="none" strike="noStrike">
                <a:solidFill>
                  <a:srgbClr val="888888"/>
                </a:solidFill>
                <a:latin typeface="Calibri"/>
                <a:ea typeface="Calibri"/>
                <a:cs typeface="Calibri"/>
                <a:sym typeface="Calibri"/>
              </a:defRPr>
            </a:lvl3pPr>
            <a:lvl4pPr indent="-228600" lvl="3" marL="18288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4pPr>
            <a:lvl5pPr indent="-228600" lvl="4" marL="22860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5pPr>
            <a:lvl6pPr indent="-228600" lvl="5" marL="27432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6pPr>
            <a:lvl7pPr indent="-228600" lvl="6" marL="32004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7pPr>
            <a:lvl8pPr indent="-228600" lvl="7" marL="36576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8pPr>
            <a:lvl9pPr indent="-228600" lvl="8" marL="41148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9pPr>
          </a:lstStyle>
          <a:p/>
        </p:txBody>
      </p:sp>
      <p:sp>
        <p:nvSpPr>
          <p:cNvPr id="111" name="Google Shape;111;p20"/>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12" name="Google Shape;112;p20"/>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13" name="Google Shape;113;p20"/>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14" name="Shape 114"/>
        <p:cNvGrpSpPr/>
        <p:nvPr/>
      </p:nvGrpSpPr>
      <p:grpSpPr>
        <a:xfrm>
          <a:off x="0" y="0"/>
          <a:ext cx="0" cy="0"/>
          <a:chOff x="0" y="0"/>
          <a:chExt cx="0" cy="0"/>
        </a:xfrm>
      </p:grpSpPr>
      <p:sp>
        <p:nvSpPr>
          <p:cNvPr id="115" name="Google Shape;115;p21"/>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6" name="Google Shape;116;p21"/>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17" name="Google Shape;117;p21"/>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18" name="Google Shape;118;p21"/>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19" name="Google Shape;119;p21"/>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20" name="Google Shape;120;p21"/>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121" name="Shape 121"/>
        <p:cNvGrpSpPr/>
        <p:nvPr/>
      </p:nvGrpSpPr>
      <p:grpSpPr>
        <a:xfrm>
          <a:off x="0" y="0"/>
          <a:ext cx="0" cy="0"/>
          <a:chOff x="0" y="0"/>
          <a:chExt cx="0" cy="0"/>
        </a:xfrm>
      </p:grpSpPr>
      <p:sp>
        <p:nvSpPr>
          <p:cNvPr id="122" name="Google Shape;122;p22"/>
          <p:cNvSpPr txBox="1"/>
          <p:nvPr>
            <p:ph type="title"/>
          </p:nvPr>
        </p:nvSpPr>
        <p:spPr>
          <a:xfrm>
            <a:off x="839788"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23" name="Google Shape;123;p22"/>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2400"/>
              <a:buFont typeface="Arial"/>
              <a:buNone/>
              <a:defRPr b="1" i="0" sz="24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2000"/>
              <a:buFont typeface="Arial"/>
              <a:buNone/>
              <a:defRPr b="1" i="0" sz="20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800"/>
              <a:buFont typeface="Arial"/>
              <a:buNone/>
              <a:defRPr b="1" i="0" sz="18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9pPr>
          </a:lstStyle>
          <a:p/>
        </p:txBody>
      </p:sp>
      <p:sp>
        <p:nvSpPr>
          <p:cNvPr id="124" name="Google Shape;124;p22"/>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5" name="Google Shape;125;p22"/>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2400"/>
              <a:buFont typeface="Arial"/>
              <a:buNone/>
              <a:defRPr b="1" i="0" sz="24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2000"/>
              <a:buFont typeface="Arial"/>
              <a:buNone/>
              <a:defRPr b="1" i="0" sz="20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800"/>
              <a:buFont typeface="Arial"/>
              <a:buNone/>
              <a:defRPr b="1" i="0" sz="18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9pPr>
          </a:lstStyle>
          <a:p/>
        </p:txBody>
      </p:sp>
      <p:sp>
        <p:nvSpPr>
          <p:cNvPr id="126" name="Google Shape;126;p22"/>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7" name="Google Shape;127;p22"/>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28" name="Google Shape;128;p22"/>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29" name="Google Shape;129;p22"/>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30" name="Shape 130"/>
        <p:cNvGrpSpPr/>
        <p:nvPr/>
      </p:nvGrpSpPr>
      <p:grpSpPr>
        <a:xfrm>
          <a:off x="0" y="0"/>
          <a:ext cx="0" cy="0"/>
          <a:chOff x="0" y="0"/>
          <a:chExt cx="0" cy="0"/>
        </a:xfrm>
      </p:grpSpPr>
      <p:sp>
        <p:nvSpPr>
          <p:cNvPr id="131" name="Google Shape;131;p23"/>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32" name="Google Shape;132;p23"/>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33" name="Google Shape;133;p23"/>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34" name="Google Shape;134;p23"/>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135" name="Shape 135"/>
        <p:cNvGrpSpPr/>
        <p:nvPr/>
      </p:nvGrpSpPr>
      <p:grpSpPr>
        <a:xfrm>
          <a:off x="0" y="0"/>
          <a:ext cx="0" cy="0"/>
          <a:chOff x="0" y="0"/>
          <a:chExt cx="0" cy="0"/>
        </a:xfrm>
      </p:grpSpPr>
      <p:sp>
        <p:nvSpPr>
          <p:cNvPr id="136" name="Google Shape;136;p24"/>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3200"/>
              <a:buFont typeface="Calibri"/>
              <a:buNone/>
              <a:defRPr b="0" i="0" sz="3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37" name="Google Shape;137;p24"/>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Autofit/>
          </a:bodyPr>
          <a:lstStyle>
            <a:lvl1pPr indent="-431800" lvl="0" marL="457200" marR="0" rtl="0" algn="l">
              <a:lnSpc>
                <a:spcPct val="90000"/>
              </a:lnSpc>
              <a:spcBef>
                <a:spcPts val="100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90000"/>
              </a:lnSpc>
              <a:spcBef>
                <a:spcPts val="5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38" name="Google Shape;138;p24"/>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9pPr>
          </a:lstStyle>
          <a:p/>
        </p:txBody>
      </p:sp>
      <p:sp>
        <p:nvSpPr>
          <p:cNvPr id="139" name="Google Shape;139;p24"/>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40" name="Google Shape;140;p24"/>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41" name="Google Shape;141;p24"/>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42" name="Shape 142"/>
        <p:cNvGrpSpPr/>
        <p:nvPr/>
      </p:nvGrpSpPr>
      <p:grpSpPr>
        <a:xfrm>
          <a:off x="0" y="0"/>
          <a:ext cx="0" cy="0"/>
          <a:chOff x="0" y="0"/>
          <a:chExt cx="0" cy="0"/>
        </a:xfrm>
      </p:grpSpPr>
      <p:sp>
        <p:nvSpPr>
          <p:cNvPr id="143" name="Google Shape;143;p25"/>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3200"/>
              <a:buFont typeface="Calibri"/>
              <a:buNone/>
              <a:defRPr b="0" i="0" sz="3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44" name="Google Shape;144;p25"/>
          <p:cNvSpPr/>
          <p:nvPr>
            <p:ph idx="2" type="pic"/>
          </p:nvPr>
        </p:nvSpPr>
        <p:spPr>
          <a:xfrm>
            <a:off x="5183188" y="987425"/>
            <a:ext cx="6172200" cy="4873625"/>
          </a:xfrm>
          <a:prstGeom prst="rect">
            <a:avLst/>
          </a:prstGeom>
          <a:noFill/>
          <a:ln>
            <a:noFill/>
          </a:ln>
        </p:spPr>
      </p:sp>
      <p:sp>
        <p:nvSpPr>
          <p:cNvPr id="145" name="Google Shape;145;p25"/>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9pPr>
          </a:lstStyle>
          <a:p/>
        </p:txBody>
      </p:sp>
      <p:sp>
        <p:nvSpPr>
          <p:cNvPr id="146" name="Google Shape;146;p25"/>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47" name="Google Shape;147;p25"/>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48" name="Google Shape;148;p25"/>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49" name="Shape 149"/>
        <p:cNvGrpSpPr/>
        <p:nvPr/>
      </p:nvGrpSpPr>
      <p:grpSpPr>
        <a:xfrm>
          <a:off x="0" y="0"/>
          <a:ext cx="0" cy="0"/>
          <a:chOff x="0" y="0"/>
          <a:chExt cx="0" cy="0"/>
        </a:xfrm>
      </p:grpSpPr>
      <p:sp>
        <p:nvSpPr>
          <p:cNvPr id="150" name="Google Shape;150;p26"/>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51" name="Google Shape;151;p26"/>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52" name="Google Shape;152;p26"/>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53" name="Google Shape;153;p26"/>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54" name="Google Shape;154;p26"/>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55" name="Shape 155"/>
        <p:cNvGrpSpPr/>
        <p:nvPr/>
      </p:nvGrpSpPr>
      <p:grpSpPr>
        <a:xfrm>
          <a:off x="0" y="0"/>
          <a:ext cx="0" cy="0"/>
          <a:chOff x="0" y="0"/>
          <a:chExt cx="0" cy="0"/>
        </a:xfrm>
      </p:grpSpPr>
      <p:sp>
        <p:nvSpPr>
          <p:cNvPr id="156" name="Google Shape;156;p27"/>
          <p:cNvSpPr txBox="1"/>
          <p:nvPr>
            <p:ph type="title"/>
          </p:nvPr>
        </p:nvSpPr>
        <p:spPr>
          <a:xfrm rot="5400000">
            <a:off x="7133431" y="1956594"/>
            <a:ext cx="5811838" cy="2628900"/>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57" name="Google Shape;157;p27"/>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58" name="Google Shape;158;p27"/>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59" name="Google Shape;159;p27"/>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60" name="Google Shape;160;p27"/>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167" name="Shape 167"/>
        <p:cNvGrpSpPr/>
        <p:nvPr/>
      </p:nvGrpSpPr>
      <p:grpSpPr>
        <a:xfrm>
          <a:off x="0" y="0"/>
          <a:ext cx="0" cy="0"/>
          <a:chOff x="0" y="0"/>
          <a:chExt cx="0" cy="0"/>
        </a:xfrm>
      </p:grpSpPr>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68" name="Shape 168"/>
        <p:cNvGrpSpPr/>
        <p:nvPr/>
      </p:nvGrpSpPr>
      <p:grpSpPr>
        <a:xfrm>
          <a:off x="0" y="0"/>
          <a:ext cx="0" cy="0"/>
          <a:chOff x="0" y="0"/>
          <a:chExt cx="0" cy="0"/>
        </a:xfrm>
      </p:grpSpPr>
      <p:sp>
        <p:nvSpPr>
          <p:cNvPr id="169" name="Google Shape;169;p30"/>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70" name="Google Shape;170;p30"/>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71" name="Google Shape;171;p30"/>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72" name="Google Shape;172;p30"/>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73" name="Google Shape;173;p30"/>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74" name="Shape 174"/>
        <p:cNvGrpSpPr/>
        <p:nvPr/>
      </p:nvGrpSpPr>
      <p:grpSpPr>
        <a:xfrm>
          <a:off x="0" y="0"/>
          <a:ext cx="0" cy="0"/>
          <a:chOff x="0" y="0"/>
          <a:chExt cx="0" cy="0"/>
        </a:xfrm>
      </p:grpSpPr>
      <p:sp>
        <p:nvSpPr>
          <p:cNvPr id="175" name="Google Shape;175;p31"/>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6000"/>
              <a:buFont typeface="Calibri"/>
              <a:buNone/>
              <a:defRPr b="0" i="0" sz="60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76" name="Google Shape;176;p31"/>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rgbClr val="888888"/>
              </a:buClr>
              <a:buSzPts val="2400"/>
              <a:buFont typeface="Arial"/>
              <a:buNone/>
              <a:defRPr b="0" i="0" sz="2400" u="none" cap="none" strike="noStrike">
                <a:solidFill>
                  <a:srgbClr val="888888"/>
                </a:solidFill>
                <a:latin typeface="Calibri"/>
                <a:ea typeface="Calibri"/>
                <a:cs typeface="Calibri"/>
                <a:sym typeface="Calibri"/>
              </a:defRPr>
            </a:lvl1pPr>
            <a:lvl2pPr indent="-228600" lvl="1" marL="914400" marR="0" rtl="0" algn="l">
              <a:lnSpc>
                <a:spcPct val="90000"/>
              </a:lnSpc>
              <a:spcBef>
                <a:spcPts val="500"/>
              </a:spcBef>
              <a:spcAft>
                <a:spcPts val="0"/>
              </a:spcAft>
              <a:buClr>
                <a:srgbClr val="888888"/>
              </a:buClr>
              <a:buSzPts val="2000"/>
              <a:buFont typeface="Arial"/>
              <a:buNone/>
              <a:defRPr b="0" i="0" sz="2000" u="none" cap="none" strike="noStrike">
                <a:solidFill>
                  <a:srgbClr val="888888"/>
                </a:solidFill>
                <a:latin typeface="Calibri"/>
                <a:ea typeface="Calibri"/>
                <a:cs typeface="Calibri"/>
                <a:sym typeface="Calibri"/>
              </a:defRPr>
            </a:lvl2pPr>
            <a:lvl3pPr indent="-228600" lvl="2" marL="1371600" marR="0" rtl="0" algn="l">
              <a:lnSpc>
                <a:spcPct val="90000"/>
              </a:lnSpc>
              <a:spcBef>
                <a:spcPts val="500"/>
              </a:spcBef>
              <a:spcAft>
                <a:spcPts val="0"/>
              </a:spcAft>
              <a:buClr>
                <a:srgbClr val="888888"/>
              </a:buClr>
              <a:buSzPts val="1800"/>
              <a:buFont typeface="Arial"/>
              <a:buNone/>
              <a:defRPr b="0" i="0" sz="1800" u="none" cap="none" strike="noStrike">
                <a:solidFill>
                  <a:srgbClr val="888888"/>
                </a:solidFill>
                <a:latin typeface="Calibri"/>
                <a:ea typeface="Calibri"/>
                <a:cs typeface="Calibri"/>
                <a:sym typeface="Calibri"/>
              </a:defRPr>
            </a:lvl3pPr>
            <a:lvl4pPr indent="-228600" lvl="3" marL="18288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4pPr>
            <a:lvl5pPr indent="-228600" lvl="4" marL="22860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5pPr>
            <a:lvl6pPr indent="-228600" lvl="5" marL="27432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6pPr>
            <a:lvl7pPr indent="-228600" lvl="6" marL="32004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7pPr>
            <a:lvl8pPr indent="-228600" lvl="7" marL="36576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8pPr>
            <a:lvl9pPr indent="-228600" lvl="8" marL="41148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9pPr>
          </a:lstStyle>
          <a:p/>
        </p:txBody>
      </p:sp>
      <p:sp>
        <p:nvSpPr>
          <p:cNvPr id="177" name="Google Shape;177;p31"/>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78" name="Google Shape;178;p31"/>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79" name="Google Shape;179;p31"/>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80" name="Shape 180"/>
        <p:cNvGrpSpPr/>
        <p:nvPr/>
      </p:nvGrpSpPr>
      <p:grpSpPr>
        <a:xfrm>
          <a:off x="0" y="0"/>
          <a:ext cx="0" cy="0"/>
          <a:chOff x="0" y="0"/>
          <a:chExt cx="0" cy="0"/>
        </a:xfrm>
      </p:grpSpPr>
      <p:sp>
        <p:nvSpPr>
          <p:cNvPr id="181" name="Google Shape;181;p32"/>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82" name="Google Shape;182;p32"/>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83" name="Google Shape;183;p32"/>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84" name="Google Shape;184;p32"/>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85" name="Google Shape;185;p32"/>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86" name="Google Shape;186;p32"/>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187" name="Shape 187"/>
        <p:cNvGrpSpPr/>
        <p:nvPr/>
      </p:nvGrpSpPr>
      <p:grpSpPr>
        <a:xfrm>
          <a:off x="0" y="0"/>
          <a:ext cx="0" cy="0"/>
          <a:chOff x="0" y="0"/>
          <a:chExt cx="0" cy="0"/>
        </a:xfrm>
      </p:grpSpPr>
      <p:sp>
        <p:nvSpPr>
          <p:cNvPr id="188" name="Google Shape;188;p33"/>
          <p:cNvSpPr txBox="1"/>
          <p:nvPr>
            <p:ph type="title"/>
          </p:nvPr>
        </p:nvSpPr>
        <p:spPr>
          <a:xfrm>
            <a:off x="839788"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89" name="Google Shape;189;p33"/>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2400"/>
              <a:buFont typeface="Arial"/>
              <a:buNone/>
              <a:defRPr b="1" i="0" sz="24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2000"/>
              <a:buFont typeface="Arial"/>
              <a:buNone/>
              <a:defRPr b="1" i="0" sz="20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800"/>
              <a:buFont typeface="Arial"/>
              <a:buNone/>
              <a:defRPr b="1" i="0" sz="18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9pPr>
          </a:lstStyle>
          <a:p/>
        </p:txBody>
      </p:sp>
      <p:sp>
        <p:nvSpPr>
          <p:cNvPr id="190" name="Google Shape;190;p33"/>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91" name="Google Shape;191;p33"/>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2400"/>
              <a:buFont typeface="Arial"/>
              <a:buNone/>
              <a:defRPr b="1" i="0" sz="24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2000"/>
              <a:buFont typeface="Arial"/>
              <a:buNone/>
              <a:defRPr b="1" i="0" sz="20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800"/>
              <a:buFont typeface="Arial"/>
              <a:buNone/>
              <a:defRPr b="1" i="0" sz="18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9pPr>
          </a:lstStyle>
          <a:p/>
        </p:txBody>
      </p:sp>
      <p:sp>
        <p:nvSpPr>
          <p:cNvPr id="192" name="Google Shape;192;p33"/>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93" name="Google Shape;193;p33"/>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94" name="Google Shape;194;p33"/>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95" name="Google Shape;195;p33"/>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96" name="Shape 196"/>
        <p:cNvGrpSpPr/>
        <p:nvPr/>
      </p:nvGrpSpPr>
      <p:grpSpPr>
        <a:xfrm>
          <a:off x="0" y="0"/>
          <a:ext cx="0" cy="0"/>
          <a:chOff x="0" y="0"/>
          <a:chExt cx="0" cy="0"/>
        </a:xfrm>
      </p:grpSpPr>
      <p:sp>
        <p:nvSpPr>
          <p:cNvPr id="197" name="Google Shape;197;p34"/>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98" name="Google Shape;198;p34"/>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99" name="Google Shape;199;p34"/>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00" name="Google Shape;200;p34"/>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01" name="Shape 201"/>
        <p:cNvGrpSpPr/>
        <p:nvPr/>
      </p:nvGrpSpPr>
      <p:grpSpPr>
        <a:xfrm>
          <a:off x="0" y="0"/>
          <a:ext cx="0" cy="0"/>
          <a:chOff x="0" y="0"/>
          <a:chExt cx="0" cy="0"/>
        </a:xfrm>
      </p:grpSpPr>
      <p:sp>
        <p:nvSpPr>
          <p:cNvPr id="202" name="Google Shape;202;p35"/>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03" name="Google Shape;203;p35"/>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04" name="Google Shape;204;p35"/>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205" name="Shape 205"/>
        <p:cNvGrpSpPr/>
        <p:nvPr/>
      </p:nvGrpSpPr>
      <p:grpSpPr>
        <a:xfrm>
          <a:off x="0" y="0"/>
          <a:ext cx="0" cy="0"/>
          <a:chOff x="0" y="0"/>
          <a:chExt cx="0" cy="0"/>
        </a:xfrm>
      </p:grpSpPr>
      <p:sp>
        <p:nvSpPr>
          <p:cNvPr id="206" name="Google Shape;206;p36"/>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3200"/>
              <a:buFont typeface="Calibri"/>
              <a:buNone/>
              <a:defRPr b="0" i="0" sz="3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07" name="Google Shape;207;p36"/>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Autofit/>
          </a:bodyPr>
          <a:lstStyle>
            <a:lvl1pPr indent="-431800" lvl="0" marL="457200" marR="0" rtl="0" algn="l">
              <a:lnSpc>
                <a:spcPct val="90000"/>
              </a:lnSpc>
              <a:spcBef>
                <a:spcPts val="100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90000"/>
              </a:lnSpc>
              <a:spcBef>
                <a:spcPts val="5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208" name="Google Shape;208;p36"/>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9pPr>
          </a:lstStyle>
          <a:p/>
        </p:txBody>
      </p:sp>
      <p:sp>
        <p:nvSpPr>
          <p:cNvPr id="209" name="Google Shape;209;p36"/>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10" name="Google Shape;210;p36"/>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11" name="Google Shape;211;p36"/>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212" name="Shape 212"/>
        <p:cNvGrpSpPr/>
        <p:nvPr/>
      </p:nvGrpSpPr>
      <p:grpSpPr>
        <a:xfrm>
          <a:off x="0" y="0"/>
          <a:ext cx="0" cy="0"/>
          <a:chOff x="0" y="0"/>
          <a:chExt cx="0" cy="0"/>
        </a:xfrm>
      </p:grpSpPr>
      <p:sp>
        <p:nvSpPr>
          <p:cNvPr id="213" name="Google Shape;213;p37"/>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3200"/>
              <a:buFont typeface="Calibri"/>
              <a:buNone/>
              <a:defRPr b="0" i="0" sz="3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14" name="Google Shape;214;p37"/>
          <p:cNvSpPr/>
          <p:nvPr>
            <p:ph idx="2" type="pic"/>
          </p:nvPr>
        </p:nvSpPr>
        <p:spPr>
          <a:xfrm>
            <a:off x="5183188" y="987425"/>
            <a:ext cx="6172200" cy="4873625"/>
          </a:xfrm>
          <a:prstGeom prst="rect">
            <a:avLst/>
          </a:prstGeom>
          <a:noFill/>
          <a:ln>
            <a:noFill/>
          </a:ln>
        </p:spPr>
      </p:sp>
      <p:sp>
        <p:nvSpPr>
          <p:cNvPr id="215" name="Google Shape;215;p37"/>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9pPr>
          </a:lstStyle>
          <a:p/>
        </p:txBody>
      </p:sp>
      <p:sp>
        <p:nvSpPr>
          <p:cNvPr id="216" name="Google Shape;216;p37"/>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17" name="Google Shape;217;p37"/>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18" name="Google Shape;218;p37"/>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219" name="Shape 219"/>
        <p:cNvGrpSpPr/>
        <p:nvPr/>
      </p:nvGrpSpPr>
      <p:grpSpPr>
        <a:xfrm>
          <a:off x="0" y="0"/>
          <a:ext cx="0" cy="0"/>
          <a:chOff x="0" y="0"/>
          <a:chExt cx="0" cy="0"/>
        </a:xfrm>
      </p:grpSpPr>
      <p:sp>
        <p:nvSpPr>
          <p:cNvPr id="220" name="Google Shape;220;p38"/>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21" name="Google Shape;221;p38"/>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22" name="Google Shape;222;p38"/>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23" name="Google Shape;223;p38"/>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24" name="Google Shape;224;p38"/>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225" name="Shape 225"/>
        <p:cNvGrpSpPr/>
        <p:nvPr/>
      </p:nvGrpSpPr>
      <p:grpSpPr>
        <a:xfrm>
          <a:off x="0" y="0"/>
          <a:ext cx="0" cy="0"/>
          <a:chOff x="0" y="0"/>
          <a:chExt cx="0" cy="0"/>
        </a:xfrm>
      </p:grpSpPr>
      <p:sp>
        <p:nvSpPr>
          <p:cNvPr id="226" name="Google Shape;226;p39"/>
          <p:cNvSpPr txBox="1"/>
          <p:nvPr>
            <p:ph type="title"/>
          </p:nvPr>
        </p:nvSpPr>
        <p:spPr>
          <a:xfrm rot="5400000">
            <a:off x="7133431" y="1956594"/>
            <a:ext cx="5811838" cy="2628900"/>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27" name="Google Shape;227;p39"/>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28" name="Google Shape;228;p39"/>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29" name="Google Shape;229;p39"/>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30" name="Google Shape;230;p39"/>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png"/><Relationship Id="rId3" Type="http://schemas.openxmlformats.org/officeDocument/2006/relationships/slideLayout" Target="../slideLayouts/slideLayout1.xml"/><Relationship Id="rId4" Type="http://schemas.openxmlformats.org/officeDocument/2006/relationships/slideLayout" Target="../slideLayouts/slideLayout2.xml"/><Relationship Id="rId5" Type="http://schemas.openxmlformats.org/officeDocument/2006/relationships/theme" Target="../theme/theme4.xml"/></Relationships>
</file>

<file path=ppt/slideMasters/_rels/slideMaster2.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3.xml"/><Relationship Id="rId3" Type="http://schemas.openxmlformats.org/officeDocument/2006/relationships/slideLayout" Target="../slideLayouts/slideLayout4.xml"/><Relationship Id="rId4" Type="http://schemas.openxmlformats.org/officeDocument/2006/relationships/slideLayout" Target="../slideLayouts/slideLayout5.xml"/><Relationship Id="rId5" Type="http://schemas.openxmlformats.org/officeDocument/2006/relationships/slideLayout" Target="../slideLayouts/slideLayout6.xml"/><Relationship Id="rId6" Type="http://schemas.openxmlformats.org/officeDocument/2006/relationships/slideLayout" Target="../slideLayouts/slideLayout7.xml"/><Relationship Id="rId7" Type="http://schemas.openxmlformats.org/officeDocument/2006/relationships/slideLayout" Target="../slideLayouts/slideLayout8.xml"/><Relationship Id="rId8" Type="http://schemas.openxmlformats.org/officeDocument/2006/relationships/slideLayout" Target="../slideLayouts/slideLayout9.xml"/><Relationship Id="rId9" Type="http://schemas.openxmlformats.org/officeDocument/2006/relationships/slideLayout" Target="../slideLayouts/slideLayout10.xml"/><Relationship Id="rId10" Type="http://schemas.openxmlformats.org/officeDocument/2006/relationships/slideLayout" Target="../slideLayouts/slideLayout11.xml"/><Relationship Id="rId11" Type="http://schemas.openxmlformats.org/officeDocument/2006/relationships/slideLayout" Target="../slideLayouts/slideLayout12.xml"/><Relationship Id="rId12" Type="http://schemas.openxmlformats.org/officeDocument/2006/relationships/slideLayout" Target="../slideLayouts/slideLayout13.xml"/><Relationship Id="rId13"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4.xml"/><Relationship Id="rId3" Type="http://schemas.openxmlformats.org/officeDocument/2006/relationships/slideLayout" Target="../slideLayouts/slideLayout15.xml"/><Relationship Id="rId4" Type="http://schemas.openxmlformats.org/officeDocument/2006/relationships/slideLayout" Target="../slideLayouts/slideLayout16.xml"/><Relationship Id="rId5" Type="http://schemas.openxmlformats.org/officeDocument/2006/relationships/slideLayout" Target="../slideLayouts/slideLayout17.xml"/><Relationship Id="rId6" Type="http://schemas.openxmlformats.org/officeDocument/2006/relationships/slideLayout" Target="../slideLayouts/slideLayout18.xml"/><Relationship Id="rId7" Type="http://schemas.openxmlformats.org/officeDocument/2006/relationships/slideLayout" Target="../slideLayouts/slideLayout19.xml"/><Relationship Id="rId8" Type="http://schemas.openxmlformats.org/officeDocument/2006/relationships/slideLayout" Target="../slideLayouts/slideLayout20.xml"/><Relationship Id="rId9" Type="http://schemas.openxmlformats.org/officeDocument/2006/relationships/slideLayout" Target="../slideLayouts/slideLayout21.xml"/><Relationship Id="rId10" Type="http://schemas.openxmlformats.org/officeDocument/2006/relationships/slideLayout" Target="../slideLayouts/slideLayout22.xml"/><Relationship Id="rId11" Type="http://schemas.openxmlformats.org/officeDocument/2006/relationships/slideLayout" Target="../slideLayouts/slideLayout23.xml"/><Relationship Id="rId12" Type="http://schemas.openxmlformats.org/officeDocument/2006/relationships/slideLayout" Target="../slideLayouts/slideLayout24.xml"/><Relationship Id="rId13"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25.xml"/><Relationship Id="rId3" Type="http://schemas.openxmlformats.org/officeDocument/2006/relationships/slideLayout" Target="../slideLayouts/slideLayout26.xml"/><Relationship Id="rId4" Type="http://schemas.openxmlformats.org/officeDocument/2006/relationships/slideLayout" Target="../slideLayouts/slideLayout27.xml"/><Relationship Id="rId5" Type="http://schemas.openxmlformats.org/officeDocument/2006/relationships/slideLayout" Target="../slideLayouts/slideLayout28.xml"/><Relationship Id="rId6" Type="http://schemas.openxmlformats.org/officeDocument/2006/relationships/slideLayout" Target="../slideLayouts/slideLayout29.xml"/><Relationship Id="rId7" Type="http://schemas.openxmlformats.org/officeDocument/2006/relationships/slideLayout" Target="../slideLayouts/slideLayout30.xml"/><Relationship Id="rId8" Type="http://schemas.openxmlformats.org/officeDocument/2006/relationships/slideLayout" Target="../slideLayouts/slideLayout31.xml"/><Relationship Id="rId9" Type="http://schemas.openxmlformats.org/officeDocument/2006/relationships/slideLayout" Target="../slideLayouts/slideLayout32.xml"/><Relationship Id="rId10" Type="http://schemas.openxmlformats.org/officeDocument/2006/relationships/slideLayout" Target="../slideLayouts/slideLayout33.xml"/><Relationship Id="rId11" Type="http://schemas.openxmlformats.org/officeDocument/2006/relationships/slideLayout" Target="../slideLayouts/slideLayout34.xml"/><Relationship Id="rId12" Type="http://schemas.openxmlformats.org/officeDocument/2006/relationships/slideLayout" Target="../slideLayouts/slideLayout35.xml"/><Relationship Id="rId13" Type="http://schemas.openxmlformats.org/officeDocument/2006/relationships/theme" Target="../theme/theme5.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pic>
        <p:nvPicPr>
          <p:cNvPr id="10" name="Google Shape;10;p1"/>
          <p:cNvPicPr preferRelativeResize="0"/>
          <p:nvPr/>
        </p:nvPicPr>
        <p:blipFill rotWithShape="1">
          <a:blip r:embed="rId1">
            <a:alphaModFix/>
          </a:blip>
          <a:srcRect b="0" l="0" r="0" t="0"/>
          <a:stretch/>
        </p:blipFill>
        <p:spPr>
          <a:xfrm>
            <a:off x="2141884" y="0"/>
            <a:ext cx="10030237" cy="1640714"/>
          </a:xfrm>
          <a:prstGeom prst="rect">
            <a:avLst/>
          </a:prstGeom>
          <a:noFill/>
          <a:ln>
            <a:noFill/>
          </a:ln>
        </p:spPr>
      </p:pic>
      <p:sp>
        <p:nvSpPr>
          <p:cNvPr id="11" name="Google Shape;11;p1"/>
          <p:cNvSpPr txBox="1"/>
          <p:nvPr/>
        </p:nvSpPr>
        <p:spPr>
          <a:xfrm>
            <a:off x="1402828" y="6528816"/>
            <a:ext cx="6270960" cy="228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chemeClr val="dk2"/>
                </a:solidFill>
                <a:latin typeface="Arial"/>
                <a:ea typeface="Arial"/>
                <a:cs typeface="Arial"/>
                <a:sym typeface="Arial"/>
              </a:rPr>
              <a:t>Copyright © McGraw Hill</a:t>
            </a:r>
            <a:endParaRPr b="0" i="0" sz="1400" u="none" cap="none" strike="noStrike">
              <a:solidFill>
                <a:srgbClr val="000000"/>
              </a:solidFill>
              <a:latin typeface="Arial"/>
              <a:ea typeface="Arial"/>
              <a:cs typeface="Arial"/>
              <a:sym typeface="Arial"/>
            </a:endParaRPr>
          </a:p>
        </p:txBody>
      </p:sp>
      <p:pic>
        <p:nvPicPr>
          <p:cNvPr id="12" name="Google Shape;12;p1"/>
          <p:cNvPicPr preferRelativeResize="0"/>
          <p:nvPr/>
        </p:nvPicPr>
        <p:blipFill rotWithShape="1">
          <a:blip r:embed="rId2">
            <a:alphaModFix/>
          </a:blip>
          <a:srcRect b="0" l="0" r="0" t="0"/>
          <a:stretch/>
        </p:blipFill>
        <p:spPr>
          <a:xfrm>
            <a:off x="1492908" y="5619163"/>
            <a:ext cx="654674" cy="654674"/>
          </a:xfrm>
          <a:prstGeom prst="rect">
            <a:avLst/>
          </a:prstGeom>
          <a:noFill/>
          <a:ln>
            <a:noFill/>
          </a:ln>
        </p:spPr>
      </p:pic>
      <p:cxnSp>
        <p:nvCxnSpPr>
          <p:cNvPr id="13" name="Google Shape;13;p1"/>
          <p:cNvCxnSpPr/>
          <p:nvPr/>
        </p:nvCxnSpPr>
        <p:spPr>
          <a:xfrm>
            <a:off x="0" y="6432698"/>
            <a:ext cx="12192000" cy="0"/>
          </a:xfrm>
          <a:prstGeom prst="straightConnector1">
            <a:avLst/>
          </a:prstGeom>
          <a:noFill/>
          <a:ln cap="flat" cmpd="sng" w="22225">
            <a:solidFill>
              <a:srgbClr val="BFBFBF"/>
            </a:solidFill>
            <a:prstDash val="solid"/>
            <a:miter lim="80"/>
            <a:headEnd len="sm" w="sm" type="none"/>
            <a:tailEnd len="sm" w="sm" type="none"/>
          </a:ln>
        </p:spPr>
      </p:cxnSp>
      <p:sp>
        <p:nvSpPr>
          <p:cNvPr id="14" name="Google Shape;14;p1"/>
          <p:cNvSpPr txBox="1"/>
          <p:nvPr/>
        </p:nvSpPr>
        <p:spPr>
          <a:xfrm>
            <a:off x="9064487" y="6399634"/>
            <a:ext cx="3107634" cy="478243"/>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800"/>
              <a:buFont typeface="Arial"/>
              <a:buNone/>
            </a:pPr>
            <a:r>
              <a:rPr b="0" i="0" lang="en-US" sz="800" u="none" cap="none" strike="noStrike">
                <a:solidFill>
                  <a:srgbClr val="3F3F3F"/>
                </a:solidFill>
                <a:latin typeface="Arial"/>
                <a:ea typeface="Arial"/>
                <a:cs typeface="Arial"/>
                <a:sym typeface="Arial"/>
              </a:rPr>
              <a:t>This material may be reproduced for licensed classroom use only and may not be further reproduced or distributed.</a:t>
            </a:r>
            <a:endParaRPr b="0" i="0" sz="1400" u="none" cap="none" strike="noStrike">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48" r:id="rId3"/>
    <p:sldLayoutId id="2147483649" r:id="rId4"/>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2159">
          <p15:clr>
            <a:srgbClr val="F26B43"/>
          </p15:clr>
        </p15:guide>
        <p15:guide id="2" orient="horz" pos="360">
          <p15:clr>
            <a:srgbClr val="F26B43"/>
          </p15:clr>
        </p15:guide>
        <p15:guide id="3" pos="3840">
          <p15:clr>
            <a:srgbClr val="F26B43"/>
          </p15:clr>
        </p15:guide>
        <p15:guide id="4" pos="384">
          <p15:clr>
            <a:srgbClr val="F26B43"/>
          </p15:clr>
        </p15:guide>
        <p15:guide id="5" pos="7296">
          <p15:clr>
            <a:srgbClr val="F26B43"/>
          </p15:clr>
        </p15:guide>
        <p15:guide id="6" orient="horz" pos="4211">
          <p15:clr>
            <a:srgbClr val="F26B43"/>
          </p15:clr>
        </p15:guide>
        <p15:guide id="7" pos="1120">
          <p15:clr>
            <a:srgbClr val="F26B43"/>
          </p15:clr>
        </p15:guide>
        <p15:guide id="8" pos="936">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0" name="Shape 20"/>
        <p:cNvGrpSpPr/>
        <p:nvPr/>
      </p:nvGrpSpPr>
      <p:grpSpPr>
        <a:xfrm>
          <a:off x="0" y="0"/>
          <a:ext cx="0" cy="0"/>
          <a:chOff x="0" y="0"/>
          <a:chExt cx="0" cy="0"/>
        </a:xfrm>
      </p:grpSpPr>
      <p:cxnSp>
        <p:nvCxnSpPr>
          <p:cNvPr id="21" name="Google Shape;21;p4"/>
          <p:cNvCxnSpPr/>
          <p:nvPr/>
        </p:nvCxnSpPr>
        <p:spPr>
          <a:xfrm>
            <a:off x="0" y="6432698"/>
            <a:ext cx="12192000" cy="0"/>
          </a:xfrm>
          <a:prstGeom prst="straightConnector1">
            <a:avLst/>
          </a:prstGeom>
          <a:noFill/>
          <a:ln cap="flat" cmpd="sng" w="22225">
            <a:solidFill>
              <a:srgbClr val="BFBFBF"/>
            </a:solidFill>
            <a:prstDash val="solid"/>
            <a:miter lim="80"/>
            <a:headEnd len="sm" w="sm" type="none"/>
            <a:tailEnd len="sm" w="sm" type="none"/>
          </a:ln>
        </p:spPr>
      </p:cxnSp>
      <p:sp>
        <p:nvSpPr>
          <p:cNvPr id="22" name="Google Shape;22;p4"/>
          <p:cNvSpPr txBox="1"/>
          <p:nvPr/>
        </p:nvSpPr>
        <p:spPr>
          <a:xfrm>
            <a:off x="1385464" y="6528815"/>
            <a:ext cx="4694822" cy="32468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chemeClr val="dk2"/>
              </a:solidFill>
              <a:latin typeface="Arial"/>
              <a:ea typeface="Arial"/>
              <a:cs typeface="Arial"/>
              <a:sym typeface="Arial"/>
            </a:endParaRPr>
          </a:p>
        </p:txBody>
      </p:sp>
      <p:sp>
        <p:nvSpPr>
          <p:cNvPr id="23" name="Google Shape;23;p4"/>
          <p:cNvSpPr txBox="1"/>
          <p:nvPr/>
        </p:nvSpPr>
        <p:spPr>
          <a:xfrm>
            <a:off x="9064487" y="6399634"/>
            <a:ext cx="3107634" cy="478243"/>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800"/>
              <a:buFont typeface="Arial"/>
              <a:buNone/>
            </a:pPr>
            <a:r>
              <a:rPr b="0" i="0" lang="en-US" sz="800" u="none" cap="none" strike="noStrike">
                <a:solidFill>
                  <a:srgbClr val="3F3F3F"/>
                </a:solidFill>
                <a:latin typeface="Arial"/>
                <a:ea typeface="Arial"/>
                <a:cs typeface="Arial"/>
                <a:sym typeface="Arial"/>
              </a:rPr>
              <a:t>This material may be reproduced for licensed classroom use only and may not be further reproduced or distributed.</a:t>
            </a:r>
            <a:endParaRPr b="0" i="0" sz="1400" u="none" cap="none" strike="noStrike">
              <a:solidFill>
                <a:srgbClr val="000000"/>
              </a:solidFill>
              <a:latin typeface="Arial"/>
              <a:ea typeface="Arial"/>
              <a:cs typeface="Arial"/>
              <a:sym typeface="Arial"/>
            </a:endParaRPr>
          </a:p>
        </p:txBody>
      </p:sp>
      <p:pic>
        <p:nvPicPr>
          <p:cNvPr id="24" name="Google Shape;24;p4"/>
          <p:cNvPicPr preferRelativeResize="0"/>
          <p:nvPr/>
        </p:nvPicPr>
        <p:blipFill rotWithShape="1">
          <a:blip r:embed="rId1">
            <a:alphaModFix/>
          </a:blip>
          <a:srcRect b="0" l="0" r="0" t="0"/>
          <a:stretch/>
        </p:blipFill>
        <p:spPr>
          <a:xfrm>
            <a:off x="4896996" y="0"/>
            <a:ext cx="7295004" cy="1193294"/>
          </a:xfrm>
          <a:prstGeom prst="rect">
            <a:avLst/>
          </a:prstGeom>
          <a:noFill/>
          <a:ln>
            <a:noFill/>
          </a:ln>
        </p:spPr>
      </p:pic>
      <p:sp>
        <p:nvSpPr>
          <p:cNvPr id="25" name="Google Shape;25;p4"/>
          <p:cNvSpPr txBox="1"/>
          <p:nvPr/>
        </p:nvSpPr>
        <p:spPr>
          <a:xfrm>
            <a:off x="490549" y="6528815"/>
            <a:ext cx="1036320" cy="32466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Arial"/>
              <a:buNone/>
            </a:pPr>
            <a:r>
              <a:rPr b="1" i="0" lang="en-US" sz="900" u="none" cap="none" strike="noStrike">
                <a:solidFill>
                  <a:schemeClr val="dk2"/>
                </a:solidFill>
                <a:latin typeface="Arial"/>
                <a:ea typeface="Arial"/>
                <a:cs typeface="Arial"/>
                <a:sym typeface="Arial"/>
              </a:rPr>
              <a:t>McGraw Hill   |</a:t>
            </a:r>
            <a:endParaRPr b="0" i="0" sz="900" u="none" cap="none" strike="noStrike">
              <a:solidFill>
                <a:schemeClr val="dk2"/>
              </a:solidFill>
              <a:latin typeface="Arial"/>
              <a:ea typeface="Arial"/>
              <a:cs typeface="Arial"/>
              <a:sym typeface="Arial"/>
            </a:endParaRPr>
          </a:p>
        </p:txBody>
      </p:sp>
      <p:sp>
        <p:nvSpPr>
          <p:cNvPr id="26" name="Google Shape;26;p4"/>
          <p:cNvSpPr txBox="1"/>
          <p:nvPr/>
        </p:nvSpPr>
        <p:spPr>
          <a:xfrm>
            <a:off x="1385463" y="6528815"/>
            <a:ext cx="5878461" cy="32468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chemeClr val="dk2"/>
                </a:solidFill>
                <a:latin typeface="Arial"/>
                <a:ea typeface="Arial"/>
                <a:cs typeface="Arial"/>
                <a:sym typeface="Arial"/>
              </a:rPr>
              <a:t>Determine the Area of  Parallelograms and Rhombuses​</a:t>
            </a:r>
            <a:endParaRPr b="0" i="0" sz="1400" u="none" cap="none" strike="noStrike">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1" name="Shape 91"/>
        <p:cNvGrpSpPr/>
        <p:nvPr/>
      </p:nvGrpSpPr>
      <p:grpSpPr>
        <a:xfrm>
          <a:off x="0" y="0"/>
          <a:ext cx="0" cy="0"/>
          <a:chOff x="0" y="0"/>
          <a:chExt cx="0" cy="0"/>
        </a:xfrm>
      </p:grpSpPr>
      <p:cxnSp>
        <p:nvCxnSpPr>
          <p:cNvPr id="92" name="Google Shape;92;p16"/>
          <p:cNvCxnSpPr/>
          <p:nvPr/>
        </p:nvCxnSpPr>
        <p:spPr>
          <a:xfrm>
            <a:off x="0" y="6432698"/>
            <a:ext cx="12192000" cy="0"/>
          </a:xfrm>
          <a:prstGeom prst="straightConnector1">
            <a:avLst/>
          </a:prstGeom>
          <a:noFill/>
          <a:ln cap="flat" cmpd="sng" w="22225">
            <a:solidFill>
              <a:srgbClr val="BFBFBF"/>
            </a:solidFill>
            <a:prstDash val="solid"/>
            <a:miter lim="80"/>
            <a:headEnd len="sm" w="sm" type="none"/>
            <a:tailEnd len="sm" w="sm" type="none"/>
          </a:ln>
        </p:spPr>
      </p:cxnSp>
      <p:sp>
        <p:nvSpPr>
          <p:cNvPr id="93" name="Google Shape;93;p16"/>
          <p:cNvSpPr txBox="1"/>
          <p:nvPr/>
        </p:nvSpPr>
        <p:spPr>
          <a:xfrm>
            <a:off x="490549" y="6528815"/>
            <a:ext cx="1036320" cy="32466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Arial"/>
              <a:buNone/>
            </a:pPr>
            <a:r>
              <a:rPr b="1" i="0" lang="en-US" sz="900" u="none" cap="none" strike="noStrike">
                <a:solidFill>
                  <a:schemeClr val="dk2"/>
                </a:solidFill>
                <a:latin typeface="Arial"/>
                <a:ea typeface="Arial"/>
                <a:cs typeface="Arial"/>
                <a:sym typeface="Arial"/>
              </a:rPr>
              <a:t>McGraw Hill   |</a:t>
            </a:r>
            <a:endParaRPr b="0" i="0" sz="900" u="none" cap="none" strike="noStrike">
              <a:solidFill>
                <a:schemeClr val="dk2"/>
              </a:solidFill>
              <a:latin typeface="Arial"/>
              <a:ea typeface="Arial"/>
              <a:cs typeface="Arial"/>
              <a:sym typeface="Arial"/>
            </a:endParaRPr>
          </a:p>
        </p:txBody>
      </p:sp>
      <p:sp>
        <p:nvSpPr>
          <p:cNvPr id="94" name="Google Shape;94;p16"/>
          <p:cNvSpPr txBox="1"/>
          <p:nvPr/>
        </p:nvSpPr>
        <p:spPr>
          <a:xfrm>
            <a:off x="1385463" y="6528815"/>
            <a:ext cx="5878461" cy="32468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chemeClr val="dk2"/>
                </a:solidFill>
                <a:latin typeface="Arial"/>
                <a:ea typeface="Arial"/>
                <a:cs typeface="Arial"/>
                <a:sym typeface="Arial"/>
              </a:rPr>
              <a:t>Determine the Area of  Parallelograms and Rhombuses​</a:t>
            </a:r>
            <a:endParaRPr b="0" i="0" sz="1400" u="none" cap="none" strike="noStrike">
              <a:solidFill>
                <a:srgbClr val="000000"/>
              </a:solidFill>
              <a:latin typeface="Arial"/>
              <a:ea typeface="Arial"/>
              <a:cs typeface="Arial"/>
              <a:sym typeface="Arial"/>
            </a:endParaRPr>
          </a:p>
        </p:txBody>
      </p:sp>
      <p:sp>
        <p:nvSpPr>
          <p:cNvPr id="95" name="Google Shape;95;p16"/>
          <p:cNvSpPr txBox="1"/>
          <p:nvPr/>
        </p:nvSpPr>
        <p:spPr>
          <a:xfrm>
            <a:off x="9064487" y="6399634"/>
            <a:ext cx="3107634" cy="478243"/>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800"/>
              <a:buFont typeface="Arial"/>
              <a:buNone/>
            </a:pPr>
            <a:r>
              <a:rPr b="0" i="0" lang="en-US" sz="800" u="none" cap="none" strike="noStrike">
                <a:solidFill>
                  <a:srgbClr val="3F3F3F"/>
                </a:solidFill>
                <a:latin typeface="Arial"/>
                <a:ea typeface="Arial"/>
                <a:cs typeface="Arial"/>
                <a:sym typeface="Arial"/>
              </a:rPr>
              <a:t>This material may be reproduced for licensed classroom use only and may not be further reproduced or distributed.</a:t>
            </a:r>
            <a:endParaRPr b="0" i="0" sz="1400" u="none" cap="none" strike="noStrike">
              <a:solidFill>
                <a:srgbClr val="000000"/>
              </a:solidFill>
              <a:latin typeface="Arial"/>
              <a:ea typeface="Arial"/>
              <a:cs typeface="Arial"/>
              <a:sym typeface="Arial"/>
            </a:endParaRPr>
          </a:p>
        </p:txBody>
      </p:sp>
      <p:pic>
        <p:nvPicPr>
          <p:cNvPr id="96" name="Google Shape;96;p16"/>
          <p:cNvPicPr preferRelativeResize="0"/>
          <p:nvPr/>
        </p:nvPicPr>
        <p:blipFill rotWithShape="1">
          <a:blip r:embed="rId1">
            <a:alphaModFix/>
          </a:blip>
          <a:srcRect b="0" l="0" r="0" t="0"/>
          <a:stretch/>
        </p:blipFill>
        <p:spPr>
          <a:xfrm>
            <a:off x="4896996" y="0"/>
            <a:ext cx="7295004" cy="1193294"/>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61" r:id="rId2"/>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 id="2147483671"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61" name="Shape 161"/>
        <p:cNvGrpSpPr/>
        <p:nvPr/>
      </p:nvGrpSpPr>
      <p:grpSpPr>
        <a:xfrm>
          <a:off x="0" y="0"/>
          <a:ext cx="0" cy="0"/>
          <a:chOff x="0" y="0"/>
          <a:chExt cx="0" cy="0"/>
        </a:xfrm>
      </p:grpSpPr>
      <p:cxnSp>
        <p:nvCxnSpPr>
          <p:cNvPr id="162" name="Google Shape;162;p28"/>
          <p:cNvCxnSpPr/>
          <p:nvPr/>
        </p:nvCxnSpPr>
        <p:spPr>
          <a:xfrm>
            <a:off x="0" y="6432698"/>
            <a:ext cx="12192000" cy="0"/>
          </a:xfrm>
          <a:prstGeom prst="straightConnector1">
            <a:avLst/>
          </a:prstGeom>
          <a:noFill/>
          <a:ln cap="flat" cmpd="sng" w="22225">
            <a:solidFill>
              <a:srgbClr val="BFBFBF"/>
            </a:solidFill>
            <a:prstDash val="solid"/>
            <a:miter lim="80"/>
            <a:headEnd len="sm" w="sm" type="none"/>
            <a:tailEnd len="sm" w="sm" type="none"/>
          </a:ln>
        </p:spPr>
      </p:cxnSp>
      <p:sp>
        <p:nvSpPr>
          <p:cNvPr id="163" name="Google Shape;163;p28"/>
          <p:cNvSpPr txBox="1"/>
          <p:nvPr/>
        </p:nvSpPr>
        <p:spPr>
          <a:xfrm>
            <a:off x="1385464" y="6528815"/>
            <a:ext cx="4694822" cy="32468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Arial"/>
              <a:buNone/>
            </a:pPr>
            <a:r>
              <a:t/>
            </a:r>
            <a:endParaRPr b="0" i="0" sz="900" u="none" cap="none" strike="noStrike">
              <a:solidFill>
                <a:schemeClr val="dk2"/>
              </a:solidFill>
              <a:latin typeface="Arial"/>
              <a:ea typeface="Arial"/>
              <a:cs typeface="Arial"/>
              <a:sym typeface="Arial"/>
            </a:endParaRPr>
          </a:p>
        </p:txBody>
      </p:sp>
      <p:sp>
        <p:nvSpPr>
          <p:cNvPr id="164" name="Google Shape;164;p28"/>
          <p:cNvSpPr txBox="1"/>
          <p:nvPr/>
        </p:nvSpPr>
        <p:spPr>
          <a:xfrm>
            <a:off x="9064487" y="6399634"/>
            <a:ext cx="3107634" cy="478243"/>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800"/>
              <a:buFont typeface="Arial"/>
              <a:buNone/>
            </a:pPr>
            <a:r>
              <a:rPr b="0" i="0" lang="en-US" sz="800" u="none" cap="none" strike="noStrike">
                <a:solidFill>
                  <a:srgbClr val="3F3F3F"/>
                </a:solidFill>
                <a:latin typeface="Arial"/>
                <a:ea typeface="Arial"/>
                <a:cs typeface="Arial"/>
                <a:sym typeface="Arial"/>
              </a:rPr>
              <a:t>This material may be reproduced for licensed classroom use only and may not be further reproduced or distributed.</a:t>
            </a:r>
            <a:endParaRPr b="0" i="0" sz="1400" u="none" cap="none" strike="noStrike">
              <a:solidFill>
                <a:srgbClr val="000000"/>
              </a:solidFill>
              <a:latin typeface="Arial"/>
              <a:ea typeface="Arial"/>
              <a:cs typeface="Arial"/>
              <a:sym typeface="Arial"/>
            </a:endParaRPr>
          </a:p>
        </p:txBody>
      </p:sp>
      <p:pic>
        <p:nvPicPr>
          <p:cNvPr id="165" name="Google Shape;165;p28"/>
          <p:cNvPicPr preferRelativeResize="0"/>
          <p:nvPr/>
        </p:nvPicPr>
        <p:blipFill rotWithShape="1">
          <a:blip r:embed="rId1">
            <a:alphaModFix/>
          </a:blip>
          <a:srcRect b="0" l="0" r="0" t="0"/>
          <a:stretch/>
        </p:blipFill>
        <p:spPr>
          <a:xfrm>
            <a:off x="4896996" y="0"/>
            <a:ext cx="7295004" cy="1193294"/>
          </a:xfrm>
          <a:prstGeom prst="rect">
            <a:avLst/>
          </a:prstGeom>
          <a:noFill/>
          <a:ln>
            <a:noFill/>
          </a:ln>
        </p:spPr>
      </p:pic>
      <p:sp>
        <p:nvSpPr>
          <p:cNvPr id="166" name="Google Shape;166;p28"/>
          <p:cNvSpPr txBox="1"/>
          <p:nvPr/>
        </p:nvSpPr>
        <p:spPr>
          <a:xfrm>
            <a:off x="490549" y="6528815"/>
            <a:ext cx="1036320" cy="32466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Arial"/>
              <a:buNone/>
            </a:pPr>
            <a:r>
              <a:rPr b="1" i="0" lang="en-US" sz="900" u="none" cap="none" strike="noStrike">
                <a:solidFill>
                  <a:schemeClr val="dk2"/>
                </a:solidFill>
                <a:latin typeface="Arial"/>
                <a:ea typeface="Arial"/>
                <a:cs typeface="Arial"/>
                <a:sym typeface="Arial"/>
              </a:rPr>
              <a:t>McGraw Hill</a:t>
            </a:r>
            <a:endParaRPr b="0" i="0" sz="900" u="none" cap="none" strike="noStrike">
              <a:solidFill>
                <a:schemeClr val="dk2"/>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72" r:id="rId2"/>
    <p:sldLayoutId id="2147483673" r:id="rId3"/>
    <p:sldLayoutId id="2147483674" r:id="rId4"/>
    <p:sldLayoutId id="2147483675" r:id="rId5"/>
    <p:sldLayoutId id="2147483676" r:id="rId6"/>
    <p:sldLayoutId id="2147483677" r:id="rId7"/>
    <p:sldLayoutId id="2147483678" r:id="rId8"/>
    <p:sldLayoutId id="2147483679" r:id="rId9"/>
    <p:sldLayoutId id="2147483680" r:id="rId10"/>
    <p:sldLayoutId id="2147483681" r:id="rId11"/>
    <p:sldLayoutId id="2147483682"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5.png"/><Relationship Id="rId3" Type="http://schemas.openxmlformats.org/officeDocument/2006/relationships/notesSlide" Target="../notesSlides/notesSlide6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6.png"/><Relationship Id="rId3" Type="http://schemas.openxmlformats.org/officeDocument/2006/relationships/notesSlide" Target="../notesSlides/notesSlide70.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5.png"/><Relationship Id="rId3" Type="http://schemas.openxmlformats.org/officeDocument/2006/relationships/notesSlide" Target="../notesSlides/notesSlide7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2.png"/><Relationship Id="rId3" Type="http://schemas.openxmlformats.org/officeDocument/2006/relationships/notesSlide" Target="../notesSlides/notesSlide7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1.png"/><Relationship Id="rId3" Type="http://schemas.openxmlformats.org/officeDocument/2006/relationships/notesSlide" Target="../notesSlides/notesSlide7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0.png"/><Relationship Id="rId3" Type="http://schemas.openxmlformats.org/officeDocument/2006/relationships/notesSlide" Target="../notesSlides/notesSlide7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9.png"/><Relationship Id="rId3" Type="http://schemas.openxmlformats.org/officeDocument/2006/relationships/notesSlide" Target="../notesSlides/notesSlide7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8.png"/><Relationship Id="rId3" Type="http://schemas.openxmlformats.org/officeDocument/2006/relationships/notesSlide" Target="../notesSlides/notesSlide7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7.png"/><Relationship Id="rId3" Type="http://schemas.openxmlformats.org/officeDocument/2006/relationships/notesSlide" Target="../notesSlides/notesSlide7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5.png"/><Relationship Id="rId3" Type="http://schemas.openxmlformats.org/officeDocument/2006/relationships/notesSlide" Target="../notesSlides/notesSlide78.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4.jpg"/><Relationship Id="rId3" Type="http://schemas.openxmlformats.org/officeDocument/2006/relationships/image" Target="../media/image6.png"/><Relationship Id="rId4" Type="http://schemas.openxmlformats.org/officeDocument/2006/relationships/notesSlide" Target="../notesSlides/notesSlide79.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1.xml"/><Relationship Id="rId3" Type="http://schemas.openxmlformats.org/officeDocument/2006/relationships/image" Target="../media/image14.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3.xml"/><Relationship Id="rId3" Type="http://schemas.openxmlformats.org/officeDocument/2006/relationships/image" Target="../media/image14.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5.xml"/><Relationship Id="rId3" Type="http://schemas.openxmlformats.org/officeDocument/2006/relationships/image" Target="../media/image14.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6.xml"/><Relationship Id="rId3" Type="http://schemas.openxmlformats.org/officeDocument/2006/relationships/image" Target="../media/image13.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8.xml"/><Relationship Id="rId3" Type="http://schemas.openxmlformats.org/officeDocument/2006/relationships/image" Target="../media/image13.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0.xml"/><Relationship Id="rId3" Type="http://schemas.openxmlformats.org/officeDocument/2006/relationships/image" Target="../media/image20.png"/><Relationship Id="rId4" Type="http://schemas.openxmlformats.org/officeDocument/2006/relationships/image" Target="../media/image26.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2.xml"/><Relationship Id="rId3" Type="http://schemas.openxmlformats.org/officeDocument/2006/relationships/image" Target="../media/image22.png"/><Relationship Id="rId4" Type="http://schemas.openxmlformats.org/officeDocument/2006/relationships/image" Target="../media/image24.png"/><Relationship Id="rId5" Type="http://schemas.openxmlformats.org/officeDocument/2006/relationships/image" Target="../media/image19.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3.xml"/><Relationship Id="rId3" Type="http://schemas.openxmlformats.org/officeDocument/2006/relationships/image" Target="../media/image23.png"/><Relationship Id="rId4" Type="http://schemas.openxmlformats.org/officeDocument/2006/relationships/image" Target="../media/image6.png"/><Relationship Id="rId5" Type="http://schemas.openxmlformats.org/officeDocument/2006/relationships/image" Target="../media/image28.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4.xml"/><Relationship Id="rId3" Type="http://schemas.openxmlformats.org/officeDocument/2006/relationships/image" Target="../media/image21.png"/><Relationship Id="rId4" Type="http://schemas.openxmlformats.org/officeDocument/2006/relationships/image" Target="../media/image28.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5.xml"/><Relationship Id="rId3" Type="http://schemas.openxmlformats.org/officeDocument/2006/relationships/image" Target="../media/image28.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7.xml"/><Relationship Id="rId3" Type="http://schemas.openxmlformats.org/officeDocument/2006/relationships/image" Target="../media/image27.png"/><Relationship Id="rId4" Type="http://schemas.openxmlformats.org/officeDocument/2006/relationships/image" Target="../media/image17.png"/><Relationship Id="rId5" Type="http://schemas.openxmlformats.org/officeDocument/2006/relationships/image" Target="../media/image28.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8.xml"/><Relationship Id="rId3" Type="http://schemas.openxmlformats.org/officeDocument/2006/relationships/image" Target="../media/image14.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9.xml"/><Relationship Id="rId3" Type="http://schemas.openxmlformats.org/officeDocument/2006/relationships/image" Target="../media/image33.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0.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image" Target="../media/image14.png"/><Relationship Id="rId3" Type="http://schemas.openxmlformats.org/officeDocument/2006/relationships/notesSlide" Target="../notesSlides/notesSlide8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image" Target="../media/image14.png"/><Relationship Id="rId3" Type="http://schemas.openxmlformats.org/officeDocument/2006/relationships/notesSlide" Target="../notesSlides/notesSlide8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3.jpg"/><Relationship Id="rId3" Type="http://schemas.openxmlformats.org/officeDocument/2006/relationships/image" Target="../media/image6.png"/><Relationship Id="rId4" Type="http://schemas.openxmlformats.org/officeDocument/2006/relationships/notesSlide" Target="../notesSlides/notesSlide8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5.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6.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 Id="rId3" Type="http://schemas.openxmlformats.org/officeDocument/2006/relationships/image" Target="../media/image31.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 Id="rId3" Type="http://schemas.openxmlformats.org/officeDocument/2006/relationships/image" Target="../media/image31.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Relationship Id="rId3" Type="http://schemas.openxmlformats.org/officeDocument/2006/relationships/image" Target="../media/image31.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 Id="rId3" Type="http://schemas.openxmlformats.org/officeDocument/2006/relationships/image" Target="../media/image32.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9.xml"/><Relationship Id="rId3" Type="http://schemas.openxmlformats.org/officeDocument/2006/relationships/image" Target="../media/image17.png"/><Relationship Id="rId4" Type="http://schemas.openxmlformats.org/officeDocument/2006/relationships/image" Target="../media/image32.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1.xml"/><Relationship Id="rId3" Type="http://schemas.openxmlformats.org/officeDocument/2006/relationships/image" Target="../media/image35.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3.xml"/><Relationship Id="rId3" Type="http://schemas.openxmlformats.org/officeDocument/2006/relationships/image" Target="../media/image34.png"/><Relationship Id="rId4" Type="http://schemas.openxmlformats.org/officeDocument/2006/relationships/image" Target="../media/image36.png"/><Relationship Id="rId5" Type="http://schemas.openxmlformats.org/officeDocument/2006/relationships/image" Target="../media/image29.png"/><Relationship Id="rId6" Type="http://schemas.openxmlformats.org/officeDocument/2006/relationships/image" Target="../media/image30.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4.xml"/><Relationship Id="rId3" Type="http://schemas.openxmlformats.org/officeDocument/2006/relationships/image" Target="../media/image31.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7.xml"/><Relationship Id="rId3" Type="http://schemas.openxmlformats.org/officeDocument/2006/relationships/image" Target="../media/image31.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9.xml"/><Relationship Id="rId3" Type="http://schemas.openxmlformats.org/officeDocument/2006/relationships/image" Target="../media/image38.png"/><Relationship Id="rId4" Type="http://schemas.openxmlformats.org/officeDocument/2006/relationships/image" Target="../media/image42.png"/><Relationship Id="rId5" Type="http://schemas.openxmlformats.org/officeDocument/2006/relationships/image" Target="../media/image39.png"/><Relationship Id="rId6" Type="http://schemas.openxmlformats.org/officeDocument/2006/relationships/image" Target="../media/image41.png"/><Relationship Id="rId7" Type="http://schemas.openxmlformats.org/officeDocument/2006/relationships/image" Target="../media/image6.png"/><Relationship Id="rId8" Type="http://schemas.openxmlformats.org/officeDocument/2006/relationships/image" Target="../media/image40.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0.xml"/><Relationship Id="rId3" Type="http://schemas.openxmlformats.org/officeDocument/2006/relationships/image" Target="../media/image31.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1.xml"/><Relationship Id="rId3" Type="http://schemas.openxmlformats.org/officeDocument/2006/relationships/image" Target="../media/image45.png"/><Relationship Id="rId4" Type="http://schemas.openxmlformats.org/officeDocument/2006/relationships/image" Target="../media/image43.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4.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31.png"/><Relationship Id="rId3" Type="http://schemas.openxmlformats.org/officeDocument/2006/relationships/notesSlide" Target="../notesSlides/notesSlide85.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34.png"/><Relationship Id="rId3" Type="http://schemas.openxmlformats.org/officeDocument/2006/relationships/image" Target="../media/image36.png"/><Relationship Id="rId4" Type="http://schemas.openxmlformats.org/officeDocument/2006/relationships/image" Target="../media/image29.png"/><Relationship Id="rId5" Type="http://schemas.openxmlformats.org/officeDocument/2006/relationships/image" Target="../media/image30.png"/><Relationship Id="rId6" Type="http://schemas.openxmlformats.org/officeDocument/2006/relationships/notesSlide" Target="../notesSlides/notesSlide86.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2.xml"/><Relationship Id="rId3" Type="http://schemas.openxmlformats.org/officeDocument/2006/relationships/image" Target="../media/image46.png"/><Relationship Id="rId4" Type="http://schemas.openxmlformats.org/officeDocument/2006/relationships/image" Target="../media/image44.png"/><Relationship Id="rId5" Type="http://schemas.openxmlformats.org/officeDocument/2006/relationships/image" Target="../media/image47.png"/><Relationship Id="rId6" Type="http://schemas.openxmlformats.org/officeDocument/2006/relationships/image" Target="../media/image33.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3.xml"/><Relationship Id="rId3" Type="http://schemas.openxmlformats.org/officeDocument/2006/relationships/image" Target="../media/image48.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sp>
        <p:nvSpPr>
          <p:cNvPr id="261" name="Google Shape;261;p43"/>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62" name="TextBox 1"/>
          <p:cNvSpPr txBox="1"/>
          <p:nvPr/>
        </p:nvSpPr>
        <p:spPr>
          <a:xfrm>
            <a:off x="502920" y="310896"/>
            <a:ext cx="7315200" cy="502920"/>
          </a:xfrm>
          <a:prstGeom prst="rect">
            <a:avLst/>
          </a:prstGeom>
          <a:noFill/>
        </p:spPr>
        <p:txBody>
          <a:bodyPr wrap="square" lIns="0" tIns="0" rIns="0" bIns="0" anchor="t">
            <a:spAutoFit/>
          </a:bodyPr>
          <a:lstStyle/>
          <a:p>
            <a:pPr algn="l"/>
            <a:r>
              <a:rPr sz="2750" b="1">
                <a:solidFill>
                  <a:srgbClr val="782DA0"/>
                </a:solidFill>
                <a:latin typeface="Arial"/>
              </a:rPr>
              <a:t>Warm-Up</a:t>
            </a:r>
          </a:p>
        </p:txBody>
      </p:sp>
      <p:sp>
        <p:nvSpPr>
          <p:cNvPr id="263" name="TextBox 2"/>
          <p:cNvSpPr txBox="1"/>
          <p:nvPr/>
        </p:nvSpPr>
        <p:spPr>
          <a:xfrm>
            <a:off x="521207" y="877824"/>
            <a:ext cx="10881360" cy="274320"/>
          </a:xfrm>
          <a:prstGeom prst="rect">
            <a:avLst/>
          </a:prstGeom>
          <a:noFill/>
        </p:spPr>
        <p:txBody>
          <a:bodyPr wrap="square" lIns="0" tIns="0" rIns="0" bIns="0" anchor="t">
            <a:spAutoFit/>
          </a:bodyPr>
          <a:lstStyle/>
          <a:p>
            <a:pPr algn="l"/>
            <a:r>
              <a:rPr sz="1400" b="0">
                <a:solidFill>
                  <a:srgbClr val="5D6872"/>
                </a:solidFill>
                <a:latin typeface="Arial"/>
              </a:rPr>
              <a:t>Lesson 5-1 · Determine the Area of Parallelograms and Rhombuses   |   Warm-Up · about 4 minutes</a:t>
            </a:r>
          </a:p>
        </p:txBody>
      </p:sp>
      <p:sp>
        <p:nvSpPr>
          <p:cNvPr id="264" name="UIFR_Routine_Label"/>
          <p:cNvSpPr txBox="1"/>
          <p:nvPr/>
        </p:nvSpPr>
        <p:spPr>
          <a:xfrm>
            <a:off x="502920" y="54864"/>
            <a:ext cx="6236208" cy="237744"/>
          </a:xfrm>
          <a:prstGeom prst="rect">
            <a:avLst/>
          </a:prstGeom>
          <a:noFill/>
        </p:spPr>
        <p:txBody>
          <a:bodyPr wrap="square" lIns="0" rIns="0" tIns="0" bIns="0" anchor="ctr">
            <a:noAutofit/>
          </a:bodyPr>
          <a:lstStyle/>
          <a:p>
            <a:pPr algn="l"/>
            <a:r>
              <a:rPr lang="en-US" sz="1150" b="1" dirty="0">
                <a:solidFill>
                  <a:srgbClr val="2D3A40"/>
                </a:solidFill>
                <a:latin typeface="Arial"/>
              </a:rPr>
              <a:t>WARM-UP</a:t>
            </a:r>
            <a:r>
              <a:rPr lang="en-US" sz="1150" b="1" dirty="0">
                <a:solidFill>
                  <a:srgbClr val="2D3A40"/>
                </a:solidFill>
                <a:latin typeface="Arial"/>
              </a:rPr>
              <a:t xml:space="preserve">  ·  THINK • TRY • CHECK</a:t>
            </a:r>
          </a:p>
        </p:txBody>
      </p:sp>
      <p:sp>
        <p:nvSpPr>
          <p:cNvPr id="265" name="TextBox 5"/>
          <p:cNvSpPr txBox="1"/>
          <p:nvPr/>
        </p:nvSpPr>
        <p:spPr>
          <a:xfrm>
            <a:off x="521207" y="1207008"/>
            <a:ext cx="10881360" cy="438912"/>
          </a:xfrm>
          <a:prstGeom prst="rect">
            <a:avLst/>
          </a:prstGeom>
          <a:noFill/>
        </p:spPr>
        <p:txBody>
          <a:bodyPr wrap="square" lIns="0" tIns="0" rIns="0" bIns="0" anchor="t">
            <a:spAutoFit/>
          </a:bodyPr>
          <a:lstStyle/>
          <a:p>
            <a:pPr algn="l"/>
            <a:r>
              <a:rPr sz="1600" b="0">
                <a:solidFill>
                  <a:srgbClr val="5D6872"/>
                </a:solidFill>
                <a:latin typeface="Arial"/>
              </a:rPr>
              <a:t>Try each on your own. Mark an unsure answer; explain and revise when we check.</a:t>
            </a:r>
          </a:p>
        </p:txBody>
      </p:sp>
      <p:sp>
        <p:nvSpPr>
          <p:cNvPr id="266" name="Rounded Rectangle 6"/>
          <p:cNvSpPr/>
          <p:nvPr/>
        </p:nvSpPr>
        <p:spPr>
          <a:xfrm>
            <a:off x="502920" y="1783080"/>
            <a:ext cx="5422392" cy="1572768"/>
          </a:xfrm>
          <a:prstGeom prst="roundRect">
            <a:avLst/>
          </a:prstGeom>
          <a:solidFill>
            <a:srgbClr val="ECF7F6"/>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7" name="Rectangle 7"/>
          <p:cNvSpPr/>
          <p:nvPr/>
        </p:nvSpPr>
        <p:spPr>
          <a:xfrm>
            <a:off x="502920" y="1783080"/>
            <a:ext cx="73152" cy="1572768"/>
          </a:xfrm>
          <a:prstGeom prst="rect">
            <a:avLst/>
          </a:prstGeom>
          <a:solidFill>
            <a:srgbClr val="0170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8" name="TextBox 8"/>
          <p:cNvSpPr txBox="1"/>
          <p:nvPr/>
        </p:nvSpPr>
        <p:spPr>
          <a:xfrm>
            <a:off x="667512" y="1892807"/>
            <a:ext cx="5129783" cy="228600"/>
          </a:xfrm>
          <a:prstGeom prst="rect">
            <a:avLst/>
          </a:prstGeom>
          <a:noFill/>
        </p:spPr>
        <p:txBody>
          <a:bodyPr wrap="square" lIns="0" tIns="0" rIns="0" bIns="0" anchor="t">
            <a:spAutoFit/>
          </a:bodyPr>
          <a:lstStyle/>
          <a:p>
            <a:pPr algn="l"/>
            <a:r>
              <a:rPr sz="1400" b="1">
                <a:solidFill>
                  <a:srgbClr val="01708C"/>
                </a:solidFill>
                <a:latin typeface="Arial"/>
              </a:rPr>
              <a:t>QUESTION 1</a:t>
            </a:r>
          </a:p>
        </p:txBody>
      </p:sp>
      <p:sp>
        <p:nvSpPr>
          <p:cNvPr id="269" name="TextBox 9"/>
          <p:cNvSpPr txBox="1"/>
          <p:nvPr/>
        </p:nvSpPr>
        <p:spPr>
          <a:xfrm>
            <a:off x="667512" y="2212848"/>
            <a:ext cx="5111496" cy="1051560"/>
          </a:xfrm>
          <a:prstGeom prst="rect">
            <a:avLst/>
          </a:prstGeom>
          <a:noFill/>
        </p:spPr>
        <p:txBody>
          <a:bodyPr wrap="square" lIns="0" tIns="0" rIns="0" bIns="0" anchor="t">
            <a:spAutoFit/>
          </a:bodyPr>
          <a:lstStyle/>
          <a:p>
            <a:pPr algn="l"/>
            <a:r>
              <a:rPr sz="1800" b="1">
                <a:solidFill>
                  <a:srgbClr val="23282D"/>
                </a:solidFill>
                <a:latin typeface="Arial"/>
              </a:rPr>
              <a:t>14 × 25 = ______</a:t>
            </a:r>
          </a:p>
        </p:txBody>
      </p:sp>
      <p:sp>
        <p:nvSpPr>
          <p:cNvPr id="270" name="Rounded Rectangle 10"/>
          <p:cNvSpPr/>
          <p:nvPr/>
        </p:nvSpPr>
        <p:spPr>
          <a:xfrm>
            <a:off x="6181344" y="1783080"/>
            <a:ext cx="5413248" cy="1572768"/>
          </a:xfrm>
          <a:prstGeom prst="roundRect">
            <a:avLst/>
          </a:prstGeom>
          <a:solidFill>
            <a:srgbClr val="FDF0E8"/>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1" name="Rectangle 11"/>
          <p:cNvSpPr/>
          <p:nvPr/>
        </p:nvSpPr>
        <p:spPr>
          <a:xfrm>
            <a:off x="6181344" y="1783080"/>
            <a:ext cx="73152" cy="1572768"/>
          </a:xfrm>
          <a:prstGeom prst="rect">
            <a:avLst/>
          </a:prstGeom>
          <a:solidFill>
            <a:srgbClr val="C843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2" name="TextBox 12"/>
          <p:cNvSpPr txBox="1"/>
          <p:nvPr/>
        </p:nvSpPr>
        <p:spPr>
          <a:xfrm>
            <a:off x="6345936" y="1892807"/>
            <a:ext cx="5120640" cy="228600"/>
          </a:xfrm>
          <a:prstGeom prst="rect">
            <a:avLst/>
          </a:prstGeom>
          <a:noFill/>
        </p:spPr>
        <p:txBody>
          <a:bodyPr wrap="square" lIns="0" tIns="0" rIns="0" bIns="0" anchor="t">
            <a:spAutoFit/>
          </a:bodyPr>
          <a:lstStyle/>
          <a:p>
            <a:pPr algn="l"/>
            <a:r>
              <a:rPr sz="1400" b="1">
                <a:solidFill>
                  <a:srgbClr val="C8430E"/>
                </a:solidFill>
                <a:latin typeface="Arial"/>
              </a:rPr>
              <a:t>QUESTION 2</a:t>
            </a:r>
          </a:p>
        </p:txBody>
      </p:sp>
      <p:sp>
        <p:nvSpPr>
          <p:cNvPr id="273" name="TextBox 13"/>
          <p:cNvSpPr txBox="1"/>
          <p:nvPr/>
        </p:nvSpPr>
        <p:spPr>
          <a:xfrm>
            <a:off x="6345936" y="2212848"/>
            <a:ext cx="5102352" cy="1051560"/>
          </a:xfrm>
          <a:prstGeom prst="rect">
            <a:avLst/>
          </a:prstGeom>
          <a:noFill/>
        </p:spPr>
        <p:txBody>
          <a:bodyPr wrap="square" lIns="0" tIns="0" rIns="0" bIns="0" anchor="t">
            <a:spAutoFit/>
          </a:bodyPr>
          <a:lstStyle/>
          <a:p>
            <a:pPr algn="l"/>
            <a:r>
              <a:rPr sz="1800" b="1">
                <a:solidFill>
                  <a:srgbClr val="23282D"/>
                </a:solidFill>
                <a:latin typeface="Arial"/>
              </a:rPr>
              <a:t>A rectangle is 8 cm long and 5 cm wide. Area = ______</a:t>
            </a:r>
          </a:p>
        </p:txBody>
      </p:sp>
      <p:sp>
        <p:nvSpPr>
          <p:cNvPr id="274" name="Rounded Rectangle 14"/>
          <p:cNvSpPr/>
          <p:nvPr/>
        </p:nvSpPr>
        <p:spPr>
          <a:xfrm>
            <a:off x="502920" y="3593592"/>
            <a:ext cx="5422392" cy="1664208"/>
          </a:xfrm>
          <a:prstGeom prst="roundRect">
            <a:avLst/>
          </a:prstGeom>
          <a:solidFill>
            <a:srgbClr val="EBF5FB"/>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5" name="Rectangle 15"/>
          <p:cNvSpPr/>
          <p:nvPr/>
        </p:nvSpPr>
        <p:spPr>
          <a:xfrm>
            <a:off x="502920" y="3593592"/>
            <a:ext cx="73152" cy="1664208"/>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6" name="TextBox 16"/>
          <p:cNvSpPr txBox="1"/>
          <p:nvPr/>
        </p:nvSpPr>
        <p:spPr>
          <a:xfrm>
            <a:off x="667512" y="3703320"/>
            <a:ext cx="5129783" cy="228600"/>
          </a:xfrm>
          <a:prstGeom prst="rect">
            <a:avLst/>
          </a:prstGeom>
          <a:noFill/>
        </p:spPr>
        <p:txBody>
          <a:bodyPr wrap="square" lIns="0" tIns="0" rIns="0" bIns="0" anchor="t">
            <a:spAutoFit/>
          </a:bodyPr>
          <a:lstStyle/>
          <a:p>
            <a:pPr algn="l"/>
            <a:r>
              <a:rPr sz="1400" b="1">
                <a:solidFill>
                  <a:srgbClr val="0070C0"/>
                </a:solidFill>
                <a:latin typeface="Arial"/>
              </a:rPr>
              <a:t>QUESTION 3</a:t>
            </a:r>
          </a:p>
        </p:txBody>
      </p:sp>
      <p:sp>
        <p:nvSpPr>
          <p:cNvPr id="277" name="TextBox 17"/>
          <p:cNvSpPr txBox="1"/>
          <p:nvPr/>
        </p:nvSpPr>
        <p:spPr>
          <a:xfrm>
            <a:off x="667512" y="4023360"/>
            <a:ext cx="5111496" cy="1143000"/>
          </a:xfrm>
          <a:prstGeom prst="rect">
            <a:avLst/>
          </a:prstGeom>
          <a:noFill/>
        </p:spPr>
        <p:txBody>
          <a:bodyPr wrap="square" lIns="0" tIns="0" rIns="0" bIns="0" anchor="t">
            <a:spAutoFit/>
          </a:bodyPr>
          <a:lstStyle/>
          <a:p>
            <a:pPr algn="l"/>
            <a:r>
              <a:rPr sz="1800" b="1">
                <a:solidFill>
                  <a:srgbClr val="23282D"/>
                </a:solidFill>
                <a:latin typeface="Arial"/>
              </a:rPr>
              <a:t>Parallelogram: base 10 in, slanted side 6 in, height 4 in.</a:t>
            </a:r>
          </a:p>
          <a:p>
            <a:pPr algn="l"/>
            <a:r>
              <a:rPr sz="1800" b="1">
                <a:solidFill>
                  <a:srgbClr val="23282D"/>
                </a:solidFill>
                <a:latin typeface="Arial"/>
              </a:rPr>
              <a:t>The height is ______</a:t>
            </a:r>
          </a:p>
        </p:txBody>
      </p:sp>
      <p:sp>
        <p:nvSpPr>
          <p:cNvPr id="278" name="Rounded Rectangle 18"/>
          <p:cNvSpPr/>
          <p:nvPr/>
        </p:nvSpPr>
        <p:spPr>
          <a:xfrm>
            <a:off x="6181344" y="3593592"/>
            <a:ext cx="5413248" cy="1664208"/>
          </a:xfrm>
          <a:prstGeom prst="roundRect">
            <a:avLst/>
          </a:prstGeom>
          <a:solidFill>
            <a:srgbClr val="EDF8F3"/>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9" name="Rectangle 19"/>
          <p:cNvSpPr/>
          <p:nvPr/>
        </p:nvSpPr>
        <p:spPr>
          <a:xfrm>
            <a:off x="6181344" y="3593592"/>
            <a:ext cx="73152" cy="1664208"/>
          </a:xfrm>
          <a:prstGeom prst="rect">
            <a:avLst/>
          </a:prstGeom>
          <a:solidFill>
            <a:srgbClr val="008A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0" name="TextBox 20"/>
          <p:cNvSpPr txBox="1"/>
          <p:nvPr/>
        </p:nvSpPr>
        <p:spPr>
          <a:xfrm>
            <a:off x="6345936" y="3703320"/>
            <a:ext cx="5120640" cy="228600"/>
          </a:xfrm>
          <a:prstGeom prst="rect">
            <a:avLst/>
          </a:prstGeom>
          <a:noFill/>
        </p:spPr>
        <p:txBody>
          <a:bodyPr wrap="square" lIns="0" tIns="0" rIns="0" bIns="0" anchor="t">
            <a:spAutoFit/>
          </a:bodyPr>
          <a:lstStyle/>
          <a:p>
            <a:pPr algn="l"/>
            <a:r>
              <a:rPr sz="1400" b="1">
                <a:solidFill>
                  <a:srgbClr val="008A62"/>
                </a:solidFill>
                <a:latin typeface="Arial"/>
              </a:rPr>
              <a:t>QUESTION 4</a:t>
            </a:r>
          </a:p>
        </p:txBody>
      </p:sp>
      <p:sp>
        <p:nvSpPr>
          <p:cNvPr id="281" name="TextBox 21"/>
          <p:cNvSpPr txBox="1"/>
          <p:nvPr/>
        </p:nvSpPr>
        <p:spPr>
          <a:xfrm>
            <a:off x="6345936" y="4023360"/>
            <a:ext cx="5102352" cy="1143000"/>
          </a:xfrm>
          <a:prstGeom prst="rect">
            <a:avLst/>
          </a:prstGeom>
          <a:noFill/>
        </p:spPr>
        <p:txBody>
          <a:bodyPr wrap="square" lIns="0" tIns="0" rIns="0" bIns="0" anchor="t">
            <a:spAutoFit/>
          </a:bodyPr>
          <a:lstStyle/>
          <a:p>
            <a:pPr algn="l"/>
            <a:r>
              <a:rPr sz="1800" b="1">
                <a:solidFill>
                  <a:srgbClr val="23282D"/>
                </a:solidFill>
                <a:latin typeface="Arial"/>
              </a:rPr>
              <a:t>Area of a 7 m by 3 m rectangle = 21 ______</a:t>
            </a:r>
          </a:p>
        </p:txBody>
      </p:sp>
      <p:sp>
        <p:nvSpPr>
          <p:cNvPr id="282" name="Rounded Rectangle 22"/>
          <p:cNvSpPr/>
          <p:nvPr/>
        </p:nvSpPr>
        <p:spPr>
          <a:xfrm>
            <a:off x="502920" y="5532120"/>
            <a:ext cx="11091672" cy="502920"/>
          </a:xfrm>
          <a:prstGeom prst="roundRect">
            <a:avLst/>
          </a:prstGeom>
          <a:solidFill>
            <a:srgbClr val="FCFCFD"/>
          </a:solidFill>
          <a:ln w="1270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1E2682"/>
                </a:solidFill>
                <a:latin typeface="Arial"/>
              </a:rPr>
              <a:t>TALK IT OVER:  “I got ______ because ______.”   •   Compare with a partner before we check as a class.</a:t>
            </a:r>
          </a:p>
        </p:txBody>
      </p:sp>
      <p:sp>
        <p:nvSpPr>
          <p:cNvPr id="283" name="UIFR Level 4 Move"/>
          <p:cNvSpPr txBox="1"/>
          <p:nvPr/>
        </p:nvSpPr>
        <p:spPr>
          <a:xfrm>
            <a:off x="6876288" y="73152"/>
            <a:ext cx="4416552" cy="365760"/>
          </a:xfrm>
          <a:prstGeom prst="roundRect">
            <a:avLst/>
          </a:prstGeom>
          <a:solidFill>
            <a:srgbClr val="1E2682"/>
          </a:solidFill>
          <a:ln>
            <a:noFill/>
          </a:ln>
        </p:spPr>
        <p:txBody>
          <a:bodyPr wrap="square" lIns="0" rIns="0" tIns="0" bIns="0" anchor="ctr">
            <a:noAutofit/>
          </a:bodyPr>
          <a:lstStyle/>
          <a:p>
            <a:pPr algn="ctr"/>
            <a:r>
              <a:rPr lang="en-US" sz="1000" b="1" dirty="0">
                <a:solidFill>
                  <a:srgbClr val="FFFFFF"/>
                </a:solidFill>
                <a:latin typeface="Arial"/>
              </a:rPr>
              <a:t>Turn and talk: compare strategies, then defend one.</a:t>
            </a:r>
          </a:p>
        </p:txBody>
      </p:sp>
      <p:sp>
        <p:nvSpPr>
          <p:cNvPr id="284"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 / 66</a:t>
            </a: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0" name="Shape 590"/>
        <p:cNvGrpSpPr/>
        <p:nvPr/>
      </p:nvGrpSpPr>
      <p:grpSpPr>
        <a:xfrm>
          <a:off x="0" y="0"/>
          <a:ext cx="0" cy="0"/>
          <a:chOff x="0" y="0"/>
          <a:chExt cx="0" cy="0"/>
        </a:xfrm>
      </p:grpSpPr>
      <p:sp>
        <p:nvSpPr>
          <p:cNvPr id="591" name="Google Shape;591;p56"/>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92" name="Google Shape;592;p56"/>
          <p:cNvSpPr/>
          <p:nvPr/>
        </p:nvSpPr>
        <p:spPr>
          <a:xfrm>
            <a:off x="0" y="0"/>
            <a:ext cx="12191969" cy="713232"/>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93" name="Google Shape;593;p56"/>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2000" u="none" cap="none" strike="noStrike">
                <a:solidFill>
                  <a:srgbClr val="FFFFFF"/>
                </a:solidFill>
                <a:latin typeface="Arial"/>
                <a:ea typeface="Arial"/>
                <a:cs typeface="Arial"/>
                <a:sym typeface="Arial"/>
              </a:rPr>
              <a:t>Today’s Math Notes</a:t>
            </a:r>
            <a:endParaRPr/>
          </a:p>
        </p:txBody>
      </p:sp>
      <p:sp>
        <p:nvSpPr>
          <p:cNvPr id="594" name="Google Shape;594;p56"/>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defRPr/>
            </a:pPr>
            <a:r>
              <a:rPr b="0" i="0" lang="en-US" sz="1200" u="none" cap="none" strike="noStrike">
                <a:solidFill>
                  <a:srgbClr val="FFFFFF"/>
                </a:solidFill>
                <a:latin typeface="Arial"/>
                <a:ea typeface="Arial"/>
                <a:cs typeface="Arial"/>
                <a:sym typeface="Arial"/>
              </a:rPr>
              <a:t>Lesson 5-1 · Determine the Area of Parallelograms and Rhombuses</a:t>
            </a:r>
            <a:endParaRPr/>
          </a:p>
        </p:txBody>
      </p:sp>
      <p:sp>
        <p:nvSpPr>
          <p:cNvPr id="595" name="Google Shape;595;p56"/>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96" name="Google Shape;596;p56"/>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0" i="0" lang="en-US" sz="1000" u="none" cap="none" strike="noStrike">
                <a:solidFill>
                  <a:srgbClr val="475569"/>
                </a:solidFill>
                <a:latin typeface="Arial"/>
                <a:ea typeface="Arial"/>
                <a:cs typeface="Arial"/>
                <a:sym typeface="Arial"/>
              </a:rPr>
              <a:t>eduwonderlab.com  ·  Neft Teacher</a:t>
            </a:r>
            <a:endParaRPr/>
          </a:p>
        </p:txBody>
      </p:sp>
      <p:sp>
        <p:nvSpPr>
          <p:cNvPr id="597" name="Google Shape;597;p56"/>
          <p:cNvSpPr txBox="1"/>
          <p:nvPr/>
        </p:nvSpPr>
        <p:spPr>
          <a:xfrm>
            <a:off x="640080" y="987552"/>
            <a:ext cx="10911809" cy="45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3000" u="none" cap="none" strike="noStrike">
                <a:solidFill>
                  <a:srgbClr val="14223A"/>
                </a:solidFill>
                <a:latin typeface="Arial"/>
                <a:ea typeface="Arial"/>
                <a:cs typeface="Arial"/>
                <a:sym typeface="Arial"/>
              </a:rPr>
              <a:t>Section 1: Math Words</a:t>
            </a:r>
            <a:endParaRPr/>
          </a:p>
        </p:txBody>
      </p:sp>
      <p:sp>
        <p:nvSpPr>
          <p:cNvPr id="598" name="Google Shape;598;p56"/>
          <p:cNvSpPr/>
          <p:nvPr/>
        </p:nvSpPr>
        <p:spPr>
          <a:xfrm>
            <a:off x="640080" y="1572768"/>
            <a:ext cx="3246120" cy="384048"/>
          </a:xfrm>
          <a:prstGeom prst="roundRect">
            <a:avLst>
              <a:gd fmla="val 30000" name="adj"/>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99" name="Google Shape;599;p56"/>
          <p:cNvSpPr txBox="1"/>
          <p:nvPr/>
        </p:nvSpPr>
        <p:spPr>
          <a:xfrm>
            <a:off x="868680" y="1636776"/>
            <a:ext cx="3017520"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400" u="none" cap="none" strike="noStrike">
                <a:solidFill>
                  <a:srgbClr val="FFFFFF"/>
                </a:solidFill>
                <a:latin typeface="Arial"/>
                <a:ea typeface="Arial"/>
                <a:cs typeface="Arial"/>
                <a:sym typeface="Arial"/>
              </a:rPr>
              <a:t>Copy. Explain. Check.</a:t>
            </a:r>
            <a:endParaRPr/>
          </a:p>
        </p:txBody>
      </p:sp>
      <p:sp>
        <p:nvSpPr>
          <p:cNvPr id="600" name="Google Shape;600;p56"/>
          <p:cNvSpPr/>
          <p:nvPr/>
        </p:nvSpPr>
        <p:spPr>
          <a:xfrm>
            <a:off x="640080" y="2212848"/>
            <a:ext cx="10911809" cy="1188720"/>
          </a:xfrm>
          <a:prstGeom prst="roundRect">
            <a:avLst>
              <a:gd fmla="val 8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601" name="Google Shape;601;p56"/>
          <p:cNvSpPr/>
          <p:nvPr/>
        </p:nvSpPr>
        <p:spPr>
          <a:xfrm>
            <a:off x="640080" y="2212848"/>
            <a:ext cx="91440" cy="118872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602" name="Google Shape;602;p56"/>
          <p:cNvSpPr/>
          <p:nvPr/>
        </p:nvSpPr>
        <p:spPr>
          <a:xfrm>
            <a:off x="896112" y="2633472"/>
            <a:ext cx="347472" cy="347472"/>
          </a:xfrm>
          <a:prstGeom prst="ellipse">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1</a:t>
            </a:r>
            <a:endParaRPr/>
          </a:p>
        </p:txBody>
      </p:sp>
      <p:sp>
        <p:nvSpPr>
          <p:cNvPr id="603" name="Google Shape;603;p56"/>
          <p:cNvSpPr txBox="1"/>
          <p:nvPr/>
        </p:nvSpPr>
        <p:spPr>
          <a:xfrm>
            <a:off x="1389888" y="2359152"/>
            <a:ext cx="9860249" cy="31089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800" u="none" cap="none" strike="noStrike">
                <a:solidFill>
                  <a:srgbClr val="14223A"/>
                </a:solidFill>
                <a:latin typeface="Arial"/>
                <a:ea typeface="Arial"/>
                <a:cs typeface="Arial"/>
                <a:sym typeface="Arial"/>
              </a:rPr>
              <a:t>Area of Parallelograms</a:t>
            </a:r>
            <a:endParaRPr/>
          </a:p>
        </p:txBody>
      </p:sp>
      <p:sp>
        <p:nvSpPr>
          <p:cNvPr id="604" name="Google Shape;604;p56"/>
          <p:cNvSpPr txBox="1"/>
          <p:nvPr/>
        </p:nvSpPr>
        <p:spPr>
          <a:xfrm>
            <a:off x="1389888" y="2706624"/>
            <a:ext cx="9860249" cy="585216"/>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defRPr/>
            </a:pPr>
            <a:r>
              <a:rPr b="0" i="0" lang="en-US" sz="1450" u="none" cap="none" strike="noStrike">
                <a:solidFill>
                  <a:srgbClr val="475569"/>
                </a:solidFill>
                <a:latin typeface="Arial"/>
                <a:ea typeface="Arial"/>
                <a:cs typeface="Arial"/>
                <a:sym typeface="Arial"/>
              </a:rPr>
              <a:t xml:space="preserve">The space inside a </a:t>
            </a:r>
            <a:r>
              <a:rPr b="1" i="0" lang="en-US" sz="1450" u="none" cap="none" strike="noStrike">
                <a:solidFill>
                  <a:srgbClr val="475569"/>
                </a:solidFill>
                <a:latin typeface="Arial"/>
                <a:ea typeface="Arial"/>
                <a:cs typeface="Arial"/>
                <a:sym typeface="Arial"/>
              </a:rPr>
              <a:t xml:space="preserve">parallelogram</a:t>
            </a:r>
            <a:endParaRPr/>
          </a:p>
        </p:txBody>
      </p:sp>
      <p:sp>
        <p:nvSpPr>
          <p:cNvPr id="605" name="Google Shape;605;p56"/>
          <p:cNvSpPr/>
          <p:nvPr/>
        </p:nvSpPr>
        <p:spPr>
          <a:xfrm>
            <a:off x="640080" y="3584448"/>
            <a:ext cx="10911809" cy="1188720"/>
          </a:xfrm>
          <a:prstGeom prst="roundRect">
            <a:avLst>
              <a:gd fmla="val 8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606" name="Google Shape;606;p56"/>
          <p:cNvSpPr/>
          <p:nvPr/>
        </p:nvSpPr>
        <p:spPr>
          <a:xfrm>
            <a:off x="640080" y="3584448"/>
            <a:ext cx="91440" cy="118872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607" name="Google Shape;607;p56"/>
          <p:cNvSpPr/>
          <p:nvPr/>
        </p:nvSpPr>
        <p:spPr>
          <a:xfrm>
            <a:off x="896112" y="4005072"/>
            <a:ext cx="347472" cy="347472"/>
          </a:xfrm>
          <a:prstGeom prst="ellipse">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2</a:t>
            </a:r>
            <a:endParaRPr/>
          </a:p>
        </p:txBody>
      </p:sp>
      <p:sp>
        <p:nvSpPr>
          <p:cNvPr id="608" name="Google Shape;608;p56"/>
          <p:cNvSpPr txBox="1"/>
          <p:nvPr/>
        </p:nvSpPr>
        <p:spPr>
          <a:xfrm>
            <a:off x="1389888" y="3730752"/>
            <a:ext cx="9860249" cy="31089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800" u="none" cap="none" strike="noStrike">
                <a:solidFill>
                  <a:srgbClr val="14223A"/>
                </a:solidFill>
                <a:latin typeface="Arial"/>
                <a:ea typeface="Arial"/>
                <a:cs typeface="Arial"/>
                <a:sym typeface="Arial"/>
              </a:rPr>
              <a:t>Slanted side</a:t>
            </a:r>
            <a:endParaRPr/>
          </a:p>
        </p:txBody>
      </p:sp>
      <p:sp>
        <p:nvSpPr>
          <p:cNvPr id="609" name="Google Shape;609;p56"/>
          <p:cNvSpPr txBox="1"/>
          <p:nvPr/>
        </p:nvSpPr>
        <p:spPr>
          <a:xfrm>
            <a:off x="1389888" y="4078224"/>
            <a:ext cx="9860249" cy="585216"/>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defRPr/>
            </a:pPr>
            <a:r>
              <a:rPr b="0" i="0" lang="en-US" sz="1450" u="none" cap="none" strike="noStrike">
                <a:solidFill>
                  <a:srgbClr val="475569"/>
                </a:solidFill>
                <a:latin typeface="Arial"/>
                <a:ea typeface="Arial"/>
                <a:cs typeface="Arial"/>
                <a:sym typeface="Arial"/>
              </a:rPr>
              <a:t>A side that leans instead of going straight up and down</a:t>
            </a:r>
            <a:endParaRPr/>
          </a:p>
        </p:txBody>
      </p:sp>
      <p:sp>
        <p:nvSpPr>
          <p:cNvPr id="610" name="Google Shape;610;p56"/>
          <p:cNvSpPr/>
          <p:nvPr/>
        </p:nvSpPr>
        <p:spPr>
          <a:xfrm>
            <a:off x="640080" y="4956048"/>
            <a:ext cx="10911809" cy="1188720"/>
          </a:xfrm>
          <a:prstGeom prst="roundRect">
            <a:avLst>
              <a:gd fmla="val 8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611" name="Google Shape;611;p56"/>
          <p:cNvSpPr/>
          <p:nvPr/>
        </p:nvSpPr>
        <p:spPr>
          <a:xfrm>
            <a:off x="640080" y="4956048"/>
            <a:ext cx="91440" cy="118872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612" name="Google Shape;612;p56"/>
          <p:cNvSpPr/>
          <p:nvPr/>
        </p:nvSpPr>
        <p:spPr>
          <a:xfrm>
            <a:off x="896112" y="5376672"/>
            <a:ext cx="347472" cy="347472"/>
          </a:xfrm>
          <a:prstGeom prst="ellipse">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3</a:t>
            </a:r>
            <a:endParaRPr/>
          </a:p>
        </p:txBody>
      </p:sp>
      <p:sp>
        <p:nvSpPr>
          <p:cNvPr id="613" name="Google Shape;613;p56"/>
          <p:cNvSpPr txBox="1"/>
          <p:nvPr/>
        </p:nvSpPr>
        <p:spPr>
          <a:xfrm>
            <a:off x="1389888" y="5102352"/>
            <a:ext cx="9860249" cy="31089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800" u="none" cap="none" strike="noStrike">
                <a:solidFill>
                  <a:srgbClr val="14223A"/>
                </a:solidFill>
                <a:latin typeface="Arial"/>
                <a:ea typeface="Arial"/>
                <a:cs typeface="Arial"/>
                <a:sym typeface="Arial"/>
              </a:rPr>
              <a:t>Parallelogram</a:t>
            </a:r>
            <a:endParaRPr/>
          </a:p>
        </p:txBody>
      </p:sp>
      <p:sp>
        <p:nvSpPr>
          <p:cNvPr id="614" name="Google Shape;614;p56"/>
          <p:cNvSpPr txBox="1"/>
          <p:nvPr/>
        </p:nvSpPr>
        <p:spPr>
          <a:xfrm>
            <a:off x="1389888" y="5449824"/>
            <a:ext cx="9860249" cy="585216"/>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defRPr/>
            </a:pPr>
            <a:r>
              <a:rPr b="0" i="0" lang="en-US" sz="1450" u="none" cap="none" strike="noStrike">
                <a:solidFill>
                  <a:srgbClr val="475569"/>
                </a:solidFill>
                <a:latin typeface="Arial"/>
                <a:ea typeface="Arial"/>
                <a:cs typeface="Arial"/>
                <a:sym typeface="Arial"/>
              </a:rPr>
              <a:t>A four-sided shape with two pairs of parallel sides</a:t>
            </a:r>
            <a:endParaRPr/>
          </a:p>
        </p:txBody>
      </p:sp>
      <p:sp>
        <p:nvSpPr>
          <p:cNvPr id="615"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2 / 66</a:t>
            </a:r>
          </a:p>
        </p:txBody>
      </p:sp>
      <p:grpSp>
        <p:nvGrpSpPr>
          <p:cNvPr id="616" name="TEACH-1-student-move" descr="TEACH 1 · Facilitate clear, standards-based content learning"/>
          <p:cNvGrpSpPr/>
          <p:nvPr/>
        </p:nvGrpSpPr>
        <p:grpSpPr>
          <a:xfrm>
            <a:off x="6187440" y="1682496"/>
            <a:ext cx="5501640" cy="594360"/>
            <a:chOff x="6187440" y="1682496"/>
            <a:chExt cx="5501640" cy="594360"/>
          </a:xfrm>
        </p:grpSpPr>
        <p:sp>
          <p:nvSpPr>
            <p:cNvPr id="617" name="TEACH-move-card"/>
            <p:cNvSpPr/>
            <p:nvPr/>
          </p:nvSpPr>
          <p:spPr>
            <a:xfrm>
              <a:off x="6187440" y="1682496"/>
              <a:ext cx="5501640" cy="594360"/>
            </a:xfrm>
            <a:prstGeom prst="roundRect">
              <a:avLst>
                <a:gd name="adj" fmla="val 16000"/>
              </a:avLst>
            </a:prstGeom>
            <a:solidFill>
              <a:srgbClr val="E4F0F5"/>
            </a:solidFill>
            <a:ln w="19050">
              <a:solidFill>
                <a:srgbClr val="8CB8C7"/>
              </a:solidFill>
            </a:ln>
          </p:spPr>
          <p:txBody>
            <a:bodyPr/>
            <a:lstStyle/>
            <a:p>
              <a:endParaRPr/>
            </a:p>
          </p:txBody>
        </p:sp>
        <p:sp>
          <p:nvSpPr>
            <p:cNvPr id="618" name="TEACH-move-rule"/>
            <p:cNvSpPr/>
            <p:nvPr/>
          </p:nvSpPr>
          <p:spPr>
            <a:xfrm>
              <a:off x="6233160" y="1795424"/>
              <a:ext cx="100584" cy="368504"/>
            </a:xfrm>
            <a:prstGeom prst="roundRect">
              <a:avLst>
                <a:gd name="adj" fmla="val 50000"/>
              </a:avLst>
            </a:prstGeom>
            <a:solidFill>
              <a:srgbClr val="01708C"/>
            </a:solidFill>
            <a:ln>
              <a:noFill/>
            </a:ln>
          </p:spPr>
          <p:txBody>
            <a:bodyPr/>
            <a:lstStyle/>
            <a:p>
              <a:endParaRPr/>
            </a:p>
          </p:txBody>
        </p:sp>
        <p:sp>
          <p:nvSpPr>
            <p:cNvPr id="619" name="TEACH-move-text"/>
            <p:cNvSpPr txBox="1"/>
            <p:nvPr/>
          </p:nvSpPr>
          <p:spPr>
            <a:xfrm>
              <a:off x="6507480" y="1682496"/>
              <a:ext cx="5044440" cy="594360"/>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SAY THE GOAL  ·  </a:t>
              </a:r>
              <a:r>
                <a:rPr lang="en-US" sz="1200" dirty="0">
                  <a:solidFill>
                    <a:srgbClr val="13303A"/>
                  </a:solidFill>
                  <a:latin typeface="Arial"/>
                </a:rPr>
                <a:t>Say today’s goal in your own words, then name one place this shows up outside math class.</a:t>
              </a:r>
              <a:endParaRPr lang="en-US" sz="1200"/>
            </a:p>
          </p:txBody>
        </p:sp>
      </p:gr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8" name="Shape 618"/>
        <p:cNvGrpSpPr/>
        <p:nvPr/>
      </p:nvGrpSpPr>
      <p:grpSpPr>
        <a:xfrm>
          <a:off x="0" y="0"/>
          <a:ext cx="0" cy="0"/>
          <a:chOff x="0" y="0"/>
          <a:chExt cx="0" cy="0"/>
        </a:xfrm>
      </p:grpSpPr>
      <p:sp>
        <p:nvSpPr>
          <p:cNvPr id="619" name="Google Shape;619;p57"/>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620" name="Google Shape;620;p57"/>
          <p:cNvSpPr/>
          <p:nvPr/>
        </p:nvSpPr>
        <p:spPr>
          <a:xfrm>
            <a:off x="0" y="0"/>
            <a:ext cx="12191969" cy="713232"/>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621" name="Google Shape;621;p57"/>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2000" u="none" cap="none" strike="noStrike">
                <a:solidFill>
                  <a:srgbClr val="FFFFFF"/>
                </a:solidFill>
                <a:latin typeface="Arial"/>
                <a:ea typeface="Arial"/>
                <a:cs typeface="Arial"/>
                <a:sym typeface="Arial"/>
              </a:rPr>
              <a:t>Today’s Math Notes</a:t>
            </a:r>
            <a:endParaRPr/>
          </a:p>
        </p:txBody>
      </p:sp>
      <p:sp>
        <p:nvSpPr>
          <p:cNvPr id="622" name="Google Shape;622;p57"/>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pPr>
            <a:r>
              <a:rPr b="0" i="0" lang="en-US" sz="1200" u="none" cap="none" strike="noStrike">
                <a:solidFill>
                  <a:srgbClr val="FFFFFF"/>
                </a:solidFill>
                <a:latin typeface="Arial"/>
                <a:ea typeface="Arial"/>
                <a:cs typeface="Arial"/>
                <a:sym typeface="Arial"/>
              </a:rPr>
              <a:t>Lesson 5-1 · Determine the Area of Parallelograms and Rhombuses</a:t>
            </a:r>
            <a:endParaRPr/>
          </a:p>
        </p:txBody>
      </p:sp>
      <p:sp>
        <p:nvSpPr>
          <p:cNvPr id="623" name="Google Shape;623;p57"/>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624" name="Google Shape;624;p57"/>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00" u="none" cap="none" strike="noStrike">
                <a:solidFill>
                  <a:srgbClr val="475569"/>
                </a:solidFill>
                <a:latin typeface="Arial"/>
                <a:ea typeface="Arial"/>
                <a:cs typeface="Arial"/>
                <a:sym typeface="Arial"/>
              </a:rPr>
              <a:t>eduwonderlab.com  ·  Neft Teacher</a:t>
            </a:r>
            <a:endParaRPr/>
          </a:p>
        </p:txBody>
      </p:sp>
      <p:sp>
        <p:nvSpPr>
          <p:cNvPr id="625" name="Google Shape;625;p57"/>
          <p:cNvSpPr txBox="1"/>
          <p:nvPr/>
        </p:nvSpPr>
        <p:spPr>
          <a:xfrm>
            <a:off x="640080" y="987552"/>
            <a:ext cx="10911809" cy="45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3000" u="none" cap="none" strike="noStrike">
                <a:solidFill>
                  <a:srgbClr val="14223A"/>
                </a:solidFill>
                <a:latin typeface="Arial"/>
                <a:ea typeface="Arial"/>
                <a:cs typeface="Arial"/>
                <a:sym typeface="Arial"/>
              </a:rPr>
              <a:t>Section 2: Today’s Math</a:t>
            </a:r>
            <a:endParaRPr/>
          </a:p>
        </p:txBody>
      </p:sp>
      <p:sp>
        <p:nvSpPr>
          <p:cNvPr id="626" name="Google Shape;626;p57"/>
          <p:cNvSpPr/>
          <p:nvPr/>
        </p:nvSpPr>
        <p:spPr>
          <a:xfrm>
            <a:off x="640080" y="1572768"/>
            <a:ext cx="3246120" cy="384048"/>
          </a:xfrm>
          <a:prstGeom prst="roundRect">
            <a:avLst>
              <a:gd fmla="val 30000" name="adj"/>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627" name="Google Shape;627;p57"/>
          <p:cNvSpPr txBox="1"/>
          <p:nvPr/>
        </p:nvSpPr>
        <p:spPr>
          <a:xfrm>
            <a:off x="868680" y="1636776"/>
            <a:ext cx="3017520"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Copy. Explain. Check.</a:t>
            </a:r>
            <a:endParaRPr/>
          </a:p>
        </p:txBody>
      </p:sp>
      <p:sp>
        <p:nvSpPr>
          <p:cNvPr id="628" name="Google Shape;628;p57"/>
          <p:cNvSpPr/>
          <p:nvPr/>
        </p:nvSpPr>
        <p:spPr>
          <a:xfrm>
            <a:off x="640080" y="2231136"/>
            <a:ext cx="10911809" cy="749808"/>
          </a:xfrm>
          <a:prstGeom prst="roundRect">
            <a:avLst>
              <a:gd fmla="val 7000" name="adj"/>
            </a:avLst>
          </a:prstGeom>
          <a:solidFill>
            <a:srgbClr val="FDEEE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629" name="Google Shape;629;p57"/>
          <p:cNvSpPr txBox="1"/>
          <p:nvPr/>
        </p:nvSpPr>
        <p:spPr>
          <a:xfrm>
            <a:off x="960120" y="2359152"/>
            <a:ext cx="10271729" cy="493775"/>
          </a:xfrm>
          <a:prstGeom prst="rect">
            <a:avLst/>
          </a:prstGeom>
          <a:noFill/>
          <a:ln>
            <a:noFill/>
          </a:ln>
        </p:spPr>
        <p:txBody>
          <a:bodyPr anchorCtr="0" anchor="ctr" bIns="0" lIns="0" spcFirstLastPara="1" rIns="0" wrap="square" tIns="0">
            <a:spAutoFit/>
          </a:bodyPr>
          <a:lstStyle/>
          <a:p>
            <a:pPr indent="0" lvl="0" marL="0" marR="0" rtl="0" algn="l">
              <a:lnSpc>
                <a:spcPct val="116000"/>
              </a:lnSpc>
              <a:spcBef>
                <a:spcPts val="0"/>
              </a:spcBef>
              <a:spcAft>
                <a:spcPts val="0"/>
              </a:spcAft>
              <a:buNone/>
            </a:pPr>
            <a:r>
              <a:rPr b="1" i="0" lang="en-US" sz="2700" u="none" cap="none" strike="noStrike">
                <a:solidFill>
                  <a:srgbClr val="14223A"/>
                </a:solidFill>
                <a:latin typeface="Arial"/>
                <a:ea typeface="Arial"/>
                <a:cs typeface="Arial"/>
                <a:sym typeface="Arial"/>
              </a:rPr>
              <a:t>Area of Parallelograms &amp; Rhombuses</a:t>
            </a:r>
            <a:endParaRPr/>
          </a:p>
        </p:txBody>
      </p:sp>
      <p:sp>
        <p:nvSpPr>
          <p:cNvPr id="630" name="Google Shape;630;p57"/>
          <p:cNvSpPr/>
          <p:nvPr/>
        </p:nvSpPr>
        <p:spPr>
          <a:xfrm>
            <a:off x="640080" y="3182112"/>
            <a:ext cx="3749039" cy="603504"/>
          </a:xfrm>
          <a:prstGeom prst="roundRect">
            <a:avLst>
              <a:gd fmla="val 12000" name="adj"/>
            </a:avLst>
          </a:prstGeom>
          <a:solidFill>
            <a:srgbClr val="FFFFFF"/>
          </a:solidFill>
          <a:ln cap="flat" cmpd="sng" w="15875">
            <a:solidFill>
              <a:srgbClr val="C2410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631" name="Google Shape;631;p57"/>
          <p:cNvSpPr txBox="1"/>
          <p:nvPr/>
        </p:nvSpPr>
        <p:spPr>
          <a:xfrm>
            <a:off x="768096" y="3264408"/>
            <a:ext cx="3493007" cy="438912"/>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None/>
            </a:pPr>
            <a:r>
              <a:rPr b="1" i="0" lang="en-US" sz="1800" u="none" cap="none" strike="noStrike">
                <a:solidFill>
                  <a:srgbClr val="C2410C"/>
                </a:solidFill>
                <a:latin typeface="Arial"/>
                <a:ea typeface="Arial"/>
                <a:cs typeface="Arial"/>
                <a:sym typeface="Arial"/>
              </a:rPr>
              <a:t>Area = Base × Height (A = b · h)</a:t>
            </a:r>
            <a:endParaRPr/>
          </a:p>
        </p:txBody>
      </p:sp>
      <p:sp>
        <p:nvSpPr>
          <p:cNvPr id="632" name="Google Shape;632;p57"/>
          <p:cNvSpPr/>
          <p:nvPr/>
        </p:nvSpPr>
        <p:spPr>
          <a:xfrm>
            <a:off x="640080" y="4005072"/>
            <a:ext cx="10911809" cy="621792"/>
          </a:xfrm>
          <a:prstGeom prst="roundRect">
            <a:avLst>
              <a:gd fmla="val 8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633" name="Google Shape;633;p57"/>
          <p:cNvSpPr/>
          <p:nvPr/>
        </p:nvSpPr>
        <p:spPr>
          <a:xfrm>
            <a:off x="896112" y="4151376"/>
            <a:ext cx="329184" cy="329184"/>
          </a:xfrm>
          <a:prstGeom prst="ellipse">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300" u="none" cap="none" strike="noStrike">
                <a:solidFill>
                  <a:srgbClr val="FFFFFF"/>
                </a:solidFill>
                <a:latin typeface="Arial"/>
                <a:ea typeface="Arial"/>
                <a:cs typeface="Arial"/>
                <a:sym typeface="Arial"/>
              </a:rPr>
              <a:t>1</a:t>
            </a:r>
            <a:endParaRPr/>
          </a:p>
        </p:txBody>
      </p:sp>
      <p:sp>
        <p:nvSpPr>
          <p:cNvPr id="634" name="Google Shape;634;p57"/>
          <p:cNvSpPr txBox="1"/>
          <p:nvPr/>
        </p:nvSpPr>
        <p:spPr>
          <a:xfrm>
            <a:off x="1371600" y="4087368"/>
            <a:ext cx="10043129" cy="457200"/>
          </a:xfrm>
          <a:prstGeom prst="rect">
            <a:avLst/>
          </a:prstGeom>
          <a:noFill/>
          <a:ln>
            <a:noFill/>
          </a:ln>
        </p:spPr>
        <p:txBody>
          <a:bodyPr anchorCtr="0" anchor="ctr" bIns="0" lIns="0" spcFirstLastPara="1" rIns="0" wrap="square" tIns="0">
            <a:spAutoFit/>
          </a:bodyPr>
          <a:lstStyle/>
          <a:p>
            <a:pPr indent="0" lvl="0" marL="0" marR="0" rtl="0" algn="l">
              <a:lnSpc>
                <a:spcPct val="116000"/>
              </a:lnSpc>
              <a:spcBef>
                <a:spcPts val="0"/>
              </a:spcBef>
              <a:spcAft>
                <a:spcPts val="0"/>
              </a:spcAft>
              <a:buNone/>
            </a:pPr>
            <a:r>
              <a:rPr b="0" i="0" lang="en-US" sz="1600" u="none" cap="none" strike="noStrike">
                <a:solidFill>
                  <a:srgbClr val="14223A"/>
                </a:solidFill>
                <a:latin typeface="Arial"/>
                <a:ea typeface="Arial"/>
                <a:cs typeface="Arial"/>
                <a:sym typeface="Arial"/>
              </a:rPr>
              <a:t xml:space="preserve">Identify the </a:t>
            </a:r>
            <a:r>
              <a:rPr b="1" i="0" lang="en-US" sz="1600" u="none" cap="none" strike="noStrike">
                <a:solidFill>
                  <a:srgbClr val="14223A"/>
                </a:solidFill>
                <a:latin typeface="Arial"/>
                <a:ea typeface="Arial"/>
                <a:cs typeface="Arial"/>
                <a:sym typeface="Arial"/>
              </a:rPr>
              <a:t xml:space="preserve">base</a:t>
            </a:r>
            <a:r>
              <a:rPr b="0" i="0" lang="en-US" sz="1600" u="none" cap="none" strike="noStrike">
                <a:solidFill>
                  <a:srgbClr val="14223A"/>
                </a:solidFill>
                <a:latin typeface="Arial"/>
                <a:ea typeface="Arial"/>
                <a:cs typeface="Arial"/>
                <a:sym typeface="Arial"/>
              </a:rPr>
              <a:t xml:space="preserve"> (any side)</a:t>
            </a:r>
            <a:endParaRPr/>
          </a:p>
        </p:txBody>
      </p:sp>
      <p:sp>
        <p:nvSpPr>
          <p:cNvPr id="635" name="Google Shape;635;p57"/>
          <p:cNvSpPr/>
          <p:nvPr/>
        </p:nvSpPr>
        <p:spPr>
          <a:xfrm>
            <a:off x="640080" y="4773168"/>
            <a:ext cx="10911809" cy="621792"/>
          </a:xfrm>
          <a:prstGeom prst="roundRect">
            <a:avLst>
              <a:gd fmla="val 8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636" name="Google Shape;636;p57"/>
          <p:cNvSpPr/>
          <p:nvPr/>
        </p:nvSpPr>
        <p:spPr>
          <a:xfrm>
            <a:off x="896112" y="4919472"/>
            <a:ext cx="329184" cy="329184"/>
          </a:xfrm>
          <a:prstGeom prst="ellipse">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300" u="none" cap="none" strike="noStrike">
                <a:solidFill>
                  <a:srgbClr val="FFFFFF"/>
                </a:solidFill>
                <a:latin typeface="Arial"/>
                <a:ea typeface="Arial"/>
                <a:cs typeface="Arial"/>
                <a:sym typeface="Arial"/>
              </a:rPr>
              <a:t>2</a:t>
            </a:r>
            <a:endParaRPr/>
          </a:p>
        </p:txBody>
      </p:sp>
      <p:sp>
        <p:nvSpPr>
          <p:cNvPr id="637" name="Google Shape;637;p57"/>
          <p:cNvSpPr txBox="1"/>
          <p:nvPr/>
        </p:nvSpPr>
        <p:spPr>
          <a:xfrm>
            <a:off x="1371600" y="4855464"/>
            <a:ext cx="10043129" cy="457200"/>
          </a:xfrm>
          <a:prstGeom prst="rect">
            <a:avLst/>
          </a:prstGeom>
          <a:noFill/>
          <a:ln>
            <a:noFill/>
          </a:ln>
        </p:spPr>
        <p:txBody>
          <a:bodyPr anchorCtr="0" anchor="ctr" bIns="0" lIns="0" spcFirstLastPara="1" rIns="0" wrap="square" tIns="0">
            <a:spAutoFit/>
          </a:bodyPr>
          <a:lstStyle/>
          <a:p>
            <a:pPr indent="0" lvl="0" marL="0" marR="0" rtl="0" algn="l">
              <a:lnSpc>
                <a:spcPct val="116000"/>
              </a:lnSpc>
              <a:spcBef>
                <a:spcPts val="0"/>
              </a:spcBef>
              <a:spcAft>
                <a:spcPts val="0"/>
              </a:spcAft>
              <a:buNone/>
            </a:pPr>
            <a:r>
              <a:rPr b="0" i="0" lang="en-US" sz="1600" u="none" cap="none" strike="noStrike">
                <a:solidFill>
                  <a:srgbClr val="14223A"/>
                </a:solidFill>
                <a:latin typeface="Arial"/>
                <a:ea typeface="Arial"/>
                <a:cs typeface="Arial"/>
                <a:sym typeface="Arial"/>
              </a:rPr>
              <a:t xml:space="preserve">Identify the </a:t>
            </a:r>
            <a:r>
              <a:rPr b="1" i="0" lang="en-US" sz="1600" u="none" cap="none" strike="noStrike">
                <a:solidFill>
                  <a:srgbClr val="14223A"/>
                </a:solidFill>
                <a:latin typeface="Arial"/>
                <a:ea typeface="Arial"/>
                <a:cs typeface="Arial"/>
                <a:sym typeface="Arial"/>
              </a:rPr>
              <a:t xml:space="preserve">perpendicular</a:t>
            </a:r>
            <a:r>
              <a:rPr b="0" i="0" lang="en-US" sz="1600" u="none" cap="none" strike="noStrike">
                <a:solidFill>
                  <a:srgbClr val="14223A"/>
                </a:solidFill>
                <a:latin typeface="Arial"/>
                <a:ea typeface="Arial"/>
                <a:cs typeface="Arial"/>
                <a:sym typeface="Arial"/>
              </a:rPr>
              <a:t xml:space="preserve"> </a:t>
            </a:r>
            <a:r>
              <a:rPr b="1" i="0" lang="en-US" sz="1600" u="none" cap="none" strike="noStrike">
                <a:solidFill>
                  <a:srgbClr val="14223A"/>
                </a:solidFill>
                <a:latin typeface="Arial"/>
                <a:ea typeface="Arial"/>
                <a:cs typeface="Arial"/>
                <a:sym typeface="Arial"/>
              </a:rPr>
              <a:t xml:space="preserve">height</a:t>
            </a:r>
            <a:r>
              <a:rPr b="0" i="0" lang="en-US" sz="1600" u="none" cap="none" strike="noStrike">
                <a:solidFill>
                  <a:srgbClr val="14223A"/>
                </a:solidFill>
                <a:latin typeface="Arial"/>
                <a:ea typeface="Arial"/>
                <a:cs typeface="Arial"/>
                <a:sym typeface="Arial"/>
              </a:rPr>
              <a:t xml:space="preserve"> (height must be perpendicular to base, not slanted)</a:t>
            </a:r>
            <a:endParaRPr/>
          </a:p>
        </p:txBody>
      </p:sp>
      <p:sp>
        <p:nvSpPr>
          <p:cNvPr id="638" name="Google Shape;638;p57"/>
          <p:cNvSpPr/>
          <p:nvPr/>
        </p:nvSpPr>
        <p:spPr>
          <a:xfrm>
            <a:off x="640080" y="5541264"/>
            <a:ext cx="10911809" cy="621792"/>
          </a:xfrm>
          <a:prstGeom prst="roundRect">
            <a:avLst>
              <a:gd fmla="val 8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639" name="Google Shape;639;p57"/>
          <p:cNvSpPr/>
          <p:nvPr/>
        </p:nvSpPr>
        <p:spPr>
          <a:xfrm>
            <a:off x="896112" y="5687568"/>
            <a:ext cx="329184" cy="329184"/>
          </a:xfrm>
          <a:prstGeom prst="ellipse">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300" u="none" cap="none" strike="noStrike">
                <a:solidFill>
                  <a:srgbClr val="FFFFFF"/>
                </a:solidFill>
                <a:latin typeface="Arial"/>
                <a:ea typeface="Arial"/>
                <a:cs typeface="Arial"/>
                <a:sym typeface="Arial"/>
              </a:rPr>
              <a:t>3</a:t>
            </a:r>
            <a:endParaRPr/>
          </a:p>
        </p:txBody>
      </p:sp>
      <p:sp>
        <p:nvSpPr>
          <p:cNvPr id="640" name="Google Shape;640;p57"/>
          <p:cNvSpPr txBox="1"/>
          <p:nvPr/>
        </p:nvSpPr>
        <p:spPr>
          <a:xfrm>
            <a:off x="1371600" y="5623560"/>
            <a:ext cx="10043129" cy="457200"/>
          </a:xfrm>
          <a:prstGeom prst="rect">
            <a:avLst/>
          </a:prstGeom>
          <a:noFill/>
          <a:ln>
            <a:noFill/>
          </a:ln>
        </p:spPr>
        <p:txBody>
          <a:bodyPr anchorCtr="0" anchor="ctr" bIns="0" lIns="0" spcFirstLastPara="1" rIns="0" wrap="square" tIns="0">
            <a:spAutoFit/>
          </a:bodyPr>
          <a:lstStyle/>
          <a:p>
            <a:pPr indent="0" lvl="0" marL="0" marR="0" rtl="0" algn="l">
              <a:lnSpc>
                <a:spcPct val="116000"/>
              </a:lnSpc>
              <a:spcBef>
                <a:spcPts val="0"/>
              </a:spcBef>
              <a:spcAft>
                <a:spcPts val="0"/>
              </a:spcAft>
              <a:buNone/>
            </a:pPr>
            <a:r>
              <a:rPr b="0" i="0" lang="en-US" sz="1600" u="none" cap="none" strike="noStrike">
                <a:solidFill>
                  <a:srgbClr val="14223A"/>
                </a:solidFill>
                <a:latin typeface="Arial"/>
                <a:ea typeface="Arial"/>
                <a:cs typeface="Arial"/>
                <a:sym typeface="Arial"/>
              </a:rPr>
              <a:t xml:space="preserve">Multiply base times height; label with </a:t>
            </a:r>
            <a:r>
              <a:rPr b="1" i="0" lang="en-US" sz="1600" u="none" cap="none" strike="noStrike">
                <a:solidFill>
                  <a:srgbClr val="14223A"/>
                </a:solidFill>
                <a:latin typeface="Arial"/>
                <a:ea typeface="Arial"/>
                <a:cs typeface="Arial"/>
                <a:sym typeface="Arial"/>
              </a:rPr>
              <a:t xml:space="preserve">square units</a:t>
            </a:r>
            <a:r>
              <a:rPr b="0" i="0" lang="en-US" sz="1600" u="none" cap="none" strike="noStrike">
                <a:solidFill>
                  <a:srgbClr val="14223A"/>
                </a:solidFill>
                <a:latin typeface="Arial"/>
                <a:ea typeface="Arial"/>
                <a:cs typeface="Arial"/>
                <a:sym typeface="Arial"/>
              </a:rPr>
              <a:t xml:space="preserve"> (e.g. cm², in²)</a:t>
            </a:r>
            <a:endParaRPr/>
          </a:p>
        </p:txBody>
      </p:sp>
      <p:sp>
        <p:nvSpPr>
          <p:cNvPr id="641"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3 / 66</a:t>
            </a:r>
          </a:p>
        </p:txBody>
      </p:sp>
      <p:sp xmlns:p="http://schemas.openxmlformats.org/presentationml/2006/main" xmlns:a="http://schemas.openxmlformats.org/drawingml/2006/main">
        <p:nvSpPr>
          <p:cNvPr id="642" name="TEACH-embedded-student-prompt" descr="Student thinking and response directions"/>
          <p:cNvSpPr txBox="1"/>
          <p:nvPr/>
        </p:nvSpPr>
        <p:spPr>
          <a:xfrm>
            <a:off x="6111240" y="3127248"/>
            <a:ext cx="5486400" cy="768096"/>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Read, cover, explain. Reopen your notes to</a:t>
            </a:r>
            <a:endParaRPr lang="en-US" sz="2000"/>
          </a:p>
          <a:p>
            <a:pPr>
              <a:lnSpc>
                <a:spcPts val="2400"/>
              </a:lnSpc>
              <a:buNone/>
            </a:pPr>
            <a:r>
              <a:rPr lang="en-US" sz="2000">
                <a:solidFill>
                  <a:srgbClr val="174D60"/>
                </a:solidFill>
                <a:latin typeface="Arial"/>
              </a:rPr>
              <a:t>check and improve your explanation.</a:t>
            </a:r>
            <a:endParaRPr lang="en-US" sz="20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sp>
        <p:nvSpPr>
          <p:cNvPr id="235" name="Google Shape;235;p40"/>
          <p:cNvSpPr txBox="1"/>
          <p:nvPr/>
        </p:nvSpPr>
        <p:spPr>
          <a:xfrm>
            <a:off x="1402828" y="2453950"/>
            <a:ext cx="9144000" cy="2176463"/>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3600"/>
              <a:buFont typeface="Arial"/>
              <a:buNone/>
              <a:defRPr/>
            </a:pPr>
            <a:r>
              <a:rPr b="1" i="0" lang="en-US" sz="3600" u="none" cap="none" strike="noStrike">
                <a:solidFill>
                  <a:schemeClr val="dk1"/>
                </a:solidFill>
                <a:latin typeface="Arial"/>
                <a:ea typeface="Arial"/>
                <a:cs typeface="Arial"/>
                <a:sym typeface="Arial"/>
              </a:rPr>
              <a:t>Determine the Area of </a:t>
            </a:r>
            <a:br>
              <a:rPr b="1" i="0" lang="en-US" sz="3600" u="none" cap="none" strike="noStrike">
                <a:solidFill>
                  <a:schemeClr val="dk1"/>
                </a:solidFill>
                <a:latin typeface="Arial"/>
                <a:ea typeface="Arial"/>
                <a:cs typeface="Arial"/>
                <a:sym typeface="Arial"/>
              </a:rPr>
            </a:br>
            <a:r>
              <a:rPr b="1" i="0" lang="en-US" sz="3600" u="none" cap="none" strike="noStrike">
                <a:solidFill>
                  <a:schemeClr val="dk1"/>
                </a:solidFill>
                <a:latin typeface="Arial"/>
                <a:ea typeface="Arial"/>
                <a:cs typeface="Arial"/>
                <a:sym typeface="Arial"/>
              </a:rPr>
              <a:t>Parallelograms and Rhombuses​</a:t>
            </a:r>
            <a:endParaRPr b="0" i="0" sz="1400" u="none" cap="none" strike="noStrike">
              <a:solidFill>
                <a:srgbClr val="000000"/>
              </a:solidFill>
              <a:latin typeface="Arial"/>
              <a:ea typeface="Arial"/>
              <a:cs typeface="Arial"/>
              <a:sym typeface="Arial"/>
            </a:endParaRPr>
          </a:p>
        </p:txBody>
      </p:sp>
      <p:sp>
        <p:nvSpPr>
          <p:cNvPr id="236" name="Google Shape;236;p40"/>
          <p:cNvSpPr/>
          <p:nvPr/>
        </p:nvSpPr>
        <p:spPr>
          <a:xfrm>
            <a:off x="1402828" y="1037162"/>
            <a:ext cx="1763624" cy="52322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defRPr/>
            </a:pPr>
            <a:r>
              <a:rPr b="0" i="0" lang="en-US" sz="2800" u="none" cap="none" strike="noStrike">
                <a:solidFill>
                  <a:srgbClr val="782DA0"/>
                </a:solidFill>
                <a:latin typeface="Arial"/>
                <a:ea typeface="Arial"/>
                <a:cs typeface="Arial"/>
                <a:sym typeface="Arial"/>
              </a:rPr>
              <a:t>Session 1</a:t>
            </a:r>
            <a:endParaRPr b="1" i="0" sz="2800" u="none" cap="none" strike="noStrike">
              <a:solidFill>
                <a:srgbClr val="782DA0"/>
              </a:solidFill>
              <a:latin typeface="Arial"/>
              <a:ea typeface="Arial"/>
              <a:cs typeface="Arial"/>
              <a:sym typeface="Arial"/>
            </a:endParaRPr>
          </a:p>
        </p:txBody>
      </p:sp>
      <p:cxnSp>
        <p:nvCxnSpPr>
          <p:cNvPr id="237" name="Google Shape;237;p40"/>
          <p:cNvCxnSpPr/>
          <p:nvPr/>
        </p:nvCxnSpPr>
        <p:spPr>
          <a:xfrm>
            <a:off x="-1" y="1560382"/>
            <a:ext cx="3166453" cy="0"/>
          </a:xfrm>
          <a:prstGeom prst="straightConnector1">
            <a:avLst/>
          </a:prstGeom>
          <a:noFill/>
          <a:ln cap="flat" cmpd="sng" w="19050">
            <a:solidFill>
              <a:srgbClr val="782DA0"/>
            </a:solidFill>
            <a:prstDash val="solid"/>
            <a:miter lim="80"/>
            <a:headEnd len="sm" w="sm" type="none"/>
            <a:tailEnd len="sm" w="sm" type="none"/>
          </a:ln>
        </p:spPr>
      </p:cxnSp>
      <p:sp>
        <p:nvSpPr>
          <p:cNvPr id="238"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4 / 66</a:t>
            </a:r>
          </a:p>
        </p:txBody>
      </p:sp>
      <p:grpSp>
        <p:nvGrpSpPr>
          <p:cNvPr id="239" name="TEACH-2-student-move" descr="TEACH 2 · Use strategies and tasks to engage students in rigorous work"/>
          <p:cNvGrpSpPr/>
          <p:nvPr/>
        </p:nvGrpSpPr>
        <p:grpSpPr>
          <a:xfrm>
            <a:off x="502920" y="3867612"/>
            <a:ext cx="11186160" cy="731520"/>
            <a:chOff x="502920" y="3867612"/>
            <a:chExt cx="11186160" cy="731520"/>
          </a:xfrm>
        </p:grpSpPr>
        <p:sp>
          <p:nvSpPr>
            <p:cNvPr id="240" name="TEACH-move-card"/>
            <p:cNvSpPr/>
            <p:nvPr/>
          </p:nvSpPr>
          <p:spPr>
            <a:xfrm>
              <a:off x="502920" y="3867612"/>
              <a:ext cx="11186160" cy="731520"/>
            </a:xfrm>
            <a:prstGeom prst="roundRect">
              <a:avLst>
                <a:gd name="adj" fmla="val 16000"/>
              </a:avLst>
            </a:prstGeom>
            <a:solidFill>
              <a:srgbClr val="E4F0F5"/>
            </a:solidFill>
            <a:ln w="19050">
              <a:solidFill>
                <a:srgbClr val="8CB8C7"/>
              </a:solidFill>
            </a:ln>
          </p:spPr>
          <p:txBody>
            <a:bodyPr/>
            <a:lstStyle/>
            <a:p>
              <a:endParaRPr/>
            </a:p>
          </p:txBody>
        </p:sp>
        <p:sp>
          <p:nvSpPr>
            <p:cNvPr id="241" name="TEACH-move-rule"/>
            <p:cNvSpPr/>
            <p:nvPr/>
          </p:nvSpPr>
          <p:spPr>
            <a:xfrm>
              <a:off x="548640" y="4006601"/>
              <a:ext cx="100584" cy="453542"/>
            </a:xfrm>
            <a:prstGeom prst="roundRect">
              <a:avLst>
                <a:gd name="adj" fmla="val 50000"/>
              </a:avLst>
            </a:prstGeom>
            <a:solidFill>
              <a:srgbClr val="01708C"/>
            </a:solidFill>
            <a:ln>
              <a:noFill/>
            </a:ln>
          </p:spPr>
          <p:txBody>
            <a:bodyPr/>
            <a:lstStyle/>
            <a:p>
              <a:endParaRPr/>
            </a:p>
          </p:txBody>
        </p:sp>
        <p:sp>
          <p:nvSpPr>
            <p:cNvPr id="242" name="TEACH-move-text"/>
            <p:cNvSpPr txBox="1"/>
            <p:nvPr/>
          </p:nvSpPr>
          <p:spPr>
            <a:xfrm>
              <a:off x="822960" y="3867612"/>
              <a:ext cx="10728960" cy="731520"/>
            </a:xfrm>
            <a:prstGeom prst="rect">
              <a:avLst/>
            </a:prstGeom>
            <a:noFill/>
            <a:ln>
              <a:noFill/>
            </a:ln>
          </p:spPr>
          <p:txBody>
            <a:bodyPr wrap="square" lIns="0" tIns="0" rIns="0" bIns="0" anchor="ctr">
              <a:noAutofit/>
            </a:bodyPr>
            <a:lstStyle/>
            <a:p>
              <a:pPr algn="l">
                <a:buNone/>
              </a:pPr>
              <a:r>
                <a:rPr lang="en-US" sz="1800" b="1" dirty="0">
                  <a:solidFill>
                    <a:srgbClr val="01708C"/>
                  </a:solidFill>
                  <a:latin typeface="Arial"/>
                </a:rPr>
                <a:t>PICK YOUR STRATEGY  ·  </a:t>
              </a:r>
              <a:r>
                <a:rPr lang="en-US" sz="1800" dirty="0">
                  <a:solidFill>
                    <a:srgbClr val="13303A"/>
                  </a:solidFill>
                  <a:latin typeface="Arial"/>
                </a:rPr>
                <a:t>Choose your path — picture, table, number line, or equation — and be ready to say why you chose it.</a:t>
              </a:r>
              <a:endParaRPr lang="en-US" sz="1800"/>
            </a:p>
          </p:txBody>
        </p:sp>
      </p:gr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cxnSp>
        <p:nvCxnSpPr>
          <p:cNvPr id="242" name="Google Shape;242;p41"/>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243" name="Google Shape;243;p41"/>
          <p:cNvSpPr txBox="1"/>
          <p:nvPr/>
        </p:nvSpPr>
        <p:spPr>
          <a:xfrm>
            <a:off x="505579" y="316034"/>
            <a:ext cx="4252852"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pPr>
            <a:r>
              <a:rPr b="1" i="0" lang="en-US" sz="2800" u="none" cap="none" strike="noStrike">
                <a:solidFill>
                  <a:srgbClr val="782DA0"/>
                </a:solidFill>
                <a:latin typeface="Arial"/>
                <a:ea typeface="Arial"/>
                <a:cs typeface="Arial"/>
                <a:sym typeface="Arial"/>
              </a:rPr>
              <a:t>This or That</a:t>
            </a:r>
            <a:endParaRPr b="0" i="0" sz="1400" u="none" cap="none" strike="noStrike">
              <a:solidFill>
                <a:srgbClr val="000000"/>
              </a:solidFill>
              <a:latin typeface="Arial"/>
              <a:ea typeface="Arial"/>
              <a:cs typeface="Arial"/>
              <a:sym typeface="Arial"/>
            </a:endParaRPr>
          </a:p>
        </p:txBody>
      </p:sp>
      <p:sp>
        <p:nvSpPr>
          <p:cNvPr id="244" name="Google Shape;244;p41"/>
          <p:cNvSpPr txBox="1"/>
          <p:nvPr/>
        </p:nvSpPr>
        <p:spPr>
          <a:xfrm>
            <a:off x="484560" y="936100"/>
            <a:ext cx="7232976" cy="105333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0" i="0" lang="en-US" sz="2800" u="none" cap="none" strike="noStrike">
                <a:solidFill>
                  <a:srgbClr val="23282D"/>
                </a:solidFill>
                <a:latin typeface="Arial"/>
                <a:ea typeface="Arial"/>
                <a:cs typeface="Arial"/>
                <a:sym typeface="Arial"/>
              </a:rPr>
              <a:t>Would you rather have THIS or THAT hours of recess?</a:t>
            </a:r>
            <a:endParaRPr b="0" i="0" sz="1400" u="none" cap="none" strike="noStrike">
              <a:solidFill>
                <a:srgbClr val="000000"/>
              </a:solidFill>
              <a:latin typeface="Arial"/>
              <a:ea typeface="Arial"/>
              <a:cs typeface="Arial"/>
              <a:sym typeface="Arial"/>
            </a:endParaRPr>
          </a:p>
        </p:txBody>
      </p:sp>
      <p:graphicFrame>
        <p:nvGraphicFramePr>
          <p:cNvPr id="245" name="Google Shape;245;p41"/>
          <p:cNvGraphicFramePr/>
          <p:nvPr/>
        </p:nvGraphicFramePr>
        <p:xfrm>
          <a:off x="505579" y="2609503"/>
          <a:ext cx="3000000" cy="3000000"/>
        </p:xfrm>
        <a:graphic>
          <a:graphicData uri="http://schemas.openxmlformats.org/drawingml/2006/table">
            <a:tbl>
              <a:tblPr bandRow="1" firstRow="1">
                <a:noFill/>
                <a:tableStyleId>{5286CED2-7F92-443A-975B-0DF484970EFF}</a:tableStyleId>
              </a:tblPr>
              <a:tblGrid>
                <a:gridCol w="3184100"/>
                <a:gridCol w="2734050"/>
              </a:tblGrid>
              <a:tr h="603100">
                <a:tc>
                  <a:txBody>
                    <a:bodyPr/>
                    <a:lstStyle/>
                    <a:p>
                      <a:pPr indent="0" lvl="0" marL="0" marR="0" rtl="0" algn="ctr">
                        <a:lnSpc>
                          <a:spcPct val="100000"/>
                        </a:lnSpc>
                        <a:spcBef>
                          <a:spcPts val="0"/>
                        </a:spcBef>
                        <a:spcAft>
                          <a:spcPts val="0"/>
                        </a:spcAft>
                        <a:buClr>
                          <a:srgbClr val="000000"/>
                        </a:buClr>
                        <a:buSzPts val="2800"/>
                        <a:buFont typeface="Arial"/>
                        <a:buNone/>
                      </a:pPr>
                      <a:r>
                        <a:rPr b="1" lang="en-US" sz="2800" u="none" cap="none" strike="noStrike">
                          <a:solidFill>
                            <a:schemeClr val="lt1"/>
                          </a:solidFill>
                          <a:latin typeface="Arial"/>
                          <a:ea typeface="Arial"/>
                          <a:cs typeface="Arial"/>
                          <a:sym typeface="Arial"/>
                        </a:rPr>
                        <a:t>THIS</a:t>
                      </a:r>
                      <a:endParaRPr i="1" sz="2800" u="none" cap="none" strike="noStrike">
                        <a:latin typeface="Arial"/>
                        <a:ea typeface="Arial"/>
                        <a:cs typeface="Arial"/>
                        <a:sym typeface="Arial"/>
                      </a:endParaRPr>
                    </a:p>
                  </a:txBody>
                  <a:tcPr marT="45725" marB="45725" marR="91450" marL="91450" anchor="ctr">
                    <a:lnL cap="flat" cmpd="sng" w="12700">
                      <a:solidFill>
                        <a:srgbClr val="BFBFBF"/>
                      </a:solidFill>
                      <a:prstDash val="solid"/>
                      <a:round/>
                      <a:headEnd len="sm" w="sm" type="none"/>
                      <a:tailEnd len="sm" w="sm" type="none"/>
                    </a:lnL>
                    <a:lnR cap="flat" cmpd="sng" w="12700">
                      <a:solidFill>
                        <a:srgbClr val="BFBFBF"/>
                      </a:solidFill>
                      <a:prstDash val="solid"/>
                      <a:round/>
                      <a:headEnd len="sm" w="sm" type="none"/>
                      <a:tailEnd len="sm" w="sm" type="none"/>
                    </a:lnR>
                    <a:lnT cap="flat" cmpd="sng" w="12700">
                      <a:solidFill>
                        <a:srgbClr val="BFBFBF"/>
                      </a:solidFill>
                      <a:prstDash val="solid"/>
                      <a:round/>
                      <a:headEnd len="sm" w="sm" type="none"/>
                      <a:tailEnd len="sm" w="sm" type="none"/>
                    </a:lnT>
                    <a:lnB cap="flat" cmpd="sng" w="12700">
                      <a:solidFill>
                        <a:srgbClr val="BFBFBF"/>
                      </a:solidFill>
                      <a:prstDash val="solid"/>
                      <a:round/>
                      <a:headEnd len="sm" w="sm" type="none"/>
                      <a:tailEnd len="sm" w="sm" type="none"/>
                    </a:lnB>
                    <a:solidFill>
                      <a:srgbClr val="695B9A"/>
                    </a:solidFill>
                  </a:tcPr>
                </a:tc>
                <a:tc>
                  <a:txBody>
                    <a:bodyPr/>
                    <a:lstStyle/>
                    <a:p>
                      <a:pPr indent="0" lvl="0" marL="0" marR="0" rtl="0" algn="ctr">
                        <a:lnSpc>
                          <a:spcPct val="100000"/>
                        </a:lnSpc>
                        <a:spcBef>
                          <a:spcPts val="0"/>
                        </a:spcBef>
                        <a:spcAft>
                          <a:spcPts val="0"/>
                        </a:spcAft>
                        <a:buClr>
                          <a:srgbClr val="000000"/>
                        </a:buClr>
                        <a:buSzPts val="2800"/>
                        <a:buFont typeface="Arial"/>
                        <a:buNone/>
                      </a:pPr>
                      <a:r>
                        <a:rPr b="1" lang="en-US" sz="2800" u="none" cap="none" strike="noStrike">
                          <a:solidFill>
                            <a:schemeClr val="lt1"/>
                          </a:solidFill>
                          <a:latin typeface="Arial"/>
                          <a:ea typeface="Arial"/>
                          <a:cs typeface="Arial"/>
                          <a:sym typeface="Arial"/>
                        </a:rPr>
                        <a:t>THAT</a:t>
                      </a:r>
                      <a:endParaRPr i="1" sz="2800" u="none" cap="none" strike="noStrike">
                        <a:latin typeface="Arial"/>
                        <a:ea typeface="Arial"/>
                        <a:cs typeface="Arial"/>
                        <a:sym typeface="Arial"/>
                      </a:endParaRPr>
                    </a:p>
                  </a:txBody>
                  <a:tcPr marT="45725" marB="45725" marR="91450" marL="91450" anchor="ctr">
                    <a:lnL cap="flat" cmpd="sng" w="12700">
                      <a:solidFill>
                        <a:srgbClr val="BFBFBF"/>
                      </a:solidFill>
                      <a:prstDash val="solid"/>
                      <a:round/>
                      <a:headEnd len="sm" w="sm" type="none"/>
                      <a:tailEnd len="sm" w="sm" type="none"/>
                    </a:lnL>
                    <a:lnR cap="flat" cmpd="sng" w="12700">
                      <a:solidFill>
                        <a:srgbClr val="BFBFBF"/>
                      </a:solidFill>
                      <a:prstDash val="solid"/>
                      <a:round/>
                      <a:headEnd len="sm" w="sm" type="none"/>
                      <a:tailEnd len="sm" w="sm" type="none"/>
                    </a:lnR>
                    <a:lnT cap="flat" cmpd="sng" w="12700">
                      <a:solidFill>
                        <a:srgbClr val="BFBFBF"/>
                      </a:solidFill>
                      <a:prstDash val="solid"/>
                      <a:round/>
                      <a:headEnd len="sm" w="sm" type="none"/>
                      <a:tailEnd len="sm" w="sm" type="none"/>
                    </a:lnT>
                    <a:lnB cap="flat" cmpd="sng" w="12700">
                      <a:solidFill>
                        <a:srgbClr val="BFBFBF"/>
                      </a:solidFill>
                      <a:prstDash val="solid"/>
                      <a:round/>
                      <a:headEnd len="sm" w="sm" type="none"/>
                      <a:tailEnd len="sm" w="sm" type="none"/>
                    </a:lnB>
                    <a:solidFill>
                      <a:srgbClr val="695B9A"/>
                    </a:solidFill>
                  </a:tcPr>
                </a:tc>
              </a:tr>
              <a:tr h="518150">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nchor="ctr">
                    <a:lnL cap="flat" cmpd="sng" w="12700">
                      <a:solidFill>
                        <a:srgbClr val="BFBFBF"/>
                      </a:solidFill>
                      <a:prstDash val="solid"/>
                      <a:round/>
                      <a:headEnd len="sm" w="sm" type="none"/>
                      <a:tailEnd len="sm" w="sm" type="none"/>
                    </a:lnL>
                    <a:lnR cap="flat" cmpd="sng" w="12700">
                      <a:solidFill>
                        <a:srgbClr val="BFBFBF"/>
                      </a:solidFill>
                      <a:prstDash val="solid"/>
                      <a:round/>
                      <a:headEnd len="sm" w="sm" type="none"/>
                      <a:tailEnd len="sm" w="sm" type="none"/>
                    </a:lnR>
                    <a:lnT cap="flat" cmpd="sng" w="12700">
                      <a:solidFill>
                        <a:srgbClr val="BFBFBF"/>
                      </a:solidFill>
                      <a:prstDash val="solid"/>
                      <a:round/>
                      <a:headEnd len="sm" w="sm" type="none"/>
                      <a:tailEnd len="sm" w="sm" type="none"/>
                    </a:lnT>
                    <a:lnB cap="flat" cmpd="sng" w="12700">
                      <a:solidFill>
                        <a:srgbClr val="BFBFB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nchor="ctr">
                    <a:lnL cap="flat" cmpd="sng" w="12700">
                      <a:solidFill>
                        <a:srgbClr val="BFBFBF"/>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BFBFBF"/>
                      </a:solidFill>
                      <a:prstDash val="solid"/>
                      <a:round/>
                      <a:headEnd len="sm" w="sm" type="none"/>
                      <a:tailEnd len="sm" w="sm" type="none"/>
                    </a:lnT>
                    <a:lnB cap="flat" cmpd="sng" w="12700">
                      <a:solidFill>
                        <a:srgbClr val="BFBFBF"/>
                      </a:solidFill>
                      <a:prstDash val="solid"/>
                      <a:round/>
                      <a:headEnd len="sm" w="sm" type="none"/>
                      <a:tailEnd len="sm" w="sm" type="none"/>
                    </a:lnB>
                  </a:tcPr>
                </a:tc>
              </a:tr>
              <a:tr h="518150">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nchor="ctr">
                    <a:lnL cap="flat" cmpd="sng" w="12700">
                      <a:solidFill>
                        <a:srgbClr val="BFBFBF"/>
                      </a:solidFill>
                      <a:prstDash val="solid"/>
                      <a:round/>
                      <a:headEnd len="sm" w="sm" type="none"/>
                      <a:tailEnd len="sm" w="sm" type="none"/>
                    </a:lnL>
                    <a:lnR cap="flat" cmpd="sng" w="12700">
                      <a:solidFill>
                        <a:srgbClr val="BFBFBF"/>
                      </a:solidFill>
                      <a:prstDash val="solid"/>
                      <a:round/>
                      <a:headEnd len="sm" w="sm" type="none"/>
                      <a:tailEnd len="sm" w="sm" type="none"/>
                    </a:lnR>
                    <a:lnT cap="flat" cmpd="sng" w="12700">
                      <a:solidFill>
                        <a:srgbClr val="BFBFBF"/>
                      </a:solidFill>
                      <a:prstDash val="solid"/>
                      <a:round/>
                      <a:headEnd len="sm" w="sm" type="none"/>
                      <a:tailEnd len="sm" w="sm" type="none"/>
                    </a:lnT>
                    <a:lnB cap="flat" cmpd="sng" w="12700">
                      <a:solidFill>
                        <a:srgbClr val="BFBFB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nchor="ctr">
                    <a:lnL cap="flat" cmpd="sng" w="12700">
                      <a:solidFill>
                        <a:srgbClr val="BFBFBF"/>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BFBFBF"/>
                      </a:solidFill>
                      <a:prstDash val="solid"/>
                      <a:round/>
                      <a:headEnd len="sm" w="sm" type="none"/>
                      <a:tailEnd len="sm" w="sm" type="none"/>
                    </a:lnT>
                    <a:lnB cap="flat" cmpd="sng" w="12700">
                      <a:solidFill>
                        <a:srgbClr val="BFBFBF"/>
                      </a:solidFill>
                      <a:prstDash val="solid"/>
                      <a:round/>
                      <a:headEnd len="sm" w="sm" type="none"/>
                      <a:tailEnd len="sm" w="sm" type="none"/>
                    </a:lnB>
                  </a:tcPr>
                </a:tc>
              </a:tr>
              <a:tr h="518150">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nchor="ctr">
                    <a:lnL cap="flat" cmpd="sng" w="12700">
                      <a:solidFill>
                        <a:srgbClr val="BFBFBF"/>
                      </a:solidFill>
                      <a:prstDash val="solid"/>
                      <a:round/>
                      <a:headEnd len="sm" w="sm" type="none"/>
                      <a:tailEnd len="sm" w="sm" type="none"/>
                    </a:lnL>
                    <a:lnR cap="flat" cmpd="sng" w="12700">
                      <a:solidFill>
                        <a:srgbClr val="BFBFBF"/>
                      </a:solidFill>
                      <a:prstDash val="solid"/>
                      <a:round/>
                      <a:headEnd len="sm" w="sm" type="none"/>
                      <a:tailEnd len="sm" w="sm" type="none"/>
                    </a:lnR>
                    <a:lnT cap="flat" cmpd="sng" w="12700">
                      <a:solidFill>
                        <a:srgbClr val="BFBFBF"/>
                      </a:solidFill>
                      <a:prstDash val="solid"/>
                      <a:round/>
                      <a:headEnd len="sm" w="sm" type="none"/>
                      <a:tailEnd len="sm" w="sm" type="none"/>
                    </a:lnT>
                    <a:lnB cap="flat" cmpd="sng" w="12700">
                      <a:solidFill>
                        <a:srgbClr val="BFBFB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nchor="ctr">
                    <a:lnL cap="flat" cmpd="sng" w="12700">
                      <a:solidFill>
                        <a:srgbClr val="BFBFBF"/>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BFBFBF"/>
                      </a:solidFill>
                      <a:prstDash val="solid"/>
                      <a:round/>
                      <a:headEnd len="sm" w="sm" type="none"/>
                      <a:tailEnd len="sm" w="sm" type="none"/>
                    </a:lnT>
                    <a:lnB cap="flat" cmpd="sng" w="12700">
                      <a:solidFill>
                        <a:srgbClr val="BFBFBF"/>
                      </a:solidFill>
                      <a:prstDash val="solid"/>
                      <a:round/>
                      <a:headEnd len="sm" w="sm" type="none"/>
                      <a:tailEnd len="sm" w="sm" type="none"/>
                    </a:lnB>
                  </a:tcPr>
                </a:tc>
              </a:tr>
            </a:tbl>
          </a:graphicData>
        </a:graphic>
      </p:graphicFrame>
      <p:sp>
        <p:nvSpPr>
          <p:cNvPr id="246" name="Google Shape;246;p41"/>
          <p:cNvSpPr/>
          <p:nvPr/>
        </p:nvSpPr>
        <p:spPr>
          <a:xfrm>
            <a:off x="505579" y="2129549"/>
            <a:ext cx="5918162" cy="52322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800"/>
              <a:buFont typeface="Arial"/>
              <a:buNone/>
            </a:pPr>
            <a:r>
              <a:rPr b="1" i="0" lang="en-US" sz="2800" u="none" cap="none" strike="noStrike">
                <a:solidFill>
                  <a:schemeClr val="dk1"/>
                </a:solidFill>
                <a:latin typeface="Arial"/>
                <a:ea typeface="Arial"/>
                <a:cs typeface="Arial"/>
                <a:sym typeface="Arial"/>
              </a:rPr>
              <a:t>Hours of Recess</a:t>
            </a:r>
            <a:endParaRPr b="0" i="0" sz="1400" u="none" cap="none" strike="noStrike">
              <a:solidFill>
                <a:srgbClr val="000000"/>
              </a:solidFill>
              <a:latin typeface="Arial"/>
              <a:ea typeface="Arial"/>
              <a:cs typeface="Arial"/>
              <a:sym typeface="Arial"/>
            </a:endParaRPr>
          </a:p>
        </p:txBody>
      </p:sp>
      <p:sp>
        <p:nvSpPr>
          <p:cNvPr id="247"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5 / 66</a:t>
            </a:r>
          </a:p>
        </p:txBody>
      </p:sp>
      <p:sp xmlns:p="http://schemas.openxmlformats.org/presentationml/2006/main" xmlns:a="http://schemas.openxmlformats.org/drawingml/2006/main">
        <p:nvSpPr>
          <p:cNvPr id="248" name="TEACH-embedded-student-prompt" descr="Student thinking and response directions"/>
          <p:cNvSpPr txBox="1"/>
          <p:nvPr/>
        </p:nvSpPr>
        <p:spPr>
          <a:xfrm>
            <a:off x="594360" y="5815584"/>
            <a:ext cx="1109472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Think and record first. Which part of your work supports your answer?</a:t>
            </a:r>
            <a:endParaRPr lang="en-US" sz="20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6" name="Shape 336"/>
        <p:cNvGrpSpPr/>
        <p:nvPr/>
      </p:nvGrpSpPr>
      <p:grpSpPr>
        <a:xfrm>
          <a:off x="0" y="0"/>
          <a:ext cx="0" cy="0"/>
          <a:chOff x="0" y="0"/>
          <a:chExt cx="0" cy="0"/>
        </a:xfrm>
      </p:grpSpPr>
      <p:sp>
        <p:nvSpPr>
          <p:cNvPr id="337" name="Google Shape;337;p44"/>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38" name="Google Shape;338;p44"/>
          <p:cNvSpPr/>
          <p:nvPr/>
        </p:nvSpPr>
        <p:spPr>
          <a:xfrm>
            <a:off x="0" y="0"/>
            <a:ext cx="12191969" cy="713232"/>
          </a:xfrm>
          <a:prstGeom prst="rect">
            <a:avLst/>
          </a:prstGeom>
          <a:solidFill>
            <a:srgbClr val="0F766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39" name="Google Shape;339;p44"/>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2000" u="none" cap="none" strike="noStrike">
                <a:solidFill>
                  <a:srgbClr val="FFFFFF"/>
                </a:solidFill>
                <a:latin typeface="Arial"/>
                <a:ea typeface="Arial"/>
                <a:cs typeface="Arial"/>
                <a:sym typeface="Arial"/>
              </a:rPr>
              <a:t>Today’s Objectives</a:t>
            </a:r>
            <a:endParaRPr/>
          </a:p>
        </p:txBody>
      </p:sp>
      <p:sp>
        <p:nvSpPr>
          <p:cNvPr id="340" name="Google Shape;340;p44"/>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defRPr/>
            </a:pPr>
            <a:r>
              <a:rPr b="0" i="0" lang="en-US" sz="1200" u="none" cap="none" strike="noStrike">
                <a:solidFill>
                  <a:srgbClr val="FFFFFF"/>
                </a:solidFill>
                <a:latin typeface="Arial"/>
                <a:ea typeface="Arial"/>
                <a:cs typeface="Arial"/>
                <a:sym typeface="Arial"/>
              </a:rPr>
              <a:t>Lesson 5-1 · Determine the Area of Parallelograms and Rhombuses</a:t>
            </a:r>
            <a:endParaRPr/>
          </a:p>
        </p:txBody>
      </p:sp>
      <p:sp>
        <p:nvSpPr>
          <p:cNvPr id="341" name="Google Shape;341;p44"/>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42" name="Google Shape;342;p44"/>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0" i="0" lang="en-US" sz="1000" u="none" cap="none" strike="noStrike">
                <a:solidFill>
                  <a:srgbClr val="475569"/>
                </a:solidFill>
                <a:latin typeface="Arial"/>
                <a:ea typeface="Arial"/>
                <a:cs typeface="Arial"/>
                <a:sym typeface="Arial"/>
              </a:rPr>
              <a:t>eduwonderlab.com  ·  Neft Teacher</a:t>
            </a:r>
            <a:endParaRPr/>
          </a:p>
        </p:txBody>
      </p:sp>
      <p:sp>
        <p:nvSpPr>
          <p:cNvPr id="343" name="Google Shape;343;p44"/>
          <p:cNvSpPr txBox="1"/>
          <p:nvPr/>
        </p:nvSpPr>
        <p:spPr>
          <a:xfrm>
            <a:off x="640080" y="969264"/>
            <a:ext cx="10911809" cy="560832"/>
          </a:xfrm>
          <a:prstGeom prst="rect">
            <a:avLst/>
          </a:prstGeom>
          <a:noFill/>
          <a:ln>
            <a:noFill/>
          </a:ln>
        </p:spPr>
        <p:txBody>
          <a:bodyPr anchorCtr="0" anchor="t" bIns="0" lIns="0" spcFirstLastPara="1" rIns="0" wrap="square" tIns="0">
            <a:spAutoFit/>
          </a:bodyPr>
          <a:lstStyle/>
          <a:p>
            <a:pPr indent="0" lvl="0" marL="0" marR="0" rtl="0" algn="l">
              <a:lnSpc>
                <a:spcPct val="112000"/>
              </a:lnSpc>
              <a:spcBef>
                <a:spcPts val="0"/>
              </a:spcBef>
              <a:spcAft>
                <a:spcPts val="0"/>
              </a:spcAft>
              <a:buNone/>
              <a:defRPr/>
            </a:pPr>
            <a:r>
              <a:rPr b="1" i="0" lang="en-US" sz="3300" u="none" cap="none" strike="noStrike">
                <a:solidFill>
                  <a:srgbClr val="14223A"/>
                </a:solidFill>
                <a:latin typeface="Arial"/>
                <a:ea typeface="Arial"/>
                <a:cs typeface="Arial"/>
                <a:sym typeface="Arial"/>
              </a:rPr>
              <a:t>Determine the Area of Parallelograms and Rhombuses</a:t>
            </a:r>
            <a:endParaRPr/>
          </a:p>
        </p:txBody>
      </p:sp>
      <p:sp>
        <p:nvSpPr>
          <p:cNvPr id="344" name="Google Shape;344;p44"/>
          <p:cNvSpPr txBox="1"/>
          <p:nvPr/>
        </p:nvSpPr>
        <p:spPr>
          <a:xfrm>
            <a:off x="640080" y="1566672"/>
            <a:ext cx="10911809"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400" u="none" cap="none" strike="noStrike">
                <a:solidFill>
                  <a:srgbClr val="475569"/>
                </a:solidFill>
                <a:latin typeface="Arial"/>
                <a:ea typeface="Arial"/>
                <a:cs typeface="Arial"/>
                <a:sym typeface="Arial"/>
              </a:rPr>
              <a:t>Maryland Standard 6.GR.1</a:t>
            </a:r>
            <a:endParaRPr/>
          </a:p>
        </p:txBody>
      </p:sp>
      <p:sp>
        <p:nvSpPr>
          <p:cNvPr id="345" name="Google Shape;345;p44"/>
          <p:cNvSpPr/>
          <p:nvPr/>
        </p:nvSpPr>
        <p:spPr>
          <a:xfrm>
            <a:off x="640080" y="2432304"/>
            <a:ext cx="5349240" cy="3621024"/>
          </a:xfrm>
          <a:prstGeom prst="roundRect">
            <a:avLst>
              <a:gd fmla="val 4500" name="adj"/>
            </a:avLst>
          </a:prstGeom>
          <a:solidFill>
            <a:srgbClr val="E3F2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46" name="Google Shape;346;p44"/>
          <p:cNvSpPr/>
          <p:nvPr/>
        </p:nvSpPr>
        <p:spPr>
          <a:xfrm>
            <a:off x="640080" y="2432304"/>
            <a:ext cx="118872" cy="3621024"/>
          </a:xfrm>
          <a:prstGeom prst="rect">
            <a:avLst/>
          </a:prstGeom>
          <a:solidFill>
            <a:srgbClr val="0F766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47" name="Google Shape;347;p44"/>
          <p:cNvSpPr txBox="1"/>
          <p:nvPr/>
        </p:nvSpPr>
        <p:spPr>
          <a:xfrm>
            <a:off x="1097280" y="2798064"/>
            <a:ext cx="4480559"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400" u="none" cap="none" strike="noStrike">
                <a:solidFill>
                  <a:srgbClr val="0F766E"/>
                </a:solidFill>
                <a:latin typeface="Arial"/>
                <a:ea typeface="Arial"/>
                <a:cs typeface="Arial"/>
                <a:sym typeface="Arial"/>
              </a:rPr>
              <a:t>CONTENT OBJECTIVE</a:t>
            </a:r>
            <a:endParaRPr/>
          </a:p>
        </p:txBody>
      </p:sp>
      <p:sp>
        <p:nvSpPr>
          <p:cNvPr id="348" name="Google Shape;348;p44"/>
          <p:cNvSpPr txBox="1"/>
          <p:nvPr/>
        </p:nvSpPr>
        <p:spPr>
          <a:xfrm>
            <a:off x="1097280" y="3127248"/>
            <a:ext cx="448055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0" i="1" lang="en-US" sz="1400" u="none" cap="none" strike="noStrike">
                <a:solidFill>
                  <a:srgbClr val="475569"/>
                </a:solidFill>
                <a:latin typeface="Arial"/>
                <a:ea typeface="Arial"/>
                <a:cs typeface="Arial"/>
                <a:sym typeface="Arial"/>
              </a:rPr>
              <a:t>Restate the goal in your words</a:t>
            </a:r>
            <a:endParaRPr/>
          </a:p>
        </p:txBody>
      </p:sp>
      <p:sp>
        <p:nvSpPr>
          <p:cNvPr id="349" name="Google Shape;349;p44"/>
          <p:cNvSpPr txBox="1"/>
          <p:nvPr/>
        </p:nvSpPr>
        <p:spPr>
          <a:xfrm>
            <a:off x="1097280" y="3602736"/>
            <a:ext cx="4480559" cy="2048256"/>
          </a:xfrm>
          <a:prstGeom prst="rect">
            <a:avLst/>
          </a:prstGeom>
          <a:noFill/>
          <a:ln>
            <a:noFill/>
          </a:ln>
        </p:spPr>
        <p:txBody>
          <a:bodyPr anchorCtr="0" anchor="t" bIns="0" lIns="0" spcFirstLastPara="1" rIns="0" wrap="square" tIns="0">
            <a:spAutoFit/>
          </a:bodyPr>
          <a:lstStyle/>
          <a:p>
            <a:pPr indent="0" lvl="0" marL="0" marR="0" rtl="0" algn="l">
              <a:lnSpc>
                <a:spcPct val="124000"/>
              </a:lnSpc>
              <a:spcBef>
                <a:spcPts val="0"/>
              </a:spcBef>
              <a:spcAft>
                <a:spcPts val="0"/>
              </a:spcAft>
              <a:buNone/>
              <a:defRPr/>
            </a:pPr>
            <a:r>
              <a:rPr b="1" i="0" lang="en-US" sz="2500" u="none" cap="none" strike="noStrike">
                <a:solidFill>
                  <a:srgbClr val="14223A"/>
                </a:solidFill>
                <a:latin typeface="Arial"/>
                <a:ea typeface="Arial"/>
                <a:cs typeface="Arial"/>
                <a:sym typeface="Arial"/>
              </a:rPr>
              <a:t>I can find the area of a parallelogram using base × height.</a:t>
            </a:r>
            <a:endParaRPr/>
          </a:p>
        </p:txBody>
      </p:sp>
      <p:sp>
        <p:nvSpPr>
          <p:cNvPr id="350" name="Google Shape;350;p44"/>
          <p:cNvSpPr/>
          <p:nvPr/>
        </p:nvSpPr>
        <p:spPr>
          <a:xfrm>
            <a:off x="6382512" y="2432304"/>
            <a:ext cx="5349240" cy="3621024"/>
          </a:xfrm>
          <a:prstGeom prst="roundRect">
            <a:avLst>
              <a:gd fmla="val 4500" name="adj"/>
            </a:avLst>
          </a:prstGeom>
          <a:solidFill>
            <a:srgbClr val="FDEEE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51" name="Google Shape;351;p44"/>
          <p:cNvSpPr/>
          <p:nvPr/>
        </p:nvSpPr>
        <p:spPr>
          <a:xfrm>
            <a:off x="6382512" y="2432304"/>
            <a:ext cx="118872" cy="3621024"/>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52" name="Google Shape;352;p44"/>
          <p:cNvSpPr txBox="1"/>
          <p:nvPr/>
        </p:nvSpPr>
        <p:spPr>
          <a:xfrm>
            <a:off x="6839712" y="2798064"/>
            <a:ext cx="4480559"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400" u="none" cap="none" strike="noStrike">
                <a:solidFill>
                  <a:srgbClr val="C2410C"/>
                </a:solidFill>
                <a:latin typeface="Arial"/>
                <a:ea typeface="Arial"/>
                <a:cs typeface="Arial"/>
                <a:sym typeface="Arial"/>
              </a:rPr>
              <a:t>LANGUAGE OBJECTIVE</a:t>
            </a:r>
            <a:endParaRPr/>
          </a:p>
        </p:txBody>
      </p:sp>
      <p:sp>
        <p:nvSpPr>
          <p:cNvPr id="353" name="Google Shape;353;p44"/>
          <p:cNvSpPr txBox="1"/>
          <p:nvPr/>
        </p:nvSpPr>
        <p:spPr>
          <a:xfrm>
            <a:off x="6839712" y="3127248"/>
            <a:ext cx="448055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0" i="1" lang="en-US" sz="1400" u="none" cap="none" strike="noStrike">
                <a:solidFill>
                  <a:srgbClr val="475569"/>
                </a:solidFill>
                <a:latin typeface="Arial"/>
                <a:ea typeface="Arial"/>
                <a:cs typeface="Arial"/>
                <a:sym typeface="Arial"/>
              </a:rPr>
              <a:t>Use these words to explain why</a:t>
            </a:r>
            <a:endParaRPr/>
          </a:p>
        </p:txBody>
      </p:sp>
      <p:sp>
        <p:nvSpPr>
          <p:cNvPr id="354" name="Google Shape;354;p44"/>
          <p:cNvSpPr txBox="1"/>
          <p:nvPr/>
        </p:nvSpPr>
        <p:spPr>
          <a:xfrm>
            <a:off x="6839712" y="3602736"/>
            <a:ext cx="4480559" cy="2048256"/>
          </a:xfrm>
          <a:prstGeom prst="rect">
            <a:avLst/>
          </a:prstGeom>
          <a:noFill/>
          <a:ln>
            <a:noFill/>
          </a:ln>
        </p:spPr>
        <p:txBody>
          <a:bodyPr anchorCtr="0" anchor="t" bIns="0" lIns="0" spcFirstLastPara="1" rIns="0" wrap="square" tIns="0">
            <a:spAutoFit/>
          </a:bodyPr>
          <a:lstStyle/>
          <a:p>
            <a:pPr indent="0" lvl="0" marL="0" marR="0" rtl="0" algn="l">
              <a:lnSpc>
                <a:spcPct val="124000"/>
              </a:lnSpc>
              <a:spcBef>
                <a:spcPts val="0"/>
              </a:spcBef>
              <a:spcAft>
                <a:spcPts val="0"/>
              </a:spcAft>
              <a:buNone/>
              <a:defRPr/>
            </a:pPr>
            <a:r>
              <a:rPr b="1" i="0" lang="en-US" sz="2500" u="none" cap="none" strike="noStrike">
                <a:solidFill>
                  <a:srgbClr val="14223A"/>
                </a:solidFill>
                <a:latin typeface="Arial"/>
                <a:ea typeface="Arial"/>
                <a:cs typeface="Arial"/>
                <a:sym typeface="Arial"/>
              </a:rPr>
              <a:t>I can explain how I found the area using the words base, height, area, and formula.</a:t>
            </a:r>
            <a:endParaRPr/>
          </a:p>
        </p:txBody>
      </p:sp>
      <p:sp>
        <p:nvSpPr>
          <p:cNvPr id="355"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6 / 66</a:t>
            </a:r>
          </a:p>
        </p:txBody>
      </p:sp>
      <p:grpSp>
        <p:nvGrpSpPr>
          <p:cNvPr id="356" name="TEACH-1-student-move" descr="TEACH 1 · Facilitate clear, standards-based content learning"/>
          <p:cNvGrpSpPr/>
          <p:nvPr/>
        </p:nvGrpSpPr>
        <p:grpSpPr>
          <a:xfrm>
            <a:off x="502920" y="1993392"/>
            <a:ext cx="11186160" cy="402336"/>
            <a:chOff x="502920" y="1993392"/>
            <a:chExt cx="11186160" cy="402336"/>
          </a:xfrm>
        </p:grpSpPr>
        <p:sp>
          <p:nvSpPr>
            <p:cNvPr id="357" name="TEACH-move-card"/>
            <p:cNvSpPr/>
            <p:nvPr/>
          </p:nvSpPr>
          <p:spPr>
            <a:xfrm>
              <a:off x="502920" y="1993392"/>
              <a:ext cx="11186160" cy="402336"/>
            </a:xfrm>
            <a:prstGeom prst="roundRect">
              <a:avLst>
                <a:gd name="adj" fmla="val 16000"/>
              </a:avLst>
            </a:prstGeom>
            <a:solidFill>
              <a:srgbClr val="E4F0F5"/>
            </a:solidFill>
            <a:ln w="19050">
              <a:solidFill>
                <a:srgbClr val="8CB8C7"/>
              </a:solidFill>
            </a:ln>
          </p:spPr>
          <p:txBody>
            <a:bodyPr/>
            <a:lstStyle/>
            <a:p>
              <a:endParaRPr/>
            </a:p>
          </p:txBody>
        </p:sp>
        <p:sp>
          <p:nvSpPr>
            <p:cNvPr id="358" name="TEACH-move-rule"/>
            <p:cNvSpPr/>
            <p:nvPr/>
          </p:nvSpPr>
          <p:spPr>
            <a:xfrm>
              <a:off x="548640" y="2069836"/>
              <a:ext cx="100584" cy="249448"/>
            </a:xfrm>
            <a:prstGeom prst="roundRect">
              <a:avLst>
                <a:gd name="adj" fmla="val 50000"/>
              </a:avLst>
            </a:prstGeom>
            <a:solidFill>
              <a:srgbClr val="01708C"/>
            </a:solidFill>
            <a:ln>
              <a:noFill/>
            </a:ln>
          </p:spPr>
          <p:txBody>
            <a:bodyPr/>
            <a:lstStyle/>
            <a:p>
              <a:endParaRPr/>
            </a:p>
          </p:txBody>
        </p:sp>
        <p:sp>
          <p:nvSpPr>
            <p:cNvPr id="359" name="TEACH-move-text"/>
            <p:cNvSpPr txBox="1"/>
            <p:nvPr/>
          </p:nvSpPr>
          <p:spPr>
            <a:xfrm>
              <a:off x="822960" y="1993392"/>
              <a:ext cx="1072896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CONNECT IT  ·  </a:t>
              </a:r>
              <a:r>
                <a:rPr lang="en-US" sz="1200" dirty="0">
                  <a:solidFill>
                    <a:srgbClr val="13303A"/>
                  </a:solidFill>
                  <a:latin typeface="Arial"/>
                </a:rPr>
                <a:t>What earlier lesson does this build on? Tell a partner in one sentence.</a:t>
              </a:r>
              <a:endParaRPr lang="en-US" sz="1200"/>
            </a:p>
          </p:txBody>
        </p:sp>
      </p:gr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showMasterSp="0" show="1">
  <p:cSld>
    <p:bg>
      <p:bgPr>
        <a:solidFill>
          <a:srgbClr val="FFFFFF"/>
        </a:solidFill>
        <a:effectLst/>
      </p:bgPr>
    </p:bg>
    <p:spTree>
      <p:nvGrpSpPr>
        <p:cNvPr id="1" name=""/>
        <p:cNvGrpSpPr/>
        <p:nvPr/>
      </p:nvGrpSpPr>
      <p:grpSpPr/>
      <p:sp>
        <p:nvSpPr>
          <p:cNvPr id="2" name="TextBox 1"/>
          <p:cNvSpPr txBox="1"/>
          <p:nvPr/>
        </p:nvSpPr>
        <p:spPr>
          <a:xfrm>
            <a:off x="594360" y="347472"/>
            <a:ext cx="10972800" cy="301752"/>
          </a:xfrm>
          <a:prstGeom prst="rect">
            <a:avLst/>
          </a:prstGeom>
          <a:noFill/>
        </p:spPr>
        <p:txBody>
          <a:bodyPr wrap="square" lIns="0" rIns="0" tIns="22860" bIns="0">
            <a:spAutoFit/>
          </a:bodyPr>
          <a:lstStyle/>
          <a:p>
            <a:pPr>
              <a:spcAft>
                <a:spcPts val="800"/>
              </a:spcAft>
              <a:defRPr sz="1300" b="1">
                <a:solidFill>
                  <a:srgbClr val="096B69"/>
                </a:solidFill>
                <a:latin typeface="Arial"/>
              </a:defRPr>
            </a:pPr>
            <a:r>
              <a:rPr/>
              <a:t>LESSON 5.1  /  OUR LEARNING</a:t>
            </a:r>
          </a:p>
        </p:txBody>
      </p:sp>
      <p:sp>
        <p:nvSpPr>
          <p:cNvPr id="3" name="TextBox 2"/>
          <p:cNvSpPr txBox="1"/>
          <p:nvPr/>
        </p:nvSpPr>
        <p:spPr>
          <a:xfrm>
            <a:off x="594360" y="914400"/>
            <a:ext cx="10972800" cy="640080"/>
          </a:xfrm>
          <a:prstGeom prst="rect">
            <a:avLst/>
          </a:prstGeom>
          <a:noFill/>
        </p:spPr>
        <p:txBody>
          <a:bodyPr wrap="square" lIns="0" rIns="0" tIns="22860" bIns="0">
            <a:spAutoFit/>
          </a:bodyPr>
          <a:lstStyle/>
          <a:p>
            <a:pPr>
              <a:spcAft>
                <a:spcPts val="800"/>
              </a:spcAft>
              <a:defRPr sz="3600" b="1">
                <a:solidFill>
                  <a:srgbClr val="173451"/>
                </a:solidFill>
                <a:latin typeface="Arial"/>
              </a:defRPr>
            </a:pPr>
            <a:r>
              <a:rPr/>
              <a:t>What will show your learning?</a:t>
            </a:r>
          </a:p>
        </p:txBody>
      </p:sp>
      <p:sp>
        <p:nvSpPr>
          <p:cNvPr id="4" name="TextBox 3"/>
          <p:cNvSpPr txBox="1"/>
          <p:nvPr/>
        </p:nvSpPr>
        <p:spPr>
          <a:xfrm>
            <a:off x="594360" y="6263640"/>
            <a:ext cx="10789920" cy="274320"/>
          </a:xfrm>
          <a:prstGeom prst="rect">
            <a:avLst/>
          </a:prstGeom>
          <a:noFill/>
        </p:spPr>
        <p:txBody>
          <a:bodyPr wrap="square" lIns="0" rIns="0" tIns="22860" bIns="0">
            <a:spAutoFit/>
          </a:bodyPr>
          <a:lstStyle/>
          <a:p>
            <a:pPr>
              <a:spcAft>
                <a:spcPts val="800"/>
              </a:spcAft>
              <a:defRPr sz="1300" b="0">
                <a:solidFill>
                  <a:srgbClr val="506478"/>
                </a:solidFill>
                <a:latin typeface="Arial"/>
              </a:defRPr>
            </a:pPr>
            <a:r>
              <a:rPr/>
              <a:t>Listen to understand. Ask for evidence. Make room for every voice.</a:t>
            </a:r>
          </a:p>
        </p:txBody>
      </p:sp>
      <p:sp>
        <p:nvSpPr>
          <p:cNvPr id="5" name="Oval 4"/>
          <p:cNvSpPr/>
          <p:nvPr/>
        </p:nvSpPr>
        <p:spPr>
          <a:xfrm>
            <a:off x="640080" y="1874519"/>
            <a:ext cx="502920" cy="502920"/>
          </a:xfrm>
          <a:prstGeom prst="ellipse">
            <a:avLst/>
          </a:prstGeom>
          <a:solidFill>
            <a:srgbClr val="096B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95528" y="1929384"/>
            <a:ext cx="219456" cy="338328"/>
          </a:xfrm>
          <a:prstGeom prst="rect">
            <a:avLst/>
          </a:prstGeom>
          <a:noFill/>
        </p:spPr>
        <p:txBody>
          <a:bodyPr wrap="square" lIns="0" rIns="0" tIns="22860" bIns="0">
            <a:spAutoFit/>
          </a:bodyPr>
          <a:lstStyle/>
          <a:p>
            <a:pPr>
              <a:spcAft>
                <a:spcPts val="800"/>
              </a:spcAft>
              <a:defRPr sz="2000" b="1">
                <a:solidFill>
                  <a:srgbClr val="FFFFFF"/>
                </a:solidFill>
                <a:latin typeface="Arial"/>
              </a:defRPr>
            </a:pPr>
            <a:r>
              <a:rPr/>
              <a:t>1</a:t>
            </a:r>
          </a:p>
        </p:txBody>
      </p:sp>
      <p:sp>
        <p:nvSpPr>
          <p:cNvPr id="7" name="TextBox 6"/>
          <p:cNvSpPr txBox="1"/>
          <p:nvPr/>
        </p:nvSpPr>
        <p:spPr>
          <a:xfrm>
            <a:off x="1399032" y="1856231"/>
            <a:ext cx="10012680" cy="841248"/>
          </a:xfrm>
          <a:prstGeom prst="rect">
            <a:avLst/>
          </a:prstGeom>
          <a:noFill/>
        </p:spPr>
        <p:txBody>
          <a:bodyPr wrap="square" lIns="0" rIns="0" tIns="22860" bIns="0">
            <a:spAutoFit/>
          </a:bodyPr>
          <a:lstStyle/>
          <a:p>
            <a:pPr>
              <a:spcAft>
                <a:spcPts val="800"/>
              </a:spcAft>
              <a:defRPr sz="2500" b="0">
                <a:solidFill>
                  <a:srgbClr val="24384B"/>
                </a:solidFill>
                <a:latin typeface="Arial"/>
              </a:defRPr>
            </a:pPr>
            <a:r>
              <a:rPr/>
              <a:t>Identify base and perpendicular height.</a:t>
            </a:r>
          </a:p>
        </p:txBody>
      </p:sp>
      <p:sp>
        <p:nvSpPr>
          <p:cNvPr id="8" name="Oval 7"/>
          <p:cNvSpPr/>
          <p:nvPr/>
        </p:nvSpPr>
        <p:spPr>
          <a:xfrm>
            <a:off x="640080" y="2862072"/>
            <a:ext cx="502920" cy="502920"/>
          </a:xfrm>
          <a:prstGeom prst="ellipse">
            <a:avLst/>
          </a:prstGeom>
          <a:solidFill>
            <a:srgbClr val="096B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95528" y="2916936"/>
            <a:ext cx="219456" cy="338328"/>
          </a:xfrm>
          <a:prstGeom prst="rect">
            <a:avLst/>
          </a:prstGeom>
          <a:noFill/>
        </p:spPr>
        <p:txBody>
          <a:bodyPr wrap="square" lIns="0" rIns="0" tIns="22860" bIns="0">
            <a:spAutoFit/>
          </a:bodyPr>
          <a:lstStyle/>
          <a:p>
            <a:pPr>
              <a:spcAft>
                <a:spcPts val="800"/>
              </a:spcAft>
              <a:defRPr sz="2000" b="1">
                <a:solidFill>
                  <a:srgbClr val="FFFFFF"/>
                </a:solidFill>
                <a:latin typeface="Arial"/>
              </a:defRPr>
            </a:pPr>
            <a:r>
              <a:rPr/>
              <a:t>2</a:t>
            </a:r>
          </a:p>
        </p:txBody>
      </p:sp>
      <p:sp>
        <p:nvSpPr>
          <p:cNvPr id="10" name="TextBox 9"/>
          <p:cNvSpPr txBox="1"/>
          <p:nvPr/>
        </p:nvSpPr>
        <p:spPr>
          <a:xfrm>
            <a:off x="1399032" y="2843784"/>
            <a:ext cx="10012680" cy="841248"/>
          </a:xfrm>
          <a:prstGeom prst="rect">
            <a:avLst/>
          </a:prstGeom>
          <a:noFill/>
        </p:spPr>
        <p:txBody>
          <a:bodyPr wrap="square" lIns="0" rIns="0" tIns="22860" bIns="0">
            <a:spAutoFit/>
          </a:bodyPr>
          <a:lstStyle/>
          <a:p>
            <a:pPr>
              <a:spcAft>
                <a:spcPts val="800"/>
              </a:spcAft>
              <a:defRPr sz="2500" b="0">
                <a:solidFill>
                  <a:srgbClr val="24384B"/>
                </a:solidFill>
                <a:latin typeface="Arial"/>
              </a:defRPr>
            </a:pPr>
            <a:r>
              <a:rPr/>
              <a:t>Connect rearrangement to base times height.</a:t>
            </a:r>
          </a:p>
        </p:txBody>
      </p:sp>
      <p:sp>
        <p:nvSpPr>
          <p:cNvPr id="11" name="Oval 10"/>
          <p:cNvSpPr/>
          <p:nvPr/>
        </p:nvSpPr>
        <p:spPr>
          <a:xfrm>
            <a:off x="640080" y="3849624"/>
            <a:ext cx="502920" cy="502920"/>
          </a:xfrm>
          <a:prstGeom prst="ellipse">
            <a:avLst/>
          </a:prstGeom>
          <a:solidFill>
            <a:srgbClr val="096B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95528" y="3904487"/>
            <a:ext cx="219456" cy="338328"/>
          </a:xfrm>
          <a:prstGeom prst="rect">
            <a:avLst/>
          </a:prstGeom>
          <a:noFill/>
        </p:spPr>
        <p:txBody>
          <a:bodyPr wrap="square" lIns="0" rIns="0" tIns="22860" bIns="0">
            <a:spAutoFit/>
          </a:bodyPr>
          <a:lstStyle/>
          <a:p>
            <a:pPr>
              <a:spcAft>
                <a:spcPts val="800"/>
              </a:spcAft>
              <a:defRPr sz="2000" b="1">
                <a:solidFill>
                  <a:srgbClr val="FFFFFF"/>
                </a:solidFill>
                <a:latin typeface="Arial"/>
              </a:defRPr>
            </a:pPr>
            <a:r>
              <a:rPr/>
              <a:t>3</a:t>
            </a:r>
          </a:p>
        </p:txBody>
      </p:sp>
      <p:sp>
        <p:nvSpPr>
          <p:cNvPr id="13" name="TextBox 12"/>
          <p:cNvSpPr txBox="1"/>
          <p:nvPr/>
        </p:nvSpPr>
        <p:spPr>
          <a:xfrm>
            <a:off x="1399032" y="3831336"/>
            <a:ext cx="10012680" cy="841248"/>
          </a:xfrm>
          <a:prstGeom prst="rect">
            <a:avLst/>
          </a:prstGeom>
          <a:noFill/>
        </p:spPr>
        <p:txBody>
          <a:bodyPr wrap="square" lIns="0" rIns="0" tIns="22860" bIns="0">
            <a:spAutoFit/>
          </a:bodyPr>
          <a:lstStyle/>
          <a:p>
            <a:pPr>
              <a:spcAft>
                <a:spcPts val="800"/>
              </a:spcAft>
              <a:defRPr sz="2500" b="0">
                <a:solidFill>
                  <a:srgbClr val="24384B"/>
                </a:solidFill>
                <a:latin typeface="Arial"/>
              </a:defRPr>
            </a:pPr>
            <a:r>
              <a:rPr/>
              <a:t>Label square units.</a:t>
            </a:r>
          </a:p>
        </p:txBody>
      </p:sp>
      <p:sp>
        <p:nvSpPr>
          <p:cNvPr id="14" name="Rounded Rectangle 13"/>
          <p:cNvSpPr/>
          <p:nvPr/>
        </p:nvSpPr>
        <p:spPr>
          <a:xfrm>
            <a:off x="594360" y="5120640"/>
            <a:ext cx="10972800" cy="822960"/>
          </a:xfrm>
          <a:prstGeom prst="roundRect">
            <a:avLst/>
          </a:prstGeom>
          <a:solidFill>
            <a:srgbClr val="EDF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50392" y="5303520"/>
            <a:ext cx="10469880" cy="438912"/>
          </a:xfrm>
          <a:prstGeom prst="rect">
            <a:avLst/>
          </a:prstGeom>
          <a:noFill/>
        </p:spPr>
        <p:txBody>
          <a:bodyPr wrap="square" lIns="0" rIns="0" tIns="22860" bIns="0">
            <a:spAutoFit/>
          </a:bodyPr>
          <a:lstStyle/>
          <a:p>
            <a:pPr>
              <a:spcAft>
                <a:spcPts val="800"/>
              </a:spcAft>
              <a:defRPr sz="2200" b="0">
                <a:solidFill>
                  <a:srgbClr val="096B69"/>
                </a:solidFill>
                <a:latin typeface="Arial"/>
              </a:defRPr>
            </a:pPr>
            <a:r>
              <a:rPr/>
              <a:t>Tell a partner: Which skill connects to something you already know?</a:t>
            </a:r>
          </a:p>
        </p:txBody>
      </p:sp>
      <p:grpSp>
        <p:nvGrpSpPr>
          <p:cNvPr id="16" name="TEACH-1-student-move" descr="TEACH 1 · Facilitate clear, standards-based content learning"/>
          <p:cNvGrpSpPr/>
          <p:nvPr/>
        </p:nvGrpSpPr>
        <p:grpSpPr>
          <a:xfrm>
            <a:off x="502920" y="5824728"/>
            <a:ext cx="11186160" cy="402336"/>
            <a:chOff x="502920" y="5824728"/>
            <a:chExt cx="11186160" cy="402336"/>
          </a:xfrm>
        </p:grpSpPr>
        <p:sp>
          <p:nvSpPr>
            <p:cNvPr id="17" name="TEACH-move-card"/>
            <p:cNvSpPr/>
            <p:nvPr/>
          </p:nvSpPr>
          <p:spPr>
            <a:xfrm>
              <a:off x="502920" y="5824728"/>
              <a:ext cx="11186160" cy="402336"/>
            </a:xfrm>
            <a:prstGeom prst="roundRect">
              <a:avLst>
                <a:gd name="adj" fmla="val 16000"/>
              </a:avLst>
            </a:prstGeom>
            <a:solidFill>
              <a:srgbClr val="E4F0F5"/>
            </a:solidFill>
            <a:ln w="19050">
              <a:solidFill>
                <a:srgbClr val="8CB8C7"/>
              </a:solidFill>
            </a:ln>
          </p:spPr>
          <p:txBody>
            <a:bodyPr/>
            <a:lstStyle/>
            <a:p>
              <a:endParaRPr/>
            </a:p>
          </p:txBody>
        </p:sp>
        <p:sp>
          <p:nvSpPr>
            <p:cNvPr id="18" name="TEACH-move-rule"/>
            <p:cNvSpPr/>
            <p:nvPr/>
          </p:nvSpPr>
          <p:spPr>
            <a:xfrm>
              <a:off x="548640" y="5901172"/>
              <a:ext cx="100584" cy="249448"/>
            </a:xfrm>
            <a:prstGeom prst="roundRect">
              <a:avLst>
                <a:gd name="adj" fmla="val 50000"/>
              </a:avLst>
            </a:prstGeom>
            <a:solidFill>
              <a:srgbClr val="01708C"/>
            </a:solidFill>
            <a:ln>
              <a:noFill/>
            </a:ln>
          </p:spPr>
          <p:txBody>
            <a:bodyPr/>
            <a:lstStyle/>
            <a:p>
              <a:endParaRPr/>
            </a:p>
          </p:txBody>
        </p:sp>
        <p:sp>
          <p:nvSpPr>
            <p:cNvPr id="19" name="TEACH-move-text"/>
            <p:cNvSpPr txBox="1"/>
            <p:nvPr/>
          </p:nvSpPr>
          <p:spPr>
            <a:xfrm>
              <a:off x="822960" y="5824728"/>
              <a:ext cx="1072896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SHOW YOUR THINKING  ·  </a:t>
              </a:r>
              <a:r>
                <a:rPr lang="en-US" sz="1200" dirty="0">
                  <a:solidFill>
                    <a:srgbClr val="13303A"/>
                  </a:solidFill>
                  <a:latin typeface="Arial"/>
                </a:rPr>
                <a:t>Show what you know — write it, draw it, or build it. A picture counts as an explanation.</a:t>
              </a:r>
              <a:endParaRPr lang="en-US" sz="1200"/>
            </a:p>
          </p:txBody>
        </p:sp>
      </p:gr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11" name="Google Shape;411;p46"/>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12" name="Google Shape;412;p46"/>
          <p:cNvSpPr/>
          <p:nvPr/>
        </p:nvSpPr>
        <p:spPr>
          <a:xfrm>
            <a:off x="0" y="0"/>
            <a:ext cx="12191969" cy="713232"/>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13" name="Google Shape;413;p46"/>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2000" u="none" cap="none" strike="noStrike">
                <a:solidFill>
                  <a:srgbClr val="FFFFFF"/>
                </a:solidFill>
                <a:latin typeface="Arial"/>
                <a:ea typeface="Arial"/>
                <a:cs typeface="Arial"/>
                <a:sym typeface="Arial"/>
              </a:rPr>
              <a:t>Vocabulary  1 of 10</a:t>
            </a:r>
            <a:endParaRPr/>
          </a:p>
        </p:txBody>
      </p:sp>
      <p:sp>
        <p:nvSpPr>
          <p:cNvPr id="414" name="Google Shape;414;p46"/>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pPr>
            <a:r>
              <a:rPr b="0" i="0" lang="en-US" sz="1200" u="none" cap="none" strike="noStrike">
                <a:solidFill>
                  <a:srgbClr val="FFFFFF"/>
                </a:solidFill>
                <a:latin typeface="Arial"/>
                <a:ea typeface="Arial"/>
                <a:cs typeface="Arial"/>
                <a:sym typeface="Arial"/>
              </a:rPr>
              <a:t>Lesson 5-1 · Determine the Area of Parallelograms and Rhombuses</a:t>
            </a:r>
            <a:endParaRPr/>
          </a:p>
        </p:txBody>
      </p:sp>
      <p:sp>
        <p:nvSpPr>
          <p:cNvPr id="415" name="Google Shape;415;p46"/>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16" name="Google Shape;416;p46"/>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00" u="none" cap="none" strike="noStrike">
                <a:solidFill>
                  <a:srgbClr val="475569"/>
                </a:solidFill>
                <a:latin typeface="Arial"/>
                <a:ea typeface="Arial"/>
                <a:cs typeface="Arial"/>
                <a:sym typeface="Arial"/>
              </a:rPr>
              <a:t>eduwonderlab.com  ·  Neft Teacher</a:t>
            </a:r>
            <a:endParaRPr/>
          </a:p>
        </p:txBody>
      </p:sp>
      <p:sp>
        <p:nvSpPr>
          <p:cNvPr id="417" name="Google Shape;417;p46"/>
          <p:cNvSpPr txBox="1"/>
          <p:nvPr/>
        </p:nvSpPr>
        <p:spPr>
          <a:xfrm>
            <a:off x="640080" y="1914143"/>
            <a:ext cx="5897880" cy="75742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4250" u="none" cap="none" strike="noStrike">
                <a:solidFill>
                  <a:srgbClr val="14223A"/>
                </a:solidFill>
                <a:latin typeface="Arial"/>
                <a:ea typeface="Arial"/>
                <a:cs typeface="Arial"/>
                <a:sym typeface="Arial"/>
              </a:rPr>
              <a:t>Area of Parallelograms</a:t>
            </a:r>
            <a:endParaRPr/>
          </a:p>
        </p:txBody>
      </p:sp>
      <p:sp>
        <p:nvSpPr>
          <p:cNvPr id="418" name="Google Shape;418;p46"/>
          <p:cNvSpPr/>
          <p:nvPr/>
        </p:nvSpPr>
        <p:spPr>
          <a:xfrm>
            <a:off x="658368" y="2726436"/>
            <a:ext cx="2615184" cy="6858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19" name="Google Shape;419;p46"/>
          <p:cNvSpPr txBox="1"/>
          <p:nvPr/>
        </p:nvSpPr>
        <p:spPr>
          <a:xfrm>
            <a:off x="640080" y="3087624"/>
            <a:ext cx="5897880" cy="704088"/>
          </a:xfrm>
          <a:prstGeom prst="rect">
            <a:avLst/>
          </a:prstGeom>
          <a:noFill/>
          <a:ln>
            <a:noFill/>
          </a:ln>
        </p:spPr>
        <p:txBody>
          <a:bodyPr anchorCtr="0" anchor="t" bIns="0" lIns="0" spcFirstLastPara="1" rIns="0" wrap="square" tIns="0">
            <a:spAutoFit/>
          </a:bodyPr>
          <a:lstStyle/>
          <a:p>
            <a:pPr indent="0" lvl="0" marL="0" marR="0" rtl="0" algn="l">
              <a:lnSpc>
                <a:spcPct val="126000"/>
              </a:lnSpc>
              <a:spcBef>
                <a:spcPts val="0"/>
              </a:spcBef>
              <a:spcAft>
                <a:spcPts val="0"/>
              </a:spcAft>
              <a:buNone/>
            </a:pPr>
            <a:r>
              <a:rPr b="0" i="0" lang="en-US" sz="2200" u="none" cap="none" strike="noStrike">
                <a:solidFill>
                  <a:srgbClr val="14223A"/>
                </a:solidFill>
                <a:latin typeface="Arial"/>
                <a:ea typeface="Arial"/>
                <a:cs typeface="Arial"/>
                <a:sym typeface="Arial"/>
              </a:rPr>
              <a:t>The space inside a parallelogram. Formula: A = b × h, using the perpendicular height.</a:t>
            </a:r>
            <a:endParaRPr/>
          </a:p>
        </p:txBody>
      </p:sp>
      <p:sp>
        <p:nvSpPr>
          <p:cNvPr id="420" name="Google Shape;420;p46"/>
          <p:cNvSpPr/>
          <p:nvPr/>
        </p:nvSpPr>
        <p:spPr>
          <a:xfrm>
            <a:off x="640080" y="4212336"/>
            <a:ext cx="5897880" cy="1051560"/>
          </a:xfrm>
          <a:prstGeom prst="roundRect">
            <a:avLst>
              <a:gd fmla="val 7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21" name="Google Shape;421;p46"/>
          <p:cNvSpPr/>
          <p:nvPr/>
        </p:nvSpPr>
        <p:spPr>
          <a:xfrm>
            <a:off x="640080" y="4212336"/>
            <a:ext cx="91440" cy="105156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22" name="Google Shape;422;p46"/>
          <p:cNvSpPr txBox="1"/>
          <p:nvPr/>
        </p:nvSpPr>
        <p:spPr>
          <a:xfrm>
            <a:off x="932688" y="4386072"/>
            <a:ext cx="5330952" cy="2377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150" u="none" cap="none" strike="noStrike">
                <a:solidFill>
                  <a:srgbClr val="C2410C"/>
                </a:solidFill>
                <a:latin typeface="Arial"/>
                <a:ea typeface="Arial"/>
                <a:cs typeface="Arial"/>
                <a:sym typeface="Arial"/>
              </a:rPr>
              <a:t>EXAMPLE · EXPLAIN WHY IT FITS</a:t>
            </a:r>
            <a:endParaRPr/>
          </a:p>
        </p:txBody>
      </p:sp>
      <p:sp>
        <p:nvSpPr>
          <p:cNvPr id="423" name="Google Shape;423;p46"/>
          <p:cNvSpPr txBox="1"/>
          <p:nvPr/>
        </p:nvSpPr>
        <p:spPr>
          <a:xfrm>
            <a:off x="932688" y="4687824"/>
            <a:ext cx="5330952" cy="429767"/>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1700" u="none" cap="none" strike="noStrike">
                <a:solidFill>
                  <a:srgbClr val="14223A"/>
                </a:solidFill>
                <a:latin typeface="Arial"/>
                <a:ea typeface="Arial"/>
                <a:cs typeface="Arial"/>
                <a:sym typeface="Arial"/>
              </a:rPr>
              <a:t>A = b × h; if b = 10 cm and h = 6 cm, A = 60 cm².</a:t>
            </a:r>
            <a:endParaRPr/>
          </a:p>
        </p:txBody>
      </p:sp>
      <p:pic>
        <p:nvPicPr>
          <p:cNvPr descr="area-of-parallelograms.png" id="424" name="Google Shape;424;p46"/>
          <p:cNvPicPr preferRelativeResize="0"/>
          <p:nvPr/>
        </p:nvPicPr>
        <p:blipFill rotWithShape="1">
          <a:blip r:embed="rId2">
            <a:alphaModFix/>
          </a:blip>
          <a:srcRect b="0" l="0" r="0" t="0"/>
          <a:stretch/>
        </p:blipFill>
        <p:spPr>
          <a:xfrm>
            <a:off x="6903720" y="1853738"/>
            <a:ext cx="4572000" cy="3424843"/>
          </a:xfrm>
          <a:prstGeom prst="rect">
            <a:avLst/>
          </a:prstGeom>
          <a:noFill/>
          <a:ln>
            <a:noFill/>
          </a:ln>
        </p:spPr>
      </p:pic>
      <p:sp>
        <p:nvSpPr>
          <p:cNvPr id="333"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8 / 66</a:t>
            </a:r>
          </a:p>
        </p:txBody>
      </p:sp>
      <p:sp xmlns:p="http://schemas.openxmlformats.org/presentationml/2006/main" xmlns:a="http://schemas.openxmlformats.org/drawingml/2006/main">
        <p:nvSpPr>
          <p:cNvPr id="425" name="TEACH-embedded-student-prompt" descr="Student thinking and response directions"/>
          <p:cNvSpPr txBox="1"/>
          <p:nvPr/>
        </p:nvSpPr>
        <p:spPr>
          <a:xfrm>
            <a:off x="4099560" y="5504688"/>
            <a:ext cx="7498080" cy="768096"/>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Use “Area of Parallelograms” to explain the example. Point to</a:t>
            </a:r>
            <a:endParaRPr lang="en-US" sz="2000"/>
          </a:p>
          <a:p>
            <a:pPr>
              <a:lnSpc>
                <a:spcPts val="2400"/>
              </a:lnSpc>
              <a:buNone/>
            </a:pPr>
            <a:r>
              <a:rPr lang="en-US" sz="2000">
                <a:solidFill>
                  <a:srgbClr val="174D60"/>
                </a:solidFill>
                <a:latin typeface="Arial"/>
              </a:rPr>
              <a:t>evidence.</a:t>
            </a:r>
            <a:endParaRPr lang="en-US" sz="2000"/>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29" name="Google Shape;429;p47"/>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30" name="Google Shape;430;p47"/>
          <p:cNvSpPr/>
          <p:nvPr/>
        </p:nvSpPr>
        <p:spPr>
          <a:xfrm>
            <a:off x="0" y="0"/>
            <a:ext cx="12191969" cy="713232"/>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31" name="Google Shape;431;p47"/>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2000" u="none" cap="none" strike="noStrike">
                <a:solidFill>
                  <a:srgbClr val="FFFFFF"/>
                </a:solidFill>
                <a:latin typeface="Arial"/>
                <a:ea typeface="Arial"/>
                <a:cs typeface="Arial"/>
                <a:sym typeface="Arial"/>
              </a:rPr>
              <a:t>Vocabulary  2 of 10</a:t>
            </a:r>
            <a:endParaRPr/>
          </a:p>
        </p:txBody>
      </p:sp>
      <p:sp>
        <p:nvSpPr>
          <p:cNvPr id="432" name="Google Shape;432;p47"/>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pPr>
            <a:r>
              <a:rPr b="0" i="0" lang="en-US" sz="1200" u="none" cap="none" strike="noStrike">
                <a:solidFill>
                  <a:srgbClr val="FFFFFF"/>
                </a:solidFill>
                <a:latin typeface="Arial"/>
                <a:ea typeface="Arial"/>
                <a:cs typeface="Arial"/>
                <a:sym typeface="Arial"/>
              </a:rPr>
              <a:t>Lesson 5-1 · Determine the Area of Parallelograms and Rhombuses</a:t>
            </a:r>
            <a:endParaRPr/>
          </a:p>
        </p:txBody>
      </p:sp>
      <p:sp>
        <p:nvSpPr>
          <p:cNvPr id="433" name="Google Shape;433;p47"/>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34" name="Google Shape;434;p47"/>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00" u="none" cap="none" strike="noStrike">
                <a:solidFill>
                  <a:srgbClr val="475569"/>
                </a:solidFill>
                <a:latin typeface="Arial"/>
                <a:ea typeface="Arial"/>
                <a:cs typeface="Arial"/>
                <a:sym typeface="Arial"/>
              </a:rPr>
              <a:t>eduwonderlab.com  ·  Neft Teacher</a:t>
            </a:r>
            <a:endParaRPr/>
          </a:p>
        </p:txBody>
      </p:sp>
      <p:sp>
        <p:nvSpPr>
          <p:cNvPr id="435" name="Google Shape;435;p47"/>
          <p:cNvSpPr txBox="1"/>
          <p:nvPr/>
        </p:nvSpPr>
        <p:spPr>
          <a:xfrm>
            <a:off x="640080" y="1803654"/>
            <a:ext cx="5897880" cy="7802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4400" u="none" cap="none" strike="noStrike">
                <a:solidFill>
                  <a:srgbClr val="14223A"/>
                </a:solidFill>
                <a:latin typeface="Arial"/>
                <a:ea typeface="Arial"/>
                <a:cs typeface="Arial"/>
                <a:sym typeface="Arial"/>
              </a:rPr>
              <a:t>Slanted side</a:t>
            </a:r>
            <a:endParaRPr/>
          </a:p>
        </p:txBody>
      </p:sp>
      <p:sp>
        <p:nvSpPr>
          <p:cNvPr id="436" name="Google Shape;436;p47"/>
          <p:cNvSpPr/>
          <p:nvPr/>
        </p:nvSpPr>
        <p:spPr>
          <a:xfrm>
            <a:off x="658368" y="2638806"/>
            <a:ext cx="1426464" cy="6858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37" name="Google Shape;437;p47"/>
          <p:cNvSpPr txBox="1"/>
          <p:nvPr/>
        </p:nvSpPr>
        <p:spPr>
          <a:xfrm>
            <a:off x="640080" y="2999994"/>
            <a:ext cx="5897880" cy="704088"/>
          </a:xfrm>
          <a:prstGeom prst="rect">
            <a:avLst/>
          </a:prstGeom>
          <a:noFill/>
          <a:ln>
            <a:noFill/>
          </a:ln>
        </p:spPr>
        <p:txBody>
          <a:bodyPr anchorCtr="0" anchor="t" bIns="0" lIns="0" spcFirstLastPara="1" rIns="0" wrap="square" tIns="0">
            <a:spAutoFit/>
          </a:bodyPr>
          <a:lstStyle/>
          <a:p>
            <a:pPr indent="0" lvl="0" marL="0" marR="0" rtl="0" algn="l">
              <a:lnSpc>
                <a:spcPct val="126000"/>
              </a:lnSpc>
              <a:spcBef>
                <a:spcPts val="0"/>
              </a:spcBef>
              <a:spcAft>
                <a:spcPts val="0"/>
              </a:spcAft>
              <a:buNone/>
            </a:pPr>
            <a:r>
              <a:rPr b="0" i="0" lang="en-US" sz="2200" u="none" cap="none" strike="noStrike">
                <a:solidFill>
                  <a:srgbClr val="14223A"/>
                </a:solidFill>
                <a:latin typeface="Arial"/>
                <a:ea typeface="Arial"/>
                <a:cs typeface="Arial"/>
                <a:sym typeface="Arial"/>
              </a:rPr>
              <a:t>A side that leans instead of going straight up and down. It is not the perpendicular height.</a:t>
            </a:r>
            <a:endParaRPr/>
          </a:p>
        </p:txBody>
      </p:sp>
      <p:sp>
        <p:nvSpPr>
          <p:cNvPr id="438" name="Google Shape;438;p47"/>
          <p:cNvSpPr/>
          <p:nvPr/>
        </p:nvSpPr>
        <p:spPr>
          <a:xfrm>
            <a:off x="640080" y="4124706"/>
            <a:ext cx="5897880" cy="1249680"/>
          </a:xfrm>
          <a:prstGeom prst="roundRect">
            <a:avLst>
              <a:gd fmla="val 7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39" name="Google Shape;439;p47"/>
          <p:cNvSpPr/>
          <p:nvPr/>
        </p:nvSpPr>
        <p:spPr>
          <a:xfrm>
            <a:off x="640080" y="4124706"/>
            <a:ext cx="91440" cy="124968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40" name="Google Shape;440;p47"/>
          <p:cNvSpPr txBox="1"/>
          <p:nvPr/>
        </p:nvSpPr>
        <p:spPr>
          <a:xfrm>
            <a:off x="932688" y="4298442"/>
            <a:ext cx="5330952" cy="2377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150" u="none" cap="none" strike="noStrike">
                <a:solidFill>
                  <a:srgbClr val="C2410C"/>
                </a:solidFill>
                <a:latin typeface="Arial"/>
                <a:ea typeface="Arial"/>
                <a:cs typeface="Arial"/>
                <a:sym typeface="Arial"/>
              </a:rPr>
              <a:t>EXAMPLE · EXPLAIN WHY IT FITS</a:t>
            </a:r>
            <a:endParaRPr/>
          </a:p>
        </p:txBody>
      </p:sp>
      <p:sp>
        <p:nvSpPr>
          <p:cNvPr id="441" name="Google Shape;441;p47"/>
          <p:cNvSpPr txBox="1"/>
          <p:nvPr/>
        </p:nvSpPr>
        <p:spPr>
          <a:xfrm>
            <a:off x="932688" y="4600194"/>
            <a:ext cx="5330952" cy="6278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1700" u="none" cap="none" strike="noStrike">
                <a:solidFill>
                  <a:srgbClr val="14223A"/>
                </a:solidFill>
                <a:latin typeface="Arial"/>
                <a:ea typeface="Arial"/>
                <a:cs typeface="Arial"/>
                <a:sym typeface="Arial"/>
              </a:rPr>
              <a:t>In a leaning parallelogram, use the dashed 90° height—not the slanted side—in A = b × h.</a:t>
            </a:r>
            <a:endParaRPr/>
          </a:p>
        </p:txBody>
      </p:sp>
      <p:pic>
        <p:nvPicPr>
          <p:cNvPr descr="slanted-side.png" id="442" name="Google Shape;442;p47"/>
          <p:cNvPicPr preferRelativeResize="0"/>
          <p:nvPr/>
        </p:nvPicPr>
        <p:blipFill rotWithShape="1">
          <a:blip r:embed="rId2">
            <a:alphaModFix/>
          </a:blip>
          <a:srcRect b="0" l="0" r="0" t="0"/>
          <a:stretch/>
        </p:blipFill>
        <p:spPr>
          <a:xfrm>
            <a:off x="6903720" y="1853738"/>
            <a:ext cx="4572000" cy="3424843"/>
          </a:xfrm>
          <a:prstGeom prst="rect">
            <a:avLst/>
          </a:prstGeom>
          <a:noFill/>
          <a:ln>
            <a:noFill/>
          </a:ln>
        </p:spPr>
      </p:pic>
      <p:sp>
        <p:nvSpPr>
          <p:cNvPr id="333"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9 / 66</a:t>
            </a:r>
          </a:p>
        </p:txBody>
      </p:sp>
      <p:sp xmlns:p="http://schemas.openxmlformats.org/presentationml/2006/main" xmlns:a="http://schemas.openxmlformats.org/drawingml/2006/main">
        <p:nvSpPr>
          <p:cNvPr id="443" name="TEACH-embedded-student-prompt" descr="Student thinking and response directions"/>
          <p:cNvSpPr txBox="1"/>
          <p:nvPr/>
        </p:nvSpPr>
        <p:spPr>
          <a:xfrm>
            <a:off x="4099560" y="5815584"/>
            <a:ext cx="749808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Use “Slanted side” to explain the example. Point to evidence.</a:t>
            </a:r>
            <a:endParaRPr lang="en-US" sz="2000"/>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47" name="Google Shape;447;p48"/>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48" name="Google Shape;448;p48"/>
          <p:cNvSpPr/>
          <p:nvPr/>
        </p:nvSpPr>
        <p:spPr>
          <a:xfrm>
            <a:off x="0" y="0"/>
            <a:ext cx="12191969" cy="713232"/>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49" name="Google Shape;449;p48"/>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2000" u="none" cap="none" strike="noStrike">
                <a:solidFill>
                  <a:srgbClr val="FFFFFF"/>
                </a:solidFill>
                <a:latin typeface="Arial"/>
                <a:ea typeface="Arial"/>
                <a:cs typeface="Arial"/>
                <a:sym typeface="Arial"/>
              </a:rPr>
              <a:t>Vocabulary  3 of 10</a:t>
            </a:r>
            <a:endParaRPr/>
          </a:p>
        </p:txBody>
      </p:sp>
      <p:sp>
        <p:nvSpPr>
          <p:cNvPr id="450" name="Google Shape;450;p48"/>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pPr>
            <a:r>
              <a:rPr b="0" i="0" lang="en-US" sz="1200" u="none" cap="none" strike="noStrike">
                <a:solidFill>
                  <a:srgbClr val="FFFFFF"/>
                </a:solidFill>
                <a:latin typeface="Arial"/>
                <a:ea typeface="Arial"/>
                <a:cs typeface="Arial"/>
                <a:sym typeface="Arial"/>
              </a:rPr>
              <a:t>Lesson 5-1 · Determine the Area of Parallelograms and Rhombuses</a:t>
            </a:r>
            <a:endParaRPr/>
          </a:p>
        </p:txBody>
      </p:sp>
      <p:sp>
        <p:nvSpPr>
          <p:cNvPr id="451" name="Google Shape;451;p48"/>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52" name="Google Shape;452;p48"/>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00" u="none" cap="none" strike="noStrike">
                <a:solidFill>
                  <a:srgbClr val="475569"/>
                </a:solidFill>
                <a:latin typeface="Arial"/>
                <a:ea typeface="Arial"/>
                <a:cs typeface="Arial"/>
                <a:sym typeface="Arial"/>
              </a:rPr>
              <a:t>eduwonderlab.com  ·  Neft Teacher</a:t>
            </a:r>
            <a:endParaRPr/>
          </a:p>
        </p:txBody>
      </p:sp>
      <p:sp>
        <p:nvSpPr>
          <p:cNvPr id="453" name="Google Shape;453;p48"/>
          <p:cNvSpPr txBox="1"/>
          <p:nvPr/>
        </p:nvSpPr>
        <p:spPr>
          <a:xfrm>
            <a:off x="640080" y="1674114"/>
            <a:ext cx="5897880" cy="7802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4400" u="none" cap="none" strike="noStrike">
                <a:solidFill>
                  <a:srgbClr val="14223A"/>
                </a:solidFill>
                <a:latin typeface="Arial"/>
                <a:ea typeface="Arial"/>
                <a:cs typeface="Arial"/>
                <a:sym typeface="Arial"/>
              </a:rPr>
              <a:t>Parallelogram</a:t>
            </a:r>
            <a:endParaRPr/>
          </a:p>
        </p:txBody>
      </p:sp>
      <p:sp>
        <p:nvSpPr>
          <p:cNvPr id="454" name="Google Shape;454;p48"/>
          <p:cNvSpPr/>
          <p:nvPr/>
        </p:nvSpPr>
        <p:spPr>
          <a:xfrm>
            <a:off x="658368" y="2509266"/>
            <a:ext cx="1545336" cy="6858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55" name="Google Shape;455;p48"/>
          <p:cNvSpPr txBox="1"/>
          <p:nvPr/>
        </p:nvSpPr>
        <p:spPr>
          <a:xfrm>
            <a:off x="640080" y="2870454"/>
            <a:ext cx="5897880" cy="704088"/>
          </a:xfrm>
          <a:prstGeom prst="rect">
            <a:avLst/>
          </a:prstGeom>
          <a:noFill/>
          <a:ln>
            <a:noFill/>
          </a:ln>
        </p:spPr>
        <p:txBody>
          <a:bodyPr anchorCtr="0" anchor="t" bIns="0" lIns="0" spcFirstLastPara="1" rIns="0" wrap="square" tIns="0">
            <a:spAutoFit/>
          </a:bodyPr>
          <a:lstStyle/>
          <a:p>
            <a:pPr indent="0" lvl="0" marL="0" marR="0" rtl="0" algn="l">
              <a:lnSpc>
                <a:spcPct val="126000"/>
              </a:lnSpc>
              <a:spcBef>
                <a:spcPts val="0"/>
              </a:spcBef>
              <a:spcAft>
                <a:spcPts val="0"/>
              </a:spcAft>
              <a:buNone/>
            </a:pPr>
            <a:r>
              <a:rPr b="0" i="0" lang="en-US" sz="2200" u="none" cap="none" strike="noStrike">
                <a:solidFill>
                  <a:srgbClr val="14223A"/>
                </a:solidFill>
                <a:latin typeface="Arial"/>
                <a:ea typeface="Arial"/>
                <a:cs typeface="Arial"/>
                <a:sym typeface="Arial"/>
              </a:rPr>
              <a:t>A four-sided shape with two pairs of parallel sides.</a:t>
            </a:r>
            <a:endParaRPr/>
          </a:p>
        </p:txBody>
      </p:sp>
      <p:sp>
        <p:nvSpPr>
          <p:cNvPr id="456" name="Google Shape;456;p48"/>
          <p:cNvSpPr/>
          <p:nvPr/>
        </p:nvSpPr>
        <p:spPr>
          <a:xfrm>
            <a:off x="640080" y="3995166"/>
            <a:ext cx="5897880" cy="1508760"/>
          </a:xfrm>
          <a:prstGeom prst="roundRect">
            <a:avLst>
              <a:gd fmla="val 7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57" name="Google Shape;457;p48"/>
          <p:cNvSpPr/>
          <p:nvPr/>
        </p:nvSpPr>
        <p:spPr>
          <a:xfrm>
            <a:off x="640080" y="3995166"/>
            <a:ext cx="91440" cy="150876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58" name="Google Shape;458;p48"/>
          <p:cNvSpPr txBox="1"/>
          <p:nvPr/>
        </p:nvSpPr>
        <p:spPr>
          <a:xfrm>
            <a:off x="932688" y="4168902"/>
            <a:ext cx="5330952" cy="2377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150" u="none" cap="none" strike="noStrike">
                <a:solidFill>
                  <a:srgbClr val="C2410C"/>
                </a:solidFill>
                <a:latin typeface="Arial"/>
                <a:ea typeface="Arial"/>
                <a:cs typeface="Arial"/>
                <a:sym typeface="Arial"/>
              </a:rPr>
              <a:t>EXAMPLE · EXPLAIN WHY IT FITS</a:t>
            </a:r>
            <a:endParaRPr/>
          </a:p>
        </p:txBody>
      </p:sp>
      <p:sp>
        <p:nvSpPr>
          <p:cNvPr id="459" name="Google Shape;459;p48"/>
          <p:cNvSpPr txBox="1"/>
          <p:nvPr/>
        </p:nvSpPr>
        <p:spPr>
          <a:xfrm>
            <a:off x="932688" y="4470654"/>
            <a:ext cx="5330952" cy="886967"/>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1700" u="none" cap="none" strike="noStrike">
                <a:solidFill>
                  <a:srgbClr val="14223A"/>
                </a:solidFill>
                <a:latin typeface="Arial"/>
                <a:ea typeface="Arial"/>
                <a:cs typeface="Arial"/>
                <a:sym typeface="Arial"/>
              </a:rPr>
              <a:t>Think of a leaning door — the top and bottom are parallel, and the two sides are parallel, like a slanted rectangle</a:t>
            </a:r>
            <a:endParaRPr/>
          </a:p>
        </p:txBody>
      </p:sp>
      <p:pic>
        <p:nvPicPr>
          <p:cNvPr descr="parallelogram.png" id="460" name="Google Shape;460;p48"/>
          <p:cNvPicPr preferRelativeResize="0"/>
          <p:nvPr/>
        </p:nvPicPr>
        <p:blipFill rotWithShape="1">
          <a:blip r:embed="rId2">
            <a:alphaModFix/>
          </a:blip>
          <a:srcRect b="0" l="0" r="0" t="0"/>
          <a:stretch/>
        </p:blipFill>
        <p:spPr>
          <a:xfrm>
            <a:off x="6903720" y="1853738"/>
            <a:ext cx="4572000" cy="3424843"/>
          </a:xfrm>
          <a:prstGeom prst="rect">
            <a:avLst/>
          </a:prstGeom>
          <a:noFill/>
          <a:ln>
            <a:noFill/>
          </a:ln>
        </p:spPr>
      </p:pic>
      <p:sp>
        <p:nvSpPr>
          <p:cNvPr id="333"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10 / 66</a:t>
            </a:r>
          </a:p>
        </p:txBody>
      </p:sp>
      <p:sp xmlns:p="http://schemas.openxmlformats.org/presentationml/2006/main" xmlns:a="http://schemas.openxmlformats.org/drawingml/2006/main">
        <p:nvSpPr>
          <p:cNvPr id="461" name="TEACH-embedded-student-prompt" descr="Student thinking and response directions"/>
          <p:cNvSpPr txBox="1"/>
          <p:nvPr/>
        </p:nvSpPr>
        <p:spPr>
          <a:xfrm>
            <a:off x="7391400" y="5504688"/>
            <a:ext cx="4206240" cy="768096"/>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Use “Parallelogram” to explain</a:t>
            </a:r>
            <a:endParaRPr lang="en-US" sz="2000"/>
          </a:p>
          <a:p>
            <a:pPr>
              <a:lnSpc>
                <a:spcPts val="2400"/>
              </a:lnSpc>
              <a:buNone/>
            </a:pPr>
            <a:r>
              <a:rPr lang="en-US" sz="2000">
                <a:solidFill>
                  <a:srgbClr val="174D60"/>
                </a:solidFill>
                <a:latin typeface="Arial"/>
              </a:rPr>
              <a:t>the example. Point to evidence.</a:t>
            </a:r>
            <a:endParaRPr lang="en-US" sz="2000"/>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65" name="Google Shape;465;p49"/>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66" name="Google Shape;466;p49"/>
          <p:cNvSpPr/>
          <p:nvPr/>
        </p:nvSpPr>
        <p:spPr>
          <a:xfrm>
            <a:off x="0" y="0"/>
            <a:ext cx="12191969" cy="713232"/>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67" name="Google Shape;467;p49"/>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2000" u="none" cap="none" strike="noStrike">
                <a:solidFill>
                  <a:srgbClr val="FFFFFF"/>
                </a:solidFill>
                <a:latin typeface="Arial"/>
                <a:ea typeface="Arial"/>
                <a:cs typeface="Arial"/>
                <a:sym typeface="Arial"/>
              </a:rPr>
              <a:t>Vocabulary  4 of 10</a:t>
            </a:r>
            <a:endParaRPr/>
          </a:p>
        </p:txBody>
      </p:sp>
      <p:sp>
        <p:nvSpPr>
          <p:cNvPr id="468" name="Google Shape;468;p49"/>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pPr>
            <a:r>
              <a:rPr b="0" i="0" lang="en-US" sz="1200" u="none" cap="none" strike="noStrike">
                <a:solidFill>
                  <a:srgbClr val="FFFFFF"/>
                </a:solidFill>
                <a:latin typeface="Arial"/>
                <a:ea typeface="Arial"/>
                <a:cs typeface="Arial"/>
                <a:sym typeface="Arial"/>
              </a:rPr>
              <a:t>Lesson 5-1 · Determine the Area of Parallelograms and Rhombuses</a:t>
            </a:r>
            <a:endParaRPr/>
          </a:p>
        </p:txBody>
      </p:sp>
      <p:sp>
        <p:nvSpPr>
          <p:cNvPr id="469" name="Google Shape;469;p49"/>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70" name="Google Shape;470;p49"/>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00" u="none" cap="none" strike="noStrike">
                <a:solidFill>
                  <a:srgbClr val="475569"/>
                </a:solidFill>
                <a:latin typeface="Arial"/>
                <a:ea typeface="Arial"/>
                <a:cs typeface="Arial"/>
                <a:sym typeface="Arial"/>
              </a:rPr>
              <a:t>eduwonderlab.com  ·  Neft Teacher</a:t>
            </a:r>
            <a:endParaRPr/>
          </a:p>
        </p:txBody>
      </p:sp>
      <p:sp>
        <p:nvSpPr>
          <p:cNvPr id="471" name="Google Shape;471;p49"/>
          <p:cNvSpPr txBox="1"/>
          <p:nvPr/>
        </p:nvSpPr>
        <p:spPr>
          <a:xfrm>
            <a:off x="640080" y="1674114"/>
            <a:ext cx="5897880" cy="7802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4400" u="none" cap="none" strike="noStrike">
                <a:solidFill>
                  <a:srgbClr val="14223A"/>
                </a:solidFill>
                <a:latin typeface="Arial"/>
                <a:ea typeface="Arial"/>
                <a:cs typeface="Arial"/>
                <a:sym typeface="Arial"/>
              </a:rPr>
              <a:t>Parallel</a:t>
            </a:r>
            <a:endParaRPr/>
          </a:p>
        </p:txBody>
      </p:sp>
      <p:sp>
        <p:nvSpPr>
          <p:cNvPr id="472" name="Google Shape;472;p49"/>
          <p:cNvSpPr/>
          <p:nvPr/>
        </p:nvSpPr>
        <p:spPr>
          <a:xfrm>
            <a:off x="658368" y="2509266"/>
            <a:ext cx="1097280" cy="6858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73" name="Google Shape;473;p49"/>
          <p:cNvSpPr txBox="1"/>
          <p:nvPr/>
        </p:nvSpPr>
        <p:spPr>
          <a:xfrm>
            <a:off x="640080" y="2870454"/>
            <a:ext cx="5897880" cy="704088"/>
          </a:xfrm>
          <a:prstGeom prst="rect">
            <a:avLst/>
          </a:prstGeom>
          <a:noFill/>
          <a:ln>
            <a:noFill/>
          </a:ln>
        </p:spPr>
        <p:txBody>
          <a:bodyPr anchorCtr="0" anchor="t" bIns="0" lIns="0" spcFirstLastPara="1" rIns="0" wrap="square" tIns="0">
            <a:spAutoFit/>
          </a:bodyPr>
          <a:lstStyle/>
          <a:p>
            <a:pPr indent="0" lvl="0" marL="0" marR="0" rtl="0" algn="l">
              <a:lnSpc>
                <a:spcPct val="126000"/>
              </a:lnSpc>
              <a:spcBef>
                <a:spcPts val="0"/>
              </a:spcBef>
              <a:spcAft>
                <a:spcPts val="0"/>
              </a:spcAft>
              <a:buNone/>
            </a:pPr>
            <a:r>
              <a:rPr b="0" i="0" lang="en-US" sz="2200" u="none" cap="none" strike="noStrike">
                <a:solidFill>
                  <a:srgbClr val="14223A"/>
                </a:solidFill>
                <a:latin typeface="Arial"/>
                <a:ea typeface="Arial"/>
                <a:cs typeface="Arial"/>
                <a:sym typeface="Arial"/>
              </a:rPr>
              <a:t>Two lines or sides that stay the same distance apart and never meet.</a:t>
            </a:r>
            <a:endParaRPr/>
          </a:p>
        </p:txBody>
      </p:sp>
      <p:sp>
        <p:nvSpPr>
          <p:cNvPr id="474" name="Google Shape;474;p49"/>
          <p:cNvSpPr/>
          <p:nvPr/>
        </p:nvSpPr>
        <p:spPr>
          <a:xfrm>
            <a:off x="640080" y="3995166"/>
            <a:ext cx="5897880" cy="1508760"/>
          </a:xfrm>
          <a:prstGeom prst="roundRect">
            <a:avLst>
              <a:gd fmla="val 7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75" name="Google Shape;475;p49"/>
          <p:cNvSpPr/>
          <p:nvPr/>
        </p:nvSpPr>
        <p:spPr>
          <a:xfrm>
            <a:off x="640080" y="3995166"/>
            <a:ext cx="91440" cy="150876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76" name="Google Shape;476;p49"/>
          <p:cNvSpPr txBox="1"/>
          <p:nvPr/>
        </p:nvSpPr>
        <p:spPr>
          <a:xfrm>
            <a:off x="932688" y="4168902"/>
            <a:ext cx="5330952" cy="2377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150" u="none" cap="none" strike="noStrike">
                <a:solidFill>
                  <a:srgbClr val="C2410C"/>
                </a:solidFill>
                <a:latin typeface="Arial"/>
                <a:ea typeface="Arial"/>
                <a:cs typeface="Arial"/>
                <a:sym typeface="Arial"/>
              </a:rPr>
              <a:t>EXAMPLE · EXPLAIN WHY IT FITS</a:t>
            </a:r>
            <a:endParaRPr/>
          </a:p>
        </p:txBody>
      </p:sp>
      <p:sp>
        <p:nvSpPr>
          <p:cNvPr id="477" name="Google Shape;477;p49"/>
          <p:cNvSpPr txBox="1"/>
          <p:nvPr/>
        </p:nvSpPr>
        <p:spPr>
          <a:xfrm>
            <a:off x="932688" y="4470654"/>
            <a:ext cx="5330952" cy="886967"/>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1700" u="none" cap="none" strike="noStrike">
                <a:solidFill>
                  <a:srgbClr val="14223A"/>
                </a:solidFill>
                <a:latin typeface="Arial"/>
                <a:ea typeface="Arial"/>
                <a:cs typeface="Arial"/>
                <a:sym typeface="Arial"/>
              </a:rPr>
              <a:t>The top and bottom of a parallelogram never get closer together — matching arrowheads (›) mark one parallel pair, double arrowheads (››) mark the other.</a:t>
            </a:r>
            <a:endParaRPr/>
          </a:p>
        </p:txBody>
      </p:sp>
      <p:pic>
        <p:nvPicPr>
          <p:cNvPr descr="parallel.png" id="478" name="Google Shape;478;p49"/>
          <p:cNvPicPr preferRelativeResize="0"/>
          <p:nvPr/>
        </p:nvPicPr>
        <p:blipFill rotWithShape="1">
          <a:blip r:embed="rId2">
            <a:alphaModFix/>
          </a:blip>
          <a:srcRect b="0" l="0" r="0" t="0"/>
          <a:stretch/>
        </p:blipFill>
        <p:spPr>
          <a:xfrm>
            <a:off x="6903720" y="1853738"/>
            <a:ext cx="4572000" cy="3424843"/>
          </a:xfrm>
          <a:prstGeom prst="rect">
            <a:avLst/>
          </a:prstGeom>
          <a:noFill/>
          <a:ln>
            <a:noFill/>
          </a:ln>
        </p:spPr>
      </p:pic>
      <p:sp>
        <p:nvSpPr>
          <p:cNvPr id="333"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11 / 66</a:t>
            </a:r>
          </a:p>
        </p:txBody>
      </p:sp>
      <p:sp xmlns:p="http://schemas.openxmlformats.org/presentationml/2006/main" xmlns:a="http://schemas.openxmlformats.org/drawingml/2006/main">
        <p:nvSpPr>
          <p:cNvPr id="479" name="TEACH-embedded-student-prompt" descr="Student thinking and response directions"/>
          <p:cNvSpPr txBox="1"/>
          <p:nvPr/>
        </p:nvSpPr>
        <p:spPr>
          <a:xfrm>
            <a:off x="4099560" y="5815584"/>
            <a:ext cx="749808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Use “Parallel” to explain the example. Point to evidence.</a:t>
            </a:r>
            <a:endParaRPr lang="en-US" sz="2000"/>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83" name="Google Shape;483;p50"/>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84" name="Google Shape;484;p50"/>
          <p:cNvSpPr/>
          <p:nvPr/>
        </p:nvSpPr>
        <p:spPr>
          <a:xfrm>
            <a:off x="0" y="0"/>
            <a:ext cx="12191969" cy="713232"/>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85" name="Google Shape;485;p50"/>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2000" u="none" cap="none" strike="noStrike">
                <a:solidFill>
                  <a:srgbClr val="FFFFFF"/>
                </a:solidFill>
                <a:latin typeface="Arial"/>
                <a:ea typeface="Arial"/>
                <a:cs typeface="Arial"/>
                <a:sym typeface="Arial"/>
              </a:rPr>
              <a:t>Vocabulary  5 of 10</a:t>
            </a:r>
            <a:endParaRPr/>
          </a:p>
        </p:txBody>
      </p:sp>
      <p:sp>
        <p:nvSpPr>
          <p:cNvPr id="486" name="Google Shape;486;p50"/>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pPr>
            <a:r>
              <a:rPr b="0" i="0" lang="en-US" sz="1200" u="none" cap="none" strike="noStrike">
                <a:solidFill>
                  <a:srgbClr val="FFFFFF"/>
                </a:solidFill>
                <a:latin typeface="Arial"/>
                <a:ea typeface="Arial"/>
                <a:cs typeface="Arial"/>
                <a:sym typeface="Arial"/>
              </a:rPr>
              <a:t>Lesson 5-1 · Determine the Area of Parallelograms and Rhombuses</a:t>
            </a:r>
            <a:endParaRPr/>
          </a:p>
        </p:txBody>
      </p:sp>
      <p:sp>
        <p:nvSpPr>
          <p:cNvPr id="487" name="Google Shape;487;p50"/>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88" name="Google Shape;488;p50"/>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00" u="none" cap="none" strike="noStrike">
                <a:solidFill>
                  <a:srgbClr val="475569"/>
                </a:solidFill>
                <a:latin typeface="Arial"/>
                <a:ea typeface="Arial"/>
                <a:cs typeface="Arial"/>
                <a:sym typeface="Arial"/>
              </a:rPr>
              <a:t>eduwonderlab.com  ·  Neft Teacher</a:t>
            </a:r>
            <a:endParaRPr/>
          </a:p>
        </p:txBody>
      </p:sp>
      <p:sp>
        <p:nvSpPr>
          <p:cNvPr id="489" name="Google Shape;489;p50"/>
          <p:cNvSpPr txBox="1"/>
          <p:nvPr/>
        </p:nvSpPr>
        <p:spPr>
          <a:xfrm>
            <a:off x="640080" y="1498091"/>
            <a:ext cx="5897880" cy="7802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4400" u="none" cap="none" strike="noStrike">
                <a:solidFill>
                  <a:srgbClr val="14223A"/>
                </a:solidFill>
                <a:latin typeface="Arial"/>
                <a:ea typeface="Arial"/>
                <a:cs typeface="Arial"/>
                <a:sym typeface="Arial"/>
              </a:rPr>
              <a:t>Base</a:t>
            </a:r>
            <a:endParaRPr/>
          </a:p>
        </p:txBody>
      </p:sp>
      <p:sp>
        <p:nvSpPr>
          <p:cNvPr id="490" name="Google Shape;490;p50"/>
          <p:cNvSpPr/>
          <p:nvPr/>
        </p:nvSpPr>
        <p:spPr>
          <a:xfrm>
            <a:off x="658368" y="2333244"/>
            <a:ext cx="1097280" cy="6858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91" name="Google Shape;491;p50"/>
          <p:cNvSpPr txBox="1"/>
          <p:nvPr/>
        </p:nvSpPr>
        <p:spPr>
          <a:xfrm>
            <a:off x="640080" y="2694432"/>
            <a:ext cx="5897880" cy="1056132"/>
          </a:xfrm>
          <a:prstGeom prst="rect">
            <a:avLst/>
          </a:prstGeom>
          <a:noFill/>
          <a:ln>
            <a:noFill/>
          </a:ln>
        </p:spPr>
        <p:txBody>
          <a:bodyPr anchorCtr="0" anchor="t" bIns="0" lIns="0" spcFirstLastPara="1" rIns="0" wrap="square" tIns="0">
            <a:spAutoFit/>
          </a:bodyPr>
          <a:lstStyle/>
          <a:p>
            <a:pPr indent="0" lvl="0" marL="0" marR="0" rtl="0" algn="l">
              <a:lnSpc>
                <a:spcPct val="126000"/>
              </a:lnSpc>
              <a:spcBef>
                <a:spcPts val="0"/>
              </a:spcBef>
              <a:spcAft>
                <a:spcPts val="0"/>
              </a:spcAft>
              <a:buNone/>
            </a:pPr>
            <a:r>
              <a:rPr b="0" i="0" lang="en-US" sz="2200" u="none" cap="none" strike="noStrike">
                <a:solidFill>
                  <a:srgbClr val="14223A"/>
                </a:solidFill>
                <a:latin typeface="Arial"/>
                <a:ea typeface="Arial"/>
                <a:cs typeface="Arial"/>
                <a:sym typeface="Arial"/>
              </a:rPr>
              <a:t>Any side of a parallelogram can be the base. Once you pick a base, the height must be measured perpendicular (at a 90° angle) to it.</a:t>
            </a:r>
            <a:endParaRPr/>
          </a:p>
        </p:txBody>
      </p:sp>
      <p:sp>
        <p:nvSpPr>
          <p:cNvPr id="492" name="Google Shape;492;p50"/>
          <p:cNvSpPr/>
          <p:nvPr/>
        </p:nvSpPr>
        <p:spPr>
          <a:xfrm>
            <a:off x="640080" y="4171188"/>
            <a:ext cx="5897880" cy="1508760"/>
          </a:xfrm>
          <a:prstGeom prst="roundRect">
            <a:avLst>
              <a:gd fmla="val 7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93" name="Google Shape;493;p50"/>
          <p:cNvSpPr/>
          <p:nvPr/>
        </p:nvSpPr>
        <p:spPr>
          <a:xfrm>
            <a:off x="640080" y="4171188"/>
            <a:ext cx="91440" cy="150876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94" name="Google Shape;494;p50"/>
          <p:cNvSpPr txBox="1"/>
          <p:nvPr/>
        </p:nvSpPr>
        <p:spPr>
          <a:xfrm>
            <a:off x="932688" y="4344924"/>
            <a:ext cx="5330952" cy="2377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150" u="none" cap="none" strike="noStrike">
                <a:solidFill>
                  <a:srgbClr val="C2410C"/>
                </a:solidFill>
                <a:latin typeface="Arial"/>
                <a:ea typeface="Arial"/>
                <a:cs typeface="Arial"/>
                <a:sym typeface="Arial"/>
              </a:rPr>
              <a:t>EXAMPLE · EXPLAIN WHY IT FITS</a:t>
            </a:r>
            <a:endParaRPr/>
          </a:p>
        </p:txBody>
      </p:sp>
      <p:sp>
        <p:nvSpPr>
          <p:cNvPr id="495" name="Google Shape;495;p50"/>
          <p:cNvSpPr txBox="1"/>
          <p:nvPr/>
        </p:nvSpPr>
        <p:spPr>
          <a:xfrm>
            <a:off x="932688" y="4646676"/>
            <a:ext cx="5330952" cy="886967"/>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1700" u="none" cap="none" strike="noStrike">
                <a:solidFill>
                  <a:srgbClr val="14223A"/>
                </a:solidFill>
                <a:latin typeface="Arial"/>
                <a:ea typeface="Arial"/>
                <a:cs typeface="Arial"/>
                <a:sym typeface="Arial"/>
              </a:rPr>
              <a:t>Any side can be the base: choose the 10 cm side and b = 10 cm, then draw the height at 90° to that side in A = b × h</a:t>
            </a:r>
            <a:endParaRPr/>
          </a:p>
        </p:txBody>
      </p:sp>
      <p:pic>
        <p:nvPicPr>
          <p:cNvPr descr="base-parallelogram.png" id="496" name="Google Shape;496;p50"/>
          <p:cNvPicPr preferRelativeResize="0"/>
          <p:nvPr/>
        </p:nvPicPr>
        <p:blipFill rotWithShape="1">
          <a:blip r:embed="rId2">
            <a:alphaModFix/>
          </a:blip>
          <a:srcRect b="0" l="0" r="0" t="0"/>
          <a:stretch/>
        </p:blipFill>
        <p:spPr>
          <a:xfrm>
            <a:off x="6903720" y="1853738"/>
            <a:ext cx="4572000" cy="3424843"/>
          </a:xfrm>
          <a:prstGeom prst="rect">
            <a:avLst/>
          </a:prstGeom>
          <a:noFill/>
          <a:ln>
            <a:noFill/>
          </a:ln>
        </p:spPr>
      </p:pic>
      <p:sp>
        <p:nvSpPr>
          <p:cNvPr id="333"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12 / 66</a:t>
            </a:r>
          </a:p>
        </p:txBody>
      </p:sp>
      <p:sp xmlns:p="http://schemas.openxmlformats.org/presentationml/2006/main" xmlns:a="http://schemas.openxmlformats.org/drawingml/2006/main">
        <p:nvSpPr>
          <p:cNvPr id="497" name="TEACH-embedded-student-prompt" descr="Student thinking and response directions"/>
          <p:cNvSpPr txBox="1"/>
          <p:nvPr/>
        </p:nvSpPr>
        <p:spPr>
          <a:xfrm>
            <a:off x="4099560" y="5815584"/>
            <a:ext cx="749808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Use “Base” to explain the example. Point to evidence.</a:t>
            </a:r>
            <a:endParaRPr lang="en-US" sz="2000"/>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501" name="Google Shape;501;p51"/>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02" name="Google Shape;502;p51"/>
          <p:cNvSpPr/>
          <p:nvPr/>
        </p:nvSpPr>
        <p:spPr>
          <a:xfrm>
            <a:off x="0" y="0"/>
            <a:ext cx="12191969" cy="713232"/>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03" name="Google Shape;503;p51"/>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2000" u="none" cap="none" strike="noStrike">
                <a:solidFill>
                  <a:srgbClr val="FFFFFF"/>
                </a:solidFill>
                <a:latin typeface="Arial"/>
                <a:ea typeface="Arial"/>
                <a:cs typeface="Arial"/>
                <a:sym typeface="Arial"/>
              </a:rPr>
              <a:t>Vocabulary  6 of 10</a:t>
            </a:r>
            <a:endParaRPr/>
          </a:p>
        </p:txBody>
      </p:sp>
      <p:sp>
        <p:nvSpPr>
          <p:cNvPr id="504" name="Google Shape;504;p51"/>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pPr>
            <a:r>
              <a:rPr b="0" i="0" lang="en-US" sz="1200" u="none" cap="none" strike="noStrike">
                <a:solidFill>
                  <a:srgbClr val="FFFFFF"/>
                </a:solidFill>
                <a:latin typeface="Arial"/>
                <a:ea typeface="Arial"/>
                <a:cs typeface="Arial"/>
                <a:sym typeface="Arial"/>
              </a:rPr>
              <a:t>Lesson 5-1 · Determine the Area of Parallelograms and Rhombuses</a:t>
            </a:r>
            <a:endParaRPr/>
          </a:p>
        </p:txBody>
      </p:sp>
      <p:sp>
        <p:nvSpPr>
          <p:cNvPr id="505" name="Google Shape;505;p51"/>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06" name="Google Shape;506;p51"/>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00" u="none" cap="none" strike="noStrike">
                <a:solidFill>
                  <a:srgbClr val="475569"/>
                </a:solidFill>
                <a:latin typeface="Arial"/>
                <a:ea typeface="Arial"/>
                <a:cs typeface="Arial"/>
                <a:sym typeface="Arial"/>
              </a:rPr>
              <a:t>eduwonderlab.com  ·  Neft Teacher</a:t>
            </a:r>
            <a:endParaRPr/>
          </a:p>
        </p:txBody>
      </p:sp>
      <p:sp>
        <p:nvSpPr>
          <p:cNvPr id="507" name="Google Shape;507;p51"/>
          <p:cNvSpPr txBox="1"/>
          <p:nvPr/>
        </p:nvSpPr>
        <p:spPr>
          <a:xfrm>
            <a:off x="640080" y="1803654"/>
            <a:ext cx="5897880" cy="7802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4400" u="none" cap="none" strike="noStrike">
                <a:solidFill>
                  <a:srgbClr val="14223A"/>
                </a:solidFill>
                <a:latin typeface="Arial"/>
                <a:ea typeface="Arial"/>
                <a:cs typeface="Arial"/>
                <a:sym typeface="Arial"/>
              </a:rPr>
              <a:t>Height</a:t>
            </a:r>
            <a:endParaRPr/>
          </a:p>
        </p:txBody>
      </p:sp>
      <p:sp>
        <p:nvSpPr>
          <p:cNvPr id="508" name="Google Shape;508;p51"/>
          <p:cNvSpPr/>
          <p:nvPr/>
        </p:nvSpPr>
        <p:spPr>
          <a:xfrm>
            <a:off x="658368" y="2638806"/>
            <a:ext cx="1097280" cy="6858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09" name="Google Shape;509;p51"/>
          <p:cNvSpPr txBox="1"/>
          <p:nvPr/>
        </p:nvSpPr>
        <p:spPr>
          <a:xfrm>
            <a:off x="640080" y="2999994"/>
            <a:ext cx="5897880" cy="704088"/>
          </a:xfrm>
          <a:prstGeom prst="rect">
            <a:avLst/>
          </a:prstGeom>
          <a:noFill/>
          <a:ln>
            <a:noFill/>
          </a:ln>
        </p:spPr>
        <p:txBody>
          <a:bodyPr anchorCtr="0" anchor="t" bIns="0" lIns="0" spcFirstLastPara="1" rIns="0" wrap="square" tIns="0">
            <a:spAutoFit/>
          </a:bodyPr>
          <a:lstStyle/>
          <a:p>
            <a:pPr indent="0" lvl="0" marL="0" marR="0" rtl="0" algn="l">
              <a:lnSpc>
                <a:spcPct val="126000"/>
              </a:lnSpc>
              <a:spcBef>
                <a:spcPts val="0"/>
              </a:spcBef>
              <a:spcAft>
                <a:spcPts val="0"/>
              </a:spcAft>
              <a:buNone/>
            </a:pPr>
            <a:r>
              <a:rPr b="0" i="0" lang="en-US" sz="2200" u="none" cap="none" strike="noStrike">
                <a:solidFill>
                  <a:srgbClr val="14223A"/>
                </a:solidFill>
                <a:latin typeface="Arial"/>
                <a:ea typeface="Arial"/>
                <a:cs typeface="Arial"/>
                <a:sym typeface="Arial"/>
              </a:rPr>
              <a:t>The straight-up distance from the base to the top.</a:t>
            </a:r>
            <a:endParaRPr/>
          </a:p>
        </p:txBody>
      </p:sp>
      <p:sp>
        <p:nvSpPr>
          <p:cNvPr id="510" name="Google Shape;510;p51"/>
          <p:cNvSpPr/>
          <p:nvPr/>
        </p:nvSpPr>
        <p:spPr>
          <a:xfrm>
            <a:off x="640080" y="4124706"/>
            <a:ext cx="5897880" cy="1249680"/>
          </a:xfrm>
          <a:prstGeom prst="roundRect">
            <a:avLst>
              <a:gd fmla="val 7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11" name="Google Shape;511;p51"/>
          <p:cNvSpPr/>
          <p:nvPr/>
        </p:nvSpPr>
        <p:spPr>
          <a:xfrm>
            <a:off x="640080" y="4124706"/>
            <a:ext cx="91440" cy="124968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12" name="Google Shape;512;p51"/>
          <p:cNvSpPr txBox="1"/>
          <p:nvPr/>
        </p:nvSpPr>
        <p:spPr>
          <a:xfrm>
            <a:off x="932688" y="4298442"/>
            <a:ext cx="5330952" cy="2377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150" u="none" cap="none" strike="noStrike">
                <a:solidFill>
                  <a:srgbClr val="C2410C"/>
                </a:solidFill>
                <a:latin typeface="Arial"/>
                <a:ea typeface="Arial"/>
                <a:cs typeface="Arial"/>
                <a:sym typeface="Arial"/>
              </a:rPr>
              <a:t>EXAMPLE · EXPLAIN WHY IT FITS</a:t>
            </a:r>
            <a:endParaRPr/>
          </a:p>
        </p:txBody>
      </p:sp>
      <p:sp>
        <p:nvSpPr>
          <p:cNvPr id="513" name="Google Shape;513;p51"/>
          <p:cNvSpPr txBox="1"/>
          <p:nvPr/>
        </p:nvSpPr>
        <p:spPr>
          <a:xfrm>
            <a:off x="932688" y="4600194"/>
            <a:ext cx="5330952" cy="6278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1700" u="none" cap="none" strike="noStrike">
                <a:solidFill>
                  <a:srgbClr val="14223A"/>
                </a:solidFill>
                <a:latin typeface="Arial"/>
                <a:ea typeface="Arial"/>
                <a:cs typeface="Arial"/>
                <a:sym typeface="Arial"/>
              </a:rPr>
              <a:t>A dashed vertical line from the top side straight down to the base, forming a 90° angle — NOT the slanted side</a:t>
            </a:r>
            <a:endParaRPr/>
          </a:p>
        </p:txBody>
      </p:sp>
      <p:pic>
        <p:nvPicPr>
          <p:cNvPr descr="height-parallelogram.png" id="514" name="Google Shape;514;p51"/>
          <p:cNvPicPr preferRelativeResize="0"/>
          <p:nvPr/>
        </p:nvPicPr>
        <p:blipFill rotWithShape="1">
          <a:blip r:embed="rId2">
            <a:alphaModFix/>
          </a:blip>
          <a:srcRect b="0" l="0" r="0" t="0"/>
          <a:stretch/>
        </p:blipFill>
        <p:spPr>
          <a:xfrm>
            <a:off x="6903720" y="1853738"/>
            <a:ext cx="4572000" cy="3424843"/>
          </a:xfrm>
          <a:prstGeom prst="rect">
            <a:avLst/>
          </a:prstGeom>
          <a:noFill/>
          <a:ln>
            <a:noFill/>
          </a:ln>
        </p:spPr>
      </p:pic>
      <p:sp>
        <p:nvSpPr>
          <p:cNvPr id="333"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13 / 66</a:t>
            </a:r>
          </a:p>
        </p:txBody>
      </p:sp>
      <p:sp xmlns:p="http://schemas.openxmlformats.org/presentationml/2006/main" xmlns:a="http://schemas.openxmlformats.org/drawingml/2006/main">
        <p:nvSpPr>
          <p:cNvPr id="515" name="TEACH-embedded-student-prompt" descr="Student thinking and response directions"/>
          <p:cNvSpPr txBox="1"/>
          <p:nvPr/>
        </p:nvSpPr>
        <p:spPr>
          <a:xfrm>
            <a:off x="4099560" y="5815584"/>
            <a:ext cx="749808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Use “Height” to explain the example. Point to evidence.</a:t>
            </a:r>
            <a:endParaRPr lang="en-US" sz="2000"/>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519" name="Google Shape;519;p52"/>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20" name="Google Shape;520;p52"/>
          <p:cNvSpPr/>
          <p:nvPr/>
        </p:nvSpPr>
        <p:spPr>
          <a:xfrm>
            <a:off x="0" y="0"/>
            <a:ext cx="12191969" cy="713232"/>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21" name="Google Shape;521;p52"/>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2000" u="none" cap="none" strike="noStrike">
                <a:solidFill>
                  <a:srgbClr val="FFFFFF"/>
                </a:solidFill>
                <a:latin typeface="Arial"/>
                <a:ea typeface="Arial"/>
                <a:cs typeface="Arial"/>
                <a:sym typeface="Arial"/>
              </a:rPr>
              <a:t>Vocabulary  7 of 10</a:t>
            </a:r>
            <a:endParaRPr/>
          </a:p>
        </p:txBody>
      </p:sp>
      <p:sp>
        <p:nvSpPr>
          <p:cNvPr id="522" name="Google Shape;522;p52"/>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pPr>
            <a:r>
              <a:rPr b="0" i="0" lang="en-US" sz="1200" u="none" cap="none" strike="noStrike">
                <a:solidFill>
                  <a:srgbClr val="FFFFFF"/>
                </a:solidFill>
                <a:latin typeface="Arial"/>
                <a:ea typeface="Arial"/>
                <a:cs typeface="Arial"/>
                <a:sym typeface="Arial"/>
              </a:rPr>
              <a:t>Lesson 5-1 · Determine the Area of Parallelograms and Rhombuses</a:t>
            </a:r>
            <a:endParaRPr/>
          </a:p>
        </p:txBody>
      </p:sp>
      <p:sp>
        <p:nvSpPr>
          <p:cNvPr id="523" name="Google Shape;523;p52"/>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24" name="Google Shape;524;p52"/>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00" u="none" cap="none" strike="noStrike">
                <a:solidFill>
                  <a:srgbClr val="475569"/>
                </a:solidFill>
                <a:latin typeface="Arial"/>
                <a:ea typeface="Arial"/>
                <a:cs typeface="Arial"/>
                <a:sym typeface="Arial"/>
              </a:rPr>
              <a:t>eduwonderlab.com  ·  Neft Teacher</a:t>
            </a:r>
            <a:endParaRPr/>
          </a:p>
        </p:txBody>
      </p:sp>
      <p:sp>
        <p:nvSpPr>
          <p:cNvPr id="525" name="Google Shape;525;p52"/>
          <p:cNvSpPr txBox="1"/>
          <p:nvPr/>
        </p:nvSpPr>
        <p:spPr>
          <a:xfrm>
            <a:off x="640080" y="1674114"/>
            <a:ext cx="5897880" cy="7802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4400" u="none" cap="none" strike="noStrike">
                <a:solidFill>
                  <a:srgbClr val="14223A"/>
                </a:solidFill>
                <a:latin typeface="Arial"/>
                <a:ea typeface="Arial"/>
                <a:cs typeface="Arial"/>
                <a:sym typeface="Arial"/>
              </a:rPr>
              <a:t>Perpendicular</a:t>
            </a:r>
            <a:endParaRPr/>
          </a:p>
        </p:txBody>
      </p:sp>
      <p:sp>
        <p:nvSpPr>
          <p:cNvPr id="526" name="Google Shape;526;p52"/>
          <p:cNvSpPr/>
          <p:nvPr/>
        </p:nvSpPr>
        <p:spPr>
          <a:xfrm>
            <a:off x="658368" y="2509266"/>
            <a:ext cx="1545336" cy="6858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27" name="Google Shape;527;p52"/>
          <p:cNvSpPr txBox="1"/>
          <p:nvPr/>
        </p:nvSpPr>
        <p:spPr>
          <a:xfrm>
            <a:off x="640080" y="2870454"/>
            <a:ext cx="5897880" cy="704088"/>
          </a:xfrm>
          <a:prstGeom prst="rect">
            <a:avLst/>
          </a:prstGeom>
          <a:noFill/>
          <a:ln>
            <a:noFill/>
          </a:ln>
        </p:spPr>
        <p:txBody>
          <a:bodyPr anchorCtr="0" anchor="t" bIns="0" lIns="0" spcFirstLastPara="1" rIns="0" wrap="square" tIns="0">
            <a:spAutoFit/>
          </a:bodyPr>
          <a:lstStyle/>
          <a:p>
            <a:pPr indent="0" lvl="0" marL="0" marR="0" rtl="0" algn="l">
              <a:lnSpc>
                <a:spcPct val="126000"/>
              </a:lnSpc>
              <a:spcBef>
                <a:spcPts val="0"/>
              </a:spcBef>
              <a:spcAft>
                <a:spcPts val="0"/>
              </a:spcAft>
              <a:buNone/>
            </a:pPr>
            <a:r>
              <a:rPr b="0" i="0" lang="en-US" sz="2200" u="none" cap="none" strike="noStrike">
                <a:solidFill>
                  <a:srgbClr val="14223A"/>
                </a:solidFill>
                <a:latin typeface="Arial"/>
                <a:ea typeface="Arial"/>
                <a:cs typeface="Arial"/>
                <a:sym typeface="Arial"/>
              </a:rPr>
              <a:t>Two lines that meet to make a square corner (90 degrees).</a:t>
            </a:r>
            <a:endParaRPr/>
          </a:p>
        </p:txBody>
      </p:sp>
      <p:sp>
        <p:nvSpPr>
          <p:cNvPr id="528" name="Google Shape;528;p52"/>
          <p:cNvSpPr/>
          <p:nvPr/>
        </p:nvSpPr>
        <p:spPr>
          <a:xfrm>
            <a:off x="640080" y="3995166"/>
            <a:ext cx="5897880" cy="1508760"/>
          </a:xfrm>
          <a:prstGeom prst="roundRect">
            <a:avLst>
              <a:gd fmla="val 7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29" name="Google Shape;529;p52"/>
          <p:cNvSpPr/>
          <p:nvPr/>
        </p:nvSpPr>
        <p:spPr>
          <a:xfrm>
            <a:off x="640080" y="3995166"/>
            <a:ext cx="91440" cy="150876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30" name="Google Shape;530;p52"/>
          <p:cNvSpPr txBox="1"/>
          <p:nvPr/>
        </p:nvSpPr>
        <p:spPr>
          <a:xfrm>
            <a:off x="932688" y="4168902"/>
            <a:ext cx="5330952" cy="2377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150" u="none" cap="none" strike="noStrike">
                <a:solidFill>
                  <a:srgbClr val="C2410C"/>
                </a:solidFill>
                <a:latin typeface="Arial"/>
                <a:ea typeface="Arial"/>
                <a:cs typeface="Arial"/>
                <a:sym typeface="Arial"/>
              </a:rPr>
              <a:t>EXAMPLE · EXPLAIN WHY IT FITS</a:t>
            </a:r>
            <a:endParaRPr/>
          </a:p>
        </p:txBody>
      </p:sp>
      <p:sp>
        <p:nvSpPr>
          <p:cNvPr id="531" name="Google Shape;531;p52"/>
          <p:cNvSpPr txBox="1"/>
          <p:nvPr/>
        </p:nvSpPr>
        <p:spPr>
          <a:xfrm>
            <a:off x="932688" y="4470654"/>
            <a:ext cx="5330952" cy="886967"/>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1700" u="none" cap="none" strike="noStrike">
                <a:solidFill>
                  <a:srgbClr val="14223A"/>
                </a:solidFill>
                <a:latin typeface="Arial"/>
                <a:ea typeface="Arial"/>
                <a:cs typeface="Arial"/>
                <a:sym typeface="Arial"/>
              </a:rPr>
              <a:t>The dashed height meets the base at a square corner — the small 90° box is what makes it perpendicular, not slanted.</a:t>
            </a:r>
            <a:endParaRPr/>
          </a:p>
        </p:txBody>
      </p:sp>
      <p:pic>
        <p:nvPicPr>
          <p:cNvPr descr="perpendicular.png" id="532" name="Google Shape;532;p52"/>
          <p:cNvPicPr preferRelativeResize="0"/>
          <p:nvPr/>
        </p:nvPicPr>
        <p:blipFill rotWithShape="1">
          <a:blip r:embed="rId2">
            <a:alphaModFix/>
          </a:blip>
          <a:srcRect b="0" l="0" r="0" t="0"/>
          <a:stretch/>
        </p:blipFill>
        <p:spPr>
          <a:xfrm>
            <a:off x="6903720" y="1853738"/>
            <a:ext cx="4572000" cy="3424843"/>
          </a:xfrm>
          <a:prstGeom prst="rect">
            <a:avLst/>
          </a:prstGeom>
          <a:noFill/>
          <a:ln>
            <a:noFill/>
          </a:ln>
        </p:spPr>
      </p:pic>
      <p:sp>
        <p:nvSpPr>
          <p:cNvPr id="333"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14 / 66</a:t>
            </a:r>
          </a:p>
        </p:txBody>
      </p:sp>
      <p:sp xmlns:p="http://schemas.openxmlformats.org/presentationml/2006/main" xmlns:a="http://schemas.openxmlformats.org/drawingml/2006/main">
        <p:nvSpPr>
          <p:cNvPr id="533" name="TEACH-embedded-student-prompt" descr="Student thinking and response directions"/>
          <p:cNvSpPr txBox="1"/>
          <p:nvPr/>
        </p:nvSpPr>
        <p:spPr>
          <a:xfrm>
            <a:off x="7391400" y="5504688"/>
            <a:ext cx="4206240" cy="768096"/>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Use “Perpendicular” to explain</a:t>
            </a:r>
            <a:endParaRPr lang="en-US" sz="2000"/>
          </a:p>
          <a:p>
            <a:pPr>
              <a:lnSpc>
                <a:spcPts val="2400"/>
              </a:lnSpc>
              <a:buNone/>
            </a:pPr>
            <a:r>
              <a:rPr lang="en-US" sz="2000">
                <a:solidFill>
                  <a:srgbClr val="174D60"/>
                </a:solidFill>
                <a:latin typeface="Arial"/>
              </a:rPr>
              <a:t>the example. Point to evidence.</a:t>
            </a:r>
            <a:endParaRPr lang="en-US" sz="2000"/>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537" name="Google Shape;537;p53"/>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38" name="Google Shape;538;p53"/>
          <p:cNvSpPr/>
          <p:nvPr/>
        </p:nvSpPr>
        <p:spPr>
          <a:xfrm>
            <a:off x="0" y="0"/>
            <a:ext cx="12191969" cy="713232"/>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39" name="Google Shape;539;p53"/>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2000" u="none" cap="none" strike="noStrike">
                <a:solidFill>
                  <a:srgbClr val="FFFFFF"/>
                </a:solidFill>
                <a:latin typeface="Arial"/>
                <a:ea typeface="Arial"/>
                <a:cs typeface="Arial"/>
                <a:sym typeface="Arial"/>
              </a:rPr>
              <a:t>Vocabulary  8 of 10</a:t>
            </a:r>
            <a:endParaRPr/>
          </a:p>
        </p:txBody>
      </p:sp>
      <p:sp>
        <p:nvSpPr>
          <p:cNvPr id="540" name="Google Shape;540;p53"/>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pPr>
            <a:r>
              <a:rPr b="0" i="0" lang="en-US" sz="1200" u="none" cap="none" strike="noStrike">
                <a:solidFill>
                  <a:srgbClr val="FFFFFF"/>
                </a:solidFill>
                <a:latin typeface="Arial"/>
                <a:ea typeface="Arial"/>
                <a:cs typeface="Arial"/>
                <a:sym typeface="Arial"/>
              </a:rPr>
              <a:t>Lesson 5-1 · Determine the Area of Parallelograms and Rhombuses</a:t>
            </a:r>
            <a:endParaRPr/>
          </a:p>
        </p:txBody>
      </p:sp>
      <p:sp>
        <p:nvSpPr>
          <p:cNvPr id="541" name="Google Shape;541;p53"/>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42" name="Google Shape;542;p53"/>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00" u="none" cap="none" strike="noStrike">
                <a:solidFill>
                  <a:srgbClr val="475569"/>
                </a:solidFill>
                <a:latin typeface="Arial"/>
                <a:ea typeface="Arial"/>
                <a:cs typeface="Arial"/>
                <a:sym typeface="Arial"/>
              </a:rPr>
              <a:t>eduwonderlab.com  ·  Neft Teacher</a:t>
            </a:r>
            <a:endParaRPr/>
          </a:p>
        </p:txBody>
      </p:sp>
      <p:sp>
        <p:nvSpPr>
          <p:cNvPr id="543" name="Google Shape;543;p53"/>
          <p:cNvSpPr txBox="1"/>
          <p:nvPr/>
        </p:nvSpPr>
        <p:spPr>
          <a:xfrm>
            <a:off x="640080" y="1979676"/>
            <a:ext cx="5897880" cy="7802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4400" u="none" cap="none" strike="noStrike">
                <a:solidFill>
                  <a:srgbClr val="14223A"/>
                </a:solidFill>
                <a:latin typeface="Arial"/>
                <a:ea typeface="Arial"/>
                <a:cs typeface="Arial"/>
                <a:sym typeface="Arial"/>
              </a:rPr>
              <a:t>Area</a:t>
            </a:r>
            <a:endParaRPr/>
          </a:p>
        </p:txBody>
      </p:sp>
      <p:sp>
        <p:nvSpPr>
          <p:cNvPr id="544" name="Google Shape;544;p53"/>
          <p:cNvSpPr/>
          <p:nvPr/>
        </p:nvSpPr>
        <p:spPr>
          <a:xfrm>
            <a:off x="658368" y="2814828"/>
            <a:ext cx="1097280" cy="6858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45" name="Google Shape;545;p53"/>
          <p:cNvSpPr txBox="1"/>
          <p:nvPr/>
        </p:nvSpPr>
        <p:spPr>
          <a:xfrm>
            <a:off x="640080" y="3176016"/>
            <a:ext cx="5897880" cy="365760"/>
          </a:xfrm>
          <a:prstGeom prst="rect">
            <a:avLst/>
          </a:prstGeom>
          <a:noFill/>
          <a:ln>
            <a:noFill/>
          </a:ln>
        </p:spPr>
        <p:txBody>
          <a:bodyPr anchorCtr="0" anchor="t" bIns="0" lIns="0" spcFirstLastPara="1" rIns="0" wrap="square" tIns="0">
            <a:spAutoFit/>
          </a:bodyPr>
          <a:lstStyle/>
          <a:p>
            <a:pPr indent="0" lvl="0" marL="0" marR="0" rtl="0" algn="l">
              <a:lnSpc>
                <a:spcPct val="126000"/>
              </a:lnSpc>
              <a:spcBef>
                <a:spcPts val="0"/>
              </a:spcBef>
              <a:spcAft>
                <a:spcPts val="0"/>
              </a:spcAft>
              <a:buNone/>
            </a:pPr>
            <a:r>
              <a:rPr b="0" i="0" lang="en-US" sz="2200" u="none" cap="none" strike="noStrike">
                <a:solidFill>
                  <a:srgbClr val="14223A"/>
                </a:solidFill>
                <a:latin typeface="Arial"/>
                <a:ea typeface="Arial"/>
                <a:cs typeface="Arial"/>
                <a:sym typeface="Arial"/>
              </a:rPr>
              <a:t>How much space is inside a flat shape.</a:t>
            </a:r>
            <a:endParaRPr/>
          </a:p>
        </p:txBody>
      </p:sp>
      <p:sp>
        <p:nvSpPr>
          <p:cNvPr id="546" name="Google Shape;546;p53"/>
          <p:cNvSpPr/>
          <p:nvPr/>
        </p:nvSpPr>
        <p:spPr>
          <a:xfrm>
            <a:off x="640080" y="3948684"/>
            <a:ext cx="5897880" cy="1249680"/>
          </a:xfrm>
          <a:prstGeom prst="roundRect">
            <a:avLst>
              <a:gd fmla="val 7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47" name="Google Shape;547;p53"/>
          <p:cNvSpPr/>
          <p:nvPr/>
        </p:nvSpPr>
        <p:spPr>
          <a:xfrm>
            <a:off x="640080" y="3948684"/>
            <a:ext cx="91440" cy="124968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48" name="Google Shape;548;p53"/>
          <p:cNvSpPr txBox="1"/>
          <p:nvPr/>
        </p:nvSpPr>
        <p:spPr>
          <a:xfrm>
            <a:off x="932688" y="4122420"/>
            <a:ext cx="5330952" cy="2377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150" u="none" cap="none" strike="noStrike">
                <a:solidFill>
                  <a:srgbClr val="C2410C"/>
                </a:solidFill>
                <a:latin typeface="Arial"/>
                <a:ea typeface="Arial"/>
                <a:cs typeface="Arial"/>
                <a:sym typeface="Arial"/>
              </a:rPr>
              <a:t>EXAMPLE · EXPLAIN WHY IT FITS</a:t>
            </a:r>
            <a:endParaRPr/>
          </a:p>
        </p:txBody>
      </p:sp>
      <p:sp>
        <p:nvSpPr>
          <p:cNvPr id="549" name="Google Shape;549;p53"/>
          <p:cNvSpPr txBox="1"/>
          <p:nvPr/>
        </p:nvSpPr>
        <p:spPr>
          <a:xfrm>
            <a:off x="932688" y="4424172"/>
            <a:ext cx="5330952" cy="6278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1700" u="none" cap="none" strike="noStrike">
                <a:solidFill>
                  <a:srgbClr val="14223A"/>
                </a:solidFill>
                <a:latin typeface="Arial"/>
                <a:ea typeface="Arial"/>
                <a:cs typeface="Arial"/>
                <a:sym typeface="Arial"/>
              </a:rPr>
              <a:t>A 3 cm × 4 cm rectangle covers 12 square centimeters — imagine 12 tiny 1×1 squares inside it</a:t>
            </a:r>
            <a:endParaRPr/>
          </a:p>
        </p:txBody>
      </p:sp>
      <p:pic>
        <p:nvPicPr>
          <p:cNvPr descr="area.png" id="550" name="Google Shape;550;p53"/>
          <p:cNvPicPr preferRelativeResize="0"/>
          <p:nvPr/>
        </p:nvPicPr>
        <p:blipFill rotWithShape="1">
          <a:blip r:embed="rId2">
            <a:alphaModFix/>
          </a:blip>
          <a:srcRect b="0" l="0" r="0" t="0"/>
          <a:stretch/>
        </p:blipFill>
        <p:spPr>
          <a:xfrm>
            <a:off x="6903720" y="1853738"/>
            <a:ext cx="4572000" cy="3424843"/>
          </a:xfrm>
          <a:prstGeom prst="rect">
            <a:avLst/>
          </a:prstGeom>
          <a:noFill/>
          <a:ln>
            <a:noFill/>
          </a:ln>
        </p:spPr>
      </p:pic>
      <p:sp>
        <p:nvSpPr>
          <p:cNvPr id="333"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15 / 66</a:t>
            </a:r>
          </a:p>
        </p:txBody>
      </p:sp>
      <p:sp xmlns:p="http://schemas.openxmlformats.org/presentationml/2006/main" xmlns:a="http://schemas.openxmlformats.org/drawingml/2006/main">
        <p:nvSpPr>
          <p:cNvPr id="551" name="TEACH-embedded-student-prompt" descr="Student thinking and response directions"/>
          <p:cNvSpPr txBox="1"/>
          <p:nvPr/>
        </p:nvSpPr>
        <p:spPr>
          <a:xfrm>
            <a:off x="4099560" y="5815584"/>
            <a:ext cx="749808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Use “Area” to explain the example. Point to evidence.</a:t>
            </a:r>
            <a:endParaRPr lang="en-US" sz="2000"/>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555" name="Google Shape;555;p54"/>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56" name="Google Shape;556;p54"/>
          <p:cNvSpPr/>
          <p:nvPr/>
        </p:nvSpPr>
        <p:spPr>
          <a:xfrm>
            <a:off x="0" y="0"/>
            <a:ext cx="12191969" cy="713232"/>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57" name="Google Shape;557;p54"/>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2000" u="none" cap="none" strike="noStrike">
                <a:solidFill>
                  <a:srgbClr val="FFFFFF"/>
                </a:solidFill>
                <a:latin typeface="Arial"/>
                <a:ea typeface="Arial"/>
                <a:cs typeface="Arial"/>
                <a:sym typeface="Arial"/>
              </a:rPr>
              <a:t>Vocabulary  9 of 10</a:t>
            </a:r>
            <a:endParaRPr/>
          </a:p>
        </p:txBody>
      </p:sp>
      <p:sp>
        <p:nvSpPr>
          <p:cNvPr id="558" name="Google Shape;558;p54"/>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pPr>
            <a:r>
              <a:rPr b="0" i="0" lang="en-US" sz="1200" u="none" cap="none" strike="noStrike">
                <a:solidFill>
                  <a:srgbClr val="FFFFFF"/>
                </a:solidFill>
                <a:latin typeface="Arial"/>
                <a:ea typeface="Arial"/>
                <a:cs typeface="Arial"/>
                <a:sym typeface="Arial"/>
              </a:rPr>
              <a:t>Lesson 5-1 · Determine the Area of Parallelograms and Rhombuses</a:t>
            </a:r>
            <a:endParaRPr/>
          </a:p>
        </p:txBody>
      </p:sp>
      <p:sp>
        <p:nvSpPr>
          <p:cNvPr id="559" name="Google Shape;559;p54"/>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60" name="Google Shape;560;p54"/>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00" u="none" cap="none" strike="noStrike">
                <a:solidFill>
                  <a:srgbClr val="475569"/>
                </a:solidFill>
                <a:latin typeface="Arial"/>
                <a:ea typeface="Arial"/>
                <a:cs typeface="Arial"/>
                <a:sym typeface="Arial"/>
              </a:rPr>
              <a:t>eduwonderlab.com  ·  Neft Teacher</a:t>
            </a:r>
            <a:endParaRPr/>
          </a:p>
        </p:txBody>
      </p:sp>
      <p:sp>
        <p:nvSpPr>
          <p:cNvPr id="561" name="Google Shape;561;p54"/>
          <p:cNvSpPr txBox="1"/>
          <p:nvPr/>
        </p:nvSpPr>
        <p:spPr>
          <a:xfrm>
            <a:off x="640080" y="1803654"/>
            <a:ext cx="5897880" cy="7802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4400" u="none" cap="none" strike="noStrike">
                <a:solidFill>
                  <a:srgbClr val="14223A"/>
                </a:solidFill>
                <a:latin typeface="Arial"/>
                <a:ea typeface="Arial"/>
                <a:cs typeface="Arial"/>
                <a:sym typeface="Arial"/>
              </a:rPr>
              <a:t>Composite figure</a:t>
            </a:r>
            <a:endParaRPr/>
          </a:p>
        </p:txBody>
      </p:sp>
      <p:sp>
        <p:nvSpPr>
          <p:cNvPr id="562" name="Google Shape;562;p54"/>
          <p:cNvSpPr/>
          <p:nvPr/>
        </p:nvSpPr>
        <p:spPr>
          <a:xfrm>
            <a:off x="658368" y="2638806"/>
            <a:ext cx="1901952" cy="6858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63" name="Google Shape;563;p54"/>
          <p:cNvSpPr txBox="1"/>
          <p:nvPr/>
        </p:nvSpPr>
        <p:spPr>
          <a:xfrm>
            <a:off x="640080" y="2999994"/>
            <a:ext cx="5897880" cy="704088"/>
          </a:xfrm>
          <a:prstGeom prst="rect">
            <a:avLst/>
          </a:prstGeom>
          <a:noFill/>
          <a:ln>
            <a:noFill/>
          </a:ln>
        </p:spPr>
        <p:txBody>
          <a:bodyPr anchorCtr="0" anchor="t" bIns="0" lIns="0" spcFirstLastPara="1" rIns="0" wrap="square" tIns="0">
            <a:spAutoFit/>
          </a:bodyPr>
          <a:lstStyle/>
          <a:p>
            <a:pPr indent="0" lvl="0" marL="0" marR="0" rtl="0" algn="l">
              <a:lnSpc>
                <a:spcPct val="126000"/>
              </a:lnSpc>
              <a:spcBef>
                <a:spcPts val="0"/>
              </a:spcBef>
              <a:spcAft>
                <a:spcPts val="0"/>
              </a:spcAft>
              <a:buNone/>
            </a:pPr>
            <a:r>
              <a:rPr b="0" i="0" lang="en-US" sz="2200" u="none" cap="none" strike="noStrike">
                <a:solidFill>
                  <a:srgbClr val="14223A"/>
                </a:solidFill>
                <a:latin typeface="Arial"/>
                <a:ea typeface="Arial"/>
                <a:cs typeface="Arial"/>
                <a:sym typeface="Arial"/>
              </a:rPr>
              <a:t>A shape made by putting two or more simple shapes together.</a:t>
            </a:r>
            <a:endParaRPr/>
          </a:p>
        </p:txBody>
      </p:sp>
      <p:sp>
        <p:nvSpPr>
          <p:cNvPr id="564" name="Google Shape;564;p54"/>
          <p:cNvSpPr/>
          <p:nvPr/>
        </p:nvSpPr>
        <p:spPr>
          <a:xfrm>
            <a:off x="640080" y="4124706"/>
            <a:ext cx="5897880" cy="1249680"/>
          </a:xfrm>
          <a:prstGeom prst="roundRect">
            <a:avLst>
              <a:gd fmla="val 7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65" name="Google Shape;565;p54"/>
          <p:cNvSpPr/>
          <p:nvPr/>
        </p:nvSpPr>
        <p:spPr>
          <a:xfrm>
            <a:off x="640080" y="4124706"/>
            <a:ext cx="91440" cy="124968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66" name="Google Shape;566;p54"/>
          <p:cNvSpPr txBox="1"/>
          <p:nvPr/>
        </p:nvSpPr>
        <p:spPr>
          <a:xfrm>
            <a:off x="932688" y="4298442"/>
            <a:ext cx="5330952" cy="2377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150" u="none" cap="none" strike="noStrike">
                <a:solidFill>
                  <a:srgbClr val="C2410C"/>
                </a:solidFill>
                <a:latin typeface="Arial"/>
                <a:ea typeface="Arial"/>
                <a:cs typeface="Arial"/>
                <a:sym typeface="Arial"/>
              </a:rPr>
              <a:t>EXAMPLE · EXPLAIN WHY IT FITS</a:t>
            </a:r>
            <a:endParaRPr/>
          </a:p>
        </p:txBody>
      </p:sp>
      <p:sp>
        <p:nvSpPr>
          <p:cNvPr id="567" name="Google Shape;567;p54"/>
          <p:cNvSpPr txBox="1"/>
          <p:nvPr/>
        </p:nvSpPr>
        <p:spPr>
          <a:xfrm>
            <a:off x="932688" y="4600194"/>
            <a:ext cx="5330952" cy="6278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1700" u="none" cap="none" strike="noStrike">
                <a:solidFill>
                  <a:srgbClr val="14223A"/>
                </a:solidFill>
                <a:latin typeface="Arial"/>
                <a:ea typeface="Arial"/>
                <a:cs typeface="Arial"/>
                <a:sym typeface="Arial"/>
              </a:rPr>
              <a:t>An L-shaped room = a 10×8 rectangle joined to a 4×5 rectangle; total area = 80 + 20 = 100 sq ft</a:t>
            </a:r>
            <a:endParaRPr/>
          </a:p>
        </p:txBody>
      </p:sp>
      <p:pic>
        <p:nvPicPr>
          <p:cNvPr descr="composite-figure.png" id="568" name="Google Shape;568;p54"/>
          <p:cNvPicPr preferRelativeResize="0"/>
          <p:nvPr/>
        </p:nvPicPr>
        <p:blipFill rotWithShape="1">
          <a:blip r:embed="rId2">
            <a:alphaModFix/>
          </a:blip>
          <a:srcRect b="0" l="0" r="0" t="0"/>
          <a:stretch/>
        </p:blipFill>
        <p:spPr>
          <a:xfrm>
            <a:off x="6903720" y="1853738"/>
            <a:ext cx="4572000" cy="3424843"/>
          </a:xfrm>
          <a:prstGeom prst="rect">
            <a:avLst/>
          </a:prstGeom>
          <a:noFill/>
          <a:ln>
            <a:noFill/>
          </a:ln>
        </p:spPr>
      </p:pic>
      <p:sp>
        <p:nvSpPr>
          <p:cNvPr id="333"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16 / 66</a:t>
            </a:r>
          </a:p>
        </p:txBody>
      </p:sp>
      <p:sp xmlns:p="http://schemas.openxmlformats.org/presentationml/2006/main" xmlns:a="http://schemas.openxmlformats.org/drawingml/2006/main">
        <p:nvSpPr>
          <p:cNvPr id="569" name="TEACH-embedded-student-prompt" descr="Student thinking and response directions"/>
          <p:cNvSpPr txBox="1"/>
          <p:nvPr/>
        </p:nvSpPr>
        <p:spPr>
          <a:xfrm>
            <a:off x="4099560" y="5504688"/>
            <a:ext cx="7498080" cy="768096"/>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Use “Composite figure” to explain the example. Point to</a:t>
            </a:r>
            <a:endParaRPr lang="en-US" sz="2000"/>
          </a:p>
          <a:p>
            <a:pPr>
              <a:lnSpc>
                <a:spcPts val="2400"/>
              </a:lnSpc>
              <a:buNone/>
            </a:pPr>
            <a:r>
              <a:rPr lang="en-US" sz="2000">
                <a:solidFill>
                  <a:srgbClr val="174D60"/>
                </a:solidFill>
                <a:latin typeface="Arial"/>
              </a:rPr>
              <a:t>evidence.</a:t>
            </a:r>
            <a:endParaRPr lang="en-US" sz="2000"/>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573" name="Google Shape;573;p55"/>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74" name="Google Shape;574;p55"/>
          <p:cNvSpPr/>
          <p:nvPr/>
        </p:nvSpPr>
        <p:spPr>
          <a:xfrm>
            <a:off x="0" y="0"/>
            <a:ext cx="12191969" cy="713232"/>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75" name="Google Shape;575;p55"/>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2000" u="none" cap="none" strike="noStrike">
                <a:solidFill>
                  <a:srgbClr val="FFFFFF"/>
                </a:solidFill>
                <a:latin typeface="Arial"/>
                <a:ea typeface="Arial"/>
                <a:cs typeface="Arial"/>
                <a:sym typeface="Arial"/>
              </a:rPr>
              <a:t>Vocabulary  10 of 10</a:t>
            </a:r>
            <a:endParaRPr/>
          </a:p>
        </p:txBody>
      </p:sp>
      <p:sp>
        <p:nvSpPr>
          <p:cNvPr id="576" name="Google Shape;576;p55"/>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pPr>
            <a:r>
              <a:rPr b="0" i="0" lang="en-US" sz="1200" u="none" cap="none" strike="noStrike">
                <a:solidFill>
                  <a:srgbClr val="FFFFFF"/>
                </a:solidFill>
                <a:latin typeface="Arial"/>
                <a:ea typeface="Arial"/>
                <a:cs typeface="Arial"/>
                <a:sym typeface="Arial"/>
              </a:rPr>
              <a:t>Lesson 5-1 · Determine the Area of Parallelograms and Rhombuses</a:t>
            </a:r>
            <a:endParaRPr/>
          </a:p>
        </p:txBody>
      </p:sp>
      <p:sp>
        <p:nvSpPr>
          <p:cNvPr id="577" name="Google Shape;577;p55"/>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78" name="Google Shape;578;p55"/>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00" u="none" cap="none" strike="noStrike">
                <a:solidFill>
                  <a:srgbClr val="475569"/>
                </a:solidFill>
                <a:latin typeface="Arial"/>
                <a:ea typeface="Arial"/>
                <a:cs typeface="Arial"/>
                <a:sym typeface="Arial"/>
              </a:rPr>
              <a:t>eduwonderlab.com  ·  Neft Teacher</a:t>
            </a:r>
            <a:endParaRPr/>
          </a:p>
        </p:txBody>
      </p:sp>
      <p:sp>
        <p:nvSpPr>
          <p:cNvPr id="579" name="Google Shape;579;p55"/>
          <p:cNvSpPr txBox="1"/>
          <p:nvPr/>
        </p:nvSpPr>
        <p:spPr>
          <a:xfrm>
            <a:off x="640080" y="1979676"/>
            <a:ext cx="5897880" cy="7802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4400" u="none" cap="none" strike="noStrike">
                <a:solidFill>
                  <a:srgbClr val="14223A"/>
                </a:solidFill>
                <a:latin typeface="Arial"/>
                <a:ea typeface="Arial"/>
                <a:cs typeface="Arial"/>
                <a:sym typeface="Arial"/>
              </a:rPr>
              <a:t>Formula</a:t>
            </a:r>
            <a:endParaRPr/>
          </a:p>
        </p:txBody>
      </p:sp>
      <p:sp>
        <p:nvSpPr>
          <p:cNvPr id="580" name="Google Shape;580;p55"/>
          <p:cNvSpPr/>
          <p:nvPr/>
        </p:nvSpPr>
        <p:spPr>
          <a:xfrm>
            <a:off x="658368" y="2814828"/>
            <a:ext cx="1097280" cy="6858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81" name="Google Shape;581;p55"/>
          <p:cNvSpPr txBox="1"/>
          <p:nvPr/>
        </p:nvSpPr>
        <p:spPr>
          <a:xfrm>
            <a:off x="640080" y="3176016"/>
            <a:ext cx="5897880" cy="365760"/>
          </a:xfrm>
          <a:prstGeom prst="rect">
            <a:avLst/>
          </a:prstGeom>
          <a:noFill/>
          <a:ln>
            <a:noFill/>
          </a:ln>
        </p:spPr>
        <p:txBody>
          <a:bodyPr anchorCtr="0" anchor="t" bIns="0" lIns="0" spcFirstLastPara="1" rIns="0" wrap="square" tIns="0">
            <a:spAutoFit/>
          </a:bodyPr>
          <a:lstStyle/>
          <a:p>
            <a:pPr indent="0" lvl="0" marL="0" marR="0" rtl="0" algn="l">
              <a:lnSpc>
                <a:spcPct val="126000"/>
              </a:lnSpc>
              <a:spcBef>
                <a:spcPts val="0"/>
              </a:spcBef>
              <a:spcAft>
                <a:spcPts val="0"/>
              </a:spcAft>
              <a:buNone/>
            </a:pPr>
            <a:r>
              <a:rPr b="0" i="0" lang="en-US" sz="2200" u="none" cap="none" strike="noStrike">
                <a:solidFill>
                  <a:srgbClr val="14223A"/>
                </a:solidFill>
                <a:latin typeface="Arial"/>
                <a:ea typeface="Arial"/>
                <a:cs typeface="Arial"/>
                <a:sym typeface="Arial"/>
              </a:rPr>
              <a:t>A math rule written with symbols.</a:t>
            </a:r>
            <a:endParaRPr/>
          </a:p>
        </p:txBody>
      </p:sp>
      <p:sp>
        <p:nvSpPr>
          <p:cNvPr id="582" name="Google Shape;582;p55"/>
          <p:cNvSpPr/>
          <p:nvPr/>
        </p:nvSpPr>
        <p:spPr>
          <a:xfrm>
            <a:off x="640080" y="3948684"/>
            <a:ext cx="5897880" cy="1249680"/>
          </a:xfrm>
          <a:prstGeom prst="roundRect">
            <a:avLst>
              <a:gd fmla="val 7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83" name="Google Shape;583;p55"/>
          <p:cNvSpPr/>
          <p:nvPr/>
        </p:nvSpPr>
        <p:spPr>
          <a:xfrm>
            <a:off x="640080" y="3948684"/>
            <a:ext cx="91440" cy="124968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84" name="Google Shape;584;p55"/>
          <p:cNvSpPr txBox="1"/>
          <p:nvPr/>
        </p:nvSpPr>
        <p:spPr>
          <a:xfrm>
            <a:off x="932688" y="4122420"/>
            <a:ext cx="5330952" cy="2377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150" u="none" cap="none" strike="noStrike">
                <a:solidFill>
                  <a:srgbClr val="C2410C"/>
                </a:solidFill>
                <a:latin typeface="Arial"/>
                <a:ea typeface="Arial"/>
                <a:cs typeface="Arial"/>
                <a:sym typeface="Arial"/>
              </a:rPr>
              <a:t>EXAMPLE · EXPLAIN WHY IT FITS</a:t>
            </a:r>
            <a:endParaRPr/>
          </a:p>
        </p:txBody>
      </p:sp>
      <p:sp>
        <p:nvSpPr>
          <p:cNvPr id="585" name="Google Shape;585;p55"/>
          <p:cNvSpPr txBox="1"/>
          <p:nvPr/>
        </p:nvSpPr>
        <p:spPr>
          <a:xfrm>
            <a:off x="932688" y="4424172"/>
            <a:ext cx="5330952" cy="6278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1700" u="none" cap="none" strike="noStrike">
                <a:solidFill>
                  <a:srgbClr val="14223A"/>
                </a:solidFill>
                <a:latin typeface="Arial"/>
                <a:ea typeface="Arial"/>
                <a:cs typeface="Arial"/>
                <a:sym typeface="Arial"/>
              </a:rPr>
              <a:t>A = b × h means Area equals base times height; for a parallelogram with b = 6 and h = 4, A = 24</a:t>
            </a:r>
            <a:endParaRPr/>
          </a:p>
        </p:txBody>
      </p:sp>
      <p:pic>
        <p:nvPicPr>
          <p:cNvPr descr="area-of-parallelograms.png" id="586" name="Google Shape;586;p55"/>
          <p:cNvPicPr preferRelativeResize="0"/>
          <p:nvPr/>
        </p:nvPicPr>
        <p:blipFill rotWithShape="1">
          <a:blip r:embed="rId2">
            <a:alphaModFix/>
          </a:blip>
          <a:srcRect b="0" l="0" r="0" t="0"/>
          <a:stretch/>
        </p:blipFill>
        <p:spPr>
          <a:xfrm>
            <a:off x="6903720" y="1853738"/>
            <a:ext cx="4572000" cy="3424843"/>
          </a:xfrm>
          <a:prstGeom prst="rect">
            <a:avLst/>
          </a:prstGeom>
          <a:noFill/>
          <a:ln>
            <a:noFill/>
          </a:ln>
        </p:spPr>
      </p:pic>
      <p:sp>
        <p:nvSpPr>
          <p:cNvPr id="333"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17 / 66</a:t>
            </a:r>
          </a:p>
        </p:txBody>
      </p:sp>
      <p:sp xmlns:p="http://schemas.openxmlformats.org/presentationml/2006/main" xmlns:a="http://schemas.openxmlformats.org/drawingml/2006/main">
        <p:nvSpPr>
          <p:cNvPr id="587" name="TEACH-embedded-student-prompt" descr="Student thinking and response directions"/>
          <p:cNvSpPr txBox="1"/>
          <p:nvPr/>
        </p:nvSpPr>
        <p:spPr>
          <a:xfrm>
            <a:off x="4099560" y="5815584"/>
            <a:ext cx="749808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Use “Formula” to explain the example. Point to evidence.</a:t>
            </a:r>
            <a:endParaRPr lang="en-US" sz="2000"/>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cxnSp>
        <p:nvCxnSpPr>
          <p:cNvPr id="655" name="Google Shape;655;p59"/>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656" name="Google Shape;656;p59"/>
          <p:cNvSpPr/>
          <p:nvPr/>
        </p:nvSpPr>
        <p:spPr>
          <a:xfrm>
            <a:off x="484560" y="5475624"/>
            <a:ext cx="10741420" cy="89255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600"/>
              <a:buFont typeface="Arial"/>
              <a:buNone/>
              <a:defRPr/>
            </a:pPr>
            <a:r>
              <a:rPr b="0" i="0" lang="en-US" sz="2600" u="none" cap="none" strike="noStrike">
                <a:solidFill>
                  <a:srgbClr val="595959"/>
                </a:solidFill>
                <a:latin typeface="Arial"/>
                <a:ea typeface="Arial"/>
                <a:cs typeface="Arial"/>
                <a:sym typeface="Arial"/>
              </a:rPr>
              <a:t>How can different ideas and viewpoints help you understand math better?</a:t>
            </a:r>
            <a:endParaRPr b="0" i="0" sz="1400" u="none" cap="none" strike="noStrike">
              <a:solidFill>
                <a:srgbClr val="000000"/>
              </a:solidFill>
              <a:latin typeface="Arial"/>
              <a:ea typeface="Arial"/>
              <a:cs typeface="Arial"/>
              <a:sym typeface="Arial"/>
            </a:endParaRPr>
          </a:p>
        </p:txBody>
      </p:sp>
      <p:pic>
        <p:nvPicPr>
          <p:cNvPr descr="A picture containing outdoor, sky, water, harbor&#10;&#10;Description automatically generated" id="657" name="Google Shape;657;p59"/>
          <p:cNvPicPr preferRelativeResize="0"/>
          <p:nvPr/>
        </p:nvPicPr>
        <p:blipFill rotWithShape="1">
          <a:blip r:embed="rId2">
            <a:alphaModFix/>
          </a:blip>
          <a:srcRect b="0" l="0" r="0" t="0"/>
          <a:stretch/>
        </p:blipFill>
        <p:spPr>
          <a:xfrm>
            <a:off x="4388689" y="1200776"/>
            <a:ext cx="4860000" cy="3240000"/>
          </a:xfrm>
          <a:prstGeom prst="rect">
            <a:avLst/>
          </a:prstGeom>
          <a:noFill/>
          <a:ln>
            <a:noFill/>
          </a:ln>
        </p:spPr>
      </p:pic>
      <p:sp>
        <p:nvSpPr>
          <p:cNvPr id="658" name="Google Shape;658;p59"/>
          <p:cNvSpPr txBox="1"/>
          <p:nvPr/>
        </p:nvSpPr>
        <p:spPr>
          <a:xfrm>
            <a:off x="484560" y="316034"/>
            <a:ext cx="3904129"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00B050"/>
              </a:buClr>
              <a:buSzPts val="2800"/>
              <a:buFont typeface="Arial"/>
              <a:buNone/>
              <a:defRPr/>
            </a:pPr>
            <a:r>
              <a:rPr b="1" i="0" lang="en-US" sz="2800" u="none" cap="none" strike="noStrike">
                <a:solidFill>
                  <a:srgbClr val="00B050"/>
                </a:solidFill>
                <a:latin typeface="Arial"/>
                <a:ea typeface="Arial"/>
                <a:cs typeface="Arial"/>
                <a:sym typeface="Arial"/>
              </a:rPr>
              <a:t>Be Curious</a:t>
            </a:r>
            <a:endParaRPr b="0" i="0" sz="1400" u="none" cap="none" strike="noStrike">
              <a:solidFill>
                <a:srgbClr val="000000"/>
              </a:solidFill>
              <a:latin typeface="Arial"/>
              <a:ea typeface="Arial"/>
              <a:cs typeface="Arial"/>
              <a:sym typeface="Arial"/>
            </a:endParaRPr>
          </a:p>
        </p:txBody>
      </p:sp>
      <p:pic>
        <p:nvPicPr>
          <p:cNvPr id="659" name="Google Shape;659;p59"/>
          <p:cNvPicPr preferRelativeResize="0"/>
          <p:nvPr/>
        </p:nvPicPr>
        <p:blipFill rotWithShape="1">
          <a:blip r:embed="rId3">
            <a:alphaModFix/>
          </a:blip>
          <a:srcRect b="0" l="0" r="0" t="0"/>
          <a:stretch/>
        </p:blipFill>
        <p:spPr>
          <a:xfrm>
            <a:off x="474056" y="4618789"/>
            <a:ext cx="7073900" cy="838200"/>
          </a:xfrm>
          <a:prstGeom prst="rect">
            <a:avLst/>
          </a:prstGeom>
          <a:noFill/>
          <a:ln>
            <a:noFill/>
          </a:ln>
        </p:spPr>
      </p:pic>
      <p:sp>
        <p:nvSpPr>
          <p:cNvPr id="660" name="Google Shape;660;p59"/>
          <p:cNvSpPr txBox="1"/>
          <p:nvPr/>
        </p:nvSpPr>
        <p:spPr>
          <a:xfrm>
            <a:off x="3177722" y="4776107"/>
            <a:ext cx="1701849" cy="639716"/>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defRPr/>
            </a:pPr>
            <a:r>
              <a:rPr b="0" i="0" lang="en-US" sz="2800" u="none" cap="none" strike="noStrike">
                <a:solidFill>
                  <a:srgbClr val="262626"/>
                </a:solidFill>
                <a:latin typeface="Arial"/>
                <a:ea typeface="Arial"/>
                <a:cs typeface="Arial"/>
                <a:sym typeface="Arial"/>
              </a:rPr>
              <a:t>Mindset</a:t>
            </a:r>
            <a:endParaRPr b="0" i="0" sz="1400" u="none" cap="none" strike="noStrike">
              <a:solidFill>
                <a:srgbClr val="000000"/>
              </a:solidFill>
              <a:latin typeface="Arial"/>
              <a:ea typeface="Arial"/>
              <a:cs typeface="Arial"/>
              <a:sym typeface="Arial"/>
            </a:endParaRPr>
          </a:p>
        </p:txBody>
      </p:sp>
      <p:sp>
        <p:nvSpPr>
          <p:cNvPr id="661" name="Google Shape;661;p59"/>
          <p:cNvSpPr txBox="1"/>
          <p:nvPr/>
        </p:nvSpPr>
        <p:spPr>
          <a:xfrm>
            <a:off x="484560" y="936100"/>
            <a:ext cx="3852881" cy="134158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defRPr/>
            </a:pPr>
            <a:r>
              <a:rPr b="0" i="0" lang="en-US" sz="2800" u="none" cap="none" strike="noStrike">
                <a:solidFill>
                  <a:srgbClr val="262626"/>
                </a:solidFill>
                <a:latin typeface="Arial"/>
                <a:ea typeface="Arial"/>
                <a:cs typeface="Arial"/>
                <a:sym typeface="Arial"/>
              </a:rPr>
              <a:t>What do you notice?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800"/>
              </a:spcBef>
              <a:spcAft>
                <a:spcPts val="0"/>
              </a:spcAft>
              <a:buClr>
                <a:srgbClr val="262626"/>
              </a:buClr>
              <a:buSzPts val="2800"/>
              <a:buFont typeface="Arial"/>
              <a:buNone/>
              <a:defRPr/>
            </a:pPr>
            <a:r>
              <a:rPr b="0" i="0" lang="en-US" sz="2800" u="none" cap="none" strike="noStrike">
                <a:solidFill>
                  <a:srgbClr val="262626"/>
                </a:solidFill>
                <a:latin typeface="Arial"/>
                <a:ea typeface="Arial"/>
                <a:cs typeface="Arial"/>
                <a:sym typeface="Arial"/>
              </a:rPr>
              <a:t>What do you wonder?</a:t>
            </a:r>
            <a:endParaRPr b="0" i="0" sz="1400" u="none" cap="none" strike="noStrike">
              <a:solidFill>
                <a:srgbClr val="000000"/>
              </a:solidFill>
              <a:latin typeface="Arial"/>
              <a:ea typeface="Arial"/>
              <a:cs typeface="Arial"/>
              <a:sym typeface="Arial"/>
            </a:endParaRPr>
          </a:p>
        </p:txBody>
      </p:sp>
      <p:sp>
        <p:nvSpPr>
          <p:cNvPr id="333"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18 / 66</a:t>
            </a:r>
          </a:p>
        </p:txBody>
      </p:sp>
      <p:grpSp>
        <p:nvGrpSpPr>
          <p:cNvPr id="662" name="TEACH-3-student-move" descr="TEACH 3 · Use intentional questioning to deepen learning"/>
          <p:cNvGrpSpPr/>
          <p:nvPr/>
        </p:nvGrpSpPr>
        <p:grpSpPr>
          <a:xfrm>
            <a:off x="6187440" y="761864"/>
            <a:ext cx="5501640" cy="402336"/>
            <a:chOff x="6187440" y="761864"/>
            <a:chExt cx="5501640" cy="402336"/>
          </a:xfrm>
        </p:grpSpPr>
        <p:sp>
          <p:nvSpPr>
            <p:cNvPr id="663" name="TEACH-move-card"/>
            <p:cNvSpPr/>
            <p:nvPr/>
          </p:nvSpPr>
          <p:spPr>
            <a:xfrm>
              <a:off x="6187440" y="761864"/>
              <a:ext cx="5501640" cy="402336"/>
            </a:xfrm>
            <a:prstGeom prst="roundRect">
              <a:avLst>
                <a:gd name="adj" fmla="val 16000"/>
              </a:avLst>
            </a:prstGeom>
            <a:solidFill>
              <a:srgbClr val="E4F0F5"/>
            </a:solidFill>
            <a:ln w="19050">
              <a:solidFill>
                <a:srgbClr val="8CB8C7"/>
              </a:solidFill>
            </a:ln>
          </p:spPr>
          <p:txBody>
            <a:bodyPr/>
            <a:lstStyle/>
            <a:p>
              <a:endParaRPr/>
            </a:p>
          </p:txBody>
        </p:sp>
        <p:sp>
          <p:nvSpPr>
            <p:cNvPr id="664" name="TEACH-move-rule"/>
            <p:cNvSpPr/>
            <p:nvPr/>
          </p:nvSpPr>
          <p:spPr>
            <a:xfrm>
              <a:off x="6233160" y="838308"/>
              <a:ext cx="100584" cy="249448"/>
            </a:xfrm>
            <a:prstGeom prst="roundRect">
              <a:avLst>
                <a:gd name="adj" fmla="val 50000"/>
              </a:avLst>
            </a:prstGeom>
            <a:solidFill>
              <a:srgbClr val="01708C"/>
            </a:solidFill>
            <a:ln>
              <a:noFill/>
            </a:ln>
          </p:spPr>
          <p:txBody>
            <a:bodyPr/>
            <a:lstStyle/>
            <a:p>
              <a:endParaRPr/>
            </a:p>
          </p:txBody>
        </p:sp>
        <p:sp>
          <p:nvSpPr>
            <p:cNvPr id="665" name="TEACH-move-text"/>
            <p:cNvSpPr txBox="1"/>
            <p:nvPr/>
          </p:nvSpPr>
          <p:spPr>
            <a:xfrm>
              <a:off x="6507480" y="761864"/>
              <a:ext cx="504444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HOW DO YOU KNOW?  ·  </a:t>
              </a:r>
              <a:r>
                <a:rPr lang="en-US" sz="1200" dirty="0">
                  <a:solidFill>
                    <a:srgbClr val="13303A"/>
                  </a:solidFill>
                  <a:latin typeface="Arial"/>
                </a:rPr>
                <a:t>Ask your partner “How do you know?” Answer by pointing to your own work.</a:t>
              </a:r>
              <a:endParaRPr lang="en-US" sz="1200"/>
            </a:p>
          </p:txBody>
        </p:sp>
      </p:gr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8" name="Shape 358"/>
        <p:cNvGrpSpPr/>
        <p:nvPr/>
      </p:nvGrpSpPr>
      <p:grpSpPr>
        <a:xfrm>
          <a:off x="0" y="0"/>
          <a:ext cx="0" cy="0"/>
          <a:chOff x="0" y="0"/>
          <a:chExt cx="0" cy="0"/>
        </a:xfrm>
      </p:grpSpPr>
      <p:sp>
        <p:nvSpPr>
          <p:cNvPr id="359" name="Google Shape;359;p45"/>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60" name="Google Shape;360;p45"/>
          <p:cNvSpPr/>
          <p:nvPr/>
        </p:nvSpPr>
        <p:spPr>
          <a:xfrm>
            <a:off x="0" y="0"/>
            <a:ext cx="12191969" cy="713232"/>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61" name="Google Shape;361;p45"/>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2000" u="none" cap="none" strike="noStrike">
                <a:solidFill>
                  <a:srgbClr val="FFFFFF"/>
                </a:solidFill>
                <a:latin typeface="Arial"/>
                <a:ea typeface="Arial"/>
                <a:cs typeface="Arial"/>
                <a:sym typeface="Arial"/>
              </a:rPr>
              <a:t>Vocabulary</a:t>
            </a:r>
            <a:endParaRPr/>
          </a:p>
        </p:txBody>
      </p:sp>
      <p:sp>
        <p:nvSpPr>
          <p:cNvPr id="362" name="Google Shape;362;p45"/>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pPr>
            <a:r>
              <a:rPr b="0" i="0" lang="en-US" sz="1200" u="none" cap="none" strike="noStrike">
                <a:solidFill>
                  <a:srgbClr val="FFFFFF"/>
                </a:solidFill>
                <a:latin typeface="Arial"/>
                <a:ea typeface="Arial"/>
                <a:cs typeface="Arial"/>
                <a:sym typeface="Arial"/>
              </a:rPr>
              <a:t>Lesson 5-1 · Determine the Area of Parallelograms and Rhombuses</a:t>
            </a:r>
            <a:endParaRPr/>
          </a:p>
        </p:txBody>
      </p:sp>
      <p:sp>
        <p:nvSpPr>
          <p:cNvPr id="363" name="Google Shape;363;p45"/>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64" name="Google Shape;364;p45"/>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00" u="none" cap="none" strike="noStrike">
                <a:solidFill>
                  <a:srgbClr val="475569"/>
                </a:solidFill>
                <a:latin typeface="Arial"/>
                <a:ea typeface="Arial"/>
                <a:cs typeface="Arial"/>
                <a:sym typeface="Arial"/>
              </a:rPr>
              <a:t>eduwonderlab.com  ·  Neft Teacher</a:t>
            </a:r>
            <a:endParaRPr/>
          </a:p>
        </p:txBody>
      </p:sp>
      <p:sp>
        <p:nvSpPr>
          <p:cNvPr id="365" name="Google Shape;365;p45"/>
          <p:cNvSpPr txBox="1"/>
          <p:nvPr/>
        </p:nvSpPr>
        <p:spPr>
          <a:xfrm>
            <a:off x="640080" y="1005840"/>
            <a:ext cx="10911809" cy="51206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3400" u="none" cap="none" strike="noStrike">
                <a:solidFill>
                  <a:srgbClr val="14223A"/>
                </a:solidFill>
                <a:latin typeface="Arial"/>
                <a:ea typeface="Arial"/>
                <a:cs typeface="Arial"/>
                <a:sym typeface="Arial"/>
              </a:rPr>
              <a:t>Today’s Math Words</a:t>
            </a:r>
            <a:endParaRPr/>
          </a:p>
        </p:txBody>
      </p:sp>
      <p:sp>
        <p:nvSpPr>
          <p:cNvPr id="366" name="Google Shape;366;p45"/>
          <p:cNvSpPr txBox="1"/>
          <p:nvPr/>
        </p:nvSpPr>
        <p:spPr>
          <a:xfrm>
            <a:off x="640080" y="1591056"/>
            <a:ext cx="10911809"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1" lang="en-US" sz="1400" u="none" cap="none" strike="noStrike">
                <a:solidFill>
                  <a:srgbClr val="475569"/>
                </a:solidFill>
                <a:latin typeface="Arial"/>
                <a:ea typeface="Arial"/>
                <a:cs typeface="Arial"/>
                <a:sym typeface="Arial"/>
              </a:rPr>
              <a:t>We learn every word — what it means and what it looks like — before we use it.</a:t>
            </a:r>
            <a:endParaRPr/>
          </a:p>
        </p:txBody>
      </p:sp>
      <p:sp>
        <p:nvSpPr>
          <p:cNvPr id="367" name="Google Shape;367;p45"/>
          <p:cNvSpPr/>
          <p:nvPr/>
        </p:nvSpPr>
        <p:spPr>
          <a:xfrm>
            <a:off x="640080" y="2103120"/>
            <a:ext cx="3417813" cy="891540"/>
          </a:xfrm>
          <a:prstGeom prst="roundRect">
            <a:avLst>
              <a:gd fmla="val 9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68" name="Google Shape;368;p45"/>
          <p:cNvSpPr/>
          <p:nvPr/>
        </p:nvSpPr>
        <p:spPr>
          <a:xfrm>
            <a:off x="640080" y="2103120"/>
            <a:ext cx="91440" cy="89154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69" name="Google Shape;369;p45"/>
          <p:cNvSpPr txBox="1"/>
          <p:nvPr/>
        </p:nvSpPr>
        <p:spPr>
          <a:xfrm>
            <a:off x="950976" y="2240279"/>
            <a:ext cx="2850885" cy="310896"/>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1700" u="none" cap="none" strike="noStrike">
                <a:solidFill>
                  <a:srgbClr val="14223A"/>
                </a:solidFill>
                <a:latin typeface="Arial"/>
                <a:ea typeface="Arial"/>
                <a:cs typeface="Arial"/>
                <a:sym typeface="Arial"/>
              </a:rPr>
              <a:t>Area of Parallelograms</a:t>
            </a:r>
            <a:endParaRPr/>
          </a:p>
        </p:txBody>
      </p:sp>
      <p:sp>
        <p:nvSpPr>
          <p:cNvPr id="370" name="Google Shape;370;p45"/>
          <p:cNvSpPr txBox="1"/>
          <p:nvPr/>
        </p:nvSpPr>
        <p:spPr>
          <a:xfrm>
            <a:off x="950976" y="2578608"/>
            <a:ext cx="2850885" cy="324612"/>
          </a:xfrm>
          <a:prstGeom prst="rect">
            <a:avLst/>
          </a:prstGeom>
          <a:noFill/>
          <a:ln>
            <a:noFill/>
          </a:ln>
        </p:spPr>
        <p:txBody>
          <a:bodyPr anchorCtr="0" anchor="t" bIns="0" lIns="0" spcFirstLastPara="1" rIns="0" wrap="square" tIns="0">
            <a:spAutoFit/>
          </a:bodyPr>
          <a:lstStyle/>
          <a:p>
            <a:pPr indent="0" lvl="0" marL="0" marR="0" rtl="0" algn="l">
              <a:lnSpc>
                <a:spcPct val="116000"/>
              </a:lnSpc>
              <a:spcBef>
                <a:spcPts val="0"/>
              </a:spcBef>
              <a:spcAft>
                <a:spcPts val="0"/>
              </a:spcAft>
              <a:buNone/>
            </a:pPr>
            <a:r>
              <a:rPr b="0" i="0" lang="en-US" sz="1400" u="none" cap="none" strike="noStrike">
                <a:solidFill>
                  <a:srgbClr val="475569"/>
                </a:solidFill>
                <a:latin typeface="Arial"/>
                <a:ea typeface="Arial"/>
                <a:cs typeface="Arial"/>
                <a:sym typeface="Arial"/>
              </a:rPr>
              <a:t>The space inside a parallelogram</a:t>
            </a:r>
            <a:endParaRPr/>
          </a:p>
        </p:txBody>
      </p:sp>
      <p:sp>
        <p:nvSpPr>
          <p:cNvPr id="371" name="Google Shape;371;p45"/>
          <p:cNvSpPr/>
          <p:nvPr/>
        </p:nvSpPr>
        <p:spPr>
          <a:xfrm>
            <a:off x="4387077" y="2103120"/>
            <a:ext cx="3417813" cy="891540"/>
          </a:xfrm>
          <a:prstGeom prst="roundRect">
            <a:avLst>
              <a:gd fmla="val 9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72" name="Google Shape;372;p45"/>
          <p:cNvSpPr/>
          <p:nvPr/>
        </p:nvSpPr>
        <p:spPr>
          <a:xfrm>
            <a:off x="4387077" y="2103120"/>
            <a:ext cx="91440" cy="89154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73" name="Google Shape;373;p45"/>
          <p:cNvSpPr txBox="1"/>
          <p:nvPr/>
        </p:nvSpPr>
        <p:spPr>
          <a:xfrm>
            <a:off x="4697973" y="2240279"/>
            <a:ext cx="2850885" cy="310896"/>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1700" u="none" cap="none" strike="noStrike">
                <a:solidFill>
                  <a:srgbClr val="14223A"/>
                </a:solidFill>
                <a:latin typeface="Arial"/>
                <a:ea typeface="Arial"/>
                <a:cs typeface="Arial"/>
                <a:sym typeface="Arial"/>
              </a:rPr>
              <a:t>Slanted side</a:t>
            </a:r>
            <a:endParaRPr/>
          </a:p>
        </p:txBody>
      </p:sp>
      <p:sp>
        <p:nvSpPr>
          <p:cNvPr id="374" name="Google Shape;374;p45"/>
          <p:cNvSpPr txBox="1"/>
          <p:nvPr/>
        </p:nvSpPr>
        <p:spPr>
          <a:xfrm>
            <a:off x="4697973" y="2578608"/>
            <a:ext cx="2850885" cy="324612"/>
          </a:xfrm>
          <a:prstGeom prst="rect">
            <a:avLst/>
          </a:prstGeom>
          <a:noFill/>
          <a:ln>
            <a:noFill/>
          </a:ln>
        </p:spPr>
        <p:txBody>
          <a:bodyPr anchorCtr="0" anchor="t" bIns="0" lIns="0" spcFirstLastPara="1" rIns="0" wrap="square" tIns="0">
            <a:spAutoFit/>
          </a:bodyPr>
          <a:lstStyle/>
          <a:p>
            <a:pPr indent="0" lvl="0" marL="0" marR="0" rtl="0" algn="l">
              <a:lnSpc>
                <a:spcPct val="116000"/>
              </a:lnSpc>
              <a:spcBef>
                <a:spcPts val="0"/>
              </a:spcBef>
              <a:spcAft>
                <a:spcPts val="0"/>
              </a:spcAft>
              <a:buNone/>
            </a:pPr>
            <a:r>
              <a:rPr b="0" i="0" lang="en-US" sz="1100" u="none" cap="none" strike="noStrike">
                <a:solidFill>
                  <a:srgbClr val="475569"/>
                </a:solidFill>
                <a:latin typeface="Arial"/>
                <a:ea typeface="Arial"/>
                <a:cs typeface="Arial"/>
                <a:sym typeface="Arial"/>
              </a:rPr>
              <a:t>A side that leans instead of going straight up and down</a:t>
            </a:r>
            <a:endParaRPr/>
          </a:p>
        </p:txBody>
      </p:sp>
      <p:sp>
        <p:nvSpPr>
          <p:cNvPr id="375" name="Google Shape;375;p45"/>
          <p:cNvSpPr/>
          <p:nvPr/>
        </p:nvSpPr>
        <p:spPr>
          <a:xfrm>
            <a:off x="8134075" y="2103120"/>
            <a:ext cx="3417813" cy="891540"/>
          </a:xfrm>
          <a:prstGeom prst="roundRect">
            <a:avLst>
              <a:gd fmla="val 9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76" name="Google Shape;376;p45"/>
          <p:cNvSpPr/>
          <p:nvPr/>
        </p:nvSpPr>
        <p:spPr>
          <a:xfrm>
            <a:off x="8134075" y="2103120"/>
            <a:ext cx="91440" cy="89154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77" name="Google Shape;377;p45"/>
          <p:cNvSpPr txBox="1"/>
          <p:nvPr/>
        </p:nvSpPr>
        <p:spPr>
          <a:xfrm>
            <a:off x="8444971" y="2240279"/>
            <a:ext cx="2850885" cy="310896"/>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1700" u="none" cap="none" strike="noStrike">
                <a:solidFill>
                  <a:srgbClr val="14223A"/>
                </a:solidFill>
                <a:latin typeface="Arial"/>
                <a:ea typeface="Arial"/>
                <a:cs typeface="Arial"/>
                <a:sym typeface="Arial"/>
              </a:rPr>
              <a:t>Parallelogram</a:t>
            </a:r>
            <a:endParaRPr/>
          </a:p>
        </p:txBody>
      </p:sp>
      <p:sp>
        <p:nvSpPr>
          <p:cNvPr id="378" name="Google Shape;378;p45"/>
          <p:cNvSpPr txBox="1"/>
          <p:nvPr/>
        </p:nvSpPr>
        <p:spPr>
          <a:xfrm>
            <a:off x="8444971" y="2578608"/>
            <a:ext cx="2850885" cy="324612"/>
          </a:xfrm>
          <a:prstGeom prst="rect">
            <a:avLst/>
          </a:prstGeom>
          <a:noFill/>
          <a:ln>
            <a:noFill/>
          </a:ln>
        </p:spPr>
        <p:txBody>
          <a:bodyPr anchorCtr="0" anchor="t" bIns="0" lIns="0" spcFirstLastPara="1" rIns="0" wrap="square" tIns="0">
            <a:spAutoFit/>
          </a:bodyPr>
          <a:lstStyle/>
          <a:p>
            <a:pPr indent="0" lvl="0" marL="0" marR="0" rtl="0" algn="l">
              <a:lnSpc>
                <a:spcPct val="116000"/>
              </a:lnSpc>
              <a:spcBef>
                <a:spcPts val="0"/>
              </a:spcBef>
              <a:spcAft>
                <a:spcPts val="0"/>
              </a:spcAft>
              <a:buNone/>
            </a:pPr>
            <a:r>
              <a:rPr b="0" i="0" lang="en-US" sz="1100" u="none" cap="none" strike="noStrike">
                <a:solidFill>
                  <a:srgbClr val="475569"/>
                </a:solidFill>
                <a:latin typeface="Arial"/>
                <a:ea typeface="Arial"/>
                <a:cs typeface="Arial"/>
                <a:sym typeface="Arial"/>
              </a:rPr>
              <a:t>A four-sided shape with two pairs of parallel sides</a:t>
            </a:r>
            <a:endParaRPr/>
          </a:p>
        </p:txBody>
      </p:sp>
      <p:sp>
        <p:nvSpPr>
          <p:cNvPr id="379" name="Google Shape;379;p45"/>
          <p:cNvSpPr/>
          <p:nvPr/>
        </p:nvSpPr>
        <p:spPr>
          <a:xfrm>
            <a:off x="640080" y="3177539"/>
            <a:ext cx="3417813" cy="891540"/>
          </a:xfrm>
          <a:prstGeom prst="roundRect">
            <a:avLst>
              <a:gd fmla="val 9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80" name="Google Shape;380;p45"/>
          <p:cNvSpPr/>
          <p:nvPr/>
        </p:nvSpPr>
        <p:spPr>
          <a:xfrm>
            <a:off x="640080" y="3177539"/>
            <a:ext cx="91440" cy="89154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81" name="Google Shape;381;p45"/>
          <p:cNvSpPr txBox="1"/>
          <p:nvPr/>
        </p:nvSpPr>
        <p:spPr>
          <a:xfrm>
            <a:off x="950976" y="3314699"/>
            <a:ext cx="2850885" cy="310896"/>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1700" u="none" cap="none" strike="noStrike">
                <a:solidFill>
                  <a:srgbClr val="14223A"/>
                </a:solidFill>
                <a:latin typeface="Arial"/>
                <a:ea typeface="Arial"/>
                <a:cs typeface="Arial"/>
                <a:sym typeface="Arial"/>
              </a:rPr>
              <a:t>Parallel</a:t>
            </a:r>
            <a:endParaRPr/>
          </a:p>
        </p:txBody>
      </p:sp>
      <p:sp>
        <p:nvSpPr>
          <p:cNvPr id="382" name="Google Shape;382;p45"/>
          <p:cNvSpPr txBox="1"/>
          <p:nvPr/>
        </p:nvSpPr>
        <p:spPr>
          <a:xfrm>
            <a:off x="950976" y="3653027"/>
            <a:ext cx="2850885" cy="324612"/>
          </a:xfrm>
          <a:prstGeom prst="rect">
            <a:avLst/>
          </a:prstGeom>
          <a:noFill/>
          <a:ln>
            <a:noFill/>
          </a:ln>
        </p:spPr>
        <p:txBody>
          <a:bodyPr anchorCtr="0" anchor="t" bIns="0" lIns="0" spcFirstLastPara="1" rIns="0" wrap="square" tIns="0">
            <a:spAutoFit/>
          </a:bodyPr>
          <a:lstStyle/>
          <a:p>
            <a:pPr indent="0" lvl="0" marL="0" marR="0" rtl="0" algn="l">
              <a:lnSpc>
                <a:spcPct val="116000"/>
              </a:lnSpc>
              <a:spcBef>
                <a:spcPts val="0"/>
              </a:spcBef>
              <a:spcAft>
                <a:spcPts val="0"/>
              </a:spcAft>
              <a:buNone/>
            </a:pPr>
            <a:r>
              <a:rPr b="0" i="0" lang="en-US" sz="1100" u="none" cap="none" strike="noStrike">
                <a:solidFill>
                  <a:srgbClr val="475569"/>
                </a:solidFill>
                <a:latin typeface="Arial"/>
                <a:ea typeface="Arial"/>
                <a:cs typeface="Arial"/>
                <a:sym typeface="Arial"/>
              </a:rPr>
              <a:t>Two lines or sides that stay the same distance apart and never meet</a:t>
            </a:r>
            <a:endParaRPr/>
          </a:p>
        </p:txBody>
      </p:sp>
      <p:sp>
        <p:nvSpPr>
          <p:cNvPr id="383" name="Google Shape;383;p45"/>
          <p:cNvSpPr/>
          <p:nvPr/>
        </p:nvSpPr>
        <p:spPr>
          <a:xfrm>
            <a:off x="4387077" y="3177539"/>
            <a:ext cx="3417813" cy="891540"/>
          </a:xfrm>
          <a:prstGeom prst="roundRect">
            <a:avLst>
              <a:gd fmla="val 9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84" name="Google Shape;384;p45"/>
          <p:cNvSpPr/>
          <p:nvPr/>
        </p:nvSpPr>
        <p:spPr>
          <a:xfrm>
            <a:off x="4387077" y="3177539"/>
            <a:ext cx="91440" cy="89154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85" name="Google Shape;385;p45"/>
          <p:cNvSpPr txBox="1"/>
          <p:nvPr/>
        </p:nvSpPr>
        <p:spPr>
          <a:xfrm>
            <a:off x="4697973" y="3314699"/>
            <a:ext cx="2850885" cy="310896"/>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1700" u="none" cap="none" strike="noStrike">
                <a:solidFill>
                  <a:srgbClr val="14223A"/>
                </a:solidFill>
                <a:latin typeface="Arial"/>
                <a:ea typeface="Arial"/>
                <a:cs typeface="Arial"/>
                <a:sym typeface="Arial"/>
              </a:rPr>
              <a:t>Base</a:t>
            </a:r>
            <a:endParaRPr/>
          </a:p>
        </p:txBody>
      </p:sp>
      <p:sp>
        <p:nvSpPr>
          <p:cNvPr id="386" name="Google Shape;386;p45"/>
          <p:cNvSpPr txBox="1"/>
          <p:nvPr/>
        </p:nvSpPr>
        <p:spPr>
          <a:xfrm>
            <a:off x="4697973" y="3653027"/>
            <a:ext cx="2850885" cy="324612"/>
          </a:xfrm>
          <a:prstGeom prst="rect">
            <a:avLst/>
          </a:prstGeom>
          <a:noFill/>
          <a:ln>
            <a:noFill/>
          </a:ln>
        </p:spPr>
        <p:txBody>
          <a:bodyPr anchorCtr="0" anchor="t" bIns="0" lIns="0" spcFirstLastPara="1" rIns="0" wrap="square" tIns="0">
            <a:spAutoFit/>
          </a:bodyPr>
          <a:lstStyle/>
          <a:p>
            <a:pPr indent="0" lvl="0" marL="0" marR="0" rtl="0" algn="l">
              <a:lnSpc>
                <a:spcPct val="116000"/>
              </a:lnSpc>
              <a:spcBef>
                <a:spcPts val="0"/>
              </a:spcBef>
              <a:spcAft>
                <a:spcPts val="0"/>
              </a:spcAft>
              <a:buNone/>
            </a:pPr>
            <a:r>
              <a:rPr b="0" i="0" lang="en-US" sz="1100" u="none" cap="none" strike="noStrike">
                <a:solidFill>
                  <a:srgbClr val="475569"/>
                </a:solidFill>
                <a:latin typeface="Arial"/>
                <a:ea typeface="Arial"/>
                <a:cs typeface="Arial"/>
                <a:sym typeface="Arial"/>
              </a:rPr>
              <a:t>Any side of a parallelogram can be the base</a:t>
            </a:r>
            <a:endParaRPr/>
          </a:p>
        </p:txBody>
      </p:sp>
      <p:sp>
        <p:nvSpPr>
          <p:cNvPr id="387" name="Google Shape;387;p45"/>
          <p:cNvSpPr/>
          <p:nvPr/>
        </p:nvSpPr>
        <p:spPr>
          <a:xfrm>
            <a:off x="8134075" y="3177539"/>
            <a:ext cx="3417813" cy="891540"/>
          </a:xfrm>
          <a:prstGeom prst="roundRect">
            <a:avLst>
              <a:gd fmla="val 9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88" name="Google Shape;388;p45"/>
          <p:cNvSpPr/>
          <p:nvPr/>
        </p:nvSpPr>
        <p:spPr>
          <a:xfrm>
            <a:off x="8134075" y="3177539"/>
            <a:ext cx="91440" cy="89154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89" name="Google Shape;389;p45"/>
          <p:cNvSpPr txBox="1"/>
          <p:nvPr/>
        </p:nvSpPr>
        <p:spPr>
          <a:xfrm>
            <a:off x="8444971" y="3314699"/>
            <a:ext cx="2850885" cy="310896"/>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1700" u="none" cap="none" strike="noStrike">
                <a:solidFill>
                  <a:srgbClr val="14223A"/>
                </a:solidFill>
                <a:latin typeface="Arial"/>
                <a:ea typeface="Arial"/>
                <a:cs typeface="Arial"/>
                <a:sym typeface="Arial"/>
              </a:rPr>
              <a:t>Height</a:t>
            </a:r>
            <a:endParaRPr/>
          </a:p>
        </p:txBody>
      </p:sp>
      <p:sp>
        <p:nvSpPr>
          <p:cNvPr id="390" name="Google Shape;390;p45"/>
          <p:cNvSpPr txBox="1"/>
          <p:nvPr/>
        </p:nvSpPr>
        <p:spPr>
          <a:xfrm>
            <a:off x="8444971" y="3653027"/>
            <a:ext cx="2850885" cy="324612"/>
          </a:xfrm>
          <a:prstGeom prst="rect">
            <a:avLst/>
          </a:prstGeom>
          <a:noFill/>
          <a:ln>
            <a:noFill/>
          </a:ln>
        </p:spPr>
        <p:txBody>
          <a:bodyPr anchorCtr="0" anchor="t" bIns="0" lIns="0" spcFirstLastPara="1" rIns="0" wrap="square" tIns="0">
            <a:spAutoFit/>
          </a:bodyPr>
          <a:lstStyle/>
          <a:p>
            <a:pPr indent="0" lvl="0" marL="0" marR="0" rtl="0" algn="l">
              <a:lnSpc>
                <a:spcPct val="116000"/>
              </a:lnSpc>
              <a:spcBef>
                <a:spcPts val="0"/>
              </a:spcBef>
              <a:spcAft>
                <a:spcPts val="0"/>
              </a:spcAft>
              <a:buNone/>
            </a:pPr>
            <a:r>
              <a:rPr b="0" i="0" lang="en-US" sz="1100" u="none" cap="none" strike="noStrike">
                <a:solidFill>
                  <a:srgbClr val="475569"/>
                </a:solidFill>
                <a:latin typeface="Arial"/>
                <a:ea typeface="Arial"/>
                <a:cs typeface="Arial"/>
                <a:sym typeface="Arial"/>
              </a:rPr>
              <a:t>The straight-up distance from the base to the top</a:t>
            </a:r>
            <a:endParaRPr/>
          </a:p>
        </p:txBody>
      </p:sp>
      <p:sp>
        <p:nvSpPr>
          <p:cNvPr id="391" name="Google Shape;391;p45"/>
          <p:cNvSpPr/>
          <p:nvPr/>
        </p:nvSpPr>
        <p:spPr>
          <a:xfrm>
            <a:off x="640080" y="4251960"/>
            <a:ext cx="3417813" cy="891540"/>
          </a:xfrm>
          <a:prstGeom prst="roundRect">
            <a:avLst>
              <a:gd fmla="val 9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92" name="Google Shape;392;p45"/>
          <p:cNvSpPr/>
          <p:nvPr/>
        </p:nvSpPr>
        <p:spPr>
          <a:xfrm>
            <a:off x="640080" y="4251960"/>
            <a:ext cx="91440" cy="89154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93" name="Google Shape;393;p45"/>
          <p:cNvSpPr txBox="1"/>
          <p:nvPr/>
        </p:nvSpPr>
        <p:spPr>
          <a:xfrm>
            <a:off x="950976" y="4389120"/>
            <a:ext cx="2850885" cy="310896"/>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1700" u="none" cap="none" strike="noStrike">
                <a:solidFill>
                  <a:srgbClr val="14223A"/>
                </a:solidFill>
                <a:latin typeface="Arial"/>
                <a:ea typeface="Arial"/>
                <a:cs typeface="Arial"/>
                <a:sym typeface="Arial"/>
              </a:rPr>
              <a:t>Perpendicular</a:t>
            </a:r>
            <a:endParaRPr/>
          </a:p>
        </p:txBody>
      </p:sp>
      <p:sp>
        <p:nvSpPr>
          <p:cNvPr id="394" name="Google Shape;394;p45"/>
          <p:cNvSpPr txBox="1"/>
          <p:nvPr/>
        </p:nvSpPr>
        <p:spPr>
          <a:xfrm>
            <a:off x="950976" y="4727448"/>
            <a:ext cx="2850885" cy="324612"/>
          </a:xfrm>
          <a:prstGeom prst="rect">
            <a:avLst/>
          </a:prstGeom>
          <a:noFill/>
          <a:ln>
            <a:noFill/>
          </a:ln>
        </p:spPr>
        <p:txBody>
          <a:bodyPr anchorCtr="0" anchor="t" bIns="0" lIns="0" spcFirstLastPara="1" rIns="0" wrap="square" tIns="0">
            <a:spAutoFit/>
          </a:bodyPr>
          <a:lstStyle/>
          <a:p>
            <a:pPr indent="0" lvl="0" marL="0" marR="0" rtl="0" algn="l">
              <a:lnSpc>
                <a:spcPct val="116000"/>
              </a:lnSpc>
              <a:spcBef>
                <a:spcPts val="0"/>
              </a:spcBef>
              <a:spcAft>
                <a:spcPts val="0"/>
              </a:spcAft>
              <a:buNone/>
            </a:pPr>
            <a:r>
              <a:rPr b="0" i="0" lang="en-US" sz="1100" u="none" cap="none" strike="noStrike">
                <a:solidFill>
                  <a:srgbClr val="475569"/>
                </a:solidFill>
                <a:latin typeface="Arial"/>
                <a:ea typeface="Arial"/>
                <a:cs typeface="Arial"/>
                <a:sym typeface="Arial"/>
              </a:rPr>
              <a:t>Two lines that meet to make a square corner (90 degrees)</a:t>
            </a:r>
            <a:endParaRPr/>
          </a:p>
        </p:txBody>
      </p:sp>
      <p:sp>
        <p:nvSpPr>
          <p:cNvPr id="395" name="Google Shape;395;p45"/>
          <p:cNvSpPr/>
          <p:nvPr/>
        </p:nvSpPr>
        <p:spPr>
          <a:xfrm>
            <a:off x="4387077" y="4251960"/>
            <a:ext cx="3417813" cy="891540"/>
          </a:xfrm>
          <a:prstGeom prst="roundRect">
            <a:avLst>
              <a:gd fmla="val 9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96" name="Google Shape;396;p45"/>
          <p:cNvSpPr/>
          <p:nvPr/>
        </p:nvSpPr>
        <p:spPr>
          <a:xfrm>
            <a:off x="4387077" y="4251960"/>
            <a:ext cx="91440" cy="89154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97" name="Google Shape;397;p45"/>
          <p:cNvSpPr txBox="1"/>
          <p:nvPr/>
        </p:nvSpPr>
        <p:spPr>
          <a:xfrm>
            <a:off x="4697973" y="4389120"/>
            <a:ext cx="2850885" cy="310896"/>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1700" u="none" cap="none" strike="noStrike">
                <a:solidFill>
                  <a:srgbClr val="14223A"/>
                </a:solidFill>
                <a:latin typeface="Arial"/>
                <a:ea typeface="Arial"/>
                <a:cs typeface="Arial"/>
                <a:sym typeface="Arial"/>
              </a:rPr>
              <a:t>Area</a:t>
            </a:r>
            <a:endParaRPr/>
          </a:p>
        </p:txBody>
      </p:sp>
      <p:sp>
        <p:nvSpPr>
          <p:cNvPr id="398" name="Google Shape;398;p45"/>
          <p:cNvSpPr txBox="1"/>
          <p:nvPr/>
        </p:nvSpPr>
        <p:spPr>
          <a:xfrm>
            <a:off x="4697973" y="4727448"/>
            <a:ext cx="2850885" cy="324612"/>
          </a:xfrm>
          <a:prstGeom prst="rect">
            <a:avLst/>
          </a:prstGeom>
          <a:noFill/>
          <a:ln>
            <a:noFill/>
          </a:ln>
        </p:spPr>
        <p:txBody>
          <a:bodyPr anchorCtr="0" anchor="t" bIns="0" lIns="0" spcFirstLastPara="1" rIns="0" wrap="square" tIns="0">
            <a:spAutoFit/>
          </a:bodyPr>
          <a:lstStyle/>
          <a:p>
            <a:pPr indent="0" lvl="0" marL="0" marR="0" rtl="0" algn="l">
              <a:lnSpc>
                <a:spcPct val="116000"/>
              </a:lnSpc>
              <a:spcBef>
                <a:spcPts val="0"/>
              </a:spcBef>
              <a:spcAft>
                <a:spcPts val="0"/>
              </a:spcAft>
              <a:buNone/>
            </a:pPr>
            <a:r>
              <a:rPr b="0" i="0" lang="en-US" sz="1250" u="none" cap="none" strike="noStrike">
                <a:solidFill>
                  <a:srgbClr val="475569"/>
                </a:solidFill>
                <a:latin typeface="Arial"/>
                <a:ea typeface="Arial"/>
                <a:cs typeface="Arial"/>
                <a:sym typeface="Arial"/>
              </a:rPr>
              <a:t>How much space is inside a flat shape</a:t>
            </a:r>
            <a:endParaRPr/>
          </a:p>
        </p:txBody>
      </p:sp>
      <p:sp>
        <p:nvSpPr>
          <p:cNvPr id="399" name="Google Shape;399;p45"/>
          <p:cNvSpPr/>
          <p:nvPr/>
        </p:nvSpPr>
        <p:spPr>
          <a:xfrm>
            <a:off x="8134075" y="4251960"/>
            <a:ext cx="3417813" cy="891540"/>
          </a:xfrm>
          <a:prstGeom prst="roundRect">
            <a:avLst>
              <a:gd fmla="val 9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00" name="Google Shape;400;p45"/>
          <p:cNvSpPr/>
          <p:nvPr/>
        </p:nvSpPr>
        <p:spPr>
          <a:xfrm>
            <a:off x="8134075" y="4251960"/>
            <a:ext cx="91440" cy="89154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01" name="Google Shape;401;p45"/>
          <p:cNvSpPr txBox="1"/>
          <p:nvPr/>
        </p:nvSpPr>
        <p:spPr>
          <a:xfrm>
            <a:off x="8444971" y="4389120"/>
            <a:ext cx="2850885" cy="310896"/>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1700" u="none" cap="none" strike="noStrike">
                <a:solidFill>
                  <a:srgbClr val="14223A"/>
                </a:solidFill>
                <a:latin typeface="Arial"/>
                <a:ea typeface="Arial"/>
                <a:cs typeface="Arial"/>
                <a:sym typeface="Arial"/>
              </a:rPr>
              <a:t>Composite figure</a:t>
            </a:r>
            <a:endParaRPr/>
          </a:p>
        </p:txBody>
      </p:sp>
      <p:sp>
        <p:nvSpPr>
          <p:cNvPr id="402" name="Google Shape;402;p45"/>
          <p:cNvSpPr txBox="1"/>
          <p:nvPr/>
        </p:nvSpPr>
        <p:spPr>
          <a:xfrm>
            <a:off x="8444971" y="4727448"/>
            <a:ext cx="2850885" cy="324612"/>
          </a:xfrm>
          <a:prstGeom prst="rect">
            <a:avLst/>
          </a:prstGeom>
          <a:noFill/>
          <a:ln>
            <a:noFill/>
          </a:ln>
        </p:spPr>
        <p:txBody>
          <a:bodyPr anchorCtr="0" anchor="t" bIns="0" lIns="0" spcFirstLastPara="1" rIns="0" wrap="square" tIns="0">
            <a:spAutoFit/>
          </a:bodyPr>
          <a:lstStyle/>
          <a:p>
            <a:pPr indent="0" lvl="0" marL="0" marR="0" rtl="0" algn="l">
              <a:lnSpc>
                <a:spcPct val="116000"/>
              </a:lnSpc>
              <a:spcBef>
                <a:spcPts val="0"/>
              </a:spcBef>
              <a:spcAft>
                <a:spcPts val="0"/>
              </a:spcAft>
              <a:buNone/>
            </a:pPr>
            <a:r>
              <a:rPr b="0" i="0" lang="en-US" sz="1100" u="none" cap="none" strike="noStrike">
                <a:solidFill>
                  <a:srgbClr val="475569"/>
                </a:solidFill>
                <a:latin typeface="Arial"/>
                <a:ea typeface="Arial"/>
                <a:cs typeface="Arial"/>
                <a:sym typeface="Arial"/>
              </a:rPr>
              <a:t>A shape made by putting two or more simple shapes together</a:t>
            </a:r>
            <a:endParaRPr/>
          </a:p>
        </p:txBody>
      </p:sp>
      <p:sp>
        <p:nvSpPr>
          <p:cNvPr id="403" name="Google Shape;403;p45"/>
          <p:cNvSpPr/>
          <p:nvPr/>
        </p:nvSpPr>
        <p:spPr>
          <a:xfrm>
            <a:off x="640080" y="5326380"/>
            <a:ext cx="3417813" cy="891540"/>
          </a:xfrm>
          <a:prstGeom prst="roundRect">
            <a:avLst>
              <a:gd fmla="val 9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04" name="Google Shape;404;p45"/>
          <p:cNvSpPr/>
          <p:nvPr/>
        </p:nvSpPr>
        <p:spPr>
          <a:xfrm>
            <a:off x="640080" y="5326380"/>
            <a:ext cx="91440" cy="89154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05" name="Google Shape;405;p45"/>
          <p:cNvSpPr txBox="1"/>
          <p:nvPr/>
        </p:nvSpPr>
        <p:spPr>
          <a:xfrm>
            <a:off x="950976" y="5463540"/>
            <a:ext cx="2850885" cy="310896"/>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1700" u="none" cap="none" strike="noStrike">
                <a:solidFill>
                  <a:srgbClr val="14223A"/>
                </a:solidFill>
                <a:latin typeface="Arial"/>
                <a:ea typeface="Arial"/>
                <a:cs typeface="Arial"/>
                <a:sym typeface="Arial"/>
              </a:rPr>
              <a:t>Formula</a:t>
            </a:r>
            <a:endParaRPr/>
          </a:p>
        </p:txBody>
      </p:sp>
      <p:sp>
        <p:nvSpPr>
          <p:cNvPr id="406" name="Google Shape;406;p45"/>
          <p:cNvSpPr txBox="1"/>
          <p:nvPr/>
        </p:nvSpPr>
        <p:spPr>
          <a:xfrm>
            <a:off x="950976" y="5801868"/>
            <a:ext cx="2850885" cy="324612"/>
          </a:xfrm>
          <a:prstGeom prst="rect">
            <a:avLst/>
          </a:prstGeom>
          <a:noFill/>
          <a:ln>
            <a:noFill/>
          </a:ln>
        </p:spPr>
        <p:txBody>
          <a:bodyPr anchorCtr="0" anchor="t" bIns="0" lIns="0" spcFirstLastPara="1" rIns="0" wrap="square" tIns="0">
            <a:spAutoFit/>
          </a:bodyPr>
          <a:lstStyle/>
          <a:p>
            <a:pPr indent="0" lvl="0" marL="0" marR="0" rtl="0" algn="l">
              <a:lnSpc>
                <a:spcPct val="116000"/>
              </a:lnSpc>
              <a:spcBef>
                <a:spcPts val="0"/>
              </a:spcBef>
              <a:spcAft>
                <a:spcPts val="0"/>
              </a:spcAft>
              <a:buNone/>
            </a:pPr>
            <a:r>
              <a:rPr b="0" i="0" lang="en-US" sz="1250" u="none" cap="none" strike="noStrike">
                <a:solidFill>
                  <a:srgbClr val="475569"/>
                </a:solidFill>
                <a:latin typeface="Arial"/>
                <a:ea typeface="Arial"/>
                <a:cs typeface="Arial"/>
                <a:sym typeface="Arial"/>
              </a:rPr>
              <a:t>A math rule written with symbols</a:t>
            </a:r>
            <a:endParaRPr/>
          </a:p>
        </p:txBody>
      </p:sp>
      <p:sp>
        <p:nvSpPr>
          <p:cNvPr id="407"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19 / 66</a:t>
            </a:r>
          </a:p>
        </p:txBody>
      </p:sp>
      <p:sp xmlns:p="http://schemas.openxmlformats.org/presentationml/2006/main" xmlns:a="http://schemas.openxmlformats.org/drawingml/2006/main">
        <p:nvSpPr>
          <p:cNvPr id="408" name="TEACH-embedded-student-prompt" descr="Student thinking and response directions"/>
          <p:cNvSpPr txBox="1"/>
          <p:nvPr/>
        </p:nvSpPr>
        <p:spPr>
          <a:xfrm>
            <a:off x="6111240" y="5504688"/>
            <a:ext cx="5486400" cy="768096"/>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Explain one math word using the example.</a:t>
            </a:r>
            <a:endParaRPr lang="en-US" sz="2000"/>
          </a:p>
          <a:p>
            <a:pPr>
              <a:lnSpc>
                <a:spcPts val="2400"/>
              </a:lnSpc>
              <a:buNone/>
            </a:pPr>
            <a:r>
              <a:rPr lang="en-US" sz="2000">
                <a:solidFill>
                  <a:srgbClr val="174D60"/>
                </a:solidFill>
                <a:latin typeface="Arial"/>
              </a:rPr>
              <a:t>Partner: point to evidence.</a:t>
            </a:r>
            <a:endParaRPr lang="en-US" sz="2000"/>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5" name="Shape 665"/>
        <p:cNvGrpSpPr/>
        <p:nvPr/>
      </p:nvGrpSpPr>
      <p:grpSpPr>
        <a:xfrm>
          <a:off x="0" y="0"/>
          <a:ext cx="0" cy="0"/>
          <a:chOff x="0" y="0"/>
          <a:chExt cx="0" cy="0"/>
        </a:xfrm>
      </p:grpSpPr>
      <p:cxnSp>
        <p:nvCxnSpPr>
          <p:cNvPr id="666" name="Google Shape;666;p60"/>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667" name="Google Shape;667;p60"/>
          <p:cNvSpPr txBox="1"/>
          <p:nvPr/>
        </p:nvSpPr>
        <p:spPr>
          <a:xfrm>
            <a:off x="484566" y="936101"/>
            <a:ext cx="7021134" cy="96684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1" i="0" lang="en-US" sz="2800" u="none" cap="none" strike="noStrike">
                <a:solidFill>
                  <a:srgbClr val="23282D"/>
                </a:solidFill>
                <a:latin typeface="Arial"/>
                <a:ea typeface="Arial"/>
                <a:cs typeface="Arial"/>
                <a:sym typeface="Arial"/>
              </a:rPr>
              <a:t>What is the area of the parallelogram shown?​</a:t>
            </a:r>
            <a:endParaRPr b="0" i="0" sz="1400" u="none" cap="none" strike="noStrike">
              <a:solidFill>
                <a:srgbClr val="000000"/>
              </a:solidFill>
              <a:latin typeface="Arial"/>
              <a:ea typeface="Arial"/>
              <a:cs typeface="Arial"/>
              <a:sym typeface="Arial"/>
            </a:endParaRPr>
          </a:p>
        </p:txBody>
      </p:sp>
      <p:pic>
        <p:nvPicPr>
          <p:cNvPr id="668" name="Google Shape;668;p60"/>
          <p:cNvPicPr preferRelativeResize="0"/>
          <p:nvPr/>
        </p:nvPicPr>
        <p:blipFill rotWithShape="1">
          <a:blip r:embed="rId3">
            <a:alphaModFix/>
          </a:blip>
          <a:srcRect b="0" l="0" r="0" t="0"/>
          <a:stretch/>
        </p:blipFill>
        <p:spPr>
          <a:xfrm>
            <a:off x="7839577" y="2221731"/>
            <a:ext cx="3676154" cy="1620000"/>
          </a:xfrm>
          <a:prstGeom prst="rect">
            <a:avLst/>
          </a:prstGeom>
          <a:noFill/>
          <a:ln>
            <a:noFill/>
          </a:ln>
        </p:spPr>
      </p:pic>
      <p:sp>
        <p:nvSpPr>
          <p:cNvPr id="669" name="Google Shape;669;p60"/>
          <p:cNvSpPr txBox="1"/>
          <p:nvPr/>
        </p:nvSpPr>
        <p:spPr>
          <a:xfrm>
            <a:off x="484565" y="316034"/>
            <a:ext cx="3904129"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030A0"/>
              </a:buClr>
              <a:buSzPts val="2800"/>
              <a:buFont typeface="Arial"/>
              <a:buNone/>
            </a:pPr>
            <a:r>
              <a:rPr b="1" i="0" lang="en-US" sz="2800" u="none" cap="none" strike="noStrike">
                <a:solidFill>
                  <a:srgbClr val="782DA0"/>
                </a:solidFill>
                <a:latin typeface="Arial"/>
                <a:ea typeface="Arial"/>
                <a:cs typeface="Arial"/>
                <a:sym typeface="Arial"/>
              </a:rPr>
              <a:t>Parallelograms</a:t>
            </a:r>
            <a:r>
              <a:rPr b="1" i="0" lang="en-US" sz="2800" u="none" cap="none" strike="noStrike">
                <a:solidFill>
                  <a:schemeClr val="dk1"/>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p:txBody>
      </p:sp>
      <p:sp>
        <p:nvSpPr>
          <p:cNvPr id="670"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20 / 66</a:t>
            </a:r>
          </a:p>
        </p:txBody>
      </p:sp>
      <p:sp xmlns:p="http://schemas.openxmlformats.org/presentationml/2006/main" xmlns:a="http://schemas.openxmlformats.org/drawingml/2006/main">
        <p:nvSpPr>
          <p:cNvPr id="671" name="TEACH-embedded-student-prompt" descr="Student thinking and response directions"/>
          <p:cNvSpPr txBox="1"/>
          <p:nvPr/>
        </p:nvSpPr>
        <p:spPr>
          <a:xfrm>
            <a:off x="594360" y="5724144"/>
            <a:ext cx="1109472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Think and record first. Which part of your work supports your answer?</a:t>
            </a:r>
            <a:endParaRPr lang="en-US" sz="2000"/>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2" name="Shape 682"/>
        <p:cNvGrpSpPr/>
        <p:nvPr/>
      </p:nvGrpSpPr>
      <p:grpSpPr>
        <a:xfrm>
          <a:off x="0" y="0"/>
          <a:ext cx="0" cy="0"/>
          <a:chOff x="0" y="0"/>
          <a:chExt cx="0" cy="0"/>
        </a:xfrm>
      </p:grpSpPr>
      <p:cxnSp>
        <p:nvCxnSpPr>
          <p:cNvPr id="683" name="Google Shape;683;p62"/>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684" name="Google Shape;684;p62"/>
          <p:cNvSpPr txBox="1"/>
          <p:nvPr/>
        </p:nvSpPr>
        <p:spPr>
          <a:xfrm>
            <a:off x="484565" y="920400"/>
            <a:ext cx="7549092" cy="89410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1" i="0" lang="en-US" sz="2800" u="none" cap="none" strike="noStrike">
                <a:solidFill>
                  <a:srgbClr val="23282D"/>
                </a:solidFill>
                <a:latin typeface="Arial"/>
                <a:ea typeface="Arial"/>
                <a:cs typeface="Arial"/>
                <a:sym typeface="Arial"/>
              </a:rPr>
              <a:t>How can you use the grid to help you estimate the area?</a:t>
            </a:r>
            <a:endParaRPr b="0" i="0" sz="1400" u="none" cap="none" strike="noStrike">
              <a:solidFill>
                <a:srgbClr val="000000"/>
              </a:solidFill>
              <a:latin typeface="Arial"/>
              <a:ea typeface="Arial"/>
              <a:cs typeface="Arial"/>
              <a:sym typeface="Arial"/>
            </a:endParaRPr>
          </a:p>
        </p:txBody>
      </p:sp>
      <p:sp>
        <p:nvSpPr>
          <p:cNvPr id="685" name="Google Shape;685;p62"/>
          <p:cNvSpPr txBox="1"/>
          <p:nvPr/>
        </p:nvSpPr>
        <p:spPr>
          <a:xfrm>
            <a:off x="531479" y="4504092"/>
            <a:ext cx="10973166" cy="1906039"/>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pPr>
            <a:r>
              <a:rPr b="1" i="0" lang="en-US" sz="2800" u="none" cap="none" strike="noStrike">
                <a:solidFill>
                  <a:srgbClr val="0070C0"/>
                </a:solidFill>
                <a:highlight>
                  <a:srgbClr val="E0E0E0"/>
                </a:highlight>
                <a:latin typeface="Arial"/>
                <a:ea typeface="Arial"/>
                <a:cs typeface="Arial"/>
                <a:sym typeface="Arial"/>
              </a:rPr>
              <a:t> Reveal</a:t>
            </a:r>
            <a:r>
              <a:rPr b="1" i="0" lang="en-US" sz="2800" u="none" cap="none" strike="noStrike">
                <a:solidFill>
                  <a:srgbClr val="E0E0E0"/>
                </a:solidFill>
                <a:highlight>
                  <a:srgbClr val="E0E0E0"/>
                </a:highlight>
                <a:latin typeface="Arial"/>
                <a:ea typeface="Arial"/>
                <a:cs typeface="Arial"/>
                <a:sym typeface="Arial"/>
              </a:rPr>
              <a:t>:</a:t>
            </a:r>
            <a:r>
              <a:rPr b="1" i="0" lang="en-US" sz="2800" u="none" cap="none" strike="noStrike">
                <a:solidFill>
                  <a:srgbClr val="0070C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595959"/>
              </a:buClr>
              <a:buSzPts val="2800"/>
              <a:buFont typeface="Arial"/>
              <a:buNone/>
            </a:pPr>
            <a:r>
              <a:rPr b="0" i="0" lang="en-US" sz="2800" u="none" cap="none" strike="noStrike">
                <a:solidFill>
                  <a:srgbClr val="595959"/>
                </a:solidFill>
                <a:latin typeface="Arial"/>
                <a:ea typeface="Arial"/>
                <a:cs typeface="Arial"/>
                <a:sym typeface="Arial"/>
              </a:rPr>
              <a:t>We can count the whole squares inside the shape. We can approximate the number of whole squares that can be created from the partial squares. And then add the two amounts together.</a:t>
            </a:r>
            <a:endParaRPr b="0" i="0" sz="1400" u="none" cap="none" strike="noStrike">
              <a:solidFill>
                <a:srgbClr val="000000"/>
              </a:solidFill>
              <a:latin typeface="Arial"/>
              <a:ea typeface="Arial"/>
              <a:cs typeface="Arial"/>
              <a:sym typeface="Arial"/>
            </a:endParaRPr>
          </a:p>
        </p:txBody>
      </p:sp>
      <p:sp>
        <p:nvSpPr>
          <p:cNvPr id="686" name="Google Shape;686;p62"/>
          <p:cNvSpPr txBox="1"/>
          <p:nvPr/>
        </p:nvSpPr>
        <p:spPr>
          <a:xfrm>
            <a:off x="484565" y="316034"/>
            <a:ext cx="3904129"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030A0"/>
              </a:buClr>
              <a:buSzPts val="2800"/>
              <a:buFont typeface="Arial"/>
              <a:buNone/>
            </a:pPr>
            <a:r>
              <a:rPr b="1" i="0" lang="en-US" sz="2800" u="none" cap="none" strike="noStrike">
                <a:solidFill>
                  <a:srgbClr val="782DA0"/>
                </a:solidFill>
                <a:latin typeface="Arial"/>
                <a:ea typeface="Arial"/>
                <a:cs typeface="Arial"/>
                <a:sym typeface="Arial"/>
              </a:rPr>
              <a:t>Parallelograms</a:t>
            </a:r>
            <a:r>
              <a:rPr b="1" i="0" lang="en-US" sz="2800" u="none" cap="none" strike="noStrike">
                <a:solidFill>
                  <a:schemeClr val="dk1"/>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p:txBody>
      </p:sp>
      <p:pic>
        <p:nvPicPr>
          <p:cNvPr id="687" name="Google Shape;687;p62"/>
          <p:cNvPicPr preferRelativeResize="0"/>
          <p:nvPr/>
        </p:nvPicPr>
        <p:blipFill rotWithShape="1">
          <a:blip r:embed="rId3">
            <a:alphaModFix/>
          </a:blip>
          <a:srcRect b="0" l="0" r="0" t="0"/>
          <a:stretch/>
        </p:blipFill>
        <p:spPr>
          <a:xfrm>
            <a:off x="7839577" y="2221731"/>
            <a:ext cx="3676154" cy="1620000"/>
          </a:xfrm>
          <a:prstGeom prst="rect">
            <a:avLst/>
          </a:prstGeom>
          <a:noFill/>
          <a:ln>
            <a:noFill/>
          </a:ln>
        </p:spPr>
      </p:pic>
      <p:sp>
        <p:nvSpPr>
          <p:cNvPr id="688"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21 / 66</a:t>
            </a:r>
          </a:p>
        </p:txBody>
      </p:sp>
      <p:sp>
        <p:nvSpPr>
          <p:cNvPr id="689" name="EWL-COVER-1"/>
          <p:cNvSpPr/>
          <p:nvPr/>
        </p:nvSpPr>
        <p:spPr>
          <a:xfrm>
            <a:off x="476615" y="4449228"/>
            <a:ext cx="11082894" cy="1997292"/>
          </a:xfrm>
          <a:prstGeom prst="rect">
            <a:avLst/>
          </a:prstGeom>
          <a:solidFill>
            <a:srgbClr val="FFFFFF"/>
          </a:solidFill>
          <a:ln>
            <a:noFill/>
          </a:ln>
        </p:spPr>
        <p:txBody>
          <a:bodyPr/>
          <a:lstStyle/>
          <a:p/>
        </p:txBody>
      </p:sp>
      <p:sp xmlns:p="http://schemas.openxmlformats.org/presentationml/2006/main" xmlns:a="http://schemas.openxmlformats.org/drawingml/2006/main">
        <p:nvSpPr>
          <p:cNvPr id="690" name="TEACH-embedded-student-prompt" descr="Student thinking and response directions"/>
          <p:cNvSpPr txBox="1"/>
          <p:nvPr/>
        </p:nvSpPr>
        <p:spPr>
          <a:xfrm>
            <a:off x="594360" y="3493008"/>
            <a:ext cx="5486400" cy="768096"/>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Record your reasoning before the reveal.</a:t>
            </a:r>
            <a:endParaRPr lang="en-US" sz="2000"/>
          </a:p>
          <a:p>
            <a:pPr>
              <a:lnSpc>
                <a:spcPts val="2400"/>
              </a:lnSpc>
              <a:buNone/>
            </a:pPr>
            <a:r>
              <a:rPr lang="en-US" sz="2000">
                <a:solidFill>
                  <a:srgbClr val="174D60"/>
                </a:solidFill>
                <a:latin typeface="Arial"/>
              </a:rPr>
              <a:t>Compare, then explain any revision.</a:t>
            </a:r>
            <a:endParaRPr lang="en-US" sz="20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68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0" name="Shape 700"/>
        <p:cNvGrpSpPr/>
        <p:nvPr/>
      </p:nvGrpSpPr>
      <p:grpSpPr>
        <a:xfrm>
          <a:off x="0" y="0"/>
          <a:ext cx="0" cy="0"/>
          <a:chOff x="0" y="0"/>
          <a:chExt cx="0" cy="0"/>
        </a:xfrm>
      </p:grpSpPr>
      <p:cxnSp>
        <p:nvCxnSpPr>
          <p:cNvPr id="701" name="Google Shape;701;p64"/>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702" name="Google Shape;702;p64"/>
          <p:cNvSpPr txBox="1"/>
          <p:nvPr/>
        </p:nvSpPr>
        <p:spPr>
          <a:xfrm>
            <a:off x="484565" y="961290"/>
            <a:ext cx="7059235" cy="134376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1" i="0" lang="en-US" sz="2800" u="none" cap="none" strike="noStrike">
                <a:solidFill>
                  <a:srgbClr val="23282D"/>
                </a:solidFill>
                <a:latin typeface="Arial"/>
                <a:ea typeface="Arial"/>
                <a:cs typeface="Arial"/>
                <a:sym typeface="Arial"/>
              </a:rPr>
              <a:t>How can you decompose the parallelogram into other shapes that you know?</a:t>
            </a:r>
            <a:endParaRPr b="0" i="0" sz="1400" u="none" cap="none" strike="noStrike">
              <a:solidFill>
                <a:srgbClr val="000000"/>
              </a:solidFill>
              <a:latin typeface="Arial"/>
              <a:ea typeface="Arial"/>
              <a:cs typeface="Arial"/>
              <a:sym typeface="Arial"/>
            </a:endParaRPr>
          </a:p>
        </p:txBody>
      </p:sp>
      <p:sp>
        <p:nvSpPr>
          <p:cNvPr id="703" name="Google Shape;703;p64"/>
          <p:cNvSpPr txBox="1"/>
          <p:nvPr/>
        </p:nvSpPr>
        <p:spPr>
          <a:xfrm>
            <a:off x="531479" y="4877317"/>
            <a:ext cx="10973166" cy="1523484"/>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pPr>
            <a:r>
              <a:rPr b="1" i="0" lang="en-US" sz="2800" u="none" cap="none" strike="noStrike">
                <a:solidFill>
                  <a:srgbClr val="0070C0"/>
                </a:solidFill>
                <a:highlight>
                  <a:srgbClr val="E0E0E0"/>
                </a:highlight>
                <a:latin typeface="Arial"/>
                <a:ea typeface="Arial"/>
                <a:cs typeface="Arial"/>
                <a:sym typeface="Arial"/>
              </a:rPr>
              <a:t> Reveal</a:t>
            </a:r>
            <a:r>
              <a:rPr b="1" i="0" lang="en-US" sz="2800" u="none" cap="none" strike="noStrike">
                <a:solidFill>
                  <a:srgbClr val="E0E0E0"/>
                </a:solidFill>
                <a:highlight>
                  <a:srgbClr val="E0E0E0"/>
                </a:highlight>
                <a:latin typeface="Arial"/>
                <a:ea typeface="Arial"/>
                <a:cs typeface="Arial"/>
                <a:sym typeface="Arial"/>
              </a:rPr>
              <a:t>:</a:t>
            </a:r>
            <a:r>
              <a:rPr b="1" i="0" lang="en-US" sz="2800" u="none" cap="none" strike="noStrike">
                <a:solidFill>
                  <a:srgbClr val="0070C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595959"/>
              </a:buClr>
              <a:buSzPts val="2800"/>
              <a:buFont typeface="Arial"/>
              <a:buNone/>
            </a:pPr>
            <a:r>
              <a:rPr b="0" i="0" lang="en-US" sz="2800" u="none" cap="none" strike="noStrike">
                <a:solidFill>
                  <a:srgbClr val="595959"/>
                </a:solidFill>
                <a:latin typeface="Arial"/>
                <a:ea typeface="Arial"/>
                <a:cs typeface="Arial"/>
                <a:sym typeface="Arial"/>
              </a:rPr>
              <a:t>We can decompose the parallelogram into a rectangle and two triangles.</a:t>
            </a:r>
            <a:endParaRPr b="0" i="0" sz="1400" u="none" cap="none" strike="noStrike">
              <a:solidFill>
                <a:srgbClr val="000000"/>
              </a:solidFill>
              <a:latin typeface="Arial"/>
              <a:ea typeface="Arial"/>
              <a:cs typeface="Arial"/>
              <a:sym typeface="Arial"/>
            </a:endParaRPr>
          </a:p>
        </p:txBody>
      </p:sp>
      <p:sp>
        <p:nvSpPr>
          <p:cNvPr id="704" name="Google Shape;704;p64"/>
          <p:cNvSpPr txBox="1"/>
          <p:nvPr/>
        </p:nvSpPr>
        <p:spPr>
          <a:xfrm>
            <a:off x="484565" y="316034"/>
            <a:ext cx="3904129"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030A0"/>
              </a:buClr>
              <a:buSzPts val="2800"/>
              <a:buFont typeface="Arial"/>
              <a:buNone/>
            </a:pPr>
            <a:r>
              <a:rPr b="1" i="0" lang="en-US" sz="2800" u="none" cap="none" strike="noStrike">
                <a:solidFill>
                  <a:srgbClr val="782DA0"/>
                </a:solidFill>
                <a:latin typeface="Arial"/>
                <a:ea typeface="Arial"/>
                <a:cs typeface="Arial"/>
                <a:sym typeface="Arial"/>
              </a:rPr>
              <a:t>Parallelograms</a:t>
            </a:r>
            <a:r>
              <a:rPr b="1" i="0" lang="en-US" sz="2800" u="none" cap="none" strike="noStrike">
                <a:solidFill>
                  <a:schemeClr val="dk1"/>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p:txBody>
      </p:sp>
      <p:pic>
        <p:nvPicPr>
          <p:cNvPr id="705" name="Google Shape;705;p64"/>
          <p:cNvPicPr preferRelativeResize="0"/>
          <p:nvPr/>
        </p:nvPicPr>
        <p:blipFill rotWithShape="1">
          <a:blip r:embed="rId3">
            <a:alphaModFix/>
          </a:blip>
          <a:srcRect b="0" l="0" r="0" t="0"/>
          <a:stretch/>
        </p:blipFill>
        <p:spPr>
          <a:xfrm>
            <a:off x="7839577" y="2221731"/>
            <a:ext cx="3676154" cy="1620000"/>
          </a:xfrm>
          <a:prstGeom prst="rect">
            <a:avLst/>
          </a:prstGeom>
          <a:noFill/>
          <a:ln>
            <a:noFill/>
          </a:ln>
        </p:spPr>
      </p:pic>
      <p:sp>
        <p:nvSpPr>
          <p:cNvPr id="706"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22 / 66</a:t>
            </a:r>
          </a:p>
        </p:txBody>
      </p:sp>
      <p:sp>
        <p:nvSpPr>
          <p:cNvPr id="707" name="EWL-COVER-1"/>
          <p:cNvSpPr/>
          <p:nvPr/>
        </p:nvSpPr>
        <p:spPr>
          <a:xfrm>
            <a:off x="476615" y="4822453"/>
            <a:ext cx="11082894" cy="1624067"/>
          </a:xfrm>
          <a:prstGeom prst="rect">
            <a:avLst/>
          </a:prstGeom>
          <a:solidFill>
            <a:srgbClr val="FFFFFF"/>
          </a:solidFill>
          <a:ln>
            <a:noFill/>
          </a:ln>
        </p:spPr>
        <p:txBody>
          <a:bodyPr/>
          <a:lstStyle/>
          <a:p/>
        </p:txBody>
      </p:sp>
      <p:sp xmlns:p="http://schemas.openxmlformats.org/presentationml/2006/main" xmlns:a="http://schemas.openxmlformats.org/drawingml/2006/main">
        <p:nvSpPr>
          <p:cNvPr id="708" name="TEACH-embedded-student-prompt" descr="Student thinking and response directions"/>
          <p:cNvSpPr txBox="1"/>
          <p:nvPr/>
        </p:nvSpPr>
        <p:spPr>
          <a:xfrm>
            <a:off x="594360" y="4169664"/>
            <a:ext cx="1109472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Record your reasoning before the reveal. Compare, then explain any revision.</a:t>
            </a:r>
            <a:endParaRPr lang="en-US" sz="20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70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9" name="Shape 709"/>
        <p:cNvGrpSpPr/>
        <p:nvPr/>
      </p:nvGrpSpPr>
      <p:grpSpPr>
        <a:xfrm>
          <a:off x="0" y="0"/>
          <a:ext cx="0" cy="0"/>
          <a:chOff x="0" y="0"/>
          <a:chExt cx="0" cy="0"/>
        </a:xfrm>
      </p:grpSpPr>
      <p:cxnSp>
        <p:nvCxnSpPr>
          <p:cNvPr id="710" name="Google Shape;710;p65"/>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711" name="Google Shape;711;p65"/>
          <p:cNvSpPr txBox="1"/>
          <p:nvPr/>
        </p:nvSpPr>
        <p:spPr>
          <a:xfrm>
            <a:off x="552218" y="5347430"/>
            <a:ext cx="11197822" cy="1030623"/>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lt1"/>
              </a:buClr>
              <a:buSzPts val="2800"/>
              <a:buFont typeface="Arial"/>
              <a:buNone/>
            </a:pPr>
            <a:r>
              <a:rPr b="1" i="0" lang="en-US" sz="2800" u="none" cap="none" strike="noStrike">
                <a:solidFill>
                  <a:schemeClr val="lt1"/>
                </a:solidFill>
                <a:highlight>
                  <a:srgbClr val="1E2682"/>
                </a:highlight>
                <a:latin typeface="Arial"/>
                <a:ea typeface="Arial"/>
                <a:cs typeface="Arial"/>
                <a:sym typeface="Arial"/>
              </a:rPr>
              <a:t> Think About It</a:t>
            </a:r>
            <a:r>
              <a:rPr b="1" i="0" lang="en-US" sz="2800" u="none" cap="none" strike="noStrike">
                <a:solidFill>
                  <a:srgbClr val="1E2682"/>
                </a:solidFill>
                <a:highlight>
                  <a:srgbClr val="1E2682"/>
                </a:highlight>
                <a:latin typeface="Arial"/>
                <a:ea typeface="Arial"/>
                <a:cs typeface="Arial"/>
                <a:sym typeface="Arial"/>
              </a:rPr>
              <a:t>:</a:t>
            </a:r>
            <a:r>
              <a:rPr b="1" i="0" lang="en-US" sz="2800" u="none" cap="none" strike="noStrike">
                <a:solidFill>
                  <a:schemeClr val="lt1"/>
                </a:solidFill>
                <a:highlight>
                  <a:srgbClr val="1E2682"/>
                </a:highlight>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595959"/>
              </a:buClr>
              <a:buSzPts val="2800"/>
              <a:buFont typeface="Arial"/>
              <a:buNone/>
            </a:pPr>
            <a:r>
              <a:rPr b="0" i="0" lang="en-US" sz="2800" u="none" cap="none" strike="noStrike">
                <a:solidFill>
                  <a:srgbClr val="595959"/>
                </a:solidFill>
                <a:latin typeface="Arial"/>
                <a:ea typeface="Arial"/>
                <a:cs typeface="Arial"/>
                <a:sym typeface="Arial"/>
              </a:rPr>
              <a:t>How have you determined the area of composite shapes in the past?</a:t>
            </a:r>
            <a:endParaRPr b="0" i="0" sz="2800" u="none" cap="none" strike="noStrike">
              <a:solidFill>
                <a:srgbClr val="595959"/>
              </a:solidFill>
              <a:latin typeface="Arial"/>
              <a:ea typeface="Arial"/>
              <a:cs typeface="Arial"/>
              <a:sym typeface="Arial"/>
            </a:endParaRPr>
          </a:p>
        </p:txBody>
      </p:sp>
      <p:sp>
        <p:nvSpPr>
          <p:cNvPr id="712" name="Google Shape;712;p65"/>
          <p:cNvSpPr txBox="1"/>
          <p:nvPr/>
        </p:nvSpPr>
        <p:spPr>
          <a:xfrm>
            <a:off x="484565" y="935751"/>
            <a:ext cx="7876920" cy="2596869"/>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0" i="0" lang="en-US" sz="2800" u="none" cap="none" strike="noStrike">
                <a:solidFill>
                  <a:srgbClr val="23282D"/>
                </a:solidFill>
                <a:latin typeface="Arial"/>
                <a:ea typeface="Arial"/>
                <a:cs typeface="Arial"/>
                <a:sym typeface="Arial"/>
              </a:rPr>
              <a:t>We can decompose the parallelogram into a rectangle and two triangles. </a:t>
            </a:r>
            <a:endParaRPr b="0" i="0" sz="1400" u="none" cap="none" strike="noStrike">
              <a:solidFill>
                <a:srgbClr val="000000"/>
              </a:solidFill>
              <a:latin typeface="Arial"/>
              <a:ea typeface="Arial"/>
              <a:cs typeface="Arial"/>
              <a:sym typeface="Arial"/>
            </a:endParaRPr>
          </a:p>
        </p:txBody>
      </p:sp>
      <p:sp>
        <p:nvSpPr>
          <p:cNvPr id="713" name="Google Shape;713;p65"/>
          <p:cNvSpPr txBox="1"/>
          <p:nvPr/>
        </p:nvSpPr>
        <p:spPr>
          <a:xfrm>
            <a:off x="484565" y="316034"/>
            <a:ext cx="3904129"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030A0"/>
              </a:buClr>
              <a:buSzPts val="2800"/>
              <a:buFont typeface="Arial"/>
              <a:buNone/>
            </a:pPr>
            <a:r>
              <a:rPr b="1" i="0" lang="en-US" sz="2800" u="none" cap="none" strike="noStrike">
                <a:solidFill>
                  <a:srgbClr val="782DA0"/>
                </a:solidFill>
                <a:latin typeface="Arial"/>
                <a:ea typeface="Arial"/>
                <a:cs typeface="Arial"/>
                <a:sym typeface="Arial"/>
              </a:rPr>
              <a:t>Parallelograms</a:t>
            </a:r>
            <a:r>
              <a:rPr b="1" i="0" lang="en-US" sz="2800" u="none" cap="none" strike="noStrike">
                <a:solidFill>
                  <a:schemeClr val="dk1"/>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p:txBody>
      </p:sp>
      <p:pic>
        <p:nvPicPr>
          <p:cNvPr id="714" name="Google Shape;714;p65"/>
          <p:cNvPicPr preferRelativeResize="0"/>
          <p:nvPr/>
        </p:nvPicPr>
        <p:blipFill rotWithShape="1">
          <a:blip r:embed="rId3">
            <a:alphaModFix/>
          </a:blip>
          <a:srcRect b="0" l="0" r="0" t="0"/>
          <a:stretch/>
        </p:blipFill>
        <p:spPr>
          <a:xfrm>
            <a:off x="7839577" y="2164581"/>
            <a:ext cx="3676154" cy="1620000"/>
          </a:xfrm>
          <a:prstGeom prst="rect">
            <a:avLst/>
          </a:prstGeom>
          <a:noFill/>
          <a:ln>
            <a:noFill/>
          </a:ln>
        </p:spPr>
      </p:pic>
      <p:sp>
        <p:nvSpPr>
          <p:cNvPr id="715"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23 / 66</a:t>
            </a:r>
          </a:p>
        </p:txBody>
      </p:sp>
      <p:sp xmlns:p="http://schemas.openxmlformats.org/presentationml/2006/main" xmlns:a="http://schemas.openxmlformats.org/drawingml/2006/main">
        <p:nvSpPr>
          <p:cNvPr id="716" name="TEACH-embedded-student-prompt" descr="Student thinking and response directions"/>
          <p:cNvSpPr txBox="1"/>
          <p:nvPr/>
        </p:nvSpPr>
        <p:spPr>
          <a:xfrm>
            <a:off x="594360" y="4718304"/>
            <a:ext cx="1109472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Try first. Point to a base and its matching height. Explain how your method uses them.</a:t>
            </a:r>
            <a:endParaRPr lang="en-US" sz="2000"/>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7" name="Shape 727"/>
        <p:cNvGrpSpPr/>
        <p:nvPr/>
      </p:nvGrpSpPr>
      <p:grpSpPr>
        <a:xfrm>
          <a:off x="0" y="0"/>
          <a:ext cx="0" cy="0"/>
          <a:chOff x="0" y="0"/>
          <a:chExt cx="0" cy="0"/>
        </a:xfrm>
      </p:grpSpPr>
      <p:cxnSp>
        <p:nvCxnSpPr>
          <p:cNvPr id="728" name="Google Shape;728;p67"/>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729" name="Google Shape;729;p67"/>
          <p:cNvSpPr txBox="1"/>
          <p:nvPr/>
        </p:nvSpPr>
        <p:spPr>
          <a:xfrm>
            <a:off x="531479" y="4877317"/>
            <a:ext cx="10973166" cy="1523484"/>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pPr>
            <a:r>
              <a:rPr b="1" i="0" lang="en-US" sz="2800" u="none" cap="none" strike="noStrike">
                <a:solidFill>
                  <a:srgbClr val="0070C0"/>
                </a:solidFill>
                <a:highlight>
                  <a:srgbClr val="E0E0E0"/>
                </a:highlight>
                <a:latin typeface="Arial"/>
                <a:ea typeface="Arial"/>
                <a:cs typeface="Arial"/>
                <a:sym typeface="Arial"/>
              </a:rPr>
              <a:t> Reveal</a:t>
            </a:r>
            <a:r>
              <a:rPr b="1" i="0" lang="en-US" sz="2800" u="none" cap="none" strike="noStrike">
                <a:solidFill>
                  <a:srgbClr val="E0E0E0"/>
                </a:solidFill>
                <a:highlight>
                  <a:srgbClr val="E0E0E0"/>
                </a:highlight>
                <a:latin typeface="Arial"/>
                <a:ea typeface="Arial"/>
                <a:cs typeface="Arial"/>
                <a:sym typeface="Arial"/>
              </a:rPr>
              <a:t>:</a:t>
            </a:r>
            <a:r>
              <a:rPr b="1" i="0" lang="en-US" sz="2800" u="none" cap="none" strike="noStrike">
                <a:solidFill>
                  <a:srgbClr val="0070C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595959"/>
              </a:buClr>
              <a:buSzPts val="2800"/>
              <a:buFont typeface="Arial"/>
              <a:buNone/>
            </a:pPr>
            <a:r>
              <a:rPr b="0" i="0" lang="en-US" sz="2800" u="none" cap="none" strike="noStrike">
                <a:solidFill>
                  <a:srgbClr val="595959"/>
                </a:solidFill>
                <a:latin typeface="Arial"/>
                <a:ea typeface="Arial"/>
                <a:cs typeface="Arial"/>
                <a:sym typeface="Arial"/>
              </a:rPr>
              <a:t>We can compose the shapes into a rectangle. We can move the triangle on the left to the other side.</a:t>
            </a:r>
            <a:endParaRPr b="0" i="0" sz="1400" u="none" cap="none" strike="noStrike">
              <a:solidFill>
                <a:srgbClr val="000000"/>
              </a:solidFill>
              <a:latin typeface="Arial"/>
              <a:ea typeface="Arial"/>
              <a:cs typeface="Arial"/>
              <a:sym typeface="Arial"/>
            </a:endParaRPr>
          </a:p>
        </p:txBody>
      </p:sp>
      <p:sp>
        <p:nvSpPr>
          <p:cNvPr id="730" name="Google Shape;730;p67"/>
          <p:cNvSpPr txBox="1"/>
          <p:nvPr/>
        </p:nvSpPr>
        <p:spPr>
          <a:xfrm>
            <a:off x="484565" y="935751"/>
            <a:ext cx="6983035" cy="2596869"/>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0" i="0" lang="en-US" sz="2800" u="none" cap="none" strike="noStrike">
                <a:solidFill>
                  <a:srgbClr val="23282D"/>
                </a:solidFill>
                <a:latin typeface="Arial"/>
                <a:ea typeface="Arial"/>
                <a:cs typeface="Arial"/>
                <a:sym typeface="Arial"/>
              </a:rPr>
              <a:t>We can decompose the parallelogram into a rectangle and two triangles.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800"/>
              </a:spcBef>
              <a:spcAft>
                <a:spcPts val="0"/>
              </a:spcAft>
              <a:buClr>
                <a:srgbClr val="262626"/>
              </a:buClr>
              <a:buSzPts val="2800"/>
              <a:buFont typeface="Arial"/>
              <a:buNone/>
            </a:pPr>
            <a:r>
              <a:rPr b="1" i="0" lang="en-US" sz="2800" u="none" cap="none" strike="noStrike">
                <a:solidFill>
                  <a:srgbClr val="23282D"/>
                </a:solidFill>
                <a:latin typeface="Arial"/>
                <a:ea typeface="Arial"/>
                <a:cs typeface="Arial"/>
                <a:sym typeface="Arial"/>
              </a:rPr>
              <a:t>How can you use the shapes to compose a single shape that you know how to find the area of?</a:t>
            </a:r>
            <a:endParaRPr b="0" i="0" sz="1400" u="none" cap="none" strike="noStrike">
              <a:solidFill>
                <a:srgbClr val="000000"/>
              </a:solidFill>
              <a:latin typeface="Arial"/>
              <a:ea typeface="Arial"/>
              <a:cs typeface="Arial"/>
              <a:sym typeface="Arial"/>
            </a:endParaRPr>
          </a:p>
        </p:txBody>
      </p:sp>
      <p:sp>
        <p:nvSpPr>
          <p:cNvPr id="731" name="Google Shape;731;p67"/>
          <p:cNvSpPr txBox="1"/>
          <p:nvPr/>
        </p:nvSpPr>
        <p:spPr>
          <a:xfrm>
            <a:off x="484565" y="316034"/>
            <a:ext cx="3904129"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030A0"/>
              </a:buClr>
              <a:buSzPts val="2800"/>
              <a:buFont typeface="Arial"/>
              <a:buNone/>
            </a:pPr>
            <a:r>
              <a:rPr b="1" i="0" lang="en-US" sz="2800" u="none" cap="none" strike="noStrike">
                <a:solidFill>
                  <a:srgbClr val="782DA0"/>
                </a:solidFill>
                <a:latin typeface="Arial"/>
                <a:ea typeface="Arial"/>
                <a:cs typeface="Arial"/>
                <a:sym typeface="Arial"/>
              </a:rPr>
              <a:t>Parallelograms</a:t>
            </a:r>
            <a:r>
              <a:rPr b="1" i="0" lang="en-US" sz="2800" u="none" cap="none" strike="noStrike">
                <a:solidFill>
                  <a:schemeClr val="dk1"/>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p:txBody>
      </p:sp>
      <p:pic>
        <p:nvPicPr>
          <p:cNvPr id="732" name="Google Shape;732;p67"/>
          <p:cNvPicPr preferRelativeResize="0"/>
          <p:nvPr/>
        </p:nvPicPr>
        <p:blipFill rotWithShape="1">
          <a:blip r:embed="rId3">
            <a:alphaModFix/>
          </a:blip>
          <a:srcRect b="0" l="0" r="0" t="0"/>
          <a:stretch/>
        </p:blipFill>
        <p:spPr>
          <a:xfrm>
            <a:off x="7839577" y="2164581"/>
            <a:ext cx="3676154" cy="1620000"/>
          </a:xfrm>
          <a:prstGeom prst="rect">
            <a:avLst/>
          </a:prstGeom>
          <a:noFill/>
          <a:ln>
            <a:noFill/>
          </a:ln>
        </p:spPr>
      </p:pic>
      <p:sp>
        <p:nvSpPr>
          <p:cNvPr id="733"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24 / 66</a:t>
            </a:r>
          </a:p>
        </p:txBody>
      </p:sp>
      <p:sp>
        <p:nvSpPr>
          <p:cNvPr id="734" name="EWL-COVER-1"/>
          <p:cNvSpPr/>
          <p:nvPr/>
        </p:nvSpPr>
        <p:spPr>
          <a:xfrm>
            <a:off x="476615" y="4822453"/>
            <a:ext cx="11082894" cy="1624067"/>
          </a:xfrm>
          <a:prstGeom prst="rect">
            <a:avLst/>
          </a:prstGeom>
          <a:solidFill>
            <a:srgbClr val="FFFFFF"/>
          </a:solidFill>
          <a:ln>
            <a:noFill/>
          </a:ln>
        </p:spPr>
        <p:txBody>
          <a:bodyPr/>
          <a:lstStyle/>
          <a:p/>
        </p:txBody>
      </p:sp>
      <p:sp xmlns:p="http://schemas.openxmlformats.org/presentationml/2006/main" xmlns:a="http://schemas.openxmlformats.org/drawingml/2006/main">
        <p:nvSpPr>
          <p:cNvPr id="735" name="TEACH-embedded-student-prompt" descr="Student thinking and response directions"/>
          <p:cNvSpPr txBox="1"/>
          <p:nvPr/>
        </p:nvSpPr>
        <p:spPr>
          <a:xfrm>
            <a:off x="594360" y="4169664"/>
            <a:ext cx="1109472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Record your reasoning before the reveal. Compare, then explain any revision.</a:t>
            </a:r>
            <a:endParaRPr lang="en-US" sz="20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73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7" name="Shape 747"/>
        <p:cNvGrpSpPr/>
        <p:nvPr/>
      </p:nvGrpSpPr>
      <p:grpSpPr>
        <a:xfrm>
          <a:off x="0" y="0"/>
          <a:ext cx="0" cy="0"/>
          <a:chOff x="0" y="0"/>
          <a:chExt cx="0" cy="0"/>
        </a:xfrm>
      </p:grpSpPr>
      <p:cxnSp>
        <p:nvCxnSpPr>
          <p:cNvPr id="748" name="Google Shape;748;p69"/>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749" name="Google Shape;749;p69"/>
          <p:cNvSpPr txBox="1"/>
          <p:nvPr/>
        </p:nvSpPr>
        <p:spPr>
          <a:xfrm>
            <a:off x="484565" y="936000"/>
            <a:ext cx="6212649" cy="281504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defRPr/>
            </a:pPr>
            <a:r>
              <a:rPr b="0" i="0" lang="en-US" sz="2800" u="none" cap="none" strike="noStrike">
                <a:solidFill>
                  <a:srgbClr val="23282D"/>
                </a:solidFill>
                <a:latin typeface="Arial"/>
                <a:ea typeface="Arial"/>
                <a:cs typeface="Arial"/>
                <a:sym typeface="Arial"/>
              </a:rPr>
              <a:t>Let’s compose the parallelogram into a rectangle.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800"/>
              </a:spcBef>
              <a:spcAft>
                <a:spcPts val="0"/>
              </a:spcAft>
              <a:buClr>
                <a:schemeClr val="dk2"/>
              </a:buClr>
              <a:buSzPts val="2800"/>
              <a:buFont typeface="Arial"/>
              <a:buNone/>
              <a:defRPr/>
            </a:pPr>
            <a:r>
              <a:rPr/>
              <a:t/>
            </a:r>
            <a:endParaRPr b="0" i="0" sz="2800" u="none" cap="none" strike="noStrike">
              <a:solidFill>
                <a:srgbClr val="262626"/>
              </a:solidFill>
              <a:latin typeface="Arial"/>
              <a:ea typeface="Arial"/>
              <a:cs typeface="Arial"/>
              <a:sym typeface="Arial"/>
            </a:endParaRPr>
          </a:p>
          <a:p>
            <a:pPr indent="0" lvl="0" marL="0" marR="0" rtl="0" algn="l">
              <a:lnSpc>
                <a:spcPct val="100000"/>
              </a:lnSpc>
              <a:spcBef>
                <a:spcPts val="1800"/>
              </a:spcBef>
              <a:spcAft>
                <a:spcPts val="0"/>
              </a:spcAft>
              <a:buClr>
                <a:srgbClr val="262626"/>
              </a:buClr>
              <a:buSzPts val="2800"/>
              <a:buFont typeface="Arial"/>
              <a:buNone/>
              <a:defRPr/>
            </a:pPr>
            <a:r>
              <a:rPr b="1" i="0" lang="en-US" sz="2800" u="none" cap="none" strike="noStrike">
                <a:solidFill>
                  <a:srgbClr val="23282D"/>
                </a:solidFill>
                <a:latin typeface="Arial"/>
                <a:ea typeface="Arial"/>
                <a:cs typeface="Arial"/>
                <a:sym typeface="Arial"/>
              </a:rPr>
              <a:t>How can you find the area of the rectangle?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800"/>
              </a:spcBef>
              <a:spcAft>
                <a:spcPts val="0"/>
              </a:spcAft>
              <a:buClr>
                <a:schemeClr val="dk2"/>
              </a:buClr>
              <a:buSzPts val="2800"/>
              <a:buFont typeface="Arial"/>
              <a:buNone/>
              <a:defRPr/>
            </a:pPr>
            <a:r>
              <a:rPr/>
              <a:t/>
            </a:r>
            <a:endParaRPr b="0" i="0" sz="2800" u="none" cap="none" strike="noStrike">
              <a:solidFill>
                <a:srgbClr val="262626"/>
              </a:solidFill>
              <a:latin typeface="Arial"/>
              <a:ea typeface="Arial"/>
              <a:cs typeface="Arial"/>
              <a:sym typeface="Arial"/>
            </a:endParaRPr>
          </a:p>
        </p:txBody>
      </p:sp>
      <p:sp>
        <p:nvSpPr>
          <p:cNvPr id="750" name="Google Shape;750;p69"/>
          <p:cNvSpPr txBox="1"/>
          <p:nvPr/>
        </p:nvSpPr>
        <p:spPr>
          <a:xfrm>
            <a:off x="484565" y="4772542"/>
            <a:ext cx="6821821" cy="1523484"/>
          </a:xfrm>
          <a:prstGeom prst="rect">
            <a:avLst/>
          </a:prstGeom>
          <a:blipFill rotWithShape="1">
            <a:blip r:embed="rId3">
              <a:alphaModFix/>
            </a:blip>
            <a:stretch>
              <a:fillRect b="-14400" l="-1786" r="0" t="-440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pic>
        <p:nvPicPr>
          <p:cNvPr id="751" name="Google Shape;751;p69"/>
          <p:cNvPicPr preferRelativeResize="0"/>
          <p:nvPr/>
        </p:nvPicPr>
        <p:blipFill rotWithShape="1">
          <a:blip r:embed="rId4">
            <a:alphaModFix/>
          </a:blip>
          <a:srcRect b="0" l="0" r="0" t="0"/>
          <a:stretch/>
        </p:blipFill>
        <p:spPr>
          <a:xfrm>
            <a:off x="7100887" y="1495684"/>
            <a:ext cx="4752975" cy="3924300"/>
          </a:xfrm>
          <a:prstGeom prst="rect">
            <a:avLst/>
          </a:prstGeom>
          <a:noFill/>
          <a:ln>
            <a:noFill/>
          </a:ln>
        </p:spPr>
      </p:pic>
      <p:sp>
        <p:nvSpPr>
          <p:cNvPr id="752" name="Google Shape;752;p69"/>
          <p:cNvSpPr txBox="1"/>
          <p:nvPr/>
        </p:nvSpPr>
        <p:spPr>
          <a:xfrm>
            <a:off x="484565" y="316034"/>
            <a:ext cx="3904129"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030A0"/>
              </a:buClr>
              <a:buSzPts val="2800"/>
              <a:buFont typeface="Arial"/>
              <a:buNone/>
              <a:defRPr/>
            </a:pPr>
            <a:r>
              <a:rPr b="1" i="0" lang="en-US" sz="2800" u="none" cap="none" strike="noStrike">
                <a:solidFill>
                  <a:srgbClr val="782DA0"/>
                </a:solidFill>
                <a:latin typeface="Arial"/>
                <a:ea typeface="Arial"/>
                <a:cs typeface="Arial"/>
                <a:sym typeface="Arial"/>
              </a:rPr>
              <a:t>Parallelograms</a:t>
            </a:r>
            <a:r>
              <a:rPr b="1" i="0" lang="en-US" sz="2800" u="none" cap="none" strike="noStrike">
                <a:solidFill>
                  <a:schemeClr val="dk1"/>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p:txBody>
      </p:sp>
      <p:sp>
        <p:nvSpPr>
          <p:cNvPr id="753"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25 / 66</a:t>
            </a:r>
          </a:p>
        </p:txBody>
      </p:sp>
      <p:grpSp>
        <p:nvGrpSpPr>
          <p:cNvPr id="754" name="TEACH-6-student-move" descr="TEACH 6 · Organize and implement routines to support a learning-focused classroom"/>
          <p:cNvGrpSpPr/>
          <p:nvPr/>
        </p:nvGrpSpPr>
        <p:grpSpPr>
          <a:xfrm>
            <a:off x="502920" y="4095886"/>
            <a:ext cx="5501640" cy="594360"/>
            <a:chOff x="502920" y="4095886"/>
            <a:chExt cx="5501640" cy="594360"/>
          </a:xfrm>
        </p:grpSpPr>
        <p:sp>
          <p:nvSpPr>
            <p:cNvPr id="755" name="TEACH-move-card"/>
            <p:cNvSpPr/>
            <p:nvPr/>
          </p:nvSpPr>
          <p:spPr>
            <a:xfrm>
              <a:off x="502920" y="4095886"/>
              <a:ext cx="5501640" cy="594360"/>
            </a:xfrm>
            <a:prstGeom prst="roundRect">
              <a:avLst>
                <a:gd name="adj" fmla="val 16000"/>
              </a:avLst>
            </a:prstGeom>
            <a:solidFill>
              <a:srgbClr val="E4F0F5"/>
            </a:solidFill>
            <a:ln w="19050">
              <a:solidFill>
                <a:srgbClr val="8CB8C7"/>
              </a:solidFill>
            </a:ln>
          </p:spPr>
          <p:txBody>
            <a:bodyPr/>
            <a:lstStyle/>
            <a:p>
              <a:endParaRPr/>
            </a:p>
          </p:txBody>
        </p:sp>
        <p:sp>
          <p:nvSpPr>
            <p:cNvPr id="756" name="TEACH-move-rule"/>
            <p:cNvSpPr/>
            <p:nvPr/>
          </p:nvSpPr>
          <p:spPr>
            <a:xfrm>
              <a:off x="548640" y="4208814"/>
              <a:ext cx="100584" cy="368504"/>
            </a:xfrm>
            <a:prstGeom prst="roundRect">
              <a:avLst>
                <a:gd name="adj" fmla="val 50000"/>
              </a:avLst>
            </a:prstGeom>
            <a:solidFill>
              <a:srgbClr val="01708C"/>
            </a:solidFill>
            <a:ln>
              <a:noFill/>
            </a:ln>
          </p:spPr>
          <p:txBody>
            <a:bodyPr/>
            <a:lstStyle/>
            <a:p>
              <a:endParaRPr/>
            </a:p>
          </p:txBody>
        </p:sp>
        <p:sp>
          <p:nvSpPr>
            <p:cNvPr id="757" name="TEACH-move-text"/>
            <p:cNvSpPr txBox="1"/>
            <p:nvPr/>
          </p:nvSpPr>
          <p:spPr>
            <a:xfrm>
              <a:off x="822960" y="4095886"/>
              <a:ext cx="5044440" cy="594360"/>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TRY IT BEFORE YOU’RE SURE  ·  </a:t>
              </a:r>
              <a:r>
                <a:rPr lang="en-US" sz="1200" dirty="0">
                  <a:solidFill>
                    <a:srgbClr val="13303A"/>
                  </a:solidFill>
                  <a:latin typeface="Arial"/>
                </a:rPr>
                <a:t>Start even if you are not sure. A revised answer counts as much as a first-try answer.</a:t>
              </a:r>
              <a:endParaRPr lang="en-US" sz="1200"/>
            </a:p>
          </p:txBody>
        </p:sp>
      </p:gr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7" name="Shape 767"/>
        <p:cNvGrpSpPr/>
        <p:nvPr/>
      </p:nvGrpSpPr>
      <p:grpSpPr>
        <a:xfrm>
          <a:off x="0" y="0"/>
          <a:ext cx="0" cy="0"/>
          <a:chOff x="0" y="0"/>
          <a:chExt cx="0" cy="0"/>
        </a:xfrm>
      </p:grpSpPr>
      <p:cxnSp>
        <p:nvCxnSpPr>
          <p:cNvPr id="768" name="Google Shape;768;p71"/>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769" name="Google Shape;769;p71"/>
          <p:cNvSpPr txBox="1"/>
          <p:nvPr/>
        </p:nvSpPr>
        <p:spPr>
          <a:xfrm>
            <a:off x="484563" y="936000"/>
            <a:ext cx="5858179" cy="2435850"/>
          </a:xfrm>
          <a:prstGeom prst="rect">
            <a:avLst/>
          </a:prstGeom>
          <a:blipFill rotWithShape="1">
            <a:blip r:embed="rId3">
              <a:alphaModFix/>
            </a:blip>
            <a:stretch>
              <a:fillRect b="0" l="-2081" r="0" t="-2757"/>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770" name="Google Shape;770;p71"/>
          <p:cNvSpPr txBox="1"/>
          <p:nvPr/>
        </p:nvSpPr>
        <p:spPr>
          <a:xfrm>
            <a:off x="531479" y="4877317"/>
            <a:ext cx="10973166" cy="1523484"/>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defRPr/>
            </a:pPr>
            <a:r>
              <a:rPr b="1" i="0" lang="en-US" sz="2800" u="none" cap="none" strike="noStrike">
                <a:solidFill>
                  <a:srgbClr val="0070C0"/>
                </a:solidFill>
                <a:highlight>
                  <a:srgbClr val="E0E0E0"/>
                </a:highlight>
                <a:latin typeface="Arial"/>
                <a:ea typeface="Arial"/>
                <a:cs typeface="Arial"/>
                <a:sym typeface="Arial"/>
              </a:rPr>
              <a:t> Reveal</a:t>
            </a:r>
            <a:r>
              <a:rPr b="1" i="0" lang="en-US" sz="2800" u="none" cap="none" strike="noStrike">
                <a:solidFill>
                  <a:srgbClr val="E0E0E0"/>
                </a:solidFill>
                <a:highlight>
                  <a:srgbClr val="E0E0E0"/>
                </a:highlight>
                <a:latin typeface="Arial"/>
                <a:ea typeface="Arial"/>
                <a:cs typeface="Arial"/>
                <a:sym typeface="Arial"/>
              </a:rPr>
              <a:t>:</a:t>
            </a:r>
            <a:r>
              <a:rPr b="1" i="0" lang="en-US" sz="2800" u="none" cap="none" strike="noStrike">
                <a:solidFill>
                  <a:srgbClr val="0070C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595959"/>
              </a:buClr>
              <a:buSzPts val="2800"/>
              <a:buFont typeface="Arial"/>
              <a:buNone/>
              <a:defRPr/>
            </a:pPr>
            <a:r>
              <a:rPr b="0" i="0" lang="en-US" sz="2800" u="none" cap="none" strike="noStrike">
                <a:solidFill>
                  <a:srgbClr val="595959"/>
                </a:solidFill>
                <a:latin typeface="Arial"/>
                <a:ea typeface="Arial"/>
                <a:cs typeface="Arial"/>
                <a:sym typeface="Arial"/>
              </a:rPr>
              <a:t>The areas are the same because we did not change the size of the figure, just its shape.</a:t>
            </a:r>
            <a:endParaRPr b="0" i="0" sz="1400" u="none" cap="none" strike="noStrike">
              <a:solidFill>
                <a:srgbClr val="000000"/>
              </a:solidFill>
              <a:latin typeface="Arial"/>
              <a:ea typeface="Arial"/>
              <a:cs typeface="Arial"/>
              <a:sym typeface="Arial"/>
            </a:endParaRPr>
          </a:p>
        </p:txBody>
      </p:sp>
      <p:sp>
        <p:nvSpPr>
          <p:cNvPr id="771" name="Google Shape;771;p71"/>
          <p:cNvSpPr/>
          <p:nvPr/>
        </p:nvSpPr>
        <p:spPr>
          <a:xfrm>
            <a:off x="484563" y="3439671"/>
            <a:ext cx="6563938" cy="138499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defRPr/>
            </a:pPr>
            <a:r>
              <a:rPr b="1" i="0" lang="en-US" sz="2800" u="none" cap="none" strike="noStrike">
                <a:solidFill>
                  <a:srgbClr val="23282D"/>
                </a:solidFill>
                <a:latin typeface="Arial"/>
                <a:ea typeface="Arial"/>
                <a:cs typeface="Arial"/>
                <a:sym typeface="Arial"/>
              </a:rPr>
              <a:t>How does the area of the rectangle relate to the area of the original parallelogram?</a:t>
            </a:r>
            <a:endParaRPr b="0" i="0" sz="1400" u="none" cap="none" strike="noStrike">
              <a:solidFill>
                <a:srgbClr val="000000"/>
              </a:solidFill>
              <a:latin typeface="Arial"/>
              <a:ea typeface="Arial"/>
              <a:cs typeface="Arial"/>
              <a:sym typeface="Arial"/>
            </a:endParaRPr>
          </a:p>
        </p:txBody>
      </p:sp>
      <p:pic>
        <p:nvPicPr>
          <p:cNvPr id="772" name="Google Shape;772;p71"/>
          <p:cNvPicPr preferRelativeResize="0"/>
          <p:nvPr/>
        </p:nvPicPr>
        <p:blipFill rotWithShape="1">
          <a:blip r:embed="rId4">
            <a:alphaModFix/>
          </a:blip>
          <a:srcRect b="0" l="0" r="0" t="0"/>
          <a:stretch/>
        </p:blipFill>
        <p:spPr>
          <a:xfrm>
            <a:off x="7920368" y="1459002"/>
            <a:ext cx="3905250" cy="1781175"/>
          </a:xfrm>
          <a:prstGeom prst="rect">
            <a:avLst/>
          </a:prstGeom>
          <a:noFill/>
          <a:ln>
            <a:noFill/>
          </a:ln>
        </p:spPr>
      </p:pic>
      <p:sp>
        <p:nvSpPr>
          <p:cNvPr id="773" name="Google Shape;773;p71"/>
          <p:cNvSpPr txBox="1"/>
          <p:nvPr/>
        </p:nvSpPr>
        <p:spPr>
          <a:xfrm>
            <a:off x="484565" y="316034"/>
            <a:ext cx="3904129"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030A0"/>
              </a:buClr>
              <a:buSzPts val="2800"/>
              <a:buFont typeface="Arial"/>
              <a:buNone/>
              <a:defRPr/>
            </a:pPr>
            <a:r>
              <a:rPr b="1" i="0" lang="en-US" sz="2800" u="none" cap="none" strike="noStrike">
                <a:solidFill>
                  <a:srgbClr val="782DA0"/>
                </a:solidFill>
                <a:latin typeface="Arial"/>
                <a:ea typeface="Arial"/>
                <a:cs typeface="Arial"/>
                <a:sym typeface="Arial"/>
              </a:rPr>
              <a:t>Parallelograms</a:t>
            </a:r>
            <a:r>
              <a:rPr b="1" i="0" lang="en-US" sz="2800" u="none" cap="none" strike="noStrike">
                <a:solidFill>
                  <a:schemeClr val="dk1"/>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p:txBody>
      </p:sp>
      <p:pic>
        <p:nvPicPr>
          <p:cNvPr id="774" name="Google Shape;774;p71"/>
          <p:cNvPicPr preferRelativeResize="0"/>
          <p:nvPr/>
        </p:nvPicPr>
        <p:blipFill rotWithShape="1">
          <a:blip r:embed="rId5">
            <a:alphaModFix/>
          </a:blip>
          <a:srcRect b="0" l="0" r="0" t="0"/>
          <a:stretch/>
        </p:blipFill>
        <p:spPr>
          <a:xfrm>
            <a:off x="7920368" y="3639067"/>
            <a:ext cx="3838575" cy="1238250"/>
          </a:xfrm>
          <a:prstGeom prst="rect">
            <a:avLst/>
          </a:prstGeom>
          <a:noFill/>
          <a:ln>
            <a:noFill/>
          </a:ln>
        </p:spPr>
      </p:pic>
      <p:sp>
        <p:nvSpPr>
          <p:cNvPr id="775"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26 / 66</a:t>
            </a:r>
          </a:p>
        </p:txBody>
      </p:sp>
      <p:sp>
        <p:nvSpPr>
          <p:cNvPr id="776" name="EWL-COVER-1"/>
          <p:cNvSpPr/>
          <p:nvPr/>
        </p:nvSpPr>
        <p:spPr>
          <a:xfrm>
            <a:off x="476615" y="4822453"/>
            <a:ext cx="11082894" cy="1624067"/>
          </a:xfrm>
          <a:prstGeom prst="rect">
            <a:avLst/>
          </a:prstGeom>
          <a:solidFill>
            <a:srgbClr val="FFFFFF"/>
          </a:solidFill>
          <a:ln>
            <a:noFill/>
          </a:ln>
        </p:spPr>
        <p:txBody>
          <a:bodyPr/>
          <a:lstStyle/>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77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9" name="Shape 779"/>
        <p:cNvGrpSpPr/>
        <p:nvPr/>
      </p:nvGrpSpPr>
      <p:grpSpPr>
        <a:xfrm>
          <a:off x="0" y="0"/>
          <a:ext cx="0" cy="0"/>
          <a:chOff x="0" y="0"/>
          <a:chExt cx="0" cy="0"/>
        </a:xfrm>
      </p:grpSpPr>
      <p:cxnSp>
        <p:nvCxnSpPr>
          <p:cNvPr id="780" name="Google Shape;780;p72"/>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781" name="Google Shape;781;p72"/>
          <p:cNvSpPr txBox="1"/>
          <p:nvPr/>
        </p:nvSpPr>
        <p:spPr>
          <a:xfrm>
            <a:off x="474056" y="936000"/>
            <a:ext cx="7530723" cy="3607498"/>
          </a:xfrm>
          <a:prstGeom prst="rect">
            <a:avLst/>
          </a:prstGeom>
          <a:blipFill rotWithShape="1">
            <a:blip r:embed="rId3">
              <a:alphaModFix/>
            </a:blip>
            <a:stretch>
              <a:fillRect b="0" l="-1700" r="0" t="-1861"/>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782" name="Google Shape;782;p72"/>
          <p:cNvSpPr/>
          <p:nvPr/>
        </p:nvSpPr>
        <p:spPr>
          <a:xfrm>
            <a:off x="694646" y="5863190"/>
            <a:ext cx="9755034" cy="492443"/>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600"/>
              <a:buFont typeface="Arial"/>
              <a:buNone/>
              <a:defRPr/>
            </a:pPr>
            <a:r>
              <a:rPr b="0" i="0" lang="en-US" sz="2600" u="none" cap="none" strike="noStrike">
                <a:solidFill>
                  <a:srgbClr val="595959"/>
                </a:solidFill>
                <a:latin typeface="Arial"/>
                <a:ea typeface="Arial"/>
                <a:cs typeface="Arial"/>
                <a:sym typeface="Arial"/>
              </a:rPr>
              <a:t>How could you check your answer?</a:t>
            </a:r>
            <a:endParaRPr b="0" i="0" sz="1400" u="none" cap="none" strike="noStrike">
              <a:solidFill>
                <a:srgbClr val="000000"/>
              </a:solidFill>
              <a:latin typeface="Arial"/>
              <a:ea typeface="Arial"/>
              <a:cs typeface="Arial"/>
              <a:sym typeface="Arial"/>
            </a:endParaRPr>
          </a:p>
        </p:txBody>
      </p:sp>
      <p:pic>
        <p:nvPicPr>
          <p:cNvPr id="783" name="Google Shape;783;p72"/>
          <p:cNvPicPr preferRelativeResize="0"/>
          <p:nvPr/>
        </p:nvPicPr>
        <p:blipFill rotWithShape="1">
          <a:blip r:embed="rId4">
            <a:alphaModFix/>
          </a:blip>
          <a:srcRect b="0" l="0" r="0" t="0"/>
          <a:stretch/>
        </p:blipFill>
        <p:spPr>
          <a:xfrm>
            <a:off x="474056" y="5085133"/>
            <a:ext cx="7073900" cy="838200"/>
          </a:xfrm>
          <a:prstGeom prst="rect">
            <a:avLst/>
          </a:prstGeom>
          <a:noFill/>
          <a:ln>
            <a:noFill/>
          </a:ln>
        </p:spPr>
      </p:pic>
      <p:sp>
        <p:nvSpPr>
          <p:cNvPr id="784" name="Google Shape;784;p72"/>
          <p:cNvSpPr txBox="1"/>
          <p:nvPr/>
        </p:nvSpPr>
        <p:spPr>
          <a:xfrm>
            <a:off x="3177722" y="5205875"/>
            <a:ext cx="2363542" cy="639716"/>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defRPr/>
            </a:pPr>
            <a:r>
              <a:rPr b="0" i="0" lang="en-US" sz="2800" u="none" cap="none" strike="noStrike">
                <a:solidFill>
                  <a:srgbClr val="23282D"/>
                </a:solidFill>
                <a:latin typeface="Arial"/>
                <a:ea typeface="Arial"/>
                <a:cs typeface="Arial"/>
                <a:sym typeface="Arial"/>
              </a:rPr>
              <a:t>Persevering </a:t>
            </a:r>
            <a:endParaRPr b="0" i="0" sz="1400" u="none" cap="none" strike="noStrike">
              <a:solidFill>
                <a:srgbClr val="000000"/>
              </a:solidFill>
              <a:latin typeface="Arial"/>
              <a:ea typeface="Arial"/>
              <a:cs typeface="Arial"/>
              <a:sym typeface="Arial"/>
            </a:endParaRPr>
          </a:p>
        </p:txBody>
      </p:sp>
      <p:pic>
        <p:nvPicPr>
          <p:cNvPr id="785" name="Google Shape;785;p72"/>
          <p:cNvPicPr preferRelativeResize="0"/>
          <p:nvPr/>
        </p:nvPicPr>
        <p:blipFill rotWithShape="1">
          <a:blip r:embed="rId5">
            <a:alphaModFix/>
          </a:blip>
          <a:srcRect b="0" l="0" r="0" t="0"/>
          <a:stretch/>
        </p:blipFill>
        <p:spPr>
          <a:xfrm>
            <a:off x="8015287" y="1588801"/>
            <a:ext cx="4010025" cy="3200400"/>
          </a:xfrm>
          <a:prstGeom prst="rect">
            <a:avLst/>
          </a:prstGeom>
          <a:noFill/>
          <a:ln>
            <a:noFill/>
          </a:ln>
        </p:spPr>
      </p:pic>
      <p:sp>
        <p:nvSpPr>
          <p:cNvPr id="786" name="Google Shape;786;p72"/>
          <p:cNvSpPr txBox="1"/>
          <p:nvPr/>
        </p:nvSpPr>
        <p:spPr>
          <a:xfrm>
            <a:off x="484565" y="316034"/>
            <a:ext cx="3904129"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030A0"/>
              </a:buClr>
              <a:buSzPts val="2800"/>
              <a:buFont typeface="Arial"/>
              <a:buNone/>
              <a:defRPr/>
            </a:pPr>
            <a:r>
              <a:rPr b="1" i="0" lang="en-US" sz="2800" u="none" cap="none" strike="noStrike">
                <a:solidFill>
                  <a:srgbClr val="782DA0"/>
                </a:solidFill>
                <a:latin typeface="Arial"/>
                <a:ea typeface="Arial"/>
                <a:cs typeface="Arial"/>
                <a:sym typeface="Arial"/>
              </a:rPr>
              <a:t>Parallelograms</a:t>
            </a:r>
            <a:r>
              <a:rPr b="1" i="0" lang="en-US" sz="2800" u="none" cap="none" strike="noStrike">
                <a:solidFill>
                  <a:schemeClr val="dk1"/>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p:txBody>
      </p:sp>
      <p:sp>
        <p:nvSpPr>
          <p:cNvPr id="787"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28 / 66</a:t>
            </a:r>
          </a:p>
        </p:txBody>
      </p:sp>
      <p:grpSp>
        <p:nvGrpSpPr>
          <p:cNvPr id="788" name="TEACH-5-student-move" descr="TEACH 5 · Facilitate student interactions and academic talk"/>
          <p:cNvGrpSpPr/>
          <p:nvPr/>
        </p:nvGrpSpPr>
        <p:grpSpPr>
          <a:xfrm>
            <a:off x="502920" y="4646221"/>
            <a:ext cx="5501640" cy="402336"/>
            <a:chOff x="502920" y="4646221"/>
            <a:chExt cx="5501640" cy="402336"/>
          </a:xfrm>
        </p:grpSpPr>
        <p:sp>
          <p:nvSpPr>
            <p:cNvPr id="789" name="TEACH-move-card"/>
            <p:cNvSpPr/>
            <p:nvPr/>
          </p:nvSpPr>
          <p:spPr>
            <a:xfrm>
              <a:off x="502920" y="4646221"/>
              <a:ext cx="5501640" cy="402336"/>
            </a:xfrm>
            <a:prstGeom prst="roundRect">
              <a:avLst>
                <a:gd name="adj" fmla="val 16000"/>
              </a:avLst>
            </a:prstGeom>
            <a:solidFill>
              <a:srgbClr val="E4F0F5"/>
            </a:solidFill>
            <a:ln w="19050">
              <a:solidFill>
                <a:srgbClr val="8CB8C7"/>
              </a:solidFill>
            </a:ln>
          </p:spPr>
          <p:txBody>
            <a:bodyPr/>
            <a:lstStyle/>
            <a:p>
              <a:endParaRPr/>
            </a:p>
          </p:txBody>
        </p:sp>
        <p:sp>
          <p:nvSpPr>
            <p:cNvPr id="790" name="TEACH-move-rule"/>
            <p:cNvSpPr/>
            <p:nvPr/>
          </p:nvSpPr>
          <p:spPr>
            <a:xfrm>
              <a:off x="548640" y="4722665"/>
              <a:ext cx="100584" cy="249448"/>
            </a:xfrm>
            <a:prstGeom prst="roundRect">
              <a:avLst>
                <a:gd name="adj" fmla="val 50000"/>
              </a:avLst>
            </a:prstGeom>
            <a:solidFill>
              <a:srgbClr val="01708C"/>
            </a:solidFill>
            <a:ln>
              <a:noFill/>
            </a:ln>
          </p:spPr>
          <p:txBody>
            <a:bodyPr/>
            <a:lstStyle/>
            <a:p>
              <a:endParaRPr/>
            </a:p>
          </p:txBody>
        </p:sp>
        <p:sp>
          <p:nvSpPr>
            <p:cNvPr id="791" name="TEACH-move-text"/>
            <p:cNvSpPr txBox="1"/>
            <p:nvPr/>
          </p:nvSpPr>
          <p:spPr>
            <a:xfrm>
              <a:off x="822960" y="4646221"/>
              <a:ext cx="504444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USE THE MATH WORDS  ·  </a:t>
              </a:r>
              <a:r>
                <a:rPr lang="en-US" sz="1200" dirty="0">
                  <a:solidFill>
                    <a:srgbClr val="13303A"/>
                  </a:solidFill>
                  <a:latin typeface="Arial"/>
                </a:rPr>
                <a:t>Use today’s math words in your explanation — not “it” and “that thing.”</a:t>
              </a:r>
              <a:endParaRPr lang="en-US" sz="1200"/>
            </a:p>
          </p:txBody>
        </p:sp>
      </p:gr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1" name="Shape 791"/>
        <p:cNvGrpSpPr/>
        <p:nvPr/>
      </p:nvGrpSpPr>
      <p:grpSpPr>
        <a:xfrm>
          <a:off x="0" y="0"/>
          <a:ext cx="0" cy="0"/>
          <a:chOff x="0" y="0"/>
          <a:chExt cx="0" cy="0"/>
        </a:xfrm>
      </p:grpSpPr>
      <p:cxnSp>
        <p:nvCxnSpPr>
          <p:cNvPr id="792" name="Google Shape;792;p73"/>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793" name="Google Shape;793;p73"/>
          <p:cNvSpPr txBox="1"/>
          <p:nvPr/>
        </p:nvSpPr>
        <p:spPr>
          <a:xfrm>
            <a:off x="484564" y="936000"/>
            <a:ext cx="7530723" cy="3607498"/>
          </a:xfrm>
          <a:prstGeom prst="rect">
            <a:avLst/>
          </a:prstGeom>
          <a:blipFill rotWithShape="1">
            <a:blip r:embed="rId3">
              <a:alphaModFix/>
            </a:blip>
            <a:stretch>
              <a:fillRect b="0" l="-1618" r="0" t="-1861"/>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794" name="Google Shape;794;p73"/>
          <p:cNvSpPr/>
          <p:nvPr/>
        </p:nvSpPr>
        <p:spPr>
          <a:xfrm>
            <a:off x="484563" y="4797172"/>
            <a:ext cx="7704929" cy="138499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defRPr/>
            </a:pPr>
            <a:r>
              <a:rPr b="1" i="0" lang="en-US" sz="2800" u="none" cap="none" strike="noStrike">
                <a:solidFill>
                  <a:srgbClr val="23282D"/>
                </a:solidFill>
                <a:latin typeface="Arial"/>
                <a:ea typeface="Arial"/>
                <a:cs typeface="Arial"/>
                <a:sym typeface="Arial"/>
              </a:rPr>
              <a:t>How can you use this information to determine a formula for the area of a parallelogram?</a:t>
            </a:r>
            <a:endParaRPr b="0" i="0" sz="1400" u="none" cap="none" strike="noStrike">
              <a:solidFill>
                <a:srgbClr val="000000"/>
              </a:solidFill>
              <a:latin typeface="Arial"/>
              <a:ea typeface="Arial"/>
              <a:cs typeface="Arial"/>
              <a:sym typeface="Arial"/>
            </a:endParaRPr>
          </a:p>
        </p:txBody>
      </p:sp>
      <p:pic>
        <p:nvPicPr>
          <p:cNvPr id="795" name="Google Shape;795;p73"/>
          <p:cNvPicPr preferRelativeResize="0"/>
          <p:nvPr/>
        </p:nvPicPr>
        <p:blipFill rotWithShape="1">
          <a:blip r:embed="rId4">
            <a:alphaModFix/>
          </a:blip>
          <a:srcRect b="0" l="0" r="0" t="0"/>
          <a:stretch/>
        </p:blipFill>
        <p:spPr>
          <a:xfrm>
            <a:off x="8015287" y="1588801"/>
            <a:ext cx="4010025" cy="3200400"/>
          </a:xfrm>
          <a:prstGeom prst="rect">
            <a:avLst/>
          </a:prstGeom>
          <a:noFill/>
          <a:ln>
            <a:noFill/>
          </a:ln>
        </p:spPr>
      </p:pic>
      <p:sp>
        <p:nvSpPr>
          <p:cNvPr id="796" name="Google Shape;796;p73"/>
          <p:cNvSpPr txBox="1"/>
          <p:nvPr/>
        </p:nvSpPr>
        <p:spPr>
          <a:xfrm>
            <a:off x="484565" y="316034"/>
            <a:ext cx="3904129"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030A0"/>
              </a:buClr>
              <a:buSzPts val="2800"/>
              <a:buFont typeface="Arial"/>
              <a:buNone/>
              <a:defRPr/>
            </a:pPr>
            <a:r>
              <a:rPr b="1" i="0" lang="en-US" sz="2800" u="none" cap="none" strike="noStrike">
                <a:solidFill>
                  <a:srgbClr val="782DA0"/>
                </a:solidFill>
                <a:latin typeface="Arial"/>
                <a:ea typeface="Arial"/>
                <a:cs typeface="Arial"/>
                <a:sym typeface="Arial"/>
              </a:rPr>
              <a:t>Parallelograms</a:t>
            </a:r>
            <a:r>
              <a:rPr b="1" i="0" lang="en-US" sz="2800" u="none" cap="none" strike="noStrike">
                <a:solidFill>
                  <a:schemeClr val="dk1"/>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p:txBody>
      </p:sp>
      <p:sp>
        <p:nvSpPr>
          <p:cNvPr id="797"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29 / 66</a:t>
            </a: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1" name="Shape 801"/>
        <p:cNvGrpSpPr/>
        <p:nvPr/>
      </p:nvGrpSpPr>
      <p:grpSpPr>
        <a:xfrm>
          <a:off x="0" y="0"/>
          <a:ext cx="0" cy="0"/>
          <a:chOff x="0" y="0"/>
          <a:chExt cx="0" cy="0"/>
        </a:xfrm>
      </p:grpSpPr>
      <p:cxnSp>
        <p:nvCxnSpPr>
          <p:cNvPr id="802" name="Google Shape;802;p74"/>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803" name="Google Shape;803;p74"/>
          <p:cNvSpPr txBox="1"/>
          <p:nvPr/>
        </p:nvSpPr>
        <p:spPr>
          <a:xfrm>
            <a:off x="486001" y="936000"/>
            <a:ext cx="6829200" cy="29311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pPr>
            <a:r>
              <a:rPr b="0" i="0" lang="en-US" sz="2800" u="none" cap="none" strike="noStrike">
                <a:solidFill>
                  <a:schemeClr val="dk1"/>
                </a:solidFill>
                <a:latin typeface="Arial"/>
                <a:ea typeface="Arial"/>
                <a:cs typeface="Arial"/>
                <a:sym typeface="Arial"/>
              </a:rPr>
              <a:t>We can use the relationship between the length of the rectangle and the base of the parallelogram, and the relationship between the width of the rectangle and the height of the rectangle to derive a formula for the area of a parallelogram.</a:t>
            </a:r>
            <a:endParaRPr b="0" i="0" sz="1400" u="none" cap="none" strike="noStrike">
              <a:solidFill>
                <a:srgbClr val="000000"/>
              </a:solidFill>
              <a:latin typeface="Arial"/>
              <a:ea typeface="Arial"/>
              <a:cs typeface="Arial"/>
              <a:sym typeface="Arial"/>
            </a:endParaRPr>
          </a:p>
        </p:txBody>
      </p:sp>
      <p:pic>
        <p:nvPicPr>
          <p:cNvPr id="804" name="Google Shape;804;p74"/>
          <p:cNvPicPr preferRelativeResize="0"/>
          <p:nvPr/>
        </p:nvPicPr>
        <p:blipFill rotWithShape="1">
          <a:blip r:embed="rId3">
            <a:alphaModFix/>
          </a:blip>
          <a:srcRect b="0" l="0" r="0" t="0"/>
          <a:stretch/>
        </p:blipFill>
        <p:spPr>
          <a:xfrm>
            <a:off x="8015287" y="1588801"/>
            <a:ext cx="4010025" cy="3200400"/>
          </a:xfrm>
          <a:prstGeom prst="rect">
            <a:avLst/>
          </a:prstGeom>
          <a:noFill/>
          <a:ln>
            <a:noFill/>
          </a:ln>
        </p:spPr>
      </p:pic>
      <p:sp>
        <p:nvSpPr>
          <p:cNvPr id="805" name="Google Shape;805;p74"/>
          <p:cNvSpPr txBox="1"/>
          <p:nvPr/>
        </p:nvSpPr>
        <p:spPr>
          <a:xfrm>
            <a:off x="484565" y="316034"/>
            <a:ext cx="3904129"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030A0"/>
              </a:buClr>
              <a:buSzPts val="2800"/>
              <a:buFont typeface="Arial"/>
              <a:buNone/>
            </a:pPr>
            <a:r>
              <a:rPr b="1" i="0" lang="en-US" sz="2800" u="none" cap="none" strike="noStrike">
                <a:solidFill>
                  <a:srgbClr val="782DA0"/>
                </a:solidFill>
                <a:latin typeface="Arial"/>
                <a:ea typeface="Arial"/>
                <a:cs typeface="Arial"/>
                <a:sym typeface="Arial"/>
              </a:rPr>
              <a:t>Parallelograms</a:t>
            </a:r>
            <a:r>
              <a:rPr b="1" i="0" lang="en-US" sz="2800" u="none" cap="none" strike="noStrike">
                <a:solidFill>
                  <a:schemeClr val="dk1"/>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p:txBody>
      </p:sp>
      <p:sp>
        <p:nvSpPr>
          <p:cNvPr id="806"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31 / 66</a:t>
            </a:r>
          </a:p>
        </p:txBody>
      </p:sp>
      <p:sp xmlns:p="http://schemas.openxmlformats.org/presentationml/2006/main" xmlns:a="http://schemas.openxmlformats.org/drawingml/2006/main">
        <p:nvSpPr>
          <p:cNvPr id="807" name="TEACH-embedded-student-prompt" descr="Student thinking and response directions"/>
          <p:cNvSpPr txBox="1"/>
          <p:nvPr/>
        </p:nvSpPr>
        <p:spPr>
          <a:xfrm>
            <a:off x="594360" y="5724144"/>
            <a:ext cx="1109472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Explain how the information shown supports your reasoning.</a:t>
            </a:r>
            <a:endParaRPr lang="en-US" sz="2000"/>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0" name="Shape 820"/>
        <p:cNvGrpSpPr/>
        <p:nvPr/>
      </p:nvGrpSpPr>
      <p:grpSpPr>
        <a:xfrm>
          <a:off x="0" y="0"/>
          <a:ext cx="0" cy="0"/>
          <a:chOff x="0" y="0"/>
          <a:chExt cx="0" cy="0"/>
        </a:xfrm>
      </p:grpSpPr>
      <p:cxnSp>
        <p:nvCxnSpPr>
          <p:cNvPr id="821" name="Google Shape;821;p76"/>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822" name="Google Shape;822;p76"/>
          <p:cNvSpPr txBox="1"/>
          <p:nvPr/>
        </p:nvSpPr>
        <p:spPr>
          <a:xfrm>
            <a:off x="543714" y="807493"/>
            <a:ext cx="7702278" cy="2819327"/>
          </a:xfrm>
          <a:prstGeom prst="rect">
            <a:avLst/>
          </a:prstGeom>
          <a:blipFill rotWithShape="1">
            <a:blip r:embed="rId3">
              <a:alphaModFix/>
            </a:blip>
            <a:stretch>
              <a:fillRect b="0" l="-1582" r="-158" t="-216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823" name="Google Shape;823;p76"/>
          <p:cNvSpPr txBox="1"/>
          <p:nvPr/>
        </p:nvSpPr>
        <p:spPr>
          <a:xfrm>
            <a:off x="897349" y="316800"/>
            <a:ext cx="5338818"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030A0"/>
              </a:buClr>
              <a:buSzPts val="2800"/>
              <a:buFont typeface="Arial"/>
              <a:buNone/>
              <a:defRPr/>
            </a:pPr>
            <a:r>
              <a:rPr b="1" i="0" lang="en-US" sz="2800" u="none" cap="none" strike="noStrike">
                <a:solidFill>
                  <a:srgbClr val="782DA0"/>
                </a:solidFill>
                <a:latin typeface="Arial"/>
                <a:ea typeface="Arial"/>
                <a:cs typeface="Arial"/>
                <a:sym typeface="Arial"/>
              </a:rPr>
              <a:t>Collaborate and Connect</a:t>
            </a:r>
            <a:endParaRPr b="1" i="0" sz="1500" u="none" cap="none" strike="noStrike">
              <a:solidFill>
                <a:srgbClr val="7030A0"/>
              </a:solidFill>
              <a:latin typeface="Arial"/>
              <a:ea typeface="Arial"/>
              <a:cs typeface="Arial"/>
              <a:sym typeface="Arial"/>
            </a:endParaRPr>
          </a:p>
        </p:txBody>
      </p:sp>
      <p:pic>
        <p:nvPicPr>
          <p:cNvPr id="824" name="Google Shape;824;p76"/>
          <p:cNvPicPr preferRelativeResize="0"/>
          <p:nvPr/>
        </p:nvPicPr>
        <p:blipFill rotWithShape="1">
          <a:blip r:embed="rId4">
            <a:alphaModFix/>
          </a:blip>
          <a:srcRect b="0" l="0" r="0" t="0"/>
          <a:stretch/>
        </p:blipFill>
        <p:spPr>
          <a:xfrm>
            <a:off x="543714" y="360118"/>
            <a:ext cx="353635" cy="340537"/>
          </a:xfrm>
          <a:prstGeom prst="rect">
            <a:avLst/>
          </a:prstGeom>
          <a:noFill/>
          <a:ln>
            <a:noFill/>
          </a:ln>
        </p:spPr>
      </p:pic>
      <p:sp>
        <p:nvSpPr>
          <p:cNvPr id="825" name="Google Shape;825;p76"/>
          <p:cNvSpPr/>
          <p:nvPr/>
        </p:nvSpPr>
        <p:spPr>
          <a:xfrm>
            <a:off x="543714" y="3489660"/>
            <a:ext cx="7618558" cy="138499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defRPr/>
            </a:pPr>
            <a:r>
              <a:rPr b="1" i="0" lang="en-US" sz="2800" u="none" cap="none" strike="noStrike">
                <a:solidFill>
                  <a:schemeClr val="dk1"/>
                </a:solidFill>
                <a:latin typeface="Arial"/>
                <a:ea typeface="Arial"/>
                <a:cs typeface="Arial"/>
                <a:sym typeface="Arial"/>
              </a:rPr>
              <a:t>How can you use grid paper to confirm the area of the parallelogram found using the formula?</a:t>
            </a:r>
            <a:endParaRPr b="1" i="0" sz="2800" u="none" cap="none" strike="noStrike">
              <a:solidFill>
                <a:schemeClr val="dk1"/>
              </a:solidFill>
              <a:latin typeface="Arial"/>
              <a:ea typeface="Arial"/>
              <a:cs typeface="Arial"/>
              <a:sym typeface="Arial"/>
            </a:endParaRPr>
          </a:p>
        </p:txBody>
      </p:sp>
      <p:sp>
        <p:nvSpPr>
          <p:cNvPr id="826" name="Google Shape;826;p76"/>
          <p:cNvSpPr txBox="1"/>
          <p:nvPr/>
        </p:nvSpPr>
        <p:spPr>
          <a:xfrm>
            <a:off x="487217" y="4947822"/>
            <a:ext cx="11300857" cy="155091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defRPr/>
            </a:pPr>
            <a:r>
              <a:rPr b="1" i="0" lang="en-US" sz="2800" u="none" cap="none" strike="noStrike">
                <a:solidFill>
                  <a:srgbClr val="0070C0"/>
                </a:solidFill>
                <a:highlight>
                  <a:srgbClr val="E0E0E0"/>
                </a:highlight>
                <a:latin typeface="Arial"/>
                <a:ea typeface="Arial"/>
                <a:cs typeface="Arial"/>
                <a:sym typeface="Arial"/>
              </a:rPr>
              <a:t> Reveal</a:t>
            </a:r>
            <a:r>
              <a:rPr b="1" i="0" lang="en-US" sz="2800" u="none" cap="none" strike="noStrike">
                <a:solidFill>
                  <a:srgbClr val="E0E0E0"/>
                </a:solidFill>
                <a:highlight>
                  <a:srgbClr val="E0E0E0"/>
                </a:highlight>
                <a:latin typeface="Arial"/>
                <a:ea typeface="Arial"/>
                <a:cs typeface="Arial"/>
                <a:sym typeface="Arial"/>
              </a:rPr>
              <a:t>:</a:t>
            </a:r>
            <a:r>
              <a:rPr b="1" i="0" lang="en-US" sz="2800" u="none" cap="none" strike="noStrike">
                <a:solidFill>
                  <a:srgbClr val="0070C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595959"/>
              </a:buClr>
              <a:buSzPts val="2800"/>
              <a:buFont typeface="Arial"/>
              <a:buNone/>
              <a:defRPr/>
            </a:pPr>
            <a:r>
              <a:rPr b="0" i="0" lang="en-US" sz="2800" u="none" cap="none" strike="noStrike">
                <a:solidFill>
                  <a:srgbClr val="595959"/>
                </a:solidFill>
                <a:latin typeface="Arial"/>
                <a:ea typeface="Arial"/>
                <a:cs typeface="Arial"/>
                <a:sym typeface="Arial"/>
              </a:rPr>
              <a:t>When we made the parallelogram into a rectangle, it resulted in 50 whole squares, or 50 square units, which matches the formula.</a:t>
            </a:r>
            <a:endParaRPr b="0" i="0" sz="1400" u="none" cap="none" strike="noStrike">
              <a:solidFill>
                <a:srgbClr val="000000"/>
              </a:solidFill>
              <a:latin typeface="Arial"/>
              <a:ea typeface="Arial"/>
              <a:cs typeface="Arial"/>
              <a:sym typeface="Arial"/>
            </a:endParaRPr>
          </a:p>
        </p:txBody>
      </p:sp>
      <p:pic>
        <p:nvPicPr>
          <p:cNvPr id="827" name="Google Shape;827;p76"/>
          <p:cNvPicPr preferRelativeResize="0"/>
          <p:nvPr/>
        </p:nvPicPr>
        <p:blipFill rotWithShape="1">
          <a:blip r:embed="rId5">
            <a:alphaModFix/>
          </a:blip>
          <a:srcRect b="0" l="0" r="0" t="0"/>
          <a:stretch/>
        </p:blipFill>
        <p:spPr>
          <a:xfrm>
            <a:off x="8015287" y="1588801"/>
            <a:ext cx="4010025" cy="3200400"/>
          </a:xfrm>
          <a:prstGeom prst="rect">
            <a:avLst/>
          </a:prstGeom>
          <a:noFill/>
          <a:ln>
            <a:noFill/>
          </a:ln>
        </p:spPr>
      </p:pic>
      <p:sp>
        <p:nvSpPr>
          <p:cNvPr id="828"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32 / 66</a:t>
            </a:r>
          </a:p>
        </p:txBody>
      </p:sp>
      <p:sp>
        <p:nvSpPr>
          <p:cNvPr id="829" name="EWL-COVER-1"/>
          <p:cNvSpPr/>
          <p:nvPr/>
        </p:nvSpPr>
        <p:spPr>
          <a:xfrm>
            <a:off x="432353" y="4892958"/>
            <a:ext cx="11410585" cy="1608426"/>
          </a:xfrm>
          <a:prstGeom prst="rect">
            <a:avLst/>
          </a:prstGeom>
          <a:solidFill>
            <a:srgbClr val="FFFFFF"/>
          </a:solidFill>
          <a:ln>
            <a:noFill/>
          </a:ln>
        </p:spPr>
        <p:txBody>
          <a:bodyPr/>
          <a:lstStyle/>
          <a:p/>
        </p:txBody>
      </p:sp>
      <p:sp>
        <p:nvSpPr>
          <p:cNvPr id="830" name="EWL-Routine"/>
          <p:cNvSpPr>
            <a:spLocks noGrp="1"/>
          </p:cNvSpPr>
          <p:nvPr/>
        </p:nvSpPr>
        <p:spPr>
          <a:xfrm>
            <a:off x="502920" y="54864"/>
            <a:ext cx="6035040" cy="237744"/>
          </a:xfrm>
          <a:prstGeom prst="rect">
            <a:avLst/>
          </a:prstGeom>
          <a:noFill/>
        </p:spPr>
        <p:txBody>
          <a:bodyPr lIns="0" rIns="0" tIns="0" bIns="0" wrap="square" anchor="ctr">
            <a:noAutofit/>
          </a:bodyPr>
          <a:lstStyle/>
          <a:p>
            <a:pPr algn="l">
              <a:defRPr/>
            </a:pPr>
            <a:r>
              <a:rPr lang="en-US" sz="1200" b="1">
                <a:solidFill>
                  <a:srgbClr val="1E2682"/>
                </a:solidFill>
                <a:latin typeface="Arial"/>
              </a:rPr>
              <a:t>COLLABORATE</a:t>
            </a:r>
            <a:r>
              <a:rPr lang="en-US" sz="1200" b="1">
                <a:solidFill>
                  <a:srgbClr val="5D6872"/>
                </a:solidFill>
                <a:latin typeface="Arial"/>
              </a:rPr>
              <a:t>  ·  TALK IT THROUGH • AGREE ON A MODEL</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82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1" name="Shape 831"/>
        <p:cNvGrpSpPr/>
        <p:nvPr/>
      </p:nvGrpSpPr>
      <p:grpSpPr>
        <a:xfrm>
          <a:off x="0" y="0"/>
          <a:ext cx="0" cy="0"/>
          <a:chOff x="0" y="0"/>
          <a:chExt cx="0" cy="0"/>
        </a:xfrm>
      </p:grpSpPr>
      <p:cxnSp>
        <p:nvCxnSpPr>
          <p:cNvPr id="832" name="Google Shape;832;p77"/>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833" name="Google Shape;833;p77"/>
          <p:cNvSpPr txBox="1"/>
          <p:nvPr/>
        </p:nvSpPr>
        <p:spPr>
          <a:xfrm>
            <a:off x="484565" y="936000"/>
            <a:ext cx="6830636" cy="1112096"/>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1" i="0" lang="en-US" sz="2800" u="none" cap="none" strike="noStrike">
                <a:solidFill>
                  <a:srgbClr val="23282D"/>
                </a:solidFill>
                <a:latin typeface="Arial"/>
                <a:ea typeface="Arial"/>
                <a:cs typeface="Arial"/>
                <a:sym typeface="Arial"/>
              </a:rPr>
              <a:t>What is the area of the parallelogram shown?</a:t>
            </a:r>
            <a:endParaRPr b="0" i="0" sz="1400" u="none" cap="none" strike="noStrike">
              <a:solidFill>
                <a:srgbClr val="000000"/>
              </a:solidFill>
              <a:latin typeface="Arial"/>
              <a:ea typeface="Arial"/>
              <a:cs typeface="Arial"/>
              <a:sym typeface="Arial"/>
            </a:endParaRPr>
          </a:p>
        </p:txBody>
      </p:sp>
      <p:sp>
        <p:nvSpPr>
          <p:cNvPr id="834" name="Google Shape;834;p77"/>
          <p:cNvSpPr txBox="1"/>
          <p:nvPr/>
        </p:nvSpPr>
        <p:spPr>
          <a:xfrm>
            <a:off x="484565" y="2372529"/>
            <a:ext cx="6830636" cy="954107"/>
          </a:xfrm>
          <a:prstGeom prst="rect">
            <a:avLst/>
          </a:prstGeom>
          <a:solidFill>
            <a:schemeClr val="lt1"/>
          </a:solidFill>
          <a:ln cap="flat" cmpd="sng" w="12700">
            <a:solidFill>
              <a:srgbClr val="782DA0"/>
            </a:solidFill>
            <a:prstDash val="solid"/>
            <a:miter lim="8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chemeClr val="dk1"/>
                </a:solidFill>
                <a:latin typeface="Arial"/>
                <a:ea typeface="Arial"/>
                <a:cs typeface="Arial"/>
                <a:sym typeface="Arial"/>
              </a:rPr>
              <a:t>The area of the parallelogram is 50 square units.</a:t>
            </a:r>
            <a:endParaRPr b="0" i="0" sz="2600" u="none" cap="none" strike="noStrike">
              <a:solidFill>
                <a:schemeClr val="dk1"/>
              </a:solidFill>
              <a:latin typeface="Arial"/>
              <a:ea typeface="Arial"/>
              <a:cs typeface="Arial"/>
              <a:sym typeface="Arial"/>
            </a:endParaRPr>
          </a:p>
        </p:txBody>
      </p:sp>
      <p:sp>
        <p:nvSpPr>
          <p:cNvPr id="835" name="Google Shape;835;p77"/>
          <p:cNvSpPr txBox="1"/>
          <p:nvPr/>
        </p:nvSpPr>
        <p:spPr>
          <a:xfrm>
            <a:off x="484565" y="316034"/>
            <a:ext cx="3904129"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030A0"/>
              </a:buClr>
              <a:buSzPts val="2800"/>
              <a:buFont typeface="Arial"/>
              <a:buNone/>
            </a:pPr>
            <a:r>
              <a:rPr b="1" i="0" lang="en-US" sz="2800" u="none" cap="none" strike="noStrike">
                <a:solidFill>
                  <a:srgbClr val="782DA0"/>
                </a:solidFill>
                <a:latin typeface="Arial"/>
                <a:ea typeface="Arial"/>
                <a:cs typeface="Arial"/>
                <a:sym typeface="Arial"/>
              </a:rPr>
              <a:t>Parallelograms</a:t>
            </a:r>
            <a:r>
              <a:rPr b="1" i="0" lang="en-US" sz="2800" u="none" cap="none" strike="noStrike">
                <a:solidFill>
                  <a:schemeClr val="dk1"/>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p:txBody>
      </p:sp>
      <p:pic>
        <p:nvPicPr>
          <p:cNvPr id="836" name="Google Shape;836;p77"/>
          <p:cNvPicPr preferRelativeResize="0"/>
          <p:nvPr/>
        </p:nvPicPr>
        <p:blipFill rotWithShape="1">
          <a:blip r:embed="rId3">
            <a:alphaModFix/>
          </a:blip>
          <a:srcRect b="0" l="0" r="0" t="0"/>
          <a:stretch/>
        </p:blipFill>
        <p:spPr>
          <a:xfrm>
            <a:off x="7910843" y="2516636"/>
            <a:ext cx="3720325" cy="1639465"/>
          </a:xfrm>
          <a:prstGeom prst="rect">
            <a:avLst/>
          </a:prstGeom>
          <a:noFill/>
          <a:ln>
            <a:noFill/>
          </a:ln>
        </p:spPr>
      </p:pic>
      <p:sp>
        <p:nvSpPr>
          <p:cNvPr id="837"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34 / 66</a:t>
            </a:r>
          </a:p>
        </p:txBody>
      </p:sp>
      <p:sp xmlns:p="http://schemas.openxmlformats.org/presentationml/2006/main" xmlns:a="http://schemas.openxmlformats.org/drawingml/2006/main">
        <p:nvSpPr>
          <p:cNvPr id="838" name="TEACH-embedded-student-prompt" descr="Student thinking and response directions"/>
          <p:cNvSpPr txBox="1"/>
          <p:nvPr/>
        </p:nvSpPr>
        <p:spPr>
          <a:xfrm>
            <a:off x="594360" y="5724144"/>
            <a:ext cx="1109472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Think and record first. Which part of your work supports your answer?</a:t>
            </a:r>
            <a:endParaRPr lang="en-US" sz="2000"/>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0" name="Shape 840"/>
        <p:cNvGrpSpPr/>
        <p:nvPr/>
      </p:nvGrpSpPr>
      <p:grpSpPr>
        <a:xfrm>
          <a:off x="0" y="0"/>
          <a:ext cx="0" cy="0"/>
          <a:chOff x="0" y="0"/>
          <a:chExt cx="0" cy="0"/>
        </a:xfrm>
      </p:grpSpPr>
      <p:sp>
        <p:nvSpPr>
          <p:cNvPr id="841" name="Google Shape;841;p78"/>
          <p:cNvSpPr txBox="1"/>
          <p:nvPr/>
        </p:nvSpPr>
        <p:spPr>
          <a:xfrm>
            <a:off x="6918166" y="5931958"/>
            <a:ext cx="1206869"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defRPr/>
            </a:pPr>
            <a:r>
              <a:rPr b="0" i="0" lang="en-US" sz="1600" u="none" cap="none" strike="noStrike">
                <a:solidFill>
                  <a:srgbClr val="BFBFBF"/>
                </a:solidFill>
                <a:latin typeface="Arial"/>
                <a:ea typeface="Arial"/>
                <a:cs typeface="Arial"/>
                <a:sym typeface="Arial"/>
              </a:rPr>
              <a:t>Workspace</a:t>
            </a:r>
            <a:endParaRPr b="0" i="0" sz="1400" u="none" cap="none" strike="noStrike">
              <a:solidFill>
                <a:srgbClr val="000000"/>
              </a:solidFill>
              <a:latin typeface="Arial"/>
              <a:ea typeface="Arial"/>
              <a:cs typeface="Arial"/>
              <a:sym typeface="Arial"/>
            </a:endParaRPr>
          </a:p>
        </p:txBody>
      </p:sp>
      <p:sp>
        <p:nvSpPr>
          <p:cNvPr id="842" name="Google Shape;842;p78"/>
          <p:cNvSpPr/>
          <p:nvPr/>
        </p:nvSpPr>
        <p:spPr>
          <a:xfrm>
            <a:off x="567559" y="2087418"/>
            <a:ext cx="7570600" cy="4190892"/>
          </a:xfrm>
          <a:prstGeom prst="rect">
            <a:avLst/>
          </a:prstGeom>
          <a:noFill/>
          <a:ln cap="flat" cmpd="sng" w="12700">
            <a:solidFill>
              <a:srgbClr val="8296B0"/>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Calibri"/>
              <a:cs typeface="Calibri"/>
              <a:sym typeface="Calibri"/>
            </a:endParaRPr>
          </a:p>
        </p:txBody>
      </p:sp>
      <p:sp>
        <p:nvSpPr>
          <p:cNvPr id="843" name="Google Shape;843;p78"/>
          <p:cNvSpPr txBox="1"/>
          <p:nvPr/>
        </p:nvSpPr>
        <p:spPr>
          <a:xfrm>
            <a:off x="484564" y="927528"/>
            <a:ext cx="7653595" cy="1159890"/>
          </a:xfrm>
          <a:prstGeom prst="rect">
            <a:avLst/>
          </a:prstGeom>
          <a:noFill/>
          <a:ln>
            <a:noFill/>
          </a:ln>
        </p:spPr>
        <p:txBody>
          <a:bodyPr anchorCtr="0" anchor="t" bIns="45700" lIns="91425" spcFirstLastPara="1" rIns="91425" wrap="square" tIns="45700">
            <a:noAutofit/>
          </a:bodyPr>
          <a:lstStyle/>
          <a:p>
            <a:pPr indent="-514350" lvl="0" marL="514350" marR="0" rtl="0" algn="l">
              <a:lnSpc>
                <a:spcPct val="100000"/>
              </a:lnSpc>
              <a:spcBef>
                <a:spcPts val="0"/>
              </a:spcBef>
              <a:spcAft>
                <a:spcPts val="0"/>
              </a:spcAft>
              <a:buClr>
                <a:srgbClr val="262626"/>
              </a:buClr>
              <a:buSzPts val="2800"/>
              <a:buFont typeface="Calibri"/>
              <a:buAutoNum type="alphaLcPeriod"/>
              <a:defRPr/>
            </a:pPr>
            <a:r>
              <a:rPr b="0" i="0" lang="en-US" sz="2800" u="none" cap="none" strike="noStrike">
                <a:solidFill>
                  <a:srgbClr val="23282D"/>
                </a:solidFill>
                <a:latin typeface="Arial"/>
                <a:ea typeface="Arial"/>
                <a:cs typeface="Arial"/>
                <a:sym typeface="Arial"/>
              </a:rPr>
              <a:t>How can you use the given area to find the unknown dimension of the parallelogram?</a:t>
            </a:r>
            <a:endParaRPr b="0" i="0" sz="1400" u="none" cap="none" strike="noStrike">
              <a:solidFill>
                <a:srgbClr val="000000"/>
              </a:solidFill>
              <a:latin typeface="Arial"/>
              <a:ea typeface="Arial"/>
              <a:cs typeface="Arial"/>
              <a:sym typeface="Arial"/>
            </a:endParaRPr>
          </a:p>
        </p:txBody>
      </p:sp>
      <p:sp>
        <p:nvSpPr>
          <p:cNvPr id="844" name="Google Shape;844;p78"/>
          <p:cNvSpPr txBox="1"/>
          <p:nvPr/>
        </p:nvSpPr>
        <p:spPr>
          <a:xfrm>
            <a:off x="484565" y="316034"/>
            <a:ext cx="5492675" cy="537406"/>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defRPr/>
            </a:pPr>
            <a:r>
              <a:rPr b="1" i="0" lang="en-US" sz="2800" u="none" cap="none" strike="noStrike">
                <a:solidFill>
                  <a:srgbClr val="782DA0"/>
                </a:solidFill>
                <a:latin typeface="Arial"/>
                <a:ea typeface="Arial"/>
                <a:cs typeface="Arial"/>
                <a:sym typeface="Arial"/>
              </a:rPr>
              <a:t>Let’s Explore More</a:t>
            </a:r>
            <a:endParaRPr b="0" i="0" sz="1400" u="none" cap="none" strike="noStrike">
              <a:solidFill>
                <a:srgbClr val="000000"/>
              </a:solidFill>
              <a:latin typeface="Arial"/>
              <a:ea typeface="Arial"/>
              <a:cs typeface="Arial"/>
              <a:sym typeface="Arial"/>
            </a:endParaRPr>
          </a:p>
        </p:txBody>
      </p:sp>
      <p:pic>
        <p:nvPicPr>
          <p:cNvPr id="845" name="Google Shape;845;p78"/>
          <p:cNvPicPr preferRelativeResize="0"/>
          <p:nvPr/>
        </p:nvPicPr>
        <p:blipFill rotWithShape="1">
          <a:blip r:embed="rId3">
            <a:alphaModFix/>
          </a:blip>
          <a:srcRect b="0" l="0" r="0" t="0"/>
          <a:stretch/>
        </p:blipFill>
        <p:spPr>
          <a:xfrm>
            <a:off x="8297967" y="1539182"/>
            <a:ext cx="3662030" cy="4175999"/>
          </a:xfrm>
          <a:prstGeom prst="rect">
            <a:avLst/>
          </a:prstGeom>
          <a:noFill/>
          <a:ln>
            <a:noFill/>
          </a:ln>
        </p:spPr>
      </p:pic>
      <p:sp>
        <p:nvSpPr>
          <p:cNvPr id="846"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35 / 66</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showMasterSp="0" show="1">
  <p:cSld>
    <p:bg>
      <p:bgPr>
        <a:solidFill>
          <a:srgbClr val="FFFFFF"/>
        </a:solidFill>
        <a:effectLst/>
      </p:bgPr>
    </p:bg>
    <p:spTree>
      <p:nvGrpSpPr>
        <p:cNvPr id="1" name=""/>
        <p:cNvGrpSpPr/>
        <p:nvPr/>
      </p:nvGrpSpPr>
      <p:grpSpPr/>
      <p:sp>
        <p:nvSpPr>
          <p:cNvPr id="2" name="TextBox 1"/>
          <p:cNvSpPr txBox="1"/>
          <p:nvPr/>
        </p:nvSpPr>
        <p:spPr>
          <a:xfrm>
            <a:off x="594360" y="347472"/>
            <a:ext cx="10972800" cy="301752"/>
          </a:xfrm>
          <a:prstGeom prst="rect">
            <a:avLst/>
          </a:prstGeom>
          <a:noFill/>
        </p:spPr>
        <p:txBody>
          <a:bodyPr wrap="square" lIns="0" rIns="0" tIns="22860" bIns="0">
            <a:spAutoFit/>
          </a:bodyPr>
          <a:lstStyle/>
          <a:p>
            <a:pPr>
              <a:spcAft>
                <a:spcPts val="800"/>
              </a:spcAft>
              <a:defRPr sz="1300" b="1">
                <a:solidFill>
                  <a:srgbClr val="096B69"/>
                </a:solidFill>
                <a:latin typeface="Arial"/>
              </a:defRPr>
            </a:pPr>
            <a:r>
              <a:rPr/>
              <a:t>LESSON 5.1  /  DISCUSS THE TASK</a:t>
            </a:r>
          </a:p>
        </p:txBody>
      </p:sp>
      <p:sp>
        <p:nvSpPr>
          <p:cNvPr id="3" name="TextBox 2"/>
          <p:cNvSpPr txBox="1"/>
          <p:nvPr/>
        </p:nvSpPr>
        <p:spPr>
          <a:xfrm>
            <a:off x="594360" y="914400"/>
            <a:ext cx="10972800" cy="640080"/>
          </a:xfrm>
          <a:prstGeom prst="rect">
            <a:avLst/>
          </a:prstGeom>
          <a:noFill/>
        </p:spPr>
        <p:txBody>
          <a:bodyPr wrap="square" lIns="0" rIns="0" tIns="22860" bIns="0">
            <a:spAutoFit/>
          </a:bodyPr>
          <a:lstStyle/>
          <a:p>
            <a:pPr>
              <a:spcAft>
                <a:spcPts val="800"/>
              </a:spcAft>
              <a:defRPr sz="3600" b="1">
                <a:solidFill>
                  <a:srgbClr val="173451"/>
                </a:solidFill>
                <a:latin typeface="Arial"/>
              </a:defRPr>
            </a:pPr>
            <a:r>
              <a:rPr/>
              <a:t>Explain and compare</a:t>
            </a:r>
          </a:p>
        </p:txBody>
      </p:sp>
      <p:sp>
        <p:nvSpPr>
          <p:cNvPr id="4" name="TextBox 3"/>
          <p:cNvSpPr txBox="1"/>
          <p:nvPr/>
        </p:nvSpPr>
        <p:spPr>
          <a:xfrm>
            <a:off x="594360" y="6263640"/>
            <a:ext cx="10789920" cy="274320"/>
          </a:xfrm>
          <a:prstGeom prst="rect">
            <a:avLst/>
          </a:prstGeom>
          <a:noFill/>
        </p:spPr>
        <p:txBody>
          <a:bodyPr wrap="square" lIns="0" rIns="0" tIns="22860" bIns="0">
            <a:spAutoFit/>
          </a:bodyPr>
          <a:lstStyle/>
          <a:p>
            <a:pPr>
              <a:spcAft>
                <a:spcPts val="800"/>
              </a:spcAft>
              <a:defRPr sz="1300" b="0">
                <a:solidFill>
                  <a:srgbClr val="506478"/>
                </a:solidFill>
                <a:latin typeface="Arial"/>
              </a:defRPr>
            </a:pPr>
            <a:r>
              <a:rPr/>
              <a:t>Listen to understand. Ask for evidence. Make room for every voice.</a:t>
            </a:r>
          </a:p>
        </p:txBody>
      </p:sp>
      <p:sp>
        <p:nvSpPr>
          <p:cNvPr id="5" name="TextBox 4"/>
          <p:cNvSpPr txBox="1"/>
          <p:nvPr/>
        </p:nvSpPr>
        <p:spPr>
          <a:xfrm>
            <a:off x="621792" y="1755648"/>
            <a:ext cx="6629400" cy="384048"/>
          </a:xfrm>
          <a:prstGeom prst="rect">
            <a:avLst/>
          </a:prstGeom>
          <a:noFill/>
        </p:spPr>
        <p:txBody>
          <a:bodyPr wrap="square" lIns="0" rIns="0" tIns="22860" bIns="0">
            <a:spAutoFit/>
          </a:bodyPr>
          <a:lstStyle/>
          <a:p>
            <a:pPr>
              <a:spcAft>
                <a:spcPts val="800"/>
              </a:spcAft>
              <a:defRPr sz="2000" b="1">
                <a:solidFill>
                  <a:srgbClr val="096B69"/>
                </a:solidFill>
                <a:latin typeface="Arial"/>
              </a:defRPr>
            </a:pPr>
            <a:r>
              <a:rPr/>
              <a:t>Use the task you just explored.</a:t>
            </a:r>
          </a:p>
        </p:txBody>
      </p:sp>
      <p:sp>
        <p:nvSpPr>
          <p:cNvPr id="6" name="TextBox 5"/>
          <p:cNvSpPr txBox="1"/>
          <p:nvPr/>
        </p:nvSpPr>
        <p:spPr>
          <a:xfrm>
            <a:off x="621792" y="2322576"/>
            <a:ext cx="6583680" cy="2057400"/>
          </a:xfrm>
          <a:prstGeom prst="rect">
            <a:avLst/>
          </a:prstGeom>
          <a:noFill/>
        </p:spPr>
        <p:txBody>
          <a:bodyPr wrap="square" lIns="0" rIns="0" tIns="22860" bIns="0">
            <a:spAutoFit/>
          </a:bodyPr>
          <a:lstStyle/>
          <a:p>
            <a:pPr>
              <a:spcAft>
                <a:spcPts val="800"/>
              </a:spcAft>
              <a:defRPr sz="2900" b="0">
                <a:solidFill>
                  <a:srgbClr val="24384B"/>
                </a:solidFill>
                <a:latin typeface="Arial"/>
              </a:defRPr>
            </a:pPr>
            <a:r>
              <a:rPr/>
              <a:t>Why does rearranging this parallelogram preserve area, and which segment is its height?</a:t>
            </a:r>
          </a:p>
        </p:txBody>
      </p:sp>
      <p:sp>
        <p:nvSpPr>
          <p:cNvPr id="7" name="TextBox 6"/>
          <p:cNvSpPr txBox="1"/>
          <p:nvPr/>
        </p:nvSpPr>
        <p:spPr>
          <a:xfrm>
            <a:off x="621792" y="4590288"/>
            <a:ext cx="6629400" cy="960120"/>
          </a:xfrm>
          <a:prstGeom prst="rect">
            <a:avLst/>
          </a:prstGeom>
          <a:noFill/>
        </p:spPr>
        <p:txBody>
          <a:bodyPr wrap="square" lIns="0" rIns="0" tIns="22860" bIns="0">
            <a:spAutoFit/>
          </a:bodyPr>
          <a:lstStyle/>
          <a:p>
            <a:pPr>
              <a:spcAft>
                <a:spcPts val="800"/>
              </a:spcAft>
              <a:defRPr sz="2300" b="0">
                <a:solidFill>
                  <a:srgbClr val="24384B"/>
                </a:solidFill>
                <a:latin typeface="Arial"/>
              </a:defRPr>
            </a:pPr>
            <a:r>
              <a:rPr/>
              <a:t>Point to evidence in your work.</a:t>
            </a:r>
          </a:p>
          <a:p>
            <a:pPr>
              <a:spcAft>
                <a:spcPts val="800"/>
              </a:spcAft>
              <a:defRPr sz="2300" b="0">
                <a:solidFill>
                  <a:srgbClr val="24384B"/>
                </a:solidFill>
                <a:latin typeface="Arial"/>
              </a:defRPr>
            </a:pPr>
            <a:r>
              <a:rPr/>
              <a:t>Then compare your approach with a partner’s.</a:t>
            </a:r>
          </a:p>
        </p:txBody>
      </p:sp>
      <p:sp>
        <p:nvSpPr>
          <p:cNvPr id="8" name="Rounded Rectangle 7"/>
          <p:cNvSpPr/>
          <p:nvPr/>
        </p:nvSpPr>
        <p:spPr>
          <a:xfrm>
            <a:off x="7662672" y="1783080"/>
            <a:ext cx="3904487" cy="4178808"/>
          </a:xfrm>
          <a:prstGeom prst="roundRect">
            <a:avLst/>
          </a:prstGeom>
          <a:solidFill>
            <a:srgbClr val="EDF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982712" y="2066543"/>
            <a:ext cx="3200400" cy="365760"/>
          </a:xfrm>
          <a:prstGeom prst="rect">
            <a:avLst/>
          </a:prstGeom>
          <a:noFill/>
        </p:spPr>
        <p:txBody>
          <a:bodyPr wrap="square" lIns="0" rIns="0" tIns="22860" bIns="0">
            <a:spAutoFit/>
          </a:bodyPr>
          <a:lstStyle/>
          <a:p>
            <a:pPr>
              <a:spcAft>
                <a:spcPts val="800"/>
              </a:spcAft>
              <a:defRPr sz="1700" b="1">
                <a:solidFill>
                  <a:srgbClr val="096B69"/>
                </a:solidFill>
                <a:latin typeface="Arial"/>
              </a:defRPr>
            </a:pPr>
            <a:r>
              <a:rPr/>
              <a:t>TAKE TURNS</a:t>
            </a:r>
          </a:p>
        </p:txBody>
      </p:sp>
      <p:sp>
        <p:nvSpPr>
          <p:cNvPr id="10" name="TextBox 9"/>
          <p:cNvSpPr txBox="1"/>
          <p:nvPr/>
        </p:nvSpPr>
        <p:spPr>
          <a:xfrm>
            <a:off x="7982712" y="2715768"/>
            <a:ext cx="3200400" cy="2606040"/>
          </a:xfrm>
          <a:prstGeom prst="rect">
            <a:avLst/>
          </a:prstGeom>
          <a:noFill/>
        </p:spPr>
        <p:txBody>
          <a:bodyPr wrap="square" lIns="0" rIns="0" tIns="22860" bIns="0">
            <a:spAutoFit/>
          </a:bodyPr>
          <a:lstStyle/>
          <a:p>
            <a:pPr>
              <a:spcAft>
                <a:spcPts val="800"/>
              </a:spcAft>
              <a:defRPr sz="2200" b="0">
                <a:solidFill>
                  <a:srgbClr val="24384B"/>
                </a:solidFill>
                <a:latin typeface="Arial"/>
              </a:defRPr>
            </a:pPr>
            <a:r>
              <a:rPr/>
              <a:t>Explain</a:t>
            </a:r>
          </a:p>
          <a:p>
            <a:pPr>
              <a:spcAft>
                <a:spcPts val="800"/>
              </a:spcAft>
              <a:defRPr sz="2200" b="0">
                <a:solidFill>
                  <a:srgbClr val="24384B"/>
                </a:solidFill>
                <a:latin typeface="Arial"/>
              </a:defRPr>
            </a:pPr>
            <a:r>
              <a:rPr/>
              <a:t>“I know this because…”</a:t>
            </a:r>
          </a:p>
          <a:p>
            <a:pPr>
              <a:spcAft>
                <a:spcPts val="800"/>
              </a:spcAft>
              <a:defRPr sz="2200" b="0">
                <a:solidFill>
                  <a:srgbClr val="24384B"/>
                </a:solidFill>
                <a:latin typeface="Arial"/>
              </a:defRPr>
            </a:pPr>
          </a:p>
          <a:p>
            <a:pPr>
              <a:spcAft>
                <a:spcPts val="800"/>
              </a:spcAft>
              <a:defRPr sz="2200" b="0">
                <a:solidFill>
                  <a:srgbClr val="24384B"/>
                </a:solidFill>
                <a:latin typeface="Arial"/>
              </a:defRPr>
            </a:pPr>
            <a:r>
              <a:rPr/>
              <a:t>Ask</a:t>
            </a:r>
          </a:p>
          <a:p>
            <a:pPr>
              <a:spcAft>
                <a:spcPts val="800"/>
              </a:spcAft>
              <a:defRPr sz="2200" b="0">
                <a:solidFill>
                  <a:srgbClr val="24384B"/>
                </a:solidFill>
                <a:latin typeface="Arial"/>
              </a:defRPr>
            </a:pPr>
            <a:r>
              <a:rPr/>
              <a:t>“Where does your work show that?”</a:t>
            </a:r>
          </a:p>
        </p:txBody>
      </p:sp>
      <p:grpSp>
        <p:nvGrpSpPr>
          <p:cNvPr id="11" name="TEACH-3-student-move" descr="TEACH 3 · Use intentional questioning to deepen learning"/>
          <p:cNvGrpSpPr/>
          <p:nvPr/>
        </p:nvGrpSpPr>
        <p:grpSpPr>
          <a:xfrm>
            <a:off x="502920" y="5824728"/>
            <a:ext cx="11186160" cy="402336"/>
            <a:chOff x="502920" y="5824728"/>
            <a:chExt cx="11186160" cy="402336"/>
          </a:xfrm>
        </p:grpSpPr>
        <p:sp>
          <p:nvSpPr>
            <p:cNvPr id="12" name="TEACH-move-card"/>
            <p:cNvSpPr/>
            <p:nvPr/>
          </p:nvSpPr>
          <p:spPr>
            <a:xfrm>
              <a:off x="502920" y="5824728"/>
              <a:ext cx="11186160" cy="402336"/>
            </a:xfrm>
            <a:prstGeom prst="roundRect">
              <a:avLst>
                <a:gd name="adj" fmla="val 16000"/>
              </a:avLst>
            </a:prstGeom>
            <a:solidFill>
              <a:srgbClr val="E4F0F5"/>
            </a:solidFill>
            <a:ln w="19050">
              <a:solidFill>
                <a:srgbClr val="8CB8C7"/>
              </a:solidFill>
            </a:ln>
          </p:spPr>
          <p:txBody>
            <a:bodyPr/>
            <a:lstStyle/>
            <a:p>
              <a:endParaRPr/>
            </a:p>
          </p:txBody>
        </p:sp>
        <p:sp>
          <p:nvSpPr>
            <p:cNvPr id="13" name="TEACH-move-rule"/>
            <p:cNvSpPr/>
            <p:nvPr/>
          </p:nvSpPr>
          <p:spPr>
            <a:xfrm>
              <a:off x="548640" y="5901172"/>
              <a:ext cx="100584" cy="249448"/>
            </a:xfrm>
            <a:prstGeom prst="roundRect">
              <a:avLst>
                <a:gd name="adj" fmla="val 50000"/>
              </a:avLst>
            </a:prstGeom>
            <a:solidFill>
              <a:srgbClr val="01708C"/>
            </a:solidFill>
            <a:ln>
              <a:noFill/>
            </a:ln>
          </p:spPr>
          <p:txBody>
            <a:bodyPr/>
            <a:lstStyle/>
            <a:p>
              <a:endParaRPr/>
            </a:p>
          </p:txBody>
        </p:sp>
        <p:sp>
          <p:nvSpPr>
            <p:cNvPr id="14" name="TEACH-move-text"/>
            <p:cNvSpPr txBox="1"/>
            <p:nvPr/>
          </p:nvSpPr>
          <p:spPr>
            <a:xfrm>
              <a:off x="822960" y="5824728"/>
              <a:ext cx="1072896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JUSTIFY IT  ·  </a:t>
              </a:r>
              <a:r>
                <a:rPr lang="en-US" sz="1200" dirty="0">
                  <a:solidFill>
                    <a:srgbClr val="13303A"/>
                  </a:solidFill>
                  <a:latin typeface="Arial"/>
                </a:rPr>
                <a:t>Say it like this: “I know ______ because ______.”</a:t>
              </a:r>
              <a:endParaRPr lang="en-US" sz="1200"/>
            </a:p>
          </p:txBody>
        </p:sp>
      </p:gr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cxnSp>
        <p:nvCxnSpPr>
          <p:cNvPr id="683" name="Google Shape;683;p62"/>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684" name="Google Shape;684;p62"/>
          <p:cNvSpPr txBox="1"/>
          <p:nvPr/>
        </p:nvSpPr>
        <p:spPr>
          <a:xfrm>
            <a:off x="484565" y="920400"/>
            <a:ext cx="7549092" cy="89410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1" i="0" lang="en-US" sz="2800" u="none" cap="none" strike="noStrike">
                <a:solidFill>
                  <a:srgbClr val="262626"/>
                </a:solidFill>
                <a:latin typeface="Arial"/>
                <a:ea typeface="Arial"/>
                <a:cs typeface="Arial"/>
                <a:sym typeface="Arial"/>
              </a:rPr>
              <a:t>How can you use the grid to help you estimate the area?</a:t>
            </a:r>
            <a:endParaRPr b="0" i="0" sz="1400" u="none" cap="none" strike="noStrike">
              <a:solidFill>
                <a:srgbClr val="000000"/>
              </a:solidFill>
              <a:latin typeface="Arial"/>
              <a:ea typeface="Arial"/>
              <a:cs typeface="Arial"/>
              <a:sym typeface="Arial"/>
            </a:endParaRPr>
          </a:p>
        </p:txBody>
      </p:sp>
      <p:sp>
        <p:nvSpPr>
          <p:cNvPr id="685" name="Google Shape;685;p62"/>
          <p:cNvSpPr txBox="1"/>
          <p:nvPr/>
        </p:nvSpPr>
        <p:spPr>
          <a:xfrm>
            <a:off x="531479" y="4504092"/>
            <a:ext cx="10973166" cy="1906039"/>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pPr>
            <a:r>
              <a:rPr b="1" i="0" lang="en-US" sz="2800" u="none" cap="none" strike="noStrike">
                <a:solidFill>
                  <a:srgbClr val="0070C0"/>
                </a:solidFill>
                <a:highlight>
                  <a:srgbClr val="E0E0E0"/>
                </a:highlight>
                <a:latin typeface="Arial"/>
                <a:ea typeface="Arial"/>
                <a:cs typeface="Arial"/>
                <a:sym typeface="Arial"/>
              </a:rPr>
              <a:t> Reveal</a:t>
            </a:r>
            <a:r>
              <a:rPr b="1" i="0" lang="en-US" sz="2800" u="none" cap="none" strike="noStrike">
                <a:solidFill>
                  <a:srgbClr val="E0E0E0"/>
                </a:solidFill>
                <a:highlight>
                  <a:srgbClr val="E0E0E0"/>
                </a:highlight>
                <a:latin typeface="Arial"/>
                <a:ea typeface="Arial"/>
                <a:cs typeface="Arial"/>
                <a:sym typeface="Arial"/>
              </a:rPr>
              <a:t>:</a:t>
            </a:r>
            <a:r>
              <a:rPr b="1" i="0" lang="en-US" sz="2800" u="none" cap="none" strike="noStrike">
                <a:solidFill>
                  <a:srgbClr val="0070C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595959"/>
              </a:buClr>
              <a:buSzPts val="2800"/>
              <a:buFont typeface="Arial"/>
              <a:buNone/>
            </a:pPr>
            <a:r>
              <a:rPr b="0" i="0" lang="en-US" sz="2800" u="none" cap="none" strike="noStrike">
                <a:solidFill>
                  <a:srgbClr val="595959"/>
                </a:solidFill>
                <a:latin typeface="Arial"/>
                <a:ea typeface="Arial"/>
                <a:cs typeface="Arial"/>
                <a:sym typeface="Arial"/>
              </a:rPr>
              <a:t>We can count the whole squares inside the shape. We can approximate the number of whole squares that can be created from the partial squares. And then add the two amounts together.</a:t>
            </a:r>
            <a:endParaRPr b="0" i="0" sz="1400" u="none" cap="none" strike="noStrike">
              <a:solidFill>
                <a:srgbClr val="000000"/>
              </a:solidFill>
              <a:latin typeface="Arial"/>
              <a:ea typeface="Arial"/>
              <a:cs typeface="Arial"/>
              <a:sym typeface="Arial"/>
            </a:endParaRPr>
          </a:p>
        </p:txBody>
      </p:sp>
      <p:sp>
        <p:nvSpPr>
          <p:cNvPr id="686" name="Google Shape;686;p62"/>
          <p:cNvSpPr txBox="1"/>
          <p:nvPr/>
        </p:nvSpPr>
        <p:spPr>
          <a:xfrm>
            <a:off x="484565" y="316034"/>
            <a:ext cx="3904129"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030A0"/>
              </a:buClr>
              <a:buSzPts val="2800"/>
              <a:buFont typeface="Arial"/>
              <a:buNone/>
            </a:pPr>
            <a:r>
              <a:rPr b="1" i="0" lang="en-US" sz="2800" u="none" cap="none" strike="noStrike">
                <a:solidFill>
                  <a:srgbClr val="7030A0"/>
                </a:solidFill>
                <a:latin typeface="Arial"/>
                <a:ea typeface="Arial"/>
                <a:cs typeface="Arial"/>
                <a:sym typeface="Arial"/>
              </a:rPr>
              <a:t>Parallelograms</a:t>
            </a:r>
            <a:r>
              <a:rPr b="1" i="0" lang="en-US" sz="2800" u="none" cap="none" strike="noStrike">
                <a:solidFill>
                  <a:schemeClr val="dk1"/>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p:txBody>
      </p:sp>
      <p:pic>
        <p:nvPicPr>
          <p:cNvPr id="687" name="Google Shape;687;p62"/>
          <p:cNvPicPr preferRelativeResize="0"/>
          <p:nvPr/>
        </p:nvPicPr>
        <p:blipFill rotWithShape="1">
          <a:blip r:embed="rId2">
            <a:alphaModFix/>
          </a:blip>
          <a:srcRect b="0" l="0" r="0" t="0"/>
          <a:stretch/>
        </p:blipFill>
        <p:spPr>
          <a:xfrm>
            <a:off x="7839577" y="2221731"/>
            <a:ext cx="3676154" cy="1620000"/>
          </a:xfrm>
          <a:prstGeom prst="rect">
            <a:avLst/>
          </a:prstGeom>
          <a:noFill/>
          <a:ln>
            <a:noFill/>
          </a:ln>
        </p:spPr>
      </p:pic>
      <p:sp>
        <p:nvSpPr>
          <p:cNvPr id="333"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38 / 66</a:t>
            </a:r>
          </a:p>
        </p:txBody>
      </p:sp>
      <p:sp xmlns:p="http://schemas.openxmlformats.org/presentationml/2006/main" xmlns:a="http://schemas.openxmlformats.org/drawingml/2006/main">
        <p:nvSpPr>
          <p:cNvPr id="688" name="TEACH-embedded-student-prompt" descr="Student thinking and response directions"/>
          <p:cNvSpPr txBox="1"/>
          <p:nvPr/>
        </p:nvSpPr>
        <p:spPr>
          <a:xfrm>
            <a:off x="594360" y="3584448"/>
            <a:ext cx="5486400" cy="768096"/>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Compare your reasoning with the</a:t>
            </a:r>
            <a:endParaRPr lang="en-US" sz="2000"/>
          </a:p>
          <a:p>
            <a:pPr>
              <a:lnSpc>
                <a:spcPts val="2400"/>
              </a:lnSpc>
              <a:buNone/>
            </a:pPr>
            <a:r>
              <a:rPr lang="en-US" sz="2000">
                <a:solidFill>
                  <a:srgbClr val="174D60"/>
                </a:solidFill>
                <a:latin typeface="Arial"/>
              </a:rPr>
              <a:t>explanation. Explain any revision you make.</a:t>
            </a:r>
            <a:endParaRPr lang="en-US" sz="2000"/>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cxnSp>
        <p:nvCxnSpPr>
          <p:cNvPr id="701" name="Google Shape;701;p64"/>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702" name="Google Shape;702;p64"/>
          <p:cNvSpPr txBox="1"/>
          <p:nvPr/>
        </p:nvSpPr>
        <p:spPr>
          <a:xfrm>
            <a:off x="484565" y="961290"/>
            <a:ext cx="7059235" cy="134376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1" i="0" lang="en-US" sz="2800" u="none" cap="none" strike="noStrike">
                <a:solidFill>
                  <a:srgbClr val="262626"/>
                </a:solidFill>
                <a:latin typeface="Arial"/>
                <a:ea typeface="Arial"/>
                <a:cs typeface="Arial"/>
                <a:sym typeface="Arial"/>
              </a:rPr>
              <a:t>How can you decompose the parallelogram into other shapes that you know?</a:t>
            </a:r>
            <a:endParaRPr b="0" i="0" sz="1400" u="none" cap="none" strike="noStrike">
              <a:solidFill>
                <a:srgbClr val="000000"/>
              </a:solidFill>
              <a:latin typeface="Arial"/>
              <a:ea typeface="Arial"/>
              <a:cs typeface="Arial"/>
              <a:sym typeface="Arial"/>
            </a:endParaRPr>
          </a:p>
        </p:txBody>
      </p:sp>
      <p:sp>
        <p:nvSpPr>
          <p:cNvPr id="703" name="Google Shape;703;p64"/>
          <p:cNvSpPr txBox="1"/>
          <p:nvPr/>
        </p:nvSpPr>
        <p:spPr>
          <a:xfrm>
            <a:off x="531479" y="4877317"/>
            <a:ext cx="10973166" cy="1523484"/>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pPr>
            <a:r>
              <a:rPr b="1" i="0" lang="en-US" sz="2800" u="none" cap="none" strike="noStrike">
                <a:solidFill>
                  <a:srgbClr val="0070C0"/>
                </a:solidFill>
                <a:highlight>
                  <a:srgbClr val="E0E0E0"/>
                </a:highlight>
                <a:latin typeface="Arial"/>
                <a:ea typeface="Arial"/>
                <a:cs typeface="Arial"/>
                <a:sym typeface="Arial"/>
              </a:rPr>
              <a:t> Reveal</a:t>
            </a:r>
            <a:r>
              <a:rPr b="1" i="0" lang="en-US" sz="2800" u="none" cap="none" strike="noStrike">
                <a:solidFill>
                  <a:srgbClr val="E0E0E0"/>
                </a:solidFill>
                <a:highlight>
                  <a:srgbClr val="E0E0E0"/>
                </a:highlight>
                <a:latin typeface="Arial"/>
                <a:ea typeface="Arial"/>
                <a:cs typeface="Arial"/>
                <a:sym typeface="Arial"/>
              </a:rPr>
              <a:t>:</a:t>
            </a:r>
            <a:r>
              <a:rPr b="1" i="0" lang="en-US" sz="2800" u="none" cap="none" strike="noStrike">
                <a:solidFill>
                  <a:srgbClr val="0070C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595959"/>
              </a:buClr>
              <a:buSzPts val="2800"/>
              <a:buFont typeface="Arial"/>
              <a:buNone/>
            </a:pPr>
            <a:r>
              <a:rPr b="0" i="0" lang="en-US" sz="2800" u="none" cap="none" strike="noStrike">
                <a:solidFill>
                  <a:srgbClr val="595959"/>
                </a:solidFill>
                <a:latin typeface="Arial"/>
                <a:ea typeface="Arial"/>
                <a:cs typeface="Arial"/>
                <a:sym typeface="Arial"/>
              </a:rPr>
              <a:t>We can decompose the parallelogram into a rectangle and two triangles.</a:t>
            </a:r>
            <a:endParaRPr b="0" i="0" sz="1400" u="none" cap="none" strike="noStrike">
              <a:solidFill>
                <a:srgbClr val="000000"/>
              </a:solidFill>
              <a:latin typeface="Arial"/>
              <a:ea typeface="Arial"/>
              <a:cs typeface="Arial"/>
              <a:sym typeface="Arial"/>
            </a:endParaRPr>
          </a:p>
        </p:txBody>
      </p:sp>
      <p:sp>
        <p:nvSpPr>
          <p:cNvPr id="704" name="Google Shape;704;p64"/>
          <p:cNvSpPr txBox="1"/>
          <p:nvPr/>
        </p:nvSpPr>
        <p:spPr>
          <a:xfrm>
            <a:off x="484565" y="316034"/>
            <a:ext cx="3904129"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030A0"/>
              </a:buClr>
              <a:buSzPts val="2800"/>
              <a:buFont typeface="Arial"/>
              <a:buNone/>
            </a:pPr>
            <a:r>
              <a:rPr b="1" i="0" lang="en-US" sz="2800" u="none" cap="none" strike="noStrike">
                <a:solidFill>
                  <a:srgbClr val="7030A0"/>
                </a:solidFill>
                <a:latin typeface="Arial"/>
                <a:ea typeface="Arial"/>
                <a:cs typeface="Arial"/>
                <a:sym typeface="Arial"/>
              </a:rPr>
              <a:t>Parallelograms</a:t>
            </a:r>
            <a:r>
              <a:rPr b="1" i="0" lang="en-US" sz="2800" u="none" cap="none" strike="noStrike">
                <a:solidFill>
                  <a:schemeClr val="dk1"/>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p:txBody>
      </p:sp>
      <p:pic>
        <p:nvPicPr>
          <p:cNvPr id="705" name="Google Shape;705;p64"/>
          <p:cNvPicPr preferRelativeResize="0"/>
          <p:nvPr/>
        </p:nvPicPr>
        <p:blipFill rotWithShape="1">
          <a:blip r:embed="rId2">
            <a:alphaModFix/>
          </a:blip>
          <a:srcRect b="0" l="0" r="0" t="0"/>
          <a:stretch/>
        </p:blipFill>
        <p:spPr>
          <a:xfrm>
            <a:off x="7839577" y="2221731"/>
            <a:ext cx="3676154" cy="1620000"/>
          </a:xfrm>
          <a:prstGeom prst="rect">
            <a:avLst/>
          </a:prstGeom>
          <a:noFill/>
          <a:ln>
            <a:noFill/>
          </a:ln>
        </p:spPr>
      </p:pic>
      <p:sp>
        <p:nvSpPr>
          <p:cNvPr id="333"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39 / 66</a:t>
            </a:r>
          </a:p>
        </p:txBody>
      </p:sp>
      <p:sp xmlns:p="http://schemas.openxmlformats.org/presentationml/2006/main" xmlns:a="http://schemas.openxmlformats.org/drawingml/2006/main">
        <p:nvSpPr>
          <p:cNvPr id="706" name="TEACH-embedded-student-prompt" descr="Student thinking and response directions"/>
          <p:cNvSpPr txBox="1"/>
          <p:nvPr/>
        </p:nvSpPr>
        <p:spPr>
          <a:xfrm>
            <a:off x="594360" y="4261104"/>
            <a:ext cx="1109472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Compare your reasoning with the explanation. Explain any revision you make.</a:t>
            </a:r>
            <a:endParaRPr lang="en-US" sz="2000"/>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cxnSp>
        <p:nvCxnSpPr>
          <p:cNvPr id="867" name="Google Shape;867;p81"/>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868" name="Google Shape;868;p81"/>
          <p:cNvSpPr/>
          <p:nvPr/>
        </p:nvSpPr>
        <p:spPr>
          <a:xfrm>
            <a:off x="540534" y="5562457"/>
            <a:ext cx="10741420" cy="89255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600"/>
              <a:buFont typeface="Arial"/>
              <a:buNone/>
              <a:defRPr/>
            </a:pPr>
            <a:r>
              <a:rPr b="0" i="0" lang="en-US" sz="2600" u="none" cap="none" strike="noStrike">
                <a:solidFill>
                  <a:srgbClr val="595959"/>
                </a:solidFill>
                <a:latin typeface="Arial"/>
                <a:ea typeface="Arial"/>
                <a:cs typeface="Arial"/>
                <a:sym typeface="Arial"/>
              </a:rPr>
              <a:t>How are different ideas and viewpoints helping you understand math better?</a:t>
            </a:r>
            <a:endParaRPr b="0" i="0" sz="1400" u="none" cap="none" strike="noStrike">
              <a:solidFill>
                <a:srgbClr val="000000"/>
              </a:solidFill>
              <a:latin typeface="Arial"/>
              <a:ea typeface="Arial"/>
              <a:cs typeface="Arial"/>
              <a:sym typeface="Arial"/>
            </a:endParaRPr>
          </a:p>
        </p:txBody>
      </p:sp>
      <p:sp>
        <p:nvSpPr>
          <p:cNvPr id="869" name="Google Shape;869;p81"/>
          <p:cNvSpPr txBox="1"/>
          <p:nvPr/>
        </p:nvSpPr>
        <p:spPr>
          <a:xfrm>
            <a:off x="484561" y="936100"/>
            <a:ext cx="4150070" cy="134158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defRPr/>
            </a:pPr>
            <a:r>
              <a:rPr b="0" i="0" lang="en-US" sz="2800" u="none" cap="none" strike="noStrike">
                <a:solidFill>
                  <a:srgbClr val="262626"/>
                </a:solidFill>
                <a:latin typeface="Arial"/>
                <a:ea typeface="Arial"/>
                <a:cs typeface="Arial"/>
                <a:sym typeface="Arial"/>
              </a:rPr>
              <a:t>What do you notice?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800"/>
              </a:spcBef>
              <a:spcAft>
                <a:spcPts val="0"/>
              </a:spcAft>
              <a:buClr>
                <a:srgbClr val="262626"/>
              </a:buClr>
              <a:buSzPts val="2800"/>
              <a:buFont typeface="Arial"/>
              <a:buNone/>
              <a:defRPr/>
            </a:pPr>
            <a:r>
              <a:rPr b="0" i="0" lang="en-US" sz="2800" u="none" cap="none" strike="noStrike">
                <a:solidFill>
                  <a:srgbClr val="262626"/>
                </a:solidFill>
                <a:latin typeface="Arial"/>
                <a:ea typeface="Arial"/>
                <a:cs typeface="Arial"/>
                <a:sym typeface="Arial"/>
              </a:rPr>
              <a:t>What do you wonder?</a:t>
            </a:r>
            <a:endParaRPr b="0" i="0" sz="1400" u="none" cap="none" strike="noStrike">
              <a:solidFill>
                <a:srgbClr val="000000"/>
              </a:solidFill>
              <a:latin typeface="Arial"/>
              <a:ea typeface="Arial"/>
              <a:cs typeface="Arial"/>
              <a:sym typeface="Arial"/>
            </a:endParaRPr>
          </a:p>
        </p:txBody>
      </p:sp>
      <p:sp>
        <p:nvSpPr>
          <p:cNvPr id="870" name="Google Shape;870;p81"/>
          <p:cNvSpPr txBox="1"/>
          <p:nvPr/>
        </p:nvSpPr>
        <p:spPr>
          <a:xfrm>
            <a:off x="474055" y="316034"/>
            <a:ext cx="3904129"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00B050"/>
              </a:buClr>
              <a:buSzPts val="2800"/>
              <a:buFont typeface="Arial"/>
              <a:buNone/>
              <a:defRPr/>
            </a:pPr>
            <a:r>
              <a:rPr b="1" i="0" lang="en-US" sz="2800" u="none" cap="none" strike="noStrike">
                <a:solidFill>
                  <a:srgbClr val="00B050"/>
                </a:solidFill>
                <a:latin typeface="Arial"/>
                <a:ea typeface="Arial"/>
                <a:cs typeface="Arial"/>
                <a:sym typeface="Arial"/>
              </a:rPr>
              <a:t>Be Curious</a:t>
            </a:r>
            <a:endParaRPr b="0" i="0" sz="1400" u="none" cap="none" strike="noStrike">
              <a:solidFill>
                <a:srgbClr val="000000"/>
              </a:solidFill>
              <a:latin typeface="Arial"/>
              <a:ea typeface="Arial"/>
              <a:cs typeface="Arial"/>
              <a:sym typeface="Arial"/>
            </a:endParaRPr>
          </a:p>
        </p:txBody>
      </p:sp>
      <p:pic>
        <p:nvPicPr>
          <p:cNvPr descr="A picture containing indoor, player, tiled, net&#10;&#10;Description automatically generated" id="871" name="Google Shape;871;p81"/>
          <p:cNvPicPr preferRelativeResize="0"/>
          <p:nvPr/>
        </p:nvPicPr>
        <p:blipFill rotWithShape="1">
          <a:blip r:embed="rId2">
            <a:alphaModFix/>
          </a:blip>
          <a:srcRect b="0" l="0" r="0" t="0"/>
          <a:stretch/>
        </p:blipFill>
        <p:spPr>
          <a:xfrm>
            <a:off x="4883555" y="1403693"/>
            <a:ext cx="4320000" cy="2880000"/>
          </a:xfrm>
          <a:prstGeom prst="rect">
            <a:avLst/>
          </a:prstGeom>
          <a:noFill/>
          <a:ln>
            <a:noFill/>
          </a:ln>
        </p:spPr>
      </p:pic>
      <p:pic>
        <p:nvPicPr>
          <p:cNvPr id="872" name="Google Shape;872;p81"/>
          <p:cNvPicPr preferRelativeResize="0"/>
          <p:nvPr/>
        </p:nvPicPr>
        <p:blipFill rotWithShape="1">
          <a:blip r:embed="rId3">
            <a:alphaModFix/>
          </a:blip>
          <a:srcRect b="0" l="0" r="0" t="0"/>
          <a:stretch/>
        </p:blipFill>
        <p:spPr>
          <a:xfrm>
            <a:off x="474056" y="4737661"/>
            <a:ext cx="7073900" cy="838200"/>
          </a:xfrm>
          <a:prstGeom prst="rect">
            <a:avLst/>
          </a:prstGeom>
          <a:noFill/>
          <a:ln>
            <a:noFill/>
          </a:ln>
        </p:spPr>
      </p:pic>
      <p:sp>
        <p:nvSpPr>
          <p:cNvPr id="873" name="Google Shape;873;p81"/>
          <p:cNvSpPr txBox="1"/>
          <p:nvPr/>
        </p:nvSpPr>
        <p:spPr>
          <a:xfrm>
            <a:off x="3177722" y="4858403"/>
            <a:ext cx="2363542" cy="639716"/>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defRPr/>
            </a:pPr>
            <a:r>
              <a:rPr b="0" i="0" lang="en-US" sz="2800" u="none" cap="none" strike="noStrike">
                <a:solidFill>
                  <a:srgbClr val="262626"/>
                </a:solidFill>
                <a:latin typeface="Arial"/>
                <a:ea typeface="Arial"/>
                <a:cs typeface="Arial"/>
                <a:sym typeface="Arial"/>
              </a:rPr>
              <a:t>Mindset </a:t>
            </a:r>
            <a:endParaRPr b="0" i="0" sz="1400" u="none" cap="none" strike="noStrike">
              <a:solidFill>
                <a:srgbClr val="000000"/>
              </a:solidFill>
              <a:latin typeface="Arial"/>
              <a:ea typeface="Arial"/>
              <a:cs typeface="Arial"/>
              <a:sym typeface="Arial"/>
            </a:endParaRPr>
          </a:p>
        </p:txBody>
      </p:sp>
      <p:sp>
        <p:nvSpPr>
          <p:cNvPr id="333"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40 / 66</a:t>
            </a:r>
          </a:p>
        </p:txBody>
      </p:sp>
      <p:grpSp>
        <p:nvGrpSpPr>
          <p:cNvPr id="874" name="TEACH-3-student-move" descr="TEACH 3 · Use intentional questioning to deepen learning"/>
          <p:cNvGrpSpPr/>
          <p:nvPr/>
        </p:nvGrpSpPr>
        <p:grpSpPr>
          <a:xfrm>
            <a:off x="6187440" y="727037"/>
            <a:ext cx="5501640" cy="594360"/>
            <a:chOff x="6187440" y="727037"/>
            <a:chExt cx="5501640" cy="594360"/>
          </a:xfrm>
        </p:grpSpPr>
        <p:sp>
          <p:nvSpPr>
            <p:cNvPr id="875" name="TEACH-move-card"/>
            <p:cNvSpPr/>
            <p:nvPr/>
          </p:nvSpPr>
          <p:spPr>
            <a:xfrm>
              <a:off x="6187440" y="727037"/>
              <a:ext cx="5501640" cy="594360"/>
            </a:xfrm>
            <a:prstGeom prst="roundRect">
              <a:avLst>
                <a:gd name="adj" fmla="val 16000"/>
              </a:avLst>
            </a:prstGeom>
            <a:solidFill>
              <a:srgbClr val="E4F0F5"/>
            </a:solidFill>
            <a:ln w="19050">
              <a:solidFill>
                <a:srgbClr val="8CB8C7"/>
              </a:solidFill>
            </a:ln>
          </p:spPr>
          <p:txBody>
            <a:bodyPr/>
            <a:lstStyle/>
            <a:p>
              <a:endParaRPr/>
            </a:p>
          </p:txBody>
        </p:sp>
        <p:sp>
          <p:nvSpPr>
            <p:cNvPr id="876" name="TEACH-move-rule"/>
            <p:cNvSpPr/>
            <p:nvPr/>
          </p:nvSpPr>
          <p:spPr>
            <a:xfrm>
              <a:off x="6233160" y="839965"/>
              <a:ext cx="100584" cy="368504"/>
            </a:xfrm>
            <a:prstGeom prst="roundRect">
              <a:avLst>
                <a:gd name="adj" fmla="val 50000"/>
              </a:avLst>
            </a:prstGeom>
            <a:solidFill>
              <a:srgbClr val="01708C"/>
            </a:solidFill>
            <a:ln>
              <a:noFill/>
            </a:ln>
          </p:spPr>
          <p:txBody>
            <a:bodyPr/>
            <a:lstStyle/>
            <a:p>
              <a:endParaRPr/>
            </a:p>
          </p:txBody>
        </p:sp>
        <p:sp>
          <p:nvSpPr>
            <p:cNvPr id="877" name="TEACH-move-text"/>
            <p:cNvSpPr txBox="1"/>
            <p:nvPr/>
          </p:nvSpPr>
          <p:spPr>
            <a:xfrm>
              <a:off x="6507480" y="727037"/>
              <a:ext cx="5044440" cy="594360"/>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ANOTHER PATHWAY  ·  </a:t>
              </a:r>
              <a:r>
                <a:rPr lang="en-US" sz="1200" dirty="0">
                  <a:solidFill>
                    <a:srgbClr val="13303A"/>
                  </a:solidFill>
                  <a:latin typeface="Arial"/>
                </a:rPr>
                <a:t>Did anyone get there a different way? Put both pathways side by side and compare.</a:t>
              </a:r>
              <a:endParaRPr lang="en-US" sz="1200"/>
            </a:p>
          </p:txBody>
        </p:sp>
      </p:gr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sp>
        <p:nvSpPr>
          <p:cNvPr id="261" name="Google Shape;261;p43"/>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62" name="Google Shape;262;p43"/>
          <p:cNvSpPr/>
          <p:nvPr/>
        </p:nvSpPr>
        <p:spPr>
          <a:xfrm>
            <a:off x="0" y="0"/>
            <a:ext cx="12191969" cy="713232"/>
          </a:xfrm>
          <a:prstGeom prst="rect">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63" name="Google Shape;263;p43"/>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2000" u="none" cap="none" strike="noStrike">
                <a:solidFill>
                  <a:srgbClr val="FFFFFF"/>
                </a:solidFill>
                <a:latin typeface="Arial"/>
                <a:ea typeface="Arial"/>
                <a:cs typeface="Arial"/>
                <a:sym typeface="Arial"/>
              </a:rPr>
              <a:t>Warm-Up</a:t>
            </a:r>
            <a:endParaRPr/>
          </a:p>
        </p:txBody>
      </p:sp>
      <p:sp>
        <p:nvSpPr>
          <p:cNvPr id="264" name="Google Shape;264;p43"/>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defRPr/>
            </a:pPr>
            <a:r>
              <a:rPr b="0" i="0" lang="en-US" sz="1200" u="none" cap="none" strike="noStrike">
                <a:solidFill>
                  <a:srgbClr val="FFFFFF"/>
                </a:solidFill>
                <a:latin typeface="Arial"/>
                <a:ea typeface="Arial"/>
                <a:cs typeface="Arial"/>
                <a:sym typeface="Arial"/>
              </a:rPr>
              <a:t>Lesson 5-1 · Determine the Area of Parallelograms and Rhombuses</a:t>
            </a:r>
            <a:endParaRPr/>
          </a:p>
        </p:txBody>
      </p:sp>
      <p:sp>
        <p:nvSpPr>
          <p:cNvPr id="265" name="Google Shape;265;p43"/>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66" name="Google Shape;266;p43"/>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0" i="0" lang="en-US" sz="1000" u="none" cap="none" strike="noStrike">
                <a:solidFill>
                  <a:srgbClr val="475569"/>
                </a:solidFill>
                <a:latin typeface="Arial"/>
                <a:ea typeface="Arial"/>
                <a:cs typeface="Arial"/>
                <a:sym typeface="Arial"/>
              </a:rPr>
              <a:t>eduwonderlab.com  ·  Neft Teacher</a:t>
            </a:r>
            <a:endParaRPr/>
          </a:p>
        </p:txBody>
      </p:sp>
      <p:sp>
        <p:nvSpPr>
          <p:cNvPr id="267" name="Google Shape;267;p43"/>
          <p:cNvSpPr txBox="1"/>
          <p:nvPr/>
        </p:nvSpPr>
        <p:spPr>
          <a:xfrm>
            <a:off x="640080" y="914400"/>
            <a:ext cx="10911809" cy="475488"/>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3200" u="none" cap="none" strike="noStrike">
                <a:solidFill>
                  <a:srgbClr val="14223A"/>
                </a:solidFill>
                <a:latin typeface="Arial"/>
                <a:ea typeface="Arial"/>
                <a:cs typeface="Arial"/>
                <a:sym typeface="Arial"/>
              </a:rPr>
              <a:t>Session 2 Warm-Up</a:t>
            </a:r>
            <a:endParaRPr/>
          </a:p>
        </p:txBody>
      </p:sp>
      <p:sp>
        <p:nvSpPr>
          <p:cNvPr id="268" name="Google Shape;268;p43"/>
          <p:cNvSpPr txBox="1"/>
          <p:nvPr/>
        </p:nvSpPr>
        <p:spPr>
          <a:xfrm>
            <a:off x="640080" y="1426464"/>
            <a:ext cx="10911809"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0" i="1" lang="en-US" sz="1500" u="none" cap="none" strike="noStrike">
                <a:solidFill>
                  <a:srgbClr val="475569"/>
                </a:solidFill>
                <a:latin typeface="Arial"/>
                <a:ea typeface="Arial"/>
                <a:cs typeface="Arial"/>
                <a:sym typeface="Arial"/>
              </a:rPr>
              <a:t>Try alone. Explain one. Then revise.</a:t>
            </a:r>
            <a:endParaRPr/>
          </a:p>
        </p:txBody>
      </p:sp>
      <p:sp>
        <p:nvSpPr>
          <p:cNvPr id="269" name="Google Shape;269;p43"/>
          <p:cNvSpPr/>
          <p:nvPr/>
        </p:nvSpPr>
        <p:spPr>
          <a:xfrm>
            <a:off x="640080" y="1828800"/>
            <a:ext cx="5291312" cy="2066544"/>
          </a:xfrm>
          <a:prstGeom prst="roundRect">
            <a:avLst>
              <a:gd fmla="val 6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70" name="Google Shape;270;p43"/>
          <p:cNvSpPr/>
          <p:nvPr/>
        </p:nvSpPr>
        <p:spPr>
          <a:xfrm>
            <a:off x="640080" y="1828800"/>
            <a:ext cx="91440" cy="2066544"/>
          </a:xfrm>
          <a:prstGeom prst="rect">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71" name="Google Shape;271;p43"/>
          <p:cNvSpPr/>
          <p:nvPr/>
        </p:nvSpPr>
        <p:spPr>
          <a:xfrm>
            <a:off x="914400" y="2066543"/>
            <a:ext cx="365760" cy="365760"/>
          </a:xfrm>
          <a:prstGeom prst="ellipse">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1</a:t>
            </a:r>
            <a:endParaRPr/>
          </a:p>
        </p:txBody>
      </p:sp>
      <p:sp>
        <p:nvSpPr>
          <p:cNvPr id="272" name="Google Shape;272;p43"/>
          <p:cNvSpPr txBox="1"/>
          <p:nvPr/>
        </p:nvSpPr>
        <p:spPr>
          <a:xfrm>
            <a:off x="1444752" y="2048256"/>
            <a:ext cx="4151376" cy="621792"/>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defRPr/>
            </a:pPr>
            <a:r>
              <a:rPr b="1" i="0" lang="en-US" sz="1800" u="none" cap="none" strike="noStrike">
                <a:solidFill>
                  <a:srgbClr val="14223A"/>
                </a:solidFill>
                <a:latin typeface="Arial"/>
                <a:ea typeface="Arial"/>
                <a:cs typeface="Arial"/>
                <a:sym typeface="Arial"/>
              </a:rPr>
              <a:t>Which formula gives the area of a parallelogram?</a:t>
            </a:r>
            <a:endParaRPr/>
          </a:p>
        </p:txBody>
      </p:sp>
      <p:sp>
        <p:nvSpPr>
          <p:cNvPr id="273" name="Google Shape;273;p43"/>
          <p:cNvSpPr/>
          <p:nvPr/>
        </p:nvSpPr>
        <p:spPr>
          <a:xfrm>
            <a:off x="1444752" y="2798064"/>
            <a:ext cx="2057400" cy="402336"/>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74" name="Google Shape;274;p43"/>
          <p:cNvSpPr txBox="1"/>
          <p:nvPr/>
        </p:nvSpPr>
        <p:spPr>
          <a:xfrm>
            <a:off x="1572768" y="2825496"/>
            <a:ext cx="237744" cy="34747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400" u="none" cap="none" strike="noStrike">
                <a:solidFill>
                  <a:srgbClr val="334155"/>
                </a:solidFill>
                <a:latin typeface="Arial"/>
                <a:ea typeface="Arial"/>
                <a:cs typeface="Arial"/>
                <a:sym typeface="Arial"/>
              </a:rPr>
              <a:t>A</a:t>
            </a:r>
            <a:endParaRPr/>
          </a:p>
        </p:txBody>
      </p:sp>
      <p:sp>
        <p:nvSpPr>
          <p:cNvPr id="275" name="Google Shape;275;p43"/>
          <p:cNvSpPr txBox="1"/>
          <p:nvPr/>
        </p:nvSpPr>
        <p:spPr>
          <a:xfrm>
            <a:off x="1847088" y="2825496"/>
            <a:ext cx="1581912" cy="34747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500" u="none" cap="none" strike="noStrike">
                <a:solidFill>
                  <a:srgbClr val="14223A"/>
                </a:solidFill>
                <a:latin typeface="Arial"/>
                <a:ea typeface="Arial"/>
                <a:cs typeface="Arial"/>
                <a:sym typeface="Arial"/>
              </a:rPr>
              <a:t>A = b + h</a:t>
            </a:r>
            <a:endParaRPr/>
          </a:p>
        </p:txBody>
      </p:sp>
      <p:sp>
        <p:nvSpPr>
          <p:cNvPr id="276" name="Google Shape;276;p43"/>
          <p:cNvSpPr/>
          <p:nvPr/>
        </p:nvSpPr>
        <p:spPr>
          <a:xfrm>
            <a:off x="3621024" y="2798064"/>
            <a:ext cx="2057400" cy="402336"/>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77" name="Google Shape;277;p43"/>
          <p:cNvSpPr txBox="1"/>
          <p:nvPr/>
        </p:nvSpPr>
        <p:spPr>
          <a:xfrm>
            <a:off x="3749040" y="2825496"/>
            <a:ext cx="237744" cy="34747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400" u="none" cap="none" strike="noStrike">
                <a:solidFill>
                  <a:srgbClr val="334155"/>
                </a:solidFill>
                <a:latin typeface="Arial"/>
                <a:ea typeface="Arial"/>
                <a:cs typeface="Arial"/>
                <a:sym typeface="Arial"/>
              </a:rPr>
              <a:t>B</a:t>
            </a:r>
            <a:endParaRPr/>
          </a:p>
        </p:txBody>
      </p:sp>
      <p:sp>
        <p:nvSpPr>
          <p:cNvPr id="278" name="Google Shape;278;p43"/>
          <p:cNvSpPr txBox="1"/>
          <p:nvPr/>
        </p:nvSpPr>
        <p:spPr>
          <a:xfrm>
            <a:off x="4023360" y="2825496"/>
            <a:ext cx="1581912" cy="34747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500" u="none" cap="none" strike="noStrike">
                <a:solidFill>
                  <a:srgbClr val="14223A"/>
                </a:solidFill>
                <a:latin typeface="Arial"/>
                <a:ea typeface="Arial"/>
                <a:cs typeface="Arial"/>
                <a:sym typeface="Arial"/>
              </a:rPr>
              <a:t>A = b × h</a:t>
            </a:r>
            <a:endParaRPr/>
          </a:p>
        </p:txBody>
      </p:sp>
      <p:sp>
        <p:nvSpPr>
          <p:cNvPr id="279" name="Google Shape;279;p43"/>
          <p:cNvSpPr/>
          <p:nvPr/>
        </p:nvSpPr>
        <p:spPr>
          <a:xfrm>
            <a:off x="1444752" y="3291840"/>
            <a:ext cx="2057400" cy="402336"/>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80" name="Google Shape;280;p43"/>
          <p:cNvSpPr txBox="1"/>
          <p:nvPr/>
        </p:nvSpPr>
        <p:spPr>
          <a:xfrm>
            <a:off x="1572768" y="3319272"/>
            <a:ext cx="237744" cy="34747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400" u="none" cap="none" strike="noStrike">
                <a:solidFill>
                  <a:srgbClr val="334155"/>
                </a:solidFill>
                <a:latin typeface="Arial"/>
                <a:ea typeface="Arial"/>
                <a:cs typeface="Arial"/>
                <a:sym typeface="Arial"/>
              </a:rPr>
              <a:t>C</a:t>
            </a:r>
            <a:endParaRPr/>
          </a:p>
        </p:txBody>
      </p:sp>
      <p:sp>
        <p:nvSpPr>
          <p:cNvPr id="281" name="Google Shape;281;p43"/>
          <p:cNvSpPr txBox="1"/>
          <p:nvPr/>
        </p:nvSpPr>
        <p:spPr>
          <a:xfrm>
            <a:off x="1847088" y="3319272"/>
            <a:ext cx="1581912" cy="34747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500" u="none" cap="none" strike="noStrike">
                <a:solidFill>
                  <a:srgbClr val="14223A"/>
                </a:solidFill>
                <a:latin typeface="Arial"/>
                <a:ea typeface="Arial"/>
                <a:cs typeface="Arial"/>
                <a:sym typeface="Arial"/>
              </a:rPr>
              <a:t>A = ½ b × h</a:t>
            </a:r>
            <a:endParaRPr/>
          </a:p>
        </p:txBody>
      </p:sp>
      <p:sp>
        <p:nvSpPr>
          <p:cNvPr id="282" name="Google Shape;282;p43"/>
          <p:cNvSpPr/>
          <p:nvPr/>
        </p:nvSpPr>
        <p:spPr>
          <a:xfrm>
            <a:off x="3621024" y="3291840"/>
            <a:ext cx="2057400" cy="402336"/>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83" name="Google Shape;283;p43"/>
          <p:cNvSpPr txBox="1"/>
          <p:nvPr/>
        </p:nvSpPr>
        <p:spPr>
          <a:xfrm>
            <a:off x="3749040" y="3319272"/>
            <a:ext cx="237744" cy="34747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400" u="none" cap="none" strike="noStrike">
                <a:solidFill>
                  <a:srgbClr val="334155"/>
                </a:solidFill>
                <a:latin typeface="Arial"/>
                <a:ea typeface="Arial"/>
                <a:cs typeface="Arial"/>
                <a:sym typeface="Arial"/>
              </a:rPr>
              <a:t>D</a:t>
            </a:r>
            <a:endParaRPr/>
          </a:p>
        </p:txBody>
      </p:sp>
      <p:sp>
        <p:nvSpPr>
          <p:cNvPr id="284" name="Google Shape;284;p43"/>
          <p:cNvSpPr txBox="1"/>
          <p:nvPr/>
        </p:nvSpPr>
        <p:spPr>
          <a:xfrm>
            <a:off x="4023360" y="3319272"/>
            <a:ext cx="1581912" cy="34747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500" u="none" cap="none" strike="noStrike">
                <a:solidFill>
                  <a:srgbClr val="14223A"/>
                </a:solidFill>
                <a:latin typeface="Arial"/>
                <a:ea typeface="Arial"/>
                <a:cs typeface="Arial"/>
                <a:sym typeface="Arial"/>
              </a:rPr>
              <a:t>A = 2(b + h)</a:t>
            </a:r>
            <a:endParaRPr/>
          </a:p>
        </p:txBody>
      </p:sp>
      <p:sp>
        <p:nvSpPr>
          <p:cNvPr id="285" name="Google Shape;285;p43"/>
          <p:cNvSpPr/>
          <p:nvPr/>
        </p:nvSpPr>
        <p:spPr>
          <a:xfrm>
            <a:off x="6260576" y="1828800"/>
            <a:ext cx="5291312" cy="2066544"/>
          </a:xfrm>
          <a:prstGeom prst="roundRect">
            <a:avLst>
              <a:gd fmla="val 6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86" name="Google Shape;286;p43"/>
          <p:cNvSpPr/>
          <p:nvPr/>
        </p:nvSpPr>
        <p:spPr>
          <a:xfrm>
            <a:off x="6260576" y="1828800"/>
            <a:ext cx="91440" cy="2066544"/>
          </a:xfrm>
          <a:prstGeom prst="rect">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87" name="Google Shape;287;p43"/>
          <p:cNvSpPr/>
          <p:nvPr/>
        </p:nvSpPr>
        <p:spPr>
          <a:xfrm>
            <a:off x="6534896" y="2066543"/>
            <a:ext cx="365760" cy="365760"/>
          </a:xfrm>
          <a:prstGeom prst="ellipse">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2</a:t>
            </a:r>
            <a:endParaRPr/>
          </a:p>
        </p:txBody>
      </p:sp>
      <p:sp>
        <p:nvSpPr>
          <p:cNvPr id="288" name="Google Shape;288;p43"/>
          <p:cNvSpPr txBox="1"/>
          <p:nvPr/>
        </p:nvSpPr>
        <p:spPr>
          <a:xfrm>
            <a:off x="7065248" y="2048256"/>
            <a:ext cx="4151376" cy="621792"/>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defRPr/>
            </a:pPr>
            <a:r>
              <a:rPr b="1" i="0" lang="en-US" sz="1800" u="none" cap="none" strike="noStrike">
                <a:solidFill>
                  <a:srgbClr val="14223A"/>
                </a:solidFill>
                <a:latin typeface="Arial"/>
                <a:ea typeface="Arial"/>
                <a:cs typeface="Arial"/>
                <a:sym typeface="Arial"/>
              </a:rPr>
              <a:t>A parallelogram has base 8 cm and height 5 cm. What is its area?</a:t>
            </a:r>
            <a:endParaRPr/>
          </a:p>
        </p:txBody>
      </p:sp>
      <p:sp>
        <p:nvSpPr>
          <p:cNvPr id="289" name="Google Shape;289;p43"/>
          <p:cNvSpPr/>
          <p:nvPr/>
        </p:nvSpPr>
        <p:spPr>
          <a:xfrm>
            <a:off x="7065248" y="2798064"/>
            <a:ext cx="2057400" cy="402336"/>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90" name="Google Shape;290;p43"/>
          <p:cNvSpPr txBox="1"/>
          <p:nvPr/>
        </p:nvSpPr>
        <p:spPr>
          <a:xfrm>
            <a:off x="7193264" y="2825496"/>
            <a:ext cx="237744" cy="34747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400" u="none" cap="none" strike="noStrike">
                <a:solidFill>
                  <a:srgbClr val="334155"/>
                </a:solidFill>
                <a:latin typeface="Arial"/>
                <a:ea typeface="Arial"/>
                <a:cs typeface="Arial"/>
                <a:sym typeface="Arial"/>
              </a:rPr>
              <a:t>A</a:t>
            </a:r>
            <a:endParaRPr/>
          </a:p>
        </p:txBody>
      </p:sp>
      <p:sp>
        <p:nvSpPr>
          <p:cNvPr id="291" name="Google Shape;291;p43"/>
          <p:cNvSpPr txBox="1"/>
          <p:nvPr/>
        </p:nvSpPr>
        <p:spPr>
          <a:xfrm>
            <a:off x="7467584" y="2825496"/>
            <a:ext cx="1581912" cy="34747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500" u="none" cap="none" strike="noStrike">
                <a:solidFill>
                  <a:srgbClr val="14223A"/>
                </a:solidFill>
                <a:latin typeface="Arial"/>
                <a:ea typeface="Arial"/>
                <a:cs typeface="Arial"/>
                <a:sym typeface="Arial"/>
              </a:rPr>
              <a:t>13 cm²</a:t>
            </a:r>
            <a:endParaRPr/>
          </a:p>
        </p:txBody>
      </p:sp>
      <p:sp>
        <p:nvSpPr>
          <p:cNvPr id="292" name="Google Shape;292;p43"/>
          <p:cNvSpPr/>
          <p:nvPr/>
        </p:nvSpPr>
        <p:spPr>
          <a:xfrm>
            <a:off x="9241520" y="2798064"/>
            <a:ext cx="2057400" cy="402336"/>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93" name="Google Shape;293;p43"/>
          <p:cNvSpPr txBox="1"/>
          <p:nvPr/>
        </p:nvSpPr>
        <p:spPr>
          <a:xfrm>
            <a:off x="9369536" y="2825496"/>
            <a:ext cx="237744" cy="34747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400" u="none" cap="none" strike="noStrike">
                <a:solidFill>
                  <a:srgbClr val="334155"/>
                </a:solidFill>
                <a:latin typeface="Arial"/>
                <a:ea typeface="Arial"/>
                <a:cs typeface="Arial"/>
                <a:sym typeface="Arial"/>
              </a:rPr>
              <a:t>B</a:t>
            </a:r>
            <a:endParaRPr/>
          </a:p>
        </p:txBody>
      </p:sp>
      <p:sp>
        <p:nvSpPr>
          <p:cNvPr id="294" name="Google Shape;294;p43"/>
          <p:cNvSpPr txBox="1"/>
          <p:nvPr/>
        </p:nvSpPr>
        <p:spPr>
          <a:xfrm>
            <a:off x="9643856" y="2825496"/>
            <a:ext cx="1581912" cy="34747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500" u="none" cap="none" strike="noStrike">
                <a:solidFill>
                  <a:srgbClr val="14223A"/>
                </a:solidFill>
                <a:latin typeface="Arial"/>
                <a:ea typeface="Arial"/>
                <a:cs typeface="Arial"/>
                <a:sym typeface="Arial"/>
              </a:rPr>
              <a:t>26 cm²</a:t>
            </a:r>
            <a:endParaRPr/>
          </a:p>
        </p:txBody>
      </p:sp>
      <p:sp>
        <p:nvSpPr>
          <p:cNvPr id="295" name="Google Shape;295;p43"/>
          <p:cNvSpPr/>
          <p:nvPr/>
        </p:nvSpPr>
        <p:spPr>
          <a:xfrm>
            <a:off x="7065248" y="3291840"/>
            <a:ext cx="2057400" cy="402336"/>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96" name="Google Shape;296;p43"/>
          <p:cNvSpPr txBox="1"/>
          <p:nvPr/>
        </p:nvSpPr>
        <p:spPr>
          <a:xfrm>
            <a:off x="7193264" y="3319272"/>
            <a:ext cx="237744" cy="34747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400" u="none" cap="none" strike="noStrike">
                <a:solidFill>
                  <a:srgbClr val="334155"/>
                </a:solidFill>
                <a:latin typeface="Arial"/>
                <a:ea typeface="Arial"/>
                <a:cs typeface="Arial"/>
                <a:sym typeface="Arial"/>
              </a:rPr>
              <a:t>C</a:t>
            </a:r>
            <a:endParaRPr/>
          </a:p>
        </p:txBody>
      </p:sp>
      <p:sp>
        <p:nvSpPr>
          <p:cNvPr id="297" name="Google Shape;297;p43"/>
          <p:cNvSpPr txBox="1"/>
          <p:nvPr/>
        </p:nvSpPr>
        <p:spPr>
          <a:xfrm>
            <a:off x="7467584" y="3319272"/>
            <a:ext cx="1581912" cy="34747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500" u="none" cap="none" strike="noStrike">
                <a:solidFill>
                  <a:srgbClr val="14223A"/>
                </a:solidFill>
                <a:latin typeface="Arial"/>
                <a:ea typeface="Arial"/>
                <a:cs typeface="Arial"/>
                <a:sym typeface="Arial"/>
              </a:rPr>
              <a:t>40 cm²</a:t>
            </a:r>
            <a:endParaRPr/>
          </a:p>
        </p:txBody>
      </p:sp>
      <p:sp>
        <p:nvSpPr>
          <p:cNvPr id="298" name="Google Shape;298;p43"/>
          <p:cNvSpPr/>
          <p:nvPr/>
        </p:nvSpPr>
        <p:spPr>
          <a:xfrm>
            <a:off x="9241520" y="3291840"/>
            <a:ext cx="2057400" cy="402336"/>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99" name="Google Shape;299;p43"/>
          <p:cNvSpPr txBox="1"/>
          <p:nvPr/>
        </p:nvSpPr>
        <p:spPr>
          <a:xfrm>
            <a:off x="9369536" y="3319272"/>
            <a:ext cx="237744" cy="34747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400" u="none" cap="none" strike="noStrike">
                <a:solidFill>
                  <a:srgbClr val="334155"/>
                </a:solidFill>
                <a:latin typeface="Arial"/>
                <a:ea typeface="Arial"/>
                <a:cs typeface="Arial"/>
                <a:sym typeface="Arial"/>
              </a:rPr>
              <a:t>D</a:t>
            </a:r>
            <a:endParaRPr/>
          </a:p>
        </p:txBody>
      </p:sp>
      <p:sp>
        <p:nvSpPr>
          <p:cNvPr id="300" name="Google Shape;300;p43"/>
          <p:cNvSpPr txBox="1"/>
          <p:nvPr/>
        </p:nvSpPr>
        <p:spPr>
          <a:xfrm>
            <a:off x="9643856" y="3319272"/>
            <a:ext cx="1581912" cy="34747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500" u="none" cap="none" strike="noStrike">
                <a:solidFill>
                  <a:srgbClr val="14223A"/>
                </a:solidFill>
                <a:latin typeface="Arial"/>
                <a:ea typeface="Arial"/>
                <a:cs typeface="Arial"/>
                <a:sym typeface="Arial"/>
              </a:rPr>
              <a:t>40 cm³</a:t>
            </a:r>
            <a:endParaRPr/>
          </a:p>
        </p:txBody>
      </p:sp>
      <p:sp>
        <p:nvSpPr>
          <p:cNvPr id="301" name="Google Shape;301;p43"/>
          <p:cNvSpPr/>
          <p:nvPr/>
        </p:nvSpPr>
        <p:spPr>
          <a:xfrm>
            <a:off x="640080" y="4133088"/>
            <a:ext cx="5291312" cy="2066544"/>
          </a:xfrm>
          <a:prstGeom prst="roundRect">
            <a:avLst>
              <a:gd fmla="val 6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02" name="Google Shape;302;p43"/>
          <p:cNvSpPr/>
          <p:nvPr/>
        </p:nvSpPr>
        <p:spPr>
          <a:xfrm>
            <a:off x="640080" y="4133088"/>
            <a:ext cx="91440" cy="2066544"/>
          </a:xfrm>
          <a:prstGeom prst="rect">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03" name="Google Shape;303;p43"/>
          <p:cNvSpPr/>
          <p:nvPr/>
        </p:nvSpPr>
        <p:spPr>
          <a:xfrm>
            <a:off x="914400" y="4370832"/>
            <a:ext cx="365760" cy="365760"/>
          </a:xfrm>
          <a:prstGeom prst="ellipse">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3</a:t>
            </a:r>
            <a:endParaRPr/>
          </a:p>
        </p:txBody>
      </p:sp>
      <p:sp>
        <p:nvSpPr>
          <p:cNvPr id="304" name="Google Shape;304;p43"/>
          <p:cNvSpPr txBox="1"/>
          <p:nvPr/>
        </p:nvSpPr>
        <p:spPr>
          <a:xfrm>
            <a:off x="1444752" y="4352544"/>
            <a:ext cx="4151376" cy="310896"/>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defRPr/>
            </a:pPr>
            <a:r>
              <a:rPr b="1" i="0" lang="en-US" sz="1800" u="none" cap="none" strike="noStrike">
                <a:solidFill>
                  <a:srgbClr val="14223A"/>
                </a:solidFill>
                <a:latin typeface="Arial"/>
                <a:ea typeface="Arial"/>
                <a:cs typeface="Arial"/>
                <a:sym typeface="Arial"/>
              </a:rPr>
              <a:t>Which height is used in A = b × h?</a:t>
            </a:r>
            <a:endParaRPr/>
          </a:p>
        </p:txBody>
      </p:sp>
      <p:sp>
        <p:nvSpPr>
          <p:cNvPr id="305" name="Google Shape;305;p43"/>
          <p:cNvSpPr/>
          <p:nvPr/>
        </p:nvSpPr>
        <p:spPr>
          <a:xfrm>
            <a:off x="1444752" y="5102352"/>
            <a:ext cx="2057400" cy="402336"/>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06" name="Google Shape;306;p43"/>
          <p:cNvSpPr txBox="1"/>
          <p:nvPr/>
        </p:nvSpPr>
        <p:spPr>
          <a:xfrm>
            <a:off x="1572768" y="5129784"/>
            <a:ext cx="237744" cy="34747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400" u="none" cap="none" strike="noStrike">
                <a:solidFill>
                  <a:srgbClr val="334155"/>
                </a:solidFill>
                <a:latin typeface="Arial"/>
                <a:ea typeface="Arial"/>
                <a:cs typeface="Arial"/>
                <a:sym typeface="Arial"/>
              </a:rPr>
              <a:t>A</a:t>
            </a:r>
            <a:endParaRPr/>
          </a:p>
        </p:txBody>
      </p:sp>
      <p:sp>
        <p:nvSpPr>
          <p:cNvPr id="307" name="Google Shape;307;p43"/>
          <p:cNvSpPr txBox="1"/>
          <p:nvPr/>
        </p:nvSpPr>
        <p:spPr>
          <a:xfrm>
            <a:off x="1847088" y="5129784"/>
            <a:ext cx="1581912" cy="34747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500" u="none" cap="none" strike="noStrike">
                <a:solidFill>
                  <a:srgbClr val="14223A"/>
                </a:solidFill>
                <a:latin typeface="Arial"/>
                <a:ea typeface="Arial"/>
                <a:cs typeface="Arial"/>
                <a:sym typeface="Arial"/>
              </a:rPr>
              <a:t>Slanted side</a:t>
            </a:r>
            <a:endParaRPr/>
          </a:p>
        </p:txBody>
      </p:sp>
      <p:sp>
        <p:nvSpPr>
          <p:cNvPr id="308" name="Google Shape;308;p43"/>
          <p:cNvSpPr/>
          <p:nvPr/>
        </p:nvSpPr>
        <p:spPr>
          <a:xfrm>
            <a:off x="3621024" y="5102352"/>
            <a:ext cx="2057400" cy="402336"/>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09" name="Google Shape;309;p43"/>
          <p:cNvSpPr txBox="1"/>
          <p:nvPr/>
        </p:nvSpPr>
        <p:spPr>
          <a:xfrm>
            <a:off x="3749040" y="5129784"/>
            <a:ext cx="237744" cy="34747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400" u="none" cap="none" strike="noStrike">
                <a:solidFill>
                  <a:srgbClr val="334155"/>
                </a:solidFill>
                <a:latin typeface="Arial"/>
                <a:ea typeface="Arial"/>
                <a:cs typeface="Arial"/>
                <a:sym typeface="Arial"/>
              </a:rPr>
              <a:t>B</a:t>
            </a:r>
            <a:endParaRPr/>
          </a:p>
        </p:txBody>
      </p:sp>
      <p:sp>
        <p:nvSpPr>
          <p:cNvPr id="310" name="Google Shape;310;p43"/>
          <p:cNvSpPr txBox="1"/>
          <p:nvPr/>
        </p:nvSpPr>
        <p:spPr>
          <a:xfrm>
            <a:off x="4023360" y="5129784"/>
            <a:ext cx="1581912" cy="34747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500" u="none" cap="none" strike="noStrike">
                <a:solidFill>
                  <a:srgbClr val="14223A"/>
                </a:solidFill>
                <a:latin typeface="Arial"/>
                <a:ea typeface="Arial"/>
                <a:cs typeface="Arial"/>
                <a:sym typeface="Arial"/>
              </a:rPr>
              <a:t>Perpendicular</a:t>
            </a:r>
            <a:endParaRPr/>
          </a:p>
        </p:txBody>
      </p:sp>
      <p:sp>
        <p:nvSpPr>
          <p:cNvPr id="311" name="Google Shape;311;p43"/>
          <p:cNvSpPr/>
          <p:nvPr/>
        </p:nvSpPr>
        <p:spPr>
          <a:xfrm>
            <a:off x="1444752" y="5596128"/>
            <a:ext cx="2057400" cy="402336"/>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12" name="Google Shape;312;p43"/>
          <p:cNvSpPr txBox="1"/>
          <p:nvPr/>
        </p:nvSpPr>
        <p:spPr>
          <a:xfrm>
            <a:off x="1572768" y="5623560"/>
            <a:ext cx="237744" cy="34747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400" u="none" cap="none" strike="noStrike">
                <a:solidFill>
                  <a:srgbClr val="334155"/>
                </a:solidFill>
                <a:latin typeface="Arial"/>
                <a:ea typeface="Arial"/>
                <a:cs typeface="Arial"/>
                <a:sym typeface="Arial"/>
              </a:rPr>
              <a:t>C</a:t>
            </a:r>
            <a:endParaRPr/>
          </a:p>
        </p:txBody>
      </p:sp>
      <p:sp>
        <p:nvSpPr>
          <p:cNvPr id="313" name="Google Shape;313;p43"/>
          <p:cNvSpPr txBox="1"/>
          <p:nvPr/>
        </p:nvSpPr>
        <p:spPr>
          <a:xfrm>
            <a:off x="1847088" y="5623560"/>
            <a:ext cx="1581912" cy="34747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500" u="none" cap="none" strike="noStrike">
                <a:solidFill>
                  <a:srgbClr val="14223A"/>
                </a:solidFill>
                <a:latin typeface="Arial"/>
                <a:ea typeface="Arial"/>
                <a:cs typeface="Arial"/>
                <a:sym typeface="Arial"/>
              </a:rPr>
              <a:t>Longest side</a:t>
            </a:r>
            <a:endParaRPr/>
          </a:p>
        </p:txBody>
      </p:sp>
      <p:sp>
        <p:nvSpPr>
          <p:cNvPr id="314" name="Google Shape;314;p43"/>
          <p:cNvSpPr/>
          <p:nvPr/>
        </p:nvSpPr>
        <p:spPr>
          <a:xfrm>
            <a:off x="3621024" y="5596128"/>
            <a:ext cx="2057400" cy="402336"/>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15" name="Google Shape;315;p43"/>
          <p:cNvSpPr txBox="1"/>
          <p:nvPr/>
        </p:nvSpPr>
        <p:spPr>
          <a:xfrm>
            <a:off x="3749040" y="5623560"/>
            <a:ext cx="237744" cy="34747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400" u="none" cap="none" strike="noStrike">
                <a:solidFill>
                  <a:srgbClr val="334155"/>
                </a:solidFill>
                <a:latin typeface="Arial"/>
                <a:ea typeface="Arial"/>
                <a:cs typeface="Arial"/>
                <a:sym typeface="Arial"/>
              </a:rPr>
              <a:t>D</a:t>
            </a:r>
            <a:endParaRPr/>
          </a:p>
        </p:txBody>
      </p:sp>
      <p:sp>
        <p:nvSpPr>
          <p:cNvPr id="316" name="Google Shape;316;p43"/>
          <p:cNvSpPr txBox="1"/>
          <p:nvPr/>
        </p:nvSpPr>
        <p:spPr>
          <a:xfrm>
            <a:off x="4023360" y="5623560"/>
            <a:ext cx="1581912" cy="34747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500" u="none" cap="none" strike="noStrike">
                <a:solidFill>
                  <a:srgbClr val="14223A"/>
                </a:solidFill>
                <a:latin typeface="Arial"/>
                <a:ea typeface="Arial"/>
                <a:cs typeface="Arial"/>
                <a:sym typeface="Arial"/>
              </a:rPr>
              <a:t>Any side</a:t>
            </a:r>
            <a:endParaRPr/>
          </a:p>
        </p:txBody>
      </p:sp>
      <p:sp>
        <p:nvSpPr>
          <p:cNvPr id="317" name="Google Shape;317;p43"/>
          <p:cNvSpPr/>
          <p:nvPr/>
        </p:nvSpPr>
        <p:spPr>
          <a:xfrm>
            <a:off x="6260576" y="4133088"/>
            <a:ext cx="5291312" cy="2066544"/>
          </a:xfrm>
          <a:prstGeom prst="roundRect">
            <a:avLst>
              <a:gd fmla="val 6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18" name="Google Shape;318;p43"/>
          <p:cNvSpPr/>
          <p:nvPr/>
        </p:nvSpPr>
        <p:spPr>
          <a:xfrm>
            <a:off x="6260576" y="4133088"/>
            <a:ext cx="91440" cy="2066544"/>
          </a:xfrm>
          <a:prstGeom prst="rect">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19" name="Google Shape;319;p43"/>
          <p:cNvSpPr/>
          <p:nvPr/>
        </p:nvSpPr>
        <p:spPr>
          <a:xfrm>
            <a:off x="6534896" y="4370832"/>
            <a:ext cx="365760" cy="365760"/>
          </a:xfrm>
          <a:prstGeom prst="ellipse">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4</a:t>
            </a:r>
            <a:endParaRPr/>
          </a:p>
        </p:txBody>
      </p:sp>
      <p:sp>
        <p:nvSpPr>
          <p:cNvPr id="320" name="Google Shape;320;p43"/>
          <p:cNvSpPr txBox="1"/>
          <p:nvPr/>
        </p:nvSpPr>
        <p:spPr>
          <a:xfrm>
            <a:off x="7065248" y="4352544"/>
            <a:ext cx="4151376" cy="621792"/>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defRPr/>
            </a:pPr>
            <a:r>
              <a:rPr b="1" i="0" lang="en-US" sz="1800" u="none" cap="none" strike="noStrike">
                <a:solidFill>
                  <a:srgbClr val="14223A"/>
                </a:solidFill>
                <a:latin typeface="Arial"/>
                <a:ea typeface="Arial"/>
                <a:cs typeface="Arial"/>
                <a:sym typeface="Arial"/>
              </a:rPr>
              <a:t>A parallelogram has base 12 in and height 3 in. Its area is:</a:t>
            </a:r>
            <a:endParaRPr/>
          </a:p>
        </p:txBody>
      </p:sp>
      <p:sp>
        <p:nvSpPr>
          <p:cNvPr id="321" name="Google Shape;321;p43"/>
          <p:cNvSpPr/>
          <p:nvPr/>
        </p:nvSpPr>
        <p:spPr>
          <a:xfrm>
            <a:off x="7065248" y="5102352"/>
            <a:ext cx="2057400" cy="402336"/>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22" name="Google Shape;322;p43"/>
          <p:cNvSpPr txBox="1"/>
          <p:nvPr/>
        </p:nvSpPr>
        <p:spPr>
          <a:xfrm>
            <a:off x="7193264" y="5129784"/>
            <a:ext cx="237744" cy="34747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400" u="none" cap="none" strike="noStrike">
                <a:solidFill>
                  <a:srgbClr val="334155"/>
                </a:solidFill>
                <a:latin typeface="Arial"/>
                <a:ea typeface="Arial"/>
                <a:cs typeface="Arial"/>
                <a:sym typeface="Arial"/>
              </a:rPr>
              <a:t>A</a:t>
            </a:r>
            <a:endParaRPr/>
          </a:p>
        </p:txBody>
      </p:sp>
      <p:sp>
        <p:nvSpPr>
          <p:cNvPr id="323" name="Google Shape;323;p43"/>
          <p:cNvSpPr txBox="1"/>
          <p:nvPr/>
        </p:nvSpPr>
        <p:spPr>
          <a:xfrm>
            <a:off x="7467584" y="5129784"/>
            <a:ext cx="1581912" cy="34747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500" u="none" cap="none" strike="noStrike">
                <a:solidFill>
                  <a:srgbClr val="14223A"/>
                </a:solidFill>
                <a:latin typeface="Arial"/>
                <a:ea typeface="Arial"/>
                <a:cs typeface="Arial"/>
                <a:sym typeface="Arial"/>
              </a:rPr>
              <a:t>15 in²</a:t>
            </a:r>
            <a:endParaRPr/>
          </a:p>
        </p:txBody>
      </p:sp>
      <p:sp>
        <p:nvSpPr>
          <p:cNvPr id="324" name="Google Shape;324;p43"/>
          <p:cNvSpPr/>
          <p:nvPr/>
        </p:nvSpPr>
        <p:spPr>
          <a:xfrm>
            <a:off x="9241520" y="5102352"/>
            <a:ext cx="2057400" cy="402336"/>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25" name="Google Shape;325;p43"/>
          <p:cNvSpPr txBox="1"/>
          <p:nvPr/>
        </p:nvSpPr>
        <p:spPr>
          <a:xfrm>
            <a:off x="9369536" y="5129784"/>
            <a:ext cx="237744" cy="34747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400" u="none" cap="none" strike="noStrike">
                <a:solidFill>
                  <a:srgbClr val="334155"/>
                </a:solidFill>
                <a:latin typeface="Arial"/>
                <a:ea typeface="Arial"/>
                <a:cs typeface="Arial"/>
                <a:sym typeface="Arial"/>
              </a:rPr>
              <a:t>B</a:t>
            </a:r>
            <a:endParaRPr/>
          </a:p>
        </p:txBody>
      </p:sp>
      <p:sp>
        <p:nvSpPr>
          <p:cNvPr id="326" name="Google Shape;326;p43"/>
          <p:cNvSpPr txBox="1"/>
          <p:nvPr/>
        </p:nvSpPr>
        <p:spPr>
          <a:xfrm>
            <a:off x="9643856" y="5129784"/>
            <a:ext cx="1581912" cy="34747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500" u="none" cap="none" strike="noStrike">
                <a:solidFill>
                  <a:srgbClr val="14223A"/>
                </a:solidFill>
                <a:latin typeface="Arial"/>
                <a:ea typeface="Arial"/>
                <a:cs typeface="Arial"/>
                <a:sym typeface="Arial"/>
              </a:rPr>
              <a:t>36 in²</a:t>
            </a:r>
            <a:endParaRPr/>
          </a:p>
        </p:txBody>
      </p:sp>
      <p:sp>
        <p:nvSpPr>
          <p:cNvPr id="327" name="Google Shape;327;p43"/>
          <p:cNvSpPr/>
          <p:nvPr/>
        </p:nvSpPr>
        <p:spPr>
          <a:xfrm>
            <a:off x="7065248" y="5596128"/>
            <a:ext cx="2057400" cy="402336"/>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28" name="Google Shape;328;p43"/>
          <p:cNvSpPr txBox="1"/>
          <p:nvPr/>
        </p:nvSpPr>
        <p:spPr>
          <a:xfrm>
            <a:off x="7193264" y="5623560"/>
            <a:ext cx="237744" cy="34747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400" u="none" cap="none" strike="noStrike">
                <a:solidFill>
                  <a:srgbClr val="334155"/>
                </a:solidFill>
                <a:latin typeface="Arial"/>
                <a:ea typeface="Arial"/>
                <a:cs typeface="Arial"/>
                <a:sym typeface="Arial"/>
              </a:rPr>
              <a:t>C</a:t>
            </a:r>
            <a:endParaRPr/>
          </a:p>
        </p:txBody>
      </p:sp>
      <p:sp>
        <p:nvSpPr>
          <p:cNvPr id="329" name="Google Shape;329;p43"/>
          <p:cNvSpPr txBox="1"/>
          <p:nvPr/>
        </p:nvSpPr>
        <p:spPr>
          <a:xfrm>
            <a:off x="7467584" y="5623560"/>
            <a:ext cx="1581912" cy="34747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500" u="none" cap="none" strike="noStrike">
                <a:solidFill>
                  <a:srgbClr val="14223A"/>
                </a:solidFill>
                <a:latin typeface="Arial"/>
                <a:ea typeface="Arial"/>
                <a:cs typeface="Arial"/>
                <a:sym typeface="Arial"/>
              </a:rPr>
              <a:t>36 in³</a:t>
            </a:r>
            <a:endParaRPr/>
          </a:p>
        </p:txBody>
      </p:sp>
      <p:sp>
        <p:nvSpPr>
          <p:cNvPr id="330" name="Google Shape;330;p43"/>
          <p:cNvSpPr/>
          <p:nvPr/>
        </p:nvSpPr>
        <p:spPr>
          <a:xfrm>
            <a:off x="9241520" y="5596128"/>
            <a:ext cx="2057400" cy="402336"/>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31" name="Google Shape;331;p43"/>
          <p:cNvSpPr txBox="1"/>
          <p:nvPr/>
        </p:nvSpPr>
        <p:spPr>
          <a:xfrm>
            <a:off x="9369536" y="5623560"/>
            <a:ext cx="237744" cy="34747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400" u="none" cap="none" strike="noStrike">
                <a:solidFill>
                  <a:srgbClr val="334155"/>
                </a:solidFill>
                <a:latin typeface="Arial"/>
                <a:ea typeface="Arial"/>
                <a:cs typeface="Arial"/>
                <a:sym typeface="Arial"/>
              </a:rPr>
              <a:t>D</a:t>
            </a:r>
            <a:endParaRPr/>
          </a:p>
        </p:txBody>
      </p:sp>
      <p:sp>
        <p:nvSpPr>
          <p:cNvPr id="332" name="Google Shape;332;p43"/>
          <p:cNvSpPr txBox="1"/>
          <p:nvPr/>
        </p:nvSpPr>
        <p:spPr>
          <a:xfrm>
            <a:off x="9643856" y="5623560"/>
            <a:ext cx="1581912" cy="34747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500" u="none" cap="none" strike="noStrike">
                <a:solidFill>
                  <a:srgbClr val="14223A"/>
                </a:solidFill>
                <a:latin typeface="Arial"/>
                <a:ea typeface="Arial"/>
                <a:cs typeface="Arial"/>
                <a:sym typeface="Arial"/>
              </a:rPr>
              <a:t>18 in²</a:t>
            </a:r>
            <a:endParaRPr/>
          </a:p>
        </p:txBody>
      </p:sp>
      <p:sp>
        <p:nvSpPr>
          <p:cNvPr id="333"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41 / 66</a:t>
            </a: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9" name="Shape 519"/>
        <p:cNvGrpSpPr/>
        <p:nvPr/>
      </p:nvGrpSpPr>
      <p:grpSpPr>
        <a:xfrm>
          <a:off x="0" y="0"/>
          <a:ext cx="0" cy="0"/>
          <a:chOff x="0" y="0"/>
          <a:chExt cx="0" cy="0"/>
        </a:xfrm>
      </p:grpSpPr>
      <p:sp>
        <p:nvSpPr>
          <p:cNvPr id="520" name="Google Shape;520;p53"/>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21" name="Google Shape;521;p53"/>
          <p:cNvSpPr/>
          <p:nvPr/>
        </p:nvSpPr>
        <p:spPr>
          <a:xfrm>
            <a:off x="0" y="0"/>
            <a:ext cx="12191969" cy="713232"/>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22" name="Google Shape;522;p53"/>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2000" u="none" cap="none" strike="noStrike">
                <a:solidFill>
                  <a:srgbClr val="FFFFFF"/>
                </a:solidFill>
                <a:latin typeface="Arial"/>
                <a:ea typeface="Arial"/>
                <a:cs typeface="Arial"/>
                <a:sym typeface="Arial"/>
              </a:rPr>
              <a:t>Review Notes — Session 2</a:t>
            </a:r>
            <a:endParaRPr/>
          </a:p>
        </p:txBody>
      </p:sp>
      <p:sp>
        <p:nvSpPr>
          <p:cNvPr id="523" name="Google Shape;523;p53"/>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defRPr/>
            </a:pPr>
            <a:r>
              <a:rPr b="0" i="0" lang="en-US" sz="1200" u="none" cap="none" strike="noStrike">
                <a:solidFill>
                  <a:srgbClr val="FFFFFF"/>
                </a:solidFill>
                <a:latin typeface="Arial"/>
                <a:ea typeface="Arial"/>
                <a:cs typeface="Arial"/>
                <a:sym typeface="Arial"/>
              </a:rPr>
              <a:t>Lesson 5-1 · Determine the Area of Parallelograms and Rhombuses</a:t>
            </a:r>
            <a:endParaRPr/>
          </a:p>
        </p:txBody>
      </p:sp>
      <p:sp>
        <p:nvSpPr>
          <p:cNvPr id="524" name="Google Shape;524;p53"/>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25" name="Google Shape;525;p53"/>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0" i="0" lang="en-US" sz="1000" u="none" cap="none" strike="noStrike">
                <a:solidFill>
                  <a:srgbClr val="475569"/>
                </a:solidFill>
                <a:latin typeface="Arial"/>
                <a:ea typeface="Arial"/>
                <a:cs typeface="Arial"/>
                <a:sym typeface="Arial"/>
              </a:rPr>
              <a:t>eduwonderlab.com  ·  Neft Teacher</a:t>
            </a:r>
            <a:endParaRPr/>
          </a:p>
        </p:txBody>
      </p:sp>
      <p:sp>
        <p:nvSpPr>
          <p:cNvPr id="526" name="Google Shape;526;p53"/>
          <p:cNvSpPr txBox="1"/>
          <p:nvPr/>
        </p:nvSpPr>
        <p:spPr>
          <a:xfrm>
            <a:off x="640080" y="987552"/>
            <a:ext cx="10911809" cy="45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3000" u="none" cap="none" strike="noStrike">
                <a:solidFill>
                  <a:srgbClr val="14223A"/>
                </a:solidFill>
                <a:latin typeface="Arial"/>
                <a:ea typeface="Arial"/>
                <a:cs typeface="Arial"/>
                <a:sym typeface="Arial"/>
              </a:rPr>
              <a:t>Session 2: Review Notes</a:t>
            </a:r>
            <a:endParaRPr/>
          </a:p>
        </p:txBody>
      </p:sp>
      <p:sp>
        <p:nvSpPr>
          <p:cNvPr id="527" name="Google Shape;527;p53"/>
          <p:cNvSpPr/>
          <p:nvPr/>
        </p:nvSpPr>
        <p:spPr>
          <a:xfrm>
            <a:off x="640080" y="1572768"/>
            <a:ext cx="3246120" cy="384048"/>
          </a:xfrm>
          <a:prstGeom prst="roundRect">
            <a:avLst>
              <a:gd fmla="val 30000" name="adj"/>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28" name="Google Shape;528;p53"/>
          <p:cNvSpPr txBox="1"/>
          <p:nvPr/>
        </p:nvSpPr>
        <p:spPr>
          <a:xfrm>
            <a:off x="868680" y="1636776"/>
            <a:ext cx="3017520"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400" u="none" cap="none" strike="noStrike">
                <a:solidFill>
                  <a:srgbClr val="FFFFFF"/>
                </a:solidFill>
                <a:latin typeface="Arial"/>
                <a:ea typeface="Arial"/>
                <a:cs typeface="Arial"/>
                <a:sym typeface="Arial"/>
              </a:rPr>
              <a:t>Copy. Explain. Check.</a:t>
            </a:r>
            <a:endParaRPr/>
          </a:p>
        </p:txBody>
      </p:sp>
      <p:sp>
        <p:nvSpPr>
          <p:cNvPr id="529" name="Google Shape;529;p53"/>
          <p:cNvSpPr/>
          <p:nvPr/>
        </p:nvSpPr>
        <p:spPr>
          <a:xfrm>
            <a:off x="640080" y="2212848"/>
            <a:ext cx="10911809" cy="1188720"/>
          </a:xfrm>
          <a:prstGeom prst="roundRect">
            <a:avLst>
              <a:gd fmla="val 8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30" name="Google Shape;530;p53"/>
          <p:cNvSpPr/>
          <p:nvPr/>
        </p:nvSpPr>
        <p:spPr>
          <a:xfrm>
            <a:off x="640080" y="2212848"/>
            <a:ext cx="91440" cy="118872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31" name="Google Shape;531;p53"/>
          <p:cNvSpPr/>
          <p:nvPr/>
        </p:nvSpPr>
        <p:spPr>
          <a:xfrm>
            <a:off x="896112" y="2633472"/>
            <a:ext cx="347472" cy="347472"/>
          </a:xfrm>
          <a:prstGeom prst="ellipse">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1</a:t>
            </a:r>
            <a:endParaRPr/>
          </a:p>
        </p:txBody>
      </p:sp>
      <p:sp>
        <p:nvSpPr>
          <p:cNvPr id="532" name="Google Shape;532;p53"/>
          <p:cNvSpPr txBox="1"/>
          <p:nvPr/>
        </p:nvSpPr>
        <p:spPr>
          <a:xfrm>
            <a:off x="1389888" y="2359152"/>
            <a:ext cx="9860249" cy="31089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800" u="none" cap="none" strike="noStrike">
                <a:solidFill>
                  <a:srgbClr val="14223A"/>
                </a:solidFill>
                <a:latin typeface="Arial"/>
                <a:ea typeface="Arial"/>
                <a:cs typeface="Arial"/>
                <a:sym typeface="Arial"/>
              </a:rPr>
              <a:t>Parallelogram Area</a:t>
            </a:r>
            <a:endParaRPr/>
          </a:p>
        </p:txBody>
      </p:sp>
      <p:sp>
        <p:nvSpPr>
          <p:cNvPr id="533" name="Google Shape;533;p53"/>
          <p:cNvSpPr txBox="1"/>
          <p:nvPr/>
        </p:nvSpPr>
        <p:spPr>
          <a:xfrm>
            <a:off x="1389888" y="2706624"/>
            <a:ext cx="9860249" cy="585216"/>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defRPr/>
            </a:pPr>
            <a:r>
              <a:rPr b="1" i="0" lang="en-US" sz="1450" u="none" cap="none" strike="noStrike">
                <a:solidFill>
                  <a:srgbClr val="475569"/>
                </a:solidFill>
                <a:latin typeface="Arial"/>
                <a:ea typeface="Arial"/>
                <a:cs typeface="Arial"/>
                <a:sym typeface="Arial"/>
              </a:rPr>
              <a:t xml:space="preserve">Area</a:t>
            </a:r>
            <a:r>
              <a:rPr b="0" i="0" lang="en-US" sz="1450" u="none" cap="none" strike="noStrike">
                <a:solidFill>
                  <a:srgbClr val="475569"/>
                </a:solidFill>
                <a:latin typeface="Arial"/>
                <a:ea typeface="Arial"/>
                <a:cs typeface="Arial"/>
                <a:sym typeface="Arial"/>
              </a:rPr>
              <a:t xml:space="preserve"> = </a:t>
            </a:r>
            <a:r>
              <a:rPr b="1" i="0" lang="en-US" sz="1450" u="none" cap="none" strike="noStrike">
                <a:solidFill>
                  <a:srgbClr val="475569"/>
                </a:solidFill>
                <a:latin typeface="Arial"/>
                <a:ea typeface="Arial"/>
                <a:cs typeface="Arial"/>
                <a:sym typeface="Arial"/>
              </a:rPr>
              <a:t xml:space="preserve">base</a:t>
            </a:r>
            <a:r>
              <a:rPr b="0" i="0" lang="en-US" sz="1450" u="none" cap="none" strike="noStrike">
                <a:solidFill>
                  <a:srgbClr val="475569"/>
                </a:solidFill>
                <a:latin typeface="Arial"/>
                <a:ea typeface="Arial"/>
                <a:cs typeface="Arial"/>
                <a:sym typeface="Arial"/>
              </a:rPr>
              <a:t xml:space="preserve"> × height (A = bh). Decomposing and rearranging forms a rectangle.</a:t>
            </a:r>
            <a:endParaRPr/>
          </a:p>
        </p:txBody>
      </p:sp>
      <p:sp>
        <p:nvSpPr>
          <p:cNvPr id="534" name="Google Shape;534;p53"/>
          <p:cNvSpPr/>
          <p:nvPr/>
        </p:nvSpPr>
        <p:spPr>
          <a:xfrm>
            <a:off x="640080" y="3584448"/>
            <a:ext cx="10911809" cy="1188720"/>
          </a:xfrm>
          <a:prstGeom prst="roundRect">
            <a:avLst>
              <a:gd fmla="val 8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35" name="Google Shape;535;p53"/>
          <p:cNvSpPr/>
          <p:nvPr/>
        </p:nvSpPr>
        <p:spPr>
          <a:xfrm>
            <a:off x="640080" y="3584448"/>
            <a:ext cx="91440" cy="118872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36" name="Google Shape;536;p53"/>
          <p:cNvSpPr/>
          <p:nvPr/>
        </p:nvSpPr>
        <p:spPr>
          <a:xfrm>
            <a:off x="896112" y="4005072"/>
            <a:ext cx="347472" cy="347472"/>
          </a:xfrm>
          <a:prstGeom prst="ellipse">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2</a:t>
            </a:r>
            <a:endParaRPr/>
          </a:p>
        </p:txBody>
      </p:sp>
      <p:sp>
        <p:nvSpPr>
          <p:cNvPr id="537" name="Google Shape;537;p53"/>
          <p:cNvSpPr txBox="1"/>
          <p:nvPr/>
        </p:nvSpPr>
        <p:spPr>
          <a:xfrm>
            <a:off x="1389888" y="3730752"/>
            <a:ext cx="9860249" cy="31089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800" u="none" cap="none" strike="noStrike">
                <a:solidFill>
                  <a:srgbClr val="14223A"/>
                </a:solidFill>
                <a:latin typeface="Arial"/>
                <a:ea typeface="Arial"/>
                <a:cs typeface="Arial"/>
                <a:sym typeface="Arial"/>
              </a:rPr>
              <a:t>Perpendicular Height</a:t>
            </a:r>
            <a:endParaRPr/>
          </a:p>
        </p:txBody>
      </p:sp>
      <p:sp>
        <p:nvSpPr>
          <p:cNvPr id="538" name="Google Shape;538;p53"/>
          <p:cNvSpPr txBox="1"/>
          <p:nvPr/>
        </p:nvSpPr>
        <p:spPr>
          <a:xfrm>
            <a:off x="1389888" y="4078224"/>
            <a:ext cx="9860249" cy="585216"/>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defRPr/>
            </a:pPr>
            <a:r>
              <a:rPr b="1" i="0" lang="en-US" sz="1450" u="none" cap="none" strike="noStrike">
                <a:solidFill>
                  <a:srgbClr val="475569"/>
                </a:solidFill>
                <a:latin typeface="Arial"/>
                <a:ea typeface="Arial"/>
                <a:cs typeface="Arial"/>
                <a:sym typeface="Arial"/>
              </a:rPr>
              <a:t xml:space="preserve">Height</a:t>
            </a:r>
            <a:r>
              <a:rPr b="0" i="0" lang="en-US" sz="1450" u="none" cap="none" strike="noStrike">
                <a:solidFill>
                  <a:srgbClr val="475569"/>
                </a:solidFill>
                <a:latin typeface="Arial"/>
                <a:ea typeface="Arial"/>
                <a:cs typeface="Arial"/>
                <a:sym typeface="Arial"/>
              </a:rPr>
              <a:t xml:space="preserve"> must always form a 90° right angle with the chosen base, not the slanted side.</a:t>
            </a:r>
            <a:endParaRPr/>
          </a:p>
        </p:txBody>
      </p:sp>
      <p:sp>
        <p:nvSpPr>
          <p:cNvPr id="539" name="Google Shape;539;p53"/>
          <p:cNvSpPr/>
          <p:nvPr/>
        </p:nvSpPr>
        <p:spPr>
          <a:xfrm>
            <a:off x="640080" y="4956048"/>
            <a:ext cx="10911809" cy="1188720"/>
          </a:xfrm>
          <a:prstGeom prst="roundRect">
            <a:avLst>
              <a:gd fmla="val 8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40" name="Google Shape;540;p53"/>
          <p:cNvSpPr/>
          <p:nvPr/>
        </p:nvSpPr>
        <p:spPr>
          <a:xfrm>
            <a:off x="640080" y="4956048"/>
            <a:ext cx="91440" cy="118872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41" name="Google Shape;541;p53"/>
          <p:cNvSpPr/>
          <p:nvPr/>
        </p:nvSpPr>
        <p:spPr>
          <a:xfrm>
            <a:off x="896112" y="5376672"/>
            <a:ext cx="347472" cy="347472"/>
          </a:xfrm>
          <a:prstGeom prst="ellipse">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3</a:t>
            </a:r>
            <a:endParaRPr/>
          </a:p>
        </p:txBody>
      </p:sp>
      <p:sp>
        <p:nvSpPr>
          <p:cNvPr id="542" name="Google Shape;542;p53"/>
          <p:cNvSpPr txBox="1"/>
          <p:nvPr/>
        </p:nvSpPr>
        <p:spPr>
          <a:xfrm>
            <a:off x="1389888" y="5102352"/>
            <a:ext cx="9860249" cy="31089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800" u="none" cap="none" strike="noStrike">
                <a:solidFill>
                  <a:srgbClr val="14223A"/>
                </a:solidFill>
                <a:latin typeface="Arial"/>
                <a:ea typeface="Arial"/>
                <a:cs typeface="Arial"/>
                <a:sym typeface="Arial"/>
              </a:rPr>
              <a:t>Rhombus Attributes</a:t>
            </a:r>
            <a:endParaRPr/>
          </a:p>
        </p:txBody>
      </p:sp>
      <p:sp>
        <p:nvSpPr>
          <p:cNvPr id="543" name="Google Shape;543;p53"/>
          <p:cNvSpPr txBox="1"/>
          <p:nvPr/>
        </p:nvSpPr>
        <p:spPr>
          <a:xfrm>
            <a:off x="1389888" y="5449824"/>
            <a:ext cx="9860249" cy="585216"/>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defRPr/>
            </a:pPr>
            <a:r>
              <a:rPr b="0" i="0" lang="en-US" sz="1450" u="none" cap="none" strike="noStrike">
                <a:solidFill>
                  <a:srgbClr val="475569"/>
                </a:solidFill>
                <a:latin typeface="Arial"/>
                <a:ea typeface="Arial"/>
                <a:cs typeface="Arial"/>
                <a:sym typeface="Arial"/>
              </a:rPr>
              <a:t xml:space="preserve">A </a:t>
            </a:r>
            <a:r>
              <a:rPr b="1" i="0" lang="en-US" sz="1450" u="none" cap="none" strike="noStrike">
                <a:solidFill>
                  <a:srgbClr val="475569"/>
                </a:solidFill>
                <a:latin typeface="Arial"/>
                <a:ea typeface="Arial"/>
                <a:cs typeface="Arial"/>
                <a:sym typeface="Arial"/>
              </a:rPr>
              <a:t xml:space="preserve">rhombus</a:t>
            </a:r>
            <a:r>
              <a:rPr b="0" i="0" lang="en-US" sz="1450" u="none" cap="none" strike="noStrike">
                <a:solidFill>
                  <a:srgbClr val="475569"/>
                </a:solidFill>
                <a:latin typeface="Arial"/>
                <a:ea typeface="Arial"/>
                <a:cs typeface="Arial"/>
                <a:sym typeface="Arial"/>
              </a:rPr>
              <a:t xml:space="preserve"> is a </a:t>
            </a:r>
            <a:r>
              <a:rPr b="1" i="0" lang="en-US" sz="1450" u="none" cap="none" strike="noStrike">
                <a:solidFill>
                  <a:srgbClr val="475569"/>
                </a:solidFill>
                <a:latin typeface="Arial"/>
                <a:ea typeface="Arial"/>
                <a:cs typeface="Arial"/>
                <a:sym typeface="Arial"/>
              </a:rPr>
              <a:t xml:space="preserve">parallelogram</a:t>
            </a:r>
            <a:r>
              <a:rPr b="0" i="0" lang="en-US" sz="1450" u="none" cap="none" strike="noStrike">
                <a:solidFill>
                  <a:srgbClr val="475569"/>
                </a:solidFill>
                <a:latin typeface="Arial"/>
                <a:ea typeface="Arial"/>
                <a:cs typeface="Arial"/>
                <a:sym typeface="Arial"/>
              </a:rPr>
              <a:t xml:space="preserve"> with 4 congruent sides; area is also base × height.</a:t>
            </a:r>
            <a:endParaRPr/>
          </a:p>
        </p:txBody>
      </p:sp>
      <p:sp>
        <p:nvSpPr>
          <p:cNvPr id="544"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43 / 66</a:t>
            </a:r>
          </a:p>
        </p:txBody>
      </p:sp>
      <p:grpSp>
        <p:nvGrpSpPr>
          <p:cNvPr id="545" name="TEACH-1-student-move" descr="TEACH 1 · Facilitate clear, standards-based content learning"/>
          <p:cNvGrpSpPr/>
          <p:nvPr/>
        </p:nvGrpSpPr>
        <p:grpSpPr>
          <a:xfrm>
            <a:off x="6187440" y="1682496"/>
            <a:ext cx="5501640" cy="594360"/>
            <a:chOff x="6187440" y="1682496"/>
            <a:chExt cx="5501640" cy="594360"/>
          </a:xfrm>
        </p:grpSpPr>
        <p:sp>
          <p:nvSpPr>
            <p:cNvPr id="546" name="TEACH-move-card"/>
            <p:cNvSpPr/>
            <p:nvPr/>
          </p:nvSpPr>
          <p:spPr>
            <a:xfrm>
              <a:off x="6187440" y="1682496"/>
              <a:ext cx="5501640" cy="594360"/>
            </a:xfrm>
            <a:prstGeom prst="roundRect">
              <a:avLst>
                <a:gd name="adj" fmla="val 16000"/>
              </a:avLst>
            </a:prstGeom>
            <a:solidFill>
              <a:srgbClr val="E4F0F5"/>
            </a:solidFill>
            <a:ln w="19050">
              <a:solidFill>
                <a:srgbClr val="8CB8C7"/>
              </a:solidFill>
            </a:ln>
          </p:spPr>
          <p:txBody>
            <a:bodyPr/>
            <a:lstStyle/>
            <a:p>
              <a:endParaRPr/>
            </a:p>
          </p:txBody>
        </p:sp>
        <p:sp>
          <p:nvSpPr>
            <p:cNvPr id="547" name="TEACH-move-rule"/>
            <p:cNvSpPr/>
            <p:nvPr/>
          </p:nvSpPr>
          <p:spPr>
            <a:xfrm>
              <a:off x="6233160" y="1795424"/>
              <a:ext cx="100584" cy="368504"/>
            </a:xfrm>
            <a:prstGeom prst="roundRect">
              <a:avLst>
                <a:gd name="adj" fmla="val 50000"/>
              </a:avLst>
            </a:prstGeom>
            <a:solidFill>
              <a:srgbClr val="01708C"/>
            </a:solidFill>
            <a:ln>
              <a:noFill/>
            </a:ln>
          </p:spPr>
          <p:txBody>
            <a:bodyPr/>
            <a:lstStyle/>
            <a:p>
              <a:endParaRPr/>
            </a:p>
          </p:txBody>
        </p:sp>
        <p:sp>
          <p:nvSpPr>
            <p:cNvPr id="548" name="TEACH-move-text"/>
            <p:cNvSpPr txBox="1"/>
            <p:nvPr/>
          </p:nvSpPr>
          <p:spPr>
            <a:xfrm>
              <a:off x="6507480" y="1682496"/>
              <a:ext cx="5044440" cy="594360"/>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WHY IT MATTERS  ·  </a:t>
              </a:r>
              <a:r>
                <a:rPr lang="en-US" sz="1200" dirty="0">
                  <a:solidFill>
                    <a:srgbClr val="13303A"/>
                  </a:solidFill>
                  <a:latin typeface="Arial"/>
                </a:rPr>
                <a:t>Finish this: “This is worth knowing because ______.”</a:t>
              </a:r>
              <a:endParaRPr lang="en-US" sz="1200"/>
            </a:p>
          </p:txBody>
        </p:sp>
      </p:gr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9" name="Shape 849"/>
        <p:cNvGrpSpPr/>
        <p:nvPr/>
      </p:nvGrpSpPr>
      <p:grpSpPr>
        <a:xfrm>
          <a:off x="0" y="0"/>
          <a:ext cx="0" cy="0"/>
          <a:chOff x="0" y="0"/>
          <a:chExt cx="0" cy="0"/>
        </a:xfrm>
      </p:grpSpPr>
      <p:sp>
        <p:nvSpPr>
          <p:cNvPr id="850" name="Google Shape;850;p79"/>
          <p:cNvSpPr/>
          <p:nvPr/>
        </p:nvSpPr>
        <p:spPr>
          <a:xfrm>
            <a:off x="1402828" y="1037162"/>
            <a:ext cx="1763624" cy="52322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defRPr/>
            </a:pPr>
            <a:r>
              <a:rPr b="0" i="0" lang="en-US" sz="2800" u="none" cap="none" strike="noStrike">
                <a:solidFill>
                  <a:srgbClr val="01708C"/>
                </a:solidFill>
                <a:latin typeface="Arial"/>
                <a:ea typeface="Arial"/>
                <a:cs typeface="Arial"/>
                <a:sym typeface="Arial"/>
              </a:rPr>
              <a:t>Session 2</a:t>
            </a:r>
            <a:endParaRPr b="1" i="0" sz="2800" u="none" cap="none" strike="noStrike">
              <a:solidFill>
                <a:srgbClr val="01708C"/>
              </a:solidFill>
              <a:latin typeface="Arial"/>
              <a:ea typeface="Arial"/>
              <a:cs typeface="Arial"/>
              <a:sym typeface="Arial"/>
            </a:endParaRPr>
          </a:p>
        </p:txBody>
      </p:sp>
      <p:cxnSp>
        <p:nvCxnSpPr>
          <p:cNvPr id="851" name="Google Shape;851;p79"/>
          <p:cNvCxnSpPr/>
          <p:nvPr/>
        </p:nvCxnSpPr>
        <p:spPr>
          <a:xfrm>
            <a:off x="-1" y="1560382"/>
            <a:ext cx="3166453" cy="0"/>
          </a:xfrm>
          <a:prstGeom prst="straightConnector1">
            <a:avLst/>
          </a:prstGeom>
          <a:noFill/>
          <a:ln cap="flat" cmpd="sng" w="19050">
            <a:solidFill>
              <a:srgbClr val="01708C"/>
            </a:solidFill>
            <a:prstDash val="solid"/>
            <a:miter lim="80"/>
            <a:headEnd len="sm" w="sm" type="none"/>
            <a:tailEnd len="sm" w="sm" type="none"/>
          </a:ln>
        </p:spPr>
      </p:cxnSp>
      <p:sp>
        <p:nvSpPr>
          <p:cNvPr id="852" name="Google Shape;852;p79"/>
          <p:cNvSpPr txBox="1"/>
          <p:nvPr/>
        </p:nvSpPr>
        <p:spPr>
          <a:xfrm>
            <a:off x="1402828" y="2453950"/>
            <a:ext cx="9144000" cy="2176463"/>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3600"/>
              <a:buFont typeface="Arial"/>
              <a:buNone/>
              <a:defRPr/>
            </a:pPr>
            <a:r>
              <a:rPr b="1" i="0" lang="en-US" sz="3600" u="none" cap="none" strike="noStrike">
                <a:solidFill>
                  <a:schemeClr val="dk1"/>
                </a:solidFill>
                <a:latin typeface="Arial"/>
                <a:ea typeface="Arial"/>
                <a:cs typeface="Arial"/>
                <a:sym typeface="Arial"/>
              </a:rPr>
              <a:t>Determine the Area of </a:t>
            </a:r>
            <a:br>
              <a:rPr b="1" i="0" lang="en-US" sz="3600" u="none" cap="none" strike="noStrike">
                <a:solidFill>
                  <a:schemeClr val="dk1"/>
                </a:solidFill>
                <a:latin typeface="Arial"/>
                <a:ea typeface="Arial"/>
                <a:cs typeface="Arial"/>
                <a:sym typeface="Arial"/>
              </a:rPr>
            </a:br>
            <a:r>
              <a:rPr b="1" i="0" lang="en-US" sz="3600" u="none" cap="none" strike="noStrike">
                <a:solidFill>
                  <a:schemeClr val="dk1"/>
                </a:solidFill>
                <a:latin typeface="Arial"/>
                <a:ea typeface="Arial"/>
                <a:cs typeface="Arial"/>
                <a:sym typeface="Arial"/>
              </a:rPr>
              <a:t>Parallelograms and Rhombuses​</a:t>
            </a:r>
            <a:endParaRPr b="0" i="0" sz="1400" u="none" cap="none" strike="noStrike">
              <a:solidFill>
                <a:srgbClr val="000000"/>
              </a:solidFill>
              <a:latin typeface="Arial"/>
              <a:ea typeface="Arial"/>
              <a:cs typeface="Arial"/>
              <a:sym typeface="Arial"/>
            </a:endParaRPr>
          </a:p>
        </p:txBody>
      </p:sp>
      <p:sp>
        <p:nvSpPr>
          <p:cNvPr id="853"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44 / 66</a:t>
            </a:r>
          </a:p>
        </p:txBody>
      </p:sp>
      <p:grpSp>
        <p:nvGrpSpPr>
          <p:cNvPr id="854" name="TEACH-4-student-move" descr="TEACH 4 · Monitor progress and provide feedback"/>
          <p:cNvGrpSpPr/>
          <p:nvPr/>
        </p:nvGrpSpPr>
        <p:grpSpPr>
          <a:xfrm>
            <a:off x="502920" y="3867612"/>
            <a:ext cx="11186160" cy="731520"/>
            <a:chOff x="502920" y="3867612"/>
            <a:chExt cx="11186160" cy="731520"/>
          </a:xfrm>
        </p:grpSpPr>
        <p:sp>
          <p:nvSpPr>
            <p:cNvPr id="855" name="TEACH-move-card"/>
            <p:cNvSpPr/>
            <p:nvPr/>
          </p:nvSpPr>
          <p:spPr>
            <a:xfrm>
              <a:off x="502920" y="3867612"/>
              <a:ext cx="11186160" cy="731520"/>
            </a:xfrm>
            <a:prstGeom prst="roundRect">
              <a:avLst>
                <a:gd name="adj" fmla="val 16000"/>
              </a:avLst>
            </a:prstGeom>
            <a:solidFill>
              <a:srgbClr val="E4F0F5"/>
            </a:solidFill>
            <a:ln w="19050">
              <a:solidFill>
                <a:srgbClr val="8CB8C7"/>
              </a:solidFill>
            </a:ln>
          </p:spPr>
          <p:txBody>
            <a:bodyPr/>
            <a:lstStyle/>
            <a:p>
              <a:endParaRPr/>
            </a:p>
          </p:txBody>
        </p:sp>
        <p:sp>
          <p:nvSpPr>
            <p:cNvPr id="856" name="TEACH-move-rule"/>
            <p:cNvSpPr/>
            <p:nvPr/>
          </p:nvSpPr>
          <p:spPr>
            <a:xfrm>
              <a:off x="548640" y="4006601"/>
              <a:ext cx="100584" cy="453542"/>
            </a:xfrm>
            <a:prstGeom prst="roundRect">
              <a:avLst>
                <a:gd name="adj" fmla="val 50000"/>
              </a:avLst>
            </a:prstGeom>
            <a:solidFill>
              <a:srgbClr val="01708C"/>
            </a:solidFill>
            <a:ln>
              <a:noFill/>
            </a:ln>
          </p:spPr>
          <p:txBody>
            <a:bodyPr/>
            <a:lstStyle/>
            <a:p>
              <a:endParaRPr/>
            </a:p>
          </p:txBody>
        </p:sp>
        <p:sp>
          <p:nvSpPr>
            <p:cNvPr id="857" name="TEACH-move-text"/>
            <p:cNvSpPr txBox="1"/>
            <p:nvPr/>
          </p:nvSpPr>
          <p:spPr>
            <a:xfrm>
              <a:off x="822960" y="3867612"/>
              <a:ext cx="10728960" cy="731520"/>
            </a:xfrm>
            <a:prstGeom prst="rect">
              <a:avLst/>
            </a:prstGeom>
            <a:noFill/>
            <a:ln>
              <a:noFill/>
            </a:ln>
          </p:spPr>
          <p:txBody>
            <a:bodyPr wrap="square" lIns="0" tIns="0" rIns="0" bIns="0" anchor="ctr">
              <a:noAutofit/>
            </a:bodyPr>
            <a:lstStyle/>
            <a:p>
              <a:pPr algn="l">
                <a:buNone/>
              </a:pPr>
              <a:r>
                <a:rPr lang="en-US" sz="1800" b="1" dirty="0">
                  <a:solidFill>
                    <a:srgbClr val="01708C"/>
                  </a:solidFill>
                  <a:latin typeface="Arial"/>
                </a:rPr>
                <a:t>SELF-CHECK  ·  </a:t>
              </a:r>
              <a:r>
                <a:rPr lang="en-US" sz="1800" dirty="0">
                  <a:solidFill>
                    <a:srgbClr val="13303A"/>
                  </a:solidFill>
                  <a:latin typeface="Arial"/>
                </a:rPr>
                <a:t>Mark it: ✓ got it  ·  ~ almost  ·  ? stuck. Then fix one thing before we move on.</a:t>
              </a:r>
              <a:endParaRPr lang="en-US" sz="1800"/>
            </a:p>
          </p:txBody>
        </p:sp>
      </p:gr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7" name="Shape 877"/>
        <p:cNvGrpSpPr/>
        <p:nvPr/>
      </p:nvGrpSpPr>
      <p:grpSpPr>
        <a:xfrm>
          <a:off x="0" y="0"/>
          <a:ext cx="0" cy="0"/>
          <a:chOff x="0" y="0"/>
          <a:chExt cx="0" cy="0"/>
        </a:xfrm>
      </p:grpSpPr>
      <p:cxnSp>
        <p:nvCxnSpPr>
          <p:cNvPr id="878" name="Google Shape;878;p82"/>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879" name="Google Shape;879;p82"/>
          <p:cNvSpPr txBox="1"/>
          <p:nvPr/>
        </p:nvSpPr>
        <p:spPr>
          <a:xfrm>
            <a:off x="495068" y="936000"/>
            <a:ext cx="5053825" cy="334923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0" i="0" lang="en-US" sz="2800" u="none" cap="none" strike="noStrike">
                <a:solidFill>
                  <a:srgbClr val="23282D"/>
                </a:solidFill>
                <a:latin typeface="Arial"/>
                <a:ea typeface="Arial"/>
                <a:cs typeface="Arial"/>
                <a:sym typeface="Arial"/>
              </a:rPr>
              <a:t>The wall tile shown has the shape of a rhombus, a parallelogram with four equal sides. The dimensions of the tile are shown.</a:t>
            </a:r>
            <a:r>
              <a:rPr b="1" i="0" lang="en-US" sz="2800" u="none" cap="none" strike="noStrike">
                <a:solidFill>
                  <a:schemeClr val="dk2"/>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800"/>
              </a:spcBef>
              <a:spcAft>
                <a:spcPts val="0"/>
              </a:spcAft>
              <a:buClr>
                <a:srgbClr val="262626"/>
              </a:buClr>
              <a:buSzPts val="2800"/>
              <a:buFont typeface="Arial"/>
              <a:buNone/>
            </a:pPr>
            <a:r>
              <a:rPr b="1" i="0" lang="en-US" sz="2800" u="none" cap="none" strike="noStrike">
                <a:solidFill>
                  <a:srgbClr val="23282D"/>
                </a:solidFill>
                <a:latin typeface="Arial"/>
                <a:ea typeface="Arial"/>
                <a:cs typeface="Arial"/>
                <a:sym typeface="Arial"/>
              </a:rPr>
              <a:t>What is the area of the tile?</a:t>
            </a:r>
            <a:endParaRPr b="1" i="0" sz="2800" u="none" cap="none" strike="noStrike">
              <a:solidFill>
                <a:srgbClr val="262626"/>
              </a:solidFill>
              <a:latin typeface="Arial"/>
              <a:ea typeface="Arial"/>
              <a:cs typeface="Arial"/>
              <a:sym typeface="Arial"/>
            </a:endParaRPr>
          </a:p>
          <a:p>
            <a:pPr indent="0" lvl="0" marL="0" marR="0" rtl="0" algn="l">
              <a:lnSpc>
                <a:spcPct val="100000"/>
              </a:lnSpc>
              <a:spcBef>
                <a:spcPts val="1800"/>
              </a:spcBef>
              <a:spcAft>
                <a:spcPts val="0"/>
              </a:spcAft>
              <a:buClr>
                <a:schemeClr val="dk2"/>
              </a:buClr>
              <a:buSzPts val="2800"/>
              <a:buFont typeface="Arial"/>
              <a:buNone/>
            </a:pPr>
            <a:r>
              <a:t/>
            </a:r>
            <a:endParaRPr b="0" i="0" sz="2800" u="none" cap="none" strike="noStrike">
              <a:solidFill>
                <a:srgbClr val="262626"/>
              </a:solidFill>
              <a:latin typeface="Arial"/>
              <a:ea typeface="Arial"/>
              <a:cs typeface="Arial"/>
              <a:sym typeface="Arial"/>
            </a:endParaRPr>
          </a:p>
        </p:txBody>
      </p:sp>
      <p:sp>
        <p:nvSpPr>
          <p:cNvPr id="880" name="Google Shape;880;p82"/>
          <p:cNvSpPr txBox="1"/>
          <p:nvPr/>
        </p:nvSpPr>
        <p:spPr>
          <a:xfrm>
            <a:off x="484565" y="316034"/>
            <a:ext cx="4309377"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030A0"/>
              </a:buClr>
              <a:buSzPts val="2800"/>
              <a:buFont typeface="Arial"/>
              <a:buNone/>
            </a:pPr>
            <a:r>
              <a:rPr b="1" i="0" lang="en-US" sz="2800" u="none" cap="none" strike="noStrike">
                <a:solidFill>
                  <a:srgbClr val="782DA0"/>
                </a:solidFill>
                <a:latin typeface="Arial"/>
                <a:ea typeface="Arial"/>
                <a:cs typeface="Arial"/>
                <a:sym typeface="Arial"/>
              </a:rPr>
              <a:t>Tiling a Backsplash</a:t>
            </a:r>
            <a:endParaRPr b="0" i="0" sz="1400" u="none" cap="none" strike="noStrike">
              <a:solidFill>
                <a:srgbClr val="000000"/>
              </a:solidFill>
              <a:latin typeface="Arial"/>
              <a:ea typeface="Arial"/>
              <a:cs typeface="Arial"/>
              <a:sym typeface="Arial"/>
            </a:endParaRPr>
          </a:p>
        </p:txBody>
      </p:sp>
      <p:sp>
        <p:nvSpPr>
          <p:cNvPr id="881" name="Google Shape;881;p82"/>
          <p:cNvSpPr txBox="1"/>
          <p:nvPr/>
        </p:nvSpPr>
        <p:spPr>
          <a:xfrm>
            <a:off x="552218" y="5283422"/>
            <a:ext cx="11197822" cy="1030623"/>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lt1"/>
              </a:buClr>
              <a:buSzPts val="2800"/>
              <a:buFont typeface="Arial"/>
              <a:buNone/>
            </a:pPr>
            <a:r>
              <a:rPr b="1" i="0" lang="en-US" sz="2800" u="none" cap="none" strike="noStrike">
                <a:solidFill>
                  <a:schemeClr val="lt1"/>
                </a:solidFill>
                <a:highlight>
                  <a:srgbClr val="1E2682"/>
                </a:highlight>
                <a:latin typeface="Arial"/>
                <a:ea typeface="Arial"/>
                <a:cs typeface="Arial"/>
                <a:sym typeface="Arial"/>
              </a:rPr>
              <a:t> Think About It</a:t>
            </a:r>
            <a:r>
              <a:rPr b="1" i="0" lang="en-US" sz="2800" u="none" cap="none" strike="noStrike">
                <a:solidFill>
                  <a:srgbClr val="1E2682"/>
                </a:solidFill>
                <a:highlight>
                  <a:srgbClr val="1E2682"/>
                </a:highlight>
                <a:latin typeface="Arial"/>
                <a:ea typeface="Arial"/>
                <a:cs typeface="Arial"/>
                <a:sym typeface="Arial"/>
              </a:rPr>
              <a:t>:</a:t>
            </a:r>
            <a:r>
              <a:rPr b="1" i="0" lang="en-US" sz="2800" u="none" cap="none" strike="noStrike">
                <a:solidFill>
                  <a:schemeClr val="lt1"/>
                </a:solidFill>
                <a:highlight>
                  <a:srgbClr val="1E2682"/>
                </a:highlight>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chemeClr val="dk2"/>
              </a:buClr>
              <a:buSzPts val="2800"/>
              <a:buFont typeface="Arial"/>
              <a:buNone/>
            </a:pPr>
            <a:r>
              <a:t/>
            </a:r>
            <a:endParaRPr b="1" i="0" sz="2800" u="none" cap="none" strike="noStrike">
              <a:solidFill>
                <a:schemeClr val="lt1"/>
              </a:solidFill>
              <a:highlight>
                <a:srgbClr val="1E2682"/>
              </a:highlight>
              <a:latin typeface="Arial"/>
              <a:ea typeface="Arial"/>
              <a:cs typeface="Arial"/>
              <a:sym typeface="Arial"/>
            </a:endParaRPr>
          </a:p>
          <a:p>
            <a:pPr indent="0" lvl="0" marL="0" marR="0" rtl="0" algn="l">
              <a:lnSpc>
                <a:spcPct val="100000"/>
              </a:lnSpc>
              <a:spcBef>
                <a:spcPts val="600"/>
              </a:spcBef>
              <a:spcAft>
                <a:spcPts val="0"/>
              </a:spcAft>
              <a:buClr>
                <a:schemeClr val="dk2"/>
              </a:buClr>
              <a:buSzPts val="2800"/>
              <a:buFont typeface="Arial"/>
              <a:buNone/>
            </a:pPr>
            <a:r>
              <a:t/>
            </a:r>
            <a:endParaRPr b="0" i="0" sz="2800" u="none" cap="none" strike="noStrike">
              <a:solidFill>
                <a:srgbClr val="595959"/>
              </a:solidFill>
              <a:latin typeface="Arial"/>
              <a:ea typeface="Arial"/>
              <a:cs typeface="Arial"/>
              <a:sym typeface="Arial"/>
            </a:endParaRPr>
          </a:p>
        </p:txBody>
      </p:sp>
      <p:pic>
        <p:nvPicPr>
          <p:cNvPr id="882" name="Google Shape;882;p82"/>
          <p:cNvPicPr preferRelativeResize="0"/>
          <p:nvPr/>
        </p:nvPicPr>
        <p:blipFill rotWithShape="1">
          <a:blip r:embed="rId3">
            <a:alphaModFix/>
          </a:blip>
          <a:srcRect b="0" l="0" r="0" t="0"/>
          <a:stretch/>
        </p:blipFill>
        <p:spPr>
          <a:xfrm>
            <a:off x="5548893" y="1685925"/>
            <a:ext cx="6585957" cy="2520000"/>
          </a:xfrm>
          <a:prstGeom prst="rect">
            <a:avLst/>
          </a:prstGeom>
          <a:noFill/>
          <a:ln>
            <a:noFill/>
          </a:ln>
        </p:spPr>
      </p:pic>
      <p:sp>
        <p:nvSpPr>
          <p:cNvPr id="883"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45 / 66</a:t>
            </a:r>
          </a:p>
        </p:txBody>
      </p:sp>
      <p:sp xmlns:p="http://schemas.openxmlformats.org/presentationml/2006/main" xmlns:a="http://schemas.openxmlformats.org/drawingml/2006/main">
        <p:nvSpPr>
          <p:cNvPr id="884" name="TEACH-embedded-student-prompt" descr="Student thinking and response directions"/>
          <p:cNvSpPr txBox="1"/>
          <p:nvPr/>
        </p:nvSpPr>
        <p:spPr>
          <a:xfrm>
            <a:off x="594360" y="4626864"/>
            <a:ext cx="1109472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Think and record first. Which part of your work supports your answer?</a:t>
            </a:r>
            <a:endParaRPr lang="en-US" sz="2000"/>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6" name="Shape 886"/>
        <p:cNvGrpSpPr/>
        <p:nvPr/>
      </p:nvGrpSpPr>
      <p:grpSpPr>
        <a:xfrm>
          <a:off x="0" y="0"/>
          <a:ext cx="0" cy="0"/>
          <a:chOff x="0" y="0"/>
          <a:chExt cx="0" cy="0"/>
        </a:xfrm>
      </p:grpSpPr>
      <p:cxnSp>
        <p:nvCxnSpPr>
          <p:cNvPr id="887" name="Google Shape;887;p83"/>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888" name="Google Shape;888;p83"/>
          <p:cNvSpPr txBox="1"/>
          <p:nvPr/>
        </p:nvSpPr>
        <p:spPr>
          <a:xfrm>
            <a:off x="552218" y="4862798"/>
            <a:ext cx="11197822" cy="1030623"/>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lt1"/>
              </a:buClr>
              <a:buSzPts val="2800"/>
              <a:buFont typeface="Arial"/>
              <a:buNone/>
              <a:defRPr/>
            </a:pPr>
            <a:r>
              <a:rPr b="1" i="0" lang="en-US" sz="2800" u="none" cap="none" strike="noStrike">
                <a:solidFill>
                  <a:schemeClr val="lt1"/>
                </a:solidFill>
                <a:highlight>
                  <a:srgbClr val="1E2682"/>
                </a:highlight>
                <a:latin typeface="Arial"/>
                <a:ea typeface="Arial"/>
                <a:cs typeface="Arial"/>
                <a:sym typeface="Arial"/>
              </a:rPr>
              <a:t> Think About It</a:t>
            </a:r>
            <a:r>
              <a:rPr b="1" i="0" lang="en-US" sz="2800" u="none" cap="none" strike="noStrike">
                <a:solidFill>
                  <a:srgbClr val="1E2682"/>
                </a:solidFill>
                <a:highlight>
                  <a:srgbClr val="1E2682"/>
                </a:highlight>
                <a:latin typeface="Arial"/>
                <a:ea typeface="Arial"/>
                <a:cs typeface="Arial"/>
                <a:sym typeface="Arial"/>
              </a:rPr>
              <a:t>:</a:t>
            </a:r>
            <a:r>
              <a:rPr b="1" i="0" lang="en-US" sz="2800" u="none" cap="none" strike="noStrike">
                <a:solidFill>
                  <a:schemeClr val="lt1"/>
                </a:solidFill>
                <a:highlight>
                  <a:srgbClr val="1E2682"/>
                </a:highlight>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595959"/>
              </a:buClr>
              <a:buSzPts val="2800"/>
              <a:buFont typeface="Arial"/>
              <a:buNone/>
              <a:defRPr/>
            </a:pPr>
            <a:r>
              <a:rPr b="0" i="0" lang="en-US" sz="2800" u="none" cap="none" strike="noStrike">
                <a:solidFill>
                  <a:srgbClr val="595959"/>
                </a:solidFill>
                <a:latin typeface="Arial"/>
                <a:ea typeface="Arial"/>
                <a:cs typeface="Arial"/>
                <a:sym typeface="Arial"/>
              </a:rPr>
              <a:t>What attributes do a parallelogram and rhombus share?</a:t>
            </a:r>
            <a:endParaRPr b="0" i="0" sz="2800" u="none" cap="none" strike="noStrike">
              <a:solidFill>
                <a:srgbClr val="595959"/>
              </a:solidFill>
              <a:latin typeface="Arial"/>
              <a:ea typeface="Arial"/>
              <a:cs typeface="Arial"/>
              <a:sym typeface="Arial"/>
            </a:endParaRPr>
          </a:p>
          <a:p>
            <a:pPr indent="0" lvl="0" marL="0" marR="0" rtl="0" algn="l">
              <a:lnSpc>
                <a:spcPct val="100000"/>
              </a:lnSpc>
              <a:spcBef>
                <a:spcPts val="600"/>
              </a:spcBef>
              <a:spcAft>
                <a:spcPts val="0"/>
              </a:spcAft>
              <a:buClr>
                <a:schemeClr val="dk2"/>
              </a:buClr>
              <a:buSzPts val="2800"/>
              <a:buFont typeface="Arial"/>
              <a:buNone/>
              <a:defRPr/>
            </a:pPr>
            <a:r>
              <a:rPr/>
              <a:t/>
            </a:r>
            <a:endParaRPr b="1" i="0" sz="2800" u="none" cap="none" strike="noStrike">
              <a:solidFill>
                <a:schemeClr val="lt1"/>
              </a:solidFill>
              <a:highlight>
                <a:srgbClr val="1E2682"/>
              </a:highlight>
              <a:latin typeface="Arial"/>
              <a:ea typeface="Arial"/>
              <a:cs typeface="Arial"/>
              <a:sym typeface="Arial"/>
            </a:endParaRPr>
          </a:p>
          <a:p>
            <a:pPr indent="0" lvl="0" marL="0" marR="0" rtl="0" algn="l">
              <a:lnSpc>
                <a:spcPct val="100000"/>
              </a:lnSpc>
              <a:spcBef>
                <a:spcPts val="600"/>
              </a:spcBef>
              <a:spcAft>
                <a:spcPts val="0"/>
              </a:spcAft>
              <a:buClr>
                <a:schemeClr val="dk2"/>
              </a:buClr>
              <a:buSzPts val="2800"/>
              <a:buFont typeface="Arial"/>
              <a:buNone/>
              <a:defRPr/>
            </a:pPr>
            <a:r>
              <a:rPr/>
              <a:t/>
            </a:r>
            <a:endParaRPr b="0" i="0" sz="2800" u="none" cap="none" strike="noStrike">
              <a:solidFill>
                <a:srgbClr val="595959"/>
              </a:solidFill>
              <a:latin typeface="Arial"/>
              <a:ea typeface="Arial"/>
              <a:cs typeface="Arial"/>
              <a:sym typeface="Arial"/>
            </a:endParaRPr>
          </a:p>
        </p:txBody>
      </p:sp>
      <p:sp>
        <p:nvSpPr>
          <p:cNvPr id="889" name="Google Shape;889;p83"/>
          <p:cNvSpPr txBox="1"/>
          <p:nvPr/>
        </p:nvSpPr>
        <p:spPr>
          <a:xfrm>
            <a:off x="484565" y="316034"/>
            <a:ext cx="4309377"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030A0"/>
              </a:buClr>
              <a:buSzPts val="2800"/>
              <a:buFont typeface="Arial"/>
              <a:buNone/>
              <a:defRPr/>
            </a:pPr>
            <a:r>
              <a:rPr b="1" i="0" lang="en-US" sz="2800" u="none" cap="none" strike="noStrike">
                <a:solidFill>
                  <a:srgbClr val="782DA0"/>
                </a:solidFill>
                <a:latin typeface="Arial"/>
                <a:ea typeface="Arial"/>
                <a:cs typeface="Arial"/>
                <a:sym typeface="Arial"/>
              </a:rPr>
              <a:t>Tiling a Backsplash</a:t>
            </a:r>
            <a:endParaRPr b="0" i="0" sz="1400" u="none" cap="none" strike="noStrike">
              <a:solidFill>
                <a:srgbClr val="000000"/>
              </a:solidFill>
              <a:latin typeface="Arial"/>
              <a:ea typeface="Arial"/>
              <a:cs typeface="Arial"/>
              <a:sym typeface="Arial"/>
            </a:endParaRPr>
          </a:p>
        </p:txBody>
      </p:sp>
      <p:sp>
        <p:nvSpPr>
          <p:cNvPr id="890" name="Google Shape;890;p83"/>
          <p:cNvSpPr txBox="1"/>
          <p:nvPr/>
        </p:nvSpPr>
        <p:spPr>
          <a:xfrm>
            <a:off x="484565" y="936000"/>
            <a:ext cx="4896082" cy="334923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defRPr/>
            </a:pPr>
            <a:r>
              <a:rPr b="0" i="0" lang="en-US" sz="2800" u="none" cap="none" strike="noStrike">
                <a:solidFill>
                  <a:srgbClr val="23282D"/>
                </a:solidFill>
                <a:latin typeface="Arial"/>
                <a:ea typeface="Arial"/>
                <a:cs typeface="Arial"/>
                <a:sym typeface="Arial"/>
              </a:rPr>
              <a:t>The wall tile shown has the shape of a rhombus, a parallelogram with four equal sides. The dimensions of the tile are shown.</a:t>
            </a:r>
            <a:r>
              <a:rPr b="1" i="0" lang="en-US" sz="2800" u="none" cap="none" strike="noStrike">
                <a:solidFill>
                  <a:schemeClr val="dk2"/>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800"/>
              </a:spcBef>
              <a:spcAft>
                <a:spcPts val="0"/>
              </a:spcAft>
              <a:buClr>
                <a:srgbClr val="262626"/>
              </a:buClr>
              <a:buSzPts val="2800"/>
              <a:buFont typeface="Arial"/>
              <a:buNone/>
              <a:defRPr/>
            </a:pPr>
            <a:r>
              <a:rPr b="1" i="0" lang="en-US" sz="2800" u="none" cap="none" strike="noStrike">
                <a:solidFill>
                  <a:srgbClr val="23282D"/>
                </a:solidFill>
                <a:latin typeface="Arial"/>
                <a:ea typeface="Arial"/>
                <a:cs typeface="Arial"/>
                <a:sym typeface="Arial"/>
              </a:rPr>
              <a:t>What is the area of the tile?</a:t>
            </a:r>
            <a:endParaRPr b="1" i="0" sz="2800" u="none" cap="none" strike="noStrike">
              <a:solidFill>
                <a:srgbClr val="262626"/>
              </a:solidFill>
              <a:latin typeface="Arial"/>
              <a:ea typeface="Arial"/>
              <a:cs typeface="Arial"/>
              <a:sym typeface="Arial"/>
            </a:endParaRPr>
          </a:p>
          <a:p>
            <a:pPr indent="0" lvl="0" marL="0" marR="0" rtl="0" algn="l">
              <a:lnSpc>
                <a:spcPct val="100000"/>
              </a:lnSpc>
              <a:spcBef>
                <a:spcPts val="1800"/>
              </a:spcBef>
              <a:spcAft>
                <a:spcPts val="0"/>
              </a:spcAft>
              <a:buClr>
                <a:schemeClr val="dk2"/>
              </a:buClr>
              <a:buSzPts val="2800"/>
              <a:buFont typeface="Arial"/>
              <a:buNone/>
              <a:defRPr/>
            </a:pPr>
            <a:r>
              <a:rPr/>
              <a:t/>
            </a:r>
            <a:endParaRPr b="0" i="0" sz="2800" u="none" cap="none" strike="noStrike">
              <a:solidFill>
                <a:srgbClr val="262626"/>
              </a:solidFill>
              <a:latin typeface="Arial"/>
              <a:ea typeface="Arial"/>
              <a:cs typeface="Arial"/>
              <a:sym typeface="Arial"/>
            </a:endParaRPr>
          </a:p>
        </p:txBody>
      </p:sp>
      <p:pic>
        <p:nvPicPr>
          <p:cNvPr id="891" name="Google Shape;891;p83"/>
          <p:cNvPicPr preferRelativeResize="0"/>
          <p:nvPr/>
        </p:nvPicPr>
        <p:blipFill rotWithShape="1">
          <a:blip r:embed="rId3">
            <a:alphaModFix/>
          </a:blip>
          <a:srcRect b="0" l="0" r="0" t="0"/>
          <a:stretch/>
        </p:blipFill>
        <p:spPr>
          <a:xfrm>
            <a:off x="5548893" y="1685925"/>
            <a:ext cx="6585957" cy="2520000"/>
          </a:xfrm>
          <a:prstGeom prst="rect">
            <a:avLst/>
          </a:prstGeom>
          <a:noFill/>
          <a:ln>
            <a:noFill/>
          </a:ln>
        </p:spPr>
      </p:pic>
      <p:sp>
        <p:nvSpPr>
          <p:cNvPr id="892"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46 / 66</a:t>
            </a:r>
          </a:p>
        </p:txBody>
      </p:sp>
      <p:grpSp>
        <p:nvGrpSpPr>
          <p:cNvPr id="893" name="TEACH-2-student-move" descr="TEACH 2 · Use strategies and tasks to engage students in rigorous work"/>
          <p:cNvGrpSpPr/>
          <p:nvPr/>
        </p:nvGrpSpPr>
        <p:grpSpPr>
          <a:xfrm>
            <a:off x="502920" y="4423886"/>
            <a:ext cx="11186160" cy="402336"/>
            <a:chOff x="502920" y="4423886"/>
            <a:chExt cx="11186160" cy="402336"/>
          </a:xfrm>
        </p:grpSpPr>
        <p:sp>
          <p:nvSpPr>
            <p:cNvPr id="894" name="TEACH-move-card"/>
            <p:cNvSpPr/>
            <p:nvPr/>
          </p:nvSpPr>
          <p:spPr>
            <a:xfrm>
              <a:off x="502920" y="4423886"/>
              <a:ext cx="11186160" cy="402336"/>
            </a:xfrm>
            <a:prstGeom prst="roundRect">
              <a:avLst>
                <a:gd name="adj" fmla="val 16000"/>
              </a:avLst>
            </a:prstGeom>
            <a:solidFill>
              <a:srgbClr val="E4F0F5"/>
            </a:solidFill>
            <a:ln w="19050">
              <a:solidFill>
                <a:srgbClr val="8CB8C7"/>
              </a:solidFill>
            </a:ln>
          </p:spPr>
          <p:txBody>
            <a:bodyPr/>
            <a:lstStyle/>
            <a:p>
              <a:endParaRPr/>
            </a:p>
          </p:txBody>
        </p:sp>
        <p:sp>
          <p:nvSpPr>
            <p:cNvPr id="895" name="TEACH-move-rule"/>
            <p:cNvSpPr/>
            <p:nvPr/>
          </p:nvSpPr>
          <p:spPr>
            <a:xfrm>
              <a:off x="548640" y="4500330"/>
              <a:ext cx="100584" cy="249448"/>
            </a:xfrm>
            <a:prstGeom prst="roundRect">
              <a:avLst>
                <a:gd name="adj" fmla="val 50000"/>
              </a:avLst>
            </a:prstGeom>
            <a:solidFill>
              <a:srgbClr val="01708C"/>
            </a:solidFill>
            <a:ln>
              <a:noFill/>
            </a:ln>
          </p:spPr>
          <p:txBody>
            <a:bodyPr/>
            <a:lstStyle/>
            <a:p>
              <a:endParaRPr/>
            </a:p>
          </p:txBody>
        </p:sp>
        <p:sp>
          <p:nvSpPr>
            <p:cNvPr id="896" name="TEACH-move-text"/>
            <p:cNvSpPr txBox="1"/>
            <p:nvPr/>
          </p:nvSpPr>
          <p:spPr>
            <a:xfrm>
              <a:off x="822960" y="4423886"/>
              <a:ext cx="1072896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STRUGGLE FIRST  ·  </a:t>
              </a:r>
              <a:r>
                <a:rPr lang="en-US" sz="1200" dirty="0">
                  <a:solidFill>
                    <a:srgbClr val="13303A"/>
                  </a:solidFill>
                  <a:latin typeface="Arial"/>
                </a:rPr>
                <a:t>Work on your own first. Stuck is allowed — try a second strategy before you ask.</a:t>
              </a:r>
              <a:endParaRPr lang="en-US" sz="1200"/>
            </a:p>
          </p:txBody>
        </p:sp>
      </p:gr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4" name="Shape 904"/>
        <p:cNvGrpSpPr/>
        <p:nvPr/>
      </p:nvGrpSpPr>
      <p:grpSpPr>
        <a:xfrm>
          <a:off x="0" y="0"/>
          <a:ext cx="0" cy="0"/>
          <a:chOff x="0" y="0"/>
          <a:chExt cx="0" cy="0"/>
        </a:xfrm>
      </p:grpSpPr>
      <p:cxnSp>
        <p:nvCxnSpPr>
          <p:cNvPr id="905" name="Google Shape;905;p85"/>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906" name="Google Shape;906;p85"/>
          <p:cNvSpPr txBox="1"/>
          <p:nvPr/>
        </p:nvSpPr>
        <p:spPr>
          <a:xfrm>
            <a:off x="484566" y="936100"/>
            <a:ext cx="4973259" cy="194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1" i="0" lang="en-US" sz="2800" u="none" cap="none" strike="noStrike">
                <a:solidFill>
                  <a:srgbClr val="23282D"/>
                </a:solidFill>
                <a:latin typeface="Arial"/>
                <a:ea typeface="Arial"/>
                <a:cs typeface="Arial"/>
                <a:sym typeface="Arial"/>
              </a:rPr>
              <a:t>What do you notice about the line segments that are labeled as diagonals in the figure?</a:t>
            </a:r>
            <a:endParaRPr b="0" i="0" sz="1400" u="none" cap="none" strike="noStrike">
              <a:solidFill>
                <a:srgbClr val="000000"/>
              </a:solidFill>
              <a:latin typeface="Arial"/>
              <a:ea typeface="Arial"/>
              <a:cs typeface="Arial"/>
              <a:sym typeface="Arial"/>
            </a:endParaRPr>
          </a:p>
        </p:txBody>
      </p:sp>
      <p:sp>
        <p:nvSpPr>
          <p:cNvPr id="907" name="Google Shape;907;p85"/>
          <p:cNvSpPr txBox="1"/>
          <p:nvPr/>
        </p:nvSpPr>
        <p:spPr>
          <a:xfrm>
            <a:off x="531478" y="5270509"/>
            <a:ext cx="11300857" cy="113943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pPr>
            <a:r>
              <a:rPr b="1" i="0" lang="en-US" sz="2800" u="none" cap="none" strike="noStrike">
                <a:solidFill>
                  <a:srgbClr val="0070C0"/>
                </a:solidFill>
                <a:highlight>
                  <a:srgbClr val="E0E0E0"/>
                </a:highlight>
                <a:latin typeface="Arial"/>
                <a:ea typeface="Arial"/>
                <a:cs typeface="Arial"/>
                <a:sym typeface="Arial"/>
              </a:rPr>
              <a:t> Reveal</a:t>
            </a:r>
            <a:r>
              <a:rPr b="1" i="0" lang="en-US" sz="2800" u="none" cap="none" strike="noStrike">
                <a:solidFill>
                  <a:srgbClr val="E0E0E0"/>
                </a:solidFill>
                <a:highlight>
                  <a:srgbClr val="E0E0E0"/>
                </a:highlight>
                <a:latin typeface="Arial"/>
                <a:ea typeface="Arial"/>
                <a:cs typeface="Arial"/>
                <a:sym typeface="Arial"/>
              </a:rPr>
              <a:t>:</a:t>
            </a:r>
            <a:r>
              <a:rPr b="1" i="0" lang="en-US" sz="2800" u="none" cap="none" strike="noStrike">
                <a:solidFill>
                  <a:srgbClr val="0070C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595959"/>
              </a:buClr>
              <a:buSzPts val="2800"/>
              <a:buFont typeface="Arial"/>
              <a:buNone/>
            </a:pPr>
            <a:r>
              <a:rPr b="0" i="0" lang="en-US" sz="2800" u="none" cap="none" strike="noStrike">
                <a:solidFill>
                  <a:srgbClr val="595959"/>
                </a:solidFill>
                <a:latin typeface="Arial"/>
                <a:ea typeface="Arial"/>
                <a:cs typeface="Arial"/>
                <a:sym typeface="Arial"/>
              </a:rPr>
              <a:t>They connect two non-adjacent vertices of the rhombus.</a:t>
            </a:r>
            <a:endParaRPr b="0" i="0" sz="1400" u="none" cap="none" strike="noStrike">
              <a:solidFill>
                <a:srgbClr val="000000"/>
              </a:solidFill>
              <a:latin typeface="Arial"/>
              <a:ea typeface="Arial"/>
              <a:cs typeface="Arial"/>
              <a:sym typeface="Arial"/>
            </a:endParaRPr>
          </a:p>
        </p:txBody>
      </p:sp>
      <p:pic>
        <p:nvPicPr>
          <p:cNvPr id="908" name="Google Shape;908;p85"/>
          <p:cNvPicPr preferRelativeResize="0"/>
          <p:nvPr/>
        </p:nvPicPr>
        <p:blipFill rotWithShape="1">
          <a:blip r:embed="rId3">
            <a:alphaModFix/>
          </a:blip>
          <a:srcRect b="0" l="0" r="0" t="0"/>
          <a:stretch/>
        </p:blipFill>
        <p:spPr>
          <a:xfrm>
            <a:off x="5548893" y="1685925"/>
            <a:ext cx="6585957" cy="2520000"/>
          </a:xfrm>
          <a:prstGeom prst="rect">
            <a:avLst/>
          </a:prstGeom>
          <a:noFill/>
          <a:ln>
            <a:noFill/>
          </a:ln>
        </p:spPr>
      </p:pic>
      <p:sp>
        <p:nvSpPr>
          <p:cNvPr id="909" name="Google Shape;909;p85"/>
          <p:cNvSpPr txBox="1"/>
          <p:nvPr/>
        </p:nvSpPr>
        <p:spPr>
          <a:xfrm>
            <a:off x="484565" y="316034"/>
            <a:ext cx="4309377"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030A0"/>
              </a:buClr>
              <a:buSzPts val="2800"/>
              <a:buFont typeface="Arial"/>
              <a:buNone/>
            </a:pPr>
            <a:r>
              <a:rPr b="1" i="0" lang="en-US" sz="2800" u="none" cap="none" strike="noStrike">
                <a:solidFill>
                  <a:srgbClr val="782DA0"/>
                </a:solidFill>
                <a:latin typeface="Arial"/>
                <a:ea typeface="Arial"/>
                <a:cs typeface="Arial"/>
                <a:sym typeface="Arial"/>
              </a:rPr>
              <a:t>Tiling a Backsplash</a:t>
            </a:r>
            <a:endParaRPr b="0" i="0" sz="1400" u="none" cap="none" strike="noStrike">
              <a:solidFill>
                <a:srgbClr val="000000"/>
              </a:solidFill>
              <a:latin typeface="Arial"/>
              <a:ea typeface="Arial"/>
              <a:cs typeface="Arial"/>
              <a:sym typeface="Arial"/>
            </a:endParaRPr>
          </a:p>
        </p:txBody>
      </p:sp>
      <p:sp>
        <p:nvSpPr>
          <p:cNvPr id="910"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47 / 66</a:t>
            </a:r>
          </a:p>
        </p:txBody>
      </p:sp>
      <p:sp>
        <p:nvSpPr>
          <p:cNvPr id="911" name="EWL-COVER-1"/>
          <p:cNvSpPr/>
          <p:nvPr/>
        </p:nvSpPr>
        <p:spPr>
          <a:xfrm>
            <a:off x="476614" y="5215645"/>
            <a:ext cx="11410585" cy="1230875"/>
          </a:xfrm>
          <a:prstGeom prst="rect">
            <a:avLst/>
          </a:prstGeom>
          <a:solidFill>
            <a:srgbClr val="FFFFFF"/>
          </a:solidFill>
          <a:ln>
            <a:noFill/>
          </a:ln>
        </p:spPr>
        <p:txBody>
          <a:bodyPr/>
          <a:lstStyle/>
          <a:p/>
        </p:txBody>
      </p:sp>
      <p:sp xmlns:p="http://schemas.openxmlformats.org/presentationml/2006/main" xmlns:a="http://schemas.openxmlformats.org/drawingml/2006/main">
        <p:nvSpPr>
          <p:cNvPr id="912" name="TEACH-embedded-student-prompt" descr="Student thinking and response directions"/>
          <p:cNvSpPr txBox="1"/>
          <p:nvPr/>
        </p:nvSpPr>
        <p:spPr>
          <a:xfrm>
            <a:off x="594360" y="4626864"/>
            <a:ext cx="1109472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Record your reasoning before the reveal. Compare, then explain any revision.</a:t>
            </a:r>
            <a:endParaRPr lang="en-US" sz="20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911"/>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3" name="Shape 913"/>
        <p:cNvGrpSpPr/>
        <p:nvPr/>
      </p:nvGrpSpPr>
      <p:grpSpPr>
        <a:xfrm>
          <a:off x="0" y="0"/>
          <a:ext cx="0" cy="0"/>
          <a:chOff x="0" y="0"/>
          <a:chExt cx="0" cy="0"/>
        </a:xfrm>
      </p:grpSpPr>
      <p:cxnSp>
        <p:nvCxnSpPr>
          <p:cNvPr id="914" name="Google Shape;914;p86"/>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915" name="Google Shape;915;p86"/>
          <p:cNvSpPr txBox="1"/>
          <p:nvPr/>
        </p:nvSpPr>
        <p:spPr>
          <a:xfrm>
            <a:off x="484565" y="1027382"/>
            <a:ext cx="7192585" cy="254229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0" i="0" lang="en-US" sz="2800" u="none" cap="none" strike="noStrike">
                <a:solidFill>
                  <a:srgbClr val="23282D"/>
                </a:solidFill>
                <a:latin typeface="Arial"/>
                <a:ea typeface="Arial"/>
                <a:cs typeface="Arial"/>
                <a:sym typeface="Arial"/>
              </a:rPr>
              <a:t>A </a:t>
            </a:r>
            <a:r>
              <a:rPr b="1" i="0" lang="en-US" sz="2800" u="none" cap="none" strike="noStrike">
                <a:solidFill>
                  <a:srgbClr val="23282D"/>
                </a:solidFill>
                <a:highlight>
                  <a:srgbClr val="FFFF00"/>
                </a:highlight>
                <a:latin typeface="Arial"/>
                <a:ea typeface="Arial"/>
                <a:cs typeface="Arial"/>
                <a:sym typeface="Arial"/>
              </a:rPr>
              <a:t>diagonal</a:t>
            </a:r>
            <a:r>
              <a:rPr b="0" i="0" lang="en-US" sz="2800" u="none" cap="none" strike="noStrike">
                <a:solidFill>
                  <a:srgbClr val="23282D"/>
                </a:solidFill>
                <a:latin typeface="Arial"/>
                <a:ea typeface="Arial"/>
                <a:cs typeface="Arial"/>
                <a:sym typeface="Arial"/>
              </a:rPr>
              <a:t> is a line segment that connects two nonconsecutive vertices of a polygon.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800"/>
              </a:spcBef>
              <a:spcAft>
                <a:spcPts val="0"/>
              </a:spcAft>
              <a:buClr>
                <a:srgbClr val="262626"/>
              </a:buClr>
              <a:buSzPts val="2800"/>
              <a:buFont typeface="Arial"/>
              <a:buNone/>
            </a:pPr>
            <a:r>
              <a:rPr b="0" i="0" lang="en-US" sz="2800" u="none" cap="none" strike="noStrike">
                <a:solidFill>
                  <a:srgbClr val="23282D"/>
                </a:solidFill>
                <a:latin typeface="Arial"/>
                <a:ea typeface="Arial"/>
                <a:cs typeface="Arial"/>
                <a:sym typeface="Arial"/>
              </a:rPr>
              <a:t>The diagonals of a rhombus divide one another into two equal parts and are perpendicular to each other.</a:t>
            </a:r>
            <a:endParaRPr b="0" i="0" sz="1400" u="none" cap="none" strike="noStrike">
              <a:solidFill>
                <a:srgbClr val="000000"/>
              </a:solidFill>
              <a:latin typeface="Arial"/>
              <a:ea typeface="Arial"/>
              <a:cs typeface="Arial"/>
              <a:sym typeface="Arial"/>
            </a:endParaRPr>
          </a:p>
        </p:txBody>
      </p:sp>
      <p:pic>
        <p:nvPicPr>
          <p:cNvPr id="916" name="Google Shape;916;p86"/>
          <p:cNvPicPr preferRelativeResize="0"/>
          <p:nvPr/>
        </p:nvPicPr>
        <p:blipFill rotWithShape="1">
          <a:blip r:embed="rId3">
            <a:alphaModFix/>
          </a:blip>
          <a:srcRect b="0" l="0" r="0" t="0"/>
          <a:stretch/>
        </p:blipFill>
        <p:spPr>
          <a:xfrm>
            <a:off x="7881937" y="1644437"/>
            <a:ext cx="3838575" cy="3409950"/>
          </a:xfrm>
          <a:prstGeom prst="rect">
            <a:avLst/>
          </a:prstGeom>
          <a:noFill/>
          <a:ln>
            <a:noFill/>
          </a:ln>
        </p:spPr>
      </p:pic>
      <p:sp>
        <p:nvSpPr>
          <p:cNvPr id="917" name="Google Shape;917;p86"/>
          <p:cNvSpPr txBox="1"/>
          <p:nvPr/>
        </p:nvSpPr>
        <p:spPr>
          <a:xfrm>
            <a:off x="484565" y="316034"/>
            <a:ext cx="4309377"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030A0"/>
              </a:buClr>
              <a:buSzPts val="2800"/>
              <a:buFont typeface="Arial"/>
              <a:buNone/>
            </a:pPr>
            <a:r>
              <a:rPr b="1" i="0" lang="en-US" sz="2800" u="none" cap="none" strike="noStrike">
                <a:solidFill>
                  <a:srgbClr val="782DA0"/>
                </a:solidFill>
                <a:latin typeface="Arial"/>
                <a:ea typeface="Arial"/>
                <a:cs typeface="Arial"/>
                <a:sym typeface="Arial"/>
              </a:rPr>
              <a:t>Tiling a Backsplash</a:t>
            </a:r>
            <a:endParaRPr b="0" i="0" sz="1400" u="none" cap="none" strike="noStrike">
              <a:solidFill>
                <a:srgbClr val="000000"/>
              </a:solidFill>
              <a:latin typeface="Arial"/>
              <a:ea typeface="Arial"/>
              <a:cs typeface="Arial"/>
              <a:sym typeface="Arial"/>
            </a:endParaRPr>
          </a:p>
        </p:txBody>
      </p:sp>
      <p:sp>
        <p:nvSpPr>
          <p:cNvPr id="918"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48 / 66</a:t>
            </a:r>
          </a:p>
        </p:txBody>
      </p:sp>
      <p:sp xmlns:p="http://schemas.openxmlformats.org/presentationml/2006/main" xmlns:a="http://schemas.openxmlformats.org/drawingml/2006/main">
        <p:nvSpPr>
          <p:cNvPr id="919" name="TEACH-embedded-student-prompt" descr="Student thinking and response directions"/>
          <p:cNvSpPr txBox="1"/>
          <p:nvPr/>
        </p:nvSpPr>
        <p:spPr>
          <a:xfrm>
            <a:off x="594360" y="5815584"/>
            <a:ext cx="1109472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Explain how the information shown supports your reasoning.</a:t>
            </a:r>
            <a:endParaRPr lang="en-US" sz="2000"/>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1" name="Shape 931"/>
        <p:cNvGrpSpPr/>
        <p:nvPr/>
      </p:nvGrpSpPr>
      <p:grpSpPr>
        <a:xfrm>
          <a:off x="0" y="0"/>
          <a:ext cx="0" cy="0"/>
          <a:chOff x="0" y="0"/>
          <a:chExt cx="0" cy="0"/>
        </a:xfrm>
      </p:grpSpPr>
      <p:cxnSp>
        <p:nvCxnSpPr>
          <p:cNvPr id="932" name="Google Shape;932;p88"/>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933" name="Google Shape;933;p88"/>
          <p:cNvSpPr txBox="1"/>
          <p:nvPr/>
        </p:nvSpPr>
        <p:spPr>
          <a:xfrm>
            <a:off x="531478" y="4886461"/>
            <a:ext cx="11300857" cy="1523483"/>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pPr>
            <a:r>
              <a:rPr b="1" i="0" lang="en-US" sz="2800" u="none" cap="none" strike="noStrike">
                <a:solidFill>
                  <a:srgbClr val="0070C0"/>
                </a:solidFill>
                <a:highlight>
                  <a:srgbClr val="E0E0E0"/>
                </a:highlight>
                <a:latin typeface="Arial"/>
                <a:ea typeface="Arial"/>
                <a:cs typeface="Arial"/>
                <a:sym typeface="Arial"/>
              </a:rPr>
              <a:t> Reveal</a:t>
            </a:r>
            <a:r>
              <a:rPr b="1" i="0" lang="en-US" sz="2800" u="none" cap="none" strike="noStrike">
                <a:solidFill>
                  <a:srgbClr val="E0E0E0"/>
                </a:solidFill>
                <a:highlight>
                  <a:srgbClr val="E0E0E0"/>
                </a:highlight>
                <a:latin typeface="Arial"/>
                <a:ea typeface="Arial"/>
                <a:cs typeface="Arial"/>
                <a:sym typeface="Arial"/>
              </a:rPr>
              <a:t>:</a:t>
            </a:r>
            <a:r>
              <a:rPr b="1" i="0" lang="en-US" sz="2800" u="none" cap="none" strike="noStrike">
                <a:solidFill>
                  <a:srgbClr val="0070C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595959"/>
              </a:buClr>
              <a:buSzPts val="2800"/>
              <a:buFont typeface="Arial"/>
              <a:buNone/>
            </a:pPr>
            <a:r>
              <a:rPr b="0" i="0" lang="en-US" sz="2800" u="none" cap="none" strike="noStrike">
                <a:solidFill>
                  <a:srgbClr val="595959"/>
                </a:solidFill>
                <a:latin typeface="Arial"/>
                <a:ea typeface="Arial"/>
                <a:cs typeface="Arial"/>
                <a:sym typeface="Arial"/>
              </a:rPr>
              <a:t>The diagonals make 4 congruent right triangles. I can combine them to create an 8-centimeter by 12-centimeter rectangle.</a:t>
            </a:r>
            <a:endParaRPr b="0" i="0" sz="1400" u="none" cap="none" strike="noStrike">
              <a:solidFill>
                <a:srgbClr val="000000"/>
              </a:solidFill>
              <a:latin typeface="Arial"/>
              <a:ea typeface="Arial"/>
              <a:cs typeface="Arial"/>
              <a:sym typeface="Arial"/>
            </a:endParaRPr>
          </a:p>
        </p:txBody>
      </p:sp>
      <p:sp>
        <p:nvSpPr>
          <p:cNvPr id="934" name="Google Shape;934;p88"/>
          <p:cNvSpPr txBox="1"/>
          <p:nvPr/>
        </p:nvSpPr>
        <p:spPr>
          <a:xfrm>
            <a:off x="953847" y="522385"/>
            <a:ext cx="5338818"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030A0"/>
              </a:buClr>
              <a:buSzPts val="2800"/>
              <a:buFont typeface="Arial"/>
              <a:buNone/>
            </a:pPr>
            <a:r>
              <a:rPr b="1" i="0" lang="en-US" sz="2800" u="none" cap="none" strike="noStrike">
                <a:solidFill>
                  <a:srgbClr val="782DA0"/>
                </a:solidFill>
                <a:latin typeface="Arial"/>
                <a:ea typeface="Arial"/>
                <a:cs typeface="Arial"/>
                <a:sym typeface="Arial"/>
              </a:rPr>
              <a:t>Collaborate and Connect</a:t>
            </a:r>
            <a:endParaRPr b="1" i="0" sz="1500" u="none" cap="none" strike="noStrike">
              <a:solidFill>
                <a:srgbClr val="7030A0"/>
              </a:solidFill>
              <a:latin typeface="Arial"/>
              <a:ea typeface="Arial"/>
              <a:cs typeface="Arial"/>
              <a:sym typeface="Arial"/>
            </a:endParaRPr>
          </a:p>
        </p:txBody>
      </p:sp>
      <p:pic>
        <p:nvPicPr>
          <p:cNvPr id="935" name="Google Shape;935;p88"/>
          <p:cNvPicPr preferRelativeResize="0"/>
          <p:nvPr/>
        </p:nvPicPr>
        <p:blipFill rotWithShape="1">
          <a:blip r:embed="rId3">
            <a:alphaModFix/>
          </a:blip>
          <a:srcRect b="0" l="0" r="0" t="0"/>
          <a:stretch/>
        </p:blipFill>
        <p:spPr>
          <a:xfrm>
            <a:off x="543714" y="588718"/>
            <a:ext cx="353635" cy="340537"/>
          </a:xfrm>
          <a:prstGeom prst="rect">
            <a:avLst/>
          </a:prstGeom>
          <a:noFill/>
          <a:ln>
            <a:noFill/>
          </a:ln>
        </p:spPr>
      </p:pic>
      <p:sp>
        <p:nvSpPr>
          <p:cNvPr id="936" name="Google Shape;936;p88"/>
          <p:cNvSpPr txBox="1"/>
          <p:nvPr/>
        </p:nvSpPr>
        <p:spPr>
          <a:xfrm>
            <a:off x="531478" y="1180426"/>
            <a:ext cx="7149949" cy="1255043"/>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1" i="0" lang="en-US" sz="2800" u="none" cap="none" strike="noStrike">
                <a:solidFill>
                  <a:srgbClr val="23282D"/>
                </a:solidFill>
                <a:latin typeface="Arial"/>
                <a:ea typeface="Arial"/>
                <a:cs typeface="Arial"/>
                <a:sym typeface="Arial"/>
              </a:rPr>
              <a:t>How can you use the diagonals to compose the rhombus into a rectangle?</a:t>
            </a:r>
            <a:endParaRPr b="0" i="0" sz="1400" u="none" cap="none" strike="noStrike">
              <a:solidFill>
                <a:srgbClr val="000000"/>
              </a:solidFill>
              <a:latin typeface="Arial"/>
              <a:ea typeface="Arial"/>
              <a:cs typeface="Arial"/>
              <a:sym typeface="Arial"/>
            </a:endParaRPr>
          </a:p>
        </p:txBody>
      </p:sp>
      <p:pic>
        <p:nvPicPr>
          <p:cNvPr id="937" name="Google Shape;937;p88"/>
          <p:cNvPicPr preferRelativeResize="0"/>
          <p:nvPr/>
        </p:nvPicPr>
        <p:blipFill rotWithShape="1">
          <a:blip r:embed="rId4">
            <a:alphaModFix/>
          </a:blip>
          <a:srcRect b="0" l="0" r="0" t="0"/>
          <a:stretch/>
        </p:blipFill>
        <p:spPr>
          <a:xfrm>
            <a:off x="7881937" y="1644437"/>
            <a:ext cx="3838575" cy="3409950"/>
          </a:xfrm>
          <a:prstGeom prst="rect">
            <a:avLst/>
          </a:prstGeom>
          <a:noFill/>
          <a:ln>
            <a:noFill/>
          </a:ln>
        </p:spPr>
      </p:pic>
      <p:sp>
        <p:nvSpPr>
          <p:cNvPr id="938"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49 / 66</a:t>
            </a:r>
          </a:p>
        </p:txBody>
      </p:sp>
      <p:sp>
        <p:nvSpPr>
          <p:cNvPr id="939" name="EWL-COVER-1"/>
          <p:cNvSpPr/>
          <p:nvPr/>
        </p:nvSpPr>
        <p:spPr>
          <a:xfrm>
            <a:off x="476614" y="4831597"/>
            <a:ext cx="11410585" cy="1614923"/>
          </a:xfrm>
          <a:prstGeom prst="rect">
            <a:avLst/>
          </a:prstGeom>
          <a:solidFill>
            <a:srgbClr val="FFFFFF"/>
          </a:solidFill>
          <a:ln>
            <a:noFill/>
          </a:ln>
        </p:spPr>
        <p:txBody>
          <a:bodyPr/>
          <a:lstStyle/>
          <a:p/>
        </p:txBody>
      </p:sp>
      <p:sp>
        <p:nvSpPr>
          <p:cNvPr id="940" name="EWL-Routine"/>
          <p:cNvSpPr>
            <a:spLocks noGrp="1"/>
          </p:cNvSpPr>
          <p:nvPr/>
        </p:nvSpPr>
        <p:spPr>
          <a:xfrm>
            <a:off x="502920" y="54864"/>
            <a:ext cx="6035040" cy="237744"/>
          </a:xfrm>
          <a:prstGeom prst="rect">
            <a:avLst/>
          </a:prstGeom>
          <a:noFill/>
        </p:spPr>
        <p:txBody>
          <a:bodyPr lIns="0" rIns="0" tIns="0" bIns="0" wrap="square" anchor="ctr">
            <a:noAutofit/>
          </a:bodyPr>
          <a:lstStyle/>
          <a:p>
            <a:pPr algn="l"/>
            <a:r>
              <a:rPr lang="en-US" sz="1200" b="1">
                <a:solidFill>
                  <a:srgbClr val="1E2682"/>
                </a:solidFill>
                <a:latin typeface="Arial"/>
              </a:rPr>
              <a:t>COLLABORATE</a:t>
            </a:r>
            <a:r>
              <a:rPr lang="en-US" sz="1200" b="1">
                <a:solidFill>
                  <a:srgbClr val="5D6872"/>
                </a:solidFill>
                <a:latin typeface="Arial"/>
              </a:rPr>
              <a:t>  ·  TALK IT THROUGH • AGREE ON A MODEL</a:t>
            </a:r>
          </a:p>
        </p:txBody>
      </p:sp>
      <p:sp xmlns:p="http://schemas.openxmlformats.org/presentationml/2006/main" xmlns:a="http://schemas.openxmlformats.org/drawingml/2006/main">
        <p:nvSpPr>
          <p:cNvPr id="941" name="TEACH-embedded-student-prompt" descr="Student thinking and response directions"/>
          <p:cNvSpPr txBox="1"/>
          <p:nvPr/>
        </p:nvSpPr>
        <p:spPr>
          <a:xfrm>
            <a:off x="594360" y="3950208"/>
            <a:ext cx="5486400" cy="768096"/>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Think first. A explains; B asks for evidence.</a:t>
            </a:r>
            <a:endParaRPr lang="en-US" sz="2000"/>
          </a:p>
          <a:p>
            <a:pPr>
              <a:lnSpc>
                <a:spcPts val="2400"/>
              </a:lnSpc>
              <a:buNone/>
            </a:pPr>
            <a:r>
              <a:rPr lang="en-US" sz="2000">
                <a:solidFill>
                  <a:srgbClr val="174D60"/>
                </a:solidFill>
                <a:latin typeface="Arial"/>
              </a:rPr>
              <a:t>Switch roles; both revise.</a:t>
            </a:r>
            <a:endParaRPr lang="en-US" sz="20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93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0" name="Shape 950"/>
        <p:cNvGrpSpPr/>
        <p:nvPr/>
      </p:nvGrpSpPr>
      <p:grpSpPr>
        <a:xfrm>
          <a:off x="0" y="0"/>
          <a:ext cx="0" cy="0"/>
          <a:chOff x="0" y="0"/>
          <a:chExt cx="0" cy="0"/>
        </a:xfrm>
      </p:grpSpPr>
      <p:cxnSp>
        <p:nvCxnSpPr>
          <p:cNvPr id="951" name="Google Shape;951;p90"/>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952" name="Google Shape;952;p90"/>
          <p:cNvSpPr txBox="1"/>
          <p:nvPr/>
        </p:nvSpPr>
        <p:spPr>
          <a:xfrm>
            <a:off x="531478" y="5270510"/>
            <a:ext cx="11300857" cy="1142478"/>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defRPr/>
            </a:pPr>
            <a:r>
              <a:rPr b="1" i="0" lang="en-US" sz="2800" u="none" cap="none" strike="noStrike">
                <a:solidFill>
                  <a:srgbClr val="0070C0"/>
                </a:solidFill>
                <a:highlight>
                  <a:srgbClr val="E0E0E0"/>
                </a:highlight>
                <a:latin typeface="Arial"/>
                <a:ea typeface="Arial"/>
                <a:cs typeface="Arial"/>
                <a:sym typeface="Arial"/>
              </a:rPr>
              <a:t> Reveal</a:t>
            </a:r>
            <a:r>
              <a:rPr b="1" i="0" lang="en-US" sz="2800" u="none" cap="none" strike="noStrike">
                <a:solidFill>
                  <a:srgbClr val="E0E0E0"/>
                </a:solidFill>
                <a:highlight>
                  <a:srgbClr val="E0E0E0"/>
                </a:highlight>
                <a:latin typeface="Arial"/>
                <a:ea typeface="Arial"/>
                <a:cs typeface="Arial"/>
                <a:sym typeface="Arial"/>
              </a:rPr>
              <a:t>:</a:t>
            </a:r>
            <a:r>
              <a:rPr b="1" i="0" lang="en-US" sz="2800" u="none" cap="none" strike="noStrike">
                <a:solidFill>
                  <a:srgbClr val="0070C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595959"/>
              </a:buClr>
              <a:buSzPts val="2800"/>
              <a:buFont typeface="Arial"/>
              <a:buNone/>
              <a:defRPr/>
            </a:pPr>
            <a:r>
              <a:rPr b="0" i="0" lang="en-US" sz="2800" u="none" cap="none" strike="noStrike">
                <a:solidFill>
                  <a:srgbClr val="595959"/>
                </a:solidFill>
                <a:latin typeface="Arial"/>
                <a:ea typeface="Arial"/>
                <a:cs typeface="Arial"/>
                <a:sym typeface="Arial"/>
              </a:rPr>
              <a:t>We can apply the area formula for rectangles.</a:t>
            </a:r>
            <a:endParaRPr b="0" i="0" sz="1400" u="none" cap="none" strike="noStrike">
              <a:solidFill>
                <a:srgbClr val="000000"/>
              </a:solidFill>
              <a:latin typeface="Arial"/>
              <a:ea typeface="Arial"/>
              <a:cs typeface="Arial"/>
              <a:sym typeface="Arial"/>
            </a:endParaRPr>
          </a:p>
        </p:txBody>
      </p:sp>
      <p:sp>
        <p:nvSpPr>
          <p:cNvPr id="953" name="Google Shape;953;p90"/>
          <p:cNvSpPr txBox="1"/>
          <p:nvPr/>
        </p:nvSpPr>
        <p:spPr>
          <a:xfrm>
            <a:off x="484566" y="936100"/>
            <a:ext cx="5411410" cy="3911108"/>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defRPr/>
            </a:pPr>
            <a:r>
              <a:rPr b="0" i="0" lang="en-US" sz="2800" u="none" cap="none" strike="noStrike">
                <a:solidFill>
                  <a:srgbClr val="23282D"/>
                </a:solidFill>
                <a:latin typeface="Arial"/>
                <a:ea typeface="Arial"/>
                <a:cs typeface="Arial"/>
                <a:sym typeface="Arial"/>
              </a:rPr>
              <a:t>The diagonals make 4 congruent right triangles. Combine them to create an 8-centimeter by 12-centimeter rectangle.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800"/>
              </a:spcBef>
              <a:spcAft>
                <a:spcPts val="0"/>
              </a:spcAft>
              <a:buClr>
                <a:srgbClr val="262626"/>
              </a:buClr>
              <a:buSzPts val="2800"/>
              <a:buFont typeface="Arial"/>
              <a:buNone/>
              <a:defRPr/>
            </a:pPr>
            <a:r>
              <a:rPr b="1" i="0" lang="en-US" sz="2800" u="none" cap="none" strike="noStrike">
                <a:solidFill>
                  <a:srgbClr val="23282D"/>
                </a:solidFill>
                <a:latin typeface="Arial"/>
                <a:ea typeface="Arial"/>
                <a:cs typeface="Arial"/>
                <a:sym typeface="Arial"/>
              </a:rPr>
              <a:t>How can you find the area of the resulting rectangle?</a:t>
            </a:r>
            <a:endParaRPr b="0" i="0" sz="1400" u="none" cap="none" strike="noStrike">
              <a:solidFill>
                <a:srgbClr val="000000"/>
              </a:solidFill>
              <a:latin typeface="Arial"/>
              <a:ea typeface="Arial"/>
              <a:cs typeface="Arial"/>
              <a:sym typeface="Arial"/>
            </a:endParaRPr>
          </a:p>
        </p:txBody>
      </p:sp>
      <p:pic>
        <p:nvPicPr>
          <p:cNvPr id="954" name="Google Shape;954;p90"/>
          <p:cNvPicPr preferRelativeResize="0"/>
          <p:nvPr/>
        </p:nvPicPr>
        <p:blipFill rotWithShape="1">
          <a:blip r:embed="rId3">
            <a:alphaModFix/>
          </a:blip>
          <a:srcRect b="0" l="0" r="0" t="0"/>
          <a:stretch/>
        </p:blipFill>
        <p:spPr>
          <a:xfrm>
            <a:off x="6057900" y="1638859"/>
            <a:ext cx="6016010" cy="3420000"/>
          </a:xfrm>
          <a:prstGeom prst="rect">
            <a:avLst/>
          </a:prstGeom>
          <a:noFill/>
          <a:ln>
            <a:noFill/>
          </a:ln>
        </p:spPr>
      </p:pic>
      <p:sp>
        <p:nvSpPr>
          <p:cNvPr id="955" name="Google Shape;955;p90"/>
          <p:cNvSpPr txBox="1"/>
          <p:nvPr/>
        </p:nvSpPr>
        <p:spPr>
          <a:xfrm>
            <a:off x="484565" y="316034"/>
            <a:ext cx="4309377"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030A0"/>
              </a:buClr>
              <a:buSzPts val="2800"/>
              <a:buFont typeface="Arial"/>
              <a:buNone/>
              <a:defRPr/>
            </a:pPr>
            <a:r>
              <a:rPr b="1" i="0" lang="en-US" sz="2800" u="none" cap="none" strike="noStrike">
                <a:solidFill>
                  <a:srgbClr val="782DA0"/>
                </a:solidFill>
                <a:latin typeface="Arial"/>
                <a:ea typeface="Arial"/>
                <a:cs typeface="Arial"/>
                <a:sym typeface="Arial"/>
              </a:rPr>
              <a:t>Tiling a Backsplash</a:t>
            </a:r>
            <a:endParaRPr b="0" i="0" sz="1400" u="none" cap="none" strike="noStrike">
              <a:solidFill>
                <a:srgbClr val="000000"/>
              </a:solidFill>
              <a:latin typeface="Arial"/>
              <a:ea typeface="Arial"/>
              <a:cs typeface="Arial"/>
              <a:sym typeface="Arial"/>
            </a:endParaRPr>
          </a:p>
        </p:txBody>
      </p:sp>
      <p:sp>
        <p:nvSpPr>
          <p:cNvPr id="956"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50 / 66</a:t>
            </a:r>
          </a:p>
        </p:txBody>
      </p:sp>
      <p:sp>
        <p:nvSpPr>
          <p:cNvPr id="957" name="EWL-COVER-1"/>
          <p:cNvSpPr/>
          <p:nvPr/>
        </p:nvSpPr>
        <p:spPr>
          <a:xfrm>
            <a:off x="476614" y="5215646"/>
            <a:ext cx="11410585" cy="1230874"/>
          </a:xfrm>
          <a:prstGeom prst="rect">
            <a:avLst/>
          </a:prstGeom>
          <a:solidFill>
            <a:srgbClr val="FFFFFF"/>
          </a:solidFill>
          <a:ln>
            <a:noFill/>
          </a:ln>
        </p:spPr>
        <p:txBody>
          <a:bodyPr/>
          <a:lstStyle/>
          <a:p/>
        </p:txBody>
      </p:sp>
      <p:grpSp>
        <p:nvGrpSpPr>
          <p:cNvPr id="958" name="TEACH-3-student-move" descr="TEACH 3 · Use intentional questioning to deepen learning"/>
          <p:cNvGrpSpPr/>
          <p:nvPr/>
        </p:nvGrpSpPr>
        <p:grpSpPr>
          <a:xfrm>
            <a:off x="6187440" y="962203"/>
            <a:ext cx="5501640" cy="594360"/>
            <a:chOff x="6187440" y="962203"/>
            <a:chExt cx="5501640" cy="594360"/>
          </a:xfrm>
        </p:grpSpPr>
        <p:sp>
          <p:nvSpPr>
            <p:cNvPr id="959" name="TEACH-move-card"/>
            <p:cNvSpPr/>
            <p:nvPr/>
          </p:nvSpPr>
          <p:spPr>
            <a:xfrm>
              <a:off x="6187440" y="962203"/>
              <a:ext cx="5501640" cy="594360"/>
            </a:xfrm>
            <a:prstGeom prst="roundRect">
              <a:avLst>
                <a:gd name="adj" fmla="val 16000"/>
              </a:avLst>
            </a:prstGeom>
            <a:solidFill>
              <a:srgbClr val="E4F0F5"/>
            </a:solidFill>
            <a:ln w="19050">
              <a:solidFill>
                <a:srgbClr val="8CB8C7"/>
              </a:solidFill>
            </a:ln>
          </p:spPr>
          <p:txBody>
            <a:bodyPr/>
            <a:lstStyle/>
            <a:p>
              <a:endParaRPr/>
            </a:p>
          </p:txBody>
        </p:sp>
        <p:sp>
          <p:nvSpPr>
            <p:cNvPr id="960" name="TEACH-move-rule"/>
            <p:cNvSpPr/>
            <p:nvPr/>
          </p:nvSpPr>
          <p:spPr>
            <a:xfrm>
              <a:off x="6233160" y="1075131"/>
              <a:ext cx="100584" cy="368504"/>
            </a:xfrm>
            <a:prstGeom prst="roundRect">
              <a:avLst>
                <a:gd name="adj" fmla="val 50000"/>
              </a:avLst>
            </a:prstGeom>
            <a:solidFill>
              <a:srgbClr val="01708C"/>
            </a:solidFill>
            <a:ln>
              <a:noFill/>
            </a:ln>
          </p:spPr>
          <p:txBody>
            <a:bodyPr/>
            <a:lstStyle/>
            <a:p>
              <a:endParaRPr/>
            </a:p>
          </p:txBody>
        </p:sp>
        <p:sp>
          <p:nvSpPr>
            <p:cNvPr id="961" name="TEACH-move-text"/>
            <p:cNvSpPr txBox="1"/>
            <p:nvPr/>
          </p:nvSpPr>
          <p:spPr>
            <a:xfrm>
              <a:off x="6507480" y="962203"/>
              <a:ext cx="5044440" cy="594360"/>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ASK THE CLASS  ·  </a:t>
              </a:r>
              <a:r>
                <a:rPr lang="en-US" sz="1200" dirty="0">
                  <a:solidFill>
                    <a:srgbClr val="13303A"/>
                  </a:solidFill>
                  <a:latin typeface="Arial"/>
                </a:rPr>
                <a:t>Write one question about this that you could ask the class.</a:t>
              </a:r>
              <a:endParaRPr lang="en-US" sz="1200"/>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95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2" name="Shape 972"/>
        <p:cNvGrpSpPr/>
        <p:nvPr/>
      </p:nvGrpSpPr>
      <p:grpSpPr>
        <a:xfrm>
          <a:off x="0" y="0"/>
          <a:ext cx="0" cy="0"/>
          <a:chOff x="0" y="0"/>
          <a:chExt cx="0" cy="0"/>
        </a:xfrm>
      </p:grpSpPr>
      <p:cxnSp>
        <p:nvCxnSpPr>
          <p:cNvPr id="973" name="Google Shape;973;p92"/>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974" name="Google Shape;974;p92"/>
          <p:cNvSpPr txBox="1"/>
          <p:nvPr/>
        </p:nvSpPr>
        <p:spPr>
          <a:xfrm>
            <a:off x="484565" y="936000"/>
            <a:ext cx="6100317" cy="277160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defRPr/>
            </a:pPr>
            <a:r>
              <a:rPr b="0" i="0" lang="en-US" sz="2800" u="none" cap="none" strike="noStrike">
                <a:solidFill>
                  <a:srgbClr val="23282D"/>
                </a:solidFill>
                <a:latin typeface="Arial"/>
                <a:ea typeface="Arial"/>
                <a:cs typeface="Arial"/>
                <a:sym typeface="Arial"/>
              </a:rPr>
              <a:t>We can use the area formula for rectangles.</a:t>
            </a:r>
            <a:endParaRPr b="0" i="0" sz="1400" u="none" cap="none" strike="noStrike">
              <a:solidFill>
                <a:srgbClr val="000000"/>
              </a:solidFill>
              <a:latin typeface="Arial"/>
              <a:ea typeface="Arial"/>
              <a:cs typeface="Arial"/>
              <a:sym typeface="Arial"/>
            </a:endParaRPr>
          </a:p>
        </p:txBody>
      </p:sp>
      <p:sp>
        <p:nvSpPr>
          <p:cNvPr id="975" name="Google Shape;975;p92"/>
          <p:cNvSpPr/>
          <p:nvPr/>
        </p:nvSpPr>
        <p:spPr>
          <a:xfrm>
            <a:off x="762000" y="3005994"/>
            <a:ext cx="2958230" cy="523220"/>
          </a:xfrm>
          <a:prstGeom prst="rect">
            <a:avLst/>
          </a:pr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976" name="Google Shape;976;p92"/>
          <p:cNvSpPr/>
          <p:nvPr/>
        </p:nvSpPr>
        <p:spPr>
          <a:xfrm>
            <a:off x="775173" y="1869388"/>
            <a:ext cx="1704758" cy="523220"/>
          </a:xfrm>
          <a:prstGeom prst="rect">
            <a:avLst/>
          </a:pr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977" name="Google Shape;977;p92"/>
          <p:cNvSpPr/>
          <p:nvPr/>
        </p:nvSpPr>
        <p:spPr>
          <a:xfrm>
            <a:off x="775173" y="2412912"/>
            <a:ext cx="2151871" cy="523220"/>
          </a:xfrm>
          <a:prstGeom prst="rect">
            <a:avLst/>
          </a:pr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978" name="Google Shape;978;p92"/>
          <p:cNvSpPr txBox="1"/>
          <p:nvPr/>
        </p:nvSpPr>
        <p:spPr>
          <a:xfrm>
            <a:off x="531478" y="4894844"/>
            <a:ext cx="11300857" cy="1505194"/>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defRPr/>
            </a:pPr>
            <a:r>
              <a:rPr b="1" i="0" lang="en-US" sz="2800" u="none" cap="none" strike="noStrike">
                <a:solidFill>
                  <a:srgbClr val="0070C0"/>
                </a:solidFill>
                <a:highlight>
                  <a:srgbClr val="E0E0E0"/>
                </a:highlight>
                <a:latin typeface="Arial"/>
                <a:ea typeface="Arial"/>
                <a:cs typeface="Arial"/>
                <a:sym typeface="Arial"/>
              </a:rPr>
              <a:t> Reveal</a:t>
            </a:r>
            <a:r>
              <a:rPr b="1" i="0" lang="en-US" sz="2800" u="none" cap="none" strike="noStrike">
                <a:solidFill>
                  <a:srgbClr val="E0E0E0"/>
                </a:solidFill>
                <a:highlight>
                  <a:srgbClr val="E0E0E0"/>
                </a:highlight>
                <a:latin typeface="Arial"/>
                <a:ea typeface="Arial"/>
                <a:cs typeface="Arial"/>
                <a:sym typeface="Arial"/>
              </a:rPr>
              <a:t>:</a:t>
            </a:r>
            <a:r>
              <a:rPr b="1" i="0" lang="en-US" sz="2800" u="none" cap="none" strike="noStrike">
                <a:solidFill>
                  <a:srgbClr val="0070C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595959"/>
              </a:buClr>
              <a:buSzPts val="2800"/>
              <a:buFont typeface="Arial"/>
              <a:buNone/>
              <a:defRPr/>
            </a:pPr>
            <a:r>
              <a:rPr b="0" i="0" lang="en-US" sz="2800" u="none" cap="none" strike="noStrike">
                <a:solidFill>
                  <a:srgbClr val="595959"/>
                </a:solidFill>
                <a:latin typeface="Arial"/>
                <a:ea typeface="Arial"/>
                <a:cs typeface="Arial"/>
                <a:sym typeface="Arial"/>
              </a:rPr>
              <a:t>The areas are the same because we did not change the size of the figure, just its shape.</a:t>
            </a:r>
            <a:endParaRPr b="0" i="0" sz="1400" u="none" cap="none" strike="noStrike">
              <a:solidFill>
                <a:srgbClr val="000000"/>
              </a:solidFill>
              <a:latin typeface="Arial"/>
              <a:ea typeface="Arial"/>
              <a:cs typeface="Arial"/>
              <a:sym typeface="Arial"/>
            </a:endParaRPr>
          </a:p>
        </p:txBody>
      </p:sp>
      <p:sp>
        <p:nvSpPr>
          <p:cNvPr id="979" name="Google Shape;979;p92"/>
          <p:cNvSpPr/>
          <p:nvPr/>
        </p:nvSpPr>
        <p:spPr>
          <a:xfrm>
            <a:off x="484565" y="3529214"/>
            <a:ext cx="5801935" cy="138499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defRPr/>
            </a:pPr>
            <a:r>
              <a:rPr b="1" i="0" lang="en-US" sz="2800" u="none" cap="none" strike="noStrike">
                <a:solidFill>
                  <a:schemeClr val="dk1"/>
                </a:solidFill>
                <a:latin typeface="Arial"/>
                <a:ea typeface="Arial"/>
                <a:cs typeface="Arial"/>
                <a:sym typeface="Arial"/>
              </a:rPr>
              <a:t>How does the area of the rectangle relate to the area of the original rhombus?</a:t>
            </a:r>
            <a:endParaRPr b="0" i="0" sz="2800" u="none" cap="none" strike="noStrike">
              <a:solidFill>
                <a:schemeClr val="dk1"/>
              </a:solidFill>
              <a:latin typeface="Arial"/>
              <a:ea typeface="Arial"/>
              <a:cs typeface="Arial"/>
              <a:sym typeface="Arial"/>
            </a:endParaRPr>
          </a:p>
        </p:txBody>
      </p:sp>
      <p:pic>
        <p:nvPicPr>
          <p:cNvPr id="980" name="Google Shape;980;p92"/>
          <p:cNvPicPr preferRelativeResize="0"/>
          <p:nvPr/>
        </p:nvPicPr>
        <p:blipFill rotWithShape="1">
          <a:blip r:embed="rId6">
            <a:alphaModFix/>
          </a:blip>
          <a:srcRect b="0" l="0" r="0" t="0"/>
          <a:stretch/>
        </p:blipFill>
        <p:spPr>
          <a:xfrm>
            <a:off x="6126360" y="1406132"/>
            <a:ext cx="5977306" cy="3060000"/>
          </a:xfrm>
          <a:prstGeom prst="rect">
            <a:avLst/>
          </a:prstGeom>
          <a:noFill/>
          <a:ln>
            <a:noFill/>
          </a:ln>
        </p:spPr>
      </p:pic>
      <p:sp>
        <p:nvSpPr>
          <p:cNvPr id="981" name="Google Shape;981;p92"/>
          <p:cNvSpPr txBox="1"/>
          <p:nvPr/>
        </p:nvSpPr>
        <p:spPr>
          <a:xfrm>
            <a:off x="484565" y="316034"/>
            <a:ext cx="4309377"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030A0"/>
              </a:buClr>
              <a:buSzPts val="2800"/>
              <a:buFont typeface="Arial"/>
              <a:buNone/>
              <a:defRPr/>
            </a:pPr>
            <a:r>
              <a:rPr b="1" i="0" lang="en-US" sz="2800" u="none" cap="none" strike="noStrike">
                <a:solidFill>
                  <a:srgbClr val="782DA0"/>
                </a:solidFill>
                <a:latin typeface="Arial"/>
                <a:ea typeface="Arial"/>
                <a:cs typeface="Arial"/>
                <a:sym typeface="Arial"/>
              </a:rPr>
              <a:t>Tiling a Backsplash</a:t>
            </a:r>
            <a:endParaRPr b="0" i="0" sz="1400" u="none" cap="none" strike="noStrike">
              <a:solidFill>
                <a:srgbClr val="000000"/>
              </a:solidFill>
              <a:latin typeface="Arial"/>
              <a:ea typeface="Arial"/>
              <a:cs typeface="Arial"/>
              <a:sym typeface="Arial"/>
            </a:endParaRPr>
          </a:p>
        </p:txBody>
      </p:sp>
      <p:sp>
        <p:nvSpPr>
          <p:cNvPr id="982"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51 / 66</a:t>
            </a:r>
          </a:p>
        </p:txBody>
      </p:sp>
      <p:sp>
        <p:nvSpPr>
          <p:cNvPr id="983" name="EWL-COVER-1"/>
          <p:cNvSpPr/>
          <p:nvPr/>
        </p:nvSpPr>
        <p:spPr>
          <a:xfrm>
            <a:off x="476614" y="4839980"/>
            <a:ext cx="11410585" cy="1606540"/>
          </a:xfrm>
          <a:prstGeom prst="rect">
            <a:avLst/>
          </a:prstGeom>
          <a:solidFill>
            <a:srgbClr val="FFFFFF"/>
          </a:solidFill>
          <a:ln>
            <a:noFill/>
          </a:ln>
        </p:spPr>
        <p:txBody>
          <a:bodyPr/>
          <a:lstStyle/>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98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5" name="Shape 985"/>
        <p:cNvGrpSpPr/>
        <p:nvPr/>
      </p:nvGrpSpPr>
      <p:grpSpPr>
        <a:xfrm>
          <a:off x="0" y="0"/>
          <a:ext cx="0" cy="0"/>
          <a:chOff x="0" y="0"/>
          <a:chExt cx="0" cy="0"/>
        </a:xfrm>
      </p:grpSpPr>
      <p:cxnSp>
        <p:nvCxnSpPr>
          <p:cNvPr id="986" name="Google Shape;986;p93"/>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987" name="Google Shape;987;p93"/>
          <p:cNvSpPr txBox="1"/>
          <p:nvPr/>
        </p:nvSpPr>
        <p:spPr>
          <a:xfrm>
            <a:off x="484564" y="936000"/>
            <a:ext cx="5064329" cy="223543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1" i="0" lang="en-US" sz="2800" u="none" cap="none" strike="noStrike">
                <a:solidFill>
                  <a:srgbClr val="23282D"/>
                </a:solidFill>
                <a:latin typeface="Arial"/>
                <a:ea typeface="Arial"/>
                <a:cs typeface="Arial"/>
                <a:sym typeface="Arial"/>
              </a:rPr>
              <a:t>What is another way we can find the area of the rhombus?</a:t>
            </a:r>
            <a:endParaRPr b="0" i="0" sz="1400" u="none" cap="none" strike="noStrike">
              <a:solidFill>
                <a:srgbClr val="000000"/>
              </a:solidFill>
              <a:latin typeface="Arial"/>
              <a:ea typeface="Arial"/>
              <a:cs typeface="Arial"/>
              <a:sym typeface="Arial"/>
            </a:endParaRPr>
          </a:p>
        </p:txBody>
      </p:sp>
      <p:pic>
        <p:nvPicPr>
          <p:cNvPr id="988" name="Google Shape;988;p93"/>
          <p:cNvPicPr preferRelativeResize="0"/>
          <p:nvPr/>
        </p:nvPicPr>
        <p:blipFill rotWithShape="1">
          <a:blip r:embed="rId3">
            <a:alphaModFix/>
          </a:blip>
          <a:srcRect b="0" l="0" r="0" t="0"/>
          <a:stretch/>
        </p:blipFill>
        <p:spPr>
          <a:xfrm>
            <a:off x="5548893" y="1685925"/>
            <a:ext cx="6585957" cy="2520000"/>
          </a:xfrm>
          <a:prstGeom prst="rect">
            <a:avLst/>
          </a:prstGeom>
          <a:noFill/>
          <a:ln>
            <a:noFill/>
          </a:ln>
        </p:spPr>
      </p:pic>
      <p:sp>
        <p:nvSpPr>
          <p:cNvPr id="989" name="Google Shape;989;p93"/>
          <p:cNvSpPr txBox="1"/>
          <p:nvPr/>
        </p:nvSpPr>
        <p:spPr>
          <a:xfrm>
            <a:off x="552218" y="4506944"/>
            <a:ext cx="11197822" cy="1030623"/>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lt1"/>
              </a:buClr>
              <a:buSzPts val="2800"/>
              <a:buFont typeface="Arial"/>
              <a:buNone/>
            </a:pPr>
            <a:r>
              <a:rPr b="1" i="0" lang="en-US" sz="2800" u="none" cap="none" strike="noStrike">
                <a:solidFill>
                  <a:schemeClr val="lt1"/>
                </a:solidFill>
                <a:highlight>
                  <a:srgbClr val="1E2682"/>
                </a:highlight>
                <a:latin typeface="Arial"/>
                <a:ea typeface="Arial"/>
                <a:cs typeface="Arial"/>
                <a:sym typeface="Arial"/>
              </a:rPr>
              <a:t> Think About It</a:t>
            </a:r>
            <a:r>
              <a:rPr b="1" i="0" lang="en-US" sz="2800" u="none" cap="none" strike="noStrike">
                <a:solidFill>
                  <a:srgbClr val="1E2682"/>
                </a:solidFill>
                <a:highlight>
                  <a:srgbClr val="1E2682"/>
                </a:highlight>
                <a:latin typeface="Arial"/>
                <a:ea typeface="Arial"/>
                <a:cs typeface="Arial"/>
                <a:sym typeface="Arial"/>
              </a:rPr>
              <a:t>:</a:t>
            </a:r>
            <a:r>
              <a:rPr b="1" i="0" lang="en-US" sz="2800" u="none" cap="none" strike="noStrike">
                <a:solidFill>
                  <a:schemeClr val="lt1"/>
                </a:solidFill>
                <a:highlight>
                  <a:srgbClr val="1E2682"/>
                </a:highlight>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chemeClr val="dk2"/>
              </a:buClr>
              <a:buSzPts val="2800"/>
              <a:buFont typeface="Arial"/>
              <a:buNone/>
            </a:pPr>
            <a:r>
              <a:t/>
            </a:r>
            <a:endParaRPr b="0" i="0" sz="2800" u="none" cap="none" strike="noStrike">
              <a:solidFill>
                <a:srgbClr val="595959"/>
              </a:solidFill>
              <a:latin typeface="Arial"/>
              <a:ea typeface="Arial"/>
              <a:cs typeface="Arial"/>
              <a:sym typeface="Arial"/>
            </a:endParaRPr>
          </a:p>
        </p:txBody>
      </p:sp>
      <p:sp>
        <p:nvSpPr>
          <p:cNvPr id="990" name="Google Shape;990;p93"/>
          <p:cNvSpPr txBox="1"/>
          <p:nvPr/>
        </p:nvSpPr>
        <p:spPr>
          <a:xfrm>
            <a:off x="484565" y="316034"/>
            <a:ext cx="4309377"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030A0"/>
              </a:buClr>
              <a:buSzPts val="2800"/>
              <a:buFont typeface="Arial"/>
              <a:buNone/>
            </a:pPr>
            <a:r>
              <a:rPr b="1" i="0" lang="en-US" sz="2800" u="none" cap="none" strike="noStrike">
                <a:solidFill>
                  <a:srgbClr val="782DA0"/>
                </a:solidFill>
                <a:latin typeface="Arial"/>
                <a:ea typeface="Arial"/>
                <a:cs typeface="Arial"/>
                <a:sym typeface="Arial"/>
              </a:rPr>
              <a:t>Tiling a Backsplash</a:t>
            </a:r>
            <a:endParaRPr b="0" i="0" sz="1400" u="none" cap="none" strike="noStrike">
              <a:solidFill>
                <a:srgbClr val="000000"/>
              </a:solidFill>
              <a:latin typeface="Arial"/>
              <a:ea typeface="Arial"/>
              <a:cs typeface="Arial"/>
              <a:sym typeface="Arial"/>
            </a:endParaRPr>
          </a:p>
        </p:txBody>
      </p:sp>
      <p:sp>
        <p:nvSpPr>
          <p:cNvPr id="991"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53 / 66</a:t>
            </a:r>
          </a:p>
        </p:txBody>
      </p:sp>
      <p:sp xmlns:p="http://schemas.openxmlformats.org/presentationml/2006/main" xmlns:a="http://schemas.openxmlformats.org/drawingml/2006/main">
        <p:nvSpPr>
          <p:cNvPr id="992" name="TEACH-embedded-student-prompt" descr="Student thinking and response directions"/>
          <p:cNvSpPr txBox="1"/>
          <p:nvPr/>
        </p:nvSpPr>
        <p:spPr>
          <a:xfrm>
            <a:off x="594360" y="5815584"/>
            <a:ext cx="1109472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Think and record first. Which part of your work supports your answer?</a:t>
            </a:r>
            <a:endParaRPr lang="en-US" sz="2000"/>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2" name="Shape 1012"/>
        <p:cNvGrpSpPr/>
        <p:nvPr/>
      </p:nvGrpSpPr>
      <p:grpSpPr>
        <a:xfrm>
          <a:off x="0" y="0"/>
          <a:ext cx="0" cy="0"/>
          <a:chOff x="0" y="0"/>
          <a:chExt cx="0" cy="0"/>
        </a:xfrm>
      </p:grpSpPr>
      <p:cxnSp>
        <p:nvCxnSpPr>
          <p:cNvPr id="1013" name="Google Shape;1013;p96"/>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1014" name="Google Shape;1014;p96"/>
          <p:cNvSpPr txBox="1"/>
          <p:nvPr/>
        </p:nvSpPr>
        <p:spPr>
          <a:xfrm>
            <a:off x="486000" y="4860000"/>
            <a:ext cx="11300857" cy="1505194"/>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pPr>
            <a:r>
              <a:rPr b="1" i="0" lang="en-US" sz="2800" u="none" cap="none" strike="noStrike">
                <a:solidFill>
                  <a:srgbClr val="0070C0"/>
                </a:solidFill>
                <a:highlight>
                  <a:srgbClr val="E0E0E0"/>
                </a:highlight>
                <a:latin typeface="Arial"/>
                <a:ea typeface="Arial"/>
                <a:cs typeface="Arial"/>
                <a:sym typeface="Arial"/>
              </a:rPr>
              <a:t> Reveal</a:t>
            </a:r>
            <a:r>
              <a:rPr b="1" i="0" lang="en-US" sz="2800" u="none" cap="none" strike="noStrike">
                <a:solidFill>
                  <a:srgbClr val="E0E0E0"/>
                </a:solidFill>
                <a:highlight>
                  <a:srgbClr val="E0E0E0"/>
                </a:highlight>
                <a:latin typeface="Arial"/>
                <a:ea typeface="Arial"/>
                <a:cs typeface="Arial"/>
                <a:sym typeface="Arial"/>
              </a:rPr>
              <a:t>:</a:t>
            </a:r>
            <a:r>
              <a:rPr b="1" i="0" lang="en-US" sz="2800" u="none" cap="none" strike="noStrike">
                <a:solidFill>
                  <a:srgbClr val="0070C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595959"/>
              </a:buClr>
              <a:buSzPts val="2800"/>
              <a:buFont typeface="Arial"/>
              <a:buNone/>
            </a:pPr>
            <a:r>
              <a:rPr b="0" i="0" lang="en-US" sz="2800" u="none" cap="none" strike="noStrike">
                <a:solidFill>
                  <a:srgbClr val="595959"/>
                </a:solidFill>
                <a:latin typeface="Arial"/>
                <a:ea typeface="Arial"/>
                <a:cs typeface="Arial"/>
                <a:sym typeface="Arial"/>
              </a:rPr>
              <a:t>We can use the area formula for parallelograms to find the area of the rhombus.​</a:t>
            </a:r>
            <a:endParaRPr b="0" i="0" sz="1400" u="none" cap="none" strike="noStrike">
              <a:solidFill>
                <a:srgbClr val="000000"/>
              </a:solidFill>
              <a:latin typeface="Arial"/>
              <a:ea typeface="Arial"/>
              <a:cs typeface="Arial"/>
              <a:sym typeface="Arial"/>
            </a:endParaRPr>
          </a:p>
        </p:txBody>
      </p:sp>
      <p:sp>
        <p:nvSpPr>
          <p:cNvPr id="1015" name="Google Shape;1015;p96"/>
          <p:cNvSpPr txBox="1"/>
          <p:nvPr/>
        </p:nvSpPr>
        <p:spPr>
          <a:xfrm>
            <a:off x="484565" y="936000"/>
            <a:ext cx="4830386" cy="223543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1" i="0" lang="en-US" sz="2800" u="none" cap="none" strike="noStrike">
                <a:solidFill>
                  <a:srgbClr val="23282D"/>
                </a:solidFill>
                <a:latin typeface="Arial"/>
                <a:ea typeface="Arial"/>
                <a:cs typeface="Arial"/>
                <a:sym typeface="Arial"/>
              </a:rPr>
              <a:t>What is another way we can find the area of the rhombus?</a:t>
            </a:r>
            <a:endParaRPr b="0" i="0" sz="1400" u="none" cap="none" strike="noStrike">
              <a:solidFill>
                <a:srgbClr val="000000"/>
              </a:solidFill>
              <a:latin typeface="Arial"/>
              <a:ea typeface="Arial"/>
              <a:cs typeface="Arial"/>
              <a:sym typeface="Arial"/>
            </a:endParaRPr>
          </a:p>
        </p:txBody>
      </p:sp>
      <p:pic>
        <p:nvPicPr>
          <p:cNvPr id="1016" name="Google Shape;1016;p96"/>
          <p:cNvPicPr preferRelativeResize="0"/>
          <p:nvPr/>
        </p:nvPicPr>
        <p:blipFill rotWithShape="1">
          <a:blip r:embed="rId3">
            <a:alphaModFix/>
          </a:blip>
          <a:srcRect b="0" l="0" r="0" t="0"/>
          <a:stretch/>
        </p:blipFill>
        <p:spPr>
          <a:xfrm>
            <a:off x="5548893" y="1685925"/>
            <a:ext cx="6585957" cy="2520000"/>
          </a:xfrm>
          <a:prstGeom prst="rect">
            <a:avLst/>
          </a:prstGeom>
          <a:noFill/>
          <a:ln>
            <a:noFill/>
          </a:ln>
        </p:spPr>
      </p:pic>
      <p:sp>
        <p:nvSpPr>
          <p:cNvPr id="1017" name="Google Shape;1017;p96"/>
          <p:cNvSpPr txBox="1"/>
          <p:nvPr/>
        </p:nvSpPr>
        <p:spPr>
          <a:xfrm>
            <a:off x="484565" y="316034"/>
            <a:ext cx="4309377"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030A0"/>
              </a:buClr>
              <a:buSzPts val="2800"/>
              <a:buFont typeface="Arial"/>
              <a:buNone/>
            </a:pPr>
            <a:r>
              <a:rPr b="1" i="0" lang="en-US" sz="2800" u="none" cap="none" strike="noStrike">
                <a:solidFill>
                  <a:srgbClr val="782DA0"/>
                </a:solidFill>
                <a:latin typeface="Arial"/>
                <a:ea typeface="Arial"/>
                <a:cs typeface="Arial"/>
                <a:sym typeface="Arial"/>
              </a:rPr>
              <a:t>Tiling a Backsplash</a:t>
            </a:r>
            <a:endParaRPr b="0" i="0" sz="1400" u="none" cap="none" strike="noStrike">
              <a:solidFill>
                <a:srgbClr val="000000"/>
              </a:solidFill>
              <a:latin typeface="Arial"/>
              <a:ea typeface="Arial"/>
              <a:cs typeface="Arial"/>
              <a:sym typeface="Arial"/>
            </a:endParaRPr>
          </a:p>
        </p:txBody>
      </p:sp>
      <p:sp>
        <p:nvSpPr>
          <p:cNvPr id="1018"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54 / 66</a:t>
            </a:r>
          </a:p>
        </p:txBody>
      </p:sp>
      <p:sp>
        <p:nvSpPr>
          <p:cNvPr id="1019" name="EWL-COVER-1"/>
          <p:cNvSpPr/>
          <p:nvPr/>
        </p:nvSpPr>
        <p:spPr>
          <a:xfrm>
            <a:off x="431136" y="4805136"/>
            <a:ext cx="11410585" cy="1614922"/>
          </a:xfrm>
          <a:prstGeom prst="rect">
            <a:avLst/>
          </a:prstGeom>
          <a:solidFill>
            <a:srgbClr val="FFFFFF"/>
          </a:solidFill>
          <a:ln>
            <a:noFill/>
          </a:ln>
        </p:spPr>
        <p:txBody>
          <a:bodyPr/>
          <a:lstStyle/>
          <a:p/>
        </p:txBody>
      </p:sp>
      <p:sp xmlns:p="http://schemas.openxmlformats.org/presentationml/2006/main" xmlns:a="http://schemas.openxmlformats.org/drawingml/2006/main">
        <p:nvSpPr>
          <p:cNvPr id="1020" name="TEACH-embedded-student-prompt" descr="Student thinking and response directions"/>
          <p:cNvSpPr txBox="1"/>
          <p:nvPr/>
        </p:nvSpPr>
        <p:spPr>
          <a:xfrm>
            <a:off x="594360" y="3547872"/>
            <a:ext cx="4206240" cy="1078992"/>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Record your reasoning before the</a:t>
            </a:r>
            <a:endParaRPr lang="en-US" sz="2000"/>
          </a:p>
          <a:p>
            <a:pPr>
              <a:lnSpc>
                <a:spcPts val="2400"/>
              </a:lnSpc>
              <a:buNone/>
            </a:pPr>
            <a:r>
              <a:rPr lang="en-US" sz="2000">
                <a:solidFill>
                  <a:srgbClr val="174D60"/>
                </a:solidFill>
                <a:latin typeface="Arial"/>
              </a:rPr>
              <a:t>reveal. Compare, then explain</a:t>
            </a:r>
            <a:endParaRPr lang="en-US" sz="2000"/>
          </a:p>
          <a:p>
            <a:pPr>
              <a:lnSpc>
                <a:spcPts val="2400"/>
              </a:lnSpc>
              <a:buNone/>
            </a:pPr>
            <a:r>
              <a:rPr lang="en-US" sz="2000">
                <a:solidFill>
                  <a:srgbClr val="174D60"/>
                </a:solidFill>
                <a:latin typeface="Arial"/>
              </a:rPr>
              <a:t>any revision.</a:t>
            </a:r>
            <a:endParaRPr lang="en-US" sz="20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101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6" name="Shape 1036"/>
        <p:cNvGrpSpPr/>
        <p:nvPr/>
      </p:nvGrpSpPr>
      <p:grpSpPr>
        <a:xfrm>
          <a:off x="0" y="0"/>
          <a:ext cx="0" cy="0"/>
          <a:chOff x="0" y="0"/>
          <a:chExt cx="0" cy="0"/>
        </a:xfrm>
      </p:grpSpPr>
      <p:cxnSp>
        <p:nvCxnSpPr>
          <p:cNvPr id="1037" name="Google Shape;1037;p98"/>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1038" name="Google Shape;1038;p98"/>
          <p:cNvSpPr txBox="1"/>
          <p:nvPr/>
        </p:nvSpPr>
        <p:spPr>
          <a:xfrm>
            <a:off x="3201579" y="5288620"/>
            <a:ext cx="6783781" cy="639716"/>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2"/>
              </a:buClr>
              <a:buSzPts val="2800"/>
              <a:buFont typeface="Arial"/>
              <a:buNone/>
            </a:pPr>
            <a:r>
              <a:t/>
            </a:r>
            <a:endParaRPr b="1" i="0" sz="2800" u="none" cap="none" strike="noStrike">
              <a:solidFill>
                <a:srgbClr val="262626"/>
              </a:solidFill>
              <a:latin typeface="Arial"/>
              <a:ea typeface="Arial"/>
              <a:cs typeface="Arial"/>
              <a:sym typeface="Arial"/>
            </a:endParaRPr>
          </a:p>
        </p:txBody>
      </p:sp>
      <p:sp>
        <p:nvSpPr>
          <p:cNvPr id="1039" name="Google Shape;1039;p98"/>
          <p:cNvSpPr/>
          <p:nvPr/>
        </p:nvSpPr>
        <p:spPr>
          <a:xfrm>
            <a:off x="725290" y="5906809"/>
            <a:ext cx="10741420" cy="492443"/>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600"/>
              <a:buFont typeface="Arial"/>
              <a:buNone/>
              <a:defRPr/>
            </a:pPr>
            <a:r>
              <a:rPr b="0" i="0" lang="en-US" sz="2600" u="none" cap="none" strike="noStrike">
                <a:solidFill>
                  <a:srgbClr val="595959"/>
                </a:solidFill>
                <a:latin typeface="Arial"/>
                <a:ea typeface="Arial"/>
                <a:cs typeface="Arial"/>
                <a:sym typeface="Arial"/>
              </a:rPr>
              <a:t>What is another approach to solving this problem?</a:t>
            </a:r>
            <a:endParaRPr b="0" i="0" sz="1400" u="none" cap="none" strike="noStrike">
              <a:solidFill>
                <a:srgbClr val="000000"/>
              </a:solidFill>
              <a:latin typeface="Arial"/>
              <a:ea typeface="Arial"/>
              <a:cs typeface="Arial"/>
              <a:sym typeface="Arial"/>
            </a:endParaRPr>
          </a:p>
        </p:txBody>
      </p:sp>
      <p:sp>
        <p:nvSpPr>
          <p:cNvPr id="1040" name="Google Shape;1040;p98"/>
          <p:cNvSpPr txBox="1"/>
          <p:nvPr/>
        </p:nvSpPr>
        <p:spPr>
          <a:xfrm>
            <a:off x="485316" y="936000"/>
            <a:ext cx="7433013" cy="1981586"/>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defRPr/>
            </a:pPr>
            <a:r>
              <a:rPr b="0" i="0" lang="en-US" sz="2800" u="none" cap="none" strike="noStrike">
                <a:solidFill>
                  <a:srgbClr val="23282D"/>
                </a:solidFill>
                <a:latin typeface="Arial"/>
                <a:ea typeface="Arial"/>
                <a:cs typeface="Arial"/>
                <a:sym typeface="Arial"/>
              </a:rPr>
              <a:t>Let’s use a formula. Rhombuses are parallelograms, so we can use the area formula for parallelograms to find the area of the rhombus.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800"/>
              </a:spcBef>
              <a:spcAft>
                <a:spcPts val="0"/>
              </a:spcAft>
              <a:buClr>
                <a:schemeClr val="dk2"/>
              </a:buClr>
              <a:buSzPts val="2800"/>
              <a:buFont typeface="Arial"/>
              <a:buNone/>
              <a:defRPr/>
            </a:pPr>
            <a:r>
              <a:rPr/>
              <a:t/>
            </a:r>
            <a:endParaRPr b="0" i="0" sz="2800" u="none" cap="none" strike="noStrike">
              <a:solidFill>
                <a:schemeClr val="dk2"/>
              </a:solidFill>
              <a:latin typeface="Arial"/>
              <a:ea typeface="Arial"/>
              <a:cs typeface="Arial"/>
              <a:sym typeface="Arial"/>
            </a:endParaRPr>
          </a:p>
          <a:p>
            <a:pPr indent="0" lvl="0" marL="0" marR="0" rtl="0" algn="l">
              <a:lnSpc>
                <a:spcPct val="100000"/>
              </a:lnSpc>
              <a:spcBef>
                <a:spcPts val="1800"/>
              </a:spcBef>
              <a:spcAft>
                <a:spcPts val="0"/>
              </a:spcAft>
              <a:buClr>
                <a:schemeClr val="dk2"/>
              </a:buClr>
              <a:buSzPts val="2800"/>
              <a:buFont typeface="Arial"/>
              <a:buNone/>
              <a:defRPr/>
            </a:pPr>
            <a:r>
              <a:rPr/>
              <a:t/>
            </a:r>
            <a:endParaRPr b="0" i="0" sz="2800" u="none" cap="none" strike="noStrike">
              <a:solidFill>
                <a:srgbClr val="262626"/>
              </a:solidFill>
              <a:latin typeface="Arial"/>
              <a:ea typeface="Arial"/>
              <a:cs typeface="Arial"/>
              <a:sym typeface="Arial"/>
            </a:endParaRPr>
          </a:p>
        </p:txBody>
      </p:sp>
      <p:sp>
        <p:nvSpPr>
          <p:cNvPr id="1041" name="Google Shape;1041;p98"/>
          <p:cNvSpPr/>
          <p:nvPr/>
        </p:nvSpPr>
        <p:spPr>
          <a:xfrm>
            <a:off x="485316" y="3511390"/>
            <a:ext cx="1695529" cy="523220"/>
          </a:xfrm>
          <a:prstGeom prst="rect">
            <a:avLst/>
          </a:pr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1042" name="Google Shape;1042;p98"/>
          <p:cNvSpPr/>
          <p:nvPr/>
        </p:nvSpPr>
        <p:spPr>
          <a:xfrm>
            <a:off x="485316" y="4034611"/>
            <a:ext cx="2829715" cy="523220"/>
          </a:xfrm>
          <a:prstGeom prst="rect">
            <a:avLst/>
          </a:pr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1043" name="Google Shape;1043;p98"/>
          <p:cNvSpPr/>
          <p:nvPr/>
        </p:nvSpPr>
        <p:spPr>
          <a:xfrm>
            <a:off x="485316" y="4577675"/>
            <a:ext cx="2284087" cy="523220"/>
          </a:xfrm>
          <a:prstGeom prst="rect">
            <a:avLst/>
          </a:pr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1044" name="Google Shape;1044;p98"/>
          <p:cNvSpPr txBox="1"/>
          <p:nvPr/>
        </p:nvSpPr>
        <p:spPr>
          <a:xfrm>
            <a:off x="485316" y="2968326"/>
            <a:ext cx="6126446" cy="523220"/>
          </a:xfrm>
          <a:prstGeom prst="rect">
            <a:avLst/>
          </a:prstGeom>
          <a:blipFill rotWithShape="1">
            <a:blip r:embed="rId6">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pic>
        <p:nvPicPr>
          <p:cNvPr id="1045" name="Google Shape;1045;p98"/>
          <p:cNvPicPr preferRelativeResize="0"/>
          <p:nvPr/>
        </p:nvPicPr>
        <p:blipFill rotWithShape="1">
          <a:blip r:embed="rId7">
            <a:alphaModFix/>
          </a:blip>
          <a:srcRect b="0" l="0" r="0" t="0"/>
          <a:stretch/>
        </p:blipFill>
        <p:spPr>
          <a:xfrm>
            <a:off x="474056" y="5094277"/>
            <a:ext cx="7073900" cy="838200"/>
          </a:xfrm>
          <a:prstGeom prst="rect">
            <a:avLst/>
          </a:prstGeom>
          <a:noFill/>
          <a:ln>
            <a:noFill/>
          </a:ln>
        </p:spPr>
      </p:pic>
      <p:sp>
        <p:nvSpPr>
          <p:cNvPr id="1046" name="Google Shape;1046;p98"/>
          <p:cNvSpPr txBox="1"/>
          <p:nvPr/>
        </p:nvSpPr>
        <p:spPr>
          <a:xfrm>
            <a:off x="3177722" y="5215019"/>
            <a:ext cx="2363542" cy="639716"/>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defRPr/>
            </a:pPr>
            <a:r>
              <a:rPr b="0" i="0" lang="en-US" sz="2800" u="none" cap="none" strike="noStrike">
                <a:solidFill>
                  <a:srgbClr val="23282D"/>
                </a:solidFill>
                <a:latin typeface="Arial"/>
                <a:ea typeface="Arial"/>
                <a:cs typeface="Arial"/>
                <a:sym typeface="Arial"/>
              </a:rPr>
              <a:t>Planning </a:t>
            </a:r>
            <a:endParaRPr b="0" i="0" sz="1400" u="none" cap="none" strike="noStrike">
              <a:solidFill>
                <a:srgbClr val="000000"/>
              </a:solidFill>
              <a:latin typeface="Arial"/>
              <a:ea typeface="Arial"/>
              <a:cs typeface="Arial"/>
              <a:sym typeface="Arial"/>
            </a:endParaRPr>
          </a:p>
        </p:txBody>
      </p:sp>
      <p:pic>
        <p:nvPicPr>
          <p:cNvPr id="1047" name="Google Shape;1047;p98"/>
          <p:cNvPicPr preferRelativeResize="0"/>
          <p:nvPr/>
        </p:nvPicPr>
        <p:blipFill rotWithShape="1">
          <a:blip r:embed="rId8">
            <a:alphaModFix/>
          </a:blip>
          <a:srcRect b="0" l="0" r="0" t="0"/>
          <a:stretch/>
        </p:blipFill>
        <p:spPr>
          <a:xfrm>
            <a:off x="8162925" y="2491421"/>
            <a:ext cx="3048000" cy="2000250"/>
          </a:xfrm>
          <a:prstGeom prst="rect">
            <a:avLst/>
          </a:prstGeom>
          <a:noFill/>
          <a:ln>
            <a:noFill/>
          </a:ln>
        </p:spPr>
      </p:pic>
      <p:sp>
        <p:nvSpPr>
          <p:cNvPr id="1048" name="Google Shape;1048;p98"/>
          <p:cNvSpPr txBox="1"/>
          <p:nvPr/>
        </p:nvSpPr>
        <p:spPr>
          <a:xfrm>
            <a:off x="484565" y="316034"/>
            <a:ext cx="4309377"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030A0"/>
              </a:buClr>
              <a:buSzPts val="2800"/>
              <a:buFont typeface="Arial"/>
              <a:buNone/>
              <a:defRPr/>
            </a:pPr>
            <a:r>
              <a:rPr b="1" i="0" lang="en-US" sz="2800" u="none" cap="none" strike="noStrike">
                <a:solidFill>
                  <a:srgbClr val="782DA0"/>
                </a:solidFill>
                <a:latin typeface="Arial"/>
                <a:ea typeface="Arial"/>
                <a:cs typeface="Arial"/>
                <a:sym typeface="Arial"/>
              </a:rPr>
              <a:t>Tiling a Backsplash</a:t>
            </a:r>
            <a:endParaRPr b="0" i="0" sz="1400" u="none" cap="none" strike="noStrike">
              <a:solidFill>
                <a:srgbClr val="000000"/>
              </a:solidFill>
              <a:latin typeface="Arial"/>
              <a:ea typeface="Arial"/>
              <a:cs typeface="Arial"/>
              <a:sym typeface="Arial"/>
            </a:endParaRPr>
          </a:p>
        </p:txBody>
      </p:sp>
      <p:sp>
        <p:nvSpPr>
          <p:cNvPr id="1049"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55 / 66</a:t>
            </a:r>
          </a:p>
        </p:txBody>
      </p:sp>
      <p:grpSp>
        <p:nvGrpSpPr>
          <p:cNvPr id="1050" name="TEACH-2-student-move" descr="TEACH 2 · Use strategies and tasks to engage students in rigorous work"/>
          <p:cNvGrpSpPr/>
          <p:nvPr/>
        </p:nvGrpSpPr>
        <p:grpSpPr>
          <a:xfrm>
            <a:off x="6187440" y="4655365"/>
            <a:ext cx="5501640" cy="402336"/>
            <a:chOff x="6187440" y="4655365"/>
            <a:chExt cx="5501640" cy="402336"/>
          </a:xfrm>
        </p:grpSpPr>
        <p:sp>
          <p:nvSpPr>
            <p:cNvPr id="1051" name="TEACH-move-card"/>
            <p:cNvSpPr/>
            <p:nvPr/>
          </p:nvSpPr>
          <p:spPr>
            <a:xfrm>
              <a:off x="6187440" y="4655365"/>
              <a:ext cx="5501640" cy="402336"/>
            </a:xfrm>
            <a:prstGeom prst="roundRect">
              <a:avLst>
                <a:gd name="adj" fmla="val 16000"/>
              </a:avLst>
            </a:prstGeom>
            <a:solidFill>
              <a:srgbClr val="E4F0F5"/>
            </a:solidFill>
            <a:ln w="19050">
              <a:solidFill>
                <a:srgbClr val="8CB8C7"/>
              </a:solidFill>
            </a:ln>
          </p:spPr>
          <p:txBody>
            <a:bodyPr/>
            <a:lstStyle/>
            <a:p>
              <a:endParaRPr/>
            </a:p>
          </p:txBody>
        </p:sp>
        <p:sp>
          <p:nvSpPr>
            <p:cNvPr id="1052" name="TEACH-move-rule"/>
            <p:cNvSpPr/>
            <p:nvPr/>
          </p:nvSpPr>
          <p:spPr>
            <a:xfrm>
              <a:off x="6233160" y="4731809"/>
              <a:ext cx="100584" cy="249448"/>
            </a:xfrm>
            <a:prstGeom prst="roundRect">
              <a:avLst>
                <a:gd name="adj" fmla="val 50000"/>
              </a:avLst>
            </a:prstGeom>
            <a:solidFill>
              <a:srgbClr val="01708C"/>
            </a:solidFill>
            <a:ln>
              <a:noFill/>
            </a:ln>
          </p:spPr>
          <p:txBody>
            <a:bodyPr/>
            <a:lstStyle/>
            <a:p>
              <a:endParaRPr/>
            </a:p>
          </p:txBody>
        </p:sp>
        <p:sp>
          <p:nvSpPr>
            <p:cNvPr id="1053" name="TEACH-move-text"/>
            <p:cNvSpPr txBox="1"/>
            <p:nvPr/>
          </p:nvSpPr>
          <p:spPr>
            <a:xfrm>
              <a:off x="6507480" y="4655365"/>
              <a:ext cx="504444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USE YOUR TOOLS  ·  </a:t>
              </a:r>
              <a:r>
                <a:rPr lang="en-US" sz="1200" dirty="0">
                  <a:solidFill>
                    <a:srgbClr val="13303A"/>
                  </a:solidFill>
                  <a:latin typeface="Arial"/>
                </a:rPr>
                <a:t>Reach for your notes, a model, or a manipulative before you reach for an answer.</a:t>
              </a:r>
              <a:endParaRPr lang="en-US" sz="1200"/>
            </a:p>
          </p:txBody>
        </p:sp>
      </p:gr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2" name="Shape 1052"/>
        <p:cNvGrpSpPr/>
        <p:nvPr/>
      </p:nvGrpSpPr>
      <p:grpSpPr>
        <a:xfrm>
          <a:off x="0" y="0"/>
          <a:ext cx="0" cy="0"/>
          <a:chOff x="0" y="0"/>
          <a:chExt cx="0" cy="0"/>
        </a:xfrm>
      </p:grpSpPr>
      <p:cxnSp>
        <p:nvCxnSpPr>
          <p:cNvPr id="1053" name="Google Shape;1053;p99"/>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1054" name="Google Shape;1054;p99"/>
          <p:cNvSpPr txBox="1"/>
          <p:nvPr/>
        </p:nvSpPr>
        <p:spPr>
          <a:xfrm>
            <a:off x="484565" y="936000"/>
            <a:ext cx="4925635" cy="374113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0" i="0" lang="en-US" sz="2800" u="none" cap="none" strike="noStrike">
                <a:solidFill>
                  <a:srgbClr val="23282D"/>
                </a:solidFill>
                <a:latin typeface="Arial"/>
                <a:ea typeface="Arial"/>
                <a:cs typeface="Arial"/>
                <a:sym typeface="Arial"/>
              </a:rPr>
              <a:t>The wall tile shown has the shape of a rhombus, a parallelogram with four equal sides. The dimensions of the tile are shown.</a:t>
            </a:r>
            <a:r>
              <a:rPr b="1" i="0" lang="en-US" sz="2800" u="none" cap="none" strike="noStrike">
                <a:solidFill>
                  <a:schemeClr val="dk2"/>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800"/>
              </a:spcBef>
              <a:spcAft>
                <a:spcPts val="0"/>
              </a:spcAft>
              <a:buClr>
                <a:schemeClr val="dk1"/>
              </a:buClr>
              <a:buSzPts val="2800"/>
              <a:buFont typeface="Arial"/>
              <a:buNone/>
            </a:pPr>
            <a:r>
              <a:rPr b="1" i="0" lang="en-US" sz="2800" u="none" cap="none" strike="noStrike">
                <a:solidFill>
                  <a:schemeClr val="dk1"/>
                </a:solidFill>
                <a:latin typeface="Arial"/>
                <a:ea typeface="Arial"/>
                <a:cs typeface="Arial"/>
                <a:sym typeface="Arial"/>
              </a:rPr>
              <a:t>What is the area of the tile?</a:t>
            </a:r>
            <a:endParaRPr b="0" i="0" sz="2800" u="none" cap="none" strike="noStrike">
              <a:solidFill>
                <a:schemeClr val="dk1"/>
              </a:solidFill>
              <a:latin typeface="Arial"/>
              <a:ea typeface="Arial"/>
              <a:cs typeface="Arial"/>
              <a:sym typeface="Arial"/>
            </a:endParaRPr>
          </a:p>
          <a:p>
            <a:pPr indent="0" lvl="0" marL="0" marR="0" rtl="0" algn="l">
              <a:lnSpc>
                <a:spcPct val="100000"/>
              </a:lnSpc>
              <a:spcBef>
                <a:spcPts val="1800"/>
              </a:spcBef>
              <a:spcAft>
                <a:spcPts val="0"/>
              </a:spcAft>
              <a:buClr>
                <a:schemeClr val="dk2"/>
              </a:buClr>
              <a:buSzPts val="2800"/>
              <a:buFont typeface="Arial"/>
              <a:buNone/>
            </a:pPr>
            <a:r>
              <a:t/>
            </a:r>
            <a:endParaRPr b="1" i="0" sz="2800" u="none" cap="none" strike="noStrike">
              <a:solidFill>
                <a:srgbClr val="262626"/>
              </a:solidFill>
              <a:latin typeface="Arial"/>
              <a:ea typeface="Arial"/>
              <a:cs typeface="Arial"/>
              <a:sym typeface="Arial"/>
            </a:endParaRPr>
          </a:p>
        </p:txBody>
      </p:sp>
      <p:sp>
        <p:nvSpPr>
          <p:cNvPr id="1055" name="Google Shape;1055;p99"/>
          <p:cNvSpPr txBox="1"/>
          <p:nvPr/>
        </p:nvSpPr>
        <p:spPr>
          <a:xfrm>
            <a:off x="484565" y="4727678"/>
            <a:ext cx="8909956" cy="523220"/>
          </a:xfrm>
          <a:prstGeom prst="rect">
            <a:avLst/>
          </a:prstGeom>
          <a:solidFill>
            <a:schemeClr val="lt1"/>
          </a:solidFill>
          <a:ln cap="flat" cmpd="sng" w="12700">
            <a:solidFill>
              <a:srgbClr val="782DA0"/>
            </a:solidFill>
            <a:prstDash val="solid"/>
            <a:miter lim="8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chemeClr val="dk1"/>
                </a:solidFill>
                <a:latin typeface="Arial"/>
                <a:ea typeface="Arial"/>
                <a:cs typeface="Arial"/>
                <a:sym typeface="Arial"/>
              </a:rPr>
              <a:t>The area of the tile is 96 square centimeters.</a:t>
            </a:r>
            <a:endParaRPr b="0" i="0" sz="1400" u="none" cap="none" strike="noStrike">
              <a:solidFill>
                <a:srgbClr val="000000"/>
              </a:solidFill>
              <a:latin typeface="Arial"/>
              <a:ea typeface="Arial"/>
              <a:cs typeface="Arial"/>
              <a:sym typeface="Arial"/>
            </a:endParaRPr>
          </a:p>
        </p:txBody>
      </p:sp>
      <p:pic>
        <p:nvPicPr>
          <p:cNvPr id="1056" name="Google Shape;1056;p99"/>
          <p:cNvPicPr preferRelativeResize="0"/>
          <p:nvPr/>
        </p:nvPicPr>
        <p:blipFill rotWithShape="1">
          <a:blip r:embed="rId3">
            <a:alphaModFix/>
          </a:blip>
          <a:srcRect b="0" l="0" r="0" t="0"/>
          <a:stretch/>
        </p:blipFill>
        <p:spPr>
          <a:xfrm>
            <a:off x="5548893" y="1685925"/>
            <a:ext cx="6585957" cy="2520000"/>
          </a:xfrm>
          <a:prstGeom prst="rect">
            <a:avLst/>
          </a:prstGeom>
          <a:noFill/>
          <a:ln>
            <a:noFill/>
          </a:ln>
        </p:spPr>
      </p:pic>
      <p:sp>
        <p:nvSpPr>
          <p:cNvPr id="1057" name="Google Shape;1057;p99"/>
          <p:cNvSpPr txBox="1"/>
          <p:nvPr/>
        </p:nvSpPr>
        <p:spPr>
          <a:xfrm>
            <a:off x="484565" y="316034"/>
            <a:ext cx="4309377"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030A0"/>
              </a:buClr>
              <a:buSzPts val="2800"/>
              <a:buFont typeface="Arial"/>
              <a:buNone/>
            </a:pPr>
            <a:r>
              <a:rPr b="1" i="0" lang="en-US" sz="2800" u="none" cap="none" strike="noStrike">
                <a:solidFill>
                  <a:srgbClr val="782DA0"/>
                </a:solidFill>
                <a:latin typeface="Arial"/>
                <a:ea typeface="Arial"/>
                <a:cs typeface="Arial"/>
                <a:sym typeface="Arial"/>
              </a:rPr>
              <a:t>Tiling a Backsplash</a:t>
            </a:r>
            <a:endParaRPr b="0" i="0" sz="1400" u="none" cap="none" strike="noStrike">
              <a:solidFill>
                <a:srgbClr val="000000"/>
              </a:solidFill>
              <a:latin typeface="Arial"/>
              <a:ea typeface="Arial"/>
              <a:cs typeface="Arial"/>
              <a:sym typeface="Arial"/>
            </a:endParaRPr>
          </a:p>
        </p:txBody>
      </p:sp>
      <p:sp>
        <p:nvSpPr>
          <p:cNvPr id="1058"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56 / 66</a:t>
            </a:r>
          </a:p>
        </p:txBody>
      </p:sp>
      <p:sp xmlns:p="http://schemas.openxmlformats.org/presentationml/2006/main" xmlns:a="http://schemas.openxmlformats.org/drawingml/2006/main">
        <p:nvSpPr>
          <p:cNvPr id="1059" name="TEACH-embedded-student-prompt" descr="Student thinking and response directions"/>
          <p:cNvSpPr txBox="1"/>
          <p:nvPr/>
        </p:nvSpPr>
        <p:spPr>
          <a:xfrm>
            <a:off x="594360" y="5815584"/>
            <a:ext cx="1109472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Think and record first. Which part of your work supports your answer?</a:t>
            </a:r>
            <a:endParaRPr lang="en-US" sz="2000"/>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1" name="Shape 1061"/>
        <p:cNvGrpSpPr/>
        <p:nvPr/>
      </p:nvGrpSpPr>
      <p:grpSpPr>
        <a:xfrm>
          <a:off x="0" y="0"/>
          <a:ext cx="0" cy="0"/>
          <a:chOff x="0" y="0"/>
          <a:chExt cx="0" cy="0"/>
        </a:xfrm>
      </p:grpSpPr>
      <p:sp>
        <p:nvSpPr>
          <p:cNvPr id="1062" name="Google Shape;1062;p100"/>
          <p:cNvSpPr txBox="1"/>
          <p:nvPr/>
        </p:nvSpPr>
        <p:spPr>
          <a:xfrm>
            <a:off x="484565" y="1740362"/>
            <a:ext cx="7274919" cy="1049553"/>
          </a:xfrm>
          <a:prstGeom prst="rect">
            <a:avLst/>
          </a:prstGeom>
          <a:noFill/>
          <a:ln>
            <a:noFill/>
          </a:ln>
        </p:spPr>
        <p:txBody>
          <a:bodyPr anchorCtr="0" anchor="t" bIns="45700" lIns="91425" spcFirstLastPara="1" rIns="91425" wrap="square" tIns="45700">
            <a:noAutofit/>
          </a:bodyPr>
          <a:lstStyle/>
          <a:p>
            <a:pPr indent="-514350" lvl="0" marL="514350" marR="0" rtl="0" algn="l">
              <a:lnSpc>
                <a:spcPct val="100000"/>
              </a:lnSpc>
              <a:spcBef>
                <a:spcPts val="0"/>
              </a:spcBef>
              <a:spcAft>
                <a:spcPts val="0"/>
              </a:spcAft>
              <a:buClr>
                <a:srgbClr val="262626"/>
              </a:buClr>
              <a:buSzPts val="2800"/>
              <a:buFont typeface="Calibri"/>
              <a:buAutoNum type="alphaLcPeriod"/>
            </a:pPr>
            <a:r>
              <a:rPr b="0" i="0" lang="en-US" sz="2800" u="none" cap="none" strike="noStrike">
                <a:solidFill>
                  <a:srgbClr val="23282D"/>
                </a:solidFill>
                <a:latin typeface="Arial"/>
                <a:ea typeface="Arial"/>
                <a:cs typeface="Arial"/>
                <a:sym typeface="Arial"/>
              </a:rPr>
              <a:t>What are the side lengths of the rhombus shown?​</a:t>
            </a:r>
            <a:endParaRPr b="0" i="0" sz="1400" u="none" cap="none" strike="noStrike">
              <a:solidFill>
                <a:srgbClr val="000000"/>
              </a:solidFill>
              <a:latin typeface="Arial"/>
              <a:ea typeface="Arial"/>
              <a:cs typeface="Arial"/>
              <a:sym typeface="Arial"/>
            </a:endParaRPr>
          </a:p>
        </p:txBody>
      </p:sp>
      <p:sp>
        <p:nvSpPr>
          <p:cNvPr id="1063" name="Google Shape;1063;p100"/>
          <p:cNvSpPr txBox="1"/>
          <p:nvPr/>
        </p:nvSpPr>
        <p:spPr>
          <a:xfrm>
            <a:off x="484565" y="525234"/>
            <a:ext cx="5492675" cy="537406"/>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pPr>
            <a:r>
              <a:rPr b="1" i="0" lang="en-US" sz="2800" u="none" cap="none" strike="noStrike">
                <a:solidFill>
                  <a:srgbClr val="782DA0"/>
                </a:solidFill>
                <a:latin typeface="Arial"/>
                <a:ea typeface="Arial"/>
                <a:cs typeface="Arial"/>
                <a:sym typeface="Arial"/>
              </a:rPr>
              <a:t>Let’s Explore More</a:t>
            </a:r>
            <a:endParaRPr b="0" i="0" sz="1400" u="none" cap="none" strike="noStrike">
              <a:solidFill>
                <a:srgbClr val="000000"/>
              </a:solidFill>
              <a:latin typeface="Arial"/>
              <a:ea typeface="Arial"/>
              <a:cs typeface="Arial"/>
              <a:sym typeface="Arial"/>
            </a:endParaRPr>
          </a:p>
        </p:txBody>
      </p:sp>
      <p:sp>
        <p:nvSpPr>
          <p:cNvPr id="1064" name="Google Shape;1064;p100"/>
          <p:cNvSpPr txBox="1"/>
          <p:nvPr/>
        </p:nvSpPr>
        <p:spPr>
          <a:xfrm>
            <a:off x="484564" y="4412277"/>
            <a:ext cx="7274919" cy="970545"/>
          </a:xfrm>
          <a:prstGeom prst="rect">
            <a:avLst/>
          </a:prstGeom>
          <a:blipFill rotWithShape="1">
            <a:blip r:embed="rId3">
              <a:alphaModFix/>
            </a:blip>
            <a:stretch>
              <a:fillRect b="-15094" l="-1508" r="-838" t="-6918"/>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pic>
        <p:nvPicPr>
          <p:cNvPr id="1065" name="Google Shape;1065;p100"/>
          <p:cNvPicPr preferRelativeResize="0"/>
          <p:nvPr/>
        </p:nvPicPr>
        <p:blipFill rotWithShape="1">
          <a:blip r:embed="rId4">
            <a:alphaModFix/>
          </a:blip>
          <a:srcRect b="0" l="0" r="0" t="0"/>
          <a:stretch/>
        </p:blipFill>
        <p:spPr>
          <a:xfrm>
            <a:off x="8458799" y="2150087"/>
            <a:ext cx="3150000" cy="2520000"/>
          </a:xfrm>
          <a:prstGeom prst="rect">
            <a:avLst/>
          </a:prstGeom>
          <a:noFill/>
          <a:ln>
            <a:noFill/>
          </a:ln>
        </p:spPr>
      </p:pic>
      <p:sp>
        <p:nvSpPr>
          <p:cNvPr id="1066"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57 / 66</a:t>
            </a:r>
          </a:p>
        </p:txBody>
      </p:sp>
      <p:sp xmlns:p="http://schemas.openxmlformats.org/presentationml/2006/main" xmlns:a="http://schemas.openxmlformats.org/drawingml/2006/main">
        <p:nvSpPr>
          <p:cNvPr id="1067" name="TEACH-embedded-student-prompt" descr="Student thinking and response directions"/>
          <p:cNvSpPr txBox="1"/>
          <p:nvPr/>
        </p:nvSpPr>
        <p:spPr>
          <a:xfrm>
            <a:off x="594360" y="5815584"/>
            <a:ext cx="1109472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Try it yourself. Compare your work with a partner; explain one choice and revise.</a:t>
            </a:r>
            <a:endParaRPr lang="en-US" sz="2000"/>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showMasterSp="0" show="1">
  <p:cSld>
    <p:bg>
      <p:bgPr>
        <a:solidFill>
          <a:srgbClr val="FFFFFF"/>
        </a:solidFill>
        <a:effectLst/>
      </p:bgPr>
    </p:bg>
    <p:spTree>
      <p:nvGrpSpPr>
        <p:cNvPr id="1" name=""/>
        <p:cNvGrpSpPr/>
        <p:nvPr/>
      </p:nvGrpSpPr>
      <p:grpSpPr/>
      <p:sp>
        <p:nvSpPr>
          <p:cNvPr id="2" name="TextBox 1"/>
          <p:cNvSpPr txBox="1"/>
          <p:nvPr/>
        </p:nvSpPr>
        <p:spPr>
          <a:xfrm>
            <a:off x="594360" y="347472"/>
            <a:ext cx="10972800" cy="301752"/>
          </a:xfrm>
          <a:prstGeom prst="rect">
            <a:avLst/>
          </a:prstGeom>
          <a:noFill/>
        </p:spPr>
        <p:txBody>
          <a:bodyPr wrap="square" lIns="0" rIns="0" tIns="22860" bIns="0">
            <a:spAutoFit/>
          </a:bodyPr>
          <a:lstStyle/>
          <a:p>
            <a:pPr>
              <a:spcAft>
                <a:spcPts val="800"/>
              </a:spcAft>
              <a:defRPr sz="1300" b="1">
                <a:solidFill>
                  <a:srgbClr val="096B69"/>
                </a:solidFill>
                <a:latin typeface="Arial"/>
              </a:defRPr>
            </a:pPr>
            <a:r>
              <a:rPr/>
              <a:t>LESSON 5.1  /  CHECK YOUR WORK</a:t>
            </a:r>
          </a:p>
        </p:txBody>
      </p:sp>
      <p:sp>
        <p:nvSpPr>
          <p:cNvPr id="3" name="TextBox 2"/>
          <p:cNvSpPr txBox="1"/>
          <p:nvPr/>
        </p:nvSpPr>
        <p:spPr>
          <a:xfrm>
            <a:off x="594360" y="914400"/>
            <a:ext cx="10972800" cy="640080"/>
          </a:xfrm>
          <a:prstGeom prst="rect">
            <a:avLst/>
          </a:prstGeom>
          <a:noFill/>
        </p:spPr>
        <p:txBody>
          <a:bodyPr wrap="square" lIns="0" rIns="0" tIns="22860" bIns="0">
            <a:spAutoFit/>
          </a:bodyPr>
          <a:lstStyle/>
          <a:p>
            <a:pPr>
              <a:spcAft>
                <a:spcPts val="800"/>
              </a:spcAft>
              <a:defRPr sz="3600" b="1">
                <a:solidFill>
                  <a:srgbClr val="173451"/>
                </a:solidFill>
                <a:latin typeface="Arial"/>
              </a:defRPr>
            </a:pPr>
            <a:r>
              <a:rPr/>
              <a:t>Pause. Check. Improve.</a:t>
            </a:r>
          </a:p>
        </p:txBody>
      </p:sp>
      <p:sp>
        <p:nvSpPr>
          <p:cNvPr id="4" name="TextBox 3"/>
          <p:cNvSpPr txBox="1"/>
          <p:nvPr/>
        </p:nvSpPr>
        <p:spPr>
          <a:xfrm>
            <a:off x="594360" y="6263640"/>
            <a:ext cx="10789920" cy="274320"/>
          </a:xfrm>
          <a:prstGeom prst="rect">
            <a:avLst/>
          </a:prstGeom>
          <a:noFill/>
        </p:spPr>
        <p:txBody>
          <a:bodyPr wrap="square" lIns="0" rIns="0" tIns="22860" bIns="0">
            <a:spAutoFit/>
          </a:bodyPr>
          <a:lstStyle/>
          <a:p>
            <a:pPr>
              <a:spcAft>
                <a:spcPts val="800"/>
              </a:spcAft>
              <a:defRPr sz="1300" b="0">
                <a:solidFill>
                  <a:srgbClr val="506478"/>
                </a:solidFill>
                <a:latin typeface="Arial"/>
              </a:defRPr>
            </a:pPr>
            <a:r>
              <a:rPr/>
              <a:t>Listen to understand. Ask for evidence. Make room for every voice.</a:t>
            </a:r>
          </a:p>
        </p:txBody>
      </p:sp>
      <p:sp>
        <p:nvSpPr>
          <p:cNvPr id="5" name="Rounded Rectangle 4"/>
          <p:cNvSpPr/>
          <p:nvPr/>
        </p:nvSpPr>
        <p:spPr>
          <a:xfrm>
            <a:off x="594360" y="1828800"/>
            <a:ext cx="10972800" cy="1069848"/>
          </a:xfrm>
          <a:prstGeom prst="roundRect">
            <a:avLst/>
          </a:prstGeom>
          <a:solidFill>
            <a:srgbClr val="EDF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41248" y="2011680"/>
            <a:ext cx="1280160" cy="365760"/>
          </a:xfrm>
          <a:prstGeom prst="rect">
            <a:avLst/>
          </a:prstGeom>
          <a:noFill/>
        </p:spPr>
        <p:txBody>
          <a:bodyPr wrap="square" lIns="0" rIns="0" tIns="22860" bIns="0">
            <a:spAutoFit/>
          </a:bodyPr>
          <a:lstStyle/>
          <a:p>
            <a:pPr>
              <a:spcAft>
                <a:spcPts val="800"/>
              </a:spcAft>
              <a:defRPr sz="1700" b="1">
                <a:solidFill>
                  <a:srgbClr val="096B69"/>
                </a:solidFill>
                <a:latin typeface="Arial"/>
              </a:defRPr>
            </a:pPr>
            <a:r>
              <a:rPr/>
              <a:t>CHECK</a:t>
            </a:r>
          </a:p>
        </p:txBody>
      </p:sp>
      <p:sp>
        <p:nvSpPr>
          <p:cNvPr id="7" name="TextBox 6"/>
          <p:cNvSpPr txBox="1"/>
          <p:nvPr/>
        </p:nvSpPr>
        <p:spPr>
          <a:xfrm>
            <a:off x="2340864" y="1975104"/>
            <a:ext cx="8933688" cy="832104"/>
          </a:xfrm>
          <a:prstGeom prst="rect">
            <a:avLst/>
          </a:prstGeom>
          <a:noFill/>
        </p:spPr>
        <p:txBody>
          <a:bodyPr wrap="square" lIns="0" rIns="0" tIns="22860" bIns="0">
            <a:spAutoFit/>
          </a:bodyPr>
          <a:lstStyle/>
          <a:p>
            <a:pPr>
              <a:spcAft>
                <a:spcPts val="800"/>
              </a:spcAft>
              <a:defRPr sz="2300" b="0">
                <a:solidFill>
                  <a:srgbClr val="24384B"/>
                </a:solidFill>
                <a:latin typeface="Arial"/>
              </a:defRPr>
            </a:pPr>
            <a:r>
              <a:rPr/>
              <a:t>A mistake to watch for: using a slanted side as the height.</a:t>
            </a:r>
          </a:p>
        </p:txBody>
      </p:sp>
      <p:sp>
        <p:nvSpPr>
          <p:cNvPr id="8" name="Rounded Rectangle 7"/>
          <p:cNvSpPr/>
          <p:nvPr/>
        </p:nvSpPr>
        <p:spPr>
          <a:xfrm>
            <a:off x="594360" y="3127248"/>
            <a:ext cx="10972800" cy="1069848"/>
          </a:xfrm>
          <a:prstGeom prst="roundRect">
            <a:avLst/>
          </a:prstGeom>
          <a:solidFill>
            <a:srgbClr val="F1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41248" y="3310128"/>
            <a:ext cx="1280160" cy="365760"/>
          </a:xfrm>
          <a:prstGeom prst="rect">
            <a:avLst/>
          </a:prstGeom>
          <a:noFill/>
        </p:spPr>
        <p:txBody>
          <a:bodyPr wrap="square" lIns="0" rIns="0" tIns="22860" bIns="0">
            <a:spAutoFit/>
          </a:bodyPr>
          <a:lstStyle/>
          <a:p>
            <a:pPr>
              <a:spcAft>
                <a:spcPts val="800"/>
              </a:spcAft>
              <a:defRPr sz="1700" b="1">
                <a:solidFill>
                  <a:srgbClr val="096B69"/>
                </a:solidFill>
                <a:latin typeface="Arial"/>
              </a:defRPr>
            </a:pPr>
            <a:r>
              <a:rPr/>
              <a:t>TRY</a:t>
            </a:r>
          </a:p>
        </p:txBody>
      </p:sp>
      <p:sp>
        <p:nvSpPr>
          <p:cNvPr id="10" name="TextBox 9"/>
          <p:cNvSpPr txBox="1"/>
          <p:nvPr/>
        </p:nvSpPr>
        <p:spPr>
          <a:xfrm>
            <a:off x="2340864" y="3273552"/>
            <a:ext cx="8933688" cy="832104"/>
          </a:xfrm>
          <a:prstGeom prst="rect">
            <a:avLst/>
          </a:prstGeom>
          <a:noFill/>
        </p:spPr>
        <p:txBody>
          <a:bodyPr wrap="square" lIns="0" rIns="0" tIns="22860" bIns="0">
            <a:spAutoFit/>
          </a:bodyPr>
          <a:lstStyle/>
          <a:p>
            <a:pPr>
              <a:spcAft>
                <a:spcPts val="800"/>
              </a:spcAft>
              <a:defRPr sz="2300" b="0">
                <a:solidFill>
                  <a:srgbClr val="24384B"/>
                </a:solidFill>
                <a:latin typeface="Arial"/>
              </a:defRPr>
            </a:pPr>
            <a:r>
              <a:rPr/>
              <a:t>Mark a right angle between the selected base and height on the given diagram.</a:t>
            </a:r>
          </a:p>
        </p:txBody>
      </p:sp>
      <p:sp>
        <p:nvSpPr>
          <p:cNvPr id="11" name="Rounded Rectangle 10"/>
          <p:cNvSpPr/>
          <p:nvPr/>
        </p:nvSpPr>
        <p:spPr>
          <a:xfrm>
            <a:off x="594360" y="4425696"/>
            <a:ext cx="10972800" cy="1069848"/>
          </a:xfrm>
          <a:prstGeom prst="roundRect">
            <a:avLst/>
          </a:prstGeom>
          <a:solidFill>
            <a:srgbClr val="EDF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41248" y="4608576"/>
            <a:ext cx="1280160" cy="365760"/>
          </a:xfrm>
          <a:prstGeom prst="rect">
            <a:avLst/>
          </a:prstGeom>
          <a:noFill/>
        </p:spPr>
        <p:txBody>
          <a:bodyPr wrap="square" lIns="0" rIns="0" tIns="22860" bIns="0">
            <a:spAutoFit/>
          </a:bodyPr>
          <a:lstStyle/>
          <a:p>
            <a:pPr>
              <a:spcAft>
                <a:spcPts val="800"/>
              </a:spcAft>
              <a:defRPr sz="1700" b="1">
                <a:solidFill>
                  <a:srgbClr val="096B69"/>
                </a:solidFill>
                <a:latin typeface="Arial"/>
              </a:defRPr>
            </a:pPr>
            <a:r>
              <a:rPr/>
              <a:t>REVISE</a:t>
            </a:r>
          </a:p>
        </p:txBody>
      </p:sp>
      <p:sp>
        <p:nvSpPr>
          <p:cNvPr id="13" name="TextBox 12"/>
          <p:cNvSpPr txBox="1"/>
          <p:nvPr/>
        </p:nvSpPr>
        <p:spPr>
          <a:xfrm>
            <a:off x="2340864" y="4572000"/>
            <a:ext cx="8933688" cy="832104"/>
          </a:xfrm>
          <a:prstGeom prst="rect">
            <a:avLst/>
          </a:prstGeom>
          <a:noFill/>
        </p:spPr>
        <p:txBody>
          <a:bodyPr wrap="square" lIns="0" rIns="0" tIns="22860" bIns="0">
            <a:spAutoFit/>
          </a:bodyPr>
          <a:lstStyle/>
          <a:p>
            <a:pPr>
              <a:spcAft>
                <a:spcPts val="800"/>
              </a:spcAft>
              <a:defRPr sz="2300" b="0">
                <a:solidFill>
                  <a:srgbClr val="24384B"/>
                </a:solidFill>
                <a:latin typeface="Arial"/>
              </a:defRPr>
            </a:pPr>
            <a:r>
              <a:rPr/>
              <a:t>Use that check on the task you just completed. Correct or strengthen one part, and explain why.</a:t>
            </a:r>
          </a:p>
        </p:txBody>
      </p:sp>
      <p:grpSp>
        <p:nvGrpSpPr>
          <p:cNvPr id="14" name="TEACH-4-student-move" descr="TEACH 4 · Monitor progress and provide feedback"/>
          <p:cNvGrpSpPr/>
          <p:nvPr/>
        </p:nvGrpSpPr>
        <p:grpSpPr>
          <a:xfrm>
            <a:off x="502920" y="5824728"/>
            <a:ext cx="11186160" cy="402336"/>
            <a:chOff x="502920" y="5824728"/>
            <a:chExt cx="11186160" cy="402336"/>
          </a:xfrm>
        </p:grpSpPr>
        <p:sp>
          <p:nvSpPr>
            <p:cNvPr id="15" name="TEACH-move-card"/>
            <p:cNvSpPr/>
            <p:nvPr/>
          </p:nvSpPr>
          <p:spPr>
            <a:xfrm>
              <a:off x="502920" y="5824728"/>
              <a:ext cx="11186160" cy="402336"/>
            </a:xfrm>
            <a:prstGeom prst="roundRect">
              <a:avLst>
                <a:gd name="adj" fmla="val 16000"/>
              </a:avLst>
            </a:prstGeom>
            <a:solidFill>
              <a:srgbClr val="E4F0F5"/>
            </a:solidFill>
            <a:ln w="19050">
              <a:solidFill>
                <a:srgbClr val="8CB8C7"/>
              </a:solidFill>
            </a:ln>
          </p:spPr>
          <p:txBody>
            <a:bodyPr/>
            <a:lstStyle/>
            <a:p>
              <a:endParaRPr/>
            </a:p>
          </p:txBody>
        </p:sp>
        <p:sp>
          <p:nvSpPr>
            <p:cNvPr id="16" name="TEACH-move-rule"/>
            <p:cNvSpPr/>
            <p:nvPr/>
          </p:nvSpPr>
          <p:spPr>
            <a:xfrm>
              <a:off x="548640" y="5901172"/>
              <a:ext cx="100584" cy="249448"/>
            </a:xfrm>
            <a:prstGeom prst="roundRect">
              <a:avLst>
                <a:gd name="adj" fmla="val 50000"/>
              </a:avLst>
            </a:prstGeom>
            <a:solidFill>
              <a:srgbClr val="01708C"/>
            </a:solidFill>
            <a:ln>
              <a:noFill/>
            </a:ln>
          </p:spPr>
          <p:txBody>
            <a:bodyPr/>
            <a:lstStyle/>
            <a:p>
              <a:endParaRPr/>
            </a:p>
          </p:txBody>
        </p:sp>
        <p:sp>
          <p:nvSpPr>
            <p:cNvPr id="17" name="TEACH-move-text"/>
            <p:cNvSpPr txBox="1"/>
            <p:nvPr/>
          </p:nvSpPr>
          <p:spPr>
            <a:xfrm>
              <a:off x="822960" y="5824728"/>
              <a:ext cx="1072896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REVISE NOW  ·  </a:t>
              </a:r>
              <a:r>
                <a:rPr lang="en-US" sz="1200" dirty="0">
                  <a:solidFill>
                    <a:srgbClr val="13303A"/>
                  </a:solidFill>
                  <a:latin typeface="Arial"/>
                </a:rPr>
                <a:t>Change one answer and write why you changed it. A revision is evidence of learning.</a:t>
              </a:r>
              <a:endParaRPr lang="en-US" sz="1200"/>
            </a:p>
          </p:txBody>
        </p:sp>
      </p:gr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cxnSp>
        <p:nvCxnSpPr>
          <p:cNvPr id="905" name="Google Shape;905;p85"/>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906" name="Google Shape;906;p85"/>
          <p:cNvSpPr txBox="1"/>
          <p:nvPr/>
        </p:nvSpPr>
        <p:spPr>
          <a:xfrm>
            <a:off x="484566" y="936100"/>
            <a:ext cx="4973259" cy="194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1" i="0" lang="en-US" sz="2800" u="none" cap="none" strike="noStrike">
                <a:solidFill>
                  <a:srgbClr val="262626"/>
                </a:solidFill>
                <a:latin typeface="Arial"/>
                <a:ea typeface="Arial"/>
                <a:cs typeface="Arial"/>
                <a:sym typeface="Arial"/>
              </a:rPr>
              <a:t>What do you notice about the line segments that are labeled as diagonals in the figure?</a:t>
            </a:r>
            <a:endParaRPr b="0" i="0" sz="1400" u="none" cap="none" strike="noStrike">
              <a:solidFill>
                <a:srgbClr val="000000"/>
              </a:solidFill>
              <a:latin typeface="Arial"/>
              <a:ea typeface="Arial"/>
              <a:cs typeface="Arial"/>
              <a:sym typeface="Arial"/>
            </a:endParaRPr>
          </a:p>
        </p:txBody>
      </p:sp>
      <p:sp>
        <p:nvSpPr>
          <p:cNvPr id="907" name="Google Shape;907;p85"/>
          <p:cNvSpPr txBox="1"/>
          <p:nvPr/>
        </p:nvSpPr>
        <p:spPr>
          <a:xfrm>
            <a:off x="531478" y="5270509"/>
            <a:ext cx="11300857" cy="113943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pPr>
            <a:r>
              <a:rPr b="1" i="0" lang="en-US" sz="2800" u="none" cap="none" strike="noStrike">
                <a:solidFill>
                  <a:srgbClr val="0070C0"/>
                </a:solidFill>
                <a:highlight>
                  <a:srgbClr val="E0E0E0"/>
                </a:highlight>
                <a:latin typeface="Arial"/>
                <a:ea typeface="Arial"/>
                <a:cs typeface="Arial"/>
                <a:sym typeface="Arial"/>
              </a:rPr>
              <a:t> Reveal</a:t>
            </a:r>
            <a:r>
              <a:rPr b="1" i="0" lang="en-US" sz="2800" u="none" cap="none" strike="noStrike">
                <a:solidFill>
                  <a:srgbClr val="E0E0E0"/>
                </a:solidFill>
                <a:highlight>
                  <a:srgbClr val="E0E0E0"/>
                </a:highlight>
                <a:latin typeface="Arial"/>
                <a:ea typeface="Arial"/>
                <a:cs typeface="Arial"/>
                <a:sym typeface="Arial"/>
              </a:rPr>
              <a:t>:</a:t>
            </a:r>
            <a:r>
              <a:rPr b="1" i="0" lang="en-US" sz="2800" u="none" cap="none" strike="noStrike">
                <a:solidFill>
                  <a:srgbClr val="0070C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595959"/>
              </a:buClr>
              <a:buSzPts val="2800"/>
              <a:buFont typeface="Arial"/>
              <a:buNone/>
            </a:pPr>
            <a:r>
              <a:rPr b="0" i="0" lang="en-US" sz="2800" u="none" cap="none" strike="noStrike">
                <a:solidFill>
                  <a:srgbClr val="595959"/>
                </a:solidFill>
                <a:latin typeface="Arial"/>
                <a:ea typeface="Arial"/>
                <a:cs typeface="Arial"/>
                <a:sym typeface="Arial"/>
              </a:rPr>
              <a:t>They connect two non-adjacent vertices of the rhombus.</a:t>
            </a:r>
            <a:endParaRPr b="0" i="0" sz="1400" u="none" cap="none" strike="noStrike">
              <a:solidFill>
                <a:srgbClr val="000000"/>
              </a:solidFill>
              <a:latin typeface="Arial"/>
              <a:ea typeface="Arial"/>
              <a:cs typeface="Arial"/>
              <a:sym typeface="Arial"/>
            </a:endParaRPr>
          </a:p>
        </p:txBody>
      </p:sp>
      <p:pic>
        <p:nvPicPr>
          <p:cNvPr id="908" name="Google Shape;908;p85"/>
          <p:cNvPicPr preferRelativeResize="0"/>
          <p:nvPr/>
        </p:nvPicPr>
        <p:blipFill rotWithShape="1">
          <a:blip r:embed="rId2">
            <a:alphaModFix/>
          </a:blip>
          <a:srcRect b="0" l="0" r="0" t="0"/>
          <a:stretch/>
        </p:blipFill>
        <p:spPr>
          <a:xfrm>
            <a:off x="5548893" y="1685925"/>
            <a:ext cx="6585957" cy="2520000"/>
          </a:xfrm>
          <a:prstGeom prst="rect">
            <a:avLst/>
          </a:prstGeom>
          <a:noFill/>
          <a:ln>
            <a:noFill/>
          </a:ln>
        </p:spPr>
      </p:pic>
      <p:sp>
        <p:nvSpPr>
          <p:cNvPr id="909" name="Google Shape;909;p85"/>
          <p:cNvSpPr txBox="1"/>
          <p:nvPr/>
        </p:nvSpPr>
        <p:spPr>
          <a:xfrm>
            <a:off x="484565" y="316034"/>
            <a:ext cx="4309377"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030A0"/>
              </a:buClr>
              <a:buSzPts val="2800"/>
              <a:buFont typeface="Arial"/>
              <a:buNone/>
            </a:pPr>
            <a:r>
              <a:rPr b="1" i="0" lang="en-US" sz="2800" u="none" cap="none" strike="noStrike">
                <a:solidFill>
                  <a:srgbClr val="7030A0"/>
                </a:solidFill>
                <a:latin typeface="Arial"/>
                <a:ea typeface="Arial"/>
                <a:cs typeface="Arial"/>
                <a:sym typeface="Arial"/>
              </a:rPr>
              <a:t>Tiling a Backsplash</a:t>
            </a:r>
            <a:endParaRPr b="0" i="0" sz="1400" u="none" cap="none" strike="noStrike">
              <a:solidFill>
                <a:srgbClr val="000000"/>
              </a:solidFill>
              <a:latin typeface="Arial"/>
              <a:ea typeface="Arial"/>
              <a:cs typeface="Arial"/>
              <a:sym typeface="Arial"/>
            </a:endParaRPr>
          </a:p>
        </p:txBody>
      </p:sp>
      <p:sp>
        <p:nvSpPr>
          <p:cNvPr id="333"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59 / 66</a:t>
            </a:r>
          </a:p>
        </p:txBody>
      </p:sp>
      <p:sp xmlns:p="http://schemas.openxmlformats.org/presentationml/2006/main" xmlns:a="http://schemas.openxmlformats.org/drawingml/2006/main">
        <p:nvSpPr>
          <p:cNvPr id="910" name="TEACH-embedded-student-prompt" descr="Student thinking and response directions"/>
          <p:cNvSpPr txBox="1"/>
          <p:nvPr/>
        </p:nvSpPr>
        <p:spPr>
          <a:xfrm>
            <a:off x="594360" y="4626864"/>
            <a:ext cx="1109472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Compare your reasoning with the explanation. Explain any revision you make.</a:t>
            </a:r>
            <a:endParaRPr lang="en-US" sz="2000"/>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cxnSp>
        <p:nvCxnSpPr>
          <p:cNvPr id="973" name="Google Shape;973;p92"/>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974" name="Google Shape;974;p92"/>
          <p:cNvSpPr txBox="1"/>
          <p:nvPr/>
        </p:nvSpPr>
        <p:spPr>
          <a:xfrm>
            <a:off x="484565" y="936000"/>
            <a:ext cx="6100317" cy="277160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defRPr/>
            </a:pPr>
            <a:r>
              <a:rPr b="0" i="0" lang="en-US" sz="2800" u="none" cap="none" strike="noStrike">
                <a:solidFill>
                  <a:srgbClr val="262626"/>
                </a:solidFill>
                <a:latin typeface="Arial"/>
                <a:ea typeface="Arial"/>
                <a:cs typeface="Arial"/>
                <a:sym typeface="Arial"/>
              </a:rPr>
              <a:t>We can use the area formula for rectangles.</a:t>
            </a:r>
            <a:endParaRPr b="0" i="0" sz="1400" u="none" cap="none" strike="noStrike">
              <a:solidFill>
                <a:srgbClr val="000000"/>
              </a:solidFill>
              <a:latin typeface="Arial"/>
              <a:ea typeface="Arial"/>
              <a:cs typeface="Arial"/>
              <a:sym typeface="Arial"/>
            </a:endParaRPr>
          </a:p>
        </p:txBody>
      </p:sp>
      <p:sp>
        <p:nvSpPr>
          <p:cNvPr id="975" name="Google Shape;975;p92"/>
          <p:cNvSpPr/>
          <p:nvPr/>
        </p:nvSpPr>
        <p:spPr>
          <a:xfrm>
            <a:off x="762000" y="3005994"/>
            <a:ext cx="2958230" cy="523220"/>
          </a:xfrm>
          <a:prstGeom prst="rect">
            <a:avLst/>
          </a:prstGeom>
          <a:blipFill rotWithShape="1">
            <a:blip r:embed="rId2">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Calibri"/>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976" name="Google Shape;976;p92"/>
          <p:cNvSpPr/>
          <p:nvPr/>
        </p:nvSpPr>
        <p:spPr>
          <a:xfrm>
            <a:off x="775173" y="1869388"/>
            <a:ext cx="1704758" cy="523220"/>
          </a:xfrm>
          <a:prstGeom prst="rect">
            <a:avLst/>
          </a:pr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Calibri"/>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977" name="Google Shape;977;p92"/>
          <p:cNvSpPr/>
          <p:nvPr/>
        </p:nvSpPr>
        <p:spPr>
          <a:xfrm>
            <a:off x="775173" y="2412912"/>
            <a:ext cx="2151871" cy="523220"/>
          </a:xfrm>
          <a:prstGeom prst="rect">
            <a:avLst/>
          </a:pr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Calibri"/>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978" name="Google Shape;978;p92"/>
          <p:cNvSpPr txBox="1"/>
          <p:nvPr/>
        </p:nvSpPr>
        <p:spPr>
          <a:xfrm>
            <a:off x="531478" y="4894844"/>
            <a:ext cx="11300857" cy="1505194"/>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defRPr/>
            </a:pPr>
            <a:r>
              <a:rPr b="1" i="0" lang="en-US" sz="2800" u="none" cap="none" strike="noStrike">
                <a:solidFill>
                  <a:srgbClr val="0070C0"/>
                </a:solidFill>
                <a:highlight>
                  <a:srgbClr val="E0E0E0"/>
                </a:highlight>
                <a:latin typeface="Arial"/>
                <a:ea typeface="Arial"/>
                <a:cs typeface="Arial"/>
                <a:sym typeface="Arial"/>
              </a:rPr>
              <a:t> Reveal</a:t>
            </a:r>
            <a:r>
              <a:rPr b="1" i="0" lang="en-US" sz="2800" u="none" cap="none" strike="noStrike">
                <a:solidFill>
                  <a:srgbClr val="E0E0E0"/>
                </a:solidFill>
                <a:highlight>
                  <a:srgbClr val="E0E0E0"/>
                </a:highlight>
                <a:latin typeface="Arial"/>
                <a:ea typeface="Arial"/>
                <a:cs typeface="Arial"/>
                <a:sym typeface="Arial"/>
              </a:rPr>
              <a:t>:</a:t>
            </a:r>
            <a:r>
              <a:rPr b="1" i="0" lang="en-US" sz="2800" u="none" cap="none" strike="noStrike">
                <a:solidFill>
                  <a:srgbClr val="0070C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595959"/>
              </a:buClr>
              <a:buSzPts val="2800"/>
              <a:buFont typeface="Arial"/>
              <a:buNone/>
              <a:defRPr/>
            </a:pPr>
            <a:r>
              <a:rPr b="0" i="0" lang="en-US" sz="2800" u="none" cap="none" strike="noStrike">
                <a:solidFill>
                  <a:srgbClr val="595959"/>
                </a:solidFill>
                <a:latin typeface="Arial"/>
                <a:ea typeface="Arial"/>
                <a:cs typeface="Arial"/>
                <a:sym typeface="Arial"/>
              </a:rPr>
              <a:t>The areas are the same because we did not change the size of the figure, just its shape.</a:t>
            </a:r>
            <a:endParaRPr b="0" i="0" sz="1400" u="none" cap="none" strike="noStrike">
              <a:solidFill>
                <a:srgbClr val="000000"/>
              </a:solidFill>
              <a:latin typeface="Arial"/>
              <a:ea typeface="Arial"/>
              <a:cs typeface="Arial"/>
              <a:sym typeface="Arial"/>
            </a:endParaRPr>
          </a:p>
        </p:txBody>
      </p:sp>
      <p:sp>
        <p:nvSpPr>
          <p:cNvPr id="979" name="Google Shape;979;p92"/>
          <p:cNvSpPr/>
          <p:nvPr/>
        </p:nvSpPr>
        <p:spPr>
          <a:xfrm>
            <a:off x="484565" y="3529214"/>
            <a:ext cx="5801935" cy="138499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defRPr/>
            </a:pPr>
            <a:r>
              <a:rPr b="1" i="0" lang="en-US" sz="2800" u="none" cap="none" strike="noStrike">
                <a:solidFill>
                  <a:schemeClr val="dk1"/>
                </a:solidFill>
                <a:latin typeface="Arial"/>
                <a:ea typeface="Arial"/>
                <a:cs typeface="Arial"/>
                <a:sym typeface="Arial"/>
              </a:rPr>
              <a:t>How does the area of the rectangle relate to the area of the original rhombus?</a:t>
            </a:r>
            <a:endParaRPr b="0" i="0" sz="2800" u="none" cap="none" strike="noStrike">
              <a:solidFill>
                <a:schemeClr val="dk1"/>
              </a:solidFill>
              <a:latin typeface="Arial"/>
              <a:ea typeface="Arial"/>
              <a:cs typeface="Arial"/>
              <a:sym typeface="Arial"/>
            </a:endParaRPr>
          </a:p>
        </p:txBody>
      </p:sp>
      <p:pic>
        <p:nvPicPr>
          <p:cNvPr id="980" name="Google Shape;980;p92"/>
          <p:cNvPicPr preferRelativeResize="0"/>
          <p:nvPr/>
        </p:nvPicPr>
        <p:blipFill rotWithShape="1">
          <a:blip r:embed="rId5">
            <a:alphaModFix/>
          </a:blip>
          <a:srcRect b="0" l="0" r="0" t="0"/>
          <a:stretch/>
        </p:blipFill>
        <p:spPr>
          <a:xfrm>
            <a:off x="6126360" y="1406132"/>
            <a:ext cx="5977306" cy="3060000"/>
          </a:xfrm>
          <a:prstGeom prst="rect">
            <a:avLst/>
          </a:prstGeom>
          <a:noFill/>
          <a:ln>
            <a:noFill/>
          </a:ln>
        </p:spPr>
      </p:pic>
      <p:sp>
        <p:nvSpPr>
          <p:cNvPr id="981" name="Google Shape;981;p92"/>
          <p:cNvSpPr txBox="1"/>
          <p:nvPr/>
        </p:nvSpPr>
        <p:spPr>
          <a:xfrm>
            <a:off x="484565" y="316034"/>
            <a:ext cx="4309377"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030A0"/>
              </a:buClr>
              <a:buSzPts val="2800"/>
              <a:buFont typeface="Arial"/>
              <a:buNone/>
              <a:defRPr/>
            </a:pPr>
            <a:r>
              <a:rPr b="1" i="0" lang="en-US" sz="2800" u="none" cap="none" strike="noStrike">
                <a:solidFill>
                  <a:srgbClr val="7030A0"/>
                </a:solidFill>
                <a:latin typeface="Arial"/>
                <a:ea typeface="Arial"/>
                <a:cs typeface="Arial"/>
                <a:sym typeface="Arial"/>
              </a:rPr>
              <a:t>Tiling a Backsplash</a:t>
            </a:r>
            <a:endParaRPr b="0" i="0" sz="1400" u="none" cap="none" strike="noStrike">
              <a:solidFill>
                <a:srgbClr val="000000"/>
              </a:solidFill>
              <a:latin typeface="Arial"/>
              <a:ea typeface="Arial"/>
              <a:cs typeface="Arial"/>
              <a:sym typeface="Arial"/>
            </a:endParaRPr>
          </a:p>
        </p:txBody>
      </p:sp>
      <p:sp>
        <p:nvSpPr>
          <p:cNvPr id="333"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60 / 66</a:t>
            </a: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9" name="Shape 1069"/>
        <p:cNvGrpSpPr/>
        <p:nvPr/>
      </p:nvGrpSpPr>
      <p:grpSpPr>
        <a:xfrm>
          <a:off x="0" y="0"/>
          <a:ext cx="0" cy="0"/>
          <a:chOff x="0" y="0"/>
          <a:chExt cx="0" cy="0"/>
        </a:xfrm>
      </p:grpSpPr>
      <p:cxnSp>
        <p:nvCxnSpPr>
          <p:cNvPr id="1070" name="Google Shape;1070;p101"/>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1071" name="Google Shape;1071;p101"/>
          <p:cNvSpPr txBox="1"/>
          <p:nvPr/>
        </p:nvSpPr>
        <p:spPr>
          <a:xfrm>
            <a:off x="486000" y="375391"/>
            <a:ext cx="6066547" cy="1024251"/>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defRPr/>
            </a:pPr>
            <a:r>
              <a:rPr b="0" i="0" lang="en-US" sz="2800" u="none" cap="none" strike="noStrike">
                <a:solidFill>
                  <a:srgbClr val="782DA0"/>
                </a:solidFill>
                <a:latin typeface="Arial"/>
                <a:ea typeface="Arial"/>
                <a:cs typeface="Arial"/>
                <a:sym typeface="Arial"/>
              </a:rPr>
              <a:t>Summarize: </a:t>
            </a:r>
            <a:r>
              <a:rPr b="1" i="0" lang="en-US" sz="2800" u="none" cap="none" strike="noStrike">
                <a:solidFill>
                  <a:srgbClr val="782DA0"/>
                </a:solidFill>
                <a:latin typeface="Arial"/>
                <a:ea typeface="Arial"/>
                <a:cs typeface="Arial"/>
                <a:sym typeface="Arial"/>
              </a:rPr>
              <a:t>Determine the Area of Parallelograms and Rhombuses</a:t>
            </a:r>
            <a:endParaRPr b="1" i="0" sz="1500" u="none" cap="none" strike="noStrike">
              <a:solidFill>
                <a:srgbClr val="782DA0"/>
              </a:solidFill>
              <a:latin typeface="Arial"/>
              <a:ea typeface="Arial"/>
              <a:cs typeface="Arial"/>
              <a:sym typeface="Arial"/>
            </a:endParaRPr>
          </a:p>
        </p:txBody>
      </p:sp>
      <p:graphicFrame>
        <p:nvGraphicFramePr>
          <p:cNvPr id="1072" name="Google Shape;1072;p101"/>
          <p:cNvGraphicFramePr/>
          <p:nvPr/>
        </p:nvGraphicFramePr>
        <p:xfrm>
          <a:off x="486000" y="1516147"/>
          <a:ext cx="3000000" cy="3000000"/>
        </p:xfrm>
        <a:graphic>
          <a:graphicData uri="http://schemas.openxmlformats.org/drawingml/2006/table">
            <a:tbl>
              <a:tblPr bandRow="1" firstRow="1">
                <a:noFill/>
                <a:tableStyleId>{5286CED2-7F92-443A-975B-0DF484970EFF}</a:tableStyleId>
              </a:tblPr>
              <a:tblGrid>
                <a:gridCol w="5617625"/>
                <a:gridCol w="5530550"/>
              </a:tblGrid>
              <a:tr h="4849300">
                <a:tc>
                  <a:txBody>
                    <a:bodyPr/>
                    <a:lstStyle/>
                    <a:p>
                      <a:pPr indent="0" lvl="0" marL="0" marR="0" rtl="0" algn="l">
                        <a:lnSpc>
                          <a:spcPct val="100000"/>
                        </a:lnSpc>
                        <a:spcBef>
                          <a:spcPts val="0"/>
                        </a:spcBef>
                        <a:spcAft>
                          <a:spcPts val="0"/>
                        </a:spcAft>
                        <a:buClr>
                          <a:srgbClr val="000000"/>
                        </a:buClr>
                        <a:buSzPts val="2600"/>
                        <a:buFont typeface="Arial"/>
                        <a:buNone/>
                      </a:pPr>
                      <a:r>
                        <a:rPr b="0" lang="en-US" sz="2600" u="none" cap="none" strike="noStrike">
                          <a:solidFill>
                            <a:schemeClr val="dk1"/>
                          </a:solidFill>
                          <a:latin typeface="Arial"/>
                          <a:ea typeface="Arial"/>
                          <a:cs typeface="Arial"/>
                          <a:sym typeface="Arial"/>
                        </a:rPr>
                        <a:t>You can find the areas of parallelograms and rhombuses by composing them into rectangles or by using a formula.</a:t>
                      </a:r>
                      <a:endParaRPr sz="1400" u="none" cap="none" strike="noStrike"/>
                    </a:p>
                    <a:p>
                      <a:pPr indent="0" lvl="0" marL="0" marR="0" rtl="0" algn="l">
                        <a:lnSpc>
                          <a:spcPct val="100000"/>
                        </a:lnSpc>
                        <a:spcBef>
                          <a:spcPts val="0"/>
                        </a:spcBef>
                        <a:spcAft>
                          <a:spcPts val="0"/>
                        </a:spcAft>
                        <a:buClr>
                          <a:srgbClr val="000000"/>
                        </a:buClr>
                        <a:buSzPts val="2800"/>
                        <a:buFont typeface="Arial"/>
                        <a:buNone/>
                      </a:pPr>
                      <a:r>
                        <a:t/>
                      </a:r>
                      <a:endParaRPr b="0" sz="2800" u="none" cap="none" strike="noStrike">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2600"/>
                        <a:buFont typeface="Arial"/>
                        <a:buNone/>
                      </a:pPr>
                      <a:r>
                        <a:rPr b="0" lang="en-US" sz="2600" u="none" cap="none" strike="noStrike">
                          <a:solidFill>
                            <a:schemeClr val="dk1"/>
                          </a:solidFill>
                          <a:latin typeface="Arial"/>
                          <a:ea typeface="Arial"/>
                          <a:cs typeface="Arial"/>
                          <a:sym typeface="Arial"/>
                        </a:rPr>
                        <a:t>You can find an unknown dimension of a parallelogram when given one dimension and the area by using the area formula.</a:t>
                      </a:r>
                      <a:endParaRPr sz="1400" u="none" cap="none" strike="noStrike"/>
                    </a:p>
                    <a:p>
                      <a:pPr indent="0" lvl="0" marL="0" marR="0" rtl="0" algn="l">
                        <a:lnSpc>
                          <a:spcPct val="100000"/>
                        </a:lnSpc>
                        <a:spcBef>
                          <a:spcPts val="0"/>
                        </a:spcBef>
                        <a:spcAft>
                          <a:spcPts val="0"/>
                        </a:spcAft>
                        <a:buClr>
                          <a:srgbClr val="000000"/>
                        </a:buClr>
                        <a:buSzPts val="2800"/>
                        <a:buFont typeface="Arial"/>
                        <a:buNone/>
                      </a:pPr>
                      <a:r>
                        <a:t/>
                      </a:r>
                      <a:endParaRPr b="0" sz="2800" u="none" cap="none" strike="noStrike">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bl>
          </a:graphicData>
        </a:graphic>
      </p:graphicFrame>
      <p:sp>
        <p:nvSpPr>
          <p:cNvPr id="1073" name="Google Shape;1073;p101"/>
          <p:cNvSpPr txBox="1"/>
          <p:nvPr/>
        </p:nvSpPr>
        <p:spPr>
          <a:xfrm>
            <a:off x="577614" y="4582362"/>
            <a:ext cx="3807911" cy="1805944"/>
          </a:xfrm>
          <a:prstGeom prst="rect">
            <a:avLst/>
          </a:pr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1074" name="Google Shape;1074;p101"/>
          <p:cNvSpPr txBox="1"/>
          <p:nvPr/>
        </p:nvSpPr>
        <p:spPr>
          <a:xfrm>
            <a:off x="9179681" y="4156692"/>
            <a:ext cx="2412000" cy="1815882"/>
          </a:xfrm>
          <a:prstGeom prst="rect">
            <a:avLst/>
          </a:pr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pic>
        <p:nvPicPr>
          <p:cNvPr id="1075" name="Google Shape;1075;p101"/>
          <p:cNvPicPr preferRelativeResize="0"/>
          <p:nvPr/>
        </p:nvPicPr>
        <p:blipFill rotWithShape="1">
          <a:blip r:embed="rId5">
            <a:alphaModFix/>
          </a:blip>
          <a:srcRect b="0" l="0" r="0" t="0"/>
          <a:stretch/>
        </p:blipFill>
        <p:spPr>
          <a:xfrm>
            <a:off x="1575649" y="3280326"/>
            <a:ext cx="2809875" cy="1276350"/>
          </a:xfrm>
          <a:prstGeom prst="rect">
            <a:avLst/>
          </a:prstGeom>
          <a:noFill/>
          <a:ln>
            <a:noFill/>
          </a:ln>
        </p:spPr>
      </p:pic>
      <p:pic>
        <p:nvPicPr>
          <p:cNvPr id="1076" name="Google Shape;1076;p101"/>
          <p:cNvPicPr preferRelativeResize="0"/>
          <p:nvPr/>
        </p:nvPicPr>
        <p:blipFill rotWithShape="1">
          <a:blip r:embed="rId6">
            <a:alphaModFix/>
          </a:blip>
          <a:srcRect b="0" l="0" r="0" t="0"/>
          <a:stretch/>
        </p:blipFill>
        <p:spPr>
          <a:xfrm>
            <a:off x="6411933" y="3555241"/>
            <a:ext cx="2209846" cy="2520000"/>
          </a:xfrm>
          <a:prstGeom prst="rect">
            <a:avLst/>
          </a:prstGeom>
          <a:noFill/>
          <a:ln>
            <a:noFill/>
          </a:ln>
        </p:spPr>
      </p:pic>
      <p:sp>
        <p:nvSpPr>
          <p:cNvPr id="1077"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62 / 66</a:t>
            </a:r>
          </a:p>
        </p:txBody>
      </p:sp>
      <p:sp>
        <p:nvSpPr>
          <p:cNvPr id="1078" name="EWL-Routine"/>
          <p:cNvSpPr>
            <a:spLocks noGrp="1"/>
          </p:cNvSpPr>
          <p:nvPr/>
        </p:nvSpPr>
        <p:spPr>
          <a:xfrm>
            <a:off x="502920" y="54864"/>
            <a:ext cx="6035040" cy="237744"/>
          </a:xfrm>
          <a:prstGeom prst="rect">
            <a:avLst/>
          </a:prstGeom>
          <a:noFill/>
        </p:spPr>
        <p:txBody>
          <a:bodyPr lIns="0" rIns="0" tIns="0" bIns="0" wrap="square" anchor="ctr">
            <a:noAutofit/>
          </a:bodyPr>
          <a:lstStyle/>
          <a:p>
            <a:pPr algn="l">
              <a:defRPr/>
            </a:pPr>
            <a:r>
              <a:rPr lang="en-US" sz="1200" b="1">
                <a:solidFill>
                  <a:srgbClr val="1E2682"/>
                </a:solidFill>
                <a:latin typeface="Arial"/>
              </a:rPr>
              <a:t>SUMMARIZE</a:t>
            </a:r>
            <a:r>
              <a:rPr lang="en-US" sz="1200" b="1">
                <a:solidFill>
                  <a:srgbClr val="5D6872"/>
                </a:solidFill>
                <a:latin typeface="Arial"/>
              </a:rPr>
              <a:t>  ·  SAY IT IN YOUR OWN WORDS</a:t>
            </a:r>
          </a:p>
        </p:txBody>
      </p:sp>
      <p:grpSp>
        <p:nvGrpSpPr>
          <p:cNvPr id="1079" name="TEACH-3-student-move" descr="TEACH 3 · Use intentional questioning to deepen learning"/>
          <p:cNvGrpSpPr/>
          <p:nvPr/>
        </p:nvGrpSpPr>
        <p:grpSpPr>
          <a:xfrm>
            <a:off x="8938260" y="2882900"/>
            <a:ext cx="2750820" cy="1248156"/>
            <a:chOff x="6187440" y="2878585"/>
            <a:chExt cx="5501640" cy="594360"/>
          </a:xfrm>
        </p:grpSpPr>
        <p:sp>
          <p:nvSpPr>
            <p:cNvPr id="1080" name="TEACH-move-card"/>
            <p:cNvSpPr/>
            <p:nvPr/>
          </p:nvSpPr>
          <p:spPr>
            <a:xfrm>
              <a:off x="6187440" y="2878585"/>
              <a:ext cx="5501640" cy="594360"/>
            </a:xfrm>
            <a:prstGeom prst="roundRect">
              <a:avLst>
                <a:gd name="adj" fmla="val 16000"/>
              </a:avLst>
            </a:prstGeom>
            <a:solidFill>
              <a:srgbClr val="E4F0F5"/>
            </a:solidFill>
            <a:ln w="19050">
              <a:solidFill>
                <a:srgbClr val="8CB8C7"/>
              </a:solidFill>
            </a:ln>
          </p:spPr>
          <p:txBody>
            <a:bodyPr/>
            <a:lstStyle/>
            <a:p>
              <a:endParaRPr/>
            </a:p>
          </p:txBody>
        </p:sp>
        <p:sp>
          <p:nvSpPr>
            <p:cNvPr id="1081" name="TEACH-move-rule"/>
            <p:cNvSpPr/>
            <p:nvPr/>
          </p:nvSpPr>
          <p:spPr>
            <a:xfrm>
              <a:off x="6233160" y="2991513"/>
              <a:ext cx="100584" cy="368504"/>
            </a:xfrm>
            <a:prstGeom prst="roundRect">
              <a:avLst>
                <a:gd name="adj" fmla="val 50000"/>
              </a:avLst>
            </a:prstGeom>
            <a:solidFill>
              <a:srgbClr val="01708C"/>
            </a:solidFill>
            <a:ln>
              <a:noFill/>
            </a:ln>
          </p:spPr>
          <p:txBody>
            <a:bodyPr/>
            <a:lstStyle/>
            <a:p>
              <a:endParaRPr/>
            </a:p>
          </p:txBody>
        </p:sp>
        <p:sp>
          <p:nvSpPr>
            <p:cNvPr id="1082" name="TEACH-move-text"/>
            <p:cNvSpPr txBox="1"/>
            <p:nvPr/>
          </p:nvSpPr>
          <p:spPr>
            <a:xfrm>
              <a:off x="6507480" y="2878585"/>
              <a:ext cx="5044440" cy="594360"/>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PROVE IT  ·  </a:t>
              </a:r>
              <a:r>
                <a:rPr lang="en-US" sz="1200" dirty="0">
                  <a:solidFill>
                    <a:srgbClr val="13303A"/>
                  </a:solidFill>
                  <a:latin typeface="Arial"/>
                </a:rPr>
                <a:t>Find the evidence in the problem that makes your answer right — not just the answer.</a:t>
              </a:r>
              <a:endParaRPr lang="en-US" sz="1200"/>
            </a:p>
          </p:txBody>
        </p:sp>
      </p:gr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0" name="Shape 1080"/>
        <p:cNvGrpSpPr/>
        <p:nvPr/>
      </p:nvGrpSpPr>
      <p:grpSpPr>
        <a:xfrm>
          <a:off x="0" y="0"/>
          <a:ext cx="0" cy="0"/>
          <a:chOff x="0" y="0"/>
          <a:chExt cx="0" cy="0"/>
        </a:xfrm>
      </p:grpSpPr>
      <p:cxnSp>
        <p:nvCxnSpPr>
          <p:cNvPr id="1081" name="Google Shape;1081;p102"/>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1082" name="Google Shape;1082;p102"/>
          <p:cNvSpPr txBox="1"/>
          <p:nvPr/>
        </p:nvSpPr>
        <p:spPr>
          <a:xfrm>
            <a:off x="484565" y="903463"/>
            <a:ext cx="7077378" cy="550230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400"/>
              <a:buFont typeface="Arial"/>
              <a:buNone/>
              <a:defRPr/>
            </a:pPr>
            <a:r>
              <a:rPr b="0" i="0" lang="en-US" sz="2400" u="none" cap="none" strike="noStrike">
                <a:solidFill>
                  <a:srgbClr val="23282D"/>
                </a:solidFill>
                <a:latin typeface="Arial"/>
                <a:ea typeface="Arial"/>
                <a:cs typeface="Arial"/>
                <a:sym typeface="Arial"/>
              </a:rPr>
              <a:t>Claire, a city horticulturist, is developing a new park to replace an old city lot. The center of the park will feature a koi pond that will cover 1,245 square feet. Eighty-five percent of the remaining space will be covered with grass seed. A 50-pound bag of grass seed covers up to 7,500 square feet. Straw is also needed to cover the grass seed. One bale of straw will cover about 500 square feet.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800"/>
              </a:spcBef>
              <a:spcAft>
                <a:spcPts val="0"/>
              </a:spcAft>
              <a:buClr>
                <a:srgbClr val="262626"/>
              </a:buClr>
              <a:buSzPts val="2400"/>
              <a:buFont typeface="Arial"/>
              <a:buNone/>
              <a:defRPr/>
            </a:pPr>
            <a:r>
              <a:rPr b="1" i="0" lang="en-US" sz="2400" u="none" cap="none" strike="noStrike">
                <a:solidFill>
                  <a:srgbClr val="23282D"/>
                </a:solidFill>
                <a:latin typeface="Arial"/>
                <a:ea typeface="Arial"/>
                <a:cs typeface="Arial"/>
                <a:sym typeface="Arial"/>
              </a:rPr>
              <a:t>Choose a question to answer.​</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800"/>
              </a:spcBef>
              <a:spcAft>
                <a:spcPts val="0"/>
              </a:spcAft>
              <a:buClr>
                <a:srgbClr val="262626"/>
              </a:buClr>
              <a:buSzPts val="2400"/>
              <a:buFont typeface="Arial"/>
              <a:buNone/>
              <a:defRPr/>
            </a:pPr>
            <a:r>
              <a:rPr b="1" i="0" lang="en-US" sz="2400" u="none" cap="none" strike="noStrike">
                <a:solidFill>
                  <a:srgbClr val="23282D"/>
                </a:solidFill>
                <a:latin typeface="Arial"/>
                <a:ea typeface="Arial"/>
                <a:cs typeface="Arial"/>
                <a:sym typeface="Arial"/>
              </a:rPr>
              <a:t>Question 1: </a:t>
            </a:r>
            <a:r>
              <a:rPr b="0" i="0" lang="en-US" sz="2400" u="none" cap="none" strike="noStrike">
                <a:solidFill>
                  <a:srgbClr val="23282D"/>
                </a:solidFill>
                <a:latin typeface="Arial"/>
                <a:ea typeface="Arial"/>
                <a:cs typeface="Arial"/>
                <a:sym typeface="Arial"/>
              </a:rPr>
              <a:t>How many bags of grass seed should be used to seed the park?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800"/>
              </a:spcBef>
              <a:spcAft>
                <a:spcPts val="0"/>
              </a:spcAft>
              <a:buClr>
                <a:srgbClr val="262626"/>
              </a:buClr>
              <a:buSzPts val="2400"/>
              <a:buFont typeface="Arial"/>
              <a:buNone/>
              <a:defRPr/>
            </a:pPr>
            <a:r>
              <a:rPr b="1" i="0" lang="en-US" sz="2400" u="none" cap="none" strike="noStrike">
                <a:solidFill>
                  <a:srgbClr val="23282D"/>
                </a:solidFill>
                <a:latin typeface="Arial"/>
                <a:ea typeface="Arial"/>
                <a:cs typeface="Arial"/>
                <a:sym typeface="Arial"/>
              </a:rPr>
              <a:t>Question 2: </a:t>
            </a:r>
            <a:r>
              <a:rPr b="0" i="0" lang="en-US" sz="2400" u="none" cap="none" strike="noStrike">
                <a:solidFill>
                  <a:srgbClr val="23282D"/>
                </a:solidFill>
                <a:latin typeface="Arial"/>
                <a:ea typeface="Arial"/>
                <a:cs typeface="Arial"/>
                <a:sym typeface="Arial"/>
              </a:rPr>
              <a:t>How many bales of straw should be used to cover the grass seed?</a:t>
            </a:r>
            <a:endParaRPr b="0" i="0" sz="1400" u="none" cap="none" strike="noStrike">
              <a:solidFill>
                <a:srgbClr val="000000"/>
              </a:solidFill>
              <a:latin typeface="Arial"/>
              <a:ea typeface="Arial"/>
              <a:cs typeface="Arial"/>
              <a:sym typeface="Arial"/>
            </a:endParaRPr>
          </a:p>
        </p:txBody>
      </p:sp>
      <p:sp>
        <p:nvSpPr>
          <p:cNvPr id="1083" name="Google Shape;1083;p102"/>
          <p:cNvSpPr txBox="1"/>
          <p:nvPr/>
        </p:nvSpPr>
        <p:spPr>
          <a:xfrm>
            <a:off x="484565" y="316034"/>
            <a:ext cx="6031645" cy="537406"/>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defRPr/>
            </a:pPr>
            <a:r>
              <a:rPr b="0" i="0" lang="en-US" sz="2800" u="none" cap="none" strike="noStrike">
                <a:solidFill>
                  <a:srgbClr val="782DA0"/>
                </a:solidFill>
                <a:latin typeface="Arial"/>
                <a:ea typeface="Arial"/>
                <a:cs typeface="Arial"/>
                <a:sym typeface="Arial"/>
              </a:rPr>
              <a:t>Apply:</a:t>
            </a:r>
            <a:r>
              <a:rPr b="1" i="0" lang="en-US" sz="2800" u="none" cap="none" strike="noStrike">
                <a:solidFill>
                  <a:srgbClr val="782DA0"/>
                </a:solidFill>
                <a:latin typeface="Arial"/>
                <a:ea typeface="Arial"/>
                <a:cs typeface="Arial"/>
                <a:sym typeface="Arial"/>
              </a:rPr>
              <a:t> A New Park</a:t>
            </a:r>
            <a:endParaRPr b="0" i="0" sz="1400" u="none" cap="none" strike="noStrike">
              <a:solidFill>
                <a:srgbClr val="000000"/>
              </a:solidFill>
              <a:latin typeface="Arial"/>
              <a:ea typeface="Arial"/>
              <a:cs typeface="Arial"/>
              <a:sym typeface="Arial"/>
            </a:endParaRPr>
          </a:p>
        </p:txBody>
      </p:sp>
      <p:pic>
        <p:nvPicPr>
          <p:cNvPr id="1084" name="Google Shape;1084;p102"/>
          <p:cNvPicPr preferRelativeResize="0"/>
          <p:nvPr/>
        </p:nvPicPr>
        <p:blipFill rotWithShape="1">
          <a:blip r:embed="rId3">
            <a:alphaModFix/>
          </a:blip>
          <a:srcRect b="0" l="0" r="0" t="0"/>
          <a:stretch/>
        </p:blipFill>
        <p:spPr>
          <a:xfrm>
            <a:off x="7743042" y="1895248"/>
            <a:ext cx="4124325" cy="2428875"/>
          </a:xfrm>
          <a:prstGeom prst="rect">
            <a:avLst/>
          </a:prstGeom>
          <a:noFill/>
          <a:ln>
            <a:noFill/>
          </a:ln>
        </p:spPr>
      </p:pic>
      <p:sp>
        <p:nvSpPr>
          <p:cNvPr id="1085"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63 / 66</a:t>
            </a:r>
          </a:p>
        </p:txBody>
      </p:sp>
      <p:sp>
        <p:nvSpPr>
          <p:cNvPr id="1086" name="EWL-Routine"/>
          <p:cNvSpPr>
            <a:spLocks noGrp="1"/>
          </p:cNvSpPr>
          <p:nvPr/>
        </p:nvSpPr>
        <p:spPr>
          <a:xfrm>
            <a:off x="502920" y="54864"/>
            <a:ext cx="6035040" cy="237744"/>
          </a:xfrm>
          <a:prstGeom prst="rect">
            <a:avLst/>
          </a:prstGeom>
          <a:noFill/>
        </p:spPr>
        <p:txBody>
          <a:bodyPr lIns="0" rIns="0" tIns="0" bIns="0" wrap="square" anchor="ctr">
            <a:noAutofit/>
          </a:bodyPr>
          <a:lstStyle/>
          <a:p>
            <a:pPr algn="l">
              <a:defRPr/>
            </a:pPr>
            <a:r>
              <a:rPr lang="en-US" sz="1200" b="1">
                <a:solidFill>
                  <a:srgbClr val="1E2682"/>
                </a:solidFill>
                <a:latin typeface="Arial"/>
              </a:rPr>
              <a:t>APPLY</a:t>
            </a:r>
            <a:r>
              <a:rPr lang="en-US" sz="1200" b="1">
                <a:solidFill>
                  <a:srgbClr val="5D6872"/>
                </a:solidFill>
                <a:latin typeface="Arial"/>
              </a:rPr>
              <a:t>  ·  PLAN IT • SOLVE IT • PROVE IT</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089" name="Google Shape;1089;p103"/>
          <p:cNvSpPr txBox="1"/>
          <p:nvPr/>
        </p:nvSpPr>
        <p:spPr>
          <a:xfrm>
            <a:off x="484565" y="316034"/>
            <a:ext cx="5492675" cy="537406"/>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pPr>
            <a:r>
              <a:rPr b="1" i="0" lang="en-US" sz="2800" u="none" cap="none" strike="noStrike">
                <a:solidFill>
                  <a:srgbClr val="782DA0"/>
                </a:solidFill>
                <a:latin typeface="Arial"/>
                <a:ea typeface="Arial"/>
                <a:cs typeface="Arial"/>
                <a:sym typeface="Arial"/>
              </a:rPr>
              <a:t>Learning Targets</a:t>
            </a:r>
            <a:endParaRPr b="0" i="0" sz="1400" u="none" cap="none" strike="noStrike">
              <a:solidFill>
                <a:srgbClr val="000000"/>
              </a:solidFill>
              <a:latin typeface="Arial"/>
              <a:ea typeface="Arial"/>
              <a:cs typeface="Arial"/>
              <a:sym typeface="Arial"/>
            </a:endParaRPr>
          </a:p>
        </p:txBody>
      </p:sp>
      <p:cxnSp>
        <p:nvCxnSpPr>
          <p:cNvPr id="1090" name="Google Shape;1090;p103"/>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1091" name="Google Shape;1091;p103"/>
          <p:cNvSpPr txBox="1"/>
          <p:nvPr/>
        </p:nvSpPr>
        <p:spPr>
          <a:xfrm>
            <a:off x="484564" y="927528"/>
            <a:ext cx="8029242" cy="3520904"/>
          </a:xfrm>
          <a:prstGeom prst="rect">
            <a:avLst/>
          </a:prstGeom>
          <a:noFill/>
          <a:ln>
            <a:noFill/>
          </a:ln>
        </p:spPr>
        <p:txBody>
          <a:bodyPr anchorCtr="0" anchor="t" bIns="45700" lIns="91425" spcFirstLastPara="1" rIns="91425" wrap="square" tIns="45700">
            <a:noAutofit/>
          </a:bodyPr>
          <a:lstStyle/>
          <a:p>
            <a:pPr indent="-457200" lvl="0" marL="457200" marR="0" rtl="0" algn="l">
              <a:lnSpc>
                <a:spcPct val="100000"/>
              </a:lnSpc>
              <a:spcBef>
                <a:spcPts val="0"/>
              </a:spcBef>
              <a:spcAft>
                <a:spcPts val="0"/>
              </a:spcAft>
              <a:buClr>
                <a:srgbClr val="262626"/>
              </a:buClr>
              <a:buSzPts val="2800"/>
              <a:buFont typeface="Arial"/>
              <a:buChar char="•"/>
            </a:pPr>
            <a:r>
              <a:rPr b="0" i="0" lang="en-US" sz="2800" u="none" cap="none" strike="noStrike">
                <a:solidFill>
                  <a:srgbClr val="262626"/>
                </a:solidFill>
                <a:latin typeface="Arial"/>
                <a:ea typeface="Arial"/>
                <a:cs typeface="Arial"/>
                <a:sym typeface="Arial"/>
              </a:rPr>
              <a:t>I can find the area of parallelograms and rhombuses by composing them into rectangles.</a:t>
            </a:r>
            <a:endParaRPr b="0" i="0" sz="1400" u="none" cap="none" strike="noStrike">
              <a:solidFill>
                <a:srgbClr val="000000"/>
              </a:solidFill>
              <a:latin typeface="Arial"/>
              <a:ea typeface="Arial"/>
              <a:cs typeface="Arial"/>
              <a:sym typeface="Arial"/>
            </a:endParaRPr>
          </a:p>
          <a:p>
            <a:pPr indent="-457200" lvl="0" marL="457200" marR="0" rtl="0" algn="l">
              <a:lnSpc>
                <a:spcPct val="100000"/>
              </a:lnSpc>
              <a:spcBef>
                <a:spcPts val="1800"/>
              </a:spcBef>
              <a:spcAft>
                <a:spcPts val="0"/>
              </a:spcAft>
              <a:buClr>
                <a:srgbClr val="262626"/>
              </a:buClr>
              <a:buSzPts val="2800"/>
              <a:buFont typeface="Arial"/>
              <a:buChar char="•"/>
            </a:pPr>
            <a:r>
              <a:rPr b="0" i="0" lang="en-US" sz="2800" u="none" cap="none" strike="noStrike">
                <a:solidFill>
                  <a:srgbClr val="262626"/>
                </a:solidFill>
                <a:latin typeface="Arial"/>
                <a:ea typeface="Arial"/>
                <a:cs typeface="Arial"/>
                <a:sym typeface="Arial"/>
              </a:rPr>
              <a:t>I can find the area of parallelograms and rhombuses by using a formula.</a:t>
            </a:r>
            <a:endParaRPr b="0" i="0" sz="1400" u="none" cap="none" strike="noStrike">
              <a:solidFill>
                <a:srgbClr val="000000"/>
              </a:solidFill>
              <a:latin typeface="Arial"/>
              <a:ea typeface="Arial"/>
              <a:cs typeface="Arial"/>
              <a:sym typeface="Arial"/>
            </a:endParaRPr>
          </a:p>
          <a:p>
            <a:pPr indent="-457200" lvl="0" marL="457200" marR="0" rtl="0" algn="l">
              <a:lnSpc>
                <a:spcPct val="100000"/>
              </a:lnSpc>
              <a:spcBef>
                <a:spcPts val="1800"/>
              </a:spcBef>
              <a:spcAft>
                <a:spcPts val="0"/>
              </a:spcAft>
              <a:buClr>
                <a:srgbClr val="262626"/>
              </a:buClr>
              <a:buSzPts val="2800"/>
              <a:buFont typeface="Arial"/>
              <a:buChar char="•"/>
            </a:pPr>
            <a:r>
              <a:rPr b="0" i="0" lang="en-US" sz="2800" u="none" cap="none" strike="noStrike">
                <a:solidFill>
                  <a:srgbClr val="262626"/>
                </a:solidFill>
                <a:latin typeface="Arial"/>
                <a:ea typeface="Arial"/>
                <a:cs typeface="Arial"/>
                <a:sym typeface="Arial"/>
              </a:rPr>
              <a:t>I can attend to precision to find a missing dimension by using the area formula.</a:t>
            </a:r>
            <a:endParaRPr b="0" i="0" sz="1400" u="none" cap="none" strike="noStrike">
              <a:solidFill>
                <a:srgbClr val="000000"/>
              </a:solidFill>
              <a:latin typeface="Arial"/>
              <a:ea typeface="Arial"/>
              <a:cs typeface="Arial"/>
              <a:sym typeface="Arial"/>
            </a:endParaRPr>
          </a:p>
        </p:txBody>
      </p:sp>
      <p:sp>
        <p:nvSpPr>
          <p:cNvPr id="333"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65 / 66</a:t>
            </a:r>
          </a:p>
        </p:txBody>
      </p:sp>
      <p:sp xmlns:p="http://schemas.openxmlformats.org/presentationml/2006/main" xmlns:a="http://schemas.openxmlformats.org/drawingml/2006/main">
        <p:nvSpPr>
          <p:cNvPr id="1092" name="TEACH-embedded-student-prompt" descr="Student thinking and response directions"/>
          <p:cNvSpPr txBox="1"/>
          <p:nvPr/>
        </p:nvSpPr>
        <p:spPr>
          <a:xfrm>
            <a:off x="594360" y="5815584"/>
            <a:ext cx="1109472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Point to evidence in your work. Name what improved and your next step.</a:t>
            </a:r>
            <a:endParaRPr lang="en-US" sz="2000"/>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showMasterSp="0" show="1">
  <p:cSld>
    <p:bg>
      <p:bgPr>
        <a:solidFill>
          <a:srgbClr val="FFFFFF"/>
        </a:solidFill>
        <a:effectLst/>
      </p:bgPr>
    </p:bg>
    <p:spTree>
      <p:nvGrpSpPr>
        <p:cNvPr id="1" name=""/>
        <p:cNvGrpSpPr/>
        <p:nvPr/>
      </p:nvGrpSpPr>
      <p:grpSpPr/>
      <p:sp>
        <p:nvSpPr>
          <p:cNvPr id="2" name="TextBox 1"/>
          <p:cNvSpPr txBox="1"/>
          <p:nvPr/>
        </p:nvSpPr>
        <p:spPr>
          <a:xfrm>
            <a:off x="594360" y="347472"/>
            <a:ext cx="10972800" cy="301752"/>
          </a:xfrm>
          <a:prstGeom prst="rect">
            <a:avLst/>
          </a:prstGeom>
          <a:noFill/>
        </p:spPr>
        <p:txBody>
          <a:bodyPr wrap="square" lIns="0" rIns="0" tIns="22860" bIns="0">
            <a:spAutoFit/>
          </a:bodyPr>
          <a:lstStyle/>
          <a:p>
            <a:pPr>
              <a:spcAft>
                <a:spcPts val="800"/>
              </a:spcAft>
              <a:defRPr sz="1300" b="1">
                <a:solidFill>
                  <a:srgbClr val="096B69"/>
                </a:solidFill>
                <a:latin typeface="Arial"/>
              </a:defRPr>
            </a:pPr>
            <a:r>
              <a:rPr/>
              <a:t>LESSON 5.1  /  REFLECT ON YOUR LEARNING</a:t>
            </a:r>
          </a:p>
        </p:txBody>
      </p:sp>
      <p:sp>
        <p:nvSpPr>
          <p:cNvPr id="3" name="TextBox 2"/>
          <p:cNvSpPr txBox="1"/>
          <p:nvPr/>
        </p:nvSpPr>
        <p:spPr>
          <a:xfrm>
            <a:off x="594360" y="914400"/>
            <a:ext cx="10972800" cy="640080"/>
          </a:xfrm>
          <a:prstGeom prst="rect">
            <a:avLst/>
          </a:prstGeom>
          <a:noFill/>
        </p:spPr>
        <p:txBody>
          <a:bodyPr wrap="square" lIns="0" rIns="0" tIns="22860" bIns="0">
            <a:spAutoFit/>
          </a:bodyPr>
          <a:lstStyle/>
          <a:p>
            <a:pPr>
              <a:spcAft>
                <a:spcPts val="800"/>
              </a:spcAft>
              <a:defRPr sz="3600" b="1">
                <a:solidFill>
                  <a:srgbClr val="173451"/>
                </a:solidFill>
                <a:latin typeface="Arial"/>
              </a:defRPr>
            </a:pPr>
            <a:r>
              <a:rPr/>
              <a:t>Show your progress</a:t>
            </a:r>
          </a:p>
        </p:txBody>
      </p:sp>
      <p:sp>
        <p:nvSpPr>
          <p:cNvPr id="4" name="TextBox 3"/>
          <p:cNvSpPr txBox="1"/>
          <p:nvPr/>
        </p:nvSpPr>
        <p:spPr>
          <a:xfrm>
            <a:off x="594360" y="6263640"/>
            <a:ext cx="10789920" cy="274320"/>
          </a:xfrm>
          <a:prstGeom prst="rect">
            <a:avLst/>
          </a:prstGeom>
          <a:noFill/>
        </p:spPr>
        <p:txBody>
          <a:bodyPr wrap="square" lIns="0" rIns="0" tIns="22860" bIns="0">
            <a:spAutoFit/>
          </a:bodyPr>
          <a:lstStyle/>
          <a:p>
            <a:pPr>
              <a:spcAft>
                <a:spcPts val="800"/>
              </a:spcAft>
              <a:defRPr sz="1300" b="0">
                <a:solidFill>
                  <a:srgbClr val="506478"/>
                </a:solidFill>
                <a:latin typeface="Arial"/>
              </a:defRPr>
            </a:pPr>
            <a:r>
              <a:rPr/>
              <a:t>Listen to understand. Ask for evidence. Make room for every voice.</a:t>
            </a:r>
          </a:p>
        </p:txBody>
      </p:sp>
      <p:sp>
        <p:nvSpPr>
          <p:cNvPr id="5" name="Rounded Rectangle 4"/>
          <p:cNvSpPr/>
          <p:nvPr/>
        </p:nvSpPr>
        <p:spPr>
          <a:xfrm>
            <a:off x="594360" y="1828800"/>
            <a:ext cx="5330952" cy="3136392"/>
          </a:xfrm>
          <a:prstGeom prst="roundRect">
            <a:avLst/>
          </a:prstGeom>
          <a:solidFill>
            <a:srgbClr val="EDF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236208" y="1828800"/>
            <a:ext cx="5330952" cy="3136392"/>
          </a:xfrm>
          <a:prstGeom prst="roundRect">
            <a:avLst/>
          </a:prstGeom>
          <a:solidFill>
            <a:srgbClr val="F1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86968" y="2103120"/>
            <a:ext cx="4709160" cy="365760"/>
          </a:xfrm>
          <a:prstGeom prst="rect">
            <a:avLst/>
          </a:prstGeom>
          <a:noFill/>
        </p:spPr>
        <p:txBody>
          <a:bodyPr wrap="square" lIns="0" rIns="0" tIns="22860" bIns="0">
            <a:spAutoFit/>
          </a:bodyPr>
          <a:lstStyle/>
          <a:p>
            <a:pPr>
              <a:spcAft>
                <a:spcPts val="800"/>
              </a:spcAft>
              <a:defRPr sz="1800" b="1">
                <a:solidFill>
                  <a:srgbClr val="096B69"/>
                </a:solidFill>
                <a:latin typeface="Arial"/>
              </a:defRPr>
            </a:pPr>
            <a:r>
              <a:rPr/>
              <a:t>1  SHOW EVIDENCE</a:t>
            </a:r>
          </a:p>
        </p:txBody>
      </p:sp>
      <p:sp>
        <p:nvSpPr>
          <p:cNvPr id="8" name="TextBox 7"/>
          <p:cNvSpPr txBox="1"/>
          <p:nvPr/>
        </p:nvSpPr>
        <p:spPr>
          <a:xfrm>
            <a:off x="886968" y="2743200"/>
            <a:ext cx="4617720" cy="1353312"/>
          </a:xfrm>
          <a:prstGeom prst="rect">
            <a:avLst/>
          </a:prstGeom>
          <a:noFill/>
        </p:spPr>
        <p:txBody>
          <a:bodyPr wrap="square" lIns="0" rIns="0" tIns="22860" bIns="0">
            <a:spAutoFit/>
          </a:bodyPr>
          <a:lstStyle/>
          <a:p>
            <a:pPr>
              <a:spcAft>
                <a:spcPts val="800"/>
              </a:spcAft>
              <a:defRPr sz="2600" b="0">
                <a:solidFill>
                  <a:srgbClr val="24384B"/>
                </a:solidFill>
                <a:latin typeface="Arial"/>
              </a:defRPr>
            </a:pPr>
            <a:r>
              <a:rPr/>
              <a:t>Choose one response. Point to the part that shows your reasoning.</a:t>
            </a:r>
          </a:p>
        </p:txBody>
      </p:sp>
      <p:sp>
        <p:nvSpPr>
          <p:cNvPr id="9" name="TextBox 8"/>
          <p:cNvSpPr txBox="1"/>
          <p:nvPr/>
        </p:nvSpPr>
        <p:spPr>
          <a:xfrm>
            <a:off x="886968" y="4224528"/>
            <a:ext cx="4617720" cy="502920"/>
          </a:xfrm>
          <a:prstGeom prst="rect">
            <a:avLst/>
          </a:prstGeom>
          <a:noFill/>
        </p:spPr>
        <p:txBody>
          <a:bodyPr wrap="square" lIns="0" rIns="0" tIns="22860" bIns="0">
            <a:spAutoFit/>
          </a:bodyPr>
          <a:lstStyle/>
          <a:p>
            <a:pPr>
              <a:spcAft>
                <a:spcPts val="800"/>
              </a:spcAft>
              <a:defRPr sz="1900" b="0">
                <a:solidFill>
                  <a:srgbClr val="506478"/>
                </a:solidFill>
                <a:latin typeface="Arial"/>
              </a:defRPr>
            </a:pPr>
            <a:r>
              <a:rPr/>
              <a:t>“My work shows ___ because ___.”</a:t>
            </a:r>
          </a:p>
        </p:txBody>
      </p:sp>
      <p:sp>
        <p:nvSpPr>
          <p:cNvPr id="10" name="TextBox 9"/>
          <p:cNvSpPr txBox="1"/>
          <p:nvPr/>
        </p:nvSpPr>
        <p:spPr>
          <a:xfrm>
            <a:off x="6528816" y="2103120"/>
            <a:ext cx="4700016" cy="365760"/>
          </a:xfrm>
          <a:prstGeom prst="rect">
            <a:avLst/>
          </a:prstGeom>
          <a:noFill/>
        </p:spPr>
        <p:txBody>
          <a:bodyPr wrap="square" lIns="0" rIns="0" tIns="22860" bIns="0">
            <a:spAutoFit/>
          </a:bodyPr>
          <a:lstStyle/>
          <a:p>
            <a:pPr>
              <a:spcAft>
                <a:spcPts val="800"/>
              </a:spcAft>
              <a:defRPr sz="1800" b="1">
                <a:solidFill>
                  <a:srgbClr val="096B69"/>
                </a:solidFill>
                <a:latin typeface="Arial"/>
              </a:defRPr>
            </a:pPr>
            <a:r>
              <a:rPr/>
              <a:t>2  CHOOSE A NEXT STEP</a:t>
            </a:r>
          </a:p>
        </p:txBody>
      </p:sp>
      <p:sp>
        <p:nvSpPr>
          <p:cNvPr id="11" name="TextBox 10"/>
          <p:cNvSpPr txBox="1"/>
          <p:nvPr/>
        </p:nvSpPr>
        <p:spPr>
          <a:xfrm>
            <a:off x="6528816" y="2743200"/>
            <a:ext cx="4617720" cy="1353312"/>
          </a:xfrm>
          <a:prstGeom prst="rect">
            <a:avLst/>
          </a:prstGeom>
          <a:noFill/>
        </p:spPr>
        <p:txBody>
          <a:bodyPr wrap="square" lIns="0" rIns="0" tIns="22860" bIns="0">
            <a:spAutoFit/>
          </a:bodyPr>
          <a:lstStyle/>
          <a:p>
            <a:pPr>
              <a:spcAft>
                <a:spcPts val="800"/>
              </a:spcAft>
              <a:defRPr sz="2600" b="0">
                <a:solidFill>
                  <a:srgbClr val="24384B"/>
                </a:solidFill>
                <a:latin typeface="Arial"/>
              </a:defRPr>
            </a:pPr>
            <a:r>
              <a:rPr/>
              <a:t>Name a change you made after feedback—or a question you still have.</a:t>
            </a:r>
          </a:p>
        </p:txBody>
      </p:sp>
      <p:sp>
        <p:nvSpPr>
          <p:cNvPr id="12" name="TextBox 11"/>
          <p:cNvSpPr txBox="1"/>
          <p:nvPr/>
        </p:nvSpPr>
        <p:spPr>
          <a:xfrm>
            <a:off x="6528816" y="4224528"/>
            <a:ext cx="4617720" cy="502920"/>
          </a:xfrm>
          <a:prstGeom prst="rect">
            <a:avLst/>
          </a:prstGeom>
          <a:noFill/>
        </p:spPr>
        <p:txBody>
          <a:bodyPr wrap="square" lIns="0" rIns="0" tIns="22860" bIns="0">
            <a:spAutoFit/>
          </a:bodyPr>
          <a:lstStyle/>
          <a:p>
            <a:pPr>
              <a:spcAft>
                <a:spcPts val="800"/>
              </a:spcAft>
              <a:defRPr sz="1900" b="0">
                <a:solidFill>
                  <a:srgbClr val="506478"/>
                </a:solidFill>
                <a:latin typeface="Arial"/>
              </a:defRPr>
            </a:pPr>
            <a:r>
              <a:rPr/>
              <a:t>“Next time, I will ___ to help me ___.”</a:t>
            </a:r>
          </a:p>
        </p:txBody>
      </p:sp>
      <p:sp>
        <p:nvSpPr>
          <p:cNvPr id="13" name="TextBox 12"/>
          <p:cNvSpPr txBox="1"/>
          <p:nvPr/>
        </p:nvSpPr>
        <p:spPr>
          <a:xfrm>
            <a:off x="621792" y="5376672"/>
            <a:ext cx="10954512" cy="685800"/>
          </a:xfrm>
          <a:prstGeom prst="rect">
            <a:avLst/>
          </a:prstGeom>
          <a:noFill/>
        </p:spPr>
        <p:txBody>
          <a:bodyPr wrap="square" lIns="0" rIns="0" tIns="22860" bIns="0">
            <a:spAutoFit/>
          </a:bodyPr>
          <a:lstStyle/>
          <a:p>
            <a:pPr>
              <a:spcAft>
                <a:spcPts val="800"/>
              </a:spcAft>
              <a:defRPr sz="2200" b="1">
                <a:solidFill>
                  <a:srgbClr val="173451"/>
                </a:solidFill>
                <a:latin typeface="Arial"/>
              </a:defRPr>
            </a:pPr>
            <a:r>
              <a:rPr/>
              <a:t>Today’s focus: Identify base and perpendicular height.</a:t>
            </a:r>
          </a:p>
        </p:txBody>
      </p:sp>
      <p:grpSp>
        <p:nvGrpSpPr>
          <p:cNvPr id="14" name="TEACH-7-student-move" descr="TEACH 7 · Cultivate a supportive learning community"/>
          <p:cNvGrpSpPr/>
          <p:nvPr/>
        </p:nvGrpSpPr>
        <p:grpSpPr>
          <a:xfrm>
            <a:off x="502920" y="5824728"/>
            <a:ext cx="11186160" cy="402336"/>
            <a:chOff x="502920" y="5824728"/>
            <a:chExt cx="11186160" cy="402336"/>
          </a:xfrm>
        </p:grpSpPr>
        <p:sp>
          <p:nvSpPr>
            <p:cNvPr id="15" name="TEACH-move-card"/>
            <p:cNvSpPr/>
            <p:nvPr/>
          </p:nvSpPr>
          <p:spPr>
            <a:xfrm>
              <a:off x="502920" y="5824728"/>
              <a:ext cx="11186160" cy="402336"/>
            </a:xfrm>
            <a:prstGeom prst="roundRect">
              <a:avLst>
                <a:gd name="adj" fmla="val 16000"/>
              </a:avLst>
            </a:prstGeom>
            <a:solidFill>
              <a:srgbClr val="E4F0F5"/>
            </a:solidFill>
            <a:ln w="19050">
              <a:solidFill>
                <a:srgbClr val="8CB8C7"/>
              </a:solidFill>
            </a:ln>
          </p:spPr>
          <p:txBody>
            <a:bodyPr/>
            <a:lstStyle/>
            <a:p>
              <a:endParaRPr/>
            </a:p>
          </p:txBody>
        </p:sp>
        <p:sp>
          <p:nvSpPr>
            <p:cNvPr id="16" name="TEACH-move-rule"/>
            <p:cNvSpPr/>
            <p:nvPr/>
          </p:nvSpPr>
          <p:spPr>
            <a:xfrm>
              <a:off x="548640" y="5901172"/>
              <a:ext cx="100584" cy="249448"/>
            </a:xfrm>
            <a:prstGeom prst="roundRect">
              <a:avLst>
                <a:gd name="adj" fmla="val 50000"/>
              </a:avLst>
            </a:prstGeom>
            <a:solidFill>
              <a:srgbClr val="01708C"/>
            </a:solidFill>
            <a:ln>
              <a:noFill/>
            </a:ln>
          </p:spPr>
          <p:txBody>
            <a:bodyPr/>
            <a:lstStyle/>
            <a:p>
              <a:endParaRPr/>
            </a:p>
          </p:txBody>
        </p:sp>
        <p:sp>
          <p:nvSpPr>
            <p:cNvPr id="17" name="TEACH-move-text"/>
            <p:cNvSpPr txBox="1"/>
            <p:nvPr/>
          </p:nvSpPr>
          <p:spPr>
            <a:xfrm>
              <a:off x="822960" y="5824728"/>
              <a:ext cx="1072896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CREDIT A CLASSMATE  ·  </a:t>
              </a:r>
              <a:r>
                <a:rPr lang="en-US" sz="1200" dirty="0">
                  <a:solidFill>
                    <a:srgbClr val="13303A"/>
                  </a:solidFill>
                  <a:latin typeface="Arial"/>
                </a:rPr>
                <a:t>Name one classmate whose idea helped you today, and say what they said.</a:t>
              </a:r>
              <a:endParaRPr lang="en-US" sz="1200"/>
            </a:p>
          </p:txBody>
        </p:sp>
      </p:gr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EWL-CompanionRule"/>
          <p:cNvSpPr/>
          <p:nvPr/>
        </p:nvSpPr>
        <p:spPr>
          <a:xfrm>
            <a:off x="0" y="0"/>
            <a:ext cx="12192000" cy="118872"/>
          </a:xfrm>
          <a:prstGeom prst="rect">
            <a:avLst/>
          </a:prstGeom>
          <a:solidFill>
            <a:srgbClr val="01708C"/>
          </a:solidFill>
          <a:ln>
            <a:noFill/>
          </a:ln>
        </p:spPr>
        <p:txBody>
          <a:bodyPr/>
          <a:lstStyle/>
          <a:p>
            <a:endParaRPr/>
          </a:p>
        </p:txBody>
      </p:sp>
      <p:sp>
        <p:nvSpPr>
          <p:cNvPr id="3" name="EWL-CompanionEyebrow"/>
          <p:cNvSpPr txBox="1"/>
          <p:nvPr/>
        </p:nvSpPr>
        <p:spPr>
          <a:xfrm>
            <a:off x="685800" y="594360"/>
            <a:ext cx="5410200" cy="274320"/>
          </a:xfrm>
          <a:prstGeom prst="rect">
            <a:avLst/>
          </a:prstGeom>
          <a:noFill/>
          <a:ln>
            <a:noFill/>
          </a:ln>
        </p:spPr>
        <p:txBody>
          <a:bodyPr wrap="square" lIns="0" tIns="0" rIns="0" bIns="0" anchor="ctr">
            <a:noAutofit/>
          </a:bodyPr>
          <a:lstStyle/>
          <a:p>
            <a:pPr algn="l">
              <a:buNone/>
            </a:pPr>
            <a:r>
              <a:rPr lang="en-US" sz="1400" b="1" spc="160" dirty="0">
                <a:solidFill>
                  <a:srgbClr val="01708C"/>
                </a:solidFill>
                <a:latin typeface="Arial"/>
              </a:rPr>
              <a:t>STUDENT MOVES</a:t>
            </a:r>
          </a:p>
        </p:txBody>
      </p:sp>
      <p:sp>
        <p:nvSpPr>
          <p:cNvPr id="4" name="EWL-CompanionLesson"/>
          <p:cNvSpPr txBox="1"/>
          <p:nvPr/>
        </p:nvSpPr>
        <p:spPr>
          <a:xfrm>
            <a:off x="6096000" y="594360"/>
            <a:ext cx="5410200" cy="274320"/>
          </a:xfrm>
          <a:prstGeom prst="rect">
            <a:avLst/>
          </a:prstGeom>
          <a:noFill/>
          <a:ln>
            <a:noFill/>
          </a:ln>
        </p:spPr>
        <p:txBody>
          <a:bodyPr wrap="square" lIns="0" tIns="0" rIns="0" bIns="0" anchor="ctr">
            <a:noAutofit/>
          </a:bodyPr>
          <a:lstStyle/>
          <a:p>
            <a:pPr algn="r">
              <a:buNone/>
            </a:pPr>
            <a:r>
              <a:rPr lang="en-US" sz="1400" b="0" dirty="0">
                <a:solidFill>
                  <a:srgbClr val="5A6670"/>
                </a:solidFill>
                <a:latin typeface="Arial"/>
              </a:rPr>
              <a:t>Lesson 5-1</a:t>
            </a:r>
          </a:p>
        </p:txBody>
      </p:sp>
      <p:sp>
        <p:nvSpPr>
          <p:cNvPr id="5" name="EWL-CompanionTitle"/>
          <p:cNvSpPr txBox="1"/>
          <p:nvPr/>
        </p:nvSpPr>
        <p:spPr>
          <a:xfrm>
            <a:off x="685800" y="868680"/>
            <a:ext cx="10820400" cy="731520"/>
          </a:xfrm>
          <a:prstGeom prst="rect">
            <a:avLst/>
          </a:prstGeom>
          <a:noFill/>
          <a:ln>
            <a:noFill/>
          </a:ln>
        </p:spPr>
        <p:txBody>
          <a:bodyPr wrap="square" lIns="0" tIns="0" rIns="0" bIns="0" anchor="ctr">
            <a:noAutofit/>
          </a:bodyPr>
          <a:lstStyle/>
          <a:p>
            <a:pPr algn="l">
              <a:buNone/>
            </a:pPr>
            <a:r>
              <a:rPr lang="en-US" sz="4000" b="1" dirty="0">
                <a:solidFill>
                  <a:srgbClr val="13303A"/>
                </a:solidFill>
                <a:latin typeface="Arial"/>
              </a:rPr>
              <a:t>Your move</a:t>
            </a:r>
          </a:p>
        </p:txBody>
      </p:sp>
      <p:sp>
        <p:nvSpPr>
          <p:cNvPr id="6" name="EWL-CompanionHair"/>
          <p:cNvSpPr/>
          <p:nvPr/>
        </p:nvSpPr>
        <p:spPr>
          <a:xfrm>
            <a:off x="685800" y="1737360"/>
            <a:ext cx="10820400" cy="19050"/>
          </a:xfrm>
          <a:prstGeom prst="rect">
            <a:avLst/>
          </a:prstGeom>
          <a:solidFill>
            <a:srgbClr val="8CB8C7"/>
          </a:solidFill>
          <a:ln>
            <a:noFill/>
          </a:ln>
        </p:spPr>
        <p:txBody>
          <a:bodyPr/>
          <a:lstStyle/>
          <a:p>
            <a:endParaRPr/>
          </a:p>
        </p:txBody>
      </p:sp>
      <p:sp>
        <p:nvSpPr>
          <p:cNvPr id="7" name="TEACH-move-card"/>
          <p:cNvSpPr/>
          <p:nvPr/>
        </p:nvSpPr>
        <p:spPr>
          <a:xfrm>
            <a:off x="685800" y="2057400"/>
            <a:ext cx="10820400" cy="1188720"/>
          </a:xfrm>
          <a:prstGeom prst="roundRect">
            <a:avLst>
              <a:gd name="adj" fmla="val 12000"/>
            </a:avLst>
          </a:prstGeom>
          <a:solidFill>
            <a:srgbClr val="E4F0F5"/>
          </a:solidFill>
          <a:ln w="19050">
            <a:solidFill>
              <a:srgbClr val="8CB8C7"/>
            </a:solidFill>
          </a:ln>
        </p:spPr>
        <p:txBody>
          <a:bodyPr/>
          <a:lstStyle/>
          <a:p>
            <a:endParaRPr/>
          </a:p>
        </p:txBody>
      </p:sp>
      <p:sp>
        <p:nvSpPr>
          <p:cNvPr id="8" name="TEACH-move-rule"/>
          <p:cNvSpPr/>
          <p:nvPr/>
        </p:nvSpPr>
        <p:spPr>
          <a:xfrm>
            <a:off x="731520" y="2283257"/>
            <a:ext cx="100584" cy="737006"/>
          </a:xfrm>
          <a:prstGeom prst="roundRect">
            <a:avLst>
              <a:gd name="adj" fmla="val 50000"/>
            </a:avLst>
          </a:prstGeom>
          <a:solidFill>
            <a:srgbClr val="01708C"/>
          </a:solidFill>
          <a:ln>
            <a:noFill/>
          </a:ln>
        </p:spPr>
        <p:txBody>
          <a:bodyPr/>
          <a:lstStyle/>
          <a:p>
            <a:endParaRPr/>
          </a:p>
        </p:txBody>
      </p:sp>
      <p:sp>
        <p:nvSpPr>
          <p:cNvPr id="9" name="TEACH-2-student-move"/>
          <p:cNvSpPr txBox="1"/>
          <p:nvPr/>
        </p:nvSpPr>
        <p:spPr>
          <a:xfrm>
            <a:off x="1005840" y="2057400"/>
            <a:ext cx="10271760" cy="1188720"/>
          </a:xfrm>
          <a:prstGeom prst="rect">
            <a:avLst/>
          </a:prstGeom>
          <a:noFill/>
          <a:ln>
            <a:noFill/>
          </a:ln>
        </p:spPr>
        <p:txBody>
          <a:bodyPr wrap="square" lIns="0" tIns="0" rIns="0" bIns="0" anchor="ctr">
            <a:noAutofit/>
          </a:bodyPr>
          <a:lstStyle/>
          <a:p>
            <a:pPr algn="l">
              <a:buNone/>
            </a:pPr>
            <a:r>
              <a:rPr lang="en-US" sz="2000" b="1" dirty="0">
                <a:solidFill>
                  <a:srgbClr val="01708C"/>
                </a:solidFill>
                <a:latin typeface="Arial"/>
              </a:rPr>
              <a:t>TWO MINUTES SOLO  ·  </a:t>
            </a:r>
            <a:r>
              <a:rPr lang="en-US" sz="2000" b="0" dirty="0">
                <a:solidFill>
                  <a:srgbClr val="13303A"/>
                </a:solidFill>
                <a:latin typeface="Arial"/>
              </a:rPr>
              <a:t>Two minutes on your own, then compare. Bring one thing you tried, even if it did not work.</a:t>
            </a:r>
          </a:p>
        </p:txBody>
      </p:sp>
      <p:sp>
        <p:nvSpPr>
          <p:cNvPr id="10" name="EWL-SlideNumber"/>
          <p:cNvSpPr txBox="1"/>
          <p:nvPr/>
        </p:nvSpPr>
        <p:spPr>
          <a:xfrm>
            <a:off x="5577840" y="6492240"/>
            <a:ext cx="1033272" cy="256032"/>
          </a:xfrm>
          <a:prstGeom prst="rect">
            <a:avLst/>
          </a:prstGeom>
          <a:noFill/>
          <a:ln>
            <a:noFill/>
          </a:ln>
        </p:spPr>
        <p:txBody>
          <a:bodyPr wrap="square" lIns="0" tIns="0" rIns="0" bIns="0" anchor="ctr">
            <a:noAutofit/>
          </a:bodyPr>
          <a:lstStyle/>
          <a:p>
            <a:pPr algn="ctr">
              <a:buNone/>
            </a:pPr>
            <a:r>
              <a:rPr lang="en-US" sz="1100" b="0" dirty="0">
                <a:solidFill>
                  <a:srgbClr val="5D6872"/>
                </a:solidFill>
                <a:latin typeface="Arial"/>
              </a:rPr>
              <a:t>27 / 66</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EWL-CompanionRule"/>
          <p:cNvSpPr/>
          <p:nvPr/>
        </p:nvSpPr>
        <p:spPr>
          <a:xfrm>
            <a:off x="0" y="0"/>
            <a:ext cx="12192000" cy="118872"/>
          </a:xfrm>
          <a:prstGeom prst="rect">
            <a:avLst/>
          </a:prstGeom>
          <a:solidFill>
            <a:srgbClr val="01708C"/>
          </a:solidFill>
          <a:ln>
            <a:noFill/>
          </a:ln>
        </p:spPr>
        <p:txBody>
          <a:bodyPr/>
          <a:lstStyle/>
          <a:p>
            <a:endParaRPr/>
          </a:p>
        </p:txBody>
      </p:sp>
      <p:sp>
        <p:nvSpPr>
          <p:cNvPr id="3" name="EWL-CompanionEyebrow"/>
          <p:cNvSpPr txBox="1"/>
          <p:nvPr/>
        </p:nvSpPr>
        <p:spPr>
          <a:xfrm>
            <a:off x="685800" y="594360"/>
            <a:ext cx="5410200" cy="274320"/>
          </a:xfrm>
          <a:prstGeom prst="rect">
            <a:avLst/>
          </a:prstGeom>
          <a:noFill/>
          <a:ln>
            <a:noFill/>
          </a:ln>
        </p:spPr>
        <p:txBody>
          <a:bodyPr wrap="square" lIns="0" tIns="0" rIns="0" bIns="0" anchor="ctr">
            <a:noAutofit/>
          </a:bodyPr>
          <a:lstStyle/>
          <a:p>
            <a:pPr algn="l">
              <a:buNone/>
            </a:pPr>
            <a:r>
              <a:rPr lang="en-US" sz="1400" b="1" spc="160" dirty="0">
                <a:solidFill>
                  <a:srgbClr val="01708C"/>
                </a:solidFill>
                <a:latin typeface="Arial"/>
              </a:rPr>
              <a:t>STUDENT MOVES</a:t>
            </a:r>
          </a:p>
        </p:txBody>
      </p:sp>
      <p:sp>
        <p:nvSpPr>
          <p:cNvPr id="4" name="EWL-CompanionLesson"/>
          <p:cNvSpPr txBox="1"/>
          <p:nvPr/>
        </p:nvSpPr>
        <p:spPr>
          <a:xfrm>
            <a:off x="6096000" y="594360"/>
            <a:ext cx="5410200" cy="274320"/>
          </a:xfrm>
          <a:prstGeom prst="rect">
            <a:avLst/>
          </a:prstGeom>
          <a:noFill/>
          <a:ln>
            <a:noFill/>
          </a:ln>
        </p:spPr>
        <p:txBody>
          <a:bodyPr wrap="square" lIns="0" tIns="0" rIns="0" bIns="0" anchor="ctr">
            <a:noAutofit/>
          </a:bodyPr>
          <a:lstStyle/>
          <a:p>
            <a:pPr algn="r">
              <a:buNone/>
            </a:pPr>
            <a:r>
              <a:rPr lang="en-US" sz="1400" b="0" dirty="0">
                <a:solidFill>
                  <a:srgbClr val="5A6670"/>
                </a:solidFill>
                <a:latin typeface="Arial"/>
              </a:rPr>
              <a:t>Lesson 5-1</a:t>
            </a:r>
          </a:p>
        </p:txBody>
      </p:sp>
      <p:sp>
        <p:nvSpPr>
          <p:cNvPr id="5" name="EWL-CompanionTitle"/>
          <p:cNvSpPr txBox="1"/>
          <p:nvPr/>
        </p:nvSpPr>
        <p:spPr>
          <a:xfrm>
            <a:off x="685800" y="868680"/>
            <a:ext cx="10820400" cy="731520"/>
          </a:xfrm>
          <a:prstGeom prst="rect">
            <a:avLst/>
          </a:prstGeom>
          <a:noFill/>
          <a:ln>
            <a:noFill/>
          </a:ln>
        </p:spPr>
        <p:txBody>
          <a:bodyPr wrap="square" lIns="0" tIns="0" rIns="0" bIns="0" anchor="ctr">
            <a:noAutofit/>
          </a:bodyPr>
          <a:lstStyle/>
          <a:p>
            <a:pPr algn="l">
              <a:buNone/>
            </a:pPr>
            <a:r>
              <a:rPr lang="en-US" sz="4000" b="1" dirty="0">
                <a:solidFill>
                  <a:srgbClr val="13303A"/>
                </a:solidFill>
                <a:latin typeface="Arial"/>
              </a:rPr>
              <a:t>Your move</a:t>
            </a:r>
          </a:p>
        </p:txBody>
      </p:sp>
      <p:sp>
        <p:nvSpPr>
          <p:cNvPr id="6" name="EWL-CompanionHair"/>
          <p:cNvSpPr/>
          <p:nvPr/>
        </p:nvSpPr>
        <p:spPr>
          <a:xfrm>
            <a:off x="685800" y="1737360"/>
            <a:ext cx="10820400" cy="19050"/>
          </a:xfrm>
          <a:prstGeom prst="rect">
            <a:avLst/>
          </a:prstGeom>
          <a:solidFill>
            <a:srgbClr val="8CB8C7"/>
          </a:solidFill>
          <a:ln>
            <a:noFill/>
          </a:ln>
        </p:spPr>
        <p:txBody>
          <a:bodyPr/>
          <a:lstStyle/>
          <a:p>
            <a:endParaRPr/>
          </a:p>
        </p:txBody>
      </p:sp>
      <p:sp>
        <p:nvSpPr>
          <p:cNvPr id="7" name="TEACH-move-card"/>
          <p:cNvSpPr/>
          <p:nvPr/>
        </p:nvSpPr>
        <p:spPr>
          <a:xfrm>
            <a:off x="685800" y="2057400"/>
            <a:ext cx="10820400" cy="1188720"/>
          </a:xfrm>
          <a:prstGeom prst="roundRect">
            <a:avLst>
              <a:gd name="adj" fmla="val 12000"/>
            </a:avLst>
          </a:prstGeom>
          <a:solidFill>
            <a:srgbClr val="E4F0F5"/>
          </a:solidFill>
          <a:ln w="19050">
            <a:solidFill>
              <a:srgbClr val="8CB8C7"/>
            </a:solidFill>
          </a:ln>
        </p:spPr>
        <p:txBody>
          <a:bodyPr/>
          <a:lstStyle/>
          <a:p>
            <a:endParaRPr/>
          </a:p>
        </p:txBody>
      </p:sp>
      <p:sp>
        <p:nvSpPr>
          <p:cNvPr id="8" name="TEACH-move-rule"/>
          <p:cNvSpPr/>
          <p:nvPr/>
        </p:nvSpPr>
        <p:spPr>
          <a:xfrm>
            <a:off x="731520" y="2283257"/>
            <a:ext cx="100584" cy="737006"/>
          </a:xfrm>
          <a:prstGeom prst="roundRect">
            <a:avLst>
              <a:gd name="adj" fmla="val 50000"/>
            </a:avLst>
          </a:prstGeom>
          <a:solidFill>
            <a:srgbClr val="01708C"/>
          </a:solidFill>
          <a:ln>
            <a:noFill/>
          </a:ln>
        </p:spPr>
        <p:txBody>
          <a:bodyPr/>
          <a:lstStyle/>
          <a:p>
            <a:endParaRPr/>
          </a:p>
        </p:txBody>
      </p:sp>
      <p:sp>
        <p:nvSpPr>
          <p:cNvPr id="9" name="TEACH-3-student-move"/>
          <p:cNvSpPr txBox="1"/>
          <p:nvPr/>
        </p:nvSpPr>
        <p:spPr>
          <a:xfrm>
            <a:off x="1005840" y="2057400"/>
            <a:ext cx="10271760" cy="1188720"/>
          </a:xfrm>
          <a:prstGeom prst="rect">
            <a:avLst/>
          </a:prstGeom>
          <a:noFill/>
          <a:ln>
            <a:noFill/>
          </a:ln>
        </p:spPr>
        <p:txBody>
          <a:bodyPr wrap="square" lIns="0" tIns="0" rIns="0" bIns="0" anchor="ctr">
            <a:noAutofit/>
          </a:bodyPr>
          <a:lstStyle/>
          <a:p>
            <a:pPr algn="l">
              <a:buNone/>
            </a:pPr>
            <a:r>
              <a:rPr lang="en-US" sz="2000" b="1" dirty="0">
                <a:solidFill>
                  <a:srgbClr val="01708C"/>
                </a:solidFill>
                <a:latin typeface="Arial"/>
              </a:rPr>
              <a:t>HOW DO YOU KNOW?  ·  </a:t>
            </a:r>
            <a:r>
              <a:rPr lang="en-US" sz="2000" b="0" dirty="0">
                <a:solidFill>
                  <a:srgbClr val="13303A"/>
                </a:solidFill>
                <a:latin typeface="Arial"/>
              </a:rPr>
              <a:t>Ask your partner “How do you know?” Answer by pointing to your own work.</a:t>
            </a:r>
          </a:p>
        </p:txBody>
      </p:sp>
      <p:sp>
        <p:nvSpPr>
          <p:cNvPr id="10" name="EWL-SlideNumber"/>
          <p:cNvSpPr txBox="1"/>
          <p:nvPr/>
        </p:nvSpPr>
        <p:spPr>
          <a:xfrm>
            <a:off x="5577840" y="6492240"/>
            <a:ext cx="1033272" cy="256032"/>
          </a:xfrm>
          <a:prstGeom prst="rect">
            <a:avLst/>
          </a:prstGeom>
          <a:noFill/>
          <a:ln>
            <a:noFill/>
          </a:ln>
        </p:spPr>
        <p:txBody>
          <a:bodyPr wrap="square" lIns="0" tIns="0" rIns="0" bIns="0" anchor="ctr">
            <a:noAutofit/>
          </a:bodyPr>
          <a:lstStyle/>
          <a:p>
            <a:pPr algn="ctr">
              <a:buNone/>
            </a:pPr>
            <a:r>
              <a:rPr lang="en-US" sz="1100" b="0" dirty="0">
                <a:solidFill>
                  <a:srgbClr val="5D6872"/>
                </a:solidFill>
                <a:latin typeface="Arial"/>
              </a:rPr>
              <a:t>30 / 66</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EWL-CompanionRule"/>
          <p:cNvSpPr/>
          <p:nvPr/>
        </p:nvSpPr>
        <p:spPr>
          <a:xfrm>
            <a:off x="0" y="0"/>
            <a:ext cx="12192000" cy="118872"/>
          </a:xfrm>
          <a:prstGeom prst="rect">
            <a:avLst/>
          </a:prstGeom>
          <a:solidFill>
            <a:srgbClr val="01708C"/>
          </a:solidFill>
          <a:ln>
            <a:noFill/>
          </a:ln>
        </p:spPr>
        <p:txBody>
          <a:bodyPr/>
          <a:lstStyle/>
          <a:p>
            <a:endParaRPr/>
          </a:p>
        </p:txBody>
      </p:sp>
      <p:sp>
        <p:nvSpPr>
          <p:cNvPr id="3" name="EWL-CompanionEyebrow"/>
          <p:cNvSpPr txBox="1"/>
          <p:nvPr/>
        </p:nvSpPr>
        <p:spPr>
          <a:xfrm>
            <a:off x="685800" y="594360"/>
            <a:ext cx="5410200" cy="274320"/>
          </a:xfrm>
          <a:prstGeom prst="rect">
            <a:avLst/>
          </a:prstGeom>
          <a:noFill/>
          <a:ln>
            <a:noFill/>
          </a:ln>
        </p:spPr>
        <p:txBody>
          <a:bodyPr wrap="square" lIns="0" tIns="0" rIns="0" bIns="0" anchor="ctr">
            <a:noAutofit/>
          </a:bodyPr>
          <a:lstStyle/>
          <a:p>
            <a:pPr algn="l">
              <a:buNone/>
            </a:pPr>
            <a:r>
              <a:rPr lang="en-US" sz="1400" b="1" spc="160" dirty="0">
                <a:solidFill>
                  <a:srgbClr val="01708C"/>
                </a:solidFill>
                <a:latin typeface="Arial"/>
              </a:rPr>
              <a:t>STUDENT MOVES</a:t>
            </a:r>
          </a:p>
        </p:txBody>
      </p:sp>
      <p:sp>
        <p:nvSpPr>
          <p:cNvPr id="4" name="EWL-CompanionLesson"/>
          <p:cNvSpPr txBox="1"/>
          <p:nvPr/>
        </p:nvSpPr>
        <p:spPr>
          <a:xfrm>
            <a:off x="6096000" y="594360"/>
            <a:ext cx="5410200" cy="274320"/>
          </a:xfrm>
          <a:prstGeom prst="rect">
            <a:avLst/>
          </a:prstGeom>
          <a:noFill/>
          <a:ln>
            <a:noFill/>
          </a:ln>
        </p:spPr>
        <p:txBody>
          <a:bodyPr wrap="square" lIns="0" tIns="0" rIns="0" bIns="0" anchor="ctr">
            <a:noAutofit/>
          </a:bodyPr>
          <a:lstStyle/>
          <a:p>
            <a:pPr algn="r">
              <a:buNone/>
            </a:pPr>
            <a:r>
              <a:rPr lang="en-US" sz="1400" b="0" dirty="0">
                <a:solidFill>
                  <a:srgbClr val="5A6670"/>
                </a:solidFill>
                <a:latin typeface="Arial"/>
              </a:rPr>
              <a:t>Lesson 5-1</a:t>
            </a:r>
          </a:p>
        </p:txBody>
      </p:sp>
      <p:sp>
        <p:nvSpPr>
          <p:cNvPr id="5" name="EWL-CompanionTitle"/>
          <p:cNvSpPr txBox="1"/>
          <p:nvPr/>
        </p:nvSpPr>
        <p:spPr>
          <a:xfrm>
            <a:off x="685800" y="868680"/>
            <a:ext cx="10820400" cy="731520"/>
          </a:xfrm>
          <a:prstGeom prst="rect">
            <a:avLst/>
          </a:prstGeom>
          <a:noFill/>
          <a:ln>
            <a:noFill/>
          </a:ln>
        </p:spPr>
        <p:txBody>
          <a:bodyPr wrap="square" lIns="0" tIns="0" rIns="0" bIns="0" anchor="ctr">
            <a:noAutofit/>
          </a:bodyPr>
          <a:lstStyle/>
          <a:p>
            <a:pPr algn="l">
              <a:buNone/>
            </a:pPr>
            <a:r>
              <a:rPr lang="en-US" sz="4000" b="1" dirty="0">
                <a:solidFill>
                  <a:srgbClr val="13303A"/>
                </a:solidFill>
                <a:latin typeface="Arial"/>
              </a:rPr>
              <a:t>Your move</a:t>
            </a:r>
          </a:p>
        </p:txBody>
      </p:sp>
      <p:sp>
        <p:nvSpPr>
          <p:cNvPr id="6" name="EWL-CompanionHair"/>
          <p:cNvSpPr/>
          <p:nvPr/>
        </p:nvSpPr>
        <p:spPr>
          <a:xfrm>
            <a:off x="685800" y="1737360"/>
            <a:ext cx="10820400" cy="19050"/>
          </a:xfrm>
          <a:prstGeom prst="rect">
            <a:avLst/>
          </a:prstGeom>
          <a:solidFill>
            <a:srgbClr val="8CB8C7"/>
          </a:solidFill>
          <a:ln>
            <a:noFill/>
          </a:ln>
        </p:spPr>
        <p:txBody>
          <a:bodyPr/>
          <a:lstStyle/>
          <a:p>
            <a:endParaRPr/>
          </a:p>
        </p:txBody>
      </p:sp>
      <p:sp>
        <p:nvSpPr>
          <p:cNvPr id="7" name="TEACH-move-card"/>
          <p:cNvSpPr/>
          <p:nvPr/>
        </p:nvSpPr>
        <p:spPr>
          <a:xfrm>
            <a:off x="685800" y="2057400"/>
            <a:ext cx="10820400" cy="1188720"/>
          </a:xfrm>
          <a:prstGeom prst="roundRect">
            <a:avLst>
              <a:gd name="adj" fmla="val 12000"/>
            </a:avLst>
          </a:prstGeom>
          <a:solidFill>
            <a:srgbClr val="E4F0F5"/>
          </a:solidFill>
          <a:ln w="19050">
            <a:solidFill>
              <a:srgbClr val="8CB8C7"/>
            </a:solidFill>
          </a:ln>
        </p:spPr>
        <p:txBody>
          <a:bodyPr/>
          <a:lstStyle/>
          <a:p>
            <a:endParaRPr/>
          </a:p>
        </p:txBody>
      </p:sp>
      <p:sp>
        <p:nvSpPr>
          <p:cNvPr id="8" name="TEACH-move-rule"/>
          <p:cNvSpPr/>
          <p:nvPr/>
        </p:nvSpPr>
        <p:spPr>
          <a:xfrm>
            <a:off x="731520" y="2283257"/>
            <a:ext cx="100584" cy="737006"/>
          </a:xfrm>
          <a:prstGeom prst="roundRect">
            <a:avLst>
              <a:gd name="adj" fmla="val 50000"/>
            </a:avLst>
          </a:prstGeom>
          <a:solidFill>
            <a:srgbClr val="01708C"/>
          </a:solidFill>
          <a:ln>
            <a:noFill/>
          </a:ln>
        </p:spPr>
        <p:txBody>
          <a:bodyPr/>
          <a:lstStyle/>
          <a:p>
            <a:endParaRPr/>
          </a:p>
        </p:txBody>
      </p:sp>
      <p:sp>
        <p:nvSpPr>
          <p:cNvPr id="9" name="TEACH-5-student-move"/>
          <p:cNvSpPr txBox="1"/>
          <p:nvPr/>
        </p:nvSpPr>
        <p:spPr>
          <a:xfrm>
            <a:off x="1005840" y="2057400"/>
            <a:ext cx="10271760" cy="1188720"/>
          </a:xfrm>
          <a:prstGeom prst="rect">
            <a:avLst/>
          </a:prstGeom>
          <a:noFill/>
          <a:ln>
            <a:noFill/>
          </a:ln>
        </p:spPr>
        <p:txBody>
          <a:bodyPr wrap="square" lIns="0" tIns="0" rIns="0" bIns="0" anchor="ctr">
            <a:noAutofit/>
          </a:bodyPr>
          <a:lstStyle/>
          <a:p>
            <a:pPr algn="l">
              <a:buNone/>
            </a:pPr>
            <a:r>
              <a:rPr lang="en-US" sz="2000" b="1" dirty="0">
                <a:solidFill>
                  <a:srgbClr val="01708C"/>
                </a:solidFill>
                <a:latin typeface="Arial"/>
              </a:rPr>
              <a:t>ADD ON  ·  </a:t>
            </a:r>
            <a:r>
              <a:rPr lang="en-US" sz="2000" b="0" dirty="0">
                <a:solidFill>
                  <a:srgbClr val="13303A"/>
                </a:solidFill>
                <a:latin typeface="Arial"/>
              </a:rPr>
              <a:t>Add on: “I agree because ______.”  or  “I see it differently because ______.”</a:t>
            </a:r>
          </a:p>
        </p:txBody>
      </p:sp>
      <p:sp>
        <p:nvSpPr>
          <p:cNvPr id="10" name="EWL-SlideNumber"/>
          <p:cNvSpPr txBox="1"/>
          <p:nvPr/>
        </p:nvSpPr>
        <p:spPr>
          <a:xfrm>
            <a:off x="5577840" y="6492240"/>
            <a:ext cx="1033272" cy="256032"/>
          </a:xfrm>
          <a:prstGeom prst="rect">
            <a:avLst/>
          </a:prstGeom>
          <a:noFill/>
          <a:ln>
            <a:noFill/>
          </a:ln>
        </p:spPr>
        <p:txBody>
          <a:bodyPr wrap="square" lIns="0" tIns="0" rIns="0" bIns="0" anchor="ctr">
            <a:noAutofit/>
          </a:bodyPr>
          <a:lstStyle/>
          <a:p>
            <a:pPr algn="ctr">
              <a:buNone/>
            </a:pPr>
            <a:r>
              <a:rPr lang="en-US" sz="1100" b="0" dirty="0">
                <a:solidFill>
                  <a:srgbClr val="5D6872"/>
                </a:solidFill>
                <a:latin typeface="Arial"/>
              </a:rPr>
              <a:t>33 / 66</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EWL-CompanionRule"/>
          <p:cNvSpPr/>
          <p:nvPr/>
        </p:nvSpPr>
        <p:spPr>
          <a:xfrm>
            <a:off x="0" y="0"/>
            <a:ext cx="12192000" cy="118872"/>
          </a:xfrm>
          <a:prstGeom prst="rect">
            <a:avLst/>
          </a:prstGeom>
          <a:solidFill>
            <a:srgbClr val="01708C"/>
          </a:solidFill>
          <a:ln>
            <a:noFill/>
          </a:ln>
        </p:spPr>
        <p:txBody>
          <a:bodyPr/>
          <a:lstStyle/>
          <a:p>
            <a:endParaRPr/>
          </a:p>
        </p:txBody>
      </p:sp>
      <p:sp>
        <p:nvSpPr>
          <p:cNvPr id="3" name="EWL-CompanionEyebrow"/>
          <p:cNvSpPr txBox="1"/>
          <p:nvPr/>
        </p:nvSpPr>
        <p:spPr>
          <a:xfrm>
            <a:off x="685800" y="594360"/>
            <a:ext cx="5410200" cy="274320"/>
          </a:xfrm>
          <a:prstGeom prst="rect">
            <a:avLst/>
          </a:prstGeom>
          <a:noFill/>
          <a:ln>
            <a:noFill/>
          </a:ln>
        </p:spPr>
        <p:txBody>
          <a:bodyPr wrap="square" lIns="0" tIns="0" rIns="0" bIns="0" anchor="ctr">
            <a:noAutofit/>
          </a:bodyPr>
          <a:lstStyle/>
          <a:p>
            <a:pPr algn="l">
              <a:buNone/>
            </a:pPr>
            <a:r>
              <a:rPr lang="en-US" sz="1400" b="1" spc="160" dirty="0">
                <a:solidFill>
                  <a:srgbClr val="01708C"/>
                </a:solidFill>
                <a:latin typeface="Arial"/>
              </a:rPr>
              <a:t>STUDENT MOVES</a:t>
            </a:r>
          </a:p>
        </p:txBody>
      </p:sp>
      <p:sp>
        <p:nvSpPr>
          <p:cNvPr id="4" name="EWL-CompanionLesson"/>
          <p:cNvSpPr txBox="1"/>
          <p:nvPr/>
        </p:nvSpPr>
        <p:spPr>
          <a:xfrm>
            <a:off x="6096000" y="594360"/>
            <a:ext cx="5410200" cy="274320"/>
          </a:xfrm>
          <a:prstGeom prst="rect">
            <a:avLst/>
          </a:prstGeom>
          <a:noFill/>
          <a:ln>
            <a:noFill/>
          </a:ln>
        </p:spPr>
        <p:txBody>
          <a:bodyPr wrap="square" lIns="0" tIns="0" rIns="0" bIns="0" anchor="ctr">
            <a:noAutofit/>
          </a:bodyPr>
          <a:lstStyle/>
          <a:p>
            <a:pPr algn="r">
              <a:buNone/>
            </a:pPr>
            <a:r>
              <a:rPr lang="en-US" sz="1400" b="0" dirty="0">
                <a:solidFill>
                  <a:srgbClr val="5A6670"/>
                </a:solidFill>
                <a:latin typeface="Arial"/>
              </a:rPr>
              <a:t>Lesson 5-1</a:t>
            </a:r>
          </a:p>
        </p:txBody>
      </p:sp>
      <p:sp>
        <p:nvSpPr>
          <p:cNvPr id="5" name="EWL-CompanionTitle"/>
          <p:cNvSpPr txBox="1"/>
          <p:nvPr/>
        </p:nvSpPr>
        <p:spPr>
          <a:xfrm>
            <a:off x="685800" y="868680"/>
            <a:ext cx="10820400" cy="731520"/>
          </a:xfrm>
          <a:prstGeom prst="rect">
            <a:avLst/>
          </a:prstGeom>
          <a:noFill/>
          <a:ln>
            <a:noFill/>
          </a:ln>
        </p:spPr>
        <p:txBody>
          <a:bodyPr wrap="square" lIns="0" tIns="0" rIns="0" bIns="0" anchor="ctr">
            <a:noAutofit/>
          </a:bodyPr>
          <a:lstStyle/>
          <a:p>
            <a:pPr algn="l">
              <a:buNone/>
            </a:pPr>
            <a:r>
              <a:rPr lang="en-US" sz="4000" b="1" dirty="0">
                <a:solidFill>
                  <a:srgbClr val="13303A"/>
                </a:solidFill>
                <a:latin typeface="Arial"/>
              </a:rPr>
              <a:t>Your move</a:t>
            </a:r>
          </a:p>
        </p:txBody>
      </p:sp>
      <p:sp>
        <p:nvSpPr>
          <p:cNvPr id="6" name="EWL-CompanionHair"/>
          <p:cNvSpPr/>
          <p:nvPr/>
        </p:nvSpPr>
        <p:spPr>
          <a:xfrm>
            <a:off x="685800" y="1737360"/>
            <a:ext cx="10820400" cy="19050"/>
          </a:xfrm>
          <a:prstGeom prst="rect">
            <a:avLst/>
          </a:prstGeom>
          <a:solidFill>
            <a:srgbClr val="8CB8C7"/>
          </a:solidFill>
          <a:ln>
            <a:noFill/>
          </a:ln>
        </p:spPr>
        <p:txBody>
          <a:bodyPr/>
          <a:lstStyle/>
          <a:p>
            <a:endParaRPr/>
          </a:p>
        </p:txBody>
      </p:sp>
      <p:sp>
        <p:nvSpPr>
          <p:cNvPr id="7" name="TEACH-move-card"/>
          <p:cNvSpPr/>
          <p:nvPr/>
        </p:nvSpPr>
        <p:spPr>
          <a:xfrm>
            <a:off x="685800" y="2057400"/>
            <a:ext cx="10820400" cy="1188720"/>
          </a:xfrm>
          <a:prstGeom prst="roundRect">
            <a:avLst>
              <a:gd name="adj" fmla="val 12000"/>
            </a:avLst>
          </a:prstGeom>
          <a:solidFill>
            <a:srgbClr val="E4F0F5"/>
          </a:solidFill>
          <a:ln w="19050">
            <a:solidFill>
              <a:srgbClr val="8CB8C7"/>
            </a:solidFill>
          </a:ln>
        </p:spPr>
        <p:txBody>
          <a:bodyPr/>
          <a:lstStyle/>
          <a:p>
            <a:endParaRPr/>
          </a:p>
        </p:txBody>
      </p:sp>
      <p:sp>
        <p:nvSpPr>
          <p:cNvPr id="8" name="TEACH-move-rule"/>
          <p:cNvSpPr/>
          <p:nvPr/>
        </p:nvSpPr>
        <p:spPr>
          <a:xfrm>
            <a:off x="731520" y="2283257"/>
            <a:ext cx="100584" cy="737006"/>
          </a:xfrm>
          <a:prstGeom prst="roundRect">
            <a:avLst>
              <a:gd name="adj" fmla="val 50000"/>
            </a:avLst>
          </a:prstGeom>
          <a:solidFill>
            <a:srgbClr val="01708C"/>
          </a:solidFill>
          <a:ln>
            <a:noFill/>
          </a:ln>
        </p:spPr>
        <p:txBody>
          <a:bodyPr/>
          <a:lstStyle/>
          <a:p>
            <a:endParaRPr/>
          </a:p>
        </p:txBody>
      </p:sp>
      <p:sp>
        <p:nvSpPr>
          <p:cNvPr id="9" name="TEACH-2-student-move"/>
          <p:cNvSpPr txBox="1"/>
          <p:nvPr/>
        </p:nvSpPr>
        <p:spPr>
          <a:xfrm>
            <a:off x="1005840" y="2057400"/>
            <a:ext cx="10271760" cy="1188720"/>
          </a:xfrm>
          <a:prstGeom prst="rect">
            <a:avLst/>
          </a:prstGeom>
          <a:noFill/>
          <a:ln>
            <a:noFill/>
          </a:ln>
        </p:spPr>
        <p:txBody>
          <a:bodyPr wrap="square" lIns="0" tIns="0" rIns="0" bIns="0" anchor="ctr">
            <a:noAutofit/>
          </a:bodyPr>
          <a:lstStyle/>
          <a:p>
            <a:pPr algn="l">
              <a:buNone/>
            </a:pPr>
            <a:r>
              <a:rPr lang="en-US" sz="2000" b="1" dirty="0">
                <a:solidFill>
                  <a:srgbClr val="01708C"/>
                </a:solidFill>
                <a:latin typeface="Arial"/>
              </a:rPr>
              <a:t>YOUR CHOICE  ·  </a:t>
            </a:r>
            <a:r>
              <a:rPr lang="en-US" sz="2000" b="0" dirty="0">
                <a:solidFill>
                  <a:srgbClr val="13303A"/>
                </a:solidFill>
                <a:latin typeface="Arial"/>
              </a:rPr>
              <a:t>You choose how to show this — numbers, words, or a diagram. Make your reasoning visible.</a:t>
            </a:r>
          </a:p>
        </p:txBody>
      </p:sp>
      <p:sp>
        <p:nvSpPr>
          <p:cNvPr id="10" name="EWL-SlideNumber"/>
          <p:cNvSpPr txBox="1"/>
          <p:nvPr/>
        </p:nvSpPr>
        <p:spPr>
          <a:xfrm>
            <a:off x="5577840" y="6492240"/>
            <a:ext cx="1033272" cy="256032"/>
          </a:xfrm>
          <a:prstGeom prst="rect">
            <a:avLst/>
          </a:prstGeom>
          <a:noFill/>
          <a:ln>
            <a:noFill/>
          </a:ln>
        </p:spPr>
        <p:txBody>
          <a:bodyPr wrap="square" lIns="0" tIns="0" rIns="0" bIns="0" anchor="ctr">
            <a:noAutofit/>
          </a:bodyPr>
          <a:lstStyle/>
          <a:p>
            <a:pPr algn="ctr">
              <a:buNone/>
            </a:pPr>
            <a:r>
              <a:rPr lang="en-US" sz="1100" b="0" dirty="0">
                <a:solidFill>
                  <a:srgbClr val="5D6872"/>
                </a:solidFill>
                <a:latin typeface="Arial"/>
              </a:rPr>
              <a:t>36 / 66</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EWL-CompanionRule"/>
          <p:cNvSpPr/>
          <p:nvPr/>
        </p:nvSpPr>
        <p:spPr>
          <a:xfrm>
            <a:off x="0" y="0"/>
            <a:ext cx="12192000" cy="118872"/>
          </a:xfrm>
          <a:prstGeom prst="rect">
            <a:avLst/>
          </a:prstGeom>
          <a:solidFill>
            <a:srgbClr val="01708C"/>
          </a:solidFill>
          <a:ln>
            <a:noFill/>
          </a:ln>
        </p:spPr>
        <p:txBody>
          <a:bodyPr/>
          <a:lstStyle/>
          <a:p>
            <a:endParaRPr/>
          </a:p>
        </p:txBody>
      </p:sp>
      <p:sp>
        <p:nvSpPr>
          <p:cNvPr id="3" name="EWL-CompanionEyebrow"/>
          <p:cNvSpPr txBox="1"/>
          <p:nvPr/>
        </p:nvSpPr>
        <p:spPr>
          <a:xfrm>
            <a:off x="685800" y="594360"/>
            <a:ext cx="5410200" cy="274320"/>
          </a:xfrm>
          <a:prstGeom prst="rect">
            <a:avLst/>
          </a:prstGeom>
          <a:noFill/>
          <a:ln>
            <a:noFill/>
          </a:ln>
        </p:spPr>
        <p:txBody>
          <a:bodyPr wrap="square" lIns="0" tIns="0" rIns="0" bIns="0" anchor="ctr">
            <a:noAutofit/>
          </a:bodyPr>
          <a:lstStyle/>
          <a:p>
            <a:pPr algn="l">
              <a:buNone/>
            </a:pPr>
            <a:r>
              <a:rPr lang="en-US" sz="1400" b="1" spc="160" dirty="0">
                <a:solidFill>
                  <a:srgbClr val="01708C"/>
                </a:solidFill>
                <a:latin typeface="Arial"/>
              </a:rPr>
              <a:t>STUDENT MOVES</a:t>
            </a:r>
          </a:p>
        </p:txBody>
      </p:sp>
      <p:sp>
        <p:nvSpPr>
          <p:cNvPr id="4" name="EWL-CompanionLesson"/>
          <p:cNvSpPr txBox="1"/>
          <p:nvPr/>
        </p:nvSpPr>
        <p:spPr>
          <a:xfrm>
            <a:off x="6096000" y="594360"/>
            <a:ext cx="5410200" cy="274320"/>
          </a:xfrm>
          <a:prstGeom prst="rect">
            <a:avLst/>
          </a:prstGeom>
          <a:noFill/>
          <a:ln>
            <a:noFill/>
          </a:ln>
        </p:spPr>
        <p:txBody>
          <a:bodyPr wrap="square" lIns="0" tIns="0" rIns="0" bIns="0" anchor="ctr">
            <a:noAutofit/>
          </a:bodyPr>
          <a:lstStyle/>
          <a:p>
            <a:pPr algn="r">
              <a:buNone/>
            </a:pPr>
            <a:r>
              <a:rPr lang="en-US" sz="1400" b="0" dirty="0">
                <a:solidFill>
                  <a:srgbClr val="5A6670"/>
                </a:solidFill>
                <a:latin typeface="Arial"/>
              </a:rPr>
              <a:t>Lesson 5-1</a:t>
            </a:r>
          </a:p>
        </p:txBody>
      </p:sp>
      <p:sp>
        <p:nvSpPr>
          <p:cNvPr id="5" name="EWL-CompanionTitle"/>
          <p:cNvSpPr txBox="1"/>
          <p:nvPr/>
        </p:nvSpPr>
        <p:spPr>
          <a:xfrm>
            <a:off x="685800" y="868680"/>
            <a:ext cx="10820400" cy="731520"/>
          </a:xfrm>
          <a:prstGeom prst="rect">
            <a:avLst/>
          </a:prstGeom>
          <a:noFill/>
          <a:ln>
            <a:noFill/>
          </a:ln>
        </p:spPr>
        <p:txBody>
          <a:bodyPr wrap="square" lIns="0" tIns="0" rIns="0" bIns="0" anchor="ctr">
            <a:noAutofit/>
          </a:bodyPr>
          <a:lstStyle/>
          <a:p>
            <a:pPr algn="l">
              <a:buNone/>
            </a:pPr>
            <a:r>
              <a:rPr lang="en-US" sz="4000" b="1" dirty="0">
                <a:solidFill>
                  <a:srgbClr val="13303A"/>
                </a:solidFill>
                <a:latin typeface="Arial"/>
              </a:rPr>
              <a:t>Your move</a:t>
            </a:r>
          </a:p>
        </p:txBody>
      </p:sp>
      <p:sp>
        <p:nvSpPr>
          <p:cNvPr id="6" name="EWL-CompanionHair"/>
          <p:cNvSpPr/>
          <p:nvPr/>
        </p:nvSpPr>
        <p:spPr>
          <a:xfrm>
            <a:off x="685800" y="1737360"/>
            <a:ext cx="10820400" cy="19050"/>
          </a:xfrm>
          <a:prstGeom prst="rect">
            <a:avLst/>
          </a:prstGeom>
          <a:solidFill>
            <a:srgbClr val="8CB8C7"/>
          </a:solidFill>
          <a:ln>
            <a:noFill/>
          </a:ln>
        </p:spPr>
        <p:txBody>
          <a:bodyPr/>
          <a:lstStyle/>
          <a:p>
            <a:endParaRPr/>
          </a:p>
        </p:txBody>
      </p:sp>
      <p:sp>
        <p:nvSpPr>
          <p:cNvPr id="7" name="TEACH-move-card"/>
          <p:cNvSpPr/>
          <p:nvPr/>
        </p:nvSpPr>
        <p:spPr>
          <a:xfrm>
            <a:off x="685800" y="2057400"/>
            <a:ext cx="10820400" cy="1188720"/>
          </a:xfrm>
          <a:prstGeom prst="roundRect">
            <a:avLst>
              <a:gd name="adj" fmla="val 12000"/>
            </a:avLst>
          </a:prstGeom>
          <a:solidFill>
            <a:srgbClr val="E4F0F5"/>
          </a:solidFill>
          <a:ln w="19050">
            <a:solidFill>
              <a:srgbClr val="8CB8C7"/>
            </a:solidFill>
          </a:ln>
        </p:spPr>
        <p:txBody>
          <a:bodyPr/>
          <a:lstStyle/>
          <a:p>
            <a:endParaRPr/>
          </a:p>
        </p:txBody>
      </p:sp>
      <p:sp>
        <p:nvSpPr>
          <p:cNvPr id="8" name="TEACH-move-rule"/>
          <p:cNvSpPr/>
          <p:nvPr/>
        </p:nvSpPr>
        <p:spPr>
          <a:xfrm>
            <a:off x="731520" y="2283257"/>
            <a:ext cx="100584" cy="737006"/>
          </a:xfrm>
          <a:prstGeom prst="roundRect">
            <a:avLst>
              <a:gd name="adj" fmla="val 50000"/>
            </a:avLst>
          </a:prstGeom>
          <a:solidFill>
            <a:srgbClr val="01708C"/>
          </a:solidFill>
          <a:ln>
            <a:noFill/>
          </a:ln>
        </p:spPr>
        <p:txBody>
          <a:bodyPr/>
          <a:lstStyle/>
          <a:p>
            <a:endParaRPr/>
          </a:p>
        </p:txBody>
      </p:sp>
      <p:sp>
        <p:nvSpPr>
          <p:cNvPr id="9" name="TEACH-6-student-move"/>
          <p:cNvSpPr txBox="1"/>
          <p:nvPr/>
        </p:nvSpPr>
        <p:spPr>
          <a:xfrm>
            <a:off x="1005840" y="2057400"/>
            <a:ext cx="10271760" cy="1188720"/>
          </a:xfrm>
          <a:prstGeom prst="rect">
            <a:avLst/>
          </a:prstGeom>
          <a:noFill/>
          <a:ln>
            <a:noFill/>
          </a:ln>
        </p:spPr>
        <p:txBody>
          <a:bodyPr wrap="square" lIns="0" tIns="0" rIns="0" bIns="0" anchor="ctr">
            <a:noAutofit/>
          </a:bodyPr>
          <a:lstStyle/>
          <a:p>
            <a:pPr algn="l">
              <a:buNone/>
            </a:pPr>
            <a:r>
              <a:rPr lang="en-US" sz="2000" b="1" dirty="0">
                <a:solidFill>
                  <a:srgbClr val="01708C"/>
                </a:solidFill>
                <a:latin typeface="Arial"/>
              </a:rPr>
              <a:t>YOU KNOW THE ROUTINE  ·  </a:t>
            </a:r>
            <a:r>
              <a:rPr lang="en-US" sz="2000" b="0" dirty="0">
                <a:solidFill>
                  <a:srgbClr val="13303A"/>
                </a:solidFill>
                <a:latin typeface="Arial"/>
              </a:rPr>
              <a:t>Read  →  plan  →  solve  →  check. Do all four, in that order.</a:t>
            </a:r>
          </a:p>
        </p:txBody>
      </p:sp>
      <p:sp>
        <p:nvSpPr>
          <p:cNvPr id="10" name="EWL-SlideNumber"/>
          <p:cNvSpPr txBox="1"/>
          <p:nvPr/>
        </p:nvSpPr>
        <p:spPr>
          <a:xfrm>
            <a:off x="5577840" y="6492240"/>
            <a:ext cx="1033272" cy="256032"/>
          </a:xfrm>
          <a:prstGeom prst="rect">
            <a:avLst/>
          </a:prstGeom>
          <a:noFill/>
          <a:ln>
            <a:noFill/>
          </a:ln>
        </p:spPr>
        <p:txBody>
          <a:bodyPr wrap="square" lIns="0" tIns="0" rIns="0" bIns="0" anchor="ctr">
            <a:noAutofit/>
          </a:bodyPr>
          <a:lstStyle/>
          <a:p>
            <a:pPr algn="ctr">
              <a:buNone/>
            </a:pPr>
            <a:r>
              <a:rPr lang="en-US" sz="1100" b="0" dirty="0">
                <a:solidFill>
                  <a:srgbClr val="5D6872"/>
                </a:solidFill>
                <a:latin typeface="Arial"/>
              </a:rPr>
              <a:t>42 / 66</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EWL-CompanionRule"/>
          <p:cNvSpPr/>
          <p:nvPr/>
        </p:nvSpPr>
        <p:spPr>
          <a:xfrm>
            <a:off x="0" y="0"/>
            <a:ext cx="12192000" cy="118872"/>
          </a:xfrm>
          <a:prstGeom prst="rect">
            <a:avLst/>
          </a:prstGeom>
          <a:solidFill>
            <a:srgbClr val="01708C"/>
          </a:solidFill>
          <a:ln>
            <a:noFill/>
          </a:ln>
        </p:spPr>
        <p:txBody>
          <a:bodyPr/>
          <a:lstStyle/>
          <a:p>
            <a:endParaRPr/>
          </a:p>
        </p:txBody>
      </p:sp>
      <p:sp>
        <p:nvSpPr>
          <p:cNvPr id="3" name="EWL-CompanionEyebrow"/>
          <p:cNvSpPr txBox="1"/>
          <p:nvPr/>
        </p:nvSpPr>
        <p:spPr>
          <a:xfrm>
            <a:off x="685800" y="594360"/>
            <a:ext cx="5410200" cy="274320"/>
          </a:xfrm>
          <a:prstGeom prst="rect">
            <a:avLst/>
          </a:prstGeom>
          <a:noFill/>
          <a:ln>
            <a:noFill/>
          </a:ln>
        </p:spPr>
        <p:txBody>
          <a:bodyPr wrap="square" lIns="0" tIns="0" rIns="0" bIns="0" anchor="ctr">
            <a:noAutofit/>
          </a:bodyPr>
          <a:lstStyle/>
          <a:p>
            <a:pPr algn="l">
              <a:buNone/>
            </a:pPr>
            <a:r>
              <a:rPr lang="en-US" sz="1400" b="1" spc="160" dirty="0">
                <a:solidFill>
                  <a:srgbClr val="01708C"/>
                </a:solidFill>
                <a:latin typeface="Arial"/>
              </a:rPr>
              <a:t>STUDENT MOVES</a:t>
            </a:r>
          </a:p>
        </p:txBody>
      </p:sp>
      <p:sp>
        <p:nvSpPr>
          <p:cNvPr id="4" name="EWL-CompanionLesson"/>
          <p:cNvSpPr txBox="1"/>
          <p:nvPr/>
        </p:nvSpPr>
        <p:spPr>
          <a:xfrm>
            <a:off x="6096000" y="594360"/>
            <a:ext cx="5410200" cy="274320"/>
          </a:xfrm>
          <a:prstGeom prst="rect">
            <a:avLst/>
          </a:prstGeom>
          <a:noFill/>
          <a:ln>
            <a:noFill/>
          </a:ln>
        </p:spPr>
        <p:txBody>
          <a:bodyPr wrap="square" lIns="0" tIns="0" rIns="0" bIns="0" anchor="ctr">
            <a:noAutofit/>
          </a:bodyPr>
          <a:lstStyle/>
          <a:p>
            <a:pPr algn="r">
              <a:buNone/>
            </a:pPr>
            <a:r>
              <a:rPr lang="en-US" sz="1400" b="0" dirty="0">
                <a:solidFill>
                  <a:srgbClr val="5A6670"/>
                </a:solidFill>
                <a:latin typeface="Arial"/>
              </a:rPr>
              <a:t>Lesson 5-1</a:t>
            </a:r>
          </a:p>
        </p:txBody>
      </p:sp>
      <p:sp>
        <p:nvSpPr>
          <p:cNvPr id="5" name="EWL-CompanionTitle"/>
          <p:cNvSpPr txBox="1"/>
          <p:nvPr/>
        </p:nvSpPr>
        <p:spPr>
          <a:xfrm>
            <a:off x="685800" y="868680"/>
            <a:ext cx="10820400" cy="731520"/>
          </a:xfrm>
          <a:prstGeom prst="rect">
            <a:avLst/>
          </a:prstGeom>
          <a:noFill/>
          <a:ln>
            <a:noFill/>
          </a:ln>
        </p:spPr>
        <p:txBody>
          <a:bodyPr wrap="square" lIns="0" tIns="0" rIns="0" bIns="0" anchor="ctr">
            <a:noAutofit/>
          </a:bodyPr>
          <a:lstStyle/>
          <a:p>
            <a:pPr algn="l">
              <a:buNone/>
            </a:pPr>
            <a:r>
              <a:rPr lang="en-US" sz="4000" b="1" dirty="0">
                <a:solidFill>
                  <a:srgbClr val="13303A"/>
                </a:solidFill>
                <a:latin typeface="Arial"/>
              </a:rPr>
              <a:t>Your move</a:t>
            </a:r>
          </a:p>
        </p:txBody>
      </p:sp>
      <p:sp>
        <p:nvSpPr>
          <p:cNvPr id="6" name="EWL-CompanionHair"/>
          <p:cNvSpPr/>
          <p:nvPr/>
        </p:nvSpPr>
        <p:spPr>
          <a:xfrm>
            <a:off x="685800" y="1737360"/>
            <a:ext cx="10820400" cy="19050"/>
          </a:xfrm>
          <a:prstGeom prst="rect">
            <a:avLst/>
          </a:prstGeom>
          <a:solidFill>
            <a:srgbClr val="8CB8C7"/>
          </a:solidFill>
          <a:ln>
            <a:noFill/>
          </a:ln>
        </p:spPr>
        <p:txBody>
          <a:bodyPr/>
          <a:lstStyle/>
          <a:p>
            <a:endParaRPr/>
          </a:p>
        </p:txBody>
      </p:sp>
      <p:sp>
        <p:nvSpPr>
          <p:cNvPr id="7" name="TEACH-move-card"/>
          <p:cNvSpPr/>
          <p:nvPr/>
        </p:nvSpPr>
        <p:spPr>
          <a:xfrm>
            <a:off x="685800" y="2057400"/>
            <a:ext cx="10820400" cy="1188720"/>
          </a:xfrm>
          <a:prstGeom prst="roundRect">
            <a:avLst>
              <a:gd name="adj" fmla="val 12000"/>
            </a:avLst>
          </a:prstGeom>
          <a:solidFill>
            <a:srgbClr val="E4F0F5"/>
          </a:solidFill>
          <a:ln w="19050">
            <a:solidFill>
              <a:srgbClr val="8CB8C7"/>
            </a:solidFill>
          </a:ln>
        </p:spPr>
        <p:txBody>
          <a:bodyPr/>
          <a:lstStyle/>
          <a:p>
            <a:endParaRPr/>
          </a:p>
        </p:txBody>
      </p:sp>
      <p:sp>
        <p:nvSpPr>
          <p:cNvPr id="8" name="TEACH-move-rule"/>
          <p:cNvSpPr/>
          <p:nvPr/>
        </p:nvSpPr>
        <p:spPr>
          <a:xfrm>
            <a:off x="731520" y="2283257"/>
            <a:ext cx="100584" cy="737006"/>
          </a:xfrm>
          <a:prstGeom prst="roundRect">
            <a:avLst>
              <a:gd name="adj" fmla="val 50000"/>
            </a:avLst>
          </a:prstGeom>
          <a:solidFill>
            <a:srgbClr val="01708C"/>
          </a:solidFill>
          <a:ln>
            <a:noFill/>
          </a:ln>
        </p:spPr>
        <p:txBody>
          <a:bodyPr/>
          <a:lstStyle/>
          <a:p>
            <a:endParaRPr/>
          </a:p>
        </p:txBody>
      </p:sp>
      <p:sp>
        <p:nvSpPr>
          <p:cNvPr id="9" name="TEACH-5-student-move"/>
          <p:cNvSpPr txBox="1"/>
          <p:nvPr/>
        </p:nvSpPr>
        <p:spPr>
          <a:xfrm>
            <a:off x="1005840" y="2057400"/>
            <a:ext cx="10271760" cy="1188720"/>
          </a:xfrm>
          <a:prstGeom prst="rect">
            <a:avLst/>
          </a:prstGeom>
          <a:noFill/>
          <a:ln>
            <a:noFill/>
          </a:ln>
        </p:spPr>
        <p:txBody>
          <a:bodyPr wrap="square" lIns="0" tIns="0" rIns="0" bIns="0" anchor="ctr">
            <a:noAutofit/>
          </a:bodyPr>
          <a:lstStyle/>
          <a:p>
            <a:pPr algn="l">
              <a:buNone/>
            </a:pPr>
            <a:r>
              <a:rPr lang="en-US" sz="2000" b="1" dirty="0">
                <a:solidFill>
                  <a:srgbClr val="01708C"/>
                </a:solidFill>
                <a:latin typeface="Arial"/>
              </a:rPr>
              <a:t>TAKE TURNS  ·  </a:t>
            </a:r>
            <a:r>
              <a:rPr lang="en-US" sz="2000" b="0" dirty="0">
                <a:solidFill>
                  <a:srgbClr val="13303A"/>
                </a:solidFill>
                <a:latin typeface="Arial"/>
              </a:rPr>
              <a:t>One explains, one asks a question. Then switch, so both of you talk.</a:t>
            </a:r>
          </a:p>
        </p:txBody>
      </p:sp>
      <p:sp>
        <p:nvSpPr>
          <p:cNvPr id="10" name="EWL-SlideNumber"/>
          <p:cNvSpPr txBox="1"/>
          <p:nvPr/>
        </p:nvSpPr>
        <p:spPr>
          <a:xfrm>
            <a:off x="5577840" y="6492240"/>
            <a:ext cx="1033272" cy="256032"/>
          </a:xfrm>
          <a:prstGeom prst="rect">
            <a:avLst/>
          </a:prstGeom>
          <a:noFill/>
          <a:ln>
            <a:noFill/>
          </a:ln>
        </p:spPr>
        <p:txBody>
          <a:bodyPr wrap="square" lIns="0" tIns="0" rIns="0" bIns="0" anchor="ctr">
            <a:noAutofit/>
          </a:bodyPr>
          <a:lstStyle/>
          <a:p>
            <a:pPr algn="ctr">
              <a:buNone/>
            </a:pPr>
            <a:r>
              <a:rPr lang="en-US" sz="1100" b="0" dirty="0">
                <a:solidFill>
                  <a:srgbClr val="5D6872"/>
                </a:solidFill>
                <a:latin typeface="Arial"/>
              </a:rPr>
              <a:t>52 / 66</a:t>
            </a: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EWL-CompanionRule"/>
          <p:cNvSpPr/>
          <p:nvPr/>
        </p:nvSpPr>
        <p:spPr>
          <a:xfrm>
            <a:off x="0" y="0"/>
            <a:ext cx="12192000" cy="118872"/>
          </a:xfrm>
          <a:prstGeom prst="rect">
            <a:avLst/>
          </a:prstGeom>
          <a:solidFill>
            <a:srgbClr val="01708C"/>
          </a:solidFill>
          <a:ln>
            <a:noFill/>
          </a:ln>
        </p:spPr>
        <p:txBody>
          <a:bodyPr/>
          <a:lstStyle/>
          <a:p>
            <a:endParaRPr/>
          </a:p>
        </p:txBody>
      </p:sp>
      <p:sp>
        <p:nvSpPr>
          <p:cNvPr id="3" name="EWL-CompanionEyebrow"/>
          <p:cNvSpPr txBox="1"/>
          <p:nvPr/>
        </p:nvSpPr>
        <p:spPr>
          <a:xfrm>
            <a:off x="685800" y="594360"/>
            <a:ext cx="5410200" cy="274320"/>
          </a:xfrm>
          <a:prstGeom prst="rect">
            <a:avLst/>
          </a:prstGeom>
          <a:noFill/>
          <a:ln>
            <a:noFill/>
          </a:ln>
        </p:spPr>
        <p:txBody>
          <a:bodyPr wrap="square" lIns="0" tIns="0" rIns="0" bIns="0" anchor="ctr">
            <a:noAutofit/>
          </a:bodyPr>
          <a:lstStyle/>
          <a:p>
            <a:pPr algn="l">
              <a:buNone/>
            </a:pPr>
            <a:r>
              <a:rPr lang="en-US" sz="1400" b="1" spc="160" dirty="0">
                <a:solidFill>
                  <a:srgbClr val="01708C"/>
                </a:solidFill>
                <a:latin typeface="Arial"/>
              </a:rPr>
              <a:t>STUDENT MOVES</a:t>
            </a:r>
          </a:p>
        </p:txBody>
      </p:sp>
      <p:sp>
        <p:nvSpPr>
          <p:cNvPr id="4" name="EWL-CompanionLesson"/>
          <p:cNvSpPr txBox="1"/>
          <p:nvPr/>
        </p:nvSpPr>
        <p:spPr>
          <a:xfrm>
            <a:off x="6096000" y="594360"/>
            <a:ext cx="5410200" cy="274320"/>
          </a:xfrm>
          <a:prstGeom prst="rect">
            <a:avLst/>
          </a:prstGeom>
          <a:noFill/>
          <a:ln>
            <a:noFill/>
          </a:ln>
        </p:spPr>
        <p:txBody>
          <a:bodyPr wrap="square" lIns="0" tIns="0" rIns="0" bIns="0" anchor="ctr">
            <a:noAutofit/>
          </a:bodyPr>
          <a:lstStyle/>
          <a:p>
            <a:pPr algn="r">
              <a:buNone/>
            </a:pPr>
            <a:r>
              <a:rPr lang="en-US" sz="1400" b="0" dirty="0">
                <a:solidFill>
                  <a:srgbClr val="5A6670"/>
                </a:solidFill>
                <a:latin typeface="Arial"/>
              </a:rPr>
              <a:t>Lesson 5-1</a:t>
            </a:r>
          </a:p>
        </p:txBody>
      </p:sp>
      <p:sp>
        <p:nvSpPr>
          <p:cNvPr id="5" name="EWL-CompanionTitle"/>
          <p:cNvSpPr txBox="1"/>
          <p:nvPr/>
        </p:nvSpPr>
        <p:spPr>
          <a:xfrm>
            <a:off x="685800" y="868680"/>
            <a:ext cx="10820400" cy="731520"/>
          </a:xfrm>
          <a:prstGeom prst="rect">
            <a:avLst/>
          </a:prstGeom>
          <a:noFill/>
          <a:ln>
            <a:noFill/>
          </a:ln>
        </p:spPr>
        <p:txBody>
          <a:bodyPr wrap="square" lIns="0" tIns="0" rIns="0" bIns="0" anchor="ctr">
            <a:noAutofit/>
          </a:bodyPr>
          <a:lstStyle/>
          <a:p>
            <a:pPr algn="l">
              <a:buNone/>
            </a:pPr>
            <a:r>
              <a:rPr lang="en-US" sz="4000" b="1" dirty="0">
                <a:solidFill>
                  <a:srgbClr val="13303A"/>
                </a:solidFill>
                <a:latin typeface="Arial"/>
              </a:rPr>
              <a:t>Your move</a:t>
            </a:r>
          </a:p>
        </p:txBody>
      </p:sp>
      <p:sp>
        <p:nvSpPr>
          <p:cNvPr id="6" name="EWL-CompanionHair"/>
          <p:cNvSpPr/>
          <p:nvPr/>
        </p:nvSpPr>
        <p:spPr>
          <a:xfrm>
            <a:off x="685800" y="1737360"/>
            <a:ext cx="10820400" cy="19050"/>
          </a:xfrm>
          <a:prstGeom prst="rect">
            <a:avLst/>
          </a:prstGeom>
          <a:solidFill>
            <a:srgbClr val="8CB8C7"/>
          </a:solidFill>
          <a:ln>
            <a:noFill/>
          </a:ln>
        </p:spPr>
        <p:txBody>
          <a:bodyPr/>
          <a:lstStyle/>
          <a:p>
            <a:endParaRPr/>
          </a:p>
        </p:txBody>
      </p:sp>
      <p:sp>
        <p:nvSpPr>
          <p:cNvPr id="7" name="TEACH-move-card"/>
          <p:cNvSpPr/>
          <p:nvPr/>
        </p:nvSpPr>
        <p:spPr>
          <a:xfrm>
            <a:off x="685800" y="2057400"/>
            <a:ext cx="10820400" cy="1188720"/>
          </a:xfrm>
          <a:prstGeom prst="roundRect">
            <a:avLst>
              <a:gd name="adj" fmla="val 12000"/>
            </a:avLst>
          </a:prstGeom>
          <a:solidFill>
            <a:srgbClr val="E4F0F5"/>
          </a:solidFill>
          <a:ln w="19050">
            <a:solidFill>
              <a:srgbClr val="8CB8C7"/>
            </a:solidFill>
          </a:ln>
        </p:spPr>
        <p:txBody>
          <a:bodyPr/>
          <a:lstStyle/>
          <a:p>
            <a:endParaRPr/>
          </a:p>
        </p:txBody>
      </p:sp>
      <p:sp>
        <p:nvSpPr>
          <p:cNvPr id="8" name="TEACH-move-rule"/>
          <p:cNvSpPr/>
          <p:nvPr/>
        </p:nvSpPr>
        <p:spPr>
          <a:xfrm>
            <a:off x="731520" y="2283257"/>
            <a:ext cx="100584" cy="737006"/>
          </a:xfrm>
          <a:prstGeom prst="roundRect">
            <a:avLst>
              <a:gd name="adj" fmla="val 50000"/>
            </a:avLst>
          </a:prstGeom>
          <a:solidFill>
            <a:srgbClr val="01708C"/>
          </a:solidFill>
          <a:ln>
            <a:noFill/>
          </a:ln>
        </p:spPr>
        <p:txBody>
          <a:bodyPr/>
          <a:lstStyle/>
          <a:p>
            <a:endParaRPr/>
          </a:p>
        </p:txBody>
      </p:sp>
      <p:sp>
        <p:nvSpPr>
          <p:cNvPr id="9" name="TEACH-4-student-move"/>
          <p:cNvSpPr txBox="1"/>
          <p:nvPr/>
        </p:nvSpPr>
        <p:spPr>
          <a:xfrm>
            <a:off x="1005840" y="2057400"/>
            <a:ext cx="10271760" cy="1188720"/>
          </a:xfrm>
          <a:prstGeom prst="rect">
            <a:avLst/>
          </a:prstGeom>
          <a:noFill/>
          <a:ln>
            <a:noFill/>
          </a:ln>
        </p:spPr>
        <p:txBody>
          <a:bodyPr wrap="square" lIns="0" tIns="0" rIns="0" bIns="0" anchor="ctr">
            <a:noAutofit/>
          </a:bodyPr>
          <a:lstStyle/>
          <a:p>
            <a:pPr algn="l">
              <a:buNone/>
            </a:pPr>
            <a:r>
              <a:rPr lang="en-US" sz="2000" b="1" dirty="0">
                <a:solidFill>
                  <a:srgbClr val="01708C"/>
                </a:solidFill>
                <a:latin typeface="Arial"/>
              </a:rPr>
              <a:t>SPECIFIC FEEDBACK  ·  </a:t>
            </a:r>
            <a:r>
              <a:rPr lang="en-US" sz="2000" b="0" dirty="0">
                <a:solidFill>
                  <a:srgbClr val="13303A"/>
                </a:solidFill>
                <a:latin typeface="Arial"/>
              </a:rPr>
              <a:t>Trade work. Give one specific comment: “This part is clear because ______.”</a:t>
            </a:r>
          </a:p>
        </p:txBody>
      </p:sp>
      <p:sp>
        <p:nvSpPr>
          <p:cNvPr id="10" name="EWL-SlideNumber"/>
          <p:cNvSpPr txBox="1"/>
          <p:nvPr/>
        </p:nvSpPr>
        <p:spPr>
          <a:xfrm>
            <a:off x="5577840" y="6492240"/>
            <a:ext cx="1033272" cy="256032"/>
          </a:xfrm>
          <a:prstGeom prst="rect">
            <a:avLst/>
          </a:prstGeom>
          <a:noFill/>
          <a:ln>
            <a:noFill/>
          </a:ln>
        </p:spPr>
        <p:txBody>
          <a:bodyPr wrap="square" lIns="0" tIns="0" rIns="0" bIns="0" anchor="ctr">
            <a:noAutofit/>
          </a:bodyPr>
          <a:lstStyle/>
          <a:p>
            <a:pPr algn="ctr">
              <a:buNone/>
            </a:pPr>
            <a:r>
              <a:rPr lang="en-US" sz="1100" b="0" dirty="0">
                <a:solidFill>
                  <a:srgbClr val="5D6872"/>
                </a:solidFill>
                <a:latin typeface="Arial"/>
              </a:rPr>
              <a:t>61 / 66</a:t>
            </a: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EWL-CompanionRule"/>
          <p:cNvSpPr/>
          <p:nvPr/>
        </p:nvSpPr>
        <p:spPr>
          <a:xfrm>
            <a:off x="0" y="0"/>
            <a:ext cx="12192000" cy="118872"/>
          </a:xfrm>
          <a:prstGeom prst="rect">
            <a:avLst/>
          </a:prstGeom>
          <a:solidFill>
            <a:srgbClr val="01708C"/>
          </a:solidFill>
          <a:ln>
            <a:noFill/>
          </a:ln>
        </p:spPr>
        <p:txBody>
          <a:bodyPr/>
          <a:lstStyle/>
          <a:p>
            <a:endParaRPr/>
          </a:p>
        </p:txBody>
      </p:sp>
      <p:sp>
        <p:nvSpPr>
          <p:cNvPr id="3" name="EWL-CompanionEyebrow"/>
          <p:cNvSpPr txBox="1"/>
          <p:nvPr/>
        </p:nvSpPr>
        <p:spPr>
          <a:xfrm>
            <a:off x="685800" y="594360"/>
            <a:ext cx="5410200" cy="274320"/>
          </a:xfrm>
          <a:prstGeom prst="rect">
            <a:avLst/>
          </a:prstGeom>
          <a:noFill/>
          <a:ln>
            <a:noFill/>
          </a:ln>
        </p:spPr>
        <p:txBody>
          <a:bodyPr wrap="square" lIns="0" tIns="0" rIns="0" bIns="0" anchor="ctr">
            <a:noAutofit/>
          </a:bodyPr>
          <a:lstStyle/>
          <a:p>
            <a:pPr algn="l">
              <a:buNone/>
            </a:pPr>
            <a:r>
              <a:rPr lang="en-US" sz="1400" b="1" spc="160" dirty="0">
                <a:solidFill>
                  <a:srgbClr val="01708C"/>
                </a:solidFill>
                <a:latin typeface="Arial"/>
              </a:rPr>
              <a:t>STUDENT MOVES</a:t>
            </a:r>
          </a:p>
        </p:txBody>
      </p:sp>
      <p:sp>
        <p:nvSpPr>
          <p:cNvPr id="4" name="EWL-CompanionLesson"/>
          <p:cNvSpPr txBox="1"/>
          <p:nvPr/>
        </p:nvSpPr>
        <p:spPr>
          <a:xfrm>
            <a:off x="6096000" y="594360"/>
            <a:ext cx="5410200" cy="274320"/>
          </a:xfrm>
          <a:prstGeom prst="rect">
            <a:avLst/>
          </a:prstGeom>
          <a:noFill/>
          <a:ln>
            <a:noFill/>
          </a:ln>
        </p:spPr>
        <p:txBody>
          <a:bodyPr wrap="square" lIns="0" tIns="0" rIns="0" bIns="0" anchor="ctr">
            <a:noAutofit/>
          </a:bodyPr>
          <a:lstStyle/>
          <a:p>
            <a:pPr algn="r">
              <a:buNone/>
            </a:pPr>
            <a:r>
              <a:rPr lang="en-US" sz="1400" b="0" dirty="0">
                <a:solidFill>
                  <a:srgbClr val="5A6670"/>
                </a:solidFill>
                <a:latin typeface="Arial"/>
              </a:rPr>
              <a:t>Lesson 5-1</a:t>
            </a:r>
          </a:p>
        </p:txBody>
      </p:sp>
      <p:sp>
        <p:nvSpPr>
          <p:cNvPr id="5" name="EWL-CompanionTitle"/>
          <p:cNvSpPr txBox="1"/>
          <p:nvPr/>
        </p:nvSpPr>
        <p:spPr>
          <a:xfrm>
            <a:off x="685800" y="868680"/>
            <a:ext cx="10820400" cy="731520"/>
          </a:xfrm>
          <a:prstGeom prst="rect">
            <a:avLst/>
          </a:prstGeom>
          <a:noFill/>
          <a:ln>
            <a:noFill/>
          </a:ln>
        </p:spPr>
        <p:txBody>
          <a:bodyPr wrap="square" lIns="0" tIns="0" rIns="0" bIns="0" anchor="ctr">
            <a:noAutofit/>
          </a:bodyPr>
          <a:lstStyle/>
          <a:p>
            <a:pPr algn="l">
              <a:buNone/>
            </a:pPr>
            <a:r>
              <a:rPr lang="en-US" sz="4000" b="1" dirty="0">
                <a:solidFill>
                  <a:srgbClr val="13303A"/>
                </a:solidFill>
                <a:latin typeface="Arial"/>
              </a:rPr>
              <a:t>Your move</a:t>
            </a:r>
          </a:p>
        </p:txBody>
      </p:sp>
      <p:sp>
        <p:nvSpPr>
          <p:cNvPr id="6" name="EWL-CompanionHair"/>
          <p:cNvSpPr/>
          <p:nvPr/>
        </p:nvSpPr>
        <p:spPr>
          <a:xfrm>
            <a:off x="685800" y="1737360"/>
            <a:ext cx="10820400" cy="19050"/>
          </a:xfrm>
          <a:prstGeom prst="rect">
            <a:avLst/>
          </a:prstGeom>
          <a:solidFill>
            <a:srgbClr val="8CB8C7"/>
          </a:solidFill>
          <a:ln>
            <a:noFill/>
          </a:ln>
        </p:spPr>
        <p:txBody>
          <a:bodyPr/>
          <a:lstStyle/>
          <a:p>
            <a:endParaRPr/>
          </a:p>
        </p:txBody>
      </p:sp>
      <p:sp>
        <p:nvSpPr>
          <p:cNvPr id="7" name="TEACH-move-card"/>
          <p:cNvSpPr/>
          <p:nvPr/>
        </p:nvSpPr>
        <p:spPr>
          <a:xfrm>
            <a:off x="685800" y="2057400"/>
            <a:ext cx="10820400" cy="1188720"/>
          </a:xfrm>
          <a:prstGeom prst="roundRect">
            <a:avLst>
              <a:gd name="adj" fmla="val 12000"/>
            </a:avLst>
          </a:prstGeom>
          <a:solidFill>
            <a:srgbClr val="E4F0F5"/>
          </a:solidFill>
          <a:ln w="19050">
            <a:solidFill>
              <a:srgbClr val="8CB8C7"/>
            </a:solidFill>
          </a:ln>
        </p:spPr>
        <p:txBody>
          <a:bodyPr/>
          <a:lstStyle/>
          <a:p>
            <a:endParaRPr/>
          </a:p>
        </p:txBody>
      </p:sp>
      <p:sp>
        <p:nvSpPr>
          <p:cNvPr id="8" name="TEACH-move-rule"/>
          <p:cNvSpPr/>
          <p:nvPr/>
        </p:nvSpPr>
        <p:spPr>
          <a:xfrm>
            <a:off x="731520" y="2283257"/>
            <a:ext cx="100584" cy="737006"/>
          </a:xfrm>
          <a:prstGeom prst="roundRect">
            <a:avLst>
              <a:gd name="adj" fmla="val 50000"/>
            </a:avLst>
          </a:prstGeom>
          <a:solidFill>
            <a:srgbClr val="01708C"/>
          </a:solidFill>
          <a:ln>
            <a:noFill/>
          </a:ln>
        </p:spPr>
        <p:txBody>
          <a:bodyPr/>
          <a:lstStyle/>
          <a:p>
            <a:endParaRPr/>
          </a:p>
        </p:txBody>
      </p:sp>
      <p:sp>
        <p:nvSpPr>
          <p:cNvPr id="9" name="TEACH-2-student-move"/>
          <p:cNvSpPr txBox="1"/>
          <p:nvPr/>
        </p:nvSpPr>
        <p:spPr>
          <a:xfrm>
            <a:off x="1005840" y="2057400"/>
            <a:ext cx="10271760" cy="1188720"/>
          </a:xfrm>
          <a:prstGeom prst="rect">
            <a:avLst/>
          </a:prstGeom>
          <a:noFill/>
          <a:ln>
            <a:noFill/>
          </a:ln>
        </p:spPr>
        <p:txBody>
          <a:bodyPr wrap="square" lIns="0" tIns="0" rIns="0" bIns="0" anchor="ctr">
            <a:noAutofit/>
          </a:bodyPr>
          <a:lstStyle/>
          <a:p>
            <a:pPr algn="l">
              <a:buNone/>
            </a:pPr>
            <a:r>
              <a:rPr lang="en-US" sz="2000" b="1" dirty="0">
                <a:solidFill>
                  <a:srgbClr val="01708C"/>
                </a:solidFill>
                <a:latin typeface="Arial"/>
              </a:rPr>
              <a:t>PICK YOUR STRATEGY  ·  </a:t>
            </a:r>
            <a:r>
              <a:rPr lang="en-US" sz="2000" b="0" dirty="0">
                <a:solidFill>
                  <a:srgbClr val="13303A"/>
                </a:solidFill>
                <a:latin typeface="Arial"/>
              </a:rPr>
              <a:t>Choose your path — picture, table, number line, or equation — and be ready to say why you chose it.</a:t>
            </a:r>
          </a:p>
        </p:txBody>
      </p:sp>
      <p:sp>
        <p:nvSpPr>
          <p:cNvPr id="10" name="EWL-SlideNumber"/>
          <p:cNvSpPr txBox="1"/>
          <p:nvPr/>
        </p:nvSpPr>
        <p:spPr>
          <a:xfrm>
            <a:off x="5577840" y="6492240"/>
            <a:ext cx="1033272" cy="256032"/>
          </a:xfrm>
          <a:prstGeom prst="rect">
            <a:avLst/>
          </a:prstGeom>
          <a:noFill/>
          <a:ln>
            <a:noFill/>
          </a:ln>
        </p:spPr>
        <p:txBody>
          <a:bodyPr wrap="square" lIns="0" tIns="0" rIns="0" bIns="0" anchor="ctr">
            <a:noAutofit/>
          </a:bodyPr>
          <a:lstStyle/>
          <a:p>
            <a:pPr algn="ctr">
              <a:buNone/>
            </a:pPr>
            <a:r>
              <a:rPr lang="en-US" sz="1100" b="0" dirty="0">
                <a:solidFill>
                  <a:srgbClr val="5D6872"/>
                </a:solidFill>
                <a:latin typeface="Arial"/>
              </a:rPr>
              <a:t>64 / 66</a:t>
            </a: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1_Custom Design">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Custom Design">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Title Slide">
  <a:themeElements>
    <a:clrScheme name="Marquee">
      <a:dk1>
        <a:srgbClr val="000000"/>
      </a:dk1>
      <a:lt1>
        <a:srgbClr val="FFFFFF"/>
      </a:lt1>
      <a:dk2>
        <a:srgbClr val="5E5E5E"/>
      </a:dk2>
      <a:lt2>
        <a:srgbClr val="DDDDDD"/>
      </a:lt2>
      <a:accent1>
        <a:srgbClr val="418AB3"/>
      </a:accent1>
      <a:accent2>
        <a:srgbClr val="A6B727"/>
      </a:accent2>
      <a:accent3>
        <a:srgbClr val="F69200"/>
      </a:accent3>
      <a:accent4>
        <a:srgbClr val="838383"/>
      </a:accent4>
      <a:accent5>
        <a:srgbClr val="FEC306"/>
      </a:accent5>
      <a:accent6>
        <a:srgbClr val="DF5327"/>
      </a:accent6>
      <a:hlink>
        <a:srgbClr val="F59E00"/>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5.xml><?xml version="1.0" encoding="utf-8"?>
<a:theme xmlns:a="http://schemas.openxmlformats.org/drawingml/2006/main" xmlns:r="http://schemas.openxmlformats.org/officeDocument/2006/relationships" name="2_Custom Design">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Reveal Math Grade 6 · Lesson 5.1 — Determine the Area of Parallelograms and Rhombuses</dc:title>
  <dc:creator>Neft Teacher</dc:creator>
  <cp:lastModifiedBy>Neft Teacher</cp:lastModifiedBy>
  <dcterms:created xsi:type="dcterms:W3CDTF">2026-09-30T12:04:43Z</dcterms:created>
  <dcterms:modified xsi:type="dcterms:W3CDTF">2026-09-30T12:04:43Z</dcterms:modified>
</cp:coreProperties>
</file>