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1.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6.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51.xml" ContentType="application/vnd.openxmlformats-officedocument.presentationml.notesSlide+xml"/>
  <Override PartName="/ppt/notesSlides/notesSlide53.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docProps/core.xml" ContentType="application/vnd.openxmlformats-package.core-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Core1"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3" r:id="rId5"/>
    <p:sldMasterId id="2147483684" r:id="rId6"/>
    <p:sldMasterId id="2147483685" r:id="rId7"/>
    <p:sldMasterId id="2147483686" r:id="rId8"/>
  </p:sldMasterIdLst>
  <p:notesMasterIdLst>
    <p:notesMasterId r:id="rId9"/>
  </p:notesMasterIdLst>
  <p:sldIdLst>
    <p:sldId id="259" r:id="rId13"/>
    <p:sldId id="269" r:id="rId23"/>
    <p:sldId id="270" r:id="rId24"/>
    <p:sldId id="256" r:id="rId10"/>
    <p:sldId id="257" r:id="rId11"/>
    <p:sldId id="260" r:id="rId14"/>
    <p:sldId id="333" r:id="rId78"/>
    <p:sldId id="332" r:id="rId33"/>
    <p:sldId id="331" r:id="rId34"/>
    <p:sldId id="330" r:id="rId35"/>
    <p:sldId id="329" r:id="rId36"/>
    <p:sldId id="328" r:id="rId37"/>
    <p:sldId id="327" r:id="rId46"/>
    <p:sldId id="326" r:id="rId38"/>
    <p:sldId id="325" r:id="rId44"/>
    <p:sldId id="261" r:id="rId15"/>
    <p:sldId id="274" r:id="rId28"/>
    <p:sldId id="286" r:id="rId40"/>
    <p:sldId id="288" r:id="rId42"/>
    <p:sldId id="337" r:id="rId82"/>
    <p:sldId id="289" r:id="rId43"/>
    <p:sldId id="291" r:id="rId45"/>
    <p:sldId id="293" r:id="rId47"/>
    <p:sldId id="294" r:id="rId48"/>
    <p:sldId id="295" r:id="rId49"/>
    <p:sldId id="296" r:id="rId50"/>
    <p:sldId id="297" r:id="rId51"/>
    <p:sldId id="334" r:id="rId79"/>
    <p:sldId id="324" r:id="rId39"/>
    <p:sldId id="321" r:id="rId76"/>
    <p:sldId id="338" r:id="rId83"/>
    <p:sldId id="322" r:id="rId77"/>
    <p:sldId id="320" r:id="rId52"/>
    <p:sldId id="302" r:id="rId56"/>
    <p:sldId id="306" r:id="rId60"/>
    <p:sldId id="308" r:id="rId62"/>
    <p:sldId id="339" r:id="rId84"/>
    <p:sldId id="310" r:id="rId64"/>
    <p:sldId id="311" r:id="rId65"/>
    <p:sldId id="312" r:id="rId66"/>
    <p:sldId id="340" r:id="rId85"/>
    <p:sldId id="314" r:id="rId68"/>
    <p:sldId id="316" r:id="rId70"/>
    <p:sldId id="317" r:id="rId71"/>
    <p:sldId id="341" r:id="rId86"/>
    <p:sldId id="335" r:id="rId80"/>
    <p:sldId id="318" r:id="rId72"/>
    <p:sldId id="342" r:id="rId87"/>
    <p:sldId id="319" r:id="rId73"/>
    <p:sldId id="323" r:id="rId41"/>
    <p:sldId id="336" r:id="rId81"/>
  </p:sldIdLst>
  <p:sldSz cy="6858000" cx="12192000"/>
  <p:notesSz cx="7010400" cy="9236075"/>
  <p:embeddedFontLst>
    <p:embeddedFont>
      <p:font typeface="Cambria Math"/>
      <p:regular r:id="rId7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pos="1512">
          <p15:clr>
            <a:srgbClr val="A4A3A4"/>
          </p15:clr>
        </p15:guide>
        <p15:guide id="2" orient="horz" pos="3024">
          <p15:clr>
            <a:srgbClr val="A4A3A4"/>
          </p15:clr>
        </p15:guide>
        <p15:guide id="3" orient="horz" pos="384">
          <p15:clr>
            <a:srgbClr val="A4A3A4"/>
          </p15:clr>
        </p15:guide>
        <p15:guide id="4" orient="horz" pos="2520">
          <p15:clr>
            <a:srgbClr val="A4A3A4"/>
          </p15:clr>
        </p15:guide>
        <p15:guide id="5" orient="horz" pos="1080">
          <p15:clr>
            <a:srgbClr val="A4A3A4"/>
          </p15:clr>
        </p15:guide>
        <p15:guide id="6" orient="horz" pos="1680">
          <p15:clr>
            <a:srgbClr val="A4A3A4"/>
          </p15:clr>
        </p15:guide>
        <p15:guide id="7" orient="horz" pos="3432">
          <p15:clr>
            <a:srgbClr val="A4A3A4"/>
          </p15:clr>
        </p15:guide>
        <p15:guide id="8" orient="horz" pos="3120">
          <p15:clr>
            <a:srgbClr val="A4A3A4"/>
          </p15:clr>
        </p15:guide>
        <p15:guide id="9" pos="48">
          <p15:clr>
            <a:srgbClr val="A4A3A4"/>
          </p15:clr>
        </p15:guide>
        <p15:guide id="10" pos="384">
          <p15:clr>
            <a:srgbClr val="A4A3A4"/>
          </p15:clr>
        </p15:guide>
        <p15:guide id="11" pos="6480">
          <p15:clr>
            <a:srgbClr val="A4A3A4"/>
          </p15:clr>
        </p15:guide>
        <p15:guide id="12" pos="2597">
          <p15:clr>
            <a:srgbClr val="A4A3A4"/>
          </p15:clr>
        </p15:guide>
        <p15:guide id="13" pos="288">
          <p15:clr>
            <a:srgbClr val="A4A3A4"/>
          </p15:clr>
        </p15:guide>
        <p15:guide id="14" orient="horz" pos="2160">
          <p15:clr>
            <a:srgbClr val="A4A3A4"/>
          </p15:clr>
        </p15:guide>
        <p15:guide id="15" orient="horz" pos="216">
          <p15:clr>
            <a:srgbClr val="A4A3A4"/>
          </p15:clr>
        </p15:guide>
        <p15:guide id="16" orient="horz" pos="936">
          <p15:clr>
            <a:srgbClr val="A4A3A4"/>
          </p15:clr>
        </p15:guide>
        <p15:guide id="17" pos="4368">
          <p15:clr>
            <a:srgbClr val="A4A3A4"/>
          </p15:clr>
        </p15:guide>
        <p15:guide id="18" pos="7296">
          <p15:clr>
            <a:srgbClr val="A4A3A4"/>
          </p15:clr>
        </p15:guide>
        <p15:guide id="19" pos="3288">
          <p15:clr>
            <a:srgbClr val="A4A3A4"/>
          </p15:clr>
        </p15:guide>
        <p15:guide id="20" pos="5904">
          <p15:clr>
            <a:srgbClr val="A4A3A4"/>
          </p15:clr>
        </p15:guide>
        <p15:guide id="21" pos="55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57B1600-6CBF-4A68-8487-D91FB864CBA1}">
  <a:tblStyle styleId="{357B1600-6CBF-4A68-8487-D91FB864CBA1}"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BF5"/>
          </a:solidFill>
        </a:fill>
      </a:tcStyle>
    </a:wholeTbl>
    <a:band1H>
      <a:tcTxStyle b="off" i="off"/>
      <a:tcStyle>
        <a:fill>
          <a:solidFill>
            <a:srgbClr val="CDD4EA"/>
          </a:solidFill>
        </a:fill>
      </a:tcStyle>
    </a:band1H>
    <a:band2H>
      <a:tcTxStyle b="off" i="off"/>
    </a:band2H>
    <a:band1V>
      <a:tcTxStyle b="off" i="off"/>
      <a:tcStyle>
        <a:fill>
          <a:solidFill>
            <a:srgbClr val="CDD4EA"/>
          </a:solidFill>
        </a:fill>
      </a:tcStyle>
    </a:band1V>
    <a:band2V>
      <a:tcTxStyle b="off" i="off"/>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512"/>
        <p:guide pos="3024" orient="horz"/>
        <p:guide pos="384" orient="horz"/>
        <p:guide pos="2520" orient="horz"/>
        <p:guide pos="1080" orient="horz"/>
        <p:guide pos="1680" orient="horz"/>
        <p:guide pos="3432" orient="horz"/>
        <p:guide pos="3120" orient="horz"/>
        <p:guide pos="48"/>
        <p:guide pos="384"/>
        <p:guide pos="6480"/>
        <p:guide pos="2597"/>
        <p:guide pos="288"/>
        <p:guide pos="2160" orient="horz"/>
        <p:guide pos="216" orient="horz"/>
        <p:guide pos="936" orient="horz"/>
        <p:guide pos="4368"/>
        <p:guide pos="7296"/>
        <p:guide pos="3288"/>
        <p:guide pos="5904"/>
        <p:guide pos="5568"/>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9" Type="http://schemas.openxmlformats.org/officeDocument/2006/relationships/notesMaster" Target="notesMasters/notesMaster1.xml"/><Relationship Id="rId10" Type="http://schemas.openxmlformats.org/officeDocument/2006/relationships/slide" Target="slides/slide4.xml"/><Relationship Id="rId11" Type="http://schemas.openxmlformats.org/officeDocument/2006/relationships/slide" Target="slides/slide5.xml"/><Relationship Id="rId13" Type="http://schemas.openxmlformats.org/officeDocument/2006/relationships/slide" Target="slides/slide1.xml"/><Relationship Id="rId14" Type="http://schemas.openxmlformats.org/officeDocument/2006/relationships/slide" Target="slides/slide6.xml"/><Relationship Id="rId15" Type="http://schemas.openxmlformats.org/officeDocument/2006/relationships/slide" Target="slides/slide16.xml"/><Relationship Id="rId23" Type="http://schemas.openxmlformats.org/officeDocument/2006/relationships/slide" Target="slides/slide2.xml"/><Relationship Id="rId24" Type="http://schemas.openxmlformats.org/officeDocument/2006/relationships/slide" Target="slides/slide3.xml"/><Relationship Id="rId28" Type="http://schemas.openxmlformats.org/officeDocument/2006/relationships/slide" Target="slides/slide17.xml"/><Relationship Id="rId33" Type="http://schemas.openxmlformats.org/officeDocument/2006/relationships/slide" Target="slides/slide8.xml"/><Relationship Id="rId34" Type="http://schemas.openxmlformats.org/officeDocument/2006/relationships/slide" Target="slides/slide9.xml"/><Relationship Id="rId35" Type="http://schemas.openxmlformats.org/officeDocument/2006/relationships/slide" Target="slides/slide10.xml"/><Relationship Id="rId36" Type="http://schemas.openxmlformats.org/officeDocument/2006/relationships/slide" Target="slides/slide11.xml"/><Relationship Id="rId37" Type="http://schemas.openxmlformats.org/officeDocument/2006/relationships/slide" Target="slides/slide12.xml"/><Relationship Id="rId38" Type="http://schemas.openxmlformats.org/officeDocument/2006/relationships/slide" Target="slides/slide14.xml"/><Relationship Id="rId39" Type="http://schemas.openxmlformats.org/officeDocument/2006/relationships/slide" Target="slides/slide28.xml"/><Relationship Id="rId40" Type="http://schemas.openxmlformats.org/officeDocument/2006/relationships/slide" Target="slides/slide18.xml"/><Relationship Id="rId41" Type="http://schemas.openxmlformats.org/officeDocument/2006/relationships/slide" Target="slides/slide44.xml"/><Relationship Id="rId42" Type="http://schemas.openxmlformats.org/officeDocument/2006/relationships/slide" Target="slides/slide19.xml"/><Relationship Id="rId43" Type="http://schemas.openxmlformats.org/officeDocument/2006/relationships/slide" Target="slides/slide20.xml"/><Relationship Id="rId44" Type="http://schemas.openxmlformats.org/officeDocument/2006/relationships/slide" Target="slides/slide15.xml"/><Relationship Id="rId45" Type="http://schemas.openxmlformats.org/officeDocument/2006/relationships/slide" Target="slides/slide21.xml"/><Relationship Id="rId46" Type="http://schemas.openxmlformats.org/officeDocument/2006/relationships/slide" Target="slides/slide13.xml"/><Relationship Id="rId47" Type="http://schemas.openxmlformats.org/officeDocument/2006/relationships/slide" Target="slides/slide22.xml"/><Relationship Id="rId48" Type="http://schemas.openxmlformats.org/officeDocument/2006/relationships/slide" Target="slides/slide23.xml"/><Relationship Id="rId49" Type="http://schemas.openxmlformats.org/officeDocument/2006/relationships/slide" Target="slides/slide24.xml"/><Relationship Id="rId50" Type="http://schemas.openxmlformats.org/officeDocument/2006/relationships/slide" Target="slides/slide25.xml"/><Relationship Id="rId51" Type="http://schemas.openxmlformats.org/officeDocument/2006/relationships/slide" Target="slides/slide26.xml"/><Relationship Id="rId52" Type="http://schemas.openxmlformats.org/officeDocument/2006/relationships/slide" Target="slides/slide31.xml"/><Relationship Id="rId56" Type="http://schemas.openxmlformats.org/officeDocument/2006/relationships/slide" Target="slides/slide32.xml"/><Relationship Id="rId60" Type="http://schemas.openxmlformats.org/officeDocument/2006/relationships/slide" Target="slides/slide33.xml"/><Relationship Id="rId62" Type="http://schemas.openxmlformats.org/officeDocument/2006/relationships/slide" Target="slides/slide34.xml"/><Relationship Id="rId64" Type="http://schemas.openxmlformats.org/officeDocument/2006/relationships/slide" Target="slides/slide35.xml"/><Relationship Id="rId65" Type="http://schemas.openxmlformats.org/officeDocument/2006/relationships/slide" Target="slides/slide36.xml"/><Relationship Id="rId66" Type="http://schemas.openxmlformats.org/officeDocument/2006/relationships/slide" Target="slides/slide37.xml"/><Relationship Id="rId68" Type="http://schemas.openxmlformats.org/officeDocument/2006/relationships/slide" Target="slides/slide38.xml"/><Relationship Id="rId70" Type="http://schemas.openxmlformats.org/officeDocument/2006/relationships/slide" Target="slides/slide39.xml"/><Relationship Id="rId71" Type="http://schemas.openxmlformats.org/officeDocument/2006/relationships/slide" Target="slides/slide40.xml"/><Relationship Id="rId72" Type="http://schemas.openxmlformats.org/officeDocument/2006/relationships/slide" Target="slides/slide42.xml"/><Relationship Id="rId73" Type="http://schemas.openxmlformats.org/officeDocument/2006/relationships/slide" Target="slides/slide43.xml"/><Relationship Id="rId75" Type="http://schemas.openxmlformats.org/officeDocument/2006/relationships/font" Target="fonts/CambriaMath-regular.fntdata"/><Relationship Id="rId76" Type="http://schemas.openxmlformats.org/officeDocument/2006/relationships/slide" Target="slides/slide29.xml"/><Relationship Id="rId77" Type="http://schemas.openxmlformats.org/officeDocument/2006/relationships/slide" Target="slides/slide30.xml"/><Relationship Id="rId78" Type="http://schemas.openxmlformats.org/officeDocument/2006/relationships/slide" Target="slides/slide7.xml"/><Relationship Id="rId79" Type="http://schemas.openxmlformats.org/officeDocument/2006/relationships/slide" Target="slides/slide27.xml"/><Relationship Id="rId80" Type="http://schemas.openxmlformats.org/officeDocument/2006/relationships/slide" Target="slides/slide41.xml"/><Relationship Id="rId81" Type="http://schemas.openxmlformats.org/officeDocument/2006/relationships/slide" Target="slides/slide45.xml"/><Relationship Id="rId82" Type="http://schemas.openxmlformats.org/officeDocument/2006/relationships/slide" Target="slides/slide46.xml"/><Relationship Id="rId83" Type="http://schemas.openxmlformats.org/officeDocument/2006/relationships/slide" Target="slides/slide47.xml"/><Relationship Id="rId84" Type="http://schemas.openxmlformats.org/officeDocument/2006/relationships/slide" Target="slides/slide48.xml"/><Relationship Id="rId85" Type="http://schemas.openxmlformats.org/officeDocument/2006/relationships/slide" Target="slides/slide49.xml"/><Relationship Id="rId86" Type="http://schemas.openxmlformats.org/officeDocument/2006/relationships/slide" Target="slides/slide50.xml"/><Relationship Id="rId87"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2"/>
            <a:ext cx="3037840" cy="463407"/>
          </a:xfrm>
          <a:prstGeom prst="rect">
            <a:avLst/>
          </a:prstGeom>
          <a:noFill/>
          <a:ln>
            <a:noFill/>
          </a:ln>
        </p:spPr>
        <p:txBody>
          <a:bodyPr anchorCtr="0" anchor="t" bIns="46125" lIns="92275" spcFirstLastPara="1" rIns="92275" wrap="square" tIns="461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970938" y="2"/>
            <a:ext cx="3037840" cy="463407"/>
          </a:xfrm>
          <a:prstGeom prst="rect">
            <a:avLst/>
          </a:prstGeom>
          <a:noFill/>
          <a:ln>
            <a:noFill/>
          </a:ln>
        </p:spPr>
        <p:txBody>
          <a:bodyPr anchorCtr="0" anchor="t" bIns="46125" lIns="92275" spcFirstLastPara="1" rIns="92275" wrap="square" tIns="46125">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772669"/>
            <a:ext cx="3037840" cy="463406"/>
          </a:xfrm>
          <a:prstGeom prst="rect">
            <a:avLst/>
          </a:prstGeom>
          <a:noFill/>
          <a:ln>
            <a:noFill/>
          </a:ln>
        </p:spPr>
        <p:txBody>
          <a:bodyPr anchorCtr="0" anchor="b" bIns="46125" lIns="92275" spcFirstLastPara="1" rIns="92275" wrap="square" tIns="461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970938" y="8772669"/>
            <a:ext cx="3037840" cy="463406"/>
          </a:xfrm>
          <a:prstGeom prst="rect">
            <a:avLst/>
          </a:prstGeom>
          <a:noFill/>
          <a:ln>
            <a:noFill/>
          </a:ln>
        </p:spPr>
        <p:txBody>
          <a:bodyPr anchorCtr="0" anchor="b" bIns="46125" lIns="92275" spcFirstLastPara="1" rIns="92275" wrap="square" tIns="4612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5.5, slide 4 | DIVIDER</a:t>
            </a:r>
          </a:p>
          <a:p xmlns:a="http://schemas.openxmlformats.org/drawingml/2006/main">
            <a:pPr>
              <a:buNone/>
            </a:pPr>
            <a:r>
              <a:rPr lang="en-US" sz="1100"/>
              <a:t>Focus on the existing task: Determine the Volume of a Rectangular Prism Session 1</a:t>
            </a:r>
          </a:p>
          <a:p xmlns:a="http://schemas.openxmlformats.org/drawingml/2006/main">
            <a:pPr>
              <a:buNone/>
            </a:pPr>
            <a:r>
              <a:rPr lang="en-US" sz="1100"/>
              <a:t>TRANSITION (T6/7): Students confirm materials, roles, how to request help, and the next response routine. Ask a student to restate it. Keep teacher-only slides hidden.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Transition cue: state what materials are out and what success looks like this session.</a:t>
            </a:r>
          </a:p>
          <a:p>
            <a:pPr indent="0" lvl="0" marL="0" rtl="0" algn="l">
              <a:lnSpc>
                <a:spcPct val="100000"/>
              </a:lnSpc>
              <a:spcBef>
                <a:spcPts val="0"/>
              </a:spcBef>
              <a:spcAft>
                <a:spcPts val="0"/>
              </a:spcAft>
              <a:buSzPts val="1400"/>
              <a:buNone/>
            </a:pPr>
            <a:r>
              <a:t>Keep the changeover under a minute.</a:t>
            </a:r>
          </a:p>
          <a:p>
            <a:pPr indent="0" lvl="0" marL="0" rtl="0" algn="l">
              <a:lnSpc>
                <a:spcPct val="100000"/>
              </a:lnSpc>
              <a:spcBef>
                <a:spcPts val="0"/>
              </a:spcBef>
              <a:spcAft>
                <a:spcPts val="0"/>
              </a:spcAft>
              <a:buSzPts val="1400"/>
              <a:buNone/>
            </a:pPr>
            <a:r>
              <a:t>UIFR: TEACH 6.</a:t>
            </a:r>
          </a:p>
        </p:txBody>
      </p:sp>
      <p:sp>
        <p:nvSpPr>
          <p:cNvPr id="231" name="Google Shape;231;p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5.5, slide 5 | TASK</a:t>
            </a:r>
          </a:p>
          <a:p xmlns:a="http://schemas.openxmlformats.org/drawingml/2006/main">
            <a:pPr>
              <a:buNone/>
            </a:pPr>
            <a:r>
              <a:rPr lang="en-US" sz="1100"/>
              <a:t>Focus on the existing task: This or That Would you rather have THIS or THAT points?</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connect unit-cube layers to volume. Ask which feature of their work supports the claim.</a:t>
            </a:r>
          </a:p>
          <a:p xmlns:a="http://schemas.openxmlformats.org/drawingml/2006/main">
            <a:pPr>
              <a:buNone/>
            </a:pPr>
            <a:r>
              <a:rPr lang="en-US" sz="1100"/>
              <a:t>RESPOND: If this task shows the lesson misconception—confusing square and cubic units or assuming fractional edges cannot have volume—label edge units and one layer of the original prism before connecting it to the formula.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Number-sense routine — every voice in. Give quiet think time, then hear from at least three students.</a:t>
            </a:r>
          </a:p>
          <a:p>
            <a:pPr indent="0" lvl="0" marL="0" rtl="0" algn="l">
              <a:lnSpc>
                <a:spcPct val="100000"/>
              </a:lnSpc>
              <a:spcBef>
                <a:spcPts val="0"/>
              </a:spcBef>
              <a:spcAft>
                <a:spcPts val="0"/>
              </a:spcAft>
              <a:buSzPts val="1400"/>
              <a:buNone/>
            </a:pPr>
            <a:r>
              <a:t>Always follow with “How do you know?” — the reasoning is the point, not the answer.</a:t>
            </a:r>
          </a:p>
          <a:p>
            <a:pPr indent="0" lvl="0" marL="0" rtl="0" algn="l">
              <a:lnSpc>
                <a:spcPct val="100000"/>
              </a:lnSpc>
              <a:spcBef>
                <a:spcPts val="0"/>
              </a:spcBef>
              <a:spcAft>
                <a:spcPts val="0"/>
              </a:spcAft>
              <a:buSzPts val="1400"/>
              <a:buNone/>
            </a:pPr>
            <a:r>
              <a:t>There is more than one path; name and celebrate different strategies.</a:t>
            </a:r>
          </a:p>
          <a:p>
            <a:pPr indent="0" lvl="0" marL="0" rtl="0" algn="l">
              <a:lnSpc>
                <a:spcPct val="100000"/>
              </a:lnSpc>
              <a:spcBef>
                <a:spcPts val="0"/>
              </a:spcBef>
              <a:spcAft>
                <a:spcPts val="0"/>
              </a:spcAft>
              <a:buSzPts val="1400"/>
              <a:buNone/>
            </a:pPr>
            <a:r>
              <a:t>UIFR: TEACH 3 · TEACH 5 · TEACH 6.</a:t>
            </a:r>
          </a:p>
        </p:txBody>
      </p:sp>
      <p:sp>
        <p:nvSpPr>
          <p:cNvPr id="238" name="Google Shape;238;p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4: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5.5, slide 1 | WARMUP</a:t>
            </a:r>
          </a:p>
          <a:p xmlns:a="http://schemas.openxmlformats.org/drawingml/2006/main">
            <a:pPr>
              <a:buNone/>
            </a:pPr>
            <a:r>
              <a:rPr lang="en-US" sz="1100"/>
              <a:t>Focus on the existing task: Warm-Up WARM-UP · THINK • TRY • CHECK Do these…</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Warm-Up answers (teacher only): 1) 24   2) 1/6   3) 30 square centimeters   4) cubic units</a:t>
            </a:r>
          </a:p>
          <a:p>
            <a:pPr>
              <a:buNone/>
            </a:pPr>
            <a:r>
              <a:rPr lang="en-US" sz="1100"/>
              <a:t/>
            </a:r>
          </a:p>
          <a:p>
            <a:pPr>
              <a:buNone/>
            </a:pPr>
            <a:r>
              <a:rPr lang="en-US" sz="1100"/>
              <a:t>UIFR FULL | Lesson-specific facilitation</a:t>
            </a:r>
          </a:p>
          <a:p>
            <a:pPr>
              <a:buNone/>
            </a:pPr>
            <a:r>
              <a:rPr lang="en-US" sz="1100"/>
              <a:t>PREPARE 1-2 | Before teaching (UIFR PDF pp. 6-7).</a:t>
            </a:r>
          </a:p>
          <a:p>
            <a:pPr>
              <a:buNone/>
            </a:pPr>
            <a:r>
              <a:rPr lang="en-US" sz="1100"/>
              <a:t>Plan to gather evidence that students can connect unit-cube layers to volume; use fractional edges when present; recover a missing dimension. Review recent work and today’s warm-up to choose flexible groups and access supports; do not infer needs from identity or perceived ability. Use the existing lesson tasks and stated standards.</a:t>
            </a:r>
          </a:p>
          <a:p>
            <a:pPr>
              <a:buNone/>
            </a:pPr>
            <a:r>
              <a:rPr lang="en-US" sz="1100"/>
              <a:t>Anticipate: confusing square and cubic units or assuming fractional edges cannot have volume. If observed, label edge units and one layer of the original prism before connecting it to the formula. Offer oral rehearsal, drawing, pointing, or home-language processing as needed; retain the original mathematical demand. Ask students which support helps and fade it as evidence improves.</a:t>
            </a:r>
          </a:p>
          <a:p>
            <a:pPr>
              <a:buNone/>
            </a:pPr>
            <a:r>
              <a:rPr lang="en-US" sz="1100"/>
              <a:t>TEACH 6-7 | Before the first transition, agree on materials, partner roles, and how to request help. Invite students to restate the routine. Normalize revising an idea, recognize a specific contribution, and check privately when frustration blocks participation. Source: UIFR PDF pp. 13-14.</a:t>
            </a:r>
          </a:p>
        </p:txBody>
      </p:sp>
      <p:sp>
        <p:nvSpPr>
          <p:cNvPr id="254" name="Google Shape;254;p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5: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5.5, slide 6 | GOAL</a:t>
            </a:r>
          </a:p>
          <a:p xmlns:a="http://schemas.openxmlformats.org/drawingml/2006/main">
            <a:pPr>
              <a:buNone/>
            </a:pPr>
            <a:r>
              <a:rPr lang="en-US" sz="1100"/>
              <a:t>Focus on the existing task: Today’s Objectives Determine the Volume of…</a:t>
            </a:r>
          </a:p>
          <a:p xmlns:a="http://schemas.openxmlformats.org/drawingml/2006/main">
            <a:pPr>
              <a:buNone/>
            </a:pPr>
            <a:r>
              <a:rPr lang="en-US" sz="1100"/>
              <a:t>CONNECT (T1/4): Ask students to restate the displayed goal or key idea and connect it to earlier work. Relevant lesson evidence: connect unit-cube layers to volume; use fractional edges when present; recover a missing dimension.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Read the objective together, then have one or two students restate today’s goal in their own words.</a:t>
            </a:r>
          </a:p>
          <a:p>
            <a:pPr indent="0" lvl="0" marL="0" rtl="0" algn="l">
              <a:spcBef>
                <a:spcPts val="0"/>
              </a:spcBef>
              <a:spcAft>
                <a:spcPts val="0"/>
              </a:spcAft>
              <a:buNone/>
            </a:pPr>
            <a:r>
              <a:t>Connect it to what the class learned last lesson.</a:t>
            </a:r>
          </a:p>
          <a:p>
            <a:pPr indent="0" lvl="0" marL="0" rtl="0" algn="l">
              <a:spcBef>
                <a:spcPts val="0"/>
              </a:spcBef>
              <a:spcAft>
                <a:spcPts val="0"/>
              </a:spcAft>
              <a:buNone/>
            </a:pPr>
            <a:r>
              <a:t>Return to this goal at the end of class to check it was met.</a:t>
            </a:r>
          </a:p>
          <a:p>
            <a:pPr indent="0" lvl="0" marL="0" rtl="0" algn="l">
              <a:spcBef>
                <a:spcPts val="0"/>
              </a:spcBef>
              <a:spcAft>
                <a:spcPts val="0"/>
              </a:spcAft>
              <a:buNone/>
            </a:pPr>
            <a:r>
              <a:t>UIFR: TEACH 1.</a:t>
            </a:r>
          </a:p>
          <a:p>
            <a:pPr>
              <a:buNone/>
            </a:pPr>
            <a:r>
              <a:rPr lang="en-US" sz="1100"/>
              <a:t/>
            </a:r>
          </a:p>
          <a:p>
            <a:pPr>
              <a:buNone/>
            </a:pPr>
            <a:r>
              <a:rPr lang="en-US" sz="1100"/>
              <a:t>UIFR FULL | Lesson-specific facilitation</a:t>
            </a:r>
          </a:p>
          <a:p>
            <a:pPr>
              <a:buNone/>
            </a:pPr>
            <a:r>
              <a:rPr lang="en-US" sz="1100"/>
              <a:t>TEACH 1 | Session 1 purpose and evidence (UIFR PDF p. 8).</a:t>
            </a:r>
          </a:p>
          <a:p>
            <a:pPr>
              <a:buNone/>
            </a:pPr>
            <a:r>
              <a:rPr lang="en-US" sz="1100"/>
              <a:t>Have students restate the displayed session goal in their own words and connect it to the existing context or a familiar experience they choose to share. Use the current session goal to select from these lesson-wide evidence criteria; do not frontload a later-session procedure.</a:t>
            </a:r>
          </a:p>
          <a:p>
            <a:pPr>
              <a:buNone/>
            </a:pPr>
            <a:r>
              <a:rPr lang="en-US" sz="1100"/>
              <a:t>Look for: connect unit-cube layers to volume; use fractional edges when present; recover a missing dimension. Ask: “Which part of your work would show this?” Revisit that evidence after the task; a confidence rating alone is not evidence of understanding.</a:t>
            </a:r>
          </a:p>
        </p:txBody>
      </p:sp>
      <p:sp>
        <p:nvSpPr>
          <p:cNvPr id="330" name="Google Shape;330;p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6: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5.5, slide 16 | VOCAB</a:t>
            </a:r>
          </a:p>
          <a:p xmlns:a="http://schemas.openxmlformats.org/drawingml/2006/main">
            <a:pPr>
              <a:buNone/>
            </a:pPr>
            <a:r>
              <a:rPr lang="en-US" sz="1100"/>
              <a:t>Focus on the existing task: Vocabulary Today’s Math Words We learn every…</a:t>
            </a:r>
          </a:p>
          <a:p xmlns:a="http://schemas.openxmlformats.org/drawingml/2006/main">
            <a:pPr>
              <a:buNone/>
            </a:pPr>
            <a:r>
              <a:rPr lang="en-US" sz="1100"/>
              <a:t>ASK (T1/3/5): Where does “the displayed term”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Choral-read each word, its meaning, and what it looks like.</a:t>
            </a:r>
          </a:p>
          <a:p>
            <a:pPr indent="0" lvl="0" marL="0" rtl="0" algn="l">
              <a:spcBef>
                <a:spcPts val="0"/>
              </a:spcBef>
              <a:spcAft>
                <a:spcPts val="0"/>
              </a:spcAft>
              <a:buNone/>
            </a:pPr>
            <a:r>
              <a:t>Students should use these words out loud today — listen for them in partner talk and revoice student ideas with the academic term.</a:t>
            </a:r>
          </a:p>
          <a:p>
            <a:pPr indent="0" lvl="0" marL="0" rtl="0" algn="l">
              <a:spcBef>
                <a:spcPts val="0"/>
              </a:spcBef>
              <a:spcAft>
                <a:spcPts val="0"/>
              </a:spcAft>
              <a:buNone/>
            </a:pPr>
            <a:r>
              <a:t>UIFR: TEACH 1 · TEACH 5.</a:t>
            </a:r>
          </a:p>
        </p:txBody>
      </p:sp>
      <p:sp>
        <p:nvSpPr>
          <p:cNvPr id="352" name="Google Shape;352;p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p14: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5.5, slide 2 | NOTES</a:t>
            </a:r>
          </a:p>
          <a:p xmlns:a="http://schemas.openxmlformats.org/drawingml/2006/main">
            <a:pPr>
              <a:buNone/>
            </a:pPr>
            <a:r>
              <a:rPr lang="en-US" sz="1100"/>
              <a:t>Focus on the existing task: Today’s Math Notes Section 1: Math Words Copy…</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Copy routine: read one line at a time; students copy, then explain that line to a partner.</a:t>
            </a:r>
          </a:p>
          <a:p>
            <a:pPr indent="0" lvl="0" marL="0" rtl="0" algn="l">
              <a:spcBef>
                <a:spcPts val="0"/>
              </a:spcBef>
              <a:spcAft>
                <a:spcPts val="0"/>
              </a:spcAft>
              <a:buNone/>
            </a:pPr>
            <a:r>
              <a:t>Keep it brisk — the understanding work happens in the examples, not the copying.</a:t>
            </a:r>
          </a:p>
          <a:p>
            <a:pPr indent="0" lvl="0" marL="0" rtl="0" algn="l">
              <a:spcBef>
                <a:spcPts val="0"/>
              </a:spcBef>
              <a:spcAft>
                <a:spcPts val="0"/>
              </a:spcAft>
              <a:buNone/>
            </a:pPr>
            <a:r>
              <a:t>UIFR: TEACH 1 · TEACH 6.</a:t>
            </a:r>
          </a:p>
        </p:txBody>
      </p:sp>
      <p:sp>
        <p:nvSpPr>
          <p:cNvPr id="518" name="Google Shape;518;p1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p15: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5.5, slide 3 | NOTES</a:t>
            </a:r>
          </a:p>
          <a:p xmlns:a="http://schemas.openxmlformats.org/drawingml/2006/main">
            <a:pPr>
              <a:buNone/>
            </a:pPr>
            <a:r>
              <a:rPr lang="en-US" sz="1100"/>
              <a:t>Focus on the existing task: Today’s Math Notes Section 2: Today’s Math Copy…</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Copy routine: read one line at a time; students copy, then explain that line to a partner.</a:t>
            </a:r>
          </a:p>
          <a:p>
            <a:pPr indent="0" lvl="0" marL="0" rtl="0" algn="l">
              <a:spcBef>
                <a:spcPts val="0"/>
              </a:spcBef>
              <a:spcAft>
                <a:spcPts val="0"/>
              </a:spcAft>
              <a:buNone/>
            </a:pPr>
            <a:r>
              <a:t>Keep it brisk — the understanding work happens in the examples, not the copying.</a:t>
            </a:r>
          </a:p>
          <a:p>
            <a:pPr indent="0" lvl="0" marL="0" rtl="0" algn="l">
              <a:spcBef>
                <a:spcPts val="0"/>
              </a:spcBef>
              <a:spcAft>
                <a:spcPts val="0"/>
              </a:spcAft>
              <a:buNone/>
            </a:pPr>
            <a:r>
              <a:t>UIFR: TEACH 1 · TEACH 6.</a:t>
            </a:r>
          </a:p>
        </p:txBody>
      </p:sp>
      <p:sp>
        <p:nvSpPr>
          <p:cNvPr id="546" name="Google Shape;546;p1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p19: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5.5, slide 17 | WORKED</a:t>
            </a:r>
          </a:p>
          <a:p xmlns:a="http://schemas.openxmlformats.org/drawingml/2006/main">
            <a:pPr>
              <a:buNone/>
            </a:pPr>
            <a:r>
              <a:rPr lang="en-US" sz="1100"/>
              <a:t>Focus on the existing task: Think About It: Volume of a Rectangular Prism</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connect unit-cube layers to volume. Ask which feature of their work supports the claim.</a:t>
            </a:r>
          </a:p>
          <a:p xmlns:a="http://schemas.openxmlformats.org/drawingml/2006/main">
            <a:pPr>
              <a:buNone/>
            </a:pPr>
            <a:r>
              <a:rPr lang="en-US" sz="1100"/>
              <a:t>RESPOND: If this task shows the lesson misconception—confusing square and cubic units or assuming fractional edges cannot have volume—label edge units and one layer of the original prism before connecting it to the formula.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Ask the question, then hold the silence — students think or jot before anyone answers.</a:t>
            </a:r>
          </a:p>
          <a:p>
            <a:pPr indent="0" lvl="0" marL="0" rtl="0" algn="l">
              <a:lnSpc>
                <a:spcPct val="100000"/>
              </a:lnSpc>
              <a:spcBef>
                <a:spcPts val="0"/>
              </a:spcBef>
              <a:spcAft>
                <a:spcPts val="0"/>
              </a:spcAft>
              <a:buSzPts val="1400"/>
              <a:buNone/>
            </a:pPr>
            <a:r>
              <a:t>Take two or three responses and press with “Why?” or “How do you know?” before moving on.</a:t>
            </a:r>
          </a:p>
          <a:p>
            <a:pPr indent="0" lvl="0" marL="0" rtl="0" algn="l">
              <a:lnSpc>
                <a:spcPct val="100000"/>
              </a:lnSpc>
              <a:spcBef>
                <a:spcPts val="0"/>
              </a:spcBef>
              <a:spcAft>
                <a:spcPts val="0"/>
              </a:spcAft>
              <a:buSzPts val="1400"/>
              <a:buNone/>
            </a:pPr>
            <a:r>
              <a:t>UIFR: TEACH 3.</a:t>
            </a:r>
          </a:p>
        </p:txBody>
      </p:sp>
      <p:sp>
        <p:nvSpPr>
          <p:cNvPr id="603" name="Google Shape;603;p19: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p3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5.5, slide 18 | REVEAL</a:t>
            </a:r>
          </a:p>
          <a:p xmlns:a="http://schemas.openxmlformats.org/drawingml/2006/main">
            <a:pPr>
              <a:buNone/>
            </a:pPr>
            <a:r>
              <a:rPr lang="en-US" sz="1100"/>
              <a:t>Focus on the existing task: Reveal: To find the area of some two-dimensional figures, like rectangles, you multiply the two dimensions: length and width. To find…</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connect unit-cube layers to volume. Ask which feature of their work supports the claim.</a:t>
            </a:r>
          </a:p>
          <a:p xmlns:a="http://schemas.openxmlformats.org/drawingml/2006/main">
            <a:pPr>
              <a:buNone/>
            </a:pPr>
            <a:r>
              <a:rPr lang="en-US" sz="1100"/>
              <a:t>RESPOND: If this task shows the lesson misconception—confusing square and cubic units or assuming fractional edges cannot have volume—label edge units and one layer of the original prism before connecting it to the formula.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To find the area of some two-dimensional figures, like rectangles, you multiply the two dimensions: length and width. To find the volume of a three-dimensional rectangular prism, you multiply the three dimensions: len…</a:t>
            </a:r>
          </a:p>
          <a:p>
            <a:pPr indent="0" lvl="0" marL="0" rtl="0" algn="l">
              <a:lnSpc>
                <a:spcPct val="100000"/>
              </a:lnSpc>
              <a:spcBef>
                <a:spcPts val="0"/>
              </a:spcBef>
              <a:spcAft>
                <a:spcPts val="0"/>
              </a:spcAft>
              <a:buSzPts val="1400"/>
              <a:buNone/>
            </a:pPr>
            <a:r>
              <a:t>UIFR: TEACH 3 · TEACH 4.</a:t>
            </a:r>
          </a:p>
          <a:p>
            <a:pPr>
              <a:buNone/>
            </a:pPr>
            <a:r>
              <a:rPr lang="en-US" sz="1100"/>
              <a:t/>
            </a:r>
          </a:p>
          <a:p>
            <a:pPr>
              <a:buNone/>
            </a:pPr>
            <a:r>
              <a:rPr lang="en-US" sz="1100"/>
              <a:t>UIFR FULL | Lesson-specific facilitation</a:t>
            </a:r>
          </a:p>
          <a:p>
            <a:pPr>
              <a:buNone/>
            </a:pPr>
            <a:r>
              <a:rPr lang="en-US" sz="1100"/>
              <a:t>TEACH 2-3 | Session 1 task launch (UIFR PDF pp. 9-10).</a:t>
            </a:r>
          </a:p>
          <a:p>
            <a:pPr>
              <a:buNone/>
            </a:pPr>
            <a:r>
              <a:rPr lang="en-US" sz="1100"/>
              <a:t>Use the problem exactly as displayed. Give individual thinking time before discussion or advancing to the explanation. If the answer is already visible, ask students to reconstruct and justify it. Invite a choice of suitable representations and have students explain why their choice helps.</a:t>
            </a:r>
          </a:p>
          <a:p>
            <a:pPr>
              <a:buNone/>
            </a:pPr>
            <a:r>
              <a:rPr lang="en-US" sz="1100"/>
              <a:t>At the point where this concept appears, ask: “How do the layers explain the product of the dimensions, including a fractional edge?” Wait for evidence, invite another pathway, and have a student ask a follow-up question. Do not replace students’ reasoning with a sequence of leading steps.</a:t>
            </a:r>
          </a:p>
        </p:txBody>
      </p:sp>
      <p:sp>
        <p:nvSpPr>
          <p:cNvPr id="711" name="Google Shape;711;p3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p33: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5.5, slide 19 | TASK</a:t>
            </a:r>
          </a:p>
          <a:p xmlns:a="http://schemas.openxmlformats.org/drawingml/2006/main">
            <a:pPr>
              <a:buNone/>
            </a:pPr>
            <a:r>
              <a:rPr lang="en-US" sz="1100"/>
              <a:t>Focus on the existing task: To find the volume of a three-dimensional rectangular prism, you multiply the three dimensions: length, width, and height. How can you determine the length, width, and height of the prism?</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connect unit-cube layers to volume. Ask which feature of their work supports the claim.</a:t>
            </a:r>
          </a:p>
          <a:p xmlns:a="http://schemas.openxmlformats.org/drawingml/2006/main">
            <a:pPr>
              <a:buNone/>
            </a:pPr>
            <a:r>
              <a:rPr lang="en-US" sz="1100"/>
              <a:t>RESPOND: If this task shows the lesson misconception—confusing square and cubic units or assuming fractional edges cannot have volume—label edge units and one layer of the original prism before connecting it to the formula.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Read the context aloud (or have a student read it).</a:t>
            </a:r>
          </a:p>
          <a:p>
            <a:pPr indent="0" lvl="0" marL="0" rtl="0" algn="l">
              <a:lnSpc>
                <a:spcPct val="100000"/>
              </a:lnSpc>
              <a:spcBef>
                <a:spcPts val="0"/>
              </a:spcBef>
              <a:spcAft>
                <a:spcPts val="0"/>
              </a:spcAft>
              <a:buSzPts val="1400"/>
              <a:buNone/>
            </a:pPr>
            <a:r>
              <a:t>Before any math, students restate the situation and what is being asked in their own words.</a:t>
            </a:r>
          </a:p>
          <a:p>
            <a:pPr indent="0" lvl="0" marL="0" rtl="0" algn="l">
              <a:lnSpc>
                <a:spcPct val="100000"/>
              </a:lnSpc>
              <a:spcBef>
                <a:spcPts val="0"/>
              </a:spcBef>
              <a:spcAft>
                <a:spcPts val="0"/>
              </a:spcAft>
              <a:buSzPts val="1400"/>
              <a:buNone/>
            </a:pPr>
            <a:r>
              <a:t>Ask: How can you determine the length, width, and height of the prism?</a:t>
            </a:r>
          </a:p>
          <a:p>
            <a:pPr indent="0" lvl="0" marL="0" rtl="0" algn="l">
              <a:lnSpc>
                <a:spcPct val="100000"/>
              </a:lnSpc>
              <a:spcBef>
                <a:spcPts val="0"/>
              </a:spcBef>
              <a:spcAft>
                <a:spcPts val="0"/>
              </a:spcAft>
              <a:buSzPts val="1400"/>
              <a:buNone/>
            </a:pPr>
            <a:r>
              <a:t>UIFR: TEACH 1 · TEACH 3.</a:t>
            </a:r>
          </a:p>
        </p:txBody>
      </p:sp>
      <p:sp>
        <p:nvSpPr>
          <p:cNvPr id="732" name="Google Shape;732;p3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p34: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5.5, slide 20 | WORKED</a:t>
            </a:r>
          </a:p>
          <a:p xmlns:a="http://schemas.openxmlformats.org/drawingml/2006/main">
            <a:pPr>
              <a:buNone/>
            </a:pPr>
            <a:r>
              <a:rPr lang="en-US" sz="1100"/>
              <a:t>Focus on the existing task: Let’s use the dimensions of the unit cube to determine the dimensions of the rectangular prism. Volume of a Rectangular Prism</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connect unit-cube layers to volume. Ask which feature of their work supports the claim.</a:t>
            </a:r>
          </a:p>
          <a:p xmlns:a="http://schemas.openxmlformats.org/drawingml/2006/main">
            <a:pPr>
              <a:buNone/>
            </a:pPr>
            <a:r>
              <a:rPr lang="en-US" sz="1100"/>
              <a:t>RESPOND: If this task shows the lesson misconception—confusing square and cubic units or assuming fractional edges cannot have volume—label edge units and one layer of the original prism before connecting it to the formula.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743" name="Google Shape;743;p3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9" name="Shape 759"/>
        <p:cNvGrpSpPr/>
        <p:nvPr/>
      </p:nvGrpSpPr>
      <p:grpSpPr>
        <a:xfrm>
          <a:off x="0" y="0"/>
          <a:ext cx="0" cy="0"/>
          <a:chOff x="0" y="0"/>
          <a:chExt cx="0" cy="0"/>
        </a:xfrm>
      </p:grpSpPr>
      <p:sp>
        <p:nvSpPr>
          <p:cNvPr id="760" name="Google Shape;760;p36: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5.5, slide 21 | WORKED</a:t>
            </a:r>
          </a:p>
          <a:p xmlns:a="http://schemas.openxmlformats.org/drawingml/2006/main">
            <a:pPr>
              <a:buNone/>
            </a:pPr>
            <a:r>
              <a:rPr lang="en-US" sz="1100"/>
              <a:t>Focus on the existing task: There are 3 unit cubes along the height of the prism. Volume of a Rectangular Prism</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connect unit-cube layers to volume. Ask which feature of their work supports the claim.</a:t>
            </a:r>
          </a:p>
          <a:p xmlns:a="http://schemas.openxmlformats.org/drawingml/2006/main">
            <a:pPr>
              <a:buNone/>
            </a:pPr>
            <a:r>
              <a:rPr lang="en-US" sz="1100"/>
              <a:t>RESPOND: If this task shows the lesson misconception—confusing square and cubic units or assuming fractional edges cannot have volume—label edge units and one layer of the original prism before connecting it to the formula.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761" name="Google Shape;761;p3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p38: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5.5, slide 22 | REVEAL</a:t>
            </a:r>
          </a:p>
          <a:p xmlns:a="http://schemas.openxmlformats.org/drawingml/2006/main">
            <a:pPr>
              <a:buNone/>
            </a:pPr>
            <a:r>
              <a:rPr lang="en-US" sz="1100"/>
              <a:t>Focus on the existing task: Reveal: We substitute the dimensions of the prism for the corresponding variables in the formula. How do you use the formula to find the volume of the prism?</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connect unit-cube layers to volume. Ask which feature of their work supports the claim.</a:t>
            </a:r>
          </a:p>
          <a:p xmlns:a="http://schemas.openxmlformats.org/drawingml/2006/main">
            <a:pPr>
              <a:buNone/>
            </a:pPr>
            <a:r>
              <a:rPr lang="en-US" sz="1100"/>
              <a:t>RESPOND: If this task shows the lesson misconception—confusing square and cubic units or assuming fractional edges cannot have volume—label edge units and one layer of the original prism before connecting it to the formula.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We substitute the dimensions of the prism for the corresponding variables in the formula.</a:t>
            </a:r>
          </a:p>
          <a:p>
            <a:pPr indent="0" lvl="0" marL="0" rtl="0" algn="l">
              <a:lnSpc>
                <a:spcPct val="100000"/>
              </a:lnSpc>
              <a:spcBef>
                <a:spcPts val="0"/>
              </a:spcBef>
              <a:spcAft>
                <a:spcPts val="0"/>
              </a:spcAft>
              <a:buSzPts val="1400"/>
              <a:buNone/>
            </a:pPr>
            <a:r>
              <a:t>UIFR: TEACH 3 · TEACH 4.</a:t>
            </a:r>
          </a:p>
        </p:txBody>
      </p:sp>
      <p:sp>
        <p:nvSpPr>
          <p:cNvPr id="780" name="Google Shape;780;p3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p39: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5.5, slide 23 | TASK</a:t>
            </a:r>
          </a:p>
          <a:p xmlns:a="http://schemas.openxmlformats.org/drawingml/2006/main">
            <a:pPr>
              <a:buNone/>
            </a:pPr>
            <a:r>
              <a:rPr lang="en-US" sz="1100"/>
              <a:t>Focus on the existing task: Using Symbols Appropriately What units of measure are needed to be precise?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connect unit-cube layers to volume. Ask which feature of their work supports the claim.</a:t>
            </a:r>
          </a:p>
          <a:p xmlns:a="http://schemas.openxmlformats.org/drawingml/2006/main">
            <a:pPr>
              <a:buNone/>
            </a:pPr>
            <a:r>
              <a:rPr lang="en-US" sz="1100"/>
              <a:t>RESPOND: If this task shows the lesson misconception—confusing square and cubic units or assuming fractional edges cannot have volume—label edge units and one layer of the original prism before connecting it to the formula.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790" name="Google Shape;790;p39: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0" name="Shape 800"/>
        <p:cNvGrpSpPr/>
        <p:nvPr/>
      </p:nvGrpSpPr>
      <p:grpSpPr>
        <a:xfrm>
          <a:off x="0" y="0"/>
          <a:ext cx="0" cy="0"/>
          <a:chOff x="0" y="0"/>
          <a:chExt cx="0" cy="0"/>
        </a:xfrm>
      </p:grpSpPr>
      <p:sp>
        <p:nvSpPr>
          <p:cNvPr id="801" name="Google Shape;801;p40: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5.5, slide 24 | WORKED</a:t>
            </a:r>
          </a:p>
          <a:p xmlns:a="http://schemas.openxmlformats.org/drawingml/2006/main">
            <a:pPr>
              <a:buNone/>
            </a:pPr>
            <a:r>
              <a:rPr lang="en-US" sz="1100"/>
              <a:t>Focus on the existing task: Let’s substitute the dimensions of the prism into the formula. Volume of a Rectangular Prism</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connect unit-cube layers to volume. Ask which feature of their work supports the claim.</a:t>
            </a:r>
          </a:p>
          <a:p xmlns:a="http://schemas.openxmlformats.org/drawingml/2006/main">
            <a:pPr>
              <a:buNone/>
            </a:pPr>
            <a:r>
              <a:rPr lang="en-US" sz="1100"/>
              <a:t>RESPOND: If this task shows the lesson misconception—confusing square and cubic units or assuming fractional edges cannot have volume—label edge units and one layer of the original prism before connecting it to the formula.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802" name="Google Shape;802;p40: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p4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5.5, slide 25 | TASK</a:t>
            </a:r>
          </a:p>
          <a:p xmlns:a="http://schemas.openxmlformats.org/drawingml/2006/main">
            <a:pPr>
              <a:buNone/>
            </a:pPr>
            <a:r>
              <a:rPr lang="en-US" sz="1100"/>
              <a:t>Focus on the existing task: What is the volume of the prism?</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connect unit-cube layers to volume. Ask which feature of their work supports the claim.</a:t>
            </a:r>
          </a:p>
          <a:p xmlns:a="http://schemas.openxmlformats.org/drawingml/2006/main">
            <a:pPr>
              <a:buNone/>
            </a:pPr>
            <a:r>
              <a:rPr lang="en-US" sz="1100"/>
              <a:t>RESPOND: If this task shows the lesson misconception—confusing square and cubic units or assuming fractional edges cannot have volume—label edge units and one layer of the original prism before connecting it to the formula.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811" name="Google Shape;811;p4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9" name="Shape 819"/>
        <p:cNvGrpSpPr/>
        <p:nvPr/>
      </p:nvGrpSpPr>
      <p:grpSpPr>
        <a:xfrm>
          <a:off x="0" y="0"/>
          <a:ext cx="0" cy="0"/>
          <a:chOff x="0" y="0"/>
          <a:chExt cx="0" cy="0"/>
        </a:xfrm>
      </p:grpSpPr>
      <p:sp>
        <p:nvSpPr>
          <p:cNvPr id="820" name="Google Shape;820;p4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5.5, slide 26 | PRACTICE</a:t>
            </a:r>
          </a:p>
          <a:p xmlns:a="http://schemas.openxmlformats.org/drawingml/2006/main">
            <a:pPr>
              <a:buNone/>
            </a:pPr>
            <a:r>
              <a:rPr lang="en-US" sz="1100"/>
              <a:t>Focus on the existing task: How is finding area related to finding volume?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connect unit-cube layers to volume. Ask which feature of their work supports the claim.</a:t>
            </a:r>
          </a:p>
          <a:p xmlns:a="http://schemas.openxmlformats.org/drawingml/2006/main">
            <a:pPr>
              <a:buNone/>
            </a:pPr>
            <a:r>
              <a:rPr lang="en-US" sz="1100"/>
              <a:t>RESPOND: If this task shows the lesson misconception—confusing square and cubic units or assuming fractional edges cannot have volume—label edge units and one layer of the original prism before connecting it to the formula.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Extension for partners or table groups — students choose their approach and use the workspace to show thinking.</a:t>
            </a:r>
          </a:p>
          <a:p>
            <a:pPr indent="0" lvl="0" marL="0" rtl="0" algn="l">
              <a:lnSpc>
                <a:spcPct val="100000"/>
              </a:lnSpc>
              <a:spcBef>
                <a:spcPts val="0"/>
              </a:spcBef>
              <a:spcAft>
                <a:spcPts val="0"/>
              </a:spcAft>
              <a:buSzPts val="1400"/>
              <a:buNone/>
            </a:pPr>
            <a:r>
              <a:t>Push with “Convince me,” and have two groups with different approaches share.</a:t>
            </a:r>
          </a:p>
          <a:p>
            <a:pPr indent="0" lvl="0" marL="0" rtl="0" algn="l">
              <a:lnSpc>
                <a:spcPct val="100000"/>
              </a:lnSpc>
              <a:spcBef>
                <a:spcPts val="0"/>
              </a:spcBef>
              <a:spcAft>
                <a:spcPts val="0"/>
              </a:spcAft>
              <a:buSzPts val="1400"/>
              <a:buNone/>
            </a:pPr>
            <a:r>
              <a:t>This is where students stretch past the worked example.</a:t>
            </a:r>
          </a:p>
          <a:p>
            <a:pPr indent="0" lvl="0" marL="0" rtl="0" algn="l">
              <a:lnSpc>
                <a:spcPct val="100000"/>
              </a:lnSpc>
              <a:spcBef>
                <a:spcPts val="0"/>
              </a:spcBef>
              <a:spcAft>
                <a:spcPts val="0"/>
              </a:spcAft>
              <a:buSzPts val="1400"/>
              <a:buNone/>
            </a:pPr>
            <a:r>
              <a:t>UIFR: TEACH 2 · TEACH 5.</a:t>
            </a:r>
          </a:p>
          <a:p>
            <a:pPr>
              <a:buNone/>
            </a:pPr>
            <a:r>
              <a:rPr lang="en-US" sz="1100"/>
              <a:t/>
            </a:r>
          </a:p>
          <a:p>
            <a:pPr>
              <a:buNone/>
            </a:pPr>
            <a:r>
              <a:rPr lang="en-US" sz="1100"/>
              <a:t>UIFR FULL | Lesson-specific facilitation</a:t>
            </a:r>
          </a:p>
          <a:p>
            <a:pPr>
              <a:buNone/>
            </a:pPr>
            <a:r>
              <a:rPr lang="en-US" sz="1100"/>
              <a:t>TEACH 4-5 | Session 1 discussion and checkpoint (UIFR PDF pp. 11-12).</a:t>
            </a:r>
          </a:p>
          <a:p>
            <a:pPr>
              <a:buNone/>
            </a:pPr>
            <a:r>
              <a:rPr lang="en-US" sz="1100"/>
              <a:t>Collect a brief response from every student to the existing prompt before hearing volunteers. Partners take turns explaining and asking for evidence: “I understand ___; what supports ___?” Offer rehearsal or an annotated model for students who need language support. Each student records their own reasoning.</a:t>
            </a:r>
          </a:p>
          <a:p>
            <a:pPr>
              <a:buNone/>
            </a:pPr>
            <a:r>
              <a:rPr lang="en-US" sz="1100"/>
              <a:t>Look specifically for: confusing square and cubic units or assuming fractional edges cannot have volume. If it appears, label edge units and one layer of the original prism before connecting it to the formula; then ask the student to revise the same response and explain the change. If evidence is secure, have students compare a second valid pathway or state why their approach works. Choose the next step from the responses, not a preset pace.</a:t>
            </a:r>
          </a:p>
        </p:txBody>
      </p:sp>
      <p:sp>
        <p:nvSpPr>
          <p:cNvPr id="821" name="Google Shape;821;p4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1" name="Shape 831"/>
        <p:cNvGrpSpPr/>
        <p:nvPr/>
      </p:nvGrpSpPr>
      <p:grpSpPr>
        <a:xfrm>
          <a:off x="0" y="0"/>
          <a:ext cx="0" cy="0"/>
          <a:chOff x="0" y="0"/>
          <a:chExt cx="0" cy="0"/>
        </a:xfrm>
      </p:grpSpPr>
      <p:sp>
        <p:nvSpPr>
          <p:cNvPr id="832" name="Google Shape;832;p43: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5.5, slide 31 | DIVIDER</a:t>
            </a:r>
          </a:p>
          <a:p xmlns:a="http://schemas.openxmlformats.org/drawingml/2006/main">
            <a:pPr>
              <a:buNone/>
            </a:pPr>
            <a:r>
              <a:rPr lang="en-US" sz="1100"/>
              <a:t>Focus on the existing task: Determine the Volume of a Rectangular Prism Session 2</a:t>
            </a:r>
          </a:p>
          <a:p xmlns:a="http://schemas.openxmlformats.org/drawingml/2006/main">
            <a:pPr>
              <a:buNone/>
            </a:pPr>
            <a:r>
              <a:rPr lang="en-US" sz="1100"/>
              <a:t>TRANSITION (T6/7): Students confirm materials, roles, how to request help, and the next response routine. Ask a student to restate it. Keep teacher-only slides hidden.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Transition cue: state what materials are out and what success looks like this session.</a:t>
            </a:r>
          </a:p>
          <a:p>
            <a:pPr indent="0" lvl="0" marL="0" rtl="0" algn="l">
              <a:lnSpc>
                <a:spcPct val="100000"/>
              </a:lnSpc>
              <a:spcBef>
                <a:spcPts val="0"/>
              </a:spcBef>
              <a:spcAft>
                <a:spcPts val="0"/>
              </a:spcAft>
              <a:buSzPts val="1400"/>
              <a:buNone/>
            </a:pPr>
            <a:r>
              <a:t>Keep the changeover under a minute.</a:t>
            </a:r>
          </a:p>
          <a:p>
            <a:pPr indent="0" lvl="0" marL="0" rtl="0" algn="l">
              <a:lnSpc>
                <a:spcPct val="100000"/>
              </a:lnSpc>
              <a:spcBef>
                <a:spcPts val="0"/>
              </a:spcBef>
              <a:spcAft>
                <a:spcPts val="0"/>
              </a:spcAft>
              <a:buSzPts val="1400"/>
              <a:buNone/>
            </a:pPr>
            <a:r>
              <a:t>UIFR: TEACH 6.</a:t>
            </a:r>
          </a:p>
        </p:txBody>
      </p:sp>
      <p:sp>
        <p:nvSpPr>
          <p:cNvPr id="833" name="Google Shape;833;p4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9" name="Shape 869"/>
        <p:cNvGrpSpPr/>
        <p:nvPr/>
      </p:nvGrpSpPr>
      <p:grpSpPr>
        <a:xfrm>
          <a:off x="0" y="0"/>
          <a:ext cx="0" cy="0"/>
          <a:chOff x="0" y="0"/>
          <a:chExt cx="0" cy="0"/>
        </a:xfrm>
      </p:grpSpPr>
      <p:sp>
        <p:nvSpPr>
          <p:cNvPr id="870" name="Google Shape;870;p47: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5.5, slide 32 | TASK</a:t>
            </a:r>
          </a:p>
          <a:p xmlns:a="http://schemas.openxmlformats.org/drawingml/2006/main">
            <a:pPr>
              <a:buNone/>
            </a:pPr>
            <a:r>
              <a:rPr lang="en-US" sz="1100"/>
              <a:t>Focus on the existing task: The Right Shipping Box What level of precision does this solution require?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connect unit-cube layers to volume. Ask which feature of their work supports the claim.</a:t>
            </a:r>
          </a:p>
          <a:p xmlns:a="http://schemas.openxmlformats.org/drawingml/2006/main">
            <a:pPr>
              <a:buNone/>
            </a:pPr>
            <a:r>
              <a:rPr lang="en-US" sz="1100"/>
              <a:t>RESPOND: If this task shows the lesson misconception—confusing square and cubic units or assuming fractional edges cannot have volume—label edge units and one layer of the original prism before connecting it to the formula.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871" name="Google Shape;871;p4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9" name="Shape 909"/>
        <p:cNvGrpSpPr/>
        <p:nvPr/>
      </p:nvGrpSpPr>
      <p:grpSpPr>
        <a:xfrm>
          <a:off x="0" y="0"/>
          <a:ext cx="0" cy="0"/>
          <a:chOff x="0" y="0"/>
          <a:chExt cx="0" cy="0"/>
        </a:xfrm>
      </p:grpSpPr>
      <p:sp>
        <p:nvSpPr>
          <p:cNvPr id="910" name="Google Shape;910;p5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5.5, slide 33 | REVEAL</a:t>
            </a:r>
          </a:p>
          <a:p xmlns:a="http://schemas.openxmlformats.org/drawingml/2006/main">
            <a:pPr>
              <a:buNone/>
            </a:pPr>
            <a:r>
              <a:rPr lang="en-US" sz="1100"/>
              <a:t>Focus on the existing task: Reveal: We need to find the missing length and determine if it is 12 inches or shorter. The Right Shipping Box</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recover a missing dimension. Ask which feature of their work supports the claim.</a:t>
            </a:r>
          </a:p>
          <a:p xmlns:a="http://schemas.openxmlformats.org/drawingml/2006/main">
            <a:pPr>
              <a:buNone/>
            </a:pPr>
            <a:r>
              <a:rPr lang="en-US" sz="1100"/>
              <a:t>RESPOND: If this task shows the lesson misconception—confusing square and cubic units or assuming fractional edges cannot have volume—label edge units and one layer of the original prism before connecting it to the formula.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We need to find the missing length and determine if it is 12 inches or shorter.</a:t>
            </a:r>
          </a:p>
          <a:p>
            <a:pPr indent="0" lvl="0" marL="0" rtl="0" algn="l">
              <a:lnSpc>
                <a:spcPct val="100000"/>
              </a:lnSpc>
              <a:spcBef>
                <a:spcPts val="0"/>
              </a:spcBef>
              <a:spcAft>
                <a:spcPts val="0"/>
              </a:spcAft>
              <a:buSzPts val="1400"/>
              <a:buNone/>
            </a:pPr>
            <a:r>
              <a:t>UIFR: TEACH 3 · TEACH 4.</a:t>
            </a:r>
          </a:p>
        </p:txBody>
      </p:sp>
      <p:sp>
        <p:nvSpPr>
          <p:cNvPr id="911" name="Google Shape;911;p5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7" name="Shape 927"/>
        <p:cNvGrpSpPr/>
        <p:nvPr/>
      </p:nvGrpSpPr>
      <p:grpSpPr>
        <a:xfrm>
          <a:off x="0" y="0"/>
          <a:ext cx="0" cy="0"/>
          <a:chOff x="0" y="0"/>
          <a:chExt cx="0" cy="0"/>
        </a:xfrm>
      </p:grpSpPr>
      <p:sp>
        <p:nvSpPr>
          <p:cNvPr id="928" name="Google Shape;928;p53: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5.5, slide 34 | REVEAL</a:t>
            </a:r>
          </a:p>
          <a:p xmlns:a="http://schemas.openxmlformats.org/drawingml/2006/main">
            <a:pPr>
              <a:buNone/>
            </a:pPr>
            <a:r>
              <a:rPr lang="en-US" sz="1100"/>
              <a:t>Focus on the existing task: Reveal: We can use the formula for the volume of a rectangular prism. The Right Shipping Box</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connect unit-cube layers to volume. Ask which feature of their work supports the claim.</a:t>
            </a:r>
          </a:p>
          <a:p xmlns:a="http://schemas.openxmlformats.org/drawingml/2006/main">
            <a:pPr>
              <a:buNone/>
            </a:pPr>
            <a:r>
              <a:rPr lang="en-US" sz="1100"/>
              <a:t>RESPOND: If this task shows the lesson misconception—confusing square and cubic units or assuming fractional edges cannot have volume—label edge units and one layer of the original prism before connecting it to the formula.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We can use the formula for the volume of a rectangular prism.</a:t>
            </a:r>
          </a:p>
          <a:p>
            <a:pPr indent="0" lvl="0" marL="0" rtl="0" algn="l">
              <a:lnSpc>
                <a:spcPct val="100000"/>
              </a:lnSpc>
              <a:spcBef>
                <a:spcPts val="0"/>
              </a:spcBef>
              <a:spcAft>
                <a:spcPts val="0"/>
              </a:spcAft>
              <a:buSzPts val="1400"/>
              <a:buNone/>
            </a:pPr>
            <a:r>
              <a:t>UIFR: TEACH 3 · TEACH 4.</a:t>
            </a:r>
          </a:p>
        </p:txBody>
      </p:sp>
      <p:sp>
        <p:nvSpPr>
          <p:cNvPr id="929" name="Google Shape;929;p5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9" name="Shape 949"/>
        <p:cNvGrpSpPr/>
        <p:nvPr/>
      </p:nvGrpSpPr>
      <p:grpSpPr>
        <a:xfrm>
          <a:off x="0" y="0"/>
          <a:ext cx="0" cy="0"/>
          <a:chOff x="0" y="0"/>
          <a:chExt cx="0" cy="0"/>
        </a:xfrm>
      </p:grpSpPr>
      <p:sp>
        <p:nvSpPr>
          <p:cNvPr id="950" name="Google Shape;950;p55: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5.5, slide 35 | COLLABORATE</a:t>
            </a:r>
          </a:p>
          <a:p xmlns:a="http://schemas.openxmlformats.org/drawingml/2006/main">
            <a:pPr>
              <a:buNone/>
            </a:pPr>
            <a:r>
              <a:rPr lang="en-US" sz="1100"/>
              <a:t>Focus on the existing task: Use a formula for volume to relate the volume and dimensions. What is the length of the box?</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connect unit-cube layers to volume. Ask which feature of their work supports the claim.</a:t>
            </a:r>
          </a:p>
          <a:p xmlns:a="http://schemas.openxmlformats.org/drawingml/2006/main">
            <a:pPr>
              <a:buNone/>
            </a:pPr>
            <a:r>
              <a:rPr lang="en-US" sz="1100"/>
              <a:t>RESPOND: If this task shows the lesson misconception—confusing square and cubic units or assuming fractional edges cannot have volume—label edge units and one layer of the original prism before connecting it to the formula.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COLLABORATE  ·  TALK IT THROUGH • AGREE ON A MODEL</a:t>
            </a:r>
          </a:p>
        </p:txBody>
      </p:sp>
      <p:sp>
        <p:nvSpPr>
          <p:cNvPr id="951" name="Google Shape;951;p5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2" name="Shape 962"/>
        <p:cNvGrpSpPr/>
        <p:nvPr/>
      </p:nvGrpSpPr>
      <p:grpSpPr>
        <a:xfrm>
          <a:off x="0" y="0"/>
          <a:ext cx="0" cy="0"/>
          <a:chOff x="0" y="0"/>
          <a:chExt cx="0" cy="0"/>
        </a:xfrm>
      </p:grpSpPr>
      <p:sp>
        <p:nvSpPr>
          <p:cNvPr id="963" name="Google Shape;963;p56: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5.5, slide 36 | WORKED</a:t>
            </a:r>
          </a:p>
          <a:p xmlns:a="http://schemas.openxmlformats.org/drawingml/2006/main">
            <a:pPr>
              <a:buNone/>
            </a:pPr>
            <a:r>
              <a:rPr lang="en-US" sz="1100"/>
              <a:t>Focus on the existing task: Think About It: Divide the volume by the product of the width and height. The Right Shipping Box</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connect unit-cube layers to volume. Ask which feature of their work supports the claim.</a:t>
            </a:r>
          </a:p>
          <a:p xmlns:a="http://schemas.openxmlformats.org/drawingml/2006/main">
            <a:pPr>
              <a:buNone/>
            </a:pPr>
            <a:r>
              <a:rPr lang="en-US" sz="1100"/>
              <a:t>RESPOND: If this task shows the lesson misconception—confusing square and cubic units or assuming fractional edges cannot have volume—label edge units and one layer of the original prism before connecting it to the formula.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Ask the question, then hold the silence — students think or jot before anyone answers.</a:t>
            </a:r>
          </a:p>
          <a:p>
            <a:pPr indent="0" lvl="0" marL="0" rtl="0" algn="l">
              <a:lnSpc>
                <a:spcPct val="100000"/>
              </a:lnSpc>
              <a:spcBef>
                <a:spcPts val="0"/>
              </a:spcBef>
              <a:spcAft>
                <a:spcPts val="0"/>
              </a:spcAft>
              <a:buSzPts val="1400"/>
              <a:buNone/>
            </a:pPr>
            <a:r>
              <a:t>Take two or three responses and press with “Why?” or “How do you know?” before moving on.</a:t>
            </a:r>
          </a:p>
          <a:p>
            <a:pPr indent="0" lvl="0" marL="0" rtl="0" algn="l">
              <a:lnSpc>
                <a:spcPct val="100000"/>
              </a:lnSpc>
              <a:spcBef>
                <a:spcPts val="0"/>
              </a:spcBef>
              <a:spcAft>
                <a:spcPts val="0"/>
              </a:spcAft>
              <a:buSzPts val="1400"/>
              <a:buNone/>
            </a:pPr>
            <a:r>
              <a:t>UIFR: TEACH 3.</a:t>
            </a:r>
          </a:p>
        </p:txBody>
      </p:sp>
      <p:sp>
        <p:nvSpPr>
          <p:cNvPr id="964" name="Google Shape;964;p5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2" name="Shape 972"/>
        <p:cNvGrpSpPr/>
        <p:nvPr/>
      </p:nvGrpSpPr>
      <p:grpSpPr>
        <a:xfrm>
          <a:off x="0" y="0"/>
          <a:ext cx="0" cy="0"/>
          <a:chOff x="0" y="0"/>
          <a:chExt cx="0" cy="0"/>
        </a:xfrm>
      </p:grpSpPr>
      <p:sp>
        <p:nvSpPr>
          <p:cNvPr id="973" name="Google Shape;973;p57: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5.5, slide 37 | TASK</a:t>
            </a:r>
          </a:p>
          <a:p xmlns:a="http://schemas.openxmlformats.org/drawingml/2006/main">
            <a:pPr>
              <a:buNone/>
            </a:pPr>
            <a:r>
              <a:rPr lang="en-US" sz="1100"/>
              <a:t>Focus on the existing task: Think About It: When multiplying or dividing with fractions, why is it sometimes better to simplify the product or quotient?</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connect unit-cube layers to volume. Ask which feature of their work supports the claim.</a:t>
            </a:r>
          </a:p>
          <a:p xmlns:a="http://schemas.openxmlformats.org/drawingml/2006/main">
            <a:pPr>
              <a:buNone/>
            </a:pPr>
            <a:r>
              <a:rPr lang="en-US" sz="1100"/>
              <a:t>RESPOND: If this task shows the lesson misconception—confusing square and cubic units or assuming fractional edges cannot have volume—label edge units and one layer of the original prism before connecting it to the formula.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Ask the question, then hold the silence — students think or jot before anyone answers.</a:t>
            </a:r>
          </a:p>
          <a:p>
            <a:pPr indent="0" lvl="0" marL="0" rtl="0" algn="l">
              <a:lnSpc>
                <a:spcPct val="100000"/>
              </a:lnSpc>
              <a:spcBef>
                <a:spcPts val="0"/>
              </a:spcBef>
              <a:spcAft>
                <a:spcPts val="0"/>
              </a:spcAft>
              <a:buSzPts val="1400"/>
              <a:buNone/>
            </a:pPr>
            <a:r>
              <a:t>Take two or three responses and press with “Why?” or “How do you know?” before moving on.</a:t>
            </a:r>
          </a:p>
          <a:p>
            <a:pPr indent="0" lvl="0" marL="0" rtl="0" algn="l">
              <a:lnSpc>
                <a:spcPct val="100000"/>
              </a:lnSpc>
              <a:spcBef>
                <a:spcPts val="0"/>
              </a:spcBef>
              <a:spcAft>
                <a:spcPts val="0"/>
              </a:spcAft>
              <a:buSzPts val="1400"/>
              <a:buNone/>
            </a:pPr>
            <a:r>
              <a:t>UIFR: TEACH 3.</a:t>
            </a:r>
          </a:p>
        </p:txBody>
      </p:sp>
      <p:sp>
        <p:nvSpPr>
          <p:cNvPr id="974" name="Google Shape;974;p5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1" name="Shape 991"/>
        <p:cNvGrpSpPr/>
        <p:nvPr/>
      </p:nvGrpSpPr>
      <p:grpSpPr>
        <a:xfrm>
          <a:off x="0" y="0"/>
          <a:ext cx="0" cy="0"/>
          <a:chOff x="0" y="0"/>
          <a:chExt cx="0" cy="0"/>
        </a:xfrm>
      </p:grpSpPr>
      <p:sp>
        <p:nvSpPr>
          <p:cNvPr id="992" name="Google Shape;992;p59: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5.5, slide 38 | REVEAL</a:t>
            </a:r>
          </a:p>
          <a:p xmlns:a="http://schemas.openxmlformats.org/drawingml/2006/main">
            <a:pPr>
              <a:buNone/>
            </a:pPr>
            <a:r>
              <a:rPr lang="en-US" sz="1100"/>
              <a:t>Focus on the existing task: Due to shipping regulations, the box can be no longer than 12 inches. How does the length of the box compare to the shipping regulations?</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connect unit-cube layers to volume. Ask which feature of their work supports the claim.</a:t>
            </a:r>
          </a:p>
          <a:p xmlns:a="http://schemas.openxmlformats.org/drawingml/2006/main">
            <a:pPr>
              <a:buNone/>
            </a:pPr>
            <a:r>
              <a:rPr lang="en-US" sz="1100"/>
              <a:t>RESPOND: If this task shows the lesson misconception—confusing square and cubic units or assuming fractional edges cannot have volume—label edge units and one layer of the original prism before connecting it to the formula.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The length of the box is shorter than the length set by the shipping regulations.​</a:t>
            </a:r>
          </a:p>
          <a:p>
            <a:pPr indent="0" lvl="0" marL="0" rtl="0" algn="l">
              <a:lnSpc>
                <a:spcPct val="100000"/>
              </a:lnSpc>
              <a:spcBef>
                <a:spcPts val="0"/>
              </a:spcBef>
              <a:spcAft>
                <a:spcPts val="0"/>
              </a:spcAft>
              <a:buSzPts val="1400"/>
              <a:buNone/>
            </a:pPr>
            <a:r>
              <a:t>UIFR: TEACH 3 · TEACH 4.</a:t>
            </a:r>
          </a:p>
        </p:txBody>
      </p:sp>
      <p:sp>
        <p:nvSpPr>
          <p:cNvPr id="993" name="Google Shape;993;p59: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9" name="Shape 1009"/>
        <p:cNvGrpSpPr/>
        <p:nvPr/>
      </p:nvGrpSpPr>
      <p:grpSpPr>
        <a:xfrm>
          <a:off x="0" y="0"/>
          <a:ext cx="0" cy="0"/>
          <a:chOff x="0" y="0"/>
          <a:chExt cx="0" cy="0"/>
        </a:xfrm>
      </p:grpSpPr>
      <p:sp>
        <p:nvSpPr>
          <p:cNvPr id="1010" name="Google Shape;1010;p6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5.5, slide 39 | PRACTICE</a:t>
            </a:r>
          </a:p>
          <a:p xmlns:a="http://schemas.openxmlformats.org/drawingml/2006/main">
            <a:pPr>
              <a:buNone/>
            </a:pPr>
            <a:r>
              <a:rPr lang="en-US" sz="1100"/>
              <a:t>Focus on the existing task: Workspace Let’s Explore More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connect unit-cube layers to volume. Ask which feature of their work supports the claim.</a:t>
            </a:r>
          </a:p>
          <a:p xmlns:a="http://schemas.openxmlformats.org/drawingml/2006/main">
            <a:pPr>
              <a:buNone/>
            </a:pPr>
            <a:r>
              <a:rPr lang="en-US" sz="1100"/>
              <a:t>RESPOND: If this task shows the lesson misconception—confusing square and cubic units or assuming fractional edges cannot have volume—label edge units and one layer of the original prism before connecting it to the formula.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Extension for partners or table groups — students choose their approach and use the workspace to show thinking.</a:t>
            </a:r>
          </a:p>
          <a:p>
            <a:pPr indent="0" lvl="0" marL="0" rtl="0" algn="l">
              <a:lnSpc>
                <a:spcPct val="100000"/>
              </a:lnSpc>
              <a:spcBef>
                <a:spcPts val="0"/>
              </a:spcBef>
              <a:spcAft>
                <a:spcPts val="0"/>
              </a:spcAft>
              <a:buSzPts val="1400"/>
              <a:buNone/>
            </a:pPr>
            <a:r>
              <a:t>Push with “Convince me,” and have two groups with different approaches share.</a:t>
            </a:r>
          </a:p>
          <a:p>
            <a:pPr indent="0" lvl="0" marL="0" rtl="0" algn="l">
              <a:lnSpc>
                <a:spcPct val="100000"/>
              </a:lnSpc>
              <a:spcBef>
                <a:spcPts val="0"/>
              </a:spcBef>
              <a:spcAft>
                <a:spcPts val="0"/>
              </a:spcAft>
              <a:buSzPts val="1400"/>
              <a:buNone/>
            </a:pPr>
            <a:r>
              <a:t>This is where students stretch past the worked example.</a:t>
            </a:r>
          </a:p>
          <a:p>
            <a:pPr indent="0" lvl="0" marL="0" rtl="0" algn="l">
              <a:lnSpc>
                <a:spcPct val="100000"/>
              </a:lnSpc>
              <a:spcBef>
                <a:spcPts val="0"/>
              </a:spcBef>
              <a:spcAft>
                <a:spcPts val="0"/>
              </a:spcAft>
              <a:buSzPts val="1400"/>
              <a:buNone/>
            </a:pPr>
            <a:r>
              <a:t>UIFR: TEACH 2 · TEACH 5.</a:t>
            </a:r>
          </a:p>
        </p:txBody>
      </p:sp>
      <p:sp>
        <p:nvSpPr>
          <p:cNvPr id="1011" name="Google Shape;1011;p6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7" name="Shape 1017"/>
        <p:cNvGrpSpPr/>
        <p:nvPr/>
      </p:nvGrpSpPr>
      <p:grpSpPr>
        <a:xfrm>
          <a:off x="0" y="0"/>
          <a:ext cx="0" cy="0"/>
          <a:chOff x="0" y="0"/>
          <a:chExt cx="0" cy="0"/>
        </a:xfrm>
      </p:grpSpPr>
      <p:sp>
        <p:nvSpPr>
          <p:cNvPr id="1018" name="Google Shape;1018;p6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5.5, slide 40 | PRACTICE</a:t>
            </a:r>
          </a:p>
          <a:p xmlns:a="http://schemas.openxmlformats.org/drawingml/2006/main">
            <a:pPr>
              <a:buNone/>
            </a:pPr>
            <a:r>
              <a:rPr lang="en-US" sz="1100"/>
              <a:t>Focus on the existing task: Workspace Let’s Explore More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connect unit-cube layers to volume. Ask which feature of their work supports the claim.</a:t>
            </a:r>
          </a:p>
          <a:p xmlns:a="http://schemas.openxmlformats.org/drawingml/2006/main">
            <a:pPr>
              <a:buNone/>
            </a:pPr>
            <a:r>
              <a:rPr lang="en-US" sz="1100"/>
              <a:t>RESPOND: If this task shows the lesson misconception—confusing square and cubic units or assuming fractional edges cannot have volume—label edge units and one layer of the original prism before connecting it to the formula.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Extension for partners or table groups — students choose their approach and use the workspace to show thinking.</a:t>
            </a:r>
          </a:p>
          <a:p>
            <a:pPr indent="0" lvl="0" marL="0" rtl="0" algn="l">
              <a:lnSpc>
                <a:spcPct val="100000"/>
              </a:lnSpc>
              <a:spcBef>
                <a:spcPts val="0"/>
              </a:spcBef>
              <a:spcAft>
                <a:spcPts val="0"/>
              </a:spcAft>
              <a:buSzPts val="1400"/>
              <a:buNone/>
            </a:pPr>
            <a:r>
              <a:t>Push with “Convince me,” and have two groups with different approaches share.</a:t>
            </a:r>
          </a:p>
          <a:p>
            <a:pPr indent="0" lvl="0" marL="0" rtl="0" algn="l">
              <a:lnSpc>
                <a:spcPct val="100000"/>
              </a:lnSpc>
              <a:spcBef>
                <a:spcPts val="0"/>
              </a:spcBef>
              <a:spcAft>
                <a:spcPts val="0"/>
              </a:spcAft>
              <a:buSzPts val="1400"/>
              <a:buNone/>
            </a:pPr>
            <a:r>
              <a:t>This is where students stretch past the worked example.</a:t>
            </a:r>
          </a:p>
          <a:p>
            <a:pPr indent="0" lvl="0" marL="0" rtl="0" algn="l">
              <a:lnSpc>
                <a:spcPct val="100000"/>
              </a:lnSpc>
              <a:spcBef>
                <a:spcPts val="0"/>
              </a:spcBef>
              <a:spcAft>
                <a:spcPts val="0"/>
              </a:spcAft>
              <a:buSzPts val="1400"/>
              <a:buNone/>
            </a:pPr>
            <a:r>
              <a:t>UIFR: TEACH 2 · TEACH 5.</a:t>
            </a:r>
          </a:p>
        </p:txBody>
      </p:sp>
      <p:sp>
        <p:nvSpPr>
          <p:cNvPr id="1019" name="Google Shape;1019;p6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5" name="Shape 1025"/>
        <p:cNvGrpSpPr/>
        <p:nvPr/>
      </p:nvGrpSpPr>
      <p:grpSpPr>
        <a:xfrm>
          <a:off x="0" y="0"/>
          <a:ext cx="0" cy="0"/>
          <a:chOff x="0" y="0"/>
          <a:chExt cx="0" cy="0"/>
        </a:xfrm>
      </p:grpSpPr>
      <p:sp>
        <p:nvSpPr>
          <p:cNvPr id="1026" name="Google Shape;1026;p63: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5.5, slide 42 | SUMMARIZE</a:t>
            </a:r>
          </a:p>
          <a:p xmlns:a="http://schemas.openxmlformats.org/drawingml/2006/main">
            <a:pPr>
              <a:buNone/>
            </a:pPr>
            <a:r>
              <a:rPr lang="en-US" sz="1100"/>
              <a:t>Focus on the existing task: You can use the volume formulas you know to determine the volume of rectangular prisms with fractional edge lengths. Volume formulas can…</a:t>
            </a:r>
          </a:p>
          <a:p xmlns:a="http://schemas.openxmlformats.org/drawingml/2006/main">
            <a:pPr>
              <a:buNone/>
            </a:pPr>
            <a:r>
              <a:rPr lang="en-US" sz="1100"/>
              <a:t>CONNECT (T1/4): Ask students to restate the displayed goal or key idea and connect it to earlier work. Relevant lesson evidence: connect unit-cube layers to volume; use fractional edges when present; recover a missing dimension.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SUMMARIZE  ·  SAY IT IN YOUR OWN WORDS</a:t>
            </a:r>
          </a:p>
        </p:txBody>
      </p:sp>
      <p:sp>
        <p:nvSpPr>
          <p:cNvPr id="1027" name="Google Shape;1027;p6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9" name="Shape 1039"/>
        <p:cNvGrpSpPr/>
        <p:nvPr/>
      </p:nvGrpSpPr>
      <p:grpSpPr>
        <a:xfrm>
          <a:off x="0" y="0"/>
          <a:ext cx="0" cy="0"/>
          <a:chOff x="0" y="0"/>
          <a:chExt cx="0" cy="0"/>
        </a:xfrm>
      </p:grpSpPr>
      <p:sp>
        <p:nvSpPr>
          <p:cNvPr id="1040" name="Google Shape;1040;p64: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5.5, slide 43 | APPLY</a:t>
            </a:r>
          </a:p>
          <a:p xmlns:a="http://schemas.openxmlformats.org/drawingml/2006/main">
            <a:pPr>
              <a:buNone/>
            </a:pPr>
            <a:r>
              <a:rPr lang="en-US" sz="1100"/>
              <a:t>Focus on the existing task: You go to movie theater with your family. Your family likes to buy popcorn to snack on during the movie. The theater sells three…</a:t>
            </a:r>
          </a:p>
          <a:p xmlns:a="http://schemas.openxmlformats.org/drawingml/2006/main">
            <a:pPr>
              <a:buNone/>
            </a:pPr>
            <a:r>
              <a:rPr lang="en-US" sz="1100"/>
              <a:t>LAUNCH (T2/3/5): Use the exact application task independently first. Ask students to justify their choice of method. Collect evidence before a partner discussion or correction.</a:t>
            </a:r>
          </a:p>
          <a:p xmlns:a="http://schemas.openxmlformats.org/drawingml/2006/main">
            <a:pPr>
              <a:buNone/>
            </a:pPr>
            <a:r>
              <a:rPr lang="en-US" sz="1100"/>
              <a:t>LOOK FOR (T4): Where this task addresses it, students can connect unit-cube layers to volume. Ask which feature of their work supports the claim.</a:t>
            </a:r>
          </a:p>
          <a:p xmlns:a="http://schemas.openxmlformats.org/drawingml/2006/main">
            <a:pPr>
              <a:buNone/>
            </a:pPr>
            <a:r>
              <a:rPr lang="en-US" sz="1100"/>
              <a:t>RESPOND: If this task shows the lesson misconception—confusing square and cubic units or assuming fractional edges cannot have volume—label edge units and one layer of the original prism before connecting it to the formula.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APPLY  ·  PLAN IT • SOLVE IT • PROVE IT</a:t>
            </a:r>
          </a:p>
          <a:p>
            <a:pPr>
              <a:buNone/>
            </a:pPr>
            <a:r>
              <a:rPr lang="en-US" sz="1100"/>
              <a:t/>
            </a:r>
          </a:p>
          <a:p>
            <a:pPr>
              <a:buNone/>
            </a:pPr>
            <a:r>
              <a:rPr lang="en-US" sz="1100"/>
              <a:t>UIFR FULL | Lesson-specific facilitation</a:t>
            </a:r>
          </a:p>
          <a:p>
            <a:pPr>
              <a:buNone/>
            </a:pPr>
            <a:r>
              <a:rPr lang="en-US" sz="1100"/>
              <a:t>TEACH 4 | Independent evidence and revision (UIFR PDF p. 11).</a:t>
            </a:r>
          </a:p>
          <a:p>
            <a:pPr>
              <a:buNone/>
            </a:pPr>
            <a:r>
              <a:rPr lang="en-US" sz="1100"/>
              <a:t>Use the existing application/exit problem as the independent check. If this is a learning-target slide, have students point to and explain their work on the preceding task. Separate initial independent evidence from the revision after feedback.</a:t>
            </a:r>
          </a:p>
          <a:p>
            <a:pPr>
              <a:buNone/>
            </a:pPr>
            <a:r>
              <a:rPr lang="en-US" sz="1100"/>
              <a:t>Check the relevant criteria: connect unit-cube layers to volume; use fractional edges when present; recover a missing dimension. Respond with one specific next step tied to the work. Students revise and annotate what changed, then identify a criterion they can now demonstrate and one they still need to practice.</a:t>
            </a:r>
          </a:p>
        </p:txBody>
      </p:sp>
      <p:sp>
        <p:nvSpPr>
          <p:cNvPr id="1041" name="Google Shape;1041;p6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5.5, slide 29 | WARMUP</a:t>
            </a:r>
          </a:p>
          <a:p xmlns:a="http://schemas.openxmlformats.org/drawingml/2006/main">
            <a:pPr>
              <a:buNone/>
            </a:pPr>
            <a:r>
              <a:rPr lang="en-US" sz="1100"/>
              <a:t>Focus on the existing task: A V = l + w + h B V = l × w × h or V = B × h C V = 2(lw + lh) D V = ½ lwh 2 In V = Bh, what does capital B represent?</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Warm-up routine: students start silently on entry; keep it to about 4 minutes.</a:t>
            </a:r>
          </a:p>
          <a:p>
            <a:r>
              <a:t>Circulate and note who is stuck — use what you see to choose who you check on first today.</a:t>
            </a:r>
          </a:p>
          <a:p>
            <a:r>
              <a:t>Go over answers quickly; ask one student to explain a step, not just say the answer.</a:t>
            </a:r>
          </a:p>
          <a:p>
            <a:r>
              <a:t>UIFR: TEACH 4 · TEACH 6.</a:t>
            </a: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5.5, slide 30 | NOTES</a:t>
            </a:r>
          </a:p>
          <a:p xmlns:a="http://schemas.openxmlformats.org/drawingml/2006/main">
            <a:pPr>
              <a:buNone/>
            </a:pPr>
            <a:r>
              <a:rPr lang="en-US" sz="1100"/>
              <a:t>Focus on the existing task: Review Notes — Session 2 Session 2: Review Notes…</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Copy routine: read one line at a time; students copy, then explain that line to a partner.</a:t>
            </a:r>
          </a:p>
          <a:p>
            <a:r>
              <a:t>Keep it brisk — the understanding work happens in the examples, not the copying.</a:t>
            </a:r>
          </a:p>
          <a:p>
            <a:r>
              <a:t>UIFR: TEACH 1 · TEACH 6.</a:t>
            </a:r>
          </a:p>
        </p:txBody>
      </p:sp>
    </p:spTree>
  </p:cSld>
  <p:clrMapOvr>
    <a:masterClrMapping/>
  </p:clrMapOvr>
</p:notes>
</file>

<file path=ppt/notesSlides/notesSlide68.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5.5, slide 44 | REFLECTION</a:t>
            </a:r>
          </a:p>
          <a:p xmlns:a="http://schemas.openxmlformats.org/drawingml/2006/main">
            <a:pPr>
              <a:buNone/>
            </a:pPr>
            <a:r>
              <a:rPr lang="en-US" sz="1100"/>
              <a:t>Focus on the existing task: Learning Targets I can find the volume of rectangular prisms by filling them with unit cubes. I can find the volume of a rectangular prism…</a:t>
            </a:r>
          </a:p>
          <a:p xmlns:a="http://schemas.openxmlformats.org/drawingml/2006/main">
            <a:pPr>
              <a:buNone/>
            </a:pPr>
            <a:r>
              <a:rPr lang="en-US" sz="1100"/>
              <a:t>CONNECT (T1/4): Ask students to restate the displayed goal or key idea and connect it to earlier work. Relevant lesson evidence: connect unit-cube layers to volume; use fractional edges when present; recover a missing dimension.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
            <a:pPr>
              <a:buNone/>
            </a:pPr>
            <a:r>
              <a:rPr lang="en-US" sz="1100"/>
              <a:t/>
            </a:r>
          </a:p>
          <a:p>
            <a:pPr>
              <a:buNone/>
            </a:pPr>
            <a:r>
              <a:rPr lang="en-US" sz="1100"/>
              <a:t>UIFR FULL | Lesson-specific facilitation</a:t>
            </a:r>
          </a:p>
          <a:p>
            <a:pPr>
              <a:buNone/>
            </a:pPr>
            <a:r>
              <a:rPr lang="en-US" sz="1100"/>
              <a:t>REFLECT &amp; ADJUST 1-2 | After the lesson (UIFR PDF pp. 15-16).</a:t>
            </a:r>
          </a:p>
          <a:p>
            <a:pPr>
              <a:buNone/>
            </a:pPr>
            <a:r>
              <a:rPr lang="en-US" sz="1100"/>
              <a:t>Sort the existing work by demonstrated reasoning, partial understanding, and the specific misconception: confusing square and cubic units or assuming fractional edges cannot have volume. Compare the initial response with the revision. Record which teaching move plausibly helped, which did not, and whose participation or access needs a different approach; do not record sensitive student details in this shared deck.</a:t>
            </a:r>
          </a:p>
          <a:p>
            <a:pPr>
              <a:buNone/>
            </a:pPr>
            <a:r>
              <a:rPr lang="en-US" sz="1100"/>
              <a:t>Plan the next lesson from that evidence: if the misconception persists, label edge units and one layer of the original prism before connecting it to the formula using the current example before returning to the next grade-level task; if understanding is secure, use an existing extension or ask for a general explanation. Check the targeted idea again at the next warm-up.</a:t>
            </a:r>
          </a:p>
          <a:p>
            <a:pPr>
              <a:buNone/>
            </a:pPr>
            <a:r>
              <a:rPr lang="en-US" sz="1100"/>
              <a:t>Ask students what supported their thinking and what would help next time. Identify one change to try and one successful practice to retain. Seek colleague feedback on anonymized work when useful; these prompts support reflection and do not establish an evaluation rating. Source: Baltimore City Public Schools, Updated Instructional Framework Rubric, June 2020 (UIFR_Full.pdf).</a:t>
            </a:r>
          </a:p>
        </p:txBody>
      </p:sp>
    </p:spTree>
  </p:cSld>
  <p:clrMapOvr>
    <a:masterClrMapping/>
  </p:clrMapOvr>
</p:notes>
</file>

<file path=ppt/notesSlides/notesSlide69.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5.5, slide 7 | PRIOR_INSERT</a:t>
            </a:r>
          </a:p>
          <a:p xmlns:a="http://schemas.openxmlformats.org/drawingml/2006/main">
            <a:pPr>
              <a:buNone/>
            </a:pPr>
            <a:r>
              <a:rPr lang="en-US" sz="1100"/>
              <a:t>Focus on the existing task: LESSON 5.5 / OUR LEARNING What will show your learning?</a:t>
            </a:r>
          </a:p>
          <a:p xmlns:a="http://schemas.openxmlformats.org/drawingml/2006/main">
            <a:pPr>
              <a:buNone/>
            </a:pPr>
            <a:r>
              <a:rPr lang="en-US" sz="1100"/>
              <a:t>CONNECT (T1/4): Ask students to restate the displayed goal or key idea and connect it to earlier work. Relevant lesson evidence: connect unit-cube layers to volume; use fractional edges when present; recover a missing dimension.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0.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5.5, slide 8 | VOCAB</a:t>
            </a:r>
          </a:p>
          <a:p xmlns:a="http://schemas.openxmlformats.org/drawingml/2006/main">
            <a:pPr>
              <a:buNone/>
            </a:pPr>
            <a:r>
              <a:rPr lang="en-US" sz="1100"/>
              <a:t>Focus on the existing task: Vocabulary 1 of 7 Volume with Whole-Number…</a:t>
            </a:r>
          </a:p>
          <a:p xmlns:a="http://schemas.openxmlformats.org/drawingml/2006/main">
            <a:pPr>
              <a:buNone/>
            </a:pPr>
            <a:r>
              <a:rPr lang="en-US" sz="1100"/>
              <a:t>ASK (T1/3/5): Where does “Volume with Whole-Number Edges”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1.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5.5, slide 9 | VOCAB</a:t>
            </a:r>
          </a:p>
          <a:p xmlns:a="http://schemas.openxmlformats.org/drawingml/2006/main">
            <a:pPr>
              <a:buNone/>
            </a:pPr>
            <a:r>
              <a:rPr lang="en-US" sz="1100"/>
              <a:t>Focus on the existing task: Vocabulary 2 of 7 Volume How much space is…</a:t>
            </a:r>
          </a:p>
          <a:p xmlns:a="http://schemas.openxmlformats.org/drawingml/2006/main">
            <a:pPr>
              <a:buNone/>
            </a:pPr>
            <a:r>
              <a:rPr lang="en-US" sz="1100"/>
              <a:t>ASK (T1/3/5): Where does “Volume”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2.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5.5, slide 10 | VOCAB</a:t>
            </a:r>
          </a:p>
          <a:p xmlns:a="http://schemas.openxmlformats.org/drawingml/2006/main">
            <a:pPr>
              <a:buNone/>
            </a:pPr>
            <a:r>
              <a:rPr lang="en-US" sz="1100"/>
              <a:t>Focus on the existing task: Vocabulary 3 of 7 Rectangular prism A solid box…</a:t>
            </a:r>
          </a:p>
          <a:p xmlns:a="http://schemas.openxmlformats.org/drawingml/2006/main">
            <a:pPr>
              <a:buNone/>
            </a:pPr>
            <a:r>
              <a:rPr lang="en-US" sz="1100"/>
              <a:t>ASK (T1/3/5): Where does “Rectangular prism”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3.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5.5, slide 11 | VOCAB</a:t>
            </a:r>
          </a:p>
          <a:p xmlns:a="http://schemas.openxmlformats.org/drawingml/2006/main">
            <a:pPr>
              <a:buNone/>
            </a:pPr>
            <a:r>
              <a:rPr lang="en-US" sz="1100"/>
              <a:t>Focus on the existing task: Vocabulary 4 of 7 Cubic units The units used to…</a:t>
            </a:r>
          </a:p>
          <a:p xmlns:a="http://schemas.openxmlformats.org/drawingml/2006/main">
            <a:pPr>
              <a:buNone/>
            </a:pPr>
            <a:r>
              <a:rPr lang="en-US" sz="1100"/>
              <a:t>ASK (T1/3/5): Where does “Cubic units”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4.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5.5, slide 12 | VOCAB</a:t>
            </a:r>
          </a:p>
          <a:p xmlns:a="http://schemas.openxmlformats.org/drawingml/2006/main">
            <a:pPr>
              <a:buNone/>
            </a:pPr>
            <a:r>
              <a:rPr lang="en-US" sz="1100"/>
              <a:t>Focus on the existing task: Vocabulary 5 of 7 Length, width, height How…</a:t>
            </a:r>
          </a:p>
          <a:p xmlns:a="http://schemas.openxmlformats.org/drawingml/2006/main">
            <a:pPr>
              <a:buNone/>
            </a:pPr>
            <a:r>
              <a:rPr lang="en-US" sz="1100"/>
              <a:t>ASK (T1/3/5): Where does “Length, width, height”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5.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5.5, slide 13 | VOCAB</a:t>
            </a:r>
          </a:p>
          <a:p xmlns:a="http://schemas.openxmlformats.org/drawingml/2006/main">
            <a:pPr>
              <a:buNone/>
            </a:pPr>
            <a:r>
              <a:rPr lang="en-US" sz="1100"/>
              <a:t>Focus on the existing task: Vocabulary 6 of 7 Net A flat shape that folds…</a:t>
            </a:r>
          </a:p>
          <a:p xmlns:a="http://schemas.openxmlformats.org/drawingml/2006/main">
            <a:pPr>
              <a:buNone/>
            </a:pPr>
            <a:r>
              <a:rPr lang="en-US" sz="1100"/>
              <a:t>ASK (T1/3/5): Where does “Net”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6.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5.5, slide 14 | VOCAB</a:t>
            </a:r>
          </a:p>
          <a:p xmlns:a="http://schemas.openxmlformats.org/drawingml/2006/main">
            <a:pPr>
              <a:buNone/>
            </a:pPr>
            <a:r>
              <a:rPr lang="en-US" sz="1100"/>
              <a:t>Focus on the existing task: Vocabulary 7 of 7 Edge The line where two flat…</a:t>
            </a:r>
          </a:p>
          <a:p xmlns:a="http://schemas.openxmlformats.org/drawingml/2006/main">
            <a:pPr>
              <a:buNone/>
            </a:pPr>
            <a:r>
              <a:rPr lang="en-US" sz="1100"/>
              <a:t>ASK (T1/3/5): Where does “Edge”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7.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5.5, slide 15 | CURIOUS</a:t>
            </a:r>
          </a:p>
          <a:p xmlns:a="http://schemas.openxmlformats.org/drawingml/2006/main">
            <a:pPr>
              <a:buNone/>
            </a:pPr>
            <a:r>
              <a:rPr lang="en-US" sz="1100"/>
              <a:t>Focus on the existing task: How can you organize yourself to be successful in math?</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connect unit-cube layers to volume. Ask which feature of their work supports the claim.</a:t>
            </a:r>
          </a:p>
          <a:p xmlns:a="http://schemas.openxmlformats.org/drawingml/2006/main">
            <a:pPr>
              <a:buNone/>
            </a:pPr>
            <a:r>
              <a:rPr lang="en-US" sz="1100"/>
              <a:t>RESPOND: If this task shows the lesson misconception—confusing square and cubic units or assuming fractional edges cannot have volume—label edge units and one layer of the original prism before connecting it to the formula.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8.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5.5, slide 27 | PRIOR_INSERT</a:t>
            </a:r>
          </a:p>
          <a:p xmlns:a="http://schemas.openxmlformats.org/drawingml/2006/main">
            <a:pPr>
              <a:buNone/>
            </a:pPr>
            <a:r>
              <a:rPr lang="en-US" sz="1100"/>
              <a:t>Focus on the existing task: Point to evidence in your work. Then compare your approach with a partner’s. TAKE TURNS Explain “I know this because…” Ask “Where does your work show that?</a:t>
            </a:r>
          </a:p>
          <a:p xmlns:a="http://schemas.openxmlformats.org/drawingml/2006/main">
            <a:pPr>
              <a:buNone/>
            </a:pPr>
            <a:r>
              <a:rPr lang="en-US" sz="1100"/>
              <a:t>CONNECT (T1/4): Ask students to restate the displayed goal or key idea and connect it to earlier work. Relevant lesson evidence: connect unit-cube layers to volume; use fractional edges when present; recover a missing dimension.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9.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5.5, slide 28 | CURIOUS</a:t>
            </a:r>
          </a:p>
          <a:p xmlns:a="http://schemas.openxmlformats.org/drawingml/2006/main">
            <a:pPr>
              <a:buNone/>
            </a:pPr>
            <a:r>
              <a:rPr lang="en-US" sz="1100"/>
              <a:t>Focus on the existing task: How are you organizing yourself to be successful in math?</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connect unit-cube layers to volume. Ask which feature of their work supports the claim.</a:t>
            </a:r>
          </a:p>
          <a:p xmlns:a="http://schemas.openxmlformats.org/drawingml/2006/main">
            <a:pPr>
              <a:buNone/>
            </a:pPr>
            <a:r>
              <a:rPr lang="en-US" sz="1100"/>
              <a:t>RESPOND: If this task shows the lesson misconception—confusing square and cubic units or assuming fractional edges cannot have volume—label edge units and one layer of the original prism before connecting it to the formula.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0.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5.5, slide 41 | PRIOR_INSERT</a:t>
            </a:r>
          </a:p>
          <a:p xmlns:a="http://schemas.openxmlformats.org/drawingml/2006/main">
            <a:pPr>
              <a:buNone/>
            </a:pPr>
            <a:r>
              <a:rPr lang="en-US" sz="1100"/>
              <a:t>Focus on the existing task: LESSON 5.5 / CHECK YOUR WORK Pause. Check. Improve. Listen to understand. Ask for evidence. Make room for every voice. CHECK A mistake…</a:t>
            </a:r>
          </a:p>
          <a:p xmlns:a="http://schemas.openxmlformats.org/drawingml/2006/main">
            <a:pPr>
              <a:buNone/>
            </a:pPr>
            <a:r>
              <a:rPr lang="en-US" sz="1100"/>
              <a:t>CONNECT (T1/4): Ask students to restate the displayed goal or key idea and connect it to earlier work. Relevant lesson evidence: connect unit-cube layers to volume; use fractional edges when present; recover a missing dimension.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1.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5.5, slide 45 | PRIOR_INSERT</a:t>
            </a:r>
          </a:p>
          <a:p xmlns:a="http://schemas.openxmlformats.org/drawingml/2006/main">
            <a:pPr>
              <a:buNone/>
            </a:pPr>
            <a:r>
              <a:rPr lang="en-US" sz="1100"/>
              <a:t>Focus on the existing task: LESSON 5.5 / REFLECT ON YOUR LEARNING Show your progress Listen to understand. Ask for evidence. Make room for every voice. 1 SHOW…</a:t>
            </a:r>
          </a:p>
          <a:p xmlns:a="http://schemas.openxmlformats.org/drawingml/2006/main">
            <a:pPr>
              <a:buNone/>
            </a:pPr>
            <a:r>
              <a:rPr lang="en-US" sz="1100"/>
              <a:t>CONNECT (T1/4): Ask students to restate the displayed goal or key idea and connect it to earlier work. Relevant lesson evidence: connect unit-cube layers to volume; use fractional edges when present; recover a missing dimension.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Photo">
  <p:cSld name="2_Title Slide Photo">
    <p:spTree>
      <p:nvGrpSpPr>
        <p:cNvPr id="15" name="Shape 15"/>
        <p:cNvGrpSpPr/>
        <p:nvPr/>
      </p:nvGrpSpPr>
      <p:grpSpPr>
        <a:xfrm>
          <a:off x="0" y="0"/>
          <a:ext cx="0" cy="0"/>
          <a:chOff x="0" y="0"/>
          <a:chExt cx="0" cy="0"/>
        </a:xfrm>
      </p:grpSpPr>
    </p:spTree>
  </p:cSld>
  <p:clrMapOvr>
    <a:masterClrMapping/>
  </p:clrMapOvr>
  <p:extLst>
    <p:ext uri="{DCECCB84-F9BA-43D5-87BE-67443E8EF086}">
      <p15:sldGuideLst>
        <p15:guide id="1" orient="horz" pos="9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column">
  <p:cSld name="Content 1-column">
    <p:spTree>
      <p:nvGrpSpPr>
        <p:cNvPr id="16" name="Shape 16"/>
        <p:cNvGrpSpPr/>
        <p:nvPr/>
      </p:nvGrpSpPr>
      <p:grpSpPr>
        <a:xfrm>
          <a:off x="0" y="0"/>
          <a:ext cx="0" cy="0"/>
          <a:chOff x="0" y="0"/>
          <a:chExt cx="0" cy="0"/>
        </a:xfrm>
      </p:grpSpPr>
      <p:sp>
        <p:nvSpPr>
          <p:cNvPr id="17" name="Google Shape;17;p3"/>
          <p:cNvSpPr txBox="1"/>
          <p:nvPr>
            <p:ph idx="12" type="sldNum"/>
          </p:nvPr>
        </p:nvSpPr>
        <p:spPr>
          <a:xfrm>
            <a:off x="10436045" y="6528815"/>
            <a:ext cx="1278151" cy="2286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8" name="Google Shape;18;p3"/>
          <p:cNvSpPr txBox="1"/>
          <p:nvPr/>
        </p:nvSpPr>
        <p:spPr>
          <a:xfrm>
            <a:off x="490549" y="6528816"/>
            <a:ext cx="2072640" cy="228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19" name="Google Shape;19;p3"/>
          <p:cNvSpPr txBox="1"/>
          <p:nvPr>
            <p:ph idx="11" type="ftr"/>
          </p:nvPr>
        </p:nvSpPr>
        <p:spPr>
          <a:xfrm>
            <a:off x="1402828" y="6528816"/>
            <a:ext cx="7315200" cy="2286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orient="horz" pos="3772">
          <p15:clr>
            <a:srgbClr val="FBAE40"/>
          </p15:clr>
        </p15:guide>
        <p15:guide id="2" orient="horz" pos="804">
          <p15:clr>
            <a:srgbClr val="FBAE40"/>
          </p15:clr>
        </p15:guide>
        <p15:guide id="3" pos="384">
          <p15:clr>
            <a:srgbClr val="FBAE40"/>
          </p15:clr>
        </p15:guide>
        <p15:guide id="4" pos="3940">
          <p15:clr>
            <a:srgbClr val="FBAE40"/>
          </p15:clr>
        </p15:guide>
        <p15:guide id="5" pos="40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6" name="Shape 26"/>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 name="Shape 27"/>
        <p:cNvGrpSpPr/>
        <p:nvPr/>
      </p:nvGrpSpPr>
      <p:grpSpPr>
        <a:xfrm>
          <a:off x="0" y="0"/>
          <a:ext cx="0" cy="0"/>
          <a:chOff x="0" y="0"/>
          <a:chExt cx="0" cy="0"/>
        </a:xfrm>
      </p:grpSpPr>
      <p:sp>
        <p:nvSpPr>
          <p:cNvPr id="28" name="Google Shape;28;p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9" name="Google Shape;29;p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0" name="Google Shape;30;p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1" name="Shape 31"/>
        <p:cNvGrpSpPr/>
        <p:nvPr/>
      </p:nvGrpSpPr>
      <p:grpSpPr>
        <a:xfrm>
          <a:off x="0" y="0"/>
          <a:ext cx="0" cy="0"/>
          <a:chOff x="0" y="0"/>
          <a:chExt cx="0" cy="0"/>
        </a:xfrm>
      </p:grpSpPr>
      <p:sp>
        <p:nvSpPr>
          <p:cNvPr id="32" name="Google Shape;32;p7"/>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3" name="Google Shape;33;p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4" name="Google Shape;34;p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5" name="Google Shape;35;p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6" name="Google Shape;36;p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7" name="Shape 37"/>
        <p:cNvGrpSpPr/>
        <p:nvPr/>
      </p:nvGrpSpPr>
      <p:grpSpPr>
        <a:xfrm>
          <a:off x="0" y="0"/>
          <a:ext cx="0" cy="0"/>
          <a:chOff x="0" y="0"/>
          <a:chExt cx="0" cy="0"/>
        </a:xfrm>
      </p:grpSpPr>
      <p:sp>
        <p:nvSpPr>
          <p:cNvPr id="38" name="Google Shape;38;p8"/>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9" name="Google Shape;39;p8"/>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40" name="Google Shape;40;p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1" name="Google Shape;41;p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2" name="Google Shape;42;p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3" name="Shape 43"/>
        <p:cNvGrpSpPr/>
        <p:nvPr/>
      </p:nvGrpSpPr>
      <p:grpSpPr>
        <a:xfrm>
          <a:off x="0" y="0"/>
          <a:ext cx="0" cy="0"/>
          <a:chOff x="0" y="0"/>
          <a:chExt cx="0" cy="0"/>
        </a:xfrm>
      </p:grpSpPr>
      <p:sp>
        <p:nvSpPr>
          <p:cNvPr id="44" name="Google Shape;44;p9"/>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5" name="Google Shape;45;p9"/>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6" name="Google Shape;46;p9"/>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7" name="Google Shape;47;p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8" name="Google Shape;48;p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9" name="Google Shape;49;p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0" name="Shape 50"/>
        <p:cNvGrpSpPr/>
        <p:nvPr/>
      </p:nvGrpSpPr>
      <p:grpSpPr>
        <a:xfrm>
          <a:off x="0" y="0"/>
          <a:ext cx="0" cy="0"/>
          <a:chOff x="0" y="0"/>
          <a:chExt cx="0" cy="0"/>
        </a:xfrm>
      </p:grpSpPr>
      <p:sp>
        <p:nvSpPr>
          <p:cNvPr id="51" name="Google Shape;51;p10"/>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2" name="Google Shape;52;p10"/>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53" name="Google Shape;53;p10"/>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4" name="Google Shape;54;p10"/>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55" name="Google Shape;55;p10"/>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6" name="Google Shape;56;p1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7" name="Google Shape;57;p1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8" name="Google Shape;58;p1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9" name="Shape 59"/>
        <p:cNvGrpSpPr/>
        <p:nvPr/>
      </p:nvGrpSpPr>
      <p:grpSpPr>
        <a:xfrm>
          <a:off x="0" y="0"/>
          <a:ext cx="0" cy="0"/>
          <a:chOff x="0" y="0"/>
          <a:chExt cx="0" cy="0"/>
        </a:xfrm>
      </p:grpSpPr>
      <p:sp>
        <p:nvSpPr>
          <p:cNvPr id="60" name="Google Shape;60;p11"/>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1" name="Google Shape;61;p1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2" name="Google Shape;62;p1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3" name="Google Shape;63;p1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1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6" name="Google Shape;66;p1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67" name="Google Shape;67;p1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68" name="Google Shape;68;p1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9" name="Google Shape;69;p1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0" name="Google Shape;70;p1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1" name="Shape 71"/>
        <p:cNvGrpSpPr/>
        <p:nvPr/>
      </p:nvGrpSpPr>
      <p:grpSpPr>
        <a:xfrm>
          <a:off x="0" y="0"/>
          <a:ext cx="0" cy="0"/>
          <a:chOff x="0" y="0"/>
          <a:chExt cx="0" cy="0"/>
        </a:xfrm>
      </p:grpSpPr>
      <p:sp>
        <p:nvSpPr>
          <p:cNvPr id="72" name="Google Shape;72;p1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3" name="Google Shape;73;p13"/>
          <p:cNvSpPr/>
          <p:nvPr>
            <p:ph idx="2" type="pic"/>
          </p:nvPr>
        </p:nvSpPr>
        <p:spPr>
          <a:xfrm>
            <a:off x="5183188" y="987425"/>
            <a:ext cx="6172200" cy="4873625"/>
          </a:xfrm>
          <a:prstGeom prst="rect">
            <a:avLst/>
          </a:prstGeom>
          <a:noFill/>
          <a:ln>
            <a:noFill/>
          </a:ln>
        </p:spPr>
      </p:sp>
      <p:sp>
        <p:nvSpPr>
          <p:cNvPr id="74" name="Google Shape;74;p1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75" name="Google Shape;75;p1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6" name="Google Shape;76;p1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7" name="Google Shape;77;p1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8" name="Shape 78"/>
        <p:cNvGrpSpPr/>
        <p:nvPr/>
      </p:nvGrpSpPr>
      <p:grpSpPr>
        <a:xfrm>
          <a:off x="0" y="0"/>
          <a:ext cx="0" cy="0"/>
          <a:chOff x="0" y="0"/>
          <a:chExt cx="0" cy="0"/>
        </a:xfrm>
      </p:grpSpPr>
      <p:sp>
        <p:nvSpPr>
          <p:cNvPr id="79" name="Google Shape;79;p1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0" name="Google Shape;80;p1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1" name="Google Shape;81;p1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2" name="Google Shape;82;p1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3" name="Google Shape;83;p1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4" name="Shape 84"/>
        <p:cNvGrpSpPr/>
        <p:nvPr/>
      </p:nvGrpSpPr>
      <p:grpSpPr>
        <a:xfrm>
          <a:off x="0" y="0"/>
          <a:ext cx="0" cy="0"/>
          <a:chOff x="0" y="0"/>
          <a:chExt cx="0" cy="0"/>
        </a:xfrm>
      </p:grpSpPr>
      <p:sp>
        <p:nvSpPr>
          <p:cNvPr id="85" name="Google Shape;85;p15"/>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6" name="Google Shape;86;p1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7" name="Google Shape;87;p1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8" name="Google Shape;88;p1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9" name="Google Shape;89;p1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6" name="Shape 96"/>
        <p:cNvGrpSpPr/>
        <p:nvPr/>
      </p:nvGrpSpPr>
      <p:grpSpPr>
        <a:xfrm>
          <a:off x="0" y="0"/>
          <a:ext cx="0" cy="0"/>
          <a:chOff x="0" y="0"/>
          <a:chExt cx="0" cy="0"/>
        </a:xfrm>
      </p:grpSpPr>
      <p:sp>
        <p:nvSpPr>
          <p:cNvPr id="97" name="Google Shape;97;p1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8" name="Google Shape;98;p1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9" name="Google Shape;99;p1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00" name="Shape 100"/>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1" name="Shape 101"/>
        <p:cNvGrpSpPr/>
        <p:nvPr/>
      </p:nvGrpSpPr>
      <p:grpSpPr>
        <a:xfrm>
          <a:off x="0" y="0"/>
          <a:ext cx="0" cy="0"/>
          <a:chOff x="0" y="0"/>
          <a:chExt cx="0" cy="0"/>
        </a:xfrm>
      </p:grpSpPr>
      <p:sp>
        <p:nvSpPr>
          <p:cNvPr id="102" name="Google Shape;102;p19"/>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3" name="Google Shape;103;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4" name="Google Shape;104;p1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5" name="Google Shape;105;p1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6" name="Google Shape;106;p1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7" name="Shape 107"/>
        <p:cNvGrpSpPr/>
        <p:nvPr/>
      </p:nvGrpSpPr>
      <p:grpSpPr>
        <a:xfrm>
          <a:off x="0" y="0"/>
          <a:ext cx="0" cy="0"/>
          <a:chOff x="0" y="0"/>
          <a:chExt cx="0" cy="0"/>
        </a:xfrm>
      </p:grpSpPr>
      <p:sp>
        <p:nvSpPr>
          <p:cNvPr id="108" name="Google Shape;108;p2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9" name="Google Shape;109;p2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10" name="Google Shape;110;p2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1" name="Google Shape;111;p2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2" name="Google Shape;112;p2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3" name="Shape 113"/>
        <p:cNvGrpSpPr/>
        <p:nvPr/>
      </p:nvGrpSpPr>
      <p:grpSpPr>
        <a:xfrm>
          <a:off x="0" y="0"/>
          <a:ext cx="0" cy="0"/>
          <a:chOff x="0" y="0"/>
          <a:chExt cx="0" cy="0"/>
        </a:xfrm>
      </p:grpSpPr>
      <p:sp>
        <p:nvSpPr>
          <p:cNvPr id="114" name="Google Shape;114;p21"/>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5" name="Google Shape;115;p2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6" name="Google Shape;116;p2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7" name="Google Shape;117;p2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8" name="Google Shape;118;p2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9" name="Google Shape;119;p2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20" name="Shape 120"/>
        <p:cNvGrpSpPr/>
        <p:nvPr/>
      </p:nvGrpSpPr>
      <p:grpSpPr>
        <a:xfrm>
          <a:off x="0" y="0"/>
          <a:ext cx="0" cy="0"/>
          <a:chOff x="0" y="0"/>
          <a:chExt cx="0" cy="0"/>
        </a:xfrm>
      </p:grpSpPr>
      <p:sp>
        <p:nvSpPr>
          <p:cNvPr id="121" name="Google Shape;121;p22"/>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2" name="Google Shape;122;p2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23" name="Google Shape;123;p2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4" name="Google Shape;124;p2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25" name="Google Shape;125;p2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6" name="Google Shape;126;p2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7" name="Google Shape;127;p2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8" name="Google Shape;128;p2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9" name="Shape 129"/>
        <p:cNvGrpSpPr/>
        <p:nvPr/>
      </p:nvGrpSpPr>
      <p:grpSpPr>
        <a:xfrm>
          <a:off x="0" y="0"/>
          <a:ext cx="0" cy="0"/>
          <a:chOff x="0" y="0"/>
          <a:chExt cx="0" cy="0"/>
        </a:xfrm>
      </p:grpSpPr>
      <p:sp>
        <p:nvSpPr>
          <p:cNvPr id="130" name="Google Shape;130;p23"/>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1" name="Google Shape;131;p2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2" name="Google Shape;132;p2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3" name="Google Shape;133;p2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4" name="Shape 134"/>
        <p:cNvGrpSpPr/>
        <p:nvPr/>
      </p:nvGrpSpPr>
      <p:grpSpPr>
        <a:xfrm>
          <a:off x="0" y="0"/>
          <a:ext cx="0" cy="0"/>
          <a:chOff x="0" y="0"/>
          <a:chExt cx="0" cy="0"/>
        </a:xfrm>
      </p:grpSpPr>
      <p:sp>
        <p:nvSpPr>
          <p:cNvPr id="135" name="Google Shape;135;p2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6" name="Google Shape;136;p2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37" name="Google Shape;137;p2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38" name="Google Shape;138;p2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9" name="Google Shape;139;p2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0" name="Google Shape;140;p2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41" name="Shape 141"/>
        <p:cNvGrpSpPr/>
        <p:nvPr/>
      </p:nvGrpSpPr>
      <p:grpSpPr>
        <a:xfrm>
          <a:off x="0" y="0"/>
          <a:ext cx="0" cy="0"/>
          <a:chOff x="0" y="0"/>
          <a:chExt cx="0" cy="0"/>
        </a:xfrm>
      </p:grpSpPr>
      <p:sp>
        <p:nvSpPr>
          <p:cNvPr id="142" name="Google Shape;142;p2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43" name="Google Shape;143;p25"/>
          <p:cNvSpPr/>
          <p:nvPr>
            <p:ph idx="2" type="pic"/>
          </p:nvPr>
        </p:nvSpPr>
        <p:spPr>
          <a:xfrm>
            <a:off x="5183188" y="987425"/>
            <a:ext cx="6172200" cy="4873625"/>
          </a:xfrm>
          <a:prstGeom prst="rect">
            <a:avLst/>
          </a:prstGeom>
          <a:noFill/>
          <a:ln>
            <a:noFill/>
          </a:ln>
        </p:spPr>
      </p:sp>
      <p:sp>
        <p:nvSpPr>
          <p:cNvPr id="144" name="Google Shape;144;p2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45" name="Google Shape;145;p2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6" name="Google Shape;146;p2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7" name="Google Shape;147;p2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8" name="Shape 148"/>
        <p:cNvGrpSpPr/>
        <p:nvPr/>
      </p:nvGrpSpPr>
      <p:grpSpPr>
        <a:xfrm>
          <a:off x="0" y="0"/>
          <a:ext cx="0" cy="0"/>
          <a:chOff x="0" y="0"/>
          <a:chExt cx="0" cy="0"/>
        </a:xfrm>
      </p:grpSpPr>
      <p:sp>
        <p:nvSpPr>
          <p:cNvPr id="149" name="Google Shape;149;p26"/>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0" name="Google Shape;150;p2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1" name="Google Shape;151;p2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2" name="Google Shape;152;p2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3" name="Google Shape;153;p2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4" name="Shape 154"/>
        <p:cNvGrpSpPr/>
        <p:nvPr/>
      </p:nvGrpSpPr>
      <p:grpSpPr>
        <a:xfrm>
          <a:off x="0" y="0"/>
          <a:ext cx="0" cy="0"/>
          <a:chOff x="0" y="0"/>
          <a:chExt cx="0" cy="0"/>
        </a:xfrm>
      </p:grpSpPr>
      <p:sp>
        <p:nvSpPr>
          <p:cNvPr id="155" name="Google Shape;155;p27"/>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6" name="Google Shape;156;p2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7" name="Google Shape;157;p2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8" name="Google Shape;158;p2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9" name="Google Shape;159;p2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65" name="Shape 165"/>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66" name="Shape 166"/>
        <p:cNvGrpSpPr/>
        <p:nvPr/>
      </p:nvGrpSpPr>
      <p:grpSpPr>
        <a:xfrm>
          <a:off x="0" y="0"/>
          <a:ext cx="0" cy="0"/>
          <a:chOff x="0" y="0"/>
          <a:chExt cx="0" cy="0"/>
        </a:xfrm>
      </p:grpSpPr>
      <p:sp>
        <p:nvSpPr>
          <p:cNvPr id="167" name="Google Shape;167;p30"/>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68" name="Google Shape;168;p3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9" name="Google Shape;169;p3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0" name="Google Shape;170;p3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1" name="Google Shape;171;p3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2" name="Shape 172"/>
        <p:cNvGrpSpPr/>
        <p:nvPr/>
      </p:nvGrpSpPr>
      <p:grpSpPr>
        <a:xfrm>
          <a:off x="0" y="0"/>
          <a:ext cx="0" cy="0"/>
          <a:chOff x="0" y="0"/>
          <a:chExt cx="0" cy="0"/>
        </a:xfrm>
      </p:grpSpPr>
      <p:sp>
        <p:nvSpPr>
          <p:cNvPr id="173" name="Google Shape;173;p3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74" name="Google Shape;174;p3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75" name="Google Shape;175;p3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6" name="Google Shape;176;p3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7" name="Google Shape;177;p3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78" name="Shape 178"/>
        <p:cNvGrpSpPr/>
        <p:nvPr/>
      </p:nvGrpSpPr>
      <p:grpSpPr>
        <a:xfrm>
          <a:off x="0" y="0"/>
          <a:ext cx="0" cy="0"/>
          <a:chOff x="0" y="0"/>
          <a:chExt cx="0" cy="0"/>
        </a:xfrm>
      </p:grpSpPr>
      <p:sp>
        <p:nvSpPr>
          <p:cNvPr id="179" name="Google Shape;179;p32"/>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0" name="Google Shape;180;p3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1" name="Google Shape;181;p3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2" name="Google Shape;182;p3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3" name="Google Shape;183;p3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4" name="Google Shape;184;p3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85" name="Shape 185"/>
        <p:cNvGrpSpPr/>
        <p:nvPr/>
      </p:nvGrpSpPr>
      <p:grpSpPr>
        <a:xfrm>
          <a:off x="0" y="0"/>
          <a:ext cx="0" cy="0"/>
          <a:chOff x="0" y="0"/>
          <a:chExt cx="0" cy="0"/>
        </a:xfrm>
      </p:grpSpPr>
      <p:sp>
        <p:nvSpPr>
          <p:cNvPr id="186" name="Google Shape;186;p33"/>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7" name="Google Shape;187;p3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88" name="Google Shape;188;p3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9" name="Google Shape;189;p3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90" name="Google Shape;190;p3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1" name="Google Shape;191;p3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2" name="Google Shape;192;p3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3" name="Google Shape;193;p3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4" name="Shape 194"/>
        <p:cNvGrpSpPr/>
        <p:nvPr/>
      </p:nvGrpSpPr>
      <p:grpSpPr>
        <a:xfrm>
          <a:off x="0" y="0"/>
          <a:ext cx="0" cy="0"/>
          <a:chOff x="0" y="0"/>
          <a:chExt cx="0" cy="0"/>
        </a:xfrm>
      </p:grpSpPr>
      <p:sp>
        <p:nvSpPr>
          <p:cNvPr id="195" name="Google Shape;195;p3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96" name="Google Shape;196;p3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7" name="Google Shape;197;p3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8" name="Google Shape;198;p3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99" name="Shape 199"/>
        <p:cNvGrpSpPr/>
        <p:nvPr/>
      </p:nvGrpSpPr>
      <p:grpSpPr>
        <a:xfrm>
          <a:off x="0" y="0"/>
          <a:ext cx="0" cy="0"/>
          <a:chOff x="0" y="0"/>
          <a:chExt cx="0" cy="0"/>
        </a:xfrm>
      </p:grpSpPr>
      <p:sp>
        <p:nvSpPr>
          <p:cNvPr id="200" name="Google Shape;200;p3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1" name="Google Shape;201;p3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2" name="Google Shape;202;p3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03" name="Shape 203"/>
        <p:cNvGrpSpPr/>
        <p:nvPr/>
      </p:nvGrpSpPr>
      <p:grpSpPr>
        <a:xfrm>
          <a:off x="0" y="0"/>
          <a:ext cx="0" cy="0"/>
          <a:chOff x="0" y="0"/>
          <a:chExt cx="0" cy="0"/>
        </a:xfrm>
      </p:grpSpPr>
      <p:sp>
        <p:nvSpPr>
          <p:cNvPr id="204" name="Google Shape;204;p3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05" name="Google Shape;205;p36"/>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06" name="Google Shape;206;p36"/>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207" name="Google Shape;207;p3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8" name="Google Shape;208;p3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9" name="Google Shape;209;p3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10" name="Shape 210"/>
        <p:cNvGrpSpPr/>
        <p:nvPr/>
      </p:nvGrpSpPr>
      <p:grpSpPr>
        <a:xfrm>
          <a:off x="0" y="0"/>
          <a:ext cx="0" cy="0"/>
          <a:chOff x="0" y="0"/>
          <a:chExt cx="0" cy="0"/>
        </a:xfrm>
      </p:grpSpPr>
      <p:sp>
        <p:nvSpPr>
          <p:cNvPr id="211" name="Google Shape;211;p3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2" name="Google Shape;212;p37"/>
          <p:cNvSpPr/>
          <p:nvPr>
            <p:ph idx="2" type="pic"/>
          </p:nvPr>
        </p:nvSpPr>
        <p:spPr>
          <a:xfrm>
            <a:off x="5183188" y="987425"/>
            <a:ext cx="6172200" cy="4873625"/>
          </a:xfrm>
          <a:prstGeom prst="rect">
            <a:avLst/>
          </a:prstGeom>
          <a:noFill/>
          <a:ln>
            <a:noFill/>
          </a:ln>
        </p:spPr>
      </p:sp>
      <p:sp>
        <p:nvSpPr>
          <p:cNvPr id="213" name="Google Shape;213;p37"/>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214" name="Google Shape;214;p3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15" name="Google Shape;215;p3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16" name="Google Shape;216;p3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17" name="Shape 217"/>
        <p:cNvGrpSpPr/>
        <p:nvPr/>
      </p:nvGrpSpPr>
      <p:grpSpPr>
        <a:xfrm>
          <a:off x="0" y="0"/>
          <a:ext cx="0" cy="0"/>
          <a:chOff x="0" y="0"/>
          <a:chExt cx="0" cy="0"/>
        </a:xfrm>
      </p:grpSpPr>
      <p:sp>
        <p:nvSpPr>
          <p:cNvPr id="218" name="Google Shape;218;p38"/>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9" name="Google Shape;219;p38"/>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0" name="Google Shape;220;p3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1" name="Google Shape;221;p3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2" name="Google Shape;222;p3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23" name="Shape 223"/>
        <p:cNvGrpSpPr/>
        <p:nvPr/>
      </p:nvGrpSpPr>
      <p:grpSpPr>
        <a:xfrm>
          <a:off x="0" y="0"/>
          <a:ext cx="0" cy="0"/>
          <a:chOff x="0" y="0"/>
          <a:chExt cx="0" cy="0"/>
        </a:xfrm>
      </p:grpSpPr>
      <p:sp>
        <p:nvSpPr>
          <p:cNvPr id="224" name="Google Shape;224;p39"/>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25" name="Google Shape;225;p39"/>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6" name="Google Shape;226;p3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7" name="Google Shape;227;p3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8" name="Google Shape;228;p3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theme" Target="../theme/theme4.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 Id="rId9" Type="http://schemas.openxmlformats.org/officeDocument/2006/relationships/slideLayout" Target="../slideLayouts/slideLayout10.xml"/><Relationship Id="rId10" Type="http://schemas.openxmlformats.org/officeDocument/2006/relationships/slideLayout" Target="../slideLayouts/slideLayout11.xml"/><Relationship Id="rId11" Type="http://schemas.openxmlformats.org/officeDocument/2006/relationships/slideLayout" Target="../slideLayouts/slideLayout12.xml"/><Relationship Id="rId12" Type="http://schemas.openxmlformats.org/officeDocument/2006/relationships/slideLayout" Target="../slideLayouts/slideLayout13.xml"/><Relationship Id="rId13"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slideLayout" Target="../slideLayouts/slideLayout24.xml"/><Relationship Id="rId13" Type="http://schemas.openxmlformats.org/officeDocument/2006/relationships/theme" Target="../theme/theme5.xml"/></Relationships>
</file>

<file path=ppt/slideMasters/_rels/slideMaster4.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id="10" name="Google Shape;10;p1"/>
          <p:cNvPicPr preferRelativeResize="0"/>
          <p:nvPr/>
        </p:nvPicPr>
        <p:blipFill rotWithShape="1">
          <a:blip r:embed="rId1">
            <a:alphaModFix/>
          </a:blip>
          <a:srcRect b="0" l="0" r="0" t="0"/>
          <a:stretch/>
        </p:blipFill>
        <p:spPr>
          <a:xfrm>
            <a:off x="2141884" y="0"/>
            <a:ext cx="10030237" cy="1640714"/>
          </a:xfrm>
          <a:prstGeom prst="rect">
            <a:avLst/>
          </a:prstGeom>
          <a:noFill/>
          <a:ln>
            <a:noFill/>
          </a:ln>
        </p:spPr>
      </p:pic>
      <p:sp>
        <p:nvSpPr>
          <p:cNvPr id="11" name="Google Shape;11;p1"/>
          <p:cNvSpPr txBox="1"/>
          <p:nvPr/>
        </p:nvSpPr>
        <p:spPr>
          <a:xfrm>
            <a:off x="1402828" y="6528816"/>
            <a:ext cx="627096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Copyright © McGraw Hill</a:t>
            </a:r>
            <a:endParaRPr b="0" i="0" sz="1400" u="none" cap="none" strike="noStrike">
              <a:solidFill>
                <a:srgbClr val="000000"/>
              </a:solidFill>
              <a:latin typeface="Arial"/>
              <a:ea typeface="Arial"/>
              <a:cs typeface="Arial"/>
              <a:sym typeface="Arial"/>
            </a:endParaRPr>
          </a:p>
        </p:txBody>
      </p:sp>
      <p:pic>
        <p:nvPicPr>
          <p:cNvPr id="12" name="Google Shape;12;p1"/>
          <p:cNvPicPr preferRelativeResize="0"/>
          <p:nvPr/>
        </p:nvPicPr>
        <p:blipFill rotWithShape="1">
          <a:blip r:embed="rId2">
            <a:alphaModFix/>
          </a:blip>
          <a:srcRect b="0" l="0" r="0" t="0"/>
          <a:stretch/>
        </p:blipFill>
        <p:spPr>
          <a:xfrm>
            <a:off x="1492908" y="5619163"/>
            <a:ext cx="654674" cy="654674"/>
          </a:xfrm>
          <a:prstGeom prst="rect">
            <a:avLst/>
          </a:prstGeom>
          <a:noFill/>
          <a:ln>
            <a:noFill/>
          </a:ln>
        </p:spPr>
      </p:pic>
      <p:cxnSp>
        <p:nvCxnSpPr>
          <p:cNvPr id="13" name="Google Shape;13;p1"/>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14" name="Google Shape;14;p1"/>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3"/>
    <p:sldLayoutId id="2147483649"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59">
          <p15:clr>
            <a:srgbClr val="F26B43"/>
          </p15:clr>
        </p15:guide>
        <p15:guide id="2" orient="horz" pos="360">
          <p15:clr>
            <a:srgbClr val="F26B43"/>
          </p15:clr>
        </p15:guide>
        <p15:guide id="3" pos="3840">
          <p15:clr>
            <a:srgbClr val="F26B43"/>
          </p15:clr>
        </p15:guide>
        <p15:guide id="4" pos="384">
          <p15:clr>
            <a:srgbClr val="F26B43"/>
          </p15:clr>
        </p15:guide>
        <p15:guide id="5" pos="7296">
          <p15:clr>
            <a:srgbClr val="F26B43"/>
          </p15:clr>
        </p15:guide>
        <p15:guide id="6" orient="horz" pos="4211">
          <p15:clr>
            <a:srgbClr val="F26B43"/>
          </p15:clr>
        </p15:guide>
        <p15:guide id="7" pos="1120">
          <p15:clr>
            <a:srgbClr val="F26B43"/>
          </p15:clr>
        </p15:guide>
        <p15:guide id="8" pos="93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 name="Shape 20"/>
        <p:cNvGrpSpPr/>
        <p:nvPr/>
      </p:nvGrpSpPr>
      <p:grpSpPr>
        <a:xfrm>
          <a:off x="0" y="0"/>
          <a:ext cx="0" cy="0"/>
          <a:chOff x="0" y="0"/>
          <a:chExt cx="0" cy="0"/>
        </a:xfrm>
      </p:grpSpPr>
      <p:cxnSp>
        <p:nvCxnSpPr>
          <p:cNvPr id="21" name="Google Shape;21;p4"/>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22" name="Google Shape;22;p4"/>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23" name="Google Shape;23;p4"/>
          <p:cNvSpPr txBox="1"/>
          <p:nvPr/>
        </p:nvSpPr>
        <p:spPr>
          <a:xfrm>
            <a:off x="1385464" y="6528815"/>
            <a:ext cx="4694822" cy="3246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Determine the Volume of a Rectangular Prism​</a:t>
            </a:r>
            <a:endParaRPr b="0" i="0" sz="1400" u="none" cap="none" strike="noStrike">
              <a:solidFill>
                <a:srgbClr val="000000"/>
              </a:solidFill>
              <a:latin typeface="Arial"/>
              <a:ea typeface="Arial"/>
              <a:cs typeface="Arial"/>
              <a:sym typeface="Arial"/>
            </a:endParaRPr>
          </a:p>
        </p:txBody>
      </p:sp>
      <p:sp>
        <p:nvSpPr>
          <p:cNvPr id="24" name="Google Shape;24;p4"/>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25" name="Google Shape;25;p4"/>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0" name="Shape 90"/>
        <p:cNvGrpSpPr/>
        <p:nvPr/>
      </p:nvGrpSpPr>
      <p:grpSpPr>
        <a:xfrm>
          <a:off x="0" y="0"/>
          <a:ext cx="0" cy="0"/>
          <a:chOff x="0" y="0"/>
          <a:chExt cx="0" cy="0"/>
        </a:xfrm>
      </p:grpSpPr>
      <p:cxnSp>
        <p:nvCxnSpPr>
          <p:cNvPr id="91" name="Google Shape;91;p16"/>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92" name="Google Shape;92;p16"/>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93" name="Google Shape;93;p16"/>
          <p:cNvSpPr txBox="1"/>
          <p:nvPr/>
        </p:nvSpPr>
        <p:spPr>
          <a:xfrm>
            <a:off x="1385464" y="6528815"/>
            <a:ext cx="4694822" cy="3246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Determine the Volume of a Rectangular Prism​</a:t>
            </a:r>
            <a:endParaRPr b="0" i="0" sz="1400" u="none" cap="none" strike="noStrike">
              <a:solidFill>
                <a:srgbClr val="000000"/>
              </a:solidFill>
              <a:latin typeface="Arial"/>
              <a:ea typeface="Arial"/>
              <a:cs typeface="Arial"/>
              <a:sym typeface="Arial"/>
            </a:endParaRPr>
          </a:p>
        </p:txBody>
      </p:sp>
      <p:sp>
        <p:nvSpPr>
          <p:cNvPr id="94" name="Google Shape;94;p16"/>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95" name="Google Shape;95;p16"/>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0" name="Shape 160"/>
        <p:cNvGrpSpPr/>
        <p:nvPr/>
      </p:nvGrpSpPr>
      <p:grpSpPr>
        <a:xfrm>
          <a:off x="0" y="0"/>
          <a:ext cx="0" cy="0"/>
          <a:chOff x="0" y="0"/>
          <a:chExt cx="0" cy="0"/>
        </a:xfrm>
      </p:grpSpPr>
      <p:cxnSp>
        <p:nvCxnSpPr>
          <p:cNvPr id="161" name="Google Shape;161;p28"/>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162" name="Google Shape;162;p28"/>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a:t>
            </a:r>
            <a:endParaRPr b="0" i="0" sz="900" u="none" cap="none" strike="noStrike">
              <a:solidFill>
                <a:schemeClr val="dk2"/>
              </a:solidFill>
              <a:latin typeface="Arial"/>
              <a:ea typeface="Arial"/>
              <a:cs typeface="Arial"/>
              <a:sym typeface="Arial"/>
            </a:endParaRPr>
          </a:p>
        </p:txBody>
      </p:sp>
      <p:sp>
        <p:nvSpPr>
          <p:cNvPr id="163" name="Google Shape;163;p28"/>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164" name="Google Shape;164;p28"/>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notesSlide" Target="../notesSlides/notesSlide7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notesSlide" Target="../notesSlides/notesSlide7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notesSlide" Target="../notesSlides/notesSlide7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notesSlide" Target="../notesSlides/notesSlide7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7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7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notesSlide" Target="../notesSlides/notesSlide7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 Id="rId3" Type="http://schemas.openxmlformats.org/officeDocument/2006/relationships/notesSlide" Target="../notesSlides/notesSlide7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 Id="rId3" Type="http://schemas.openxmlformats.org/officeDocument/2006/relationships/image" Target="../media/image12.png"/><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 Id="rId3" Type="http://schemas.openxmlformats.org/officeDocument/2006/relationships/image" Target="../media/image20.png"/><Relationship Id="rId4" Type="http://schemas.openxmlformats.org/officeDocument/2006/relationships/image" Target="../media/image3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3.xml"/><Relationship Id="rId3" Type="http://schemas.openxmlformats.org/officeDocument/2006/relationships/image" Target="../media/image32.png"/><Relationship Id="rId4" Type="http://schemas.openxmlformats.org/officeDocument/2006/relationships/image" Target="../media/image34.png"/><Relationship Id="rId5"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4.xml"/><Relationship Id="rId3" Type="http://schemas.openxmlformats.org/officeDocument/2006/relationships/image" Target="../media/image33.png"/><Relationship Id="rId4" Type="http://schemas.openxmlformats.org/officeDocument/2006/relationships/image" Target="../media/image3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6.xml"/><Relationship Id="rId3" Type="http://schemas.openxmlformats.org/officeDocument/2006/relationships/image" Target="../media/image31.png"/><Relationship Id="rId4" Type="http://schemas.openxmlformats.org/officeDocument/2006/relationships/image" Target="../media/image3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8.xml"/><Relationship Id="rId3" Type="http://schemas.openxmlformats.org/officeDocument/2006/relationships/image" Target="../media/image37.png"/><Relationship Id="rId4" Type="http://schemas.openxmlformats.org/officeDocument/2006/relationships/image" Target="../media/image3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9.xml"/><Relationship Id="rId3" Type="http://schemas.openxmlformats.org/officeDocument/2006/relationships/image" Target="../media/image30.png"/><Relationship Id="rId4" Type="http://schemas.openxmlformats.org/officeDocument/2006/relationships/image" Target="../media/image37.png"/><Relationship Id="rId5" Type="http://schemas.openxmlformats.org/officeDocument/2006/relationships/image" Target="../media/image3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0.xml"/><Relationship Id="rId3" Type="http://schemas.openxmlformats.org/officeDocument/2006/relationships/image" Target="../media/image35.png"/><Relationship Id="rId4" Type="http://schemas.openxmlformats.org/officeDocument/2006/relationships/image" Target="../media/image3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1.xml"/><Relationship Id="rId3" Type="http://schemas.openxmlformats.org/officeDocument/2006/relationships/image" Target="../media/image40.png"/><Relationship Id="rId4" Type="http://schemas.openxmlformats.org/officeDocument/2006/relationships/image" Target="../media/image38.png"/><Relationship Id="rId5" Type="http://schemas.openxmlformats.org/officeDocument/2006/relationships/image" Target="../media/image1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2.xml"/><Relationship Id="rId3" Type="http://schemas.openxmlformats.org/officeDocument/2006/relationships/image" Target="../media/image4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 Id="rId3" Type="http://schemas.openxmlformats.org/officeDocument/2006/relationships/image" Target="../media/image48.png"/><Relationship Id="rId4" Type="http://schemas.openxmlformats.org/officeDocument/2006/relationships/notesSlide" Target="../notesSlides/notesSlide7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43.png"/><Relationship Id="rId4" Type="http://schemas.openxmlformats.org/officeDocument/2006/relationships/image" Target="../media/image3.png"/><Relationship Id="rId5" Type="http://schemas.openxmlformats.org/officeDocument/2006/relationships/image" Target="../media/image4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46.png"/><Relationship Id="rId4" Type="http://schemas.openxmlformats.org/officeDocument/2006/relationships/image" Target="../media/image4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50.png"/><Relationship Id="rId4" Type="http://schemas.openxmlformats.org/officeDocument/2006/relationships/image" Target="../media/image4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4.png"/><Relationship Id="rId4" Type="http://schemas.openxmlformats.org/officeDocument/2006/relationships/image" Target="../media/image54.png"/><Relationship Id="rId5" Type="http://schemas.openxmlformats.org/officeDocument/2006/relationships/image" Target="../media/image53.png"/><Relationship Id="rId6" Type="http://schemas.openxmlformats.org/officeDocument/2006/relationships/image" Target="../media/image60.png"/><Relationship Id="rId7" Type="http://schemas.openxmlformats.org/officeDocument/2006/relationships/image" Target="../media/image5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 Id="rId3" Type="http://schemas.openxmlformats.org/officeDocument/2006/relationships/image" Target="../media/image52.png"/><Relationship Id="rId4" Type="http://schemas.openxmlformats.org/officeDocument/2006/relationships/image" Target="../media/image5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 Id="rId3" Type="http://schemas.openxmlformats.org/officeDocument/2006/relationships/image" Target="../media/image52.png"/><Relationship Id="rId4" Type="http://schemas.openxmlformats.org/officeDocument/2006/relationships/image" Target="../media/image5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5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5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6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image" Target="../media/image57.png"/><Relationship Id="rId4" Type="http://schemas.openxmlformats.org/officeDocument/2006/relationships/image" Target="../media/image56.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2.png"/><Relationship Id="rId8" Type="http://schemas.openxmlformats.org/officeDocument/2006/relationships/image" Target="../media/image67.png"/><Relationship Id="rId9" Type="http://schemas.openxmlformats.org/officeDocument/2006/relationships/image" Target="../media/image6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4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7" name="TextBox 1"/>
          <p:cNvSpPr txBox="1"/>
          <p:nvPr/>
        </p:nvSpPr>
        <p:spPr>
          <a:xfrm>
            <a:off x="502920" y="310896"/>
            <a:ext cx="7315200" cy="502920"/>
          </a:xfrm>
          <a:prstGeom prst="rect">
            <a:avLst/>
          </a:prstGeom>
          <a:noFill/>
        </p:spPr>
        <p:txBody>
          <a:bodyPr wrap="square" lIns="0" tIns="0" rIns="0" bIns="0" anchor="t">
            <a:spAutoFit/>
          </a:bodyPr>
          <a:lstStyle/>
          <a:p>
            <a:pPr algn="l"/>
            <a:r>
              <a:rPr sz="2750" b="1">
                <a:solidFill>
                  <a:srgbClr val="782DA0"/>
                </a:solidFill>
                <a:latin typeface="Arial"/>
              </a:rPr>
              <a:t>Warm-Up</a:t>
            </a:r>
          </a:p>
        </p:txBody>
      </p:sp>
      <p:sp>
        <p:nvSpPr>
          <p:cNvPr id="258" name="TextBox 2"/>
          <p:cNvSpPr txBox="1"/>
          <p:nvPr/>
        </p:nvSpPr>
        <p:spPr>
          <a:xfrm>
            <a:off x="521207" y="877824"/>
            <a:ext cx="7680960" cy="274320"/>
          </a:xfrm>
          <a:prstGeom prst="rect">
            <a:avLst/>
          </a:prstGeom>
          <a:noFill/>
        </p:spPr>
        <p:txBody>
          <a:bodyPr wrap="square" lIns="0" tIns="0" rIns="0" bIns="0" anchor="t">
            <a:spAutoFit/>
          </a:bodyPr>
          <a:lstStyle/>
          <a:p>
            <a:pPr algn="l"/>
            <a:r>
              <a:rPr sz="1400" b="0">
                <a:solidFill>
                  <a:srgbClr val="5D6872"/>
                </a:solidFill>
                <a:latin typeface="Arial"/>
              </a:rPr>
              <a:t>Lesson 5-5 · Determine the Volume of Rectangular Prisms   |   Warm-Up · about 4 minutes</a:t>
            </a:r>
          </a:p>
        </p:txBody>
      </p:sp>
      <p:sp>
        <p:nvSpPr>
          <p:cNvPr id="259"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WARM-UP</a:t>
            </a:r>
            <a:r>
              <a:rPr lang="en-US" sz="1150" b="1" dirty="0">
                <a:solidFill>
                  <a:srgbClr val="2D3A40"/>
                </a:solidFill>
                <a:latin typeface="Arial"/>
              </a:rPr>
              <a:t xml:space="preserve">  ·  THINK • TRY • CHECK</a:t>
            </a:r>
          </a:p>
        </p:txBody>
      </p:sp>
      <p:sp>
        <p:nvSpPr>
          <p:cNvPr id="260" name="TextBox 5"/>
          <p:cNvSpPr txBox="1"/>
          <p:nvPr/>
        </p:nvSpPr>
        <p:spPr>
          <a:xfrm>
            <a:off x="521207" y="1207008"/>
            <a:ext cx="10881360" cy="438912"/>
          </a:xfrm>
          <a:prstGeom prst="rect">
            <a:avLst/>
          </a:prstGeom>
          <a:noFill/>
        </p:spPr>
        <p:txBody>
          <a:bodyPr wrap="square" lIns="0" tIns="0" rIns="0" bIns="0" anchor="t">
            <a:spAutoFit/>
          </a:bodyPr>
          <a:lstStyle/>
          <a:p>
            <a:pPr algn="l"/>
            <a:r>
              <a:rPr sz="1600" b="0">
                <a:solidFill>
                  <a:srgbClr val="5D6872"/>
                </a:solidFill>
                <a:latin typeface="Arial"/>
              </a:rPr>
              <a:t>Try each on your own. Mark an unsure answer; explain and revise when we check.</a:t>
            </a:r>
          </a:p>
        </p:txBody>
      </p:sp>
      <p:sp>
        <p:nvSpPr>
          <p:cNvPr id="261" name="Rounded Rectangle 6"/>
          <p:cNvSpPr/>
          <p:nvPr/>
        </p:nvSpPr>
        <p:spPr>
          <a:xfrm>
            <a:off x="502920" y="1783080"/>
            <a:ext cx="5422392" cy="1572768"/>
          </a:xfrm>
          <a:prstGeom prst="roundRect">
            <a:avLst/>
          </a:prstGeom>
          <a:solidFill>
            <a:srgbClr val="ECF7F6"/>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2" name="Rectangle 7"/>
          <p:cNvSpPr/>
          <p:nvPr/>
        </p:nvSpPr>
        <p:spPr>
          <a:xfrm>
            <a:off x="502920" y="1783080"/>
            <a:ext cx="73152" cy="1572768"/>
          </a:xfrm>
          <a:prstGeom prst="rect">
            <a:avLst/>
          </a:prstGeom>
          <a:solidFill>
            <a:srgbClr val="01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3" name="TextBox 8"/>
          <p:cNvSpPr txBox="1"/>
          <p:nvPr/>
        </p:nvSpPr>
        <p:spPr>
          <a:xfrm>
            <a:off x="667512" y="1892807"/>
            <a:ext cx="5129783" cy="228600"/>
          </a:xfrm>
          <a:prstGeom prst="rect">
            <a:avLst/>
          </a:prstGeom>
          <a:noFill/>
        </p:spPr>
        <p:txBody>
          <a:bodyPr wrap="square" lIns="0" tIns="0" rIns="0" bIns="0" anchor="t">
            <a:spAutoFit/>
          </a:bodyPr>
          <a:lstStyle/>
          <a:p>
            <a:pPr algn="l"/>
            <a:r>
              <a:rPr sz="1400" b="1">
                <a:solidFill>
                  <a:srgbClr val="01708C"/>
                </a:solidFill>
                <a:latin typeface="Arial"/>
              </a:rPr>
              <a:t>QUESTION 1</a:t>
            </a:r>
          </a:p>
        </p:txBody>
      </p:sp>
      <p:sp>
        <p:nvSpPr>
          <p:cNvPr id="264" name="TextBox 9"/>
          <p:cNvSpPr txBox="1"/>
          <p:nvPr/>
        </p:nvSpPr>
        <p:spPr>
          <a:xfrm>
            <a:off x="667512" y="2212848"/>
            <a:ext cx="5111496" cy="1051560"/>
          </a:xfrm>
          <a:prstGeom prst="rect">
            <a:avLst/>
          </a:prstGeom>
          <a:noFill/>
        </p:spPr>
        <p:txBody>
          <a:bodyPr wrap="square" lIns="0" tIns="0" rIns="0" bIns="0" anchor="t">
            <a:spAutoFit/>
          </a:bodyPr>
          <a:lstStyle/>
          <a:p>
            <a:pPr algn="l"/>
            <a:r>
              <a:rPr sz="1800" b="1">
                <a:solidFill>
                  <a:srgbClr val="23282D"/>
                </a:solidFill>
                <a:latin typeface="Arial"/>
              </a:rPr>
              <a:t>4 × 3 × 2 = ______</a:t>
            </a:r>
          </a:p>
        </p:txBody>
      </p:sp>
      <p:sp>
        <p:nvSpPr>
          <p:cNvPr id="265" name="Rounded Rectangle 10"/>
          <p:cNvSpPr/>
          <p:nvPr/>
        </p:nvSpPr>
        <p:spPr>
          <a:xfrm>
            <a:off x="6181344" y="1783080"/>
            <a:ext cx="5413248" cy="1572768"/>
          </a:xfrm>
          <a:prstGeom prst="roundRect">
            <a:avLst/>
          </a:prstGeom>
          <a:solidFill>
            <a:srgbClr val="FDF0E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6" name="Rectangle 11"/>
          <p:cNvSpPr/>
          <p:nvPr/>
        </p:nvSpPr>
        <p:spPr>
          <a:xfrm>
            <a:off x="6181344" y="1783080"/>
            <a:ext cx="73152" cy="1572768"/>
          </a:xfrm>
          <a:prstGeom prst="rect">
            <a:avLst/>
          </a:prstGeom>
          <a:solidFill>
            <a:srgbClr val="C84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7" name="TextBox 12"/>
          <p:cNvSpPr txBox="1"/>
          <p:nvPr/>
        </p:nvSpPr>
        <p:spPr>
          <a:xfrm>
            <a:off x="6345936" y="1892807"/>
            <a:ext cx="5120640" cy="228600"/>
          </a:xfrm>
          <a:prstGeom prst="rect">
            <a:avLst/>
          </a:prstGeom>
          <a:noFill/>
        </p:spPr>
        <p:txBody>
          <a:bodyPr wrap="square" lIns="0" tIns="0" rIns="0" bIns="0" anchor="t">
            <a:spAutoFit/>
          </a:bodyPr>
          <a:lstStyle/>
          <a:p>
            <a:pPr algn="l"/>
            <a:r>
              <a:rPr sz="1400" b="1">
                <a:solidFill>
                  <a:srgbClr val="C8430E"/>
                </a:solidFill>
                <a:latin typeface="Arial"/>
              </a:rPr>
              <a:t>QUESTION 2</a:t>
            </a:r>
          </a:p>
        </p:txBody>
      </p:sp>
      <p:sp>
        <p:nvSpPr>
          <p:cNvPr id="268" name="TextBox 13"/>
          <p:cNvSpPr txBox="1"/>
          <p:nvPr/>
        </p:nvSpPr>
        <p:spPr>
          <a:xfrm>
            <a:off x="6345936" y="2212848"/>
            <a:ext cx="5102352" cy="1051560"/>
          </a:xfrm>
          <a:prstGeom prst="rect">
            <a:avLst/>
          </a:prstGeom>
          <a:noFill/>
        </p:spPr>
        <p:txBody>
          <a:bodyPr wrap="square" lIns="0" tIns="0" rIns="0" bIns="0" anchor="t">
            <a:spAutoFit/>
          </a:bodyPr>
          <a:lstStyle/>
          <a:p>
            <a:pPr algn="l"/>
            <a:r>
              <a:rPr sz="1800" b="1">
                <a:solidFill>
                  <a:srgbClr val="23282D"/>
                </a:solidFill>
                <a:latin typeface="Arial"/>
              </a:rPr>
              <a:t>1/2 × 1/3 = ______</a:t>
            </a:r>
          </a:p>
        </p:txBody>
      </p:sp>
      <p:sp>
        <p:nvSpPr>
          <p:cNvPr id="269" name="Rounded Rectangle 14"/>
          <p:cNvSpPr/>
          <p:nvPr/>
        </p:nvSpPr>
        <p:spPr>
          <a:xfrm>
            <a:off x="502920" y="3593592"/>
            <a:ext cx="5422392" cy="1664208"/>
          </a:xfrm>
          <a:prstGeom prst="roundRect">
            <a:avLst/>
          </a:prstGeom>
          <a:solidFill>
            <a:srgbClr val="EBF5FB"/>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0" name="Rectangle 15"/>
          <p:cNvSpPr/>
          <p:nvPr/>
        </p:nvSpPr>
        <p:spPr>
          <a:xfrm>
            <a:off x="502920" y="3593592"/>
            <a:ext cx="73152" cy="16642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1" name="TextBox 16"/>
          <p:cNvSpPr txBox="1"/>
          <p:nvPr/>
        </p:nvSpPr>
        <p:spPr>
          <a:xfrm>
            <a:off x="667512" y="3703320"/>
            <a:ext cx="5129783" cy="228600"/>
          </a:xfrm>
          <a:prstGeom prst="rect">
            <a:avLst/>
          </a:prstGeom>
          <a:noFill/>
        </p:spPr>
        <p:txBody>
          <a:bodyPr wrap="square" lIns="0" tIns="0" rIns="0" bIns="0" anchor="t">
            <a:spAutoFit/>
          </a:bodyPr>
          <a:lstStyle/>
          <a:p>
            <a:pPr algn="l"/>
            <a:r>
              <a:rPr sz="1400" b="1">
                <a:solidFill>
                  <a:srgbClr val="0070C0"/>
                </a:solidFill>
                <a:latin typeface="Arial"/>
              </a:rPr>
              <a:t>QUESTION 3</a:t>
            </a:r>
          </a:p>
        </p:txBody>
      </p:sp>
      <p:sp>
        <p:nvSpPr>
          <p:cNvPr id="272" name="TextBox 17"/>
          <p:cNvSpPr txBox="1"/>
          <p:nvPr/>
        </p:nvSpPr>
        <p:spPr>
          <a:xfrm>
            <a:off x="667512" y="4023360"/>
            <a:ext cx="5111496" cy="1143000"/>
          </a:xfrm>
          <a:prstGeom prst="rect">
            <a:avLst/>
          </a:prstGeom>
          <a:noFill/>
        </p:spPr>
        <p:txBody>
          <a:bodyPr wrap="square" lIns="0" tIns="0" rIns="0" bIns="0" anchor="t">
            <a:spAutoFit/>
          </a:bodyPr>
          <a:lstStyle/>
          <a:p>
            <a:pPr algn="l"/>
            <a:r>
              <a:rPr sz="1800" b="1">
                <a:solidFill>
                  <a:srgbClr val="23282D"/>
                </a:solidFill>
                <a:latin typeface="Arial"/>
              </a:rPr>
              <a:t>A rectangular base is 5 cm by 6 cm. Its area = ______</a:t>
            </a:r>
          </a:p>
        </p:txBody>
      </p:sp>
      <p:sp>
        <p:nvSpPr>
          <p:cNvPr id="273" name="Rounded Rectangle 18"/>
          <p:cNvSpPr/>
          <p:nvPr/>
        </p:nvSpPr>
        <p:spPr>
          <a:xfrm>
            <a:off x="6181344" y="3593592"/>
            <a:ext cx="5413248" cy="1664208"/>
          </a:xfrm>
          <a:prstGeom prst="roundRect">
            <a:avLst/>
          </a:prstGeom>
          <a:solidFill>
            <a:srgbClr val="EDF8F3"/>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4" name="Rectangle 19"/>
          <p:cNvSpPr/>
          <p:nvPr/>
        </p:nvSpPr>
        <p:spPr>
          <a:xfrm>
            <a:off x="6181344" y="3593592"/>
            <a:ext cx="73152" cy="1664208"/>
          </a:xfrm>
          <a:prstGeom prst="rect">
            <a:avLst/>
          </a:prstGeom>
          <a:solidFill>
            <a:srgbClr val="008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5" name="TextBox 20"/>
          <p:cNvSpPr txBox="1"/>
          <p:nvPr/>
        </p:nvSpPr>
        <p:spPr>
          <a:xfrm>
            <a:off x="6345936" y="3703320"/>
            <a:ext cx="5120640" cy="228600"/>
          </a:xfrm>
          <a:prstGeom prst="rect">
            <a:avLst/>
          </a:prstGeom>
          <a:noFill/>
        </p:spPr>
        <p:txBody>
          <a:bodyPr wrap="square" lIns="0" tIns="0" rIns="0" bIns="0" anchor="t">
            <a:spAutoFit/>
          </a:bodyPr>
          <a:lstStyle/>
          <a:p>
            <a:pPr algn="l"/>
            <a:r>
              <a:rPr sz="1400" b="1">
                <a:solidFill>
                  <a:srgbClr val="008A62"/>
                </a:solidFill>
                <a:latin typeface="Arial"/>
              </a:rPr>
              <a:t>QUESTION 4</a:t>
            </a:r>
          </a:p>
        </p:txBody>
      </p:sp>
      <p:sp>
        <p:nvSpPr>
          <p:cNvPr id="276" name="TextBox 21"/>
          <p:cNvSpPr txBox="1"/>
          <p:nvPr/>
        </p:nvSpPr>
        <p:spPr>
          <a:xfrm>
            <a:off x="6345936" y="4023360"/>
            <a:ext cx="5102352" cy="1143000"/>
          </a:xfrm>
          <a:prstGeom prst="rect">
            <a:avLst/>
          </a:prstGeom>
          <a:noFill/>
        </p:spPr>
        <p:txBody>
          <a:bodyPr wrap="square" lIns="0" tIns="0" rIns="0" bIns="0" anchor="t">
            <a:spAutoFit/>
          </a:bodyPr>
          <a:lstStyle/>
          <a:p>
            <a:pPr algn="l"/>
            <a:r>
              <a:rPr sz="1800" b="1">
                <a:solidFill>
                  <a:srgbClr val="23282D"/>
                </a:solidFill>
                <a:latin typeface="Arial"/>
              </a:rPr>
              <a:t>A 4 by 3 by 2 prism has a volume of 24 ______</a:t>
            </a:r>
          </a:p>
        </p:txBody>
      </p:sp>
      <p:sp>
        <p:nvSpPr>
          <p:cNvPr id="277" name="Rounded Rectangle 22"/>
          <p:cNvSpPr/>
          <p:nvPr/>
        </p:nvSpPr>
        <p:spPr>
          <a:xfrm>
            <a:off x="502920" y="5532120"/>
            <a:ext cx="11091672" cy="502920"/>
          </a:xfrm>
          <a:prstGeom prst="roundRect">
            <a:avLst/>
          </a:prstGeom>
          <a:solidFill>
            <a:srgbClr val="FCFCFD"/>
          </a:solidFill>
          <a:ln w="1270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E2682"/>
                </a:solidFill>
                <a:latin typeface="Arial"/>
              </a:rPr>
              <a:t>TALK IT OVER:  “I got ______ because ______.”   •   Compare with a partner before we check as a class.</a:t>
            </a:r>
          </a:p>
        </p:txBody>
      </p:sp>
      <p:sp>
        <p:nvSpPr>
          <p:cNvPr id="278"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Turn and talk: compare strategies, then defend one.</a:t>
            </a:r>
          </a:p>
        </p:txBody>
      </p:sp>
      <p:sp>
        <p:nvSpPr>
          <p:cNvPr id="27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 / 51</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5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1" name="Google Shape;521;p53"/>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2" name="Google Shape;522;p5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Math Notes</a:t>
            </a:r>
            <a:endParaRPr/>
          </a:p>
        </p:txBody>
      </p:sp>
      <p:sp>
        <p:nvSpPr>
          <p:cNvPr id="523" name="Google Shape;523;p5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5-5 · Determine the Volume of Rectangular Prisms</a:t>
            </a:r>
            <a:endParaRPr/>
          </a:p>
        </p:txBody>
      </p:sp>
      <p:sp>
        <p:nvSpPr>
          <p:cNvPr id="524" name="Google Shape;524;p5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5" name="Google Shape;525;p5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526" name="Google Shape;526;p53"/>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000" u="none" cap="none" strike="noStrike">
                <a:solidFill>
                  <a:srgbClr val="14223A"/>
                </a:solidFill>
                <a:latin typeface="Arial"/>
                <a:ea typeface="Arial"/>
                <a:cs typeface="Arial"/>
                <a:sym typeface="Arial"/>
              </a:rPr>
              <a:t>Section 1: Math Words</a:t>
            </a:r>
            <a:endParaRPr/>
          </a:p>
        </p:txBody>
      </p:sp>
      <p:sp>
        <p:nvSpPr>
          <p:cNvPr id="527" name="Google Shape;527;p53"/>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8" name="Google Shape;528;p53"/>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529" name="Google Shape;529;p53"/>
          <p:cNvSpPr/>
          <p:nvPr/>
        </p:nvSpPr>
        <p:spPr>
          <a:xfrm>
            <a:off x="640080" y="22128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0" name="Google Shape;530;p53"/>
          <p:cNvSpPr/>
          <p:nvPr/>
        </p:nvSpPr>
        <p:spPr>
          <a:xfrm>
            <a:off x="640080" y="22128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1" name="Google Shape;531;p53"/>
          <p:cNvSpPr/>
          <p:nvPr/>
        </p:nvSpPr>
        <p:spPr>
          <a:xfrm>
            <a:off x="896112" y="26334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532" name="Google Shape;532;p53"/>
          <p:cNvSpPr txBox="1"/>
          <p:nvPr/>
        </p:nvSpPr>
        <p:spPr>
          <a:xfrm>
            <a:off x="1389888" y="23591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Volume with Whole-Number Edges</a:t>
            </a:r>
            <a:endParaRPr/>
          </a:p>
        </p:txBody>
      </p:sp>
      <p:sp>
        <p:nvSpPr>
          <p:cNvPr id="533" name="Google Shape;533;p53"/>
          <p:cNvSpPr txBox="1"/>
          <p:nvPr/>
        </p:nvSpPr>
        <p:spPr>
          <a:xfrm>
            <a:off x="1389888" y="27066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The number of </a:t>
            </a:r>
            <a:r>
              <a:rPr b="1" i="0" lang="en-US" sz="1450" u="none" cap="none" strike="noStrike">
                <a:solidFill>
                  <a:srgbClr val="475569"/>
                </a:solidFill>
                <a:latin typeface="Arial"/>
                <a:ea typeface="Arial"/>
                <a:cs typeface="Arial"/>
                <a:sym typeface="Arial"/>
              </a:rPr>
              <a:t xml:space="preserve">unit cubes</a:t>
            </a:r>
            <a:r>
              <a:rPr b="0" i="0" lang="en-US" sz="1450" u="none" cap="none" strike="noStrike">
                <a:solidFill>
                  <a:srgbClr val="475569"/>
                </a:solidFill>
                <a:latin typeface="Arial"/>
                <a:ea typeface="Arial"/>
                <a:cs typeface="Arial"/>
                <a:sym typeface="Arial"/>
              </a:rPr>
              <a:t xml:space="preserve"> inside a </a:t>
            </a:r>
            <a:r>
              <a:rPr b="1" i="0" lang="en-US" sz="1450" u="none" cap="none" strike="noStrike">
                <a:solidFill>
                  <a:srgbClr val="475569"/>
                </a:solidFill>
                <a:latin typeface="Arial"/>
                <a:ea typeface="Arial"/>
                <a:cs typeface="Arial"/>
                <a:sym typeface="Arial"/>
              </a:rPr>
              <a:t xml:space="preserve">rectangular prism</a:t>
            </a:r>
            <a:endParaRPr/>
          </a:p>
        </p:txBody>
      </p:sp>
      <p:sp>
        <p:nvSpPr>
          <p:cNvPr id="534" name="Google Shape;534;p53"/>
          <p:cNvSpPr/>
          <p:nvPr/>
        </p:nvSpPr>
        <p:spPr>
          <a:xfrm>
            <a:off x="640080" y="35844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5" name="Google Shape;535;p53"/>
          <p:cNvSpPr/>
          <p:nvPr/>
        </p:nvSpPr>
        <p:spPr>
          <a:xfrm>
            <a:off x="640080" y="35844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6" name="Google Shape;536;p53"/>
          <p:cNvSpPr/>
          <p:nvPr/>
        </p:nvSpPr>
        <p:spPr>
          <a:xfrm>
            <a:off x="896112" y="40050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537" name="Google Shape;537;p53"/>
          <p:cNvSpPr txBox="1"/>
          <p:nvPr/>
        </p:nvSpPr>
        <p:spPr>
          <a:xfrm>
            <a:off x="1389888" y="37307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Volume</a:t>
            </a:r>
            <a:endParaRPr/>
          </a:p>
        </p:txBody>
      </p:sp>
      <p:sp>
        <p:nvSpPr>
          <p:cNvPr id="538" name="Google Shape;538;p53"/>
          <p:cNvSpPr txBox="1"/>
          <p:nvPr/>
        </p:nvSpPr>
        <p:spPr>
          <a:xfrm>
            <a:off x="1389888" y="40782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How much space is inside a solid shape</a:t>
            </a:r>
            <a:endParaRPr/>
          </a:p>
        </p:txBody>
      </p:sp>
      <p:sp>
        <p:nvSpPr>
          <p:cNvPr id="539" name="Google Shape;539;p53"/>
          <p:cNvSpPr/>
          <p:nvPr/>
        </p:nvSpPr>
        <p:spPr>
          <a:xfrm>
            <a:off x="640080" y="49560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0" name="Google Shape;540;p53"/>
          <p:cNvSpPr/>
          <p:nvPr/>
        </p:nvSpPr>
        <p:spPr>
          <a:xfrm>
            <a:off x="640080" y="49560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1" name="Google Shape;541;p53"/>
          <p:cNvSpPr/>
          <p:nvPr/>
        </p:nvSpPr>
        <p:spPr>
          <a:xfrm>
            <a:off x="896112" y="53766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542" name="Google Shape;542;p53"/>
          <p:cNvSpPr txBox="1"/>
          <p:nvPr/>
        </p:nvSpPr>
        <p:spPr>
          <a:xfrm>
            <a:off x="1389888" y="51023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Rectangular prism</a:t>
            </a:r>
            <a:endParaRPr/>
          </a:p>
        </p:txBody>
      </p:sp>
      <p:sp>
        <p:nvSpPr>
          <p:cNvPr id="543" name="Google Shape;543;p53"/>
          <p:cNvSpPr txBox="1"/>
          <p:nvPr/>
        </p:nvSpPr>
        <p:spPr>
          <a:xfrm>
            <a:off x="1389888" y="54498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A solid box shape with six flat rectangle sides</a:t>
            </a:r>
            <a:endParaRPr/>
          </a:p>
        </p:txBody>
      </p:sp>
      <p:sp>
        <p:nvSpPr>
          <p:cNvPr id="54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 / 51</a:t>
            </a:r>
          </a:p>
        </p:txBody>
      </p:sp>
      <p:grpSp>
        <p:nvGrpSpPr>
          <p:cNvPr id="545" name="TEACH-1-student-move" descr="TEACH 1 · Facilitate clear, standards-based content learning"/>
          <p:cNvGrpSpPr/>
          <p:nvPr/>
        </p:nvGrpSpPr>
        <p:grpSpPr>
          <a:xfrm>
            <a:off x="6187440" y="1682496"/>
            <a:ext cx="5501640" cy="594360"/>
            <a:chOff x="6187440" y="1682496"/>
            <a:chExt cx="5501640" cy="594360"/>
          </a:xfrm>
        </p:grpSpPr>
        <p:sp>
          <p:nvSpPr>
            <p:cNvPr id="546"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47"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548"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SAY THE GOAL  ·  </a:t>
              </a:r>
              <a:r>
                <a:rPr lang="en-US" sz="1200" dirty="0">
                  <a:solidFill>
                    <a:srgbClr val="13303A"/>
                  </a:solidFill>
                  <a:latin typeface="Arial"/>
                </a:rPr>
                <a:t>Say today’s goal in your own words, then name one place this shows up outside math class.</a:t>
              </a:r>
              <a:endParaRPr lang="en-US" sz="1200"/>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54"/>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9" name="Google Shape;549;p54"/>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0" name="Google Shape;550;p54"/>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Today’s Math Notes</a:t>
            </a:r>
            <a:endParaRPr/>
          </a:p>
        </p:txBody>
      </p:sp>
      <p:sp>
        <p:nvSpPr>
          <p:cNvPr id="551" name="Google Shape;551;p54"/>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5-5 · Determine the Volume of Rectangular Prisms</a:t>
            </a:r>
            <a:endParaRPr/>
          </a:p>
        </p:txBody>
      </p:sp>
      <p:sp>
        <p:nvSpPr>
          <p:cNvPr id="552" name="Google Shape;552;p54"/>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3" name="Google Shape;553;p54"/>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554" name="Google Shape;554;p54"/>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000" u="none" cap="none" strike="noStrike">
                <a:solidFill>
                  <a:srgbClr val="14223A"/>
                </a:solidFill>
                <a:latin typeface="Arial"/>
                <a:ea typeface="Arial"/>
                <a:cs typeface="Arial"/>
                <a:sym typeface="Arial"/>
              </a:rPr>
              <a:t>Section 2: Today’s Math</a:t>
            </a:r>
            <a:endParaRPr/>
          </a:p>
        </p:txBody>
      </p:sp>
      <p:sp>
        <p:nvSpPr>
          <p:cNvPr id="555" name="Google Shape;555;p54"/>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6" name="Google Shape;556;p54"/>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Copy. Explain. Check.</a:t>
            </a:r>
            <a:endParaRPr/>
          </a:p>
        </p:txBody>
      </p:sp>
      <p:sp>
        <p:nvSpPr>
          <p:cNvPr id="557" name="Google Shape;557;p54"/>
          <p:cNvSpPr/>
          <p:nvPr/>
        </p:nvSpPr>
        <p:spPr>
          <a:xfrm>
            <a:off x="640080" y="2231136"/>
            <a:ext cx="10911809" cy="749808"/>
          </a:xfrm>
          <a:prstGeom prst="roundRect">
            <a:avLst>
              <a:gd fmla="val 7000" name="adj"/>
            </a:avLst>
          </a:prstGeom>
          <a:solidFill>
            <a:srgbClr val="FDEE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8" name="Google Shape;558;p54"/>
          <p:cNvSpPr txBox="1"/>
          <p:nvPr/>
        </p:nvSpPr>
        <p:spPr>
          <a:xfrm>
            <a:off x="960120" y="2359152"/>
            <a:ext cx="10271729" cy="493775"/>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pPr>
            <a:r>
              <a:rPr b="1" i="0" lang="en-US" sz="2700" u="none" cap="none" strike="noStrike">
                <a:solidFill>
                  <a:srgbClr val="14223A"/>
                </a:solidFill>
                <a:latin typeface="Arial"/>
                <a:ea typeface="Arial"/>
                <a:cs typeface="Arial"/>
                <a:sym typeface="Arial"/>
              </a:rPr>
              <a:t>Volume of Rectangular Prisms (Whole Numbers)</a:t>
            </a:r>
            <a:endParaRPr/>
          </a:p>
        </p:txBody>
      </p:sp>
      <p:sp>
        <p:nvSpPr>
          <p:cNvPr id="559" name="Google Shape;559;p54"/>
          <p:cNvSpPr/>
          <p:nvPr/>
        </p:nvSpPr>
        <p:spPr>
          <a:xfrm>
            <a:off x="640080" y="3182112"/>
            <a:ext cx="3749039" cy="603504"/>
          </a:xfrm>
          <a:prstGeom prst="roundRect">
            <a:avLst>
              <a:gd fmla="val 12000" name="adj"/>
            </a:avLst>
          </a:prstGeom>
          <a:solidFill>
            <a:srgbClr val="FFFFFF"/>
          </a:solidFill>
          <a:ln cap="flat" cmpd="sng" w="15875">
            <a:solidFill>
              <a:srgbClr val="C2410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0" name="Google Shape;560;p54"/>
          <p:cNvSpPr txBox="1"/>
          <p:nvPr/>
        </p:nvSpPr>
        <p:spPr>
          <a:xfrm>
            <a:off x="768096" y="3264408"/>
            <a:ext cx="3493007" cy="438912"/>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550" u="none" cap="none" strike="noStrike">
                <a:solidFill>
                  <a:srgbClr val="C2410C"/>
                </a:solidFill>
                <a:latin typeface="Arial"/>
                <a:ea typeface="Arial"/>
                <a:cs typeface="Arial"/>
                <a:sym typeface="Arial"/>
              </a:rPr>
              <a:t>V = Length × Width × Height = Base Area × Height (V = l · w · h = B · h)</a:t>
            </a:r>
            <a:endParaRPr/>
          </a:p>
        </p:txBody>
      </p:sp>
      <p:sp>
        <p:nvSpPr>
          <p:cNvPr id="561" name="Google Shape;561;p54"/>
          <p:cNvSpPr/>
          <p:nvPr/>
        </p:nvSpPr>
        <p:spPr>
          <a:xfrm>
            <a:off x="640080" y="4005072"/>
            <a:ext cx="10911809" cy="62179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2" name="Google Shape;562;p54"/>
          <p:cNvSpPr/>
          <p:nvPr/>
        </p:nvSpPr>
        <p:spPr>
          <a:xfrm>
            <a:off x="896112" y="4151376"/>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1</a:t>
            </a:r>
            <a:endParaRPr/>
          </a:p>
        </p:txBody>
      </p:sp>
      <p:sp>
        <p:nvSpPr>
          <p:cNvPr id="563" name="Google Shape;563;p54"/>
          <p:cNvSpPr txBox="1"/>
          <p:nvPr/>
        </p:nvSpPr>
        <p:spPr>
          <a:xfrm>
            <a:off x="1371600" y="4087368"/>
            <a:ext cx="10043129" cy="45720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pPr>
            <a:r>
              <a:rPr b="0" i="0" lang="en-US" sz="1600" u="none" cap="none" strike="noStrike">
                <a:solidFill>
                  <a:srgbClr val="14223A"/>
                </a:solidFill>
                <a:latin typeface="Arial"/>
                <a:ea typeface="Arial"/>
                <a:cs typeface="Arial"/>
                <a:sym typeface="Arial"/>
              </a:rPr>
              <a:t xml:space="preserve">Identify the </a:t>
            </a:r>
            <a:r>
              <a:rPr b="1" i="0" lang="en-US" sz="1600" u="none" cap="none" strike="noStrike">
                <a:solidFill>
                  <a:srgbClr val="14223A"/>
                </a:solidFill>
                <a:latin typeface="Arial"/>
                <a:ea typeface="Arial"/>
                <a:cs typeface="Arial"/>
                <a:sym typeface="Arial"/>
              </a:rPr>
              <a:t xml:space="preserve">length</a:t>
            </a:r>
            <a:r>
              <a:rPr b="0" i="0" lang="en-US" sz="1600" u="none" cap="none" strike="noStrike">
                <a:solidFill>
                  <a:srgbClr val="14223A"/>
                </a:solidFill>
                <a:latin typeface="Arial"/>
                <a:ea typeface="Arial"/>
                <a:cs typeface="Arial"/>
                <a:sym typeface="Arial"/>
              </a:rPr>
              <a:t xml:space="preserve">, </a:t>
            </a:r>
            <a:r>
              <a:rPr b="1" i="0" lang="en-US" sz="1600" u="none" cap="none" strike="noStrike">
                <a:solidFill>
                  <a:srgbClr val="14223A"/>
                </a:solidFill>
                <a:latin typeface="Arial"/>
                <a:ea typeface="Arial"/>
                <a:cs typeface="Arial"/>
                <a:sym typeface="Arial"/>
              </a:rPr>
              <a:t xml:space="preserve">width</a:t>
            </a:r>
            <a:r>
              <a:rPr b="0" i="0" lang="en-US" sz="1600" u="none" cap="none" strike="noStrike">
                <a:solidFill>
                  <a:srgbClr val="14223A"/>
                </a:solidFill>
                <a:latin typeface="Arial"/>
                <a:ea typeface="Arial"/>
                <a:cs typeface="Arial"/>
                <a:sym typeface="Arial"/>
              </a:rPr>
              <a:t xml:space="preserve">, and height of the box</a:t>
            </a:r>
            <a:endParaRPr/>
          </a:p>
        </p:txBody>
      </p:sp>
      <p:sp>
        <p:nvSpPr>
          <p:cNvPr id="564" name="Google Shape;564;p54"/>
          <p:cNvSpPr/>
          <p:nvPr/>
        </p:nvSpPr>
        <p:spPr>
          <a:xfrm>
            <a:off x="640080" y="4773168"/>
            <a:ext cx="10911809" cy="62179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5" name="Google Shape;565;p54"/>
          <p:cNvSpPr/>
          <p:nvPr/>
        </p:nvSpPr>
        <p:spPr>
          <a:xfrm>
            <a:off x="896112" y="4919472"/>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2</a:t>
            </a:r>
            <a:endParaRPr/>
          </a:p>
        </p:txBody>
      </p:sp>
      <p:sp>
        <p:nvSpPr>
          <p:cNvPr id="566" name="Google Shape;566;p54"/>
          <p:cNvSpPr txBox="1"/>
          <p:nvPr/>
        </p:nvSpPr>
        <p:spPr>
          <a:xfrm>
            <a:off x="1371600" y="4855464"/>
            <a:ext cx="10043129" cy="45720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pPr>
            <a:r>
              <a:rPr b="0" i="0" lang="en-US" sz="1600" u="none" cap="none" strike="noStrike">
                <a:solidFill>
                  <a:srgbClr val="14223A"/>
                </a:solidFill>
                <a:latin typeface="Arial"/>
                <a:ea typeface="Arial"/>
                <a:cs typeface="Arial"/>
                <a:sym typeface="Arial"/>
              </a:rPr>
              <a:t xml:space="preserve">Multiply </a:t>
            </a:r>
            <a:r>
              <a:rPr b="1" i="0" lang="en-US" sz="1600" u="none" cap="none" strike="noStrike">
                <a:solidFill>
                  <a:srgbClr val="14223A"/>
                </a:solidFill>
                <a:latin typeface="Arial"/>
                <a:ea typeface="Arial"/>
                <a:cs typeface="Arial"/>
                <a:sym typeface="Arial"/>
              </a:rPr>
              <a:t xml:space="preserve">base area</a:t>
            </a:r>
            <a:r>
              <a:rPr b="0" i="0" lang="en-US" sz="1600" u="none" cap="none" strike="noStrike">
                <a:solidFill>
                  <a:srgbClr val="14223A"/>
                </a:solidFill>
                <a:latin typeface="Arial"/>
                <a:ea typeface="Arial"/>
                <a:cs typeface="Arial"/>
                <a:sym typeface="Arial"/>
              </a:rPr>
              <a:t xml:space="preserve"> (l × w) by </a:t>
            </a:r>
            <a:r>
              <a:rPr b="1" i="0" lang="en-US" sz="1600" u="none" cap="none" strike="noStrike">
                <a:solidFill>
                  <a:srgbClr val="14223A"/>
                </a:solidFill>
                <a:latin typeface="Arial"/>
                <a:ea typeface="Arial"/>
                <a:cs typeface="Arial"/>
                <a:sym typeface="Arial"/>
              </a:rPr>
              <a:t xml:space="preserve">height</a:t>
            </a:r>
            <a:r>
              <a:rPr b="0" i="0" lang="en-US" sz="1600" u="none" cap="none" strike="noStrike">
                <a:solidFill>
                  <a:srgbClr val="14223A"/>
                </a:solidFill>
                <a:latin typeface="Arial"/>
                <a:ea typeface="Arial"/>
                <a:cs typeface="Arial"/>
                <a:sym typeface="Arial"/>
              </a:rPr>
              <a:t xml:space="preserve"> (h)</a:t>
            </a:r>
            <a:endParaRPr/>
          </a:p>
        </p:txBody>
      </p:sp>
      <p:sp>
        <p:nvSpPr>
          <p:cNvPr id="567" name="Google Shape;567;p54"/>
          <p:cNvSpPr/>
          <p:nvPr/>
        </p:nvSpPr>
        <p:spPr>
          <a:xfrm>
            <a:off x="640080" y="5541264"/>
            <a:ext cx="10911809" cy="62179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8" name="Google Shape;568;p54"/>
          <p:cNvSpPr/>
          <p:nvPr/>
        </p:nvSpPr>
        <p:spPr>
          <a:xfrm>
            <a:off x="896112" y="5687568"/>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3</a:t>
            </a:r>
            <a:endParaRPr/>
          </a:p>
        </p:txBody>
      </p:sp>
      <p:sp>
        <p:nvSpPr>
          <p:cNvPr id="569" name="Google Shape;569;p54"/>
          <p:cNvSpPr txBox="1"/>
          <p:nvPr/>
        </p:nvSpPr>
        <p:spPr>
          <a:xfrm>
            <a:off x="1371600" y="5623560"/>
            <a:ext cx="10043129" cy="45720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pPr>
            <a:r>
              <a:rPr b="0" i="0" lang="en-US" sz="1600" u="none" cap="none" strike="noStrike">
                <a:solidFill>
                  <a:srgbClr val="14223A"/>
                </a:solidFill>
                <a:latin typeface="Arial"/>
                <a:ea typeface="Arial"/>
                <a:cs typeface="Arial"/>
                <a:sym typeface="Arial"/>
              </a:rPr>
              <a:t xml:space="preserve">Label answer in </a:t>
            </a:r>
            <a:r>
              <a:rPr b="1" i="0" lang="en-US" sz="1600" u="none" cap="none" strike="noStrike">
                <a:solidFill>
                  <a:srgbClr val="14223A"/>
                </a:solidFill>
                <a:latin typeface="Arial"/>
                <a:ea typeface="Arial"/>
                <a:cs typeface="Arial"/>
                <a:sym typeface="Arial"/>
              </a:rPr>
              <a:t xml:space="preserve">cubic units</a:t>
            </a:r>
            <a:r>
              <a:rPr b="0" i="0" lang="en-US" sz="1600" u="none" cap="none" strike="noStrike">
                <a:solidFill>
                  <a:srgbClr val="14223A"/>
                </a:solidFill>
                <a:latin typeface="Arial"/>
                <a:ea typeface="Arial"/>
                <a:cs typeface="Arial"/>
                <a:sym typeface="Arial"/>
              </a:rPr>
              <a:t xml:space="preserve"> (e.g. in³, cm³, ft³)</a:t>
            </a:r>
            <a:endParaRPr/>
          </a:p>
        </p:txBody>
      </p:sp>
      <p:sp>
        <p:nvSpPr>
          <p:cNvPr id="57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 / 51</a:t>
            </a:r>
          </a:p>
        </p:txBody>
      </p:sp>
      <p:sp xmlns:p="http://schemas.openxmlformats.org/presentationml/2006/main" xmlns:a="http://schemas.openxmlformats.org/drawingml/2006/main">
        <p:nvSpPr>
          <p:cNvPr id="571" name="TEACH-embedded-student-prompt" descr="Student thinking and response directions"/>
          <p:cNvSpPr txBox="1"/>
          <p:nvPr/>
        </p:nvSpPr>
        <p:spPr>
          <a:xfrm>
            <a:off x="6111240" y="312724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Read, cover, explain. Reopen your notes to</a:t>
            </a:r>
            <a:endParaRPr lang="en-US" sz="2000"/>
          </a:p>
          <a:p>
            <a:pPr>
              <a:lnSpc>
                <a:spcPts val="2400"/>
              </a:lnSpc>
              <a:buNone/>
            </a:pPr>
            <a:r>
              <a:rPr lang="en-US" sz="2000">
                <a:solidFill>
                  <a:srgbClr val="174D60"/>
                </a:solidFill>
                <a:latin typeface="Arial"/>
              </a:rPr>
              <a:t>check and improve your explanation.</a:t>
            </a:r>
            <a:endParaRPr lang="en-US" sz="20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40"/>
          <p:cNvSpPr txBox="1"/>
          <p:nvPr/>
        </p:nvSpPr>
        <p:spPr>
          <a:xfrm>
            <a:off x="1402828" y="2453950"/>
            <a:ext cx="7741172" cy="135909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Arial"/>
              <a:buNone/>
              <a:defRPr/>
            </a:pPr>
            <a:r>
              <a:rPr b="1" i="0" lang="en-US" sz="3600" u="none" cap="none" strike="noStrike">
                <a:solidFill>
                  <a:schemeClr val="dk1"/>
                </a:solidFill>
                <a:latin typeface="Arial"/>
                <a:ea typeface="Arial"/>
                <a:cs typeface="Arial"/>
                <a:sym typeface="Arial"/>
              </a:rPr>
              <a:t>Determine the Volume of a Rectangular Prism​</a:t>
            </a:r>
            <a:endParaRPr b="0" i="0" sz="1400" u="none" cap="none" strike="noStrike">
              <a:solidFill>
                <a:srgbClr val="000000"/>
              </a:solidFill>
              <a:latin typeface="Arial"/>
              <a:ea typeface="Arial"/>
              <a:cs typeface="Arial"/>
              <a:sym typeface="Arial"/>
            </a:endParaRPr>
          </a:p>
        </p:txBody>
      </p:sp>
      <p:sp>
        <p:nvSpPr>
          <p:cNvPr id="234" name="Google Shape;234;p40"/>
          <p:cNvSpPr/>
          <p:nvPr/>
        </p:nvSpPr>
        <p:spPr>
          <a:xfrm>
            <a:off x="1402828" y="1037162"/>
            <a:ext cx="1763624"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rgbClr val="782DA0"/>
                </a:solidFill>
                <a:latin typeface="Arial"/>
                <a:ea typeface="Arial"/>
                <a:cs typeface="Arial"/>
                <a:sym typeface="Arial"/>
              </a:rPr>
              <a:t>Session 1</a:t>
            </a:r>
            <a:endParaRPr b="1" i="0" sz="2800" u="none" cap="none" strike="noStrike">
              <a:solidFill>
                <a:srgbClr val="782DA0"/>
              </a:solidFill>
              <a:latin typeface="Arial"/>
              <a:ea typeface="Arial"/>
              <a:cs typeface="Arial"/>
              <a:sym typeface="Arial"/>
            </a:endParaRPr>
          </a:p>
        </p:txBody>
      </p:sp>
      <p:cxnSp>
        <p:nvCxnSpPr>
          <p:cNvPr id="235" name="Google Shape;235;p40"/>
          <p:cNvCxnSpPr/>
          <p:nvPr/>
        </p:nvCxnSpPr>
        <p:spPr>
          <a:xfrm>
            <a:off x="-1" y="1560382"/>
            <a:ext cx="3166453" cy="0"/>
          </a:xfrm>
          <a:prstGeom prst="straightConnector1">
            <a:avLst/>
          </a:prstGeom>
          <a:noFill/>
          <a:ln cap="flat" cmpd="sng" w="19050">
            <a:solidFill>
              <a:srgbClr val="782DA0"/>
            </a:solidFill>
            <a:prstDash val="solid"/>
            <a:miter lim="80"/>
            <a:headEnd len="sm" w="sm" type="none"/>
            <a:tailEnd len="sm" w="sm" type="none"/>
          </a:ln>
        </p:spPr>
      </p:cxnSp>
      <p:sp>
        <p:nvSpPr>
          <p:cNvPr id="23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 / 51</a:t>
            </a:r>
          </a:p>
        </p:txBody>
      </p:sp>
      <p:grpSp>
        <p:nvGrpSpPr>
          <p:cNvPr id="237" name="TEACH-2-student-move" descr="TEACH 2 · Use strategies and tasks to engage students in rigorous work"/>
          <p:cNvGrpSpPr/>
          <p:nvPr/>
        </p:nvGrpSpPr>
        <p:grpSpPr>
          <a:xfrm>
            <a:off x="502920" y="3867612"/>
            <a:ext cx="11186160" cy="731520"/>
            <a:chOff x="502920" y="3867612"/>
            <a:chExt cx="11186160" cy="731520"/>
          </a:xfrm>
        </p:grpSpPr>
        <p:sp>
          <p:nvSpPr>
            <p:cNvPr id="238" name="TEACH-move-card"/>
            <p:cNvSpPr/>
            <p:nvPr/>
          </p:nvSpPr>
          <p:spPr>
            <a:xfrm>
              <a:off x="502920" y="3867612"/>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239" name="TEACH-move-rule"/>
            <p:cNvSpPr/>
            <p:nvPr/>
          </p:nvSpPr>
          <p:spPr>
            <a:xfrm>
              <a:off x="548640" y="4006601"/>
              <a:ext cx="100584" cy="453542"/>
            </a:xfrm>
            <a:prstGeom prst="roundRect">
              <a:avLst>
                <a:gd name="adj" fmla="val 50000"/>
              </a:avLst>
            </a:prstGeom>
            <a:solidFill>
              <a:srgbClr val="01708C"/>
            </a:solidFill>
            <a:ln>
              <a:noFill/>
            </a:ln>
          </p:spPr>
          <p:txBody>
            <a:bodyPr/>
            <a:lstStyle/>
            <a:p>
              <a:endParaRPr/>
            </a:p>
          </p:txBody>
        </p:sp>
        <p:sp>
          <p:nvSpPr>
            <p:cNvPr id="240" name="TEACH-move-text"/>
            <p:cNvSpPr txBox="1"/>
            <p:nvPr/>
          </p:nvSpPr>
          <p:spPr>
            <a:xfrm>
              <a:off x="822960" y="3867612"/>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PICK YOUR STRATEGY  ·  </a:t>
              </a:r>
              <a:r>
                <a:rPr lang="en-US" sz="1800" dirty="0">
                  <a:solidFill>
                    <a:srgbClr val="13303A"/>
                  </a:solidFill>
                  <a:latin typeface="Arial"/>
                </a:rPr>
                <a:t>Choose your path — picture, table, number line, or equation — and be ready to say why you chose it.</a:t>
              </a:r>
              <a:endParaRPr lang="en-US" sz="1800"/>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cxnSp>
        <p:nvCxnSpPr>
          <p:cNvPr id="240" name="Google Shape;240;p4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241" name="Google Shape;241;p41"/>
          <p:cNvSpPr txBox="1"/>
          <p:nvPr/>
        </p:nvSpPr>
        <p:spPr>
          <a:xfrm>
            <a:off x="505579" y="316034"/>
            <a:ext cx="4252852"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This or That</a:t>
            </a:r>
            <a:endParaRPr b="0" i="0" sz="1400" u="none" cap="none" strike="noStrike">
              <a:solidFill>
                <a:srgbClr val="000000"/>
              </a:solidFill>
              <a:latin typeface="Arial"/>
              <a:ea typeface="Arial"/>
              <a:cs typeface="Arial"/>
              <a:sym typeface="Arial"/>
            </a:endParaRPr>
          </a:p>
        </p:txBody>
      </p:sp>
      <p:sp>
        <p:nvSpPr>
          <p:cNvPr id="242" name="Google Shape;242;p41"/>
          <p:cNvSpPr txBox="1"/>
          <p:nvPr/>
        </p:nvSpPr>
        <p:spPr>
          <a:xfrm>
            <a:off x="484560" y="936101"/>
            <a:ext cx="7719988" cy="6611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Would you rather have THIS or THAT points?</a:t>
            </a:r>
            <a:endParaRPr b="0" i="0" sz="1400" u="none" cap="none" strike="noStrike">
              <a:solidFill>
                <a:srgbClr val="000000"/>
              </a:solidFill>
              <a:latin typeface="Arial"/>
              <a:ea typeface="Arial"/>
              <a:cs typeface="Arial"/>
              <a:sym typeface="Arial"/>
            </a:endParaRPr>
          </a:p>
        </p:txBody>
      </p:sp>
      <p:graphicFrame>
        <p:nvGraphicFramePr>
          <p:cNvPr id="243" name="Google Shape;243;p41"/>
          <p:cNvGraphicFramePr/>
          <p:nvPr/>
        </p:nvGraphicFramePr>
        <p:xfrm>
          <a:off x="505579" y="2401762"/>
          <a:ext cx="3000000" cy="3000000"/>
        </p:xfrm>
        <a:graphic>
          <a:graphicData uri="http://schemas.openxmlformats.org/drawingml/2006/table">
            <a:tbl>
              <a:tblPr bandRow="1" firstRow="1">
                <a:noFill/>
                <a:tableStyleId>{357B1600-6CBF-4A68-8487-D91FB864CBA1}</a:tableStyleId>
              </a:tblPr>
              <a:tblGrid>
                <a:gridCol w="2959075"/>
                <a:gridCol w="2959075"/>
              </a:tblGrid>
              <a:tr h="603100">
                <a:tc>
                  <a:txBody>
                    <a:bodyPr/>
                    <a:lstStyle/>
                    <a:p>
                      <a:pPr indent="0" lvl="0" marL="0" marR="0" rtl="0" algn="ctr">
                        <a:lnSpc>
                          <a:spcPct val="100000"/>
                        </a:lnSpc>
                        <a:spcBef>
                          <a:spcPts val="0"/>
                        </a:spcBef>
                        <a:spcAft>
                          <a:spcPts val="0"/>
                        </a:spcAft>
                        <a:buClr>
                          <a:srgbClr val="000000"/>
                        </a:buClr>
                        <a:buSzPts val="2800"/>
                        <a:buFont typeface="Arial"/>
                        <a:buNone/>
                      </a:pPr>
                      <a:r>
                        <a:rPr b="1" lang="en-US" sz="2800" u="none" cap="none" strike="noStrike">
                          <a:solidFill>
                            <a:schemeClr val="lt1"/>
                          </a:solidFill>
                          <a:latin typeface="Arial"/>
                          <a:ea typeface="Arial"/>
                          <a:cs typeface="Arial"/>
                          <a:sym typeface="Arial"/>
                        </a:rPr>
                        <a:t>THIS</a:t>
                      </a:r>
                      <a:endParaRPr i="1" sz="2800" u="none" cap="none" strike="noStrike">
                        <a:latin typeface="Arial"/>
                        <a:ea typeface="Arial"/>
                        <a:cs typeface="Arial"/>
                        <a:sym typeface="Arial"/>
                      </a:endParaRPr>
                    </a:p>
                  </a:txBody>
                  <a:tcPr marT="45725" marB="45725" marR="91450" marL="91450" anchor="ctr">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solidFill>
                      <a:srgbClr val="695B9A"/>
                    </a:solidFill>
                  </a:tcPr>
                </a:tc>
                <a:tc>
                  <a:txBody>
                    <a:bodyPr/>
                    <a:lstStyle/>
                    <a:p>
                      <a:pPr indent="0" lvl="0" marL="0" marR="0" rtl="0" algn="ctr">
                        <a:lnSpc>
                          <a:spcPct val="100000"/>
                        </a:lnSpc>
                        <a:spcBef>
                          <a:spcPts val="0"/>
                        </a:spcBef>
                        <a:spcAft>
                          <a:spcPts val="0"/>
                        </a:spcAft>
                        <a:buClr>
                          <a:srgbClr val="000000"/>
                        </a:buClr>
                        <a:buSzPts val="2800"/>
                        <a:buFont typeface="Arial"/>
                        <a:buNone/>
                      </a:pPr>
                      <a:r>
                        <a:rPr b="1" lang="en-US" sz="2800" u="none" cap="none" strike="noStrike">
                          <a:solidFill>
                            <a:schemeClr val="lt1"/>
                          </a:solidFill>
                          <a:latin typeface="Arial"/>
                          <a:ea typeface="Arial"/>
                          <a:cs typeface="Arial"/>
                          <a:sym typeface="Arial"/>
                        </a:rPr>
                        <a:t>THAT</a:t>
                      </a:r>
                      <a:endParaRPr i="1" sz="2800" u="none" cap="none" strike="noStrike">
                        <a:latin typeface="Arial"/>
                        <a:ea typeface="Arial"/>
                        <a:cs typeface="Arial"/>
                        <a:sym typeface="Arial"/>
                      </a:endParaRPr>
                    </a:p>
                  </a:txBody>
                  <a:tcPr marT="45725" marB="45725" marR="91450" marL="91450" anchor="ctr">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solidFill>
                      <a:srgbClr val="695B9A"/>
                    </a:solidFill>
                  </a:tcPr>
                </a:tc>
              </a:tr>
              <a:tr h="890275">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12700">
                      <a:solidFill>
                        <a:srgbClr val="BFBFBF"/>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r>
              <a:tr h="890275">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12700">
                      <a:solidFill>
                        <a:srgbClr val="BFBFBF"/>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r>
              <a:tr h="893075">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12700">
                      <a:solidFill>
                        <a:srgbClr val="BFBFBF"/>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r>
            </a:tbl>
          </a:graphicData>
        </a:graphic>
      </p:graphicFrame>
      <p:sp>
        <p:nvSpPr>
          <p:cNvPr id="244" name="Google Shape;244;p41"/>
          <p:cNvSpPr/>
          <p:nvPr/>
        </p:nvSpPr>
        <p:spPr>
          <a:xfrm>
            <a:off x="505579" y="1885232"/>
            <a:ext cx="5918162" cy="52322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Points</a:t>
            </a:r>
            <a:endParaRPr b="0" i="0" sz="1400" u="none" cap="none" strike="noStrike">
              <a:solidFill>
                <a:srgbClr val="000000"/>
              </a:solidFill>
              <a:latin typeface="Arial"/>
              <a:ea typeface="Arial"/>
              <a:cs typeface="Arial"/>
              <a:sym typeface="Arial"/>
            </a:endParaRPr>
          </a:p>
        </p:txBody>
      </p:sp>
      <p:sp>
        <p:nvSpPr>
          <p:cNvPr id="24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 / 51</a:t>
            </a:r>
          </a:p>
        </p:txBody>
      </p:sp>
      <p:sp xmlns:p="http://schemas.openxmlformats.org/presentationml/2006/main" xmlns:a="http://schemas.openxmlformats.org/drawingml/2006/main">
        <p:nvSpPr>
          <p:cNvPr id="246"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 work supports your answer?</a:t>
            </a:r>
            <a:endParaRPr lang="en-US" sz="2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44"/>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3" name="Google Shape;333;p44"/>
          <p:cNvSpPr/>
          <p:nvPr/>
        </p:nvSpPr>
        <p:spPr>
          <a:xfrm>
            <a:off x="0" y="0"/>
            <a:ext cx="12191969" cy="713232"/>
          </a:xfrm>
          <a:prstGeom prst="rect">
            <a:avLst/>
          </a:prstGeom>
          <a:solidFill>
            <a:srgbClr val="0F76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4" name="Google Shape;334;p44"/>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Objectives</a:t>
            </a:r>
            <a:endParaRPr/>
          </a:p>
        </p:txBody>
      </p:sp>
      <p:sp>
        <p:nvSpPr>
          <p:cNvPr id="335" name="Google Shape;335;p44"/>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5-5 · Determine the Volume of Rectangular Prisms</a:t>
            </a:r>
            <a:endParaRPr/>
          </a:p>
        </p:txBody>
      </p:sp>
      <p:sp>
        <p:nvSpPr>
          <p:cNvPr id="336" name="Google Shape;336;p44"/>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7" name="Google Shape;337;p44"/>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338" name="Google Shape;338;p44"/>
          <p:cNvSpPr txBox="1"/>
          <p:nvPr/>
        </p:nvSpPr>
        <p:spPr>
          <a:xfrm>
            <a:off x="640080" y="969264"/>
            <a:ext cx="10911809" cy="631952"/>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defRPr/>
            </a:pPr>
            <a:r>
              <a:rPr b="1" i="0" lang="en-US" sz="3800" u="none" cap="none" strike="noStrike">
                <a:solidFill>
                  <a:srgbClr val="14223A"/>
                </a:solidFill>
                <a:latin typeface="Arial"/>
                <a:ea typeface="Arial"/>
                <a:cs typeface="Arial"/>
                <a:sym typeface="Arial"/>
              </a:rPr>
              <a:t>Determine the Volume of Rectangular Prisms</a:t>
            </a:r>
            <a:endParaRPr/>
          </a:p>
        </p:txBody>
      </p:sp>
      <p:sp>
        <p:nvSpPr>
          <p:cNvPr id="339" name="Google Shape;339;p44"/>
          <p:cNvSpPr txBox="1"/>
          <p:nvPr/>
        </p:nvSpPr>
        <p:spPr>
          <a:xfrm>
            <a:off x="640080" y="1637792"/>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475569"/>
                </a:solidFill>
                <a:latin typeface="Arial"/>
                <a:ea typeface="Arial"/>
                <a:cs typeface="Arial"/>
                <a:sym typeface="Arial"/>
              </a:rPr>
              <a:t>Maryland Standard 6.GR.2</a:t>
            </a:r>
            <a:endParaRPr/>
          </a:p>
        </p:txBody>
      </p:sp>
      <p:sp>
        <p:nvSpPr>
          <p:cNvPr id="340" name="Google Shape;340;p44"/>
          <p:cNvSpPr/>
          <p:nvPr/>
        </p:nvSpPr>
        <p:spPr>
          <a:xfrm>
            <a:off x="640080" y="2432304"/>
            <a:ext cx="5349240" cy="3621024"/>
          </a:xfrm>
          <a:prstGeom prst="roundRect">
            <a:avLst>
              <a:gd fmla="val 4500" name="adj"/>
            </a:avLst>
          </a:prstGeom>
          <a:solidFill>
            <a:srgbClr val="E3F2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1" name="Google Shape;341;p44"/>
          <p:cNvSpPr/>
          <p:nvPr/>
        </p:nvSpPr>
        <p:spPr>
          <a:xfrm>
            <a:off x="640080" y="2432304"/>
            <a:ext cx="118872" cy="3621024"/>
          </a:xfrm>
          <a:prstGeom prst="rect">
            <a:avLst/>
          </a:prstGeom>
          <a:solidFill>
            <a:srgbClr val="0F76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2" name="Google Shape;342;p44"/>
          <p:cNvSpPr txBox="1"/>
          <p:nvPr/>
        </p:nvSpPr>
        <p:spPr>
          <a:xfrm>
            <a:off x="1097280" y="2798064"/>
            <a:ext cx="448055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0F766E"/>
                </a:solidFill>
                <a:latin typeface="Arial"/>
                <a:ea typeface="Arial"/>
                <a:cs typeface="Arial"/>
                <a:sym typeface="Arial"/>
              </a:rPr>
              <a:t>CONTENT OBJECTIVE</a:t>
            </a:r>
            <a:endParaRPr/>
          </a:p>
        </p:txBody>
      </p:sp>
      <p:sp>
        <p:nvSpPr>
          <p:cNvPr id="343" name="Google Shape;343;p44"/>
          <p:cNvSpPr txBox="1"/>
          <p:nvPr/>
        </p:nvSpPr>
        <p:spPr>
          <a:xfrm>
            <a:off x="1097280" y="3127248"/>
            <a:ext cx="44805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Restate the goal in your words</a:t>
            </a:r>
            <a:endParaRPr/>
          </a:p>
        </p:txBody>
      </p:sp>
      <p:sp>
        <p:nvSpPr>
          <p:cNvPr id="344" name="Google Shape;344;p44"/>
          <p:cNvSpPr txBox="1"/>
          <p:nvPr/>
        </p:nvSpPr>
        <p:spPr>
          <a:xfrm>
            <a:off x="1097280" y="3602736"/>
            <a:ext cx="4480559" cy="2048256"/>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defRPr/>
            </a:pPr>
            <a:r>
              <a:rPr b="1" i="0" lang="en-US" sz="2500" u="none" cap="none" strike="noStrike">
                <a:solidFill>
                  <a:srgbClr val="14223A"/>
                </a:solidFill>
                <a:latin typeface="Arial"/>
                <a:ea typeface="Arial"/>
                <a:cs typeface="Arial"/>
                <a:sym typeface="Arial"/>
              </a:rPr>
              <a:t>I can find the volume of a rectangular prism with whole-number edges using length × width × height.</a:t>
            </a:r>
            <a:endParaRPr/>
          </a:p>
        </p:txBody>
      </p:sp>
      <p:sp>
        <p:nvSpPr>
          <p:cNvPr id="345" name="Google Shape;345;p44"/>
          <p:cNvSpPr/>
          <p:nvPr/>
        </p:nvSpPr>
        <p:spPr>
          <a:xfrm>
            <a:off x="6382512" y="2432304"/>
            <a:ext cx="5349240" cy="3621024"/>
          </a:xfrm>
          <a:prstGeom prst="roundRect">
            <a:avLst>
              <a:gd fmla="val 4500" name="adj"/>
            </a:avLst>
          </a:prstGeom>
          <a:solidFill>
            <a:srgbClr val="FDEE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6" name="Google Shape;346;p44"/>
          <p:cNvSpPr/>
          <p:nvPr/>
        </p:nvSpPr>
        <p:spPr>
          <a:xfrm>
            <a:off x="6382512" y="2432304"/>
            <a:ext cx="118872" cy="3621024"/>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7" name="Google Shape;347;p44"/>
          <p:cNvSpPr txBox="1"/>
          <p:nvPr/>
        </p:nvSpPr>
        <p:spPr>
          <a:xfrm>
            <a:off x="6839712" y="2798064"/>
            <a:ext cx="448055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C2410C"/>
                </a:solidFill>
                <a:latin typeface="Arial"/>
                <a:ea typeface="Arial"/>
                <a:cs typeface="Arial"/>
                <a:sym typeface="Arial"/>
              </a:rPr>
              <a:t>LANGUAGE OBJECTIVE</a:t>
            </a:r>
            <a:endParaRPr/>
          </a:p>
        </p:txBody>
      </p:sp>
      <p:sp>
        <p:nvSpPr>
          <p:cNvPr id="348" name="Google Shape;348;p44"/>
          <p:cNvSpPr txBox="1"/>
          <p:nvPr/>
        </p:nvSpPr>
        <p:spPr>
          <a:xfrm>
            <a:off x="6839712" y="3127248"/>
            <a:ext cx="44805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Use these words to explain why</a:t>
            </a:r>
            <a:endParaRPr/>
          </a:p>
        </p:txBody>
      </p:sp>
      <p:sp>
        <p:nvSpPr>
          <p:cNvPr id="349" name="Google Shape;349;p44"/>
          <p:cNvSpPr txBox="1"/>
          <p:nvPr/>
        </p:nvSpPr>
        <p:spPr>
          <a:xfrm>
            <a:off x="6839712" y="3602736"/>
            <a:ext cx="4480559" cy="2048256"/>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defRPr/>
            </a:pPr>
            <a:r>
              <a:rPr b="1" i="0" lang="en-US" sz="2500" u="none" cap="none" strike="noStrike">
                <a:solidFill>
                  <a:srgbClr val="14223A"/>
                </a:solidFill>
                <a:latin typeface="Arial"/>
                <a:ea typeface="Arial"/>
                <a:cs typeface="Arial"/>
                <a:sym typeface="Arial"/>
              </a:rPr>
              <a:t>I can explain my work using the words volume, rectangular prism, cubic units, and edge.</a:t>
            </a:r>
            <a:endParaRPr/>
          </a:p>
        </p:txBody>
      </p:sp>
      <p:sp>
        <p:nvSpPr>
          <p:cNvPr id="35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6 / 51</a:t>
            </a:r>
          </a:p>
        </p:txBody>
      </p:sp>
      <p:grpSp>
        <p:nvGrpSpPr>
          <p:cNvPr id="351" name="TEACH-1-student-move" descr="TEACH 1 · Facilitate clear, standards-based content learning"/>
          <p:cNvGrpSpPr/>
          <p:nvPr/>
        </p:nvGrpSpPr>
        <p:grpSpPr>
          <a:xfrm>
            <a:off x="502920" y="1993392"/>
            <a:ext cx="11186160" cy="402336"/>
            <a:chOff x="502920" y="1993392"/>
            <a:chExt cx="11186160" cy="402336"/>
          </a:xfrm>
        </p:grpSpPr>
        <p:sp>
          <p:nvSpPr>
            <p:cNvPr id="352" name="TEACH-move-card"/>
            <p:cNvSpPr/>
            <p:nvPr/>
          </p:nvSpPr>
          <p:spPr>
            <a:xfrm>
              <a:off x="502920" y="1993392"/>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353" name="TEACH-move-rule"/>
            <p:cNvSpPr/>
            <p:nvPr/>
          </p:nvSpPr>
          <p:spPr>
            <a:xfrm>
              <a:off x="548640" y="2069836"/>
              <a:ext cx="100584" cy="249448"/>
            </a:xfrm>
            <a:prstGeom prst="roundRect">
              <a:avLst>
                <a:gd name="adj" fmla="val 50000"/>
              </a:avLst>
            </a:prstGeom>
            <a:solidFill>
              <a:srgbClr val="01708C"/>
            </a:solidFill>
            <a:ln>
              <a:noFill/>
            </a:ln>
          </p:spPr>
          <p:txBody>
            <a:bodyPr/>
            <a:lstStyle/>
            <a:p>
              <a:endParaRPr/>
            </a:p>
          </p:txBody>
        </p:sp>
        <p:sp>
          <p:nvSpPr>
            <p:cNvPr id="354" name="TEACH-move-text"/>
            <p:cNvSpPr txBox="1"/>
            <p:nvPr/>
          </p:nvSpPr>
          <p:spPr>
            <a:xfrm>
              <a:off x="822960" y="1993392"/>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CONNECT IT  ·  </a:t>
              </a:r>
              <a:r>
                <a:rPr lang="en-US" sz="1200" dirty="0">
                  <a:solidFill>
                    <a:srgbClr val="13303A"/>
                  </a:solidFill>
                  <a:latin typeface="Arial"/>
                </a:rPr>
                <a:t>What earlier lesson does this build on? Tell a partner in one sentence.</a:t>
              </a:r>
              <a:endParaRPr lang="en-US" sz="1200"/>
            </a:p>
          </p:txBody>
        </p:sp>
      </p:gr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5.5  /  OUR LEARNING</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What will show your learning?</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Oval 4"/>
          <p:cNvSpPr/>
          <p:nvPr/>
        </p:nvSpPr>
        <p:spPr>
          <a:xfrm>
            <a:off x="640080" y="1874519"/>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29384"/>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1</a:t>
            </a:r>
          </a:p>
        </p:txBody>
      </p:sp>
      <p:sp>
        <p:nvSpPr>
          <p:cNvPr id="7" name="TextBox 6"/>
          <p:cNvSpPr txBox="1"/>
          <p:nvPr/>
        </p:nvSpPr>
        <p:spPr>
          <a:xfrm>
            <a:off x="1399032" y="1856231"/>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Connect unit-cube layers to volume.</a:t>
            </a:r>
          </a:p>
        </p:txBody>
      </p:sp>
      <p:sp>
        <p:nvSpPr>
          <p:cNvPr id="8" name="Oval 7"/>
          <p:cNvSpPr/>
          <p:nvPr/>
        </p:nvSpPr>
        <p:spPr>
          <a:xfrm>
            <a:off x="640080" y="2862072"/>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2916936"/>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2</a:t>
            </a:r>
          </a:p>
        </p:txBody>
      </p:sp>
      <p:sp>
        <p:nvSpPr>
          <p:cNvPr id="10" name="TextBox 9"/>
          <p:cNvSpPr txBox="1"/>
          <p:nvPr/>
        </p:nvSpPr>
        <p:spPr>
          <a:xfrm>
            <a:off x="1399032" y="2843784"/>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Use fractional edges when present.</a:t>
            </a:r>
          </a:p>
        </p:txBody>
      </p:sp>
      <p:sp>
        <p:nvSpPr>
          <p:cNvPr id="11" name="Oval 10"/>
          <p:cNvSpPr/>
          <p:nvPr/>
        </p:nvSpPr>
        <p:spPr>
          <a:xfrm>
            <a:off x="640080" y="3849624"/>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5528" y="3904487"/>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3</a:t>
            </a:r>
          </a:p>
        </p:txBody>
      </p:sp>
      <p:sp>
        <p:nvSpPr>
          <p:cNvPr id="13" name="TextBox 12"/>
          <p:cNvSpPr txBox="1"/>
          <p:nvPr/>
        </p:nvSpPr>
        <p:spPr>
          <a:xfrm>
            <a:off x="1399032" y="3831336"/>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Recover a missing dimension.</a:t>
            </a:r>
          </a:p>
        </p:txBody>
      </p:sp>
      <p:sp>
        <p:nvSpPr>
          <p:cNvPr id="14" name="Rounded Rectangle 13"/>
          <p:cNvSpPr/>
          <p:nvPr/>
        </p:nvSpPr>
        <p:spPr>
          <a:xfrm>
            <a:off x="594360" y="5120640"/>
            <a:ext cx="10972800" cy="822960"/>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5303520"/>
            <a:ext cx="10469880" cy="438912"/>
          </a:xfrm>
          <a:prstGeom prst="rect">
            <a:avLst/>
          </a:prstGeom>
          <a:noFill/>
        </p:spPr>
        <p:txBody>
          <a:bodyPr wrap="square" lIns="0" rIns="0" tIns="22860" bIns="0">
            <a:spAutoFit/>
          </a:bodyPr>
          <a:lstStyle/>
          <a:p>
            <a:pPr>
              <a:spcAft>
                <a:spcPts val="800"/>
              </a:spcAft>
              <a:defRPr sz="2200" b="0">
                <a:solidFill>
                  <a:srgbClr val="096B69"/>
                </a:solidFill>
                <a:latin typeface="Arial"/>
              </a:defRPr>
            </a:pPr>
            <a:r>
              <a:rPr/>
              <a:t>Tell a partner: Which skill connects to something you already know?</a:t>
            </a:r>
          </a:p>
        </p:txBody>
      </p:sp>
      <p:grpSp>
        <p:nvGrpSpPr>
          <p:cNvPr id="16" name="TEACH-1-student-move" descr="TEACH 1 · Facilitate clear, standards-based content learning"/>
          <p:cNvGrpSpPr/>
          <p:nvPr/>
        </p:nvGrpSpPr>
        <p:grpSpPr>
          <a:xfrm>
            <a:off x="502920" y="5824728"/>
            <a:ext cx="11186160" cy="402336"/>
            <a:chOff x="502920" y="5824728"/>
            <a:chExt cx="11186160" cy="402336"/>
          </a:xfrm>
        </p:grpSpPr>
        <p:sp>
          <p:nvSpPr>
            <p:cNvPr id="17"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8"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9"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SHOW YOUR THINKING  ·  </a:t>
              </a:r>
              <a:r>
                <a:rPr lang="en-US" sz="1200" dirty="0">
                  <a:solidFill>
                    <a:srgbClr val="13303A"/>
                  </a:solidFill>
                  <a:latin typeface="Arial"/>
                </a:rPr>
                <a:t>Show what you know — write it, draw it, or build it. A picture counts as an explanation.</a:t>
              </a:r>
              <a:endParaRPr lang="en-US" sz="1200"/>
            </a:p>
          </p:txBody>
        </p:sp>
      </p:gr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94" name="Google Shape;394;p46"/>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5" name="Google Shape;395;p46"/>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6" name="Google Shape;396;p46"/>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Vocabulary  1 of 7</a:t>
            </a:r>
            <a:endParaRPr/>
          </a:p>
        </p:txBody>
      </p:sp>
      <p:sp>
        <p:nvSpPr>
          <p:cNvPr id="397" name="Google Shape;397;p46"/>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5-5 · Determine the Volume of Rectangular Prisms</a:t>
            </a:r>
            <a:endParaRPr/>
          </a:p>
        </p:txBody>
      </p:sp>
      <p:sp>
        <p:nvSpPr>
          <p:cNvPr id="398" name="Google Shape;398;p46"/>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9" name="Google Shape;399;p46"/>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400" name="Google Shape;400;p46"/>
          <p:cNvSpPr txBox="1"/>
          <p:nvPr/>
        </p:nvSpPr>
        <p:spPr>
          <a:xfrm>
            <a:off x="640080" y="1561338"/>
            <a:ext cx="5897880" cy="129844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3900" u="none" cap="none" strike="noStrike">
                <a:solidFill>
                  <a:srgbClr val="14223A"/>
                </a:solidFill>
                <a:latin typeface="Arial"/>
                <a:ea typeface="Arial"/>
                <a:cs typeface="Arial"/>
                <a:sym typeface="Arial"/>
              </a:rPr>
              <a:t>Volume with Whole-Number Edges</a:t>
            </a:r>
            <a:endParaRPr/>
          </a:p>
        </p:txBody>
      </p:sp>
      <p:sp>
        <p:nvSpPr>
          <p:cNvPr id="401" name="Google Shape;401;p46"/>
          <p:cNvSpPr/>
          <p:nvPr/>
        </p:nvSpPr>
        <p:spPr>
          <a:xfrm>
            <a:off x="658368" y="3079241"/>
            <a:ext cx="29260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2" name="Google Shape;402;p46"/>
          <p:cNvSpPr txBox="1"/>
          <p:nvPr/>
        </p:nvSpPr>
        <p:spPr>
          <a:xfrm>
            <a:off x="640080" y="3440429"/>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defRPr/>
            </a:pPr>
            <a:r>
              <a:rPr b="0" i="0" lang="en-US" sz="2200" u="none" cap="none" strike="noStrike">
                <a:solidFill>
                  <a:srgbClr val="14223A"/>
                </a:solidFill>
                <a:latin typeface="Arial"/>
                <a:ea typeface="Arial"/>
                <a:cs typeface="Arial"/>
                <a:sym typeface="Arial"/>
              </a:rPr>
              <a:t>The number of unit cubes inside a rectangular prism. Formula: V = l × w × h.</a:t>
            </a:r>
            <a:endParaRPr/>
          </a:p>
        </p:txBody>
      </p:sp>
      <p:sp>
        <p:nvSpPr>
          <p:cNvPr id="403" name="Google Shape;403;p46"/>
          <p:cNvSpPr/>
          <p:nvPr/>
        </p:nvSpPr>
        <p:spPr>
          <a:xfrm>
            <a:off x="640080" y="4565142"/>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4" name="Google Shape;404;p46"/>
          <p:cNvSpPr/>
          <p:nvPr/>
        </p:nvSpPr>
        <p:spPr>
          <a:xfrm>
            <a:off x="640080" y="4565142"/>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5" name="Google Shape;405;p46"/>
          <p:cNvSpPr txBox="1"/>
          <p:nvPr/>
        </p:nvSpPr>
        <p:spPr>
          <a:xfrm>
            <a:off x="932688" y="4738878"/>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150" u="none" cap="none" strike="noStrike">
                <a:solidFill>
                  <a:srgbClr val="C2410C"/>
                </a:solidFill>
                <a:latin typeface="Arial"/>
                <a:ea typeface="Arial"/>
                <a:cs typeface="Arial"/>
                <a:sym typeface="Arial"/>
              </a:rPr>
              <a:t>EXAMPLE · EXPLAIN WHY IT FITS</a:t>
            </a:r>
            <a:endParaRPr/>
          </a:p>
        </p:txBody>
      </p:sp>
      <p:sp>
        <p:nvSpPr>
          <p:cNvPr id="406" name="Google Shape;406;p46"/>
          <p:cNvSpPr txBox="1"/>
          <p:nvPr/>
        </p:nvSpPr>
        <p:spPr>
          <a:xfrm>
            <a:off x="932688" y="5040629"/>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0" i="0" lang="en-US" sz="1700" u="none" cap="none" strike="noStrike">
                <a:solidFill>
                  <a:srgbClr val="14223A"/>
                </a:solidFill>
                <a:latin typeface="Arial"/>
                <a:ea typeface="Arial"/>
                <a:cs typeface="Arial"/>
                <a:sym typeface="Arial"/>
              </a:rPr>
              <a:t>V = l × w × h; 3 × 4 × 5 = 60 cubic units.</a:t>
            </a:r>
            <a:endParaRPr/>
          </a:p>
        </p:txBody>
      </p:sp>
      <p:pic>
        <p:nvPicPr>
          <p:cNvPr descr="volume-of-rectangular-prisms.png" id="407" name="Google Shape;407;p46"/>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2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8 / 51</a:t>
            </a:r>
          </a:p>
        </p:txBody>
      </p:sp>
      <p:grpSp>
        <p:nvGrpSpPr>
          <p:cNvPr id="408" name="TEACH-5-student-move" descr="TEACH 5 · Facilitate student interactions and academic talk"/>
          <p:cNvGrpSpPr/>
          <p:nvPr/>
        </p:nvGrpSpPr>
        <p:grpSpPr>
          <a:xfrm>
            <a:off x="502920" y="5751576"/>
            <a:ext cx="11186160" cy="548640"/>
            <a:chOff x="502920" y="5751576"/>
            <a:chExt cx="11186160" cy="548640"/>
          </a:xfrm>
        </p:grpSpPr>
        <p:sp>
          <p:nvSpPr>
            <p:cNvPr id="409" name="TEACH-move-card"/>
            <p:cNvSpPr/>
            <p:nvPr/>
          </p:nvSpPr>
          <p:spPr>
            <a:xfrm>
              <a:off x="502920" y="5751576"/>
              <a:ext cx="11186160" cy="548640"/>
            </a:xfrm>
            <a:prstGeom prst="roundRect">
              <a:avLst>
                <a:gd name="adj" fmla="val 16000"/>
              </a:avLst>
            </a:prstGeom>
            <a:solidFill>
              <a:srgbClr val="E4F0F5"/>
            </a:solidFill>
            <a:ln w="19050">
              <a:solidFill>
                <a:srgbClr val="8CB8C7"/>
              </a:solidFill>
            </a:ln>
          </p:spPr>
          <p:txBody>
            <a:bodyPr/>
            <a:lstStyle/>
            <a:p>
              <a:endParaRPr/>
            </a:p>
          </p:txBody>
        </p:sp>
        <p:sp>
          <p:nvSpPr>
            <p:cNvPr id="410" name="TEACH-move-rule"/>
            <p:cNvSpPr/>
            <p:nvPr/>
          </p:nvSpPr>
          <p:spPr>
            <a:xfrm>
              <a:off x="548640" y="5855818"/>
              <a:ext cx="100584" cy="340156"/>
            </a:xfrm>
            <a:prstGeom prst="roundRect">
              <a:avLst>
                <a:gd name="adj" fmla="val 50000"/>
              </a:avLst>
            </a:prstGeom>
            <a:solidFill>
              <a:srgbClr val="01708C"/>
            </a:solidFill>
            <a:ln>
              <a:noFill/>
            </a:ln>
          </p:spPr>
          <p:txBody>
            <a:bodyPr/>
            <a:lstStyle/>
            <a:p>
              <a:endParaRPr/>
            </a:p>
          </p:txBody>
        </p:sp>
        <p:sp>
          <p:nvSpPr>
            <p:cNvPr id="411" name="TEACH-move-text"/>
            <p:cNvSpPr txBox="1"/>
            <p:nvPr/>
          </p:nvSpPr>
          <p:spPr>
            <a:xfrm>
              <a:off x="822960" y="5751576"/>
              <a:ext cx="10728960" cy="548640"/>
            </a:xfrm>
            <a:prstGeom prst="rect">
              <a:avLst/>
            </a:prstGeom>
            <a:noFill/>
            <a:ln>
              <a:noFill/>
            </a:ln>
          </p:spPr>
          <p:txBody>
            <a:bodyPr wrap="square" lIns="0" tIns="0" rIns="0" bIns="0" anchor="ctr">
              <a:noAutofit/>
            </a:bodyPr>
            <a:lstStyle/>
            <a:p>
              <a:pPr algn="l">
                <a:buNone/>
              </a:pPr>
              <a:r>
                <a:rPr lang="en-US" sz="1400" b="1" dirty="0">
                  <a:solidFill>
                    <a:srgbClr val="01708C"/>
                  </a:solidFill>
                  <a:latin typeface="Arial"/>
                </a:rPr>
                <a:t>USE THE MATH WORDS  ·  </a:t>
              </a:r>
              <a:r>
                <a:rPr lang="en-US" sz="1400" dirty="0">
                  <a:solidFill>
                    <a:srgbClr val="13303A"/>
                  </a:solidFill>
                  <a:latin typeface="Arial"/>
                </a:rPr>
                <a:t>Use today’s math words in your explanation — not “it” and “that thing.”</a:t>
              </a:r>
              <a:endParaRPr lang="en-US" sz="1400"/>
            </a:p>
          </p:txBody>
        </p:sp>
      </p:gr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12" name="Google Shape;412;p47"/>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3" name="Google Shape;413;p47"/>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4" name="Google Shape;414;p47"/>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2 of 7</a:t>
            </a:r>
            <a:endParaRPr/>
          </a:p>
        </p:txBody>
      </p:sp>
      <p:sp>
        <p:nvSpPr>
          <p:cNvPr id="415" name="Google Shape;415;p47"/>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5-5 · Determine the Volume of Rectangular Prisms</a:t>
            </a:r>
            <a:endParaRPr/>
          </a:p>
        </p:txBody>
      </p:sp>
      <p:sp>
        <p:nvSpPr>
          <p:cNvPr id="416" name="Google Shape;416;p47"/>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7" name="Google Shape;417;p47"/>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18" name="Google Shape;418;p47"/>
          <p:cNvSpPr txBox="1"/>
          <p:nvPr/>
        </p:nvSpPr>
        <p:spPr>
          <a:xfrm>
            <a:off x="640080" y="1979676"/>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Volume</a:t>
            </a:r>
            <a:endParaRPr/>
          </a:p>
        </p:txBody>
      </p:sp>
      <p:sp>
        <p:nvSpPr>
          <p:cNvPr id="419" name="Google Shape;419;p47"/>
          <p:cNvSpPr/>
          <p:nvPr/>
        </p:nvSpPr>
        <p:spPr>
          <a:xfrm>
            <a:off x="658368" y="2814828"/>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0" name="Google Shape;420;p47"/>
          <p:cNvSpPr txBox="1"/>
          <p:nvPr/>
        </p:nvSpPr>
        <p:spPr>
          <a:xfrm>
            <a:off x="640080" y="3176016"/>
            <a:ext cx="5897880" cy="365760"/>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How much space is inside a solid shape.</a:t>
            </a:r>
            <a:endParaRPr/>
          </a:p>
        </p:txBody>
      </p:sp>
      <p:sp>
        <p:nvSpPr>
          <p:cNvPr id="421" name="Google Shape;421;p47"/>
          <p:cNvSpPr/>
          <p:nvPr/>
        </p:nvSpPr>
        <p:spPr>
          <a:xfrm>
            <a:off x="640080" y="3948684"/>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2" name="Google Shape;422;p47"/>
          <p:cNvSpPr/>
          <p:nvPr/>
        </p:nvSpPr>
        <p:spPr>
          <a:xfrm>
            <a:off x="640080" y="3948684"/>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3" name="Google Shape;423;p47"/>
          <p:cNvSpPr txBox="1"/>
          <p:nvPr/>
        </p:nvSpPr>
        <p:spPr>
          <a:xfrm>
            <a:off x="932688" y="4122420"/>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24" name="Google Shape;424;p47"/>
          <p:cNvSpPr txBox="1"/>
          <p:nvPr/>
        </p:nvSpPr>
        <p:spPr>
          <a:xfrm>
            <a:off x="932688" y="4424172"/>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A box 3 × 2 × 4 holds 24 unit cubes, so V = 24 cubic units</a:t>
            </a:r>
            <a:endParaRPr/>
          </a:p>
        </p:txBody>
      </p:sp>
      <p:pic>
        <p:nvPicPr>
          <p:cNvPr descr="volume.png" id="425" name="Google Shape;425;p47"/>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2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9 / 51</a:t>
            </a:r>
          </a:p>
        </p:txBody>
      </p:sp>
      <p:sp xmlns:p="http://schemas.openxmlformats.org/presentationml/2006/main" xmlns:a="http://schemas.openxmlformats.org/drawingml/2006/main">
        <p:nvSpPr>
          <p:cNvPr id="426"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“Volume” to explain the example. Point to evidence.</a:t>
            </a:r>
            <a:endParaRPr lang="en-US" sz="200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30" name="Google Shape;430;p48"/>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1" name="Google Shape;431;p48"/>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2" name="Google Shape;432;p48"/>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3 of 7</a:t>
            </a:r>
            <a:endParaRPr/>
          </a:p>
        </p:txBody>
      </p:sp>
      <p:sp>
        <p:nvSpPr>
          <p:cNvPr id="433" name="Google Shape;433;p48"/>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5-5 · Determine the Volume of Rectangular Prisms</a:t>
            </a:r>
            <a:endParaRPr/>
          </a:p>
        </p:txBody>
      </p:sp>
      <p:sp>
        <p:nvSpPr>
          <p:cNvPr id="434" name="Google Shape;434;p48"/>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5" name="Google Shape;435;p48"/>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36" name="Google Shape;436;p48"/>
          <p:cNvSpPr txBox="1"/>
          <p:nvPr/>
        </p:nvSpPr>
        <p:spPr>
          <a:xfrm>
            <a:off x="640080" y="1979676"/>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Rectangular prism</a:t>
            </a:r>
            <a:endParaRPr/>
          </a:p>
        </p:txBody>
      </p:sp>
      <p:sp>
        <p:nvSpPr>
          <p:cNvPr id="437" name="Google Shape;437;p48"/>
          <p:cNvSpPr/>
          <p:nvPr/>
        </p:nvSpPr>
        <p:spPr>
          <a:xfrm>
            <a:off x="658368" y="2814828"/>
            <a:ext cx="2020824"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8" name="Google Shape;438;p48"/>
          <p:cNvSpPr txBox="1"/>
          <p:nvPr/>
        </p:nvSpPr>
        <p:spPr>
          <a:xfrm>
            <a:off x="640080" y="3176016"/>
            <a:ext cx="5897880" cy="365760"/>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 solid box shape with six flat rectangle sides.</a:t>
            </a:r>
            <a:endParaRPr/>
          </a:p>
        </p:txBody>
      </p:sp>
      <p:sp>
        <p:nvSpPr>
          <p:cNvPr id="439" name="Google Shape;439;p48"/>
          <p:cNvSpPr/>
          <p:nvPr/>
        </p:nvSpPr>
        <p:spPr>
          <a:xfrm>
            <a:off x="640080" y="3948684"/>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0" name="Google Shape;440;p48"/>
          <p:cNvSpPr/>
          <p:nvPr/>
        </p:nvSpPr>
        <p:spPr>
          <a:xfrm>
            <a:off x="640080" y="3948684"/>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1" name="Google Shape;441;p48"/>
          <p:cNvSpPr txBox="1"/>
          <p:nvPr/>
        </p:nvSpPr>
        <p:spPr>
          <a:xfrm>
            <a:off x="932688" y="4122420"/>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42" name="Google Shape;442;p48"/>
          <p:cNvSpPr txBox="1"/>
          <p:nvPr/>
        </p:nvSpPr>
        <p:spPr>
          <a:xfrm>
            <a:off x="932688" y="4424172"/>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A cereal box or shoe box — it has length, width, and height</a:t>
            </a:r>
            <a:endParaRPr/>
          </a:p>
        </p:txBody>
      </p:sp>
      <p:pic>
        <p:nvPicPr>
          <p:cNvPr descr="rectangular-prism.png" id="443" name="Google Shape;443;p48"/>
          <p:cNvPicPr preferRelativeResize="0"/>
          <p:nvPr/>
        </p:nvPicPr>
        <p:blipFill rotWithShape="1">
          <a:blip r:embed="rId2">
            <a:alphaModFix/>
          </a:blip>
          <a:srcRect b="0" l="0" r="0" t="0"/>
          <a:stretch/>
        </p:blipFill>
        <p:spPr>
          <a:xfrm>
            <a:off x="6903720" y="2040774"/>
            <a:ext cx="4572000" cy="3050770"/>
          </a:xfrm>
          <a:prstGeom prst="rect">
            <a:avLst/>
          </a:prstGeom>
          <a:noFill/>
          <a:ln>
            <a:noFill/>
          </a:ln>
        </p:spPr>
      </p:pic>
      <p:sp>
        <p:nvSpPr>
          <p:cNvPr id="32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10 / 51</a:t>
            </a:r>
          </a:p>
        </p:txBody>
      </p:sp>
      <p:sp xmlns:p="http://schemas.openxmlformats.org/presentationml/2006/main" xmlns:a="http://schemas.openxmlformats.org/drawingml/2006/main">
        <p:nvSpPr>
          <p:cNvPr id="444" name="TEACH-embedded-student-prompt" descr="Student thinking and response directions"/>
          <p:cNvSpPr txBox="1"/>
          <p:nvPr/>
        </p:nvSpPr>
        <p:spPr>
          <a:xfrm>
            <a:off x="4099560" y="550468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“Rectangular prism” to explain the example. Point to</a:t>
            </a:r>
            <a:endParaRPr lang="en-US" sz="2000"/>
          </a:p>
          <a:p>
            <a:pPr>
              <a:lnSpc>
                <a:spcPts val="2400"/>
              </a:lnSpc>
              <a:buNone/>
            </a:pPr>
            <a:r>
              <a:rPr lang="en-US" sz="2000">
                <a:solidFill>
                  <a:srgbClr val="174D60"/>
                </a:solidFill>
                <a:latin typeface="Arial"/>
              </a:rPr>
              <a:t>evidence.</a:t>
            </a:r>
            <a:endParaRPr lang="en-US" sz="200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48" name="Google Shape;448;p49"/>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9" name="Google Shape;449;p49"/>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0" name="Google Shape;450;p49"/>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4 of 7</a:t>
            </a:r>
            <a:endParaRPr/>
          </a:p>
        </p:txBody>
      </p:sp>
      <p:sp>
        <p:nvSpPr>
          <p:cNvPr id="451" name="Google Shape;451;p49"/>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5-5 · Determine the Volume of Rectangular Prisms</a:t>
            </a:r>
            <a:endParaRPr/>
          </a:p>
        </p:txBody>
      </p:sp>
      <p:sp>
        <p:nvSpPr>
          <p:cNvPr id="452" name="Google Shape;452;p49"/>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3" name="Google Shape;453;p49"/>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54" name="Google Shape;454;p49"/>
          <p:cNvSpPr txBox="1"/>
          <p:nvPr/>
        </p:nvSpPr>
        <p:spPr>
          <a:xfrm>
            <a:off x="640080" y="180365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Cubic units</a:t>
            </a:r>
            <a:endParaRPr/>
          </a:p>
        </p:txBody>
      </p:sp>
      <p:sp>
        <p:nvSpPr>
          <p:cNvPr id="455" name="Google Shape;455;p49"/>
          <p:cNvSpPr/>
          <p:nvPr/>
        </p:nvSpPr>
        <p:spPr>
          <a:xfrm>
            <a:off x="658368" y="2638806"/>
            <a:ext cx="1307592"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6" name="Google Shape;456;p49"/>
          <p:cNvSpPr txBox="1"/>
          <p:nvPr/>
        </p:nvSpPr>
        <p:spPr>
          <a:xfrm>
            <a:off x="640080" y="299999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The units used to measure space inside, like cubic inches.</a:t>
            </a:r>
            <a:endParaRPr/>
          </a:p>
        </p:txBody>
      </p:sp>
      <p:sp>
        <p:nvSpPr>
          <p:cNvPr id="457" name="Google Shape;457;p49"/>
          <p:cNvSpPr/>
          <p:nvPr/>
        </p:nvSpPr>
        <p:spPr>
          <a:xfrm>
            <a:off x="640080" y="4124706"/>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8" name="Google Shape;458;p49"/>
          <p:cNvSpPr/>
          <p:nvPr/>
        </p:nvSpPr>
        <p:spPr>
          <a:xfrm>
            <a:off x="640080" y="4124706"/>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9" name="Google Shape;459;p49"/>
          <p:cNvSpPr txBox="1"/>
          <p:nvPr/>
        </p:nvSpPr>
        <p:spPr>
          <a:xfrm>
            <a:off x="932688" y="429844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60" name="Google Shape;460;p49"/>
          <p:cNvSpPr txBox="1"/>
          <p:nvPr/>
        </p:nvSpPr>
        <p:spPr>
          <a:xfrm>
            <a:off x="932688" y="4600194"/>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A tiny cube that is 1 in × 1 in × 1 in = 1 in³ (one cubic inch)</a:t>
            </a:r>
            <a:endParaRPr/>
          </a:p>
        </p:txBody>
      </p:sp>
      <p:pic>
        <p:nvPicPr>
          <p:cNvPr descr="cubic-units.png" id="461" name="Google Shape;461;p49"/>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2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11 / 51</a:t>
            </a:r>
          </a:p>
        </p:txBody>
      </p:sp>
      <p:sp xmlns:p="http://schemas.openxmlformats.org/presentationml/2006/main" xmlns:a="http://schemas.openxmlformats.org/drawingml/2006/main">
        <p:nvSpPr>
          <p:cNvPr id="462"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“Cubic units” to explain the example. Point to evidence.</a:t>
            </a:r>
            <a:endParaRPr lang="en-US" sz="200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66" name="Google Shape;466;p50"/>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7" name="Google Shape;467;p50"/>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8" name="Google Shape;468;p50"/>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5 of 7</a:t>
            </a:r>
            <a:endParaRPr/>
          </a:p>
        </p:txBody>
      </p:sp>
      <p:sp>
        <p:nvSpPr>
          <p:cNvPr id="469" name="Google Shape;469;p50"/>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5-5 · Determine the Volume of Rectangular Prisms</a:t>
            </a:r>
            <a:endParaRPr/>
          </a:p>
        </p:txBody>
      </p:sp>
      <p:sp>
        <p:nvSpPr>
          <p:cNvPr id="470" name="Google Shape;470;p50"/>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1" name="Google Shape;471;p50"/>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72" name="Google Shape;472;p50"/>
          <p:cNvSpPr txBox="1"/>
          <p:nvPr/>
        </p:nvSpPr>
        <p:spPr>
          <a:xfrm>
            <a:off x="640080" y="1979676"/>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Length, width, height</a:t>
            </a:r>
            <a:endParaRPr/>
          </a:p>
        </p:txBody>
      </p:sp>
      <p:sp>
        <p:nvSpPr>
          <p:cNvPr id="473" name="Google Shape;473;p50"/>
          <p:cNvSpPr/>
          <p:nvPr/>
        </p:nvSpPr>
        <p:spPr>
          <a:xfrm>
            <a:off x="658368" y="2814828"/>
            <a:ext cx="2496312"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4" name="Google Shape;474;p50"/>
          <p:cNvSpPr txBox="1"/>
          <p:nvPr/>
        </p:nvSpPr>
        <p:spPr>
          <a:xfrm>
            <a:off x="640080" y="3176016"/>
            <a:ext cx="5897880" cy="365760"/>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How long, how wide, and how tall a box is.</a:t>
            </a:r>
            <a:endParaRPr/>
          </a:p>
        </p:txBody>
      </p:sp>
      <p:sp>
        <p:nvSpPr>
          <p:cNvPr id="475" name="Google Shape;475;p50"/>
          <p:cNvSpPr/>
          <p:nvPr/>
        </p:nvSpPr>
        <p:spPr>
          <a:xfrm>
            <a:off x="640080" y="3948684"/>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6" name="Google Shape;476;p50"/>
          <p:cNvSpPr/>
          <p:nvPr/>
        </p:nvSpPr>
        <p:spPr>
          <a:xfrm>
            <a:off x="640080" y="3948684"/>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7" name="Google Shape;477;p50"/>
          <p:cNvSpPr txBox="1"/>
          <p:nvPr/>
        </p:nvSpPr>
        <p:spPr>
          <a:xfrm>
            <a:off x="932688" y="4122420"/>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78" name="Google Shape;478;p50"/>
          <p:cNvSpPr txBox="1"/>
          <p:nvPr/>
        </p:nvSpPr>
        <p:spPr>
          <a:xfrm>
            <a:off x="932688" y="4424172"/>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V = l × w × h: for a box 5 × 3 × 2, volume = 30 cubic units</a:t>
            </a:r>
            <a:endParaRPr/>
          </a:p>
        </p:txBody>
      </p:sp>
      <p:pic>
        <p:nvPicPr>
          <p:cNvPr descr="dimensions.png" id="479" name="Google Shape;479;p50"/>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2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12 / 51</a:t>
            </a:r>
          </a:p>
        </p:txBody>
      </p:sp>
      <p:sp xmlns:p="http://schemas.openxmlformats.org/presentationml/2006/main" xmlns:a="http://schemas.openxmlformats.org/drawingml/2006/main">
        <p:nvSpPr>
          <p:cNvPr id="480" name="TEACH-embedded-student-prompt" descr="Student thinking and response directions"/>
          <p:cNvSpPr txBox="1"/>
          <p:nvPr/>
        </p:nvSpPr>
        <p:spPr>
          <a:xfrm>
            <a:off x="4099560" y="550468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“Length, width, height” to explain the example. Point to</a:t>
            </a:r>
            <a:endParaRPr lang="en-US" sz="2000"/>
          </a:p>
          <a:p>
            <a:pPr>
              <a:lnSpc>
                <a:spcPts val="2400"/>
              </a:lnSpc>
              <a:buNone/>
            </a:pPr>
            <a:r>
              <a:rPr lang="en-US" sz="2000">
                <a:solidFill>
                  <a:srgbClr val="174D60"/>
                </a:solidFill>
                <a:latin typeface="Arial"/>
              </a:rPr>
              <a:t>evidence.</a:t>
            </a:r>
            <a:endParaRPr lang="en-US" sz="200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84" name="Google Shape;484;p51"/>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5" name="Google Shape;485;p51"/>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6" name="Google Shape;486;p51"/>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6 of 7</a:t>
            </a:r>
            <a:endParaRPr/>
          </a:p>
        </p:txBody>
      </p:sp>
      <p:sp>
        <p:nvSpPr>
          <p:cNvPr id="487" name="Google Shape;487;p51"/>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5-5 · Determine the Volume of Rectangular Prisms</a:t>
            </a:r>
            <a:endParaRPr/>
          </a:p>
        </p:txBody>
      </p:sp>
      <p:sp>
        <p:nvSpPr>
          <p:cNvPr id="488" name="Google Shape;488;p51"/>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9" name="Google Shape;489;p51"/>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90" name="Google Shape;490;p51"/>
          <p:cNvSpPr txBox="1"/>
          <p:nvPr/>
        </p:nvSpPr>
        <p:spPr>
          <a:xfrm>
            <a:off x="640080" y="1979676"/>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Net</a:t>
            </a:r>
            <a:endParaRPr/>
          </a:p>
        </p:txBody>
      </p:sp>
      <p:sp>
        <p:nvSpPr>
          <p:cNvPr id="491" name="Google Shape;491;p51"/>
          <p:cNvSpPr/>
          <p:nvPr/>
        </p:nvSpPr>
        <p:spPr>
          <a:xfrm>
            <a:off x="658368" y="2814828"/>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2" name="Google Shape;492;p51"/>
          <p:cNvSpPr txBox="1"/>
          <p:nvPr/>
        </p:nvSpPr>
        <p:spPr>
          <a:xfrm>
            <a:off x="640080" y="3176016"/>
            <a:ext cx="5897880" cy="365760"/>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 flat shape that folds up into a solid.</a:t>
            </a:r>
            <a:endParaRPr/>
          </a:p>
        </p:txBody>
      </p:sp>
      <p:sp>
        <p:nvSpPr>
          <p:cNvPr id="493" name="Google Shape;493;p51"/>
          <p:cNvSpPr/>
          <p:nvPr/>
        </p:nvSpPr>
        <p:spPr>
          <a:xfrm>
            <a:off x="640080" y="3948684"/>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4" name="Google Shape;494;p51"/>
          <p:cNvSpPr/>
          <p:nvPr/>
        </p:nvSpPr>
        <p:spPr>
          <a:xfrm>
            <a:off x="640080" y="3948684"/>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5" name="Google Shape;495;p51"/>
          <p:cNvSpPr txBox="1"/>
          <p:nvPr/>
        </p:nvSpPr>
        <p:spPr>
          <a:xfrm>
            <a:off x="932688" y="4122420"/>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96" name="Google Shape;496;p51"/>
          <p:cNvSpPr txBox="1"/>
          <p:nvPr/>
        </p:nvSpPr>
        <p:spPr>
          <a:xfrm>
            <a:off x="932688" y="4424172"/>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A cross-shaped pattern of 6 rectangles folds into a rectangular box</a:t>
            </a:r>
            <a:endParaRPr/>
          </a:p>
        </p:txBody>
      </p:sp>
      <p:pic>
        <p:nvPicPr>
          <p:cNvPr descr="net.png" id="497" name="Google Shape;497;p51"/>
          <p:cNvPicPr preferRelativeResize="0"/>
          <p:nvPr/>
        </p:nvPicPr>
        <p:blipFill rotWithShape="1">
          <a:blip r:embed="rId2">
            <a:alphaModFix/>
          </a:blip>
          <a:srcRect b="0" l="0" r="0" t="0"/>
          <a:stretch/>
        </p:blipFill>
        <p:spPr>
          <a:xfrm>
            <a:off x="6903720" y="2040774"/>
            <a:ext cx="4572000" cy="3050770"/>
          </a:xfrm>
          <a:prstGeom prst="rect">
            <a:avLst/>
          </a:prstGeom>
          <a:noFill/>
          <a:ln>
            <a:noFill/>
          </a:ln>
        </p:spPr>
      </p:pic>
      <p:sp>
        <p:nvSpPr>
          <p:cNvPr id="32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13 / 51</a:t>
            </a:r>
          </a:p>
        </p:txBody>
      </p:sp>
      <p:sp xmlns:p="http://schemas.openxmlformats.org/presentationml/2006/main" xmlns:a="http://schemas.openxmlformats.org/drawingml/2006/main">
        <p:nvSpPr>
          <p:cNvPr id="498"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“Net” to explain the example. Point to evidence.</a:t>
            </a:r>
            <a:endParaRPr lang="en-US" sz="200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02" name="Google Shape;502;p52"/>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3" name="Google Shape;503;p52"/>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4" name="Google Shape;504;p52"/>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7 of 7</a:t>
            </a:r>
            <a:endParaRPr/>
          </a:p>
        </p:txBody>
      </p:sp>
      <p:sp>
        <p:nvSpPr>
          <p:cNvPr id="505" name="Google Shape;505;p52"/>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5-5 · Determine the Volume of Rectangular Prisms</a:t>
            </a:r>
            <a:endParaRPr/>
          </a:p>
        </p:txBody>
      </p:sp>
      <p:sp>
        <p:nvSpPr>
          <p:cNvPr id="506" name="Google Shape;506;p52"/>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7" name="Google Shape;507;p52"/>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508" name="Google Shape;508;p52"/>
          <p:cNvSpPr txBox="1"/>
          <p:nvPr/>
        </p:nvSpPr>
        <p:spPr>
          <a:xfrm>
            <a:off x="640080" y="1979676"/>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Edge</a:t>
            </a:r>
            <a:endParaRPr/>
          </a:p>
        </p:txBody>
      </p:sp>
      <p:sp>
        <p:nvSpPr>
          <p:cNvPr id="509" name="Google Shape;509;p52"/>
          <p:cNvSpPr/>
          <p:nvPr/>
        </p:nvSpPr>
        <p:spPr>
          <a:xfrm>
            <a:off x="658368" y="2814828"/>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0" name="Google Shape;510;p52"/>
          <p:cNvSpPr txBox="1"/>
          <p:nvPr/>
        </p:nvSpPr>
        <p:spPr>
          <a:xfrm>
            <a:off x="640080" y="3176016"/>
            <a:ext cx="5897880" cy="365760"/>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The line where two flat sides of a solid meet.</a:t>
            </a:r>
            <a:endParaRPr/>
          </a:p>
        </p:txBody>
      </p:sp>
      <p:sp>
        <p:nvSpPr>
          <p:cNvPr id="511" name="Google Shape;511;p52"/>
          <p:cNvSpPr/>
          <p:nvPr/>
        </p:nvSpPr>
        <p:spPr>
          <a:xfrm>
            <a:off x="640080" y="3948684"/>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2" name="Google Shape;512;p52"/>
          <p:cNvSpPr/>
          <p:nvPr/>
        </p:nvSpPr>
        <p:spPr>
          <a:xfrm>
            <a:off x="640080" y="3948684"/>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3" name="Google Shape;513;p52"/>
          <p:cNvSpPr txBox="1"/>
          <p:nvPr/>
        </p:nvSpPr>
        <p:spPr>
          <a:xfrm>
            <a:off x="932688" y="4122420"/>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514" name="Google Shape;514;p52"/>
          <p:cNvSpPr txBox="1"/>
          <p:nvPr/>
        </p:nvSpPr>
        <p:spPr>
          <a:xfrm>
            <a:off x="932688" y="4424172"/>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A cube has 12 edges — 4 along the top, 4 along the bottom, 4 vertical</a:t>
            </a:r>
            <a:endParaRPr/>
          </a:p>
        </p:txBody>
      </p:sp>
      <p:pic>
        <p:nvPicPr>
          <p:cNvPr descr="edge.png" id="515" name="Google Shape;515;p52"/>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2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14 / 51</a:t>
            </a:r>
          </a:p>
        </p:txBody>
      </p:sp>
      <p:sp xmlns:p="http://schemas.openxmlformats.org/presentationml/2006/main" xmlns:a="http://schemas.openxmlformats.org/drawingml/2006/main">
        <p:nvSpPr>
          <p:cNvPr id="516"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“Edge” to explain the example. Point to evidence.</a:t>
            </a:r>
            <a:endParaRPr lang="en-US" sz="2000"/>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585" name="Google Shape;585;p5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586" name="Google Shape;586;p56"/>
          <p:cNvSpPr/>
          <p:nvPr/>
        </p:nvSpPr>
        <p:spPr>
          <a:xfrm>
            <a:off x="686268" y="5865364"/>
            <a:ext cx="8983283" cy="4924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595959"/>
                </a:solidFill>
                <a:latin typeface="Arial"/>
                <a:ea typeface="Arial"/>
                <a:cs typeface="Arial"/>
                <a:sym typeface="Arial"/>
              </a:rPr>
              <a:t>How can you organize yourself to be successful in math?</a:t>
            </a:r>
            <a:endParaRPr b="0" i="0" sz="1400" u="none" cap="none" strike="noStrike">
              <a:solidFill>
                <a:srgbClr val="000000"/>
              </a:solidFill>
              <a:latin typeface="Arial"/>
              <a:ea typeface="Arial"/>
              <a:cs typeface="Arial"/>
              <a:sym typeface="Arial"/>
            </a:endParaRPr>
          </a:p>
        </p:txBody>
      </p:sp>
      <p:sp>
        <p:nvSpPr>
          <p:cNvPr id="587" name="Google Shape;587;p56"/>
          <p:cNvSpPr txBox="1"/>
          <p:nvPr/>
        </p:nvSpPr>
        <p:spPr>
          <a:xfrm>
            <a:off x="484560" y="936101"/>
            <a:ext cx="3746246" cy="56515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Is it always true?​</a:t>
            </a:r>
            <a:endParaRPr b="0" i="0" sz="1400" u="none" cap="none" strike="noStrike">
              <a:solidFill>
                <a:srgbClr val="000000"/>
              </a:solidFill>
              <a:latin typeface="Arial"/>
              <a:ea typeface="Arial"/>
              <a:cs typeface="Arial"/>
              <a:sym typeface="Arial"/>
            </a:endParaRPr>
          </a:p>
        </p:txBody>
      </p:sp>
      <p:sp>
        <p:nvSpPr>
          <p:cNvPr id="588" name="Google Shape;588;p56"/>
          <p:cNvSpPr txBox="1"/>
          <p:nvPr/>
        </p:nvSpPr>
        <p:spPr>
          <a:xfrm>
            <a:off x="484560"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sp>
        <p:nvSpPr>
          <p:cNvPr id="589" name="Google Shape;589;p56"/>
          <p:cNvSpPr/>
          <p:nvPr/>
        </p:nvSpPr>
        <p:spPr>
          <a:xfrm>
            <a:off x="616266" y="1738858"/>
            <a:ext cx="7362323" cy="2664859"/>
          </a:xfrm>
          <a:prstGeom prst="snip1Rect">
            <a:avLst>
              <a:gd fmla="val 16667" name="adj"/>
            </a:avLst>
          </a:prstGeom>
          <a:solidFill>
            <a:schemeClr val="lt1"/>
          </a:solidFill>
          <a:ln cap="flat" cmpd="sng" w="12700">
            <a:solidFill>
              <a:schemeClr val="accent6"/>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590" name="Google Shape;590;p56"/>
          <p:cNvPicPr preferRelativeResize="0"/>
          <p:nvPr/>
        </p:nvPicPr>
        <p:blipFill rotWithShape="1">
          <a:blip r:embed="rId2">
            <a:alphaModFix/>
          </a:blip>
          <a:srcRect b="0" l="0" r="0" t="0"/>
          <a:stretch/>
        </p:blipFill>
        <p:spPr>
          <a:xfrm>
            <a:off x="628216" y="5080197"/>
            <a:ext cx="5054600" cy="838200"/>
          </a:xfrm>
          <a:prstGeom prst="rect">
            <a:avLst/>
          </a:prstGeom>
          <a:noFill/>
          <a:ln>
            <a:noFill/>
          </a:ln>
        </p:spPr>
      </p:pic>
      <p:sp>
        <p:nvSpPr>
          <p:cNvPr id="591" name="Google Shape;591;p56"/>
          <p:cNvSpPr txBox="1"/>
          <p:nvPr/>
        </p:nvSpPr>
        <p:spPr>
          <a:xfrm>
            <a:off x="3345221" y="5228273"/>
            <a:ext cx="219458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sp>
        <p:nvSpPr>
          <p:cNvPr id="592" name="Google Shape;592;p56"/>
          <p:cNvSpPr/>
          <p:nvPr/>
        </p:nvSpPr>
        <p:spPr>
          <a:xfrm>
            <a:off x="1731596" y="2809677"/>
            <a:ext cx="5981522"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1" lang="en-US" sz="2800" u="none" cap="none" strike="noStrike">
                <a:solidFill>
                  <a:srgbClr val="7030A0"/>
                </a:solidFill>
                <a:latin typeface="Arial"/>
                <a:ea typeface="Arial"/>
                <a:cs typeface="Arial"/>
                <a:sym typeface="Arial"/>
              </a:rPr>
              <a:t>A cube is a rectangular prism</a:t>
            </a:r>
            <a:r>
              <a:rPr b="0" i="0" lang="en-US" sz="2800" u="none" cap="none" strike="noStrike">
                <a:solidFill>
                  <a:srgbClr val="7030A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32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15 / 51</a:t>
            </a:r>
          </a:p>
        </p:txBody>
      </p:sp>
      <p:sp xmlns:p="http://schemas.openxmlformats.org/presentationml/2006/main" xmlns:a="http://schemas.openxmlformats.org/drawingml/2006/main">
        <p:nvSpPr>
          <p:cNvPr id="593" name="TEACH-embedded-student-prompt" descr="Student thinking and response directions"/>
          <p:cNvSpPr txBox="1"/>
          <p:nvPr/>
        </p:nvSpPr>
        <p:spPr>
          <a:xfrm>
            <a:off x="6111240" y="495604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Share a notice and a question;</a:t>
            </a:r>
            <a:endParaRPr lang="en-US" sz="2000"/>
          </a:p>
          <a:p>
            <a:pPr>
              <a:lnSpc>
                <a:spcPts val="2400"/>
              </a:lnSpc>
              <a:buNone/>
            </a:pPr>
            <a:r>
              <a:rPr lang="en-US" sz="2000">
                <a:solidFill>
                  <a:srgbClr val="174D60"/>
                </a:solidFill>
                <a:latin typeface="Arial"/>
              </a:rPr>
              <a:t>build on a classmate’s idea.</a:t>
            </a:r>
            <a:endParaRPr lang="en-US" sz="20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45"/>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5" name="Google Shape;355;p45"/>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6" name="Google Shape;356;p45"/>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a:t>
            </a:r>
            <a:endParaRPr/>
          </a:p>
        </p:txBody>
      </p:sp>
      <p:sp>
        <p:nvSpPr>
          <p:cNvPr id="357" name="Google Shape;357;p45"/>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5-5 · Determine the Volume of Rectangular Prisms</a:t>
            </a:r>
            <a:endParaRPr/>
          </a:p>
        </p:txBody>
      </p:sp>
      <p:sp>
        <p:nvSpPr>
          <p:cNvPr id="358" name="Google Shape;358;p45"/>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9" name="Google Shape;359;p45"/>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360" name="Google Shape;360;p45"/>
          <p:cNvSpPr txBox="1"/>
          <p:nvPr/>
        </p:nvSpPr>
        <p:spPr>
          <a:xfrm>
            <a:off x="640080" y="1005840"/>
            <a:ext cx="10911809" cy="51206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400" u="none" cap="none" strike="noStrike">
                <a:solidFill>
                  <a:srgbClr val="14223A"/>
                </a:solidFill>
                <a:latin typeface="Arial"/>
                <a:ea typeface="Arial"/>
                <a:cs typeface="Arial"/>
                <a:sym typeface="Arial"/>
              </a:rPr>
              <a:t>Today’s Math Words</a:t>
            </a:r>
            <a:endParaRPr/>
          </a:p>
        </p:txBody>
      </p:sp>
      <p:sp>
        <p:nvSpPr>
          <p:cNvPr id="361" name="Google Shape;361;p45"/>
          <p:cNvSpPr txBox="1"/>
          <p:nvPr/>
        </p:nvSpPr>
        <p:spPr>
          <a:xfrm>
            <a:off x="640080" y="1591056"/>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1" lang="en-US" sz="1400" u="none" cap="none" strike="noStrike">
                <a:solidFill>
                  <a:srgbClr val="475569"/>
                </a:solidFill>
                <a:latin typeface="Arial"/>
                <a:ea typeface="Arial"/>
                <a:cs typeface="Arial"/>
                <a:sym typeface="Arial"/>
              </a:rPr>
              <a:t>We learn every word — what it means and what it looks like — before we use it.</a:t>
            </a:r>
            <a:endParaRPr/>
          </a:p>
        </p:txBody>
      </p:sp>
      <p:sp>
        <p:nvSpPr>
          <p:cNvPr id="362" name="Google Shape;362;p45"/>
          <p:cNvSpPr/>
          <p:nvPr/>
        </p:nvSpPr>
        <p:spPr>
          <a:xfrm>
            <a:off x="640080" y="210312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3" name="Google Shape;363;p45"/>
          <p:cNvSpPr/>
          <p:nvPr/>
        </p:nvSpPr>
        <p:spPr>
          <a:xfrm>
            <a:off x="640080" y="210312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4" name="Google Shape;364;p45"/>
          <p:cNvSpPr txBox="1"/>
          <p:nvPr/>
        </p:nvSpPr>
        <p:spPr>
          <a:xfrm>
            <a:off x="950976" y="224027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Volume with Whole-Number Edges</a:t>
            </a:r>
            <a:endParaRPr/>
          </a:p>
        </p:txBody>
      </p:sp>
      <p:sp>
        <p:nvSpPr>
          <p:cNvPr id="365" name="Google Shape;365;p45"/>
          <p:cNvSpPr txBox="1"/>
          <p:nvPr/>
        </p:nvSpPr>
        <p:spPr>
          <a:xfrm>
            <a:off x="950976" y="257860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400" u="none" cap="none" strike="noStrike">
                <a:solidFill>
                  <a:srgbClr val="475569"/>
                </a:solidFill>
                <a:latin typeface="Arial"/>
                <a:ea typeface="Arial"/>
                <a:cs typeface="Arial"/>
                <a:sym typeface="Arial"/>
              </a:rPr>
              <a:t>The number of unit cubes inside a rectangular prism</a:t>
            </a:r>
            <a:endParaRPr/>
          </a:p>
        </p:txBody>
      </p:sp>
      <p:sp>
        <p:nvSpPr>
          <p:cNvPr id="366" name="Google Shape;366;p45"/>
          <p:cNvSpPr/>
          <p:nvPr/>
        </p:nvSpPr>
        <p:spPr>
          <a:xfrm>
            <a:off x="6260576" y="210312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7" name="Google Shape;367;p45"/>
          <p:cNvSpPr/>
          <p:nvPr/>
        </p:nvSpPr>
        <p:spPr>
          <a:xfrm>
            <a:off x="6260576" y="210312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8" name="Google Shape;368;p45"/>
          <p:cNvSpPr txBox="1"/>
          <p:nvPr/>
        </p:nvSpPr>
        <p:spPr>
          <a:xfrm>
            <a:off x="6571472" y="224027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Volume</a:t>
            </a:r>
            <a:endParaRPr/>
          </a:p>
        </p:txBody>
      </p:sp>
      <p:sp>
        <p:nvSpPr>
          <p:cNvPr id="369" name="Google Shape;369;p45"/>
          <p:cNvSpPr txBox="1"/>
          <p:nvPr/>
        </p:nvSpPr>
        <p:spPr>
          <a:xfrm>
            <a:off x="6571472" y="257860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400" u="none" cap="none" strike="noStrike">
                <a:solidFill>
                  <a:srgbClr val="475569"/>
                </a:solidFill>
                <a:latin typeface="Arial"/>
                <a:ea typeface="Arial"/>
                <a:cs typeface="Arial"/>
                <a:sym typeface="Arial"/>
              </a:rPr>
              <a:t>How much space is inside a solid shape</a:t>
            </a:r>
            <a:endParaRPr/>
          </a:p>
        </p:txBody>
      </p:sp>
      <p:sp>
        <p:nvSpPr>
          <p:cNvPr id="370" name="Google Shape;370;p45"/>
          <p:cNvSpPr/>
          <p:nvPr/>
        </p:nvSpPr>
        <p:spPr>
          <a:xfrm>
            <a:off x="640080" y="3177539"/>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1" name="Google Shape;371;p45"/>
          <p:cNvSpPr/>
          <p:nvPr/>
        </p:nvSpPr>
        <p:spPr>
          <a:xfrm>
            <a:off x="640080" y="3177539"/>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2" name="Google Shape;372;p45"/>
          <p:cNvSpPr txBox="1"/>
          <p:nvPr/>
        </p:nvSpPr>
        <p:spPr>
          <a:xfrm>
            <a:off x="950976" y="331469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Rectangular prism</a:t>
            </a:r>
            <a:endParaRPr/>
          </a:p>
        </p:txBody>
      </p:sp>
      <p:sp>
        <p:nvSpPr>
          <p:cNvPr id="373" name="Google Shape;373;p45"/>
          <p:cNvSpPr txBox="1"/>
          <p:nvPr/>
        </p:nvSpPr>
        <p:spPr>
          <a:xfrm>
            <a:off x="950976" y="3653027"/>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400" u="none" cap="none" strike="noStrike">
                <a:solidFill>
                  <a:srgbClr val="475569"/>
                </a:solidFill>
                <a:latin typeface="Arial"/>
                <a:ea typeface="Arial"/>
                <a:cs typeface="Arial"/>
                <a:sym typeface="Arial"/>
              </a:rPr>
              <a:t>A solid box shape with six flat rectangle sides</a:t>
            </a:r>
            <a:endParaRPr/>
          </a:p>
        </p:txBody>
      </p:sp>
      <p:sp>
        <p:nvSpPr>
          <p:cNvPr id="374" name="Google Shape;374;p45"/>
          <p:cNvSpPr/>
          <p:nvPr/>
        </p:nvSpPr>
        <p:spPr>
          <a:xfrm>
            <a:off x="6260576" y="3177539"/>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5" name="Google Shape;375;p45"/>
          <p:cNvSpPr/>
          <p:nvPr/>
        </p:nvSpPr>
        <p:spPr>
          <a:xfrm>
            <a:off x="6260576" y="3177539"/>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6" name="Google Shape;376;p45"/>
          <p:cNvSpPr txBox="1"/>
          <p:nvPr/>
        </p:nvSpPr>
        <p:spPr>
          <a:xfrm>
            <a:off x="6571472" y="331469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Cubic units</a:t>
            </a:r>
            <a:endParaRPr/>
          </a:p>
        </p:txBody>
      </p:sp>
      <p:sp>
        <p:nvSpPr>
          <p:cNvPr id="377" name="Google Shape;377;p45"/>
          <p:cNvSpPr txBox="1"/>
          <p:nvPr/>
        </p:nvSpPr>
        <p:spPr>
          <a:xfrm>
            <a:off x="6571472" y="3653027"/>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250" u="none" cap="none" strike="noStrike">
                <a:solidFill>
                  <a:srgbClr val="475569"/>
                </a:solidFill>
                <a:latin typeface="Arial"/>
                <a:ea typeface="Arial"/>
                <a:cs typeface="Arial"/>
                <a:sym typeface="Arial"/>
              </a:rPr>
              <a:t>The units used to measure space inside, like cubic inches</a:t>
            </a:r>
            <a:endParaRPr/>
          </a:p>
        </p:txBody>
      </p:sp>
      <p:sp>
        <p:nvSpPr>
          <p:cNvPr id="378" name="Google Shape;378;p45"/>
          <p:cNvSpPr/>
          <p:nvPr/>
        </p:nvSpPr>
        <p:spPr>
          <a:xfrm>
            <a:off x="640080" y="425196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9" name="Google Shape;379;p45"/>
          <p:cNvSpPr/>
          <p:nvPr/>
        </p:nvSpPr>
        <p:spPr>
          <a:xfrm>
            <a:off x="640080" y="425196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0" name="Google Shape;380;p45"/>
          <p:cNvSpPr txBox="1"/>
          <p:nvPr/>
        </p:nvSpPr>
        <p:spPr>
          <a:xfrm>
            <a:off x="950976" y="4389120"/>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Length, width, height</a:t>
            </a:r>
            <a:endParaRPr/>
          </a:p>
        </p:txBody>
      </p:sp>
      <p:sp>
        <p:nvSpPr>
          <p:cNvPr id="381" name="Google Shape;381;p45"/>
          <p:cNvSpPr txBox="1"/>
          <p:nvPr/>
        </p:nvSpPr>
        <p:spPr>
          <a:xfrm>
            <a:off x="950976" y="472744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400" u="none" cap="none" strike="noStrike">
                <a:solidFill>
                  <a:srgbClr val="475569"/>
                </a:solidFill>
                <a:latin typeface="Arial"/>
                <a:ea typeface="Arial"/>
                <a:cs typeface="Arial"/>
                <a:sym typeface="Arial"/>
              </a:rPr>
              <a:t>How long, how wide, and how tall a box is</a:t>
            </a:r>
            <a:endParaRPr/>
          </a:p>
        </p:txBody>
      </p:sp>
      <p:sp>
        <p:nvSpPr>
          <p:cNvPr id="382" name="Google Shape;382;p45"/>
          <p:cNvSpPr/>
          <p:nvPr/>
        </p:nvSpPr>
        <p:spPr>
          <a:xfrm>
            <a:off x="6260576" y="425196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3" name="Google Shape;383;p45"/>
          <p:cNvSpPr/>
          <p:nvPr/>
        </p:nvSpPr>
        <p:spPr>
          <a:xfrm>
            <a:off x="6260576" y="425196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4" name="Google Shape;384;p45"/>
          <p:cNvSpPr txBox="1"/>
          <p:nvPr/>
        </p:nvSpPr>
        <p:spPr>
          <a:xfrm>
            <a:off x="6571472" y="4389120"/>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Net</a:t>
            </a:r>
            <a:endParaRPr/>
          </a:p>
        </p:txBody>
      </p:sp>
      <p:sp>
        <p:nvSpPr>
          <p:cNvPr id="385" name="Google Shape;385;p45"/>
          <p:cNvSpPr txBox="1"/>
          <p:nvPr/>
        </p:nvSpPr>
        <p:spPr>
          <a:xfrm>
            <a:off x="6571472" y="472744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400" u="none" cap="none" strike="noStrike">
                <a:solidFill>
                  <a:srgbClr val="475569"/>
                </a:solidFill>
                <a:latin typeface="Arial"/>
                <a:ea typeface="Arial"/>
                <a:cs typeface="Arial"/>
                <a:sym typeface="Arial"/>
              </a:rPr>
              <a:t>A flat shape that folds up into a solid</a:t>
            </a:r>
            <a:endParaRPr/>
          </a:p>
        </p:txBody>
      </p:sp>
      <p:sp>
        <p:nvSpPr>
          <p:cNvPr id="386" name="Google Shape;386;p45"/>
          <p:cNvSpPr/>
          <p:nvPr/>
        </p:nvSpPr>
        <p:spPr>
          <a:xfrm>
            <a:off x="640080" y="532638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7" name="Google Shape;387;p45"/>
          <p:cNvSpPr/>
          <p:nvPr/>
        </p:nvSpPr>
        <p:spPr>
          <a:xfrm>
            <a:off x="640080" y="532638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8" name="Google Shape;388;p45"/>
          <p:cNvSpPr txBox="1"/>
          <p:nvPr/>
        </p:nvSpPr>
        <p:spPr>
          <a:xfrm>
            <a:off x="950976" y="5463540"/>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Edge</a:t>
            </a:r>
            <a:endParaRPr/>
          </a:p>
        </p:txBody>
      </p:sp>
      <p:sp>
        <p:nvSpPr>
          <p:cNvPr id="389" name="Google Shape;389;p45"/>
          <p:cNvSpPr txBox="1"/>
          <p:nvPr/>
        </p:nvSpPr>
        <p:spPr>
          <a:xfrm>
            <a:off x="950976" y="580186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400" u="none" cap="none" strike="noStrike">
                <a:solidFill>
                  <a:srgbClr val="475569"/>
                </a:solidFill>
                <a:latin typeface="Arial"/>
                <a:ea typeface="Arial"/>
                <a:cs typeface="Arial"/>
                <a:sym typeface="Arial"/>
              </a:rPr>
              <a:t>The line where two flat sides of a solid meet</a:t>
            </a:r>
            <a:endParaRPr/>
          </a:p>
        </p:txBody>
      </p:sp>
      <p:sp>
        <p:nvSpPr>
          <p:cNvPr id="39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16 / 51</a:t>
            </a:r>
          </a:p>
        </p:txBody>
      </p:sp>
      <p:sp xmlns:p="http://schemas.openxmlformats.org/presentationml/2006/main" xmlns:a="http://schemas.openxmlformats.org/drawingml/2006/main">
        <p:nvSpPr>
          <p:cNvPr id="391" name="TEACH-embedded-student-prompt" descr="Student thinking and response directions"/>
          <p:cNvSpPr txBox="1"/>
          <p:nvPr/>
        </p:nvSpPr>
        <p:spPr>
          <a:xfrm>
            <a:off x="6111240" y="550468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one math word using the example.</a:t>
            </a:r>
            <a:endParaRPr lang="en-US" sz="2000"/>
          </a:p>
          <a:p>
            <a:pPr>
              <a:lnSpc>
                <a:spcPts val="2400"/>
              </a:lnSpc>
              <a:buNone/>
            </a:pPr>
            <a:r>
              <a:rPr lang="en-US" sz="2000">
                <a:solidFill>
                  <a:srgbClr val="174D60"/>
                </a:solidFill>
                <a:latin typeface="Arial"/>
              </a:rPr>
              <a:t>Partner: point to evidence.</a:t>
            </a:r>
            <a:endParaRPr lang="en-US" sz="20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cxnSp>
        <p:nvCxnSpPr>
          <p:cNvPr id="605" name="Google Shape;605;p5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06" name="Google Shape;606;p58"/>
          <p:cNvSpPr txBox="1"/>
          <p:nvPr/>
        </p:nvSpPr>
        <p:spPr>
          <a:xfrm>
            <a:off x="484564" y="936000"/>
            <a:ext cx="7232972" cy="3370824"/>
          </a:xfrm>
          <a:prstGeom prst="rect">
            <a:avLst/>
          </a:prstGeom>
          <a:blipFill rotWithShape="1">
            <a:blip r:embed="rId3">
              <a:alphaModFix/>
            </a:blip>
            <a:stretch>
              <a:fillRect b="-2532" l="-1685" r="-1095"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607" name="Google Shape;607;p58"/>
          <p:cNvSpPr txBox="1"/>
          <p:nvPr/>
        </p:nvSpPr>
        <p:spPr>
          <a:xfrm>
            <a:off x="486000" y="5220000"/>
            <a:ext cx="9917662" cy="106615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pPr>
            <a:r>
              <a:rPr b="1" i="0" lang="en-US" sz="2800" u="none" cap="none" strike="noStrike">
                <a:solidFill>
                  <a:schemeClr val="lt1"/>
                </a:solidFill>
                <a:highlight>
                  <a:srgbClr val="1E2682"/>
                </a:highlight>
                <a:latin typeface="Arial"/>
                <a:ea typeface="Arial"/>
                <a:cs typeface="Arial"/>
                <a:sym typeface="Arial"/>
              </a:rPr>
              <a:t> Think About It</a:t>
            </a:r>
            <a:r>
              <a:rPr b="1" i="0" lang="en-US" sz="2800" u="none" cap="none" strike="noStrike">
                <a:solidFill>
                  <a:srgbClr val="1E2682"/>
                </a:solidFill>
                <a:highlight>
                  <a:srgbClr val="1E2682"/>
                </a:highlight>
                <a:latin typeface="Arial"/>
                <a:ea typeface="Arial"/>
                <a:cs typeface="Arial"/>
                <a:sym typeface="Arial"/>
              </a:rPr>
              <a:t>:</a:t>
            </a:r>
            <a:r>
              <a:rPr b="1" i="0" lang="en-US" sz="2800" u="none" cap="none" strike="noStrike">
                <a:solidFill>
                  <a:schemeClr val="lt1"/>
                </a:solidFill>
                <a:highlight>
                  <a:srgbClr val="1E2682"/>
                </a:highlight>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2800"/>
              <a:buFont typeface="Arial"/>
              <a:buNone/>
            </a:pPr>
            <a:r>
              <a:t/>
            </a:r>
            <a:endParaRPr b="0" i="0" sz="2800" u="none" cap="none" strike="noStrike">
              <a:solidFill>
                <a:srgbClr val="595959"/>
              </a:solidFill>
              <a:latin typeface="Arial"/>
              <a:ea typeface="Arial"/>
              <a:cs typeface="Arial"/>
              <a:sym typeface="Arial"/>
            </a:endParaRPr>
          </a:p>
        </p:txBody>
      </p:sp>
      <p:pic>
        <p:nvPicPr>
          <p:cNvPr id="608" name="Google Shape;608;p58"/>
          <p:cNvPicPr preferRelativeResize="0"/>
          <p:nvPr/>
        </p:nvPicPr>
        <p:blipFill rotWithShape="1">
          <a:blip r:embed="rId4">
            <a:alphaModFix/>
          </a:blip>
          <a:srcRect b="0" l="0" r="0" t="0"/>
          <a:stretch/>
        </p:blipFill>
        <p:spPr>
          <a:xfrm>
            <a:off x="7863840" y="2371725"/>
            <a:ext cx="3552825" cy="2114550"/>
          </a:xfrm>
          <a:prstGeom prst="rect">
            <a:avLst/>
          </a:prstGeom>
          <a:noFill/>
          <a:ln>
            <a:noFill/>
          </a:ln>
        </p:spPr>
      </p:pic>
      <p:sp>
        <p:nvSpPr>
          <p:cNvPr id="609" name="Google Shape;609;p58"/>
          <p:cNvSpPr txBox="1"/>
          <p:nvPr/>
        </p:nvSpPr>
        <p:spPr>
          <a:xfrm>
            <a:off x="484565" y="316034"/>
            <a:ext cx="5611436"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Volume of a Rectangular Prism</a:t>
            </a:r>
            <a:endParaRPr b="0" i="0" sz="1400" u="none" cap="none" strike="noStrike">
              <a:solidFill>
                <a:srgbClr val="000000"/>
              </a:solidFill>
              <a:latin typeface="Arial"/>
              <a:ea typeface="Arial"/>
              <a:cs typeface="Arial"/>
              <a:sym typeface="Arial"/>
            </a:endParaRPr>
          </a:p>
        </p:txBody>
      </p:sp>
      <p:sp>
        <p:nvSpPr>
          <p:cNvPr id="61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17 / 51</a:t>
            </a:r>
          </a:p>
        </p:txBody>
      </p:sp>
      <p:sp xmlns:p="http://schemas.openxmlformats.org/presentationml/2006/main" xmlns:a="http://schemas.openxmlformats.org/drawingml/2006/main">
        <p:nvSpPr>
          <p:cNvPr id="611" name="TEACH-embedded-student-prompt" descr="Student thinking and response directions"/>
          <p:cNvSpPr txBox="1"/>
          <p:nvPr/>
        </p:nvSpPr>
        <p:spPr>
          <a:xfrm>
            <a:off x="594360" y="462686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how the information shown supports your reasoning.</a:t>
            </a:r>
            <a:endParaRPr lang="en-US" sz="20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cxnSp>
        <p:nvCxnSpPr>
          <p:cNvPr id="713" name="Google Shape;713;p70"/>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14" name="Google Shape;714;p70"/>
          <p:cNvSpPr txBox="1"/>
          <p:nvPr/>
        </p:nvSpPr>
        <p:spPr>
          <a:xfrm>
            <a:off x="484565" y="4247017"/>
            <a:ext cx="11407558" cy="210615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600"/>
              <a:buFont typeface="Arial"/>
              <a:buNone/>
              <a:defRPr/>
            </a:pPr>
            <a:r>
              <a:rPr b="0" i="0" lang="en-US" sz="2600" u="none" cap="none" strike="noStrike">
                <a:solidFill>
                  <a:srgbClr val="595959"/>
                </a:solidFill>
                <a:latin typeface="Arial"/>
                <a:ea typeface="Arial"/>
                <a:cs typeface="Arial"/>
                <a:sym typeface="Arial"/>
              </a:rPr>
              <a:t>To find the area of some two-dimensional figures, like rectangles, you multiply the two dimensions: length and width. To find the volume of a three-dimensional rectangular prism, you multiply the three dimensions: length, width, and height.</a:t>
            </a:r>
            <a:endParaRPr b="1" i="0" sz="2600" u="none" cap="none" strike="noStrike">
              <a:solidFill>
                <a:srgbClr val="0070C0"/>
              </a:solidFill>
              <a:latin typeface="Arial"/>
              <a:ea typeface="Arial"/>
              <a:cs typeface="Arial"/>
              <a:sym typeface="Arial"/>
            </a:endParaRPr>
          </a:p>
        </p:txBody>
      </p:sp>
      <p:sp>
        <p:nvSpPr>
          <p:cNvPr id="715" name="Google Shape;715;p70"/>
          <p:cNvSpPr txBox="1"/>
          <p:nvPr/>
        </p:nvSpPr>
        <p:spPr>
          <a:xfrm>
            <a:off x="484564" y="936001"/>
            <a:ext cx="6925885" cy="2207250"/>
          </a:xfrm>
          <a:prstGeom prst="rect">
            <a:avLst/>
          </a:prstGeom>
          <a:blipFill rotWithShape="1">
            <a:blip r:embed="rId3">
              <a:alphaModFix/>
            </a:blip>
            <a:stretch>
              <a:fillRect b="0" l="-1583" r="-2551" t="-2762"/>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716" name="Google Shape;716;p70"/>
          <p:cNvSpPr/>
          <p:nvPr/>
        </p:nvSpPr>
        <p:spPr>
          <a:xfrm>
            <a:off x="484564" y="3248858"/>
            <a:ext cx="6487735" cy="89255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defRPr/>
            </a:pPr>
            <a:r>
              <a:rPr b="1" i="0" lang="en-US" sz="2600" u="none" cap="none" strike="noStrike">
                <a:solidFill>
                  <a:schemeClr val="dk1"/>
                </a:solidFill>
                <a:latin typeface="Arial"/>
                <a:ea typeface="Arial"/>
                <a:cs typeface="Arial"/>
                <a:sym typeface="Arial"/>
              </a:rPr>
              <a:t>How does the volume formula relate to area formulas you have used before?</a:t>
            </a:r>
            <a:r>
              <a:rPr b="0" i="0" lang="en-US" sz="2600" u="none" cap="none" strike="noStrike">
                <a:solidFill>
                  <a:schemeClr val="dk1"/>
                </a:solidFill>
                <a:latin typeface="Arial"/>
                <a:ea typeface="Arial"/>
                <a:cs typeface="Arial"/>
                <a:sym typeface="Arial"/>
              </a:rPr>
              <a:t> </a:t>
            </a:r>
            <a:endParaRPr b="0" i="0" sz="2600" u="none" cap="none" strike="noStrike">
              <a:solidFill>
                <a:schemeClr val="dk1"/>
              </a:solidFill>
              <a:latin typeface="Arial"/>
              <a:ea typeface="Arial"/>
              <a:cs typeface="Arial"/>
              <a:sym typeface="Arial"/>
            </a:endParaRPr>
          </a:p>
        </p:txBody>
      </p:sp>
      <p:pic>
        <p:nvPicPr>
          <p:cNvPr id="717" name="Google Shape;717;p70"/>
          <p:cNvPicPr preferRelativeResize="0"/>
          <p:nvPr/>
        </p:nvPicPr>
        <p:blipFill rotWithShape="1">
          <a:blip r:embed="rId4">
            <a:alphaModFix/>
          </a:blip>
          <a:srcRect b="0" l="0" r="0" t="0"/>
          <a:stretch/>
        </p:blipFill>
        <p:spPr>
          <a:xfrm>
            <a:off x="7248525" y="2225362"/>
            <a:ext cx="4696506" cy="2268000"/>
          </a:xfrm>
          <a:prstGeom prst="rect">
            <a:avLst/>
          </a:prstGeom>
          <a:noFill/>
          <a:ln>
            <a:noFill/>
          </a:ln>
        </p:spPr>
      </p:pic>
      <p:sp>
        <p:nvSpPr>
          <p:cNvPr id="718" name="Google Shape;718;p70"/>
          <p:cNvSpPr txBox="1"/>
          <p:nvPr/>
        </p:nvSpPr>
        <p:spPr>
          <a:xfrm>
            <a:off x="484565" y="316034"/>
            <a:ext cx="5611436"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Volume of a Rectangular Prism</a:t>
            </a:r>
            <a:endParaRPr b="0" i="0" sz="1400" u="none" cap="none" strike="noStrike">
              <a:solidFill>
                <a:srgbClr val="000000"/>
              </a:solidFill>
              <a:latin typeface="Arial"/>
              <a:ea typeface="Arial"/>
              <a:cs typeface="Arial"/>
              <a:sym typeface="Arial"/>
            </a:endParaRPr>
          </a:p>
        </p:txBody>
      </p:sp>
      <p:sp>
        <p:nvSpPr>
          <p:cNvPr id="71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18 / 51</a:t>
            </a:r>
          </a:p>
        </p:txBody>
      </p:sp>
      <p:sp>
        <p:nvSpPr>
          <p:cNvPr id="720" name="EWL-COVER-1"/>
          <p:cNvSpPr/>
          <p:nvPr/>
        </p:nvSpPr>
        <p:spPr>
          <a:xfrm>
            <a:off x="429701" y="4192153"/>
            <a:ext cx="11517286" cy="2215886"/>
          </a:xfrm>
          <a:prstGeom prst="rect">
            <a:avLst/>
          </a:prstGeom>
          <a:solidFill>
            <a:srgbClr val="FFFFFF"/>
          </a:solidFill>
          <a:ln>
            <a:noFill/>
          </a:ln>
        </p:spPr>
        <p:txBody>
          <a:bodyPr/>
          <a:lstStyl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2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3" name="Shape 733"/>
        <p:cNvGrpSpPr/>
        <p:nvPr/>
      </p:nvGrpSpPr>
      <p:grpSpPr>
        <a:xfrm>
          <a:off x="0" y="0"/>
          <a:ext cx="0" cy="0"/>
          <a:chOff x="0" y="0"/>
          <a:chExt cx="0" cy="0"/>
        </a:xfrm>
      </p:grpSpPr>
      <p:cxnSp>
        <p:nvCxnSpPr>
          <p:cNvPr id="734" name="Google Shape;734;p72"/>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35" name="Google Shape;735;p72"/>
          <p:cNvSpPr txBox="1"/>
          <p:nvPr/>
        </p:nvSpPr>
        <p:spPr>
          <a:xfrm>
            <a:off x="486000" y="4808442"/>
            <a:ext cx="11407558" cy="1569919"/>
          </a:xfrm>
          <a:prstGeom prst="rect">
            <a:avLst/>
          </a:prstGeom>
          <a:blipFill rotWithShape="1">
            <a:blip r:embed="rId3">
              <a:alphaModFix/>
            </a:blip>
            <a:stretch>
              <a:fillRect b="-8171" l="-1122" r="0" t="-428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736" name="Google Shape;736;p72"/>
          <p:cNvSpPr txBox="1"/>
          <p:nvPr/>
        </p:nvSpPr>
        <p:spPr>
          <a:xfrm>
            <a:off x="486000" y="936000"/>
            <a:ext cx="7669879" cy="143301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To find the volume of a three-dimensional rectangular prism, you multiply the three dimensions: length, width, and height.</a:t>
            </a:r>
            <a:endParaRPr b="0" i="0" sz="1400" u="none" cap="none" strike="noStrike">
              <a:solidFill>
                <a:srgbClr val="000000"/>
              </a:solidFill>
              <a:latin typeface="Arial"/>
              <a:ea typeface="Arial"/>
              <a:cs typeface="Arial"/>
              <a:sym typeface="Arial"/>
            </a:endParaRPr>
          </a:p>
        </p:txBody>
      </p:sp>
      <p:sp>
        <p:nvSpPr>
          <p:cNvPr id="737" name="Google Shape;737;p72"/>
          <p:cNvSpPr/>
          <p:nvPr/>
        </p:nvSpPr>
        <p:spPr>
          <a:xfrm>
            <a:off x="486000" y="3646206"/>
            <a:ext cx="6965903"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How can you determine the length, width, and height of the prism?</a:t>
            </a:r>
            <a:endParaRPr b="0" i="0" sz="2800" u="none" cap="none" strike="noStrike">
              <a:solidFill>
                <a:schemeClr val="dk1"/>
              </a:solidFill>
              <a:latin typeface="Arial"/>
              <a:ea typeface="Arial"/>
              <a:cs typeface="Arial"/>
              <a:sym typeface="Arial"/>
            </a:endParaRPr>
          </a:p>
        </p:txBody>
      </p:sp>
      <p:sp>
        <p:nvSpPr>
          <p:cNvPr id="738" name="Google Shape;738;p72"/>
          <p:cNvSpPr/>
          <p:nvPr/>
        </p:nvSpPr>
        <p:spPr>
          <a:xfrm>
            <a:off x="486000" y="2509353"/>
            <a:ext cx="6911045" cy="954107"/>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id="739" name="Google Shape;739;p72"/>
          <p:cNvPicPr preferRelativeResize="0"/>
          <p:nvPr/>
        </p:nvPicPr>
        <p:blipFill rotWithShape="1">
          <a:blip r:embed="rId5">
            <a:alphaModFix/>
          </a:blip>
          <a:srcRect b="0" l="0" r="0" t="0"/>
          <a:stretch/>
        </p:blipFill>
        <p:spPr>
          <a:xfrm>
            <a:off x="7863840" y="2371725"/>
            <a:ext cx="3552825" cy="2114550"/>
          </a:xfrm>
          <a:prstGeom prst="rect">
            <a:avLst/>
          </a:prstGeom>
          <a:noFill/>
          <a:ln>
            <a:noFill/>
          </a:ln>
        </p:spPr>
      </p:pic>
      <p:sp>
        <p:nvSpPr>
          <p:cNvPr id="740" name="Google Shape;740;p72"/>
          <p:cNvSpPr txBox="1"/>
          <p:nvPr/>
        </p:nvSpPr>
        <p:spPr>
          <a:xfrm>
            <a:off x="484565" y="316034"/>
            <a:ext cx="5611436"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Volume of a Rectangular Prism</a:t>
            </a:r>
            <a:endParaRPr b="0" i="0" sz="1400" u="none" cap="none" strike="noStrike">
              <a:solidFill>
                <a:srgbClr val="000000"/>
              </a:solidFill>
              <a:latin typeface="Arial"/>
              <a:ea typeface="Arial"/>
              <a:cs typeface="Arial"/>
              <a:sym typeface="Arial"/>
            </a:endParaRPr>
          </a:p>
        </p:txBody>
      </p:sp>
      <p:sp>
        <p:nvSpPr>
          <p:cNvPr id="74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19 / 51</a:t>
            </a: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4" name="Shape 744"/>
        <p:cNvGrpSpPr/>
        <p:nvPr/>
      </p:nvGrpSpPr>
      <p:grpSpPr>
        <a:xfrm>
          <a:off x="0" y="0"/>
          <a:ext cx="0" cy="0"/>
          <a:chOff x="0" y="0"/>
          <a:chExt cx="0" cy="0"/>
        </a:xfrm>
      </p:grpSpPr>
      <p:cxnSp>
        <p:nvCxnSpPr>
          <p:cNvPr id="745" name="Google Shape;745;p7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46" name="Google Shape;746;p73"/>
          <p:cNvSpPr txBox="1"/>
          <p:nvPr/>
        </p:nvSpPr>
        <p:spPr>
          <a:xfrm>
            <a:off x="484564" y="968774"/>
            <a:ext cx="8468936" cy="9864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Let’s use the dimensions of the unit cube to determine the dimensions of the rectangular prism.​</a:t>
            </a:r>
            <a:endParaRPr b="0" i="0" sz="1400" u="none" cap="none" strike="noStrike">
              <a:solidFill>
                <a:srgbClr val="000000"/>
              </a:solidFill>
              <a:latin typeface="Arial"/>
              <a:ea typeface="Arial"/>
              <a:cs typeface="Arial"/>
              <a:sym typeface="Arial"/>
            </a:endParaRPr>
          </a:p>
        </p:txBody>
      </p:sp>
      <p:sp>
        <p:nvSpPr>
          <p:cNvPr id="747" name="Google Shape;747;p73"/>
          <p:cNvSpPr txBox="1"/>
          <p:nvPr/>
        </p:nvSpPr>
        <p:spPr>
          <a:xfrm>
            <a:off x="484564" y="2309749"/>
            <a:ext cx="4935161" cy="3032625"/>
          </a:xfrm>
          <a:prstGeom prst="rect">
            <a:avLst/>
          </a:prstGeom>
          <a:blipFill rotWithShape="1">
            <a:blip r:embed="rId3">
              <a:alphaModFix/>
            </a:blip>
            <a:stretch>
              <a:fillRect b="0" l="-2469" r="-2963" t="-2213"/>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id="748" name="Google Shape;748;p73"/>
          <p:cNvPicPr preferRelativeResize="0"/>
          <p:nvPr/>
        </p:nvPicPr>
        <p:blipFill rotWithShape="1">
          <a:blip r:embed="rId4">
            <a:alphaModFix/>
          </a:blip>
          <a:srcRect b="0" l="0" r="0" t="0"/>
          <a:stretch/>
        </p:blipFill>
        <p:spPr>
          <a:xfrm>
            <a:off x="6300000" y="2160000"/>
            <a:ext cx="5728809" cy="2880000"/>
          </a:xfrm>
          <a:prstGeom prst="rect">
            <a:avLst/>
          </a:prstGeom>
          <a:noFill/>
          <a:ln>
            <a:noFill/>
          </a:ln>
        </p:spPr>
      </p:pic>
      <p:sp>
        <p:nvSpPr>
          <p:cNvPr id="749" name="Google Shape;749;p73"/>
          <p:cNvSpPr txBox="1"/>
          <p:nvPr/>
        </p:nvSpPr>
        <p:spPr>
          <a:xfrm>
            <a:off x="484565" y="316034"/>
            <a:ext cx="5611436"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Volume of a Rectangular Prism</a:t>
            </a:r>
            <a:endParaRPr b="0" i="0" sz="1400" u="none" cap="none" strike="noStrike">
              <a:solidFill>
                <a:srgbClr val="000000"/>
              </a:solidFill>
              <a:latin typeface="Arial"/>
              <a:ea typeface="Arial"/>
              <a:cs typeface="Arial"/>
              <a:sym typeface="Arial"/>
            </a:endParaRPr>
          </a:p>
        </p:txBody>
      </p:sp>
      <p:sp>
        <p:nvSpPr>
          <p:cNvPr id="75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21 / 51</a:t>
            </a:r>
          </a:p>
        </p:txBody>
      </p:sp>
      <p:sp xmlns:p="http://schemas.openxmlformats.org/presentationml/2006/main" xmlns:a="http://schemas.openxmlformats.org/drawingml/2006/main">
        <p:nvSpPr>
          <p:cNvPr id="751" name="TEACH-embedded-student-prompt" descr="Student thinking and response directions"/>
          <p:cNvSpPr txBox="1"/>
          <p:nvPr/>
        </p:nvSpPr>
        <p:spPr>
          <a:xfrm>
            <a:off x="594360" y="572414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how the information shown supports your reasoning.</a:t>
            </a:r>
            <a:endParaRPr lang="en-US" sz="20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2" name="Shape 762"/>
        <p:cNvGrpSpPr/>
        <p:nvPr/>
      </p:nvGrpSpPr>
      <p:grpSpPr>
        <a:xfrm>
          <a:off x="0" y="0"/>
          <a:ext cx="0" cy="0"/>
          <a:chOff x="0" y="0"/>
          <a:chExt cx="0" cy="0"/>
        </a:xfrm>
      </p:grpSpPr>
      <p:cxnSp>
        <p:nvCxnSpPr>
          <p:cNvPr id="763" name="Google Shape;763;p7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64" name="Google Shape;764;p75"/>
          <p:cNvSpPr txBox="1"/>
          <p:nvPr/>
        </p:nvSpPr>
        <p:spPr>
          <a:xfrm>
            <a:off x="484564" y="968774"/>
            <a:ext cx="7478336"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There are 3 unit cubes along the height of the prism.</a:t>
            </a:r>
            <a:endParaRPr b="0" i="0" sz="2800" u="none" cap="none" strike="noStrike">
              <a:solidFill>
                <a:schemeClr val="dk1"/>
              </a:solidFill>
              <a:latin typeface="Arial"/>
              <a:ea typeface="Arial"/>
              <a:cs typeface="Arial"/>
              <a:sym typeface="Arial"/>
            </a:endParaRPr>
          </a:p>
        </p:txBody>
      </p:sp>
      <p:pic>
        <p:nvPicPr>
          <p:cNvPr id="765" name="Google Shape;765;p75"/>
          <p:cNvPicPr preferRelativeResize="0"/>
          <p:nvPr/>
        </p:nvPicPr>
        <p:blipFill rotWithShape="1">
          <a:blip r:embed="rId3">
            <a:alphaModFix/>
          </a:blip>
          <a:srcRect b="0" l="0" r="0" t="0"/>
          <a:stretch/>
        </p:blipFill>
        <p:spPr>
          <a:xfrm>
            <a:off x="6300000" y="2160000"/>
            <a:ext cx="5591077" cy="2700000"/>
          </a:xfrm>
          <a:prstGeom prst="rect">
            <a:avLst/>
          </a:prstGeom>
          <a:noFill/>
          <a:ln>
            <a:noFill/>
          </a:ln>
        </p:spPr>
      </p:pic>
      <p:sp>
        <p:nvSpPr>
          <p:cNvPr id="766" name="Google Shape;766;p75"/>
          <p:cNvSpPr txBox="1"/>
          <p:nvPr/>
        </p:nvSpPr>
        <p:spPr>
          <a:xfrm>
            <a:off x="484565" y="316034"/>
            <a:ext cx="5611436"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Volume of a Rectangular Prism</a:t>
            </a:r>
            <a:endParaRPr b="0" i="0" sz="1400" u="none" cap="none" strike="noStrike">
              <a:solidFill>
                <a:srgbClr val="000000"/>
              </a:solidFill>
              <a:latin typeface="Arial"/>
              <a:ea typeface="Arial"/>
              <a:cs typeface="Arial"/>
              <a:sym typeface="Arial"/>
            </a:endParaRPr>
          </a:p>
        </p:txBody>
      </p:sp>
      <p:sp>
        <p:nvSpPr>
          <p:cNvPr id="767" name="Google Shape;767;p75"/>
          <p:cNvSpPr txBox="1"/>
          <p:nvPr/>
        </p:nvSpPr>
        <p:spPr>
          <a:xfrm>
            <a:off x="484564" y="2262649"/>
            <a:ext cx="5030411" cy="3032625"/>
          </a:xfrm>
          <a:prstGeom prst="rect">
            <a:avLst/>
          </a:prstGeom>
          <a:blipFill rotWithShape="1">
            <a:blip r:embed="rId4">
              <a:alphaModFix/>
            </a:blip>
            <a:stretch>
              <a:fillRect b="0" l="-2421" r="-969" t="-2008"/>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76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22 / 51</a:t>
            </a:r>
          </a:p>
        </p:txBody>
      </p:sp>
      <p:sp xmlns:p="http://schemas.openxmlformats.org/presentationml/2006/main" xmlns:a="http://schemas.openxmlformats.org/drawingml/2006/main">
        <p:nvSpPr>
          <p:cNvPr id="769" name="TEACH-embedded-student-prompt" descr="Student thinking and response directions"/>
          <p:cNvSpPr txBox="1"/>
          <p:nvPr/>
        </p:nvSpPr>
        <p:spPr>
          <a:xfrm>
            <a:off x="594360" y="572414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how the information shown supports your reasoning.</a:t>
            </a:r>
            <a:endParaRPr lang="en-US" sz="20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cxnSp>
        <p:nvCxnSpPr>
          <p:cNvPr id="782" name="Google Shape;782;p7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83" name="Google Shape;783;p77"/>
          <p:cNvSpPr txBox="1"/>
          <p:nvPr/>
        </p:nvSpPr>
        <p:spPr>
          <a:xfrm>
            <a:off x="484564" y="4819650"/>
            <a:ext cx="11149014" cy="1479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We substitute the dimensions of the prism for the corresponding variables in the formula.</a:t>
            </a:r>
            <a:endParaRPr b="1" i="0" sz="2800" u="none" cap="none" strike="noStrike">
              <a:solidFill>
                <a:srgbClr val="0070C0"/>
              </a:solidFill>
              <a:latin typeface="Arial"/>
              <a:ea typeface="Arial"/>
              <a:cs typeface="Arial"/>
              <a:sym typeface="Arial"/>
            </a:endParaRPr>
          </a:p>
        </p:txBody>
      </p:sp>
      <p:sp>
        <p:nvSpPr>
          <p:cNvPr id="784" name="Google Shape;784;p77"/>
          <p:cNvSpPr/>
          <p:nvPr/>
        </p:nvSpPr>
        <p:spPr>
          <a:xfrm>
            <a:off x="484564" y="2166917"/>
            <a:ext cx="5611437"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How do you use the formula to find the volume of the prism?</a:t>
            </a:r>
            <a:endParaRPr b="0" i="0" sz="2800" u="none" cap="none" strike="noStrike">
              <a:solidFill>
                <a:schemeClr val="dk1"/>
              </a:solidFill>
              <a:latin typeface="Arial"/>
              <a:ea typeface="Arial"/>
              <a:cs typeface="Arial"/>
              <a:sym typeface="Arial"/>
            </a:endParaRPr>
          </a:p>
        </p:txBody>
      </p:sp>
      <p:sp>
        <p:nvSpPr>
          <p:cNvPr id="785" name="Google Shape;785;p77"/>
          <p:cNvSpPr/>
          <p:nvPr/>
        </p:nvSpPr>
        <p:spPr>
          <a:xfrm>
            <a:off x="484564" y="957600"/>
            <a:ext cx="6725861" cy="954107"/>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id="786" name="Google Shape;786;p77"/>
          <p:cNvPicPr preferRelativeResize="0"/>
          <p:nvPr/>
        </p:nvPicPr>
        <p:blipFill rotWithShape="1">
          <a:blip r:embed="rId4">
            <a:alphaModFix/>
          </a:blip>
          <a:srcRect b="0" l="0" r="0" t="0"/>
          <a:stretch/>
        </p:blipFill>
        <p:spPr>
          <a:xfrm>
            <a:off x="6300000" y="2160000"/>
            <a:ext cx="5591077" cy="2700000"/>
          </a:xfrm>
          <a:prstGeom prst="rect">
            <a:avLst/>
          </a:prstGeom>
          <a:noFill/>
          <a:ln>
            <a:noFill/>
          </a:ln>
        </p:spPr>
      </p:pic>
      <p:sp>
        <p:nvSpPr>
          <p:cNvPr id="787" name="Google Shape;787;p77"/>
          <p:cNvSpPr txBox="1"/>
          <p:nvPr/>
        </p:nvSpPr>
        <p:spPr>
          <a:xfrm>
            <a:off x="484565" y="316034"/>
            <a:ext cx="5611436"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Volume of a Rectangular Prism</a:t>
            </a:r>
            <a:endParaRPr b="0" i="0" sz="1400" u="none" cap="none" strike="noStrike">
              <a:solidFill>
                <a:srgbClr val="000000"/>
              </a:solidFill>
              <a:latin typeface="Arial"/>
              <a:ea typeface="Arial"/>
              <a:cs typeface="Arial"/>
              <a:sym typeface="Arial"/>
            </a:endParaRPr>
          </a:p>
        </p:txBody>
      </p:sp>
      <p:sp>
        <p:nvSpPr>
          <p:cNvPr id="78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23 / 51</a:t>
            </a:r>
          </a:p>
        </p:txBody>
      </p:sp>
      <p:sp>
        <p:nvSpPr>
          <p:cNvPr id="789" name="EWL-COVER-1"/>
          <p:cNvSpPr/>
          <p:nvPr/>
        </p:nvSpPr>
        <p:spPr>
          <a:xfrm>
            <a:off x="429700" y="4764786"/>
            <a:ext cx="11258742" cy="1589628"/>
          </a:xfrm>
          <a:prstGeom prst="rect">
            <a:avLst/>
          </a:prstGeom>
          <a:solidFill>
            <a:srgbClr val="FFFFFF"/>
          </a:solidFill>
          <a:ln>
            <a:noFill/>
          </a:ln>
        </p:spPr>
        <p:txBody>
          <a:bodyPr/>
          <a:lstStyle/>
          <a:p/>
        </p:txBody>
      </p:sp>
      <p:sp xmlns:p="http://schemas.openxmlformats.org/presentationml/2006/main" xmlns:a="http://schemas.openxmlformats.org/drawingml/2006/main">
        <p:nvSpPr>
          <p:cNvPr id="790" name="TEACH-embedded-student-prompt" descr="Student thinking and response directions"/>
          <p:cNvSpPr txBox="1"/>
          <p:nvPr/>
        </p:nvSpPr>
        <p:spPr>
          <a:xfrm>
            <a:off x="594360" y="385876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 reveal.</a:t>
            </a:r>
            <a:endParaRPr lang="en-US" sz="2000"/>
          </a:p>
          <a:p>
            <a:pPr>
              <a:lnSpc>
                <a:spcPts val="2400"/>
              </a:lnSpc>
              <a:buNone/>
            </a:pPr>
            <a:r>
              <a:rPr lang="en-US" sz="2000">
                <a:solidFill>
                  <a:srgbClr val="174D60"/>
                </a:solidFill>
                <a:latin typeface="Arial"/>
              </a:rPr>
              <a:t>Compare, then explain 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8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cxnSp>
        <p:nvCxnSpPr>
          <p:cNvPr id="792" name="Google Shape;792;p7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pic>
        <p:nvPicPr>
          <p:cNvPr id="793" name="Google Shape;793;p78"/>
          <p:cNvPicPr preferRelativeResize="0"/>
          <p:nvPr/>
        </p:nvPicPr>
        <p:blipFill rotWithShape="1">
          <a:blip r:embed="rId3">
            <a:alphaModFix/>
          </a:blip>
          <a:srcRect b="0" l="0" r="0" t="0"/>
          <a:stretch/>
        </p:blipFill>
        <p:spPr>
          <a:xfrm>
            <a:off x="484564" y="5085036"/>
            <a:ext cx="9147096" cy="838200"/>
          </a:xfrm>
          <a:prstGeom prst="rect">
            <a:avLst/>
          </a:prstGeom>
          <a:noFill/>
          <a:ln>
            <a:noFill/>
          </a:ln>
        </p:spPr>
      </p:pic>
      <p:sp>
        <p:nvSpPr>
          <p:cNvPr id="794" name="Google Shape;794;p78"/>
          <p:cNvSpPr txBox="1"/>
          <p:nvPr/>
        </p:nvSpPr>
        <p:spPr>
          <a:xfrm>
            <a:off x="3051633" y="5235876"/>
            <a:ext cx="5840831"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Using Symbols Appropriately </a:t>
            </a:r>
            <a:endParaRPr b="0" i="0" sz="1400" u="none" cap="none" strike="noStrike">
              <a:solidFill>
                <a:srgbClr val="000000"/>
              </a:solidFill>
              <a:latin typeface="Arial"/>
              <a:ea typeface="Arial"/>
              <a:cs typeface="Arial"/>
              <a:sym typeface="Arial"/>
            </a:endParaRPr>
          </a:p>
        </p:txBody>
      </p:sp>
      <p:sp>
        <p:nvSpPr>
          <p:cNvPr id="795" name="Google Shape;795;p78"/>
          <p:cNvSpPr/>
          <p:nvPr/>
        </p:nvSpPr>
        <p:spPr>
          <a:xfrm>
            <a:off x="611440" y="5831796"/>
            <a:ext cx="8983283" cy="4924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595959"/>
                </a:solidFill>
                <a:latin typeface="Arial"/>
                <a:ea typeface="Arial"/>
                <a:cs typeface="Arial"/>
                <a:sym typeface="Arial"/>
              </a:rPr>
              <a:t>What units of measure are needed to be precise?</a:t>
            </a:r>
            <a:endParaRPr b="0" i="0" sz="1400" u="none" cap="none" strike="noStrike">
              <a:solidFill>
                <a:srgbClr val="000000"/>
              </a:solidFill>
              <a:latin typeface="Arial"/>
              <a:ea typeface="Arial"/>
              <a:cs typeface="Arial"/>
              <a:sym typeface="Arial"/>
            </a:endParaRPr>
          </a:p>
        </p:txBody>
      </p:sp>
      <p:sp>
        <p:nvSpPr>
          <p:cNvPr id="796" name="Google Shape;796;p78"/>
          <p:cNvSpPr/>
          <p:nvPr/>
        </p:nvSpPr>
        <p:spPr>
          <a:xfrm>
            <a:off x="484564" y="2166917"/>
            <a:ext cx="5611437"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How do you use the formula to find the volume of the prism?</a:t>
            </a:r>
            <a:endParaRPr b="0" i="0" sz="2800" u="none" cap="none" strike="noStrike">
              <a:solidFill>
                <a:schemeClr val="dk1"/>
              </a:solidFill>
              <a:latin typeface="Arial"/>
              <a:ea typeface="Arial"/>
              <a:cs typeface="Arial"/>
              <a:sym typeface="Arial"/>
            </a:endParaRPr>
          </a:p>
        </p:txBody>
      </p:sp>
      <p:sp>
        <p:nvSpPr>
          <p:cNvPr id="797" name="Google Shape;797;p78"/>
          <p:cNvSpPr/>
          <p:nvPr/>
        </p:nvSpPr>
        <p:spPr>
          <a:xfrm>
            <a:off x="484564" y="957600"/>
            <a:ext cx="6725861" cy="954107"/>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id="798" name="Google Shape;798;p78"/>
          <p:cNvPicPr preferRelativeResize="0"/>
          <p:nvPr/>
        </p:nvPicPr>
        <p:blipFill rotWithShape="1">
          <a:blip r:embed="rId5">
            <a:alphaModFix/>
          </a:blip>
          <a:srcRect b="0" l="0" r="0" t="0"/>
          <a:stretch/>
        </p:blipFill>
        <p:spPr>
          <a:xfrm>
            <a:off x="6300000" y="2160000"/>
            <a:ext cx="5591077" cy="2700000"/>
          </a:xfrm>
          <a:prstGeom prst="rect">
            <a:avLst/>
          </a:prstGeom>
          <a:noFill/>
          <a:ln>
            <a:noFill/>
          </a:ln>
        </p:spPr>
      </p:pic>
      <p:sp>
        <p:nvSpPr>
          <p:cNvPr id="799" name="Google Shape;799;p78"/>
          <p:cNvSpPr txBox="1"/>
          <p:nvPr/>
        </p:nvSpPr>
        <p:spPr>
          <a:xfrm>
            <a:off x="484565" y="316034"/>
            <a:ext cx="5611436"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Volume of a Rectangular Prism</a:t>
            </a:r>
            <a:endParaRPr b="0" i="0" sz="1400" u="none" cap="none" strike="noStrike">
              <a:solidFill>
                <a:srgbClr val="000000"/>
              </a:solidFill>
              <a:latin typeface="Arial"/>
              <a:ea typeface="Arial"/>
              <a:cs typeface="Arial"/>
              <a:sym typeface="Arial"/>
            </a:endParaRPr>
          </a:p>
        </p:txBody>
      </p:sp>
      <p:sp>
        <p:nvSpPr>
          <p:cNvPr id="80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24 / 51</a:t>
            </a:r>
          </a:p>
        </p:txBody>
      </p:sp>
      <p:sp xmlns:p="http://schemas.openxmlformats.org/presentationml/2006/main" xmlns:a="http://schemas.openxmlformats.org/drawingml/2006/main">
        <p:nvSpPr>
          <p:cNvPr id="801" name="TEACH-embedded-student-prompt" descr="Student thinking and response directions"/>
          <p:cNvSpPr txBox="1"/>
          <p:nvPr/>
        </p:nvSpPr>
        <p:spPr>
          <a:xfrm>
            <a:off x="594360" y="413308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a:t>
            </a:r>
            <a:endParaRPr lang="en-US" sz="2000"/>
          </a:p>
          <a:p>
            <a:pPr>
              <a:lnSpc>
                <a:spcPts val="2400"/>
              </a:lnSpc>
              <a:buNone/>
            </a:pPr>
            <a:r>
              <a:rPr lang="en-US" sz="2000">
                <a:solidFill>
                  <a:srgbClr val="174D60"/>
                </a:solidFill>
                <a:latin typeface="Arial"/>
              </a:rPr>
              <a:t>work supports your answer?</a:t>
            </a:r>
            <a:endParaRPr lang="en-US" sz="20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3" name="Shape 803"/>
        <p:cNvGrpSpPr/>
        <p:nvPr/>
      </p:nvGrpSpPr>
      <p:grpSpPr>
        <a:xfrm>
          <a:off x="0" y="0"/>
          <a:ext cx="0" cy="0"/>
          <a:chOff x="0" y="0"/>
          <a:chExt cx="0" cy="0"/>
        </a:xfrm>
      </p:grpSpPr>
      <p:cxnSp>
        <p:nvCxnSpPr>
          <p:cNvPr id="804" name="Google Shape;804;p7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05" name="Google Shape;805;p79"/>
          <p:cNvSpPr txBox="1"/>
          <p:nvPr/>
        </p:nvSpPr>
        <p:spPr>
          <a:xfrm>
            <a:off x="484564" y="936000"/>
            <a:ext cx="7265642" cy="101917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Let’s substitute the dimensions of the prism into the formula.​</a:t>
            </a:r>
            <a:endParaRPr b="0" i="0" sz="1400" u="none" cap="none" strike="noStrike">
              <a:solidFill>
                <a:srgbClr val="000000"/>
              </a:solidFill>
              <a:latin typeface="Arial"/>
              <a:ea typeface="Arial"/>
              <a:cs typeface="Arial"/>
              <a:sym typeface="Arial"/>
            </a:endParaRPr>
          </a:p>
        </p:txBody>
      </p:sp>
      <p:sp>
        <p:nvSpPr>
          <p:cNvPr id="806" name="Google Shape;806;p79"/>
          <p:cNvSpPr/>
          <p:nvPr/>
        </p:nvSpPr>
        <p:spPr>
          <a:xfrm>
            <a:off x="484564" y="2079000"/>
            <a:ext cx="6297236" cy="2464136"/>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id="807" name="Google Shape;807;p79"/>
          <p:cNvPicPr preferRelativeResize="0"/>
          <p:nvPr/>
        </p:nvPicPr>
        <p:blipFill rotWithShape="1">
          <a:blip r:embed="rId4">
            <a:alphaModFix/>
          </a:blip>
          <a:srcRect b="0" l="0" r="0" t="0"/>
          <a:stretch/>
        </p:blipFill>
        <p:spPr>
          <a:xfrm>
            <a:off x="6208816" y="2079000"/>
            <a:ext cx="5591077" cy="2700000"/>
          </a:xfrm>
          <a:prstGeom prst="rect">
            <a:avLst/>
          </a:prstGeom>
          <a:noFill/>
          <a:ln>
            <a:noFill/>
          </a:ln>
        </p:spPr>
      </p:pic>
      <p:sp>
        <p:nvSpPr>
          <p:cNvPr id="808" name="Google Shape;808;p79"/>
          <p:cNvSpPr txBox="1"/>
          <p:nvPr/>
        </p:nvSpPr>
        <p:spPr>
          <a:xfrm>
            <a:off x="484565" y="316034"/>
            <a:ext cx="5611436"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Volume of a Rectangular Prism</a:t>
            </a:r>
            <a:endParaRPr b="0" i="0" sz="1400" u="none" cap="none" strike="noStrike">
              <a:solidFill>
                <a:srgbClr val="000000"/>
              </a:solidFill>
              <a:latin typeface="Arial"/>
              <a:ea typeface="Arial"/>
              <a:cs typeface="Arial"/>
              <a:sym typeface="Arial"/>
            </a:endParaRPr>
          </a:p>
        </p:txBody>
      </p:sp>
      <p:sp>
        <p:nvSpPr>
          <p:cNvPr id="80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25 / 51</a:t>
            </a:r>
          </a:p>
        </p:txBody>
      </p:sp>
      <p:sp xmlns:p="http://schemas.openxmlformats.org/presentationml/2006/main" xmlns:a="http://schemas.openxmlformats.org/drawingml/2006/main">
        <p:nvSpPr>
          <p:cNvPr id="810" name="TEACH-embedded-student-prompt" descr="Student thinking and response directions"/>
          <p:cNvSpPr txBox="1"/>
          <p:nvPr/>
        </p:nvSpPr>
        <p:spPr>
          <a:xfrm>
            <a:off x="594360" y="572414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how the information shown supports your reasoning.</a:t>
            </a:r>
            <a:endParaRPr lang="en-US" sz="20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2" name="Shape 812"/>
        <p:cNvGrpSpPr/>
        <p:nvPr/>
      </p:nvGrpSpPr>
      <p:grpSpPr>
        <a:xfrm>
          <a:off x="0" y="0"/>
          <a:ext cx="0" cy="0"/>
          <a:chOff x="0" y="0"/>
          <a:chExt cx="0" cy="0"/>
        </a:xfrm>
      </p:grpSpPr>
      <p:cxnSp>
        <p:nvCxnSpPr>
          <p:cNvPr id="813" name="Google Shape;813;p80"/>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14" name="Google Shape;814;p80"/>
          <p:cNvSpPr txBox="1"/>
          <p:nvPr/>
        </p:nvSpPr>
        <p:spPr>
          <a:xfrm>
            <a:off x="484564" y="936000"/>
            <a:ext cx="7310321" cy="1236920"/>
          </a:xfrm>
          <a:prstGeom prst="rect">
            <a:avLst/>
          </a:prstGeom>
          <a:blipFill rotWithShape="1">
            <a:blip r:embed="rId3">
              <a:alphaModFix/>
            </a:blip>
            <a:stretch>
              <a:fillRect b="-4951" l="-1667"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815" name="Google Shape;815;p80"/>
          <p:cNvSpPr/>
          <p:nvPr/>
        </p:nvSpPr>
        <p:spPr>
          <a:xfrm>
            <a:off x="484564" y="2539350"/>
            <a:ext cx="5835252"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What is the volume of the prism?</a:t>
            </a:r>
            <a:endParaRPr b="0" i="0" sz="1400" u="none" cap="none" strike="noStrike">
              <a:solidFill>
                <a:srgbClr val="000000"/>
              </a:solidFill>
              <a:latin typeface="Arial"/>
              <a:ea typeface="Arial"/>
              <a:cs typeface="Arial"/>
              <a:sym typeface="Arial"/>
            </a:endParaRPr>
          </a:p>
        </p:txBody>
      </p:sp>
      <p:sp>
        <p:nvSpPr>
          <p:cNvPr id="816" name="Google Shape;816;p80"/>
          <p:cNvSpPr txBox="1"/>
          <p:nvPr/>
        </p:nvSpPr>
        <p:spPr>
          <a:xfrm>
            <a:off x="484564" y="3429000"/>
            <a:ext cx="6887786" cy="1132490"/>
          </a:xfrm>
          <a:prstGeom prst="rect">
            <a:avLst/>
          </a:prstGeom>
          <a:blipFill rotWithShape="1">
            <a:blip r:embed="rId4">
              <a:alphaModFix/>
            </a:blip>
            <a:stretch>
              <a:fillRect b="-13368" l="-1678" r="0" t="0"/>
            </a:stretch>
          </a:blipFill>
          <a:ln cap="flat" cmpd="sng" w="9525">
            <a:solidFill>
              <a:srgbClr val="782DA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id="817" name="Google Shape;817;p80"/>
          <p:cNvPicPr preferRelativeResize="0"/>
          <p:nvPr/>
        </p:nvPicPr>
        <p:blipFill rotWithShape="1">
          <a:blip r:embed="rId5">
            <a:alphaModFix/>
          </a:blip>
          <a:srcRect b="0" l="0" r="0" t="0"/>
          <a:stretch/>
        </p:blipFill>
        <p:spPr>
          <a:xfrm>
            <a:off x="7863840" y="2371725"/>
            <a:ext cx="3552825" cy="2114550"/>
          </a:xfrm>
          <a:prstGeom prst="rect">
            <a:avLst/>
          </a:prstGeom>
          <a:noFill/>
          <a:ln>
            <a:noFill/>
          </a:ln>
        </p:spPr>
      </p:pic>
      <p:sp>
        <p:nvSpPr>
          <p:cNvPr id="818" name="Google Shape;818;p80"/>
          <p:cNvSpPr txBox="1"/>
          <p:nvPr/>
        </p:nvSpPr>
        <p:spPr>
          <a:xfrm>
            <a:off x="484565" y="316034"/>
            <a:ext cx="5611436"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Volume of a Rectangular Prism</a:t>
            </a:r>
            <a:endParaRPr b="0" i="0" sz="1400" u="none" cap="none" strike="noStrike">
              <a:solidFill>
                <a:srgbClr val="000000"/>
              </a:solidFill>
              <a:latin typeface="Arial"/>
              <a:ea typeface="Arial"/>
              <a:cs typeface="Arial"/>
              <a:sym typeface="Arial"/>
            </a:endParaRPr>
          </a:p>
        </p:txBody>
      </p:sp>
      <p:sp>
        <p:nvSpPr>
          <p:cNvPr id="81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26 / 51</a:t>
            </a:r>
          </a:p>
        </p:txBody>
      </p:sp>
      <p:sp xmlns:p="http://schemas.openxmlformats.org/presentationml/2006/main" xmlns:a="http://schemas.openxmlformats.org/drawingml/2006/main">
        <p:nvSpPr>
          <p:cNvPr id="820" name="TEACH-embedded-student-prompt" descr="Student thinking and response directions"/>
          <p:cNvSpPr txBox="1"/>
          <p:nvPr/>
        </p:nvSpPr>
        <p:spPr>
          <a:xfrm>
            <a:off x="594360" y="572414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 work supports your answer?</a:t>
            </a:r>
            <a:endParaRPr lang="en-US" sz="20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2" name="Shape 822"/>
        <p:cNvGrpSpPr/>
        <p:nvPr/>
      </p:nvGrpSpPr>
      <p:grpSpPr>
        <a:xfrm>
          <a:off x="0" y="0"/>
          <a:ext cx="0" cy="0"/>
          <a:chOff x="0" y="0"/>
          <a:chExt cx="0" cy="0"/>
        </a:xfrm>
      </p:grpSpPr>
      <p:sp>
        <p:nvSpPr>
          <p:cNvPr id="823" name="Google Shape;823;p81"/>
          <p:cNvSpPr txBox="1"/>
          <p:nvPr/>
        </p:nvSpPr>
        <p:spPr>
          <a:xfrm>
            <a:off x="484565" y="927528"/>
            <a:ext cx="7356728" cy="882799"/>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rgbClr val="262626"/>
              </a:buClr>
              <a:buSzPts val="2800"/>
              <a:buFont typeface="Calibri"/>
              <a:buAutoNum type="alphaLcPeriod"/>
            </a:pPr>
            <a:r>
              <a:rPr b="0" i="0" lang="en-US" sz="2800" u="none" cap="none" strike="noStrike">
                <a:solidFill>
                  <a:srgbClr val="23282D"/>
                </a:solidFill>
                <a:latin typeface="Arial"/>
                <a:ea typeface="Arial"/>
                <a:cs typeface="Arial"/>
                <a:sym typeface="Arial"/>
              </a:rPr>
              <a:t>How is finding area related to finding volume?</a:t>
            </a:r>
            <a:endParaRPr b="0" i="0" sz="1400" u="none" cap="none" strike="noStrike">
              <a:solidFill>
                <a:srgbClr val="000000"/>
              </a:solidFill>
              <a:latin typeface="Arial"/>
              <a:ea typeface="Arial"/>
              <a:cs typeface="Arial"/>
              <a:sym typeface="Arial"/>
            </a:endParaRPr>
          </a:p>
        </p:txBody>
      </p:sp>
      <p:sp>
        <p:nvSpPr>
          <p:cNvPr id="824" name="Google Shape;824;p81"/>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Let’s Explore More</a:t>
            </a:r>
            <a:endParaRPr b="0" i="0" sz="1400" u="none" cap="none" strike="noStrike">
              <a:solidFill>
                <a:srgbClr val="000000"/>
              </a:solidFill>
              <a:latin typeface="Arial"/>
              <a:ea typeface="Arial"/>
              <a:cs typeface="Arial"/>
              <a:sym typeface="Arial"/>
            </a:endParaRPr>
          </a:p>
        </p:txBody>
      </p:sp>
      <p:sp>
        <p:nvSpPr>
          <p:cNvPr descr="https://media.inkling.com/img?s=content%3A%2F%2F%2Fstable%2Fsn_5fb4%2Ftrunk%2Fhead%2Fimg%2Fchapter45%2Fnarm24_c10505_se_014a-dig-a.png&amp;o=r&amp;w=1000&amp;f=auto&amp;e=true" id="825" name="Google Shape;825;p81"/>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Calibri"/>
              <a:cs typeface="Calibri"/>
              <a:sym typeface="Calibri"/>
            </a:endParaRPr>
          </a:p>
        </p:txBody>
      </p:sp>
      <p:sp>
        <p:nvSpPr>
          <p:cNvPr descr="https://media.inkling.com/img?s=content%3A%2F%2F%2Fstable%2Fsn_5fb4%2Ftrunk%2Fhead%2Fimg%2Fchapter45%2Fnarm24_c10505_se_014a-dig-a.png&amp;o=r&amp;w=1000&amp;f=auto&amp;e=true" id="826" name="Google Shape;826;p81"/>
          <p:cNvSpPr/>
          <p:nvPr/>
        </p:nvSpPr>
        <p:spPr>
          <a:xfrm>
            <a:off x="307975" y="7937"/>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Calibri"/>
              <a:cs typeface="Calibri"/>
              <a:sym typeface="Calibri"/>
            </a:endParaRPr>
          </a:p>
        </p:txBody>
      </p:sp>
      <p:sp>
        <p:nvSpPr>
          <p:cNvPr descr="https://media.inkling.com/img?s=content%3A%2F%2F%2Fstable%2Fsn_5fb4%2Ftrunk%2Fhead%2Fimg%2Fchapter45%2Fnarm24_c10505_se_014a-dig-a.png&amp;o=r&amp;w=1000&amp;f=auto&amp;e=true" id="827" name="Google Shape;827;p81"/>
          <p:cNvSpPr/>
          <p:nvPr/>
        </p:nvSpPr>
        <p:spPr>
          <a:xfrm>
            <a:off x="460375" y="160337"/>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Calibri"/>
              <a:cs typeface="Calibri"/>
              <a:sym typeface="Calibri"/>
            </a:endParaRPr>
          </a:p>
        </p:txBody>
      </p:sp>
      <p:sp>
        <p:nvSpPr>
          <p:cNvPr descr="https://media.inkling.com/img?s=content%3A%2F%2F%2Fstable%2Fsn_5fb4%2Ftrunk%2Fhead%2Fimg%2Fchapter45%2Fnarm24_c10505_se_014a-dig-a.png&amp;o=r&amp;w=1000&amp;f=auto&amp;e=true" id="828" name="Google Shape;828;p81"/>
          <p:cNvSpPr/>
          <p:nvPr/>
        </p:nvSpPr>
        <p:spPr>
          <a:xfrm>
            <a:off x="612775" y="312737"/>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Calibri"/>
              <a:cs typeface="Calibri"/>
              <a:sym typeface="Calibri"/>
            </a:endParaRPr>
          </a:p>
        </p:txBody>
      </p:sp>
      <p:sp>
        <p:nvSpPr>
          <p:cNvPr id="829" name="Google Shape;829;p81"/>
          <p:cNvSpPr txBox="1"/>
          <p:nvPr/>
        </p:nvSpPr>
        <p:spPr>
          <a:xfrm>
            <a:off x="484565" y="3598848"/>
            <a:ext cx="7356728" cy="974951"/>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rgbClr val="262626"/>
              </a:buClr>
              <a:buSzPts val="2800"/>
              <a:buFont typeface="Calibri"/>
              <a:buAutoNum type="alphaLcPeriod" startAt="2"/>
            </a:pPr>
            <a:r>
              <a:rPr b="0" i="0" lang="en-US" sz="2800" u="none" cap="none" strike="noStrike">
                <a:solidFill>
                  <a:srgbClr val="23282D"/>
                </a:solidFill>
                <a:latin typeface="Arial"/>
                <a:ea typeface="Arial"/>
                <a:cs typeface="Arial"/>
                <a:sym typeface="Arial"/>
              </a:rPr>
              <a:t>What is the volume of the rectangular prism shown? Explain.</a:t>
            </a:r>
            <a:endParaRPr b="0" i="0" sz="1400" u="none" cap="none" strike="noStrike">
              <a:solidFill>
                <a:srgbClr val="000000"/>
              </a:solidFill>
              <a:latin typeface="Arial"/>
              <a:ea typeface="Arial"/>
              <a:cs typeface="Arial"/>
              <a:sym typeface="Arial"/>
            </a:endParaRPr>
          </a:p>
        </p:txBody>
      </p:sp>
      <p:pic>
        <p:nvPicPr>
          <p:cNvPr id="830" name="Google Shape;830;p81"/>
          <p:cNvPicPr preferRelativeResize="0"/>
          <p:nvPr/>
        </p:nvPicPr>
        <p:blipFill rotWithShape="1">
          <a:blip r:embed="rId3">
            <a:alphaModFix/>
          </a:blip>
          <a:srcRect b="0" l="0" r="0" t="0"/>
          <a:stretch/>
        </p:blipFill>
        <p:spPr>
          <a:xfrm>
            <a:off x="8044544" y="3598848"/>
            <a:ext cx="3495675" cy="2295525"/>
          </a:xfrm>
          <a:prstGeom prst="rect">
            <a:avLst/>
          </a:prstGeom>
          <a:noFill/>
          <a:ln>
            <a:noFill/>
          </a:ln>
        </p:spPr>
      </p:pic>
      <p:sp>
        <p:nvSpPr>
          <p:cNvPr id="83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27 / 51</a:t>
            </a:r>
          </a:p>
        </p:txBody>
      </p:sp>
      <p:sp xmlns:p="http://schemas.openxmlformats.org/presentationml/2006/main" xmlns:a="http://schemas.openxmlformats.org/drawingml/2006/main">
        <p:nvSpPr>
          <p:cNvPr id="832" name="TEACH-embedded-student-prompt" descr="Student thinking and response directions"/>
          <p:cNvSpPr txBox="1"/>
          <p:nvPr/>
        </p:nvSpPr>
        <p:spPr>
          <a:xfrm>
            <a:off x="594360" y="298094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Try it yourself. Compare your work with a partner; explain one choice and revise.</a:t>
            </a:r>
            <a:endParaRPr lang="en-US" sz="2000"/>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5.5  /  DISCUSS THE TASK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Explain and compare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TextBox 4"/>
          <p:cNvSpPr txBox="1"/>
          <p:nvPr/>
        </p:nvSpPr>
        <p:spPr>
          <a:xfrm>
            <a:off x="621792" y="1755648"/>
            <a:ext cx="6629400" cy="384048"/>
          </a:xfrm>
          <a:prstGeom prst="rect">
            <a:avLst/>
          </a:prstGeom>
          <a:noFill/>
        </p:spPr>
        <p:txBody>
          <a:bodyPr wrap="square" lIns="0" rIns="0" tIns="22860" bIns="0">
            <a:spAutoFit/>
          </a:bodyPr>
          <a:lstStyle/>
          <a:p>
            <a:pPr>
              <a:spcAft>
                <a:spcPts val="800"/>
              </a:spcAft>
              <a:defRPr sz="2000" b="1">
                <a:solidFill>
                  <a:srgbClr val="096B69"/>
                </a:solidFill>
                <a:latin typeface="Arial"/>
              </a:defRPr>
            </a:pPr>
            <a:r>
              <a:rPr/>
              <a:t>Use the task you just explored.</a:t>
            </a:r>
          </a:p>
        </p:txBody>
      </p:sp>
      <p:sp>
        <p:nvSpPr>
          <p:cNvPr id="6" name="TextBox 5"/>
          <p:cNvSpPr txBox="1"/>
          <p:nvPr/>
        </p:nvSpPr>
        <p:spPr>
          <a:xfrm>
            <a:off x="621792" y="2322576"/>
            <a:ext cx="6583680" cy="2057400"/>
          </a:xfrm>
          <a:prstGeom prst="rect">
            <a:avLst/>
          </a:prstGeom>
          <a:noFill/>
        </p:spPr>
        <p:txBody>
          <a:bodyPr wrap="square" lIns="0" rIns="0" tIns="22860" bIns="0">
            <a:spAutoFit/>
          </a:bodyPr>
          <a:lstStyle/>
          <a:p>
            <a:pPr>
              <a:spcAft>
                <a:spcPts val="800"/>
              </a:spcAft>
              <a:defRPr sz="2900" b="0">
                <a:solidFill>
                  <a:srgbClr val="24384B"/>
                </a:solidFill>
                <a:latin typeface="Arial"/>
              </a:defRPr>
            </a:pPr>
            <a:r>
              <a:rPr/>
              <a:t>How do the layers explain the product of the dimensions, including a fractional edge?</a:t>
            </a:r>
          </a:p>
        </p:txBody>
      </p:sp>
      <p:sp>
        <p:nvSpPr>
          <p:cNvPr id="7" name="TextBox 6"/>
          <p:cNvSpPr txBox="1"/>
          <p:nvPr/>
        </p:nvSpPr>
        <p:spPr>
          <a:xfrm>
            <a:off x="621792" y="4590288"/>
            <a:ext cx="6629400" cy="960120"/>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Point to evidence in your work.</a:t>
            </a:r>
          </a:p>
          <a:p>
            <a:pPr>
              <a:spcAft>
                <a:spcPts val="800"/>
              </a:spcAft>
              <a:defRPr sz="2300" b="0">
                <a:solidFill>
                  <a:srgbClr val="24384B"/>
                </a:solidFill>
                <a:latin typeface="Arial"/>
              </a:defRPr>
            </a:pPr>
            <a:r>
              <a:rPr/>
              <a:t>Then compare your approach with a partner’s.</a:t>
            </a:r>
          </a:p>
        </p:txBody>
      </p:sp>
      <p:sp>
        <p:nvSpPr>
          <p:cNvPr id="8" name="Rounded Rectangle 7"/>
          <p:cNvSpPr/>
          <p:nvPr/>
        </p:nvSpPr>
        <p:spPr>
          <a:xfrm>
            <a:off x="7662672" y="1783080"/>
            <a:ext cx="3904487" cy="417880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82712" y="2066543"/>
            <a:ext cx="320040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TAKE TURNS</a:t>
            </a:r>
          </a:p>
        </p:txBody>
      </p:sp>
      <p:sp>
        <p:nvSpPr>
          <p:cNvPr id="10" name="TextBox 9"/>
          <p:cNvSpPr txBox="1"/>
          <p:nvPr/>
        </p:nvSpPr>
        <p:spPr>
          <a:xfrm>
            <a:off x="7982712" y="2715768"/>
            <a:ext cx="3200400" cy="2606040"/>
          </a:xfrm>
          <a:prstGeom prst="rect">
            <a:avLst/>
          </a:prstGeom>
          <a:noFill/>
        </p:spPr>
        <p:txBody>
          <a:bodyPr wrap="square" lIns="0" rIns="0" tIns="22860" bIns="0">
            <a:spAutoFit/>
          </a:bodyPr>
          <a:lstStyle/>
          <a:p>
            <a:pPr>
              <a:spcAft>
                <a:spcPts val="800"/>
              </a:spcAft>
              <a:defRPr sz="2200" b="0">
                <a:solidFill>
                  <a:srgbClr val="24384B"/>
                </a:solidFill>
                <a:latin typeface="Arial"/>
              </a:defRPr>
            </a:pPr>
            <a:r>
              <a:rPr/>
              <a:t>Explain</a:t>
            </a:r>
          </a:p>
          <a:p>
            <a:pPr>
              <a:spcAft>
                <a:spcPts val="800"/>
              </a:spcAft>
              <a:defRPr sz="2200" b="0">
                <a:solidFill>
                  <a:srgbClr val="24384B"/>
                </a:solidFill>
                <a:latin typeface="Arial"/>
              </a:defRPr>
            </a:pPr>
            <a:r>
              <a:rPr/>
              <a:t>“I know this because…”</a:t>
            </a:r>
          </a:p>
          <a:p>
            <a:pPr>
              <a:spcAft>
                <a:spcPts val="800"/>
              </a:spcAft>
              <a:defRPr sz="2200" b="0">
                <a:solidFill>
                  <a:srgbClr val="24384B"/>
                </a:solidFill>
                <a:latin typeface="Arial"/>
              </a:defRPr>
            </a:pPr>
          </a:p>
          <a:p>
            <a:pPr>
              <a:spcAft>
                <a:spcPts val="800"/>
              </a:spcAft>
              <a:defRPr sz="2200" b="0">
                <a:solidFill>
                  <a:srgbClr val="24384B"/>
                </a:solidFill>
                <a:latin typeface="Arial"/>
              </a:defRPr>
            </a:pPr>
            <a:r>
              <a:rPr/>
              <a:t>Ask</a:t>
            </a:r>
          </a:p>
          <a:p>
            <a:pPr>
              <a:spcAft>
                <a:spcPts val="800"/>
              </a:spcAft>
              <a:defRPr sz="2200" b="0">
                <a:solidFill>
                  <a:srgbClr val="24384B"/>
                </a:solidFill>
                <a:latin typeface="Arial"/>
              </a:defRPr>
            </a:pPr>
            <a:r>
              <a:rPr/>
              <a:t>“Where does your work show that?”</a:t>
            </a:r>
          </a:p>
        </p:txBody>
      </p:sp>
      <p:grpSp>
        <p:nvGrpSpPr>
          <p:cNvPr id="11" name="TEACH-3-student-move" descr="TEACH 3 · Use intentional questioning to deepen learning"/>
          <p:cNvGrpSpPr/>
          <p:nvPr/>
        </p:nvGrpSpPr>
        <p:grpSpPr>
          <a:xfrm>
            <a:off x="502920" y="5824728"/>
            <a:ext cx="11186160" cy="402336"/>
            <a:chOff x="502920" y="5824728"/>
            <a:chExt cx="11186160" cy="402336"/>
          </a:xfrm>
        </p:grpSpPr>
        <p:sp>
          <p:nvSpPr>
            <p:cNvPr id="12"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3"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4"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HOW DO YOU KNOW?  ·  </a:t>
              </a:r>
              <a:r>
                <a:rPr lang="en-US" sz="1200" dirty="0">
                  <a:solidFill>
                    <a:srgbClr val="13303A"/>
                  </a:solidFill>
                  <a:latin typeface="Arial"/>
                </a:rPr>
                <a:t>Ask your partner “How do you know?” Answer by pointing to your own work.</a:t>
              </a:r>
              <a:endParaRPr lang="en-US" sz="1200"/>
            </a:p>
          </p:txBody>
        </p:sp>
      </p:gr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852" name="Google Shape;852;p8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53" name="Google Shape;853;p84"/>
          <p:cNvSpPr/>
          <p:nvPr/>
        </p:nvSpPr>
        <p:spPr>
          <a:xfrm>
            <a:off x="662454" y="5860890"/>
            <a:ext cx="9682549" cy="4924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595959"/>
                </a:solidFill>
                <a:latin typeface="Arial"/>
                <a:ea typeface="Arial"/>
                <a:cs typeface="Arial"/>
                <a:sym typeface="Arial"/>
              </a:rPr>
              <a:t>How are you organizing yourself to be successful in math?</a:t>
            </a:r>
            <a:endParaRPr b="0" i="0" sz="1400" u="none" cap="none" strike="noStrike">
              <a:solidFill>
                <a:srgbClr val="000000"/>
              </a:solidFill>
              <a:latin typeface="Arial"/>
              <a:ea typeface="Arial"/>
              <a:cs typeface="Arial"/>
              <a:sym typeface="Arial"/>
            </a:endParaRPr>
          </a:p>
        </p:txBody>
      </p:sp>
      <p:sp>
        <p:nvSpPr>
          <p:cNvPr id="854" name="Google Shape;854;p84"/>
          <p:cNvSpPr txBox="1"/>
          <p:nvPr/>
        </p:nvSpPr>
        <p:spPr>
          <a:xfrm>
            <a:off x="484560" y="936100"/>
            <a:ext cx="4522155" cy="134158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What do you notice?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What do you wonder?</a:t>
            </a:r>
            <a:endParaRPr b="0" i="0" sz="1400" u="none" cap="none" strike="noStrike">
              <a:solidFill>
                <a:srgbClr val="000000"/>
              </a:solidFill>
              <a:latin typeface="Arial"/>
              <a:ea typeface="Arial"/>
              <a:cs typeface="Arial"/>
              <a:sym typeface="Arial"/>
            </a:endParaRPr>
          </a:p>
        </p:txBody>
      </p:sp>
      <p:sp>
        <p:nvSpPr>
          <p:cNvPr id="855" name="Google Shape;855;p84"/>
          <p:cNvSpPr txBox="1"/>
          <p:nvPr/>
        </p:nvSpPr>
        <p:spPr>
          <a:xfrm>
            <a:off x="474055"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pic>
        <p:nvPicPr>
          <p:cNvPr id="856" name="Google Shape;856;p84"/>
          <p:cNvPicPr preferRelativeResize="0"/>
          <p:nvPr/>
        </p:nvPicPr>
        <p:blipFill rotWithShape="1">
          <a:blip r:embed="rId2">
            <a:alphaModFix/>
          </a:blip>
          <a:srcRect b="0" l="0" r="0" t="0"/>
          <a:stretch/>
        </p:blipFill>
        <p:spPr>
          <a:xfrm>
            <a:off x="628216" y="5080197"/>
            <a:ext cx="5054600" cy="838200"/>
          </a:xfrm>
          <a:prstGeom prst="rect">
            <a:avLst/>
          </a:prstGeom>
          <a:noFill/>
          <a:ln>
            <a:noFill/>
          </a:ln>
        </p:spPr>
      </p:pic>
      <p:sp>
        <p:nvSpPr>
          <p:cNvPr id="857" name="Google Shape;857;p84"/>
          <p:cNvSpPr txBox="1"/>
          <p:nvPr/>
        </p:nvSpPr>
        <p:spPr>
          <a:xfrm>
            <a:off x="3345221" y="5228273"/>
            <a:ext cx="219458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pic>
        <p:nvPicPr>
          <p:cNvPr id="858" name="Google Shape;858;p84"/>
          <p:cNvPicPr preferRelativeResize="0"/>
          <p:nvPr/>
        </p:nvPicPr>
        <p:blipFill rotWithShape="1">
          <a:blip r:embed="rId3">
            <a:alphaModFix/>
          </a:blip>
          <a:srcRect b="0" l="0" r="0" t="0"/>
          <a:stretch/>
        </p:blipFill>
        <p:spPr>
          <a:xfrm>
            <a:off x="7796212" y="1905762"/>
            <a:ext cx="4086225" cy="3124200"/>
          </a:xfrm>
          <a:prstGeom prst="rect">
            <a:avLst/>
          </a:prstGeom>
          <a:noFill/>
          <a:ln>
            <a:noFill/>
          </a:ln>
        </p:spPr>
      </p:pic>
      <p:sp>
        <p:nvSpPr>
          <p:cNvPr id="32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29 / 51</a:t>
            </a:r>
          </a:p>
        </p:txBody>
      </p:sp>
      <p:sp xmlns:p="http://schemas.openxmlformats.org/presentationml/2006/main" xmlns:a="http://schemas.openxmlformats.org/drawingml/2006/main">
        <p:nvSpPr>
          <p:cNvPr id="859" name="TEACH-embedded-student-prompt" descr="Student thinking and response directions"/>
          <p:cNvSpPr txBox="1"/>
          <p:nvPr/>
        </p:nvSpPr>
        <p:spPr>
          <a:xfrm>
            <a:off x="594360" y="413308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Share a notice and a question;</a:t>
            </a:r>
            <a:endParaRPr lang="en-US" sz="2000"/>
          </a:p>
          <a:p>
            <a:pPr>
              <a:lnSpc>
                <a:spcPts val="2400"/>
              </a:lnSpc>
              <a:buNone/>
            </a:pPr>
            <a:r>
              <a:rPr lang="en-US" sz="2000">
                <a:solidFill>
                  <a:srgbClr val="174D60"/>
                </a:solidFill>
                <a:latin typeface="Arial"/>
              </a:rPr>
              <a:t>build on a classmate’s idea.</a:t>
            </a:r>
            <a:endParaRPr lang="en-US" sz="20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2" name="Google Shape;262;p43"/>
          <p:cNvSpPr/>
          <p:nvPr/>
        </p:nvSpPr>
        <p:spPr>
          <a:xfrm>
            <a:off x="0" y="0"/>
            <a:ext cx="12191969" cy="713232"/>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3" name="Google Shape;263;p4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Warm-Up</a:t>
            </a:r>
            <a:endParaRPr/>
          </a:p>
        </p:txBody>
      </p:sp>
      <p:sp>
        <p:nvSpPr>
          <p:cNvPr id="264" name="Google Shape;264;p4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5-5 · Determine the Volume of Rectangular Prisms</a:t>
            </a:r>
            <a:endParaRPr/>
          </a:p>
        </p:txBody>
      </p:sp>
      <p:sp>
        <p:nvSpPr>
          <p:cNvPr id="265" name="Google Shape;265;p4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6" name="Google Shape;266;p4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267" name="Google Shape;267;p43"/>
          <p:cNvSpPr txBox="1"/>
          <p:nvPr/>
        </p:nvSpPr>
        <p:spPr>
          <a:xfrm>
            <a:off x="640080" y="914400"/>
            <a:ext cx="10911809" cy="47548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200" u="none" cap="none" strike="noStrike">
                <a:solidFill>
                  <a:srgbClr val="14223A"/>
                </a:solidFill>
                <a:latin typeface="Arial"/>
                <a:ea typeface="Arial"/>
                <a:cs typeface="Arial"/>
                <a:sym typeface="Arial"/>
              </a:rPr>
              <a:t>Session 2 Warm-Up</a:t>
            </a:r>
            <a:endParaRPr/>
          </a:p>
        </p:txBody>
      </p:sp>
      <p:sp>
        <p:nvSpPr>
          <p:cNvPr id="268" name="Google Shape;268;p43"/>
          <p:cNvSpPr txBox="1"/>
          <p:nvPr/>
        </p:nvSpPr>
        <p:spPr>
          <a:xfrm>
            <a:off x="640080" y="1426464"/>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500" u="none" cap="none" strike="noStrike">
                <a:solidFill>
                  <a:srgbClr val="475569"/>
                </a:solidFill>
                <a:latin typeface="Arial"/>
                <a:ea typeface="Arial"/>
                <a:cs typeface="Arial"/>
                <a:sym typeface="Arial"/>
              </a:rPr>
              <a:t>Try alone. Explain one. Then revise.</a:t>
            </a:r>
            <a:endParaRPr/>
          </a:p>
        </p:txBody>
      </p:sp>
      <p:sp>
        <p:nvSpPr>
          <p:cNvPr id="269" name="Google Shape;269;p43"/>
          <p:cNvSpPr/>
          <p:nvPr/>
        </p:nvSpPr>
        <p:spPr>
          <a:xfrm>
            <a:off x="640080" y="1828800"/>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0" name="Google Shape;270;p43"/>
          <p:cNvSpPr/>
          <p:nvPr/>
        </p:nvSpPr>
        <p:spPr>
          <a:xfrm>
            <a:off x="640080" y="1828800"/>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1" name="Google Shape;271;p43"/>
          <p:cNvSpPr/>
          <p:nvPr/>
        </p:nvSpPr>
        <p:spPr>
          <a:xfrm>
            <a:off x="914400" y="2066543"/>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272" name="Google Shape;272;p43"/>
          <p:cNvSpPr txBox="1"/>
          <p:nvPr/>
        </p:nvSpPr>
        <p:spPr>
          <a:xfrm>
            <a:off x="1444752" y="2048256"/>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250" u="none" cap="none" strike="noStrike">
                <a:solidFill>
                  <a:srgbClr val="14223A"/>
                </a:solidFill>
                <a:latin typeface="Arial"/>
                <a:ea typeface="Arial"/>
                <a:cs typeface="Arial"/>
                <a:sym typeface="Arial"/>
              </a:rPr>
              <a:t>Which formula gives the volume of a rectangular prism?</a:t>
            </a:r>
            <a:endParaRPr/>
          </a:p>
        </p:txBody>
      </p:sp>
      <p:sp>
        <p:nvSpPr>
          <p:cNvPr id="273" name="Google Shape;273;p43"/>
          <p:cNvSpPr/>
          <p:nvPr/>
        </p:nvSpPr>
        <p:spPr>
          <a:xfrm>
            <a:off x="1444752" y="253288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4" name="Google Shape;274;p43"/>
          <p:cNvSpPr txBox="1"/>
          <p:nvPr/>
        </p:nvSpPr>
        <p:spPr>
          <a:xfrm>
            <a:off x="1572768" y="256032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275" name="Google Shape;275;p43"/>
          <p:cNvSpPr txBox="1"/>
          <p:nvPr/>
        </p:nvSpPr>
        <p:spPr>
          <a:xfrm>
            <a:off x="1847088" y="256032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V = l + w + h</a:t>
            </a:r>
            <a:endParaRPr/>
          </a:p>
        </p:txBody>
      </p:sp>
      <p:sp>
        <p:nvSpPr>
          <p:cNvPr id="276" name="Google Shape;276;p43"/>
          <p:cNvSpPr/>
          <p:nvPr/>
        </p:nvSpPr>
        <p:spPr>
          <a:xfrm>
            <a:off x="1444752" y="285292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7" name="Google Shape;277;p43"/>
          <p:cNvSpPr txBox="1"/>
          <p:nvPr/>
        </p:nvSpPr>
        <p:spPr>
          <a:xfrm>
            <a:off x="1572768" y="288036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278" name="Google Shape;278;p43"/>
          <p:cNvSpPr txBox="1"/>
          <p:nvPr/>
        </p:nvSpPr>
        <p:spPr>
          <a:xfrm>
            <a:off x="1847088" y="288036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V = l × w × h or V = B × h</a:t>
            </a:r>
            <a:endParaRPr/>
          </a:p>
        </p:txBody>
      </p:sp>
      <p:sp>
        <p:nvSpPr>
          <p:cNvPr id="279" name="Google Shape;279;p43"/>
          <p:cNvSpPr/>
          <p:nvPr/>
        </p:nvSpPr>
        <p:spPr>
          <a:xfrm>
            <a:off x="1444752" y="317296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0" name="Google Shape;280;p43"/>
          <p:cNvSpPr txBox="1"/>
          <p:nvPr/>
        </p:nvSpPr>
        <p:spPr>
          <a:xfrm>
            <a:off x="1572768" y="320040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281" name="Google Shape;281;p43"/>
          <p:cNvSpPr txBox="1"/>
          <p:nvPr/>
        </p:nvSpPr>
        <p:spPr>
          <a:xfrm>
            <a:off x="1847088" y="320040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V = 2(lw + lh)</a:t>
            </a:r>
            <a:endParaRPr/>
          </a:p>
        </p:txBody>
      </p:sp>
      <p:sp>
        <p:nvSpPr>
          <p:cNvPr id="282" name="Google Shape;282;p43"/>
          <p:cNvSpPr/>
          <p:nvPr/>
        </p:nvSpPr>
        <p:spPr>
          <a:xfrm>
            <a:off x="1444752" y="349300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3" name="Google Shape;283;p43"/>
          <p:cNvSpPr txBox="1"/>
          <p:nvPr/>
        </p:nvSpPr>
        <p:spPr>
          <a:xfrm>
            <a:off x="1572768" y="352044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284" name="Google Shape;284;p43"/>
          <p:cNvSpPr txBox="1"/>
          <p:nvPr/>
        </p:nvSpPr>
        <p:spPr>
          <a:xfrm>
            <a:off x="1847088" y="352044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V = ½ lwh</a:t>
            </a:r>
            <a:endParaRPr/>
          </a:p>
        </p:txBody>
      </p:sp>
      <p:sp>
        <p:nvSpPr>
          <p:cNvPr id="285" name="Google Shape;285;p43"/>
          <p:cNvSpPr/>
          <p:nvPr/>
        </p:nvSpPr>
        <p:spPr>
          <a:xfrm>
            <a:off x="6260576" y="1828800"/>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6" name="Google Shape;286;p43"/>
          <p:cNvSpPr/>
          <p:nvPr/>
        </p:nvSpPr>
        <p:spPr>
          <a:xfrm>
            <a:off x="6260576" y="1828800"/>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7" name="Google Shape;287;p43"/>
          <p:cNvSpPr/>
          <p:nvPr/>
        </p:nvSpPr>
        <p:spPr>
          <a:xfrm>
            <a:off x="6534896" y="2066543"/>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288" name="Google Shape;288;p43"/>
          <p:cNvSpPr txBox="1"/>
          <p:nvPr/>
        </p:nvSpPr>
        <p:spPr>
          <a:xfrm>
            <a:off x="7068312" y="2048256"/>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In V = Bh, what does capital B represent?</a:t>
            </a:r>
            <a:endParaRPr/>
          </a:p>
        </p:txBody>
      </p:sp>
      <p:sp>
        <p:nvSpPr>
          <p:cNvPr id="289" name="Google Shape;289;p43"/>
          <p:cNvSpPr/>
          <p:nvPr/>
        </p:nvSpPr>
        <p:spPr>
          <a:xfrm>
            <a:off x="7068312" y="253288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0" name="Google Shape;290;p43"/>
          <p:cNvSpPr txBox="1"/>
          <p:nvPr/>
        </p:nvSpPr>
        <p:spPr>
          <a:xfrm>
            <a:off x="7196328" y="256032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291" name="Google Shape;291;p43"/>
          <p:cNvSpPr txBox="1"/>
          <p:nvPr/>
        </p:nvSpPr>
        <p:spPr>
          <a:xfrm>
            <a:off x="7470648" y="256032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Bottom line</a:t>
            </a:r>
            <a:endParaRPr/>
          </a:p>
        </p:txBody>
      </p:sp>
      <p:sp>
        <p:nvSpPr>
          <p:cNvPr id="292" name="Google Shape;292;p43"/>
          <p:cNvSpPr/>
          <p:nvPr/>
        </p:nvSpPr>
        <p:spPr>
          <a:xfrm>
            <a:off x="7068312" y="285292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3" name="Google Shape;293;p43"/>
          <p:cNvSpPr txBox="1"/>
          <p:nvPr/>
        </p:nvSpPr>
        <p:spPr>
          <a:xfrm>
            <a:off x="7196328" y="288036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294" name="Google Shape;294;p43"/>
          <p:cNvSpPr txBox="1"/>
          <p:nvPr/>
        </p:nvSpPr>
        <p:spPr>
          <a:xfrm>
            <a:off x="7470648" y="288036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Area of the base (l × w)</a:t>
            </a:r>
            <a:endParaRPr/>
          </a:p>
        </p:txBody>
      </p:sp>
      <p:sp>
        <p:nvSpPr>
          <p:cNvPr id="295" name="Google Shape;295;p43"/>
          <p:cNvSpPr/>
          <p:nvPr/>
        </p:nvSpPr>
        <p:spPr>
          <a:xfrm>
            <a:off x="7068312" y="317296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6" name="Google Shape;296;p43"/>
          <p:cNvSpPr txBox="1"/>
          <p:nvPr/>
        </p:nvSpPr>
        <p:spPr>
          <a:xfrm>
            <a:off x="7196328" y="320040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297" name="Google Shape;297;p43"/>
          <p:cNvSpPr txBox="1"/>
          <p:nvPr/>
        </p:nvSpPr>
        <p:spPr>
          <a:xfrm>
            <a:off x="7470648" y="320040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Perimeter</a:t>
            </a:r>
            <a:endParaRPr/>
          </a:p>
        </p:txBody>
      </p:sp>
      <p:sp>
        <p:nvSpPr>
          <p:cNvPr id="298" name="Google Shape;298;p43"/>
          <p:cNvSpPr/>
          <p:nvPr/>
        </p:nvSpPr>
        <p:spPr>
          <a:xfrm>
            <a:off x="7068312" y="349300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9" name="Google Shape;299;p43"/>
          <p:cNvSpPr txBox="1"/>
          <p:nvPr/>
        </p:nvSpPr>
        <p:spPr>
          <a:xfrm>
            <a:off x="7196328" y="352044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00" name="Google Shape;300;p43"/>
          <p:cNvSpPr txBox="1"/>
          <p:nvPr/>
        </p:nvSpPr>
        <p:spPr>
          <a:xfrm>
            <a:off x="7470648" y="352044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Box weight</a:t>
            </a:r>
            <a:endParaRPr/>
          </a:p>
        </p:txBody>
      </p:sp>
      <p:sp>
        <p:nvSpPr>
          <p:cNvPr id="301" name="Google Shape;301;p43"/>
          <p:cNvSpPr/>
          <p:nvPr/>
        </p:nvSpPr>
        <p:spPr>
          <a:xfrm>
            <a:off x="640080" y="4133088"/>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2" name="Google Shape;302;p43"/>
          <p:cNvSpPr/>
          <p:nvPr/>
        </p:nvSpPr>
        <p:spPr>
          <a:xfrm>
            <a:off x="640080" y="4133088"/>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3" name="Google Shape;303;p43"/>
          <p:cNvSpPr/>
          <p:nvPr/>
        </p:nvSpPr>
        <p:spPr>
          <a:xfrm>
            <a:off x="914400" y="4370832"/>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304" name="Google Shape;304;p43"/>
          <p:cNvSpPr txBox="1"/>
          <p:nvPr/>
        </p:nvSpPr>
        <p:spPr>
          <a:xfrm>
            <a:off x="1444752" y="4352544"/>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250" u="none" cap="none" strike="noStrike">
                <a:solidFill>
                  <a:srgbClr val="14223A"/>
                </a:solidFill>
                <a:latin typeface="Arial"/>
                <a:ea typeface="Arial"/>
                <a:cs typeface="Arial"/>
                <a:sym typeface="Arial"/>
              </a:rPr>
              <a:t>A prism measures 4 cm by 3 cm by 5 cm. What is its volume?</a:t>
            </a:r>
            <a:endParaRPr/>
          </a:p>
        </p:txBody>
      </p:sp>
      <p:sp>
        <p:nvSpPr>
          <p:cNvPr id="305" name="Google Shape;305;p43"/>
          <p:cNvSpPr/>
          <p:nvPr/>
        </p:nvSpPr>
        <p:spPr>
          <a:xfrm>
            <a:off x="1444752" y="483717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6" name="Google Shape;306;p43"/>
          <p:cNvSpPr txBox="1"/>
          <p:nvPr/>
        </p:nvSpPr>
        <p:spPr>
          <a:xfrm>
            <a:off x="1572768" y="486460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307" name="Google Shape;307;p43"/>
          <p:cNvSpPr txBox="1"/>
          <p:nvPr/>
        </p:nvSpPr>
        <p:spPr>
          <a:xfrm>
            <a:off x="1847088" y="486460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12 cm³</a:t>
            </a:r>
            <a:endParaRPr/>
          </a:p>
        </p:txBody>
      </p:sp>
      <p:sp>
        <p:nvSpPr>
          <p:cNvPr id="308" name="Google Shape;308;p43"/>
          <p:cNvSpPr/>
          <p:nvPr/>
        </p:nvSpPr>
        <p:spPr>
          <a:xfrm>
            <a:off x="1444752" y="515721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9" name="Google Shape;309;p43"/>
          <p:cNvSpPr txBox="1"/>
          <p:nvPr/>
        </p:nvSpPr>
        <p:spPr>
          <a:xfrm>
            <a:off x="1572768" y="518464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310" name="Google Shape;310;p43"/>
          <p:cNvSpPr txBox="1"/>
          <p:nvPr/>
        </p:nvSpPr>
        <p:spPr>
          <a:xfrm>
            <a:off x="1847088" y="518464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60 cm³</a:t>
            </a:r>
            <a:endParaRPr/>
          </a:p>
        </p:txBody>
      </p:sp>
      <p:sp>
        <p:nvSpPr>
          <p:cNvPr id="311" name="Google Shape;311;p43"/>
          <p:cNvSpPr/>
          <p:nvPr/>
        </p:nvSpPr>
        <p:spPr>
          <a:xfrm>
            <a:off x="1444752" y="547725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2" name="Google Shape;312;p43"/>
          <p:cNvSpPr txBox="1"/>
          <p:nvPr/>
        </p:nvSpPr>
        <p:spPr>
          <a:xfrm>
            <a:off x="1572768" y="550468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313" name="Google Shape;313;p43"/>
          <p:cNvSpPr txBox="1"/>
          <p:nvPr/>
        </p:nvSpPr>
        <p:spPr>
          <a:xfrm>
            <a:off x="1847088" y="550468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30 cm³</a:t>
            </a:r>
            <a:endParaRPr/>
          </a:p>
        </p:txBody>
      </p:sp>
      <p:sp>
        <p:nvSpPr>
          <p:cNvPr id="314" name="Google Shape;314;p43"/>
          <p:cNvSpPr/>
          <p:nvPr/>
        </p:nvSpPr>
        <p:spPr>
          <a:xfrm>
            <a:off x="1444752" y="579729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5" name="Google Shape;315;p43"/>
          <p:cNvSpPr txBox="1"/>
          <p:nvPr/>
        </p:nvSpPr>
        <p:spPr>
          <a:xfrm>
            <a:off x="1572768" y="582472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16" name="Google Shape;316;p43"/>
          <p:cNvSpPr txBox="1"/>
          <p:nvPr/>
        </p:nvSpPr>
        <p:spPr>
          <a:xfrm>
            <a:off x="1847088" y="582472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60 cm²</a:t>
            </a:r>
            <a:endParaRPr/>
          </a:p>
        </p:txBody>
      </p:sp>
      <p:sp>
        <p:nvSpPr>
          <p:cNvPr id="317" name="Google Shape;317;p43"/>
          <p:cNvSpPr/>
          <p:nvPr/>
        </p:nvSpPr>
        <p:spPr>
          <a:xfrm>
            <a:off x="6260576" y="4133088"/>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8" name="Google Shape;318;p43"/>
          <p:cNvSpPr/>
          <p:nvPr/>
        </p:nvSpPr>
        <p:spPr>
          <a:xfrm>
            <a:off x="6260576" y="4133088"/>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9" name="Google Shape;319;p43"/>
          <p:cNvSpPr/>
          <p:nvPr/>
        </p:nvSpPr>
        <p:spPr>
          <a:xfrm>
            <a:off x="6534896" y="4370832"/>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4</a:t>
            </a:r>
            <a:endParaRPr/>
          </a:p>
        </p:txBody>
      </p:sp>
      <p:sp>
        <p:nvSpPr>
          <p:cNvPr id="320" name="Google Shape;320;p43"/>
          <p:cNvSpPr txBox="1"/>
          <p:nvPr/>
        </p:nvSpPr>
        <p:spPr>
          <a:xfrm>
            <a:off x="7068312" y="4352544"/>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Volume is always measured in:</a:t>
            </a:r>
            <a:endParaRPr/>
          </a:p>
        </p:txBody>
      </p:sp>
      <p:sp>
        <p:nvSpPr>
          <p:cNvPr id="321" name="Google Shape;321;p43"/>
          <p:cNvSpPr/>
          <p:nvPr/>
        </p:nvSpPr>
        <p:spPr>
          <a:xfrm>
            <a:off x="7068312" y="483717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2" name="Google Shape;322;p43"/>
          <p:cNvSpPr txBox="1"/>
          <p:nvPr/>
        </p:nvSpPr>
        <p:spPr>
          <a:xfrm>
            <a:off x="7196328" y="486460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323" name="Google Shape;323;p43"/>
          <p:cNvSpPr txBox="1"/>
          <p:nvPr/>
        </p:nvSpPr>
        <p:spPr>
          <a:xfrm>
            <a:off x="7470648" y="486460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Linear units</a:t>
            </a:r>
            <a:endParaRPr/>
          </a:p>
        </p:txBody>
      </p:sp>
      <p:sp>
        <p:nvSpPr>
          <p:cNvPr id="324" name="Google Shape;324;p43"/>
          <p:cNvSpPr/>
          <p:nvPr/>
        </p:nvSpPr>
        <p:spPr>
          <a:xfrm>
            <a:off x="7068312" y="515721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5" name="Google Shape;325;p43"/>
          <p:cNvSpPr txBox="1"/>
          <p:nvPr/>
        </p:nvSpPr>
        <p:spPr>
          <a:xfrm>
            <a:off x="7196328" y="518464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326" name="Google Shape;326;p43"/>
          <p:cNvSpPr txBox="1"/>
          <p:nvPr/>
        </p:nvSpPr>
        <p:spPr>
          <a:xfrm>
            <a:off x="7470648" y="518464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Square units</a:t>
            </a:r>
            <a:endParaRPr/>
          </a:p>
        </p:txBody>
      </p:sp>
      <p:sp>
        <p:nvSpPr>
          <p:cNvPr id="327" name="Google Shape;327;p43"/>
          <p:cNvSpPr/>
          <p:nvPr/>
        </p:nvSpPr>
        <p:spPr>
          <a:xfrm>
            <a:off x="7068312" y="547725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8" name="Google Shape;328;p43"/>
          <p:cNvSpPr txBox="1"/>
          <p:nvPr/>
        </p:nvSpPr>
        <p:spPr>
          <a:xfrm>
            <a:off x="7196328" y="550468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329" name="Google Shape;329;p43"/>
          <p:cNvSpPr txBox="1"/>
          <p:nvPr/>
        </p:nvSpPr>
        <p:spPr>
          <a:xfrm>
            <a:off x="7470648" y="550468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Cubic units</a:t>
            </a:r>
            <a:endParaRPr/>
          </a:p>
        </p:txBody>
      </p:sp>
      <p:sp>
        <p:nvSpPr>
          <p:cNvPr id="330" name="Google Shape;330;p43"/>
          <p:cNvSpPr/>
          <p:nvPr/>
        </p:nvSpPr>
        <p:spPr>
          <a:xfrm>
            <a:off x="7068312" y="579729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1" name="Google Shape;331;p43"/>
          <p:cNvSpPr txBox="1"/>
          <p:nvPr/>
        </p:nvSpPr>
        <p:spPr>
          <a:xfrm>
            <a:off x="7196328" y="582472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32" name="Google Shape;332;p43"/>
          <p:cNvSpPr txBox="1"/>
          <p:nvPr/>
        </p:nvSpPr>
        <p:spPr>
          <a:xfrm>
            <a:off x="7470648" y="582472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Grams</a:t>
            </a:r>
            <a:endParaRPr/>
          </a:p>
        </p:txBody>
      </p:sp>
      <p:sp>
        <p:nvSpPr>
          <p:cNvPr id="33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30 / 51</a:t>
            </a: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5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1" name="Google Shape;521;p53"/>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2" name="Google Shape;522;p5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Review Notes — Session 2</a:t>
            </a:r>
            <a:endParaRPr/>
          </a:p>
        </p:txBody>
      </p:sp>
      <p:sp>
        <p:nvSpPr>
          <p:cNvPr id="523" name="Google Shape;523;p5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5-5 · Determine the Volume of Rectangular Prisms</a:t>
            </a:r>
            <a:endParaRPr/>
          </a:p>
        </p:txBody>
      </p:sp>
      <p:sp>
        <p:nvSpPr>
          <p:cNvPr id="524" name="Google Shape;524;p5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5" name="Google Shape;525;p5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526" name="Google Shape;526;p53"/>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000" u="none" cap="none" strike="noStrike">
                <a:solidFill>
                  <a:srgbClr val="14223A"/>
                </a:solidFill>
                <a:latin typeface="Arial"/>
                <a:ea typeface="Arial"/>
                <a:cs typeface="Arial"/>
                <a:sym typeface="Arial"/>
              </a:rPr>
              <a:t>Session 2: Review Notes</a:t>
            </a:r>
            <a:endParaRPr/>
          </a:p>
        </p:txBody>
      </p:sp>
      <p:sp>
        <p:nvSpPr>
          <p:cNvPr id="527" name="Google Shape;527;p53"/>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8" name="Google Shape;528;p53"/>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529" name="Google Shape;529;p53"/>
          <p:cNvSpPr/>
          <p:nvPr/>
        </p:nvSpPr>
        <p:spPr>
          <a:xfrm>
            <a:off x="640080" y="22128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0" name="Google Shape;530;p53"/>
          <p:cNvSpPr/>
          <p:nvPr/>
        </p:nvSpPr>
        <p:spPr>
          <a:xfrm>
            <a:off x="640080" y="22128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1" name="Google Shape;531;p53"/>
          <p:cNvSpPr/>
          <p:nvPr/>
        </p:nvSpPr>
        <p:spPr>
          <a:xfrm>
            <a:off x="896112" y="26334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532" name="Google Shape;532;p53"/>
          <p:cNvSpPr txBox="1"/>
          <p:nvPr/>
        </p:nvSpPr>
        <p:spPr>
          <a:xfrm>
            <a:off x="1389888" y="23591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Volume Formula</a:t>
            </a:r>
            <a:endParaRPr/>
          </a:p>
        </p:txBody>
      </p:sp>
      <p:sp>
        <p:nvSpPr>
          <p:cNvPr id="533" name="Google Shape;533;p53"/>
          <p:cNvSpPr txBox="1"/>
          <p:nvPr/>
        </p:nvSpPr>
        <p:spPr>
          <a:xfrm>
            <a:off x="1389888" y="27066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1" i="0" lang="en-US" sz="1450" u="none" cap="none" strike="noStrike">
                <a:solidFill>
                  <a:srgbClr val="475569"/>
                </a:solidFill>
                <a:latin typeface="Arial"/>
                <a:ea typeface="Arial"/>
                <a:cs typeface="Arial"/>
                <a:sym typeface="Arial"/>
              </a:rPr>
              <a:t xml:space="preserve">Volume</a:t>
            </a:r>
            <a:r>
              <a:rPr b="0" i="0" lang="en-US" sz="1450" u="none" cap="none" strike="noStrike">
                <a:solidFill>
                  <a:srgbClr val="475569"/>
                </a:solidFill>
                <a:latin typeface="Arial"/>
                <a:ea typeface="Arial"/>
                <a:cs typeface="Arial"/>
                <a:sym typeface="Arial"/>
              </a:rPr>
              <a:t xml:space="preserve"> = </a:t>
            </a:r>
            <a:r>
              <a:rPr b="1" i="0" lang="en-US" sz="1450" u="none" cap="none" strike="noStrike">
                <a:solidFill>
                  <a:srgbClr val="475569"/>
                </a:solidFill>
                <a:latin typeface="Arial"/>
                <a:ea typeface="Arial"/>
                <a:cs typeface="Arial"/>
                <a:sym typeface="Arial"/>
              </a:rPr>
              <a:t xml:space="preserve">length</a:t>
            </a:r>
            <a:r>
              <a:rPr b="0" i="0" lang="en-US" sz="1450" u="none" cap="none" strike="noStrike">
                <a:solidFill>
                  <a:srgbClr val="475569"/>
                </a:solidFill>
                <a:latin typeface="Arial"/>
                <a:ea typeface="Arial"/>
                <a:cs typeface="Arial"/>
                <a:sym typeface="Arial"/>
              </a:rPr>
              <a:t xml:space="preserve"> × width × height (V = lwh) or Base Area × height (V = Bh).</a:t>
            </a:r>
            <a:endParaRPr/>
          </a:p>
        </p:txBody>
      </p:sp>
      <p:sp>
        <p:nvSpPr>
          <p:cNvPr id="534" name="Google Shape;534;p53"/>
          <p:cNvSpPr/>
          <p:nvPr/>
        </p:nvSpPr>
        <p:spPr>
          <a:xfrm>
            <a:off x="640080" y="35844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5" name="Google Shape;535;p53"/>
          <p:cNvSpPr/>
          <p:nvPr/>
        </p:nvSpPr>
        <p:spPr>
          <a:xfrm>
            <a:off x="640080" y="35844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6" name="Google Shape;536;p53"/>
          <p:cNvSpPr/>
          <p:nvPr/>
        </p:nvSpPr>
        <p:spPr>
          <a:xfrm>
            <a:off x="896112" y="40050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537" name="Google Shape;537;p53"/>
          <p:cNvSpPr txBox="1"/>
          <p:nvPr/>
        </p:nvSpPr>
        <p:spPr>
          <a:xfrm>
            <a:off x="1389888" y="37307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Fractional Edges</a:t>
            </a:r>
            <a:endParaRPr/>
          </a:p>
        </p:txBody>
      </p:sp>
      <p:sp>
        <p:nvSpPr>
          <p:cNvPr id="538" name="Google Shape;538;p53"/>
          <p:cNvSpPr txBox="1"/>
          <p:nvPr/>
        </p:nvSpPr>
        <p:spPr>
          <a:xfrm>
            <a:off x="1389888" y="40782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The formula applies identically when dimensions include </a:t>
            </a:r>
            <a:r>
              <a:rPr b="1" i="0" lang="en-US" sz="1450" u="none" cap="none" strike="noStrike">
                <a:solidFill>
                  <a:srgbClr val="475569"/>
                </a:solidFill>
                <a:latin typeface="Arial"/>
                <a:ea typeface="Arial"/>
                <a:cs typeface="Arial"/>
                <a:sym typeface="Arial"/>
              </a:rPr>
              <a:t xml:space="preserve">fractional</a:t>
            </a:r>
            <a:r>
              <a:rPr b="0" i="0" lang="en-US" sz="1450" u="none" cap="none" strike="noStrike">
                <a:solidFill>
                  <a:srgbClr val="475569"/>
                </a:solidFill>
                <a:latin typeface="Arial"/>
                <a:ea typeface="Arial"/>
                <a:cs typeface="Arial"/>
                <a:sym typeface="Arial"/>
              </a:rPr>
              <a:t xml:space="preserve"> </a:t>
            </a:r>
            <a:r>
              <a:rPr b="1" i="0" lang="en-US" sz="1450" u="none" cap="none" strike="noStrike">
                <a:solidFill>
                  <a:srgbClr val="475569"/>
                </a:solidFill>
                <a:latin typeface="Arial"/>
                <a:ea typeface="Arial"/>
                <a:cs typeface="Arial"/>
                <a:sym typeface="Arial"/>
              </a:rPr>
              <a:t xml:space="preserve">unit cubes</a:t>
            </a:r>
            <a:r>
              <a:rPr b="0" i="0" lang="en-US" sz="1450" u="none" cap="none" strike="noStrike">
                <a:solidFill>
                  <a:srgbClr val="475569"/>
                </a:solidFill>
                <a:latin typeface="Arial"/>
                <a:ea typeface="Arial"/>
                <a:cs typeface="Arial"/>
                <a:sym typeface="Arial"/>
              </a:rPr>
              <a:t xml:space="preserve">.</a:t>
            </a:r>
            <a:endParaRPr/>
          </a:p>
        </p:txBody>
      </p:sp>
      <p:sp>
        <p:nvSpPr>
          <p:cNvPr id="539" name="Google Shape;539;p53"/>
          <p:cNvSpPr/>
          <p:nvPr/>
        </p:nvSpPr>
        <p:spPr>
          <a:xfrm>
            <a:off x="640080" y="49560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0" name="Google Shape;540;p53"/>
          <p:cNvSpPr/>
          <p:nvPr/>
        </p:nvSpPr>
        <p:spPr>
          <a:xfrm>
            <a:off x="640080" y="49560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1" name="Google Shape;541;p53"/>
          <p:cNvSpPr/>
          <p:nvPr/>
        </p:nvSpPr>
        <p:spPr>
          <a:xfrm>
            <a:off x="896112" y="53766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542" name="Google Shape;542;p53"/>
          <p:cNvSpPr txBox="1"/>
          <p:nvPr/>
        </p:nvSpPr>
        <p:spPr>
          <a:xfrm>
            <a:off x="1389888" y="51023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Cubic Measurement</a:t>
            </a:r>
            <a:endParaRPr/>
          </a:p>
        </p:txBody>
      </p:sp>
      <p:sp>
        <p:nvSpPr>
          <p:cNvPr id="543" name="Google Shape;543;p53"/>
          <p:cNvSpPr txBox="1"/>
          <p:nvPr/>
        </p:nvSpPr>
        <p:spPr>
          <a:xfrm>
            <a:off x="1389888" y="54498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Volume measures three-dimensional capacity and is expressed in </a:t>
            </a:r>
            <a:r>
              <a:rPr b="1" i="0" lang="en-US" sz="1450" u="none" cap="none" strike="noStrike">
                <a:solidFill>
                  <a:srgbClr val="475569"/>
                </a:solidFill>
                <a:latin typeface="Arial"/>
                <a:ea typeface="Arial"/>
                <a:cs typeface="Arial"/>
                <a:sym typeface="Arial"/>
              </a:rPr>
              <a:t xml:space="preserve">cubic units</a:t>
            </a:r>
            <a:r>
              <a:rPr b="0" i="0" lang="en-US" sz="1450" u="none" cap="none" strike="noStrike">
                <a:solidFill>
                  <a:srgbClr val="475569"/>
                </a:solidFill>
                <a:latin typeface="Arial"/>
                <a:ea typeface="Arial"/>
                <a:cs typeface="Arial"/>
                <a:sym typeface="Arial"/>
              </a:rPr>
              <a:t xml:space="preserve"> (e.g. cm³).</a:t>
            </a:r>
            <a:endParaRPr/>
          </a:p>
        </p:txBody>
      </p:sp>
      <p:sp>
        <p:nvSpPr>
          <p:cNvPr id="54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32 / 51</a:t>
            </a:r>
          </a:p>
        </p:txBody>
      </p:sp>
      <p:grpSp>
        <p:nvGrpSpPr>
          <p:cNvPr id="545" name="TEACH-1-student-move" descr="TEACH 1 · Facilitate clear, standards-based content learning"/>
          <p:cNvGrpSpPr/>
          <p:nvPr/>
        </p:nvGrpSpPr>
        <p:grpSpPr>
          <a:xfrm>
            <a:off x="6187440" y="1682496"/>
            <a:ext cx="5501640" cy="594360"/>
            <a:chOff x="6187440" y="1682496"/>
            <a:chExt cx="5501640" cy="594360"/>
          </a:xfrm>
        </p:grpSpPr>
        <p:sp>
          <p:nvSpPr>
            <p:cNvPr id="546"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47"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548"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WHY IT MATTERS  ·  </a:t>
              </a:r>
              <a:r>
                <a:rPr lang="en-US" sz="1200" dirty="0">
                  <a:solidFill>
                    <a:srgbClr val="13303A"/>
                  </a:solidFill>
                  <a:latin typeface="Arial"/>
                </a:rPr>
                <a:t>Finish this: “This is worth knowing because ______.”</a:t>
              </a:r>
              <a:endParaRPr lang="en-US" sz="1200"/>
            </a:p>
          </p:txBody>
        </p:sp>
      </p:gr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4" name="Shape 834"/>
        <p:cNvGrpSpPr/>
        <p:nvPr/>
      </p:nvGrpSpPr>
      <p:grpSpPr>
        <a:xfrm>
          <a:off x="0" y="0"/>
          <a:ext cx="0" cy="0"/>
          <a:chOff x="0" y="0"/>
          <a:chExt cx="0" cy="0"/>
        </a:xfrm>
      </p:grpSpPr>
      <p:sp>
        <p:nvSpPr>
          <p:cNvPr id="835" name="Google Shape;835;p82"/>
          <p:cNvSpPr txBox="1"/>
          <p:nvPr/>
        </p:nvSpPr>
        <p:spPr>
          <a:xfrm>
            <a:off x="1402829" y="2453950"/>
            <a:ext cx="8049644" cy="146669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Arial"/>
              <a:buNone/>
              <a:defRPr/>
            </a:pPr>
            <a:r>
              <a:rPr b="1" i="0" lang="en-US" sz="3600" u="none" cap="none" strike="noStrike">
                <a:solidFill>
                  <a:schemeClr val="dk1"/>
                </a:solidFill>
                <a:latin typeface="Arial"/>
                <a:ea typeface="Arial"/>
                <a:cs typeface="Arial"/>
                <a:sym typeface="Arial"/>
              </a:rPr>
              <a:t>Determine the Volume of a Rectangular Prism​</a:t>
            </a:r>
            <a:endParaRPr b="0" i="0" sz="1400" u="none" cap="none" strike="noStrike">
              <a:solidFill>
                <a:srgbClr val="000000"/>
              </a:solidFill>
              <a:latin typeface="Arial"/>
              <a:ea typeface="Arial"/>
              <a:cs typeface="Arial"/>
              <a:sym typeface="Arial"/>
            </a:endParaRPr>
          </a:p>
        </p:txBody>
      </p:sp>
      <p:sp>
        <p:nvSpPr>
          <p:cNvPr id="836" name="Google Shape;836;p82"/>
          <p:cNvSpPr/>
          <p:nvPr/>
        </p:nvSpPr>
        <p:spPr>
          <a:xfrm>
            <a:off x="1402828" y="1037162"/>
            <a:ext cx="1763624"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rgbClr val="01708C"/>
                </a:solidFill>
                <a:latin typeface="Arial"/>
                <a:ea typeface="Arial"/>
                <a:cs typeface="Arial"/>
                <a:sym typeface="Arial"/>
              </a:rPr>
              <a:t>Session 2</a:t>
            </a:r>
            <a:endParaRPr b="1" i="0" sz="2800" u="none" cap="none" strike="noStrike">
              <a:solidFill>
                <a:srgbClr val="01708C"/>
              </a:solidFill>
              <a:latin typeface="Arial"/>
              <a:ea typeface="Arial"/>
              <a:cs typeface="Arial"/>
              <a:sym typeface="Arial"/>
            </a:endParaRPr>
          </a:p>
        </p:txBody>
      </p:sp>
      <p:cxnSp>
        <p:nvCxnSpPr>
          <p:cNvPr id="837" name="Google Shape;837;p82"/>
          <p:cNvCxnSpPr/>
          <p:nvPr/>
        </p:nvCxnSpPr>
        <p:spPr>
          <a:xfrm>
            <a:off x="-1" y="1560382"/>
            <a:ext cx="3166453" cy="0"/>
          </a:xfrm>
          <a:prstGeom prst="straightConnector1">
            <a:avLst/>
          </a:prstGeom>
          <a:noFill/>
          <a:ln cap="flat" cmpd="sng" w="19050">
            <a:solidFill>
              <a:srgbClr val="01708C"/>
            </a:solidFill>
            <a:prstDash val="solid"/>
            <a:miter lim="80"/>
            <a:headEnd len="sm" w="sm" type="none"/>
            <a:tailEnd len="sm" w="sm" type="none"/>
          </a:ln>
        </p:spPr>
      </p:cxnSp>
      <p:sp>
        <p:nvSpPr>
          <p:cNvPr id="83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33 / 51</a:t>
            </a:r>
          </a:p>
        </p:txBody>
      </p:sp>
      <p:grpSp>
        <p:nvGrpSpPr>
          <p:cNvPr id="839" name="TEACH-6-student-move" descr="TEACH 6 · Organize and implement routines to support a learning-focused classroom"/>
          <p:cNvGrpSpPr/>
          <p:nvPr/>
        </p:nvGrpSpPr>
        <p:grpSpPr>
          <a:xfrm>
            <a:off x="502920" y="3867612"/>
            <a:ext cx="11186160" cy="731520"/>
            <a:chOff x="502920" y="3867612"/>
            <a:chExt cx="11186160" cy="731520"/>
          </a:xfrm>
        </p:grpSpPr>
        <p:sp>
          <p:nvSpPr>
            <p:cNvPr id="840" name="TEACH-move-card"/>
            <p:cNvSpPr/>
            <p:nvPr/>
          </p:nvSpPr>
          <p:spPr>
            <a:xfrm>
              <a:off x="502920" y="3867612"/>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841" name="TEACH-move-rule"/>
            <p:cNvSpPr/>
            <p:nvPr/>
          </p:nvSpPr>
          <p:spPr>
            <a:xfrm>
              <a:off x="548640" y="4006601"/>
              <a:ext cx="100584" cy="453542"/>
            </a:xfrm>
            <a:prstGeom prst="roundRect">
              <a:avLst>
                <a:gd name="adj" fmla="val 50000"/>
              </a:avLst>
            </a:prstGeom>
            <a:solidFill>
              <a:srgbClr val="01708C"/>
            </a:solidFill>
            <a:ln>
              <a:noFill/>
            </a:ln>
          </p:spPr>
          <p:txBody>
            <a:bodyPr/>
            <a:lstStyle/>
            <a:p>
              <a:endParaRPr/>
            </a:p>
          </p:txBody>
        </p:sp>
        <p:sp>
          <p:nvSpPr>
            <p:cNvPr id="842" name="TEACH-move-text"/>
            <p:cNvSpPr txBox="1"/>
            <p:nvPr/>
          </p:nvSpPr>
          <p:spPr>
            <a:xfrm>
              <a:off x="822960" y="3867612"/>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TRY IT BEFORE YOU’RE SURE  ·  </a:t>
              </a:r>
              <a:r>
                <a:rPr lang="en-US" sz="1800" dirty="0">
                  <a:solidFill>
                    <a:srgbClr val="13303A"/>
                  </a:solidFill>
                  <a:latin typeface="Arial"/>
                </a:rPr>
                <a:t>Start even if you are not sure. A revised answer counts as much as a first-try answer.</a:t>
              </a:r>
              <a:endParaRPr lang="en-US" sz="1800"/>
            </a:p>
          </p:txBody>
        </p:sp>
      </p:gr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2" name="Shape 872"/>
        <p:cNvGrpSpPr/>
        <p:nvPr/>
      </p:nvGrpSpPr>
      <p:grpSpPr>
        <a:xfrm>
          <a:off x="0" y="0"/>
          <a:ext cx="0" cy="0"/>
          <a:chOff x="0" y="0"/>
          <a:chExt cx="0" cy="0"/>
        </a:xfrm>
      </p:grpSpPr>
      <p:cxnSp>
        <p:nvCxnSpPr>
          <p:cNvPr id="873" name="Google Shape;873;p8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74" name="Google Shape;874;p86"/>
          <p:cNvSpPr txBox="1"/>
          <p:nvPr/>
        </p:nvSpPr>
        <p:spPr>
          <a:xfrm>
            <a:off x="484564" y="936100"/>
            <a:ext cx="7073523" cy="3221563"/>
          </a:xfrm>
          <a:prstGeom prst="rect">
            <a:avLst/>
          </a:prstGeom>
          <a:blipFill rotWithShape="1">
            <a:blip r:embed="rId3">
              <a:alphaModFix/>
            </a:blip>
            <a:stretch>
              <a:fillRect b="0" l="-1723" r="-1723"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875" name="Google Shape;875;p86"/>
          <p:cNvSpPr txBox="1"/>
          <p:nvPr/>
        </p:nvSpPr>
        <p:spPr>
          <a:xfrm>
            <a:off x="484565" y="316034"/>
            <a:ext cx="430937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The Right Shipping Box</a:t>
            </a:r>
            <a:endParaRPr b="0" i="0" sz="1400" u="none" cap="none" strike="noStrike">
              <a:solidFill>
                <a:srgbClr val="000000"/>
              </a:solidFill>
              <a:latin typeface="Arial"/>
              <a:ea typeface="Arial"/>
              <a:cs typeface="Arial"/>
              <a:sym typeface="Arial"/>
            </a:endParaRPr>
          </a:p>
        </p:txBody>
      </p:sp>
      <p:sp>
        <p:nvSpPr>
          <p:cNvPr id="876" name="Google Shape;876;p86"/>
          <p:cNvSpPr txBox="1"/>
          <p:nvPr/>
        </p:nvSpPr>
        <p:spPr>
          <a:xfrm>
            <a:off x="701258" y="5822401"/>
            <a:ext cx="8442542" cy="49244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defRPr/>
            </a:pPr>
            <a:r>
              <a:rPr b="0" i="0" lang="en-US" sz="2600" u="none" cap="none" strike="noStrike">
                <a:solidFill>
                  <a:srgbClr val="595959"/>
                </a:solidFill>
                <a:latin typeface="Arial"/>
                <a:ea typeface="Arial"/>
                <a:cs typeface="Arial"/>
                <a:sym typeface="Arial"/>
              </a:rPr>
              <a:t>What level of precision does this solution require?</a:t>
            </a:r>
            <a:endParaRPr b="0" i="0" sz="2600" u="none" cap="none" strike="noStrike">
              <a:solidFill>
                <a:srgbClr val="595959"/>
              </a:solidFill>
              <a:latin typeface="Arial"/>
              <a:ea typeface="Arial"/>
              <a:cs typeface="Arial"/>
              <a:sym typeface="Arial"/>
            </a:endParaRPr>
          </a:p>
        </p:txBody>
      </p:sp>
      <p:pic>
        <p:nvPicPr>
          <p:cNvPr id="877" name="Google Shape;877;p86"/>
          <p:cNvPicPr preferRelativeResize="0"/>
          <p:nvPr/>
        </p:nvPicPr>
        <p:blipFill rotWithShape="1">
          <a:blip r:embed="rId4">
            <a:alphaModFix/>
          </a:blip>
          <a:srcRect b="0" l="0" r="0" t="0"/>
          <a:stretch/>
        </p:blipFill>
        <p:spPr>
          <a:xfrm>
            <a:off x="628216" y="5080197"/>
            <a:ext cx="5054600" cy="838200"/>
          </a:xfrm>
          <a:prstGeom prst="rect">
            <a:avLst/>
          </a:prstGeom>
          <a:noFill/>
          <a:ln>
            <a:noFill/>
          </a:ln>
        </p:spPr>
      </p:pic>
      <p:sp>
        <p:nvSpPr>
          <p:cNvPr id="878" name="Google Shape;878;p86"/>
          <p:cNvSpPr txBox="1"/>
          <p:nvPr/>
        </p:nvSpPr>
        <p:spPr>
          <a:xfrm>
            <a:off x="3345221" y="5228273"/>
            <a:ext cx="219458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Precision</a:t>
            </a:r>
            <a:endParaRPr b="0" i="0" sz="2800" u="none" cap="none" strike="noStrike">
              <a:solidFill>
                <a:srgbClr val="262626"/>
              </a:solidFill>
              <a:latin typeface="Arial"/>
              <a:ea typeface="Arial"/>
              <a:cs typeface="Arial"/>
              <a:sym typeface="Arial"/>
            </a:endParaRPr>
          </a:p>
        </p:txBody>
      </p:sp>
      <p:pic>
        <p:nvPicPr>
          <p:cNvPr id="879" name="Google Shape;879;p86"/>
          <p:cNvPicPr preferRelativeResize="0"/>
          <p:nvPr/>
        </p:nvPicPr>
        <p:blipFill rotWithShape="1">
          <a:blip r:embed="rId5">
            <a:alphaModFix/>
          </a:blip>
          <a:srcRect b="0" l="0" r="0" t="0"/>
          <a:stretch/>
        </p:blipFill>
        <p:spPr>
          <a:xfrm>
            <a:off x="7796212" y="1905762"/>
            <a:ext cx="4086225" cy="3124200"/>
          </a:xfrm>
          <a:prstGeom prst="rect">
            <a:avLst/>
          </a:prstGeom>
          <a:noFill/>
          <a:ln>
            <a:noFill/>
          </a:ln>
        </p:spPr>
      </p:pic>
      <p:sp>
        <p:nvSpPr>
          <p:cNvPr id="88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34 / 51</a:t>
            </a:r>
          </a:p>
        </p:txBody>
      </p:sp>
      <p:grpSp>
        <p:nvGrpSpPr>
          <p:cNvPr id="881" name="TEACH-5-student-move" descr="TEACH 5 · Facilitate student interactions and academic talk"/>
          <p:cNvGrpSpPr/>
          <p:nvPr/>
        </p:nvGrpSpPr>
        <p:grpSpPr>
          <a:xfrm>
            <a:off x="6187440" y="5145745"/>
            <a:ext cx="5501640" cy="594360"/>
            <a:chOff x="6187440" y="5145745"/>
            <a:chExt cx="5501640" cy="594360"/>
          </a:xfrm>
        </p:grpSpPr>
        <p:sp>
          <p:nvSpPr>
            <p:cNvPr id="882" name="TEACH-move-card"/>
            <p:cNvSpPr/>
            <p:nvPr/>
          </p:nvSpPr>
          <p:spPr>
            <a:xfrm>
              <a:off x="6187440" y="5145745"/>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883" name="TEACH-move-rule"/>
            <p:cNvSpPr/>
            <p:nvPr/>
          </p:nvSpPr>
          <p:spPr>
            <a:xfrm>
              <a:off x="6233160" y="5258673"/>
              <a:ext cx="100584" cy="368504"/>
            </a:xfrm>
            <a:prstGeom prst="roundRect">
              <a:avLst>
                <a:gd name="adj" fmla="val 50000"/>
              </a:avLst>
            </a:prstGeom>
            <a:solidFill>
              <a:srgbClr val="01708C"/>
            </a:solidFill>
            <a:ln>
              <a:noFill/>
            </a:ln>
          </p:spPr>
          <p:txBody>
            <a:bodyPr/>
            <a:lstStyle/>
            <a:p>
              <a:endParaRPr/>
            </a:p>
          </p:txBody>
        </p:sp>
        <p:sp>
          <p:nvSpPr>
            <p:cNvPr id="884" name="TEACH-move-text"/>
            <p:cNvSpPr txBox="1"/>
            <p:nvPr/>
          </p:nvSpPr>
          <p:spPr>
            <a:xfrm>
              <a:off x="6507480" y="5145745"/>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ADD ON  ·  </a:t>
              </a:r>
              <a:r>
                <a:rPr lang="en-US" sz="1200" dirty="0">
                  <a:solidFill>
                    <a:srgbClr val="13303A"/>
                  </a:solidFill>
                  <a:latin typeface="Arial"/>
                </a:rPr>
                <a:t>Add on: “I agree because ______.”  or  “I see it differently because ______.”</a:t>
              </a:r>
              <a:endParaRPr lang="en-US" sz="1200"/>
            </a:p>
          </p:txBody>
        </p:sp>
      </p:gr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2" name="Shape 912"/>
        <p:cNvGrpSpPr/>
        <p:nvPr/>
      </p:nvGrpSpPr>
      <p:grpSpPr>
        <a:xfrm>
          <a:off x="0" y="0"/>
          <a:ext cx="0" cy="0"/>
          <a:chOff x="0" y="0"/>
          <a:chExt cx="0" cy="0"/>
        </a:xfrm>
      </p:grpSpPr>
      <p:cxnSp>
        <p:nvCxnSpPr>
          <p:cNvPr id="913" name="Google Shape;913;p90"/>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14" name="Google Shape;914;p90"/>
          <p:cNvSpPr txBox="1"/>
          <p:nvPr/>
        </p:nvSpPr>
        <p:spPr>
          <a:xfrm>
            <a:off x="484565" y="936000"/>
            <a:ext cx="7059235" cy="3171305"/>
          </a:xfrm>
          <a:prstGeom prst="rect">
            <a:avLst/>
          </a:prstGeom>
          <a:blipFill rotWithShape="1">
            <a:blip r:embed="rId3">
              <a:alphaModFix/>
            </a:blip>
            <a:stretch>
              <a:fillRect b="-1731" l="-1726" r="-1898"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15" name="Google Shape;915;p90"/>
          <p:cNvSpPr txBox="1"/>
          <p:nvPr/>
        </p:nvSpPr>
        <p:spPr>
          <a:xfrm>
            <a:off x="541348" y="4727271"/>
            <a:ext cx="6945667" cy="137998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We need to find the missing length and determine if it is 12 inches or shorter.</a:t>
            </a:r>
            <a:endParaRPr b="1" i="0" sz="2800" u="none" cap="none" strike="noStrike">
              <a:solidFill>
                <a:srgbClr val="0070C0"/>
              </a:solidFill>
              <a:latin typeface="Arial"/>
              <a:ea typeface="Arial"/>
              <a:cs typeface="Arial"/>
              <a:sym typeface="Arial"/>
            </a:endParaRPr>
          </a:p>
        </p:txBody>
      </p:sp>
      <p:pic>
        <p:nvPicPr>
          <p:cNvPr id="916" name="Google Shape;916;p90"/>
          <p:cNvPicPr preferRelativeResize="0"/>
          <p:nvPr/>
        </p:nvPicPr>
        <p:blipFill rotWithShape="1">
          <a:blip r:embed="rId4">
            <a:alphaModFix/>
          </a:blip>
          <a:srcRect b="0" l="0" r="0" t="0"/>
          <a:stretch/>
        </p:blipFill>
        <p:spPr>
          <a:xfrm>
            <a:off x="7796212" y="1905762"/>
            <a:ext cx="4086225" cy="3124200"/>
          </a:xfrm>
          <a:prstGeom prst="rect">
            <a:avLst/>
          </a:prstGeom>
          <a:noFill/>
          <a:ln>
            <a:noFill/>
          </a:ln>
        </p:spPr>
      </p:pic>
      <p:sp>
        <p:nvSpPr>
          <p:cNvPr id="917" name="Google Shape;917;p90"/>
          <p:cNvSpPr txBox="1"/>
          <p:nvPr/>
        </p:nvSpPr>
        <p:spPr>
          <a:xfrm>
            <a:off x="484565" y="316034"/>
            <a:ext cx="430937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The Right Shipping Box</a:t>
            </a:r>
            <a:endParaRPr b="0" i="0" sz="1400" u="none" cap="none" strike="noStrike">
              <a:solidFill>
                <a:srgbClr val="000000"/>
              </a:solidFill>
              <a:latin typeface="Arial"/>
              <a:ea typeface="Arial"/>
              <a:cs typeface="Arial"/>
              <a:sym typeface="Arial"/>
            </a:endParaRPr>
          </a:p>
        </p:txBody>
      </p:sp>
      <p:sp>
        <p:nvSpPr>
          <p:cNvPr id="91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35 / 51</a:t>
            </a:r>
          </a:p>
        </p:txBody>
      </p:sp>
      <p:sp>
        <p:nvSpPr>
          <p:cNvPr id="919" name="EWL-COVER-1"/>
          <p:cNvSpPr/>
          <p:nvPr/>
        </p:nvSpPr>
        <p:spPr>
          <a:xfrm>
            <a:off x="486484" y="4672407"/>
            <a:ext cx="7055395" cy="1489710"/>
          </a:xfrm>
          <a:prstGeom prst="rect">
            <a:avLst/>
          </a:prstGeom>
          <a:solidFill>
            <a:srgbClr val="FFFFFF"/>
          </a:solidFill>
          <a:ln>
            <a:noFill/>
          </a:ln>
        </p:spPr>
        <p:txBody>
          <a:bodyPr/>
          <a:lstStyle/>
          <a:p/>
        </p:txBody>
      </p:sp>
      <p:grpSp>
        <p:nvGrpSpPr>
          <p:cNvPr id="920" name="TEACH-4-student-move" descr="TEACH 4 · Monitor progress and provide feedback"/>
          <p:cNvGrpSpPr/>
          <p:nvPr/>
        </p:nvGrpSpPr>
        <p:grpSpPr>
          <a:xfrm>
            <a:off x="502920" y="4288359"/>
            <a:ext cx="5501640" cy="402336"/>
            <a:chOff x="502920" y="4288359"/>
            <a:chExt cx="5501640" cy="402336"/>
          </a:xfrm>
        </p:grpSpPr>
        <p:sp>
          <p:nvSpPr>
            <p:cNvPr id="921" name="TEACH-move-card"/>
            <p:cNvSpPr/>
            <p:nvPr/>
          </p:nvSpPr>
          <p:spPr>
            <a:xfrm>
              <a:off x="502920" y="4288359"/>
              <a:ext cx="5501640" cy="402336"/>
            </a:xfrm>
            <a:prstGeom prst="roundRect">
              <a:avLst>
                <a:gd name="adj" fmla="val 16000"/>
              </a:avLst>
            </a:prstGeom>
            <a:solidFill>
              <a:srgbClr val="E4F0F5"/>
            </a:solidFill>
            <a:ln w="19050">
              <a:solidFill>
                <a:srgbClr val="8CB8C7"/>
              </a:solidFill>
            </a:ln>
          </p:spPr>
          <p:txBody>
            <a:bodyPr/>
            <a:lstStyle/>
            <a:p>
              <a:endParaRPr/>
            </a:p>
          </p:txBody>
        </p:sp>
        <p:sp>
          <p:nvSpPr>
            <p:cNvPr id="922" name="TEACH-move-rule"/>
            <p:cNvSpPr/>
            <p:nvPr/>
          </p:nvSpPr>
          <p:spPr>
            <a:xfrm>
              <a:off x="548640" y="4364803"/>
              <a:ext cx="100584" cy="249448"/>
            </a:xfrm>
            <a:prstGeom prst="roundRect">
              <a:avLst>
                <a:gd name="adj" fmla="val 50000"/>
              </a:avLst>
            </a:prstGeom>
            <a:solidFill>
              <a:srgbClr val="01708C"/>
            </a:solidFill>
            <a:ln>
              <a:noFill/>
            </a:ln>
          </p:spPr>
          <p:txBody>
            <a:bodyPr/>
            <a:lstStyle/>
            <a:p>
              <a:endParaRPr/>
            </a:p>
          </p:txBody>
        </p:sp>
        <p:sp>
          <p:nvSpPr>
            <p:cNvPr id="923" name="TEACH-move-text"/>
            <p:cNvSpPr txBox="1"/>
            <p:nvPr/>
          </p:nvSpPr>
          <p:spPr>
            <a:xfrm>
              <a:off x="822960" y="4288359"/>
              <a:ext cx="504444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SELF-CHECK  ·  </a:t>
              </a:r>
              <a:r>
                <a:rPr lang="en-US" sz="1200" dirty="0">
                  <a:solidFill>
                    <a:srgbClr val="13303A"/>
                  </a:solidFill>
                  <a:latin typeface="Arial"/>
                </a:rPr>
                <a:t>Mark it: ✓ got it  ·  ~ almost  ·  ? stuck. Then fix one thing before we move on.</a:t>
              </a:r>
              <a:endParaRPr lang="en-US" sz="12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91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0" name="Shape 930"/>
        <p:cNvGrpSpPr/>
        <p:nvPr/>
      </p:nvGrpSpPr>
      <p:grpSpPr>
        <a:xfrm>
          <a:off x="0" y="0"/>
          <a:ext cx="0" cy="0"/>
          <a:chOff x="0" y="0"/>
          <a:chExt cx="0" cy="0"/>
        </a:xfrm>
      </p:grpSpPr>
      <p:cxnSp>
        <p:nvCxnSpPr>
          <p:cNvPr id="931" name="Google Shape;931;p92"/>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32" name="Google Shape;932;p92"/>
          <p:cNvSpPr txBox="1"/>
          <p:nvPr/>
        </p:nvSpPr>
        <p:spPr>
          <a:xfrm>
            <a:off x="486000" y="936000"/>
            <a:ext cx="7105425" cy="4145666"/>
          </a:xfrm>
          <a:prstGeom prst="rect">
            <a:avLst/>
          </a:prstGeom>
          <a:blipFill rotWithShape="1">
            <a:blip r:embed="rId3">
              <a:alphaModFix/>
            </a:blip>
            <a:stretch>
              <a:fillRect b="-6029" l="-1803"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33" name="Google Shape;933;p92"/>
          <p:cNvSpPr txBox="1"/>
          <p:nvPr/>
        </p:nvSpPr>
        <p:spPr>
          <a:xfrm>
            <a:off x="484565" y="5174288"/>
            <a:ext cx="9944517" cy="105468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We can use the formula for the volume of a rectangular prism.</a:t>
            </a:r>
            <a:endParaRPr b="1" i="0" sz="2800" u="none" cap="none" strike="noStrike">
              <a:solidFill>
                <a:srgbClr val="0070C0"/>
              </a:solidFill>
              <a:latin typeface="Arial"/>
              <a:ea typeface="Arial"/>
              <a:cs typeface="Arial"/>
              <a:sym typeface="Arial"/>
            </a:endParaRPr>
          </a:p>
        </p:txBody>
      </p:sp>
      <p:sp>
        <p:nvSpPr>
          <p:cNvPr id="934" name="Google Shape;934;p92"/>
          <p:cNvSpPr txBox="1"/>
          <p:nvPr/>
        </p:nvSpPr>
        <p:spPr>
          <a:xfrm>
            <a:off x="484565" y="316034"/>
            <a:ext cx="430937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The Right Shipping Box</a:t>
            </a:r>
            <a:endParaRPr b="0" i="0" sz="1400" u="none" cap="none" strike="noStrike">
              <a:solidFill>
                <a:srgbClr val="000000"/>
              </a:solidFill>
              <a:latin typeface="Arial"/>
              <a:ea typeface="Arial"/>
              <a:cs typeface="Arial"/>
              <a:sym typeface="Arial"/>
            </a:endParaRPr>
          </a:p>
        </p:txBody>
      </p:sp>
      <p:pic>
        <p:nvPicPr>
          <p:cNvPr id="935" name="Google Shape;935;p92"/>
          <p:cNvPicPr preferRelativeResize="0"/>
          <p:nvPr/>
        </p:nvPicPr>
        <p:blipFill rotWithShape="1">
          <a:blip r:embed="rId4">
            <a:alphaModFix/>
          </a:blip>
          <a:srcRect b="0" l="0" r="0" t="0"/>
          <a:stretch/>
        </p:blipFill>
        <p:spPr>
          <a:xfrm>
            <a:off x="7796212" y="1905762"/>
            <a:ext cx="4086225" cy="3124200"/>
          </a:xfrm>
          <a:prstGeom prst="rect">
            <a:avLst/>
          </a:prstGeom>
          <a:noFill/>
          <a:ln>
            <a:noFill/>
          </a:ln>
        </p:spPr>
      </p:pic>
      <p:sp>
        <p:nvSpPr>
          <p:cNvPr id="93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36 / 51</a:t>
            </a:r>
          </a:p>
        </p:txBody>
      </p:sp>
      <p:sp>
        <p:nvSpPr>
          <p:cNvPr id="937" name="EWL-COVER-1"/>
          <p:cNvSpPr/>
          <p:nvPr/>
        </p:nvSpPr>
        <p:spPr>
          <a:xfrm>
            <a:off x="429701" y="5119424"/>
            <a:ext cx="10054245" cy="1164415"/>
          </a:xfrm>
          <a:prstGeom prst="rect">
            <a:avLst/>
          </a:prstGeom>
          <a:solidFill>
            <a:srgbClr val="FFFFFF"/>
          </a:solidFill>
          <a:ln>
            <a:noFill/>
          </a:ln>
        </p:spPr>
        <p:txBody>
          <a:bodyPr/>
          <a:lstStyl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93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2" name="Shape 952"/>
        <p:cNvGrpSpPr/>
        <p:nvPr/>
      </p:nvGrpSpPr>
      <p:grpSpPr>
        <a:xfrm>
          <a:off x="0" y="0"/>
          <a:ext cx="0" cy="0"/>
          <a:chOff x="0" y="0"/>
          <a:chExt cx="0" cy="0"/>
        </a:xfrm>
      </p:grpSpPr>
      <p:cxnSp>
        <p:nvCxnSpPr>
          <p:cNvPr id="953" name="Google Shape;953;p9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54" name="Google Shape;954;p94"/>
          <p:cNvSpPr txBox="1"/>
          <p:nvPr/>
        </p:nvSpPr>
        <p:spPr>
          <a:xfrm>
            <a:off x="484565" y="977154"/>
            <a:ext cx="8159373" cy="85164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Use a formula for volume to relate the volume and dimensions.</a:t>
            </a:r>
            <a:endParaRPr b="0" i="0" sz="1400" u="none" cap="none" strike="noStrike">
              <a:solidFill>
                <a:srgbClr val="000000"/>
              </a:solidFill>
              <a:latin typeface="Arial"/>
              <a:ea typeface="Arial"/>
              <a:cs typeface="Arial"/>
              <a:sym typeface="Arial"/>
            </a:endParaRPr>
          </a:p>
        </p:txBody>
      </p:sp>
      <p:sp>
        <p:nvSpPr>
          <p:cNvPr id="955" name="Google Shape;955;p94"/>
          <p:cNvSpPr/>
          <p:nvPr/>
        </p:nvSpPr>
        <p:spPr>
          <a:xfrm>
            <a:off x="484565" y="4332625"/>
            <a:ext cx="6544885"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rgbClr val="23282D"/>
                </a:solidFill>
                <a:latin typeface="Arial"/>
                <a:ea typeface="Arial"/>
                <a:cs typeface="Arial"/>
                <a:sym typeface="Arial"/>
              </a:rPr>
              <a:t>What is the length of the box?</a:t>
            </a:r>
            <a:endParaRPr b="0" i="0" sz="1400" u="none" cap="none" strike="noStrike">
              <a:solidFill>
                <a:srgbClr val="000000"/>
              </a:solidFill>
              <a:latin typeface="Arial"/>
              <a:ea typeface="Arial"/>
              <a:cs typeface="Arial"/>
              <a:sym typeface="Arial"/>
            </a:endParaRPr>
          </a:p>
        </p:txBody>
      </p:sp>
      <p:sp>
        <p:nvSpPr>
          <p:cNvPr id="956" name="Google Shape;956;p94"/>
          <p:cNvSpPr txBox="1"/>
          <p:nvPr/>
        </p:nvSpPr>
        <p:spPr>
          <a:xfrm>
            <a:off x="838199" y="335911"/>
            <a:ext cx="5227303" cy="540659"/>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Collaborate and Connect</a:t>
            </a:r>
            <a:endParaRPr b="0" i="0" sz="1400" u="none" cap="none" strike="noStrike">
              <a:solidFill>
                <a:srgbClr val="000000"/>
              </a:solidFill>
              <a:latin typeface="Arial"/>
              <a:ea typeface="Arial"/>
              <a:cs typeface="Arial"/>
              <a:sym typeface="Arial"/>
            </a:endParaRPr>
          </a:p>
        </p:txBody>
      </p:sp>
      <p:pic>
        <p:nvPicPr>
          <p:cNvPr id="957" name="Google Shape;957;p94"/>
          <p:cNvPicPr preferRelativeResize="0"/>
          <p:nvPr/>
        </p:nvPicPr>
        <p:blipFill rotWithShape="1">
          <a:blip r:embed="rId3">
            <a:alphaModFix/>
          </a:blip>
          <a:srcRect b="0" l="0" r="0" t="0"/>
          <a:stretch/>
        </p:blipFill>
        <p:spPr>
          <a:xfrm>
            <a:off x="484564" y="415469"/>
            <a:ext cx="353635" cy="340537"/>
          </a:xfrm>
          <a:prstGeom prst="rect">
            <a:avLst/>
          </a:prstGeom>
          <a:noFill/>
          <a:ln>
            <a:noFill/>
          </a:ln>
        </p:spPr>
      </p:pic>
      <p:sp>
        <p:nvSpPr>
          <p:cNvPr id="958" name="Google Shape;958;p94"/>
          <p:cNvSpPr txBox="1"/>
          <p:nvPr/>
        </p:nvSpPr>
        <p:spPr>
          <a:xfrm>
            <a:off x="580226" y="5185410"/>
            <a:ext cx="9944517" cy="1233678"/>
          </a:xfrm>
          <a:prstGeom prst="rect">
            <a:avLst/>
          </a:prstGeom>
          <a:blipFill rotWithShape="1">
            <a:blip r:embed="rId4">
              <a:alphaModFix/>
            </a:blip>
            <a:stretch>
              <a:fillRect b="0" l="-1226" r="0" t="-5446"/>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59" name="Google Shape;959;p94"/>
          <p:cNvSpPr/>
          <p:nvPr/>
        </p:nvSpPr>
        <p:spPr>
          <a:xfrm>
            <a:off x="528323" y="2177590"/>
            <a:ext cx="1648913" cy="523220"/>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60" name="Google Shape;960;p94"/>
          <p:cNvSpPr/>
          <p:nvPr/>
        </p:nvSpPr>
        <p:spPr>
          <a:xfrm>
            <a:off x="531095" y="2724566"/>
            <a:ext cx="3609643" cy="901785"/>
          </a:xfrm>
          <a:prstGeom prst="rect">
            <a:avLst/>
          </a:pr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id="961" name="Google Shape;961;p94"/>
          <p:cNvPicPr preferRelativeResize="0"/>
          <p:nvPr/>
        </p:nvPicPr>
        <p:blipFill rotWithShape="1">
          <a:blip r:embed="rId7">
            <a:alphaModFix/>
          </a:blip>
          <a:srcRect b="0" l="0" r="0" t="0"/>
          <a:stretch/>
        </p:blipFill>
        <p:spPr>
          <a:xfrm>
            <a:off x="7958136" y="1957387"/>
            <a:ext cx="3648075" cy="2943225"/>
          </a:xfrm>
          <a:prstGeom prst="rect">
            <a:avLst/>
          </a:prstGeom>
          <a:noFill/>
          <a:ln>
            <a:noFill/>
          </a:ln>
        </p:spPr>
      </p:pic>
      <p:sp>
        <p:nvSpPr>
          <p:cNvPr id="96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38 / 51</a:t>
            </a:r>
          </a:p>
        </p:txBody>
      </p:sp>
      <p:sp>
        <p:nvSpPr>
          <p:cNvPr id="963"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defRPr/>
            </a:pPr>
            <a:r>
              <a:rPr lang="en-US" sz="1200" b="1">
                <a:solidFill>
                  <a:srgbClr val="1E2682"/>
                </a:solidFill>
                <a:latin typeface="Arial"/>
              </a:rPr>
              <a:t>COLLABORATE</a:t>
            </a:r>
            <a:r>
              <a:rPr lang="en-US" sz="1200" b="1">
                <a:solidFill>
                  <a:srgbClr val="5D6872"/>
                </a:solidFill>
                <a:latin typeface="Arial"/>
              </a:rPr>
              <a:t>  ·  TALK IT THROUGH • AGREE ON A MODEL</a:t>
            </a:r>
          </a:p>
        </p:txBody>
      </p:sp>
      <p:grpSp>
        <p:nvGrpSpPr>
          <p:cNvPr id="964" name="TEACH-5-student-move" descr="TEACH 5 · Facilitate student interactions and academic talk"/>
          <p:cNvGrpSpPr/>
          <p:nvPr/>
        </p:nvGrpSpPr>
        <p:grpSpPr>
          <a:xfrm>
            <a:off x="502920" y="3893713"/>
            <a:ext cx="5501640" cy="402336"/>
            <a:chOff x="502920" y="3893713"/>
            <a:chExt cx="5501640" cy="402336"/>
          </a:xfrm>
        </p:grpSpPr>
        <p:sp>
          <p:nvSpPr>
            <p:cNvPr id="965" name="TEACH-move-card"/>
            <p:cNvSpPr/>
            <p:nvPr/>
          </p:nvSpPr>
          <p:spPr>
            <a:xfrm>
              <a:off x="502920" y="3893713"/>
              <a:ext cx="5501640" cy="402336"/>
            </a:xfrm>
            <a:prstGeom prst="roundRect">
              <a:avLst>
                <a:gd name="adj" fmla="val 16000"/>
              </a:avLst>
            </a:prstGeom>
            <a:solidFill>
              <a:srgbClr val="E4F0F5"/>
            </a:solidFill>
            <a:ln w="19050">
              <a:solidFill>
                <a:srgbClr val="8CB8C7"/>
              </a:solidFill>
            </a:ln>
          </p:spPr>
          <p:txBody>
            <a:bodyPr/>
            <a:lstStyle/>
            <a:p>
              <a:endParaRPr/>
            </a:p>
          </p:txBody>
        </p:sp>
        <p:sp>
          <p:nvSpPr>
            <p:cNvPr id="966" name="TEACH-move-rule"/>
            <p:cNvSpPr/>
            <p:nvPr/>
          </p:nvSpPr>
          <p:spPr>
            <a:xfrm>
              <a:off x="548640" y="3970157"/>
              <a:ext cx="100584" cy="249448"/>
            </a:xfrm>
            <a:prstGeom prst="roundRect">
              <a:avLst>
                <a:gd name="adj" fmla="val 50000"/>
              </a:avLst>
            </a:prstGeom>
            <a:solidFill>
              <a:srgbClr val="01708C"/>
            </a:solidFill>
            <a:ln>
              <a:noFill/>
            </a:ln>
          </p:spPr>
          <p:txBody>
            <a:bodyPr/>
            <a:lstStyle/>
            <a:p>
              <a:endParaRPr/>
            </a:p>
          </p:txBody>
        </p:sp>
        <p:sp>
          <p:nvSpPr>
            <p:cNvPr id="967" name="TEACH-move-text"/>
            <p:cNvSpPr txBox="1"/>
            <p:nvPr/>
          </p:nvSpPr>
          <p:spPr>
            <a:xfrm>
              <a:off x="822960" y="3893713"/>
              <a:ext cx="504444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TAKE TURNS  ·  </a:t>
              </a:r>
              <a:r>
                <a:rPr lang="en-US" sz="1200" dirty="0">
                  <a:solidFill>
                    <a:srgbClr val="13303A"/>
                  </a:solidFill>
                  <a:latin typeface="Arial"/>
                </a:rPr>
                <a:t>One explains, one asks a question. Then switch, so both of you talk.</a:t>
              </a:r>
              <a:endParaRPr lang="en-US" sz="1200"/>
            </a:p>
          </p:txBody>
        </p:sp>
      </p:gr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5" name="Shape 965"/>
        <p:cNvGrpSpPr/>
        <p:nvPr/>
      </p:nvGrpSpPr>
      <p:grpSpPr>
        <a:xfrm>
          <a:off x="0" y="0"/>
          <a:ext cx="0" cy="0"/>
          <a:chOff x="0" y="0"/>
          <a:chExt cx="0" cy="0"/>
        </a:xfrm>
      </p:grpSpPr>
      <p:cxnSp>
        <p:nvCxnSpPr>
          <p:cNvPr id="966" name="Google Shape;966;p9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67" name="Google Shape;967;p95"/>
          <p:cNvSpPr txBox="1"/>
          <p:nvPr/>
        </p:nvSpPr>
        <p:spPr>
          <a:xfrm>
            <a:off x="484564" y="4897903"/>
            <a:ext cx="8766369" cy="167210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defRPr/>
            </a:pPr>
            <a:r>
              <a:rPr b="1" i="0" lang="en-US" sz="2800" u="none" cap="none" strike="noStrike">
                <a:solidFill>
                  <a:schemeClr val="lt1"/>
                </a:solidFill>
                <a:highlight>
                  <a:srgbClr val="1E2682"/>
                </a:highlight>
                <a:latin typeface="Arial"/>
                <a:ea typeface="Arial"/>
                <a:cs typeface="Arial"/>
                <a:sym typeface="Arial"/>
              </a:rPr>
              <a:t> Think About It</a:t>
            </a:r>
            <a:r>
              <a:rPr b="1" i="0" lang="en-US" sz="2800" u="none" cap="none" strike="noStrike">
                <a:solidFill>
                  <a:srgbClr val="1E2682"/>
                </a:solidFill>
                <a:highlight>
                  <a:srgbClr val="1E2682"/>
                </a:highlight>
                <a:latin typeface="Arial"/>
                <a:ea typeface="Arial"/>
                <a:cs typeface="Arial"/>
                <a:sym typeface="Arial"/>
              </a:rPr>
              <a:t>:</a:t>
            </a:r>
            <a:r>
              <a:rPr b="1" i="0" lang="en-US" sz="2800" u="none" cap="none" strike="noStrike">
                <a:solidFill>
                  <a:schemeClr val="lt1"/>
                </a:solidFill>
                <a:highlight>
                  <a:srgbClr val="1E2682"/>
                </a:highlight>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2800"/>
              <a:buFont typeface="Arial"/>
              <a:buNone/>
              <a:defRPr/>
            </a:pPr>
            <a:r>
              <a:rPr/>
              <a:t/>
            </a:r>
            <a:endParaRPr b="0" i="0" sz="2800" u="none" cap="none" strike="noStrike">
              <a:solidFill>
                <a:srgbClr val="595959"/>
              </a:solidFill>
              <a:latin typeface="Arial"/>
              <a:ea typeface="Arial"/>
              <a:cs typeface="Arial"/>
              <a:sym typeface="Arial"/>
            </a:endParaRPr>
          </a:p>
        </p:txBody>
      </p:sp>
      <p:sp>
        <p:nvSpPr>
          <p:cNvPr id="968" name="Google Shape;968;p95"/>
          <p:cNvSpPr txBox="1"/>
          <p:nvPr/>
        </p:nvSpPr>
        <p:spPr>
          <a:xfrm>
            <a:off x="484563" y="936000"/>
            <a:ext cx="8766369" cy="607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600"/>
              <a:buFont typeface="Arial"/>
              <a:buNone/>
              <a:defRPr/>
            </a:pPr>
            <a:r>
              <a:rPr b="0" i="0" lang="en-US" sz="2600" u="none" cap="none" strike="noStrike">
                <a:solidFill>
                  <a:schemeClr val="dk1"/>
                </a:solidFill>
                <a:latin typeface="Arial"/>
                <a:ea typeface="Arial"/>
                <a:cs typeface="Arial"/>
                <a:sym typeface="Arial"/>
              </a:rPr>
              <a:t>Divide the volume by the product of the width and height.</a:t>
            </a:r>
            <a:endParaRPr b="0" i="0" sz="1400" u="none" cap="none" strike="noStrike">
              <a:solidFill>
                <a:srgbClr val="000000"/>
              </a:solidFill>
              <a:latin typeface="Arial"/>
              <a:ea typeface="Arial"/>
              <a:cs typeface="Arial"/>
              <a:sym typeface="Arial"/>
            </a:endParaRPr>
          </a:p>
        </p:txBody>
      </p:sp>
      <p:pic>
        <p:nvPicPr>
          <p:cNvPr id="969" name="Google Shape;969;p95"/>
          <p:cNvPicPr preferRelativeResize="0"/>
          <p:nvPr/>
        </p:nvPicPr>
        <p:blipFill rotWithShape="1">
          <a:blip r:embed="rId3">
            <a:alphaModFix/>
          </a:blip>
          <a:srcRect b="0" l="0" r="0" t="0"/>
          <a:stretch/>
        </p:blipFill>
        <p:spPr>
          <a:xfrm>
            <a:off x="7958137" y="1957388"/>
            <a:ext cx="3648075" cy="2943225"/>
          </a:xfrm>
          <a:prstGeom prst="rect">
            <a:avLst/>
          </a:prstGeom>
          <a:noFill/>
          <a:ln>
            <a:noFill/>
          </a:ln>
        </p:spPr>
      </p:pic>
      <p:sp>
        <p:nvSpPr>
          <p:cNvPr id="970" name="Google Shape;970;p95"/>
          <p:cNvSpPr txBox="1"/>
          <p:nvPr/>
        </p:nvSpPr>
        <p:spPr>
          <a:xfrm>
            <a:off x="484565" y="316034"/>
            <a:ext cx="430937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The Right Shipping Box</a:t>
            </a:r>
            <a:endParaRPr b="0" i="0" sz="1400" u="none" cap="none" strike="noStrike">
              <a:solidFill>
                <a:srgbClr val="000000"/>
              </a:solidFill>
              <a:latin typeface="Arial"/>
              <a:ea typeface="Arial"/>
              <a:cs typeface="Arial"/>
              <a:sym typeface="Arial"/>
            </a:endParaRPr>
          </a:p>
        </p:txBody>
      </p:sp>
      <p:sp>
        <p:nvSpPr>
          <p:cNvPr id="971" name="Google Shape;971;p95"/>
          <p:cNvSpPr txBox="1"/>
          <p:nvPr/>
        </p:nvSpPr>
        <p:spPr>
          <a:xfrm>
            <a:off x="484563" y="1531985"/>
            <a:ext cx="5905275" cy="3300783"/>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7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39 / 51</a:t>
            </a:r>
          </a:p>
        </p:txBody>
      </p:sp>
      <p:grpSp>
        <p:nvGrpSpPr>
          <p:cNvPr id="973" name="TEACH-2-student-move" descr="TEACH 2 · Use strategies and tasks to engage students in rigorous work"/>
          <p:cNvGrpSpPr/>
          <p:nvPr/>
        </p:nvGrpSpPr>
        <p:grpSpPr>
          <a:xfrm>
            <a:off x="502920" y="5785074"/>
            <a:ext cx="11186160" cy="457200"/>
            <a:chOff x="502920" y="5785074"/>
            <a:chExt cx="11186160" cy="457200"/>
          </a:xfrm>
        </p:grpSpPr>
        <p:sp>
          <p:nvSpPr>
            <p:cNvPr id="974" name="TEACH-move-card"/>
            <p:cNvSpPr/>
            <p:nvPr/>
          </p:nvSpPr>
          <p:spPr>
            <a:xfrm>
              <a:off x="502920" y="5785074"/>
              <a:ext cx="11186160" cy="457200"/>
            </a:xfrm>
            <a:prstGeom prst="roundRect">
              <a:avLst>
                <a:gd name="adj" fmla="val 16000"/>
              </a:avLst>
            </a:prstGeom>
            <a:solidFill>
              <a:srgbClr val="E4F0F5"/>
            </a:solidFill>
            <a:ln w="19050">
              <a:solidFill>
                <a:srgbClr val="8CB8C7"/>
              </a:solidFill>
            </a:ln>
          </p:spPr>
          <p:txBody>
            <a:bodyPr/>
            <a:lstStyle/>
            <a:p>
              <a:endParaRPr/>
            </a:p>
          </p:txBody>
        </p:sp>
        <p:sp>
          <p:nvSpPr>
            <p:cNvPr id="975" name="TEACH-move-rule"/>
            <p:cNvSpPr/>
            <p:nvPr/>
          </p:nvSpPr>
          <p:spPr>
            <a:xfrm>
              <a:off x="548640" y="5871942"/>
              <a:ext cx="100584" cy="283464"/>
            </a:xfrm>
            <a:prstGeom prst="roundRect">
              <a:avLst>
                <a:gd name="adj" fmla="val 50000"/>
              </a:avLst>
            </a:prstGeom>
            <a:solidFill>
              <a:srgbClr val="01708C"/>
            </a:solidFill>
            <a:ln>
              <a:noFill/>
            </a:ln>
          </p:spPr>
          <p:txBody>
            <a:bodyPr/>
            <a:lstStyle/>
            <a:p>
              <a:endParaRPr/>
            </a:p>
          </p:txBody>
        </p:sp>
        <p:sp>
          <p:nvSpPr>
            <p:cNvPr id="976" name="TEACH-move-text"/>
            <p:cNvSpPr txBox="1"/>
            <p:nvPr/>
          </p:nvSpPr>
          <p:spPr>
            <a:xfrm>
              <a:off x="822960" y="5785074"/>
              <a:ext cx="10728960" cy="457200"/>
            </a:xfrm>
            <a:prstGeom prst="rect">
              <a:avLst/>
            </a:prstGeom>
            <a:noFill/>
            <a:ln>
              <a:noFill/>
            </a:ln>
          </p:spPr>
          <p:txBody>
            <a:bodyPr wrap="square" lIns="0" tIns="0" rIns="0" bIns="0" anchor="ctr">
              <a:noAutofit/>
            </a:bodyPr>
            <a:lstStyle/>
            <a:p>
              <a:pPr algn="l">
                <a:buNone/>
              </a:pPr>
              <a:r>
                <a:rPr lang="en-US" sz="1400" b="1" dirty="0">
                  <a:solidFill>
                    <a:srgbClr val="01708C"/>
                  </a:solidFill>
                  <a:latin typeface="Arial"/>
                </a:rPr>
                <a:t>STRUGGLE FIRST  ·  </a:t>
              </a:r>
              <a:r>
                <a:rPr lang="en-US" sz="1400" dirty="0">
                  <a:solidFill>
                    <a:srgbClr val="13303A"/>
                  </a:solidFill>
                  <a:latin typeface="Arial"/>
                </a:rPr>
                <a:t>Work on your own first. Stuck is allowed — try a second strategy before you ask.</a:t>
              </a:r>
              <a:endParaRPr lang="en-US" sz="1400"/>
            </a:p>
          </p:txBody>
        </p:sp>
      </p:gr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5" name="Shape 975"/>
        <p:cNvGrpSpPr/>
        <p:nvPr/>
      </p:nvGrpSpPr>
      <p:grpSpPr>
        <a:xfrm>
          <a:off x="0" y="0"/>
          <a:ext cx="0" cy="0"/>
          <a:chOff x="0" y="0"/>
          <a:chExt cx="0" cy="0"/>
        </a:xfrm>
      </p:grpSpPr>
      <p:cxnSp>
        <p:nvCxnSpPr>
          <p:cNvPr id="976" name="Google Shape;976;p9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77" name="Google Shape;977;p96"/>
          <p:cNvSpPr txBox="1"/>
          <p:nvPr/>
        </p:nvSpPr>
        <p:spPr>
          <a:xfrm>
            <a:off x="484564" y="4815607"/>
            <a:ext cx="8766369" cy="167210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defRPr/>
            </a:pPr>
            <a:r>
              <a:rPr b="1" i="0" lang="en-US" sz="2600" u="none" cap="none" strike="noStrike">
                <a:solidFill>
                  <a:schemeClr val="lt1"/>
                </a:solidFill>
                <a:highlight>
                  <a:srgbClr val="1E2682"/>
                </a:highlight>
                <a:latin typeface="Arial"/>
                <a:ea typeface="Arial"/>
                <a:cs typeface="Arial"/>
                <a:sym typeface="Arial"/>
              </a:rPr>
              <a:t> Think About It</a:t>
            </a:r>
            <a:r>
              <a:rPr b="1" i="0" lang="en-US" sz="2600" u="none" cap="none" strike="noStrike">
                <a:solidFill>
                  <a:srgbClr val="1E2682"/>
                </a:solidFill>
                <a:highlight>
                  <a:srgbClr val="1E2682"/>
                </a:highlight>
                <a:latin typeface="Arial"/>
                <a:ea typeface="Arial"/>
                <a:cs typeface="Arial"/>
                <a:sym typeface="Arial"/>
              </a:rPr>
              <a:t>:</a:t>
            </a:r>
            <a:r>
              <a:rPr b="1" i="0" lang="en-US" sz="2600" u="none" cap="none" strike="noStrike">
                <a:solidFill>
                  <a:schemeClr val="lt1"/>
                </a:solidFill>
                <a:highlight>
                  <a:srgbClr val="1E2682"/>
                </a:highlight>
                <a:latin typeface="Arial"/>
                <a:ea typeface="Arial"/>
                <a:cs typeface="Arial"/>
                <a:sym typeface="Arial"/>
              </a:rPr>
              <a:t>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600" u="none" cap="none" strike="noStrike">
                <a:solidFill>
                  <a:srgbClr val="595959"/>
                </a:solidFill>
                <a:latin typeface="Arial"/>
                <a:ea typeface="Arial"/>
                <a:cs typeface="Arial"/>
                <a:sym typeface="Arial"/>
              </a:rPr>
              <a:t>When multiplying or dividing with fractions, why is it sometimes better to simplify the product or quotient?</a:t>
            </a:r>
            <a:endParaRPr b="0" i="0" sz="2600" u="none" cap="none" strike="noStrike">
              <a:solidFill>
                <a:srgbClr val="595959"/>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2800"/>
              <a:buFont typeface="Arial"/>
              <a:buNone/>
              <a:defRPr/>
            </a:pPr>
            <a:r>
              <a:rPr/>
              <a:t/>
            </a:r>
            <a:endParaRPr b="0" i="0" sz="2600" u="none" cap="none" strike="noStrike">
              <a:solidFill>
                <a:srgbClr val="595959"/>
              </a:solidFill>
              <a:latin typeface="Arial"/>
              <a:ea typeface="Arial"/>
              <a:cs typeface="Arial"/>
              <a:sym typeface="Arial"/>
            </a:endParaRPr>
          </a:p>
        </p:txBody>
      </p:sp>
      <p:sp>
        <p:nvSpPr>
          <p:cNvPr id="978" name="Google Shape;978;p96"/>
          <p:cNvSpPr txBox="1"/>
          <p:nvPr/>
        </p:nvSpPr>
        <p:spPr>
          <a:xfrm>
            <a:off x="484563" y="936000"/>
            <a:ext cx="8766369" cy="607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600"/>
              <a:buFont typeface="Arial"/>
              <a:buNone/>
              <a:defRPr/>
            </a:pPr>
            <a:r>
              <a:rPr b="0" i="0" lang="en-US" sz="2600" u="none" cap="none" strike="noStrike">
                <a:solidFill>
                  <a:schemeClr val="dk1"/>
                </a:solidFill>
                <a:latin typeface="Arial"/>
                <a:ea typeface="Arial"/>
                <a:cs typeface="Arial"/>
                <a:sym typeface="Arial"/>
              </a:rPr>
              <a:t>Divide the volume by the product of the width and height.</a:t>
            </a:r>
            <a:endParaRPr b="0" i="0" sz="1400" u="none" cap="none" strike="noStrike">
              <a:solidFill>
                <a:srgbClr val="000000"/>
              </a:solidFill>
              <a:latin typeface="Arial"/>
              <a:ea typeface="Arial"/>
              <a:cs typeface="Arial"/>
              <a:sym typeface="Arial"/>
            </a:endParaRPr>
          </a:p>
        </p:txBody>
      </p:sp>
      <p:pic>
        <p:nvPicPr>
          <p:cNvPr id="979" name="Google Shape;979;p96"/>
          <p:cNvPicPr preferRelativeResize="0"/>
          <p:nvPr/>
        </p:nvPicPr>
        <p:blipFill rotWithShape="1">
          <a:blip r:embed="rId3">
            <a:alphaModFix/>
          </a:blip>
          <a:srcRect b="0" l="0" r="0" t="0"/>
          <a:stretch/>
        </p:blipFill>
        <p:spPr>
          <a:xfrm>
            <a:off x="7958137" y="1957388"/>
            <a:ext cx="3648075" cy="2943225"/>
          </a:xfrm>
          <a:prstGeom prst="rect">
            <a:avLst/>
          </a:prstGeom>
          <a:noFill/>
          <a:ln>
            <a:noFill/>
          </a:ln>
        </p:spPr>
      </p:pic>
      <p:sp>
        <p:nvSpPr>
          <p:cNvPr id="980" name="Google Shape;980;p96"/>
          <p:cNvSpPr txBox="1"/>
          <p:nvPr/>
        </p:nvSpPr>
        <p:spPr>
          <a:xfrm>
            <a:off x="484565" y="316034"/>
            <a:ext cx="430937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The Right Shipping Box</a:t>
            </a:r>
            <a:endParaRPr b="0" i="0" sz="1400" u="none" cap="none" strike="noStrike">
              <a:solidFill>
                <a:srgbClr val="000000"/>
              </a:solidFill>
              <a:latin typeface="Arial"/>
              <a:ea typeface="Arial"/>
              <a:cs typeface="Arial"/>
              <a:sym typeface="Arial"/>
            </a:endParaRPr>
          </a:p>
        </p:txBody>
      </p:sp>
      <p:sp>
        <p:nvSpPr>
          <p:cNvPr id="981" name="Google Shape;981;p96"/>
          <p:cNvSpPr txBox="1"/>
          <p:nvPr/>
        </p:nvSpPr>
        <p:spPr>
          <a:xfrm>
            <a:off x="484563" y="1531985"/>
            <a:ext cx="5905275" cy="3300783"/>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8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40 / 51</a:t>
            </a: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4" name="Shape 994"/>
        <p:cNvGrpSpPr/>
        <p:nvPr/>
      </p:nvGrpSpPr>
      <p:grpSpPr>
        <a:xfrm>
          <a:off x="0" y="0"/>
          <a:ext cx="0" cy="0"/>
          <a:chOff x="0" y="0"/>
          <a:chExt cx="0" cy="0"/>
        </a:xfrm>
      </p:grpSpPr>
      <p:cxnSp>
        <p:nvCxnSpPr>
          <p:cNvPr id="995" name="Google Shape;995;p9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96" name="Google Shape;996;p98"/>
          <p:cNvSpPr txBox="1"/>
          <p:nvPr/>
        </p:nvSpPr>
        <p:spPr>
          <a:xfrm>
            <a:off x="486000" y="936000"/>
            <a:ext cx="7188963" cy="380089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Due to shipping regulations, the box can be no longer than 12 inches.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chemeClr val="dk1"/>
              </a:buClr>
              <a:buSzPts val="2800"/>
              <a:buFont typeface="Arial"/>
              <a:buNone/>
              <a:defRPr/>
            </a:pPr>
            <a:r>
              <a:rPr b="1" i="0" lang="en-US" sz="2800" u="none" cap="none" strike="noStrike">
                <a:solidFill>
                  <a:schemeClr val="dk1"/>
                </a:solidFill>
                <a:latin typeface="Arial"/>
                <a:ea typeface="Arial"/>
                <a:cs typeface="Arial"/>
                <a:sym typeface="Arial"/>
              </a:rPr>
              <a:t>How does the length of the box compare to the shipping regulations?</a:t>
            </a:r>
            <a:endParaRPr b="1" i="0" sz="2800" u="none" cap="none" strike="noStrike">
              <a:solidFill>
                <a:schemeClr val="dk1"/>
              </a:solidFill>
              <a:latin typeface="Arial"/>
              <a:ea typeface="Arial"/>
              <a:cs typeface="Arial"/>
              <a:sym typeface="Arial"/>
            </a:endParaRPr>
          </a:p>
        </p:txBody>
      </p:sp>
      <p:sp>
        <p:nvSpPr>
          <p:cNvPr id="997" name="Google Shape;997;p98"/>
          <p:cNvSpPr txBox="1"/>
          <p:nvPr/>
        </p:nvSpPr>
        <p:spPr>
          <a:xfrm>
            <a:off x="486000" y="4860000"/>
            <a:ext cx="9944517" cy="141655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The length of the box is shorter than the length set by the shipping regulations.​</a:t>
            </a:r>
            <a:endParaRPr b="1" i="0" sz="2800" u="none" cap="none" strike="noStrike">
              <a:solidFill>
                <a:srgbClr val="0070C0"/>
              </a:solidFill>
              <a:latin typeface="Arial"/>
              <a:ea typeface="Arial"/>
              <a:cs typeface="Arial"/>
              <a:sym typeface="Arial"/>
            </a:endParaRPr>
          </a:p>
        </p:txBody>
      </p:sp>
      <p:pic>
        <p:nvPicPr>
          <p:cNvPr id="998" name="Google Shape;998;p98"/>
          <p:cNvPicPr preferRelativeResize="0"/>
          <p:nvPr/>
        </p:nvPicPr>
        <p:blipFill rotWithShape="1">
          <a:blip r:embed="rId3">
            <a:alphaModFix/>
          </a:blip>
          <a:srcRect b="0" l="0" r="0" t="0"/>
          <a:stretch/>
        </p:blipFill>
        <p:spPr>
          <a:xfrm>
            <a:off x="7958137" y="1957388"/>
            <a:ext cx="3648075" cy="2943225"/>
          </a:xfrm>
          <a:prstGeom prst="rect">
            <a:avLst/>
          </a:prstGeom>
          <a:noFill/>
          <a:ln>
            <a:noFill/>
          </a:ln>
        </p:spPr>
      </p:pic>
      <p:sp>
        <p:nvSpPr>
          <p:cNvPr id="999" name="Google Shape;999;p98"/>
          <p:cNvSpPr txBox="1"/>
          <p:nvPr/>
        </p:nvSpPr>
        <p:spPr>
          <a:xfrm>
            <a:off x="484565" y="316034"/>
            <a:ext cx="430937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The Right Shipping Box</a:t>
            </a:r>
            <a:endParaRPr b="0" i="0" sz="1400" u="none" cap="none" strike="noStrike">
              <a:solidFill>
                <a:srgbClr val="000000"/>
              </a:solidFill>
              <a:latin typeface="Arial"/>
              <a:ea typeface="Arial"/>
              <a:cs typeface="Arial"/>
              <a:sym typeface="Arial"/>
            </a:endParaRPr>
          </a:p>
        </p:txBody>
      </p:sp>
      <p:sp>
        <p:nvSpPr>
          <p:cNvPr id="100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42 / 51</a:t>
            </a:r>
          </a:p>
        </p:txBody>
      </p:sp>
      <p:sp>
        <p:nvSpPr>
          <p:cNvPr id="1001" name="EWL-COVER-1"/>
          <p:cNvSpPr/>
          <p:nvPr/>
        </p:nvSpPr>
        <p:spPr>
          <a:xfrm>
            <a:off x="431136" y="4805136"/>
            <a:ext cx="10054245" cy="1526286"/>
          </a:xfrm>
          <a:prstGeom prst="rect">
            <a:avLst/>
          </a:prstGeom>
          <a:solidFill>
            <a:srgbClr val="FFFFFF"/>
          </a:solidFill>
          <a:ln>
            <a:noFill/>
          </a:ln>
        </p:spPr>
        <p:txBody>
          <a:bodyPr/>
          <a:lstStyle/>
          <a:p/>
        </p:txBody>
      </p:sp>
      <p:grpSp>
        <p:nvGrpSpPr>
          <p:cNvPr id="1002" name="TEACH-3-student-move" descr="TEACH 3 · Use intentional questioning to deepen learning"/>
          <p:cNvGrpSpPr/>
          <p:nvPr/>
        </p:nvGrpSpPr>
        <p:grpSpPr>
          <a:xfrm>
            <a:off x="502920" y="4259544"/>
            <a:ext cx="5501640" cy="594360"/>
            <a:chOff x="502920" y="4183344"/>
            <a:chExt cx="5501640" cy="594360"/>
          </a:xfrm>
        </p:grpSpPr>
        <p:sp>
          <p:nvSpPr>
            <p:cNvPr id="1003" name="TEACH-move-card"/>
            <p:cNvSpPr/>
            <p:nvPr/>
          </p:nvSpPr>
          <p:spPr>
            <a:xfrm>
              <a:off x="502920" y="4183344"/>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1004" name="TEACH-move-rule"/>
            <p:cNvSpPr/>
            <p:nvPr/>
          </p:nvSpPr>
          <p:spPr>
            <a:xfrm>
              <a:off x="548640" y="4296272"/>
              <a:ext cx="100584" cy="368504"/>
            </a:xfrm>
            <a:prstGeom prst="roundRect">
              <a:avLst>
                <a:gd name="adj" fmla="val 50000"/>
              </a:avLst>
            </a:prstGeom>
            <a:solidFill>
              <a:srgbClr val="01708C"/>
            </a:solidFill>
            <a:ln>
              <a:noFill/>
            </a:ln>
          </p:spPr>
          <p:txBody>
            <a:bodyPr/>
            <a:lstStyle/>
            <a:p>
              <a:endParaRPr/>
            </a:p>
          </p:txBody>
        </p:sp>
        <p:sp>
          <p:nvSpPr>
            <p:cNvPr id="1005" name="TEACH-move-text"/>
            <p:cNvSpPr txBox="1"/>
            <p:nvPr/>
          </p:nvSpPr>
          <p:spPr>
            <a:xfrm>
              <a:off x="822960" y="4183344"/>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JUSTIFY IT  ·  </a:t>
              </a:r>
              <a:r>
                <a:rPr lang="en-US" sz="1200" dirty="0">
                  <a:solidFill>
                    <a:srgbClr val="13303A"/>
                  </a:solidFill>
                  <a:latin typeface="Arial"/>
                </a:rPr>
                <a:t>Say it like this: “I know ______ because ______.”</a:t>
              </a:r>
              <a:endParaRPr lang="en-US" sz="12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00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2" name="Shape 1012"/>
        <p:cNvGrpSpPr/>
        <p:nvPr/>
      </p:nvGrpSpPr>
      <p:grpSpPr>
        <a:xfrm>
          <a:off x="0" y="0"/>
          <a:ext cx="0" cy="0"/>
          <a:chOff x="0" y="0"/>
          <a:chExt cx="0" cy="0"/>
        </a:xfrm>
      </p:grpSpPr>
      <p:sp>
        <p:nvSpPr>
          <p:cNvPr id="1013" name="Google Shape;1013;p100"/>
          <p:cNvSpPr txBox="1"/>
          <p:nvPr/>
        </p:nvSpPr>
        <p:spPr>
          <a:xfrm>
            <a:off x="7299793" y="5859264"/>
            <a:ext cx="120686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defRPr/>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sp>
        <p:nvSpPr>
          <p:cNvPr id="1014" name="Google Shape;1014;p100"/>
          <p:cNvSpPr/>
          <p:nvPr/>
        </p:nvSpPr>
        <p:spPr>
          <a:xfrm>
            <a:off x="567559" y="3429000"/>
            <a:ext cx="8219254" cy="2888808"/>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1015" name="Google Shape;1015;p100"/>
          <p:cNvSpPr txBox="1"/>
          <p:nvPr/>
        </p:nvSpPr>
        <p:spPr>
          <a:xfrm>
            <a:off x="484564" y="927528"/>
            <a:ext cx="8561899" cy="2501472"/>
          </a:xfrm>
          <a:prstGeom prst="rect">
            <a:avLst/>
          </a:prstGeom>
          <a:blipFill rotWithShape="1">
            <a:blip r:embed="rId3">
              <a:alphaModFix/>
            </a:blip>
            <a:stretch>
              <a:fillRect b="-3893" l="-1281" r="-925" t="-2433"/>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016" name="Google Shape;1016;p100"/>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Let’s Explore More</a:t>
            </a:r>
            <a:endParaRPr b="0" i="0" sz="1400" u="none" cap="none" strike="noStrike">
              <a:solidFill>
                <a:srgbClr val="000000"/>
              </a:solidFill>
              <a:latin typeface="Arial"/>
              <a:ea typeface="Arial"/>
              <a:cs typeface="Arial"/>
              <a:sym typeface="Arial"/>
            </a:endParaRPr>
          </a:p>
        </p:txBody>
      </p:sp>
      <p:sp>
        <p:nvSpPr>
          <p:cNvPr id="101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43 / 51</a:t>
            </a: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0" name="Shape 1020"/>
        <p:cNvGrpSpPr/>
        <p:nvPr/>
      </p:nvGrpSpPr>
      <p:grpSpPr>
        <a:xfrm>
          <a:off x="0" y="0"/>
          <a:ext cx="0" cy="0"/>
          <a:chOff x="0" y="0"/>
          <a:chExt cx="0" cy="0"/>
        </a:xfrm>
      </p:grpSpPr>
      <p:sp>
        <p:nvSpPr>
          <p:cNvPr id="1021" name="Google Shape;1021;p101"/>
          <p:cNvSpPr txBox="1"/>
          <p:nvPr/>
        </p:nvSpPr>
        <p:spPr>
          <a:xfrm>
            <a:off x="7539635" y="5860209"/>
            <a:ext cx="120686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defRPr/>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sp>
        <p:nvSpPr>
          <p:cNvPr id="1022" name="Google Shape;1022;p101"/>
          <p:cNvSpPr/>
          <p:nvPr/>
        </p:nvSpPr>
        <p:spPr>
          <a:xfrm>
            <a:off x="567558" y="3559126"/>
            <a:ext cx="8407629" cy="2758681"/>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1023" name="Google Shape;1023;p101"/>
          <p:cNvSpPr txBox="1"/>
          <p:nvPr/>
        </p:nvSpPr>
        <p:spPr>
          <a:xfrm>
            <a:off x="484565" y="927527"/>
            <a:ext cx="8490623" cy="2371347"/>
          </a:xfrm>
          <a:prstGeom prst="rect">
            <a:avLst/>
          </a:prstGeom>
          <a:blipFill rotWithShape="1">
            <a:blip r:embed="rId3">
              <a:alphaModFix/>
            </a:blip>
            <a:stretch>
              <a:fillRect b="-15681" l="-1292" r="-1651" t="-257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024" name="Google Shape;1024;p101"/>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Let’s Explore More</a:t>
            </a:r>
            <a:endParaRPr b="0" i="0" sz="1400" u="none" cap="none" strike="noStrike">
              <a:solidFill>
                <a:srgbClr val="000000"/>
              </a:solidFill>
              <a:latin typeface="Arial"/>
              <a:ea typeface="Arial"/>
              <a:cs typeface="Arial"/>
              <a:sym typeface="Arial"/>
            </a:endParaRPr>
          </a:p>
        </p:txBody>
      </p:sp>
      <p:sp>
        <p:nvSpPr>
          <p:cNvPr id="102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44 / 51</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5.5  /  CHECK YOUR WORK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Pause. Check. Improve.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2011680"/>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CHECK</a:t>
            </a:r>
          </a:p>
        </p:txBody>
      </p:sp>
      <p:sp>
        <p:nvSpPr>
          <p:cNvPr id="7" name="TextBox 6"/>
          <p:cNvSpPr txBox="1"/>
          <p:nvPr/>
        </p:nvSpPr>
        <p:spPr>
          <a:xfrm>
            <a:off x="2340864" y="1975104"/>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A mistake to watch for: confusing square and cubic units or assuming fractional edges cannot have volume.</a:t>
            </a:r>
          </a:p>
        </p:txBody>
      </p:sp>
      <p:sp>
        <p:nvSpPr>
          <p:cNvPr id="8" name="Rounded Rectangle 7"/>
          <p:cNvSpPr/>
          <p:nvPr/>
        </p:nvSpPr>
        <p:spPr>
          <a:xfrm>
            <a:off x="594360" y="3127248"/>
            <a:ext cx="10972800" cy="1069848"/>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3310128"/>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TRY</a:t>
            </a:r>
          </a:p>
        </p:txBody>
      </p:sp>
      <p:sp>
        <p:nvSpPr>
          <p:cNvPr id="10" name="TextBox 9"/>
          <p:cNvSpPr txBox="1"/>
          <p:nvPr/>
        </p:nvSpPr>
        <p:spPr>
          <a:xfrm>
            <a:off x="2340864" y="3273552"/>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Label edge units and one layer of the given prism before connecting it to the formula.</a:t>
            </a:r>
          </a:p>
        </p:txBody>
      </p:sp>
      <p:sp>
        <p:nvSpPr>
          <p:cNvPr id="11" name="Rounded Rectangle 10"/>
          <p:cNvSpPr/>
          <p:nvPr/>
        </p:nvSpPr>
        <p:spPr>
          <a:xfrm>
            <a:off x="594360" y="4425696"/>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 y="4608576"/>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REVISE</a:t>
            </a:r>
          </a:p>
        </p:txBody>
      </p:sp>
      <p:sp>
        <p:nvSpPr>
          <p:cNvPr id="13" name="TextBox 12"/>
          <p:cNvSpPr txBox="1"/>
          <p:nvPr/>
        </p:nvSpPr>
        <p:spPr>
          <a:xfrm>
            <a:off x="2340864" y="4572000"/>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Use that check on the task you just completed. Correct or strengthen one part, and explain why.</a:t>
            </a:r>
          </a:p>
        </p:txBody>
      </p:sp>
      <p:grpSp>
        <p:nvGrpSpPr>
          <p:cNvPr id="14" name="TEACH-4-student-move" descr="TEACH 4 · Monitor progress and provide feedback"/>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REVISE NOW  ·  </a:t>
              </a:r>
              <a:r>
                <a:rPr lang="en-US" sz="1200" dirty="0">
                  <a:solidFill>
                    <a:srgbClr val="13303A"/>
                  </a:solidFill>
                  <a:latin typeface="Arial"/>
                </a:rPr>
                <a:t>Change one answer and write why you changed it. A revision is evidence of learning.</a:t>
              </a:r>
              <a:endParaRPr lang="en-US" sz="1200"/>
            </a:p>
          </p:txBody>
        </p:sp>
      </p:gr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8" name="Shape 1028"/>
        <p:cNvGrpSpPr/>
        <p:nvPr/>
      </p:nvGrpSpPr>
      <p:grpSpPr>
        <a:xfrm>
          <a:off x="0" y="0"/>
          <a:ext cx="0" cy="0"/>
          <a:chOff x="0" y="0"/>
          <a:chExt cx="0" cy="0"/>
        </a:xfrm>
      </p:grpSpPr>
      <p:cxnSp>
        <p:nvCxnSpPr>
          <p:cNvPr id="1029" name="Google Shape;1029;p102"/>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30" name="Google Shape;1030;p102"/>
          <p:cNvSpPr txBox="1"/>
          <p:nvPr/>
        </p:nvSpPr>
        <p:spPr>
          <a:xfrm>
            <a:off x="427045" y="1652818"/>
            <a:ext cx="7243994" cy="23149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You can use the volume formulas you know to determine the volume of rectangular prisms with fractional edge lengths. Volume formulas can be used to find missing dimensions.</a:t>
            </a:r>
            <a:endParaRPr b="0" i="0" sz="2800" u="none" cap="none" strike="noStrike">
              <a:solidFill>
                <a:srgbClr val="262626"/>
              </a:solidFill>
              <a:latin typeface="Cambria Math"/>
              <a:ea typeface="Cambria Math"/>
              <a:cs typeface="Cambria Math"/>
              <a:sym typeface="Cambria Math"/>
            </a:endParaRPr>
          </a:p>
        </p:txBody>
      </p:sp>
      <p:sp>
        <p:nvSpPr>
          <p:cNvPr id="1031" name="Google Shape;1031;p102"/>
          <p:cNvSpPr txBox="1"/>
          <p:nvPr/>
        </p:nvSpPr>
        <p:spPr>
          <a:xfrm>
            <a:off x="427045" y="316799"/>
            <a:ext cx="6290990" cy="1182217"/>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0" i="0" lang="en-US" sz="2800" u="none" cap="none" strike="noStrike">
                <a:solidFill>
                  <a:srgbClr val="782DA0"/>
                </a:solidFill>
                <a:latin typeface="Arial"/>
                <a:ea typeface="Arial"/>
                <a:cs typeface="Arial"/>
                <a:sym typeface="Arial"/>
              </a:rPr>
              <a:t>Summarize: </a:t>
            </a:r>
            <a:r>
              <a:rPr b="1" i="0" lang="en-US" sz="2800" u="none" cap="none" strike="noStrike">
                <a:solidFill>
                  <a:srgbClr val="782DA0"/>
                </a:solidFill>
                <a:latin typeface="Arial"/>
                <a:ea typeface="Arial"/>
                <a:cs typeface="Arial"/>
                <a:sym typeface="Arial"/>
              </a:rPr>
              <a:t>Volume of Rectangular Prisms with Fractional Edge Lengths</a:t>
            </a:r>
            <a:endParaRPr b="1" i="0" sz="1500" u="none" cap="none" strike="noStrike">
              <a:solidFill>
                <a:srgbClr val="782DA0"/>
              </a:solidFill>
              <a:latin typeface="Arial"/>
              <a:ea typeface="Arial"/>
              <a:cs typeface="Arial"/>
              <a:sym typeface="Arial"/>
            </a:endParaRPr>
          </a:p>
        </p:txBody>
      </p:sp>
      <p:sp>
        <p:nvSpPr>
          <p:cNvPr id="1032" name="Google Shape;1032;p102"/>
          <p:cNvSpPr/>
          <p:nvPr/>
        </p:nvSpPr>
        <p:spPr>
          <a:xfrm>
            <a:off x="427045" y="3968722"/>
            <a:ext cx="1570366" cy="523220"/>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033" name="Google Shape;1033;p102"/>
          <p:cNvSpPr/>
          <p:nvPr/>
        </p:nvSpPr>
        <p:spPr>
          <a:xfrm>
            <a:off x="436189" y="4464692"/>
            <a:ext cx="3250570" cy="700705"/>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034" name="Google Shape;1034;p102"/>
          <p:cNvSpPr/>
          <p:nvPr/>
        </p:nvSpPr>
        <p:spPr>
          <a:xfrm>
            <a:off x="436189" y="5310309"/>
            <a:ext cx="2601225" cy="702115"/>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035" name="Google Shape;1035;p102"/>
          <p:cNvSpPr/>
          <p:nvPr/>
        </p:nvSpPr>
        <p:spPr>
          <a:xfrm>
            <a:off x="5122761" y="3920964"/>
            <a:ext cx="1565886" cy="523220"/>
          </a:xfrm>
          <a:prstGeom prst="rect">
            <a:avLst/>
          </a:pr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036" name="Google Shape;1036;p102"/>
          <p:cNvSpPr/>
          <p:nvPr/>
        </p:nvSpPr>
        <p:spPr>
          <a:xfrm>
            <a:off x="5137821" y="4466570"/>
            <a:ext cx="2406043" cy="701602"/>
          </a:xfrm>
          <a:prstGeom prst="rect">
            <a:avLst/>
          </a:pr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037" name="Google Shape;1037;p102"/>
          <p:cNvSpPr/>
          <p:nvPr/>
        </p:nvSpPr>
        <p:spPr>
          <a:xfrm>
            <a:off x="5156109" y="5310308"/>
            <a:ext cx="2522678" cy="702115"/>
          </a:xfrm>
          <a:prstGeom prst="rect">
            <a:avLst/>
          </a:prstGeom>
          <a:blipFill rotWithShape="1">
            <a:blip r:embed="rId8">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id="1038" name="Google Shape;1038;p102"/>
          <p:cNvPicPr preferRelativeResize="0"/>
          <p:nvPr/>
        </p:nvPicPr>
        <p:blipFill rotWithShape="1">
          <a:blip r:embed="rId9">
            <a:alphaModFix/>
          </a:blip>
          <a:srcRect b="0" l="0" r="0" t="0"/>
          <a:stretch/>
        </p:blipFill>
        <p:spPr>
          <a:xfrm>
            <a:off x="7904234" y="2181225"/>
            <a:ext cx="3819525" cy="2495550"/>
          </a:xfrm>
          <a:prstGeom prst="rect">
            <a:avLst/>
          </a:prstGeom>
          <a:noFill/>
          <a:ln>
            <a:noFill/>
          </a:ln>
        </p:spPr>
      </p:pic>
      <p:sp>
        <p:nvSpPr>
          <p:cNvPr id="103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47 / 51</a:t>
            </a:r>
          </a:p>
        </p:txBody>
      </p:sp>
      <p:sp>
        <p:nvSpPr>
          <p:cNvPr id="1040"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defRPr/>
            </a:pPr>
            <a:r>
              <a:rPr lang="en-US" sz="1200" b="1">
                <a:solidFill>
                  <a:srgbClr val="1E2682"/>
                </a:solidFill>
                <a:latin typeface="Arial"/>
              </a:rPr>
              <a:t>SUMMARIZE</a:t>
            </a:r>
            <a:r>
              <a:rPr lang="en-US" sz="1200" b="1">
                <a:solidFill>
                  <a:srgbClr val="5D6872"/>
                </a:solidFill>
                <a:latin typeface="Arial"/>
              </a:rPr>
              <a:t>  ·  SAY IT IN YOUR OWN WORDS</a:t>
            </a: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2" name="Shape 1042"/>
        <p:cNvGrpSpPr/>
        <p:nvPr/>
      </p:nvGrpSpPr>
      <p:grpSpPr>
        <a:xfrm>
          <a:off x="0" y="0"/>
          <a:ext cx="0" cy="0"/>
          <a:chOff x="0" y="0"/>
          <a:chExt cx="0" cy="0"/>
        </a:xfrm>
      </p:grpSpPr>
      <p:cxnSp>
        <p:nvCxnSpPr>
          <p:cNvPr id="1043" name="Google Shape;1043;p10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44" name="Google Shape;1044;p103"/>
          <p:cNvSpPr txBox="1"/>
          <p:nvPr/>
        </p:nvSpPr>
        <p:spPr>
          <a:xfrm>
            <a:off x="484565" y="936000"/>
            <a:ext cx="5844882" cy="508075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You go to movie theater with your family. Your family likes to buy popcorn to snack on during the movie. The theater sells three different-sized boxes of popcorn.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Question: </a:t>
            </a:r>
            <a:r>
              <a:rPr b="0" i="0" lang="en-US" sz="2800" u="none" cap="none" strike="noStrike">
                <a:solidFill>
                  <a:srgbClr val="23282D"/>
                </a:solidFill>
                <a:latin typeface="Arial"/>
                <a:ea typeface="Arial"/>
                <a:cs typeface="Arial"/>
                <a:sym typeface="Arial"/>
              </a:rPr>
              <a:t>Which size and how many boxes would you buy? Explain.</a:t>
            </a:r>
            <a:endParaRPr b="0" i="0" sz="1400" u="none" cap="none" strike="noStrike">
              <a:solidFill>
                <a:srgbClr val="000000"/>
              </a:solidFill>
              <a:latin typeface="Arial"/>
              <a:ea typeface="Arial"/>
              <a:cs typeface="Arial"/>
              <a:sym typeface="Arial"/>
            </a:endParaRPr>
          </a:p>
        </p:txBody>
      </p:sp>
      <p:sp>
        <p:nvSpPr>
          <p:cNvPr id="1045" name="Google Shape;1045;p103"/>
          <p:cNvSpPr txBox="1"/>
          <p:nvPr/>
        </p:nvSpPr>
        <p:spPr>
          <a:xfrm>
            <a:off x="484565" y="316034"/>
            <a:ext cx="603164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0" i="0" lang="en-US" sz="2800" u="none" cap="none" strike="noStrike">
                <a:solidFill>
                  <a:srgbClr val="782DA0"/>
                </a:solidFill>
                <a:latin typeface="Arial"/>
                <a:ea typeface="Arial"/>
                <a:cs typeface="Arial"/>
                <a:sym typeface="Arial"/>
              </a:rPr>
              <a:t>Apply:</a:t>
            </a:r>
            <a:r>
              <a:rPr b="1" i="0" lang="en-US" sz="2800" u="none" cap="none" strike="noStrike">
                <a:solidFill>
                  <a:srgbClr val="782DA0"/>
                </a:solidFill>
                <a:latin typeface="Arial"/>
                <a:ea typeface="Arial"/>
                <a:cs typeface="Arial"/>
                <a:sym typeface="Arial"/>
              </a:rPr>
              <a:t> Buying Popcorn</a:t>
            </a:r>
            <a:endParaRPr b="0" i="0" sz="1400" u="none" cap="none" strike="noStrike">
              <a:solidFill>
                <a:srgbClr val="000000"/>
              </a:solidFill>
              <a:latin typeface="Arial"/>
              <a:ea typeface="Arial"/>
              <a:cs typeface="Arial"/>
              <a:sym typeface="Arial"/>
            </a:endParaRPr>
          </a:p>
        </p:txBody>
      </p:sp>
      <p:graphicFrame>
        <p:nvGraphicFramePr>
          <p:cNvPr id="1046" name="Google Shape;1046;p103"/>
          <p:cNvGraphicFramePr/>
          <p:nvPr/>
        </p:nvGraphicFramePr>
        <p:xfrm>
          <a:off x="5977918" y="1895031"/>
          <a:ext cx="3000000" cy="3000000"/>
        </p:xfrm>
        <a:graphic>
          <a:graphicData uri="http://schemas.openxmlformats.org/drawingml/2006/table">
            <a:tbl>
              <a:tblPr bandRow="1" firstRow="1">
                <a:noFill/>
                <a:tableStyleId>{357B1600-6CBF-4A68-8487-D91FB864CBA1}</a:tableStyleId>
              </a:tblPr>
              <a:tblGrid>
                <a:gridCol w="1383400"/>
                <a:gridCol w="1216550"/>
                <a:gridCol w="1135875"/>
                <a:gridCol w="1291225"/>
                <a:gridCol w="1019375"/>
              </a:tblGrid>
              <a:tr h="822950">
                <a:tc>
                  <a:txBody>
                    <a:bodyPr/>
                    <a:lstStyle/>
                    <a:p>
                      <a:pPr indent="0" lvl="0" marL="0" marR="0" rtl="0" algn="l">
                        <a:lnSpc>
                          <a:spcPct val="100000"/>
                        </a:lnSpc>
                        <a:spcBef>
                          <a:spcPts val="0"/>
                        </a:spcBef>
                        <a:spcAft>
                          <a:spcPts val="0"/>
                        </a:spcAft>
                        <a:buClr>
                          <a:srgbClr val="000000"/>
                        </a:buClr>
                        <a:buSzPts val="2400"/>
                        <a:buFont typeface="Arial"/>
                        <a:buNone/>
                      </a:pPr>
                      <a:r>
                        <a:rPr b="1" lang="en-US" sz="2400" u="none" cap="none" strike="noStrike">
                          <a:solidFill>
                            <a:schemeClr val="lt1"/>
                          </a:solidFill>
                          <a:latin typeface="Arial"/>
                          <a:ea typeface="Arial"/>
                          <a:cs typeface="Arial"/>
                          <a:sym typeface="Arial"/>
                        </a:rPr>
                        <a:t>Size</a:t>
                      </a:r>
                      <a:endParaRPr i="1" sz="2400" u="none" cap="none" strike="noStrike">
                        <a:latin typeface="Arial"/>
                        <a:ea typeface="Arial"/>
                        <a:cs typeface="Arial"/>
                        <a:sym typeface="Arial"/>
                      </a:endParaRPr>
                    </a:p>
                  </a:txBody>
                  <a:tcPr marT="45725" marB="45725" marR="91450" marL="91450">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solidFill>
                      <a:srgbClr val="695B9A"/>
                    </a:solidFill>
                  </a:tcPr>
                </a:tc>
                <a:tc>
                  <a:txBody>
                    <a:bodyPr/>
                    <a:lstStyle/>
                    <a:p>
                      <a:pPr indent="0" lvl="0" marL="0" marR="0" rtl="0" algn="l">
                        <a:lnSpc>
                          <a:spcPct val="100000"/>
                        </a:lnSpc>
                        <a:spcBef>
                          <a:spcPts val="0"/>
                        </a:spcBef>
                        <a:spcAft>
                          <a:spcPts val="0"/>
                        </a:spcAft>
                        <a:buClr>
                          <a:srgbClr val="000000"/>
                        </a:buClr>
                        <a:buSzPts val="2400"/>
                        <a:buFont typeface="Arial"/>
                        <a:buNone/>
                      </a:pPr>
                      <a:r>
                        <a:rPr b="1" lang="en-US" sz="2400" u="none" cap="none" strike="noStrike">
                          <a:solidFill>
                            <a:schemeClr val="lt1"/>
                          </a:solidFill>
                          <a:latin typeface="Arial"/>
                          <a:ea typeface="Arial"/>
                          <a:cs typeface="Arial"/>
                          <a:sym typeface="Arial"/>
                        </a:rPr>
                        <a:t>Length (in.)</a:t>
                      </a:r>
                      <a:endParaRPr i="1" sz="2400" u="none" cap="none" strike="noStrike">
                        <a:latin typeface="Arial"/>
                        <a:ea typeface="Arial"/>
                        <a:cs typeface="Arial"/>
                        <a:sym typeface="Arial"/>
                      </a:endParaRPr>
                    </a:p>
                  </a:txBody>
                  <a:tcPr marT="45725" marB="45725" marR="91450" marL="91450">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solidFill>
                      <a:srgbClr val="695B9A"/>
                    </a:solidFill>
                  </a:tcPr>
                </a:tc>
                <a:tc>
                  <a:txBody>
                    <a:bodyPr/>
                    <a:lstStyle/>
                    <a:p>
                      <a:pPr indent="0" lvl="0" marL="0" marR="0" rtl="0" algn="l">
                        <a:lnSpc>
                          <a:spcPct val="100000"/>
                        </a:lnSpc>
                        <a:spcBef>
                          <a:spcPts val="0"/>
                        </a:spcBef>
                        <a:spcAft>
                          <a:spcPts val="0"/>
                        </a:spcAft>
                        <a:buClr>
                          <a:srgbClr val="000000"/>
                        </a:buClr>
                        <a:buSzPts val="2400"/>
                        <a:buFont typeface="Arial"/>
                        <a:buNone/>
                      </a:pPr>
                      <a:r>
                        <a:rPr b="1" lang="en-US" sz="2400" u="none" cap="none" strike="noStrike">
                          <a:solidFill>
                            <a:schemeClr val="lt1"/>
                          </a:solidFill>
                          <a:latin typeface="Arial"/>
                          <a:ea typeface="Arial"/>
                          <a:cs typeface="Arial"/>
                          <a:sym typeface="Arial"/>
                        </a:rPr>
                        <a:t>Width (in.)</a:t>
                      </a:r>
                      <a:endParaRPr i="0" sz="2400" u="none" cap="none" strike="noStrike">
                        <a:latin typeface="Arial"/>
                        <a:ea typeface="Arial"/>
                        <a:cs typeface="Arial"/>
                        <a:sym typeface="Arial"/>
                      </a:endParaRPr>
                    </a:p>
                  </a:txBody>
                  <a:tcPr marT="45725" marB="45725" marR="91450" marL="91450">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solidFill>
                      <a:srgbClr val="695B9A"/>
                    </a:solidFill>
                  </a:tcPr>
                </a:tc>
                <a:tc>
                  <a:txBody>
                    <a:bodyPr/>
                    <a:lstStyle/>
                    <a:p>
                      <a:pPr indent="0" lvl="0" marL="0" marR="0" rtl="0" algn="l">
                        <a:lnSpc>
                          <a:spcPct val="100000"/>
                        </a:lnSpc>
                        <a:spcBef>
                          <a:spcPts val="0"/>
                        </a:spcBef>
                        <a:spcAft>
                          <a:spcPts val="0"/>
                        </a:spcAft>
                        <a:buClr>
                          <a:srgbClr val="000000"/>
                        </a:buClr>
                        <a:buSzPts val="2400"/>
                        <a:buFont typeface="Arial"/>
                        <a:buNone/>
                      </a:pPr>
                      <a:r>
                        <a:rPr b="1" lang="en-US" sz="2400" u="none" cap="none" strike="noStrike">
                          <a:solidFill>
                            <a:schemeClr val="lt1"/>
                          </a:solidFill>
                          <a:latin typeface="Arial"/>
                          <a:ea typeface="Arial"/>
                          <a:cs typeface="Arial"/>
                          <a:sym typeface="Arial"/>
                        </a:rPr>
                        <a:t>Height (in.)</a:t>
                      </a:r>
                      <a:endParaRPr i="0" sz="2400" u="none" cap="none" strike="noStrike">
                        <a:latin typeface="Arial"/>
                        <a:ea typeface="Arial"/>
                        <a:cs typeface="Arial"/>
                        <a:sym typeface="Arial"/>
                      </a:endParaRPr>
                    </a:p>
                  </a:txBody>
                  <a:tcPr marT="45725" marB="45725" marR="91450" marL="91450">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solidFill>
                      <a:srgbClr val="695B9A"/>
                    </a:solidFill>
                  </a:tcPr>
                </a:tc>
                <a:tc>
                  <a:txBody>
                    <a:bodyPr/>
                    <a:lstStyle/>
                    <a:p>
                      <a:pPr indent="0" lvl="0" marL="0" marR="0" rtl="0" algn="l">
                        <a:lnSpc>
                          <a:spcPct val="100000"/>
                        </a:lnSpc>
                        <a:spcBef>
                          <a:spcPts val="0"/>
                        </a:spcBef>
                        <a:spcAft>
                          <a:spcPts val="0"/>
                        </a:spcAft>
                        <a:buClr>
                          <a:srgbClr val="000000"/>
                        </a:buClr>
                        <a:buSzPts val="2400"/>
                        <a:buFont typeface="Arial"/>
                        <a:buNone/>
                      </a:pPr>
                      <a:r>
                        <a:rPr b="1" lang="en-US" sz="2400" u="none" cap="none" strike="noStrike">
                          <a:solidFill>
                            <a:schemeClr val="lt1"/>
                          </a:solidFill>
                          <a:latin typeface="Arial"/>
                          <a:ea typeface="Arial"/>
                          <a:cs typeface="Arial"/>
                          <a:sym typeface="Arial"/>
                        </a:rPr>
                        <a:t>Price ($)</a:t>
                      </a:r>
                      <a:endParaRPr i="0" sz="2400" u="none" cap="none" strike="noStrike">
                        <a:latin typeface="Arial"/>
                        <a:ea typeface="Arial"/>
                        <a:cs typeface="Arial"/>
                        <a:sym typeface="Arial"/>
                      </a:endParaRPr>
                    </a:p>
                  </a:txBody>
                  <a:tcPr marT="45725" marB="45725" marR="91450" marL="91450">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solidFill>
                      <a:srgbClr val="695B9A"/>
                    </a:solidFill>
                  </a:tcPr>
                </a:tc>
              </a:tr>
              <a:tr h="607950">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latin typeface="Arial"/>
                          <a:ea typeface="Arial"/>
                          <a:cs typeface="Arial"/>
                          <a:sym typeface="Arial"/>
                        </a:rPr>
                        <a:t>Small</a:t>
                      </a:r>
                      <a:endParaRPr sz="1400" u="none" cap="none" strike="noStrike"/>
                    </a:p>
                  </a:txBody>
                  <a:tcPr marT="45725" marB="45725" marR="91450" marL="91450" anchor="ctr">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12700">
                      <a:solidFill>
                        <a:srgbClr val="BFBFBF"/>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latin typeface="Arial"/>
                          <a:ea typeface="Arial"/>
                          <a:cs typeface="Arial"/>
                          <a:sym typeface="Arial"/>
                        </a:rPr>
                        <a:t>4 </a:t>
                      </a:r>
                      <a:endParaRPr sz="1400" u="none" cap="none" strike="noStrike"/>
                    </a:p>
                  </a:txBody>
                  <a:tcPr marT="45725" marB="45725" marR="91450" marL="9145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Arial"/>
                        <a:buNone/>
                      </a:pPr>
                      <a:r>
                        <a:rPr lang="en-US" sz="2400" u="none" cap="none" strike="noStrike">
                          <a:latin typeface="Arial"/>
                          <a:ea typeface="Arial"/>
                          <a:cs typeface="Arial"/>
                          <a:sym typeface="Arial"/>
                        </a:rPr>
                        <a:t>4.50</a:t>
                      </a:r>
                      <a:endParaRPr sz="1400" u="none" cap="none" strike="noStrike"/>
                    </a:p>
                  </a:txBody>
                  <a:tcPr marT="45725" marB="45725" marR="91450" marL="91450" anchor="ctr">
                    <a:lnL cap="flat" cmpd="sng" w="12700">
                      <a:solidFill>
                        <a:srgbClr val="A5A5A5"/>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r>
              <a:tr h="608700">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latin typeface="Arial"/>
                          <a:ea typeface="Arial"/>
                          <a:cs typeface="Arial"/>
                          <a:sym typeface="Arial"/>
                        </a:rPr>
                        <a:t>Medium</a:t>
                      </a:r>
                      <a:endParaRPr sz="1400" u="none" cap="none" strike="noStrike"/>
                    </a:p>
                  </a:txBody>
                  <a:tcPr marT="45725" marB="45725" marR="91450" marL="91450" anchor="ctr">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12700">
                      <a:solidFill>
                        <a:srgbClr val="BFBFBF"/>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latin typeface="Arial"/>
                          <a:ea typeface="Arial"/>
                          <a:cs typeface="Arial"/>
                          <a:sym typeface="Arial"/>
                        </a:rPr>
                        <a:t>5 </a:t>
                      </a:r>
                      <a:endParaRPr sz="1400" u="none" cap="none" strike="noStrike"/>
                    </a:p>
                  </a:txBody>
                  <a:tcPr marT="45725" marB="45725" marR="91450" marL="9145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Arial"/>
                        <a:buNone/>
                      </a:pPr>
                      <a:r>
                        <a:rPr lang="en-US" sz="2400" u="none" cap="none" strike="noStrike">
                          <a:latin typeface="Arial"/>
                          <a:ea typeface="Arial"/>
                          <a:cs typeface="Arial"/>
                          <a:sym typeface="Arial"/>
                        </a:rPr>
                        <a:t>5.75</a:t>
                      </a:r>
                      <a:endParaRPr sz="1400" u="none" cap="none" strike="noStrike"/>
                    </a:p>
                  </a:txBody>
                  <a:tcPr marT="45725" marB="45725" marR="91450" marL="91450" anchor="ctr">
                    <a:lnL cap="flat" cmpd="sng" w="12700">
                      <a:solidFill>
                        <a:srgbClr val="A5A5A5"/>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r>
              <a:tr h="607950">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latin typeface="Arial"/>
                          <a:ea typeface="Arial"/>
                          <a:cs typeface="Arial"/>
                          <a:sym typeface="Arial"/>
                        </a:rPr>
                        <a:t>Large </a:t>
                      </a:r>
                      <a:endParaRPr sz="1400" u="none" cap="none" strike="noStrike"/>
                    </a:p>
                  </a:txBody>
                  <a:tcPr marT="45725" marB="45725" marR="91450" marL="91450" anchor="ctr">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12700">
                      <a:solidFill>
                        <a:srgbClr val="BFBFBF"/>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latin typeface="Arial"/>
                          <a:ea typeface="Arial"/>
                          <a:cs typeface="Arial"/>
                          <a:sym typeface="Arial"/>
                        </a:rPr>
                        <a:t>6 </a:t>
                      </a:r>
                      <a:endParaRPr sz="1400" u="none" cap="none" strike="noStrike"/>
                    </a:p>
                  </a:txBody>
                  <a:tcPr marT="45725" marB="45725" marR="91450" marL="9145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Arial"/>
                        <a:buNone/>
                      </a:pPr>
                      <a:r>
                        <a:rPr lang="en-US" sz="2400" u="none" cap="none" strike="noStrike">
                          <a:latin typeface="Arial"/>
                          <a:ea typeface="Arial"/>
                          <a:cs typeface="Arial"/>
                          <a:sym typeface="Arial"/>
                        </a:rPr>
                        <a:t>7.00 </a:t>
                      </a:r>
                      <a:endParaRPr sz="1400" u="none" cap="none" strike="noStrike"/>
                    </a:p>
                  </a:txBody>
                  <a:tcPr marT="45725" marB="45725" marR="91450" marL="91450" anchor="ctr">
                    <a:lnL cap="flat" cmpd="sng" w="12700">
                      <a:solidFill>
                        <a:srgbClr val="A5A5A5"/>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r>
            </a:tbl>
          </a:graphicData>
        </a:graphic>
      </p:graphicFrame>
      <p:sp>
        <p:nvSpPr>
          <p:cNvPr id="1047" name="Google Shape;1047;p103"/>
          <p:cNvSpPr/>
          <p:nvPr/>
        </p:nvSpPr>
        <p:spPr>
          <a:xfrm>
            <a:off x="6329447" y="1371811"/>
            <a:ext cx="5694913" cy="52322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Boxes of Popcorn</a:t>
            </a:r>
            <a:endParaRPr b="0" i="0" sz="1400" u="none" cap="none" strike="noStrike">
              <a:solidFill>
                <a:srgbClr val="000000"/>
              </a:solidFill>
              <a:latin typeface="Arial"/>
              <a:ea typeface="Arial"/>
              <a:cs typeface="Arial"/>
              <a:sym typeface="Arial"/>
            </a:endParaRPr>
          </a:p>
        </p:txBody>
      </p:sp>
      <p:sp>
        <p:nvSpPr>
          <p:cNvPr id="104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49 / 51</a:t>
            </a:r>
          </a:p>
        </p:txBody>
      </p:sp>
      <p:sp>
        <p:nvSpPr>
          <p:cNvPr id="1049"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r>
              <a:rPr lang="en-US" sz="1200" b="1">
                <a:solidFill>
                  <a:srgbClr val="1E2682"/>
                </a:solidFill>
                <a:latin typeface="Arial"/>
              </a:rPr>
              <a:t>APPLY</a:t>
            </a:r>
            <a:r>
              <a:rPr lang="en-US" sz="1200" b="1">
                <a:solidFill>
                  <a:srgbClr val="5D6872"/>
                </a:solidFill>
                <a:latin typeface="Arial"/>
              </a:rPr>
              <a:t>  ·  PLAN IT • SOLVE IT • PROVE IT</a:t>
            </a:r>
          </a:p>
        </p:txBody>
      </p:sp>
      <p:sp xmlns:p="http://schemas.openxmlformats.org/presentationml/2006/main" xmlns:a="http://schemas.openxmlformats.org/drawingml/2006/main">
        <p:nvSpPr>
          <p:cNvPr id="1050" name="TEACH-embedded-student-prompt" descr="Student thinking and response directions"/>
          <p:cNvSpPr txBox="1"/>
          <p:nvPr/>
        </p:nvSpPr>
        <p:spPr>
          <a:xfrm>
            <a:off x="7391400" y="519379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Choose a method. Solve</a:t>
            </a:r>
            <a:endParaRPr lang="en-US" sz="2000"/>
          </a:p>
          <a:p>
            <a:pPr>
              <a:lnSpc>
                <a:spcPts val="2400"/>
              </a:lnSpc>
              <a:buNone/>
            </a:pPr>
            <a:r>
              <a:rPr lang="en-US" sz="2000">
                <a:solidFill>
                  <a:srgbClr val="174D60"/>
                </a:solidFill>
                <a:latin typeface="Arial"/>
              </a:rPr>
              <a:t>independently, justify your</a:t>
            </a:r>
            <a:endParaRPr lang="en-US" sz="2000"/>
          </a:p>
          <a:p>
            <a:pPr>
              <a:lnSpc>
                <a:spcPts val="2400"/>
              </a:lnSpc>
              <a:buNone/>
            </a:pPr>
            <a:r>
              <a:rPr lang="en-US" sz="2000">
                <a:solidFill>
                  <a:srgbClr val="174D60"/>
                </a:solidFill>
                <a:latin typeface="Arial"/>
              </a:rPr>
              <a:t>answer, then check the goal.</a:t>
            </a:r>
            <a:endParaRPr lang="en-US" sz="2000"/>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52" name="Google Shape;1052;p104"/>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Learning Targets</a:t>
            </a:r>
            <a:endParaRPr b="0" i="0" sz="1400" u="none" cap="none" strike="noStrike">
              <a:solidFill>
                <a:srgbClr val="000000"/>
              </a:solidFill>
              <a:latin typeface="Arial"/>
              <a:ea typeface="Arial"/>
              <a:cs typeface="Arial"/>
              <a:sym typeface="Arial"/>
            </a:endParaRPr>
          </a:p>
        </p:txBody>
      </p:sp>
      <p:cxnSp>
        <p:nvCxnSpPr>
          <p:cNvPr id="1053" name="Google Shape;1053;p10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54" name="Google Shape;1054;p104"/>
          <p:cNvSpPr txBox="1"/>
          <p:nvPr/>
        </p:nvSpPr>
        <p:spPr>
          <a:xfrm>
            <a:off x="484564" y="927528"/>
            <a:ext cx="8459745" cy="5305106"/>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rgbClr val="262626"/>
              </a:buClr>
              <a:buSzPts val="2800"/>
              <a:buFont typeface="Arial"/>
              <a:buChar char="•"/>
              <a:defRPr/>
            </a:pPr>
            <a:r>
              <a:rPr b="0" i="0" lang="en-US" sz="2800" u="none" cap="none" strike="noStrike">
                <a:solidFill>
                  <a:srgbClr val="262626"/>
                </a:solidFill>
                <a:latin typeface="Arial"/>
                <a:ea typeface="Arial"/>
                <a:cs typeface="Arial"/>
                <a:sym typeface="Arial"/>
              </a:rPr>
              <a:t>I can find the volume of rectangular prisms by filling them with unit cubes.</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1800"/>
              </a:spcBef>
              <a:spcAft>
                <a:spcPts val="0"/>
              </a:spcAft>
              <a:buClr>
                <a:srgbClr val="262626"/>
              </a:buClr>
              <a:buSzPts val="2800"/>
              <a:buFont typeface="Arial"/>
              <a:buChar char="•"/>
              <a:defRPr/>
            </a:pPr>
            <a:r>
              <a:rPr b="0" i="0" lang="en-US" sz="2800" u="none" cap="none" strike="noStrike">
                <a:solidFill>
                  <a:srgbClr val="262626"/>
                </a:solidFill>
                <a:latin typeface="Arial"/>
                <a:ea typeface="Arial"/>
                <a:cs typeface="Arial"/>
                <a:sym typeface="Arial"/>
              </a:rPr>
              <a:t>I can find the volume of a rectangular prism by using a formula.</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1800"/>
              </a:spcBef>
              <a:spcAft>
                <a:spcPts val="0"/>
              </a:spcAft>
              <a:buClr>
                <a:srgbClr val="262626"/>
              </a:buClr>
              <a:buSzPts val="2800"/>
              <a:buFont typeface="Arial"/>
              <a:buChar char="•"/>
              <a:defRPr/>
            </a:pPr>
            <a:r>
              <a:rPr b="0" i="0" lang="en-US" sz="2800" u="none" cap="none" strike="noStrike">
                <a:solidFill>
                  <a:srgbClr val="262626"/>
                </a:solidFill>
                <a:latin typeface="Arial"/>
                <a:ea typeface="Arial"/>
                <a:cs typeface="Arial"/>
                <a:sym typeface="Arial"/>
              </a:rPr>
              <a:t>I can attend to precision to find an unknown dimension of a rectangular prism by using the volume formula.</a:t>
            </a:r>
            <a:endParaRPr b="0" i="0" sz="1400" u="none" cap="none" strike="noStrike">
              <a:solidFill>
                <a:srgbClr val="000000"/>
              </a:solidFill>
              <a:latin typeface="Arial"/>
              <a:ea typeface="Arial"/>
              <a:cs typeface="Arial"/>
              <a:sym typeface="Arial"/>
            </a:endParaRPr>
          </a:p>
        </p:txBody>
      </p:sp>
      <p:sp>
        <p:nvSpPr>
          <p:cNvPr id="32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50 / 51</a:t>
            </a:r>
          </a:p>
        </p:txBody>
      </p:sp>
      <p:grpSp>
        <p:nvGrpSpPr>
          <p:cNvPr id="1055" name="TEACH-1-student-move" descr="TEACH 1 · Facilitate clear, standards-based content learning"/>
          <p:cNvGrpSpPr/>
          <p:nvPr/>
        </p:nvGrpSpPr>
        <p:grpSpPr>
          <a:xfrm>
            <a:off x="502920" y="5472790"/>
            <a:ext cx="11186160" cy="402336"/>
            <a:chOff x="502920" y="5472790"/>
            <a:chExt cx="11186160" cy="402336"/>
          </a:xfrm>
        </p:grpSpPr>
        <p:sp>
          <p:nvSpPr>
            <p:cNvPr id="1056" name="TEACH-move-card"/>
            <p:cNvSpPr/>
            <p:nvPr/>
          </p:nvSpPr>
          <p:spPr>
            <a:xfrm>
              <a:off x="502920" y="5472790"/>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057" name="TEACH-move-rule"/>
            <p:cNvSpPr/>
            <p:nvPr/>
          </p:nvSpPr>
          <p:spPr>
            <a:xfrm>
              <a:off x="548640" y="5549234"/>
              <a:ext cx="100584" cy="249448"/>
            </a:xfrm>
            <a:prstGeom prst="roundRect">
              <a:avLst>
                <a:gd name="adj" fmla="val 50000"/>
              </a:avLst>
            </a:prstGeom>
            <a:solidFill>
              <a:srgbClr val="01708C"/>
            </a:solidFill>
            <a:ln>
              <a:noFill/>
            </a:ln>
          </p:spPr>
          <p:txBody>
            <a:bodyPr/>
            <a:lstStyle/>
            <a:p>
              <a:endParaRPr/>
            </a:p>
          </p:txBody>
        </p:sp>
        <p:sp>
          <p:nvSpPr>
            <p:cNvPr id="1058" name="TEACH-move-text"/>
            <p:cNvSpPr txBox="1"/>
            <p:nvPr/>
          </p:nvSpPr>
          <p:spPr>
            <a:xfrm>
              <a:off x="822960" y="5472790"/>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NAME THE MATH  ·  </a:t>
              </a:r>
              <a:r>
                <a:rPr lang="en-US" sz="1200" dirty="0">
                  <a:solidFill>
                    <a:srgbClr val="13303A"/>
                  </a:solidFill>
                  <a:latin typeface="Arial"/>
                </a:rPr>
                <a:t>Point to the part of this that is new today, and say what it changes.</a:t>
              </a:r>
              <a:endParaRPr lang="en-US" sz="1200"/>
            </a:p>
          </p:txBody>
        </p:sp>
      </p:gr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5.5  /  REFLECT ON YOUR LEARNING</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Show your progress</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5330952" cy="3136392"/>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236208" y="1828800"/>
            <a:ext cx="5330952" cy="3136392"/>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2103120"/>
            <a:ext cx="4709160" cy="365760"/>
          </a:xfrm>
          <a:prstGeom prst="rect">
            <a:avLst/>
          </a:prstGeom>
          <a:noFill/>
        </p:spPr>
        <p:txBody>
          <a:bodyPr wrap="square" lIns="0" rIns="0" tIns="22860" bIns="0">
            <a:spAutoFit/>
          </a:bodyPr>
          <a:lstStyle/>
          <a:p>
            <a:pPr>
              <a:spcAft>
                <a:spcPts val="800"/>
              </a:spcAft>
              <a:defRPr sz="1800" b="1">
                <a:solidFill>
                  <a:srgbClr val="096B69"/>
                </a:solidFill>
                <a:latin typeface="Arial"/>
              </a:defRPr>
            </a:pPr>
            <a:r>
              <a:rPr/>
              <a:t>1  SHOW EVIDENCE</a:t>
            </a:r>
          </a:p>
        </p:txBody>
      </p:sp>
      <p:sp>
        <p:nvSpPr>
          <p:cNvPr id="8" name="TextBox 7"/>
          <p:cNvSpPr txBox="1"/>
          <p:nvPr/>
        </p:nvSpPr>
        <p:spPr>
          <a:xfrm>
            <a:off x="886968" y="2743200"/>
            <a:ext cx="4617720" cy="1353312"/>
          </a:xfrm>
          <a:prstGeom prst="rect">
            <a:avLst/>
          </a:prstGeom>
          <a:noFill/>
        </p:spPr>
        <p:txBody>
          <a:bodyPr wrap="square" lIns="0" rIns="0" tIns="22860" bIns="0">
            <a:spAutoFit/>
          </a:bodyPr>
          <a:lstStyle/>
          <a:p>
            <a:pPr>
              <a:spcAft>
                <a:spcPts val="800"/>
              </a:spcAft>
              <a:defRPr sz="2600" b="0">
                <a:solidFill>
                  <a:srgbClr val="24384B"/>
                </a:solidFill>
                <a:latin typeface="Arial"/>
              </a:defRPr>
            </a:pPr>
            <a:r>
              <a:rPr/>
              <a:t>Choose one response. Point to the part that shows your reasoning.</a:t>
            </a:r>
          </a:p>
        </p:txBody>
      </p:sp>
      <p:sp>
        <p:nvSpPr>
          <p:cNvPr id="9" name="TextBox 8"/>
          <p:cNvSpPr txBox="1"/>
          <p:nvPr/>
        </p:nvSpPr>
        <p:spPr>
          <a:xfrm>
            <a:off x="886968" y="4224528"/>
            <a:ext cx="4617720" cy="502920"/>
          </a:xfrm>
          <a:prstGeom prst="rect">
            <a:avLst/>
          </a:prstGeom>
          <a:noFill/>
        </p:spPr>
        <p:txBody>
          <a:bodyPr wrap="square" lIns="0" rIns="0" tIns="22860" bIns="0">
            <a:spAutoFit/>
          </a:bodyPr>
          <a:lstStyle/>
          <a:p>
            <a:pPr>
              <a:spcAft>
                <a:spcPts val="800"/>
              </a:spcAft>
              <a:defRPr sz="1900" b="0">
                <a:solidFill>
                  <a:srgbClr val="506478"/>
                </a:solidFill>
                <a:latin typeface="Arial"/>
              </a:defRPr>
            </a:pPr>
            <a:r>
              <a:rPr/>
              <a:t>“My work shows ___ because ___.”</a:t>
            </a:r>
          </a:p>
        </p:txBody>
      </p:sp>
      <p:sp>
        <p:nvSpPr>
          <p:cNvPr id="10" name="TextBox 9"/>
          <p:cNvSpPr txBox="1"/>
          <p:nvPr/>
        </p:nvSpPr>
        <p:spPr>
          <a:xfrm>
            <a:off x="6528816" y="2103120"/>
            <a:ext cx="4700016" cy="365760"/>
          </a:xfrm>
          <a:prstGeom prst="rect">
            <a:avLst/>
          </a:prstGeom>
          <a:noFill/>
        </p:spPr>
        <p:txBody>
          <a:bodyPr wrap="square" lIns="0" rIns="0" tIns="22860" bIns="0">
            <a:spAutoFit/>
          </a:bodyPr>
          <a:lstStyle/>
          <a:p>
            <a:pPr>
              <a:spcAft>
                <a:spcPts val="800"/>
              </a:spcAft>
              <a:defRPr sz="1800" b="1">
                <a:solidFill>
                  <a:srgbClr val="096B69"/>
                </a:solidFill>
                <a:latin typeface="Arial"/>
              </a:defRPr>
            </a:pPr>
            <a:r>
              <a:rPr/>
              <a:t>2  CHOOSE A NEXT STEP</a:t>
            </a:r>
          </a:p>
        </p:txBody>
      </p:sp>
      <p:sp>
        <p:nvSpPr>
          <p:cNvPr id="11" name="TextBox 10"/>
          <p:cNvSpPr txBox="1"/>
          <p:nvPr/>
        </p:nvSpPr>
        <p:spPr>
          <a:xfrm>
            <a:off x="6528816" y="2743200"/>
            <a:ext cx="4617720" cy="1353312"/>
          </a:xfrm>
          <a:prstGeom prst="rect">
            <a:avLst/>
          </a:prstGeom>
          <a:noFill/>
        </p:spPr>
        <p:txBody>
          <a:bodyPr wrap="square" lIns="0" rIns="0" tIns="22860" bIns="0">
            <a:spAutoFit/>
          </a:bodyPr>
          <a:lstStyle/>
          <a:p>
            <a:pPr>
              <a:spcAft>
                <a:spcPts val="800"/>
              </a:spcAft>
              <a:defRPr sz="2600" b="0">
                <a:solidFill>
                  <a:srgbClr val="24384B"/>
                </a:solidFill>
                <a:latin typeface="Arial"/>
              </a:defRPr>
            </a:pPr>
            <a:r>
              <a:rPr/>
              <a:t>Name a change you made after feedback—or a question you still have.</a:t>
            </a:r>
          </a:p>
        </p:txBody>
      </p:sp>
      <p:sp>
        <p:nvSpPr>
          <p:cNvPr id="12" name="TextBox 11"/>
          <p:cNvSpPr txBox="1"/>
          <p:nvPr/>
        </p:nvSpPr>
        <p:spPr>
          <a:xfrm>
            <a:off x="6528816" y="4224528"/>
            <a:ext cx="4617720" cy="502920"/>
          </a:xfrm>
          <a:prstGeom prst="rect">
            <a:avLst/>
          </a:prstGeom>
          <a:noFill/>
        </p:spPr>
        <p:txBody>
          <a:bodyPr wrap="square" lIns="0" rIns="0" tIns="22860" bIns="0">
            <a:spAutoFit/>
          </a:bodyPr>
          <a:lstStyle/>
          <a:p>
            <a:pPr>
              <a:spcAft>
                <a:spcPts val="800"/>
              </a:spcAft>
              <a:defRPr sz="1900" b="0">
                <a:solidFill>
                  <a:srgbClr val="506478"/>
                </a:solidFill>
                <a:latin typeface="Arial"/>
              </a:defRPr>
            </a:pPr>
            <a:r>
              <a:rPr/>
              <a:t>“Next time, I will ___ to help me ___.”</a:t>
            </a:r>
          </a:p>
        </p:txBody>
      </p:sp>
      <p:sp>
        <p:nvSpPr>
          <p:cNvPr id="13" name="TextBox 12"/>
          <p:cNvSpPr txBox="1"/>
          <p:nvPr/>
        </p:nvSpPr>
        <p:spPr>
          <a:xfrm>
            <a:off x="621792" y="5376672"/>
            <a:ext cx="10954512" cy="685800"/>
          </a:xfrm>
          <a:prstGeom prst="rect">
            <a:avLst/>
          </a:prstGeom>
          <a:noFill/>
        </p:spPr>
        <p:txBody>
          <a:bodyPr wrap="square" lIns="0" rIns="0" tIns="22860" bIns="0">
            <a:spAutoFit/>
          </a:bodyPr>
          <a:lstStyle/>
          <a:p>
            <a:pPr>
              <a:spcAft>
                <a:spcPts val="800"/>
              </a:spcAft>
              <a:defRPr sz="2200" b="1">
                <a:solidFill>
                  <a:srgbClr val="173451"/>
                </a:solidFill>
                <a:latin typeface="Arial"/>
              </a:defRPr>
            </a:pPr>
            <a:r>
              <a:rPr/>
              <a:t>Today’s focus: Connect unit-cube layers to volume.</a:t>
            </a:r>
          </a:p>
        </p:txBody>
      </p:sp>
      <p:grpSp>
        <p:nvGrpSpPr>
          <p:cNvPr id="14" name="TEACH-7-student-move" descr="TEACH 7 · Cultivate a supportive learning community"/>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CREDIT A CLASSMATE  ·  </a:t>
              </a:r>
              <a:r>
                <a:rPr lang="en-US" sz="1200" dirty="0">
                  <a:solidFill>
                    <a:srgbClr val="13303A"/>
                  </a:solidFill>
                  <a:latin typeface="Arial"/>
                </a:rPr>
                <a:t>Name one classmate whose idea helped you today, and say what they said.</a:t>
              </a:r>
              <a:endParaRPr lang="en-US" sz="1200"/>
            </a:p>
          </p:txBody>
        </p:sp>
      </p:gr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5-5</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moves</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48510"/>
            <a:ext cx="100584" cy="623620"/>
          </a:xfrm>
          <a:prstGeom prst="roundRect">
            <a:avLst>
              <a:gd name="adj" fmla="val 50000"/>
            </a:avLst>
          </a:prstGeom>
          <a:solidFill>
            <a:srgbClr val="01708C"/>
          </a:solidFill>
          <a:ln>
            <a:noFill/>
          </a:ln>
        </p:spPr>
        <p:txBody>
          <a:bodyPr/>
          <a:lstStyle/>
          <a:p>
            <a:endParaRPr/>
          </a:p>
        </p:txBody>
      </p:sp>
      <p:sp>
        <p:nvSpPr>
          <p:cNvPr id="9" name="TEACH-2-student-move"/>
          <p:cNvSpPr txBox="1"/>
          <p:nvPr/>
        </p:nvSpPr>
        <p:spPr>
          <a:xfrm>
            <a:off x="1005840" y="2057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USE YOUR TOOLS  ·  </a:t>
            </a:r>
            <a:r>
              <a:rPr lang="en-US" sz="2000" b="0" dirty="0">
                <a:solidFill>
                  <a:srgbClr val="13303A"/>
                </a:solidFill>
                <a:latin typeface="Arial"/>
              </a:rPr>
              <a:t>Reach for your notes, a model, or a manipulative before you reach for an answer.</a:t>
            </a:r>
          </a:p>
        </p:txBody>
      </p:sp>
      <p:sp>
        <p:nvSpPr>
          <p:cNvPr id="10" name="TEACH-move-card"/>
          <p:cNvSpPr/>
          <p:nvPr/>
        </p:nvSpPr>
        <p:spPr>
          <a:xfrm>
            <a:off x="685800" y="3200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11" name="TEACH-move-rule"/>
          <p:cNvSpPr/>
          <p:nvPr/>
        </p:nvSpPr>
        <p:spPr>
          <a:xfrm>
            <a:off x="731520" y="3391510"/>
            <a:ext cx="100584" cy="623620"/>
          </a:xfrm>
          <a:prstGeom prst="roundRect">
            <a:avLst>
              <a:gd name="adj" fmla="val 50000"/>
            </a:avLst>
          </a:prstGeom>
          <a:solidFill>
            <a:srgbClr val="01708C"/>
          </a:solidFill>
          <a:ln>
            <a:noFill/>
          </a:ln>
        </p:spPr>
        <p:txBody>
          <a:bodyPr/>
          <a:lstStyle/>
          <a:p>
            <a:endParaRPr/>
          </a:p>
        </p:txBody>
      </p:sp>
      <p:sp>
        <p:nvSpPr>
          <p:cNvPr id="12" name="TEACH-3-student-move"/>
          <p:cNvSpPr txBox="1"/>
          <p:nvPr/>
        </p:nvSpPr>
        <p:spPr>
          <a:xfrm>
            <a:off x="1005840" y="3200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ANOTHER PATHWAY  ·  </a:t>
            </a:r>
            <a:r>
              <a:rPr lang="en-US" sz="2000" b="0" dirty="0">
                <a:solidFill>
                  <a:srgbClr val="13303A"/>
                </a:solidFill>
                <a:latin typeface="Arial"/>
              </a:rPr>
              <a:t>Did anyone get there a different way? Put both pathways side by side and compare.</a:t>
            </a:r>
          </a:p>
        </p:txBody>
      </p:sp>
      <p:sp>
        <p:nvSpPr>
          <p:cNvPr id="13"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20 / 51</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5-5</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6-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YOU KNOW THE ROUTINE  ·  </a:t>
            </a:r>
            <a:r>
              <a:rPr lang="en-US" sz="2000" b="0" dirty="0">
                <a:solidFill>
                  <a:srgbClr val="13303A"/>
                </a:solidFill>
                <a:latin typeface="Arial"/>
              </a:rPr>
              <a:t>Read  →  plan  →  solve  →  check. Do all four, in that order.</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31 / 51</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5-5</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5-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RESTATE FIRST  ·  </a:t>
            </a:r>
            <a:r>
              <a:rPr lang="en-US" sz="2000" b="0" dirty="0">
                <a:solidFill>
                  <a:srgbClr val="13303A"/>
                </a:solidFill>
                <a:latin typeface="Arial"/>
              </a:rPr>
              <a:t>Restate your partner’s idea in your own words before you give yours.</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37 / 51</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5-5</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4-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SPECIFIC FEEDBACK  ·  </a:t>
            </a:r>
            <a:r>
              <a:rPr lang="en-US" sz="2000" b="0" dirty="0">
                <a:solidFill>
                  <a:srgbClr val="13303A"/>
                </a:solidFill>
                <a:latin typeface="Arial"/>
              </a:rPr>
              <a:t>Trade work. Give one specific comment: “This part is clear because ______.”</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41 / 51</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5-5</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moves</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48510"/>
            <a:ext cx="100584" cy="623620"/>
          </a:xfrm>
          <a:prstGeom prst="roundRect">
            <a:avLst>
              <a:gd name="adj" fmla="val 50000"/>
            </a:avLst>
          </a:prstGeom>
          <a:solidFill>
            <a:srgbClr val="01708C"/>
          </a:solidFill>
          <a:ln>
            <a:noFill/>
          </a:ln>
        </p:spPr>
        <p:txBody>
          <a:bodyPr/>
          <a:lstStyle/>
          <a:p>
            <a:endParaRPr/>
          </a:p>
        </p:txBody>
      </p:sp>
      <p:sp>
        <p:nvSpPr>
          <p:cNvPr id="9" name="TEACH-2-student-move"/>
          <p:cNvSpPr txBox="1"/>
          <p:nvPr/>
        </p:nvSpPr>
        <p:spPr>
          <a:xfrm>
            <a:off x="1005840" y="2057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TWO MINUTES SOLO  ·  </a:t>
            </a:r>
            <a:r>
              <a:rPr lang="en-US" sz="2000" b="0" dirty="0">
                <a:solidFill>
                  <a:srgbClr val="13303A"/>
                </a:solidFill>
                <a:latin typeface="Arial"/>
              </a:rPr>
              <a:t>Two minutes on your own, then compare. Bring one thing you tried, even if it did not work.</a:t>
            </a:r>
          </a:p>
        </p:txBody>
      </p:sp>
      <p:sp>
        <p:nvSpPr>
          <p:cNvPr id="10" name="TEACH-move-card"/>
          <p:cNvSpPr/>
          <p:nvPr/>
        </p:nvSpPr>
        <p:spPr>
          <a:xfrm>
            <a:off x="685800" y="3200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11" name="TEACH-move-rule"/>
          <p:cNvSpPr/>
          <p:nvPr/>
        </p:nvSpPr>
        <p:spPr>
          <a:xfrm>
            <a:off x="731520" y="3391510"/>
            <a:ext cx="100584" cy="623620"/>
          </a:xfrm>
          <a:prstGeom prst="roundRect">
            <a:avLst>
              <a:gd name="adj" fmla="val 50000"/>
            </a:avLst>
          </a:prstGeom>
          <a:solidFill>
            <a:srgbClr val="01708C"/>
          </a:solidFill>
          <a:ln>
            <a:noFill/>
          </a:ln>
        </p:spPr>
        <p:txBody>
          <a:bodyPr/>
          <a:lstStyle/>
          <a:p>
            <a:endParaRPr/>
          </a:p>
        </p:txBody>
      </p:sp>
      <p:sp>
        <p:nvSpPr>
          <p:cNvPr id="12" name="TEACH-2-student-move"/>
          <p:cNvSpPr txBox="1"/>
          <p:nvPr/>
        </p:nvSpPr>
        <p:spPr>
          <a:xfrm>
            <a:off x="1005840" y="3200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YOUR CHOICE  ·  </a:t>
            </a:r>
            <a:r>
              <a:rPr lang="en-US" sz="2000" b="0" dirty="0">
                <a:solidFill>
                  <a:srgbClr val="13303A"/>
                </a:solidFill>
                <a:latin typeface="Arial"/>
              </a:rPr>
              <a:t>You choose how to show this — numbers, words, or a diagram. Make your reasoning visible.</a:t>
            </a:r>
          </a:p>
        </p:txBody>
      </p:sp>
      <p:sp>
        <p:nvSpPr>
          <p:cNvPr id="13"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45 / 51</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5-5</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2-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PICK YOUR STRATEGY  ·  </a:t>
            </a:r>
            <a:r>
              <a:rPr lang="en-US" sz="2000" b="0" dirty="0">
                <a:solidFill>
                  <a:srgbClr val="13303A"/>
                </a:solidFill>
                <a:latin typeface="Arial"/>
              </a:rPr>
              <a:t>Choose your path — picture, table, number line, or equation — and be ready to say why you chose it.</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48 / 51</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2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Title Slide">
  <a:themeElements>
    <a:clrScheme name="Marquee">
      <a:dk1>
        <a:srgbClr val="000000"/>
      </a:dk1>
      <a:lt1>
        <a:srgbClr val="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Reveal Math Grade 6 · Lesson 5.5 — Determine the Volume of Rectangular Prisms</dc:title>
  <dc:creator>Neft Teacher</dc:creator>
  <cp:lastModifiedBy>Neft Teacher</cp:lastModifiedBy>
  <dcterms:created xsi:type="dcterms:W3CDTF">2026-09-30T12:04:43Z</dcterms:created>
  <dcterms:modified xsi:type="dcterms:W3CDTF">2026-09-30T12:04:43Z</dcterms:modified>
</cp:coreProperties>
</file>