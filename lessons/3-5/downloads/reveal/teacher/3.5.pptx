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8.xml" ContentType="application/vnd.openxmlformats-officedocument.presentationml.notesSlide+xml"/>
  <Override PartName="/ppt/notesSlides/notesSlide56.xml" ContentType="application/vnd.openxmlformats-officedocument.presentationml.notesSlide+xml"/>
  <Override PartName="/ppt/notesSlides/notesSlide58.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r3_notesSlide1.xml" ContentType="application/vnd.openxmlformats-officedocument.presentationml.notesSlide+xml"/>
  <Override PartName="/ppt/notesSlides/r3_notesSlide2.xml" ContentType="application/vnd.openxmlformats-officedocument.presentationml.notesSlide+xml"/>
  <Override PartName="/ppt/notesSlides/r3_notesSlide3.xml" ContentType="application/vnd.openxmlformats-officedocument.presentationml.notesSlide+xml"/>
  <Override PartName="/ppt/notesSlides/r3_notesSlide4.xml" ContentType="application/vnd.openxmlformats-officedocument.presentationml.notesSlide+xml"/>
  <Override PartName="/ppt/notesSlides/u3_notesSlide1.xml" ContentType="application/vnd.openxmlformats-officedocument.presentationml.notesSlide+xml"/>
  <Override PartName="/ppt/notesSlides/u3_notesSlide2.xml" ContentType="application/vnd.openxmlformats-officedocument.presentationml.notesSlide+xml"/>
  <Override PartName="/ppt/notesSlides/u3_notesSlide3.xml" ContentType="application/vnd.openxmlformats-officedocument.presentationml.notesSlide+xml"/>
  <Override PartName="/ppt/notesSlides/u3_notesSlide4.xml" ContentType="application/vnd.openxmlformats-officedocument.presentationml.notesSlide+xml"/>
  <Override PartName="/ppt/notesSlides/u3_notesSlide5.xml" ContentType="application/vnd.openxmlformats-officedocument.presentationml.notesSlide+xml"/>
  <Override PartName="/ppt/notesSlides/u3_notesSlide6.xml" ContentType="application/vnd.openxmlformats-officedocument.presentationml.notesSlide+xml"/>
  <Override PartName="/ppt/notesSlides/u3_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r3_slideLayout1.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u3_slideLayout1.xml" ContentType="application/vnd.openxmlformats-officedocument.presentationml.slideLayout+xml"/>
  <Override PartName="/ppt/slideMasters/r3_slideMaster1.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r3_theme2.xml" ContentType="application/vnd.openxmlformats-officedocument.theme+xml"/>
  <Override PartName="/ppt/slideMasters/theme/u3_theme2.xml" ContentType="application/vnd.openxmlformats-officedocument.theme+xml"/>
  <Override PartName="/ppt/slideMasters/u3_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1.xml" ContentType="application/vnd.openxmlformats-officedocument.presentationml.slide+xml"/>
  <Override PartName="/ppt/slides/slide42.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49" r:id="rId6"/>
    <p:sldMasterId id="2147483650" r:id="rId7"/>
    <p:sldMasterId id="2147483651" r:id="rId8"/>
    <p:sldMasterId id="2147483652" r:id="u3_slideMaster_0"/>
    <p:sldMasterId id="2147483653" r:id="r3_sldMasterIdLst_0"/>
  </p:sldMasterIdLst>
  <p:notesMasterIdLst>
    <p:notesMasterId r:id="rId9"/>
  </p:notesMasterIdLst>
  <p:sldIdLst>
    <p:sldId id="5019" r:id="rIdWarmUp"/>
    <p:sldId id="5005" r:id="r3_order_5"/>
    <p:sldId id="5000" r:id="r3_order_0"/>
    <p:sldId id="5037" r:id="rId50"/>
    <p:sldId id="5036" r:id="rId64"/>
    <p:sldId id="5035" r:id="rId63"/>
    <p:sldId id="5034" r:id="rId62"/>
    <p:sldId id="5033" r:id="rId61"/>
    <p:sldId id="5032" r:id="rId60"/>
    <p:sldId id="5031" r:id="rId59"/>
    <p:sldId id="5001" r:id="r3_order_1"/>
    <p:sldId id="5002" r:id="r3_order_2"/>
    <p:sldId id="5003" r:id="r3_order_3"/>
    <p:sldId id="5004" r:id="r3_order_4"/>
    <p:sldId id="5006" r:id="r3_order_6"/>
    <p:sldId id="5007" r:id="r3_order_7"/>
    <p:sldId id="5008" r:id="r3_order_8"/>
    <p:sldId id="5040" r:id="rId91"/>
    <p:sldId id="5038" r:id="rId89"/>
    <p:sldId id="5009" r:id="r3_order_9"/>
    <p:sldId id="5030" r:id="rId58"/>
    <p:sldId id="5029" r:id="rId57"/>
    <p:sldId id="5028" r:id="rId56"/>
    <p:sldId id="5041" r:id="rId92"/>
    <p:sldId id="5021" r:id="rId87"/>
    <p:sldId id="5022" r:id="rId88"/>
    <p:sldId id="5010" r:id="r3_order_10"/>
    <p:sldId id="5027" r:id="rId55"/>
    <p:sldId id="5011" r:id="r3_order_11"/>
    <p:sldId id="5012" r:id="r3_order_12"/>
    <p:sldId id="5013" r:id="r3_order_13"/>
    <p:sldId id="5014" r:id="r3_order_14"/>
    <p:sldId id="5015" r:id="r3_order_15"/>
    <p:sldId id="5039" r:id="rId90"/>
    <p:sldId id="5026" r:id="rId54"/>
    <p:sldId id="5025" r:id="rId53"/>
    <p:sldId id="5024" r:id="rId52"/>
    <p:sldId id="5020" r:id="rIdSummarize"/>
    <p:sldId id="5016" r:id="r3_order_16"/>
    <p:sldId id="5017" r:id="r3_order_17"/>
    <p:sldId id="5023" r:id="rId51"/>
    <p:sldId id="5018" r:id="r3_order_18"/>
  </p:sldIdLst>
  <p:sldSz cy="6858000" cx="12192000"/>
  <p:notesSz cx="7010400" cy="9236075"/>
  <p:embeddedFontLst>
    <p:embeddedFont>
      <p:font typeface="Cambria Math"/>
      <p:regular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EC32A94-5AE9-44D3-B504-F3A3450A5322}">
  <a:tblStyle styleId="{EEC32A94-5AE9-44D3-B504-F3A3450A5322}"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061D9E0-93ED-4216-831E-DD2AE59DC492}"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3_order_0" Type="http://schemas.openxmlformats.org/officeDocument/2006/relationships/slide" Target="slides/slide3.xml"/><Relationship Id="r3_order_1" Type="http://schemas.openxmlformats.org/officeDocument/2006/relationships/slide" Target="slides/slide11.xml"/><Relationship Id="r3_order_10" Type="http://schemas.openxmlformats.org/officeDocument/2006/relationships/slide" Target="slides/slide25.xml"/><Relationship Id="r3_order_11" Type="http://schemas.openxmlformats.org/officeDocument/2006/relationships/slide" Target="slides/slide27.xml"/><Relationship Id="r3_order_12" Type="http://schemas.openxmlformats.org/officeDocument/2006/relationships/slide" Target="slides/slide28.xml"/><Relationship Id="r3_order_13" Type="http://schemas.openxmlformats.org/officeDocument/2006/relationships/slide" Target="slides/slide29.xml"/><Relationship Id="r3_order_14" Type="http://schemas.openxmlformats.org/officeDocument/2006/relationships/slide" Target="slides/slide30.xml"/><Relationship Id="r3_order_15" Type="http://schemas.openxmlformats.org/officeDocument/2006/relationships/slide" Target="slides/slide31.xml"/><Relationship Id="r3_order_16" Type="http://schemas.openxmlformats.org/officeDocument/2006/relationships/slide" Target="slides/slide37.xml"/><Relationship Id="r3_order_17" Type="http://schemas.openxmlformats.org/officeDocument/2006/relationships/slide" Target="slides/slide38.xml"/><Relationship Id="r3_order_18" Type="http://schemas.openxmlformats.org/officeDocument/2006/relationships/slide" Target="slides/slide40.xml"/><Relationship Id="r3_order_2" Type="http://schemas.openxmlformats.org/officeDocument/2006/relationships/slide" Target="slides/slide12.xml"/><Relationship Id="r3_order_3" Type="http://schemas.openxmlformats.org/officeDocument/2006/relationships/slide" Target="slides/slide13.xml"/><Relationship Id="r3_order_4" Type="http://schemas.openxmlformats.org/officeDocument/2006/relationships/slide" Target="slides/slide14.xml"/><Relationship Id="r3_order_5" Type="http://schemas.openxmlformats.org/officeDocument/2006/relationships/slide" Target="slides/slide2.xml"/><Relationship Id="r3_order_6" Type="http://schemas.openxmlformats.org/officeDocument/2006/relationships/slide" Target="slides/slide15.xml"/><Relationship Id="r3_order_7" Type="http://schemas.openxmlformats.org/officeDocument/2006/relationships/slide" Target="slides/slide16.xml"/><Relationship Id="r3_order_8" Type="http://schemas.openxmlformats.org/officeDocument/2006/relationships/slide" Target="slides/slide17.xml"/><Relationship Id="r3_order_9" Type="http://schemas.openxmlformats.org/officeDocument/2006/relationships/slide" Target="slides/slide19.xml"/><Relationship Id="r3_sldMasterIdLst_0" Type="http://schemas.openxmlformats.org/officeDocument/2006/relationships/slideMaster" Target="slideMasters/r3_slideMaster1.xml"/><Relationship Id="rIdSummarize" Type="http://schemas.openxmlformats.org/officeDocument/2006/relationships/slide" Target="slides/slide36.xml"/><Relationship Id="rIdWarmUp" Type="http://schemas.openxmlformats.org/officeDocument/2006/relationships/slide" Target="slides/slide1.xml"/><Relationship Id="u3_slideMaster_0" Type="http://schemas.openxmlformats.org/officeDocument/2006/relationships/slideMaster" Target="slideMasters/u3_slideMaster1.xml"/><Relationship Id="u3_slide_1" Type="http://schemas.openxmlformats.org/officeDocument/2006/relationships/slide" Target="slides/slide3.xml"/><Relationship Id="u3_slide_2" Type="http://schemas.openxmlformats.org/officeDocument/2006/relationships/slide" Target="slides/slide25.xml"/><Relationship Id="u3_slide_3" Type="http://schemas.openxmlformats.org/officeDocument/2006/relationships/slide" Target="slides/slide2.xml"/><Relationship Id="u3_slide_4" Type="http://schemas.openxmlformats.org/officeDocument/2006/relationships/slide" Target="slides/slide30.xml"/><Relationship Id="u3_slide_5" Type="http://schemas.openxmlformats.org/officeDocument/2006/relationships/slide" Target="slides/slide19.xml"/><Relationship Id="u3_slide_6" Type="http://schemas.openxmlformats.org/officeDocument/2006/relationships/slide" Target="slides/slide38.xml"/><Relationship Id="u3_slide_7"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1" Type="http://schemas.openxmlformats.org/officeDocument/2006/relationships/slide" Target="slides/slide11.xml"/><Relationship Id="rId16" Type="http://schemas.openxmlformats.org/officeDocument/2006/relationships/slide" Target="slides/slide12.xml"/><Relationship Id="rId38"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7" Type="http://schemas.openxmlformats.org/officeDocument/2006/relationships/slide" Target="slides/slide27.xml"/><Relationship Id="rId50" Type="http://schemas.openxmlformats.org/officeDocument/2006/relationships/slide" Target="slides/slide4.xml"/><Relationship Id="rId51" Type="http://schemas.openxmlformats.org/officeDocument/2006/relationships/slide" Target="slides/slide39.xml"/><Relationship Id="rId52" Type="http://schemas.openxmlformats.org/officeDocument/2006/relationships/slide" Target="slides/slide35.xml"/><Relationship Id="rId53" Type="http://schemas.openxmlformats.org/officeDocument/2006/relationships/slide" Target="slides/slide34.xml"/><Relationship Id="rId54" Type="http://schemas.openxmlformats.org/officeDocument/2006/relationships/slide" Target="slides/slide33.xml"/><Relationship Id="rId55" Type="http://schemas.openxmlformats.org/officeDocument/2006/relationships/slide" Target="slides/slide26.xml"/><Relationship Id="rId56" Type="http://schemas.openxmlformats.org/officeDocument/2006/relationships/slide" Target="slides/slide22.xml"/><Relationship Id="rId57" Type="http://schemas.openxmlformats.org/officeDocument/2006/relationships/slide" Target="slides/slide21.xml"/><Relationship Id="rId58" Type="http://schemas.openxmlformats.org/officeDocument/2006/relationships/slide" Target="slides/slide20.xml"/><Relationship Id="rId59" Type="http://schemas.openxmlformats.org/officeDocument/2006/relationships/slide" Target="slides/slide10.xml"/><Relationship Id="rId60" Type="http://schemas.openxmlformats.org/officeDocument/2006/relationships/slide" Target="slides/slide9.xml"/><Relationship Id="rId61" Type="http://schemas.openxmlformats.org/officeDocument/2006/relationships/slide" Target="slides/slide8.xml"/><Relationship Id="rId62" Type="http://schemas.openxmlformats.org/officeDocument/2006/relationships/slide" Target="slides/slide7.xml"/><Relationship Id="rId63" Type="http://schemas.openxmlformats.org/officeDocument/2006/relationships/slide" Target="slides/slide6.xml"/><Relationship Id="rId64" Type="http://schemas.openxmlformats.org/officeDocument/2006/relationships/slide" Target="slides/slide5.xml"/><Relationship Id="rId65" Type="http://schemas.openxmlformats.org/officeDocument/2006/relationships/slide" Target="slides/slide31.xml"/><Relationship Id="rId67" Type="http://schemas.openxmlformats.org/officeDocument/2006/relationships/slide" Target="slides/slide37.xml"/><Relationship Id="rId69" Type="http://schemas.openxmlformats.org/officeDocument/2006/relationships/font" Target="fonts/CambriaMath-regular.fntdata"/><Relationship Id="rId87" Type="http://schemas.openxmlformats.org/officeDocument/2006/relationships/slide" Target="slides/slide23.xml"/><Relationship Id="rId88" Type="http://schemas.openxmlformats.org/officeDocument/2006/relationships/slide" Target="slides/slide24.xml"/><Relationship Id="rId89" Type="http://schemas.openxmlformats.org/officeDocument/2006/relationships/slide" Target="slides/slide18.xml"/><Relationship Id="rId90" Type="http://schemas.openxmlformats.org/officeDocument/2006/relationships/slide" Target="slides/slide32.xml"/><Relationship Id="rId91" Type="http://schemas.openxmlformats.org/officeDocument/2006/relationships/slide" Target="slides/slide41.xml"/><Relationship Id="rId92"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r3_notesSlide1.xml.rels><?xml version='1.0' encoding='UTF-8' standalone='yes'?>
<Relationships xmlns="http://schemas.openxmlformats.org/package/2006/relationships"><Relationship Id="R4fcd804eec9d4a9f" Type="http://schemas.openxmlformats.org/officeDocument/2006/relationships/slide" Target="../slides/slide13.xml"/><Relationship Id="Rfe4368262458417a" Type="http://schemas.openxmlformats.org/officeDocument/2006/relationships/notesMaster" Target="../notesMasters/notesMaster1.xml"/></Relationships>
</file>

<file path=ppt/notesSlides/_rels/r3_notesSlide2.xml.rels><?xml version='1.0' encoding='UTF-8' standalone='yes'?>
<Relationships xmlns="http://schemas.openxmlformats.org/package/2006/relationships"><Relationship Id="R89c53e5074644084" Type="http://schemas.openxmlformats.org/officeDocument/2006/relationships/slide" Target="../slides/slide14.xml"/><Relationship Id="Reccd1b10f6024d1e" Type="http://schemas.openxmlformats.org/officeDocument/2006/relationships/notesMaster" Target="../notesMasters/notesMaster1.xml"/></Relationships>
</file>

<file path=ppt/notesSlides/_rels/r3_notesSlide3.xml.rels><?xml version='1.0' encoding='UTF-8' standalone='yes'?>
<Relationships xmlns="http://schemas.openxmlformats.org/package/2006/relationships"><Relationship Id="R5cbeb8f5205340e6" Type="http://schemas.openxmlformats.org/officeDocument/2006/relationships/slide" Target="../slides/slide28.xml"/><Relationship Id="R8abe3b0e23804dd3" Type="http://schemas.openxmlformats.org/officeDocument/2006/relationships/notesMaster" Target="../notesMasters/notesMaster1.xml"/></Relationships>
</file>

<file path=ppt/notesSlides/_rels/r3_notesSlide4.xml.rels><?xml version='1.0' encoding='UTF-8' standalone='yes'?>
<Relationships xmlns="http://schemas.openxmlformats.org/package/2006/relationships"><Relationship Id="R8bba8febd88849e5" Type="http://schemas.openxmlformats.org/officeDocument/2006/relationships/slide" Target="../slides/slide29.xml"/><Relationship Id="Rf15b59a675d74be2" Type="http://schemas.openxmlformats.org/officeDocument/2006/relationships/notesMaster" Target="../notesMasters/notesMaster1.xml"/></Relationships>
</file>

<file path=ppt/notesSlides/_rels/u3_notesSlide1.xml.rels><?xml version='1.0' encoding='UTF-8' standalone='yes'?>
<Relationships xmlns="http://schemas.openxmlformats.org/package/2006/relationships"><Relationship Id="R23c7ee3a00ef4868" Type="http://schemas.openxmlformats.org/officeDocument/2006/relationships/notesMaster" Target="../notesMasters/notesMaster1.xml"/><Relationship Id="Ra0591946d1804f99" Type="http://schemas.openxmlformats.org/officeDocument/2006/relationships/slide" Target="../slides/slide3.xml"/></Relationships>
</file>

<file path=ppt/notesSlides/_rels/u3_notesSlide2.xml.rels><?xml version='1.0' encoding='UTF-8' standalone='yes'?>
<Relationships xmlns="http://schemas.openxmlformats.org/package/2006/relationships"><Relationship Id="R0a04d90ffe0f4d0b" Type="http://schemas.openxmlformats.org/officeDocument/2006/relationships/notesMaster" Target="../notesMasters/notesMaster1.xml"/><Relationship Id="R61311533c84948e2" Type="http://schemas.openxmlformats.org/officeDocument/2006/relationships/slide" Target="../slides/slide25.xml"/></Relationships>
</file>

<file path=ppt/notesSlides/_rels/u3_notesSlide3.xml.rels><?xml version='1.0' encoding='UTF-8' standalone='yes'?>
<Relationships xmlns="http://schemas.openxmlformats.org/package/2006/relationships"><Relationship Id="R21d3c77f3b594837" Type="http://schemas.openxmlformats.org/officeDocument/2006/relationships/notesMaster" Target="../notesMasters/notesMaster1.xml"/><Relationship Id="R857ee3e07f48408e" Type="http://schemas.openxmlformats.org/officeDocument/2006/relationships/slide" Target="../slides/slide2.xml"/></Relationships>
</file>

<file path=ppt/notesSlides/_rels/u3_notesSlide4.xml.rels><?xml version='1.0' encoding='UTF-8' standalone='yes'?>
<Relationships xmlns="http://schemas.openxmlformats.org/package/2006/relationships"><Relationship Id="R01a3b39e41ba4151" Type="http://schemas.openxmlformats.org/officeDocument/2006/relationships/slide" Target="../slides/slide30.xml"/><Relationship Id="R0219788e556f4ff4" Type="http://schemas.openxmlformats.org/officeDocument/2006/relationships/notesMaster" Target="../notesMasters/notesMaster1.xml"/></Relationships>
</file>

<file path=ppt/notesSlides/_rels/u3_notesSlide5.xml.rels><?xml version='1.0' encoding='UTF-8' standalone='yes'?>
<Relationships xmlns="http://schemas.openxmlformats.org/package/2006/relationships"><Relationship Id="Ra7d514c460ff47c7" Type="http://schemas.openxmlformats.org/officeDocument/2006/relationships/notesMaster" Target="../notesMasters/notesMaster1.xml"/><Relationship Id="Rb318b6bd829f4c1e" Type="http://schemas.openxmlformats.org/officeDocument/2006/relationships/slide" Target="../slides/slide19.xml"/></Relationships>
</file>

<file path=ppt/notesSlides/_rels/u3_notesSlide6.xml.rels><?xml version='1.0' encoding='UTF-8' standalone='yes'?>
<Relationships xmlns="http://schemas.openxmlformats.org/package/2006/relationships"><Relationship Id="R704e3a8b7f4b45c7" Type="http://schemas.openxmlformats.org/officeDocument/2006/relationships/slide" Target="../slides/slide38.xml"/><Relationship Id="Re51f244bde634b24" Type="http://schemas.openxmlformats.org/officeDocument/2006/relationships/notesMaster" Target="../notesMasters/notesMaster1.xml"/></Relationships>
</file>

<file path=ppt/notesSlides/_rels/u3_notesSlide7.xml.rels><?xml version='1.0' encoding='UTF-8' standalone='yes'?>
<Relationships xmlns="http://schemas.openxmlformats.org/package/2006/relationships"><Relationship Id="R04bb947c7be94ea3" Type="http://schemas.openxmlformats.org/officeDocument/2006/relationships/slide" Target="../slides/slide40.xml"/><Relationship Id="Ra4112626d1b44605"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3.5, slide 11 | TASK</a:t>
            </a:r>
          </a:p>
          <a:p xmlns:a="http://schemas.openxmlformats.org/drawingml/2006/main">
            <a:pPr>
              <a:buNone/>
            </a:pPr>
            <a:r>
              <a:rPr lang="en-US" sz="1100"/>
              <a:t>Focus on the existing task: More or Less Than 50 0.49 + 37.9 23.87 + 28.05 41.86 + 8.93 STUDENT MOVE · ESTIMATE • DEFEND • COMPARE Estimate first. Choose one…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a:t>Estimation warm-up: students commit to more or less than 50, defend it in one sentence, then compare with a partner. Keep it under three minutes; the defense matters more than the estimate.</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must be held equal to make this a fair comparison, and how does your table show that?” Wait for evidence, invite another pathway, and have a student ask a follow-up question. Do not replace students’ reasoning with a sequence of leading steps.</a:t>
            </a:r>
          </a:p>
        </p:txBody>
      </p:sp>
      <p:sp>
        <p:nvSpPr>
          <p:cNvPr id="239" name="Google Shape;239;p2: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7: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3.5, slide 12 | TASK</a:t>
            </a:r>
          </a:p>
          <a:p xmlns:a="http://schemas.openxmlformats.org/drawingml/2006/main">
            <a:pPr>
              <a:buNone/>
            </a:pPr>
            <a:r>
              <a:rPr lang="en-US" sz="1100"/>
              <a:t>Focus on the existing task: Purple Paint Mixture Two friends used the paint shown to create shades of purple paint. Whose mixture has more blue relative to red?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Ask a partner a question; choose a model together.</a:t>
            </a:r>
          </a:p>
          <a:p>
            <a:r>
              <a:rPr lang="en-US"/>
              <a:t>Routine: STUDENT MOVE  ·  SOLO THINK → PARTNER TALK</a:t>
            </a:r>
          </a:p>
        </p:txBody>
      </p:sp>
      <p:sp>
        <p:nvSpPr>
          <p:cNvPr id="287" name="Google Shape;287;p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9: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3.5, slide 15 | COLLABORATE</a:t>
            </a:r>
          </a:p>
          <a:p xmlns:a="http://schemas.openxmlformats.org/drawingml/2006/main">
            <a:pPr>
              <a:buNone/>
            </a:pPr>
            <a:r>
              <a:rPr lang="en-US" sz="1100"/>
              <a:t>Focus on the existing task: Marisa’s Mixture Shannon’s Mixture Let’s look at another similar problem. For 6 blue cans, who uses more yellow?</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Student-led talk: paraphrase, agree or disagree, add on.</a:t>
            </a:r>
          </a:p>
          <a:p>
            <a:r>
              <a:rPr lang="en-US"/>
              <a:t>Routine: STUDENT MOVE  ·  SOLO THINK → PARTNER TALK</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comparing unmatched amounts as if they were equivalent wholes. If it appears, mark equivalent ratios that share one quantity before comparing the other; then ask the student to revise the same response and explain the change. If evidence is secure, have students compare a second valid pathway or state why their approach works. Choose the next step from the responses, not a preset pace.</a:t>
            </a:r>
          </a:p>
        </p:txBody>
      </p:sp>
      <p:sp>
        <p:nvSpPr>
          <p:cNvPr id="514" name="Google Shape;514;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3.5, slide 16 | COLLABORATE</a:t>
            </a:r>
          </a:p>
          <a:p xmlns:a="http://schemas.openxmlformats.org/drawingml/2006/main">
            <a:pPr>
              <a:buNone/>
            </a:pPr>
            <a:r>
              <a:rPr lang="en-US" sz="1100"/>
              <a:t>Focus on the existing task: Collaborate and Connect (continued) Or you can extend the patterns using multiplication to find the equivalent ratios. Marisa’s Mixture Shannon’s Mixture For 6 blue cans, who uses more yellow?</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SOLO THINK → PARTNER TALK</a:t>
            </a:r>
          </a:p>
        </p:txBody>
      </p:sp>
      <p:sp>
        <p:nvSpPr>
          <p:cNvPr id="551" name="Google Shape;551;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3.5, slide 17 | PRACTICE</a:t>
            </a:r>
          </a:p>
          <a:p xmlns:a="http://schemas.openxmlformats.org/drawingml/2006/main">
            <a:pPr>
              <a:buNone/>
            </a:pPr>
            <a:r>
              <a:rPr lang="en-US" sz="1100"/>
              <a:t>Focus on the existing task: Let’s Explore More When the two friends each use 6 cans of red paint to create their mixture, how much purple paint will each person have?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SOLO THINK → PARTNER TALK</a:t>
            </a:r>
          </a:p>
        </p:txBody>
      </p:sp>
      <p:sp>
        <p:nvSpPr>
          <p:cNvPr id="564" name="Google Shape;564;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8: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3.5, slide 27 | TASK</a:t>
            </a:r>
          </a:p>
          <a:p xmlns:a="http://schemas.openxmlformats.org/drawingml/2006/main">
            <a:pPr>
              <a:buNone/>
            </a:pPr>
            <a:r>
              <a:rPr lang="en-US" sz="1100"/>
              <a:t>Focus on the existing task: Designing Games Brielle, Andrew, and Sheng are designing video games. Planning How can you begin solving the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preserve ratio order.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Compare strategies; defend one with evidence.</a:t>
            </a:r>
          </a:p>
          <a:p>
            <a:r>
              <a:rPr lang="en-US"/>
              <a:t>Routine: STUDENT MOVE  ·  SOLO THINK → PARTNER TALK</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must be held equal to make this a fair comparison, and how does your table show that?” Wait for evidence, invite another pathway, and have a student ask a follow-up question. Do not replace students’ reasoning with a sequence of leading steps.</a:t>
            </a:r>
          </a:p>
        </p:txBody>
      </p:sp>
      <p:sp>
        <p:nvSpPr>
          <p:cNvPr id="610" name="Google Shape;610;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5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3.5, slide 31 | PRACTICE</a:t>
            </a:r>
          </a:p>
          <a:p xmlns:a="http://schemas.openxmlformats.org/drawingml/2006/main">
            <a:pPr>
              <a:buNone/>
            </a:pPr>
            <a:r>
              <a:rPr lang="en-US" sz="1100"/>
              <a:t>Focus on the existing task: Let’s Explore More Brielle changes her game to 2 points for 4 matches. Compare her ratio with Andrew’s 3: 6 and Sheng’s 1: 3. How can comparing rates and ratios help you in real-world situations?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Compare pathways with a partner; name one revision.</a:t>
            </a:r>
          </a:p>
          <a:p>
            <a:r>
              <a:rPr lang="en-US"/>
              <a:t>Routine: STUDENT MOVE  ·  SOLO THINK → PARTNER TALK</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comparing unmatched amounts as if they were equivalent wholes. If it appears, mark equivalent ratios that share one quantity before comparing the other; then ask the student to revise the same response and explain the change. If evidence is secure, have students compare a second valid pathway or state why their approach works. Choose the next step from the responses, not a preset pace.</a:t>
            </a:r>
          </a:p>
        </p:txBody>
      </p:sp>
      <p:sp>
        <p:nvSpPr>
          <p:cNvPr id="812" name="Google Shape;812;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58: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3.5, slide 37 | APPLY</a:t>
            </a:r>
          </a:p>
          <a:p xmlns:a="http://schemas.openxmlformats.org/drawingml/2006/main">
            <a:pPr>
              <a:buNone/>
            </a:pPr>
            <a:r>
              <a:rPr lang="en-US" sz="1100"/>
              <a:t>Focus on the existing task: Apply: Babysitting Pay Claire, Yuzuki, and Nakai compared their time babysitting and their earnings from the previous weekend. A new…</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SOLO THINK → PARTNER TALK</a:t>
            </a:r>
          </a:p>
        </p:txBody>
      </p:sp>
      <p:sp>
        <p:nvSpPr>
          <p:cNvPr id="832" name="Google Shape;832;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3.5, slide 1 | WARMUP</a:t>
            </a:r>
          </a:p>
          <a:p xmlns:a="http://schemas.openxmlformats.org/drawingml/2006/main">
            <a:pPr>
              <a:buNone/>
            </a:pPr>
            <a:r>
              <a:rPr lang="en-US" sz="1100"/>
              <a:t>Focus on the existing task: ______ QUESTION 2 What do you multiply 3 by to get 12?</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Warm-Up answers (teacher only): 1) 12   2) 4   3) 10   4) 10 pages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match one quantity before comparing; preserve ratio order; justify the comparison. Review recent work and today’s warm-up to choose flexible groups and access supports; do not infer needs from identity or perceived ability. Use the existing lesson tasks and stated standards.</a:t>
            </a:r>
          </a:p>
          <a:p>
            <a:pPr>
              <a:buNone/>
            </a:pPr>
            <a:r>
              <a:rPr lang="en-US" sz="1100"/>
              <a:t>Anticipate: comparing unmatched amounts as if they were equivalent wholes. If observed, mark equivalent ratios that share one quantity before comparing the other.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3.5, slide 23 | WARMUP</a:t>
            </a:r>
          </a:p>
          <a:p xmlns:a="http://schemas.openxmlformats.org/drawingml/2006/main">
            <a:pPr>
              <a:buNone/>
            </a:pPr>
            <a:r>
              <a:rPr lang="en-US" sz="1100"/>
              <a:t>Focus on the existing task: Session 2 Warm-Up | Session 2 Warm-Up · about 4 minutes WARM-UP · THINK • TRY • CHECK Do…</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3.5, slide 24 | NOTES</a:t>
            </a:r>
          </a:p>
          <a:p xmlns:a="http://schemas.openxmlformats.org/drawingml/2006/main">
            <a:pPr>
              <a:buNone/>
            </a:pPr>
            <a:r>
              <a:rPr lang="en-US" sz="1100"/>
              <a:t>Focus on the existing task: Review Notes — Session 2 REVIEW NOTES · RECALL • CONNECT • APPLY MAKE A FAIR COMPARISON Keep the quantities in the same order. Make…</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3.5, slide 36 | SUMMARIZE</a:t>
            </a:r>
          </a:p>
          <a:p xmlns:a="http://schemas.openxmlformats.org/drawingml/2006/main">
            <a:pPr>
              <a:buNone/>
            </a:pPr>
            <a:r>
              <a:rPr lang="en-US" sz="1100"/>
              <a:t>Focus on the existing task: STUDENT MOVE · SUMMARIZE • TEACH A PARTNER Summarize: Compare Ratios Scale both ratios until one quantity matches. Matching amounts are…</a:t>
            </a:r>
          </a:p>
          <a:p xmlns:a="http://schemas.openxmlformats.org/drawingml/2006/main">
            <a:pPr>
              <a:buNone/>
            </a:pPr>
            <a:r>
              <a:rPr lang="en-US" sz="1100"/>
              <a:t>CONNECT (T1/4): Ask students to restate the displayed goal or key idea and connect it to earlier work. Relevant lesson evidence: match one quantity before comparing; preserve ratio order; justify the comparison.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39 | REFLECTION</a:t>
            </a:r>
          </a:p>
          <a:p xmlns:a="http://schemas.openxmlformats.org/drawingml/2006/main">
            <a:pPr>
              <a:buNone/>
            </a:pPr>
            <a:r>
              <a:rPr lang="en-US" sz="1100"/>
              <a:t>Focus on the existing task: Learning Targets I can compare ratio relationships using tables. I can make sense of ratio problems and formulate a strategy to solve them.</a:t>
            </a:r>
          </a:p>
          <a:p xmlns:a="http://schemas.openxmlformats.org/drawingml/2006/main">
            <a:pPr>
              <a:buNone/>
            </a:pPr>
            <a:r>
              <a:rPr lang="en-US" sz="1100"/>
              <a:t>CONNECT (T1/4): Ask students to restate the displayed goal or key idea and connect it to earlier work. Relevant lesson evidence: match one quantity before comparing; preserve ratio order; justify the comparison.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comparing unmatched amounts as if they were equivalent wholes.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mark equivalent ratios that share one quantity before comparing the other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4 | VOCAB</a:t>
            </a:r>
          </a:p>
          <a:p xmlns:a="http://schemas.openxmlformats.org/drawingml/2006/main">
            <a:pPr>
              <a:buNone/>
            </a:pPr>
            <a:r>
              <a:rPr lang="en-US" sz="1100"/>
              <a:t>Focus on the existing task: Vocabulary 1 of 6 Compare Ratios Decide which ratio is…</a:t>
            </a:r>
          </a:p>
          <a:p xmlns:a="http://schemas.openxmlformats.org/drawingml/2006/main">
            <a:pPr>
              <a:buNone/>
            </a:pPr>
            <a:r>
              <a:rPr lang="en-US" sz="1100"/>
              <a:t>ASK (T1/3/5): Where does “Compare Ratios”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5 | VOCAB</a:t>
            </a:r>
          </a:p>
          <a:p xmlns:a="http://schemas.openxmlformats.org/drawingml/2006/main">
            <a:pPr>
              <a:buNone/>
            </a:pPr>
            <a:r>
              <a:rPr lang="en-US" sz="1100"/>
              <a:t>Focus on the existing task: Vocabulary 2 of 6 Unit rate A rate for just 1 of something…</a:t>
            </a:r>
          </a:p>
          <a:p xmlns:a="http://schemas.openxmlformats.org/drawingml/2006/main">
            <a:pPr>
              <a:buNone/>
            </a:pPr>
            <a:r>
              <a:rPr lang="en-US" sz="1100"/>
              <a:t>ASK (T1/3/5): Where does “Unit rate”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6 | VOCAB</a:t>
            </a:r>
          </a:p>
          <a:p xmlns:a="http://schemas.openxmlformats.org/drawingml/2006/main">
            <a:pPr>
              <a:buNone/>
            </a:pPr>
            <a:r>
              <a:rPr lang="en-US" sz="1100"/>
              <a:t>Focus on the existing task: Vocabulary 3 of 6 Equivalent ratio Two ratios that mean the…</a:t>
            </a:r>
          </a:p>
          <a:p xmlns:a="http://schemas.openxmlformats.org/drawingml/2006/main">
            <a:pPr>
              <a:buNone/>
            </a:pPr>
            <a:r>
              <a:rPr lang="en-US" sz="1100"/>
              <a:t>ASK (T1/3/5): Where does “Equivalent ratio”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7 | VOCAB</a:t>
            </a:r>
          </a:p>
          <a:p xmlns:a="http://schemas.openxmlformats.org/drawingml/2006/main">
            <a:pPr>
              <a:buNone/>
            </a:pPr>
            <a:r>
              <a:rPr lang="en-US" sz="1100"/>
              <a:t>Focus on the existing task: Vocabulary 4 of 6 Compare To look at ratios and see which is…</a:t>
            </a:r>
          </a:p>
          <a:p xmlns:a="http://schemas.openxmlformats.org/drawingml/2006/main">
            <a:pPr>
              <a:buNone/>
            </a:pPr>
            <a:r>
              <a:rPr lang="en-US" sz="1100"/>
              <a:t>ASK (T1/3/5): Where does “Compare”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8 | VOCAB</a:t>
            </a:r>
          </a:p>
          <a:p xmlns:a="http://schemas.openxmlformats.org/drawingml/2006/main">
            <a:pPr>
              <a:buNone/>
            </a:pPr>
            <a:r>
              <a:rPr lang="en-US" sz="1100"/>
              <a:t>Focus on the existing task: Vocabulary 5 of 6 Simplify To write a ratio with smaller…</a:t>
            </a:r>
          </a:p>
          <a:p xmlns:a="http://schemas.openxmlformats.org/drawingml/2006/main">
            <a:pPr>
              <a:buNone/>
            </a:pPr>
            <a:r>
              <a:rPr lang="en-US" sz="1100"/>
              <a:t>ASK (T1/3/5): Where does “Simplify”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9 | VOCAB</a:t>
            </a:r>
          </a:p>
          <a:p xmlns:a="http://schemas.openxmlformats.org/drawingml/2006/main">
            <a:pPr>
              <a:buNone/>
            </a:pPr>
            <a:r>
              <a:rPr lang="en-US" sz="1100"/>
              <a:t>Focus on the existing task: Vocabulary 6 of 6 Common denominator A bottom number that two…</a:t>
            </a:r>
          </a:p>
          <a:p xmlns:a="http://schemas.openxmlformats.org/drawingml/2006/main">
            <a:pPr>
              <a:buNone/>
            </a:pPr>
            <a:r>
              <a:rPr lang="en-US" sz="1100"/>
              <a:t>ASK (T1/3/5): Where does “Common denominator”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10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18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match one quantity before comparing; preserve ratio order; justify the comparison.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20 | REVEAL</a:t>
            </a:r>
          </a:p>
          <a:p xmlns:a="http://schemas.openxmlformats.org/drawingml/2006/main">
            <a:pPr>
              <a:buNone/>
            </a:pPr>
            <a:r>
              <a:rPr lang="en-US" sz="1100"/>
              <a:t>Focus on the existing task: Two friends used the paint shown to create shades of purple paint. Whose mixture contains the most blue paint?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21 | REVEAL</a:t>
            </a:r>
          </a:p>
          <a:p xmlns:a="http://schemas.openxmlformats.org/drawingml/2006/main">
            <a:pPr>
              <a:buNone/>
            </a:pPr>
            <a:r>
              <a:rPr lang="en-US" sz="1100"/>
              <a:t>Focus on the existing task: How can you represent the relationship between the red paint and blue paint for Reginald and Anwar’s mixtures?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22 | REVEAL</a:t>
            </a:r>
          </a:p>
          <a:p xmlns:a="http://schemas.openxmlformats.org/drawingml/2006/main">
            <a:pPr>
              <a:buNone/>
            </a:pPr>
            <a:r>
              <a:rPr lang="en-US" sz="1100"/>
              <a:t>Focus on the existing task: When the first term in each student’s ratio is the same, 6, how do the second terms compare?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preserve ratio order.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26 | CURIOUS</a:t>
            </a:r>
          </a:p>
          <a:p xmlns:a="http://schemas.openxmlformats.org/drawingml/2006/main">
            <a:pPr>
              <a:buNone/>
            </a:pPr>
            <a:r>
              <a:rPr lang="en-US" sz="1100"/>
              <a:t>Focus on the existing task: Be Curious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32 | PRIOR_INSERT</a:t>
            </a:r>
          </a:p>
          <a:p xmlns:a="http://schemas.openxmlformats.org/drawingml/2006/main">
            <a:pPr>
              <a:buNone/>
            </a:pPr>
            <a:r>
              <a:rPr lang="en-US" sz="1100"/>
              <a:t>Focus on the existing task: LESSON 3.5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match one quantity before comparing; preserve ratio order; justify the comparison.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33 | REVEAL</a:t>
            </a:r>
          </a:p>
          <a:p xmlns:a="http://schemas.openxmlformats.org/drawingml/2006/main">
            <a:pPr>
              <a:buNone/>
            </a:pPr>
            <a:r>
              <a:rPr lang="en-US" sz="1100"/>
              <a:t>Focus on the existing task: How can you represent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preserve ratio order.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34 | REVEAL</a:t>
            </a:r>
          </a:p>
          <a:p xmlns:a="http://schemas.openxmlformats.org/drawingml/2006/main">
            <a:pPr>
              <a:buNone/>
            </a:pPr>
            <a:r>
              <a:rPr lang="en-US" sz="1100"/>
              <a:t>Focus on the existing task: Let’s determine equivalent ratios that have the same value for the second term. How can you determine what number to multiply each ratio by so that the second terms are the same?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preserve ratio order.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3.5, slide 35 | REVEAL</a:t>
            </a:r>
          </a:p>
          <a:p xmlns:a="http://schemas.openxmlformats.org/drawingml/2006/main">
            <a:pPr>
              <a:buNone/>
            </a:pPr>
            <a:r>
              <a:rPr lang="en-US" sz="1100"/>
              <a:t>Focus on the existing task: Find the values of the second terms. Which person’s game awards the greatest number of points when the matches are the same?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r3_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13 | WORKED</a:t>
            </a:r>
          </a:p>
          <a:p xmlns:a="http://schemas.openxmlformats.org/drawingml/2006/main">
            <a:pPr>
              <a:buNone/>
            </a:pPr>
            <a:r>
              <a:rPr lang="en-US" sz="1100"/>
              <a:t>Focus on the existing task: A fair comparison of mixtures Keep the ratio order the same: red paint to blue paint. Equivalent ratios let us compare mixtures with…</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14 | WORKED</a:t>
            </a:r>
          </a:p>
          <a:p xmlns:a="http://schemas.openxmlformats.org/drawingml/2006/main">
            <a:pPr>
              <a:buNone/>
            </a:pPr>
            <a:r>
              <a:rPr lang="en-US" sz="1100"/>
              <a:t>Focus on the existing task: Matching the red paint amounts Reginald: multiply both quantities by 2. Anwar: multiply both quantities by 3. For the same 6 red cans…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28 | WORKED</a:t>
            </a:r>
          </a:p>
          <a:p xmlns:a="http://schemas.openxmlformats.org/drawingml/2006/main">
            <a:pPr>
              <a:buNone/>
            </a:pPr>
            <a:r>
              <a:rPr lang="en-US" sz="1100"/>
              <a:t>Focus on the existing task: Comparing games for 30 matches Use equivalent ratios to make the matches equal. Scale each game’s points and matches by the same factor.…</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29 | TASK</a:t>
            </a:r>
          </a:p>
          <a:p xmlns:a="http://schemas.openxmlformats.org/drawingml/2006/main">
            <a:pPr>
              <a:buNone/>
            </a:pPr>
            <a:r>
              <a:rPr lang="en-US" sz="1100"/>
              <a:t>Focus on the existing task: Another comparison: the same points We can also make the number of points equal. Compare the matches needed to earn 6 points. Fewer…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3 | GOAL</a:t>
            </a:r>
          </a:p>
          <a:p xmlns:a="http://schemas.openxmlformats.org/drawingml/2006/main">
            <a:pPr>
              <a:buNone/>
            </a:pPr>
            <a:r>
              <a:rPr lang="en-US" sz="1100"/>
              <a:t>Focus on the existing task: Learning Target — Session 1 | Maryland Standard 6.AT.3 LEARNING TARGET · MATCH • COMPARE •…</a:t>
            </a:r>
          </a:p>
          <a:p xmlns:a="http://schemas.openxmlformats.org/drawingml/2006/main">
            <a:pPr>
              <a:buNone/>
            </a:pPr>
            <a:r>
              <a:rPr lang="en-US" sz="1100"/>
              <a:t>CONNECT (T1/4): Ask students to restate the displayed goal or key idea and connect it to earlier work. Relevant lesson evidence: match one quantity before comparing; preserve ratio order; justify the comparison.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match one quantity before comparing; preserve ratio order; justify the comparison. Ask: “Which part of your work would show this?” Revisit that evidence after the task; a confidence rating alone is not evidence of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25 | GOAL</a:t>
            </a:r>
          </a:p>
          <a:p xmlns:a="http://schemas.openxmlformats.org/drawingml/2006/main">
            <a:pPr>
              <a:buNone/>
            </a:pPr>
            <a:r>
              <a:rPr lang="en-US" sz="1100"/>
              <a:t>Focus on the existing task: Learning Target — Session 2 | Maryland Standard 6.AT.3 LEARNING TARGET · MATCH • COMPARE •…</a:t>
            </a:r>
          </a:p>
          <a:p xmlns:a="http://schemas.openxmlformats.org/drawingml/2006/main">
            <a:pPr>
              <a:buNone/>
            </a:pPr>
            <a:r>
              <a:rPr lang="en-US" sz="1100"/>
              <a:t>CONNECT (T1/4): Ask students to restate the displayed goal or key idea and connect it to earlier work. Relevant lesson evidence: match one quantity before comparing; preserve ratio order; justify the comparison.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match one quantity before comparing; preserve ratio order; justify the comparison. Ask: “Which part of your work would show this?” Revisit that evidence after the task; a confidence rating alone is not evidence of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2 | NOTES</a:t>
            </a:r>
          </a:p>
          <a:p xmlns:a="http://schemas.openxmlformats.org/drawingml/2006/main">
            <a:pPr>
              <a:buNone/>
            </a:pPr>
            <a:r>
              <a:rPr lang="en-US" sz="1100"/>
              <a:t>Focus on the existing task: Today’s Math Notes — Session 1 STUDENT NOTES · COPY LESS • UNDERSTAND MORE MAKE A FAIR COMPARISON Keep the quantities in the same…</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30 | NOTES</a:t>
            </a:r>
          </a:p>
          <a:p xmlns:a="http://schemas.openxmlformats.org/drawingml/2006/main">
            <a:pPr>
              <a:buNone/>
            </a:pPr>
            <a:r>
              <a:rPr lang="en-US" sz="1100"/>
              <a:t>Focus on the existing task: Today’s Math Notes — Session 2 STUDENT NOTES · COPY LESS • UNDERSTAND MORE HOLD ONE QUANTITY EQUAL Same matches → compare points.…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19 | TASK</a:t>
            </a:r>
          </a:p>
          <a:p xmlns:a="http://schemas.openxmlformats.org/drawingml/2006/main">
            <a:pPr>
              <a:buNone/>
            </a:pPr>
            <a:r>
              <a:rPr lang="en-US" sz="1100"/>
              <a:t>Focus on the existing task: Use your numbers to justify your answer. 3 — SELF-MONITOR Circle one: READY — I can explain it. ALMOST — I need one hint. NOT YET — I need a model. Partner feedback: Ask “How do you know?</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Answer: Reginald 12:16; Anwar 12:18. Anwar has more blue relative to red. Give quiet thinking time before sharing. If a student is stuck, point back to the relevant worked model without doing the task for them. Give specific feedback, then allow a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38 | ASSESSMENT</a:t>
            </a:r>
          </a:p>
          <a:p xmlns:a="http://schemas.openxmlformats.org/drawingml/2006/main">
            <a:pPr>
              <a:buNone/>
            </a:pPr>
            <a:r>
              <a:rPr lang="en-US" sz="1100"/>
              <a:t>Focus on the existing task: Exit Ticket + Self-Check STUDENT MOVE · SELF-ASSESS • NAME YOUR NEXT STEP Brielle now awards 2 points for 4 matches. Andrew awards 3 points for 6 matches. Do the two games now have the same ratio?</a:t>
            </a:r>
          </a:p>
          <a:p xmlns:a="http://schemas.openxmlformats.org/drawingml/2006/main">
            <a:pPr>
              <a:buNone/>
            </a:pPr>
            <a:r>
              <a:rPr lang="en-US" sz="1100"/>
              <a:t>LAUNCH (T2/3/5): Gather an independent response before feedback. Students choose a suitable representation and justify it. Keep the first attempt separate from the revision.</a:t>
            </a:r>
          </a:p>
          <a:p xmlns:a="http://schemas.openxmlformats.org/drawingml/2006/main">
            <a:pPr>
              <a:buNone/>
            </a:pPr>
            <a:r>
              <a:rPr lang="en-US" sz="1100"/>
              <a:t>LOOK FOR (T4): Where this task addresses it, students can match one quantity before comparing. Ask which feature of their work supports the claim.</a:t>
            </a:r>
          </a:p>
          <a:p xmlns:a="http://schemas.openxmlformats.org/drawingml/2006/main">
            <a:pPr>
              <a:buNone/>
            </a:pPr>
            <a:r>
              <a:rPr lang="en-US" sz="1100"/>
              <a:t>RESPOND: If this task shows the lesson misconception—comparing unmatched amounts as if they were equivalent wholes—mark equivalent ratios that share one quantity before comparing the other.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Answer: Yes. For 12 matches each gives 6 points, or each gives 1 point per 2 matches. Give quiet thinking time before sharing. If a student is stuck, point back to the relevant worked model without doing the task for them. Give specific feedback, then allow a correction.</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match one quantity before comparing; preserve ratio order; justify the comparison. Respond with one specific next step tied to the work. Students revise and annotate what changed, then identify a criterion they can now demonstrate and one they still need to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3.5, slide 40 | REFERENCE</a:t>
            </a:r>
          </a:p>
          <a:p xmlns:a="http://schemas.openxmlformats.org/drawingml/2006/main">
            <a:pPr>
              <a:buNone/>
            </a:pPr>
            <a:r>
              <a:rPr lang="en-US" sz="1100"/>
              <a:t>Focus on the existing task: Teacher Reference — Fair Ratio Comparisons Hidden from the student slideshow; use checks to choose the next step. Session 1: compare the…</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Source: Baltimore City Public Schools, Updated Instructional Framework Rubric, June 2020. Teacher enactment determines the quality of instruction; this is a support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r3_slideLayout1.xml.rels><?xml version='1.0' encoding='UTF-8' standalone='yes'?>
<Relationships xmlns="http://schemas.openxmlformats.org/package/2006/relationships"><Relationship Id="R84925f25c9d14c9a" Type="http://schemas.openxmlformats.org/officeDocument/2006/relationships/slideMaster" Target="../slideMasters/r3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u3_slideLayout1.xml.rels><?xml version='1.0' encoding='UTF-8' standalone='yes'?>
<Relationships xmlns="http://schemas.openxmlformats.org/package/2006/relationships"><Relationship Id="Rafa1efd4fcfc4ccb" Type="http://schemas.openxmlformats.org/officeDocument/2006/relationships/slideMaster" Target="../slideMasters/u3_slideMaster1.xml"/></Relationships>
</file>

<file path=ppt/slideLayouts/r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chemeClr val="dk2"/>
                </a:solidFill>
                <a:latin typeface="Arial"/>
                <a:ea typeface="Arial"/>
                <a:cs typeface="Arial"/>
                <a:sym typeface="Arial"/>
              </a:defRPr>
            </a:lvl1pPr>
            <a:lvl2pPr indent="0" lvl="1" marL="0" marR="0" rtl="0" algn="r">
              <a:spcBef>
                <a:spcPts val="0"/>
              </a:spcBef>
              <a:buNone/>
              <a:defRPr sz="900">
                <a:solidFill>
                  <a:schemeClr val="dk2"/>
                </a:solidFill>
                <a:latin typeface="Arial"/>
                <a:ea typeface="Arial"/>
                <a:cs typeface="Arial"/>
                <a:sym typeface="Arial"/>
              </a:defRPr>
            </a:lvl2pPr>
            <a:lvl3pPr indent="0" lvl="2" marL="0" marR="0" rtl="0" algn="r">
              <a:spcBef>
                <a:spcPts val="0"/>
              </a:spcBef>
              <a:buNone/>
              <a:defRPr sz="900">
                <a:solidFill>
                  <a:schemeClr val="dk2"/>
                </a:solidFill>
                <a:latin typeface="Arial"/>
                <a:ea typeface="Arial"/>
                <a:cs typeface="Arial"/>
                <a:sym typeface="Arial"/>
              </a:defRPr>
            </a:lvl3pPr>
            <a:lvl4pPr indent="0" lvl="3" marL="0" marR="0" rtl="0" algn="r">
              <a:spcBef>
                <a:spcPts val="0"/>
              </a:spcBef>
              <a:buNone/>
              <a:defRPr sz="900">
                <a:solidFill>
                  <a:schemeClr val="dk2"/>
                </a:solidFill>
                <a:latin typeface="Arial"/>
                <a:ea typeface="Arial"/>
                <a:cs typeface="Arial"/>
                <a:sym typeface="Arial"/>
              </a:defRPr>
            </a:lvl4pPr>
            <a:lvl5pPr indent="0" lvl="4" marL="0" marR="0" rtl="0" algn="r">
              <a:spcBef>
                <a:spcPts val="0"/>
              </a:spcBef>
              <a:buNone/>
              <a:defRPr sz="900">
                <a:solidFill>
                  <a:schemeClr val="dk2"/>
                </a:solidFill>
                <a:latin typeface="Arial"/>
                <a:ea typeface="Arial"/>
                <a:cs typeface="Arial"/>
                <a:sym typeface="Arial"/>
              </a:defRPr>
            </a:lvl5pPr>
            <a:lvl6pPr indent="0" lvl="5" marL="0" marR="0" rtl="0" algn="r">
              <a:spcBef>
                <a:spcPts val="0"/>
              </a:spcBef>
              <a:buNone/>
              <a:defRPr sz="900">
                <a:solidFill>
                  <a:schemeClr val="dk2"/>
                </a:solidFill>
                <a:latin typeface="Arial"/>
                <a:ea typeface="Arial"/>
                <a:cs typeface="Arial"/>
                <a:sym typeface="Arial"/>
              </a:defRPr>
            </a:lvl6pPr>
            <a:lvl7pPr indent="0" lvl="6" marL="0" marR="0" rtl="0" algn="r">
              <a:spcBef>
                <a:spcPts val="0"/>
              </a:spcBef>
              <a:buNone/>
              <a:defRPr sz="900">
                <a:solidFill>
                  <a:schemeClr val="dk2"/>
                </a:solidFill>
                <a:latin typeface="Arial"/>
                <a:ea typeface="Arial"/>
                <a:cs typeface="Arial"/>
                <a:sym typeface="Arial"/>
              </a:defRPr>
            </a:lvl7pPr>
            <a:lvl8pPr indent="0" lvl="7" marL="0" marR="0" rtl="0" algn="r">
              <a:spcBef>
                <a:spcPts val="0"/>
              </a:spcBef>
              <a:buNone/>
              <a:defRPr sz="900">
                <a:solidFill>
                  <a:schemeClr val="dk2"/>
                </a:solidFill>
                <a:latin typeface="Arial"/>
                <a:ea typeface="Arial"/>
                <a:cs typeface="Arial"/>
                <a:sym typeface="Arial"/>
              </a:defRPr>
            </a:lvl8pPr>
            <a:lvl9pPr indent="0" lvl="8" marL="0" marR="0" rtl="0" algn="r">
              <a:spcBef>
                <a:spcPts val="0"/>
              </a:spcBef>
              <a:buNone/>
              <a:defRPr sz="9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u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r3_slideMaster1.xml.rels><?xml version='1.0' encoding='UTF-8' standalone='yes'?>
<Relationships xmlns="http://schemas.openxmlformats.org/package/2006/relationships"><Relationship Id="R00a0d5ba191c4733" Type="http://schemas.openxmlformats.org/officeDocument/2006/relationships/theme" Target="theme/r3_theme2.xml"/><Relationship Id="R66dd96881dd44e07" Type="http://schemas.openxmlformats.org/officeDocument/2006/relationships/slideLayout" Target="../slideLayouts/r3_slideLayout1.xml"/></Relationships>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3.xml"/></Relationships>
</file>

<file path=ppt/slideMasters/_rels/u3_slideMaster1.xml.rels><?xml version='1.0' encoding='UTF-8' standalone='yes'?>
<Relationships xmlns="http://schemas.openxmlformats.org/package/2006/relationships"><Relationship Id="R511e3efdc8524d21" Type="http://schemas.openxmlformats.org/officeDocument/2006/relationships/slideLayout" Target="../slideLayouts/u3_slideLayout1.xml"/><Relationship Id="Rbbb56d80129845c6" Type="http://schemas.openxmlformats.org/officeDocument/2006/relationships/theme" Target="theme/u3_theme2.xml"/></Relationships>
</file>

<file path=ppt/slideMasters/r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4" r:id="R66dd96881dd44e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chemeClr val="dk2"/>
                </a:solidFill>
                <a:latin typeface="Arial"/>
                <a:ea typeface="Arial"/>
                <a:cs typeface="Arial"/>
                <a:sym typeface="Arial"/>
              </a:rPr>
              <a:t>Copyright © McGraw Hill</a:t>
            </a:r>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a:p>
        </p:txBody>
      </p:sp>
    </p:spTree>
  </p:cSld>
  <p:clrMap accent1="accent1" accent2="accent2" accent3="accent3" accent4="accent4" accent5="accent5" accent6="accent6" bg1="lt1" bg2="dk2" tx1="dk1" tx2="lt2" folHlink="folHlink" hlink="hlink"/>
  <p:sldLayoutIdLst>
    <p:sldLayoutId id="2147483655" r:id="rId3"/>
    <p:sldLayoutId id="2147483656"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23" name="Google Shape;23;p4"/>
          <p:cNvSpPr txBox="1"/>
          <p:nvPr/>
        </p:nvSpPr>
        <p:spPr>
          <a:xfrm>
            <a:off x="1302337" y="6536643"/>
            <a:ext cx="4694822" cy="3246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00">
                <a:solidFill>
                  <a:schemeClr val="dk2"/>
                </a:solidFill>
                <a:latin typeface="Arial"/>
                <a:ea typeface="Arial"/>
                <a:cs typeface="Arial"/>
                <a:sym typeface="Arial"/>
              </a:rPr>
              <a:t>Compare Ratio Relationships</a:t>
            </a:r>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93" name="Google Shape;93;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94" name="Google Shape;94;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95" name="Google Shape;95;p16"/>
          <p:cNvSpPr txBox="1"/>
          <p:nvPr/>
        </p:nvSpPr>
        <p:spPr>
          <a:xfrm>
            <a:off x="1302337" y="6536643"/>
            <a:ext cx="4694822" cy="3246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00">
                <a:solidFill>
                  <a:schemeClr val="dk2"/>
                </a:solidFill>
                <a:latin typeface="Arial"/>
                <a:ea typeface="Arial"/>
                <a:cs typeface="Arial"/>
                <a:sym typeface="Arial"/>
              </a:rPr>
              <a:t>Compare Ratio Relationships</a:t>
            </a:r>
            <a:endParaRPr/>
          </a:p>
        </p:txBody>
      </p:sp>
    </p:spTree>
  </p:cSld>
  <p:clrMap accent1="accent1" accent2="accent2" accent3="accent3" accent4="accent4" accent5="accent5" accent6="accent6" bg1="lt1" bg2="dk2" tx1="dk1" tx2="lt2" folHlink="folHlink" hlink="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theme/r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u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u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0" r:id="R511e3efdc8524d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975a6b640e0d478f" Type="http://schemas.openxmlformats.org/officeDocument/2006/relationships/slideLayout" Target="../slideLayouts/slideLayout9.xml"/><Relationship Id="rIdWarmUpNotes" Type="http://schemas.openxmlformats.org/officeDocument/2006/relationships/notesSlide" Target="../notesSlides/notesSlide67.xml"/></Relationships>
</file>

<file path=ppt/slides/_rels/slide2.xml.rels><?xml version='1.0' encoding='UTF-8' standalone='yes'?>
<Relationships xmlns="http://schemas.openxmlformats.org/package/2006/relationships"><Relationship Id="R23c7b5893b1546c4" Type="http://schemas.openxmlformats.org/officeDocument/2006/relationships/slideLayout" Target="../slideLayouts/slideLayout9.xml"/><Relationship Id="R8d04e689a72c4687" Type="http://schemas.openxmlformats.org/officeDocument/2006/relationships/notesSlide" Target="../notesSlides/u3_notesSlide3.xml"/></Relationships>
</file>

<file path=ppt/slides/_rels/slide3.xml.rels><?xml version='1.0' encoding='UTF-8' standalone='yes'?>
<Relationships xmlns="http://schemas.openxmlformats.org/package/2006/relationships"><Relationship Id="R37dbfa1987254e32" Type="http://schemas.openxmlformats.org/officeDocument/2006/relationships/notesSlide" Target="../notesSlides/u3_notesSlide1.xml"/><Relationship Id="R975a6b640e0d478f"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7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7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7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7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7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notesSlide" Target="../notesSlides/notesSlide7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jpg"/><Relationship Id="rId3" Type="http://schemas.openxmlformats.org/officeDocument/2006/relationships/image" Target="../media/image3.png"/><Relationship Id="rId4" Type="http://schemas.openxmlformats.org/officeDocument/2006/relationships/notesSlide" Target="../notesSlides/notesSlide7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9335f7e4204e4451" Type="http://schemas.openxmlformats.org/officeDocument/2006/relationships/slideLayout" Target="../slideLayouts/slideLayout9.xml"/><Relationship Id="Rbb07ff3c4e2344b1" Type="http://schemas.openxmlformats.org/officeDocument/2006/relationships/notesSlide" Target="../notesSlides/r3_notesSlide1.xml"/></Relationships>
</file>

<file path=ppt/slides/_rels/slide14.xml.rels><?xml version='1.0' encoding='UTF-8' standalone='yes'?>
<Relationships xmlns="http://schemas.openxmlformats.org/package/2006/relationships"><Relationship Id="R51146aee2b3044c1" Type="http://schemas.openxmlformats.org/officeDocument/2006/relationships/slideLayout" Target="../slideLayouts/slideLayout9.xml"/><Relationship Id="Rb381162b635043fe" Type="http://schemas.openxmlformats.org/officeDocument/2006/relationships/notesSlide" Target="../notesSlides/r3_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19.xml.rels><?xml version='1.0' encoding='UTF-8' standalone='yes'?>
<Relationships xmlns="http://schemas.openxmlformats.org/package/2006/relationships"><Relationship Id="Rb6f5c551d1ed402a" Type="http://schemas.openxmlformats.org/officeDocument/2006/relationships/slideLayout" Target="../slideLayouts/slideLayout9.xml"/><Relationship Id="Re605b24d5c964e53" Type="http://schemas.openxmlformats.org/officeDocument/2006/relationships/notesSlide" Target="../notesSlides/u3_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png"/><Relationship Id="rId3" Type="http://schemas.openxmlformats.org/officeDocument/2006/relationships/notesSlide" Target="../notesSlides/notesSlide8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notesSlide" Target="../notesSlides/notesSlide8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82.xml"/></Relationships>
</file>

<file path=ppt/slides/_rels/slide23.xml.rels><?xml version='1.0' encoding='UTF-8' standalone='yes'?>
<Relationships xmlns="http://schemas.openxmlformats.org/package/2006/relationships"><Relationship Id="R975a6b640e0d478f" Type="http://schemas.openxmlformats.org/officeDocument/2006/relationships/slideLayout" Target="../slideLayouts/slideLayout9.xml"/><Relationship Id="rId1" Type="http://schemas.openxmlformats.org/officeDocument/2006/relationships/notesSlide" Target="../notesSlides/notesSlide68.xml"/></Relationships>
</file>

<file path=ppt/slides/_rels/slide24.xml.rels><?xml version='1.0' encoding='UTF-8' standalone='yes'?>
<Relationships xmlns="http://schemas.openxmlformats.org/package/2006/relationships"><Relationship Id="R23c7b5893b1546c4" Type="http://schemas.openxmlformats.org/officeDocument/2006/relationships/slideLayout" Target="../slideLayouts/slideLayout9.xml"/><Relationship Id="rId1" Type="http://schemas.openxmlformats.org/officeDocument/2006/relationships/notesSlide" Target="../notesSlides/notesSlide69.xml"/></Relationships>
</file>

<file path=ppt/slides/_rels/slide25.xml.rels><?xml version='1.0' encoding='UTF-8' standalone='yes'?>
<Relationships xmlns="http://schemas.openxmlformats.org/package/2006/relationships"><Relationship Id="R027998b632f54457" Type="http://schemas.openxmlformats.org/officeDocument/2006/relationships/notesSlide" Target="../notesSlides/u3_notesSlide2.xml"/><Relationship Id="Rcc0ac177f61345c2"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notesSlide" Target="../notesSlides/notesSlide8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5c61fe5753a04661" Type="http://schemas.openxmlformats.org/officeDocument/2006/relationships/notesSlide" Target="../notesSlides/r3_notesSlide3.xml"/><Relationship Id="Ra5344f7b0694485d"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20b0d20682ed43be" Type="http://schemas.openxmlformats.org/officeDocument/2006/relationships/slideLayout" Target="../slideLayouts/slideLayout9.xml"/><Relationship Id="R5b18aa8bbca541e3" Type="http://schemas.openxmlformats.org/officeDocument/2006/relationships/notesSlide" Target="../notesSlides/r3_notesSlide4.xml"/></Relationships>
</file>

<file path=ppt/slides/_rels/slide30.xml.rels><?xml version='1.0' encoding='UTF-8' standalone='yes'?>
<Relationships xmlns="http://schemas.openxmlformats.org/package/2006/relationships"><Relationship Id="R619882cedbdd433b" Type="http://schemas.openxmlformats.org/officeDocument/2006/relationships/slideLayout" Target="../slideLayouts/slideLayout9.xml"/><Relationship Id="Rc310c847ea0a454f" Type="http://schemas.openxmlformats.org/officeDocument/2006/relationships/notesSlide" Target="../notesSlides/u3_notes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8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6598b0c77f054adf" Type="http://schemas.openxmlformats.org/officeDocument/2006/relationships/slideLayout" Target="../slideLayouts/slideLayout9.xml"/><Relationship Id="Rc018df196c2e4f20" Type="http://schemas.openxmlformats.org/officeDocument/2006/relationships/notesSlide" Target="../notesSlides/u3_notesSlide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40.xml.rels><?xml version='1.0' encoding='UTF-8' standalone='yes'?>
<Relationships xmlns="http://schemas.openxmlformats.org/package/2006/relationships"><Relationship Id="R493155732bf94d64" Type="http://schemas.openxmlformats.org/officeDocument/2006/relationships/notesSlide" Target="../notesSlides/u3_notesSlide7.xml"/><Relationship Id="Reaad88a193ab4018"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700" b="0">
                <a:solidFill>
                  <a:srgbClr val="5D6872"/>
                </a:solidFill>
                <a:latin typeface="Arial"/>
              </a:rPr>
              <a:t>Lesson 3-5 · Comparing Ratio Relationships   |   Warm-Up · about 4 minutes</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200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Which number is greater:</a:t>
            </a:r>
          </a:p>
          <a:p>
            <a:pPr algn="l"/>
            <a:r>
              <a:rPr sz="1800" b="1">
                <a:solidFill>
                  <a:srgbClr val="23282D"/>
                </a:solidFill>
                <a:latin typeface="Arial"/>
              </a:rPr>
              <a:t>12 or 9? ______</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What do you multiply 3 by to get 12? ______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Fill in the missing number:</a:t>
            </a:r>
          </a:p>
          <a:p>
            <a:pPr algn="l"/>
            <a:r>
              <a:rPr sz="1800" b="1">
                <a:solidFill>
                  <a:srgbClr val="23282D"/>
                </a:solidFill>
                <a:latin typeface="Arial"/>
              </a:rPr>
              <a:t>2 : 5  =  4 : ______</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Kai reads 20 pages in 2 days.</a:t>
            </a:r>
          </a:p>
          <a:p>
            <a:pPr algn="l"/>
            <a:r>
              <a:rPr sz="1800" b="1">
                <a:solidFill>
                  <a:srgbClr val="23282D"/>
                </a:solidFill>
                <a:latin typeface="Arial"/>
              </a:rPr>
              <a:t>How many pages in 1 day? ______</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42</a:t>
            </a:r>
          </a:p>
        </p:txBody>
      </p:sp>
    </p:spTree>
    <p:extLst>
      <p:ext uri="{BB962C8B-B14F-4D97-AF65-F5344CB8AC3E}">
        <p14:creationId xmlns:p14="http://schemas.microsoft.com/office/powerpoint/2010/main" val="5918044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502920" y="365760"/>
            <a:ext cx="8229600" cy="502920"/>
          </a:xfrm>
          <a:prstGeom prst="rect">
            <a:avLst/>
          </a:prstGeom>
          <a:noFill/>
        </p:spPr>
        <p:txBody>
          <a:bodyPr wrap="square" lIns="0" tIns="0" rIns="0" bIns="0" anchor="t">
            <a:spAutoFit/>
          </a:bodyPr>
          <a:lstStyle/>
          <a:p>
            <a:pPr algn="l"/>
            <a:r>
              <a:rPr sz="3000" b="1">
                <a:solidFill>
                  <a:srgbClr val="782DA0"/>
                </a:solidFill>
                <a:latin typeface="Arial"/>
              </a:rPr>
              <a:t>Today’s Math Notes — Session 1</a:t>
            </a:r>
          </a:p>
        </p:txBody>
      </p:sp>
      <p:sp xmlns:a="http://schemas.openxmlformats.org/drawingml/2006/main">
        <p:nvSpPr>
          <p:cNvPr id="3"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NOTES</a:t>
            </a:r>
            <a:r>
              <a:rPr lang="en-US" sz="1150" b="1" dirty="0">
                <a:solidFill>
                  <a:srgbClr val="2D3A40"/>
                </a:solidFill>
                <a:latin typeface="Arial"/>
              </a:rPr>
              <a:t xml:space="preserve">  ·  COPY LESS • UNDERSTAND MORE</a:t>
            </a:r>
          </a:p>
        </p:txBody>
      </p:sp>
      <p:sp xmlns:a="http://schemas.openxmlformats.org/drawingml/2006/main">
        <p:nvSpPr>
          <p:cNvPr id="5" name="Rounded Rectangle 6"/>
          <p:cNvSpPr/>
          <p:nvPr/>
        </p:nvSpPr>
        <p:spPr>
          <a:xfrm>
            <a:off x="502920" y="1371600"/>
            <a:ext cx="5486400" cy="4160520"/>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6" name="Rectangle 7"/>
          <p:cNvSpPr/>
          <p:nvPr/>
        </p:nvSpPr>
        <p:spPr>
          <a:xfrm>
            <a:off x="502920" y="1371600"/>
            <a:ext cx="73152" cy="416052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7" name="TextBox 8"/>
          <p:cNvSpPr txBox="1"/>
          <p:nvPr/>
        </p:nvSpPr>
        <p:spPr>
          <a:xfrm>
            <a:off x="667512" y="1508760"/>
            <a:ext cx="5166360" cy="228600"/>
          </a:xfrm>
          <a:prstGeom prst="rect">
            <a:avLst/>
          </a:prstGeom>
          <a:noFill/>
        </p:spPr>
        <p:txBody>
          <a:bodyPr wrap="square" lIns="0" tIns="0" rIns="0" bIns="0" anchor="t">
            <a:spAutoFit/>
          </a:bodyPr>
          <a:lstStyle/>
          <a:p>
            <a:pPr algn="l"/>
            <a:r>
              <a:rPr sz="1400" b="1">
                <a:solidFill>
                  <a:srgbClr val="01708C"/>
                </a:solidFill>
                <a:latin typeface="Arial"/>
              </a:rPr>
              <a:t>MAKE A FAIR COMPARISON</a:t>
            </a:r>
          </a:p>
        </p:txBody>
      </p:sp>
      <p:sp xmlns:a="http://schemas.openxmlformats.org/drawingml/2006/main">
        <p:nvSpPr>
          <p:cNvPr id="8" name="TextBox 9"/>
          <p:cNvSpPr txBox="1"/>
          <p:nvPr/>
        </p:nvSpPr>
        <p:spPr>
          <a:xfrm>
            <a:off x="667512" y="1810512"/>
            <a:ext cx="5166360" cy="3630168"/>
          </a:xfrm>
          <a:prstGeom prst="rect">
            <a:avLst/>
          </a:prstGeom>
          <a:noFill/>
        </p:spPr>
        <p:txBody>
          <a:bodyPr wrap="square" lIns="0" tIns="0" rIns="0" bIns="0" anchor="t">
            <a:spAutoFit/>
          </a:bodyPr>
          <a:lstStyle/>
          <a:p>
            <a:pPr algn="l"/>
            <a:r>
              <a:rPr sz="2300" b="0">
                <a:solidFill>
                  <a:srgbClr val="23282D"/>
                </a:solidFill>
                <a:latin typeface="Arial"/>
              </a:rPr>
              <a:t xml:space="preserve">Keep the </a:t>
            </a:r>
            <a:r>
              <a:rPr sz="2300" b="1">
                <a:solidFill>
                  <a:srgbClr val="23282D"/>
                </a:solidFill>
                <a:latin typeface="Arial"/>
              </a:rPr>
              <a:t xml:space="preserve">quantities</a:t>
            </a:r>
            <a:r>
              <a:rPr sz="2300" b="0">
                <a:solidFill>
                  <a:srgbClr val="23282D"/>
                </a:solidFill>
                <a:latin typeface="Arial"/>
              </a:rPr>
              <a:t xml:space="preserve"> in the same order. Make the red amounts equal. Then </a:t>
            </a:r>
            <a:r>
              <a:rPr sz="2300" b="1">
                <a:solidFill>
                  <a:srgbClr val="23282D"/>
                </a:solidFill>
                <a:latin typeface="Arial"/>
              </a:rPr>
              <a:t xml:space="preserve">compare</a:t>
            </a:r>
            <a:r>
              <a:rPr sz="2300" b="0">
                <a:solidFill>
                  <a:srgbClr val="23282D"/>
                </a:solidFill>
                <a:latin typeface="Arial"/>
              </a:rPr>
              <a:t xml:space="preserve"> blue.</a:t>
            </a:r>
          </a:p>
          <a:p>
            <a:pPr algn="l"/>
            <a:r>
              <a:rPr sz="2300" b="0">
                <a:solidFill>
                  <a:srgbClr val="23282D"/>
                </a:solidFill>
                <a:latin typeface="Arial"/>
              </a:rPr>
              <a:t/>
            </a:r>
          </a:p>
          <a:p>
            <a:pPr algn="l"/>
            <a:r>
              <a:rPr sz="2300" b="1">
                <a:solidFill>
                  <a:srgbClr val="23282D"/>
                </a:solidFill>
                <a:latin typeface="Arial"/>
              </a:rPr>
              <a:t xml:space="preserve">Scale</a:t>
            </a:r>
            <a:r>
              <a:rPr sz="2300" b="0">
                <a:solidFill>
                  <a:srgbClr val="23282D"/>
                </a:solidFill>
                <a:latin typeface="Arial"/>
              </a:rPr>
              <a:t xml:space="preserve"> BOTH quantities in each </a:t>
            </a:r>
            <a:r>
              <a:rPr sz="2300" b="1">
                <a:solidFill>
                  <a:srgbClr val="23282D"/>
                </a:solidFill>
                <a:latin typeface="Arial"/>
              </a:rPr>
              <a:t xml:space="preserve">ratio</a:t>
            </a:r>
            <a:r>
              <a:rPr sz="2300" b="0">
                <a:solidFill>
                  <a:srgbClr val="23282D"/>
                </a:solidFill>
                <a:latin typeface="Arial"/>
              </a:rPr>
              <a:t xml:space="preserve">.</a:t>
            </a:r>
          </a:p>
        </p:txBody>
      </p:sp>
      <p:sp xmlns:a="http://schemas.openxmlformats.org/drawingml/2006/main">
        <p:nvSpPr>
          <p:cNvPr id="9" name="Rounded Rectangle 10"/>
          <p:cNvSpPr/>
          <p:nvPr/>
        </p:nvSpPr>
        <p:spPr>
          <a:xfrm>
            <a:off x="6245352" y="1371600"/>
            <a:ext cx="5394960" cy="4160520"/>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0" name="Rectangle 11"/>
          <p:cNvSpPr/>
          <p:nvPr/>
        </p:nvSpPr>
        <p:spPr>
          <a:xfrm>
            <a:off x="6245352" y="1371600"/>
            <a:ext cx="73152" cy="4160520"/>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1" name="TextBox 12"/>
          <p:cNvSpPr txBox="1"/>
          <p:nvPr/>
        </p:nvSpPr>
        <p:spPr>
          <a:xfrm>
            <a:off x="6409944" y="1508760"/>
            <a:ext cx="5074920" cy="228600"/>
          </a:xfrm>
          <a:prstGeom prst="rect">
            <a:avLst/>
          </a:prstGeom>
          <a:noFill/>
        </p:spPr>
        <p:txBody>
          <a:bodyPr wrap="square" lIns="0" tIns="0" rIns="0" bIns="0" anchor="t">
            <a:spAutoFit/>
          </a:bodyPr>
          <a:lstStyle/>
          <a:p>
            <a:pPr algn="l"/>
            <a:r>
              <a:rPr sz="1400" b="1">
                <a:solidFill>
                  <a:srgbClr val="C8430E"/>
                </a:solidFill>
                <a:latin typeface="Arial"/>
              </a:rPr>
              <a:t>SAME RED → COMPARE BLUE</a:t>
            </a:r>
          </a:p>
        </p:txBody>
      </p:sp>
      <p:sp xmlns:a="http://schemas.openxmlformats.org/drawingml/2006/main">
        <p:nvSpPr>
          <p:cNvPr id="12" name="TextBox 13"/>
          <p:cNvSpPr txBox="1"/>
          <p:nvPr/>
        </p:nvSpPr>
        <p:spPr>
          <a:xfrm>
            <a:off x="6409944" y="1810512"/>
            <a:ext cx="5074920" cy="3630168"/>
          </a:xfrm>
          <a:prstGeom prst="rect">
            <a:avLst/>
          </a:prstGeom>
          <a:noFill/>
        </p:spPr>
        <p:txBody>
          <a:bodyPr wrap="square" lIns="0" tIns="0" rIns="0" bIns="0" anchor="t">
            <a:spAutoFit/>
          </a:bodyPr>
          <a:lstStyle/>
          <a:p>
            <a:pPr algn="l"/>
            <a:r>
              <a:rPr sz="2300" b="0">
                <a:solidFill>
                  <a:srgbClr val="23282D"/>
                </a:solidFill>
                <a:latin typeface="Arial"/>
              </a:rPr>
              <a:t>Reginald: 6 red, 8 blue</a:t>
            </a:r>
          </a:p>
          <a:p>
            <a:pPr algn="l"/>
            <a:r>
              <a:rPr sz="2300" b="0">
                <a:solidFill>
                  <a:srgbClr val="23282D"/>
                </a:solidFill>
                <a:latin typeface="Arial"/>
              </a:rPr>
              <a:t>Anwar: 6 red, 9 blue</a:t>
            </a:r>
          </a:p>
          <a:p>
            <a:pPr algn="l"/>
            <a:r>
              <a:rPr sz="2300" b="0">
                <a:solidFill>
                  <a:srgbClr val="23282D"/>
                </a:solidFill>
                <a:latin typeface="Arial"/>
              </a:rPr>
              <a:t/>
            </a:r>
          </a:p>
          <a:p>
            <a:pPr algn="l"/>
            <a:r>
              <a:rPr sz="2300" b="0">
                <a:solidFill>
                  <a:srgbClr val="23282D"/>
                </a:solidFill>
                <a:latin typeface="Arial"/>
              </a:rPr>
              <a:t>“For the same 6 red cans, Anwar has more blue because 9 &gt; 8.”</a:t>
            </a:r>
          </a:p>
        </p:txBody>
      </p:sp>
      <p:sp xmlns:a="http://schemas.openxmlformats.org/drawingml/2006/main">
        <p:nvSpPr>
          <p:cNvPr id="13" name="Rounded Rectangle 17"/>
          <p:cNvSpPr/>
          <p:nvPr/>
        </p:nvSpPr>
        <p:spPr>
          <a:xfrm>
            <a:off x="594360" y="5669280"/>
            <a:ext cx="10972800" cy="5029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4" name="Rectangle 18"/>
          <p:cNvSpPr/>
          <p:nvPr/>
        </p:nvSpPr>
        <p:spPr>
          <a:xfrm>
            <a:off x="594360" y="5669280"/>
            <a:ext cx="73152" cy="5029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TextBox 19"/>
          <p:cNvSpPr txBox="1"/>
          <p:nvPr/>
        </p:nvSpPr>
        <p:spPr>
          <a:xfrm>
            <a:off x="758952" y="5806440"/>
            <a:ext cx="10652760" cy="228600"/>
          </a:xfrm>
          <a:prstGeom prst="rect">
            <a:avLst/>
          </a:prstGeom>
          <a:noFill/>
        </p:spPr>
        <p:txBody>
          <a:bodyPr wrap="square" lIns="0" tIns="0" rIns="0" bIns="0" anchor="t">
            <a:spAutoFit/>
          </a:bodyPr>
          <a:lstStyle/>
          <a:p>
            <a:pPr algn="l"/>
            <a:r>
              <a:rPr sz="1400" b="1">
                <a:solidFill>
                  <a:srgbClr val="782DA0"/>
                </a:solidFill>
                <a:latin typeface="Arial"/>
              </a:rPr>
              <a:t/>
            </a:r>
          </a:p>
        </p:txBody>
      </p:sp>
      <p:sp xmlns:a="http://schemas.openxmlformats.org/drawingml/2006/main">
        <p:nvSpPr>
          <p:cNvPr id="16" name="TextBox 20"/>
          <p:cNvSpPr txBox="1"/>
          <p:nvPr/>
        </p:nvSpPr>
        <p:spPr>
          <a:xfrm>
            <a:off x="758952" y="5742432"/>
            <a:ext cx="10515600" cy="274320"/>
          </a:xfrm>
          <a:prstGeom prst="rect">
            <a:avLst/>
          </a:prstGeom>
          <a:noFill/>
        </p:spPr>
        <p:txBody>
          <a:bodyPr wrap="square" lIns="0" tIns="0" rIns="0" bIns="0" anchor="t">
            <a:spAutoFit/>
          </a:bodyPr>
          <a:lstStyle/>
          <a:p>
            <a:pPr algn="l"/>
            <a:r>
              <a:rPr sz="1700" b="0">
                <a:solidFill>
                  <a:srgbClr val="23282D"/>
                </a:solidFill>
                <a:latin typeface="Arial"/>
              </a:rPr>
              <a:t>Same quantity first. Compare and explain the other.</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 / 42</ns3:t>
            </ns3:r>
          </ns3:p>
        </p:txBody>
      </p:sp>
    </p:spTree>
    <p:extLst>
      <p:ext uri="{BB962C8B-B14F-4D97-AF65-F5344CB8AC3E}">
        <p14:creationId xmlns:p14="http://schemas.microsoft.com/office/powerpoint/2010/main" val="2142243281"/>
      </p:ext>
    </p:extLst>
  </p:cSld>
</p:sld>
</file>

<file path=ppt/slides/slide3.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Learning Target — Session 1</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700" b="0">
                <a:solidFill>
                  <a:srgbClr val="5D6872"/>
                </a:solidFill>
                <a:latin typeface="Arial"/>
              </a:rPr>
              <a:t>Lesson 3-5 · Comparing Ratio Relationships | Maryland Standard 6.AT.3</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LEARNING TARGET</a:t>
            </a:r>
            <a:r>
              <a:rPr lang="en-US" sz="1150" b="1" dirty="0">
                <a:solidFill>
                  <a:srgbClr val="2D3A40"/>
                </a:solidFill>
                <a:latin typeface="Arial"/>
              </a:rPr>
              <a:t xml:space="preserve">  ·  MATCH • COMPARE • JUSTIFY</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2000" b="0">
                <a:solidFill>
                  <a:srgbClr val="5D6872"/>
                </a:solidFill>
                <a:latin typeface="Arial"/>
              </a:rPr>
              <a:t>Today I will make a fair comparison by matching one quantity in each ratio.</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2200" b="1">
                <a:solidFill>
                  <a:srgbClr val="23282D"/>
                </a:solidFill>
                <a:latin typeface="Arial"/>
              </a:rPr>
              <a:t>I can compare two mixtures using equivalent ratios.</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2200" b="1">
                <a:solidFill>
                  <a:srgbClr val="23282D"/>
                </a:solidFill>
                <a:latin typeface="Arial"/>
              </a:rPr>
              <a:t>I can explain a fair comparison using “for the same amount of.”</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2000" b="0">
                <a:solidFill>
                  <a:srgbClr val="23282D"/>
                </a:solidFill>
                <a:latin typeface="Arial"/>
              </a:rPr>
              <a:t>✓ Keep red and blue in the same order.</a:t>
            </a:r>
          </a:p>
          <a:p>
            <a:pPr algn="l"/>
            <a:r>
              <a:rPr sz="2000" b="0">
                <a:solidFill>
                  <a:srgbClr val="23282D"/>
                </a:solidFill>
                <a:latin typeface="Arial"/>
              </a:rPr>
              <a:t>✓ Make the amount of red equal.</a:t>
            </a:r>
          </a:p>
          <a:p>
            <a:pPr algn="l"/>
            <a:r>
              <a:rPr sz="2000" b="0">
                <a:solidFill>
                  <a:srgbClr val="23282D"/>
                </a:solidFill>
                <a:latin typeface="Arial"/>
              </a:rPr>
              <a:t>✓ Compare blue for that amount of red.</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2100" b="0">
                <a:latin typeface="Arial"/>
              </a:rPr>
              <a:t>Fair ratio comparisons help us judge mixtures and prices.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MATH COMMUNITY:  Different strategies are welcome  •  Ask before telling  •  Revising your thinking is part of learning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42</a:t>
            </a:r>
          </a:p>
        </p:txBody>
      </p:sp>
    </p:spTree>
    <p:extLst>
      <p:ext uri="{BB962C8B-B14F-4D97-AF65-F5344CB8AC3E}">
        <p14:creationId xmlns:p14="http://schemas.microsoft.com/office/powerpoint/2010/main" val="591804437"/>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1" name="Google Shape;391;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6</a:t>
            </a:r>
            <a:endParaRPr/>
          </a:p>
        </p:txBody>
      </p:sp>
      <p:sp>
        <p:nvSpPr>
          <p:cNvPr id="394" name="Google Shape;394;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3-5 · Compare Ratio Relationships</a:t>
            </a:r>
            <a:endParaRPr/>
          </a:p>
        </p:txBody>
      </p:sp>
      <p:sp>
        <p:nvSpPr>
          <p:cNvPr id="395" name="Google Shape;395;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7" name="Google Shape;397;p46"/>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Compare Ratios</a:t>
            </a:r>
            <a:endParaRPr/>
          </a:p>
        </p:txBody>
      </p:sp>
      <p:sp>
        <p:nvSpPr>
          <p:cNvPr id="398" name="Google Shape;398;p46"/>
          <p:cNvSpPr/>
          <p:nvPr/>
        </p:nvSpPr>
        <p:spPr>
          <a:xfrm>
            <a:off x="658368" y="2737866"/>
            <a:ext cx="166420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Decide which ratio is greater, less, or equal by using equivalent ratios or unit rates.</a:t>
            </a:r>
            <a:endParaRPr/>
          </a:p>
        </p:txBody>
      </p:sp>
      <p:sp>
        <p:nvSpPr>
          <p:cNvPr id="400" name="Google Shape;400;p46"/>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3" name="Google Shape;403;p46"/>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Compare 6:2 and 8:4 using unit rates: 3 &gt; 2.</a:t>
            </a:r>
            <a:endParaRPr/>
          </a:p>
        </p:txBody>
      </p:sp>
      <p:pic>
        <p:nvPicPr>
          <p:cNvPr descr="concept-compare-ratios.png" id="404" name="Google Shape;404;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“Compare Ratios”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9" name="Google Shape;409;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412" name="Google Shape;412;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3-5 · Compare Ratio Relationships</a:t>
            </a:r>
            <a:endParaRPr/>
          </a:p>
        </p:txBody>
      </p:sp>
      <p:sp>
        <p:nvSpPr>
          <p:cNvPr id="413" name="Google Shape;413;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5" name="Google Shape;415;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Unit rate</a:t>
            </a:r>
            <a:endParaRPr/>
          </a:p>
        </p:txBody>
      </p:sp>
      <p:sp>
        <p:nvSpPr>
          <p:cNvPr id="416" name="Google Shape;416;p47"/>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rate for just 1 of something, like cost for 1 item.</a:t>
            </a:r>
            <a:endParaRPr/>
          </a:p>
        </p:txBody>
      </p:sp>
      <p:sp>
        <p:nvSpPr>
          <p:cNvPr id="418" name="Google Shape;418;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1" name="Google Shape;421;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per 1 pound → unit rate is $3/lb</a:t>
            </a:r>
            <a:endParaRPr/>
          </a:p>
        </p:txBody>
      </p:sp>
      <p:pic>
        <p:nvPicPr>
          <p:cNvPr descr="unit-rate.png" id="422" name="Google Shape;422;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“Unit rate” to explain the example. Point to evidence.</a:t>
            </a:r>
            <a:endParaRPr lang="en-US" sz="20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7" name="Google Shape;427;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30" name="Google Shape;430;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3-5 · Compare Ratio Relationships</a:t>
            </a:r>
            <a:endParaRPr/>
          </a:p>
        </p:txBody>
      </p:sp>
      <p:sp>
        <p:nvSpPr>
          <p:cNvPr id="431" name="Google Shape;431;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3" name="Google Shape;433;p48"/>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Equivalent ratio</a:t>
            </a:r>
            <a:endParaRPr/>
          </a:p>
        </p:txBody>
      </p:sp>
      <p:sp>
        <p:nvSpPr>
          <p:cNvPr id="434" name="Google Shape;434;p48"/>
          <p:cNvSpPr/>
          <p:nvPr/>
        </p:nvSpPr>
        <p:spPr>
          <a:xfrm>
            <a:off x="658368" y="2913888"/>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ratios that mean the same thing.</a:t>
            </a:r>
            <a:endParaRPr/>
          </a:p>
        </p:txBody>
      </p:sp>
      <p:sp>
        <p:nvSpPr>
          <p:cNvPr id="436" name="Google Shape;436;p48"/>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8"/>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9" name="Google Shape;439;p48"/>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4:6 and 2:3 are equivalent (both simplify to 2:3)</a:t>
            </a:r>
            <a:endParaRPr/>
          </a:p>
        </p:txBody>
      </p:sp>
      <p:pic>
        <p:nvPicPr>
          <p:cNvPr descr="equivalent-ratio.png" id="440" name="Google Shape;440;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“Equivalent ratio”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5" name="Google Shape;445;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48" name="Google Shape;448;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3-5 · Compare Ratio Relationships</a:t>
            </a:r>
            <a:endParaRPr/>
          </a:p>
        </p:txBody>
      </p:sp>
      <p:sp>
        <p:nvSpPr>
          <p:cNvPr id="449" name="Google Shape;449;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1" name="Google Shape;451;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Compare</a:t>
            </a:r>
            <a:endParaRPr/>
          </a:p>
        </p:txBody>
      </p:sp>
      <p:sp>
        <p:nvSpPr>
          <p:cNvPr id="452" name="Google Shape;452;p49"/>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look at ratios and see which is bigger, smaller, or equal.</a:t>
            </a:r>
            <a:endParaRPr/>
          </a:p>
        </p:txBody>
      </p:sp>
      <p:sp>
        <p:nvSpPr>
          <p:cNvPr id="454" name="Google Shape;454;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7" name="Google Shape;457;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3:4 vs. 2:5 — which has more of the first ingredient per unit?</a:t>
            </a:r>
            <a:endParaRPr/>
          </a:p>
        </p:txBody>
      </p:sp>
      <p:pic>
        <p:nvPicPr>
          <p:cNvPr descr="inequality.png" id="458" name="Google Shape;458;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7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“Compare” to explain the example. Point to 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3" name="Google Shape;463;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66" name="Google Shape;466;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3-5 · Compare Ratio Relationships</a:t>
            </a:r>
            <a:endParaRPr/>
          </a:p>
        </p:txBody>
      </p:sp>
      <p:sp>
        <p:nvSpPr>
          <p:cNvPr id="467" name="Google Shape;467;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9" name="Google Shape;469;p50"/>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Simplify</a:t>
            </a:r>
            <a:endParaRPr/>
          </a:p>
        </p:txBody>
      </p:sp>
      <p:sp>
        <p:nvSpPr>
          <p:cNvPr id="470" name="Google Shape;470;p50"/>
          <p:cNvSpPr/>
          <p:nvPr/>
        </p:nvSpPr>
        <p:spPr>
          <a:xfrm>
            <a:off x="658368" y="2561844"/>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write a ratio with smaller numbers that still compares the same way. 6:8 and 3:4 are the same ratio.</a:t>
            </a:r>
            <a:endParaRPr/>
          </a:p>
        </p:txBody>
      </p:sp>
      <p:sp>
        <p:nvSpPr>
          <p:cNvPr id="472" name="Google Shape;472;p50"/>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0"/>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5" name="Google Shape;475;p50"/>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8:12 → divide both by 4 → 2:3</a:t>
            </a:r>
            <a:endParaRPr/>
          </a:p>
        </p:txBody>
      </p:sp>
      <p:pic>
        <p:nvPicPr>
          <p:cNvPr descr="equivalent-ratio.png" id="476" name="Google Shape;476;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“Simplify”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1" name="Google Shape;481;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84" name="Google Shape;484;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3-5 · Compare Ratio Relationships</a:t>
            </a:r>
            <a:endParaRPr/>
          </a:p>
        </p:txBody>
      </p:sp>
      <p:sp>
        <p:nvSpPr>
          <p:cNvPr id="485" name="Google Shape;485;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7" name="Google Shape;487;p51"/>
          <p:cNvSpPr txBox="1"/>
          <p:nvPr/>
        </p:nvSpPr>
        <p:spPr>
          <a:xfrm>
            <a:off x="640080" y="1906524"/>
            <a:ext cx="5897880" cy="77266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350" u="none" cap="none" strike="noStrike">
                <a:solidFill>
                  <a:srgbClr val="14223A"/>
                </a:solidFill>
                <a:latin typeface="Arial"/>
                <a:ea typeface="Arial"/>
                <a:cs typeface="Arial"/>
                <a:sym typeface="Arial"/>
              </a:rPr>
              <a:t>Common denominator</a:t>
            </a:r>
            <a:endParaRPr/>
          </a:p>
        </p:txBody>
      </p:sp>
      <p:sp>
        <p:nvSpPr>
          <p:cNvPr id="488" name="Google Shape;488;p51"/>
          <p:cNvSpPr/>
          <p:nvPr/>
        </p:nvSpPr>
        <p:spPr>
          <a:xfrm>
            <a:off x="658368" y="2734056"/>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640080" y="309524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bottom number that two fractions can share so you can compare them.</a:t>
            </a:r>
            <a:endParaRPr/>
          </a:p>
        </p:txBody>
      </p:sp>
      <p:sp>
        <p:nvSpPr>
          <p:cNvPr id="490" name="Google Shape;490;p51"/>
          <p:cNvSpPr/>
          <p:nvPr/>
        </p:nvSpPr>
        <p:spPr>
          <a:xfrm>
            <a:off x="640080" y="421995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p:nvPr/>
        </p:nvSpPr>
        <p:spPr>
          <a:xfrm>
            <a:off x="640080" y="421995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txBox="1"/>
          <p:nvPr/>
        </p:nvSpPr>
        <p:spPr>
          <a:xfrm>
            <a:off x="932688" y="439369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3" name="Google Shape;493;p51"/>
          <p:cNvSpPr txBox="1"/>
          <p:nvPr/>
        </p:nvSpPr>
        <p:spPr>
          <a:xfrm>
            <a:off x="932688" y="469544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To compare 3/5 and 4/7, use LCD 35: 21/35 vs 20/35</a:t>
            </a:r>
            <a:endParaRPr/>
          </a:p>
        </p:txBody>
      </p:sp>
      <p:pic>
        <p:nvPicPr>
          <p:cNvPr descr="fraction.png" id="494" name="Google Shape;494;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“Common denominator”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61" name="Google Shape;561;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2" name="Google Shape;562;p55"/>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63" name="Google Shape;563;p55"/>
          <p:cNvSpPr txBox="1"/>
          <p:nvPr/>
        </p:nvSpPr>
        <p:spPr>
          <a:xfrm>
            <a:off x="484560" y="936100"/>
            <a:ext cx="7705762"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descr="Background pattern&#10;&#10;Description automatically generated" id="564" name="Google Shape;564;p55"/>
          <p:cNvPicPr preferRelativeResize="0"/>
          <p:nvPr/>
        </p:nvPicPr>
        <p:blipFill rotWithShape="1">
          <a:blip r:embed="rId2">
            <a:alphaModFix/>
          </a:blip>
          <a:srcRect b="0" l="0" r="0" t="0"/>
          <a:stretch/>
        </p:blipFill>
        <p:spPr>
          <a:xfrm>
            <a:off x="4340828" y="868272"/>
            <a:ext cx="3993718" cy="3993718"/>
          </a:xfrm>
          <a:prstGeom prst="rect">
            <a:avLst/>
          </a:prstGeom>
          <a:noFill/>
          <a:ln>
            <a:noFill/>
          </a:ln>
        </p:spPr>
      </p:pic>
      <p:pic>
        <p:nvPicPr>
          <p:cNvPr id="565" name="Google Shape;565;p55"/>
          <p:cNvPicPr preferRelativeResize="0"/>
          <p:nvPr/>
        </p:nvPicPr>
        <p:blipFill rotWithShape="1">
          <a:blip r:embed="rId3">
            <a:alphaModFix/>
          </a:blip>
          <a:srcRect b="0" l="0" r="0" t="0"/>
          <a:stretch/>
        </p:blipFill>
        <p:spPr>
          <a:xfrm>
            <a:off x="484560" y="5151528"/>
            <a:ext cx="5054600" cy="838200"/>
          </a:xfrm>
          <a:prstGeom prst="rect">
            <a:avLst/>
          </a:prstGeom>
          <a:noFill/>
          <a:ln>
            <a:noFill/>
          </a:ln>
        </p:spPr>
      </p:pic>
      <p:sp>
        <p:nvSpPr>
          <p:cNvPr id="566" name="Google Shape;566;p55"/>
          <p:cNvSpPr txBox="1"/>
          <p:nvPr/>
        </p:nvSpPr>
        <p:spPr>
          <a:xfrm>
            <a:off x="3344577" y="530884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67" name="Google Shape;567;p55"/>
          <p:cNvSpPr/>
          <p:nvPr/>
        </p:nvSpPr>
        <p:spPr>
          <a:xfrm>
            <a:off x="697756" y="5966851"/>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creative thinking help you solve a math problem?</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50474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cxnSp>
        <p:nvCxnSpPr>
          <p:cNvPr id="241" name="Google Shape;241;p41"/>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242" name="Google Shape;242;p41"/>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lang="en-US" sz="2800">
                <a:latin typeface="Arial"/>
                <a:ea typeface="Arial"/>
                <a:cs typeface="Arial"/>
                <a:sym typeface="Arial"/>
                <a:solidFill>
                  <a:srgbClr val="782DA0"/>
                </a:solidFill>
              </a:rPr>
              <a:t>More or Less Than 50</a:t>
            </a:r>
            <a:endParaRPr/>
          </a:p>
        </p:txBody>
      </p:sp>
      <p:sp>
        <p:nvSpPr>
          <p:cNvPr id="243" name="Google Shape;243;p41"/>
          <p:cNvSpPr txBox="1"/>
          <p:nvPr/>
        </p:nvSpPr>
        <p:spPr>
          <a:xfrm>
            <a:off x="956343" y="2775548"/>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rgbClr val="23282D"/>
                </a:solidFill>
                <a:latin typeface="Cambria Math"/>
                <a:ea typeface="Cambria Math"/>
                <a:cs typeface="Cambria Math"/>
                <a:sym typeface="Cambria Math"/>
              </a:rPr>
              <a:t>0.49 + 37.9</a:t>
            </a:r>
            <a:endParaRPr/>
          </a:p>
        </p:txBody>
      </p:sp>
      <p:sp>
        <p:nvSpPr>
          <p:cNvPr id="244" name="Google Shape;244;p41"/>
          <p:cNvSpPr txBox="1"/>
          <p:nvPr/>
        </p:nvSpPr>
        <p:spPr>
          <a:xfrm>
            <a:off x="4188274" y="2775546"/>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mbria Math"/>
                <a:ea typeface="Cambria Math"/>
                <a:cs typeface="Cambria Math"/>
                <a:sym typeface="Cambria Math"/>
              </a:rPr>
              <a:t>23.87 + 28.05</a:t>
            </a:r>
            <a:endParaRPr i="1" sz="2800">
              <a:solidFill>
                <a:srgbClr val="262626"/>
              </a:solidFill>
              <a:latin typeface="Cambria Math"/>
              <a:ea typeface="Cambria Math"/>
              <a:cs typeface="Cambria Math"/>
              <a:sym typeface="Cambria Math"/>
            </a:endParaRPr>
          </a:p>
        </p:txBody>
      </p:sp>
      <p:sp>
        <p:nvSpPr>
          <p:cNvPr id="245" name="Google Shape;245;p41"/>
          <p:cNvSpPr txBox="1"/>
          <p:nvPr/>
        </p:nvSpPr>
        <p:spPr>
          <a:xfrm>
            <a:off x="7420206" y="2775547"/>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800"/>
              <a:buFont typeface="Calibri"/>
              <a:buNone/>
            </a:pPr>
            <a:r>
              <a:rPr lang="en-US" sz="2800">
                <a:solidFill>
                  <a:schemeClr val="dk1"/>
                </a:solidFill>
                <a:latin typeface="Arial"/>
                <a:ea typeface="Calibri"/>
                <a:cs typeface="Calibri"/>
                <a:sym typeface="Calibri"/>
              </a:rPr>
              <a:t>41.86 + 8.93</a:t>
            </a:r>
            <a:endParaRPr/>
          </a:p>
        </p:txBody>
      </p:sp>
      <p:sp>
        <p:nvSpPr>
          <p:cNvPr id="246"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ESTIMATE • DEFEND • COMPARE</a:t>
            </a:r>
          </a:p>
        </p:txBody>
      </p:sp>
      <p:sp>
        <p:nvSpPr>
          <p:cNvPr id="248" name="TextBox 16"/>
          <p:cNvSpPr txBox="1"/>
          <p:nvPr/>
        </p:nvSpPr>
        <p:spPr>
          <a:xfrm>
            <a:off x="521207" y="1170432"/>
            <a:ext cx="6492240" cy="411480"/>
          </a:xfrm>
          <a:prstGeom prst="rect">
            <a:avLst/>
          </a:prstGeom>
          <a:noFill/>
        </p:spPr>
        <p:txBody>
          <a:bodyPr wrap="square" lIns="0" tIns="0" rIns="0" bIns="0" anchor="t">
            <a:spAutoFit/>
          </a:bodyPr>
          <a:lstStyle/>
          <a:p>
            <a:pPr algn="l"/>
            <a:r>
              <a:rPr sz="2000" b="0">
                <a:solidFill>
                  <a:srgbClr val="5D6872"/>
                </a:solidFill>
                <a:latin typeface="Arial"/>
              </a:rPr>
              <a:t>Estimate first. Choose one expression and defend whether the value is above or below 50.</a:t>
            </a:r>
          </a:p>
        </p:txBody>
      </p:sp>
      <p:sp>
        <p:nvSpPr>
          <p:cNvPr id="249" name="Rounded Rectangle 17"/>
          <p:cNvSpPr/>
          <p:nvPr/>
        </p:nvSpPr>
        <p:spPr>
          <a:xfrm>
            <a:off x="603504" y="4800600"/>
            <a:ext cx="6812280" cy="85039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Rectangle 18"/>
          <p:cNvSpPr/>
          <p:nvPr/>
        </p:nvSpPr>
        <p:spPr>
          <a:xfrm>
            <a:off x="603504" y="4800600"/>
            <a:ext cx="73152" cy="85039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TextBox 19"/>
          <p:cNvSpPr txBox="1"/>
          <p:nvPr/>
        </p:nvSpPr>
        <p:spPr>
          <a:xfrm>
            <a:off x="768096" y="4937760"/>
            <a:ext cx="6492240" cy="228600"/>
          </a:xfrm>
          <a:prstGeom prst="rect">
            <a:avLst/>
          </a:prstGeom>
          <a:noFill/>
        </p:spPr>
        <p:txBody>
          <a:bodyPr wrap="square" lIns="0" tIns="0" rIns="0" bIns="0" anchor="t">
            <a:spAutoFit/>
          </a:bodyPr>
          <a:lstStyle/>
          <a:p>
            <a:pPr algn="l"/>
            <a:r>
              <a:rPr sz="1400" b="1">
                <a:solidFill>
                  <a:srgbClr val="782DA0"/>
                </a:solidFill>
                <a:latin typeface="Arial"/>
              </a:rPr>
              <a:t>EXPLAIN YOUR THINKING</a:t>
            </a:r>
          </a:p>
        </p:txBody>
      </p:sp>
      <p:sp>
        <p:nvSpPr>
          <p:cNvPr id="252" name="TextBox 20"/>
          <p:cNvSpPr txBox="1"/>
          <p:nvPr/>
        </p:nvSpPr>
        <p:spPr>
          <a:xfrm>
            <a:off x="768096" y="5239512"/>
            <a:ext cx="6492240" cy="320040"/>
          </a:xfrm>
          <a:prstGeom prst="rect">
            <a:avLst/>
          </a:prstGeom>
          <a:noFill/>
        </p:spPr>
        <p:txBody>
          <a:bodyPr wrap="square" lIns="0" tIns="0" rIns="0" bIns="0" anchor="t">
            <a:spAutoFit/>
          </a:bodyPr>
          <a:lstStyle/>
          <a:p>
            <a:pPr algn="l"/>
            <a:r>
              <a:rPr sz="1800" b="0">
                <a:solidFill>
                  <a:srgbClr val="23282D"/>
                </a:solidFill>
                <a:latin typeface="Arial"/>
              </a:rPr>
              <a:t>“My estimate is above/below 50 because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cxnSp>
        <p:nvCxnSpPr>
          <p:cNvPr id="289" name="Google Shape;289;p46"/>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290" name="Google Shape;290;p46"/>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lang="en-US" sz="2800">
                <a:latin typeface="Arial"/>
                <a:ea typeface="Arial"/>
                <a:cs typeface="Arial"/>
                <a:sym typeface="Arial"/>
                <a:solidFill>
                  <a:srgbClr val="782DA0"/>
                </a:solidFill>
              </a:rPr>
              <a:t>Purple Paint Mixture</a:t>
            </a:r>
            <a:endParaRPr/>
          </a:p>
        </p:txBody>
      </p:sp>
      <p:sp>
        <p:nvSpPr>
          <p:cNvPr id="291" name="Google Shape;291;p46"/>
          <p:cNvSpPr txBox="1"/>
          <p:nvPr/>
        </p:nvSpPr>
        <p:spPr>
          <a:xfrm>
            <a:off x="484565" y="936100"/>
            <a:ext cx="6366435" cy="1007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Two friends used the paint shown to create shades of purple paint.</a:t>
            </a:r>
            <a:endParaRPr/>
          </a:p>
        </p:txBody>
      </p:sp>
      <p:sp>
        <p:nvSpPr>
          <p:cNvPr id="292" name="Google Shape;292;p46"/>
          <p:cNvSpPr/>
          <p:nvPr/>
        </p:nvSpPr>
        <p:spPr>
          <a:xfrm>
            <a:off x="484565" y="3807235"/>
            <a:ext cx="9324220"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Whose mixture has more blue relative to red?</a:t>
            </a:r>
            <a:endParaRPr/>
          </a:p>
        </p:txBody>
      </p:sp>
      <p:pic>
        <p:nvPicPr>
          <p:cNvPr id="293" name="Google Shape;293;p46"/>
          <p:cNvPicPr preferRelativeResize="0"/>
          <p:nvPr/>
        </p:nvPicPr>
        <p:blipFill rotWithShape="1">
          <a:blip r:embed="rId3">
            <a:alphaModFix/>
          </a:blip>
          <a:srcRect b="0" l="0" r="0" t="0"/>
          <a:stretch/>
        </p:blipFill>
        <p:spPr>
          <a:xfrm>
            <a:off x="7171981" y="1375449"/>
            <a:ext cx="4362074" cy="2356523"/>
          </a:xfrm>
          <a:prstGeom prst="rect">
            <a:avLst/>
          </a:prstGeom>
          <a:noFill/>
          <a:ln>
            <a:noFill/>
          </a:ln>
        </p:spPr>
      </p:pic>
      <p:pic>
        <p:nvPicPr>
          <p:cNvPr id="294" name="Google Shape;294;p46"/>
          <p:cNvPicPr preferRelativeResize="0"/>
          <p:nvPr/>
        </p:nvPicPr>
        <p:blipFill rotWithShape="1">
          <a:blip r:embed="rId4">
            <a:alphaModFix/>
          </a:blip>
          <a:srcRect b="0" l="0" r="0" t="0"/>
          <a:stretch/>
        </p:blipFill>
        <p:spPr>
          <a:xfrm>
            <a:off x="484565" y="5063451"/>
            <a:ext cx="5054600" cy="838200"/>
          </a:xfrm>
          <a:prstGeom prst="rect">
            <a:avLst/>
          </a:prstGeom>
          <a:noFill/>
          <a:ln>
            <a:noFill/>
          </a:ln>
        </p:spPr>
      </p:pic>
      <p:sp>
        <p:nvSpPr>
          <p:cNvPr id="295" name="Google Shape;295;p46"/>
          <p:cNvSpPr txBox="1"/>
          <p:nvPr/>
        </p:nvSpPr>
        <p:spPr>
          <a:xfrm>
            <a:off x="3344582" y="522076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Mindset</a:t>
            </a:r>
            <a:endParaRPr/>
          </a:p>
        </p:txBody>
      </p:sp>
      <p:sp>
        <p:nvSpPr>
          <p:cNvPr id="296" name="Google Shape;296;p46"/>
          <p:cNvSpPr/>
          <p:nvPr/>
        </p:nvSpPr>
        <p:spPr>
          <a:xfrm>
            <a:off x="697761" y="5878774"/>
            <a:ext cx="10741420" cy="49244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600">
                <a:solidFill>
                  <a:srgbClr val="595959"/>
                </a:solidFill>
                <a:latin typeface="Arial"/>
                <a:ea typeface="Arial"/>
                <a:cs typeface="Arial"/>
                <a:sym typeface="Arial"/>
              </a:rPr>
              <a:t>What do you already know about the problem?</a:t>
            </a:r>
            <a:endParaRPr/>
          </a:p>
        </p:txBody>
      </p:sp>
      <p:sp>
        <p:nvSpPr>
          <p:cNvPr id="297"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Connect a feature of the model to a step in your reasoning.</a:t>
            </a:r>
            <a:endParaRPr lang="en-US" sz="2000"/>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1C1942-C164-4B67-A5ED-B200D5BD0EBE}"/>
              </a:ext>
            </a:extLst>
          </p:cNvPr>
          <p:cNvSpPr>
            <a:spLocks xmlns:a="http://schemas.openxmlformats.org/drawingml/2006/main" noGrp="1"/>
          </p:cNvSpPr>
          <p:nvPr/>
        </p:nvSpPr>
        <p:spPr>
          <a:xfrm xmlns:a="http://schemas.openxmlformats.org/drawingml/2006/main">
            <a:off x="523875" y="400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782DA0"/>
                </a:solidFill>
                <a:latin typeface="Arial"/>
                <a:ea typeface="Arial"/>
                <a:cs typeface="Arial"/>
              </a:defRPr>
            </a:pPr>
            <a:r>
              <a:rPr sz="2775" b="1">
                <a:latin typeface="Arial"/>
                <a:ea typeface="Arial"/>
                <a:cs typeface="Arial"/>
                <a:solidFill>
                  <a:srgbClr val="782DA0"/>
                </a:solidFill>
              </a:rPr>
              <a:t>A fair comparison of mixtures</a:t>
            </a:r>
          </a:p>
        </p:txBody>
      </p:sp>
      <p:sp>
        <p:nvSpPr>
          <p:cNvPr id="2" name="">
            <a:extLst xmlns:a="http://schemas.openxmlformats.org/drawingml/2006/main">
              <a:ext uri="{FF2B5EF4-FFF2-40B4-BE49-F238E27FC236}">
                <a16:creationId xmlns:a16="http://schemas.microsoft.com/office/drawing/2014/main" id="{B89DD42C-FA0B-4E14-BB02-6F4E0A029A23}"/>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Keep the </a:t>
            </a:r>
            <a:r>
              <a:rPr sz="2250" b="1">
                <a:solidFill>
                  <a:srgbClr val="23282D"/>
                </a:solidFill>
                <a:highlight>
                  <a:srgbClr val="FFF2A8"/>
                </a:highlight>
                <a:latin typeface="Arial"/>
                <a:ea typeface="Arial"/>
                <a:cs typeface="Arial"/>
              </a:rPr>
              <a:t>ratio</a:t>
            </a:r>
            <a:r>
              <a:rPr sz="2250" b="0">
                <a:solidFill>
                  <a:srgbClr val="23282D"/>
                </a:solidFill>
                <a:latin typeface="Arial"/>
                <a:ea typeface="Arial"/>
                <a:cs typeface="Arial"/>
              </a:rPr>
              <a:t xml:space="preserve"> order the same: red paint to blue paint.</a:t>
            </a:r>
          </a:p>
        </p:txBody>
      </p:sp>
      <p:sp>
        <p:nvSpPr>
          <p:cNvPr id="3" name="">
            <a:extLst xmlns:a="http://schemas.openxmlformats.org/drawingml/2006/main">
              <a:ext uri="{FF2B5EF4-FFF2-40B4-BE49-F238E27FC236}">
                <a16:creationId xmlns:a16="http://schemas.microsoft.com/office/drawing/2014/main" id="{BCD1ED65-452C-4438-A519-127B0E867FB2}"/>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1">
                <a:solidFill>
                  <a:srgbClr val="23282D"/>
                </a:solidFill>
                <a:highlight>
                  <a:srgbClr val="FFF2A8"/>
                </a:highlight>
                <a:latin typeface="Arial"/>
                <a:ea typeface="Arial"/>
                <a:cs typeface="Arial"/>
              </a:rPr>
              <a:t>Equivalent ratios</a:t>
            </a:r>
            <a:r>
              <a:rPr sz="2250" b="0">
                <a:solidFill>
                  <a:srgbClr val="23282D"/>
                </a:solidFill>
                <a:latin typeface="Arial"/>
                <a:ea typeface="Arial"/>
                <a:cs typeface="Arial"/>
              </a:rPr>
              <a:t xml:space="preserve"> let us compare mixtures with the same amount of red.</a:t>
            </a:r>
          </a:p>
        </p:txBody>
      </p:sp>
      <p:sp>
        <p:nvSpPr>
          <p:cNvPr id="4" name="">
            <a:extLst xmlns:a="http://schemas.openxmlformats.org/drawingml/2006/main">
              <a:ext uri="{FF2B5EF4-FFF2-40B4-BE49-F238E27FC236}">
                <a16:creationId xmlns:a16="http://schemas.microsoft.com/office/drawing/2014/main" id="{C3091223-8769-4E34-9F32-9A2B78E48CD6}"/>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Comparing only the total number of cans does not compare the shades.</a:t>
            </a:r>
          </a:p>
        </p:txBody>
      </p:sp>
      <p:graphicFrame>
        <p:nvGraphicFramePr>
          <p:cNvPr id="11" name=""/>
          <p:cNvGraphicFramePr/>
          <p:nvPr/>
        </p:nvGraphicFramePr>
        <p:xfrm>
          <a:off xmlns:a="http://schemas.openxmlformats.org/drawingml/2006/main" x="6210300" y="1809750"/>
          <a:ext xmlns:a="http://schemas.openxmlformats.org/drawingml/2006/main" cx="5410200" cy="1885950"/>
        </p:xfrm>
        <a:graphic xmlns:a="http://schemas.openxmlformats.org/drawingml/2006/main">
          <a:graphicData uri="http://schemas.openxmlformats.org/drawingml/2006/table">
            <a:tbl>
              <a:tblPr/>
              <a:tblGrid>
                <a:gridCol w="1803400"/>
                <a:gridCol w="1803400"/>
                <a:gridCol w="1803400"/>
              </a:tblGrid>
              <a:tr h="628650">
                <a:tc>
                  <a:txBody>
                    <a:bodyPr/>
                    <a:lstStyle/>
                    <a:p>
                      <a:r>
                        <a:rPr sz="1650" b="1">
                          <a:solidFill>
                            <a:srgbClr val="FFFFFF"/>
                          </a:solidFill>
                          <a:latin typeface="Arial"/>
                          <a:ea typeface="Arial"/>
                          <a:cs typeface="Arial"/>
                        </a:rPr>
                        <a:t>Mixture</a:t>
                      </a:r>
                    </a:p>
                  </a:txBody>
                  <a:tcPr marL="91440" marR="91440" marT="45720" marB="45720">
                    <a:solidFill>
                      <a:srgbClr val="0070C0"/>
                    </a:solidFill>
                  </a:tcPr>
                </a:tc>
                <a:tc>
                  <a:txBody>
                    <a:bodyPr/>
                    <a:lstStyle/>
                    <a:p>
                      <a:r>
                        <a:rPr sz="1650" b="1">
                          <a:solidFill>
                            <a:srgbClr val="FFFFFF"/>
                          </a:solidFill>
                          <a:latin typeface="Arial"/>
                          <a:ea typeface="Arial"/>
                          <a:cs typeface="Arial"/>
                        </a:rPr>
                        <a:t>Red cans</a:t>
                      </a:r>
                    </a:p>
                  </a:txBody>
                  <a:tcPr marL="91440" marR="91440" marT="45720" marB="45720">
                    <a:solidFill>
                      <a:srgbClr val="0070C0"/>
                    </a:solidFill>
                  </a:tcPr>
                </a:tc>
                <a:tc>
                  <a:txBody>
                    <a:bodyPr/>
                    <a:lstStyle/>
                    <a:p>
                      <a:r>
                        <a:rPr sz="1650" b="1">
                          <a:solidFill>
                            <a:srgbClr val="FFFFFF"/>
                          </a:solidFill>
                          <a:latin typeface="Arial"/>
                          <a:ea typeface="Arial"/>
                          <a:cs typeface="Arial"/>
                        </a:rPr>
                        <a:t>Blue cans</a:t>
                      </a:r>
                    </a:p>
                  </a:txBody>
                  <a:tcPr marL="91440" marR="91440" marT="45720" marB="45720">
                    <a:solidFill>
                      <a:srgbClr val="0070C0"/>
                    </a:solidFill>
                  </a:tcPr>
                </a:tc>
              </a:tr>
              <a:tr h="628650">
                <a:tc>
                  <a:txBody>
                    <a:bodyPr/>
                    <a:lstStyle/>
                    <a:p>
                      <a:r>
                        <a:rPr sz="1650" b="0">
                          <a:solidFill>
                            <a:srgbClr val="23282D"/>
                          </a:solidFill>
                          <a:latin typeface="Arial"/>
                          <a:ea typeface="Arial"/>
                          <a:cs typeface="Arial"/>
                        </a:rPr>
                        <a:t>Reginald</a:t>
                      </a:r>
                    </a:p>
                  </a:txBody>
                  <a:tcPr marL="91440" marR="91440" marT="45720" marB="45720">
                    <a:solidFill>
                      <a:srgbClr val="FFFFFF"/>
                    </a:solidFill>
                  </a:tcPr>
                </a:tc>
                <a:tc>
                  <a:txBody>
                    <a:bodyPr/>
                    <a:lstStyle/>
                    <a:p>
                      <a:r>
                        <a:rPr sz="1650" b="0">
                          <a:solidFill>
                            <a:srgbClr val="23282D"/>
                          </a:solidFill>
                          <a:latin typeface="Arial"/>
                          <a:ea typeface="Arial"/>
                          <a:cs typeface="Arial"/>
                        </a:rPr>
                        <a:t>3</a:t>
                      </a:r>
                    </a:p>
                  </a:txBody>
                  <a:tcPr marL="91440" marR="91440" marT="45720" marB="45720">
                    <a:solidFill>
                      <a:srgbClr val="FFFFFF"/>
                    </a:solidFill>
                  </a:tcPr>
                </a:tc>
                <a:tc>
                  <a:txBody>
                    <a:bodyPr/>
                    <a:lstStyle/>
                    <a:p>
                      <a:r>
                        <a:rPr sz="1650" b="0">
                          <a:solidFill>
                            <a:srgbClr val="23282D"/>
                          </a:solidFill>
                          <a:latin typeface="Arial"/>
                          <a:ea typeface="Arial"/>
                          <a:cs typeface="Arial"/>
                        </a:rPr>
                        <a:t>4</a:t>
                      </a:r>
                    </a:p>
                  </a:txBody>
                  <a:tcPr marL="91440" marR="91440" marT="45720" marB="45720">
                    <a:solidFill>
                      <a:srgbClr val="FFFFFF"/>
                    </a:solidFill>
                  </a:tcPr>
                </a:tc>
              </a:tr>
              <a:tr h="628650">
                <a:tc>
                  <a:txBody>
                    <a:bodyPr/>
                    <a:lstStyle/>
                    <a:p>
                      <a:r>
                        <a:rPr sz="1650" b="0">
                          <a:solidFill>
                            <a:srgbClr val="23282D"/>
                          </a:solidFill>
                          <a:latin typeface="Arial"/>
                          <a:ea typeface="Arial"/>
                          <a:cs typeface="Arial"/>
                        </a:rPr>
                        <a:t>Anwar</a:t>
                      </a:r>
                    </a:p>
                  </a:txBody>
                  <a:tcPr marL="91440" marR="91440" marT="45720" marB="45720">
                    <a:solidFill>
                      <a:srgbClr val="FFFFFF"/>
                    </a:solidFill>
                  </a:tcPr>
                </a:tc>
                <a:tc>
                  <a:txBody>
                    <a:bodyPr/>
                    <a:lstStyle/>
                    <a:p>
                      <a:r>
                        <a:rPr sz="1650" b="0">
                          <a:solidFill>
                            <a:srgbClr val="23282D"/>
                          </a:solidFill>
                          <a:latin typeface="Arial"/>
                          <a:ea typeface="Arial"/>
                          <a:cs typeface="Arial"/>
                        </a:rPr>
                        <a:t>2</a:t>
                      </a:r>
                    </a:p>
                  </a:txBody>
                  <a:tcPr marL="91440" marR="91440" marT="45720" marB="45720">
                    <a:solidFill>
                      <a:srgbClr val="FFFFFF"/>
                    </a:solidFill>
                  </a:tcPr>
                </a:tc>
                <a:tc>
                  <a:txBody>
                    <a:bodyPr/>
                    <a:lstStyle/>
                    <a:p>
                      <a:r>
                        <a:rPr sz="1650" b="0">
                          <a:solidFill>
                            <a:srgbClr val="23282D"/>
                          </a:solidFill>
                          <a:latin typeface="Arial"/>
                          <a:ea typeface="Arial"/>
                          <a:cs typeface="Arial"/>
                        </a:rPr>
                        <a:t>3</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NOTICE → MODEL → EXPLAIN</a:t>
            </a:r>
          </a:p>
        </p:txBody>
      </p:sp>
      <p:sp xmlns:a="http://schemas.openxmlformats.org/drawingml/2006/main">
        <p:nvSpPr>
          <p:cNvPr id="14" name="Rounded Rectangle 17"/>
          <p:cNvSpPr/>
          <p:nvPr/>
        </p:nvSpPr>
        <p:spPr>
          <a:xfrm>
            <a:off x="548640" y="5513832"/>
            <a:ext cx="10972800" cy="65836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48640" y="5513832"/>
            <a:ext cx="73152" cy="65836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713232" y="5577840"/>
            <a:ext cx="10607040" cy="201168"/>
          </a:xfrm>
          <a:prstGeom prst="rect">
            <a:avLst/>
          </a:prstGeom>
          <a:noFill/>
        </p:spPr>
        <p:txBody>
          <a:bodyPr wrap="square" lIns="0" tIns="0" rIns="0" bIns="0" anchor="t">
            <a:spAutoFit/>
          </a:bodyPr>
          <a:lstStyle/>
          <a:p>
            <a:pPr algn="l"/>
            <a:r>
              <a:rPr sz="1100" b="1">
                <a:solidFill>
                  <a:srgbClr val="782DA0"/>
                </a:solidFill>
                <a:latin typeface="Arial"/>
              </a:rPr>
              <a:t>EXPLAIN THE CONNECTION</a:t>
            </a:r>
          </a:p>
        </p:txBody>
      </p:sp>
      <p:sp xmlns:a="http://schemas.openxmlformats.org/drawingml/2006/main">
        <p:nvSpPr>
          <p:cNvPr id="17" name="TextBox 20"/>
          <p:cNvSpPr txBox="1"/>
          <p:nvPr/>
        </p:nvSpPr>
        <p:spPr>
          <a:xfrm>
            <a:off x="713232" y="5815584"/>
            <a:ext cx="10607040" cy="256032"/>
          </a:xfrm>
          <a:prstGeom prst="rect">
            <a:avLst/>
          </a:prstGeom>
          <a:noFill/>
        </p:spPr>
        <p:txBody>
          <a:bodyPr wrap="square" lIns="0" tIns="0" rIns="0" bIns="0" anchor="t">
            <a:spAutoFit/>
          </a:bodyPr>
          <a:lstStyle/>
          <a:p>
            <a:pPr algn="l"/>
            <a:r>
              <a:rPr sz="1700" b="0">
                <a:solidFill>
                  <a:srgbClr val="23282D"/>
                </a:solidFill>
                <a:latin typeface="Arial"/>
              </a:rPr>
              <a:t>“I will match __ red cans because both 3 and 2 can be scaled to ___.”</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13 / 42</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Connect a feature of the model to a step in</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3988914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8587AA-87A4-4A71-AEA3-6A24412AEBD7}"/>
              </a:ext>
            </a:extLst>
          </p:cNvPr>
          <p:cNvSpPr>
            <a:spLocks xmlns:a="http://schemas.openxmlformats.org/drawingml/2006/main" noGrp="1"/>
          </p:cNvSpPr>
          <p:nvPr/>
        </p:nvSpPr>
        <p:spPr>
          <a:xfrm xmlns:a="http://schemas.openxmlformats.org/drawingml/2006/main">
            <a:off x="523875" y="400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782DA0"/>
                </a:solidFill>
                <a:latin typeface="Arial"/>
                <a:ea typeface="Arial"/>
                <a:cs typeface="Arial"/>
              </a:defRPr>
            </a:pPr>
            <a:r>
              <a:rPr sz="2775" b="1">
                <a:latin typeface="Arial"/>
                <a:ea typeface="Arial"/>
                <a:cs typeface="Arial"/>
                <a:solidFill>
                  <a:srgbClr val="782DA0"/>
                </a:solidFill>
              </a:rPr>
              <a:t>Matching the red paint amounts</a:t>
            </a:r>
          </a:p>
        </p:txBody>
      </p:sp>
      <p:sp>
        <p:nvSpPr>
          <p:cNvPr id="2" name="">
            <a:extLst xmlns:a="http://schemas.openxmlformats.org/drawingml/2006/main">
              <a:ext uri="{FF2B5EF4-FFF2-40B4-BE49-F238E27FC236}">
                <a16:creationId xmlns:a16="http://schemas.microsoft.com/office/drawing/2014/main" id="{A42C1BCF-D59D-4293-A336-41F59AD14A9A}"/>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Reginald: multiply both quantities by 2.</a:t>
            </a:r>
          </a:p>
        </p:txBody>
      </p:sp>
      <p:sp>
        <p:nvSpPr>
          <p:cNvPr id="3" name="">
            <a:extLst xmlns:a="http://schemas.openxmlformats.org/drawingml/2006/main">
              <a:ext uri="{FF2B5EF4-FFF2-40B4-BE49-F238E27FC236}">
                <a16:creationId xmlns:a16="http://schemas.microsoft.com/office/drawing/2014/main" id="{C9C59EBF-191A-4101-A086-BD38ED400945}"/>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Anwar: multiply both quantities by 3.</a:t>
            </a:r>
          </a:p>
        </p:txBody>
      </p:sp>
      <p:sp>
        <p:nvSpPr>
          <p:cNvPr id="4" name="">
            <a:extLst xmlns:a="http://schemas.openxmlformats.org/drawingml/2006/main">
              <a:ext uri="{FF2B5EF4-FFF2-40B4-BE49-F238E27FC236}">
                <a16:creationId xmlns:a16="http://schemas.microsoft.com/office/drawing/2014/main" id="{CE5922E3-3C46-47BE-B833-E1B3112285DE}"/>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For the same 6 red cans, compare 8 blue cans with 9 blue cans.</a:t>
            </a:r>
          </a:p>
        </p:txBody>
      </p:sp>
      <p:graphicFrame>
        <p:nvGraphicFramePr>
          <p:cNvPr id="11" name=""/>
          <p:cNvGraphicFramePr/>
          <p:nvPr/>
        </p:nvGraphicFramePr>
        <p:xfrm>
          <a:off xmlns:a="http://schemas.openxmlformats.org/drawingml/2006/main" x="6210300" y="1809750"/>
          <a:ext xmlns:a="http://schemas.openxmlformats.org/drawingml/2006/main" cx="5410200" cy="1885950"/>
        </p:xfrm>
        <a:graphic xmlns:a="http://schemas.openxmlformats.org/drawingml/2006/main">
          <a:graphicData uri="http://schemas.openxmlformats.org/drawingml/2006/table">
            <a:tbl>
              <a:tblPr/>
              <a:tblGrid>
                <a:gridCol w="1803400"/>
                <a:gridCol w="1803400"/>
                <a:gridCol w="1803400"/>
              </a:tblGrid>
              <a:tr h="628650">
                <a:tc>
                  <a:txBody>
                    <a:bodyPr/>
                    <a:lstStyle/>
                    <a:p>
                      <a:r>
                        <a:rPr sz="1650" b="1">
                          <a:solidFill>
                            <a:srgbClr val="FFFFFF"/>
                          </a:solidFill>
                          <a:latin typeface="Arial"/>
                          <a:ea typeface="Arial"/>
                          <a:cs typeface="Arial"/>
                        </a:rPr>
                        <a:t>Mixture</a:t>
                      </a:r>
                    </a:p>
                  </a:txBody>
                  <a:tcPr marL="91440" marR="91440" marT="45720" marB="45720">
                    <a:solidFill>
                      <a:srgbClr val="0070C0"/>
                    </a:solidFill>
                  </a:tcPr>
                </a:tc>
                <a:tc>
                  <a:txBody>
                    <a:bodyPr/>
                    <a:lstStyle/>
                    <a:p>
                      <a:r>
                        <a:rPr sz="1650" b="1">
                          <a:solidFill>
                            <a:srgbClr val="FFFFFF"/>
                          </a:solidFill>
                          <a:latin typeface="Arial"/>
                          <a:ea typeface="Arial"/>
                          <a:cs typeface="Arial"/>
                        </a:rPr>
                        <a:t>Red cans</a:t>
                      </a:r>
                    </a:p>
                  </a:txBody>
                  <a:tcPr marL="91440" marR="91440" marT="45720" marB="45720">
                    <a:solidFill>
                      <a:srgbClr val="0070C0"/>
                    </a:solidFill>
                  </a:tcPr>
                </a:tc>
                <a:tc>
                  <a:txBody>
                    <a:bodyPr/>
                    <a:lstStyle/>
                    <a:p>
                      <a:r>
                        <a:rPr sz="1650" b="1">
                          <a:solidFill>
                            <a:srgbClr val="FFFFFF"/>
                          </a:solidFill>
                          <a:latin typeface="Arial"/>
                          <a:ea typeface="Arial"/>
                          <a:cs typeface="Arial"/>
                        </a:rPr>
                        <a:t>Blue cans</a:t>
                      </a:r>
                    </a:p>
                  </a:txBody>
                  <a:tcPr marL="91440" marR="91440" marT="45720" marB="45720">
                    <a:solidFill>
                      <a:srgbClr val="0070C0"/>
                    </a:solidFill>
                  </a:tcPr>
                </a:tc>
              </a:tr>
              <a:tr h="628650">
                <a:tc>
                  <a:txBody>
                    <a:bodyPr/>
                    <a:lstStyle/>
                    <a:p>
                      <a:r>
                        <a:rPr sz="1650" b="0">
                          <a:solidFill>
                            <a:srgbClr val="23282D"/>
                          </a:solidFill>
                          <a:latin typeface="Arial"/>
                          <a:ea typeface="Arial"/>
                          <a:cs typeface="Arial"/>
                        </a:rPr>
                        <a:t>Reginald</a:t>
                      </a:r>
                    </a:p>
                  </a:txBody>
                  <a:tcPr marL="91440" marR="91440" marT="45720" marB="45720">
                    <a:solidFill>
                      <a:srgbClr val="FFFFFF"/>
                    </a:solidFill>
                  </a:tcPr>
                </a:tc>
                <a:tc>
                  <a:txBody>
                    <a:bodyPr/>
                    <a:lstStyle/>
                    <a:p>
                      <a:r>
                        <a:rPr sz="1650" b="0">
                          <a:solidFill>
                            <a:srgbClr val="23282D"/>
                          </a:solidFill>
                          <a:latin typeface="Arial"/>
                          <a:ea typeface="Arial"/>
                          <a:cs typeface="Arial"/>
                        </a:rPr>
                        <a:t>3 × 2 = 6</a:t>
                      </a:r>
                    </a:p>
                  </a:txBody>
                  <a:tcPr marL="91440" marR="91440" marT="45720" marB="45720">
                    <a:solidFill>
                      <a:srgbClr val="FFFFFF"/>
                    </a:solidFill>
                  </a:tcPr>
                </a:tc>
                <a:tc>
                  <a:txBody>
                    <a:bodyPr/>
                    <a:lstStyle/>
                    <a:p>
                      <a:r>
                        <a:rPr sz="1650" b="0">
                          <a:solidFill>
                            <a:srgbClr val="23282D"/>
                          </a:solidFill>
                          <a:latin typeface="Arial"/>
                          <a:ea typeface="Arial"/>
                          <a:cs typeface="Arial"/>
                        </a:rPr>
                        <a:t>4 × 2 = 8</a:t>
                      </a:r>
                    </a:p>
                  </a:txBody>
                  <a:tcPr marL="91440" marR="91440" marT="45720" marB="45720">
                    <a:solidFill>
                      <a:srgbClr val="FFFFFF"/>
                    </a:solidFill>
                  </a:tcPr>
                </a:tc>
              </a:tr>
              <a:tr h="628650">
                <a:tc>
                  <a:txBody>
                    <a:bodyPr/>
                    <a:lstStyle/>
                    <a:p>
                      <a:r>
                        <a:rPr sz="1650" b="0">
                          <a:solidFill>
                            <a:srgbClr val="23282D"/>
                          </a:solidFill>
                          <a:latin typeface="Arial"/>
                          <a:ea typeface="Arial"/>
                          <a:cs typeface="Arial"/>
                        </a:rPr>
                        <a:t>Anwar</a:t>
                      </a:r>
                    </a:p>
                  </a:txBody>
                  <a:tcPr marL="91440" marR="91440" marT="45720" marB="45720">
                    <a:solidFill>
                      <a:srgbClr val="FFFFFF"/>
                    </a:solidFill>
                  </a:tcPr>
                </a:tc>
                <a:tc>
                  <a:txBody>
                    <a:bodyPr/>
                    <a:lstStyle/>
                    <a:p>
                      <a:r>
                        <a:rPr sz="1650" b="0">
                          <a:solidFill>
                            <a:srgbClr val="23282D"/>
                          </a:solidFill>
                          <a:latin typeface="Arial"/>
                          <a:ea typeface="Arial"/>
                          <a:cs typeface="Arial"/>
                        </a:rPr>
                        <a:t>2 × 3 = 6</a:t>
                      </a:r>
                    </a:p>
                  </a:txBody>
                  <a:tcPr marL="91440" marR="91440" marT="45720" marB="45720">
                    <a:solidFill>
                      <a:srgbClr val="FFFFFF"/>
                    </a:solidFill>
                  </a:tcPr>
                </a:tc>
                <a:tc>
                  <a:txBody>
                    <a:bodyPr/>
                    <a:lstStyle/>
                    <a:p>
                      <a:r>
                        <a:rPr sz="1650" b="0">
                          <a:solidFill>
                            <a:srgbClr val="23282D"/>
                          </a:solidFill>
                          <a:latin typeface="Arial"/>
                          <a:ea typeface="Arial"/>
                          <a:cs typeface="Arial"/>
                        </a:rPr>
                        <a:t>3 × 3 = 9</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NOTICE → MODEL → EXPLAIN</a:t>
            </a:r>
          </a:p>
        </p:txBody>
      </p:sp>
      <p:sp xmlns:a="http://schemas.openxmlformats.org/drawingml/2006/main">
        <p:nvSpPr>
          <p:cNvPr id="14" name="Rounded Rectangle 17"/>
          <p:cNvSpPr/>
          <p:nvPr/>
        </p:nvSpPr>
        <p:spPr>
          <a:xfrm>
            <a:off x="548640" y="5513832"/>
            <a:ext cx="10972800" cy="65836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48640" y="5513832"/>
            <a:ext cx="73152" cy="65836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713232" y="5577840"/>
            <a:ext cx="10607040" cy="201168"/>
          </a:xfrm>
          <a:prstGeom prst="rect">
            <a:avLst/>
          </a:prstGeom>
          <a:noFill/>
        </p:spPr>
        <p:txBody>
          <a:bodyPr wrap="square" lIns="0" tIns="0" rIns="0" bIns="0" anchor="t">
            <a:spAutoFit/>
          </a:bodyPr>
          <a:lstStyle/>
          <a:p>
            <a:pPr algn="l"/>
            <a:r>
              <a:rPr sz="1100" b="1">
                <a:solidFill>
                  <a:srgbClr val="782DA0"/>
                </a:solidFill>
                <a:latin typeface="Arial"/>
              </a:rPr>
              <a:t>EXPLAIN THE CONNECTION</a:t>
            </a:r>
          </a:p>
        </p:txBody>
      </p:sp>
      <p:sp xmlns:a="http://schemas.openxmlformats.org/drawingml/2006/main">
        <p:nvSpPr>
          <p:cNvPr id="17" name="TextBox 20"/>
          <p:cNvSpPr txBox="1"/>
          <p:nvPr/>
        </p:nvSpPr>
        <p:spPr>
          <a:xfrm>
            <a:off x="713232" y="5815584"/>
            <a:ext cx="10607040" cy="256032"/>
          </a:xfrm>
          <a:prstGeom prst="rect">
            <a:avLst/>
          </a:prstGeom>
          <a:noFill/>
        </p:spPr>
        <p:txBody>
          <a:bodyPr wrap="square" lIns="0" tIns="0" rIns="0" bIns="0" anchor="t">
            <a:spAutoFit/>
          </a:bodyPr>
          <a:lstStyle/>
          <a:p>
            <a:pPr algn="l"/>
            <a:r>
              <a:rPr sz="1700" b="0">
                <a:solidFill>
                  <a:srgbClr val="23282D"/>
                </a:solidFill>
                <a:latin typeface="Arial"/>
              </a:rPr>
              <a:t>“For the same 6 red cans, Anwar has 9 blue and Reginald has 8, so ___.”</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14 / 42</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Connect a feature of the model to a step in</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1762844477"/>
      </p:ext>
    </p:extLst>
  </p:cSld>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cxnSp>
        <p:nvCxnSpPr>
          <p:cNvPr id="516" name="Google Shape;516;p68"/>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517" name="Google Shape;517;p68"/>
          <p:cNvSpPr/>
          <p:nvPr/>
        </p:nvSpPr>
        <p:spPr>
          <a:xfrm>
            <a:off x="943202" y="2319640"/>
            <a:ext cx="2601994" cy="49244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600">
                <a:solidFill>
                  <a:schemeClr val="dk1"/>
                </a:solidFill>
                <a:latin typeface="Arial"/>
                <a:ea typeface="Arial"/>
                <a:cs typeface="Arial"/>
                <a:sym typeface="Arial"/>
              </a:rPr>
              <a:t>Marisa’s Mixture</a:t>
            </a:r>
            <a:endParaRPr/>
          </a:p>
        </p:txBody>
      </p:sp>
      <p:sp>
        <p:nvSpPr>
          <p:cNvPr id="518" name="Google Shape;518;p68"/>
          <p:cNvSpPr/>
          <p:nvPr/>
        </p:nvSpPr>
        <p:spPr>
          <a:xfrm>
            <a:off x="5872022" y="2258618"/>
            <a:ext cx="2940228" cy="49244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600">
                <a:solidFill>
                  <a:schemeClr val="dk1"/>
                </a:solidFill>
                <a:latin typeface="Arial"/>
                <a:ea typeface="Arial"/>
                <a:cs typeface="Arial"/>
                <a:sym typeface="Arial"/>
              </a:rPr>
              <a:t>Shannon’s Mixture</a:t>
            </a:r>
            <a:endParaRPr/>
          </a:p>
        </p:txBody>
      </p:sp>
      <p:sp>
        <p:nvSpPr>
          <p:cNvPr id="519" name="Google Shape;519;p68"/>
          <p:cNvSpPr/>
          <p:nvPr/>
        </p:nvSpPr>
        <p:spPr>
          <a:xfrm>
            <a:off x="558276" y="1235073"/>
            <a:ext cx="6058005"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Let’s look at another similar problem.</a:t>
            </a:r>
            <a:endParaRPr/>
          </a:p>
        </p:txBody>
      </p:sp>
      <p:pic>
        <p:nvPicPr>
          <p:cNvPr id="520" name="Google Shape;520;p68"/>
          <p:cNvPicPr preferRelativeResize="0"/>
          <p:nvPr/>
        </p:nvPicPr>
        <p:blipFill rotWithShape="1">
          <a:blip r:embed="rId3">
            <a:alphaModFix/>
          </a:blip>
          <a:srcRect b="0" l="0" r="0" t="0"/>
          <a:stretch/>
        </p:blipFill>
        <p:spPr>
          <a:xfrm>
            <a:off x="943202" y="2903828"/>
            <a:ext cx="3506823" cy="1080000"/>
          </a:xfrm>
          <a:prstGeom prst="rect">
            <a:avLst/>
          </a:prstGeom>
          <a:noFill/>
          <a:ln>
            <a:noFill/>
          </a:ln>
        </p:spPr>
      </p:pic>
      <p:pic>
        <p:nvPicPr>
          <p:cNvPr id="521" name="Google Shape;521;p68"/>
          <p:cNvPicPr preferRelativeResize="0"/>
          <p:nvPr/>
        </p:nvPicPr>
        <p:blipFill rotWithShape="1">
          <a:blip r:embed="rId4">
            <a:alphaModFix/>
          </a:blip>
          <a:srcRect b="0" l="0" r="0" t="0"/>
          <a:stretch/>
        </p:blipFill>
        <p:spPr>
          <a:xfrm>
            <a:off x="5916395" y="2855354"/>
            <a:ext cx="3466047" cy="1080000"/>
          </a:xfrm>
          <a:prstGeom prst="rect">
            <a:avLst/>
          </a:prstGeom>
          <a:noFill/>
          <a:ln>
            <a:noFill/>
          </a:ln>
        </p:spPr>
      </p:pic>
      <p:sp>
        <p:nvSpPr>
          <p:cNvPr id="522" name="Google Shape;522;p68"/>
          <p:cNvSpPr txBox="1"/>
          <p:nvPr/>
        </p:nvSpPr>
        <p:spPr>
          <a:xfrm>
            <a:off x="558276" y="4557669"/>
            <a:ext cx="902797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For 6 blue cans, who uses more yellow?</a:t>
            </a:r>
            <a:endParaRPr b="1" sz="2800">
              <a:solidFill>
                <a:schemeClr val="dk1"/>
              </a:solidFill>
              <a:latin typeface="Arial"/>
              <a:ea typeface="Arial"/>
              <a:cs typeface="Arial"/>
              <a:sym typeface="Arial"/>
            </a:endParaRPr>
          </a:p>
        </p:txBody>
      </p:sp>
      <p:sp>
        <p:nvSpPr>
          <p:cNvPr id="523" name="Google Shape;523;p68"/>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1" lang="en-US" sz="2800">
                <a:latin typeface="Arial"/>
                <a:ea typeface="Arial"/>
                <a:cs typeface="Arial"/>
                <a:sym typeface="Arial"/>
                <a:solidFill>
                  <a:srgbClr val="782DA0"/>
                </a:solidFill>
              </a:rPr>
              <a:t xml:space="preserve">    </a:t>
            </a:r>
            <a:r>
              <a:rPr b="1" lang="en-US" sz="2800">
                <a:latin typeface="Arial"/>
                <a:ea typeface="Arial"/>
                <a:cs typeface="Arial"/>
                <a:sym typeface="Arial"/>
                <a:solidFill>
                  <a:srgbClr val="782DA0"/>
                </a:solidFill>
              </a:rPr>
              <a:t>Collaborate and Connect</a:t>
            </a:r>
            <a:endParaRPr/>
          </a:p>
        </p:txBody>
      </p:sp>
      <p:pic>
        <p:nvPicPr>
          <p:cNvPr id="524" name="Google Shape;524;p68"/>
          <p:cNvPicPr preferRelativeResize="0"/>
          <p:nvPr/>
        </p:nvPicPr>
        <p:blipFill rotWithShape="1">
          <a:blip r:embed="rId5">
            <a:alphaModFix/>
          </a:blip>
          <a:srcRect b="0" l="0" r="0" t="0"/>
          <a:stretch/>
        </p:blipFill>
        <p:spPr>
          <a:xfrm>
            <a:off x="558276" y="386230"/>
            <a:ext cx="353635" cy="340537"/>
          </a:xfrm>
          <a:prstGeom prst="rect">
            <a:avLst/>
          </a:prstGeom>
          <a:noFill/>
          <a:ln>
            <a:noFill/>
          </a:ln>
        </p:spPr>
      </p:pic>
      <p:sp>
        <p:nvSpPr>
          <p:cNvPr id="525"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p:nvSpPr>
          <p:cNvPr id="527" name="Rounded Rectangle 17"/>
          <p:cNvSpPr/>
          <p:nvPr/>
        </p:nvSpPr>
        <p:spPr>
          <a:xfrm>
            <a:off x="548640" y="5212080"/>
            <a:ext cx="7315200" cy="82296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Rectangle 18"/>
          <p:cNvSpPr/>
          <p:nvPr/>
        </p:nvSpPr>
        <p:spPr>
          <a:xfrm>
            <a:off x="548640" y="5212080"/>
            <a:ext cx="73152" cy="82296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TextBox 19"/>
          <p:cNvSpPr txBox="1"/>
          <p:nvPr/>
        </p:nvSpPr>
        <p:spPr>
          <a:xfrm>
            <a:off x="713232" y="5349240"/>
            <a:ext cx="6995160" cy="228600"/>
          </a:xfrm>
          <a:prstGeom prst="rect">
            <a:avLst/>
          </a:prstGeom>
          <a:noFill/>
        </p:spPr>
        <p:txBody>
          <a:bodyPr wrap="square" lIns="0" tIns="0" rIns="0" bIns="0" anchor="t">
            <a:spAutoFit/>
          </a:bodyPr>
          <a:lstStyle/>
          <a:p>
            <a:pPr algn="l"/>
            <a:r>
              <a:rPr sz="1400" b="1">
                <a:solidFill>
                  <a:srgbClr val="782DA0"/>
                </a:solidFill>
                <a:latin typeface="Arial"/>
              </a:rPr>
              <a:t>MAKE IT FAIR</a:t>
            </a:r>
          </a:p>
        </p:txBody>
      </p:sp>
      <p:sp>
        <p:nvSpPr>
          <p:cNvPr id="530" name="TextBox 20"/>
          <p:cNvSpPr txBox="1"/>
          <p:nvPr/>
        </p:nvSpPr>
        <p:spPr>
          <a:xfrm>
            <a:off x="713232" y="5650992"/>
            <a:ext cx="6995160" cy="292608"/>
          </a:xfrm>
          <a:prstGeom prst="rect">
            <a:avLst/>
          </a:prstGeom>
          <a:noFill/>
        </p:spPr>
        <p:txBody>
          <a:bodyPr wrap="square" lIns="0" tIns="0" rIns="0" bIns="0" anchor="t">
            <a:spAutoFit/>
          </a:bodyPr>
          <a:lstStyle/>
          <a:p>
            <a:pPr algn="l"/>
            <a:r>
              <a:rPr sz="1700" b="0">
                <a:solidFill>
                  <a:srgbClr val="23282D"/>
                </a:solidFill>
                <a:latin typeface="Arial"/>
              </a:rPr>
              <a:t>“For 6 blue cans, __ uses __ yellow cans and __ uses 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42</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cxnSp>
        <p:nvCxnSpPr>
          <p:cNvPr id="553" name="Google Shape;553;p71"/>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554" name="Google Shape;554;p71"/>
          <p:cNvSpPr txBox="1"/>
          <p:nvPr/>
        </p:nvSpPr>
        <p:spPr>
          <a:xfrm>
            <a:off x="484565" y="316034"/>
            <a:ext cx="6046864"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defRPr/>
            </a:pPr>
            <a:r>
              <a:rPr b="1" lang="en-US" sz="2800">
                <a:latin typeface="Arial"/>
                <a:ea typeface="Arial"/>
                <a:cs typeface="Arial"/>
                <a:sym typeface="Arial"/>
                <a:solidFill>
                  <a:srgbClr val="782DA0"/>
                </a:solidFill>
              </a:rPr>
              <a:t xml:space="preserve">    </a:t>
            </a:r>
            <a:r>
              <a:rPr b="1" lang="en-US" sz="2800">
                <a:latin typeface="Arial"/>
                <a:ea typeface="Arial"/>
                <a:cs typeface="Arial"/>
                <a:sym typeface="Arial"/>
                <a:solidFill>
                  <a:srgbClr val="782DA0"/>
                </a:solidFill>
              </a:rPr>
              <a:t xml:space="preserve">Collaborate and Connect </a:t>
            </a:r>
            <a:r>
              <a:rPr b="1" lang="en-US" sz="1500">
                <a:latin typeface="Arial"/>
                <a:ea typeface="Arial"/>
                <a:cs typeface="Arial"/>
                <a:sym typeface="Arial"/>
                <a:solidFill>
                  <a:srgbClr val="782DA0"/>
                </a:solidFill>
              </a:rPr>
              <a:t>(continued)</a:t>
            </a:r>
            <a:endParaRPr/>
          </a:p>
        </p:txBody>
      </p:sp>
      <p:pic>
        <p:nvPicPr>
          <p:cNvPr id="555" name="Google Shape;555;p71"/>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556" name="Google Shape;556;p71"/>
          <p:cNvSpPr txBox="1"/>
          <p:nvPr/>
        </p:nvSpPr>
        <p:spPr>
          <a:xfrm>
            <a:off x="558276" y="977154"/>
            <a:ext cx="719576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defRPr/>
            </a:pPr>
            <a:r>
              <a:rPr lang="en-US" sz="2800">
                <a:solidFill>
                  <a:schemeClr val="dk1"/>
                </a:solidFill>
                <a:latin typeface="Arial"/>
                <a:ea typeface="Arial"/>
                <a:cs typeface="Arial"/>
                <a:sym typeface="Arial"/>
              </a:rPr>
              <a:t xml:space="preserve">Or you can extend the patterns using multiplication to find the </a:t>
            </a:r>
            <a:r>
              <a:rPr lang="en-US" sz="2800" b="1">
                <a:solidFill>
                  <a:srgbClr val="23282D"/>
                </a:solidFill>
                <a:highlight>
                  <a:srgbClr val="FFF2A8"/>
                </a:highlight>
                <a:latin typeface="Arial"/>
                <a:ea typeface="Arial"/>
                <a:cs typeface="Arial"/>
                <a:sym typeface="Arial"/>
              </a:rPr>
              <a:t>equivalent ratios</a:t>
            </a:r>
            <a:r>
              <a:rPr lang="en-US" sz="2800">
                <a:solidFill>
                  <a:schemeClr val="dk1"/>
                </a:solidFill>
                <a:latin typeface="Arial"/>
                <a:ea typeface="Arial"/>
                <a:cs typeface="Arial"/>
                <a:sym typeface="Arial"/>
              </a:rPr>
              <a:t xml:space="preserve">. </a:t>
            </a:r>
            <a:endParaRPr sz="2800">
              <a:solidFill>
                <a:schemeClr val="dk1"/>
              </a:solidFill>
              <a:latin typeface="Arial"/>
              <a:ea typeface="Calibri"/>
              <a:cs typeface="Calibri"/>
              <a:sym typeface="Calibri"/>
            </a:endParaRPr>
          </a:p>
        </p:txBody>
      </p:sp>
      <p:pic>
        <p:nvPicPr>
          <p:cNvPr id="557" name="Google Shape;557;p71"/>
          <p:cNvPicPr preferRelativeResize="0"/>
          <p:nvPr/>
        </p:nvPicPr>
        <p:blipFill rotWithShape="1">
          <a:blip r:embed="rId4">
            <a:alphaModFix/>
          </a:blip>
          <a:srcRect b="0" l="0" r="0" t="0"/>
          <a:stretch/>
        </p:blipFill>
        <p:spPr>
          <a:xfrm>
            <a:off x="558276" y="2524916"/>
            <a:ext cx="8983882" cy="2736000"/>
          </a:xfrm>
          <a:prstGeom prst="rect">
            <a:avLst/>
          </a:prstGeom>
          <a:noFill/>
          <a:ln>
            <a:noFill/>
          </a:ln>
        </p:spPr>
      </p:pic>
      <p:sp>
        <p:nvSpPr>
          <p:cNvPr id="558" name="Google Shape;558;p71"/>
          <p:cNvSpPr/>
          <p:nvPr/>
        </p:nvSpPr>
        <p:spPr>
          <a:xfrm>
            <a:off x="558276" y="2143281"/>
            <a:ext cx="2601994" cy="49244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defRPr/>
            </a:pPr>
            <a:r>
              <a:rPr lang="en-US" sz="2600">
                <a:solidFill>
                  <a:schemeClr val="dk1"/>
                </a:solidFill>
                <a:latin typeface="Arial"/>
                <a:ea typeface="Arial"/>
                <a:cs typeface="Arial"/>
                <a:sym typeface="Arial"/>
              </a:rPr>
              <a:t>Marisa’s Mixture</a:t>
            </a:r>
            <a:endParaRPr/>
          </a:p>
        </p:txBody>
      </p:sp>
      <p:sp>
        <p:nvSpPr>
          <p:cNvPr id="559" name="Google Shape;559;p71"/>
          <p:cNvSpPr/>
          <p:nvPr/>
        </p:nvSpPr>
        <p:spPr>
          <a:xfrm>
            <a:off x="5540158" y="2121860"/>
            <a:ext cx="2940228" cy="49244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defRPr/>
            </a:pPr>
            <a:r>
              <a:rPr lang="en-US" sz="2600">
                <a:solidFill>
                  <a:schemeClr val="dk1"/>
                </a:solidFill>
                <a:latin typeface="Arial"/>
                <a:ea typeface="Arial"/>
                <a:cs typeface="Arial"/>
                <a:sym typeface="Arial"/>
              </a:rPr>
              <a:t>Shannon’s Mixture</a:t>
            </a:r>
            <a:endParaRPr/>
          </a:p>
        </p:txBody>
      </p:sp>
      <p:sp>
        <p:nvSpPr>
          <p:cNvPr id="560" name="Google Shape;560;p71"/>
          <p:cNvSpPr/>
          <p:nvPr/>
        </p:nvSpPr>
        <p:spPr>
          <a:xfrm>
            <a:off x="649966" y="4735447"/>
            <a:ext cx="7949612"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defRPr/>
            </a:pPr>
            <a:r>
              <a:rPr b="1" lang="en-US" sz="2800">
                <a:solidFill>
                  <a:schemeClr val="dk1"/>
                </a:solidFill>
                <a:latin typeface="Arial"/>
                <a:ea typeface="Arial"/>
                <a:cs typeface="Arial"/>
                <a:sym typeface="Arial"/>
              </a:rPr>
              <a:t>For 6 blue cans, who uses more yellow?</a:t>
            </a:r>
            <a:endParaRPr/>
          </a:p>
        </p:txBody>
      </p:sp>
      <p:sp>
        <p:nvSpPr>
          <p:cNvPr id="561" name="Google Shape;561;p71"/>
          <p:cNvSpPr txBox="1"/>
          <p:nvPr/>
        </p:nvSpPr>
        <p:spPr>
          <a:xfrm>
            <a:off x="558276" y="5333719"/>
            <a:ext cx="7826599" cy="10942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lang="en-US" sz="2800">
                <a:solidFill>
                  <a:srgbClr val="0070C0"/>
                </a:solidFill>
                <a:highlight>
                  <a:srgbClr val="E0E0E0"/>
                </a:highlight>
                <a:latin typeface="Arial"/>
                <a:ea typeface="Arial"/>
                <a:cs typeface="Arial"/>
                <a:sym typeface="Arial"/>
              </a:rPr>
              <a:t xml:space="preserve"> Check</a:t>
            </a:r>
            <a:r>
              <a:rPr b="1" lang="en-US" sz="2800">
                <a:solidFill>
                  <a:srgbClr val="E0E0E0"/>
                </a:solidFill>
                <a:highlight>
                  <a:srgbClr val="E0E0E0"/>
                </a:highlight>
                <a:latin typeface="Arial"/>
                <a:ea typeface="Arial"/>
                <a:cs typeface="Arial"/>
                <a:sym typeface="Arial"/>
              </a:rPr>
              <a:t>:</a:t>
            </a:r>
            <a:r>
              <a:rPr b="1" lang="en-US" sz="2800">
                <a:solidFill>
                  <a:srgbClr val="0070C0"/>
                </a:solidFill>
                <a:latin typeface="Arial"/>
                <a:ea typeface="Arial"/>
                <a:cs typeface="Arial"/>
                <a:sym typeface="Arial"/>
              </a:rPr>
              <a:t xml:space="preserve"> </a:t>
            </a:r>
            <a:endParaRPr/>
          </a:p>
          <a:p>
            <a:pPr indent="0" lvl="0" marL="0" marR="0" rtl="0" algn="l">
              <a:lnSpc>
                <a:spcPct val="100000"/>
              </a:lnSpc>
              <a:spcBef>
                <a:spcPts val="1200"/>
              </a:spcBef>
              <a:spcAft>
                <a:spcPts val="0"/>
              </a:spcAft>
              <a:buClr>
                <a:srgbClr val="595959"/>
              </a:buClr>
              <a:buSzPts val="2800"/>
              <a:buFont typeface="Arial"/>
              <a:buNone/>
              <a:defRPr/>
            </a:pPr>
            <a:r>
              <a:rPr lang="en-US" sz="2800">
                <a:solidFill>
                  <a:srgbClr val="595959"/>
                </a:solidFill>
                <a:latin typeface="Arial"/>
                <a:ea typeface="Arial"/>
                <a:cs typeface="Arial"/>
                <a:sym typeface="Arial"/>
              </a:rPr>
              <a:t>Marisa: 15 yellow cans compared with 14.</a:t>
            </a:r>
            <a:endParaRPr/>
          </a:p>
        </p:txBody>
      </p:sp>
      <p:sp>
        <p:nvSpPr>
          <p:cNvPr id="562"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p:nvSpPr>
          <p:cNvPr id="5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42</a:t>
            </a:r>
          </a:p>
        </p:txBody>
      </p:sp>
      <p:sp>
        <p:nvSpPr>
          <p:cNvPr id="564" name="EWL-COVER-1"/>
          <p:cNvSpPr/>
          <p:nvPr/>
        </p:nvSpPr>
        <p:spPr>
          <a:xfrm>
            <a:off x="503412" y="5278855"/>
            <a:ext cx="7076120" cy="1167665"/>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7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lang="en-US" sz="2800">
                <a:latin typeface="Arial"/>
                <a:ea typeface="Arial"/>
                <a:cs typeface="Arial"/>
                <a:sym typeface="Arial"/>
                <a:solidFill>
                  <a:srgbClr val="782DA0"/>
                </a:solidFill>
              </a:rPr>
              <a:t>Let’s Explore More</a:t>
            </a:r>
            <a:endParaRPr/>
          </a:p>
        </p:txBody>
      </p:sp>
      <p:sp>
        <p:nvSpPr>
          <p:cNvPr id="567" name="Google Shape;567;p72"/>
          <p:cNvSpPr txBox="1"/>
          <p:nvPr/>
        </p:nvSpPr>
        <p:spPr>
          <a:xfrm>
            <a:off x="484565" y="927528"/>
            <a:ext cx="7807179" cy="1956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lang="en-US" sz="2800">
                <a:solidFill>
                  <a:srgbClr val="23282D"/>
                </a:solidFill>
                <a:latin typeface="Arial"/>
                <a:ea typeface="Arial"/>
                <a:cs typeface="Arial"/>
                <a:sym typeface="Arial"/>
              </a:rPr>
              <a:t>When the two friends each use 6 cans of red paint to create their mixture, how much purple paint will each person have?</a:t>
            </a:r>
            <a:endParaRPr/>
          </a:p>
        </p:txBody>
      </p:sp>
      <p:pic>
        <p:nvPicPr>
          <p:cNvPr id="568" name="Google Shape;568;p72"/>
          <p:cNvPicPr preferRelativeResize="0"/>
          <p:nvPr/>
        </p:nvPicPr>
        <p:blipFill rotWithShape="1">
          <a:blip r:embed="rId3">
            <a:alphaModFix/>
          </a:blip>
          <a:srcRect b="0" l="0" r="0" t="0"/>
          <a:stretch/>
        </p:blipFill>
        <p:spPr>
          <a:xfrm>
            <a:off x="484565" y="2297899"/>
            <a:ext cx="7289424" cy="2528435"/>
          </a:xfrm>
          <a:prstGeom prst="rect">
            <a:avLst/>
          </a:prstGeom>
          <a:noFill/>
          <a:ln>
            <a:noFill/>
          </a:ln>
        </p:spPr>
      </p:pic>
      <p:sp>
        <p:nvSpPr>
          <p:cNvPr id="569" name="Google Shape;569;p72"/>
          <p:cNvSpPr/>
          <p:nvPr/>
        </p:nvSpPr>
        <p:spPr>
          <a:xfrm>
            <a:off x="484564" y="4986569"/>
            <a:ext cx="7807179" cy="1429649"/>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570" name="Google Shape;570;p72"/>
          <p:cNvSpPr txBox="1"/>
          <p:nvPr/>
        </p:nvSpPr>
        <p:spPr>
          <a:xfrm>
            <a:off x="6987858" y="6027428"/>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571"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p:nvSpPr>
          <p:cNvPr id="573" name="Rounded Rectangle 17"/>
          <p:cNvSpPr/>
          <p:nvPr/>
        </p:nvSpPr>
        <p:spPr>
          <a:xfrm>
            <a:off x="548640" y="5166360"/>
            <a:ext cx="6583680" cy="100584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Rectangle 18"/>
          <p:cNvSpPr/>
          <p:nvPr/>
        </p:nvSpPr>
        <p:spPr>
          <a:xfrm>
            <a:off x="548640" y="5166360"/>
            <a:ext cx="73152" cy="100584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TextBox 19"/>
          <p:cNvSpPr txBox="1"/>
          <p:nvPr/>
        </p:nvSpPr>
        <p:spPr>
          <a:xfrm>
            <a:off x="713232" y="5303520"/>
            <a:ext cx="6263640" cy="228600"/>
          </a:xfrm>
          <a:prstGeom prst="rect">
            <a:avLst/>
          </a:prstGeom>
          <a:noFill/>
        </p:spPr>
        <p:txBody>
          <a:bodyPr wrap="square" lIns="0" tIns="0" rIns="0" bIns="0" anchor="t">
            <a:spAutoFit/>
          </a:bodyPr>
          <a:lstStyle/>
          <a:p>
            <a:pPr algn="l">
              <a:defRPr/>
            </a:pPr>
            <a:r>
              <a:rPr sz="1400" b="1">
                <a:solidFill>
                  <a:srgbClr val="782DA0"/>
                </a:solidFill>
                <a:latin typeface="Arial"/>
              </a:rPr>
              <a:t>DISTINGUISH PART FROM WHOLE</a:t>
            </a:r>
          </a:p>
        </p:txBody>
      </p:sp>
      <p:sp>
        <p:nvSpPr>
          <p:cNvPr id="576" name="TextBox 20"/>
          <p:cNvSpPr txBox="1"/>
          <p:nvPr/>
        </p:nvSpPr>
        <p:spPr>
          <a:xfrm>
            <a:off x="713232" y="5605272"/>
            <a:ext cx="6263640" cy="502920"/>
          </a:xfrm>
          <a:prstGeom prst="rect">
            <a:avLst/>
          </a:prstGeom>
          <a:noFill/>
        </p:spPr>
        <p:txBody>
          <a:bodyPr wrap="square" lIns="0" tIns="0" rIns="0" bIns="0" anchor="t">
            <a:spAutoFit/>
          </a:bodyPr>
          <a:lstStyle/>
          <a:p>
            <a:pPr algn="l">
              <a:defRPr/>
            </a:pPr>
            <a:r>
              <a:rPr sz="1800" b="0">
                <a:solidFill>
                  <a:srgbClr val="23282D"/>
                </a:solidFill>
                <a:latin typeface="Arial"/>
              </a:rPr>
              <a:t>“Total purple paint = red + blue. Reginald has __ cans; Anwar has __ cans.”</a:t>
            </a:r>
          </a:p>
        </p:txBody>
      </p:sp>
      <p:sp>
        <p:nvSpPr>
          <p:cNvPr id="5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3.5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must be held equal to make this a fair comparison, and how does your table show that?</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9.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29184"/>
            <a:ext cx="7132320" cy="530352"/>
          </a:xfrm>
          <a:prstGeom prst="rect">
            <a:avLst/>
          </a:prstGeom>
          <a:noFill/>
        </p:spPr>
        <p:txBody>
          <a:bodyPr wrap="square" lIns="0" tIns="0" rIns="0" bIns="0" anchor="t">
            <a:spAutoFit/>
          </a:bodyPr>
          <a:lstStyle/>
          <a:p>
            <a:pPr algn="l"/>
            <a:r>
              <a:rPr sz="2800" b="1">
                <a:solidFill>
                  <a:srgbClr val="782DA0"/>
                </a:solidFill>
                <a:latin typeface="Arial"/>
              </a:rPr>
              <a:t>60-Second Check</a:t>
            </a:r>
          </a:p>
        </p:txBody>
      </p:sp>
      <p:sp>
        <p:nvSpPr>
          <p:cNvPr id="3" name="TextBox 2"/>
          <p:cNvSpPr txBox="1"/>
          <p:nvPr/>
        </p:nvSpPr>
        <p:spPr>
          <a:xfrm>
            <a:off x="521207" y="896112"/>
            <a:ext cx="7589520" cy="320040"/>
          </a:xfrm>
          <a:prstGeom prst="rect">
            <a:avLst/>
          </a:prstGeom>
          <a:noFill/>
        </p:spPr>
        <p:txBody>
          <a:bodyPr wrap="square" lIns="0" tIns="0" rIns="0" bIns="0" anchor="t">
            <a:spAutoFit/>
          </a:bodyPr>
          <a:lstStyle/>
          <a:p>
            <a:pPr algn="l"/>
            <a:r>
              <a:rPr sz="1500" b="0">
                <a:solidFill>
                  <a:srgbClr val="5D6872"/>
                </a:solidFill>
                <a:latin typeface="Arial"/>
              </a:rPr>
              <a:t>Work independently first. Your response tells us what to do next.</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FORMATIVE CHECK</a:t>
            </a:r>
            <a:r>
              <a:rPr lang="en-US" sz="1150" b="1" dirty="0">
                <a:solidFill>
                  <a:srgbClr val="2D3A40"/>
                </a:solidFill>
                <a:latin typeface="Arial"/>
              </a:rPr>
              <a:t xml:space="preserve">  ·  SOLO → CHECK → REVISE</a:t>
            </a:r>
          </a:p>
        </p:txBody>
      </p:sp>
      <p:sp>
        <p:nvSpPr>
          <p:cNvPr id="6" name="Rounded Rectangle 5"/>
          <p:cNvSpPr/>
          <p:nvPr/>
        </p:nvSpPr>
        <p:spPr>
          <a:xfrm>
            <a:off x="502920" y="1353312"/>
            <a:ext cx="11082528" cy="868680"/>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53312"/>
            <a:ext cx="73152" cy="86868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463040"/>
            <a:ext cx="10789919" cy="219456"/>
          </a:xfrm>
          <a:prstGeom prst="rect">
            <a:avLst/>
          </a:prstGeom>
          <a:noFill/>
        </p:spPr>
        <p:txBody>
          <a:bodyPr wrap="square" lIns="0" tIns="0" rIns="0" bIns="0" anchor="t">
            <a:spAutoFit/>
          </a:bodyPr>
          <a:lstStyle/>
          <a:p>
            <a:pPr algn="l"/>
            <a:r>
              <a:rPr sz="1400" b="1">
                <a:solidFill>
                  <a:srgbClr val="01708C"/>
                </a:solidFill>
                <a:latin typeface="Arial"/>
              </a:rPr>
              <a:t>USE THIS INFORMATION</a:t>
            </a:r>
          </a:p>
        </p:txBody>
      </p:sp>
      <p:sp>
        <p:nvSpPr>
          <p:cNvPr id="9" name="TextBox 8"/>
          <p:cNvSpPr txBox="1"/>
          <p:nvPr/>
        </p:nvSpPr>
        <p:spPr>
          <a:xfrm>
            <a:off x="667512" y="1737360"/>
            <a:ext cx="10771632" cy="393191"/>
          </a:xfrm>
          <a:prstGeom prst="rect">
            <a:avLst/>
          </a:prstGeom>
          <a:noFill/>
        </p:spPr>
        <p:txBody>
          <a:bodyPr wrap="square" lIns="0" tIns="0" rIns="0" bIns="0" anchor="t">
            <a:spAutoFit/>
          </a:bodyPr>
          <a:lstStyle/>
          <a:p>
            <a:pPr algn="l"/>
            <a:r>
              <a:rPr sz="2000" b="0">
                <a:solidFill>
                  <a:srgbClr val="23282D"/>
                </a:solidFill>
                <a:latin typeface="Arial"/>
              </a:rPr>
              <a:t>Reginald: 3 red to 4 blue.  Anwar: 2 red to 3 blue.</a:t>
            </a:r>
          </a:p>
        </p:txBody>
      </p:sp>
      <p:sp>
        <p:nvSpPr>
          <p:cNvPr id="10" name="Rounded Rectangle 9"/>
          <p:cNvSpPr/>
          <p:nvPr/>
        </p:nvSpPr>
        <p:spPr>
          <a:xfrm>
            <a:off x="502920" y="2487168"/>
            <a:ext cx="3520440" cy="239572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487168"/>
            <a:ext cx="73152" cy="239572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596896"/>
            <a:ext cx="3227832" cy="219456"/>
          </a:xfrm>
          <a:prstGeom prst="rect">
            <a:avLst/>
          </a:prstGeom>
          <a:noFill/>
        </p:spPr>
        <p:txBody>
          <a:bodyPr wrap="square" lIns="0" tIns="0" rIns="0" bIns="0" anchor="t">
            <a:spAutoFit/>
          </a:bodyPr>
          <a:lstStyle/>
          <a:p>
            <a:pPr algn="l"/>
            <a:r>
              <a:rPr sz="1400" b="1">
                <a:solidFill>
                  <a:srgbClr val="782DA0"/>
                </a:solidFill>
                <a:latin typeface="Arial"/>
              </a:rPr>
              <a:t>1 — REPRESENT</a:t>
            </a:r>
          </a:p>
        </p:txBody>
      </p:sp>
      <p:sp>
        <p:nvSpPr>
          <p:cNvPr id="13" name="TextBox 12"/>
          <p:cNvSpPr txBox="1"/>
          <p:nvPr/>
        </p:nvSpPr>
        <p:spPr>
          <a:xfrm>
            <a:off x="667512" y="2871216"/>
            <a:ext cx="3209544" cy="1920240"/>
          </a:xfrm>
          <a:prstGeom prst="rect">
            <a:avLst/>
          </a:prstGeom>
          <a:noFill/>
        </p:spPr>
        <p:txBody>
          <a:bodyPr wrap="square" lIns="0" tIns="0" rIns="0" bIns="0" anchor="t">
            <a:spAutoFit/>
          </a:bodyPr>
          <a:lstStyle/>
          <a:p>
            <a:pPr algn="l"/>
            <a:r>
              <a:rPr sz="2200" b="0">
                <a:solidFill>
                  <a:srgbClr val="23282D"/>
                </a:solidFill>
                <a:latin typeface="Arial"/>
              </a:rPr>
              <a:t>Find each mixture’s blue cans for 12 red cans. Show how you scaled BOTH quantities.</a:t>
            </a:r>
          </a:p>
        </p:txBody>
      </p:sp>
      <p:sp>
        <p:nvSpPr>
          <p:cNvPr id="14" name="Rounded Rectangle 13"/>
          <p:cNvSpPr/>
          <p:nvPr/>
        </p:nvSpPr>
        <p:spPr>
          <a:xfrm>
            <a:off x="4270248" y="2487168"/>
            <a:ext cx="3520440" cy="239572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70248" y="2487168"/>
            <a:ext cx="73152" cy="2395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40" y="2596896"/>
            <a:ext cx="3227832" cy="219456"/>
          </a:xfrm>
          <a:prstGeom prst="rect">
            <a:avLst/>
          </a:prstGeom>
          <a:noFill/>
        </p:spPr>
        <p:txBody>
          <a:bodyPr wrap="square" lIns="0" tIns="0" rIns="0" bIns="0" anchor="t">
            <a:spAutoFit/>
          </a:bodyPr>
          <a:lstStyle/>
          <a:p>
            <a:pPr algn="l"/>
            <a:r>
              <a:rPr sz="1400" b="1">
                <a:solidFill>
                  <a:srgbClr val="0070C0"/>
                </a:solidFill>
                <a:latin typeface="Arial"/>
              </a:rPr>
              <a:t>2 — COMPARE + PROVE</a:t>
            </a:r>
          </a:p>
        </p:txBody>
      </p:sp>
      <p:sp>
        <p:nvSpPr>
          <p:cNvPr id="17" name="TextBox 16"/>
          <p:cNvSpPr txBox="1"/>
          <p:nvPr/>
        </p:nvSpPr>
        <p:spPr>
          <a:xfrm>
            <a:off x="4434840" y="2871216"/>
            <a:ext cx="3209544" cy="1920240"/>
          </a:xfrm>
          <a:prstGeom prst="rect">
            <a:avLst/>
          </a:prstGeom>
          <a:noFill/>
        </p:spPr>
        <p:txBody>
          <a:bodyPr wrap="square" lIns="0" tIns="0" rIns="0" bIns="0" anchor="t">
            <a:spAutoFit/>
          </a:bodyPr>
          <a:lstStyle/>
          <a:p>
            <a:pPr algn="l"/>
            <a:r>
              <a:rPr sz="2200" b="0">
                <a:solidFill>
                  <a:srgbClr val="23282D"/>
                </a:solidFill>
                <a:latin typeface="Arial"/>
              </a:rPr>
              <a:t>Whose mixture has more blue for the same red? Use your numbers to justify your answer.</a:t>
            </a:r>
          </a:p>
        </p:txBody>
      </p:sp>
      <p:sp>
        <p:nvSpPr>
          <p:cNvPr id="18" name="Rounded Rectangle 17"/>
          <p:cNvSpPr/>
          <p:nvPr/>
        </p:nvSpPr>
        <p:spPr>
          <a:xfrm>
            <a:off x="8046720" y="2487168"/>
            <a:ext cx="3538728" cy="239572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2487168"/>
            <a:ext cx="73152" cy="239572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11312" y="2596896"/>
            <a:ext cx="3246120" cy="219456"/>
          </a:xfrm>
          <a:prstGeom prst="rect">
            <a:avLst/>
          </a:prstGeom>
          <a:noFill/>
        </p:spPr>
        <p:txBody>
          <a:bodyPr wrap="square" lIns="0" tIns="0" rIns="0" bIns="0" anchor="t">
            <a:spAutoFit/>
          </a:bodyPr>
          <a:lstStyle/>
          <a:p>
            <a:pPr algn="l"/>
            <a:r>
              <a:rPr sz="1400" b="1">
                <a:solidFill>
                  <a:srgbClr val="008A62"/>
                </a:solidFill>
                <a:latin typeface="Arial"/>
              </a:rPr>
              <a:t>3 — SELF-MONITOR</a:t>
            </a:r>
          </a:p>
        </p:txBody>
      </p:sp>
      <p:sp>
        <p:nvSpPr>
          <p:cNvPr id="21" name="TextBox 20"/>
          <p:cNvSpPr txBox="1"/>
          <p:nvPr/>
        </p:nvSpPr>
        <p:spPr>
          <a:xfrm>
            <a:off x="8211312" y="2871216"/>
            <a:ext cx="3227832" cy="1920240"/>
          </a:xfrm>
          <a:prstGeom prst="rect">
            <a:avLst/>
          </a:prstGeom>
          <a:noFill/>
        </p:spPr>
        <p:txBody>
          <a:bodyPr wrap="square" lIns="0" tIns="0" rIns="0" bIns="0" anchor="t">
            <a:spAutoFit/>
          </a:bodyPr>
          <a:lstStyle/>
          <a:p>
            <a:pPr algn="l"/>
            <a:r>
              <a:rPr sz="1500" b="0">
                <a:solidFill>
                  <a:srgbClr val="23282D"/>
                </a:solidFill>
                <a:latin typeface="Arial"/>
              </a:rPr>
              <a:t>Circle one:
READY — I can explain it.
ALMOST — I need one hint.
NOT YET — I need a model.</a:t>
            </a:r>
          </a:p>
        </p:txBody>
      </p:sp>
      <p:sp>
        <p:nvSpPr>
          <p:cNvPr id="22" name="TextBox 21"/>
          <p:cNvSpPr txBox="1"/>
          <p:nvPr/>
        </p:nvSpPr>
        <p:spPr>
          <a:xfrm>
            <a:off x="658368" y="5239512"/>
            <a:ext cx="10789920" cy="512064"/>
          </a:xfrm>
          <a:prstGeom prst="rect">
            <a:avLst/>
          </a:prstGeom>
          <a:noFill/>
        </p:spPr>
        <p:txBody>
          <a:bodyPr wrap="square" lIns="0" tIns="0" rIns="0" bIns="0" anchor="t">
            <a:spAutoFit/>
          </a:bodyPr>
          <a:lstStyle/>
          <a:p>
            <a:pPr algn="ctr"/>
            <a:r>
              <a:rPr sz="1400" b="1">
                <a:solidFill>
                  <a:srgbClr val="1E2682"/>
                </a:solidFill>
                <a:latin typeface="Arial"/>
              </a:rPr>
              <a:t>Partner feedback: Ask “How do you know?”  The solver may clarify or revise before sharing.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42</a:t>
            </a:r>
          </a:p>
        </p:txBody>
      </p:sp>
    </p:spTree>
    <p:extLst>
      <p:ext uri="{BB962C8B-B14F-4D97-AF65-F5344CB8AC3E}">
        <p14:creationId xmlns:p14="http://schemas.microsoft.com/office/powerpoint/2010/main" val="900654600"/>
      </p:ext>
    </p:extLst>
  </p:cSld>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23" name="Google Shape;623;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24" name="Google Shape;624;p61"/>
          <p:cNvPicPr preferRelativeResize="0"/>
          <p:nvPr/>
        </p:nvPicPr>
        <p:blipFill rotWithShape="1">
          <a:blip r:embed="rId2">
            <a:alphaModFix/>
          </a:blip>
          <a:srcRect b="0" l="0" r="0" t="0"/>
          <a:stretch/>
        </p:blipFill>
        <p:spPr>
          <a:xfrm>
            <a:off x="7171981" y="1375449"/>
            <a:ext cx="4362074" cy="2356523"/>
          </a:xfrm>
          <a:prstGeom prst="rect">
            <a:avLst/>
          </a:prstGeom>
          <a:noFill/>
          <a:ln>
            <a:noFill/>
          </a:ln>
        </p:spPr>
      </p:pic>
      <p:sp>
        <p:nvSpPr>
          <p:cNvPr id="625" name="Google Shape;625;p61"/>
          <p:cNvSpPr txBox="1"/>
          <p:nvPr/>
        </p:nvSpPr>
        <p:spPr>
          <a:xfrm>
            <a:off x="484565" y="453020"/>
            <a:ext cx="6787503" cy="14620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Two friends used the paint shown to create shades of purple paint. Whose mixture contains the most blue paint?</a:t>
            </a:r>
            <a:endParaRPr b="0" i="0" sz="1400" u="none" cap="none" strike="noStrike">
              <a:solidFill>
                <a:srgbClr val="000000"/>
              </a:solidFill>
              <a:latin typeface="Arial"/>
              <a:ea typeface="Arial"/>
              <a:cs typeface="Arial"/>
              <a:sym typeface="Arial"/>
            </a:endParaRPr>
          </a:p>
        </p:txBody>
      </p:sp>
      <p:sp>
        <p:nvSpPr>
          <p:cNvPr id="626" name="Google Shape;626;p61"/>
          <p:cNvSpPr txBox="1"/>
          <p:nvPr/>
        </p:nvSpPr>
        <p:spPr>
          <a:xfrm>
            <a:off x="484565" y="4854940"/>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Reginald used 3 cans of red paint, and Anwar used 2 cans.</a:t>
            </a:r>
            <a:endParaRPr b="0" i="0" sz="1400" u="none" cap="none" strike="noStrike">
              <a:solidFill>
                <a:srgbClr val="000000"/>
              </a:solidFill>
              <a:latin typeface="Arial"/>
              <a:ea typeface="Arial"/>
              <a:cs typeface="Arial"/>
              <a:sym typeface="Arial"/>
            </a:endParaRPr>
          </a:p>
        </p:txBody>
      </p:sp>
      <p:sp>
        <p:nvSpPr>
          <p:cNvPr id="627" name="Google Shape;627;p61"/>
          <p:cNvSpPr/>
          <p:nvPr/>
        </p:nvSpPr>
        <p:spPr>
          <a:xfrm>
            <a:off x="484565" y="3807235"/>
            <a:ext cx="668741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do the numbers of cans of red paint compare?</a:t>
            </a:r>
            <a:endParaRPr b="1" i="0" sz="2800" u="none" cap="none" strike="noStrike">
              <a:solidFill>
                <a:schemeClr val="dk1"/>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28529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67" name="Google Shape;667;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8" name="Google Shape;668;p65"/>
          <p:cNvSpPr/>
          <p:nvPr/>
        </p:nvSpPr>
        <p:spPr>
          <a:xfrm>
            <a:off x="614743" y="3763108"/>
            <a:ext cx="1091222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represent the relationship between the red paint and blue paint for Reginald and Anwar’s mixtures?</a:t>
            </a:r>
            <a:endParaRPr b="1" i="0" sz="2800" u="none" cap="none" strike="noStrike">
              <a:solidFill>
                <a:schemeClr val="dk1"/>
              </a:solidFill>
              <a:latin typeface="Arial"/>
              <a:ea typeface="Arial"/>
              <a:cs typeface="Arial"/>
              <a:sym typeface="Arial"/>
            </a:endParaRPr>
          </a:p>
        </p:txBody>
      </p:sp>
      <p:sp>
        <p:nvSpPr>
          <p:cNvPr id="669" name="Google Shape;669;p65"/>
          <p:cNvSpPr/>
          <p:nvPr/>
        </p:nvSpPr>
        <p:spPr>
          <a:xfrm>
            <a:off x="4601994" y="944706"/>
            <a:ext cx="3245079"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Anwar’s Mixture</a:t>
            </a:r>
            <a:endParaRPr b="0" i="0" sz="1400" u="none" cap="none" strike="noStrike">
              <a:solidFill>
                <a:srgbClr val="000000"/>
              </a:solidFill>
              <a:latin typeface="Arial"/>
              <a:ea typeface="Arial"/>
              <a:cs typeface="Arial"/>
              <a:sym typeface="Arial"/>
            </a:endParaRPr>
          </a:p>
        </p:txBody>
      </p:sp>
      <p:sp>
        <p:nvSpPr>
          <p:cNvPr id="670" name="Google Shape;670;p65"/>
          <p:cNvSpPr/>
          <p:nvPr/>
        </p:nvSpPr>
        <p:spPr>
          <a:xfrm>
            <a:off x="614744" y="944706"/>
            <a:ext cx="3183533"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Reginald’s Mixture</a:t>
            </a:r>
            <a:endParaRPr b="0" i="0" sz="1400" u="none" cap="none" strike="noStrike">
              <a:solidFill>
                <a:srgbClr val="000000"/>
              </a:solidFill>
              <a:latin typeface="Arial"/>
              <a:ea typeface="Arial"/>
              <a:cs typeface="Arial"/>
              <a:sym typeface="Arial"/>
            </a:endParaRPr>
          </a:p>
        </p:txBody>
      </p:sp>
      <p:pic>
        <p:nvPicPr>
          <p:cNvPr id="671" name="Google Shape;671;p65"/>
          <p:cNvPicPr preferRelativeResize="0"/>
          <p:nvPr/>
        </p:nvPicPr>
        <p:blipFill rotWithShape="1">
          <a:blip r:embed="rId2">
            <a:alphaModFix/>
          </a:blip>
          <a:srcRect b="0" l="0" r="0" t="0"/>
          <a:stretch/>
        </p:blipFill>
        <p:spPr>
          <a:xfrm>
            <a:off x="5594141" y="1569239"/>
            <a:ext cx="1343845" cy="1343845"/>
          </a:xfrm>
          <a:prstGeom prst="rect">
            <a:avLst/>
          </a:prstGeom>
          <a:noFill/>
          <a:ln>
            <a:noFill/>
          </a:ln>
        </p:spPr>
      </p:pic>
      <p:pic>
        <p:nvPicPr>
          <p:cNvPr id="672" name="Google Shape;672;p65"/>
          <p:cNvPicPr preferRelativeResize="0"/>
          <p:nvPr/>
        </p:nvPicPr>
        <p:blipFill rotWithShape="1">
          <a:blip r:embed="rId3">
            <a:alphaModFix/>
          </a:blip>
          <a:srcRect b="0" l="0" r="0" t="0"/>
          <a:stretch/>
        </p:blipFill>
        <p:spPr>
          <a:xfrm>
            <a:off x="725965" y="1569239"/>
            <a:ext cx="1838278" cy="1343845"/>
          </a:xfrm>
          <a:prstGeom prst="rect">
            <a:avLst/>
          </a:prstGeom>
          <a:noFill/>
          <a:ln>
            <a:noFill/>
          </a:ln>
        </p:spPr>
      </p:pic>
      <p:sp>
        <p:nvSpPr>
          <p:cNvPr id="673" name="Google Shape;673;p65"/>
          <p:cNvSpPr txBox="1"/>
          <p:nvPr/>
        </p:nvSpPr>
        <p:spPr>
          <a:xfrm>
            <a:off x="614743" y="5235568"/>
            <a:ext cx="5960624" cy="1121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One way is to use a table.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31638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35" name="Google Shape;735;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descr="https://habitat.inklingwidgets.com/files/sn_47fe6/trunk/head/img/chapter44/narm24_c10305_eps_003a-f.png" id="736" name="Google Shape;736;p71"/>
          <p:cNvSpPr/>
          <p:nvPr/>
        </p:nvSpPr>
        <p:spPr>
          <a:xfrm>
            <a:off x="1149106" y="-311516"/>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https://habitat.inklingwidgets.com/files/sn_47fe6/trunk/head/img/chapter44/narm24_c10305_eps_003a-f.png" id="737" name="Google Shape;737;p7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8" name="Google Shape;738;p71"/>
          <p:cNvSpPr/>
          <p:nvPr/>
        </p:nvSpPr>
        <p:spPr>
          <a:xfrm>
            <a:off x="460375" y="420627"/>
            <a:ext cx="691578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When the first term in each student’s ratio is the same, 6, how do the second terms compare?</a:t>
            </a:r>
            <a:endParaRPr b="1" i="0" sz="2800" u="none" cap="none" strike="noStrike">
              <a:solidFill>
                <a:schemeClr val="dk1"/>
              </a:solidFill>
              <a:latin typeface="Arial"/>
              <a:ea typeface="Arial"/>
              <a:cs typeface="Arial"/>
              <a:sym typeface="Arial"/>
            </a:endParaRPr>
          </a:p>
        </p:txBody>
      </p:sp>
      <p:pic>
        <p:nvPicPr>
          <p:cNvPr id="739" name="Google Shape;739;p71"/>
          <p:cNvPicPr preferRelativeResize="0"/>
          <p:nvPr/>
        </p:nvPicPr>
        <p:blipFill rotWithShape="1">
          <a:blip r:embed="rId2">
            <a:alphaModFix/>
          </a:blip>
          <a:srcRect b="0" l="0" r="0" t="0"/>
          <a:stretch/>
        </p:blipFill>
        <p:spPr>
          <a:xfrm>
            <a:off x="6636386" y="2333764"/>
            <a:ext cx="2850506" cy="1908000"/>
          </a:xfrm>
          <a:prstGeom prst="rect">
            <a:avLst/>
          </a:prstGeom>
          <a:noFill/>
          <a:ln>
            <a:noFill/>
          </a:ln>
        </p:spPr>
      </p:pic>
      <p:pic>
        <p:nvPicPr>
          <p:cNvPr id="740" name="Google Shape;740;p71"/>
          <p:cNvPicPr preferRelativeResize="0"/>
          <p:nvPr/>
        </p:nvPicPr>
        <p:blipFill rotWithShape="1">
          <a:blip r:embed="rId3">
            <a:alphaModFix/>
          </a:blip>
          <a:srcRect b="0" l="0" r="0" t="0"/>
          <a:stretch/>
        </p:blipFill>
        <p:spPr>
          <a:xfrm>
            <a:off x="1398653" y="2333764"/>
            <a:ext cx="2863653" cy="1920520"/>
          </a:xfrm>
          <a:prstGeom prst="rect">
            <a:avLst/>
          </a:prstGeom>
          <a:noFill/>
          <a:ln>
            <a:noFill/>
          </a:ln>
        </p:spPr>
      </p:pic>
      <p:sp>
        <p:nvSpPr>
          <p:cNvPr id="741" name="Google Shape;741;p71"/>
          <p:cNvSpPr/>
          <p:nvPr/>
        </p:nvSpPr>
        <p:spPr>
          <a:xfrm>
            <a:off x="1336551" y="1808766"/>
            <a:ext cx="313893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Reginald’s Mixture</a:t>
            </a:r>
            <a:endParaRPr b="0" i="0" sz="1400" u="none" cap="none" strike="noStrike">
              <a:solidFill>
                <a:srgbClr val="000000"/>
              </a:solidFill>
              <a:latin typeface="Arial"/>
              <a:ea typeface="Arial"/>
              <a:cs typeface="Arial"/>
              <a:sym typeface="Arial"/>
            </a:endParaRPr>
          </a:p>
        </p:txBody>
      </p:sp>
      <p:sp>
        <p:nvSpPr>
          <p:cNvPr id="742" name="Google Shape;742;p71"/>
          <p:cNvSpPr/>
          <p:nvPr/>
        </p:nvSpPr>
        <p:spPr>
          <a:xfrm>
            <a:off x="6608582" y="1808766"/>
            <a:ext cx="274992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Anwar’s Mixture</a:t>
            </a:r>
            <a:endParaRPr b="0" i="0" sz="1400" u="none" cap="none" strike="noStrike">
              <a:solidFill>
                <a:srgbClr val="000000"/>
              </a:solidFill>
              <a:latin typeface="Arial"/>
              <a:ea typeface="Arial"/>
              <a:cs typeface="Arial"/>
              <a:sym typeface="Arial"/>
            </a:endParaRPr>
          </a:p>
        </p:txBody>
      </p:sp>
      <p:sp>
        <p:nvSpPr>
          <p:cNvPr id="743" name="Google Shape;743;p71"/>
          <p:cNvSpPr txBox="1"/>
          <p:nvPr/>
        </p:nvSpPr>
        <p:spPr>
          <a:xfrm>
            <a:off x="460374" y="4434105"/>
            <a:ext cx="9026518" cy="19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second term in the ratio for Reginald’s mixture is less than the second term in the ratio for Anwar’s mixture.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42</a:t>
            </a:r>
          </a:p>
        </p:txBody>
      </p:sp>
    </p:spTree>
  </p:cSld>
  <p:clrMapOvr>
    <a:masterClrMapping/>
  </p:clrMapOvr>
</p:sld>
</file>

<file path=ppt/slides/slide23.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400" b="1">
                <a:solidFill>
                  <a:srgbClr val="7030A0"/>
                </a:solidFill>
                <a:latin typeface="Arial"/>
              </a:rPr>
              <a:t>Session 2 Warm-Up</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2D3A40"/>
                </a:solidFill>
                <a:latin typeface="Arial"/>
              </a:rPr>
              <a:t>Lesson 3-5 · Comparing Ratio Relationships   |   Session 2 Warm-Up · about 4 minutes</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200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73152" rIns="73152" bIns="27432" anchor="t">
            <a:spAutoFit/>
          </a:bodyPr>
          <a:lstStyle/>
          <a:p>
            <a:pPr algn="l"/>
            <a:r>
              <a:rPr sz="1800" b="1">
                <a:solidFill>
                  <a:srgbClr val="2D3A40"/>
                </a:solidFill>
                <a:latin typeface="Arial"/>
              </a:rPr>
              <a:t>Scale 2 : 3 so the first number is 6.</a:t>
            </a:r>
          </a:p>
          <a:p>
            <a:pPr algn="l"/>
            <a:r>
              <a:rPr sz="1800" b="1">
                <a:solidFill>
                  <a:srgbClr val="2D3A40"/>
                </a:solidFill>
                <a:latin typeface="Arial"/>
              </a:rPr>
              <a:t>6 : ______</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73152" rIns="73152" bIns="27432" anchor="t">
            <a:spAutoFit/>
          </a:bodyPr>
          <a:lstStyle/>
          <a:p>
            <a:pPr algn="l"/>
            <a:r>
              <a:rPr sz="1800" b="1">
                <a:solidFill>
                  <a:srgbClr val="2D3A40"/>
                </a:solidFill>
                <a:latin typeface="Arial"/>
              </a:rPr>
              <a:t>Scale 3 : 4 so the first number is 6.</a:t>
            </a:r>
          </a:p>
          <a:p>
            <a:pPr algn="l"/>
            <a:r>
              <a:rPr sz="1800" b="1">
                <a:solidFill>
                  <a:srgbClr val="2D3A40"/>
                </a:solidFill>
                <a:latin typeface="Arial"/>
              </a:rPr>
              <a:t>6 : ______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73152" rIns="73152" bIns="27432" anchor="t">
            <a:spAutoFit/>
          </a:bodyPr>
          <a:lstStyle/>
          <a:p>
            <a:pPr algn="l"/>
            <a:r>
              <a:rPr sz="1800" b="1">
                <a:solidFill>
                  <a:srgbClr val="2D3A40"/>
                </a:solidFill>
                <a:latin typeface="Arial"/>
              </a:rPr>
              <a:t>Compare the second amounts:</a:t>
            </a:r>
          </a:p>
          <a:p>
            <a:pPr algn="l"/>
            <a:r>
              <a:rPr sz="1800" b="1">
                <a:solidFill>
                  <a:srgbClr val="2D3A40"/>
                </a:solidFill>
                <a:latin typeface="Arial"/>
              </a:rPr>
              <a:t>9 ______ 8</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73152" rIns="73152" bIns="27432" anchor="t">
            <a:spAutoFit/>
          </a:bodyPr>
          <a:lstStyle/>
          <a:p>
            <a:pPr algn="l"/>
            <a:r>
              <a:rPr sz="1800" b="1">
                <a:solidFill>
                  <a:srgbClr val="2D3A40"/>
                </a:solidFill>
                <a:latin typeface="Arial"/>
              </a:rPr>
              <a:t>For the same first quantity, which relationship has more of the second?</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42</a:t>
            </a:r>
          </a:p>
        </p:txBody>
      </p:sp>
    </p:spTree>
    <p:extLst>
      <p:ext uri="{BB962C8B-B14F-4D97-AF65-F5344CB8AC3E}">
        <p14:creationId xmlns:p14="http://schemas.microsoft.com/office/powerpoint/2010/main" val="59180443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502920" y="365760"/>
            <a:ext cx="8229600" cy="502920"/>
          </a:xfrm>
          <a:prstGeom prst="rect">
            <a:avLst/>
          </a:prstGeom>
          <a:noFill/>
        </p:spPr>
        <p:txBody>
          <a:bodyPr wrap="square" lIns="0" tIns="0" rIns="0" bIns="0" anchor="t">
            <a:spAutoFit/>
          </a:bodyPr>
          <a:lstStyle/>
          <a:p>
            <a:pPr algn="l"/>
            <a:r>
              <a:rPr sz="2400" b="1">
                <a:solidFill>
                  <a:srgbClr val="7030A0"/>
                </a:solidFill>
                <a:latin typeface="Arial"/>
              </a:rPr>
              <a:t>Review Notes — Session 2</a:t>
            </a:r>
          </a:p>
        </p:txBody>
      </p:sp>
      <p:sp xmlns:a="http://schemas.openxmlformats.org/drawingml/2006/main">
        <p:nvSpPr>
          <p:cNvPr id="3"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REVIEW NOTES  ·  RECALL • CONNECT • APPLY</a:t>
            </a:r>
            <a:r>
              <a:rPr lang="en-US" sz="1150" b="1" dirty="0">
                <a:solidFill>
                  <a:srgbClr val="2D3A40"/>
                </a:solidFill>
                <a:latin typeface="Arial"/>
              </a:rPr>
              <a:t xml:space="preserve"/>
            </a:r>
          </a:p>
        </p:txBody>
      </p:sp>
      <p:sp xmlns:a="http://schemas.openxmlformats.org/drawingml/2006/main">
        <p:nvSpPr>
          <p:cNvPr id="5" name="Rounded Rectangle 6"/>
          <p:cNvSpPr/>
          <p:nvPr/>
        </p:nvSpPr>
        <p:spPr>
          <a:xfrm>
            <a:off x="502920" y="1371600"/>
            <a:ext cx="5486400" cy="4160520"/>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6" name="Rectangle 7"/>
          <p:cNvSpPr/>
          <p:nvPr/>
        </p:nvSpPr>
        <p:spPr>
          <a:xfrm>
            <a:off x="502920" y="1371600"/>
            <a:ext cx="73152" cy="416052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7" name="TextBox 8"/>
          <p:cNvSpPr txBox="1"/>
          <p:nvPr/>
        </p:nvSpPr>
        <p:spPr>
          <a:xfrm>
            <a:off x="667512" y="1508760"/>
            <a:ext cx="5166360" cy="228600"/>
          </a:xfrm>
          <a:prstGeom prst="rect">
            <a:avLst/>
          </a:prstGeom>
          <a:noFill/>
        </p:spPr>
        <p:txBody>
          <a:bodyPr wrap="square" lIns="0" tIns="0" rIns="0" bIns="0" anchor="t">
            <a:spAutoFit/>
          </a:bodyPr>
          <a:lstStyle/>
          <a:p>
            <a:pPr algn="l"/>
            <a:r>
              <a:rPr sz="1400" b="1">
                <a:solidFill>
                  <a:srgbClr val="01708C"/>
                </a:solidFill>
                <a:latin typeface="Arial"/>
              </a:rPr>
              <a:t>MAKE A FAIR COMPARISON</a:t>
            </a:r>
          </a:p>
        </p:txBody>
      </p:sp>
      <p:sp xmlns:a="http://schemas.openxmlformats.org/drawingml/2006/main">
        <p:nvSpPr>
          <p:cNvPr id="8" name="TextBox 9"/>
          <p:cNvSpPr txBox="1"/>
          <p:nvPr/>
        </p:nvSpPr>
        <p:spPr>
          <a:xfrm>
            <a:off x="667512" y="1810512"/>
            <a:ext cx="5166360" cy="3630168"/>
          </a:xfrm>
          <a:prstGeom prst="rect">
            <a:avLst/>
          </a:prstGeom>
          <a:noFill/>
        </p:spPr>
        <p:txBody>
          <a:bodyPr wrap="square" lIns="0" tIns="0" rIns="0" bIns="0" anchor="t">
            <a:spAutoFit/>
          </a:bodyPr>
          <a:lstStyle/>
          <a:p>
            <a:pPr algn="l"/>
            <a:r>
              <a:rPr sz="2300" b="0">
                <a:solidFill>
                  <a:srgbClr val="23282D"/>
                </a:solidFill>
                <a:latin typeface="Arial"/>
              </a:rPr>
              <a:t xml:space="preserve">Keep the </a:t>
            </a:r>
            <a:r>
              <a:rPr sz="2300" b="1">
                <a:solidFill>
                  <a:srgbClr val="23282D"/>
                </a:solidFill>
                <a:latin typeface="Arial"/>
              </a:rPr>
              <a:t xml:space="preserve">quantities</a:t>
            </a:r>
            <a:r>
              <a:rPr sz="2300" b="0">
                <a:solidFill>
                  <a:srgbClr val="23282D"/>
                </a:solidFill>
                <a:latin typeface="Arial"/>
              </a:rPr>
              <a:t xml:space="preserve"> in the same order. Make the red amounts equal. Then </a:t>
            </a:r>
            <a:r>
              <a:rPr sz="2300" b="1">
                <a:solidFill>
                  <a:srgbClr val="23282D"/>
                </a:solidFill>
                <a:latin typeface="Arial"/>
              </a:rPr>
              <a:t xml:space="preserve">compare</a:t>
            </a:r>
            <a:r>
              <a:rPr sz="2300" b="0">
                <a:solidFill>
                  <a:srgbClr val="23282D"/>
                </a:solidFill>
                <a:latin typeface="Arial"/>
              </a:rPr>
              <a:t xml:space="preserve"> blue.</a:t>
            </a:r>
          </a:p>
          <a:p>
            <a:pPr algn="l"/>
            <a:r>
              <a:rPr sz="2300" b="0">
                <a:solidFill>
                  <a:srgbClr val="23282D"/>
                </a:solidFill>
                <a:latin typeface="Arial"/>
              </a:rPr>
              <a:t/>
            </a:r>
          </a:p>
          <a:p>
            <a:pPr algn="l"/>
            <a:r>
              <a:rPr sz="2300" b="1">
                <a:solidFill>
                  <a:srgbClr val="23282D"/>
                </a:solidFill>
                <a:latin typeface="Arial"/>
              </a:rPr>
              <a:t xml:space="preserve">Scale</a:t>
            </a:r>
            <a:r>
              <a:rPr sz="2300" b="0">
                <a:solidFill>
                  <a:srgbClr val="23282D"/>
                </a:solidFill>
                <a:latin typeface="Arial"/>
              </a:rPr>
              <a:t xml:space="preserve"> BOTH quantities in each </a:t>
            </a:r>
            <a:r>
              <a:rPr sz="2300" b="1">
                <a:solidFill>
                  <a:srgbClr val="23282D"/>
                </a:solidFill>
                <a:latin typeface="Arial"/>
              </a:rPr>
              <a:t xml:space="preserve">ratio</a:t>
            </a:r>
            <a:r>
              <a:rPr sz="2300" b="0">
                <a:solidFill>
                  <a:srgbClr val="23282D"/>
                </a:solidFill>
                <a:latin typeface="Arial"/>
              </a:rPr>
              <a:t xml:space="preserve">.</a:t>
            </a:r>
          </a:p>
        </p:txBody>
      </p:sp>
      <p:sp xmlns:a="http://schemas.openxmlformats.org/drawingml/2006/main">
        <p:nvSpPr>
          <p:cNvPr id="9" name="Rounded Rectangle 10"/>
          <p:cNvSpPr/>
          <p:nvPr/>
        </p:nvSpPr>
        <p:spPr>
          <a:xfrm>
            <a:off x="6245352" y="1371600"/>
            <a:ext cx="5394960" cy="4160520"/>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0" name="Rectangle 11"/>
          <p:cNvSpPr/>
          <p:nvPr/>
        </p:nvSpPr>
        <p:spPr>
          <a:xfrm>
            <a:off x="6245352" y="1371600"/>
            <a:ext cx="73152" cy="4160520"/>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1" name="TextBox 12"/>
          <p:cNvSpPr txBox="1"/>
          <p:nvPr/>
        </p:nvSpPr>
        <p:spPr>
          <a:xfrm>
            <a:off x="6409944" y="1508760"/>
            <a:ext cx="5074920" cy="228600"/>
          </a:xfrm>
          <a:prstGeom prst="rect">
            <a:avLst/>
          </a:prstGeom>
          <a:noFill/>
        </p:spPr>
        <p:txBody>
          <a:bodyPr wrap="square" lIns="0" tIns="0" rIns="0" bIns="0" anchor="t">
            <a:spAutoFit/>
          </a:bodyPr>
          <a:lstStyle/>
          <a:p>
            <a:pPr algn="l"/>
            <a:r>
              <a:rPr sz="1400" b="1">
                <a:solidFill>
                  <a:srgbClr val="C8430E"/>
                </a:solidFill>
                <a:latin typeface="Arial"/>
              </a:rPr>
              <a:t>SAME RED → COMPARE BLUE</a:t>
            </a:r>
          </a:p>
        </p:txBody>
      </p:sp>
      <p:sp xmlns:a="http://schemas.openxmlformats.org/drawingml/2006/main">
        <p:nvSpPr>
          <p:cNvPr id="12" name="TextBox 13"/>
          <p:cNvSpPr txBox="1"/>
          <p:nvPr/>
        </p:nvSpPr>
        <p:spPr>
          <a:xfrm>
            <a:off x="6409944" y="1810512"/>
            <a:ext cx="5074920" cy="3630168"/>
          </a:xfrm>
          <a:prstGeom prst="rect">
            <a:avLst/>
          </a:prstGeom>
          <a:noFill/>
        </p:spPr>
        <p:txBody>
          <a:bodyPr wrap="square" lIns="0" tIns="0" rIns="0" bIns="0" anchor="t">
            <a:spAutoFit/>
          </a:bodyPr>
          <a:lstStyle/>
          <a:p>
            <a:pPr algn="l"/>
            <a:r>
              <a:rPr sz="2300" b="0">
                <a:solidFill>
                  <a:srgbClr val="23282D"/>
                </a:solidFill>
                <a:latin typeface="Arial"/>
              </a:rPr>
              <a:t>Reginald: 6 red, 8 blue</a:t>
            </a:r>
          </a:p>
          <a:p>
            <a:pPr algn="l"/>
            <a:r>
              <a:rPr sz="2300" b="0">
                <a:solidFill>
                  <a:srgbClr val="23282D"/>
                </a:solidFill>
                <a:latin typeface="Arial"/>
              </a:rPr>
              <a:t>Anwar: 6 red, 9 blue</a:t>
            </a:r>
          </a:p>
          <a:p>
            <a:pPr algn="l"/>
            <a:r>
              <a:rPr sz="2300" b="0">
                <a:solidFill>
                  <a:srgbClr val="23282D"/>
                </a:solidFill>
                <a:latin typeface="Arial"/>
              </a:rPr>
              <a:t/>
            </a:r>
          </a:p>
          <a:p>
            <a:pPr algn="l"/>
            <a:r>
              <a:rPr sz="2300" b="0">
                <a:solidFill>
                  <a:srgbClr val="23282D"/>
                </a:solidFill>
                <a:latin typeface="Arial"/>
              </a:rPr>
              <a:t>“For the same 6 red cans, Anwar has more blue because 9 &gt; 8.”</a:t>
            </a:r>
          </a:p>
        </p:txBody>
      </p:sp>
      <p:sp xmlns:a="http://schemas.openxmlformats.org/drawingml/2006/main">
        <p:nvSpPr>
          <p:cNvPr id="13" name="Rounded Rectangle 17"/>
          <p:cNvSpPr/>
          <p:nvPr/>
        </p:nvSpPr>
        <p:spPr>
          <a:xfrm>
            <a:off x="594360" y="5669280"/>
            <a:ext cx="10972800" cy="5029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4" name="Rectangle 18"/>
          <p:cNvSpPr/>
          <p:nvPr/>
        </p:nvSpPr>
        <p:spPr>
          <a:xfrm>
            <a:off x="594360" y="5669280"/>
            <a:ext cx="73152" cy="5029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TextBox 19"/>
          <p:cNvSpPr txBox="1"/>
          <p:nvPr/>
        </p:nvSpPr>
        <p:spPr>
          <a:xfrm>
            <a:off x="758952" y="5806440"/>
            <a:ext cx="10652760" cy="228600"/>
          </a:xfrm>
          <a:prstGeom prst="rect">
            <a:avLst/>
          </a:prstGeom>
          <a:noFill/>
        </p:spPr>
        <p:txBody>
          <a:bodyPr wrap="square" lIns="0" tIns="0" rIns="0" bIns="0" anchor="t">
            <a:spAutoFit/>
          </a:bodyPr>
          <a:lstStyle/>
          <a:p>
            <a:pPr algn="l"/>
            <a:r>
              <a:rPr sz="1400" b="1">
                <a:solidFill>
                  <a:srgbClr val="782DA0"/>
                </a:solidFill>
                <a:latin typeface="Arial"/>
              </a:rPr>
              <a:t/>
            </a:r>
          </a:p>
        </p:txBody>
      </p:sp>
      <p:sp xmlns:a="http://schemas.openxmlformats.org/drawingml/2006/main">
        <p:nvSpPr>
          <p:cNvPr id="16" name="TextBox 20"/>
          <p:cNvSpPr txBox="1"/>
          <p:nvPr/>
        </p:nvSpPr>
        <p:spPr>
          <a:xfrm>
            <a:off x="758952" y="5742432"/>
            <a:ext cx="10515600" cy="274320"/>
          </a:xfrm>
          <a:prstGeom prst="rect">
            <a:avLst/>
          </a:prstGeom>
          <a:noFill/>
        </p:spPr>
        <p:txBody>
          <a:bodyPr wrap="square" lIns="0" tIns="0" rIns="0" bIns="0" anchor="t">
            <a:spAutoFit/>
          </a:bodyPr>
          <a:lstStyle/>
          <a:p>
            <a:pPr algn="l"/>
            <a:r>
              <a:rPr sz="1700" b="0">
                <a:solidFill>
                  <a:srgbClr val="23282D"/>
                </a:solidFill>
                <a:latin typeface="Arial"/>
              </a:rPr>
              <a:t>Same quantity first. Compare and explain the other.</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check: explain one idea without looking.</a:t>
            </a:r>
          </a:p>
        </p:txBody>
      </p:sp>
      <p:sp>
        <p:nvSpPr>
          <p:cNvPr id="9002"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26 / 42</ns3:t>
            </ns3:r>
          </ns3:p>
        </p:txBody>
      </p:sp>
    </p:spTree>
    <p:extLst>
      <p:ext uri="{BB962C8B-B14F-4D97-AF65-F5344CB8AC3E}">
        <p14:creationId xmlns:p14="http://schemas.microsoft.com/office/powerpoint/2010/main" val="2142243281"/>
      </p:ext>
    </p:extLst>
  </p:cSld>
</p:sld>
</file>

<file path=ppt/slides/slide25.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Learning Target — Session 2</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700" b="0">
                <a:solidFill>
                  <a:srgbClr val="5D6872"/>
                </a:solidFill>
                <a:latin typeface="Arial"/>
              </a:rPr>
              <a:t>Lesson 3-5 · Comparing Ratio Relationships | Maryland Standard 6.AT.3</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LEARNING TARGET</a:t>
            </a:r>
            <a:r>
              <a:rPr lang="en-US" sz="1150" b="1" dirty="0">
                <a:solidFill>
                  <a:srgbClr val="2D3A40"/>
                </a:solidFill>
                <a:latin typeface="Arial"/>
              </a:rPr>
              <a:t xml:space="preserve">  ·  MATCH • COMPARE • JUSTIFY</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2000" b="0">
                <a:solidFill>
                  <a:srgbClr val="5D6872"/>
                </a:solidFill>
                <a:latin typeface="Arial"/>
              </a:rPr>
              <a:t>Today I will make a fair comparison by matching one quantity in each ratio.</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2200" b="1">
                <a:solidFill>
                  <a:srgbClr val="23282D"/>
                </a:solidFill>
                <a:latin typeface="Arial"/>
              </a:rPr>
              <a:t>I can compare three ratios by making one quantity equal.</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2200" b="1">
                <a:solidFill>
                  <a:srgbClr val="23282D"/>
                </a:solidFill>
                <a:latin typeface="Arial"/>
              </a:rPr>
              <a:t>I can justify which game has the most points for the same number of matches.</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2000" b="0">
                <a:solidFill>
                  <a:srgbClr val="23282D"/>
                </a:solidFill>
                <a:latin typeface="Arial"/>
              </a:rPr>
              <a:t>✓ Choose points or matches to hold equal.</a:t>
            </a:r>
          </a:p>
          <a:p>
            <a:pPr algn="l"/>
            <a:r>
              <a:rPr sz="2000" b="0">
                <a:solidFill>
                  <a:srgbClr val="23282D"/>
                </a:solidFill>
                <a:latin typeface="Arial"/>
              </a:rPr>
              <a:t>✓ Scale every ratio consistently.</a:t>
            </a:r>
          </a:p>
          <a:p>
            <a:pPr algn="l"/>
            <a:r>
              <a:rPr sz="2000" b="0">
                <a:solidFill>
                  <a:srgbClr val="23282D"/>
                </a:solidFill>
                <a:latin typeface="Arial"/>
              </a:rPr>
              <a:t>✓ Explain what your comparison means.</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2100" b="0">
                <a:latin typeface="Arial"/>
              </a:rPr>
              <a:t>Fair ratio comparisons help us judge mixtures and prices.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MATH COMMUNITY:  Different strategies are welcome  •  Ask before telling  •  Revising your thinking is part of learning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Tell a partner the new goal and how you will show it.</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42</a:t>
            </a:r>
          </a:p>
        </p:txBody>
      </p:sp>
    </p:spTree>
    <p:extLst>
      <p:ext uri="{BB962C8B-B14F-4D97-AF65-F5344CB8AC3E}">
        <p14:creationId xmlns:p14="http://schemas.microsoft.com/office/powerpoint/2010/main" val="899300727"/>
      </p:ext>
    </p:extLst>
  </p:cSld>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86" name="Google Shape;886;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7" name="Google Shape;887;p86"/>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88" name="Google Shape;888;p86"/>
          <p:cNvSpPr txBox="1"/>
          <p:nvPr/>
        </p:nvSpPr>
        <p:spPr>
          <a:xfrm>
            <a:off x="484560" y="936100"/>
            <a:ext cx="7705762"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pic>
        <p:nvPicPr>
          <p:cNvPr id="889" name="Google Shape;889;p86"/>
          <p:cNvPicPr preferRelativeResize="0"/>
          <p:nvPr/>
        </p:nvPicPr>
        <p:blipFill rotWithShape="1">
          <a:blip r:embed="rId2">
            <a:alphaModFix/>
          </a:blip>
          <a:srcRect b="0" l="0" r="0" t="0"/>
          <a:stretch/>
        </p:blipFill>
        <p:spPr>
          <a:xfrm>
            <a:off x="4874731" y="646594"/>
            <a:ext cx="2381249" cy="4195200"/>
          </a:xfrm>
          <a:prstGeom prst="rect">
            <a:avLst/>
          </a:prstGeom>
          <a:noFill/>
          <a:ln>
            <a:noFill/>
          </a:ln>
        </p:spPr>
      </p:pic>
      <p:pic>
        <p:nvPicPr>
          <p:cNvPr id="890" name="Google Shape;890;p86"/>
          <p:cNvPicPr preferRelativeResize="0"/>
          <p:nvPr/>
        </p:nvPicPr>
        <p:blipFill rotWithShape="1">
          <a:blip r:embed="rId3">
            <a:alphaModFix/>
          </a:blip>
          <a:srcRect b="0" l="0" r="0" t="0"/>
          <a:stretch/>
        </p:blipFill>
        <p:spPr>
          <a:xfrm>
            <a:off x="484560" y="5131300"/>
            <a:ext cx="5054600" cy="838200"/>
          </a:xfrm>
          <a:prstGeom prst="rect">
            <a:avLst/>
          </a:prstGeom>
          <a:noFill/>
          <a:ln>
            <a:noFill/>
          </a:ln>
        </p:spPr>
      </p:pic>
      <p:sp>
        <p:nvSpPr>
          <p:cNvPr id="891" name="Google Shape;891;p86"/>
          <p:cNvSpPr txBox="1"/>
          <p:nvPr/>
        </p:nvSpPr>
        <p:spPr>
          <a:xfrm>
            <a:off x="3344577" y="52886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92" name="Google Shape;892;p86"/>
          <p:cNvSpPr/>
          <p:nvPr/>
        </p:nvSpPr>
        <p:spPr>
          <a:xfrm>
            <a:off x="697756" y="594662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is creative thinking helping you solve a math problem?</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50474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cxnSp>
        <p:nvCxnSpPr>
          <p:cNvPr id="612" name="Google Shape;612;p77"/>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613" name="Google Shape;613;p77"/>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lang="en-US" sz="2800">
                <a:latin typeface="Arial"/>
                <a:ea typeface="Arial"/>
                <a:cs typeface="Arial"/>
                <a:sym typeface="Arial"/>
                <a:solidFill>
                  <a:srgbClr val="782DA0"/>
                </a:solidFill>
              </a:rPr>
              <a:t>Designing Games</a:t>
            </a:r>
            <a:endParaRPr/>
          </a:p>
        </p:txBody>
      </p:sp>
      <p:sp>
        <p:nvSpPr>
          <p:cNvPr id="614" name="Google Shape;614;p77"/>
          <p:cNvSpPr txBox="1"/>
          <p:nvPr/>
        </p:nvSpPr>
        <p:spPr>
          <a:xfrm>
            <a:off x="484632" y="914400"/>
            <a:ext cx="11064240" cy="411480"/>
          </a:xfrm>
          <a:prstGeom prst="rect">
            <a:avLst/>
          </a:prstGeom>
          <a:noFill/>
          <a:ln>
            <a:noFill/>
          </a:ln>
        </p:spPr>
        <p:txBody>
          <a:bodyPr anchorCtr="0" anchor="t" bIns="27432" lIns="73152" spcFirstLastPara="1" rIns="73152" wrap="square">
            <a:noAutofit/>
          </a:bodyPr>
          <a:lstStyle/>
          <a:p>
            <a:pPr indent="0" lvl="0" marL="0" marR="0" rtl="0" algn="l">
              <a:lnSpc>
                <a:spcPct val="100000"/>
              </a:lnSpc>
              <a:spcBef>
                <a:spcPts val="0"/>
              </a:spcBef>
              <a:spcAft>
                <a:spcPts val="0"/>
              </a:spcAft>
              <a:buClr>
                <a:srgbClr val="262626"/>
              </a:buClr>
              <a:buSzPts val="2800"/>
              <a:buFont typeface="Arial"/>
              <a:buNone/>
            </a:pPr>
            <a:r>
              <a:rPr sz="1800" b="0">
                <a:solidFill>
                  <a:srgbClr val="2D3A40"/>
                </a:solidFill>
                <a:latin typeface="Arial"/>
              </a:rPr>
              <a:t>Brielle, Andrew, and Sheng are designing video games.</a:t>
            </a:r>
            <a:endParaRPr/>
          </a:p>
        </p:txBody>
      </p:sp>
      <p:pic>
        <p:nvPicPr>
          <p:cNvPr id="615" name="Google Shape;615;p77"/>
          <p:cNvPicPr preferRelativeResize="0"/>
          <p:nvPr/>
        </p:nvPicPr>
        <p:blipFill rotWithShape="1">
          <a:blip r:embed="rId3">
            <a:alphaModFix/>
          </a:blip>
          <a:srcRect b="0" l="0" r="0" t="0"/>
          <a:stretch/>
        </p:blipFill>
        <p:spPr>
          <a:xfrm>
            <a:off x="484632" y="3858768"/>
            <a:ext cx="5056632" cy="841248"/>
          </a:xfrm>
          <a:prstGeom prst="rect">
            <a:avLst/>
          </a:prstGeom>
          <a:noFill/>
          <a:ln>
            <a:noFill/>
          </a:ln>
        </p:spPr>
      </p:pic>
      <p:sp>
        <p:nvSpPr>
          <p:cNvPr id="616" name="Google Shape;616;p77"/>
          <p:cNvSpPr txBox="1"/>
          <p:nvPr/>
        </p:nvSpPr>
        <p:spPr>
          <a:xfrm>
            <a:off x="3346704" y="4023360"/>
            <a:ext cx="2194560" cy="6400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rPr lang="en-US" sz="2800">
                <a:solidFill>
                  <a:schemeClr val="dk2"/>
                </a:solidFill>
                <a:latin typeface="Arial"/>
                <a:ea typeface="Arial"/>
                <a:cs typeface="Arial"/>
                <a:sym typeface="Arial"/>
              </a:rPr>
              <a:t>Planning</a:t>
            </a:r>
            <a:endParaRPr sz="2800">
              <a:solidFill>
                <a:srgbClr val="262626"/>
              </a:solidFill>
              <a:latin typeface="Arial"/>
              <a:ea typeface="Arial"/>
              <a:cs typeface="Arial"/>
              <a:sym typeface="Arial"/>
            </a:endParaRPr>
          </a:p>
        </p:txBody>
      </p:sp>
      <p:sp>
        <p:nvSpPr>
          <p:cNvPr id="617" name="Google Shape;617;p77"/>
          <p:cNvSpPr/>
          <p:nvPr/>
        </p:nvSpPr>
        <p:spPr>
          <a:xfrm>
            <a:off x="694944" y="4782312"/>
            <a:ext cx="10744200" cy="107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600">
                <a:solidFill>
                  <a:srgbClr val="595959"/>
                </a:solidFill>
                <a:latin typeface="Arial"/>
                <a:ea typeface="Arial"/>
                <a:cs typeface="Arial"/>
                <a:sym typeface="Arial"/>
              </a:rPr>
              <a:t>How can you begin solving the problem? What might be a first strategy to try?</a:t>
            </a:r>
            <a:endParaRPr/>
          </a:p>
        </p:txBody>
      </p:sp>
      <p:sp>
        <p:nvSpPr>
          <p:cNvPr id="618"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Compare strategies; defend one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42</a:t>
            </a:r>
          </a:p>
        </p:txBody>
      </p:sp>
      <p:sp>
        <p:nvSpPr>
          <p:cNvPr id="9003" name="Rounded Rectangle 9002"/>
          <p:cNvSpPr/>
          <p:nvPr/>
        </p:nvSpPr>
        <p:spPr>
          <a:xfrm>
            <a:off x="502920" y="1481328"/>
            <a:ext cx="3520440" cy="1234440"/>
          </a:xfrm>
          <a:prstGeom prst="roundRect">
            <a:avLst>
              <a:gd name="adj" fmla="val 8000"/>
            </a:avLst>
          </a:prstGeom>
          <a:solidFill>
            <a:srgbClr val="EBF5F7"/>
          </a:solidFill>
          <a:ln w="15875">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lIns="164592" rIns="164592" tIns="118872"/>
          <a:lstStyle/>
          <a:p>
            <a:pPr algn="ctr"/>
            <a:r>
              <a:rPr sz="1400" b="1">
                <a:solidFill>
                  <a:srgbClr val="00897B"/>
                </a:solidFill>
                <a:latin typeface="Arial"/>
              </a:rPr>
              <a:t>BRIELLE</a:t>
            </a:r>
          </a:p>
          <a:p>
            <a:pPr>
              <a:spcBef>
                <a:spcPts val="500"/>
              </a:spcBef>
            </a:pPr>
            <a:r>
              <a:rPr sz="1600" b="0">
                <a:solidFill>
                  <a:srgbClr val="2D3A40"/>
                </a:solidFill>
                <a:latin typeface="Arial"/>
              </a:rPr>
              <a:t>Brielle’s game awards 2 points for every 5 matches.</a:t>
            </a:r>
          </a:p>
        </p:txBody>
      </p:sp>
      <p:sp>
        <p:nvSpPr>
          <p:cNvPr id="9004" name="Rounded Rectangle 9003"/>
          <p:cNvSpPr/>
          <p:nvPr/>
        </p:nvSpPr>
        <p:spPr>
          <a:xfrm>
            <a:off x="4325112" y="1481328"/>
            <a:ext cx="3520440" cy="1234440"/>
          </a:xfrm>
          <a:prstGeom prst="roundRect">
            <a:avLst>
              <a:gd name="adj" fmla="val 8000"/>
            </a:avLst>
          </a:prstGeom>
          <a:solidFill>
            <a:srgbClr val="FCF1E8"/>
          </a:solidFill>
          <a:ln w="15875">
            <a:solidFill>
              <a:srgbClr val="D65B14"/>
            </a:solidFill>
          </a:ln>
        </p:spPr>
        <p:style>
          <a:lnRef idx="1">
            <a:schemeClr val="accent1"/>
          </a:lnRef>
          <a:fillRef idx="3">
            <a:schemeClr val="accent1"/>
          </a:fillRef>
          <a:effectRef idx="2">
            <a:schemeClr val="accent1"/>
          </a:effectRef>
          <a:fontRef idx="minor">
            <a:schemeClr val="lt1"/>
          </a:fontRef>
        </p:style>
        <p:txBody>
          <a:bodyPr rtlCol="0" anchor="ctr" lIns="164592" rIns="164592" tIns="118872"/>
          <a:lstStyle/>
          <a:p>
            <a:pPr algn="ctr"/>
            <a:r>
              <a:rPr sz="1400" b="1">
                <a:solidFill>
                  <a:srgbClr val="D65B14"/>
                </a:solidFill>
                <a:latin typeface="Arial"/>
              </a:rPr>
              <a:t>ANDREW</a:t>
            </a:r>
          </a:p>
          <a:p>
            <a:pPr>
              <a:spcBef>
                <a:spcPts val="500"/>
              </a:spcBef>
            </a:pPr>
            <a:r>
              <a:rPr sz="1600" b="0">
                <a:solidFill>
                  <a:srgbClr val="2D3A40"/>
                </a:solidFill>
                <a:latin typeface="Arial"/>
              </a:rPr>
              <a:t>Andrew’s game awards 3 points for every 6 matches.</a:t>
            </a:r>
          </a:p>
        </p:txBody>
      </p:sp>
      <p:sp>
        <p:nvSpPr>
          <p:cNvPr id="9005" name="Rounded Rectangle 9004"/>
          <p:cNvSpPr/>
          <p:nvPr/>
        </p:nvSpPr>
        <p:spPr>
          <a:xfrm>
            <a:off x="8147304" y="1481328"/>
            <a:ext cx="3520440" cy="1234440"/>
          </a:xfrm>
          <a:prstGeom prst="roundRect">
            <a:avLst>
              <a:gd name="adj" fmla="val 8000"/>
            </a:avLst>
          </a:prstGeom>
          <a:solidFill>
            <a:srgbClr val="F5EFFB"/>
          </a:solidFill>
          <a:ln w="15875">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lIns="164592" rIns="164592" tIns="118872"/>
          <a:lstStyle/>
          <a:p>
            <a:pPr algn="ctr"/>
            <a:r>
              <a:rPr sz="1400" b="1">
                <a:solidFill>
                  <a:srgbClr val="7030A0"/>
                </a:solidFill>
                <a:latin typeface="Arial"/>
              </a:rPr>
              <a:t>SHENG</a:t>
            </a:r>
          </a:p>
          <a:p>
            <a:pPr>
              <a:spcBef>
                <a:spcPts val="500"/>
              </a:spcBef>
            </a:pPr>
            <a:r>
              <a:rPr sz="1600" b="0">
                <a:solidFill>
                  <a:srgbClr val="2D3A40"/>
                </a:solidFill>
                <a:latin typeface="Arial"/>
              </a:rPr>
              <a:t>Sheng’s game awards 1 point for every 3 matches.</a:t>
            </a:r>
          </a:p>
        </p:txBody>
      </p:sp>
      <p:sp>
        <p:nvSpPr>
          <p:cNvPr id="9006" name="TextBox 9005"/>
          <p:cNvSpPr txBox="1"/>
          <p:nvPr/>
        </p:nvSpPr>
        <p:spPr>
          <a:xfrm>
            <a:off x="502920" y="2944368"/>
            <a:ext cx="10972800" cy="530352"/>
          </a:xfrm>
          <a:prstGeom prst="rect">
            <a:avLst/>
          </a:prstGeom>
          <a:noFill/>
        </p:spPr>
        <p:txBody>
          <a:bodyPr wrap="square" lIns="73152" rIns="73152" bIns="27432">
            <a:spAutoFit/>
          </a:bodyPr>
          <a:lstStyle/>
          <a:p>
            <a:pPr algn="l"/>
            <a:r>
              <a:rPr sz="2100" b="1">
                <a:solidFill>
                  <a:srgbClr val="2D3A40"/>
                </a:solidFill>
                <a:latin typeface="Arial"/>
              </a:rPr>
              <a:t>Whose game has the greatest ratio of points to matches?</a:t>
            </a:r>
          </a:p>
        </p:txBody>
      </p:sp>
      <p:sp xmlns:p="http://schemas.openxmlformats.org/presentationml/2006/main" xmlns:a="http://schemas.openxmlformats.org/drawingml/2006/main">
        <p:nvSpPr>
          <p:cNvPr id="9007" name="TEACH-embedded-student-prompt" descr="Student thinking and response directions"/>
          <p:cNvSpPr txBox="1"/>
          <p:nvPr/>
        </p:nvSpPr>
        <p:spPr>
          <a:xfrm>
            <a:off x="6111240" y="38587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5C3E90-B4EB-4DB3-A443-2785865AE87A}"/>
              </a:ext>
            </a:extLst>
          </p:cNvPr>
          <p:cNvSpPr>
            <a:spLocks xmlns:a="http://schemas.openxmlformats.org/drawingml/2006/main" noGrp="1"/>
          </p:cNvSpPr>
          <p:nvPr/>
        </p:nvSpPr>
        <p:spPr>
          <a:xfrm xmlns:a="http://schemas.openxmlformats.org/drawingml/2006/main">
            <a:off x="523875" y="400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782DA0"/>
                </a:solidFill>
                <a:latin typeface="Arial"/>
                <a:ea typeface="Arial"/>
                <a:cs typeface="Arial"/>
              </a:defRPr>
            </a:pPr>
            <a:r>
              <a:rPr sz="2775" b="1">
                <a:latin typeface="Arial"/>
                <a:ea typeface="Arial"/>
                <a:cs typeface="Arial"/>
                <a:solidFill>
                  <a:srgbClr val="782DA0"/>
                </a:solidFill>
              </a:rPr>
              <a:t>Comparing games for 30 matches</a:t>
            </a:r>
          </a:p>
        </p:txBody>
      </p:sp>
      <p:sp>
        <p:nvSpPr>
          <p:cNvPr id="2" name="">
            <a:extLst xmlns:a="http://schemas.openxmlformats.org/drawingml/2006/main">
              <a:ext uri="{FF2B5EF4-FFF2-40B4-BE49-F238E27FC236}">
                <a16:creationId xmlns:a16="http://schemas.microsoft.com/office/drawing/2014/main" id="{1190AE58-C004-4344-9B34-D1D9FFA9B49D}"/>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Use </a:t>
            </a:r>
            <a:r>
              <a:rPr sz="2250" b="1">
                <a:solidFill>
                  <a:srgbClr val="23282D"/>
                </a:solidFill>
                <a:highlight>
                  <a:srgbClr val="FFF2A8"/>
                </a:highlight>
                <a:latin typeface="Arial"/>
                <a:ea typeface="Arial"/>
                <a:cs typeface="Arial"/>
              </a:rPr>
              <a:t>equivalent ratios</a:t>
            </a:r>
            <a:r>
              <a:rPr sz="2250" b="0">
                <a:solidFill>
                  <a:srgbClr val="23282D"/>
                </a:solidFill>
                <a:latin typeface="Arial"/>
                <a:ea typeface="Arial"/>
                <a:cs typeface="Arial"/>
              </a:rPr>
              <a:t xml:space="preserve"> to make the matches equal.</a:t>
            </a:r>
          </a:p>
        </p:txBody>
      </p:sp>
      <p:sp>
        <p:nvSpPr>
          <p:cNvPr id="3" name="">
            <a:extLst xmlns:a="http://schemas.openxmlformats.org/drawingml/2006/main">
              <a:ext uri="{FF2B5EF4-FFF2-40B4-BE49-F238E27FC236}">
                <a16:creationId xmlns:a16="http://schemas.microsoft.com/office/drawing/2014/main" id="{C5A21F59-8062-4B3E-B7EB-FCDC70CB8459}"/>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Scale each game’s points and matches by the same factor.</a:t>
            </a:r>
          </a:p>
        </p:txBody>
      </p:sp>
      <p:sp>
        <p:nvSpPr>
          <p:cNvPr id="4" name="">
            <a:extLst xmlns:a="http://schemas.openxmlformats.org/drawingml/2006/main">
              <a:ext uri="{FF2B5EF4-FFF2-40B4-BE49-F238E27FC236}">
                <a16:creationId xmlns:a16="http://schemas.microsoft.com/office/drawing/2014/main" id="{47A870A3-5C43-4873-A0F9-216FB2D34CAA}"/>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Then compare the points earned in 30 matches.</a:t>
            </a:r>
          </a:p>
        </p:txBody>
      </p:sp>
      <p:graphicFrame>
        <p:nvGraphicFramePr>
          <p:cNvPr id="11" name=""/>
          <p:cNvGraphicFramePr/>
          <p:nvPr/>
        </p:nvGraphicFramePr>
        <p:xfrm>
          <a:off xmlns:a="http://schemas.openxmlformats.org/drawingml/2006/main" x="6210300" y="1809750"/>
          <a:ext xmlns:a="http://schemas.openxmlformats.org/drawingml/2006/main" cx="5410200" cy="2514600"/>
        </p:xfrm>
        <a:graphic xmlns:a="http://schemas.openxmlformats.org/drawingml/2006/main">
          <a:graphicData uri="http://schemas.openxmlformats.org/drawingml/2006/table">
            <a:tbl>
              <a:tblPr/>
              <a:tblGrid>
                <a:gridCol w="1803400"/>
                <a:gridCol w="1803400"/>
                <a:gridCol w="1803400"/>
              </a:tblGrid>
              <a:tr h="628650">
                <a:tc>
                  <a:txBody>
                    <a:bodyPr/>
                    <a:lstStyle/>
                    <a:p>
                      <a:r>
                        <a:rPr sz="1650" b="1">
                          <a:solidFill>
                            <a:srgbClr val="FFFFFF"/>
                          </a:solidFill>
                          <a:latin typeface="Arial"/>
                          <a:ea typeface="Arial"/>
                          <a:cs typeface="Arial"/>
                        </a:rPr>
                        <a:t>Game</a:t>
                      </a:r>
                    </a:p>
                  </a:txBody>
                  <a:tcPr marL="91440" marR="91440" marT="45720" marB="45720">
                    <a:solidFill>
                      <a:srgbClr val="0070C0"/>
                    </a:solidFill>
                  </a:tcPr>
                </a:tc>
                <a:tc>
                  <a:txBody>
                    <a:bodyPr/>
                    <a:lstStyle/>
                    <a:p>
                      <a:r>
                        <a:rPr sz="1650" b="1">
                          <a:solidFill>
                            <a:srgbClr val="FFFFFF"/>
                          </a:solidFill>
                          <a:latin typeface="Arial"/>
                          <a:ea typeface="Arial"/>
                          <a:cs typeface="Arial"/>
                        </a:rPr>
                        <a:t>Points : matches</a:t>
                      </a:r>
                    </a:p>
                  </a:txBody>
                  <a:tcPr marL="91440" marR="91440" marT="45720" marB="45720">
                    <a:solidFill>
                      <a:srgbClr val="0070C0"/>
                    </a:solidFill>
                  </a:tcPr>
                </a:tc>
                <a:tc>
                  <a:txBody>
                    <a:bodyPr/>
                    <a:lstStyle/>
                    <a:p>
                      <a:r>
                        <a:rPr sz="1650" b="1">
                          <a:solidFill>
                            <a:srgbClr val="FFFFFF"/>
                          </a:solidFill>
                          <a:latin typeface="Arial"/>
                          <a:ea typeface="Arial"/>
                          <a:cs typeface="Arial"/>
                        </a:rPr>
                        <a:t>For 30 matches</a:t>
                      </a:r>
                    </a:p>
                  </a:txBody>
                  <a:tcPr marL="91440" marR="91440" marT="45720" marB="45720">
                    <a:solidFill>
                      <a:srgbClr val="0070C0"/>
                    </a:solidFill>
                  </a:tcPr>
                </a:tc>
              </a:tr>
              <a:tr h="628650">
                <a:tc>
                  <a:txBody>
                    <a:bodyPr/>
                    <a:lstStyle/>
                    <a:p>
                      <a:r>
                        <a:rPr sz="1650" b="0">
                          <a:solidFill>
                            <a:srgbClr val="23282D"/>
                          </a:solidFill>
                          <a:latin typeface="Arial"/>
                          <a:ea typeface="Arial"/>
                          <a:cs typeface="Arial"/>
                        </a:rPr>
                        <a:t>Brielle</a:t>
                      </a:r>
                    </a:p>
                  </a:txBody>
                  <a:tcPr marL="91440" marR="91440" marT="45720" marB="45720">
                    <a:solidFill>
                      <a:srgbClr val="FFFFFF"/>
                    </a:solidFill>
                  </a:tcPr>
                </a:tc>
                <a:tc>
                  <a:txBody>
                    <a:bodyPr/>
                    <a:lstStyle/>
                    <a:p>
                      <a:r>
                        <a:rPr sz="1650" b="0">
                          <a:solidFill>
                            <a:srgbClr val="23282D"/>
                          </a:solidFill>
                          <a:latin typeface="Arial"/>
                          <a:ea typeface="Arial"/>
                          <a:cs typeface="Arial"/>
                        </a:rPr>
                        <a:t>2 : 5 (×6)</a:t>
                      </a:r>
                    </a:p>
                  </a:txBody>
                  <a:tcPr marL="91440" marR="91440" marT="45720" marB="45720">
                    <a:solidFill>
                      <a:srgbClr val="FFFFFF"/>
                    </a:solidFill>
                  </a:tcPr>
                </a:tc>
                <a:tc>
                  <a:txBody>
                    <a:bodyPr/>
                    <a:lstStyle/>
                    <a:p>
                      <a:r>
                        <a:rPr sz="1650" b="0">
                          <a:solidFill>
                            <a:srgbClr val="23282D"/>
                          </a:solidFill>
                          <a:latin typeface="Arial"/>
                          <a:ea typeface="Arial"/>
                          <a:cs typeface="Arial"/>
                        </a:rPr>
                        <a:t>12 points</a:t>
                      </a:r>
                    </a:p>
                  </a:txBody>
                  <a:tcPr marL="91440" marR="91440" marT="45720" marB="45720">
                    <a:solidFill>
                      <a:srgbClr val="FFFFFF"/>
                    </a:solidFill>
                  </a:tcPr>
                </a:tc>
              </a:tr>
              <a:tr h="628650">
                <a:tc>
                  <a:txBody>
                    <a:bodyPr/>
                    <a:lstStyle/>
                    <a:p>
                      <a:r>
                        <a:rPr sz="1650" b="0">
                          <a:solidFill>
                            <a:srgbClr val="23282D"/>
                          </a:solidFill>
                          <a:latin typeface="Arial"/>
                          <a:ea typeface="Arial"/>
                          <a:cs typeface="Arial"/>
                        </a:rPr>
                        <a:t>Andrew</a:t>
                      </a:r>
                    </a:p>
                  </a:txBody>
                  <a:tcPr marL="91440" marR="91440" marT="45720" marB="45720">
                    <a:solidFill>
                      <a:srgbClr val="FFFFFF"/>
                    </a:solidFill>
                  </a:tcPr>
                </a:tc>
                <a:tc>
                  <a:txBody>
                    <a:bodyPr/>
                    <a:lstStyle/>
                    <a:p>
                      <a:r>
                        <a:rPr sz="1650" b="0">
                          <a:solidFill>
                            <a:srgbClr val="23282D"/>
                          </a:solidFill>
                          <a:latin typeface="Arial"/>
                          <a:ea typeface="Arial"/>
                          <a:cs typeface="Arial"/>
                        </a:rPr>
                        <a:t>3 : 6 (×5)</a:t>
                      </a:r>
                    </a:p>
                  </a:txBody>
                  <a:tcPr marL="91440" marR="91440" marT="45720" marB="45720">
                    <a:solidFill>
                      <a:srgbClr val="FFFFFF"/>
                    </a:solidFill>
                  </a:tcPr>
                </a:tc>
                <a:tc>
                  <a:txBody>
                    <a:bodyPr/>
                    <a:lstStyle/>
                    <a:p>
                      <a:r>
                        <a:rPr sz="1650" b="0">
                          <a:solidFill>
                            <a:srgbClr val="23282D"/>
                          </a:solidFill>
                          <a:latin typeface="Arial"/>
                          <a:ea typeface="Arial"/>
                          <a:cs typeface="Arial"/>
                        </a:rPr>
                        <a:t>15 points</a:t>
                      </a:r>
                    </a:p>
                  </a:txBody>
                  <a:tcPr marL="91440" marR="91440" marT="45720" marB="45720">
                    <a:solidFill>
                      <a:srgbClr val="FFFFFF"/>
                    </a:solidFill>
                  </a:tcPr>
                </a:tc>
              </a:tr>
              <a:tr h="628650">
                <a:tc>
                  <a:txBody>
                    <a:bodyPr/>
                    <a:lstStyle/>
                    <a:p>
                      <a:r>
                        <a:rPr sz="1650" b="0">
                          <a:solidFill>
                            <a:srgbClr val="23282D"/>
                          </a:solidFill>
                          <a:latin typeface="Arial"/>
                          <a:ea typeface="Arial"/>
                          <a:cs typeface="Arial"/>
                        </a:rPr>
                        <a:t>Sheng</a:t>
                      </a:r>
                    </a:p>
                  </a:txBody>
                  <a:tcPr marL="91440" marR="91440" marT="45720" marB="45720">
                    <a:solidFill>
                      <a:srgbClr val="FFFFFF"/>
                    </a:solidFill>
                  </a:tcPr>
                </a:tc>
                <a:tc>
                  <a:txBody>
                    <a:bodyPr/>
                    <a:lstStyle/>
                    <a:p>
                      <a:r>
                        <a:rPr sz="1650" b="0">
                          <a:solidFill>
                            <a:srgbClr val="23282D"/>
                          </a:solidFill>
                          <a:latin typeface="Arial"/>
                          <a:ea typeface="Arial"/>
                          <a:cs typeface="Arial"/>
                        </a:rPr>
                        <a:t>1 : 3 (×10)</a:t>
                      </a:r>
                    </a:p>
                  </a:txBody>
                  <a:tcPr marL="91440" marR="91440" marT="45720" marB="45720">
                    <a:solidFill>
                      <a:srgbClr val="FFFFFF"/>
                    </a:solidFill>
                  </a:tcPr>
                </a:tc>
                <a:tc>
                  <a:txBody>
                    <a:bodyPr/>
                    <a:lstStyle/>
                    <a:p>
                      <a:r>
                        <a:rPr sz="1650" b="0">
                          <a:solidFill>
                            <a:srgbClr val="23282D"/>
                          </a:solidFill>
                          <a:latin typeface="Arial"/>
                          <a:ea typeface="Arial"/>
                          <a:cs typeface="Arial"/>
                        </a:rPr>
                        <a:t>10 points</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NOTICE → MODEL → EXPLAIN</a:t>
            </a:r>
          </a:p>
        </p:txBody>
      </p:sp>
      <p:sp xmlns:a="http://schemas.openxmlformats.org/drawingml/2006/main">
        <p:nvSpPr>
          <p:cNvPr id="14" name="Rounded Rectangle 17"/>
          <p:cNvSpPr/>
          <p:nvPr/>
        </p:nvSpPr>
        <p:spPr>
          <a:xfrm>
            <a:off x="548640" y="5513832"/>
            <a:ext cx="10972800" cy="65836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48640" y="5513832"/>
            <a:ext cx="73152" cy="65836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713232" y="5577840"/>
            <a:ext cx="10607040" cy="201168"/>
          </a:xfrm>
          <a:prstGeom prst="rect">
            <a:avLst/>
          </a:prstGeom>
          <a:noFill/>
        </p:spPr>
        <p:txBody>
          <a:bodyPr wrap="square" lIns="0" tIns="0" rIns="0" bIns="0" anchor="t">
            <a:spAutoFit/>
          </a:bodyPr>
          <a:lstStyle/>
          <a:p>
            <a:pPr algn="l"/>
            <a:r>
              <a:rPr sz="1100" b="1">
                <a:solidFill>
                  <a:srgbClr val="782DA0"/>
                </a:solidFill>
                <a:latin typeface="Arial"/>
              </a:rPr>
              <a:t>EXPLAIN THE CONNECTION</a:t>
            </a:r>
          </a:p>
        </p:txBody>
      </p:sp>
      <p:sp xmlns:a="http://schemas.openxmlformats.org/drawingml/2006/main">
        <p:nvSpPr>
          <p:cNvPr id="17" name="TextBox 20"/>
          <p:cNvSpPr txBox="1"/>
          <p:nvPr/>
        </p:nvSpPr>
        <p:spPr>
          <a:xfrm>
            <a:off x="713232" y="5815584"/>
            <a:ext cx="10607040" cy="256032"/>
          </a:xfrm>
          <a:prstGeom prst="rect">
            <a:avLst/>
          </a:prstGeom>
          <a:noFill/>
        </p:spPr>
        <p:txBody>
          <a:bodyPr wrap="square" lIns="0" tIns="0" rIns="0" bIns="0" anchor="t">
            <a:spAutoFit/>
          </a:bodyPr>
          <a:lstStyle/>
          <a:p>
            <a:pPr algn="l"/>
            <a:r>
              <a:rPr sz="1700" b="0">
                <a:solidFill>
                  <a:srgbClr val="23282D"/>
                </a:solidFill>
                <a:latin typeface="Arial"/>
              </a:rPr>
              <a:t>“For 30 matches, Andrew earns __ points. That is more than __ and __.”</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30 / 42</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Connect a feature of the model to a step in</a:t>
            </a:r>
            <a:endParaRPr lang="en-US" sz="2000"/>
          </a:p>
          <a:p>
            <a:pPr>
              <a:lnSpc>
                <a:spcPts val="2400"/>
              </a:lnSpc>
              <a:buNone/>
            </a:pPr>
            <a:r>
              <a:rPr lang="en-US" sz="2000">
                <a:solidFill>
                  <a:srgbClr val="174D60"/>
                </a:solidFill>
                <a:latin typeface="Arial"/>
              </a:rPr>
              <a:t>your reasoning.</a:t>
            </a:r>
            <a:endParaRPr lang="en-US" sz="2000"/>
          </a:p>
        </p:txBody>
      </p:sp>
    </p:spTree>
    <p:extLst>
      <p:ext uri="{BB962C8B-B14F-4D97-AF65-F5344CB8AC3E}">
        <p14:creationId xmlns:p14="http://schemas.microsoft.com/office/powerpoint/2010/main" val="6358115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7263C6-900D-45EE-B8A1-10623880C7E6}"/>
              </a:ext>
            </a:extLst>
          </p:cNvPr>
          <p:cNvSpPr>
            <a:spLocks xmlns:a="http://schemas.openxmlformats.org/drawingml/2006/main" noGrp="1"/>
          </p:cNvSpPr>
          <p:nvPr/>
        </p:nvSpPr>
        <p:spPr>
          <a:xfrm xmlns:a="http://schemas.openxmlformats.org/drawingml/2006/main">
            <a:off x="523875" y="400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782DA0"/>
                </a:solidFill>
                <a:latin typeface="Arial"/>
                <a:ea typeface="Arial"/>
                <a:cs typeface="Arial"/>
              </a:defRPr>
            </a:pPr>
            <a:r>
              <a:rPr sz="2775" b="1">
                <a:latin typeface="Arial"/>
                <a:ea typeface="Arial"/>
                <a:cs typeface="Arial"/>
                <a:solidFill>
                  <a:srgbClr val="782DA0"/>
                </a:solidFill>
              </a:rPr>
              <a:t>Another comparison: the same points</a:t>
            </a:r>
          </a:p>
        </p:txBody>
      </p:sp>
      <p:sp>
        <p:nvSpPr>
          <p:cNvPr id="2" name="">
            <a:extLst xmlns:a="http://schemas.openxmlformats.org/drawingml/2006/main">
              <a:ext uri="{FF2B5EF4-FFF2-40B4-BE49-F238E27FC236}">
                <a16:creationId xmlns:a16="http://schemas.microsoft.com/office/drawing/2014/main" id="{33D05623-E3DC-4759-819F-E9352913EB2B}"/>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We can also make the number of points equal.</a:t>
            </a:r>
          </a:p>
        </p:txBody>
      </p:sp>
      <p:sp>
        <p:nvSpPr>
          <p:cNvPr id="3" name="">
            <a:extLst xmlns:a="http://schemas.openxmlformats.org/drawingml/2006/main">
              <a:ext uri="{FF2B5EF4-FFF2-40B4-BE49-F238E27FC236}">
                <a16:creationId xmlns:a16="http://schemas.microsoft.com/office/drawing/2014/main" id="{C4A89B70-1D51-476E-9BAB-64FD0AFD6508}"/>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Compare the matches needed to earn 6 points.</a:t>
            </a:r>
          </a:p>
        </p:txBody>
      </p:sp>
      <p:sp>
        <p:nvSpPr>
          <p:cNvPr id="4" name="">
            <a:extLst xmlns:a="http://schemas.openxmlformats.org/drawingml/2006/main">
              <a:ext uri="{FF2B5EF4-FFF2-40B4-BE49-F238E27FC236}">
                <a16:creationId xmlns:a16="http://schemas.microsoft.com/office/drawing/2014/main" id="{EF943F5B-C5B1-475E-B4FB-AF05DB0303B5}"/>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Fewer matches for the same points means more points per match.</a:t>
            </a:r>
          </a:p>
        </p:txBody>
      </p:sp>
      <p:graphicFrame>
        <p:nvGraphicFramePr>
          <p:cNvPr id="11" name=""/>
          <p:cNvGraphicFramePr/>
          <p:nvPr/>
        </p:nvGraphicFramePr>
        <p:xfrm>
          <a:off xmlns:a="http://schemas.openxmlformats.org/drawingml/2006/main" x="6210300" y="1809750"/>
          <a:ext xmlns:a="http://schemas.openxmlformats.org/drawingml/2006/main" cx="5410200" cy="2514600"/>
        </p:xfrm>
        <a:graphic xmlns:a="http://schemas.openxmlformats.org/drawingml/2006/main">
          <a:graphicData uri="http://schemas.openxmlformats.org/drawingml/2006/table">
            <a:tbl>
              <a:tblPr/>
              <a:tblGrid>
                <a:gridCol w="1803400"/>
                <a:gridCol w="1803400"/>
                <a:gridCol w="1803400"/>
              </a:tblGrid>
              <a:tr h="628650">
                <a:tc>
                  <a:txBody>
                    <a:bodyPr/>
                    <a:lstStyle/>
                    <a:p>
                      <a:r>
                        <a:rPr sz="1650" b="1">
                          <a:solidFill>
                            <a:srgbClr val="FFFFFF"/>
                          </a:solidFill>
                          <a:latin typeface="Arial"/>
                          <a:ea typeface="Arial"/>
                          <a:cs typeface="Arial"/>
                        </a:rPr>
                        <a:t>Game</a:t>
                      </a:r>
                    </a:p>
                  </a:txBody>
                  <a:tcPr marL="91440" marR="91440" marT="45720" marB="45720">
                    <a:solidFill>
                      <a:srgbClr val="0070C0"/>
                    </a:solidFill>
                  </a:tcPr>
                </a:tc>
                <a:tc>
                  <a:txBody>
                    <a:bodyPr/>
                    <a:lstStyle/>
                    <a:p>
                      <a:r>
                        <a:rPr sz="1650" b="1">
                          <a:solidFill>
                            <a:srgbClr val="FFFFFF"/>
                          </a:solidFill>
                          <a:latin typeface="Arial"/>
                          <a:ea typeface="Arial"/>
                          <a:cs typeface="Arial"/>
                        </a:rPr>
                        <a:t>Points</a:t>
                      </a:r>
                    </a:p>
                  </a:txBody>
                  <a:tcPr marL="91440" marR="91440" marT="45720" marB="45720">
                    <a:solidFill>
                      <a:srgbClr val="0070C0"/>
                    </a:solidFill>
                  </a:tcPr>
                </a:tc>
                <a:tc>
                  <a:txBody>
                    <a:bodyPr/>
                    <a:lstStyle/>
                    <a:p>
                      <a:r>
                        <a:rPr sz="1650" b="1">
                          <a:solidFill>
                            <a:srgbClr val="FFFFFF"/>
                          </a:solidFill>
                          <a:latin typeface="Arial"/>
                          <a:ea typeface="Arial"/>
                          <a:cs typeface="Arial"/>
                        </a:rPr>
                        <a:t>Matches</a:t>
                      </a:r>
                    </a:p>
                  </a:txBody>
                  <a:tcPr marL="91440" marR="91440" marT="45720" marB="45720">
                    <a:solidFill>
                      <a:srgbClr val="0070C0"/>
                    </a:solidFill>
                  </a:tcPr>
                </a:tc>
              </a:tr>
              <a:tr h="628650">
                <a:tc>
                  <a:txBody>
                    <a:bodyPr/>
                    <a:lstStyle/>
                    <a:p>
                      <a:r>
                        <a:rPr sz="1650" b="0">
                          <a:solidFill>
                            <a:srgbClr val="23282D"/>
                          </a:solidFill>
                          <a:latin typeface="Arial"/>
                          <a:ea typeface="Arial"/>
                          <a:cs typeface="Arial"/>
                        </a:rPr>
                        <a:t>Brielle</a:t>
                      </a:r>
                    </a:p>
                  </a:txBody>
                  <a:tcPr marL="91440" marR="91440" marT="45720" marB="45720">
                    <a:solidFill>
                      <a:srgbClr val="FFFFFF"/>
                    </a:solidFill>
                  </a:tcPr>
                </a:tc>
                <a:tc>
                  <a:txBody>
                    <a:bodyPr/>
                    <a:lstStyle/>
                    <a:p>
                      <a:r>
                        <a:rPr sz="1650" b="0">
                          <a:solidFill>
                            <a:srgbClr val="23282D"/>
                          </a:solidFill>
                          <a:latin typeface="Arial"/>
                          <a:ea typeface="Arial"/>
                          <a:cs typeface="Arial"/>
                        </a:rPr>
                        <a:t>6</a:t>
                      </a:r>
                    </a:p>
                  </a:txBody>
                  <a:tcPr marL="91440" marR="91440" marT="45720" marB="45720">
                    <a:solidFill>
                      <a:srgbClr val="FFFFFF"/>
                    </a:solidFill>
                  </a:tcPr>
                </a:tc>
                <a:tc>
                  <a:txBody>
                    <a:bodyPr/>
                    <a:lstStyle/>
                    <a:p>
                      <a:r>
                        <a:rPr sz="1650" b="0">
                          <a:solidFill>
                            <a:srgbClr val="23282D"/>
                          </a:solidFill>
                          <a:latin typeface="Arial"/>
                          <a:ea typeface="Arial"/>
                          <a:cs typeface="Arial"/>
                        </a:rPr>
                        <a:t>15</a:t>
                      </a:r>
                    </a:p>
                  </a:txBody>
                  <a:tcPr marL="91440" marR="91440" marT="45720" marB="45720">
                    <a:solidFill>
                      <a:srgbClr val="FFFFFF"/>
                    </a:solidFill>
                  </a:tcPr>
                </a:tc>
              </a:tr>
              <a:tr h="628650">
                <a:tc>
                  <a:txBody>
                    <a:bodyPr/>
                    <a:lstStyle/>
                    <a:p>
                      <a:r>
                        <a:rPr sz="1650" b="0">
                          <a:solidFill>
                            <a:srgbClr val="23282D"/>
                          </a:solidFill>
                          <a:latin typeface="Arial"/>
                          <a:ea typeface="Arial"/>
                          <a:cs typeface="Arial"/>
                        </a:rPr>
                        <a:t>Andrew</a:t>
                      </a:r>
                    </a:p>
                  </a:txBody>
                  <a:tcPr marL="91440" marR="91440" marT="45720" marB="45720">
                    <a:solidFill>
                      <a:srgbClr val="FFFFFF"/>
                    </a:solidFill>
                  </a:tcPr>
                </a:tc>
                <a:tc>
                  <a:txBody>
                    <a:bodyPr/>
                    <a:lstStyle/>
                    <a:p>
                      <a:r>
                        <a:rPr sz="1650" b="0">
                          <a:solidFill>
                            <a:srgbClr val="23282D"/>
                          </a:solidFill>
                          <a:latin typeface="Arial"/>
                          <a:ea typeface="Arial"/>
                          <a:cs typeface="Arial"/>
                        </a:rPr>
                        <a:t>6</a:t>
                      </a:r>
                    </a:p>
                  </a:txBody>
                  <a:tcPr marL="91440" marR="91440" marT="45720" marB="45720">
                    <a:solidFill>
                      <a:srgbClr val="FFFFFF"/>
                    </a:solidFill>
                  </a:tcPr>
                </a:tc>
                <a:tc>
                  <a:txBody>
                    <a:bodyPr/>
                    <a:lstStyle/>
                    <a:p>
                      <a:r>
                        <a:rPr sz="1650" b="0">
                          <a:solidFill>
                            <a:srgbClr val="23282D"/>
                          </a:solidFill>
                          <a:latin typeface="Arial"/>
                          <a:ea typeface="Arial"/>
                          <a:cs typeface="Arial"/>
                        </a:rPr>
                        <a:t>12</a:t>
                      </a:r>
                    </a:p>
                  </a:txBody>
                  <a:tcPr marL="91440" marR="91440" marT="45720" marB="45720">
                    <a:solidFill>
                      <a:srgbClr val="FFFFFF"/>
                    </a:solidFill>
                  </a:tcPr>
                </a:tc>
              </a:tr>
              <a:tr h="628650">
                <a:tc>
                  <a:txBody>
                    <a:bodyPr/>
                    <a:lstStyle/>
                    <a:p>
                      <a:r>
                        <a:rPr sz="1650" b="0">
                          <a:solidFill>
                            <a:srgbClr val="23282D"/>
                          </a:solidFill>
                          <a:latin typeface="Arial"/>
                          <a:ea typeface="Arial"/>
                          <a:cs typeface="Arial"/>
                        </a:rPr>
                        <a:t>Sheng</a:t>
                      </a:r>
                    </a:p>
                  </a:txBody>
                  <a:tcPr marL="91440" marR="91440" marT="45720" marB="45720">
                    <a:solidFill>
                      <a:srgbClr val="FFFFFF"/>
                    </a:solidFill>
                  </a:tcPr>
                </a:tc>
                <a:tc>
                  <a:txBody>
                    <a:bodyPr/>
                    <a:lstStyle/>
                    <a:p>
                      <a:r>
                        <a:rPr sz="1650" b="0">
                          <a:solidFill>
                            <a:srgbClr val="23282D"/>
                          </a:solidFill>
                          <a:latin typeface="Arial"/>
                          <a:ea typeface="Arial"/>
                          <a:cs typeface="Arial"/>
                        </a:rPr>
                        <a:t>6</a:t>
                      </a:r>
                    </a:p>
                  </a:txBody>
                  <a:tcPr marL="91440" marR="91440" marT="45720" marB="45720">
                    <a:solidFill>
                      <a:srgbClr val="FFFFFF"/>
                    </a:solidFill>
                  </a:tcPr>
                </a:tc>
                <a:tc>
                  <a:txBody>
                    <a:bodyPr/>
                    <a:lstStyle/>
                    <a:p>
                      <a:r>
                        <a:rPr sz="1650" b="0">
                          <a:solidFill>
                            <a:srgbClr val="23282D"/>
                          </a:solidFill>
                          <a:latin typeface="Arial"/>
                          <a:ea typeface="Arial"/>
                          <a:cs typeface="Arial"/>
                        </a:rPr>
                        <a:t>18</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NOTICE → MODEL → EXPLAIN</a:t>
            </a:r>
          </a:p>
        </p:txBody>
      </p:sp>
      <p:sp xmlns:a="http://schemas.openxmlformats.org/drawingml/2006/main">
        <p:nvSpPr>
          <p:cNvPr id="14" name="Rounded Rectangle 17"/>
          <p:cNvSpPr/>
          <p:nvPr/>
        </p:nvSpPr>
        <p:spPr>
          <a:xfrm>
            <a:off x="548640" y="5513832"/>
            <a:ext cx="10972800" cy="65836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48640" y="5513832"/>
            <a:ext cx="73152" cy="65836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713232" y="5577840"/>
            <a:ext cx="10607040" cy="201168"/>
          </a:xfrm>
          <a:prstGeom prst="rect">
            <a:avLst/>
          </a:prstGeom>
          <a:noFill/>
        </p:spPr>
        <p:txBody>
          <a:bodyPr wrap="square" lIns="0" tIns="0" rIns="0" bIns="0" anchor="t">
            <a:spAutoFit/>
          </a:bodyPr>
          <a:lstStyle/>
          <a:p>
            <a:pPr algn="l"/>
            <a:r>
              <a:rPr sz="1100" b="1">
                <a:solidFill>
                  <a:srgbClr val="782DA0"/>
                </a:solidFill>
                <a:latin typeface="Arial"/>
              </a:rPr>
              <a:t>EXPLAIN THE CONNECTION</a:t>
            </a:r>
          </a:p>
        </p:txBody>
      </p:sp>
      <p:sp xmlns:a="http://schemas.openxmlformats.org/drawingml/2006/main">
        <p:nvSpPr>
          <p:cNvPr id="17" name="TextBox 20"/>
          <p:cNvSpPr txBox="1"/>
          <p:nvPr/>
        </p:nvSpPr>
        <p:spPr>
          <a:xfrm>
            <a:off x="713232" y="5815584"/>
            <a:ext cx="10607040" cy="256032"/>
          </a:xfrm>
          <a:prstGeom prst="rect">
            <a:avLst/>
          </a:prstGeom>
          <a:noFill/>
        </p:spPr>
        <p:txBody>
          <a:bodyPr wrap="square" lIns="0" tIns="0" rIns="0" bIns="0" anchor="t">
            <a:spAutoFit/>
          </a:bodyPr>
          <a:lstStyle/>
          <a:p>
            <a:pPr algn="l"/>
            <a:r>
              <a:rPr sz="1700" b="0">
                <a:solidFill>
                  <a:srgbClr val="23282D"/>
                </a:solidFill>
                <a:latin typeface="Arial"/>
              </a:rPr>
              <a:t>“For the same 6 points, Andrew needs __ matches, fewer than __ and __.”</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31 / 42</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Connect a feature of the model to a</a:t>
            </a:r>
            <a:endParaRPr lang="en-US" sz="2000"/>
          </a:p>
          <a:p>
            <a:pPr>
              <a:lnSpc>
                <a:spcPts val="2400"/>
              </a:lnSpc>
              <a:buNone/>
            </a:pPr>
            <a:r>
              <a:rPr lang="en-US" sz="2000">
                <a:solidFill>
                  <a:srgbClr val="174D60"/>
                </a:solidFill>
                <a:latin typeface="Arial"/>
              </a:rPr>
              <a:t>step in your reasoning.</a:t>
            </a:r>
            <a:endParaRPr lang="en-US" sz="2000"/>
          </a:p>
        </p:txBody>
      </p:sp>
    </p:spTree>
    <p:extLst>
      <p:ext uri="{BB962C8B-B14F-4D97-AF65-F5344CB8AC3E}">
        <p14:creationId xmlns:p14="http://schemas.microsoft.com/office/powerpoint/2010/main" val="31984889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502920" y="365760"/>
            <a:ext cx="8229600" cy="502920"/>
          </a:xfrm>
          <a:prstGeom prst="rect">
            <a:avLst/>
          </a:prstGeom>
          <a:noFill/>
        </p:spPr>
        <p:txBody>
          <a:bodyPr wrap="square" lIns="0" tIns="0" rIns="0" bIns="0" anchor="t">
            <a:spAutoFit/>
          </a:bodyPr>
          <a:lstStyle/>
          <a:p>
            <a:pPr algn="l">
              <a:defRPr/>
            </a:pPr>
            <a:r>
              <a:rPr sz="3000" b="1">
                <a:solidFill>
                  <a:srgbClr val="782DA0"/>
                </a:solidFill>
                <a:latin typeface="Arial"/>
              </a:rPr>
              <a:t>Today’s Math Notes — Session 2</a:t>
            </a:r>
          </a:p>
        </p:txBody>
      </p:sp>
      <p:sp xmlns:a="http://schemas.openxmlformats.org/drawingml/2006/main">
        <p:nvSpPr>
          <p:cNvPr id="3"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NOTES</a:t>
            </a:r>
            <a:r>
              <a:rPr lang="en-US" sz="1150" b="1" dirty="0">
                <a:solidFill>
                  <a:srgbClr val="2D3A40"/>
                </a:solidFill>
                <a:latin typeface="Arial"/>
              </a:rPr>
              <a:t xml:space="preserve">  ·  COPY LESS • UNDERSTAND MORE</a:t>
            </a:r>
          </a:p>
        </p:txBody>
      </p:sp>
      <p:sp xmlns:a="http://schemas.openxmlformats.org/drawingml/2006/main">
        <p:nvSpPr>
          <p:cNvPr id="5" name="Rounded Rectangle 6"/>
          <p:cNvSpPr/>
          <p:nvPr/>
        </p:nvSpPr>
        <p:spPr>
          <a:xfrm>
            <a:off x="502920" y="1371600"/>
            <a:ext cx="5486400" cy="4160520"/>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6" name="Rectangle 7"/>
          <p:cNvSpPr/>
          <p:nvPr/>
        </p:nvSpPr>
        <p:spPr>
          <a:xfrm>
            <a:off x="502920" y="1371600"/>
            <a:ext cx="73152" cy="416052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7" name="TextBox 8"/>
          <p:cNvSpPr txBox="1"/>
          <p:nvPr/>
        </p:nvSpPr>
        <p:spPr>
          <a:xfrm>
            <a:off x="667512" y="1508760"/>
            <a:ext cx="5166360" cy="228600"/>
          </a:xfrm>
          <a:prstGeom prst="rect">
            <a:avLst/>
          </a:prstGeom>
          <a:noFill/>
        </p:spPr>
        <p:txBody>
          <a:bodyPr wrap="square" lIns="0" tIns="0" rIns="0" bIns="0" anchor="t">
            <a:spAutoFit/>
          </a:bodyPr>
          <a:lstStyle/>
          <a:p>
            <a:pPr algn="l">
              <a:defRPr/>
            </a:pPr>
            <a:r>
              <a:rPr sz="1400" b="1">
                <a:solidFill>
                  <a:srgbClr val="01708C"/>
                </a:solidFill>
                <a:latin typeface="Arial"/>
              </a:rPr>
              <a:t>HOLD ONE QUANTITY EQUAL</a:t>
            </a:r>
          </a:p>
        </p:txBody>
      </p:sp>
      <p:sp xmlns:a="http://schemas.openxmlformats.org/drawingml/2006/main">
        <p:nvSpPr>
          <p:cNvPr id="8" name="TextBox 9"/>
          <p:cNvSpPr txBox="1"/>
          <p:nvPr/>
        </p:nvSpPr>
        <p:spPr>
          <a:xfrm>
            <a:off x="667512" y="1810512"/>
            <a:ext cx="5166360" cy="3630168"/>
          </a:xfrm>
          <a:prstGeom prst="rect">
            <a:avLst/>
          </a:prstGeom>
          <a:noFill/>
        </p:spPr>
        <p:txBody>
          <a:bodyPr wrap="square" lIns="0" tIns="0" rIns="0" bIns="0" anchor="t">
            <a:spAutoFit/>
          </a:bodyPr>
          <a:lstStyle/>
          <a:p>
            <a:pPr algn="l">
              <a:defRPr/>
            </a:pPr>
            <a:r>
              <a:rPr sz="2300" b="0">
                <a:solidFill>
                  <a:srgbClr val="23282D"/>
                </a:solidFill>
                <a:latin typeface="Arial"/>
              </a:rPr>
              <a:t xml:space="preserve">Same matches → </a:t>
            </a:r>
            <a:r>
              <a:rPr sz="2300" b="1">
                <a:solidFill>
                  <a:srgbClr val="23282D"/>
                </a:solidFill>
                <a:latin typeface="Arial"/>
              </a:rPr>
              <a:t xml:space="preserve">compare</a:t>
            </a:r>
            <a:r>
              <a:rPr sz="2300" b="0">
                <a:solidFill>
                  <a:srgbClr val="23282D"/>
                </a:solidFill>
                <a:latin typeface="Arial"/>
              </a:rPr>
              <a:t xml:space="preserve"> points.</a:t>
            </a:r>
          </a:p>
          <a:p>
            <a:pPr algn="l">
              <a:defRPr/>
            </a:pPr>
            <a:r>
              <a:rPr sz="2300" b="0">
                <a:solidFill>
                  <a:srgbClr val="23282D"/>
                </a:solidFill>
                <a:latin typeface="Arial"/>
              </a:rPr>
              <a:t>Same points → compare matches.</a:t>
            </a:r>
          </a:p>
          <a:p>
            <a:pPr algn="l">
              <a:defRPr/>
            </a:pPr>
            <a:r>
              <a:rPr sz="2300" b="0">
                <a:solidFill>
                  <a:srgbClr val="23282D"/>
                </a:solidFill>
                <a:latin typeface="Arial"/>
              </a:rPr>
              <a:t/>
            </a:r>
          </a:p>
          <a:p>
            <a:pPr algn="l">
              <a:defRPr/>
            </a:pPr>
            <a:r>
              <a:rPr sz="2300" b="0">
                <a:solidFill>
                  <a:srgbClr val="23282D"/>
                </a:solidFill>
                <a:latin typeface="Arial"/>
              </a:rPr>
              <a:t xml:space="preserve">Keep each </a:t>
            </a:r>
            <a:r>
              <a:rPr sz="2300" b="1">
                <a:solidFill>
                  <a:srgbClr val="23282D"/>
                </a:solidFill>
                <a:latin typeface="Arial"/>
              </a:rPr>
              <a:t xml:space="preserve">ratio</a:t>
            </a:r>
            <a:r>
              <a:rPr sz="2300" b="0">
                <a:solidFill>
                  <a:srgbClr val="23282D"/>
                </a:solidFill>
                <a:latin typeface="Arial"/>
              </a:rPr>
              <a:t xml:space="preserve"> </a:t>
            </a:r>
            <a:r>
              <a:rPr sz="2300" b="1">
                <a:solidFill>
                  <a:srgbClr val="23282D"/>
                </a:solidFill>
                <a:latin typeface="Arial"/>
              </a:rPr>
              <a:t xml:space="preserve">equivalent</a:t>
            </a:r>
            <a:r>
              <a:rPr sz="2300" b="0">
                <a:solidFill>
                  <a:srgbClr val="23282D"/>
                </a:solidFill>
                <a:latin typeface="Arial"/>
              </a:rPr>
              <a:t xml:space="preserve"> when you scale.</a:t>
            </a:r>
          </a:p>
        </p:txBody>
      </p:sp>
      <p:sp xmlns:a="http://schemas.openxmlformats.org/drawingml/2006/main">
        <p:nvSpPr>
          <p:cNvPr id="9" name="Rounded Rectangle 10"/>
          <p:cNvSpPr/>
          <p:nvPr/>
        </p:nvSpPr>
        <p:spPr>
          <a:xfrm>
            <a:off x="6245352" y="1371600"/>
            <a:ext cx="5394960" cy="4160520"/>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0" name="Rectangle 11"/>
          <p:cNvSpPr/>
          <p:nvPr/>
        </p:nvSpPr>
        <p:spPr>
          <a:xfrm>
            <a:off x="6245352" y="1371600"/>
            <a:ext cx="73152" cy="4160520"/>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1" name="TextBox 12"/>
          <p:cNvSpPr txBox="1"/>
          <p:nvPr/>
        </p:nvSpPr>
        <p:spPr>
          <a:xfrm>
            <a:off x="6409944" y="1508760"/>
            <a:ext cx="5074920" cy="228600"/>
          </a:xfrm>
          <a:prstGeom prst="rect">
            <a:avLst/>
          </a:prstGeom>
          <a:noFill/>
        </p:spPr>
        <p:txBody>
          <a:bodyPr wrap="square" lIns="0" tIns="0" rIns="0" bIns="0" anchor="t">
            <a:spAutoFit/>
          </a:bodyPr>
          <a:lstStyle/>
          <a:p>
            <a:pPr algn="l">
              <a:defRPr/>
            </a:pPr>
            <a:r>
              <a:rPr sz="1400" b="1">
                <a:solidFill>
                  <a:srgbClr val="C8430E"/>
                </a:solidFill>
                <a:latin typeface="Arial"/>
              </a:rPr>
              <a:t>EXPLAIN THE DIRECTION</a:t>
            </a:r>
          </a:p>
        </p:txBody>
      </p:sp>
      <p:sp xmlns:a="http://schemas.openxmlformats.org/drawingml/2006/main">
        <p:nvSpPr>
          <p:cNvPr id="12" name="TextBox 13"/>
          <p:cNvSpPr txBox="1"/>
          <p:nvPr/>
        </p:nvSpPr>
        <p:spPr>
          <a:xfrm>
            <a:off x="6409944" y="1810512"/>
            <a:ext cx="5074920" cy="3630168"/>
          </a:xfrm>
          <a:prstGeom prst="rect">
            <a:avLst/>
          </a:prstGeom>
          <a:noFill/>
        </p:spPr>
        <p:txBody>
          <a:bodyPr wrap="square" lIns="0" tIns="0" rIns="0" bIns="0" anchor="t">
            <a:spAutoFit/>
          </a:bodyPr>
          <a:lstStyle/>
          <a:p>
            <a:pPr algn="l">
              <a:defRPr/>
            </a:pPr>
            <a:r>
              <a:rPr sz="2300" b="0">
                <a:solidFill>
                  <a:srgbClr val="23282D"/>
                </a:solidFill>
                <a:latin typeface="Arial"/>
              </a:rPr>
              <a:t>More points for the same matches is better.</a:t>
            </a:r>
          </a:p>
          <a:p>
            <a:pPr algn="l">
              <a:defRPr/>
            </a:pPr>
            <a:r>
              <a:rPr sz="2300" b="0">
                <a:solidFill>
                  <a:srgbClr val="23282D"/>
                </a:solidFill>
                <a:latin typeface="Arial"/>
              </a:rPr>
              <a:t>Fewer matches for the same points is better.</a:t>
            </a:r>
          </a:p>
          <a:p>
            <a:pPr algn="l">
              <a:defRPr/>
            </a:pPr>
            <a:r>
              <a:rPr sz="2300" b="0">
                <a:solidFill>
                  <a:srgbClr val="23282D"/>
                </a:solidFill>
                <a:latin typeface="Arial"/>
              </a:rPr>
              <a:t/>
            </a:r>
          </a:p>
          <a:p>
            <a:pPr algn="l">
              <a:defRPr/>
            </a:pPr>
            <a:r>
              <a:rPr sz="2300" b="0">
                <a:solidFill>
                  <a:srgbClr val="23282D"/>
                </a:solidFill>
                <a:latin typeface="Arial"/>
              </a:rPr>
              <a:t>Both methods favor Andrew’s game.</a:t>
            </a:r>
          </a:p>
        </p:txBody>
      </p:sp>
      <p:sp xmlns:a="http://schemas.openxmlformats.org/drawingml/2006/main">
        <p:nvSpPr>
          <p:cNvPr id="13" name="Rounded Rectangle 17"/>
          <p:cNvSpPr/>
          <p:nvPr/>
        </p:nvSpPr>
        <p:spPr>
          <a:xfrm>
            <a:off x="594360" y="5669280"/>
            <a:ext cx="10972800" cy="5029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4" name="Rectangle 18"/>
          <p:cNvSpPr/>
          <p:nvPr/>
        </p:nvSpPr>
        <p:spPr>
          <a:xfrm>
            <a:off x="594360" y="5669280"/>
            <a:ext cx="73152" cy="5029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TextBox 19"/>
          <p:cNvSpPr txBox="1"/>
          <p:nvPr/>
        </p:nvSpPr>
        <p:spPr>
          <a:xfrm>
            <a:off x="758952" y="5806440"/>
            <a:ext cx="10652760" cy="228600"/>
          </a:xfrm>
          <a:prstGeom prst="rect">
            <a:avLst/>
          </a:prstGeom>
          <a:noFill/>
        </p:spPr>
        <p:txBody>
          <a:bodyPr wrap="square" lIns="0" tIns="0" rIns="0" bIns="0" anchor="t">
            <a:spAutoFit/>
          </a:bodyPr>
          <a:lstStyle/>
          <a:p>
            <a:pPr algn="l"/>
            <a:r>
              <a:rPr sz="1400" b="1">
                <a:solidFill>
                  <a:srgbClr val="782DA0"/>
                </a:solidFill>
                <a:latin typeface="Arial"/>
              </a:rPr>
              <a:t/>
            </a:r>
          </a:p>
        </p:txBody>
      </p:sp>
      <p:sp xmlns:a="http://schemas.openxmlformats.org/drawingml/2006/main">
        <p:nvSpPr>
          <p:cNvPr id="16" name="TextBox 20"/>
          <p:cNvSpPr txBox="1"/>
          <p:nvPr/>
        </p:nvSpPr>
        <p:spPr>
          <a:xfrm>
            <a:off x="758952" y="5742432"/>
            <a:ext cx="10515600" cy="274320"/>
          </a:xfrm>
          <a:prstGeom prst="rect">
            <a:avLst/>
          </a:prstGeom>
          <a:noFill/>
        </p:spPr>
        <p:txBody>
          <a:bodyPr wrap="square" lIns="0" tIns="0" rIns="0" bIns="0" anchor="t">
            <a:spAutoFit/>
          </a:bodyPr>
          <a:lstStyle/>
          <a:p>
            <a:pPr algn="l">
              <a:defRPr/>
            </a:pPr>
            <a:r>
              <a:rPr sz="1700" b="0">
                <a:solidFill>
                  <a:srgbClr val="23282D"/>
                </a:solidFill>
                <a:latin typeface="Arial"/>
              </a:rPr>
              <a:t>Same quantity first. Compare and explain the other.</a:t>
            </a:r>
          </a:p>
        </p:txBody>
      </p:sp>
      <p:sp>
        <p:nvSpPr>
          <p:cNvPr id="17"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32 / 42</ns3:t>
            </ns3:r>
          </ns3:p>
        </p:txBody>
      </p:sp>
      <p:grpSp xmlns:a="http://schemas.openxmlformats.org/drawingml/2006/main">
        <p:nvGrpSpPr>
          <p:cNvPr id="18" name="TEACH-1-student-move" descr="TEACH 1 · Facilitate clear, standards-based content learning"/>
          <p:cNvGrpSpPr/>
          <p:nvPr/>
        </p:nvGrpSpPr>
        <p:grpSpPr>
          <a:xfrm>
            <a:off x="502920" y="932688"/>
            <a:ext cx="11186160" cy="402336"/>
            <a:chOff x="502920" y="932688"/>
            <a:chExt cx="11186160" cy="402336"/>
          </a:xfrm>
        </p:grpSpPr>
        <p:sp>
          <p:nvSpPr>
            <p:cNvPr id="19" name="TEACH-move-card"/>
            <p:cNvSpPr/>
            <p:nvPr/>
          </p:nvSpPr>
          <p:spPr>
            <a:xfrm>
              <a:off x="502920" y="93268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20" name="TEACH-move-rule"/>
            <p:cNvSpPr/>
            <p:nvPr/>
          </p:nvSpPr>
          <p:spPr>
            <a:xfrm>
              <a:off x="548640" y="1009132"/>
              <a:ext cx="100584" cy="249448"/>
            </a:xfrm>
            <a:prstGeom prst="roundRect">
              <a:avLst>
                <a:gd name="adj" fmla="val 50000"/>
              </a:avLst>
            </a:prstGeom>
            <a:solidFill>
              <a:srgbClr val="01708C"/>
            </a:solidFill>
            <a:ln>
              <a:noFill/>
            </a:ln>
          </p:spPr>
          <p:txBody>
            <a:bodyPr/>
            <a:lstStyle/>
            <a:p>
              <a:endParaRPr/>
            </a:p>
          </p:txBody>
        </p:sp>
        <p:sp>
          <p:nvSpPr>
            <p:cNvPr id="21" name="TEACH-move-text"/>
            <p:cNvSpPr txBox="1"/>
            <p:nvPr/>
          </p:nvSpPr>
          <p:spPr>
            <a:xfrm>
              <a:off x="822960" y="93268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extLst>
      <p:ext uri="{BB962C8B-B14F-4D97-AF65-F5344CB8AC3E}">
        <p14:creationId xmlns:p14="http://schemas.microsoft.com/office/powerpoint/2010/main" val="1315783687"/>
      </p:ext>
    </p:extLst>
  </p:cSld>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9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lang="en-US" sz="2800">
                <a:latin typeface="Arial"/>
                <a:ea typeface="Arial"/>
                <a:cs typeface="Arial"/>
                <a:sym typeface="Arial"/>
                <a:solidFill>
                  <a:srgbClr val="782DA0"/>
                </a:solidFill>
              </a:rPr>
              <a:t>Let’s Explore More</a:t>
            </a:r>
            <a:endParaRPr/>
          </a:p>
        </p:txBody>
      </p:sp>
      <p:sp>
        <p:nvSpPr>
          <p:cNvPr id="815" name="Google Shape;815;p95"/>
          <p:cNvSpPr txBox="1"/>
          <p:nvPr/>
        </p:nvSpPr>
        <p:spPr>
          <a:xfrm>
            <a:off x="484563" y="927528"/>
            <a:ext cx="8375351" cy="135403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lang="en-US" sz="2600">
                <a:solidFill>
                  <a:srgbClr val="23282D"/>
                </a:solidFill>
                <a:latin typeface="Arial"/>
                <a:ea typeface="Arial"/>
                <a:cs typeface="Arial"/>
                <a:sym typeface="Arial"/>
              </a:rPr>
              <a:t>Brielle changes her game to 2 points for 4 matches. Compare her ratio with Andrew’s 3 : 6 and Sheng’s 1 : 3.</a:t>
            </a:r>
          </a:p>
        </p:txBody>
      </p:sp>
      <p:sp>
        <p:nvSpPr>
          <p:cNvPr id="816" name="Google Shape;816;p95"/>
          <p:cNvSpPr/>
          <p:nvPr/>
        </p:nvSpPr>
        <p:spPr>
          <a:xfrm>
            <a:off x="558681" y="2449160"/>
            <a:ext cx="8603074" cy="1428121"/>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817" name="Google Shape;817;p95"/>
          <p:cNvSpPr txBox="1"/>
          <p:nvPr/>
        </p:nvSpPr>
        <p:spPr>
          <a:xfrm>
            <a:off x="7859376" y="3505098"/>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818" name="Google Shape;818;p95"/>
          <p:cNvSpPr txBox="1"/>
          <p:nvPr/>
        </p:nvSpPr>
        <p:spPr>
          <a:xfrm>
            <a:off x="561976" y="3857159"/>
            <a:ext cx="8220524" cy="97891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lang="en-US" sz="2800">
                <a:solidFill>
                  <a:srgbClr val="23282D"/>
                </a:solidFill>
                <a:latin typeface="Arial"/>
                <a:ea typeface="Arial"/>
                <a:cs typeface="Arial"/>
                <a:sym typeface="Arial"/>
              </a:rPr>
              <a:t xml:space="preserve">How can comparing rates and </a:t>
            </a:r>
            <a:r>
              <a:rPr lang="en-US" sz="2800" b="1">
                <a:solidFill>
                  <a:srgbClr val="23282D"/>
                </a:solidFill>
                <a:highlight>
                  <a:srgbClr val="FFF2A8"/>
                </a:highlight>
                <a:latin typeface="Arial"/>
                <a:ea typeface="Arial"/>
                <a:cs typeface="Arial"/>
                <a:sym typeface="Arial"/>
              </a:rPr>
              <a:t>ratios</a:t>
            </a:r>
            <a:r>
              <a:rPr lang="en-US" sz="2800">
                <a:solidFill>
                  <a:srgbClr val="23282D"/>
                </a:solidFill>
                <a:latin typeface="Arial"/>
                <a:ea typeface="Arial"/>
                <a:cs typeface="Arial"/>
                <a:sym typeface="Arial"/>
              </a:rPr>
              <a:t xml:space="preserve"> help you in real-world situations?</a:t>
            </a:r>
            <a:endParaRPr/>
          </a:p>
        </p:txBody>
      </p:sp>
      <p:sp>
        <p:nvSpPr>
          <p:cNvPr id="819" name="Google Shape;819;p95"/>
          <p:cNvSpPr/>
          <p:nvPr/>
        </p:nvSpPr>
        <p:spPr>
          <a:xfrm>
            <a:off x="558681" y="4836070"/>
            <a:ext cx="8603074" cy="1388658"/>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820" name="Google Shape;820;p95"/>
          <p:cNvSpPr txBox="1"/>
          <p:nvPr/>
        </p:nvSpPr>
        <p:spPr>
          <a:xfrm>
            <a:off x="7859377" y="5886173"/>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82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3.5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comparing unmatched amounts as if they were equivalent wholes.</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Mark equivalent ratios that share one quantity before comparing the other.</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24" name="Google Shape;924;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5" name="Google Shape;925;p90"/>
          <p:cNvSpPr txBox="1"/>
          <p:nvPr/>
        </p:nvSpPr>
        <p:spPr>
          <a:xfrm>
            <a:off x="415553" y="629947"/>
            <a:ext cx="8219489" cy="27990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Brielle, Andrew, and Sheng are designing video games. Brielle’s game awards 2 points for every 5 matches, Andrew’s game awards 3 points for every 6 matches, and Sheng’s game awards 1 point for every 3 matches. Whose game has the greatest ratio of points to matches?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926" name="Google Shape;926;p90"/>
          <p:cNvSpPr/>
          <p:nvPr/>
        </p:nvSpPr>
        <p:spPr>
          <a:xfrm>
            <a:off x="484565" y="4130554"/>
            <a:ext cx="651652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represent the problem?</a:t>
            </a:r>
            <a:endParaRPr b="0" i="0" sz="1400" u="none" cap="none" strike="noStrike">
              <a:solidFill>
                <a:srgbClr val="000000"/>
              </a:solidFill>
              <a:latin typeface="Arial"/>
              <a:ea typeface="Arial"/>
              <a:cs typeface="Arial"/>
              <a:sym typeface="Arial"/>
            </a:endParaRPr>
          </a:p>
        </p:txBody>
      </p:sp>
      <p:sp>
        <p:nvSpPr>
          <p:cNvPr id="927" name="Google Shape;927;p90"/>
          <p:cNvSpPr txBox="1"/>
          <p:nvPr/>
        </p:nvSpPr>
        <p:spPr>
          <a:xfrm>
            <a:off x="484565" y="4856799"/>
            <a:ext cx="5960624" cy="15526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tables to show each game.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74" name="Google Shape;974;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5" name="Google Shape;975;p94"/>
          <p:cNvSpPr txBox="1"/>
          <p:nvPr/>
        </p:nvSpPr>
        <p:spPr>
          <a:xfrm>
            <a:off x="450059" y="440853"/>
            <a:ext cx="7054922" cy="9384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determine equivalent ratios that have the same value for the second term.</a:t>
            </a:r>
            <a:endParaRPr b="0" i="0" sz="1400" u="none" cap="none" strike="noStrike">
              <a:solidFill>
                <a:srgbClr val="000000"/>
              </a:solidFill>
              <a:latin typeface="Arial"/>
              <a:ea typeface="Arial"/>
              <a:cs typeface="Arial"/>
              <a:sym typeface="Arial"/>
            </a:endParaRPr>
          </a:p>
        </p:txBody>
      </p:sp>
      <p:sp>
        <p:nvSpPr>
          <p:cNvPr id="976" name="Google Shape;976;p94"/>
          <p:cNvSpPr/>
          <p:nvPr/>
        </p:nvSpPr>
        <p:spPr>
          <a:xfrm>
            <a:off x="673631" y="4003616"/>
            <a:ext cx="1074142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determine what number to multiply each ratio by so that the second terms are the same?</a:t>
            </a:r>
            <a:endParaRPr b="1" i="0" sz="2800" u="none" cap="none" strike="noStrike">
              <a:solidFill>
                <a:schemeClr val="dk1"/>
              </a:solidFill>
              <a:latin typeface="Arial"/>
              <a:ea typeface="Arial"/>
              <a:cs typeface="Arial"/>
              <a:sym typeface="Arial"/>
            </a:endParaRPr>
          </a:p>
        </p:txBody>
      </p:sp>
      <p:sp>
        <p:nvSpPr>
          <p:cNvPr id="977" name="Google Shape;977;p94"/>
          <p:cNvSpPr/>
          <p:nvPr/>
        </p:nvSpPr>
        <p:spPr>
          <a:xfrm>
            <a:off x="582214" y="1665147"/>
            <a:ext cx="2347502"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chemeClr val="dk1"/>
                </a:solidFill>
                <a:latin typeface="Arial"/>
                <a:ea typeface="Arial"/>
                <a:cs typeface="Arial"/>
                <a:sym typeface="Arial"/>
              </a:rPr>
              <a:t>Brielle’s Game</a:t>
            </a:r>
            <a:endParaRPr b="0" i="0" sz="1400" u="none" cap="none" strike="noStrike">
              <a:solidFill>
                <a:srgbClr val="000000"/>
              </a:solidFill>
              <a:latin typeface="Arial"/>
              <a:ea typeface="Arial"/>
              <a:cs typeface="Arial"/>
              <a:sym typeface="Arial"/>
            </a:endParaRPr>
          </a:p>
        </p:txBody>
      </p:sp>
      <p:sp>
        <p:nvSpPr>
          <p:cNvPr id="978" name="Google Shape;978;p94"/>
          <p:cNvSpPr/>
          <p:nvPr/>
        </p:nvSpPr>
        <p:spPr>
          <a:xfrm>
            <a:off x="4168501" y="1665147"/>
            <a:ext cx="2552686"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chemeClr val="dk1"/>
                </a:solidFill>
                <a:latin typeface="Arial"/>
                <a:ea typeface="Arial"/>
                <a:cs typeface="Arial"/>
                <a:sym typeface="Arial"/>
              </a:rPr>
              <a:t>Andrew’s Game</a:t>
            </a:r>
            <a:endParaRPr b="0" i="0" sz="1400" u="none" cap="none" strike="noStrike">
              <a:solidFill>
                <a:srgbClr val="000000"/>
              </a:solidFill>
              <a:latin typeface="Arial"/>
              <a:ea typeface="Arial"/>
              <a:cs typeface="Arial"/>
              <a:sym typeface="Arial"/>
            </a:endParaRPr>
          </a:p>
        </p:txBody>
      </p:sp>
      <p:sp>
        <p:nvSpPr>
          <p:cNvPr id="979" name="Google Shape;979;p94"/>
          <p:cNvSpPr/>
          <p:nvPr/>
        </p:nvSpPr>
        <p:spPr>
          <a:xfrm>
            <a:off x="7673841" y="1665146"/>
            <a:ext cx="2387577"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chemeClr val="dk1"/>
                </a:solidFill>
                <a:latin typeface="Arial"/>
                <a:ea typeface="Arial"/>
                <a:cs typeface="Arial"/>
                <a:sym typeface="Arial"/>
              </a:rPr>
              <a:t>Sheng’s Game</a:t>
            </a:r>
            <a:endParaRPr b="0" i="0" sz="1400" u="none" cap="none" strike="noStrike">
              <a:solidFill>
                <a:srgbClr val="000000"/>
              </a:solidFill>
              <a:latin typeface="Arial"/>
              <a:ea typeface="Arial"/>
              <a:cs typeface="Arial"/>
              <a:sym typeface="Arial"/>
            </a:endParaRPr>
          </a:p>
        </p:txBody>
      </p:sp>
      <p:pic>
        <p:nvPicPr>
          <p:cNvPr id="980" name="Google Shape;980;p94"/>
          <p:cNvPicPr preferRelativeResize="0"/>
          <p:nvPr/>
        </p:nvPicPr>
        <p:blipFill rotWithShape="1">
          <a:blip r:embed="rId2">
            <a:alphaModFix/>
          </a:blip>
          <a:srcRect b="0" l="0" r="0" t="0"/>
          <a:stretch/>
        </p:blipFill>
        <p:spPr>
          <a:xfrm>
            <a:off x="576563" y="2213756"/>
            <a:ext cx="3378164" cy="1134956"/>
          </a:xfrm>
          <a:prstGeom prst="rect">
            <a:avLst/>
          </a:prstGeom>
          <a:noFill/>
          <a:ln>
            <a:noFill/>
          </a:ln>
        </p:spPr>
      </p:pic>
      <p:pic>
        <p:nvPicPr>
          <p:cNvPr id="981" name="Google Shape;981;p94"/>
          <p:cNvPicPr preferRelativeResize="0"/>
          <p:nvPr/>
        </p:nvPicPr>
        <p:blipFill rotWithShape="1">
          <a:blip r:embed="rId3">
            <a:alphaModFix/>
          </a:blip>
          <a:srcRect b="0" l="0" r="0" t="0"/>
          <a:stretch/>
        </p:blipFill>
        <p:spPr>
          <a:xfrm>
            <a:off x="4142771" y="2211512"/>
            <a:ext cx="3364812" cy="1121604"/>
          </a:xfrm>
          <a:prstGeom prst="rect">
            <a:avLst/>
          </a:prstGeom>
          <a:noFill/>
          <a:ln>
            <a:noFill/>
          </a:ln>
        </p:spPr>
      </p:pic>
      <p:pic>
        <p:nvPicPr>
          <p:cNvPr id="982" name="Google Shape;982;p94"/>
          <p:cNvPicPr preferRelativeResize="0"/>
          <p:nvPr/>
        </p:nvPicPr>
        <p:blipFill rotWithShape="1">
          <a:blip r:embed="rId4">
            <a:alphaModFix/>
          </a:blip>
          <a:srcRect b="0" l="0" r="0" t="0"/>
          <a:stretch/>
        </p:blipFill>
        <p:spPr>
          <a:xfrm>
            <a:off x="7696879" y="2211512"/>
            <a:ext cx="3364812" cy="1121604"/>
          </a:xfrm>
          <a:prstGeom prst="rect">
            <a:avLst/>
          </a:prstGeom>
          <a:noFill/>
          <a:ln>
            <a:noFill/>
          </a:ln>
        </p:spPr>
      </p:pic>
      <p:sp>
        <p:nvSpPr>
          <p:cNvPr id="983" name="Google Shape;983;p94"/>
          <p:cNvSpPr txBox="1"/>
          <p:nvPr/>
        </p:nvSpPr>
        <p:spPr>
          <a:xfrm>
            <a:off x="450058" y="4957723"/>
            <a:ext cx="8685315" cy="1459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Find a number that is divisible by three, five, and six. 30 is divisible by these numbers.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42</a:t>
            </a:r>
          </a:p>
        </p:txBody>
      </p:sp>
      <p:grpSp>
        <p:nvGrpSpPr>
          <p:cNvPr id="9003" name="TEACH-2-student-move" descr="TEACH 2 · Use strategies and tasks to engage students in rigorous work"/>
          <p:cNvGrpSpPr/>
          <p:nvPr/>
        </p:nvGrpSpPr>
        <p:grpSpPr>
          <a:xfrm>
            <a:off x="502920" y="3564704"/>
            <a:ext cx="11186160" cy="402336"/>
            <a:chOff x="502920" y="3564704"/>
            <a:chExt cx="11186160" cy="402336"/>
          </a:xfrm>
        </p:grpSpPr>
        <p:sp>
          <p:nvSpPr>
            <p:cNvPr id="9004" name="TEACH-move-card"/>
            <p:cNvSpPr/>
            <p:nvPr/>
          </p:nvSpPr>
          <p:spPr>
            <a:xfrm>
              <a:off x="502920" y="3564704"/>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3641148"/>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3564704"/>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1038" name="Google Shape;1038;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39" name="Google Shape;1039;p99"/>
          <p:cNvSpPr txBox="1"/>
          <p:nvPr/>
        </p:nvSpPr>
        <p:spPr>
          <a:xfrm>
            <a:off x="441844" y="321339"/>
            <a:ext cx="7046295" cy="14774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Find the values of the second terms.</a:t>
            </a:r>
            <a:endParaRPr b="0" i="0" sz="1400" u="none" cap="none" strike="noStrike">
              <a:solidFill>
                <a:srgbClr val="000000"/>
              </a:solidFill>
              <a:latin typeface="Arial"/>
              <a:ea typeface="Arial"/>
              <a:cs typeface="Arial"/>
              <a:sym typeface="Arial"/>
            </a:endParaRPr>
          </a:p>
        </p:txBody>
      </p:sp>
      <p:sp>
        <p:nvSpPr>
          <p:cNvPr id="1040" name="Google Shape;1040;p99"/>
          <p:cNvSpPr/>
          <p:nvPr/>
        </p:nvSpPr>
        <p:spPr>
          <a:xfrm>
            <a:off x="484565" y="4484583"/>
            <a:ext cx="1074142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Which person’s game awards the greatest number of points when the matches are the same?</a:t>
            </a:r>
            <a:endParaRPr b="1" i="0" sz="2800" u="none" cap="none" strike="noStrike">
              <a:solidFill>
                <a:schemeClr val="dk1"/>
              </a:solidFill>
              <a:latin typeface="Arial"/>
              <a:ea typeface="Arial"/>
              <a:cs typeface="Arial"/>
              <a:sym typeface="Arial"/>
            </a:endParaRPr>
          </a:p>
        </p:txBody>
      </p:sp>
      <p:pic>
        <p:nvPicPr>
          <p:cNvPr id="1041" name="Google Shape;1041;p99"/>
          <p:cNvPicPr preferRelativeResize="0"/>
          <p:nvPr/>
        </p:nvPicPr>
        <p:blipFill rotWithShape="1">
          <a:blip r:embed="rId2">
            <a:alphaModFix/>
          </a:blip>
          <a:srcRect b="0" l="0" r="0" t="0"/>
          <a:stretch/>
        </p:blipFill>
        <p:spPr>
          <a:xfrm>
            <a:off x="460180" y="1272053"/>
            <a:ext cx="10506391" cy="2690347"/>
          </a:xfrm>
          <a:prstGeom prst="rect">
            <a:avLst/>
          </a:prstGeom>
          <a:noFill/>
          <a:ln>
            <a:noFill/>
          </a:ln>
        </p:spPr>
      </p:pic>
      <p:sp>
        <p:nvSpPr>
          <p:cNvPr id="1042" name="Google Shape;1042;p99"/>
          <p:cNvSpPr txBox="1"/>
          <p:nvPr/>
        </p:nvSpPr>
        <p:spPr>
          <a:xfrm>
            <a:off x="484565" y="5343800"/>
            <a:ext cx="10419224" cy="1057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Andrew’s game awards the greatest number of points per match.</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42</a:t>
            </a:r>
          </a:p>
        </p:txBody>
      </p:sp>
      <p:grpSp>
        <p:nvGrpSpPr>
          <p:cNvPr id="9003" name="TEACH-7-student-move" descr="TEACH 7 · Cultivate a supportive learning community"/>
          <p:cNvGrpSpPr/>
          <p:nvPr/>
        </p:nvGrpSpPr>
        <p:grpSpPr>
          <a:xfrm>
            <a:off x="502920" y="4045671"/>
            <a:ext cx="11186160" cy="402336"/>
            <a:chOff x="502920" y="4045671"/>
            <a:chExt cx="11186160" cy="402336"/>
          </a:xfrm>
        </p:grpSpPr>
        <p:sp>
          <p:nvSpPr>
            <p:cNvPr id="9004" name="TEACH-move-card"/>
            <p:cNvSpPr/>
            <p:nvPr/>
          </p:nvSpPr>
          <p:spPr>
            <a:xfrm>
              <a:off x="502920" y="4045671"/>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4122115"/>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4045671"/>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EWL-Eyebrow"/>
          <p:cNvSpPr txBox="1"/>
          <p:nvPr/>
        </p:nvSpPr>
        <p:spPr>
          <a:xfrm>
            <a:off x="502920" y="54864"/>
            <a:ext cx="6035040" cy="237744"/>
          </a:xfrm>
          <a:prstGeom prst="rect">
            <a:avLst/>
          </a:prstGeom>
          <a:noFill/>
          <a:ln>
            <a:noFill/>
          </a:ln>
        </p:spPr>
        <p:txBody>
          <a:bodyPr wrap="square" lIns="0" tIns="0" rIns="0" bIns="45700" anchor="t"/>
          <a:lstStyle/>
          <a:p>
            <a:pPr algn="l">
              <a:lnSpc>
                <a:spcPct val="115000"/>
              </a:lnSpc>
              <a:defRPr/>
            </a:pPr>
            <a:r>
              <a:rPr lang="en-US" sz="1200" b="1">
                <a:solidFill>
                  <a:srgbClr val="1E2682"/>
                </a:solidFill>
                <a:latin typeface="Arial"/>
                <a:ea typeface="Arial"/>
                <a:cs typeface="Arial"/>
              </a:rPr>
              <a:t xml:space="preserve">STUDENT MOVE  ·  </a:t>
            </a:r>
            <a:r>
              <a:rPr lang="en-US" sz="1200" b="1">
                <a:solidFill>
                  <a:srgbClr val="595959"/>
                </a:solidFill>
                <a:latin typeface="Arial"/>
                <a:ea typeface="Arial"/>
                <a:cs typeface="Arial"/>
              </a:rPr>
              <a:t>SUMMARIZE • TEACH A PARTNER</a:t>
            </a:r>
          </a:p>
        </p:txBody>
      </p:sp>
      <p:sp>
        <p:nvSpPr>
          <p:cNvPr id="802" name="EWL-Title"/>
          <p:cNvSpPr txBox="1"/>
          <p:nvPr/>
        </p:nvSpPr>
        <p:spPr>
          <a:xfrm>
            <a:off x="484632" y="365760"/>
            <a:ext cx="9144000" cy="822960"/>
          </a:xfrm>
          <a:prstGeom prst="rect">
            <a:avLst/>
          </a:prstGeom>
          <a:noFill/>
          <a:ln>
            <a:noFill/>
          </a:ln>
        </p:spPr>
        <p:txBody>
          <a:bodyPr wrap="square" lIns="91425" tIns="45700" rIns="91425" bIns="45700" anchor="t"/>
          <a:lstStyle/>
          <a:p>
            <a:pPr algn="l">
              <a:lnSpc>
                <a:spcPct val="115000"/>
              </a:lnSpc>
              <a:defRPr/>
            </a:pPr>
            <a:r>
              <a:rPr lang="en-US" sz="2700" b="1">
                <a:solidFill>
                  <a:srgbClr val="782DA0"/>
                </a:solidFill>
                <a:latin typeface="Arial"/>
                <a:ea typeface="Arial"/>
                <a:cs typeface="Arial"/>
              </a:rPr>
              <a:t>Summarize: Compare Ratios</a:t>
            </a:r>
          </a:p>
        </p:txBody>
      </p:sp>
      <p:sp>
        <p:nvSpPr>
          <p:cNvPr id="803" name="EWL-Card1"/>
          <p:cNvSpPr txBox="1"/>
          <p:nvPr/>
        </p:nvSpPr>
        <p:spPr>
          <a:xfrm>
            <a:off x="548640" y="1554480"/>
            <a:ext cx="5440680" cy="2468880"/>
          </a:xfrm>
          <a:prstGeom prst="roundRect">
            <a:avLst>
              <a:gd name="adj" fmla="val 6000"/>
            </a:avLst>
          </a:prstGeom>
          <a:solidFill>
            <a:srgbClr val="EAF6F2"/>
          </a:solidFill>
          <a:ln w="19050">
            <a:solidFill>
              <a:srgbClr val="0E8476"/>
            </a:solidFill>
          </a:ln>
        </p:spPr>
        <p:txBody>
          <a:bodyPr wrap="square" lIns="201168" tIns="658368" rIns="201168" bIns="45700" anchor="t"/>
          <a:lstStyle/>
          <a:p>
            <a:pPr algn="l">
              <a:lnSpc>
                <a:spcPct val="115000"/>
              </a:lnSpc>
            </a:pPr>
            <a:r>
              <a:rPr lang="en-US" sz="1600">
                <a:solidFill>
                  <a:srgbClr val="262626"/>
                </a:solidFill>
                <a:latin typeface="Arial"/>
                <a:ea typeface="Arial"/>
                <a:cs typeface="Arial"/>
              </a:rPr>
              <a:t>Scale both ratios until one quantity matches. Matching amounts are what make a comparison fair.</a:t>
            </a:r>
          </a:p>
        </p:txBody>
      </p:sp>
      <p:sp>
        <p:nvSpPr>
          <p:cNvPr id="804" name="EWL-Chip1"/>
          <p:cNvSpPr txBox="1"/>
          <p:nvPr/>
        </p:nvSpPr>
        <p:spPr>
          <a:xfrm>
            <a:off x="777240" y="1783080"/>
            <a:ext cx="2377440" cy="420624"/>
          </a:xfrm>
          <a:prstGeom prst="roundRect">
            <a:avLst>
              <a:gd name="adj" fmla="val 50000"/>
            </a:avLst>
          </a:prstGeom>
          <a:solidFill>
            <a:srgbClr val="0E8476"/>
          </a:solidFill>
          <a:ln>
            <a:noFill/>
          </a:ln>
        </p:spPr>
        <p:txBody>
          <a:bodyPr wrap="square" lIns="0" tIns="0" rIns="0" bIns="45700" anchor="ctr"/>
          <a:lstStyle/>
          <a:p>
            <a:pPr algn="ctr">
              <a:lnSpc>
                <a:spcPct val="115000"/>
              </a:lnSpc>
            </a:pPr>
            <a:r>
              <a:rPr lang="en-US" sz="1400" b="1">
                <a:solidFill>
                  <a:srgbClr val="FFFFFF"/>
                </a:solidFill>
                <a:latin typeface="Arial"/>
                <a:ea typeface="Arial"/>
                <a:cs typeface="Arial"/>
              </a:rPr>
              <a:t>MAKE IT FAIR</a:t>
            </a:r>
          </a:p>
        </p:txBody>
      </p:sp>
      <p:sp>
        <p:nvSpPr>
          <p:cNvPr id="805" name="EWL-Card2"/>
          <p:cNvSpPr txBox="1"/>
          <p:nvPr/>
        </p:nvSpPr>
        <p:spPr>
          <a:xfrm>
            <a:off x="6217920" y="1554480"/>
            <a:ext cx="5440680" cy="2468880"/>
          </a:xfrm>
          <a:prstGeom prst="roundRect">
            <a:avLst>
              <a:gd name="adj" fmla="val 6000"/>
            </a:avLst>
          </a:prstGeom>
          <a:solidFill>
            <a:srgbClr val="FDF1E3"/>
          </a:solidFill>
          <a:ln w="19050">
            <a:solidFill>
              <a:srgbClr val="C46A0C"/>
            </a:solidFill>
          </a:ln>
        </p:spPr>
        <p:txBody>
          <a:bodyPr wrap="square" lIns="201168" tIns="658368" rIns="201168" bIns="45700" anchor="t"/>
          <a:lstStyle/>
          <a:p>
            <a:pPr algn="l">
              <a:lnSpc>
                <a:spcPct val="115000"/>
              </a:lnSpc>
            </a:pPr>
            <a:r>
              <a:rPr lang="en-US" sz="1600">
                <a:solidFill>
                  <a:srgbClr val="262626"/>
                </a:solidFill>
                <a:latin typeface="Arial"/>
                <a:ea typeface="Arial"/>
                <a:cs typeface="Arial"/>
              </a:rPr>
              <a:t>Once one quantity is equal in both ratios, compare the other quantity directly.</a:t>
            </a:r>
          </a:p>
        </p:txBody>
      </p:sp>
      <p:sp>
        <p:nvSpPr>
          <p:cNvPr id="806" name="EWL-Chip2"/>
          <p:cNvSpPr txBox="1"/>
          <p:nvPr/>
        </p:nvSpPr>
        <p:spPr>
          <a:xfrm>
            <a:off x="6446520" y="1783080"/>
            <a:ext cx="2377440" cy="420624"/>
          </a:xfrm>
          <a:prstGeom prst="roundRect">
            <a:avLst>
              <a:gd name="adj" fmla="val 50000"/>
            </a:avLst>
          </a:prstGeom>
          <a:solidFill>
            <a:srgbClr val="C46A0C"/>
          </a:solidFill>
          <a:ln>
            <a:noFill/>
          </a:ln>
        </p:spPr>
        <p:txBody>
          <a:bodyPr wrap="square" lIns="0" tIns="0" rIns="0" bIns="45700" anchor="ctr"/>
          <a:lstStyle/>
          <a:p>
            <a:pPr algn="ctr">
              <a:lnSpc>
                <a:spcPct val="115000"/>
              </a:lnSpc>
            </a:pPr>
            <a:r>
              <a:rPr lang="en-US" sz="1400" b="1">
                <a:solidFill>
                  <a:srgbClr val="FFFFFF"/>
                </a:solidFill>
                <a:latin typeface="Arial"/>
                <a:ea typeface="Arial"/>
                <a:cs typeface="Arial"/>
              </a:rPr>
              <a:t>THEN COMPARE</a:t>
            </a:r>
          </a:p>
        </p:txBody>
      </p:sp>
      <p:sp>
        <p:nvSpPr>
          <p:cNvPr id="807" name="EWL-Takeaway"/>
          <p:cNvSpPr txBox="1"/>
          <p:nvPr/>
        </p:nvSpPr>
        <p:spPr>
          <a:xfrm>
            <a:off x="548640" y="4434840"/>
            <a:ext cx="11091672" cy="1234440"/>
          </a:xfrm>
          <a:prstGeom prst="rect">
            <a:avLst/>
          </a:prstGeom>
          <a:solidFill>
            <a:srgbClr val="F6EFFA"/>
          </a:solidFill>
          <a:ln w="12700">
            <a:solidFill>
              <a:srgbClr val="782DA0"/>
            </a:solidFill>
          </a:ln>
        </p:spPr>
        <p:txBody>
          <a:bodyPr wrap="square" lIns="228600" tIns="45700" rIns="228600" bIns="45700" anchor="ctr"/>
          <a:lstStyle/>
          <a:p>
            <a:pPr algn="l">
              <a:lnSpc>
                <a:spcPct val="115000"/>
              </a:lnSpc>
            </a:pPr>
            <a:r>
              <a:rPr lang="en-US" sz="1600" b="1">
                <a:solidFill>
                  <a:srgbClr val="782DA0"/>
                </a:solidFill>
                <a:latin typeface="Arial"/>
                <a:ea typeface="Arial"/>
                <a:cs typeface="Arial"/>
              </a:rPr>
              <a:t xml:space="preserve">Key idea: </a:t>
            </a:r>
            <a:r>
              <a:rPr lang="en-US" sz="1600">
                <a:solidFill>
                  <a:srgbClr val="262626"/>
                </a:solidFill>
                <a:latin typeface="Arial"/>
                <a:ea typeface="Arial"/>
                <a:cs typeface="Arial"/>
              </a:rPr>
              <a:t>Two ratios can only be compared fairly when one quantity is the same in both.</a:t>
            </a:r>
          </a:p>
          <a:p>
            <a:pPr algn="l">
              <a:lnSpc>
                <a:spcPct val="115000"/>
              </a:lnSpc>
            </a:pPr>
            <a:r>
              <a:rPr lang="en-US" sz="1500" b="1">
                <a:solidFill>
                  <a:srgbClr val="1E2682"/>
                </a:solidFill>
                <a:latin typeface="Arial"/>
                <a:ea typeface="Arial"/>
                <a:cs typeface="Arial"/>
              </a:rPr>
              <a:t xml:space="preserve">Teach a partner: </a:t>
            </a:r>
            <a:r>
              <a:rPr lang="en-US" sz="1500">
                <a:solidFill>
                  <a:srgbClr val="262626"/>
                </a:solidFill>
                <a:latin typeface="Arial"/>
                <a:ea typeface="Arial"/>
                <a:cs typeface="Arial"/>
              </a:rPr>
              <a:t>How would you decide which paint mixture makes a darker purple?</a:t>
            </a:r>
          </a:p>
        </p:txBody>
      </p:sp>
      <p:sp>
        <p:nvSpPr>
          <p:cNvPr id="808" name="EWL-SlideNumber"/>
          <p:cNvSpPr txBox="1"/>
          <p:nvPr/>
        </p:nvSpPr>
        <p:spPr>
          <a:xfrm>
            <a:off x="5577840" y="6492240"/>
            <a:ext cx="1033272" cy="256032"/>
          </a:xfrm>
          <a:prstGeom prst="rect">
            <a:avLst/>
          </a:prstGeom>
          <a:noFill/>
          <a:ln>
            <a:noFill/>
          </a:ln>
        </p:spPr>
        <p:txBody>
          <a:bodyPr wrap="square" lIns="0" tIns="0" rIns="0" bIns="45700" anchor="t"/>
          <a:lstStyle/>
          <a:p>
            <a:pPr algn="ctr">
              <a:lnSpc>
                <a:spcPct val="115000"/>
              </a:lnSpc>
            </a:pPr>
            <a:r>
              <a:rPr lang="en-US" sz="1100">
                <a:solidFill>
                  <a:srgbClr val="767171"/>
                </a:solidFill>
                <a:latin typeface="Arial"/>
                <a:ea typeface="Arial"/>
                <a:cs typeface="Arial"/>
              </a:rPr>
              <a:t>38 / 42</a:t>
            </a:r>
          </a:p>
        </p:txBody>
      </p:sp>
      <p:grpSp>
        <p:nvGrpSpPr>
          <p:cNvPr id="809" name="TEACH-5-student-move" descr="TEACH 5 · Facilitate student interactions and academic talk"/>
          <p:cNvGrpSpPr/>
          <p:nvPr/>
        </p:nvGrpSpPr>
        <p:grpSpPr>
          <a:xfrm>
            <a:off x="502920" y="5751576"/>
            <a:ext cx="11186160" cy="548640"/>
            <a:chOff x="502920" y="5751576"/>
            <a:chExt cx="11186160" cy="548640"/>
          </a:xfrm>
        </p:grpSpPr>
        <p:sp>
          <p:nvSpPr>
            <p:cNvPr id="810"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811"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812"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97"/>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lang="en-US" sz="2800">
                <a:latin typeface="Arial"/>
                <a:ea typeface="Arial"/>
                <a:cs typeface="Arial"/>
                <a:sym typeface="Arial"/>
                <a:solidFill>
                  <a:srgbClr val="782DA0"/>
                </a:solidFill>
              </a:rPr>
              <a:t xml:space="preserve">Apply: </a:t>
            </a:r>
            <a:r>
              <a:rPr b="1" lang="en-US" sz="2800">
                <a:latin typeface="Arial"/>
                <a:ea typeface="Arial"/>
                <a:cs typeface="Arial"/>
                <a:sym typeface="Arial"/>
                <a:solidFill>
                  <a:srgbClr val="782DA0"/>
                </a:solidFill>
              </a:rPr>
              <a:t>Babysitting Pay</a:t>
            </a:r>
            <a:endParaRPr/>
          </a:p>
        </p:txBody>
      </p:sp>
      <p:cxnSp>
        <p:nvCxnSpPr>
          <p:cNvPr id="835" name="Google Shape;835;p97"/>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836" name="Google Shape;836;p97"/>
          <p:cNvSpPr txBox="1"/>
          <p:nvPr/>
        </p:nvSpPr>
        <p:spPr>
          <a:xfrm>
            <a:off x="484565" y="1094582"/>
            <a:ext cx="10655289" cy="14288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lang="en-US" sz="2800">
                <a:solidFill>
                  <a:srgbClr val="23282D"/>
                </a:solidFill>
                <a:latin typeface="Arial"/>
                <a:ea typeface="Arial"/>
                <a:cs typeface="Arial"/>
                <a:sym typeface="Arial"/>
              </a:rPr>
              <a:t>Claire, Yuzuki, and Nakai compared their time babysitting and their earnings from the previous weekend. A new family is looking for a babysitter and is offering $10.75 per hour.</a:t>
            </a:r>
            <a:endParaRPr/>
          </a:p>
        </p:txBody>
      </p:sp>
      <p:sp>
        <p:nvSpPr>
          <p:cNvPr id="837" name="Google Shape;837;p97"/>
          <p:cNvSpPr txBox="1"/>
          <p:nvPr/>
        </p:nvSpPr>
        <p:spPr>
          <a:xfrm>
            <a:off x="484565" y="4906458"/>
            <a:ext cx="10794919" cy="10478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lang="en-US" sz="2800">
                <a:solidFill>
                  <a:srgbClr val="23282D"/>
                </a:solidFill>
                <a:latin typeface="Arial"/>
                <a:ea typeface="Arial"/>
                <a:cs typeface="Arial"/>
                <a:sym typeface="Arial"/>
              </a:rPr>
              <a:t xml:space="preserve">Question: </a:t>
            </a:r>
            <a:r>
              <a:rPr lang="en-US" sz="2800">
                <a:solidFill>
                  <a:srgbClr val="23282D"/>
                </a:solidFill>
                <a:latin typeface="Arial"/>
                <a:ea typeface="Arial"/>
                <a:cs typeface="Arial"/>
                <a:sym typeface="Arial"/>
              </a:rPr>
              <a:t>Who would want to take this offer based on what they were paid the previous weekend?</a:t>
            </a:r>
            <a:endParaRPr/>
          </a:p>
        </p:txBody>
      </p:sp>
      <p:pic>
        <p:nvPicPr>
          <p:cNvPr id="838" name="Google Shape;838;p97"/>
          <p:cNvPicPr preferRelativeResize="0"/>
          <p:nvPr/>
        </p:nvPicPr>
        <p:blipFill rotWithShape="1">
          <a:blip r:embed="rId3">
            <a:alphaModFix/>
          </a:blip>
          <a:srcRect b="0" l="0" r="0" t="0"/>
          <a:stretch/>
        </p:blipFill>
        <p:spPr>
          <a:xfrm>
            <a:off x="1309098" y="2619008"/>
            <a:ext cx="6934200" cy="2047875"/>
          </a:xfrm>
          <a:prstGeom prst="rect">
            <a:avLst/>
          </a:prstGeom>
          <a:noFill/>
          <a:ln>
            <a:noFill/>
          </a:ln>
        </p:spPr>
      </p:pic>
      <p:sp>
        <p:nvSpPr>
          <p:cNvPr id="839"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p:nvSpPr>
          <p:cNvPr id="8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42</a:t>
            </a:r>
          </a:p>
        </p:txBody>
      </p:sp>
      <p:grpSp>
        <p:nvGrpSpPr>
          <p:cNvPr id="841" name="TEACH-6-student-move" descr="TEACH 6 · Organize and implement routines to support a learning-focused classroom"/>
          <p:cNvGrpSpPr/>
          <p:nvPr/>
        </p:nvGrpSpPr>
        <p:grpSpPr>
          <a:xfrm>
            <a:off x="502920" y="5978541"/>
            <a:ext cx="11186160" cy="320040"/>
            <a:chOff x="502920" y="5978541"/>
            <a:chExt cx="11186160" cy="320040"/>
          </a:xfrm>
        </p:grpSpPr>
        <p:sp>
          <p:nvSpPr>
            <p:cNvPr id="842" name="TEACH-move-card"/>
            <p:cNvSpPr/>
            <p:nvPr/>
          </p:nvSpPr>
          <p:spPr>
            <a:xfrm>
              <a:off x="502920" y="5978541"/>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843" name="TEACH-move-rule"/>
            <p:cNvSpPr/>
            <p:nvPr/>
          </p:nvSpPr>
          <p:spPr>
            <a:xfrm>
              <a:off x="548640" y="6039349"/>
              <a:ext cx="100584" cy="198424"/>
            </a:xfrm>
            <a:prstGeom prst="roundRect">
              <a:avLst>
                <a:gd name="adj" fmla="val 50000"/>
              </a:avLst>
            </a:prstGeom>
            <a:solidFill>
              <a:srgbClr val="01708C"/>
            </a:solidFill>
            <a:ln>
              <a:noFill/>
            </a:ln>
          </p:spPr>
          <p:txBody>
            <a:bodyPr/>
            <a:lstStyle/>
            <a:p>
              <a:endParaRPr/>
            </a:p>
          </p:txBody>
        </p:sp>
        <p:sp>
          <p:nvSpPr>
            <p:cNvPr id="844" name="TEACH-move-text"/>
            <p:cNvSpPr txBox="1"/>
            <p:nvPr/>
          </p:nvSpPr>
          <p:spPr>
            <a:xfrm>
              <a:off x="822960" y="5978541"/>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38.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sz="2800" b="1">
                <a:solidFill>
                  <a:srgbClr val="782DA0"/>
                </a:solidFill>
                <a:latin typeface="Arial"/>
              </a:rPr>
              <a:t>Exit Ticket + Self-Check</a:t>
            </a: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SELF-ASSESS • NAME YOUR NEXT STEP</a:t>
            </a:r>
          </a:p>
        </p:txBody>
      </p:sp>
      <p:sp>
        <p:nvSpPr>
          <p:cNvPr id="17" name="TextBox 16"/>
          <p:cNvSpPr txBox="1"/>
          <p:nvPr/>
        </p:nvSpPr>
        <p:spPr>
          <a:xfrm>
            <a:off x="530352" y="1115568"/>
            <a:ext cx="7360920" cy="502920"/>
          </a:xfrm>
          <a:prstGeom prst="rect">
            <a:avLst/>
          </a:prstGeom>
          <a:noFill/>
        </p:spPr>
        <p:txBody>
          <a:bodyPr wrap="square" lIns="0" tIns="0" rIns="0" bIns="0" anchor="t">
            <a:spAutoFit/>
          </a:bodyPr>
          <a:lstStyle/>
          <a:p>
            <a:pPr algn="l"/>
            <a:r>
              <a:rPr sz="2300" b="0">
                <a:solidFill>
                  <a:srgbClr val="23282D"/>
                </a:solidFill>
                <a:latin typeface="Arial"/>
              </a:rPr>
              <a:t>Brielle now awards 2 points for 4 matches. Andrew awards 3 points for 6 matches.</a:t>
            </a:r>
          </a:p>
        </p:txBody>
      </p:sp>
      <p:sp>
        <p:nvSpPr>
          <p:cNvPr id="18" name="TextBox 17"/>
          <p:cNvSpPr txBox="1"/>
          <p:nvPr/>
        </p:nvSpPr>
        <p:spPr>
          <a:xfrm>
            <a:off x="530352" y="1828800"/>
            <a:ext cx="7360920" cy="713232"/>
          </a:xfrm>
          <a:prstGeom prst="rect">
            <a:avLst/>
          </a:prstGeom>
          <a:noFill/>
        </p:spPr>
        <p:txBody>
          <a:bodyPr wrap="square" lIns="0" tIns="0" rIns="0" bIns="0" anchor="t">
            <a:spAutoFit/>
          </a:bodyPr>
          <a:lstStyle/>
          <a:p>
            <a:pPr algn="l"/>
            <a:r>
              <a:rPr sz="2600" b="1">
                <a:solidFill>
                  <a:srgbClr val="23282D"/>
                </a:solidFill>
                <a:latin typeface="Arial"/>
              </a:rPr>
              <a:t>Do the two games now have the same ratio? Show why.</a:t>
            </a:r>
          </a:p>
        </p:txBody>
      </p:sp>
      <p:sp>
        <p:nvSpPr>
          <p:cNvPr id="19" name="TextBox 18"/>
          <p:cNvSpPr txBox="1"/>
          <p:nvPr/>
        </p:nvSpPr>
        <p:spPr>
          <a:xfrm>
            <a:off x="530352" y="2761488"/>
            <a:ext cx="7360920" cy="685800"/>
          </a:xfrm>
          <a:prstGeom prst="rect">
            <a:avLst/>
          </a:prstGeom>
          <a:noFill/>
        </p:spPr>
        <p:txBody>
          <a:bodyPr wrap="square" lIns="0" tIns="0" rIns="0" bIns="0" anchor="t">
            <a:spAutoFit/>
          </a:bodyPr>
          <a:lstStyle/>
          <a:p>
            <a:pPr algn="l"/>
            <a:r>
              <a:rPr sz="2300" b="0">
                <a:solidFill>
                  <a:srgbClr val="5D6872"/>
                </a:solidFill>
                <a:latin typeface="Arial"/>
              </a:rPr>
              <a:t>Use a table or equivalent ratios. Label points and matches, and show your scale factors.</a:t>
            </a:r>
          </a:p>
        </p:txBody>
      </p:sp>
      <p:sp>
        <p:nvSpPr>
          <p:cNvPr id="20" name="TextBox 19"/>
          <p:cNvSpPr txBox="1"/>
          <p:nvPr/>
        </p:nvSpPr>
        <p:spPr>
          <a:xfrm>
            <a:off x="530352" y="3584448"/>
            <a:ext cx="7360920" cy="640080"/>
          </a:xfrm>
          <a:prstGeom prst="rect">
            <a:avLst/>
          </a:prstGeom>
          <a:noFill/>
        </p:spPr>
        <p:txBody>
          <a:bodyPr wrap="square" lIns="0" tIns="0" rIns="0" bIns="0" anchor="t">
            <a:spAutoFit/>
          </a:bodyPr>
          <a:lstStyle/>
          <a:p>
            <a:pPr algn="l"/>
            <a:r>
              <a:rPr sz="2300" b="1">
                <a:solidFill>
                  <a:srgbClr val="1E2682"/>
                </a:solidFill>
                <a:latin typeface="Arial"/>
              </a:rPr>
              <a:t>Explain: “For the same ___ matches, both games ___.”</a:t>
            </a:r>
          </a:p>
        </p:txBody>
      </p:sp>
      <p:sp>
        <p:nvSpPr>
          <p:cNvPr id="21" name="Rounded Rectangle 20"/>
          <p:cNvSpPr/>
          <p:nvPr/>
        </p:nvSpPr>
        <p:spPr>
          <a:xfrm>
            <a:off x="8275320" y="1325880"/>
            <a:ext cx="3200400" cy="4462272"/>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75320" y="1325880"/>
            <a:ext cx="73152" cy="4462272"/>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39912" y="1435607"/>
            <a:ext cx="2907792" cy="219456"/>
          </a:xfrm>
          <a:prstGeom prst="rect">
            <a:avLst/>
          </a:prstGeom>
          <a:noFill/>
        </p:spPr>
        <p:txBody>
          <a:bodyPr wrap="square" lIns="0" tIns="0" rIns="0" bIns="0" anchor="t">
            <a:spAutoFit/>
          </a:bodyPr>
          <a:lstStyle/>
          <a:p>
            <a:pPr algn="l"/>
            <a:r>
              <a:rPr sz="1400" b="1">
                <a:solidFill>
                  <a:srgbClr val="008A62"/>
                </a:solidFill>
                <a:latin typeface="Arial"/>
              </a:rPr>
              <a:t>SELF-CHECK</a:t>
            </a:r>
          </a:p>
        </p:txBody>
      </p:sp>
      <p:sp>
        <p:nvSpPr>
          <p:cNvPr id="24" name="TextBox 23"/>
          <p:cNvSpPr txBox="1"/>
          <p:nvPr/>
        </p:nvSpPr>
        <p:spPr>
          <a:xfrm>
            <a:off x="8439912" y="1709928"/>
            <a:ext cx="2889504" cy="3986783"/>
          </a:xfrm>
          <a:prstGeom prst="rect">
            <a:avLst/>
          </a:prstGeom>
          <a:noFill/>
        </p:spPr>
        <p:txBody>
          <a:bodyPr wrap="square" lIns="0" tIns="0" rIns="0" bIns="0" anchor="t">
            <a:spAutoFit/>
          </a:bodyPr>
          <a:lstStyle/>
          <a:p>
            <a:pPr algn="l"/>
            <a:r>
              <a:rPr sz="2000" b="0">
                <a:solidFill>
                  <a:srgbClr val="23282D"/>
                </a:solidFill>
                <a:latin typeface="Arial"/>
              </a:rPr>
              <a:t>1. I can make one quantity equal.</a:t>
            </a:r>
          </a:p>
          <a:p>
            <a:pPr algn="l"/>
            <a:r>
              <a:rPr sz="2000" b="0">
                <a:solidFill>
                  <a:srgbClr val="23282D"/>
                </a:solidFill>
                <a:latin typeface="Arial"/>
              </a:rPr>
              <a:t>□ Alone  □ With a hint  □ Not yet</a:t>
            </a:r>
          </a:p>
          <a:p>
            <a:pPr algn="l"/>
            <a:r>
              <a:rPr sz="2000" b="0">
                <a:solidFill>
                  <a:srgbClr val="23282D"/>
                </a:solidFill>
                <a:latin typeface="Arial"/>
              </a:rPr>
              <a:t/>
            </a:r>
          </a:p>
          <a:p>
            <a:pPr algn="l"/>
            <a:r>
              <a:rPr sz="2000" b="0">
                <a:solidFill>
                  <a:srgbClr val="23282D"/>
                </a:solidFill>
                <a:latin typeface="Arial"/>
              </a:rPr>
              <a:t>2. I can justify a comparison.</a:t>
            </a:r>
          </a:p>
          <a:p>
            <a:pPr algn="l"/>
            <a:r>
              <a:rPr sz="2000" b="0">
                <a:solidFill>
                  <a:srgbClr val="23282D"/>
                </a:solidFill>
                <a:latin typeface="Arial"/>
              </a:rPr>
              <a:t>□ Alone  □ With a hint  □ Not yet</a:t>
            </a:r>
          </a:p>
          <a:p>
            <a:pPr algn="l"/>
            <a:r>
              <a:rPr sz="2000" b="0">
                <a:solidFill>
                  <a:srgbClr val="23282D"/>
                </a:solidFill>
                <a:latin typeface="Arial"/>
              </a:rPr>
              <a:t/>
            </a:r>
          </a:p>
          <a:p>
            <a:pPr algn="l"/>
            <a:r>
              <a:rPr sz="2000" b="0">
                <a:solidFill>
                  <a:srgbClr val="23282D"/>
                </a:solidFill>
                <a:latin typeface="Arial"/>
              </a:rPr>
              <a:t>My next step:</a:t>
            </a:r>
          </a:p>
          <a:p>
            <a:pPr algn="l"/>
            <a:r>
              <a:rPr sz="2000" b="0">
                <a:solidFill>
                  <a:srgbClr val="23282D"/>
                </a:solidFill>
                <a:latin typeface="Arial"/>
              </a:rPr>
              <a:t>____________________</a:t>
            </a:r>
          </a:p>
        </p:txBody>
      </p:sp>
      <p:sp>
        <p:nvSpPr>
          <p:cNvPr id="25" name="Rounded Rectangle 24"/>
          <p:cNvSpPr/>
          <p:nvPr/>
        </p:nvSpPr>
        <p:spPr>
          <a:xfrm>
            <a:off x="585216" y="4443984"/>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 y="4453128"/>
            <a:ext cx="2148840" cy="347472"/>
          </a:xfrm>
          <a:prstGeom prst="rect">
            <a:avLst/>
          </a:prstGeom>
          <a:noFill/>
        </p:spPr>
        <p:txBody>
          <a:bodyPr wrap="none" lIns="9144" tIns="9144" rIns="9144" bIns="9144" anchor="ctr">
            <a:spAutoFit/>
          </a:bodyPr>
          <a:lstStyle/>
          <a:p>
            <a:pPr algn="ctr"/>
            <a:r>
              <a:rPr sz="1500" b="1">
                <a:solidFill>
                  <a:srgbClr val="FFFFFF"/>
                </a:solidFill>
                <a:latin typeface="Arial"/>
              </a:rPr>
              <a:t>MATCH → COMPARE</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debrief: name your evidence and one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413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Work independently and show why. Use feedback to revise</a:t>
            </a:r>
            <a:endParaRPr lang="en-US" sz="2000"/>
          </a:p>
          <a:p>
            <a:pPr>
              <a:lnSpc>
                <a:spcPts val="2400"/>
              </a:lnSpc>
              <a:buNone/>
            </a:pPr>
            <a:r>
              <a:rPr lang="en-US" sz="2000">
                <a:solidFill>
                  <a:srgbClr val="174D60"/>
                </a:solidFill>
                <a:latin typeface="Arial"/>
              </a:rPr>
              <a:t>in a second color.</a:t>
            </a:r>
            <a:endParaRPr lang="en-US" sz="2000"/>
          </a:p>
        </p:txBody>
      </p:sp>
    </p:spTree>
    <p:extLst>
      <p:ext uri="{BB962C8B-B14F-4D97-AF65-F5344CB8AC3E}">
        <p14:creationId xmlns:p14="http://schemas.microsoft.com/office/powerpoint/2010/main" val="820207253"/>
      </p:ext>
    </p:extLst>
  </p:cSld>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7" name="Google Shape;1137;p109"/>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138" name="Google Shape;1138;p10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39" name="Google Shape;1139;p109"/>
          <p:cNvSpPr txBox="1"/>
          <p:nvPr/>
        </p:nvSpPr>
        <p:spPr>
          <a:xfrm>
            <a:off x="484564" y="927528"/>
            <a:ext cx="8175859" cy="2220118"/>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pPr>
            <a:r>
              <a:rPr b="0" i="0" lang="en-US" sz="2800" u="none" cap="none" strike="noStrike">
                <a:solidFill>
                  <a:srgbClr val="262626"/>
                </a:solidFill>
                <a:latin typeface="Arial"/>
                <a:ea typeface="Arial"/>
                <a:cs typeface="Arial"/>
                <a:sym typeface="Arial"/>
              </a:rPr>
              <a:t>I can compare ratio relationships using tables.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pPr>
            <a:r>
              <a:rPr b="0" i="0" lang="en-US" sz="2800" u="none" cap="none" strike="noStrike">
                <a:solidFill>
                  <a:srgbClr val="262626"/>
                </a:solidFill>
                <a:latin typeface="Arial"/>
                <a:ea typeface="Arial"/>
                <a:cs typeface="Arial"/>
                <a:sym typeface="Arial"/>
              </a:rPr>
              <a:t>I can make sense of ratio problems and formulate a strategy to solve them.</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42</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FF09CD-B02F-4166-9A1F-510B882B0BC6}"/>
              </a:ext>
            </a:extLst>
          </p:cNvPr>
          <p:cNvSpPr>
            <a:spLocks xmlns:a="http://schemas.openxmlformats.org/drawingml/2006/main" noGrp="1"/>
          </p:cNvSpPr>
          <p:nvPr/>
        </p:nvSpPr>
        <p:spPr>
          <a:xfrm xmlns:a="http://schemas.openxmlformats.org/drawingml/2006/main">
            <a:off x="514350" y="381000"/>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00" b="1">
                <ns0:solidFill>
                  <ns0:srgbClr val="782DA0"/>
                </ns0:solidFill>
                <ns0:latin typeface="Arial"/>
                <ns0:ea typeface="Arial"/>
                <ns0:cs typeface="Arial"/>
              </ns0:defRPr>
            </ns0:pPr>
            <ns0:r>
              <ns0:rPr sz="2800" b="1">
                <ns0:solidFill>
                  <ns0:srgbClr val="782DA0"/>
                </ns0:solidFill>
                <ns0:latin typeface="Arial"/>
                <ns0:ea typeface="Arial"/>
                <ns0:cs typeface="Arial"/>
              </ns0:rPr>
              <ns0:t>Teacher Reference — Fair Ratio Comparisons</ns0:t>
            </ns0:r>
          </ns0:p>
        </p:txBody>
      </p:sp>
      <p:sp>
        <p:nvSpPr>
          <p:cNvPr id="2" name="">
            <a:extLst xmlns:a="http://schemas.openxmlformats.org/drawingml/2006/main">
              <a:ext uri="{FF2B5EF4-FFF2-40B4-BE49-F238E27FC236}">
                <a16:creationId xmlns:a16="http://schemas.microsoft.com/office/drawing/2014/main" id="{64DC61EA-1012-4AD1-BE5E-107B7C40BF2E}"/>
              </a:ext>
            </a:extLst>
          </p:cNvPr>
          <p:cNvSpPr>
            <a:spLocks xmlns:a="http://schemas.openxmlformats.org/drawingml/2006/main" noGrp="1"/>
          </p:cNvSpPr>
          <p:nvPr/>
        </p:nvSpPr>
        <p:spPr>
          <a:xfrm xmlns:a="http://schemas.openxmlformats.org/drawingml/2006/main">
            <a:off x="523875" y="1028700"/>
            <a:ext cx="866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1:p xmlns:ns1="http://schemas.openxmlformats.org/drawingml/2006/main">
            <ns1:pPr>
              <ns1:defRPr sz="1575" b="0">
                <ns1:solidFill>
                  <ns1:srgbClr val="5D6872"/>
                </ns1:solidFill>
                <ns1:latin typeface="Arial"/>
                <ns1:ea typeface="Arial"/>
                <ns1:cs typeface="Arial"/>
              </ns1:defRPr>
            </ns1:pPr>
            <ns1:r>
              <ns1:rPr sz="1700" b="0">
                <ns1:solidFill>
                  <ns1:srgbClr val="5D6872"/>
                </ns1:solidFill>
                <ns1:latin typeface="Arial"/>
                <ns1:ea typeface="Arial"/>
                <ns1:cs typeface="Arial"/>
              </ns1:rPr>
              <ns1:t>Hidden from the student slideshow; use checks to choose the next step.</ns1:t>
            </ns1:r>
          </ns1:p>
        </p:txBody>
      </p:sp>
      <p:sp>
        <p:nvSpPr>
          <p:cNvPr id="3" name="">
            <a:extLst xmlns:a="http://schemas.openxmlformats.org/drawingml/2006/main">
              <a:ext uri="{FF2B5EF4-FFF2-40B4-BE49-F238E27FC236}">
                <a16:creationId xmlns:a16="http://schemas.microsoft.com/office/drawing/2014/main" id="{8EDE55B5-A380-4F2C-AE69-7A542945A42B}"/>
              </a:ext>
            </a:extLst>
          </p:cNvPr>
          <p:cNvSpPr>
            <a:spLocks xmlns:a="http://schemas.openxmlformats.org/drawingml/2006/main" noGrp="1"/>
          </p:cNvSpPr>
          <p:nvPr/>
        </p:nvSpPr>
        <p:spPr>
          <a:xfrm xmlns:a="http://schemas.openxmlformats.org/drawingml/2006/main">
            <a:off x="647700" y="1666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2:p xmlns:ns2="http://schemas.openxmlformats.org/drawingml/2006/main">
            <ns2:pPr>
              <ns2:defRPr sz="1875" b="0">
                <ns2:solidFill>
                  <ns2:srgbClr val="23282D"/>
                </ns2:solidFill>
                <ns2:latin typeface="Arial"/>
                <ns2:ea typeface="Arial"/>
                <ns2:cs typeface="Arial"/>
              </ns2:defRPr>
            </ns2:pPr>
            <ns2:r>
              <ns2:rPr sz="1800" b="0">
                <ns2:solidFill>
                  <ns2:srgbClr val="23282D"/>
                </ns2:solidFill>
                <ns2:latin typeface="Arial"/>
                <ns2:ea typeface="Arial"/>
                <ns2:cs typeface="Arial"/>
              </ns2:rPr>
              <ns2:t>Session 1: compare the same red amount; scale BOTH parts of each mixture.</ns2:t>
            </ns2:r>
          </ns2:p>
        </p:txBody>
      </p:sp>
      <p:sp>
        <p:nvSpPr>
          <p:cNvPr id="4" name="">
            <a:extLst xmlns:a="http://schemas.openxmlformats.org/drawingml/2006/main">
              <a:ext uri="{FF2B5EF4-FFF2-40B4-BE49-F238E27FC236}">
                <a16:creationId xmlns:a16="http://schemas.microsoft.com/office/drawing/2014/main" id="{CFE11C33-F40A-43FD-9DFE-47C02F837E8F}"/>
              </a:ext>
            </a:extLst>
          </p:cNvPr>
          <p:cNvSpPr>
            <a:spLocks xmlns:a="http://schemas.openxmlformats.org/drawingml/2006/main" noGrp="1"/>
          </p:cNvSpPr>
          <p:nvPr/>
        </p:nvSpPr>
        <p:spPr>
          <a:xfrm xmlns:a="http://schemas.openxmlformats.org/drawingml/2006/main">
            <a:off x="647700" y="22479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3:p xmlns:ns3="http://schemas.openxmlformats.org/drawingml/2006/main">
            <ns3:pPr>
              <ns3:defRPr sz="1875" b="0">
                <ns3:solidFill>
                  <ns3:srgbClr val="23282D"/>
                </ns3:solidFill>
                <ns3:latin typeface="Arial"/>
                <ns3:ea typeface="Arial"/>
                <ns3:cs typeface="Arial"/>
              </ns3:defRPr>
            </ns3:pPr>
            <ns3:r>
              <ns3:rPr sz="1800" b="0">
                <ns3:solidFill>
                  <ns3:srgbClr val="23282D"/>
                </ns3:solidFill>
                <ns3:latin typeface="Arial"/>
                <ns3:ea typeface="Arial"/>
                <ns3:cs typeface="Arial"/>
              </ns3:rPr>
              <ns3:t>Quick check: 12 red → Reginald 16 blue; Anwar 18 blue. Anwar has more.</ns3:t>
            </ns3:r>
          </ns3:p>
        </p:txBody>
      </p:sp>
      <p:sp>
        <p:nvSpPr>
          <p:cNvPr id="5" name="">
            <a:extLst xmlns:a="http://schemas.openxmlformats.org/drawingml/2006/main">
              <a:ext uri="{FF2B5EF4-FFF2-40B4-BE49-F238E27FC236}">
                <a16:creationId xmlns:a16="http://schemas.microsoft.com/office/drawing/2014/main" id="{813A2755-796A-43DA-A7E6-7DF8047A06F9}"/>
              </a:ext>
            </a:extLst>
          </p:cNvPr>
          <p:cNvSpPr>
            <a:spLocks xmlns:a="http://schemas.openxmlformats.org/drawingml/2006/main" noGrp="1"/>
          </p:cNvSpPr>
          <p:nvPr/>
        </p:nvSpPr>
        <p:spPr>
          <a:xfrm xmlns:a="http://schemas.openxmlformats.org/drawingml/2006/main">
            <a:off x="647700" y="28289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4:p xmlns:ns4="http://schemas.openxmlformats.org/drawingml/2006/main">
            <ns4:pPr>
              <ns4:defRPr sz="1875" b="0">
                <ns4:solidFill>
                  <ns4:srgbClr val="23282D"/>
                </ns4:solidFill>
                <ns4:latin typeface="Arial"/>
                <ns4:ea typeface="Arial"/>
                <ns4:cs typeface="Arial"/>
              </ns4:defRPr>
            </ns4:pPr>
            <ns4:r>
              <ns4:rPr sz="1800" b="0">
                <ns4:solidFill>
                  <ns4:srgbClr val="23282D"/>
                </ns4:solidFill>
                <ns4:latin typeface="Arial"/>
                <ns4:ea typeface="Arial"/>
                <ns4:cs typeface="Arial"/>
              </ns4:rPr>
              <ns4:t>Listen for comparing raw blue amounts without matching the red amounts.</ns4:t>
            </ns4:r>
          </ns4:p>
        </p:txBody>
      </p:sp>
      <p:sp>
        <p:nvSpPr>
          <p:cNvPr id="6" name="">
            <a:extLst xmlns:a="http://schemas.openxmlformats.org/drawingml/2006/main">
              <a:ext uri="{FF2B5EF4-FFF2-40B4-BE49-F238E27FC236}">
                <a16:creationId xmlns:a16="http://schemas.microsoft.com/office/drawing/2014/main" id="{48707752-1844-400B-A834-B9184CC74BC6}"/>
              </a:ext>
            </a:extLst>
          </p:cNvPr>
          <p:cNvSpPr>
            <a:spLocks xmlns:a="http://schemas.openxmlformats.org/drawingml/2006/main" noGrp="1"/>
          </p:cNvSpPr>
          <p:nvPr/>
        </p:nvSpPr>
        <p:spPr>
          <a:xfrm xmlns:a="http://schemas.openxmlformats.org/drawingml/2006/main">
            <a:off x="647700" y="34099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5:p xmlns:ns5="http://schemas.openxmlformats.org/drawingml/2006/main">
            <ns5:pPr>
              <ns5:defRPr sz="1875" b="0">
                <ns5:solidFill>
                  <ns5:srgbClr val="23282D"/>
                </ns5:solidFill>
                <ns5:latin typeface="Arial"/>
                <ns5:ea typeface="Arial"/>
                <ns5:cs typeface="Arial"/>
              </ns5:defRPr>
            </ns5:pPr>
            <ns5:r>
              <ns5:rPr sz="1800" b="0">
                <ns5:solidFill>
                  <ns5:srgbClr val="23282D"/>
                </ns5:solidFill>
                <ns5:latin typeface="Arial"/>
                <ns5:ea typeface="Arial"/>
                <ns5:cs typeface="Arial"/>
              </ns5:rPr>
              <ns5:t>If needed, model 6 red → 8 blue and 6 red → 9 blue, then retry 12 red.</ns5:t>
            </ns5:r>
          </ns5:p>
        </p:txBody>
      </p:sp>
      <p:sp>
        <p:nvSpPr>
          <p:cNvPr id="7" name="">
            <a:extLst xmlns:a="http://schemas.openxmlformats.org/drawingml/2006/main">
              <a:ext uri="{FF2B5EF4-FFF2-40B4-BE49-F238E27FC236}">
                <a16:creationId xmlns:a16="http://schemas.microsoft.com/office/drawing/2014/main" id="{19EE7227-941A-40FD-B002-4F02803E506C}"/>
              </a:ext>
            </a:extLst>
          </p:cNvPr>
          <p:cNvSpPr>
            <a:spLocks xmlns:a="http://schemas.openxmlformats.org/drawingml/2006/main" noGrp="1"/>
          </p:cNvSpPr>
          <p:nvPr/>
        </p:nvSpPr>
        <p:spPr>
          <a:xfrm xmlns:a="http://schemas.openxmlformats.org/drawingml/2006/main">
            <a:off x="647700" y="39909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6:p xmlns:ns6="http://schemas.openxmlformats.org/drawingml/2006/main">
            <ns6:pPr>
              <ns6:defRPr sz="1875" b="0">
                <ns6:solidFill>
                  <ns6:srgbClr val="23282D"/>
                </ns6:solidFill>
                <ns6:latin typeface="Arial"/>
                <ns6:ea typeface="Arial"/>
                <ns6:cs typeface="Arial"/>
              </ns6:defRPr>
            </ns6:pPr>
            <ns6:r>
              <ns6:rPr sz="1800" b="0">
                <ns6:solidFill>
                  <ns6:srgbClr val="23282D"/>
                </ns6:solidFill>
                <ns6:latin typeface="Arial"/>
                <ns6:ea typeface="Arial"/>
                <ns6:cs typeface="Arial"/>
              </ns6:rPr>
              <ns6:t>Session 2: 30 matches → Brielle 12, Andrew 15, Sheng 10 points.</ns6:t>
            </ns6:r>
          </ns6:p>
        </p:txBody>
      </p:sp>
      <p:sp>
        <p:nvSpPr>
          <p:cNvPr id="8" name="">
            <a:extLst xmlns:a="http://schemas.openxmlformats.org/drawingml/2006/main">
              <a:ext uri="{FF2B5EF4-FFF2-40B4-BE49-F238E27FC236}">
                <a16:creationId xmlns:a16="http://schemas.microsoft.com/office/drawing/2014/main" id="{3A333AD9-4A12-4195-A1FB-B563EEF2C8FF}"/>
              </a:ext>
            </a:extLst>
          </p:cNvPr>
          <p:cNvSpPr>
            <a:spLocks xmlns:a="http://schemas.openxmlformats.org/drawingml/2006/main" noGrp="1"/>
          </p:cNvSpPr>
          <p:nvPr/>
        </p:nvSpPr>
        <p:spPr>
          <a:xfrm xmlns:a="http://schemas.openxmlformats.org/drawingml/2006/main">
            <a:off x="647700" y="45720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7:p xmlns:ns7="http://schemas.openxmlformats.org/drawingml/2006/main">
            <ns7:pPr>
              <ns7:defRPr sz="1875" b="0">
                <ns7:solidFill>
                  <ns7:srgbClr val="23282D"/>
                </ns7:solidFill>
                <ns7:latin typeface="Arial"/>
                <ns7:ea typeface="Arial"/>
                <ns7:cs typeface="Arial"/>
              </ns7:defRPr>
            </ns7:pPr>
            <ns7:r>
              <ns7:rPr sz="1800" b="0">
                <ns7:solidFill>
                  <ns7:srgbClr val="23282D"/>
                </ns7:solidFill>
                <ns7:latin typeface="Arial"/>
                <ns7:ea typeface="Arial"/>
                <ns7:cs typeface="Arial"/>
              </ns7:rPr>
              <ns7:t>Exit: yes. 2:4 and 3:6 both become 6:12 (or simplify to 1:2).</ns7:t>
            </ns7:r>
          </ns7:p>
        </p:txBody>
      </p:sp>
      <p:sp>
        <p:nvSpPr>
          <p:cNvPr id="9" name="">
            <a:extLst xmlns:a="http://schemas.openxmlformats.org/drawingml/2006/main">
              <a:ext uri="{FF2B5EF4-FFF2-40B4-BE49-F238E27FC236}">
                <a16:creationId xmlns:a16="http://schemas.microsoft.com/office/drawing/2014/main" id="{6AE10A7E-1C9A-4A1C-81D4-FF620B0E6091}"/>
              </a:ext>
            </a:extLst>
          </p:cNvPr>
          <p:cNvSpPr>
            <a:spLocks xmlns:a="http://schemas.openxmlformats.org/drawingml/2006/main" noGrp="1"/>
          </p:cNvSpPr>
          <p:nvPr/>
        </p:nvSpPr>
        <p:spPr>
          <a:xfrm xmlns:a="http://schemas.openxmlformats.org/drawingml/2006/main">
            <a:off x="647700" y="51530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8:p xmlns:ns8="http://schemas.openxmlformats.org/drawingml/2006/main">
            <ns8:pPr>
              <ns8:defRPr sz="1875" b="0">
                <ns8:solidFill>
                  <ns8:srgbClr val="23282D"/>
                </ns8:solidFill>
                <ns8:latin typeface="Arial"/>
                <ns8:ea typeface="Arial"/>
                <ns8:cs typeface="Arial"/>
              </ns8:defRPr>
            </ns8:pPr>
            <ns8:r>
              <ns8:rPr sz="1800" b="0">
                <ns8:solidFill>
                  <ns8:srgbClr val="23282D"/>
                </ns8:solidFill>
                <ns8:latin typeface="Arial"/>
                <ns8:ea typeface="Arial"/>
                <ns8:cs typeface="Arial"/>
              </ns8:rPr>
              <ns8:t>Feedback: ask which quantity was held equal and how that makes it fair.</ns8:t>
            </ns8:r>
          </ns8:p>
        </p:txBody>
      </p:sp>
      <p:sp xmlns:a="http://schemas.openxmlformats.org/drawingml/2006/main">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42</a:t>
            </a:r>
          </a:p>
        </p:txBody>
      </p:sp>
      <p:grpSp xmlns:a="http://schemas.openxmlformats.org/drawingml/2006/main">
        <p:nvGrpSpPr>
          <p:cNvPr id="9003" name="TEACH-4-student-move" descr="TEACH 4 · Monitor progress and provide feedback"/>
          <p:cNvGrpSpPr/>
          <p:nvPr/>
        </p:nvGrpSpPr>
        <p:grpSpPr>
          <a:xfrm>
            <a:off x="502920" y="5582031"/>
            <a:ext cx="11186160" cy="640080"/>
            <a:chOff x="502920" y="5582031"/>
            <a:chExt cx="11186160" cy="640080"/>
          </a:xfrm>
        </p:grpSpPr>
        <p:sp>
          <p:nvSpPr>
            <p:cNvPr id="9004" name="TEACH-move-card"/>
            <p:cNvSpPr/>
            <p:nvPr/>
          </p:nvSpPr>
          <p:spPr>
            <a:xfrm>
              <a:off x="502920" y="5582031"/>
              <a:ext cx="11186160" cy="64008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703646"/>
              <a:ext cx="100584" cy="396850"/>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582031"/>
              <a:ext cx="10728960" cy="640080"/>
            </a:xfrm>
            <a:prstGeom prst="rect">
              <a:avLst/>
            </a:prstGeom>
            <a:noFill/>
            <a:ln>
              <a:noFill/>
            </a:ln>
          </p:spPr>
          <p:txBody>
            <a:bodyPr wrap="square" lIns="0" tIns="0" rIns="0" bIns="0" anchor="ctr">
              <a:noAutofit/>
            </a:bodyPr>
            <a:lstStyle/>
            <a:p>
              <a:pPr algn="l">
                <a:buNone/>
              </a:pPr>
              <a:r>
                <a:rPr lang="en-US" sz="1600" b="1" dirty="0">
                  <a:solidFill>
                    <a:srgbClr val="01708C"/>
                  </a:solidFill>
                  <a:latin typeface="Arial"/>
                </a:rPr>
                <a:t>REVISE NOW  ·  </a:t>
              </a:r>
              <a:r>
                <a:rPr lang="en-US" sz="1600" dirty="0">
                  <a:solidFill>
                    <a:srgbClr val="13303A"/>
                  </a:solidFill>
                  <a:latin typeface="Arial"/>
                </a:rPr>
                <a:t>Change one answer and write why you changed it. A revision is evidence of learning.</a:t>
              </a:r>
              <a:endParaRPr lang="en-US" sz="1600"/>
            </a:p>
          </p:txBody>
        </p:sp>
      </p:grpSp>
    </p:spTree>
    <p:extLst>
      <p:ext uri="{BB962C8B-B14F-4D97-AF65-F5344CB8AC3E}">
        <p14:creationId xmlns:p14="http://schemas.microsoft.com/office/powerpoint/2010/main" val="1424690850"/>
      </p:ext>
    </p:extLst>
  </p:cSld>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3-5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ADD ON  ·  </a:t>
            </a:r>
            <a:r>
              <a:rPr lang="en-US" sz="2000" b="0" dirty="0">
                <a:solidFill>
                  <a:srgbClr val="13303A"/>
                </a:solidFill>
                <a:latin typeface="Arial"/>
              </a:rPr>
              <a:t>Add on: “I agree because ______.”  or  “I see it differently because ______.”</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18 / 42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3-5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24 / 42</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3.5 — Compare Ratio Relationships</dc:title>
  <dc:creator>Neft Teacher</dc:creator>
  <cp:lastModifiedBy>Neft Teacher</cp:lastModifiedBy>
  <dcterms:created xsi:type="dcterms:W3CDTF">2026-09-30T12:04:43Z</dcterms:created>
  <dcterms:modified xsi:type="dcterms:W3CDTF">2026-09-30T12:04:43Z</dcterms:modified>
</cp:coreProperties>
</file>